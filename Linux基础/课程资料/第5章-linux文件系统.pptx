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4" r:id="rId1"/>
  </p:sldMasterIdLst>
  <p:notesMasterIdLst>
    <p:notesMasterId r:id="rId72"/>
  </p:notesMasterIdLst>
  <p:handoutMasterIdLst>
    <p:handoutMasterId r:id="rId73"/>
  </p:handoutMasterIdLst>
  <p:sldIdLst>
    <p:sldId id="814" r:id="rId2"/>
    <p:sldId id="815" r:id="rId3"/>
    <p:sldId id="816" r:id="rId4"/>
    <p:sldId id="817" r:id="rId5"/>
    <p:sldId id="819" r:id="rId6"/>
    <p:sldId id="830" r:id="rId7"/>
    <p:sldId id="831" r:id="rId8"/>
    <p:sldId id="832" r:id="rId9"/>
    <p:sldId id="923" r:id="rId10"/>
    <p:sldId id="937" r:id="rId11"/>
    <p:sldId id="877" r:id="rId12"/>
    <p:sldId id="936" r:id="rId13"/>
    <p:sldId id="940" r:id="rId14"/>
    <p:sldId id="812" r:id="rId15"/>
    <p:sldId id="939" r:id="rId16"/>
    <p:sldId id="925" r:id="rId17"/>
    <p:sldId id="876" r:id="rId18"/>
    <p:sldId id="833" r:id="rId19"/>
    <p:sldId id="834" r:id="rId20"/>
    <p:sldId id="835" r:id="rId21"/>
    <p:sldId id="837" r:id="rId22"/>
    <p:sldId id="764" r:id="rId23"/>
    <p:sldId id="765" r:id="rId24"/>
    <p:sldId id="766" r:id="rId25"/>
    <p:sldId id="703" r:id="rId26"/>
    <p:sldId id="768" r:id="rId27"/>
    <p:sldId id="706" r:id="rId28"/>
    <p:sldId id="770" r:id="rId29"/>
    <p:sldId id="918" r:id="rId30"/>
    <p:sldId id="787" r:id="rId31"/>
    <p:sldId id="789" r:id="rId32"/>
    <p:sldId id="772" r:id="rId33"/>
    <p:sldId id="773" r:id="rId34"/>
    <p:sldId id="791" r:id="rId35"/>
    <p:sldId id="902" r:id="rId36"/>
    <p:sldId id="907" r:id="rId37"/>
    <p:sldId id="908" r:id="rId38"/>
    <p:sldId id="913" r:id="rId39"/>
    <p:sldId id="926" r:id="rId40"/>
    <p:sldId id="904" r:id="rId41"/>
    <p:sldId id="905" r:id="rId42"/>
    <p:sldId id="906" r:id="rId43"/>
    <p:sldId id="910" r:id="rId44"/>
    <p:sldId id="911" r:id="rId45"/>
    <p:sldId id="897" r:id="rId46"/>
    <p:sldId id="928" r:id="rId47"/>
    <p:sldId id="932" r:id="rId48"/>
    <p:sldId id="929" r:id="rId49"/>
    <p:sldId id="927" r:id="rId50"/>
    <p:sldId id="934" r:id="rId51"/>
    <p:sldId id="933" r:id="rId52"/>
    <p:sldId id="935" r:id="rId53"/>
    <p:sldId id="898" r:id="rId54"/>
    <p:sldId id="899" r:id="rId55"/>
    <p:sldId id="884" r:id="rId56"/>
    <p:sldId id="886" r:id="rId57"/>
    <p:sldId id="930" r:id="rId58"/>
    <p:sldId id="942" r:id="rId59"/>
    <p:sldId id="891" r:id="rId60"/>
    <p:sldId id="893" r:id="rId61"/>
    <p:sldId id="894" r:id="rId62"/>
    <p:sldId id="922" r:id="rId63"/>
    <p:sldId id="919" r:id="rId64"/>
    <p:sldId id="896" r:id="rId65"/>
    <p:sldId id="821" r:id="rId66"/>
    <p:sldId id="878" r:id="rId67"/>
    <p:sldId id="756" r:id="rId68"/>
    <p:sldId id="749" r:id="rId69"/>
    <p:sldId id="941" r:id="rId70"/>
    <p:sldId id="883" r:id="rId71"/>
  </p:sldIdLst>
  <p:sldSz cx="12192000" cy="6858000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CC0099"/>
    <a:srgbClr val="FF9900"/>
    <a:srgbClr val="0000FF"/>
    <a:srgbClr val="993300"/>
    <a:srgbClr val="CCECFF"/>
    <a:srgbClr val="FF3300"/>
    <a:srgbClr val="6699FF"/>
    <a:srgbClr val="00FF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60" autoAdjust="0"/>
    <p:restoredTop sz="73691" autoAdjust="0"/>
  </p:normalViewPr>
  <p:slideViewPr>
    <p:cSldViewPr>
      <p:cViewPr varScale="1">
        <p:scale>
          <a:sx n="49" d="100"/>
          <a:sy n="49" d="100"/>
        </p:scale>
        <p:origin x="1204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39552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2692" y="4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4B9BB-6DE8-4551-91B0-1D212BA0667C}" type="datetimeFigureOut">
              <a:rPr lang="zh-CN" altLang="en-US" smtClean="0"/>
              <a:pPr/>
              <a:t>2024/10/7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79E54-6977-419B-BC40-D913703F14B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045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095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95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7470E5E1-4843-4932-A191-9860DB39C7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37970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计算机应用三大领域：科学计算、数据处理（</a:t>
            </a:r>
            <a:r>
              <a:rPr lang="en-US" altLang="zh-CN" dirty="0"/>
              <a:t>70%</a:t>
            </a:r>
            <a:r>
              <a:rPr lang="zh-CN" altLang="en-US" dirty="0"/>
              <a:t>）、过程控制</a:t>
            </a:r>
            <a:endParaRPr lang="en-US" altLang="zh-CN" dirty="0"/>
          </a:p>
          <a:p>
            <a:r>
              <a:rPr lang="en-US" altLang="zh-CN" dirty="0"/>
              <a:t>Linux </a:t>
            </a:r>
            <a:r>
              <a:rPr lang="zh-CN" altLang="en-US" dirty="0"/>
              <a:t>最经典的一句话是：一切皆文件」，不仅普通的文件和目录，就连块设备、管道、</a:t>
            </a:r>
            <a:r>
              <a:rPr lang="en-US" altLang="zh-CN" dirty="0"/>
              <a:t>socket </a:t>
            </a:r>
            <a:r>
              <a:rPr lang="zh-CN" altLang="en-US" dirty="0"/>
              <a:t>等，也都是统一交给文件系统管理的。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4501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XFS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文件系统采用优化算法，日志记录对整体文件操作影响非常小。</a:t>
            </a:r>
            <a:endParaRPr lang="en-US" altLang="zh-CN" b="0" i="0" dirty="0">
              <a:solidFill>
                <a:srgbClr val="121212"/>
              </a:solidFill>
              <a:effectLst/>
              <a:latin typeface="-apple-system"/>
            </a:endParaRPr>
          </a:p>
          <a:p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1PB = 1024TB</a:t>
            </a:r>
          </a:p>
          <a:p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1EB = 1024PB</a:t>
            </a:r>
          </a:p>
          <a:p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1ZB = 1024EB</a:t>
            </a:r>
          </a:p>
          <a:p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1YB = 1024ZB</a:t>
            </a:r>
          </a:p>
          <a:p>
            <a:endParaRPr lang="en-US" altLang="zh-CN" b="0" i="0" dirty="0">
              <a:solidFill>
                <a:srgbClr val="121212"/>
              </a:solidFill>
              <a:effectLst/>
              <a:latin typeface="-apple-system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1334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可以使用</a:t>
            </a:r>
            <a:r>
              <a:rPr lang="en-US" altLang="zh-CN" dirty="0"/>
              <a:t>ls –</a:t>
            </a:r>
            <a:r>
              <a:rPr lang="en-US" altLang="zh-CN" dirty="0" err="1"/>
              <a:t>i</a:t>
            </a:r>
            <a:r>
              <a:rPr lang="zh-CN" altLang="en-US" dirty="0"/>
              <a:t>命令查看文件或目录的</a:t>
            </a:r>
            <a:r>
              <a:rPr lang="en-US" altLang="zh-CN" dirty="0"/>
              <a:t>inode</a:t>
            </a:r>
            <a:r>
              <a:rPr lang="zh-CN" altLang="en-US" dirty="0"/>
              <a:t>号。</a:t>
            </a:r>
            <a:endParaRPr lang="en-US" altLang="zh-CN" dirty="0"/>
          </a:p>
          <a:p>
            <a:r>
              <a:rPr lang="en-US" altLang="zh-CN" dirty="0"/>
              <a:t>Linux </a:t>
            </a:r>
            <a:r>
              <a:rPr lang="zh-CN" altLang="en-US" dirty="0"/>
              <a:t>文件系统会为每个文件分配两个数据结构：索引节点（</a:t>
            </a:r>
            <a:r>
              <a:rPr lang="en-US" altLang="zh-CN" dirty="0"/>
              <a:t>index node</a:t>
            </a:r>
            <a:r>
              <a:rPr lang="zh-CN" altLang="en-US" dirty="0"/>
              <a:t>）和目录项（</a:t>
            </a:r>
            <a:r>
              <a:rPr lang="en-US" altLang="zh-CN" dirty="0"/>
              <a:t>directory entry</a:t>
            </a:r>
            <a:r>
              <a:rPr lang="zh-CN" altLang="en-US" dirty="0"/>
              <a:t>），它们主要用来记录文件的元信息和目录层次结构。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/>
              <a:t>”块”的大小，最常见的是</a:t>
            </a:r>
            <a:r>
              <a:rPr lang="en-US" altLang="zh-CN" sz="1200" dirty="0"/>
              <a:t>4KB</a:t>
            </a:r>
            <a:r>
              <a:rPr lang="zh-CN" altLang="en-US" sz="1200" dirty="0"/>
              <a:t>，即连续八个 </a:t>
            </a:r>
            <a:r>
              <a:rPr lang="en-US" altLang="zh-CN" sz="1200" dirty="0"/>
              <a:t>sector</a:t>
            </a:r>
            <a:r>
              <a:rPr lang="zh-CN" altLang="en-US" sz="1200" dirty="0"/>
              <a:t>组成一个 </a:t>
            </a:r>
            <a:r>
              <a:rPr lang="en-US" altLang="zh-CN" sz="1200" dirty="0"/>
              <a:t>block</a:t>
            </a:r>
            <a:r>
              <a:rPr lang="zh-CN" altLang="en-US" sz="1200" dirty="0"/>
              <a:t>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857736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可以使用</a:t>
            </a:r>
            <a:r>
              <a:rPr lang="en-US" altLang="zh-CN" dirty="0"/>
              <a:t>ls –</a:t>
            </a:r>
            <a:r>
              <a:rPr lang="en-US" altLang="zh-CN" dirty="0" err="1"/>
              <a:t>i</a:t>
            </a:r>
            <a:r>
              <a:rPr lang="zh-CN" altLang="en-US" dirty="0"/>
              <a:t>命令查看文件或目录的</a:t>
            </a:r>
            <a:r>
              <a:rPr lang="en-US" altLang="zh-CN" dirty="0"/>
              <a:t>inode</a:t>
            </a:r>
            <a:r>
              <a:rPr lang="zh-CN" altLang="en-US" dirty="0"/>
              <a:t>号。</a:t>
            </a:r>
            <a:endParaRPr lang="en-US" altLang="zh-CN" dirty="0"/>
          </a:p>
          <a:p>
            <a:r>
              <a:rPr lang="en-US" altLang="zh-CN" dirty="0"/>
              <a:t>Linux </a:t>
            </a:r>
            <a:r>
              <a:rPr lang="zh-CN" altLang="en-US" dirty="0"/>
              <a:t>文件系统会为每个文件分配两个数据结构：索引节点（</a:t>
            </a:r>
            <a:r>
              <a:rPr lang="en-US" altLang="zh-CN" dirty="0"/>
              <a:t>index node</a:t>
            </a:r>
            <a:r>
              <a:rPr lang="zh-CN" altLang="en-US" dirty="0"/>
              <a:t>）和目录项（</a:t>
            </a:r>
            <a:r>
              <a:rPr lang="en-US" altLang="zh-CN" dirty="0"/>
              <a:t>directory entry</a:t>
            </a:r>
            <a:r>
              <a:rPr lang="zh-CN" altLang="en-US" dirty="0"/>
              <a:t>），它们主要用来记录文件的元信息和目录层次结构。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9310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2633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软链接相当于重新创建了一个文件。这个文件也有独立的</a:t>
            </a:r>
            <a:r>
              <a:rPr lang="en-US" altLang="zh-CN" dirty="0"/>
              <a:t>inode</a:t>
            </a:r>
            <a:r>
              <a:rPr lang="zh-CN" altLang="en-US" dirty="0"/>
              <a:t>，只不过开打这个文件看里面内容的时候，内容指向另外一个文件。</a:t>
            </a:r>
          </a:p>
          <a:p>
            <a:r>
              <a:rPr lang="zh-CN" altLang="en-US" dirty="0"/>
              <a:t>可以跨文件系统，甚至目标文件被删除了，链接文件还是在的，只不过指向的文件找不到了而已（</a:t>
            </a:r>
            <a:r>
              <a:rPr lang="en-US" altLang="zh-CN" dirty="0"/>
              <a:t>Window</a:t>
            </a:r>
            <a:r>
              <a:rPr lang="zh-CN" altLang="en-US" dirty="0"/>
              <a:t>中的快捷方式）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1176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硬链接其实就是为物理文件增加一个逻辑文件名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9294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如图所示，硬链接与原始文件共用一个</a:t>
            </a:r>
            <a:r>
              <a:rPr lang="en-US" altLang="zh-CN" dirty="0"/>
              <a:t>inode,</a:t>
            </a:r>
            <a:r>
              <a:rPr lang="zh-CN" altLang="en-US" dirty="0"/>
              <a:t>但</a:t>
            </a:r>
            <a:r>
              <a:rPr lang="en-US" altLang="zh-CN" dirty="0"/>
              <a:t>inode</a:t>
            </a:r>
            <a:r>
              <a:rPr lang="zh-CN" altLang="en-US" dirty="0"/>
              <a:t>是不跨文件系统的（</a:t>
            </a:r>
            <a:r>
              <a:rPr lang="en-US" altLang="zh-CN" dirty="0"/>
              <a:t>Ext3</a:t>
            </a:r>
            <a:r>
              <a:rPr lang="zh-CN" altLang="en-US" dirty="0"/>
              <a:t>、</a:t>
            </a:r>
            <a:r>
              <a:rPr lang="en-US" altLang="zh-CN" dirty="0"/>
              <a:t>Ext4</a:t>
            </a:r>
            <a:r>
              <a:rPr lang="zh-CN" altLang="en-US" dirty="0"/>
              <a:t>），每个文件系统都有自己的</a:t>
            </a:r>
            <a:r>
              <a:rPr lang="en-US" altLang="zh-CN" dirty="0"/>
              <a:t>inode</a:t>
            </a:r>
            <a:r>
              <a:rPr lang="zh-CN" altLang="en-US" dirty="0"/>
              <a:t>列表。因此，硬链接是没办法跨文件系统。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4943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23127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FCB</a:t>
            </a:r>
            <a:r>
              <a:rPr lang="zh-CN" altLang="en-US" dirty="0"/>
              <a:t>的有序集合称为文件目录，一个</a:t>
            </a:r>
            <a:r>
              <a:rPr lang="en-US" altLang="zh-CN" dirty="0"/>
              <a:t>FCB</a:t>
            </a:r>
            <a:r>
              <a:rPr lang="zh-CN" altLang="en-US" dirty="0"/>
              <a:t>就是一个文件目录项。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04770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将每一个</a:t>
            </a:r>
            <a:r>
              <a:rPr lang="en-US" altLang="zh-CN" dirty="0"/>
              <a:t>I/O</a:t>
            </a:r>
            <a:r>
              <a:rPr lang="zh-CN" altLang="en-US" dirty="0"/>
              <a:t>设备都看成一个文件，与普通文件一样处理，这样可以使文件与设备的操作尽可能统一。从用户的角度来看，对</a:t>
            </a:r>
            <a:r>
              <a:rPr lang="en-US" altLang="zh-CN" dirty="0"/>
              <a:t>I/O</a:t>
            </a:r>
            <a:r>
              <a:rPr lang="zh-CN" altLang="en-US" dirty="0"/>
              <a:t>设备的使用和普通文件的使用一样，不必了解</a:t>
            </a:r>
            <a:r>
              <a:rPr lang="en-US" altLang="zh-CN" dirty="0"/>
              <a:t>I/O</a:t>
            </a:r>
            <a:r>
              <a:rPr lang="zh-CN" altLang="en-US" dirty="0"/>
              <a:t>设备的细节。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23176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549995-4F16-4103-B1DC-8D24F935FEB8}" type="slidenum">
              <a:rPr lang="en-US" altLang="zh-CN" smtClean="0"/>
              <a:pPr/>
              <a:t>22</a:t>
            </a:fld>
            <a:endParaRPr lang="en-US" altLang="zh-CN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</p:spPr>
        <p:txBody>
          <a:bodyPr/>
          <a:lstStyle/>
          <a:p>
            <a:pPr eaLnBrk="1" hangingPunct="1"/>
            <a:r>
              <a:rPr lang="zh-CN" altLang="en-US"/>
              <a:t>文件的逻辑结构对用户可见，即从用户角度观察到的文件系统。</a:t>
            </a:r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31ED72-5DF3-4B0D-B2FF-63FEF958A055}" type="slidenum">
              <a:rPr lang="en-US" altLang="zh-CN" smtClean="0"/>
              <a:pPr/>
              <a:t>23</a:t>
            </a:fld>
            <a:endParaRPr lang="en-US" altLang="zh-CN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4FE74F-E994-4CC2-B79C-CCE39E72C32C}" type="slidenum">
              <a:rPr lang="en-US" altLang="zh-CN" smtClean="0"/>
              <a:pPr/>
              <a:t>24</a:t>
            </a:fld>
            <a:endParaRPr lang="en-US" altLang="zh-CN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</p:spPr>
        <p:txBody>
          <a:bodyPr/>
          <a:lstStyle/>
          <a:p>
            <a:pPr eaLnBrk="1" hangingPunct="1"/>
            <a:r>
              <a:rPr lang="zh-CN" altLang="en-US" dirty="0"/>
              <a:t>文件控制块是用来存放控制文件需要的各种信息的数据结构，以实现“按名存取”。</a:t>
            </a:r>
            <a:endParaRPr lang="en-US" altLang="zh-CN" dirty="0"/>
          </a:p>
          <a:p>
            <a:pPr eaLnBrk="1" hangingPunct="1"/>
            <a:r>
              <a:rPr lang="zh-CN" altLang="en-US" dirty="0"/>
              <a:t>文件描述信息单独形成一个称为索引结点的数据结构，除文件名外的文件描述信息都放到索引结点</a:t>
            </a:r>
            <a:endParaRPr lang="en-US" altLang="zh-CN" dirty="0"/>
          </a:p>
          <a:p>
            <a:pPr eaLnBrk="1" hangingPunct="1"/>
            <a:r>
              <a:rPr lang="en-US" altLang="zh-CN" dirty="0"/>
              <a:t>FCB</a:t>
            </a:r>
            <a:r>
              <a:rPr lang="zh-CN" altLang="en-US" dirty="0"/>
              <a:t>的有序集合称为文件目录，一个</a:t>
            </a:r>
            <a:r>
              <a:rPr lang="en-US" altLang="zh-CN" dirty="0"/>
              <a:t>FCB</a:t>
            </a:r>
            <a:r>
              <a:rPr lang="zh-CN" altLang="en-US" dirty="0"/>
              <a:t>就是一个文件目录项。</a:t>
            </a:r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A02A93B-E4FC-4BE5-BC41-9815A5685DF6}" type="slidenum">
              <a:rPr lang="en-US" altLang="zh-CN" smtClean="0"/>
              <a:pPr/>
              <a:t>26</a:t>
            </a:fld>
            <a:endParaRPr lang="en-US" altLang="zh-CN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9ED1A3-3B68-41F7-842E-C9DBA8B5CC92}" type="slidenum">
              <a:rPr lang="en-US" altLang="zh-CN" smtClean="0"/>
              <a:pPr/>
              <a:t>28</a:t>
            </a:fld>
            <a:endParaRPr lang="en-US" altLang="zh-CN"/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>
            <a:extLst>
              <a:ext uri="{FF2B5EF4-FFF2-40B4-BE49-F238E27FC236}">
                <a16:creationId xmlns:a16="http://schemas.microsoft.com/office/drawing/2014/main" id="{09A6A445-DF87-45C8-90D1-6D6EE409D9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227" name="备注占位符 2">
            <a:extLst>
              <a:ext uri="{FF2B5EF4-FFF2-40B4-BE49-F238E27FC236}">
                <a16:creationId xmlns:a16="http://schemas.microsoft.com/office/drawing/2014/main" id="{1E3AB438-86D0-466A-9140-B96076BF3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28" name="灯片编号占位符 3">
            <a:extLst>
              <a:ext uri="{FF2B5EF4-FFF2-40B4-BE49-F238E27FC236}">
                <a16:creationId xmlns:a16="http://schemas.microsoft.com/office/drawing/2014/main" id="{73685C6A-755A-40D3-B8EF-4ABE2204E2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C41C88F-2C3E-472B-B7A0-033F065C3A76}" type="slidenum">
              <a:rPr lang="en-US" altLang="zh-CN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30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>
            <a:extLst>
              <a:ext uri="{FF2B5EF4-FFF2-40B4-BE49-F238E27FC236}">
                <a16:creationId xmlns:a16="http://schemas.microsoft.com/office/drawing/2014/main" id="{F5C34E0D-FEE7-45E8-8109-536F1D043A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4275" name="备注占位符 2">
            <a:extLst>
              <a:ext uri="{FF2B5EF4-FFF2-40B4-BE49-F238E27FC236}">
                <a16:creationId xmlns:a16="http://schemas.microsoft.com/office/drawing/2014/main" id="{7D0AB986-CC78-43C5-A4E6-DCFE8666A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4276" name="灯片编号占位符 3">
            <a:extLst>
              <a:ext uri="{FF2B5EF4-FFF2-40B4-BE49-F238E27FC236}">
                <a16:creationId xmlns:a16="http://schemas.microsoft.com/office/drawing/2014/main" id="{6C401648-E5BA-41A9-8714-9CE050F2E9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9B260AA-D8FA-4125-B0F1-D9445546655A}" type="slidenum">
              <a:rPr lang="en-US" altLang="zh-CN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31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0CF015-0254-478C-B874-7C8F657BB484}" type="slidenum">
              <a:rPr lang="en-US" altLang="zh-CN" smtClean="0"/>
              <a:pPr/>
              <a:t>32</a:t>
            </a:fld>
            <a:endParaRPr lang="en-US" altLang="zh-CN"/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C403E37-BEC7-4ED4-B40A-0E23F9159E5F}" type="slidenum">
              <a:rPr lang="en-US" altLang="zh-CN" smtClean="0"/>
              <a:pPr/>
              <a:t>33</a:t>
            </a:fld>
            <a:endParaRPr lang="en-US" altLang="zh-CN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>
            <a:extLst>
              <a:ext uri="{FF2B5EF4-FFF2-40B4-BE49-F238E27FC236}">
                <a16:creationId xmlns:a16="http://schemas.microsoft.com/office/drawing/2014/main" id="{326735DE-C39C-41D1-BD88-1CFB189BC5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8371" name="备注占位符 2">
            <a:extLst>
              <a:ext uri="{FF2B5EF4-FFF2-40B4-BE49-F238E27FC236}">
                <a16:creationId xmlns:a16="http://schemas.microsoft.com/office/drawing/2014/main" id="{CA19ECCE-3BC2-4FBA-8305-84D47203A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372" name="灯片编号占位符 3">
            <a:extLst>
              <a:ext uri="{FF2B5EF4-FFF2-40B4-BE49-F238E27FC236}">
                <a16:creationId xmlns:a16="http://schemas.microsoft.com/office/drawing/2014/main" id="{68A42B8B-180E-4AA4-910E-B8F1F6D24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FD03EC4-97FC-4C0A-BCDF-3803968B14A8}" type="slidenum">
              <a:rPr lang="en-US" altLang="zh-CN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34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27695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99111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90892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bzip2</a:t>
            </a:r>
            <a:r>
              <a:rPr lang="zh-CN" altLang="en-US" dirty="0"/>
              <a:t>使用</a:t>
            </a:r>
            <a:r>
              <a:rPr lang="en-US" altLang="zh-CN" dirty="0"/>
              <a:t>Burrows-Wheeler</a:t>
            </a:r>
            <a:r>
              <a:rPr lang="zh-CN" altLang="en-US" dirty="0"/>
              <a:t>块排序文本压缩算法，压缩比率比一般算法高一些，能把普通文件压缩</a:t>
            </a:r>
            <a:r>
              <a:rPr lang="en-US" altLang="zh-CN" dirty="0"/>
              <a:t>10%</a:t>
            </a:r>
            <a:r>
              <a:rPr lang="zh-CN" altLang="en-US" dirty="0"/>
              <a:t>至</a:t>
            </a:r>
            <a:r>
              <a:rPr lang="en-US" altLang="zh-CN" dirty="0"/>
              <a:t>15%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 err="1"/>
              <a:t>gzip</a:t>
            </a:r>
            <a:r>
              <a:rPr lang="en-US" altLang="zh-CN" dirty="0"/>
              <a:t> bzip2 </a:t>
            </a:r>
            <a:r>
              <a:rPr lang="zh-CN" altLang="en-US" dirty="0"/>
              <a:t>都是压缩程序</a:t>
            </a:r>
            <a:r>
              <a:rPr lang="en-US" altLang="zh-CN" dirty="0"/>
              <a:t>,</a:t>
            </a:r>
            <a:r>
              <a:rPr lang="zh-CN" altLang="en-US" dirty="0"/>
              <a:t>区别是</a:t>
            </a:r>
            <a:r>
              <a:rPr lang="en-US" altLang="zh-CN" dirty="0"/>
              <a:t>:</a:t>
            </a:r>
            <a:r>
              <a:rPr lang="en-US" altLang="zh-CN" dirty="0" err="1"/>
              <a:t>gzip</a:t>
            </a:r>
            <a:r>
              <a:rPr lang="zh-CN" altLang="en-US" dirty="0"/>
              <a:t>的速度快一些</a:t>
            </a:r>
            <a:r>
              <a:rPr lang="en-US" altLang="zh-CN" dirty="0"/>
              <a:t>,</a:t>
            </a:r>
            <a:r>
              <a:rPr lang="zh-CN" altLang="en-US" dirty="0"/>
              <a:t>而</a:t>
            </a:r>
            <a:r>
              <a:rPr lang="en-US" altLang="zh-CN" dirty="0"/>
              <a:t>bzip2</a:t>
            </a:r>
            <a:r>
              <a:rPr lang="zh-CN" altLang="en-US" dirty="0"/>
              <a:t>要压得狠一些。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84343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和</a:t>
            </a:r>
            <a:r>
              <a:rPr lang="en-US" altLang="zh-CN" dirty="0"/>
              <a:t>Windows</a:t>
            </a:r>
            <a:r>
              <a:rPr lang="zh-CN" altLang="en-US" dirty="0"/>
              <a:t>下的</a:t>
            </a:r>
            <a:r>
              <a:rPr lang="en-US" altLang="zh-CN" dirty="0"/>
              <a:t>WinRAR</a:t>
            </a:r>
            <a:r>
              <a:rPr lang="zh-CN" altLang="en-US" dirty="0"/>
              <a:t>等工具不同，</a:t>
            </a:r>
            <a:r>
              <a:rPr lang="en-US" altLang="zh-CN" dirty="0"/>
              <a:t>Linux</a:t>
            </a:r>
            <a:r>
              <a:rPr lang="zh-CN" altLang="en-US" dirty="0"/>
              <a:t>系统下，压缩和打包是分开的，需要使用不同的命令来实现。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42700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支持的压缩指令比较多样化，且不同的压缩使用的技术不同，目前常用的主要是</a:t>
            </a:r>
            <a:r>
              <a:rPr lang="en-US" altLang="zh-CN" dirty="0"/>
              <a:t>gzip</a:t>
            </a:r>
            <a:r>
              <a:rPr lang="zh-CN" altLang="en-US" dirty="0"/>
              <a:t>和</a:t>
            </a:r>
            <a:r>
              <a:rPr lang="en-US" altLang="zh-CN" dirty="0"/>
              <a:t>bzip2</a:t>
            </a:r>
            <a:r>
              <a:rPr lang="zh-CN" altLang="en-US" dirty="0"/>
              <a:t>这两个，</a:t>
            </a:r>
            <a:r>
              <a:rPr lang="en-US" altLang="zh-CN" dirty="0"/>
              <a:t>tar</a:t>
            </a:r>
            <a:r>
              <a:rPr lang="zh-CN" altLang="en-US" dirty="0"/>
              <a:t>指令主要是用于打包文件的，并不是压缩，只是这个指令支持使用</a:t>
            </a:r>
            <a:r>
              <a:rPr lang="en-US" altLang="zh-CN" dirty="0"/>
              <a:t>gzip</a:t>
            </a:r>
            <a:r>
              <a:rPr lang="zh-CN" altLang="en-US" dirty="0"/>
              <a:t>和</a:t>
            </a:r>
            <a:r>
              <a:rPr lang="en-US" altLang="zh-CN" dirty="0"/>
              <a:t>bzip2</a:t>
            </a:r>
            <a:r>
              <a:rPr lang="zh-CN" altLang="en-US" dirty="0"/>
              <a:t>进行压缩而已，但单独使用</a:t>
            </a:r>
            <a:r>
              <a:rPr lang="en-US" altLang="zh-CN" dirty="0"/>
              <a:t>tar</a:t>
            </a:r>
            <a:r>
              <a:rPr lang="zh-CN" altLang="en-US" dirty="0"/>
              <a:t>的时候仅仅打包文件。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12242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zip</a:t>
            </a:r>
            <a:r>
              <a:rPr lang="zh-CN" altLang="en-US" dirty="0"/>
              <a:t>是个使用广泛的压缩程序，文件经它压缩后会另外产生具有</a:t>
            </a:r>
            <a:r>
              <a:rPr lang="en-US" altLang="zh-CN" dirty="0"/>
              <a:t>".zip"</a:t>
            </a:r>
            <a:r>
              <a:rPr lang="zh-CN" altLang="en-US" dirty="0"/>
              <a:t>扩展名的压缩文件。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41229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每个扇区</a:t>
            </a:r>
            <a:r>
              <a:rPr lang="en-US" altLang="zh-CN" dirty="0"/>
              <a:t>512</a:t>
            </a:r>
            <a:r>
              <a:rPr lang="zh-CN" altLang="en-US" dirty="0"/>
              <a:t>字节</a:t>
            </a:r>
            <a:endParaRPr lang="en-US" altLang="zh-CN" dirty="0"/>
          </a:p>
          <a:p>
            <a:r>
              <a:rPr lang="zh-CN" altLang="en-US" dirty="0"/>
              <a:t>主引导记录</a:t>
            </a:r>
            <a:r>
              <a:rPr lang="en-US" altLang="zh-CN" dirty="0"/>
              <a:t>:MBR</a:t>
            </a:r>
            <a:r>
              <a:rPr lang="zh-CN" altLang="en-US" dirty="0"/>
              <a:t>，</a:t>
            </a:r>
            <a:r>
              <a:rPr lang="en-US" altLang="zh-CN" dirty="0"/>
              <a:t>Master Boot Record</a:t>
            </a:r>
          </a:p>
          <a:p>
            <a:r>
              <a:rPr lang="zh-CN" altLang="en-US" dirty="0"/>
              <a:t>保存每组分区信息需要</a:t>
            </a:r>
            <a:r>
              <a:rPr lang="en-US" altLang="zh-CN" dirty="0"/>
              <a:t>16</a:t>
            </a:r>
            <a:r>
              <a:rPr lang="zh-CN" altLang="en-US" dirty="0"/>
              <a:t>字节。 由于分区表仅有</a:t>
            </a:r>
            <a:r>
              <a:rPr lang="en-US" altLang="zh-CN" dirty="0"/>
              <a:t>64</a:t>
            </a:r>
            <a:r>
              <a:rPr lang="zh-CN" altLang="en-US" dirty="0"/>
              <a:t>个字节</a:t>
            </a:r>
            <a:r>
              <a:rPr lang="en-US" altLang="zh-CN" dirty="0"/>
              <a:t>,</a:t>
            </a:r>
            <a:r>
              <a:rPr lang="zh-CN" altLang="en-US" dirty="0"/>
              <a:t>而每个分区表项要占用</a:t>
            </a:r>
            <a:r>
              <a:rPr lang="en-US" altLang="zh-CN" dirty="0"/>
              <a:t>16</a:t>
            </a:r>
            <a:r>
              <a:rPr lang="zh-CN" altLang="en-US" dirty="0"/>
              <a:t>个字节</a:t>
            </a:r>
            <a:r>
              <a:rPr lang="en-US" altLang="zh-CN" dirty="0"/>
              <a:t>,</a:t>
            </a:r>
            <a:r>
              <a:rPr lang="zh-CN" altLang="en-US" dirty="0"/>
              <a:t>因此最多仅能有四组分区。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实际中却可能需要超过的</a:t>
            </a:r>
            <a:r>
              <a:rPr lang="en-US" altLang="zh-CN" dirty="0"/>
              <a:t>4</a:t>
            </a:r>
            <a:r>
              <a:rPr lang="zh-CN" altLang="en-US" dirty="0"/>
              <a:t>个分区，为解决上述问题，需要最后</a:t>
            </a:r>
            <a:r>
              <a:rPr lang="en-US" altLang="zh-CN" dirty="0"/>
              <a:t>16</a:t>
            </a:r>
            <a:r>
              <a:rPr lang="zh-CN" altLang="en-US" dirty="0"/>
              <a:t>字节指向另外的分区，来实现划分多于</a:t>
            </a:r>
            <a:r>
              <a:rPr lang="en-US" altLang="zh-CN" dirty="0"/>
              <a:t>4</a:t>
            </a:r>
            <a:r>
              <a:rPr lang="zh-CN" altLang="en-US" dirty="0"/>
              <a:t>个分区。这就是扩展分区。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63308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扩展分区不是确切的分区，可以说是一个指针，指向另外的分区，在扩展分区中可以划分逻辑分区。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39852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69494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74116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Linux</a:t>
            </a:r>
            <a:r>
              <a:rPr lang="zh-CN" altLang="en-US" dirty="0"/>
              <a:t>中，没有盘符这个概念，通过设备名来访问设备，设备名存放在</a:t>
            </a:r>
            <a:r>
              <a:rPr lang="en-US" altLang="zh-CN" dirty="0"/>
              <a:t>/dev</a:t>
            </a:r>
            <a:r>
              <a:rPr lang="zh-CN" altLang="en-US" dirty="0"/>
              <a:t>目录中</a:t>
            </a:r>
            <a:endParaRPr lang="en-US" altLang="zh-CN" dirty="0"/>
          </a:p>
          <a:p>
            <a:r>
              <a:rPr lang="en-US" altLang="zh-CN" dirty="0"/>
              <a:t>SCSI</a:t>
            </a:r>
            <a:r>
              <a:rPr lang="zh-CN" altLang="en-US" dirty="0"/>
              <a:t>类硬盘使用较为广泛</a:t>
            </a:r>
            <a:endParaRPr lang="en-US" altLang="zh-CN" dirty="0"/>
          </a:p>
          <a:p>
            <a:r>
              <a:rPr lang="en-US" altLang="zh-CN" dirty="0"/>
              <a:t>IDE,ATA </a:t>
            </a:r>
            <a:r>
              <a:rPr lang="zh-CN" altLang="en-US" dirty="0"/>
              <a:t>以</a:t>
            </a:r>
            <a:r>
              <a:rPr lang="en-US" altLang="zh-CN" dirty="0" err="1"/>
              <a:t>hd</a:t>
            </a:r>
            <a:r>
              <a:rPr lang="zh-CN" altLang="en-US" dirty="0"/>
              <a:t>开头</a:t>
            </a:r>
            <a:r>
              <a:rPr lang="en-US" altLang="zh-CN" dirty="0"/>
              <a:t>;SATA :</a:t>
            </a:r>
            <a:r>
              <a:rPr lang="zh-CN" altLang="en-US" dirty="0"/>
              <a:t>以</a:t>
            </a:r>
            <a:r>
              <a:rPr lang="en-US" altLang="zh-CN" dirty="0" err="1"/>
              <a:t>sd</a:t>
            </a:r>
            <a:r>
              <a:rPr lang="zh-CN" altLang="en-US" dirty="0"/>
              <a:t>标识</a:t>
            </a:r>
          </a:p>
          <a:p>
            <a:r>
              <a:rPr lang="en-US" altLang="zh-CN" dirty="0" err="1"/>
              <a:t>scsi</a:t>
            </a:r>
            <a:r>
              <a:rPr lang="zh-CN" altLang="en-US" dirty="0"/>
              <a:t>：</a:t>
            </a:r>
            <a:r>
              <a:rPr lang="en-US" altLang="zh-CN" dirty="0" err="1"/>
              <a:t>sd</a:t>
            </a:r>
            <a:r>
              <a:rPr lang="zh-CN" altLang="en-US" dirty="0"/>
              <a:t>开头</a:t>
            </a:r>
          </a:p>
          <a:p>
            <a:r>
              <a:rPr lang="en-US" altLang="zh-CN" dirty="0" err="1"/>
              <a:t>USB:sd</a:t>
            </a:r>
            <a:r>
              <a:rPr lang="zh-CN" altLang="en-US" dirty="0"/>
              <a:t>开头</a:t>
            </a:r>
          </a:p>
          <a:p>
            <a:r>
              <a:rPr lang="zh-CN" altLang="en-US" dirty="0"/>
              <a:t>同一种硬盘类型下的不同设备间用</a:t>
            </a:r>
            <a:r>
              <a:rPr lang="en-US" altLang="zh-CN" dirty="0"/>
              <a:t>abc……</a:t>
            </a:r>
            <a:r>
              <a:rPr lang="zh-CN" altLang="en-US" dirty="0"/>
              <a:t>区别，如</a:t>
            </a:r>
            <a:r>
              <a:rPr lang="en-US" altLang="zh-CN" dirty="0" err="1"/>
              <a:t>hda</a:t>
            </a:r>
            <a:r>
              <a:rPr lang="zh-CN" altLang="en-US" dirty="0"/>
              <a:t>，</a:t>
            </a:r>
            <a:r>
              <a:rPr lang="en-US" altLang="zh-CN" dirty="0" err="1"/>
              <a:t>hdb</a:t>
            </a:r>
            <a:endParaRPr lang="en-US" altLang="zh-CN" dirty="0"/>
          </a:p>
          <a:p>
            <a:r>
              <a:rPr lang="zh-CN" altLang="en-US" dirty="0"/>
              <a:t>同一个硬盘下的不同分区可以用 </a:t>
            </a:r>
            <a:r>
              <a:rPr lang="en-US" altLang="zh-CN" dirty="0"/>
              <a:t>hda1</a:t>
            </a:r>
            <a:r>
              <a:rPr lang="zh-CN" altLang="en-US" dirty="0"/>
              <a:t>，</a:t>
            </a:r>
            <a:r>
              <a:rPr lang="en-US" altLang="zh-CN" dirty="0"/>
              <a:t>hda2</a:t>
            </a:r>
            <a:r>
              <a:rPr lang="zh-CN" altLang="en-US" dirty="0"/>
              <a:t>，</a:t>
            </a:r>
            <a:r>
              <a:rPr lang="en-US" altLang="zh-CN" dirty="0"/>
              <a:t>hda3</a:t>
            </a:r>
            <a:r>
              <a:rPr lang="zh-CN" altLang="en-US" dirty="0"/>
              <a:t>，</a:t>
            </a:r>
            <a:r>
              <a:rPr lang="en-US" altLang="zh-CN" dirty="0"/>
              <a:t>hda4</a:t>
            </a:r>
            <a:r>
              <a:rPr lang="zh-CN" altLang="en-US" dirty="0"/>
              <a:t>，</a:t>
            </a:r>
            <a:r>
              <a:rPr lang="en-US" altLang="zh-CN" dirty="0"/>
              <a:t>hda6</a:t>
            </a:r>
          </a:p>
          <a:p>
            <a:r>
              <a:rPr lang="zh-CN" altLang="en-US" dirty="0"/>
              <a:t>逻辑分区只能从</a:t>
            </a:r>
            <a:r>
              <a:rPr lang="en-US" altLang="zh-CN" dirty="0"/>
              <a:t>hda5</a:t>
            </a:r>
            <a:r>
              <a:rPr lang="zh-CN" altLang="en-US" dirty="0"/>
              <a:t>开始，不管</a:t>
            </a:r>
            <a:r>
              <a:rPr lang="en-US" altLang="zh-CN" dirty="0"/>
              <a:t>hda1</a:t>
            </a:r>
            <a:r>
              <a:rPr lang="zh-CN" altLang="en-US" dirty="0"/>
              <a:t>，</a:t>
            </a:r>
            <a:r>
              <a:rPr lang="en-US" altLang="zh-CN" dirty="0"/>
              <a:t>hda2</a:t>
            </a:r>
            <a:r>
              <a:rPr lang="zh-CN" altLang="en-US" dirty="0"/>
              <a:t>，</a:t>
            </a:r>
            <a:r>
              <a:rPr lang="en-US" altLang="zh-CN" dirty="0"/>
              <a:t>hda3</a:t>
            </a:r>
            <a:r>
              <a:rPr lang="zh-CN" altLang="en-US" dirty="0"/>
              <a:t>，</a:t>
            </a:r>
            <a:r>
              <a:rPr lang="en-US" altLang="zh-CN" dirty="0"/>
              <a:t>hda4</a:t>
            </a:r>
            <a:r>
              <a:rPr lang="zh-CN" altLang="en-US" dirty="0"/>
              <a:t>是否存在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869868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如果磁盘的分区编号等于或超过</a:t>
            </a:r>
            <a:r>
              <a:rPr lang="en-US" altLang="zh-CN" dirty="0"/>
              <a:t>5</a:t>
            </a:r>
            <a:r>
              <a:rPr lang="zh-CN" altLang="en-US" dirty="0"/>
              <a:t>（如</a:t>
            </a:r>
            <a:r>
              <a:rPr lang="en-US" altLang="zh-CN" dirty="0"/>
              <a:t>/dev/sda5</a:t>
            </a:r>
            <a:r>
              <a:rPr lang="zh-CN" altLang="en-US" dirty="0"/>
              <a:t>、</a:t>
            </a:r>
            <a:r>
              <a:rPr lang="en-US" altLang="zh-CN" dirty="0"/>
              <a:t>/dev/sda6</a:t>
            </a:r>
            <a:r>
              <a:rPr lang="zh-CN" altLang="en-US" dirty="0"/>
              <a:t>等），就说明这块磁盘一定存在逻辑分区，如</a:t>
            </a:r>
            <a:r>
              <a:rPr lang="en-US" altLang="zh-CN" dirty="0"/>
              <a:t>/dev/sda5</a:t>
            </a:r>
            <a:r>
              <a:rPr lang="zh-CN" altLang="en-US" dirty="0"/>
              <a:t>表示第一块</a:t>
            </a:r>
            <a:r>
              <a:rPr lang="en-US" altLang="zh-CN" dirty="0"/>
              <a:t>SCSI</a:t>
            </a:r>
            <a:r>
              <a:rPr lang="zh-CN" altLang="en-US" dirty="0"/>
              <a:t>类磁盘上的第一个逻辑分区，而</a:t>
            </a:r>
            <a:r>
              <a:rPr lang="en-US" altLang="zh-CN" dirty="0"/>
              <a:t>/dev/sda6</a:t>
            </a:r>
            <a:r>
              <a:rPr lang="zh-CN" altLang="en-US" dirty="0"/>
              <a:t>则表示第二个逻辑分区。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502040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/>
            <a:fld id="{55DA4961-1C79-446A-B282-9134C6742C9D}" type="slidenum">
              <a:rPr lang="en-US" altLang="zh-CN">
                <a:latin typeface="Arial" pitchFamily="34" charset="0"/>
              </a:rPr>
              <a:pPr eaLnBrk="1" hangingPunct="1"/>
              <a:t>59</a:t>
            </a:fld>
            <a:endParaRPr lang="en-US" altLang="zh-CN">
              <a:latin typeface="Arial" pitchFamily="34" charset="0"/>
            </a:endParaRPr>
          </a:p>
        </p:txBody>
      </p:sp>
      <p:sp>
        <p:nvSpPr>
          <p:cNvPr id="273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273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9045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851203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如果不支持汉字显示，则用</a:t>
            </a:r>
            <a:r>
              <a:rPr lang="en-US" altLang="zh-CN" dirty="0"/>
              <a:t>-o</a:t>
            </a:r>
            <a:r>
              <a:rPr lang="zh-CN" altLang="en-US" dirty="0"/>
              <a:t>参数，例如：</a:t>
            </a:r>
          </a:p>
          <a:p>
            <a:r>
              <a:rPr lang="en-US" altLang="zh-CN" dirty="0"/>
              <a:t>mount  -o  </a:t>
            </a:r>
            <a:r>
              <a:rPr lang="en-US" altLang="zh-CN" dirty="0" err="1"/>
              <a:t>iocharset</a:t>
            </a:r>
            <a:r>
              <a:rPr lang="en-US" altLang="zh-CN" dirty="0"/>
              <a:t>=cp936   /dev/sda1   /</a:t>
            </a:r>
            <a:r>
              <a:rPr lang="en-US" altLang="zh-CN" dirty="0" err="1"/>
              <a:t>mnt</a:t>
            </a:r>
            <a:r>
              <a:rPr lang="en-US" altLang="zh-CN" dirty="0"/>
              <a:t>/</a:t>
            </a:r>
            <a:r>
              <a:rPr lang="en-US" altLang="zh-CN" dirty="0" err="1"/>
              <a:t>usb</a:t>
            </a:r>
            <a:r>
              <a:rPr lang="en-US" altLang="zh-CN" dirty="0"/>
              <a:t> </a:t>
            </a:r>
          </a:p>
          <a:p>
            <a:r>
              <a:rPr lang="zh-CN" altLang="en-US" dirty="0"/>
              <a:t>或者</a:t>
            </a:r>
            <a:r>
              <a:rPr lang="en-US" altLang="zh-CN" dirty="0" err="1"/>
              <a:t>iocharset</a:t>
            </a:r>
            <a:r>
              <a:rPr lang="en-US" altLang="zh-CN" dirty="0"/>
              <a:t>=gb2312 </a:t>
            </a:r>
          </a:p>
          <a:p>
            <a:r>
              <a:rPr lang="zh-CN" altLang="en-US" dirty="0"/>
              <a:t>或者</a:t>
            </a:r>
            <a:r>
              <a:rPr lang="en-US" altLang="zh-CN" dirty="0" err="1"/>
              <a:t>iocharset</a:t>
            </a:r>
            <a:r>
              <a:rPr lang="en-US" altLang="zh-CN" dirty="0"/>
              <a:t>=utf8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852622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buFont typeface="Times New Roman" pitchFamily="18" charset="0"/>
              <a:buNone/>
            </a:pPr>
            <a:fld id="{CA0F54CF-C81D-4E16-B0F0-4F40CDD81B12}" type="slidenum">
              <a:rPr lang="en-US" altLang="zh-CN" smtClean="0">
                <a:solidFill>
                  <a:srgbClr val="000000"/>
                </a:solidFill>
                <a:latin typeface="AR PL UMing CN" pitchFamily="16" charset="0"/>
              </a:rPr>
              <a:pPr eaLnBrk="1" hangingPunct="1">
                <a:buFont typeface="Times New Roman" pitchFamily="18" charset="0"/>
                <a:buNone/>
              </a:pPr>
              <a:t>64</a:t>
            </a:fld>
            <a:endParaRPr lang="en-US" altLang="zh-CN" dirty="0">
              <a:solidFill>
                <a:srgbClr val="000000"/>
              </a:solidFill>
              <a:latin typeface="AR PL UMing CN" pitchFamily="16" charset="0"/>
            </a:endParaRPr>
          </a:p>
        </p:txBody>
      </p:sp>
      <p:sp>
        <p:nvSpPr>
          <p:cNvPr id="9011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011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2084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zh-CN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buFont typeface="Times New Roman" pitchFamily="18" charset="0"/>
              <a:buNone/>
            </a:pPr>
            <a:fld id="{CA0F54CF-C81D-4E16-B0F0-4F40CDD81B12}" type="slidenum">
              <a:rPr lang="en-US" altLang="zh-CN" smtClean="0">
                <a:solidFill>
                  <a:srgbClr val="000000"/>
                </a:solidFill>
                <a:latin typeface="AR PL UMing CN" pitchFamily="16" charset="0"/>
              </a:rPr>
              <a:pPr eaLnBrk="1" hangingPunct="1">
                <a:buFont typeface="Times New Roman" pitchFamily="18" charset="0"/>
                <a:buNone/>
              </a:pPr>
              <a:t>66</a:t>
            </a:fld>
            <a:endParaRPr lang="en-US" altLang="zh-CN" dirty="0">
              <a:solidFill>
                <a:srgbClr val="000000"/>
              </a:solidFill>
              <a:latin typeface="AR PL UMing CN" pitchFamily="16" charset="0"/>
            </a:endParaRPr>
          </a:p>
        </p:txBody>
      </p:sp>
      <p:sp>
        <p:nvSpPr>
          <p:cNvPr id="9011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011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2084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zh-CN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C8ECD7-B2DB-4C78-B5AF-49F042C480FA}" type="slidenum">
              <a:rPr lang="en-US" altLang="zh-CN" smtClean="0"/>
              <a:pPr/>
              <a:t>67</a:t>
            </a:fld>
            <a:endParaRPr lang="en-US" altLang="zh-CN" dirty="0"/>
          </a:p>
        </p:txBody>
      </p:sp>
      <p:sp>
        <p:nvSpPr>
          <p:cNvPr id="211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211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 w="9525"/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buFont typeface="Times New Roman" pitchFamily="18" charset="0"/>
              <a:buNone/>
            </a:pPr>
            <a:fld id="{0463ECBD-27D0-4B37-B742-893F29232D02}" type="slidenum">
              <a:rPr lang="en-US" altLang="zh-CN" smtClean="0">
                <a:solidFill>
                  <a:srgbClr val="000000"/>
                </a:solidFill>
                <a:latin typeface="AR PL UMing CN" pitchFamily="16" charset="0"/>
              </a:rPr>
              <a:pPr eaLnBrk="1" hangingPunct="1">
                <a:buFont typeface="Times New Roman" pitchFamily="18" charset="0"/>
                <a:buNone/>
              </a:pPr>
              <a:t>68</a:t>
            </a:fld>
            <a:endParaRPr lang="en-US" altLang="zh-CN" dirty="0">
              <a:solidFill>
                <a:srgbClr val="000000"/>
              </a:solidFill>
              <a:latin typeface="AR PL UMing CN" pitchFamily="16" charset="0"/>
            </a:endParaRPr>
          </a:p>
        </p:txBody>
      </p:sp>
      <p:sp>
        <p:nvSpPr>
          <p:cNvPr id="9523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523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2084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zh-CN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1pPr>
            <a:lvl2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2pPr>
            <a:lvl3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3pPr>
            <a:lvl4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4pPr>
            <a:lvl5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bg1"/>
                </a:solidFill>
                <a:latin typeface="Verdana" pitchFamily="34" charset="0"/>
                <a:ea typeface="宋体" charset="-122"/>
              </a:defRPr>
            </a:lvl9pPr>
          </a:lstStyle>
          <a:p>
            <a:pPr eaLnBrk="1" hangingPunct="1">
              <a:buFont typeface="Times New Roman" pitchFamily="18" charset="0"/>
              <a:buNone/>
            </a:pPr>
            <a:fld id="{0463ECBD-27D0-4B37-B742-893F29232D02}" type="slidenum">
              <a:rPr lang="en-US" altLang="zh-CN" smtClean="0">
                <a:solidFill>
                  <a:srgbClr val="000000"/>
                </a:solidFill>
                <a:latin typeface="AR PL UMing CN" pitchFamily="16" charset="0"/>
              </a:rPr>
              <a:pPr eaLnBrk="1" hangingPunct="1">
                <a:buFont typeface="Times New Roman" pitchFamily="18" charset="0"/>
                <a:buNone/>
              </a:pPr>
              <a:t>69</a:t>
            </a:fld>
            <a:endParaRPr lang="en-US" altLang="zh-CN" dirty="0">
              <a:solidFill>
                <a:srgbClr val="000000"/>
              </a:solidFill>
              <a:latin typeface="AR PL UMing CN" pitchFamily="16" charset="0"/>
            </a:endParaRPr>
          </a:p>
        </p:txBody>
      </p:sp>
      <p:sp>
        <p:nvSpPr>
          <p:cNvPr id="9523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523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2084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zh-CN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83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97536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  <p:sp>
        <p:nvSpPr>
          <p:cNvPr id="5" name="Line 40"/>
          <p:cNvSpPr>
            <a:spLocks noChangeShapeType="1"/>
          </p:cNvSpPr>
          <p:nvPr/>
        </p:nvSpPr>
        <p:spPr bwMode="auto">
          <a:xfrm>
            <a:off x="406400" y="2819400"/>
            <a:ext cx="109728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21217" y="466725"/>
            <a:ext cx="9042400" cy="2133600"/>
          </a:xfrm>
        </p:spPr>
        <p:txBody>
          <a:bodyPr/>
          <a:lstStyle>
            <a:lvl1pPr algn="r">
              <a:defRPr sz="5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0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84" y="188913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0871B5-850E-4E14-A636-3EC679EBF0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0C099A-6552-4724-AD39-B0EE2F003FA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22239"/>
            <a:ext cx="9614859" cy="85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" y="6180138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2000" b="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106289" y="6320384"/>
            <a:ext cx="59005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 b="1"/>
            </a:lvl1pPr>
          </a:lstStyle>
          <a:p>
            <a:pPr>
              <a:defRPr/>
            </a:pPr>
            <a:fld id="{F1DF145E-C5AF-4A14-B9F0-BF7FA680051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52" r:id="rId3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 b="1">
          <a:solidFill>
            <a:schemeClr val="tx1"/>
          </a:solidFill>
          <a:latin typeface="+mn-lt"/>
          <a:ea typeface="+mn-ea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 b="1">
          <a:solidFill>
            <a:schemeClr val="tx1"/>
          </a:solidFill>
          <a:latin typeface="+mn-lt"/>
          <a:ea typeface="+mn-ea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87488" y="1483544"/>
            <a:ext cx="6911975" cy="1846262"/>
          </a:xfrm>
        </p:spPr>
        <p:txBody>
          <a:bodyPr/>
          <a:lstStyle/>
          <a:p>
            <a:pPr algn="ctr" eaLnBrk="1" hangingPunct="1"/>
            <a:r>
              <a:rPr lang="en-US" altLang="zh-CN" sz="5000" dirty="0"/>
              <a:t>       </a:t>
            </a:r>
            <a:r>
              <a:rPr lang="zh-CN" altLang="en-US" sz="5400" dirty="0">
                <a:solidFill>
                  <a:schemeClr val="bg1"/>
                </a:solidFill>
              </a:rPr>
              <a:t>第 </a:t>
            </a:r>
            <a:r>
              <a:rPr lang="en-US" altLang="zh-CN" sz="5400" dirty="0">
                <a:solidFill>
                  <a:schemeClr val="bg1"/>
                </a:solidFill>
              </a:rPr>
              <a:t>5 </a:t>
            </a:r>
            <a:r>
              <a:rPr lang="zh-CN" altLang="en-US" sz="5400" dirty="0">
                <a:solidFill>
                  <a:schemeClr val="bg1"/>
                </a:solidFill>
              </a:rPr>
              <a:t>章</a:t>
            </a:r>
            <a:br>
              <a:rPr lang="en-US" altLang="zh-CN" sz="5400" dirty="0">
                <a:solidFill>
                  <a:schemeClr val="bg1"/>
                </a:solidFill>
              </a:rPr>
            </a:br>
            <a:r>
              <a:rPr lang="en-US" altLang="zh-CN" sz="5400" dirty="0"/>
              <a:t>      </a:t>
            </a:r>
            <a:endParaRPr lang="zh-CN" altLang="en-US" sz="4200" dirty="0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783633" y="2995712"/>
            <a:ext cx="5971431" cy="2449512"/>
          </a:xfrm>
        </p:spPr>
        <p:txBody>
          <a:bodyPr/>
          <a:lstStyle/>
          <a:p>
            <a:pPr algn="ctr" eaLnBrk="1" hangingPunct="1"/>
            <a:r>
              <a:rPr lang="en-US" altLang="zh-CN" sz="5400" dirty="0">
                <a:solidFill>
                  <a:schemeClr val="bg1"/>
                </a:solidFill>
              </a:rPr>
              <a:t>Linux</a:t>
            </a:r>
            <a:r>
              <a:rPr lang="zh-CN" altLang="en-US" sz="5400" dirty="0">
                <a:solidFill>
                  <a:schemeClr val="bg1"/>
                </a:solidFill>
                <a:latin typeface="黑体" pitchFamily="2" charset="-122"/>
              </a:rPr>
              <a:t>文件系统</a:t>
            </a:r>
            <a:endParaRPr lang="en-US" altLang="zh-CN" sz="1000" dirty="0">
              <a:solidFill>
                <a:schemeClr val="bg1"/>
              </a:solidFill>
              <a:latin typeface="Times New Roman" pitchFamily="18" charset="0"/>
            </a:endParaRPr>
          </a:p>
          <a:p>
            <a:pPr algn="ctr" eaLnBrk="1" hangingPunct="1"/>
            <a:endParaRPr lang="en-US" altLang="zh-CN" sz="30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509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4F507E2-4C6C-BE3C-EF14-782951A2E77A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15480" y="1484784"/>
            <a:ext cx="8928992" cy="460851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文件系统基础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+mn-ea"/>
              </a:rPr>
              <a:t>文件的结构</a:t>
            </a:r>
            <a:endParaRPr lang="en-US" altLang="zh-CN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Arial" charset="0"/>
                <a:ea typeface="黑体" pitchFamily="2" charset="-122"/>
                <a:cs typeface="Arial" charset="0"/>
              </a:rPr>
              <a:t>文件系统的挂载与卸载</a:t>
            </a:r>
            <a:endParaRPr lang="en-US" altLang="zh-CN" dirty="0">
              <a:latin typeface="Arial" charset="0"/>
              <a:ea typeface="黑体" pitchFamily="2" charset="-122"/>
              <a:cs typeface="Arial" charset="0"/>
            </a:endParaRPr>
          </a:p>
          <a:p>
            <a:pPr>
              <a:lnSpc>
                <a:spcPct val="120000"/>
              </a:lnSpc>
            </a:pPr>
            <a:r>
              <a:rPr lang="zh-CN" altLang="en-US" dirty="0">
                <a:latin typeface="+mj-ea"/>
              </a:rPr>
              <a:t>文件的归档与压缩</a:t>
            </a:r>
            <a:endParaRPr lang="en-US" altLang="zh-CN" dirty="0">
              <a:latin typeface="+mj-ea"/>
            </a:endParaRPr>
          </a:p>
          <a:p>
            <a:pPr>
              <a:lnSpc>
                <a:spcPct val="120000"/>
              </a:lnSpc>
            </a:pPr>
            <a:r>
              <a:rPr lang="zh-CN" altLang="en-US" dirty="0"/>
              <a:t>磁盘管理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虚拟文件系统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sz="2800" dirty="0">
              <a:latin typeface="+mj-ea"/>
            </a:endParaRPr>
          </a:p>
          <a:p>
            <a:pPr>
              <a:lnSpc>
                <a:spcPct val="150000"/>
              </a:lnSpc>
            </a:pPr>
            <a:endParaRPr lang="en-US" altLang="zh-CN" sz="2800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775520" y="565056"/>
            <a:ext cx="7761288" cy="858838"/>
          </a:xfrm>
        </p:spPr>
        <p:txBody>
          <a:bodyPr/>
          <a:lstStyle/>
          <a:p>
            <a:pPr algn="ctr" eaLnBrk="1" hangingPunct="1"/>
            <a:r>
              <a:rPr lang="zh-CN" altLang="en-US" sz="4600" dirty="0"/>
              <a:t>本章内容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86614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3390DD3-6B58-9557-B39F-BE68FDF0C44F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552" y="404664"/>
            <a:ext cx="7355160" cy="858837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</a:rPr>
              <a:t>5.1  </a:t>
            </a:r>
            <a:r>
              <a:rPr lang="zh-CN" altLang="en-US" dirty="0">
                <a:latin typeface="+mn-lt"/>
                <a:ea typeface="+mn-ea"/>
              </a:rPr>
              <a:t>文件系统基础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340768"/>
            <a:ext cx="10153128" cy="4788520"/>
          </a:xfrm>
        </p:spPr>
        <p:txBody>
          <a:bodyPr/>
          <a:lstStyle/>
          <a:p>
            <a:r>
              <a:rPr lang="zh-CN" altLang="en-US" sz="2600" dirty="0">
                <a:latin typeface="+mn-ea"/>
              </a:rPr>
              <a:t>数据处理是计算机的主要功能之一，与数据处理相关的</a:t>
            </a:r>
            <a:r>
              <a:rPr lang="zh-CN" altLang="en-US" sz="2600" dirty="0">
                <a:solidFill>
                  <a:srgbClr val="CC0099"/>
                </a:solidFill>
                <a:latin typeface="+mn-ea"/>
              </a:rPr>
              <a:t>数据管理</a:t>
            </a:r>
            <a:r>
              <a:rPr lang="zh-CN" altLang="en-US" sz="2600" dirty="0">
                <a:latin typeface="+mn-ea"/>
              </a:rPr>
              <a:t>和</a:t>
            </a:r>
            <a:r>
              <a:rPr lang="zh-CN" altLang="en-US" sz="2600" dirty="0">
                <a:solidFill>
                  <a:srgbClr val="CC0099"/>
                </a:solidFill>
                <a:latin typeface="+mn-ea"/>
              </a:rPr>
              <a:t>数据保存</a:t>
            </a:r>
            <a:r>
              <a:rPr lang="zh-CN" altLang="en-US" sz="2600" dirty="0">
                <a:latin typeface="+mn-ea"/>
              </a:rPr>
              <a:t>是必不可少的重要的环节。在计算机中，大量的数据和信息是通过</a:t>
            </a:r>
            <a:r>
              <a:rPr lang="zh-CN" altLang="en-US" sz="2600" dirty="0">
                <a:solidFill>
                  <a:srgbClr val="CC0099"/>
                </a:solidFill>
                <a:latin typeface="+mn-ea"/>
              </a:rPr>
              <a:t>文件</a:t>
            </a:r>
            <a:r>
              <a:rPr lang="zh-CN" altLang="en-US" sz="2600" dirty="0">
                <a:latin typeface="+mn-ea"/>
              </a:rPr>
              <a:t>存储和管理的。</a:t>
            </a:r>
            <a:endParaRPr lang="en-US" altLang="zh-CN" sz="2600" dirty="0">
              <a:latin typeface="+mn-ea"/>
            </a:endParaRPr>
          </a:p>
          <a:p>
            <a:r>
              <a:rPr lang="zh-CN" altLang="en-US" sz="2600" dirty="0">
                <a:latin typeface="+mn-ea"/>
              </a:rPr>
              <a:t>操作系统是计算机中软硬件资源管理者。其中</a:t>
            </a:r>
            <a:r>
              <a:rPr lang="zh-CN" altLang="en-US" sz="2600" dirty="0">
                <a:solidFill>
                  <a:srgbClr val="CC0099"/>
                </a:solidFill>
                <a:latin typeface="+mn-ea"/>
              </a:rPr>
              <a:t>软件资源管理就是文件系统，文件系统</a:t>
            </a:r>
            <a:r>
              <a:rPr lang="zh-CN" altLang="en-US" sz="2600" dirty="0">
                <a:latin typeface="+mn-ea"/>
              </a:rPr>
              <a:t>负责管理文件，为用户提供文件的操作手段。</a:t>
            </a:r>
            <a:endParaRPr lang="en-US" altLang="zh-CN" sz="2600" dirty="0">
              <a:latin typeface="+mn-ea"/>
            </a:endParaRPr>
          </a:p>
          <a:p>
            <a:r>
              <a:rPr lang="zh-CN" altLang="en-US" sz="2600" dirty="0">
                <a:latin typeface="+mn-ea"/>
              </a:rPr>
              <a:t>文件系统隐藏了复杂的硬件设备特征，为用户以及操作系统的其他子系统提供一个统一的接口，使得用户方便地使用计算机软硬件资源。</a:t>
            </a:r>
            <a:endParaRPr lang="en-US" altLang="zh-CN" sz="2600" dirty="0">
              <a:latin typeface="+mn-ea"/>
            </a:endParaRPr>
          </a:p>
          <a:p>
            <a:r>
              <a:rPr lang="en-US" altLang="zh-CN" sz="2600" dirty="0">
                <a:latin typeface="+mn-ea"/>
              </a:rPr>
              <a:t>Linux</a:t>
            </a:r>
            <a:r>
              <a:rPr lang="zh-CN" altLang="en-US" sz="2600" dirty="0">
                <a:latin typeface="+mn-ea"/>
              </a:rPr>
              <a:t>系统的一个重要特点就是“</a:t>
            </a:r>
            <a:r>
              <a:rPr lang="zh-CN" altLang="en-US" sz="2600" dirty="0">
                <a:solidFill>
                  <a:srgbClr val="0000CC"/>
                </a:solidFill>
                <a:latin typeface="+mn-ea"/>
              </a:rPr>
              <a:t>一切皆文件</a:t>
            </a:r>
            <a:r>
              <a:rPr lang="zh-CN" altLang="en-US" sz="2600" dirty="0">
                <a:latin typeface="+mn-ea"/>
              </a:rPr>
              <a:t>”，从这个特点看出文件的重要性。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zh-CN" sz="2500" dirty="0"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zh-CN" sz="2500" dirty="0">
              <a:latin typeface="+mn-ea"/>
            </a:endParaRPr>
          </a:p>
          <a:p>
            <a:pPr marL="0" indent="0">
              <a:buNone/>
            </a:pPr>
            <a:endParaRPr lang="zh-CN" altLang="en-US" sz="2800" dirty="0"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63367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65CD0A4-481D-B3BD-D39D-FBB9EC0EED79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911424" y="404664"/>
            <a:ext cx="9614859" cy="858837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</a:rPr>
              <a:t>Linux</a:t>
            </a:r>
            <a:r>
              <a:rPr lang="zh-CN" altLang="en-US" dirty="0">
                <a:latin typeface="+mn-ea"/>
                <a:ea typeface="+mn-ea"/>
              </a:rPr>
              <a:t>文件系统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7448" y="1412776"/>
            <a:ext cx="9937104" cy="4464496"/>
          </a:xfrm>
        </p:spPr>
        <p:txBody>
          <a:bodyPr/>
          <a:lstStyle/>
          <a:p>
            <a:r>
              <a:rPr lang="en-US" altLang="zh-CN" sz="2600" dirty="0">
                <a:latin typeface="+mn-ea"/>
              </a:rPr>
              <a:t>Linux</a:t>
            </a:r>
            <a:r>
              <a:rPr lang="zh-CN" altLang="en-US" sz="2600" dirty="0">
                <a:latin typeface="+mn-ea"/>
              </a:rPr>
              <a:t>的文件系统继承了</a:t>
            </a:r>
            <a:r>
              <a:rPr lang="en-US" altLang="zh-CN" sz="2600" dirty="0">
                <a:latin typeface="+mn-ea"/>
              </a:rPr>
              <a:t>UNIX</a:t>
            </a:r>
            <a:r>
              <a:rPr lang="zh-CN" altLang="en-US" sz="2600" dirty="0">
                <a:latin typeface="+mn-ea"/>
              </a:rPr>
              <a:t>文件系统的优秀设计，在</a:t>
            </a:r>
            <a:r>
              <a:rPr lang="zh-CN" altLang="en-US" sz="2600" dirty="0">
                <a:solidFill>
                  <a:srgbClr val="0000CC"/>
                </a:solidFill>
                <a:latin typeface="+mn-ea"/>
              </a:rPr>
              <a:t>开放性</a:t>
            </a:r>
            <a:r>
              <a:rPr lang="zh-CN" altLang="en-US" sz="2600" dirty="0">
                <a:latin typeface="+mn-ea"/>
              </a:rPr>
              <a:t>、</a:t>
            </a:r>
            <a:r>
              <a:rPr lang="zh-CN" altLang="en-US" sz="2600" dirty="0">
                <a:solidFill>
                  <a:srgbClr val="0000CC"/>
                </a:solidFill>
                <a:latin typeface="+mn-ea"/>
              </a:rPr>
              <a:t>可扩展性</a:t>
            </a:r>
            <a:r>
              <a:rPr lang="zh-CN" altLang="en-US" sz="2600" dirty="0">
                <a:latin typeface="+mn-ea"/>
              </a:rPr>
              <a:t>等方面都十分出色，不仅具备普通的文件管理功能，还有许多特殊的功能，文件管理非常灵活，功能强大。</a:t>
            </a:r>
            <a:endParaRPr lang="en-US" altLang="zh-CN" sz="2600" dirty="0">
              <a:latin typeface="+mn-ea"/>
            </a:endParaRPr>
          </a:p>
          <a:p>
            <a:r>
              <a:rPr lang="en-US" altLang="zh-CN" sz="2600" dirty="0">
                <a:latin typeface="+mn-ea"/>
              </a:rPr>
              <a:t>Linux </a:t>
            </a:r>
            <a:r>
              <a:rPr lang="zh-CN" altLang="en-US" sz="2600" dirty="0">
                <a:latin typeface="+mn-ea"/>
              </a:rPr>
              <a:t>最早的文件系统是</a:t>
            </a:r>
            <a:r>
              <a:rPr lang="en-US" altLang="zh-CN" sz="2600" dirty="0" err="1">
                <a:latin typeface="+mn-ea"/>
              </a:rPr>
              <a:t>Minix</a:t>
            </a:r>
            <a:r>
              <a:rPr lang="zh-CN" altLang="en-US" sz="2600" dirty="0">
                <a:latin typeface="+mn-ea"/>
              </a:rPr>
              <a:t>，</a:t>
            </a:r>
            <a:r>
              <a:rPr lang="en-US" altLang="zh-CN" sz="2600" dirty="0" err="1">
                <a:latin typeface="+mn-ea"/>
              </a:rPr>
              <a:t>Minix</a:t>
            </a:r>
            <a:r>
              <a:rPr lang="zh-CN" altLang="en-US" sz="2600" dirty="0">
                <a:latin typeface="+mn-ea"/>
              </a:rPr>
              <a:t>文件系统由</a:t>
            </a:r>
            <a:r>
              <a:rPr lang="en-US" altLang="zh-CN" sz="2600" dirty="0" err="1">
                <a:latin typeface="+mn-ea"/>
              </a:rPr>
              <a:t>Minix</a:t>
            </a:r>
            <a:r>
              <a:rPr lang="zh-CN" altLang="en-US" sz="2600" dirty="0">
                <a:latin typeface="+mn-ea"/>
              </a:rPr>
              <a:t>操作系统定义，有一定的局限性，如文件名最长</a:t>
            </a:r>
            <a:r>
              <a:rPr lang="en-US" altLang="zh-CN" sz="2600" dirty="0">
                <a:latin typeface="+mn-ea"/>
              </a:rPr>
              <a:t>14</a:t>
            </a:r>
            <a:r>
              <a:rPr lang="zh-CN" altLang="en-US" sz="2600" dirty="0">
                <a:latin typeface="+mn-ea"/>
              </a:rPr>
              <a:t>个字符，文件最长</a:t>
            </a:r>
            <a:r>
              <a:rPr lang="en-US" altLang="zh-CN" sz="2600" dirty="0" err="1">
                <a:latin typeface="+mn-ea"/>
              </a:rPr>
              <a:t>64M</a:t>
            </a:r>
            <a:r>
              <a:rPr lang="zh-CN" altLang="en-US" sz="2600" dirty="0">
                <a:latin typeface="+mn-ea"/>
              </a:rPr>
              <a:t>字节。</a:t>
            </a:r>
            <a:endParaRPr lang="en-US" altLang="zh-CN" sz="2600" dirty="0">
              <a:latin typeface="+mn-ea"/>
            </a:endParaRPr>
          </a:p>
          <a:p>
            <a:r>
              <a:rPr lang="zh-CN" altLang="en-US" sz="2600" dirty="0">
                <a:latin typeface="+mn-ea"/>
              </a:rPr>
              <a:t>第一个专门为</a:t>
            </a:r>
            <a:r>
              <a:rPr lang="en-US" altLang="zh-CN" sz="2600" dirty="0">
                <a:latin typeface="+mn-ea"/>
              </a:rPr>
              <a:t>Linux</a:t>
            </a:r>
            <a:r>
              <a:rPr lang="zh-CN" altLang="en-US" sz="2600" dirty="0">
                <a:latin typeface="+mn-ea"/>
              </a:rPr>
              <a:t>设计的文件系统是</a:t>
            </a:r>
            <a:r>
              <a:rPr lang="en-US" altLang="zh-CN" sz="2600" dirty="0">
                <a:latin typeface="+mn-ea"/>
              </a:rPr>
              <a:t>EXT</a:t>
            </a:r>
            <a:r>
              <a:rPr lang="zh-CN" altLang="en-US" sz="2600" dirty="0">
                <a:latin typeface="+mn-ea"/>
              </a:rPr>
              <a:t>（</a:t>
            </a:r>
            <a:r>
              <a:rPr lang="en-US" altLang="zh-CN" sz="2600" dirty="0">
                <a:latin typeface="+mn-ea"/>
              </a:rPr>
              <a:t>Extended File System</a:t>
            </a:r>
            <a:r>
              <a:rPr lang="zh-CN" altLang="en-US" sz="2600" dirty="0">
                <a:latin typeface="+mn-ea"/>
              </a:rPr>
              <a:t>）。</a:t>
            </a:r>
            <a:endParaRPr lang="en-US" altLang="zh-CN" sz="2600" dirty="0">
              <a:latin typeface="+mn-ea"/>
            </a:endParaRPr>
          </a:p>
          <a:p>
            <a:r>
              <a:rPr lang="en-US" altLang="zh-CN" sz="2600" dirty="0">
                <a:latin typeface="+mn-ea"/>
              </a:rPr>
              <a:t>1993</a:t>
            </a:r>
            <a:r>
              <a:rPr lang="zh-CN" altLang="en-US" sz="2600" dirty="0">
                <a:latin typeface="+mn-ea"/>
              </a:rPr>
              <a:t>年升级为</a:t>
            </a:r>
            <a:r>
              <a:rPr lang="en-US" altLang="zh-CN" sz="2600" dirty="0">
                <a:latin typeface="+mn-ea"/>
              </a:rPr>
              <a:t>EXT2</a:t>
            </a:r>
            <a:r>
              <a:rPr lang="zh-CN" altLang="en-US" sz="2600" dirty="0">
                <a:latin typeface="+mn-ea"/>
              </a:rPr>
              <a:t>文件系统，</a:t>
            </a:r>
            <a:r>
              <a:rPr lang="en-US" altLang="zh-CN" sz="2600" dirty="0">
                <a:latin typeface="+mn-ea"/>
              </a:rPr>
              <a:t>EXT2</a:t>
            </a:r>
            <a:r>
              <a:rPr lang="zh-CN" altLang="en-US" sz="2600" dirty="0">
                <a:latin typeface="+mn-ea"/>
              </a:rPr>
              <a:t>对</a:t>
            </a:r>
            <a:r>
              <a:rPr lang="en-US" altLang="zh-CN" sz="2600" dirty="0">
                <a:latin typeface="+mn-ea"/>
              </a:rPr>
              <a:t>Linux</a:t>
            </a:r>
            <a:r>
              <a:rPr lang="zh-CN" altLang="en-US" sz="2600" dirty="0">
                <a:latin typeface="+mn-ea"/>
              </a:rPr>
              <a:t>产生了重大影响，</a:t>
            </a:r>
            <a:r>
              <a:rPr lang="en-US" altLang="zh-CN" sz="2600" dirty="0">
                <a:latin typeface="+mn-ea"/>
              </a:rPr>
              <a:t>EXT2</a:t>
            </a:r>
            <a:r>
              <a:rPr lang="zh-CN" altLang="en-US" sz="2600" dirty="0">
                <a:latin typeface="+mn-ea"/>
              </a:rPr>
              <a:t>运行稳定，存取效率高，易扩充。</a:t>
            </a:r>
            <a:endParaRPr lang="en-US" altLang="zh-CN" sz="2600" dirty="0">
              <a:latin typeface="+mn-ea"/>
            </a:endParaRPr>
          </a:p>
          <a:p>
            <a:pPr marL="0" indent="0">
              <a:buNone/>
            </a:pPr>
            <a:endParaRPr lang="zh-CN" altLang="en-US" sz="2800" dirty="0"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96268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050D353-563F-11FA-78F5-F6424C58EA5D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556792"/>
            <a:ext cx="9721080" cy="416615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600" dirty="0"/>
              <a:t>1999</a:t>
            </a:r>
            <a:r>
              <a:rPr lang="zh-CN" altLang="en-US" sz="2600" dirty="0"/>
              <a:t>年</a:t>
            </a:r>
            <a:r>
              <a:rPr lang="en-US" altLang="zh-CN" sz="2600" dirty="0"/>
              <a:t>EXT3</a:t>
            </a:r>
            <a:r>
              <a:rPr lang="zh-CN" altLang="en-US" sz="2600" dirty="0"/>
              <a:t>发布，完全兼容</a:t>
            </a:r>
            <a:r>
              <a:rPr lang="en-US" altLang="zh-CN" sz="2600" dirty="0"/>
              <a:t>EXT2</a:t>
            </a:r>
            <a:r>
              <a:rPr lang="zh-CN" altLang="en-US" sz="2600" dirty="0"/>
              <a:t>，加入日志技术，</a:t>
            </a:r>
            <a:r>
              <a:rPr lang="en-US" altLang="zh-CN" sz="2600" dirty="0"/>
              <a:t>EXT3</a:t>
            </a:r>
            <a:r>
              <a:rPr lang="zh-CN" altLang="en-US" sz="2600" dirty="0"/>
              <a:t>文件系统已经非常稳定可靠，在</a:t>
            </a:r>
            <a:r>
              <a:rPr lang="en-US" altLang="zh-CN" sz="2600" dirty="0"/>
              <a:t>32</a:t>
            </a:r>
            <a:r>
              <a:rPr lang="zh-CN" altLang="en-US" sz="2600" dirty="0"/>
              <a:t>位系统上可以支持</a:t>
            </a:r>
            <a:r>
              <a:rPr lang="en-US" altLang="zh-CN" sz="2600" dirty="0"/>
              <a:t>16T</a:t>
            </a:r>
            <a:r>
              <a:rPr lang="zh-CN" altLang="en-US" sz="2600" dirty="0"/>
              <a:t>分区和</a:t>
            </a:r>
            <a:r>
              <a:rPr lang="en-US" altLang="zh-CN" sz="2600" dirty="0"/>
              <a:t>2TB</a:t>
            </a:r>
            <a:r>
              <a:rPr lang="zh-CN" altLang="en-US" sz="2600" dirty="0"/>
              <a:t>大的文件。</a:t>
            </a:r>
          </a:p>
          <a:p>
            <a:pPr>
              <a:lnSpc>
                <a:spcPct val="120000"/>
              </a:lnSpc>
            </a:pPr>
            <a:r>
              <a:rPr lang="en-US" altLang="zh-CN" sz="2600" dirty="0"/>
              <a:t>2008</a:t>
            </a:r>
            <a:r>
              <a:rPr lang="zh-CN" altLang="en-US" sz="2600" dirty="0"/>
              <a:t>年</a:t>
            </a:r>
            <a:r>
              <a:rPr lang="en-US" altLang="zh-CN" sz="2600" dirty="0"/>
              <a:t>EXT4</a:t>
            </a:r>
            <a:r>
              <a:rPr lang="zh-CN" altLang="en-US" sz="2600" dirty="0"/>
              <a:t>开始投入使用，</a:t>
            </a:r>
            <a:r>
              <a:rPr lang="en-US" altLang="zh-CN" sz="2600" dirty="0"/>
              <a:t>EXT4</a:t>
            </a:r>
            <a:r>
              <a:rPr lang="zh-CN" altLang="en-US" sz="2600" dirty="0"/>
              <a:t>突破了</a:t>
            </a:r>
            <a:r>
              <a:rPr lang="en-US" altLang="zh-CN" sz="2600" dirty="0"/>
              <a:t>EXT3</a:t>
            </a:r>
            <a:r>
              <a:rPr lang="zh-CN" altLang="en-US" sz="2600" dirty="0"/>
              <a:t>文件系统的存储限制，文件系统的容量达到</a:t>
            </a:r>
            <a:r>
              <a:rPr lang="en-US" altLang="zh-CN" sz="2600" dirty="0"/>
              <a:t>1EB</a:t>
            </a:r>
            <a:r>
              <a:rPr lang="zh-CN" altLang="en-US" sz="2600" dirty="0"/>
              <a:t>，文件大小可达</a:t>
            </a:r>
            <a:r>
              <a:rPr lang="en-US" altLang="zh-CN" sz="2600" dirty="0"/>
              <a:t>16TB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>
              <a:lnSpc>
                <a:spcPct val="120000"/>
              </a:lnSpc>
            </a:pPr>
            <a:r>
              <a:rPr lang="en-US" altLang="zh-CN" sz="2600" dirty="0"/>
              <a:t>Centos7.0</a:t>
            </a:r>
            <a:r>
              <a:rPr lang="zh-CN" altLang="en-US" sz="2600" dirty="0"/>
              <a:t>默认文件系统是</a:t>
            </a:r>
            <a:r>
              <a:rPr lang="en-US" altLang="zh-CN" sz="2600" dirty="0"/>
              <a:t>XFS</a:t>
            </a:r>
            <a:r>
              <a:rPr lang="zh-CN" altLang="en-US" sz="2600" dirty="0"/>
              <a:t>，</a:t>
            </a:r>
            <a:r>
              <a:rPr lang="en-US" altLang="zh-CN" sz="2600" dirty="0"/>
              <a:t>XFS</a:t>
            </a:r>
            <a:r>
              <a:rPr lang="zh-CN" altLang="en-US" sz="2600" dirty="0"/>
              <a:t>一种高性能的日志文件系统，日志记录对整体文件操作影响非常小；支持特大数量的目录，文件系统规模可以达到</a:t>
            </a:r>
            <a:r>
              <a:rPr lang="en-US" altLang="zh-CN" sz="2600" dirty="0"/>
              <a:t>EB</a:t>
            </a:r>
            <a:r>
              <a:rPr lang="zh-CN" altLang="en-US" sz="2600" dirty="0"/>
              <a:t>级别。</a:t>
            </a:r>
            <a:endParaRPr lang="en-US" altLang="zh-CN" sz="2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207568" y="461803"/>
            <a:ext cx="7211144" cy="85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dirty="0">
                <a:latin typeface="+mn-lt"/>
                <a:ea typeface="+mn-ea"/>
              </a:rPr>
              <a:t>Linux</a:t>
            </a:r>
            <a:r>
              <a:rPr lang="zh-CN" altLang="en-US" dirty="0">
                <a:latin typeface="+mn-ea"/>
                <a:ea typeface="+mn-ea"/>
              </a:rPr>
              <a:t>文件系统</a:t>
            </a:r>
          </a:p>
        </p:txBody>
      </p:sp>
    </p:spTree>
    <p:extLst>
      <p:ext uri="{BB962C8B-B14F-4D97-AF65-F5344CB8AC3E}">
        <p14:creationId xmlns:p14="http://schemas.microsoft.com/office/powerpoint/2010/main" val="382951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7B8378E-20AB-435A-D1BC-276DB9A430EC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9157" name="Rectangle 5"/>
          <p:cNvSpPr>
            <a:spLocks noGrp="1"/>
          </p:cNvSpPr>
          <p:nvPr>
            <p:ph type="body" idx="1"/>
          </p:nvPr>
        </p:nvSpPr>
        <p:spPr>
          <a:xfrm>
            <a:off x="983432" y="1437957"/>
            <a:ext cx="10081120" cy="4032448"/>
          </a:xfrm>
          <a:noFill/>
          <a:ln/>
        </p:spPr>
        <p:txBody>
          <a:bodyPr/>
          <a:lstStyle/>
          <a:p>
            <a:pPr marL="0" indent="0">
              <a:buNone/>
            </a:pPr>
            <a:r>
              <a:rPr lang="zh-CN" altLang="en-US" sz="2800" dirty="0">
                <a:solidFill>
                  <a:srgbClr val="CC0099"/>
                </a:solidFill>
                <a:latin typeface="+mn-ea"/>
              </a:rPr>
              <a:t>文件的命名：</a:t>
            </a:r>
            <a:endParaRPr lang="en-US" altLang="zh-CN" sz="2800" dirty="0">
              <a:solidFill>
                <a:srgbClr val="CC0099"/>
              </a:solidFill>
              <a:latin typeface="+mn-ea"/>
            </a:endParaRPr>
          </a:p>
          <a:p>
            <a:pPr marL="609600" indent="-609600"/>
            <a:r>
              <a:rPr lang="zh-CN" altLang="en-US" sz="2600" dirty="0">
                <a:latin typeface="+mn-ea"/>
              </a:rPr>
              <a:t>由字母（可用汉字）、数字、下划线、圆点等字符构成。</a:t>
            </a:r>
          </a:p>
          <a:p>
            <a:pPr marL="609600" indent="-609600"/>
            <a:r>
              <a:rPr lang="zh-CN" altLang="en-US" sz="2600" dirty="0">
                <a:latin typeface="+mn-ea"/>
              </a:rPr>
              <a:t>长度不超过</a:t>
            </a:r>
            <a:r>
              <a:rPr lang="en-US" altLang="zh-CN" sz="2600" dirty="0">
                <a:latin typeface="+mn-ea"/>
              </a:rPr>
              <a:t>255</a:t>
            </a:r>
            <a:r>
              <a:rPr lang="zh-CN" altLang="en-US" sz="2600" dirty="0">
                <a:latin typeface="+mn-ea"/>
              </a:rPr>
              <a:t>个字符，避免使用特殊字符 </a:t>
            </a:r>
            <a:r>
              <a:rPr lang="zh-CN" altLang="en-US" sz="2600" dirty="0">
                <a:solidFill>
                  <a:srgbClr val="0000CC"/>
                </a:solidFill>
                <a:latin typeface="+mn-ea"/>
              </a:rPr>
              <a:t>？* </a:t>
            </a:r>
            <a:r>
              <a:rPr lang="en-US" altLang="zh-CN" sz="2600" dirty="0">
                <a:solidFill>
                  <a:srgbClr val="0000CC"/>
                </a:solidFill>
                <a:latin typeface="+mn-ea"/>
              </a:rPr>
              <a:t>\ $ </a:t>
            </a:r>
            <a:r>
              <a:rPr lang="zh-CN" altLang="en-US" sz="2600" dirty="0">
                <a:latin typeface="+mn-ea"/>
              </a:rPr>
              <a:t>等。</a:t>
            </a:r>
          </a:p>
          <a:p>
            <a:pPr marL="609600" indent="-609600"/>
            <a:r>
              <a:rPr lang="zh-CN" altLang="en-US" sz="2600" dirty="0">
                <a:latin typeface="+mn-ea"/>
              </a:rPr>
              <a:t>同一目录下不能有相同的文件名，不同目录下可以同名。</a:t>
            </a:r>
          </a:p>
          <a:p>
            <a:pPr marL="609600" indent="-609600"/>
            <a:r>
              <a:rPr lang="zh-CN" altLang="en-US" sz="2600" dirty="0">
                <a:latin typeface="+mn-ea"/>
              </a:rPr>
              <a:t>圆点 </a:t>
            </a:r>
            <a:r>
              <a:rPr lang="en-US" altLang="zh-CN" sz="2600" dirty="0">
                <a:solidFill>
                  <a:srgbClr val="0000CC"/>
                </a:solidFill>
                <a:latin typeface="+mn-ea"/>
                <a:sym typeface="Wingdings"/>
              </a:rPr>
              <a:t></a:t>
            </a:r>
            <a:r>
              <a:rPr lang="en-US" altLang="zh-CN" sz="2600" dirty="0">
                <a:solidFill>
                  <a:srgbClr val="CC0099"/>
                </a:solidFill>
                <a:latin typeface="+mn-ea"/>
                <a:sym typeface="Wingdings"/>
              </a:rPr>
              <a:t> </a:t>
            </a:r>
            <a:r>
              <a:rPr lang="zh-CN" altLang="en-US" sz="2600" dirty="0">
                <a:latin typeface="+mn-ea"/>
              </a:rPr>
              <a:t>在第一位置时表示隐含文件。</a:t>
            </a:r>
          </a:p>
          <a:p>
            <a:pPr marL="609600" indent="-609600"/>
            <a:r>
              <a:rPr lang="zh-CN" altLang="en-US" sz="2600" dirty="0">
                <a:latin typeface="+mn-ea"/>
              </a:rPr>
              <a:t>文件的属性与取名无关，文件名中不规定扩展名。</a:t>
            </a:r>
          </a:p>
          <a:p>
            <a:pPr marL="609600" indent="-609600"/>
            <a:r>
              <a:rPr lang="zh-CN" altLang="en-US" sz="2600" dirty="0">
                <a:solidFill>
                  <a:srgbClr val="CC0099"/>
                </a:solidFill>
                <a:latin typeface="+mn-ea"/>
              </a:rPr>
              <a:t>区分英文字符的大小写。</a:t>
            </a:r>
            <a:r>
              <a:rPr lang="zh-CN" altLang="en-US" sz="2600" dirty="0">
                <a:latin typeface="+mn-ea"/>
              </a:rPr>
              <a:t>比如</a:t>
            </a:r>
            <a:r>
              <a:rPr lang="en-US" altLang="zh-CN" sz="2600" dirty="0" err="1">
                <a:latin typeface="+mn-ea"/>
              </a:rPr>
              <a:t>myfile</a:t>
            </a:r>
            <a:r>
              <a:rPr lang="en-US" altLang="zh-CN" sz="2600" dirty="0">
                <a:latin typeface="+mn-ea"/>
              </a:rPr>
              <a:t>, </a:t>
            </a:r>
            <a:r>
              <a:rPr lang="en-US" altLang="zh-CN" sz="2600" dirty="0" err="1">
                <a:latin typeface="+mn-ea"/>
              </a:rPr>
              <a:t>Myfile</a:t>
            </a:r>
            <a:r>
              <a:rPr lang="en-US" altLang="zh-CN" sz="2600" dirty="0">
                <a:latin typeface="+mn-ea"/>
              </a:rPr>
              <a:t> </a:t>
            </a:r>
            <a:r>
              <a:rPr lang="zh-CN" altLang="en-US" sz="2600" dirty="0">
                <a:latin typeface="+mn-ea"/>
              </a:rPr>
              <a:t>和</a:t>
            </a:r>
            <a:r>
              <a:rPr lang="en-US" altLang="zh-CN" sz="2600" dirty="0" err="1">
                <a:latin typeface="+mn-ea"/>
              </a:rPr>
              <a:t>myFILE</a:t>
            </a:r>
            <a:r>
              <a:rPr lang="zh-CN" altLang="en-US" sz="2600" dirty="0">
                <a:latin typeface="+mn-ea"/>
              </a:rPr>
              <a:t>表示的是三个不同的文件。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972816" y="422514"/>
            <a:ext cx="7543800" cy="8588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altLang="zh-CN" dirty="0">
                <a:latin typeface="+mn-lt"/>
              </a:rPr>
              <a:t>Linux</a:t>
            </a:r>
            <a:r>
              <a:rPr lang="zh-CN" altLang="en-US" dirty="0">
                <a:latin typeface="+mj-ea"/>
              </a:rPr>
              <a:t>文件的命名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0024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F9397B5-7EDC-B36F-36A9-F019606ED1E4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83432" y="419101"/>
            <a:ext cx="9614859" cy="858837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</a:rPr>
              <a:t>Linux</a:t>
            </a:r>
            <a:r>
              <a:rPr lang="zh-CN" altLang="en-US" dirty="0">
                <a:latin typeface="+mn-ea"/>
                <a:ea typeface="+mn-ea"/>
              </a:rPr>
              <a:t>文件目录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7448" y="1268760"/>
            <a:ext cx="10009112" cy="4536504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600" dirty="0">
                <a:latin typeface="+mn-ea"/>
              </a:rPr>
              <a:t>Linux</a:t>
            </a:r>
            <a:r>
              <a:rPr lang="zh-CN" altLang="en-US" sz="2600" dirty="0">
                <a:latin typeface="+mn-ea"/>
              </a:rPr>
              <a:t>以文件目录的方式来组织和管理系统中的所有文件，将所有文件的说明信息采用</a:t>
            </a:r>
            <a:r>
              <a:rPr lang="zh-CN" altLang="en-US" sz="2600" dirty="0">
                <a:solidFill>
                  <a:srgbClr val="0000CC"/>
                </a:solidFill>
                <a:latin typeface="+mn-ea"/>
              </a:rPr>
              <a:t>树形结构</a:t>
            </a:r>
            <a:r>
              <a:rPr lang="zh-CN" altLang="en-US" sz="2600" dirty="0">
                <a:latin typeface="+mn-ea"/>
              </a:rPr>
              <a:t>组织起来。整个文件</a:t>
            </a:r>
            <a:r>
              <a:rPr lang="zh-CN" altLang="en-US" sz="2600" dirty="0">
                <a:solidFill>
                  <a:srgbClr val="CC0099"/>
                </a:solidFill>
                <a:latin typeface="+mn-ea"/>
              </a:rPr>
              <a:t>只有一个“根”</a:t>
            </a:r>
            <a:r>
              <a:rPr lang="zh-CN" altLang="en-US" sz="2600" dirty="0">
                <a:latin typeface="+mn-ea"/>
              </a:rPr>
              <a:t>（</a:t>
            </a:r>
            <a:r>
              <a:rPr lang="en-US" altLang="zh-CN" sz="2600" dirty="0">
                <a:latin typeface="+mn-ea"/>
              </a:rPr>
              <a:t>root</a:t>
            </a:r>
            <a:r>
              <a:rPr lang="zh-CN" altLang="en-US" sz="2600" dirty="0">
                <a:latin typeface="+mn-ea"/>
              </a:rPr>
              <a:t>）</a:t>
            </a:r>
            <a:r>
              <a:rPr lang="en-US" altLang="zh-CN" sz="2600" dirty="0">
                <a:latin typeface="+mn-ea"/>
              </a:rPr>
              <a:t>,</a:t>
            </a:r>
            <a:r>
              <a:rPr lang="zh-CN" altLang="en-US" sz="2600" dirty="0">
                <a:latin typeface="+mn-ea"/>
              </a:rPr>
              <a:t>然后在根上分杈。任何一个分杈都可以再分杈，杈上可以长叶子。“根”和“杈”在</a:t>
            </a:r>
            <a:r>
              <a:rPr lang="en-US" altLang="zh-CN" sz="2600" dirty="0">
                <a:latin typeface="+mn-ea"/>
              </a:rPr>
              <a:t>Linux</a:t>
            </a:r>
            <a:r>
              <a:rPr lang="zh-CN" altLang="en-US" sz="2600" dirty="0">
                <a:latin typeface="+mn-ea"/>
              </a:rPr>
              <a:t>中被称为“目录”或“文件夹”，“叶子”则是文件。</a:t>
            </a:r>
            <a:endParaRPr lang="en-US" altLang="zh-CN" sz="26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2600" dirty="0">
                <a:latin typeface="+mn-ea"/>
              </a:rPr>
              <a:t>用户可以设置目录和文件的管理权限，以便允许或拒绝其他用户对其进行访问。</a:t>
            </a:r>
            <a:endParaRPr lang="en-US" altLang="zh-CN" sz="26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2600" dirty="0">
                <a:latin typeface="+mn-ea"/>
              </a:rPr>
              <a:t>文件目录结构的相互关联性使</a:t>
            </a:r>
            <a:r>
              <a:rPr lang="zh-CN" altLang="en-US" sz="2600" dirty="0">
                <a:solidFill>
                  <a:srgbClr val="0000CC"/>
                </a:solidFill>
                <a:latin typeface="+mn-ea"/>
              </a:rPr>
              <a:t>分享数据</a:t>
            </a:r>
            <a:r>
              <a:rPr lang="zh-CN" altLang="en-US" sz="2600" dirty="0">
                <a:latin typeface="+mn-ea"/>
              </a:rPr>
              <a:t>变得十分容易。</a:t>
            </a:r>
            <a:endParaRPr lang="en-US" altLang="zh-CN" sz="2600" dirty="0"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7183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397EC43-0097-AA56-B528-20D7115D52AD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83432" y="458171"/>
            <a:ext cx="9614859" cy="858837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目录常见概念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5" y="1340768"/>
            <a:ext cx="10009113" cy="4729282"/>
          </a:xfrm>
        </p:spPr>
        <p:txBody>
          <a:bodyPr/>
          <a:lstStyle/>
          <a:p>
            <a:r>
              <a:rPr lang="zh-CN" altLang="en-US" sz="2600" dirty="0">
                <a:latin typeface="+mn-ea"/>
              </a:rPr>
              <a:t>目录常见的概念：</a:t>
            </a:r>
            <a:endParaRPr lang="en-US" altLang="zh-CN" sz="2600" dirty="0">
              <a:latin typeface="+mn-ea"/>
            </a:endParaRPr>
          </a:p>
          <a:p>
            <a:pPr marL="0" indent="0">
              <a:buNone/>
            </a:pPr>
            <a:r>
              <a:rPr lang="zh-CN" altLang="en-US" sz="2600" dirty="0">
                <a:latin typeface="+mn-ea"/>
              </a:rPr>
              <a:t>（</a:t>
            </a:r>
            <a:r>
              <a:rPr lang="en-US" altLang="zh-CN" sz="2600" dirty="0">
                <a:latin typeface="+mn-ea"/>
              </a:rPr>
              <a:t>1</a:t>
            </a:r>
            <a:r>
              <a:rPr lang="zh-CN" altLang="en-US" sz="2600" dirty="0">
                <a:latin typeface="+mn-ea"/>
              </a:rPr>
              <a:t>）</a:t>
            </a:r>
            <a:r>
              <a:rPr lang="zh-CN" altLang="en-US" sz="2600" dirty="0">
                <a:solidFill>
                  <a:srgbClr val="CC0099"/>
                </a:solidFill>
                <a:latin typeface="+mn-ea"/>
              </a:rPr>
              <a:t>路径</a:t>
            </a:r>
            <a:r>
              <a:rPr lang="zh-CN" altLang="en-US" sz="2600" dirty="0">
                <a:latin typeface="+mn-ea"/>
              </a:rPr>
              <a:t>：从树形目录中的某个目录层次到某个文件的一条道路，路径的构成是目录名称，中间用“</a:t>
            </a:r>
            <a:r>
              <a:rPr lang="en-US" altLang="zh-CN" sz="2600" dirty="0">
                <a:latin typeface="+mn-ea"/>
              </a:rPr>
              <a:t>/</a:t>
            </a:r>
            <a:r>
              <a:rPr lang="zh-CN" altLang="en-US" sz="2600" dirty="0">
                <a:latin typeface="+mn-ea"/>
              </a:rPr>
              <a:t>”隔开。路径分为</a:t>
            </a:r>
            <a:r>
              <a:rPr lang="zh-CN" altLang="en-US" sz="2600" dirty="0">
                <a:solidFill>
                  <a:srgbClr val="0000CC"/>
                </a:solidFill>
                <a:latin typeface="+mn-ea"/>
              </a:rPr>
              <a:t>相对路径和绝对路径</a:t>
            </a:r>
            <a:r>
              <a:rPr lang="zh-CN" altLang="en-US" sz="2600" dirty="0">
                <a:latin typeface="+mn-ea"/>
              </a:rPr>
              <a:t>，绝对路径从“根”开始的路径，也称完全路径；相对路径是从用户工作目录开始的路径。</a:t>
            </a:r>
            <a:endParaRPr lang="en-US" altLang="zh-CN" sz="2600" dirty="0">
              <a:latin typeface="+mn-ea"/>
            </a:endParaRPr>
          </a:p>
          <a:p>
            <a:pPr marL="0" indent="0">
              <a:buNone/>
            </a:pPr>
            <a:r>
              <a:rPr lang="zh-CN" altLang="en-US" sz="2600" dirty="0">
                <a:latin typeface="+mn-ea"/>
              </a:rPr>
              <a:t>（</a:t>
            </a:r>
            <a:r>
              <a:rPr lang="en-US" altLang="zh-CN" sz="2600" dirty="0">
                <a:latin typeface="+mn-ea"/>
              </a:rPr>
              <a:t>2</a:t>
            </a:r>
            <a:r>
              <a:rPr lang="zh-CN" altLang="en-US" sz="2600" dirty="0">
                <a:latin typeface="+mn-ea"/>
              </a:rPr>
              <a:t>）</a:t>
            </a:r>
            <a:r>
              <a:rPr lang="zh-CN" altLang="en-US" sz="2600" dirty="0">
                <a:solidFill>
                  <a:srgbClr val="CC0099"/>
                </a:solidFill>
                <a:latin typeface="+mn-ea"/>
              </a:rPr>
              <a:t>根目录</a:t>
            </a:r>
            <a:r>
              <a:rPr lang="zh-CN" altLang="en-US" sz="2600" dirty="0">
                <a:latin typeface="+mn-ea"/>
              </a:rPr>
              <a:t>：是</a:t>
            </a:r>
            <a:r>
              <a:rPr lang="en-US" altLang="zh-CN" sz="2600" dirty="0">
                <a:latin typeface="+mn-ea"/>
              </a:rPr>
              <a:t>Linux</a:t>
            </a:r>
            <a:r>
              <a:rPr lang="zh-CN" altLang="en-US" sz="2600" dirty="0">
                <a:latin typeface="+mn-ea"/>
              </a:rPr>
              <a:t>系统中最特殊的目录。操作系统本身的驻留程序存放在以根目录开始的专用目录中。</a:t>
            </a:r>
            <a:endParaRPr lang="en-US" altLang="zh-CN" sz="2600" dirty="0">
              <a:latin typeface="+mn-ea"/>
            </a:endParaRPr>
          </a:p>
          <a:p>
            <a:pPr marL="0" indent="0">
              <a:buNone/>
            </a:pPr>
            <a:r>
              <a:rPr lang="zh-CN" altLang="en-US" sz="2600" dirty="0">
                <a:latin typeface="+mn-ea"/>
              </a:rPr>
              <a:t>（</a:t>
            </a:r>
            <a:r>
              <a:rPr lang="en-US" altLang="zh-CN" sz="2600" dirty="0">
                <a:latin typeface="+mn-ea"/>
              </a:rPr>
              <a:t>3</a:t>
            </a:r>
            <a:r>
              <a:rPr lang="zh-CN" altLang="en-US" sz="2600" dirty="0">
                <a:latin typeface="+mn-ea"/>
              </a:rPr>
              <a:t>）</a:t>
            </a:r>
            <a:r>
              <a:rPr lang="zh-CN" altLang="en-US" sz="2600" dirty="0">
                <a:solidFill>
                  <a:srgbClr val="CC0099"/>
                </a:solidFill>
                <a:latin typeface="+mn-ea"/>
              </a:rPr>
              <a:t>用户主目录</a:t>
            </a:r>
            <a:r>
              <a:rPr lang="zh-CN" altLang="en-US" sz="2600" dirty="0">
                <a:latin typeface="+mn-ea"/>
              </a:rPr>
              <a:t>：是系统管理员增加用户时建立的用户目录。用户刚登录到系统中时，其工作目录就是该用户的主目录。</a:t>
            </a:r>
            <a:endParaRPr lang="en-US" altLang="zh-CN" sz="2600" dirty="0">
              <a:latin typeface="+mn-ea"/>
            </a:endParaRPr>
          </a:p>
          <a:p>
            <a:pPr marL="0" indent="0">
              <a:buNone/>
            </a:pPr>
            <a:r>
              <a:rPr lang="zh-CN" altLang="en-US" sz="2600" dirty="0">
                <a:latin typeface="+mn-ea"/>
              </a:rPr>
              <a:t>（</a:t>
            </a:r>
            <a:r>
              <a:rPr lang="en-US" altLang="zh-CN" sz="2600" dirty="0">
                <a:latin typeface="+mn-ea"/>
              </a:rPr>
              <a:t>4</a:t>
            </a:r>
            <a:r>
              <a:rPr lang="zh-CN" altLang="en-US" sz="2600" dirty="0">
                <a:latin typeface="+mn-ea"/>
              </a:rPr>
              <a:t>）</a:t>
            </a:r>
            <a:r>
              <a:rPr lang="zh-CN" altLang="en-US" sz="2600" dirty="0">
                <a:solidFill>
                  <a:srgbClr val="CC0099"/>
                </a:solidFill>
                <a:latin typeface="+mn-ea"/>
              </a:rPr>
              <a:t>工作目录</a:t>
            </a:r>
            <a:r>
              <a:rPr lang="zh-CN" altLang="en-US" sz="2600" dirty="0">
                <a:latin typeface="+mn-ea"/>
              </a:rPr>
              <a:t>：用户登录系统之后工作所处的当前目录，工作目录可以随时改变。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1693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3A7637F-48D0-FDCA-8687-F43B202F9728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185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055440" y="1340768"/>
            <a:ext cx="10009112" cy="4576627"/>
          </a:xfrm>
        </p:spPr>
        <p:txBody>
          <a:bodyPr/>
          <a:lstStyle/>
          <a:p>
            <a:pPr marL="565150" indent="-457200">
              <a:lnSpc>
                <a:spcPct val="120000"/>
              </a:lnSpc>
            </a:pPr>
            <a:r>
              <a:rPr lang="zh-CN" altLang="en-US" sz="2600" dirty="0"/>
              <a:t>文件储存在硬盘上，</a:t>
            </a:r>
            <a:r>
              <a:rPr lang="zh-CN" altLang="en-US" sz="2600" dirty="0">
                <a:solidFill>
                  <a:srgbClr val="0000CC"/>
                </a:solidFill>
              </a:rPr>
              <a:t>硬盘的最小存储单位</a:t>
            </a:r>
            <a:r>
              <a:rPr lang="zh-CN" altLang="en-US" sz="2600" dirty="0"/>
              <a:t>是扇区（</a:t>
            </a:r>
            <a:r>
              <a:rPr lang="en-US" altLang="zh-CN" sz="2800" dirty="0"/>
              <a:t>sector</a:t>
            </a:r>
            <a:r>
              <a:rPr lang="zh-CN" altLang="en-US" sz="2800" dirty="0"/>
              <a:t>）</a:t>
            </a:r>
            <a:r>
              <a:rPr lang="zh-CN" altLang="en-US" sz="2600" dirty="0"/>
              <a:t>，每个扇区储存</a:t>
            </a:r>
            <a:r>
              <a:rPr lang="en-US" altLang="zh-CN" sz="2600" dirty="0"/>
              <a:t>512</a:t>
            </a:r>
            <a:r>
              <a:rPr lang="zh-CN" altLang="en-US" sz="2600" dirty="0"/>
              <a:t>字节。</a:t>
            </a:r>
          </a:p>
          <a:p>
            <a:pPr marL="565150" indent="-457200">
              <a:lnSpc>
                <a:spcPct val="120000"/>
              </a:lnSpc>
            </a:pPr>
            <a:r>
              <a:rPr lang="zh-CN" altLang="en-US" sz="2600" dirty="0"/>
              <a:t>操作系统读取硬盘的时候，不会一个个扇区地读取，这样效率太低，而是一次性读取多个扇区，即读取一个“块”（</a:t>
            </a:r>
            <a:r>
              <a:rPr lang="en-US" altLang="zh-CN" sz="2600" dirty="0"/>
              <a:t>block</a:t>
            </a:r>
            <a:r>
              <a:rPr lang="zh-CN" altLang="en-US" sz="2600" dirty="0"/>
              <a:t>）。这种由多个扇区组成的“块”是</a:t>
            </a:r>
            <a:r>
              <a:rPr lang="zh-CN" altLang="en-US" sz="2600" dirty="0">
                <a:solidFill>
                  <a:srgbClr val="0000CC"/>
                </a:solidFill>
              </a:rPr>
              <a:t>文件存取的最小单位</a:t>
            </a:r>
            <a:r>
              <a:rPr lang="zh-CN" altLang="en-US" sz="2600" dirty="0"/>
              <a:t>。</a:t>
            </a:r>
          </a:p>
          <a:p>
            <a:pPr marL="565150" indent="-457200">
              <a:lnSpc>
                <a:spcPct val="120000"/>
              </a:lnSpc>
            </a:pPr>
            <a:r>
              <a:rPr lang="zh-CN" altLang="en-US" sz="2600" dirty="0"/>
              <a:t>文件数据都储存在“块”中，那么还必须找一个地方储存文件的元信息，比如文件的创建者、文件的创建日期、文件的大小等信息。这种储存文件元信息的区域就叫做</a:t>
            </a:r>
            <a:r>
              <a:rPr lang="en-US" altLang="zh-CN" sz="2600" dirty="0"/>
              <a:t>inode</a:t>
            </a:r>
            <a:r>
              <a:rPr lang="zh-CN" altLang="en-US" sz="2600" dirty="0"/>
              <a:t>，中文译名为“</a:t>
            </a:r>
            <a:r>
              <a:rPr lang="zh-CN" altLang="en-US" sz="2600" dirty="0">
                <a:solidFill>
                  <a:srgbClr val="CC0099"/>
                </a:solidFill>
              </a:rPr>
              <a:t>索引节点</a:t>
            </a:r>
            <a:r>
              <a:rPr lang="zh-CN" altLang="en-US" sz="2600" dirty="0"/>
              <a:t>”。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9</a:t>
            </a:fld>
            <a:endParaRPr lang="en-US" altLang="zh-CN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135560" y="400304"/>
            <a:ext cx="7543800" cy="858837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文件的索引节点</a:t>
            </a:r>
          </a:p>
        </p:txBody>
      </p:sp>
    </p:spTree>
    <p:extLst>
      <p:ext uri="{BB962C8B-B14F-4D97-AF65-F5344CB8AC3E}">
        <p14:creationId xmlns:p14="http://schemas.microsoft.com/office/powerpoint/2010/main" val="2160905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490ABCC-51C4-1E42-DF4C-2DF6DAA74292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185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055440" y="1300644"/>
            <a:ext cx="9865096" cy="4576628"/>
          </a:xfrm>
        </p:spPr>
        <p:txBody>
          <a:bodyPr/>
          <a:lstStyle/>
          <a:p>
            <a:pPr marL="565150" indent="-457200">
              <a:lnSpc>
                <a:spcPct val="120000"/>
              </a:lnSpc>
            </a:pPr>
            <a:r>
              <a:rPr lang="zh-CN" altLang="en-US" sz="2600" dirty="0"/>
              <a:t>每一个索引节点，都有一个</a:t>
            </a:r>
            <a:r>
              <a:rPr lang="zh-CN" altLang="en-US" sz="2600" dirty="0">
                <a:solidFill>
                  <a:srgbClr val="0000CC"/>
                </a:solidFill>
              </a:rPr>
              <a:t>唯一的</a:t>
            </a:r>
            <a:r>
              <a:rPr lang="en-US" altLang="zh-CN" sz="2600" dirty="0">
                <a:solidFill>
                  <a:srgbClr val="0000CC"/>
                </a:solidFill>
              </a:rPr>
              <a:t>inode</a:t>
            </a:r>
            <a:r>
              <a:rPr lang="zh-CN" altLang="en-US" sz="2600" dirty="0">
                <a:solidFill>
                  <a:srgbClr val="0000CC"/>
                </a:solidFill>
              </a:rPr>
              <a:t>号，</a:t>
            </a:r>
            <a:r>
              <a:rPr lang="zh-CN" altLang="en-US" sz="2600" dirty="0"/>
              <a:t>操作系统用</a:t>
            </a:r>
            <a:r>
              <a:rPr lang="en-US" altLang="zh-CN" sz="2600" dirty="0"/>
              <a:t>inode</a:t>
            </a:r>
            <a:r>
              <a:rPr lang="zh-CN" altLang="en-US" sz="2600" dirty="0"/>
              <a:t>号码来识别不同的文件。</a:t>
            </a:r>
            <a:endParaRPr lang="en-US" altLang="zh-CN" sz="2600" dirty="0"/>
          </a:p>
          <a:p>
            <a:pPr marL="565150" indent="-457200">
              <a:lnSpc>
                <a:spcPct val="120000"/>
              </a:lnSpc>
            </a:pPr>
            <a:r>
              <a:rPr lang="zh-CN" altLang="en-US" sz="2600" dirty="0"/>
              <a:t>索引节点用来记录文件的属性，在访问文件时，索引结点被复制到内存中，从而实现文件的快速访问。</a:t>
            </a:r>
            <a:endParaRPr lang="en-US" altLang="zh-CN" sz="2600" dirty="0"/>
          </a:p>
          <a:p>
            <a:pPr marL="565150" indent="-457200">
              <a:lnSpc>
                <a:spcPct val="120000"/>
              </a:lnSpc>
            </a:pPr>
            <a:r>
              <a:rPr lang="zh-CN" altLang="en-US" sz="2600" dirty="0"/>
              <a:t>索引节点是文件的唯一标识，它们之间一一对应。索引节点也会被存储在硬盘中，所以索引节点同样占用磁盘空间。所以硬盘格式化的时候，操作系统自动将硬盘分成两个区域。一个是数据区，存放文件数据；另一个是</a:t>
            </a:r>
            <a:r>
              <a:rPr lang="en-US" altLang="zh-CN" sz="2600" dirty="0"/>
              <a:t>inode</a:t>
            </a:r>
            <a:r>
              <a:rPr lang="zh-CN" altLang="en-US" sz="2600" dirty="0"/>
              <a:t>区，存放</a:t>
            </a:r>
            <a:r>
              <a:rPr lang="en-US" altLang="zh-CN" sz="2600" dirty="0"/>
              <a:t>inode</a:t>
            </a:r>
            <a:r>
              <a:rPr lang="zh-CN" altLang="en-US" sz="2600" dirty="0"/>
              <a:t>所包含的信息。</a:t>
            </a:r>
            <a:endParaRPr lang="en-US" altLang="zh-CN" sz="2600" dirty="0"/>
          </a:p>
          <a:p>
            <a:pPr marL="565150" indent="-457200">
              <a:lnSpc>
                <a:spcPct val="120000"/>
              </a:lnSpc>
            </a:pPr>
            <a:endParaRPr lang="en-US" altLang="zh-CN" sz="2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10</a:t>
            </a:fld>
            <a:endParaRPr lang="en-US" altLang="zh-CN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1544" y="419006"/>
            <a:ext cx="7543800" cy="858837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文件的索引节点</a:t>
            </a:r>
          </a:p>
        </p:txBody>
      </p:sp>
    </p:spTree>
    <p:extLst>
      <p:ext uri="{BB962C8B-B14F-4D97-AF65-F5344CB8AC3E}">
        <p14:creationId xmlns:p14="http://schemas.microsoft.com/office/powerpoint/2010/main" val="3099073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42FC64B-0E4B-6409-83FB-359B740FA41A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2566" y="441217"/>
            <a:ext cx="9614859" cy="858837"/>
          </a:xfrm>
        </p:spPr>
        <p:txBody>
          <a:bodyPr/>
          <a:lstStyle/>
          <a:p>
            <a:r>
              <a:rPr lang="zh-CN" altLang="en-US" dirty="0"/>
              <a:t>文件属性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7448" y="1259600"/>
            <a:ext cx="9568896" cy="4905704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600" dirty="0"/>
              <a:t>Linux</a:t>
            </a:r>
            <a:r>
              <a:rPr lang="zh-CN" altLang="en-US" sz="2600" dirty="0"/>
              <a:t>的</a:t>
            </a:r>
            <a:r>
              <a:rPr lang="zh-CN" altLang="en-US" sz="2600" dirty="0">
                <a:solidFill>
                  <a:srgbClr val="0000CC"/>
                </a:solidFill>
              </a:rPr>
              <a:t>索引结点</a:t>
            </a:r>
            <a:r>
              <a:rPr lang="zh-CN" altLang="en-US" sz="2600" dirty="0"/>
              <a:t>包含以下信息：</a:t>
            </a:r>
            <a:endParaRPr lang="en-US" altLang="zh-CN" sz="2600" dirty="0"/>
          </a:p>
          <a:p>
            <a:pPr marL="349250" lvl="1" indent="0">
              <a:lnSpc>
                <a:spcPct val="120000"/>
              </a:lnSpc>
              <a:buNone/>
            </a:pPr>
            <a:r>
              <a:rPr lang="zh-CN" altLang="en-US" sz="2400" dirty="0"/>
              <a:t>文件类型：普通文件、目录文件、设备文件等；</a:t>
            </a:r>
            <a:endParaRPr lang="en-US" altLang="zh-CN" sz="2400" dirty="0"/>
          </a:p>
          <a:p>
            <a:pPr marL="349250" lvl="1" indent="0">
              <a:lnSpc>
                <a:spcPct val="120000"/>
              </a:lnSpc>
              <a:buNone/>
            </a:pPr>
            <a:r>
              <a:rPr lang="zh-CN" altLang="en-US" sz="2400" dirty="0"/>
              <a:t>文件访问权：文件所有者权限、同组权限和其他用户权限；</a:t>
            </a:r>
            <a:endParaRPr lang="en-US" altLang="zh-CN" sz="2400" dirty="0"/>
          </a:p>
          <a:p>
            <a:pPr marL="349250" lvl="1" indent="0">
              <a:lnSpc>
                <a:spcPct val="120000"/>
              </a:lnSpc>
              <a:buNone/>
            </a:pPr>
            <a:r>
              <a:rPr lang="zh-CN" altLang="en-US" sz="2400" dirty="0"/>
              <a:t>文件链接数目：在文件目录中指向同一文件名的文件个数；</a:t>
            </a:r>
            <a:endParaRPr lang="en-US" altLang="zh-CN" sz="2400" dirty="0"/>
          </a:p>
          <a:p>
            <a:pPr marL="349250" lvl="1" indent="0">
              <a:lnSpc>
                <a:spcPct val="120000"/>
              </a:lnSpc>
              <a:buNone/>
            </a:pPr>
            <a:r>
              <a:rPr lang="zh-CN" altLang="en-US" sz="2400" dirty="0"/>
              <a:t>文件所有者标识符：通常为创建文件的用户标识；</a:t>
            </a:r>
            <a:endParaRPr lang="en-US" altLang="zh-CN" sz="2400" dirty="0"/>
          </a:p>
          <a:p>
            <a:pPr marL="349250" lvl="1" indent="0">
              <a:lnSpc>
                <a:spcPct val="120000"/>
              </a:lnSpc>
              <a:buNone/>
            </a:pPr>
            <a:r>
              <a:rPr lang="zh-CN" altLang="en-US" sz="2400" dirty="0"/>
              <a:t>文件所有组标识符：用户组标识符；</a:t>
            </a:r>
            <a:endParaRPr lang="en-US" altLang="zh-CN" sz="2400" dirty="0"/>
          </a:p>
          <a:p>
            <a:pPr marL="295275" lvl="2" indent="0">
              <a:buClr>
                <a:schemeClr val="accent6"/>
              </a:buClr>
              <a:buNone/>
            </a:pPr>
            <a:r>
              <a:rPr lang="zh-CN" altLang="en-US" sz="2400" dirty="0"/>
              <a:t>文件创建时间：创建文件的日期和时间；</a:t>
            </a:r>
            <a:endParaRPr lang="en-US" altLang="zh-CN" sz="2400" dirty="0"/>
          </a:p>
          <a:p>
            <a:pPr marL="295275" lvl="2" indent="0">
              <a:buClr>
                <a:schemeClr val="accent6"/>
              </a:buClr>
              <a:buNone/>
            </a:pPr>
            <a:r>
              <a:rPr lang="zh-CN" altLang="en-US" sz="2400" dirty="0"/>
              <a:t>文件存取时间：文件最后修改的时间、最后访问的时间；</a:t>
            </a:r>
            <a:endParaRPr lang="en-US" altLang="zh-CN" sz="2400" dirty="0"/>
          </a:p>
          <a:p>
            <a:pPr marL="295275" lvl="2" indent="0">
              <a:buClr>
                <a:schemeClr val="accent6"/>
              </a:buClr>
              <a:buNone/>
            </a:pPr>
            <a:r>
              <a:rPr lang="zh-CN" altLang="en-US" sz="2400" dirty="0"/>
              <a:t>文件的长度：文件所占的字节数；</a:t>
            </a:r>
            <a:endParaRPr lang="en-US" altLang="zh-CN" sz="2400" dirty="0"/>
          </a:p>
          <a:p>
            <a:pPr marL="295275" lvl="2" indent="0">
              <a:buClr>
                <a:schemeClr val="accent6"/>
              </a:buClr>
              <a:buNone/>
            </a:pPr>
            <a:r>
              <a:rPr lang="zh-CN" altLang="en-US" sz="2400" dirty="0"/>
              <a:t>文件的磁盘地址：文件在磁盘中的位置信息等。</a:t>
            </a:r>
            <a:endParaRPr lang="en-US" altLang="zh-CN" sz="2400" dirty="0"/>
          </a:p>
          <a:p>
            <a:pPr lvl="1" indent="-342900">
              <a:lnSpc>
                <a:spcPct val="120000"/>
              </a:lnSpc>
            </a:pPr>
            <a:endParaRPr lang="zh-CN" altLang="en-US" sz="2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49822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330C819-379E-B2B2-353A-2CF582B02FF9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185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983432" y="1300644"/>
            <a:ext cx="10081120" cy="4792652"/>
          </a:xfrm>
        </p:spPr>
        <p:txBody>
          <a:bodyPr/>
          <a:lstStyle/>
          <a:p>
            <a:pPr marL="565150" indent="-457200"/>
            <a:r>
              <a:rPr lang="zh-CN" altLang="en-US" sz="2600" dirty="0"/>
              <a:t>一个文件有唯一的索引节点号与之对应，</a:t>
            </a:r>
            <a:r>
              <a:rPr lang="zh-CN" altLang="en-US" sz="2600" dirty="0">
                <a:solidFill>
                  <a:srgbClr val="0000CC"/>
                </a:solidFill>
              </a:rPr>
              <a:t>一个索引节点号</a:t>
            </a:r>
            <a:r>
              <a:rPr lang="zh-CN" altLang="en-US" sz="2600" dirty="0"/>
              <a:t>，却可以有</a:t>
            </a:r>
            <a:r>
              <a:rPr lang="zh-CN" altLang="en-US" sz="2600" dirty="0">
                <a:solidFill>
                  <a:srgbClr val="0000CC"/>
                </a:solidFill>
              </a:rPr>
              <a:t>多个文件名</a:t>
            </a:r>
            <a:r>
              <a:rPr lang="zh-CN" altLang="en-US" sz="2600" dirty="0"/>
              <a:t>与之对应。因此，在磁盘上的同一个文件可以通过不同的路径去访问它，这就是</a:t>
            </a:r>
            <a:r>
              <a:rPr lang="zh-CN" altLang="en-US" sz="2600" dirty="0">
                <a:solidFill>
                  <a:srgbClr val="0000CC"/>
                </a:solidFill>
              </a:rPr>
              <a:t>链接</a:t>
            </a:r>
            <a:r>
              <a:rPr lang="zh-CN" altLang="en-US" sz="2600" dirty="0"/>
              <a:t>的概念。链接又分</a:t>
            </a:r>
            <a:r>
              <a:rPr lang="zh-CN" altLang="en-US" sz="2600" dirty="0">
                <a:solidFill>
                  <a:srgbClr val="0000CC"/>
                </a:solidFill>
              </a:rPr>
              <a:t>软链接</a:t>
            </a:r>
            <a:r>
              <a:rPr lang="zh-CN" altLang="en-US" sz="2600" dirty="0"/>
              <a:t>和</a:t>
            </a:r>
            <a:r>
              <a:rPr lang="zh-CN" altLang="en-US" sz="2600" dirty="0">
                <a:solidFill>
                  <a:srgbClr val="0000CC"/>
                </a:solidFill>
              </a:rPr>
              <a:t>硬链接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marL="565150" indent="-457200"/>
            <a:r>
              <a:rPr lang="zh-CN" altLang="en-US" sz="2600" dirty="0">
                <a:solidFill>
                  <a:srgbClr val="FF9900"/>
                </a:solidFill>
              </a:rPr>
              <a:t>软链接（符号链接）</a:t>
            </a:r>
            <a:r>
              <a:rPr lang="zh-CN" altLang="en-US" sz="2600" dirty="0"/>
              <a:t>将会生成一个很小的链接文件，</a:t>
            </a:r>
          </a:p>
          <a:p>
            <a:pPr marL="457200" lvl="1" indent="0">
              <a:buNone/>
            </a:pPr>
            <a:r>
              <a:rPr lang="zh-CN" altLang="en-US" dirty="0"/>
              <a:t>软链接文件类似</a:t>
            </a:r>
            <a:r>
              <a:rPr lang="en-US" altLang="zh-CN" dirty="0"/>
              <a:t>Windows</a:t>
            </a:r>
            <a:r>
              <a:rPr lang="zh-CN" altLang="en-US" dirty="0"/>
              <a:t>下的快捷方式，其本身并不保存文件内容，而只记录所链接文件的路径。该路径可指向位于任意一个文件系统的任意文件，也可指向一个不存在的文件。原文件删除，软链接文件就失去作用，删除软链接对原文件无任何影响。</a:t>
            </a:r>
            <a:endParaRPr lang="en-US" altLang="zh-CN" dirty="0"/>
          </a:p>
          <a:p>
            <a:pPr marL="0" indent="-349250">
              <a:buClr>
                <a:srgbClr val="002060"/>
              </a:buClr>
            </a:pPr>
            <a:r>
              <a:rPr lang="zh-CN" altLang="en-US" sz="2600" dirty="0"/>
              <a:t>创建软链接，使用带</a:t>
            </a:r>
            <a:r>
              <a:rPr lang="en-US" altLang="zh-CN" sz="2600" dirty="0"/>
              <a:t>-s(symbolic link)</a:t>
            </a:r>
            <a:r>
              <a:rPr lang="zh-CN" altLang="en-US" sz="2600" dirty="0"/>
              <a:t>选项的</a:t>
            </a:r>
            <a:r>
              <a:rPr lang="en-US" altLang="zh-CN" sz="2600" dirty="0"/>
              <a:t>ln</a:t>
            </a:r>
            <a:r>
              <a:rPr lang="zh-CN" altLang="en-US" sz="2600" dirty="0"/>
              <a:t>命令：</a:t>
            </a:r>
            <a:r>
              <a:rPr lang="en-US" altLang="zh-CN" sz="2600" dirty="0"/>
              <a:t>         </a:t>
            </a:r>
          </a:p>
          <a:p>
            <a:pPr marL="0" indent="0">
              <a:buClr>
                <a:srgbClr val="002060"/>
              </a:buClr>
              <a:buNone/>
            </a:pPr>
            <a:r>
              <a:rPr lang="en-US" altLang="zh-CN" sz="2600" dirty="0">
                <a:solidFill>
                  <a:srgbClr val="CC0099"/>
                </a:solidFill>
              </a:rPr>
              <a:t>        ln  -s   </a:t>
            </a:r>
            <a:r>
              <a:rPr lang="zh-CN" altLang="en-US" sz="2600" dirty="0">
                <a:solidFill>
                  <a:srgbClr val="CC0099"/>
                </a:solidFill>
              </a:rPr>
              <a:t>源文件或目录名    目标文件或目录名</a:t>
            </a:r>
          </a:p>
          <a:p>
            <a:pPr marL="0" indent="0">
              <a:buClr>
                <a:srgbClr val="002060"/>
              </a:buClr>
              <a:buNone/>
            </a:pPr>
            <a:endParaRPr lang="zh-CN" altLang="en-US" sz="2600" dirty="0"/>
          </a:p>
          <a:p>
            <a:pPr marL="457200" lvl="1" indent="0">
              <a:buNone/>
            </a:pPr>
            <a:endParaRPr lang="zh-CN" altLang="en-US" dirty="0"/>
          </a:p>
          <a:p>
            <a:pPr marL="565150" indent="-457200">
              <a:lnSpc>
                <a:spcPct val="120000"/>
              </a:lnSpc>
            </a:pPr>
            <a:endParaRPr lang="en-US" altLang="zh-CN" sz="2600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552" y="422410"/>
            <a:ext cx="7543800" cy="858837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文件的软硬链接</a:t>
            </a:r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5C1F509D-7639-4334-9739-F93E54F504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106289" y="6320384"/>
            <a:ext cx="590055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12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59413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F772963-8312-478F-A58E-A38423828E4D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B80988A-9BD5-D4DE-F5EE-4FA834248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133" y="404317"/>
            <a:ext cx="9614859" cy="858837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软链接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B9EEA7F-AA8D-5AA3-D572-BAE9FE788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512" y="1268760"/>
            <a:ext cx="8892480" cy="5010120"/>
          </a:xfrm>
          <a:prstGeom prst="rect">
            <a:avLst/>
          </a:prstGeom>
        </p:spPr>
      </p:pic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3BB5C4FA-5F3B-4DF9-B55A-825054CB4A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106289" y="6320384"/>
            <a:ext cx="590055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13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92100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DBF9783-E3EA-CEC2-12C4-45D9AE8789A4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547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911424" y="1364002"/>
            <a:ext cx="10153128" cy="4824536"/>
          </a:xfrm>
          <a:noFill/>
        </p:spPr>
        <p:txBody>
          <a:bodyPr vert="horz" wrap="square" lIns="78366" tIns="39183" rIns="78366" bIns="39183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600" dirty="0">
                <a:solidFill>
                  <a:srgbClr val="000000"/>
                </a:solidFill>
              </a:rPr>
              <a:t>文件被写到硬盘上的某个物理位置，该位置就是通过索引结点获得的文件内容的入口地址。</a:t>
            </a:r>
            <a:r>
              <a:rPr lang="zh-CN" altLang="en-US" sz="2600" dirty="0"/>
              <a:t>创建硬链接，就是创建一个指向索引节点的逻辑文件（</a:t>
            </a:r>
            <a:r>
              <a:rPr lang="zh-CN" altLang="en-US" sz="2600" dirty="0">
                <a:solidFill>
                  <a:srgbClr val="0000CC"/>
                </a:solidFill>
              </a:rPr>
              <a:t>硬链接文件</a:t>
            </a:r>
            <a:r>
              <a:rPr lang="zh-CN" altLang="en-US" sz="2600" dirty="0">
                <a:solidFill>
                  <a:srgbClr val="000000"/>
                </a:solidFill>
              </a:rPr>
              <a:t>），该文件</a:t>
            </a:r>
            <a:r>
              <a:rPr lang="zh-CN" altLang="en-US" sz="2600" dirty="0">
                <a:solidFill>
                  <a:srgbClr val="0000CC"/>
                </a:solidFill>
              </a:rPr>
              <a:t>保留所链接文件的索引节点</a:t>
            </a:r>
            <a:r>
              <a:rPr lang="zh-CN" altLang="en-US" sz="2600" dirty="0">
                <a:solidFill>
                  <a:srgbClr val="000000"/>
                </a:solidFill>
              </a:rPr>
              <a:t>（磁盘的物理位置）信息，即使被链接文件更名或移动，硬链接文件仍然有效。</a:t>
            </a:r>
            <a:endParaRPr lang="en-US" altLang="zh-CN" sz="2600" dirty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600" dirty="0">
                <a:solidFill>
                  <a:srgbClr val="000000"/>
                </a:solidFill>
              </a:rPr>
              <a:t>多个逻辑文件可以同时指向一个物理文件，删除任何一个逻辑文件，只是将索引节点中的文件链接数减一，直到减为零，才会删除物理文件。由于</a:t>
            </a:r>
            <a:r>
              <a:rPr lang="zh-CN" altLang="en-US" sz="2600" dirty="0"/>
              <a:t>删除文件要在同一个索引节点属于唯一的链接时才能成功，</a:t>
            </a:r>
            <a:r>
              <a:rPr lang="zh-CN" altLang="en-US" sz="2600" dirty="0">
                <a:solidFill>
                  <a:srgbClr val="000000"/>
                </a:solidFill>
              </a:rPr>
              <a:t>因此可以防止不必要的误删除。</a:t>
            </a:r>
            <a:endParaRPr lang="en-US" altLang="zh-CN" sz="2600" dirty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600" dirty="0">
                <a:solidFill>
                  <a:srgbClr val="000000"/>
                </a:solidFill>
              </a:rPr>
              <a:t>创建硬链接使用不带</a:t>
            </a:r>
            <a:r>
              <a:rPr lang="en-US" altLang="zh-CN" sz="2600" dirty="0">
                <a:solidFill>
                  <a:srgbClr val="000000"/>
                </a:solidFill>
              </a:rPr>
              <a:t>-s</a:t>
            </a:r>
            <a:r>
              <a:rPr lang="zh-CN" altLang="en-US" sz="2600" dirty="0">
                <a:solidFill>
                  <a:srgbClr val="000000"/>
                </a:solidFill>
              </a:rPr>
              <a:t>参数的</a:t>
            </a:r>
            <a:r>
              <a:rPr lang="en-US" altLang="zh-CN" sz="2600" dirty="0">
                <a:solidFill>
                  <a:srgbClr val="000000"/>
                </a:solidFill>
              </a:rPr>
              <a:t>ln</a:t>
            </a:r>
            <a:r>
              <a:rPr lang="zh-CN" altLang="en-US" sz="2600" dirty="0">
                <a:solidFill>
                  <a:srgbClr val="000000"/>
                </a:solidFill>
              </a:rPr>
              <a:t>命令来创建</a:t>
            </a:r>
            <a:r>
              <a:rPr lang="en-US" altLang="zh-CN" sz="2600" dirty="0">
                <a:solidFill>
                  <a:srgbClr val="000000"/>
                </a:solidFill>
              </a:rPr>
              <a:t>: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600" dirty="0">
                <a:solidFill>
                  <a:srgbClr val="CC0099"/>
                </a:solidFill>
              </a:rPr>
              <a:t>     ln  </a:t>
            </a:r>
            <a:r>
              <a:rPr lang="zh-CN" altLang="en-US" sz="2600" dirty="0">
                <a:solidFill>
                  <a:srgbClr val="CC0099"/>
                </a:solidFill>
              </a:rPr>
              <a:t>源文件    目标文件名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600" dirty="0">
                <a:solidFill>
                  <a:srgbClr val="000000"/>
                </a:solidFill>
              </a:rPr>
              <a:t> 硬链接不能跨文件系统，普通用户不能对目录建立硬链接。</a:t>
            </a:r>
          </a:p>
          <a:p>
            <a:pPr eaLnBrk="1" hangingPunct="1">
              <a:lnSpc>
                <a:spcPct val="90000"/>
              </a:lnSpc>
            </a:pPr>
            <a:endParaRPr lang="en-US" altLang="zh-CN" sz="2600" dirty="0">
              <a:solidFill>
                <a:srgbClr val="000000"/>
              </a:solidFill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2063552" y="422514"/>
            <a:ext cx="7543800" cy="858837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硬链接</a:t>
            </a:r>
            <a:endParaRPr lang="zh-CN" altLang="en-US" dirty="0"/>
          </a:p>
        </p:txBody>
      </p:sp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F44B9C40-D824-4159-AEDE-DB52CEAC3B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106289" y="6320384"/>
            <a:ext cx="590055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14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72886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8EC7BF8-B546-3412-2ABA-4369D32ED28A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4D28D8-CC65-38FA-F80F-5B7BF982E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389" y="404664"/>
            <a:ext cx="9614859" cy="858837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硬链接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ACE1405-53E3-1D96-A48C-97DCC6592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488" y="1461224"/>
            <a:ext cx="9036496" cy="4727958"/>
          </a:xfrm>
          <a:prstGeom prst="rect">
            <a:avLst/>
          </a:prstGeom>
        </p:spPr>
      </p:pic>
      <p:sp>
        <p:nvSpPr>
          <p:cNvPr id="5" name="灯片编号占位符 3">
            <a:extLst>
              <a:ext uri="{FF2B5EF4-FFF2-40B4-BE49-F238E27FC236}">
                <a16:creationId xmlns:a16="http://schemas.microsoft.com/office/drawing/2014/main" id="{374FE765-D865-47C2-BAA0-217E085FF7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106289" y="6320384"/>
            <a:ext cx="590055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15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78629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B0F4CE0-5BB8-0E8A-2955-F215D699EBBD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547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983432" y="1556792"/>
            <a:ext cx="9937104" cy="4608512"/>
          </a:xfrm>
          <a:noFill/>
        </p:spPr>
        <p:txBody>
          <a:bodyPr vert="horz" wrap="square" lIns="78366" tIns="39183" rIns="78366" bIns="39183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例如</a:t>
            </a:r>
            <a:r>
              <a:rPr lang="zh-CN" altLang="en-US" sz="2600" dirty="0"/>
              <a:t>：为</a:t>
            </a:r>
            <a:r>
              <a:rPr lang="en-US" altLang="zh-CN" sz="2600" dirty="0"/>
              <a:t>file.txt</a:t>
            </a:r>
            <a:r>
              <a:rPr lang="zh-CN" altLang="en-US" sz="2600" dirty="0"/>
              <a:t>文件创建硬链接</a:t>
            </a:r>
            <a:r>
              <a:rPr lang="en-US" altLang="zh-CN" sz="2600" dirty="0" err="1"/>
              <a:t>lnfile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         #   ln  file.txt    </a:t>
            </a:r>
            <a:r>
              <a:rPr lang="en-US" altLang="zh-CN" sz="2600" dirty="0" err="1"/>
              <a:t>lnfile</a:t>
            </a:r>
            <a:endParaRPr lang="en-US" altLang="zh-CN" sz="2600" dirty="0"/>
          </a:p>
          <a:p>
            <a:pPr eaLnBrk="1" hangingPunct="1"/>
            <a:r>
              <a:rPr lang="zh-CN" altLang="en-US" sz="2600" dirty="0"/>
              <a:t>建立硬链接文件时，如果目标文件没有写文件名，会和原名一致。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例如</a:t>
            </a:r>
            <a:r>
              <a:rPr lang="zh-CN" altLang="en-US" sz="2600" dirty="0"/>
              <a:t>：为</a:t>
            </a:r>
            <a:r>
              <a:rPr lang="en-US" altLang="zh-CN" sz="2600" dirty="0"/>
              <a:t>file.txt</a:t>
            </a:r>
            <a:r>
              <a:rPr lang="zh-CN" altLang="en-US" sz="2600" dirty="0"/>
              <a:t>文件创建软链接</a:t>
            </a:r>
            <a:r>
              <a:rPr lang="en-US" altLang="zh-CN" sz="2600" dirty="0"/>
              <a:t>lnfile2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         #    In -s   /root/file.txt    lnfile2</a:t>
            </a:r>
          </a:p>
          <a:p>
            <a:pPr eaLnBrk="1" hangingPunct="1"/>
            <a:r>
              <a:rPr lang="zh-CN" altLang="en-US" sz="2600" dirty="0"/>
              <a:t>通常，软链接文件的源文件必须写成绝对路径，而不能写成相对路径（硬链接没有这样的要求），否则软链接文件容易报错。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0" indent="0" eaLnBrk="1" hangingPunct="1">
              <a:buNone/>
            </a:pPr>
            <a:endParaRPr lang="en-US" altLang="zh-CN" sz="2600" dirty="0">
              <a:solidFill>
                <a:srgbClr val="0000CC"/>
              </a:solidFill>
            </a:endParaRPr>
          </a:p>
          <a:p>
            <a:pPr marL="0" indent="0" eaLnBrk="1" hangingPunct="1">
              <a:buNone/>
            </a:pPr>
            <a:r>
              <a:rPr lang="zh-CN" altLang="en-US" sz="2600" dirty="0">
                <a:solidFill>
                  <a:srgbClr val="CC0099"/>
                </a:solidFill>
              </a:rPr>
              <a:t>思考题</a:t>
            </a:r>
            <a:r>
              <a:rPr lang="zh-CN" altLang="en-US" sz="2600" dirty="0"/>
              <a:t>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991544" y="559852"/>
            <a:ext cx="7543800" cy="858837"/>
          </a:xfrm>
        </p:spPr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文件的软硬链接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40B8374-4B11-5692-80C7-D3BAB12F4E7E}"/>
              </a:ext>
            </a:extLst>
          </p:cNvPr>
          <p:cNvSpPr txBox="1"/>
          <p:nvPr/>
        </p:nvSpPr>
        <p:spPr>
          <a:xfrm>
            <a:off x="2207568" y="5282044"/>
            <a:ext cx="4320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+mn-lt"/>
                <a:ea typeface="+mn-ea"/>
              </a:rPr>
              <a:t>  硬链接和软链接的区别？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19818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6C55276-7A68-B3D6-1207-7F5AB6D1F15E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63552" y="418853"/>
            <a:ext cx="7211144" cy="858837"/>
          </a:xfrm>
        </p:spPr>
        <p:txBody>
          <a:bodyPr/>
          <a:lstStyle/>
          <a:p>
            <a:r>
              <a:rPr lang="zh-CN" altLang="en-US" dirty="0"/>
              <a:t>文件目录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5440" y="1321594"/>
            <a:ext cx="10225136" cy="2899494"/>
          </a:xfrm>
        </p:spPr>
        <p:txBody>
          <a:bodyPr/>
          <a:lstStyle/>
          <a:p>
            <a:r>
              <a:rPr lang="zh-CN" altLang="en-US" sz="2600" dirty="0"/>
              <a:t>为了加快对文件的检索，</a:t>
            </a:r>
            <a:r>
              <a:rPr lang="en-US" altLang="zh-CN" sz="2600" dirty="0"/>
              <a:t>Linux</a:t>
            </a:r>
            <a:r>
              <a:rPr lang="zh-CN" altLang="en-US" sz="2600" dirty="0"/>
              <a:t>将文件的索引节点指针或索引节点号放在文件</a:t>
            </a:r>
            <a:r>
              <a:rPr lang="zh-CN" altLang="en-US" sz="2600" dirty="0">
                <a:solidFill>
                  <a:srgbClr val="FF9900"/>
                </a:solidFill>
              </a:rPr>
              <a:t>目录</a:t>
            </a:r>
            <a:r>
              <a:rPr lang="zh-CN" altLang="en-US" sz="2600" dirty="0"/>
              <a:t>中，文件的属性从目录中抽出，放入索引节点中。</a:t>
            </a:r>
            <a:endParaRPr lang="en-US" altLang="zh-CN" sz="2600" dirty="0"/>
          </a:p>
          <a:p>
            <a:r>
              <a:rPr lang="zh-CN" altLang="en-US" sz="2600" dirty="0">
                <a:solidFill>
                  <a:srgbClr val="FF9900"/>
                </a:solidFill>
              </a:rPr>
              <a:t>目录</a:t>
            </a:r>
            <a:r>
              <a:rPr lang="zh-CN" altLang="en-US" sz="2600" dirty="0"/>
              <a:t>就是将文件的名称和它的索引节点号结合在一起的一张表，用文件名首先在文件目录中查找文件索引节点指针，通过索引节点指针得到索引节点，在索引节点中得到文件的属性。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2208716" y="3543826"/>
            <a:ext cx="7918583" cy="2477462"/>
            <a:chOff x="-134119" y="2825017"/>
            <a:chExt cx="8456951" cy="3700327"/>
          </a:xfrm>
        </p:grpSpPr>
        <p:grpSp>
          <p:nvGrpSpPr>
            <p:cNvPr id="32" name="组合 31"/>
            <p:cNvGrpSpPr/>
            <p:nvPr/>
          </p:nvGrpSpPr>
          <p:grpSpPr>
            <a:xfrm>
              <a:off x="-134119" y="3376651"/>
              <a:ext cx="8456951" cy="3148693"/>
              <a:chOff x="-134119" y="3798681"/>
              <a:chExt cx="8456951" cy="2222607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-134119" y="3798681"/>
                <a:ext cx="4553511" cy="2222607"/>
                <a:chOff x="46292" y="3798681"/>
                <a:chExt cx="4107088" cy="2222607"/>
              </a:xfrm>
            </p:grpSpPr>
            <p:sp>
              <p:nvSpPr>
                <p:cNvPr id="5" name="矩形 4"/>
                <p:cNvSpPr/>
                <p:nvPr/>
              </p:nvSpPr>
              <p:spPr bwMode="auto">
                <a:xfrm>
                  <a:off x="46292" y="3798681"/>
                  <a:ext cx="4107088" cy="2222607"/>
                </a:xfrm>
                <a:prstGeom prst="rect">
                  <a:avLst/>
                </a:prstGeom>
                <a:noFill/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triangl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l"/>
                  <a:r>
                    <a:rPr lang="zh-CN" altLang="en-US" dirty="0"/>
                    <a:t>文件名      索引节点号      索引节点指针     </a:t>
                  </a:r>
                  <a:endParaRPr lang="en-US" altLang="zh-CN" dirty="0"/>
                </a:p>
                <a:p>
                  <a:pPr algn="l"/>
                  <a:endParaRPr lang="en-US" altLang="zh-CN" dirty="0"/>
                </a:p>
                <a:p>
                  <a:pPr algn="l"/>
                  <a:r>
                    <a:rPr lang="en-US" altLang="zh-CN" dirty="0"/>
                    <a:t>   file0           0084                …</a:t>
                  </a:r>
                </a:p>
                <a:p>
                  <a:pPr algn="l"/>
                  <a:r>
                    <a:rPr lang="en-US" altLang="zh-CN" dirty="0"/>
                    <a:t>   file1           1467                …</a:t>
                  </a:r>
                </a:p>
                <a:p>
                  <a:pPr algn="l"/>
                  <a:r>
                    <a:rPr lang="en-US" altLang="zh-CN" dirty="0"/>
                    <a:t>   file2           4280                …</a:t>
                  </a:r>
                </a:p>
                <a:p>
                  <a:pPr algn="l"/>
                  <a:r>
                    <a:rPr lang="en-US" altLang="zh-CN" dirty="0"/>
                    <a:t>   file3           1983                …</a:t>
                  </a:r>
                  <a:endParaRPr lang="zh-CN" altLang="en-US" dirty="0"/>
                </a:p>
              </p:txBody>
            </p:sp>
            <p:cxnSp>
              <p:nvCxnSpPr>
                <p:cNvPr id="25" name="直接连接符 24"/>
                <p:cNvCxnSpPr>
                  <a:cxnSpLocks/>
                </p:cNvCxnSpPr>
                <p:nvPr/>
              </p:nvCxnSpPr>
              <p:spPr bwMode="auto">
                <a:xfrm>
                  <a:off x="102496" y="4199250"/>
                  <a:ext cx="3981520" cy="0"/>
                </a:xfrm>
                <a:prstGeom prst="line">
                  <a:avLst/>
                </a:prstGeom>
                <a:solidFill>
                  <a:schemeClr val="accent1"/>
                </a:solidFill>
                <a:ln w="28575" cap="sq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cxnSp>
            <p:nvCxnSpPr>
              <p:cNvPr id="28" name="直接箭头连接符 27"/>
              <p:cNvCxnSpPr>
                <a:cxnSpLocks/>
              </p:cNvCxnSpPr>
              <p:nvPr/>
            </p:nvCxnSpPr>
            <p:spPr bwMode="auto">
              <a:xfrm>
                <a:off x="4478875" y="4880649"/>
                <a:ext cx="1183529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arrow"/>
              </a:ln>
              <a:effectLst/>
            </p:spPr>
          </p:cxnSp>
          <p:sp>
            <p:nvSpPr>
              <p:cNvPr id="29" name="流程图: 资料带 28"/>
              <p:cNvSpPr/>
              <p:nvPr/>
            </p:nvSpPr>
            <p:spPr bwMode="auto">
              <a:xfrm>
                <a:off x="5739308" y="4025176"/>
                <a:ext cx="2583524" cy="1769615"/>
              </a:xfrm>
              <a:prstGeom prst="flowChartPunchedTape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endParaRPr lang="en-US" altLang="zh-CN" b="0" dirty="0"/>
              </a:p>
              <a:p>
                <a:r>
                  <a:rPr lang="zh-CN" altLang="en-US" dirty="0"/>
                  <a:t>文件</a:t>
                </a:r>
                <a:r>
                  <a:rPr lang="en-US" altLang="zh-CN" dirty="0"/>
                  <a:t>file</a:t>
                </a:r>
                <a:r>
                  <a:rPr lang="zh-CN" altLang="en-US" dirty="0"/>
                  <a:t>的索引节点</a:t>
                </a:r>
              </a:p>
            </p:txBody>
          </p:sp>
        </p:grpSp>
        <p:sp>
          <p:nvSpPr>
            <p:cNvPr id="33" name="TextBox 32"/>
            <p:cNvSpPr txBox="1"/>
            <p:nvPr/>
          </p:nvSpPr>
          <p:spPr>
            <a:xfrm>
              <a:off x="1498860" y="2825017"/>
              <a:ext cx="1512168" cy="551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文件目录</a:t>
              </a:r>
            </a:p>
          </p:txBody>
        </p:sp>
      </p:grpSp>
      <p:sp>
        <p:nvSpPr>
          <p:cNvPr id="13" name="灯片编号占位符 3">
            <a:extLst>
              <a:ext uri="{FF2B5EF4-FFF2-40B4-BE49-F238E27FC236}">
                <a16:creationId xmlns:a16="http://schemas.microsoft.com/office/drawing/2014/main" id="{40983D8A-5992-4289-8743-896A8DF5B5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106289" y="6320384"/>
            <a:ext cx="590055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17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78091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BC21704-BF6F-CF13-C8F0-FFEABE3F6495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aphicFrame>
        <p:nvGraphicFramePr>
          <p:cNvPr id="48130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6497696"/>
              </p:ext>
            </p:extLst>
          </p:nvPr>
        </p:nvGraphicFramePr>
        <p:xfrm>
          <a:off x="2135560" y="2492896"/>
          <a:ext cx="8064896" cy="3747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图片" r:id="rId2" imgW="3311652" imgH="2037588" progId="Word.Picture.8">
                  <p:embed/>
                </p:oleObj>
              </mc:Choice>
              <mc:Fallback>
                <p:oleObj name="图片" r:id="rId2" imgW="3311652" imgH="2037588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2492896"/>
                        <a:ext cx="8064896" cy="37475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2207568" y="579120"/>
            <a:ext cx="72728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latin typeface="+mn-lt"/>
                <a:ea typeface="+mj-ea"/>
              </a:rPr>
              <a:t>Linux</a:t>
            </a:r>
            <a:r>
              <a:rPr lang="zh-CN" altLang="en-US" sz="4000" dirty="0">
                <a:latin typeface="+mn-lt"/>
                <a:ea typeface="+mj-ea"/>
              </a:rPr>
              <a:t>常用子</a:t>
            </a:r>
            <a:r>
              <a:rPr lang="zh-CN" altLang="en-US" sz="4000" dirty="0">
                <a:latin typeface="+mj-ea"/>
                <a:ea typeface="+mj-ea"/>
              </a:rPr>
              <a:t>目录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1487488" y="1558840"/>
            <a:ext cx="90010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600" dirty="0">
                <a:latin typeface="+mj-ea"/>
                <a:ea typeface="+mj-ea"/>
              </a:rPr>
              <a:t>根目录下有一些非常重要的子目录，如</a:t>
            </a:r>
            <a:r>
              <a:rPr lang="en-US" altLang="zh-CN" sz="2600" dirty="0">
                <a:latin typeface="+mj-ea"/>
                <a:ea typeface="+mj-ea"/>
              </a:rPr>
              <a:t>/bin</a:t>
            </a:r>
            <a:r>
              <a:rPr lang="zh-CN" altLang="en-US" sz="2600" dirty="0">
                <a:latin typeface="+mj-ea"/>
                <a:ea typeface="+mj-ea"/>
              </a:rPr>
              <a:t>、</a:t>
            </a:r>
            <a:r>
              <a:rPr lang="en-US" altLang="zh-CN" sz="2600" dirty="0">
                <a:latin typeface="+mj-ea"/>
                <a:ea typeface="+mj-ea"/>
              </a:rPr>
              <a:t>/</a:t>
            </a:r>
            <a:r>
              <a:rPr lang="en-US" altLang="zh-CN" sz="2600" dirty="0" err="1">
                <a:latin typeface="+mj-ea"/>
                <a:ea typeface="+mj-ea"/>
              </a:rPr>
              <a:t>etc</a:t>
            </a:r>
            <a:r>
              <a:rPr lang="zh-CN" altLang="en-US" sz="2600" dirty="0">
                <a:latin typeface="+mj-ea"/>
                <a:ea typeface="+mj-ea"/>
              </a:rPr>
              <a:t>、</a:t>
            </a:r>
            <a:r>
              <a:rPr lang="en-US" altLang="zh-CN" sz="2600" dirty="0">
                <a:latin typeface="+mj-ea"/>
                <a:ea typeface="+mj-ea"/>
              </a:rPr>
              <a:t>/dev</a:t>
            </a:r>
            <a:r>
              <a:rPr lang="zh-CN" altLang="en-US" sz="2600" dirty="0">
                <a:latin typeface="+mj-ea"/>
                <a:ea typeface="+mj-ea"/>
              </a:rPr>
              <a:t>、</a:t>
            </a:r>
            <a:r>
              <a:rPr lang="en-US" altLang="zh-CN" sz="2600" dirty="0">
                <a:latin typeface="+mj-ea"/>
                <a:ea typeface="+mj-ea"/>
              </a:rPr>
              <a:t>/home</a:t>
            </a:r>
            <a:r>
              <a:rPr lang="zh-CN" altLang="en-US" sz="2600" dirty="0">
                <a:latin typeface="+mj-ea"/>
                <a:ea typeface="+mj-ea"/>
              </a:rPr>
              <a:t>、</a:t>
            </a:r>
            <a:r>
              <a:rPr lang="en-US" altLang="zh-CN" sz="2600" dirty="0">
                <a:latin typeface="+mj-ea"/>
                <a:ea typeface="+mj-ea"/>
              </a:rPr>
              <a:t>/</a:t>
            </a:r>
            <a:r>
              <a:rPr lang="en-US" altLang="zh-CN" sz="2600" dirty="0" err="1">
                <a:latin typeface="+mj-ea"/>
                <a:ea typeface="+mj-ea"/>
              </a:rPr>
              <a:t>usr</a:t>
            </a:r>
            <a:r>
              <a:rPr lang="zh-CN" altLang="en-US" sz="2600" dirty="0">
                <a:latin typeface="+mj-ea"/>
                <a:ea typeface="+mj-ea"/>
              </a:rPr>
              <a:t>等。</a:t>
            </a:r>
          </a:p>
        </p:txBody>
      </p:sp>
    </p:spTree>
    <p:extLst>
      <p:ext uri="{BB962C8B-B14F-4D97-AF65-F5344CB8AC3E}">
        <p14:creationId xmlns:p14="http://schemas.microsoft.com/office/powerpoint/2010/main" val="1901908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837C9C3-900D-3DC6-3C53-2BD587E68C3E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517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271464" y="1751276"/>
            <a:ext cx="9721080" cy="3816870"/>
          </a:xfrm>
        </p:spPr>
        <p:txBody>
          <a:bodyPr/>
          <a:lstStyle/>
          <a:p>
            <a:pPr eaLnBrk="1" hangingPunct="1"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en-US" altLang="zh-CN" sz="26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/</a:t>
            </a:r>
            <a:r>
              <a:rPr lang="en-US" altLang="zh-CN" sz="2600" dirty="0">
                <a:solidFill>
                  <a:srgbClr val="0033CC"/>
                </a:solidFill>
                <a:latin typeface="+mn-ea"/>
              </a:rPr>
              <a:t>bin </a:t>
            </a:r>
            <a:r>
              <a:rPr lang="zh-CN" altLang="en-US" sz="2600" dirty="0">
                <a:solidFill>
                  <a:srgbClr val="0033CC"/>
                </a:solidFill>
                <a:latin typeface="+mn-ea"/>
              </a:rPr>
              <a:t>：</a:t>
            </a:r>
            <a:r>
              <a:rPr lang="en-US" altLang="zh-CN" sz="2600" dirty="0">
                <a:solidFill>
                  <a:srgbClr val="000000"/>
                </a:solidFill>
                <a:latin typeface="+mn-ea"/>
              </a:rPr>
              <a:t>bin</a:t>
            </a:r>
            <a:r>
              <a:rPr lang="zh-CN" altLang="en-US" sz="2600" dirty="0">
                <a:solidFill>
                  <a:srgbClr val="000000"/>
                </a:solidFill>
                <a:latin typeface="+mn-ea"/>
              </a:rPr>
              <a:t>是二进制（</a:t>
            </a:r>
            <a:r>
              <a:rPr lang="en-US" altLang="zh-CN" sz="2600" dirty="0">
                <a:solidFill>
                  <a:srgbClr val="000000"/>
                </a:solidFill>
                <a:latin typeface="+mn-ea"/>
              </a:rPr>
              <a:t>binary</a:t>
            </a:r>
            <a:r>
              <a:rPr lang="zh-CN" altLang="en-US" sz="2600" dirty="0">
                <a:solidFill>
                  <a:srgbClr val="000000"/>
                </a:solidFill>
                <a:latin typeface="+mn-ea"/>
              </a:rPr>
              <a:t>）英文缩写。 通常</a:t>
            </a:r>
            <a:r>
              <a:rPr lang="zh-CN" altLang="en-US" sz="2600" dirty="0">
                <a:solidFill>
                  <a:srgbClr val="FF9900"/>
                </a:solidFill>
              </a:rPr>
              <a:t>存放用户最常用的一些基本命令</a:t>
            </a:r>
            <a:r>
              <a:rPr lang="zh-CN" altLang="en-US" sz="2600" dirty="0">
                <a:solidFill>
                  <a:srgbClr val="000000"/>
                </a:solidFill>
                <a:latin typeface="+mn-ea"/>
              </a:rPr>
              <a:t>，包括对目录和文件操作的一些实用程序、压缩工具、</a:t>
            </a:r>
            <a:r>
              <a:rPr lang="en-US" altLang="zh-CN" sz="2600" dirty="0">
                <a:solidFill>
                  <a:srgbClr val="000000"/>
                </a:solidFill>
                <a:latin typeface="+mn-ea"/>
              </a:rPr>
              <a:t>RPM</a:t>
            </a:r>
            <a:r>
              <a:rPr lang="zh-CN" altLang="en-US" sz="2600" dirty="0">
                <a:solidFill>
                  <a:srgbClr val="000000"/>
                </a:solidFill>
                <a:latin typeface="+mn-ea"/>
              </a:rPr>
              <a:t>包管理程序等。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  <a:defRPr/>
            </a:pPr>
            <a:r>
              <a:rPr lang="en-US" altLang="zh-CN" sz="2600" dirty="0">
                <a:solidFill>
                  <a:srgbClr val="0033CC"/>
                </a:solidFill>
                <a:latin typeface="+mn-ea"/>
              </a:rPr>
              <a:t>/</a:t>
            </a:r>
            <a:r>
              <a:rPr lang="en-US" altLang="zh-CN" sz="2600" dirty="0" err="1">
                <a:solidFill>
                  <a:srgbClr val="0033CC"/>
                </a:solidFill>
                <a:latin typeface="+mn-ea"/>
              </a:rPr>
              <a:t>sbin</a:t>
            </a:r>
            <a:r>
              <a:rPr lang="en-US" altLang="zh-CN" sz="2600" dirty="0">
                <a:solidFill>
                  <a:srgbClr val="000000"/>
                </a:solidFill>
                <a:latin typeface="+mn-ea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：</a:t>
            </a:r>
            <a:r>
              <a:rPr lang="zh-CN" altLang="en-US" sz="2600" dirty="0">
                <a:solidFill>
                  <a:srgbClr val="000000"/>
                </a:solidFill>
                <a:latin typeface="+mn-ea"/>
              </a:rPr>
              <a:t>这个目录用来存放</a:t>
            </a:r>
            <a:r>
              <a:rPr lang="zh-CN" altLang="en-US" sz="2600" dirty="0">
                <a:solidFill>
                  <a:srgbClr val="FF9900"/>
                </a:solidFill>
              </a:rPr>
              <a:t>系统管理员的系统管理程序</a:t>
            </a:r>
            <a:r>
              <a:rPr lang="zh-CN" altLang="en-US" sz="2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。</a:t>
            </a:r>
            <a:endParaRPr lang="en-US" altLang="zh-CN" sz="260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</a:endParaRPr>
          </a:p>
          <a:p>
            <a:pPr eaLnBrk="1" hangingPunct="1">
              <a:lnSpc>
                <a:spcPct val="130000"/>
              </a:lnSpc>
              <a:buNone/>
              <a:defRPr/>
            </a:pPr>
            <a:r>
              <a:rPr kumimoji="1" lang="en-US" altLang="zh-CN" sz="2600" dirty="0">
                <a:solidFill>
                  <a:srgbClr val="0000CC"/>
                </a:solidFill>
                <a:latin typeface="+mn-ea"/>
              </a:rPr>
              <a:t>/boot</a:t>
            </a:r>
            <a:r>
              <a:rPr kumimoji="1" lang="en-US" altLang="zh-CN" sz="2600" dirty="0">
                <a:latin typeface="+mn-ea"/>
              </a:rPr>
              <a:t> </a:t>
            </a:r>
            <a:r>
              <a:rPr kumimoji="1"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：</a:t>
            </a:r>
            <a:r>
              <a:rPr kumimoji="1" lang="zh-CN" altLang="en-US" sz="2600" dirty="0">
                <a:solidFill>
                  <a:srgbClr val="000000"/>
                </a:solidFill>
                <a:latin typeface="+mn-ea"/>
              </a:rPr>
              <a:t>在这个目录下存放的都是</a:t>
            </a:r>
            <a:r>
              <a:rPr kumimoji="1" lang="zh-CN" altLang="en-US" sz="26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系统启动时要用到的</a:t>
            </a:r>
            <a:r>
              <a:rPr lang="zh-CN" altLang="en-US" sz="2600" dirty="0">
                <a:solidFill>
                  <a:schemeClr val="hlink"/>
                </a:solidFill>
                <a:latin typeface="+mn-ea"/>
              </a:rPr>
              <a:t>各种文件</a:t>
            </a:r>
            <a:r>
              <a:rPr kumimoji="1" lang="zh-CN" altLang="en-US" sz="2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。</a:t>
            </a:r>
            <a:r>
              <a:rPr lang="zh-CN" altLang="en-US" sz="2600" dirty="0">
                <a:solidFill>
                  <a:srgbClr val="000000"/>
                </a:solidFill>
                <a:latin typeface="+mn-ea"/>
              </a:rPr>
              <a:t>包括系统的引导程序和系统内核程序，不要轻易对该目录进行操作。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  <a:defRPr/>
            </a:pPr>
            <a:endParaRPr lang="zh-CN" altLang="en-US" sz="2600" dirty="0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79576" y="579120"/>
            <a:ext cx="712879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latin typeface="+mn-lt"/>
                <a:ea typeface="+mj-ea"/>
              </a:rPr>
              <a:t>Linux</a:t>
            </a:r>
            <a:r>
              <a:rPr lang="zh-CN" altLang="en-US" sz="4000" dirty="0">
                <a:latin typeface="+mn-lt"/>
                <a:ea typeface="+mn-ea"/>
              </a:rPr>
              <a:t>常用子</a:t>
            </a:r>
            <a:r>
              <a:rPr lang="zh-CN" altLang="en-US" sz="4000" dirty="0">
                <a:latin typeface="+mn-ea"/>
                <a:ea typeface="+mn-ea"/>
              </a:rPr>
              <a:t>目录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4219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FB6E8D6-4331-00A9-A98D-CE0F474B7BFA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6198" name="Text Box 6"/>
          <p:cNvSpPr txBox="1">
            <a:spLocks noChangeArrowheads="1"/>
          </p:cNvSpPr>
          <p:nvPr/>
        </p:nvSpPr>
        <p:spPr bwMode="auto">
          <a:xfrm>
            <a:off x="1055440" y="1655098"/>
            <a:ext cx="9937104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  <a:defRPr/>
            </a:pPr>
            <a:r>
              <a:rPr kumimoji="1" lang="en-US" altLang="zh-CN" sz="260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/</a:t>
            </a:r>
            <a:r>
              <a:rPr kumimoji="1" lang="en-US" altLang="zh-CN" sz="2600" dirty="0" err="1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etc</a:t>
            </a:r>
            <a:r>
              <a:rPr kumimoji="1" lang="en-US" altLang="zh-CN" sz="2600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 </a:t>
            </a:r>
            <a:r>
              <a:rPr kumimoji="1" lang="zh-CN" altLang="en-US" sz="2600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：</a:t>
            </a:r>
            <a:r>
              <a:rPr kumimoji="1" lang="zh-CN" altLang="en-US" sz="2600" dirty="0">
                <a:solidFill>
                  <a:srgbClr val="000000"/>
                </a:solidFill>
                <a:latin typeface="+mn-ea"/>
                <a:ea typeface="+mn-ea"/>
              </a:rPr>
              <a:t>是</a:t>
            </a:r>
            <a:r>
              <a:rPr kumimoji="1" lang="en-US" altLang="zh-CN" sz="2600" dirty="0" err="1">
                <a:solidFill>
                  <a:srgbClr val="000000"/>
                </a:solidFill>
                <a:latin typeface="+mn-ea"/>
                <a:ea typeface="+mn-ea"/>
              </a:rPr>
              <a:t>linux</a:t>
            </a:r>
            <a:r>
              <a:rPr kumimoji="1" lang="zh-CN" altLang="en-US" sz="2600" dirty="0">
                <a:solidFill>
                  <a:srgbClr val="000000"/>
                </a:solidFill>
                <a:latin typeface="+mn-ea"/>
                <a:ea typeface="+mn-ea"/>
              </a:rPr>
              <a:t>系统中最重要的目录之一。</a:t>
            </a:r>
            <a:r>
              <a:rPr lang="zh-CN" altLang="en-US" sz="2600" dirty="0">
                <a:solidFill>
                  <a:srgbClr val="FF9900"/>
                </a:solidFill>
                <a:latin typeface="+mn-lt"/>
                <a:ea typeface="+mn-ea"/>
              </a:rPr>
              <a:t>存放系统管理时要用到的各种配置文件</a:t>
            </a:r>
            <a:r>
              <a:rPr kumimoji="1" lang="zh-CN" altLang="en-US" sz="26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  <a:ea typeface="+mn-ea"/>
              </a:rPr>
              <a:t>。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ea typeface="+mn-ea"/>
              </a:rPr>
              <a:t>包括</a:t>
            </a:r>
            <a:r>
              <a:rPr kumimoji="1" lang="zh-CN" altLang="en-US" sz="2600" dirty="0">
                <a:solidFill>
                  <a:srgbClr val="000000"/>
                </a:solidFill>
                <a:latin typeface="+mn-ea"/>
                <a:ea typeface="+mn-ea"/>
              </a:rPr>
              <a:t>网络配置文件，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ea typeface="+mn-ea"/>
              </a:rPr>
              <a:t>设备配置信息、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ea typeface="+mn-ea"/>
              </a:rPr>
              <a:t>X-Windows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ea typeface="+mn-ea"/>
              </a:rPr>
              <a:t>系统配置、用户信息等。</a:t>
            </a:r>
            <a:endParaRPr lang="en-US" altLang="zh-CN" sz="26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l">
              <a:spcBef>
                <a:spcPct val="50000"/>
              </a:spcBef>
              <a:defRPr/>
            </a:pPr>
            <a:r>
              <a:rPr lang="en-US" altLang="zh-CN" sz="2600" dirty="0">
                <a:solidFill>
                  <a:srgbClr val="0033CC"/>
                </a:solidFill>
              </a:rPr>
              <a:t>/dev</a:t>
            </a:r>
            <a:r>
              <a:rPr lang="zh-CN" altLang="en-US" sz="2600" dirty="0"/>
              <a:t>：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ea typeface="+mn-ea"/>
              </a:rPr>
              <a:t>dev 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ea typeface="+mn-ea"/>
              </a:rPr>
              <a:t>是设备（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ea typeface="+mn-ea"/>
              </a:rPr>
              <a:t>device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ea typeface="+mn-ea"/>
              </a:rPr>
              <a:t>）的英文缩写。这个目录</a:t>
            </a:r>
            <a:r>
              <a:rPr lang="zh-CN" altLang="en-US" sz="2600" dirty="0">
                <a:solidFill>
                  <a:srgbClr val="FF9900"/>
                </a:solidFill>
                <a:latin typeface="+mn-lt"/>
                <a:ea typeface="+mn-ea"/>
              </a:rPr>
              <a:t>包含了所有</a:t>
            </a:r>
            <a:r>
              <a:rPr lang="en-US" altLang="zh-CN" sz="2600" dirty="0">
                <a:solidFill>
                  <a:srgbClr val="FF9900"/>
                </a:solidFill>
                <a:latin typeface="+mn-lt"/>
                <a:ea typeface="+mn-ea"/>
              </a:rPr>
              <a:t>linux</a:t>
            </a:r>
            <a:r>
              <a:rPr lang="zh-CN" altLang="en-US" sz="2600" dirty="0">
                <a:solidFill>
                  <a:srgbClr val="FF9900"/>
                </a:solidFill>
                <a:latin typeface="+mn-lt"/>
                <a:ea typeface="+mn-ea"/>
              </a:rPr>
              <a:t>系统中使用的外部设备</a:t>
            </a:r>
            <a:r>
              <a:rPr lang="zh-CN" altLang="en-US" sz="2600" dirty="0">
                <a:solidFill>
                  <a:srgbClr val="000000"/>
                </a:solidFill>
              </a:rPr>
              <a:t>。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ea typeface="+mn-ea"/>
              </a:rPr>
              <a:t>但是这里并不是放的外部设备的驱动程序。</a:t>
            </a:r>
            <a:endParaRPr lang="en-US" altLang="zh-CN" sz="26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l">
              <a:spcBef>
                <a:spcPct val="50000"/>
              </a:spcBef>
              <a:defRPr/>
            </a:pPr>
            <a:r>
              <a:rPr lang="en-US" altLang="zh-CN" sz="2600" dirty="0">
                <a:solidFill>
                  <a:srgbClr val="0000FF"/>
                </a:solidFill>
              </a:rPr>
              <a:t>/lib </a:t>
            </a:r>
            <a:r>
              <a:rPr lang="zh-CN" altLang="en-US" sz="2600" dirty="0">
                <a:solidFill>
                  <a:srgbClr val="000000"/>
                </a:solidFill>
              </a:rPr>
              <a:t>：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ea typeface="+mn-ea"/>
              </a:rPr>
              <a:t>lib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ea typeface="+mn-ea"/>
              </a:rPr>
              <a:t>是库（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ea typeface="+mn-ea"/>
              </a:rPr>
              <a:t>library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ea typeface="+mn-ea"/>
              </a:rPr>
              <a:t>）英文缩写。这个目录是用来存放系统动态连接共享库的，包含和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ea typeface="+mn-ea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ea typeface="+mn-ea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ea typeface="+mn-ea"/>
              </a:rPr>
              <a:t>C++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ea typeface="+mn-ea"/>
              </a:rPr>
              <a:t>和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ea typeface="+mn-ea"/>
              </a:rPr>
              <a:t>FORTRAN 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ea typeface="+mn-ea"/>
              </a:rPr>
              <a:t>等语言的库文件。</a:t>
            </a:r>
          </a:p>
        </p:txBody>
      </p:sp>
      <p:sp>
        <p:nvSpPr>
          <p:cNvPr id="4" name="矩形 3"/>
          <p:cNvSpPr/>
          <p:nvPr/>
        </p:nvSpPr>
        <p:spPr>
          <a:xfrm>
            <a:off x="2351584" y="557460"/>
            <a:ext cx="69847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latin typeface="+mn-lt"/>
                <a:ea typeface="+mj-ea"/>
              </a:rPr>
              <a:t>Linux</a:t>
            </a:r>
            <a:r>
              <a:rPr lang="zh-CN" altLang="en-US" sz="4000" dirty="0">
                <a:latin typeface="+mn-lt"/>
                <a:ea typeface="+mn-ea"/>
              </a:rPr>
              <a:t>常用子</a:t>
            </a:r>
            <a:r>
              <a:rPr lang="zh-CN" altLang="en-US" sz="4000" dirty="0">
                <a:latin typeface="+mn-ea"/>
                <a:ea typeface="+mn-ea"/>
              </a:rPr>
              <a:t>目录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811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423CB04-C7B6-EDDF-9569-2362A7BC4BE2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0338" name="Rectangle 2"/>
          <p:cNvSpPr>
            <a:spLocks noGrp="1" noRot="1" noChangeArrowheads="1"/>
          </p:cNvSpPr>
          <p:nvPr>
            <p:ph type="body" idx="1"/>
          </p:nvPr>
        </p:nvSpPr>
        <p:spPr>
          <a:xfrm>
            <a:off x="1127448" y="1394134"/>
            <a:ext cx="9865096" cy="444976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600" dirty="0">
                <a:solidFill>
                  <a:srgbClr val="0000FF"/>
                </a:solidFill>
              </a:rPr>
              <a:t>/home </a:t>
            </a:r>
            <a:r>
              <a:rPr lang="zh-CN" altLang="en-US" sz="2600" dirty="0">
                <a:solidFill>
                  <a:srgbClr val="000000"/>
                </a:solidFill>
              </a:rPr>
              <a:t>：系统中所有</a:t>
            </a:r>
            <a:r>
              <a:rPr lang="zh-CN" altLang="en-US" sz="2600" dirty="0">
                <a:solidFill>
                  <a:srgbClr val="FF9900"/>
                </a:solidFill>
              </a:rPr>
              <a:t>普通用户的宿主</a:t>
            </a:r>
            <a:r>
              <a:rPr lang="en-US" altLang="zh-CN" sz="2600" dirty="0">
                <a:solidFill>
                  <a:srgbClr val="FF9900"/>
                </a:solidFill>
              </a:rPr>
              <a:t>(</a:t>
            </a:r>
            <a:r>
              <a:rPr lang="zh-CN" altLang="en-US" sz="2600" dirty="0">
                <a:solidFill>
                  <a:srgbClr val="FF9900"/>
                </a:solidFill>
              </a:rPr>
              <a:t>家</a:t>
            </a:r>
            <a:r>
              <a:rPr lang="en-US" altLang="zh-CN" sz="2600" dirty="0">
                <a:solidFill>
                  <a:srgbClr val="FF9900"/>
                </a:solidFill>
              </a:rPr>
              <a:t>)</a:t>
            </a:r>
            <a:r>
              <a:rPr lang="zh-CN" altLang="en-US" sz="2600" dirty="0">
                <a:solidFill>
                  <a:srgbClr val="FF9900"/>
                </a:solidFill>
              </a:rPr>
              <a:t>目录</a:t>
            </a:r>
            <a:r>
              <a:rPr lang="zh-CN" altLang="en-US" sz="2600" dirty="0">
                <a:solidFill>
                  <a:srgbClr val="000000"/>
                </a:solidFill>
              </a:rPr>
              <a:t>，新建用户账户后，系统就会自动在</a:t>
            </a:r>
            <a:r>
              <a:rPr lang="en-US" altLang="zh-CN" sz="2600" dirty="0">
                <a:solidFill>
                  <a:srgbClr val="000000"/>
                </a:solidFill>
              </a:rPr>
              <a:t>/home</a:t>
            </a:r>
            <a:r>
              <a:rPr lang="zh-CN" altLang="en-US" sz="2600" dirty="0">
                <a:solidFill>
                  <a:srgbClr val="000000"/>
                </a:solidFill>
              </a:rPr>
              <a:t>中创建一个与账户同名的子目录，作为该用户的宿主目录。普通用户只能访问自己的宿主目录，</a:t>
            </a:r>
            <a:r>
              <a:rPr lang="en-US" altLang="zh-CN" sz="2600" dirty="0">
                <a:solidFill>
                  <a:srgbClr val="000000"/>
                </a:solidFill>
              </a:rPr>
              <a:t>root</a:t>
            </a:r>
            <a:r>
              <a:rPr lang="zh-CN" altLang="en-US" sz="2600" dirty="0">
                <a:solidFill>
                  <a:srgbClr val="000000"/>
                </a:solidFill>
              </a:rPr>
              <a:t>用户的宿主目录为</a:t>
            </a:r>
            <a:r>
              <a:rPr lang="en-US" altLang="zh-CN" sz="2600" dirty="0">
                <a:solidFill>
                  <a:srgbClr val="000000"/>
                </a:solidFill>
              </a:rPr>
              <a:t>/root</a:t>
            </a:r>
            <a:r>
              <a:rPr lang="zh-CN" altLang="en-US" sz="2600" dirty="0">
                <a:solidFill>
                  <a:srgbClr val="000000"/>
                </a:solidFill>
              </a:rPr>
              <a:t>。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600" dirty="0">
                <a:solidFill>
                  <a:srgbClr val="0000FF"/>
                </a:solidFill>
              </a:rPr>
              <a:t>/</a:t>
            </a:r>
            <a:r>
              <a:rPr lang="en-US" altLang="zh-CN" sz="2600" dirty="0" err="1">
                <a:solidFill>
                  <a:srgbClr val="0000FF"/>
                </a:solidFill>
              </a:rPr>
              <a:t>mnt</a:t>
            </a:r>
            <a:r>
              <a:rPr lang="en-US" altLang="zh-CN" sz="2600" dirty="0">
                <a:solidFill>
                  <a:srgbClr val="0000FF"/>
                </a:solidFill>
              </a:rPr>
              <a:t> </a:t>
            </a:r>
            <a:r>
              <a:rPr lang="zh-CN" altLang="en-US" sz="2600" dirty="0">
                <a:solidFill>
                  <a:srgbClr val="000000"/>
                </a:solidFill>
              </a:rPr>
              <a:t>：这个目录在一般情况下是空的。可以</a:t>
            </a:r>
            <a:r>
              <a:rPr lang="zh-CN" altLang="en-US" sz="2600" dirty="0">
                <a:solidFill>
                  <a:srgbClr val="FF9900"/>
                </a:solidFill>
              </a:rPr>
              <a:t>临时</a:t>
            </a:r>
            <a:r>
              <a:rPr lang="zh-CN" altLang="en-US" sz="2600" dirty="0">
                <a:solidFill>
                  <a:srgbClr val="000000"/>
                </a:solidFill>
              </a:rPr>
              <a:t>将别的文件系统</a:t>
            </a:r>
            <a:r>
              <a:rPr lang="zh-CN" altLang="en-US" sz="2600" dirty="0">
                <a:solidFill>
                  <a:srgbClr val="FF9900"/>
                </a:solidFill>
              </a:rPr>
              <a:t>挂在</a:t>
            </a:r>
            <a:r>
              <a:rPr lang="zh-CN" altLang="en-US" sz="2600" dirty="0">
                <a:solidFill>
                  <a:srgbClr val="000000"/>
                </a:solidFill>
              </a:rPr>
              <a:t>这个目录下。</a:t>
            </a:r>
            <a:endParaRPr lang="en-US" altLang="zh-CN" sz="2600" dirty="0">
              <a:solidFill>
                <a:srgbClr val="000000"/>
              </a:solidFill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600" dirty="0">
                <a:solidFill>
                  <a:srgbClr val="0000FF"/>
                </a:solidFill>
              </a:rPr>
              <a:t>/</a:t>
            </a:r>
            <a:r>
              <a:rPr lang="en-US" altLang="zh-CN" sz="2600" dirty="0" err="1">
                <a:solidFill>
                  <a:srgbClr val="0000FF"/>
                </a:solidFill>
              </a:rPr>
              <a:t>tmp</a:t>
            </a:r>
            <a:r>
              <a:rPr lang="en-US" altLang="zh-CN" sz="2600" dirty="0">
                <a:solidFill>
                  <a:srgbClr val="0000FF"/>
                </a:solidFill>
              </a:rPr>
              <a:t> </a:t>
            </a:r>
            <a:r>
              <a:rPr lang="zh-CN" altLang="en-US" sz="2600" dirty="0">
                <a:solidFill>
                  <a:srgbClr val="000000"/>
                </a:solidFill>
              </a:rPr>
              <a:t>：用来存放不同程序执行时产生的</a:t>
            </a:r>
            <a:r>
              <a:rPr lang="zh-CN" altLang="en-US" sz="2600" dirty="0">
                <a:solidFill>
                  <a:srgbClr val="FF9900"/>
                </a:solidFill>
              </a:rPr>
              <a:t>临时文件</a:t>
            </a:r>
            <a:r>
              <a:rPr lang="zh-CN" altLang="en-US" sz="2600" dirty="0">
                <a:solidFill>
                  <a:srgbClr val="000000"/>
                </a:solidFill>
              </a:rPr>
              <a:t>。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zh-CN" sz="2600" dirty="0">
                <a:solidFill>
                  <a:srgbClr val="0000FF"/>
                </a:solidFill>
              </a:rPr>
              <a:t>/</a:t>
            </a:r>
            <a:r>
              <a:rPr lang="en-US" altLang="zh-CN" sz="2600" dirty="0" err="1">
                <a:solidFill>
                  <a:srgbClr val="0000FF"/>
                </a:solidFill>
              </a:rPr>
              <a:t>usr</a:t>
            </a:r>
            <a:r>
              <a:rPr lang="en-US" altLang="zh-CN" sz="2600" dirty="0">
                <a:solidFill>
                  <a:srgbClr val="0000FF"/>
                </a:solidFill>
              </a:rPr>
              <a:t> </a:t>
            </a:r>
            <a:r>
              <a:rPr lang="zh-CN" altLang="en-US" sz="2600" dirty="0">
                <a:solidFill>
                  <a:srgbClr val="000000"/>
                </a:solidFill>
              </a:rPr>
              <a:t>：这是</a:t>
            </a:r>
            <a:r>
              <a:rPr lang="en-US" altLang="zh-CN" sz="2600" dirty="0">
                <a:solidFill>
                  <a:srgbClr val="000000"/>
                </a:solidFill>
              </a:rPr>
              <a:t>linux</a:t>
            </a:r>
            <a:r>
              <a:rPr lang="zh-CN" altLang="en-US" sz="2600" dirty="0">
                <a:solidFill>
                  <a:srgbClr val="000000"/>
                </a:solidFill>
              </a:rPr>
              <a:t>系统中占用硬盘空间最大的目录，</a:t>
            </a:r>
            <a:r>
              <a:rPr lang="zh-CN" altLang="en-US" sz="2600" dirty="0">
                <a:solidFill>
                  <a:srgbClr val="FF9900"/>
                </a:solidFill>
              </a:rPr>
              <a:t>用户</a:t>
            </a:r>
            <a:r>
              <a:rPr lang="zh-CN" altLang="en-US" sz="2600" dirty="0">
                <a:solidFill>
                  <a:srgbClr val="000000"/>
                </a:solidFill>
              </a:rPr>
              <a:t>安装的</a:t>
            </a:r>
            <a:r>
              <a:rPr lang="zh-CN" altLang="en-US" sz="2600" dirty="0">
                <a:solidFill>
                  <a:srgbClr val="FF9900"/>
                </a:solidFill>
              </a:rPr>
              <a:t>程序</a:t>
            </a:r>
            <a:r>
              <a:rPr lang="zh-CN" altLang="en-US" sz="2600" dirty="0">
                <a:solidFill>
                  <a:srgbClr val="000000"/>
                </a:solidFill>
              </a:rPr>
              <a:t>或要自行建立的目录和文件，一般在该目录下面。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  <a:defRPr/>
            </a:pPr>
            <a:endParaRPr lang="zh-CN" altLang="en-US" sz="2600" dirty="0">
              <a:solidFill>
                <a:srgbClr val="00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423592" y="513495"/>
            <a:ext cx="69847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latin typeface="+mn-lt"/>
                <a:ea typeface="+mj-ea"/>
              </a:rPr>
              <a:t>Linux</a:t>
            </a:r>
            <a:r>
              <a:rPr lang="zh-CN" altLang="en-US" sz="4000" dirty="0">
                <a:latin typeface="+mn-lt"/>
                <a:ea typeface="+mn-ea"/>
              </a:rPr>
              <a:t>常用子</a:t>
            </a:r>
            <a:r>
              <a:rPr lang="zh-CN" altLang="en-US" sz="4000" dirty="0">
                <a:latin typeface="+mn-ea"/>
                <a:ea typeface="+mn-ea"/>
              </a:rPr>
              <a:t>目录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78330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101F678-7100-57F8-5A9F-E59EB4C2B4F3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83432" y="404664"/>
            <a:ext cx="9614859" cy="858837"/>
          </a:xfrm>
        </p:spPr>
        <p:txBody>
          <a:bodyPr/>
          <a:lstStyle/>
          <a:p>
            <a:r>
              <a:rPr lang="en-US" altLang="zh-CN" dirty="0">
                <a:latin typeface="+mn-lt"/>
                <a:ea typeface="+mn-ea"/>
              </a:rPr>
              <a:t>5.2</a:t>
            </a:r>
            <a:r>
              <a:rPr lang="en-US" altLang="zh-CN" dirty="0">
                <a:latin typeface="+mn-ea"/>
                <a:ea typeface="+mn-ea"/>
              </a:rPr>
              <a:t>  </a:t>
            </a:r>
            <a:r>
              <a:rPr lang="zh-CN" altLang="en-US" dirty="0">
                <a:latin typeface="+mn-ea"/>
                <a:ea typeface="+mn-ea"/>
              </a:rPr>
              <a:t>文件的结构</a:t>
            </a:r>
          </a:p>
        </p:txBody>
      </p:sp>
      <p:sp>
        <p:nvSpPr>
          <p:cNvPr id="12290" name="Rectangle 2"/>
          <p:cNvSpPr>
            <a:spLocks noGrp="1" noChangeArrowheads="1"/>
          </p:cNvSpPr>
          <p:nvPr>
            <p:ph idx="1"/>
          </p:nvPr>
        </p:nvSpPr>
        <p:spPr>
          <a:xfrm>
            <a:off x="983432" y="1404938"/>
            <a:ext cx="10009112" cy="4411662"/>
          </a:xfrm>
          <a:noFill/>
        </p:spPr>
        <p:txBody>
          <a:bodyPr/>
          <a:lstStyle/>
          <a:p>
            <a:pPr eaLnBrk="1" hangingPunct="1"/>
            <a:r>
              <a:rPr lang="zh-CN" altLang="en-US" sz="2600" dirty="0"/>
              <a:t>通常文件系统使用者关心的只是如何方便地组织和使用文件，即文件的</a:t>
            </a:r>
            <a:r>
              <a:rPr lang="zh-CN" altLang="en-US" sz="2600" dirty="0">
                <a:solidFill>
                  <a:srgbClr val="0000CC"/>
                </a:solidFill>
              </a:rPr>
              <a:t>逻辑结构</a:t>
            </a:r>
            <a:r>
              <a:rPr lang="zh-CN" altLang="en-US" sz="2600" dirty="0"/>
              <a:t>，而系统的设计者则更关心文件具体的实现方式，也即文件的</a:t>
            </a:r>
            <a:r>
              <a:rPr lang="zh-CN" altLang="en-US" sz="2600" dirty="0">
                <a:solidFill>
                  <a:srgbClr val="0000CC"/>
                </a:solidFill>
              </a:rPr>
              <a:t>物理结构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eaLnBrk="1" hangingPunct="1"/>
            <a:r>
              <a:rPr lang="zh-CN" altLang="en-US" sz="2600" dirty="0"/>
              <a:t>在操作系统中，文件被定义为一个命名的相关</a:t>
            </a:r>
            <a:r>
              <a:rPr lang="zh-CN" altLang="en-US" sz="2600" dirty="0">
                <a:solidFill>
                  <a:srgbClr val="0000CC"/>
                </a:solidFill>
              </a:rPr>
              <a:t>字符流的集合</a:t>
            </a:r>
            <a:r>
              <a:rPr lang="zh-CN" altLang="en-US" sz="2600" dirty="0"/>
              <a:t>，或者一个具有符号名的相关</a:t>
            </a:r>
            <a:r>
              <a:rPr lang="zh-CN" altLang="en-US" sz="2600" dirty="0">
                <a:solidFill>
                  <a:srgbClr val="0000CC"/>
                </a:solidFill>
              </a:rPr>
              <a:t>记录的集合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eaLnBrk="1" hangingPunct="1"/>
            <a:r>
              <a:rPr lang="zh-CN" altLang="en-US" sz="2600" dirty="0"/>
              <a:t>相关字符流组成的文件是一种无结构文件的</a:t>
            </a:r>
            <a:r>
              <a:rPr lang="zh-CN" altLang="en-US" sz="2600" dirty="0">
                <a:solidFill>
                  <a:srgbClr val="0000CC"/>
                </a:solidFill>
              </a:rPr>
              <a:t>流式文件</a:t>
            </a:r>
            <a:r>
              <a:rPr lang="zh-CN" altLang="en-US" sz="2600" dirty="0"/>
              <a:t>。相关记录组成的文件称为</a:t>
            </a:r>
            <a:r>
              <a:rPr lang="zh-CN" altLang="en-US" sz="2600" dirty="0">
                <a:solidFill>
                  <a:srgbClr val="0000CC"/>
                </a:solidFill>
              </a:rPr>
              <a:t>记录式文件</a:t>
            </a:r>
            <a:r>
              <a:rPr lang="zh-CN" altLang="en-US" sz="2600" dirty="0"/>
              <a:t>。符号名用来惟一地标识一个文件，也就是文件名。</a:t>
            </a:r>
            <a:endParaRPr lang="en-US" altLang="zh-CN" sz="2600" dirty="0"/>
          </a:p>
          <a:p>
            <a:pPr eaLnBrk="1" hangingPunct="1"/>
            <a:r>
              <a:rPr lang="zh-CN" altLang="en-US" sz="2600" dirty="0"/>
              <a:t>从逻辑结构来看，</a:t>
            </a:r>
            <a:r>
              <a:rPr lang="en-US" altLang="zh-CN" sz="2600" dirty="0"/>
              <a:t>Linux</a:t>
            </a:r>
            <a:r>
              <a:rPr lang="zh-CN" altLang="en-US" sz="2600" dirty="0"/>
              <a:t>系统的文件采用的是</a:t>
            </a:r>
            <a:r>
              <a:rPr lang="zh-CN" altLang="en-US" sz="2600" dirty="0">
                <a:solidFill>
                  <a:srgbClr val="CC0099"/>
                </a:solidFill>
              </a:rPr>
              <a:t>字符流式的无结构</a:t>
            </a:r>
            <a:r>
              <a:rPr lang="zh-CN" altLang="en-US" sz="2600" dirty="0"/>
              <a:t>文件。</a:t>
            </a: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10056440" y="6369893"/>
            <a:ext cx="802581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585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C13B0A5-F802-B34E-74D3-EDA794B67A0A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55440" y="428973"/>
            <a:ext cx="9614859" cy="858837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文件结构</a:t>
            </a:r>
            <a:endParaRPr lang="zh-CN" altLang="en-US" dirty="0"/>
          </a:p>
        </p:txBody>
      </p:sp>
      <p:sp>
        <p:nvSpPr>
          <p:cNvPr id="13314" name="Rectangle 2"/>
          <p:cNvSpPr>
            <a:spLocks noGrp="1" noChangeArrowheads="1"/>
          </p:cNvSpPr>
          <p:nvPr>
            <p:ph idx="1"/>
          </p:nvPr>
        </p:nvSpPr>
        <p:spPr>
          <a:xfrm>
            <a:off x="1055440" y="1628800"/>
            <a:ext cx="10153128" cy="4032448"/>
          </a:xfrm>
          <a:noFill/>
        </p:spPr>
        <p:txBody>
          <a:bodyPr/>
          <a:lstStyle/>
          <a:p>
            <a:pPr eaLnBrk="1" hangingPunct="1"/>
            <a:r>
              <a:rPr lang="zh-CN" altLang="en-US" sz="2600" dirty="0"/>
              <a:t>文件的</a:t>
            </a:r>
            <a:r>
              <a:rPr lang="zh-CN" altLang="en-US" sz="2600" dirty="0">
                <a:solidFill>
                  <a:srgbClr val="CC0099"/>
                </a:solidFill>
              </a:rPr>
              <a:t>物理结构</a:t>
            </a:r>
            <a:endParaRPr lang="en-US" altLang="zh-CN" sz="2600" dirty="0">
              <a:solidFill>
                <a:srgbClr val="CC0099"/>
              </a:solidFill>
            </a:endParaRPr>
          </a:p>
          <a:p>
            <a:pPr marL="0" indent="0" eaLnBrk="1" hangingPunct="1">
              <a:buNone/>
            </a:pPr>
            <a:r>
              <a:rPr lang="zh-CN" altLang="en-US" sz="2600" dirty="0"/>
              <a:t>指的是文件在</a:t>
            </a:r>
            <a:r>
              <a:rPr lang="zh-CN" altLang="en-US" sz="2600" dirty="0">
                <a:solidFill>
                  <a:srgbClr val="CC0099"/>
                </a:solidFill>
              </a:rPr>
              <a:t>存储设备上的组织方式</a:t>
            </a:r>
            <a:r>
              <a:rPr lang="zh-CN" altLang="en-US" sz="2600" dirty="0"/>
              <a:t>，即一个文件在具体设备上的实现方法。外部存储器按照一定的规则划分为小的物理单元，称为</a:t>
            </a:r>
            <a:r>
              <a:rPr lang="zh-CN" altLang="en-US" sz="2600" dirty="0">
                <a:solidFill>
                  <a:srgbClr val="CC0099"/>
                </a:solidFill>
              </a:rPr>
              <a:t>块</a:t>
            </a:r>
            <a:r>
              <a:rPr lang="zh-CN" altLang="en-US" sz="2600" dirty="0"/>
              <a:t>，</a:t>
            </a:r>
            <a:r>
              <a:rPr lang="zh-CN" altLang="en-US" sz="2600" dirty="0">
                <a:solidFill>
                  <a:srgbClr val="CC0099"/>
                </a:solidFill>
              </a:rPr>
              <a:t>每个块大小相等</a:t>
            </a:r>
            <a:r>
              <a:rPr lang="zh-CN" altLang="en-US" sz="2600" dirty="0"/>
              <a:t>，相应地，</a:t>
            </a:r>
            <a:r>
              <a:rPr lang="zh-CN" altLang="en-US" sz="2600" dirty="0">
                <a:solidFill>
                  <a:srgbClr val="CC0099"/>
                </a:solidFill>
              </a:rPr>
              <a:t>文件信息</a:t>
            </a:r>
            <a:r>
              <a:rPr lang="zh-CN" altLang="en-US" sz="2600" dirty="0"/>
              <a:t>也划分为和外存物理块</a:t>
            </a:r>
            <a:r>
              <a:rPr lang="zh-CN" altLang="en-US" sz="2600" dirty="0">
                <a:solidFill>
                  <a:srgbClr val="CC0099"/>
                </a:solidFill>
              </a:rPr>
              <a:t>相等大小</a:t>
            </a:r>
            <a:r>
              <a:rPr lang="zh-CN" altLang="en-US" sz="2600" dirty="0"/>
              <a:t>的</a:t>
            </a:r>
            <a:r>
              <a:rPr lang="zh-CN" altLang="en-US" sz="2600" dirty="0">
                <a:solidFill>
                  <a:srgbClr val="CC0099"/>
                </a:solidFill>
              </a:rPr>
              <a:t>逻辑块</a:t>
            </a:r>
            <a:r>
              <a:rPr lang="zh-CN" altLang="en-US" sz="2600" dirty="0"/>
              <a:t>。对于无结构文件来讲，文件本身没有特定的逻辑结构，最小的单位是字节，可以很方便地划分为逻辑块。</a:t>
            </a:r>
          </a:p>
          <a:p>
            <a:pPr eaLnBrk="1" hangingPunct="1"/>
            <a:r>
              <a:rPr lang="zh-CN" altLang="en-US" sz="2600" dirty="0"/>
              <a:t>文件的物理结构通常解决文件的</a:t>
            </a:r>
            <a:r>
              <a:rPr lang="zh-CN" altLang="en-US" sz="2600" dirty="0">
                <a:solidFill>
                  <a:srgbClr val="CC0099"/>
                </a:solidFill>
              </a:rPr>
              <a:t>逻辑块与物理块之间的映射关系</a:t>
            </a:r>
            <a:r>
              <a:rPr lang="zh-CN" altLang="en-US" sz="2600" dirty="0"/>
              <a:t>，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zh-CN" altLang="en-US" sz="2600" dirty="0"/>
              <a:t>也即一个文件对应的物理块的具体</a:t>
            </a:r>
            <a:r>
              <a:rPr lang="zh-CN" altLang="en-US" sz="2600" dirty="0">
                <a:solidFill>
                  <a:srgbClr val="CC0099"/>
                </a:solidFill>
              </a:rPr>
              <a:t>组织方式</a:t>
            </a:r>
            <a:r>
              <a:rPr lang="zh-CN" altLang="en-US" sz="2600" dirty="0"/>
              <a:t>。常用的文件物理结构有</a:t>
            </a:r>
            <a:r>
              <a:rPr lang="zh-CN" altLang="en-US" sz="2600" dirty="0">
                <a:solidFill>
                  <a:srgbClr val="0000CC"/>
                </a:solidFill>
              </a:rPr>
              <a:t>顺序</a:t>
            </a:r>
            <a:r>
              <a:rPr lang="zh-CN" altLang="en-US" sz="2600" dirty="0"/>
              <a:t>、</a:t>
            </a:r>
            <a:r>
              <a:rPr lang="zh-CN" altLang="en-US" sz="2600" dirty="0">
                <a:solidFill>
                  <a:srgbClr val="0000CC"/>
                </a:solidFill>
              </a:rPr>
              <a:t>串联</a:t>
            </a:r>
            <a:r>
              <a:rPr lang="zh-CN" altLang="en-US" sz="2600" dirty="0"/>
              <a:t>、</a:t>
            </a:r>
            <a:r>
              <a:rPr lang="zh-CN" altLang="en-US" sz="2600" dirty="0">
                <a:solidFill>
                  <a:srgbClr val="0000CC"/>
                </a:solidFill>
              </a:rPr>
              <a:t>索引</a:t>
            </a:r>
            <a:r>
              <a:rPr lang="zh-CN" altLang="en-US" sz="2600" dirty="0"/>
              <a:t>和</a:t>
            </a:r>
            <a:r>
              <a:rPr lang="zh-CN" altLang="en-US" sz="2600" dirty="0">
                <a:solidFill>
                  <a:srgbClr val="0000CC"/>
                </a:solidFill>
              </a:rPr>
              <a:t>多重索引</a:t>
            </a:r>
            <a:r>
              <a:rPr lang="zh-CN" altLang="en-US" sz="2600" dirty="0"/>
              <a:t>等方式。</a:t>
            </a: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10189963" y="6357015"/>
            <a:ext cx="730573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78261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6082BA4-56F6-26C7-661D-E3A48E9CAE48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338" name="Rectangle 2"/>
          <p:cNvSpPr>
            <a:spLocks noGrp="1" noChangeArrowheads="1"/>
          </p:cNvSpPr>
          <p:nvPr>
            <p:ph idx="1"/>
          </p:nvPr>
        </p:nvSpPr>
        <p:spPr>
          <a:xfrm>
            <a:off x="1271464" y="1196752"/>
            <a:ext cx="9649072" cy="2592288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600" dirty="0"/>
              <a:t>1.  </a:t>
            </a:r>
            <a:r>
              <a:rPr lang="zh-CN" altLang="en-US" sz="2600" dirty="0">
                <a:solidFill>
                  <a:srgbClr val="FF9900"/>
                </a:solidFill>
              </a:rPr>
              <a:t>顺序方式</a:t>
            </a:r>
          </a:p>
          <a:p>
            <a:pPr marL="0" indent="0" eaLnBrk="1" hangingPunct="1">
              <a:buNone/>
            </a:pPr>
            <a:r>
              <a:rPr lang="zh-CN" altLang="en-US" sz="2600" dirty="0"/>
              <a:t>顺序方式按照</a:t>
            </a:r>
            <a:r>
              <a:rPr lang="zh-CN" altLang="en-US" sz="2600" dirty="0">
                <a:solidFill>
                  <a:srgbClr val="0000CC"/>
                </a:solidFill>
              </a:rPr>
              <a:t>逻辑上的连续关系</a:t>
            </a:r>
            <a:r>
              <a:rPr lang="zh-CN" altLang="en-US" sz="2600" dirty="0"/>
              <a:t>把文件依次存放在连续的物理块中。如下图所示，文件逻辑块和物理块之间是简单的线性关系，很容易实现，也可以方便地实现文件的</a:t>
            </a:r>
            <a:r>
              <a:rPr lang="zh-CN" altLang="en-US" sz="2600" dirty="0">
                <a:solidFill>
                  <a:srgbClr val="0000CC"/>
                </a:solidFill>
              </a:rPr>
              <a:t>顺序和随机访问</a:t>
            </a:r>
            <a:r>
              <a:rPr lang="zh-CN" altLang="en-US" sz="2600" dirty="0"/>
              <a:t>，只要确定了文件头的位置和文件长度，一切操作都可以快速实现。但这种方式也容易造成</a:t>
            </a:r>
            <a:r>
              <a:rPr lang="zh-CN" altLang="en-US" sz="2600" dirty="0">
                <a:solidFill>
                  <a:srgbClr val="993300"/>
                </a:solidFill>
              </a:rPr>
              <a:t>磁盘碎片</a:t>
            </a:r>
            <a:r>
              <a:rPr lang="zh-CN" altLang="en-US" sz="2600" dirty="0"/>
              <a:t>。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127448" y="337915"/>
            <a:ext cx="9614859" cy="858837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文件结构</a:t>
            </a:r>
            <a:endParaRPr lang="zh-CN" altLang="en-US" dirty="0"/>
          </a:p>
        </p:txBody>
      </p:sp>
      <p:pic>
        <p:nvPicPr>
          <p:cNvPr id="6" name="Picture 3" descr="jc18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55640" y="3916484"/>
            <a:ext cx="6624736" cy="2234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859051FC-A777-4901-B829-7B4B26BA9D8B}"/>
              </a:ext>
            </a:extLst>
          </p:cNvPr>
          <p:cNvSpPr txBox="1">
            <a:spLocks/>
          </p:cNvSpPr>
          <p:nvPr/>
        </p:nvSpPr>
        <p:spPr bwMode="auto">
          <a:xfrm>
            <a:off x="10189963" y="6357015"/>
            <a:ext cx="73057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32973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F1B3FB0-EB10-E71D-6403-E9642D35844D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0962" name="Group 2">
            <a:extLst>
              <a:ext uri="{FF2B5EF4-FFF2-40B4-BE49-F238E27FC236}">
                <a16:creationId xmlns:a16="http://schemas.microsoft.com/office/drawing/2014/main" id="{075F2876-72A1-4C0D-ADC9-B8C2D31F8986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1811338"/>
            <a:ext cx="3200400" cy="3294062"/>
            <a:chOff x="2832" y="1141"/>
            <a:chExt cx="2016" cy="2075"/>
          </a:xfrm>
        </p:grpSpPr>
        <p:sp>
          <p:nvSpPr>
            <p:cNvPr id="41005" name="Rectangle 3">
              <a:extLst>
                <a:ext uri="{FF2B5EF4-FFF2-40B4-BE49-F238E27FC236}">
                  <a16:creationId xmlns:a16="http://schemas.microsoft.com/office/drawing/2014/main" id="{80EB82E6-DF3E-47EE-BC7F-DA9FFC7DC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1872"/>
              <a:ext cx="2016" cy="1344"/>
            </a:xfrm>
            <a:prstGeom prst="rec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rgbClr val="0066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41006" name="Group 4">
              <a:extLst>
                <a:ext uri="{FF2B5EF4-FFF2-40B4-BE49-F238E27FC236}">
                  <a16:creationId xmlns:a16="http://schemas.microsoft.com/office/drawing/2014/main" id="{03740129-A912-4E3A-8952-10D6A4DD17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1141"/>
              <a:ext cx="2016" cy="2040"/>
              <a:chOff x="2832" y="1141"/>
              <a:chExt cx="2016" cy="2040"/>
            </a:xfrm>
          </p:grpSpPr>
          <p:sp>
            <p:nvSpPr>
              <p:cNvPr id="41007" name="Text Box 5">
                <a:extLst>
                  <a:ext uri="{FF2B5EF4-FFF2-40B4-BE49-F238E27FC236}">
                    <a16:creationId xmlns:a16="http://schemas.microsoft.com/office/drawing/2014/main" id="{D446AE99-6101-46BF-864C-65CF862424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1536"/>
                <a:ext cx="2016" cy="291"/>
              </a:xfrm>
              <a:prstGeom prst="rect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文名     始址     块数</a:t>
                </a:r>
              </a:p>
            </p:txBody>
          </p:sp>
          <p:sp>
            <p:nvSpPr>
              <p:cNvPr id="41008" name="Text Box 6">
                <a:extLst>
                  <a:ext uri="{FF2B5EF4-FFF2-40B4-BE49-F238E27FC236}">
                    <a16:creationId xmlns:a16="http://schemas.microsoft.com/office/drawing/2014/main" id="{0CE502BD-D604-4515-937D-59EDE34D33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68" y="1960"/>
                <a:ext cx="1732" cy="122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count        0           2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tr             14          3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mail         19          6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list           28          4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f                6           2 </a:t>
                </a:r>
              </a:p>
            </p:txBody>
          </p:sp>
          <p:sp>
            <p:nvSpPr>
              <p:cNvPr id="41009" name="Text Box 7">
                <a:extLst>
                  <a:ext uri="{FF2B5EF4-FFF2-40B4-BE49-F238E27FC236}">
                    <a16:creationId xmlns:a16="http://schemas.microsoft.com/office/drawing/2014/main" id="{E5943C77-271C-4BF5-AF5D-C07700BC60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8" y="1141"/>
                <a:ext cx="8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文件目录</a:t>
                </a:r>
              </a:p>
            </p:txBody>
          </p:sp>
        </p:grpSp>
      </p:grpSp>
      <p:grpSp>
        <p:nvGrpSpPr>
          <p:cNvPr id="40963" name="Group 8">
            <a:extLst>
              <a:ext uri="{FF2B5EF4-FFF2-40B4-BE49-F238E27FC236}">
                <a16:creationId xmlns:a16="http://schemas.microsoft.com/office/drawing/2014/main" id="{36680CC1-DF95-4574-A6F6-C9A3B7564BAF}"/>
              </a:ext>
            </a:extLst>
          </p:cNvPr>
          <p:cNvGrpSpPr>
            <a:grpSpLocks/>
          </p:cNvGrpSpPr>
          <p:nvPr/>
        </p:nvGrpSpPr>
        <p:grpSpPr bwMode="auto">
          <a:xfrm>
            <a:off x="2797175" y="1124744"/>
            <a:ext cx="2362200" cy="4953000"/>
            <a:chOff x="802" y="900"/>
            <a:chExt cx="1488" cy="3120"/>
          </a:xfrm>
        </p:grpSpPr>
        <p:grpSp>
          <p:nvGrpSpPr>
            <p:cNvPr id="40966" name="Group 9">
              <a:extLst>
                <a:ext uri="{FF2B5EF4-FFF2-40B4-BE49-F238E27FC236}">
                  <a16:creationId xmlns:a16="http://schemas.microsoft.com/office/drawing/2014/main" id="{0865799E-7440-4DF8-A57D-879287F119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42" y="1524"/>
              <a:ext cx="1056" cy="2160"/>
              <a:chOff x="768" y="816"/>
              <a:chExt cx="1056" cy="2160"/>
            </a:xfrm>
          </p:grpSpPr>
          <p:sp>
            <p:nvSpPr>
              <p:cNvPr id="40973" name="Rectangle 10">
                <a:extLst>
                  <a:ext uri="{FF2B5EF4-FFF2-40B4-BE49-F238E27FC236}">
                    <a16:creationId xmlns:a16="http://schemas.microsoft.com/office/drawing/2014/main" id="{8AFCB616-45B2-4466-9284-6D4C6DE76E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816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40974" name="Rectangle 11">
                <a:extLst>
                  <a:ext uri="{FF2B5EF4-FFF2-40B4-BE49-F238E27FC236}">
                    <a16:creationId xmlns:a16="http://schemas.microsoft.com/office/drawing/2014/main" id="{5A69E88E-19E4-44BF-8344-B57DABCD4A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816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40975" name="Rectangle 12">
                <a:extLst>
                  <a:ext uri="{FF2B5EF4-FFF2-40B4-BE49-F238E27FC236}">
                    <a16:creationId xmlns:a16="http://schemas.microsoft.com/office/drawing/2014/main" id="{F36406F4-8F0D-42D6-93EB-85D9F2EFEA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816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40976" name="Rectangle 13">
                <a:extLst>
                  <a:ext uri="{FF2B5EF4-FFF2-40B4-BE49-F238E27FC236}">
                    <a16:creationId xmlns:a16="http://schemas.microsoft.com/office/drawing/2014/main" id="{050B44A4-6964-49D2-93CD-642F5A0D4C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816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40977" name="Rectangle 14">
                <a:extLst>
                  <a:ext uri="{FF2B5EF4-FFF2-40B4-BE49-F238E27FC236}">
                    <a16:creationId xmlns:a16="http://schemas.microsoft.com/office/drawing/2014/main" id="{284D539A-065C-4129-9713-7E6508BA43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104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40978" name="Rectangle 15">
                <a:extLst>
                  <a:ext uri="{FF2B5EF4-FFF2-40B4-BE49-F238E27FC236}">
                    <a16:creationId xmlns:a16="http://schemas.microsoft.com/office/drawing/2014/main" id="{F11D10E1-2DA4-4AF8-A1DB-159C3C9556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1104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40979" name="Rectangle 16">
                <a:extLst>
                  <a:ext uri="{FF2B5EF4-FFF2-40B4-BE49-F238E27FC236}">
                    <a16:creationId xmlns:a16="http://schemas.microsoft.com/office/drawing/2014/main" id="{AFE7A91F-81E4-49F2-B0BC-25EBF1F2B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104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6</a:t>
                </a:r>
              </a:p>
            </p:txBody>
          </p:sp>
          <p:sp>
            <p:nvSpPr>
              <p:cNvPr id="40980" name="Rectangle 17">
                <a:extLst>
                  <a:ext uri="{FF2B5EF4-FFF2-40B4-BE49-F238E27FC236}">
                    <a16:creationId xmlns:a16="http://schemas.microsoft.com/office/drawing/2014/main" id="{88E102DA-D788-411A-A47C-891D26F3C3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104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7</a:t>
                </a:r>
              </a:p>
            </p:txBody>
          </p:sp>
          <p:sp>
            <p:nvSpPr>
              <p:cNvPr id="40981" name="Rectangle 18">
                <a:extLst>
                  <a:ext uri="{FF2B5EF4-FFF2-40B4-BE49-F238E27FC236}">
                    <a16:creationId xmlns:a16="http://schemas.microsoft.com/office/drawing/2014/main" id="{CAA56590-791D-4B37-8C3B-DD707E00EA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392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8</a:t>
                </a:r>
              </a:p>
            </p:txBody>
          </p:sp>
          <p:sp>
            <p:nvSpPr>
              <p:cNvPr id="40982" name="Rectangle 19">
                <a:extLst>
                  <a:ext uri="{FF2B5EF4-FFF2-40B4-BE49-F238E27FC236}">
                    <a16:creationId xmlns:a16="http://schemas.microsoft.com/office/drawing/2014/main" id="{AD3579F2-247D-4A58-8F87-23836814F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1392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9</a:t>
                </a:r>
              </a:p>
            </p:txBody>
          </p:sp>
          <p:sp>
            <p:nvSpPr>
              <p:cNvPr id="40983" name="Rectangle 20">
                <a:extLst>
                  <a:ext uri="{FF2B5EF4-FFF2-40B4-BE49-F238E27FC236}">
                    <a16:creationId xmlns:a16="http://schemas.microsoft.com/office/drawing/2014/main" id="{5BC54ADA-97DF-43AE-9F0F-6AB24DB83B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392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10</a:t>
                </a:r>
              </a:p>
            </p:txBody>
          </p:sp>
          <p:sp>
            <p:nvSpPr>
              <p:cNvPr id="40984" name="Rectangle 21">
                <a:extLst>
                  <a:ext uri="{FF2B5EF4-FFF2-40B4-BE49-F238E27FC236}">
                    <a16:creationId xmlns:a16="http://schemas.microsoft.com/office/drawing/2014/main" id="{EB8237E3-A929-42DD-88C9-D3F972CE36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392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11</a:t>
                </a:r>
              </a:p>
            </p:txBody>
          </p:sp>
          <p:sp>
            <p:nvSpPr>
              <p:cNvPr id="40985" name="Rectangle 22">
                <a:extLst>
                  <a:ext uri="{FF2B5EF4-FFF2-40B4-BE49-F238E27FC236}">
                    <a16:creationId xmlns:a16="http://schemas.microsoft.com/office/drawing/2014/main" id="{F4D9613F-B62B-4056-B437-AFF6E58338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680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12</a:t>
                </a:r>
              </a:p>
            </p:txBody>
          </p:sp>
          <p:sp>
            <p:nvSpPr>
              <p:cNvPr id="40986" name="Rectangle 23">
                <a:extLst>
                  <a:ext uri="{FF2B5EF4-FFF2-40B4-BE49-F238E27FC236}">
                    <a16:creationId xmlns:a16="http://schemas.microsoft.com/office/drawing/2014/main" id="{AD66CF36-F491-448B-A6CB-1BA6940D5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1680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13</a:t>
                </a:r>
              </a:p>
            </p:txBody>
          </p:sp>
          <p:sp>
            <p:nvSpPr>
              <p:cNvPr id="40987" name="Rectangle 24">
                <a:extLst>
                  <a:ext uri="{FF2B5EF4-FFF2-40B4-BE49-F238E27FC236}">
                    <a16:creationId xmlns:a16="http://schemas.microsoft.com/office/drawing/2014/main" id="{6AD1C129-4F0A-4550-BFC8-3985017155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680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14</a:t>
                </a:r>
              </a:p>
            </p:txBody>
          </p:sp>
          <p:sp>
            <p:nvSpPr>
              <p:cNvPr id="40988" name="Rectangle 25">
                <a:extLst>
                  <a:ext uri="{FF2B5EF4-FFF2-40B4-BE49-F238E27FC236}">
                    <a16:creationId xmlns:a16="http://schemas.microsoft.com/office/drawing/2014/main" id="{D75D1998-7490-4C30-8168-11BDDBA13D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680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15</a:t>
                </a:r>
              </a:p>
            </p:txBody>
          </p:sp>
          <p:sp>
            <p:nvSpPr>
              <p:cNvPr id="40989" name="Rectangle 26">
                <a:extLst>
                  <a:ext uri="{FF2B5EF4-FFF2-40B4-BE49-F238E27FC236}">
                    <a16:creationId xmlns:a16="http://schemas.microsoft.com/office/drawing/2014/main" id="{77C29120-53D3-4ABF-92D3-89F67D2CFB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968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16</a:t>
                </a:r>
              </a:p>
            </p:txBody>
          </p:sp>
          <p:sp>
            <p:nvSpPr>
              <p:cNvPr id="40990" name="Rectangle 27">
                <a:extLst>
                  <a:ext uri="{FF2B5EF4-FFF2-40B4-BE49-F238E27FC236}">
                    <a16:creationId xmlns:a16="http://schemas.microsoft.com/office/drawing/2014/main" id="{3434A6DD-EC83-4580-84DB-97F63239A2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1968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17</a:t>
                </a:r>
              </a:p>
            </p:txBody>
          </p:sp>
          <p:sp>
            <p:nvSpPr>
              <p:cNvPr id="40991" name="Rectangle 28">
                <a:extLst>
                  <a:ext uri="{FF2B5EF4-FFF2-40B4-BE49-F238E27FC236}">
                    <a16:creationId xmlns:a16="http://schemas.microsoft.com/office/drawing/2014/main" id="{149C99B4-3FCA-4373-9584-29D38C580C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1968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18</a:t>
                </a:r>
              </a:p>
            </p:txBody>
          </p:sp>
          <p:sp>
            <p:nvSpPr>
              <p:cNvPr id="40992" name="Rectangle 29">
                <a:extLst>
                  <a:ext uri="{FF2B5EF4-FFF2-40B4-BE49-F238E27FC236}">
                    <a16:creationId xmlns:a16="http://schemas.microsoft.com/office/drawing/2014/main" id="{AB094023-DF63-4ED9-9E1B-855E6C3DEE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1968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19</a:t>
                </a:r>
              </a:p>
            </p:txBody>
          </p:sp>
          <p:sp>
            <p:nvSpPr>
              <p:cNvPr id="40993" name="Rectangle 30">
                <a:extLst>
                  <a:ext uri="{FF2B5EF4-FFF2-40B4-BE49-F238E27FC236}">
                    <a16:creationId xmlns:a16="http://schemas.microsoft.com/office/drawing/2014/main" id="{123ADDEC-C5FC-4D86-AE60-F4B8807406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256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20</a:t>
                </a:r>
              </a:p>
            </p:txBody>
          </p:sp>
          <p:sp>
            <p:nvSpPr>
              <p:cNvPr id="40994" name="Rectangle 31">
                <a:extLst>
                  <a:ext uri="{FF2B5EF4-FFF2-40B4-BE49-F238E27FC236}">
                    <a16:creationId xmlns:a16="http://schemas.microsoft.com/office/drawing/2014/main" id="{11BE1FCA-1931-45DC-92EC-7F696BFF83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256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21</a:t>
                </a:r>
              </a:p>
            </p:txBody>
          </p:sp>
          <p:sp>
            <p:nvSpPr>
              <p:cNvPr id="40995" name="Rectangle 32">
                <a:extLst>
                  <a:ext uri="{FF2B5EF4-FFF2-40B4-BE49-F238E27FC236}">
                    <a16:creationId xmlns:a16="http://schemas.microsoft.com/office/drawing/2014/main" id="{D88BC337-6E05-4674-8FE3-2B97A00F1D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256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22</a:t>
                </a:r>
              </a:p>
            </p:txBody>
          </p:sp>
          <p:sp>
            <p:nvSpPr>
              <p:cNvPr id="40996" name="Rectangle 33">
                <a:extLst>
                  <a:ext uri="{FF2B5EF4-FFF2-40B4-BE49-F238E27FC236}">
                    <a16:creationId xmlns:a16="http://schemas.microsoft.com/office/drawing/2014/main" id="{467AD6ED-665F-46B6-9702-BE5CC47EB7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2256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23</a:t>
                </a:r>
              </a:p>
            </p:txBody>
          </p:sp>
          <p:sp>
            <p:nvSpPr>
              <p:cNvPr id="40997" name="Rectangle 34">
                <a:extLst>
                  <a:ext uri="{FF2B5EF4-FFF2-40B4-BE49-F238E27FC236}">
                    <a16:creationId xmlns:a16="http://schemas.microsoft.com/office/drawing/2014/main" id="{BFEF7215-2E15-4037-A080-98B6A5F3CD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544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24</a:t>
                </a:r>
              </a:p>
            </p:txBody>
          </p:sp>
          <p:sp>
            <p:nvSpPr>
              <p:cNvPr id="40998" name="Rectangle 35">
                <a:extLst>
                  <a:ext uri="{FF2B5EF4-FFF2-40B4-BE49-F238E27FC236}">
                    <a16:creationId xmlns:a16="http://schemas.microsoft.com/office/drawing/2014/main" id="{056A6D51-DA2E-4780-A541-06C206D90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544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25</a:t>
                </a:r>
              </a:p>
            </p:txBody>
          </p:sp>
          <p:sp>
            <p:nvSpPr>
              <p:cNvPr id="40999" name="Rectangle 36">
                <a:extLst>
                  <a:ext uri="{FF2B5EF4-FFF2-40B4-BE49-F238E27FC236}">
                    <a16:creationId xmlns:a16="http://schemas.microsoft.com/office/drawing/2014/main" id="{AF290E8A-D2C3-44EF-9DD0-9CED5C58D6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544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26</a:t>
                </a:r>
              </a:p>
            </p:txBody>
          </p:sp>
          <p:sp>
            <p:nvSpPr>
              <p:cNvPr id="41000" name="Rectangle 37">
                <a:extLst>
                  <a:ext uri="{FF2B5EF4-FFF2-40B4-BE49-F238E27FC236}">
                    <a16:creationId xmlns:a16="http://schemas.microsoft.com/office/drawing/2014/main" id="{0802DAFC-F159-44DF-8EC1-A38EB1F60D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2544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27</a:t>
                </a:r>
              </a:p>
            </p:txBody>
          </p:sp>
          <p:sp>
            <p:nvSpPr>
              <p:cNvPr id="41001" name="Rectangle 38">
                <a:extLst>
                  <a:ext uri="{FF2B5EF4-FFF2-40B4-BE49-F238E27FC236}">
                    <a16:creationId xmlns:a16="http://schemas.microsoft.com/office/drawing/2014/main" id="{066C2EC1-EB3D-450F-A1E9-E05914A8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2832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28</a:t>
                </a:r>
              </a:p>
            </p:txBody>
          </p:sp>
          <p:sp>
            <p:nvSpPr>
              <p:cNvPr id="41002" name="Rectangle 39">
                <a:extLst>
                  <a:ext uri="{FF2B5EF4-FFF2-40B4-BE49-F238E27FC236}">
                    <a16:creationId xmlns:a16="http://schemas.microsoft.com/office/drawing/2014/main" id="{E696099C-5E37-4728-B742-B8B7480AD3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832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29</a:t>
                </a:r>
              </a:p>
            </p:txBody>
          </p:sp>
          <p:sp>
            <p:nvSpPr>
              <p:cNvPr id="41003" name="Rectangle 40">
                <a:extLst>
                  <a:ext uri="{FF2B5EF4-FFF2-40B4-BE49-F238E27FC236}">
                    <a16:creationId xmlns:a16="http://schemas.microsoft.com/office/drawing/2014/main" id="{62B430BB-6EF9-4917-B202-A657AC1565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832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30</a:t>
                </a:r>
              </a:p>
            </p:txBody>
          </p:sp>
          <p:sp>
            <p:nvSpPr>
              <p:cNvPr id="41004" name="Rectangle 41">
                <a:extLst>
                  <a:ext uri="{FF2B5EF4-FFF2-40B4-BE49-F238E27FC236}">
                    <a16:creationId xmlns:a16="http://schemas.microsoft.com/office/drawing/2014/main" id="{07FA308F-274D-4B60-8EC7-9EE7B57117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2" y="2832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1800">
                    <a:solidFill>
                      <a:srgbClr val="006600"/>
                    </a:solidFill>
                    <a:latin typeface="Times New Roman" panose="02020603050405020304" pitchFamily="18" charset="0"/>
                  </a:rPr>
                  <a:t>31</a:t>
                </a:r>
              </a:p>
            </p:txBody>
          </p:sp>
        </p:grpSp>
        <p:sp>
          <p:nvSpPr>
            <p:cNvPr id="40967" name="AutoShape 42">
              <a:extLst>
                <a:ext uri="{FF2B5EF4-FFF2-40B4-BE49-F238E27FC236}">
                  <a16:creationId xmlns:a16="http://schemas.microsoft.com/office/drawing/2014/main" id="{41EC9E1D-1128-48C1-88B4-7AD29451D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2" y="900"/>
              <a:ext cx="1488" cy="3120"/>
            </a:xfrm>
            <a:prstGeom prst="can">
              <a:avLst>
                <a:gd name="adj" fmla="val 27219"/>
              </a:avLst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40968" name="Text Box 43">
              <a:extLst>
                <a:ext uri="{FF2B5EF4-FFF2-40B4-BE49-F238E27FC236}">
                  <a16:creationId xmlns:a16="http://schemas.microsoft.com/office/drawing/2014/main" id="{D6E4CE9E-C00F-4B57-8114-D1CB4E33B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84" y="1284"/>
              <a:ext cx="54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6600"/>
                  </a:solidFill>
                  <a:latin typeface="Times New Roman" panose="02020603050405020304" pitchFamily="18" charset="0"/>
                </a:rPr>
                <a:t>count</a:t>
              </a:r>
            </a:p>
          </p:txBody>
        </p:sp>
        <p:sp>
          <p:nvSpPr>
            <p:cNvPr id="40969" name="Text Box 44">
              <a:extLst>
                <a:ext uri="{FF2B5EF4-FFF2-40B4-BE49-F238E27FC236}">
                  <a16:creationId xmlns:a16="http://schemas.microsoft.com/office/drawing/2014/main" id="{1B339DE5-A4A0-4F97-8D96-D5D85675C1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6" y="1620"/>
              <a:ext cx="144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66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40970" name="Text Box 45">
              <a:extLst>
                <a:ext uri="{FF2B5EF4-FFF2-40B4-BE49-F238E27FC236}">
                  <a16:creationId xmlns:a16="http://schemas.microsoft.com/office/drawing/2014/main" id="{62187659-85BF-43A8-9A9F-2B1330ACA1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6" y="2186"/>
              <a:ext cx="24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6600"/>
                  </a:solidFill>
                  <a:latin typeface="Times New Roman" panose="02020603050405020304" pitchFamily="18" charset="0"/>
                </a:rPr>
                <a:t>tr</a:t>
              </a:r>
            </a:p>
          </p:txBody>
        </p:sp>
        <p:sp>
          <p:nvSpPr>
            <p:cNvPr id="40971" name="Text Box 46">
              <a:extLst>
                <a:ext uri="{FF2B5EF4-FFF2-40B4-BE49-F238E27FC236}">
                  <a16:creationId xmlns:a16="http://schemas.microsoft.com/office/drawing/2014/main" id="{918743AD-D659-4CFF-8FBB-DAE4C939E7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0" y="2474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006600"/>
                  </a:solidFill>
                  <a:latin typeface="Times New Roman" panose="02020603050405020304" pitchFamily="18" charset="0"/>
                </a:rPr>
                <a:t>mail</a:t>
              </a:r>
            </a:p>
          </p:txBody>
        </p:sp>
        <p:sp>
          <p:nvSpPr>
            <p:cNvPr id="40972" name="Text Box 47">
              <a:extLst>
                <a:ext uri="{FF2B5EF4-FFF2-40B4-BE49-F238E27FC236}">
                  <a16:creationId xmlns:a16="http://schemas.microsoft.com/office/drawing/2014/main" id="{E35D0926-D862-48AC-B0FB-898506CA2A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4" y="3326"/>
              <a:ext cx="4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006600"/>
                  </a:solidFill>
                  <a:latin typeface="Times New Roman" panose="02020603050405020304" pitchFamily="18" charset="0"/>
                </a:rPr>
                <a:t>list</a:t>
              </a:r>
            </a:p>
          </p:txBody>
        </p:sp>
      </p:grpSp>
      <p:sp>
        <p:nvSpPr>
          <p:cNvPr id="40964" name="Rectangle 48">
            <a:extLst>
              <a:ext uri="{FF2B5EF4-FFF2-40B4-BE49-F238E27FC236}">
                <a16:creationId xmlns:a16="http://schemas.microsoft.com/office/drawing/2014/main" id="{7BA14A52-0141-4772-BFF0-48DB3FC888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49500" y="606458"/>
            <a:ext cx="7772400" cy="673034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连续文件</a:t>
            </a:r>
          </a:p>
        </p:txBody>
      </p:sp>
      <p:sp>
        <p:nvSpPr>
          <p:cNvPr id="51" name="灯片编号占位符 1">
            <a:extLst>
              <a:ext uri="{FF2B5EF4-FFF2-40B4-BE49-F238E27FC236}">
                <a16:creationId xmlns:a16="http://schemas.microsoft.com/office/drawing/2014/main" id="{96E8C5A0-7994-4AB2-8900-56DAB78F9E24}"/>
              </a:ext>
            </a:extLst>
          </p:cNvPr>
          <p:cNvSpPr txBox="1">
            <a:spLocks/>
          </p:cNvSpPr>
          <p:nvPr/>
        </p:nvSpPr>
        <p:spPr bwMode="auto">
          <a:xfrm>
            <a:off x="10189963" y="6357015"/>
            <a:ext cx="73057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25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25E122A-AA1E-E7A2-7D7E-8A552DF5AE10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63552" y="412927"/>
            <a:ext cx="7543800" cy="858837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文件结构</a:t>
            </a:r>
            <a:endParaRPr lang="zh-CN" altLang="en-US" dirty="0"/>
          </a:p>
        </p:txBody>
      </p:sp>
      <p:sp>
        <p:nvSpPr>
          <p:cNvPr id="16386" name="Rectangle 2"/>
          <p:cNvSpPr>
            <a:spLocks noGrp="1" noChangeArrowheads="1"/>
          </p:cNvSpPr>
          <p:nvPr>
            <p:ph idx="1"/>
          </p:nvPr>
        </p:nvSpPr>
        <p:spPr>
          <a:xfrm>
            <a:off x="1199456" y="1105570"/>
            <a:ext cx="9865096" cy="3043510"/>
          </a:xfrm>
          <a:noFill/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2600" dirty="0"/>
              <a:t>2. </a:t>
            </a:r>
            <a:r>
              <a:rPr lang="zh-CN" altLang="en-US" sz="2600" dirty="0">
                <a:solidFill>
                  <a:srgbClr val="FF9900"/>
                </a:solidFill>
              </a:rPr>
              <a:t>串联方式</a:t>
            </a:r>
          </a:p>
          <a:p>
            <a:pPr marL="0" indent="0" eaLnBrk="1" hangingPunct="1">
              <a:buNone/>
            </a:pPr>
            <a:r>
              <a:rPr lang="zh-CN" altLang="en-US" sz="2600" dirty="0"/>
              <a:t>串联方式的结构</a:t>
            </a:r>
            <a:r>
              <a:rPr lang="zh-CN" altLang="en-US" sz="2600" dirty="0">
                <a:solidFill>
                  <a:srgbClr val="0000CC"/>
                </a:solidFill>
              </a:rPr>
              <a:t>采用链表</a:t>
            </a:r>
            <a:r>
              <a:rPr lang="zh-CN" altLang="en-US" sz="2600" dirty="0"/>
              <a:t>来实现，每一个物理块分为两个部分，</a:t>
            </a:r>
            <a:r>
              <a:rPr lang="zh-CN" altLang="en-US" sz="2600" dirty="0">
                <a:solidFill>
                  <a:srgbClr val="0000CC"/>
                </a:solidFill>
              </a:rPr>
              <a:t>一部分</a:t>
            </a:r>
            <a:r>
              <a:rPr lang="zh-CN" altLang="en-US" sz="2600" dirty="0"/>
              <a:t>用于</a:t>
            </a:r>
            <a:r>
              <a:rPr lang="zh-CN" altLang="en-US" sz="2600" dirty="0">
                <a:solidFill>
                  <a:srgbClr val="0000CC"/>
                </a:solidFill>
              </a:rPr>
              <a:t>存放数据</a:t>
            </a:r>
            <a:r>
              <a:rPr lang="zh-CN" altLang="en-US" sz="2600" dirty="0"/>
              <a:t>，另</a:t>
            </a:r>
            <a:r>
              <a:rPr lang="zh-CN" altLang="en-US" sz="2600" dirty="0">
                <a:solidFill>
                  <a:srgbClr val="0000CC"/>
                </a:solidFill>
              </a:rPr>
              <a:t>一部分存放指针</a:t>
            </a:r>
            <a:r>
              <a:rPr lang="zh-CN" altLang="en-US" sz="2600" dirty="0"/>
              <a:t>，指向后续连接的下一个物理块。存放同一个文件的物理块不需要连续。如下图所示。这种方法没有连续方式那样的碎片问题，可以实现文件的动态增长，也可以在文件中任何一个部位增加和删除内容。文件的顺序访问也可以方便地实现，但是</a:t>
            </a:r>
            <a:r>
              <a:rPr lang="zh-CN" altLang="en-US" sz="2600" dirty="0">
                <a:solidFill>
                  <a:srgbClr val="993300"/>
                </a:solidFill>
              </a:rPr>
              <a:t>随机访问的实现变得很复杂</a:t>
            </a:r>
            <a:r>
              <a:rPr lang="zh-CN" altLang="en-US" sz="2600" dirty="0"/>
              <a:t>。</a:t>
            </a:r>
          </a:p>
        </p:txBody>
      </p:sp>
      <p:pic>
        <p:nvPicPr>
          <p:cNvPr id="5" name="Picture 3" descr="jc19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32720" y="4042440"/>
            <a:ext cx="6840760" cy="2275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F47B9EE4-C0C0-4C86-85F6-698668DA7B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189963" y="6357015"/>
            <a:ext cx="730573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37972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48F65AB-6CC2-E530-030B-6D2B1C64DCB3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4034" name="Group 2">
            <a:extLst>
              <a:ext uri="{FF2B5EF4-FFF2-40B4-BE49-F238E27FC236}">
                <a16:creationId xmlns:a16="http://schemas.microsoft.com/office/drawing/2014/main" id="{9ECD6D3E-8AF0-4B8A-A645-EFBDF145303B}"/>
              </a:ext>
            </a:extLst>
          </p:cNvPr>
          <p:cNvGrpSpPr>
            <a:grpSpLocks/>
          </p:cNvGrpSpPr>
          <p:nvPr/>
        </p:nvGrpSpPr>
        <p:grpSpPr bwMode="auto">
          <a:xfrm>
            <a:off x="2247900" y="1188908"/>
            <a:ext cx="7696200" cy="5076825"/>
            <a:chOff x="480" y="702"/>
            <a:chExt cx="4704" cy="3408"/>
          </a:xfrm>
        </p:grpSpPr>
        <p:sp>
          <p:nvSpPr>
            <p:cNvPr id="44037" name="AutoShape 3">
              <a:extLst>
                <a:ext uri="{FF2B5EF4-FFF2-40B4-BE49-F238E27FC236}">
                  <a16:creationId xmlns:a16="http://schemas.microsoft.com/office/drawing/2014/main" id="{52143F6F-A491-426F-95B5-612D643373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894"/>
              <a:ext cx="1968" cy="3216"/>
            </a:xfrm>
            <a:prstGeom prst="can">
              <a:avLst>
                <a:gd name="adj" fmla="val 28658"/>
              </a:avLst>
            </a:prstGeom>
            <a:noFill/>
            <a:ln w="28575">
              <a:solidFill>
                <a:srgbClr val="FF99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44038" name="Text Box 4">
              <a:extLst>
                <a:ext uri="{FF2B5EF4-FFF2-40B4-BE49-F238E27FC236}">
                  <a16:creationId xmlns:a16="http://schemas.microsoft.com/office/drawing/2014/main" id="{7F1D3B38-9834-4635-A2C5-704403AB37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097"/>
              <a:ext cx="2016" cy="310"/>
            </a:xfrm>
            <a:prstGeom prst="rect">
              <a:avLst/>
            </a:prstGeom>
            <a:noFill/>
            <a:ln w="2857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文件名     始址     末址</a:t>
              </a:r>
            </a:p>
          </p:txBody>
        </p:sp>
        <p:sp>
          <p:nvSpPr>
            <p:cNvPr id="44039" name="Rectangle 5">
              <a:extLst>
                <a:ext uri="{FF2B5EF4-FFF2-40B4-BE49-F238E27FC236}">
                  <a16:creationId xmlns:a16="http://schemas.microsoft.com/office/drawing/2014/main" id="{5E24063A-7B50-4742-8B9B-A97B2471B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409"/>
              <a:ext cx="2016" cy="432"/>
            </a:xfrm>
            <a:prstGeom prst="rect">
              <a:avLst/>
            </a:prstGeom>
            <a:noFill/>
            <a:ln w="2857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/>
            </a:p>
          </p:txBody>
        </p:sp>
        <p:sp>
          <p:nvSpPr>
            <p:cNvPr id="44040" name="Text Box 6">
              <a:extLst>
                <a:ext uri="{FF2B5EF4-FFF2-40B4-BE49-F238E27FC236}">
                  <a16:creationId xmlns:a16="http://schemas.microsoft.com/office/drawing/2014/main" id="{E6D6B063-83CC-4AC9-ADC8-287EE0F3EF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3" y="1497"/>
              <a:ext cx="1730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jeep         9           25</a:t>
              </a:r>
            </a:p>
          </p:txBody>
        </p:sp>
        <p:sp>
          <p:nvSpPr>
            <p:cNvPr id="44041" name="Text Box 7">
              <a:extLst>
                <a:ext uri="{FF2B5EF4-FFF2-40B4-BE49-F238E27FC236}">
                  <a16:creationId xmlns:a16="http://schemas.microsoft.com/office/drawing/2014/main" id="{8C1C9648-76F6-4CEF-A989-E5924CAE52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702"/>
              <a:ext cx="862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文件目录</a:t>
              </a:r>
            </a:p>
          </p:txBody>
        </p:sp>
        <p:sp>
          <p:nvSpPr>
            <p:cNvPr id="44042" name="Rectangle 8">
              <a:extLst>
                <a:ext uri="{FF2B5EF4-FFF2-40B4-BE49-F238E27FC236}">
                  <a16:creationId xmlns:a16="http://schemas.microsoft.com/office/drawing/2014/main" id="{6A6C2250-D74E-47FB-AB1A-2804C31EE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566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44043" name="Rectangle 9">
              <a:extLst>
                <a:ext uri="{FF2B5EF4-FFF2-40B4-BE49-F238E27FC236}">
                  <a16:creationId xmlns:a16="http://schemas.microsoft.com/office/drawing/2014/main" id="{B65198A8-127A-44CB-A93F-2B65DDF69C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" y="1566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4044" name="Rectangle 10">
              <a:extLst>
                <a:ext uri="{FF2B5EF4-FFF2-40B4-BE49-F238E27FC236}">
                  <a16:creationId xmlns:a16="http://schemas.microsoft.com/office/drawing/2014/main" id="{950C4FEF-A676-4668-B50F-6A36F69BD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5" y="1566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4045" name="Rectangle 11">
              <a:extLst>
                <a:ext uri="{FF2B5EF4-FFF2-40B4-BE49-F238E27FC236}">
                  <a16:creationId xmlns:a16="http://schemas.microsoft.com/office/drawing/2014/main" id="{7D00CA63-14C7-4995-84CA-ECA4EF833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0" y="1566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4046" name="Rectangle 12">
              <a:extLst>
                <a:ext uri="{FF2B5EF4-FFF2-40B4-BE49-F238E27FC236}">
                  <a16:creationId xmlns:a16="http://schemas.microsoft.com/office/drawing/2014/main" id="{8B930A99-4404-4330-B741-8FE2ED76E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1854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44047" name="Rectangle 13">
              <a:extLst>
                <a:ext uri="{FF2B5EF4-FFF2-40B4-BE49-F238E27FC236}">
                  <a16:creationId xmlns:a16="http://schemas.microsoft.com/office/drawing/2014/main" id="{42A43B39-BB97-47A7-99BB-37D222A56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" y="1854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44048" name="Rectangle 14">
              <a:extLst>
                <a:ext uri="{FF2B5EF4-FFF2-40B4-BE49-F238E27FC236}">
                  <a16:creationId xmlns:a16="http://schemas.microsoft.com/office/drawing/2014/main" id="{731B37EE-3F71-4D62-9DBA-4605FCDD7F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5" y="1854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44049" name="Rectangle 15">
              <a:extLst>
                <a:ext uri="{FF2B5EF4-FFF2-40B4-BE49-F238E27FC236}">
                  <a16:creationId xmlns:a16="http://schemas.microsoft.com/office/drawing/2014/main" id="{CBEF03ED-76E9-41F1-9E77-B3F446ACB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0" y="1854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44050" name="Rectangle 16">
              <a:extLst>
                <a:ext uri="{FF2B5EF4-FFF2-40B4-BE49-F238E27FC236}">
                  <a16:creationId xmlns:a16="http://schemas.microsoft.com/office/drawing/2014/main" id="{EEFAEF7B-8BB2-4527-B0A7-B5F93B36F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142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44051" name="Rectangle 17">
              <a:extLst>
                <a:ext uri="{FF2B5EF4-FFF2-40B4-BE49-F238E27FC236}">
                  <a16:creationId xmlns:a16="http://schemas.microsoft.com/office/drawing/2014/main" id="{44290BE3-25C6-427B-8A9A-0E7214358C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" y="2142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44052" name="Rectangle 18">
              <a:extLst>
                <a:ext uri="{FF2B5EF4-FFF2-40B4-BE49-F238E27FC236}">
                  <a16:creationId xmlns:a16="http://schemas.microsoft.com/office/drawing/2014/main" id="{D42DC70C-0D5B-46DE-B688-48F2D3DCE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5" y="2142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44053" name="Rectangle 19">
              <a:extLst>
                <a:ext uri="{FF2B5EF4-FFF2-40B4-BE49-F238E27FC236}">
                  <a16:creationId xmlns:a16="http://schemas.microsoft.com/office/drawing/2014/main" id="{CA0F7A2A-797B-4E31-9A59-B14BFC394A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0" y="2142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11</a:t>
              </a:r>
            </a:p>
          </p:txBody>
        </p:sp>
        <p:sp>
          <p:nvSpPr>
            <p:cNvPr id="44054" name="Rectangle 20">
              <a:extLst>
                <a:ext uri="{FF2B5EF4-FFF2-40B4-BE49-F238E27FC236}">
                  <a16:creationId xmlns:a16="http://schemas.microsoft.com/office/drawing/2014/main" id="{20D51BBA-955B-4F7D-B932-0D9F2EB8BC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430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12</a:t>
              </a:r>
            </a:p>
          </p:txBody>
        </p:sp>
        <p:sp>
          <p:nvSpPr>
            <p:cNvPr id="44055" name="Rectangle 21">
              <a:extLst>
                <a:ext uri="{FF2B5EF4-FFF2-40B4-BE49-F238E27FC236}">
                  <a16:creationId xmlns:a16="http://schemas.microsoft.com/office/drawing/2014/main" id="{671A3641-2B38-42FD-9562-1387E58730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" y="2430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13</a:t>
              </a:r>
            </a:p>
          </p:txBody>
        </p:sp>
        <p:sp>
          <p:nvSpPr>
            <p:cNvPr id="44056" name="Rectangle 22">
              <a:extLst>
                <a:ext uri="{FF2B5EF4-FFF2-40B4-BE49-F238E27FC236}">
                  <a16:creationId xmlns:a16="http://schemas.microsoft.com/office/drawing/2014/main" id="{1C94AE2D-DE22-4E7A-96F2-7CC283236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5" y="2430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14</a:t>
              </a:r>
            </a:p>
          </p:txBody>
        </p:sp>
        <p:sp>
          <p:nvSpPr>
            <p:cNvPr id="44057" name="Rectangle 23">
              <a:extLst>
                <a:ext uri="{FF2B5EF4-FFF2-40B4-BE49-F238E27FC236}">
                  <a16:creationId xmlns:a16="http://schemas.microsoft.com/office/drawing/2014/main" id="{CF412909-5703-4C01-9CA6-9FD4FCCC17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0" y="2430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15</a:t>
              </a:r>
            </a:p>
          </p:txBody>
        </p:sp>
        <p:sp>
          <p:nvSpPr>
            <p:cNvPr id="44058" name="Rectangle 24">
              <a:extLst>
                <a:ext uri="{FF2B5EF4-FFF2-40B4-BE49-F238E27FC236}">
                  <a16:creationId xmlns:a16="http://schemas.microsoft.com/office/drawing/2014/main" id="{EC44A424-86CF-4F27-BFD6-3BEA479DA9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2718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16</a:t>
              </a:r>
            </a:p>
          </p:txBody>
        </p:sp>
        <p:sp>
          <p:nvSpPr>
            <p:cNvPr id="44059" name="Rectangle 25">
              <a:extLst>
                <a:ext uri="{FF2B5EF4-FFF2-40B4-BE49-F238E27FC236}">
                  <a16:creationId xmlns:a16="http://schemas.microsoft.com/office/drawing/2014/main" id="{57E521DB-7466-4C10-986C-5A32D91DC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" y="2718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17</a:t>
              </a:r>
            </a:p>
          </p:txBody>
        </p:sp>
        <p:sp>
          <p:nvSpPr>
            <p:cNvPr id="44060" name="Rectangle 26">
              <a:extLst>
                <a:ext uri="{FF2B5EF4-FFF2-40B4-BE49-F238E27FC236}">
                  <a16:creationId xmlns:a16="http://schemas.microsoft.com/office/drawing/2014/main" id="{79B7E583-CB51-4054-9F99-362EDE8557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5" y="2718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18</a:t>
              </a:r>
            </a:p>
          </p:txBody>
        </p:sp>
        <p:sp>
          <p:nvSpPr>
            <p:cNvPr id="44061" name="Rectangle 27">
              <a:extLst>
                <a:ext uri="{FF2B5EF4-FFF2-40B4-BE49-F238E27FC236}">
                  <a16:creationId xmlns:a16="http://schemas.microsoft.com/office/drawing/2014/main" id="{09986077-AFCE-431D-B348-52C7B23C65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0" y="2718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19</a:t>
              </a:r>
            </a:p>
          </p:txBody>
        </p:sp>
        <p:sp>
          <p:nvSpPr>
            <p:cNvPr id="44062" name="Rectangle 28">
              <a:extLst>
                <a:ext uri="{FF2B5EF4-FFF2-40B4-BE49-F238E27FC236}">
                  <a16:creationId xmlns:a16="http://schemas.microsoft.com/office/drawing/2014/main" id="{50736498-D51A-4019-998A-E31C9289F4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3006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20</a:t>
              </a:r>
            </a:p>
          </p:txBody>
        </p:sp>
        <p:sp>
          <p:nvSpPr>
            <p:cNvPr id="44063" name="Rectangle 29">
              <a:extLst>
                <a:ext uri="{FF2B5EF4-FFF2-40B4-BE49-F238E27FC236}">
                  <a16:creationId xmlns:a16="http://schemas.microsoft.com/office/drawing/2014/main" id="{2B0BDE43-4DB7-4162-B086-494FDD8E3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" y="3006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21</a:t>
              </a:r>
            </a:p>
          </p:txBody>
        </p:sp>
        <p:sp>
          <p:nvSpPr>
            <p:cNvPr id="44064" name="Rectangle 30">
              <a:extLst>
                <a:ext uri="{FF2B5EF4-FFF2-40B4-BE49-F238E27FC236}">
                  <a16:creationId xmlns:a16="http://schemas.microsoft.com/office/drawing/2014/main" id="{C815AAD5-9946-4711-989B-365413C91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5" y="3006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22</a:t>
              </a:r>
            </a:p>
          </p:txBody>
        </p:sp>
        <p:sp>
          <p:nvSpPr>
            <p:cNvPr id="44065" name="Rectangle 31">
              <a:extLst>
                <a:ext uri="{FF2B5EF4-FFF2-40B4-BE49-F238E27FC236}">
                  <a16:creationId xmlns:a16="http://schemas.microsoft.com/office/drawing/2014/main" id="{7A08A922-A13A-4D50-95DA-1370BE6CF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0" y="3006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23</a:t>
              </a:r>
            </a:p>
          </p:txBody>
        </p:sp>
        <p:sp>
          <p:nvSpPr>
            <p:cNvPr id="44066" name="Rectangle 32">
              <a:extLst>
                <a:ext uri="{FF2B5EF4-FFF2-40B4-BE49-F238E27FC236}">
                  <a16:creationId xmlns:a16="http://schemas.microsoft.com/office/drawing/2014/main" id="{BEE7882E-A43D-407B-83C2-998DF6DBC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3294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24</a:t>
              </a:r>
            </a:p>
          </p:txBody>
        </p:sp>
        <p:sp>
          <p:nvSpPr>
            <p:cNvPr id="44067" name="Rectangle 33">
              <a:extLst>
                <a:ext uri="{FF2B5EF4-FFF2-40B4-BE49-F238E27FC236}">
                  <a16:creationId xmlns:a16="http://schemas.microsoft.com/office/drawing/2014/main" id="{3596C534-EBF9-41C6-A4C2-FC70D7A75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" y="3294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25</a:t>
              </a:r>
            </a:p>
          </p:txBody>
        </p:sp>
        <p:sp>
          <p:nvSpPr>
            <p:cNvPr id="44068" name="Rectangle 34">
              <a:extLst>
                <a:ext uri="{FF2B5EF4-FFF2-40B4-BE49-F238E27FC236}">
                  <a16:creationId xmlns:a16="http://schemas.microsoft.com/office/drawing/2014/main" id="{A53D140C-376D-4230-93DC-6C4BBE971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5" y="3294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26</a:t>
              </a:r>
            </a:p>
          </p:txBody>
        </p:sp>
        <p:sp>
          <p:nvSpPr>
            <p:cNvPr id="44069" name="Rectangle 35">
              <a:extLst>
                <a:ext uri="{FF2B5EF4-FFF2-40B4-BE49-F238E27FC236}">
                  <a16:creationId xmlns:a16="http://schemas.microsoft.com/office/drawing/2014/main" id="{7BC903F6-055B-46A1-8071-164716A02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0" y="3294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27</a:t>
              </a:r>
            </a:p>
          </p:txBody>
        </p:sp>
        <p:sp>
          <p:nvSpPr>
            <p:cNvPr id="44070" name="Rectangle 36">
              <a:extLst>
                <a:ext uri="{FF2B5EF4-FFF2-40B4-BE49-F238E27FC236}">
                  <a16:creationId xmlns:a16="http://schemas.microsoft.com/office/drawing/2014/main" id="{FA12EDB1-D881-4066-854A-24CE7F966E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3582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28</a:t>
              </a:r>
            </a:p>
          </p:txBody>
        </p:sp>
        <p:sp>
          <p:nvSpPr>
            <p:cNvPr id="44071" name="Rectangle 37">
              <a:extLst>
                <a:ext uri="{FF2B5EF4-FFF2-40B4-BE49-F238E27FC236}">
                  <a16:creationId xmlns:a16="http://schemas.microsoft.com/office/drawing/2014/main" id="{192031DD-E680-48A5-91AB-F9DCACBFD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" y="3582"/>
              <a:ext cx="276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29</a:t>
              </a:r>
            </a:p>
          </p:txBody>
        </p:sp>
        <p:sp>
          <p:nvSpPr>
            <p:cNvPr id="44072" name="Rectangle 38">
              <a:extLst>
                <a:ext uri="{FF2B5EF4-FFF2-40B4-BE49-F238E27FC236}">
                  <a16:creationId xmlns:a16="http://schemas.microsoft.com/office/drawing/2014/main" id="{E9AD77E8-8C93-40B2-A42B-5B34CCE1BD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5" y="3582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30</a:t>
              </a:r>
            </a:p>
          </p:txBody>
        </p:sp>
        <p:sp>
          <p:nvSpPr>
            <p:cNvPr id="44073" name="Rectangle 39">
              <a:extLst>
                <a:ext uri="{FF2B5EF4-FFF2-40B4-BE49-F238E27FC236}">
                  <a16:creationId xmlns:a16="http://schemas.microsoft.com/office/drawing/2014/main" id="{6AE3D3EB-2976-4A2D-9E90-C1C0BA5C2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0" y="3582"/>
              <a:ext cx="277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31</a:t>
              </a:r>
            </a:p>
          </p:txBody>
        </p:sp>
        <p:sp>
          <p:nvSpPr>
            <p:cNvPr id="44074" name="Rectangle 40">
              <a:extLst>
                <a:ext uri="{FF2B5EF4-FFF2-40B4-BE49-F238E27FC236}">
                  <a16:creationId xmlns:a16="http://schemas.microsoft.com/office/drawing/2014/main" id="{6F4AC8BD-4CD4-4B52-B95A-49921DF2E1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566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44075" name="Rectangle 41">
              <a:extLst>
                <a:ext uri="{FF2B5EF4-FFF2-40B4-BE49-F238E27FC236}">
                  <a16:creationId xmlns:a16="http://schemas.microsoft.com/office/drawing/2014/main" id="{B0905CF4-D378-409D-9548-0BA318A0C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854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44076" name="Rectangle 42">
              <a:extLst>
                <a:ext uri="{FF2B5EF4-FFF2-40B4-BE49-F238E27FC236}">
                  <a16:creationId xmlns:a16="http://schemas.microsoft.com/office/drawing/2014/main" id="{E8DCF3E0-0E0F-40EF-B6F1-DEF144770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142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44077" name="Rectangle 43">
              <a:extLst>
                <a:ext uri="{FF2B5EF4-FFF2-40B4-BE49-F238E27FC236}">
                  <a16:creationId xmlns:a16="http://schemas.microsoft.com/office/drawing/2014/main" id="{BC25254E-15EC-475F-B0A8-4781D68D1D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430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44078" name="Rectangle 44">
              <a:extLst>
                <a:ext uri="{FF2B5EF4-FFF2-40B4-BE49-F238E27FC236}">
                  <a16:creationId xmlns:a16="http://schemas.microsoft.com/office/drawing/2014/main" id="{6143E760-E4D0-40DA-837F-DADCBA273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718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4079" name="Rectangle 45">
              <a:extLst>
                <a:ext uri="{FF2B5EF4-FFF2-40B4-BE49-F238E27FC236}">
                  <a16:creationId xmlns:a16="http://schemas.microsoft.com/office/drawing/2014/main" id="{A0AB874D-883D-41B0-B29B-689ABAA8E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006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44080" name="Rectangle 46">
              <a:extLst>
                <a:ext uri="{FF2B5EF4-FFF2-40B4-BE49-F238E27FC236}">
                  <a16:creationId xmlns:a16="http://schemas.microsoft.com/office/drawing/2014/main" id="{9D9DE4D9-D372-4C06-95E0-672BD59C9A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294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44081" name="Rectangle 47">
              <a:extLst>
                <a:ext uri="{FF2B5EF4-FFF2-40B4-BE49-F238E27FC236}">
                  <a16:creationId xmlns:a16="http://schemas.microsoft.com/office/drawing/2014/main" id="{7F889B1A-22BD-439A-AE0C-9F66D6E59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582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44082" name="Rectangle 48">
              <a:extLst>
                <a:ext uri="{FF2B5EF4-FFF2-40B4-BE49-F238E27FC236}">
                  <a16:creationId xmlns:a16="http://schemas.microsoft.com/office/drawing/2014/main" id="{B0938D93-E306-49BB-B976-27277C307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566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44083" name="Rectangle 49">
              <a:extLst>
                <a:ext uri="{FF2B5EF4-FFF2-40B4-BE49-F238E27FC236}">
                  <a16:creationId xmlns:a16="http://schemas.microsoft.com/office/drawing/2014/main" id="{D89B364C-CE67-4FCE-95C4-91D2F9050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854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44084" name="Rectangle 50">
              <a:extLst>
                <a:ext uri="{FF2B5EF4-FFF2-40B4-BE49-F238E27FC236}">
                  <a16:creationId xmlns:a16="http://schemas.microsoft.com/office/drawing/2014/main" id="{EB312021-A26C-4BD6-B4E3-1BEDC84922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142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16</a:t>
              </a:r>
            </a:p>
          </p:txBody>
        </p:sp>
        <p:sp>
          <p:nvSpPr>
            <p:cNvPr id="44085" name="Rectangle 51">
              <a:extLst>
                <a:ext uri="{FF2B5EF4-FFF2-40B4-BE49-F238E27FC236}">
                  <a16:creationId xmlns:a16="http://schemas.microsoft.com/office/drawing/2014/main" id="{6789206F-D7B5-4D15-810F-9096D7978B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430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44086" name="Rectangle 52">
              <a:extLst>
                <a:ext uri="{FF2B5EF4-FFF2-40B4-BE49-F238E27FC236}">
                  <a16:creationId xmlns:a16="http://schemas.microsoft.com/office/drawing/2014/main" id="{29349334-E611-4584-AA4C-B7E603B7B3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718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44087" name="Rectangle 53">
              <a:extLst>
                <a:ext uri="{FF2B5EF4-FFF2-40B4-BE49-F238E27FC236}">
                  <a16:creationId xmlns:a16="http://schemas.microsoft.com/office/drawing/2014/main" id="{D18BEAAD-760D-476F-A94B-9D7E00621A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006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44088" name="Rectangle 54">
              <a:extLst>
                <a:ext uri="{FF2B5EF4-FFF2-40B4-BE49-F238E27FC236}">
                  <a16:creationId xmlns:a16="http://schemas.microsoft.com/office/drawing/2014/main" id="{C14A429C-055F-4FD9-9169-54756C84F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294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44089" name="Rectangle 55">
              <a:extLst>
                <a:ext uri="{FF2B5EF4-FFF2-40B4-BE49-F238E27FC236}">
                  <a16:creationId xmlns:a16="http://schemas.microsoft.com/office/drawing/2014/main" id="{79FF07D8-4054-4648-B399-CA7A56EC27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582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44090" name="Rectangle 56">
              <a:extLst>
                <a:ext uri="{FF2B5EF4-FFF2-40B4-BE49-F238E27FC236}">
                  <a16:creationId xmlns:a16="http://schemas.microsoft.com/office/drawing/2014/main" id="{6F70D122-8A19-4070-AB39-4694B67502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566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44091" name="Rectangle 57">
              <a:extLst>
                <a:ext uri="{FF2B5EF4-FFF2-40B4-BE49-F238E27FC236}">
                  <a16:creationId xmlns:a16="http://schemas.microsoft.com/office/drawing/2014/main" id="{D028FA1B-41DC-4336-B492-03FBCA9DF9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1854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44092" name="Rectangle 58">
              <a:extLst>
                <a:ext uri="{FF2B5EF4-FFF2-40B4-BE49-F238E27FC236}">
                  <a16:creationId xmlns:a16="http://schemas.microsoft.com/office/drawing/2014/main" id="{0E245248-305D-4052-9A63-38FC9A346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142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Times New Roman" panose="02020603050405020304" pitchFamily="18" charset="0"/>
                </a:rPr>
                <a:t>25</a:t>
              </a:r>
            </a:p>
          </p:txBody>
        </p:sp>
        <p:sp>
          <p:nvSpPr>
            <p:cNvPr id="44093" name="Rectangle 59">
              <a:extLst>
                <a:ext uri="{FF2B5EF4-FFF2-40B4-BE49-F238E27FC236}">
                  <a16:creationId xmlns:a16="http://schemas.microsoft.com/office/drawing/2014/main" id="{675000A1-8477-407A-9B79-490DC36CF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430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44094" name="Rectangle 60">
              <a:extLst>
                <a:ext uri="{FF2B5EF4-FFF2-40B4-BE49-F238E27FC236}">
                  <a16:creationId xmlns:a16="http://schemas.microsoft.com/office/drawing/2014/main" id="{D18B23B9-C08A-46F3-BEDB-98A4C8E20F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718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44095" name="Rectangle 61">
              <a:extLst>
                <a:ext uri="{FF2B5EF4-FFF2-40B4-BE49-F238E27FC236}">
                  <a16:creationId xmlns:a16="http://schemas.microsoft.com/office/drawing/2014/main" id="{234EF9B9-D890-42F7-9AD0-97E37FA45C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006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44096" name="Rectangle 62">
              <a:extLst>
                <a:ext uri="{FF2B5EF4-FFF2-40B4-BE49-F238E27FC236}">
                  <a16:creationId xmlns:a16="http://schemas.microsoft.com/office/drawing/2014/main" id="{54894EE6-FF16-4708-9270-E455BED8A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294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44097" name="Rectangle 63">
              <a:extLst>
                <a:ext uri="{FF2B5EF4-FFF2-40B4-BE49-F238E27FC236}">
                  <a16:creationId xmlns:a16="http://schemas.microsoft.com/office/drawing/2014/main" id="{736AB23E-6C02-4B43-A7E6-D93BACE14C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582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44098" name="Rectangle 64">
              <a:extLst>
                <a:ext uri="{FF2B5EF4-FFF2-40B4-BE49-F238E27FC236}">
                  <a16:creationId xmlns:a16="http://schemas.microsoft.com/office/drawing/2014/main" id="{9DE3C539-93B5-4216-BFB8-8AD8C6EE3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566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44099" name="Rectangle 65">
              <a:extLst>
                <a:ext uri="{FF2B5EF4-FFF2-40B4-BE49-F238E27FC236}">
                  <a16:creationId xmlns:a16="http://schemas.microsoft.com/office/drawing/2014/main" id="{7818888D-B0BE-4348-8DCF-3F61CE19FF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854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44100" name="Rectangle 66">
              <a:extLst>
                <a:ext uri="{FF2B5EF4-FFF2-40B4-BE49-F238E27FC236}">
                  <a16:creationId xmlns:a16="http://schemas.microsoft.com/office/drawing/2014/main" id="{8203A7AB-DAE1-41A0-BACD-11482948F8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142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44101" name="Rectangle 67">
              <a:extLst>
                <a:ext uri="{FF2B5EF4-FFF2-40B4-BE49-F238E27FC236}">
                  <a16:creationId xmlns:a16="http://schemas.microsoft.com/office/drawing/2014/main" id="{6DDB8EB8-277C-41EC-8AEB-8A6F61DAB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430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44102" name="Rectangle 68">
              <a:extLst>
                <a:ext uri="{FF2B5EF4-FFF2-40B4-BE49-F238E27FC236}">
                  <a16:creationId xmlns:a16="http://schemas.microsoft.com/office/drawing/2014/main" id="{D8DD2B98-DEC3-40EE-9B82-67AA0149C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718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44103" name="Rectangle 69">
              <a:extLst>
                <a:ext uri="{FF2B5EF4-FFF2-40B4-BE49-F238E27FC236}">
                  <a16:creationId xmlns:a16="http://schemas.microsoft.com/office/drawing/2014/main" id="{1E5D876E-2EB2-47B1-90A2-EB9A7AD3D2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006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44104" name="Rectangle 70">
              <a:extLst>
                <a:ext uri="{FF2B5EF4-FFF2-40B4-BE49-F238E27FC236}">
                  <a16:creationId xmlns:a16="http://schemas.microsoft.com/office/drawing/2014/main" id="{EFD29F26-1BAC-4306-AF17-2F750006C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294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44105" name="Rectangle 71">
              <a:extLst>
                <a:ext uri="{FF2B5EF4-FFF2-40B4-BE49-F238E27FC236}">
                  <a16:creationId xmlns:a16="http://schemas.microsoft.com/office/drawing/2014/main" id="{2905592A-DDA4-484B-A8BD-982A925C5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582"/>
              <a:ext cx="192" cy="144"/>
            </a:xfrm>
            <a:prstGeom prst="rect">
              <a:avLst/>
            </a:prstGeom>
            <a:noFill/>
            <a:ln w="9525">
              <a:solidFill>
                <a:srgbClr val="FF9999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  <p:sp>
          <p:nvSpPr>
            <p:cNvPr id="44106" name="Line 72">
              <a:extLst>
                <a:ext uri="{FF2B5EF4-FFF2-40B4-BE49-F238E27FC236}">
                  <a16:creationId xmlns:a16="http://schemas.microsoft.com/office/drawing/2014/main" id="{04FD7BE9-7B89-49C6-8DBD-103CE2B192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758"/>
              <a:ext cx="0" cy="288"/>
            </a:xfrm>
            <a:prstGeom prst="line">
              <a:avLst/>
            </a:prstGeom>
            <a:noFill/>
            <a:ln w="28575">
              <a:solidFill>
                <a:srgbClr val="FF99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7" name="Line 73">
              <a:extLst>
                <a:ext uri="{FF2B5EF4-FFF2-40B4-BE49-F238E27FC236}">
                  <a16:creationId xmlns:a16="http://schemas.microsoft.com/office/drawing/2014/main" id="{5571F43E-9A4B-468A-9660-68C2DA22B0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046"/>
              <a:ext cx="2640" cy="0"/>
            </a:xfrm>
            <a:prstGeom prst="line">
              <a:avLst/>
            </a:prstGeom>
            <a:noFill/>
            <a:ln w="28575">
              <a:solidFill>
                <a:srgbClr val="FF99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8" name="Line 74">
              <a:extLst>
                <a:ext uri="{FF2B5EF4-FFF2-40B4-BE49-F238E27FC236}">
                  <a16:creationId xmlns:a16="http://schemas.microsoft.com/office/drawing/2014/main" id="{AFAEC3A7-AF6C-4FC3-8714-B69C6942F6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2046"/>
              <a:ext cx="192" cy="96"/>
            </a:xfrm>
            <a:prstGeom prst="line">
              <a:avLst/>
            </a:prstGeom>
            <a:noFill/>
            <a:ln w="28575">
              <a:solidFill>
                <a:srgbClr val="FF99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09" name="Line 75">
              <a:extLst>
                <a:ext uri="{FF2B5EF4-FFF2-40B4-BE49-F238E27FC236}">
                  <a16:creationId xmlns:a16="http://schemas.microsoft.com/office/drawing/2014/main" id="{835F6621-B313-46A2-9EEA-73FA7CDA1F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2" y="2286"/>
              <a:ext cx="432" cy="432"/>
            </a:xfrm>
            <a:prstGeom prst="line">
              <a:avLst/>
            </a:prstGeom>
            <a:noFill/>
            <a:ln w="28575">
              <a:solidFill>
                <a:srgbClr val="FF99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10" name="Line 76">
              <a:extLst>
                <a:ext uri="{FF2B5EF4-FFF2-40B4-BE49-F238E27FC236}">
                  <a16:creationId xmlns:a16="http://schemas.microsoft.com/office/drawing/2014/main" id="{0E6B4F0F-9142-4EA9-8B97-E80E972C9D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1710"/>
              <a:ext cx="480" cy="1008"/>
            </a:xfrm>
            <a:prstGeom prst="line">
              <a:avLst/>
            </a:prstGeom>
            <a:noFill/>
            <a:ln w="28575">
              <a:solidFill>
                <a:srgbClr val="FF99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11" name="Freeform 77">
              <a:extLst>
                <a:ext uri="{FF2B5EF4-FFF2-40B4-BE49-F238E27FC236}">
                  <a16:creationId xmlns:a16="http://schemas.microsoft.com/office/drawing/2014/main" id="{EFBD0293-0D6E-4230-B03E-D08D0F771D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" y="1662"/>
              <a:ext cx="344" cy="480"/>
            </a:xfrm>
            <a:custGeom>
              <a:avLst/>
              <a:gdLst>
                <a:gd name="T0" fmla="*/ 0 w 344"/>
                <a:gd name="T1" fmla="*/ 0 h 480"/>
                <a:gd name="T2" fmla="*/ 288 w 344"/>
                <a:gd name="T3" fmla="*/ 240 h 480"/>
                <a:gd name="T4" fmla="*/ 336 w 344"/>
                <a:gd name="T5" fmla="*/ 48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4" h="480">
                  <a:moveTo>
                    <a:pt x="0" y="0"/>
                  </a:moveTo>
                  <a:cubicBezTo>
                    <a:pt x="116" y="80"/>
                    <a:pt x="232" y="160"/>
                    <a:pt x="288" y="240"/>
                  </a:cubicBezTo>
                  <a:cubicBezTo>
                    <a:pt x="344" y="320"/>
                    <a:pt x="340" y="400"/>
                    <a:pt x="336" y="480"/>
                  </a:cubicBezTo>
                </a:path>
              </a:pathLst>
            </a:custGeom>
            <a:noFill/>
            <a:ln w="28575" cmpd="sng">
              <a:solidFill>
                <a:srgbClr val="FF9999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12" name="Line 78">
              <a:extLst>
                <a:ext uri="{FF2B5EF4-FFF2-40B4-BE49-F238E27FC236}">
                  <a16:creationId xmlns:a16="http://schemas.microsoft.com/office/drawing/2014/main" id="{E2A45765-0E41-4867-A065-C1C654344E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44" y="2286"/>
              <a:ext cx="384" cy="1008"/>
            </a:xfrm>
            <a:prstGeom prst="line">
              <a:avLst/>
            </a:prstGeom>
            <a:noFill/>
            <a:ln w="28575">
              <a:solidFill>
                <a:srgbClr val="FF99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13" name="Line 79">
              <a:extLst>
                <a:ext uri="{FF2B5EF4-FFF2-40B4-BE49-F238E27FC236}">
                  <a16:creationId xmlns:a16="http://schemas.microsoft.com/office/drawing/2014/main" id="{7E9C1705-9F94-42D7-9FF3-1508C39276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1758"/>
              <a:ext cx="0" cy="1440"/>
            </a:xfrm>
            <a:prstGeom prst="line">
              <a:avLst/>
            </a:prstGeom>
            <a:noFill/>
            <a:ln w="28575">
              <a:solidFill>
                <a:srgbClr val="FF99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14" name="Line 80">
              <a:extLst>
                <a:ext uri="{FF2B5EF4-FFF2-40B4-BE49-F238E27FC236}">
                  <a16:creationId xmlns:a16="http://schemas.microsoft.com/office/drawing/2014/main" id="{9753A661-98F9-4976-9595-DFB2375D0C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3198"/>
              <a:ext cx="3264" cy="0"/>
            </a:xfrm>
            <a:prstGeom prst="line">
              <a:avLst/>
            </a:prstGeom>
            <a:noFill/>
            <a:ln w="28575">
              <a:solidFill>
                <a:srgbClr val="FF99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115" name="Line 81">
              <a:extLst>
                <a:ext uri="{FF2B5EF4-FFF2-40B4-BE49-F238E27FC236}">
                  <a16:creationId xmlns:a16="http://schemas.microsoft.com/office/drawing/2014/main" id="{16EAB65A-41F4-4259-9BD6-7941A26947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0" y="3198"/>
              <a:ext cx="192" cy="96"/>
            </a:xfrm>
            <a:prstGeom prst="line">
              <a:avLst/>
            </a:prstGeom>
            <a:noFill/>
            <a:ln w="28575">
              <a:solidFill>
                <a:srgbClr val="FF99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4035" name="Rectangle 82">
            <a:extLst>
              <a:ext uri="{FF2B5EF4-FFF2-40B4-BE49-F238E27FC236}">
                <a16:creationId xmlns:a16="http://schemas.microsoft.com/office/drawing/2014/main" id="{10DF4BC4-F875-43FC-9A0A-B835C2506C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1815" y="473863"/>
            <a:ext cx="9614859" cy="858837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串联文件</a:t>
            </a:r>
          </a:p>
        </p:txBody>
      </p:sp>
      <p:sp>
        <p:nvSpPr>
          <p:cNvPr id="85" name="灯片编号占位符 1">
            <a:extLst>
              <a:ext uri="{FF2B5EF4-FFF2-40B4-BE49-F238E27FC236}">
                <a16:creationId xmlns:a16="http://schemas.microsoft.com/office/drawing/2014/main" id="{9A73E6B8-75CF-4EC4-A9AC-6A0CF8F7DA10}"/>
              </a:ext>
            </a:extLst>
          </p:cNvPr>
          <p:cNvSpPr txBox="1">
            <a:spLocks/>
          </p:cNvSpPr>
          <p:nvPr/>
        </p:nvSpPr>
        <p:spPr bwMode="auto">
          <a:xfrm>
            <a:off x="10161387" y="6400800"/>
            <a:ext cx="73057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27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B764E9A-1E2B-909F-09E4-C9072725AAB3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7454" y="439369"/>
            <a:ext cx="9614859" cy="858837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文件结构</a:t>
            </a:r>
            <a:endParaRPr lang="zh-CN" altLang="en-US" dirty="0"/>
          </a:p>
        </p:txBody>
      </p:sp>
      <p:sp>
        <p:nvSpPr>
          <p:cNvPr id="18434" name="Rectangle 2"/>
          <p:cNvSpPr>
            <a:spLocks noGrp="1" noChangeArrowheads="1"/>
          </p:cNvSpPr>
          <p:nvPr>
            <p:ph idx="1"/>
          </p:nvPr>
        </p:nvSpPr>
        <p:spPr>
          <a:xfrm>
            <a:off x="1199456" y="1158454"/>
            <a:ext cx="9721080" cy="3062634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z="2600" dirty="0"/>
              <a:t>3. </a:t>
            </a:r>
            <a:r>
              <a:rPr lang="zh-CN" altLang="en-US" sz="2600" dirty="0">
                <a:solidFill>
                  <a:srgbClr val="FF9900"/>
                </a:solidFill>
              </a:rPr>
              <a:t>索引方式</a:t>
            </a:r>
          </a:p>
          <a:p>
            <a:pPr marL="0" indent="0" eaLnBrk="1" hangingPunct="1">
              <a:buNone/>
            </a:pPr>
            <a:r>
              <a:rPr lang="zh-CN" altLang="en-US" sz="2600" dirty="0"/>
              <a:t>索引方式为每一个文件建立一张</a:t>
            </a:r>
            <a:r>
              <a:rPr lang="zh-CN" altLang="en-US" sz="2600" dirty="0">
                <a:solidFill>
                  <a:srgbClr val="0000CC"/>
                </a:solidFill>
              </a:rPr>
              <a:t>索引表</a:t>
            </a:r>
            <a:r>
              <a:rPr lang="zh-CN" altLang="en-US" sz="2600" dirty="0"/>
              <a:t>，表中存放文件的</a:t>
            </a:r>
            <a:r>
              <a:rPr lang="zh-CN" altLang="en-US" sz="2600" dirty="0">
                <a:solidFill>
                  <a:srgbClr val="0000CC"/>
                </a:solidFill>
              </a:rPr>
              <a:t>逻辑块与物理块之间</a:t>
            </a:r>
            <a:r>
              <a:rPr lang="zh-CN" altLang="en-US" sz="2600" dirty="0"/>
              <a:t>的对应关系。也就是把串联方式中每一个节点所记录的链表指针信息</a:t>
            </a:r>
            <a:r>
              <a:rPr lang="zh-CN" altLang="en-US" sz="2600" dirty="0">
                <a:solidFill>
                  <a:srgbClr val="0000CC"/>
                </a:solidFill>
              </a:rPr>
              <a:t>统一保存在一个索引表</a:t>
            </a:r>
            <a:r>
              <a:rPr lang="zh-CN" altLang="en-US" sz="2600" dirty="0"/>
              <a:t>中，如下图所示。这使得文件的非连续存放、文件动态增长、方便文件内部修改等串联方式的优点都保留了下来，同时，也能够方便地实现文件的随机访问。</a:t>
            </a:r>
          </a:p>
        </p:txBody>
      </p:sp>
      <p:pic>
        <p:nvPicPr>
          <p:cNvPr id="4" name="Picture 3" descr="jc20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51584" y="3692815"/>
            <a:ext cx="7086600" cy="2409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FAE17ADF-BA64-4BDA-82ED-CEB5B6A48D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189963" y="6357015"/>
            <a:ext cx="730573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57121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C2675BE-027C-8FC5-2AC1-28BA34FD14E9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957E478A-8F64-4912-9E90-C518415816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0390" y="473922"/>
            <a:ext cx="9614859" cy="858837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+mn-ea"/>
              </a:rPr>
              <a:t>随机文件</a:t>
            </a:r>
            <a:endParaRPr lang="zh-CN" altLang="en-US" b="1" dirty="0">
              <a:solidFill>
                <a:srgbClr val="0D6903"/>
              </a:solidFill>
            </a:endParaRPr>
          </a:p>
        </p:txBody>
      </p:sp>
      <p:grpSp>
        <p:nvGrpSpPr>
          <p:cNvPr id="50179" name="Group 3">
            <a:extLst>
              <a:ext uri="{FF2B5EF4-FFF2-40B4-BE49-F238E27FC236}">
                <a16:creationId xmlns:a16="http://schemas.microsoft.com/office/drawing/2014/main" id="{F26B2D80-6290-481C-BAF7-5B501DE9F55E}"/>
              </a:ext>
            </a:extLst>
          </p:cNvPr>
          <p:cNvGrpSpPr>
            <a:grpSpLocks/>
          </p:cNvGrpSpPr>
          <p:nvPr/>
        </p:nvGrpSpPr>
        <p:grpSpPr bwMode="auto">
          <a:xfrm>
            <a:off x="2533651" y="1412776"/>
            <a:ext cx="7853287" cy="4772025"/>
            <a:chOff x="636" y="905"/>
            <a:chExt cx="5007" cy="3205"/>
          </a:xfrm>
        </p:grpSpPr>
        <p:sp>
          <p:nvSpPr>
            <p:cNvPr id="50181" name="Text Box 4">
              <a:extLst>
                <a:ext uri="{FF2B5EF4-FFF2-40B4-BE49-F238E27FC236}">
                  <a16:creationId xmlns:a16="http://schemas.microsoft.com/office/drawing/2014/main" id="{92C7C5B7-F7A6-4585-9533-D263D809B4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6" y="1706"/>
              <a:ext cx="907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99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</a:rPr>
                <a:t>文件目录</a:t>
              </a:r>
            </a:p>
          </p:txBody>
        </p:sp>
        <p:grpSp>
          <p:nvGrpSpPr>
            <p:cNvPr id="50182" name="Group 5">
              <a:extLst>
                <a:ext uri="{FF2B5EF4-FFF2-40B4-BE49-F238E27FC236}">
                  <a16:creationId xmlns:a16="http://schemas.microsoft.com/office/drawing/2014/main" id="{945D5972-B3B6-4677-9747-8145B549F2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6" y="905"/>
              <a:ext cx="4648" cy="3205"/>
              <a:chOff x="636" y="905"/>
              <a:chExt cx="4648" cy="3205"/>
            </a:xfrm>
          </p:grpSpPr>
          <p:grpSp>
            <p:nvGrpSpPr>
              <p:cNvPr id="50183" name="Group 6">
                <a:extLst>
                  <a:ext uri="{FF2B5EF4-FFF2-40B4-BE49-F238E27FC236}">
                    <a16:creationId xmlns:a16="http://schemas.microsoft.com/office/drawing/2014/main" id="{66487D3C-42D8-4BE6-98D6-90E6EABC43A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6" y="1614"/>
                <a:ext cx="1056" cy="2160"/>
                <a:chOff x="768" y="816"/>
                <a:chExt cx="1056" cy="2160"/>
              </a:xfrm>
            </p:grpSpPr>
            <p:sp>
              <p:nvSpPr>
                <p:cNvPr id="50201" name="Rectangle 7">
                  <a:extLst>
                    <a:ext uri="{FF2B5EF4-FFF2-40B4-BE49-F238E27FC236}">
                      <a16:creationId xmlns:a16="http://schemas.microsoft.com/office/drawing/2014/main" id="{54C8AF2D-3A1C-46D6-983F-51F41016A9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816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50202" name="Rectangle 8">
                  <a:extLst>
                    <a:ext uri="{FF2B5EF4-FFF2-40B4-BE49-F238E27FC236}">
                      <a16:creationId xmlns:a16="http://schemas.microsoft.com/office/drawing/2014/main" id="{4DE3EB41-5EF8-488C-A784-CD4A104D71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6" y="816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50203" name="Rectangle 9">
                  <a:extLst>
                    <a:ext uri="{FF2B5EF4-FFF2-40B4-BE49-F238E27FC236}">
                      <a16:creationId xmlns:a16="http://schemas.microsoft.com/office/drawing/2014/main" id="{7114ADD4-200B-4433-9ECA-6A1979E8CA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4" y="816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50204" name="Rectangle 10">
                  <a:extLst>
                    <a:ext uri="{FF2B5EF4-FFF2-40B4-BE49-F238E27FC236}">
                      <a16:creationId xmlns:a16="http://schemas.microsoft.com/office/drawing/2014/main" id="{BC436330-DC27-4A99-BEE2-C9AFA0B698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816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3</a:t>
                  </a:r>
                </a:p>
              </p:txBody>
            </p:sp>
            <p:sp>
              <p:nvSpPr>
                <p:cNvPr id="50205" name="Rectangle 11">
                  <a:extLst>
                    <a:ext uri="{FF2B5EF4-FFF2-40B4-BE49-F238E27FC236}">
                      <a16:creationId xmlns:a16="http://schemas.microsoft.com/office/drawing/2014/main" id="{7684AD58-109B-4533-8304-909DC680F9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1104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4</a:t>
                  </a:r>
                </a:p>
              </p:txBody>
            </p:sp>
            <p:sp>
              <p:nvSpPr>
                <p:cNvPr id="50206" name="Rectangle 12">
                  <a:extLst>
                    <a:ext uri="{FF2B5EF4-FFF2-40B4-BE49-F238E27FC236}">
                      <a16:creationId xmlns:a16="http://schemas.microsoft.com/office/drawing/2014/main" id="{FC7DEC86-D890-4AA7-AB05-857CEC618F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6" y="1104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5</a:t>
                  </a:r>
                </a:p>
              </p:txBody>
            </p:sp>
            <p:sp>
              <p:nvSpPr>
                <p:cNvPr id="50207" name="Rectangle 13">
                  <a:extLst>
                    <a:ext uri="{FF2B5EF4-FFF2-40B4-BE49-F238E27FC236}">
                      <a16:creationId xmlns:a16="http://schemas.microsoft.com/office/drawing/2014/main" id="{7684F6BD-F0CC-4C77-AD17-3AC5FCA689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4" y="1104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6</a:t>
                  </a:r>
                </a:p>
              </p:txBody>
            </p:sp>
            <p:sp>
              <p:nvSpPr>
                <p:cNvPr id="50208" name="Rectangle 14">
                  <a:extLst>
                    <a:ext uri="{FF2B5EF4-FFF2-40B4-BE49-F238E27FC236}">
                      <a16:creationId xmlns:a16="http://schemas.microsoft.com/office/drawing/2014/main" id="{79DE0DF2-F446-467D-ACBD-1D030BEE7A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104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7</a:t>
                  </a:r>
                </a:p>
              </p:txBody>
            </p:sp>
            <p:sp>
              <p:nvSpPr>
                <p:cNvPr id="50209" name="Rectangle 15">
                  <a:extLst>
                    <a:ext uri="{FF2B5EF4-FFF2-40B4-BE49-F238E27FC236}">
                      <a16:creationId xmlns:a16="http://schemas.microsoft.com/office/drawing/2014/main" id="{F2E6A58B-3AE8-4C0D-93BB-60C1EB73D2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1392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8</a:t>
                  </a:r>
                </a:p>
              </p:txBody>
            </p:sp>
            <p:sp>
              <p:nvSpPr>
                <p:cNvPr id="50210" name="Rectangle 16">
                  <a:extLst>
                    <a:ext uri="{FF2B5EF4-FFF2-40B4-BE49-F238E27FC236}">
                      <a16:creationId xmlns:a16="http://schemas.microsoft.com/office/drawing/2014/main" id="{116BBFF5-D0BA-4DDD-B7E6-15F1F780F1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6" y="1392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9</a:t>
                  </a:r>
                </a:p>
              </p:txBody>
            </p:sp>
            <p:sp>
              <p:nvSpPr>
                <p:cNvPr id="50211" name="Rectangle 17">
                  <a:extLst>
                    <a:ext uri="{FF2B5EF4-FFF2-40B4-BE49-F238E27FC236}">
                      <a16:creationId xmlns:a16="http://schemas.microsoft.com/office/drawing/2014/main" id="{EB7F0036-C300-419C-8A22-16136C2DAE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4" y="1392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10</a:t>
                  </a:r>
                </a:p>
              </p:txBody>
            </p:sp>
            <p:sp>
              <p:nvSpPr>
                <p:cNvPr id="50212" name="Rectangle 18">
                  <a:extLst>
                    <a:ext uri="{FF2B5EF4-FFF2-40B4-BE49-F238E27FC236}">
                      <a16:creationId xmlns:a16="http://schemas.microsoft.com/office/drawing/2014/main" id="{A756E16F-1F1E-4ABF-938C-5E738373FE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392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11</a:t>
                  </a:r>
                </a:p>
              </p:txBody>
            </p:sp>
            <p:sp>
              <p:nvSpPr>
                <p:cNvPr id="50213" name="Rectangle 19">
                  <a:extLst>
                    <a:ext uri="{FF2B5EF4-FFF2-40B4-BE49-F238E27FC236}">
                      <a16:creationId xmlns:a16="http://schemas.microsoft.com/office/drawing/2014/main" id="{6E6D432A-3171-4685-BEE3-C858270B82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1680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12</a:t>
                  </a:r>
                </a:p>
              </p:txBody>
            </p:sp>
            <p:sp>
              <p:nvSpPr>
                <p:cNvPr id="50214" name="Rectangle 20">
                  <a:extLst>
                    <a:ext uri="{FF2B5EF4-FFF2-40B4-BE49-F238E27FC236}">
                      <a16:creationId xmlns:a16="http://schemas.microsoft.com/office/drawing/2014/main" id="{9B5CDA54-70BF-4A59-825B-BFB09CFD77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6" y="1680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13</a:t>
                  </a:r>
                </a:p>
              </p:txBody>
            </p:sp>
            <p:sp>
              <p:nvSpPr>
                <p:cNvPr id="50215" name="Rectangle 21">
                  <a:extLst>
                    <a:ext uri="{FF2B5EF4-FFF2-40B4-BE49-F238E27FC236}">
                      <a16:creationId xmlns:a16="http://schemas.microsoft.com/office/drawing/2014/main" id="{E6093F09-D280-4DFB-A6A8-B34F0481EA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4" y="1680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14</a:t>
                  </a:r>
                </a:p>
              </p:txBody>
            </p:sp>
            <p:sp>
              <p:nvSpPr>
                <p:cNvPr id="50216" name="Rectangle 22">
                  <a:extLst>
                    <a:ext uri="{FF2B5EF4-FFF2-40B4-BE49-F238E27FC236}">
                      <a16:creationId xmlns:a16="http://schemas.microsoft.com/office/drawing/2014/main" id="{28920264-ABF5-469C-AE71-48CB4F09CA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680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15</a:t>
                  </a:r>
                </a:p>
              </p:txBody>
            </p:sp>
            <p:sp>
              <p:nvSpPr>
                <p:cNvPr id="50217" name="Rectangle 23">
                  <a:extLst>
                    <a:ext uri="{FF2B5EF4-FFF2-40B4-BE49-F238E27FC236}">
                      <a16:creationId xmlns:a16="http://schemas.microsoft.com/office/drawing/2014/main" id="{914E3168-AA4E-46E2-99F3-F53CE0BD01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1968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16</a:t>
                  </a:r>
                </a:p>
              </p:txBody>
            </p:sp>
            <p:sp>
              <p:nvSpPr>
                <p:cNvPr id="50218" name="Rectangle 24">
                  <a:extLst>
                    <a:ext uri="{FF2B5EF4-FFF2-40B4-BE49-F238E27FC236}">
                      <a16:creationId xmlns:a16="http://schemas.microsoft.com/office/drawing/2014/main" id="{DF3AB379-5F0B-4774-A264-DC4F8136BC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6" y="1968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17</a:t>
                  </a:r>
                </a:p>
              </p:txBody>
            </p:sp>
            <p:sp>
              <p:nvSpPr>
                <p:cNvPr id="50219" name="Rectangle 25">
                  <a:extLst>
                    <a:ext uri="{FF2B5EF4-FFF2-40B4-BE49-F238E27FC236}">
                      <a16:creationId xmlns:a16="http://schemas.microsoft.com/office/drawing/2014/main" id="{E4E8EB1D-A1F8-4455-A2D6-B43A214364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4" y="1968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18</a:t>
                  </a:r>
                </a:p>
              </p:txBody>
            </p:sp>
            <p:sp>
              <p:nvSpPr>
                <p:cNvPr id="50220" name="Rectangle 26">
                  <a:extLst>
                    <a:ext uri="{FF2B5EF4-FFF2-40B4-BE49-F238E27FC236}">
                      <a16:creationId xmlns:a16="http://schemas.microsoft.com/office/drawing/2014/main" id="{82933488-42BE-4B00-9F1B-49763BE551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1968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19</a:t>
                  </a:r>
                </a:p>
              </p:txBody>
            </p:sp>
            <p:sp>
              <p:nvSpPr>
                <p:cNvPr id="50221" name="Rectangle 27">
                  <a:extLst>
                    <a:ext uri="{FF2B5EF4-FFF2-40B4-BE49-F238E27FC236}">
                      <a16:creationId xmlns:a16="http://schemas.microsoft.com/office/drawing/2014/main" id="{E6C6AC65-52F1-4CA8-9ED3-A152E99CCA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2256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20</a:t>
                  </a:r>
                </a:p>
              </p:txBody>
            </p:sp>
            <p:sp>
              <p:nvSpPr>
                <p:cNvPr id="50222" name="Rectangle 28">
                  <a:extLst>
                    <a:ext uri="{FF2B5EF4-FFF2-40B4-BE49-F238E27FC236}">
                      <a16:creationId xmlns:a16="http://schemas.microsoft.com/office/drawing/2014/main" id="{764555E2-BFF0-433B-A9F4-D99C6E7A72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6" y="2256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21</a:t>
                  </a:r>
                </a:p>
              </p:txBody>
            </p:sp>
            <p:sp>
              <p:nvSpPr>
                <p:cNvPr id="50223" name="Rectangle 29">
                  <a:extLst>
                    <a:ext uri="{FF2B5EF4-FFF2-40B4-BE49-F238E27FC236}">
                      <a16:creationId xmlns:a16="http://schemas.microsoft.com/office/drawing/2014/main" id="{CB3779F5-24C9-4517-BBED-46E3F84C47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4" y="2256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22</a:t>
                  </a:r>
                </a:p>
              </p:txBody>
            </p:sp>
            <p:sp>
              <p:nvSpPr>
                <p:cNvPr id="50224" name="Rectangle 30">
                  <a:extLst>
                    <a:ext uri="{FF2B5EF4-FFF2-40B4-BE49-F238E27FC236}">
                      <a16:creationId xmlns:a16="http://schemas.microsoft.com/office/drawing/2014/main" id="{36D0298F-B12A-4C02-80C1-862C420575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2256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23</a:t>
                  </a:r>
                </a:p>
              </p:txBody>
            </p:sp>
            <p:sp>
              <p:nvSpPr>
                <p:cNvPr id="50225" name="Rectangle 31">
                  <a:extLst>
                    <a:ext uri="{FF2B5EF4-FFF2-40B4-BE49-F238E27FC236}">
                      <a16:creationId xmlns:a16="http://schemas.microsoft.com/office/drawing/2014/main" id="{5120E9D4-BE99-4F7A-9971-9DBD2F4A9C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2544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24</a:t>
                  </a:r>
                </a:p>
              </p:txBody>
            </p:sp>
            <p:sp>
              <p:nvSpPr>
                <p:cNvPr id="50226" name="Rectangle 32">
                  <a:extLst>
                    <a:ext uri="{FF2B5EF4-FFF2-40B4-BE49-F238E27FC236}">
                      <a16:creationId xmlns:a16="http://schemas.microsoft.com/office/drawing/2014/main" id="{F0C6D4CA-EBA4-43A2-B46D-9E6CCC1272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6" y="2544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25</a:t>
                  </a:r>
                </a:p>
              </p:txBody>
            </p:sp>
            <p:sp>
              <p:nvSpPr>
                <p:cNvPr id="50227" name="Rectangle 33">
                  <a:extLst>
                    <a:ext uri="{FF2B5EF4-FFF2-40B4-BE49-F238E27FC236}">
                      <a16:creationId xmlns:a16="http://schemas.microsoft.com/office/drawing/2014/main" id="{B1AB154C-C0D7-4E7B-AC5D-A8FA9B90D8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4" y="2544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26</a:t>
                  </a:r>
                </a:p>
              </p:txBody>
            </p:sp>
            <p:sp>
              <p:nvSpPr>
                <p:cNvPr id="50228" name="Rectangle 34">
                  <a:extLst>
                    <a:ext uri="{FF2B5EF4-FFF2-40B4-BE49-F238E27FC236}">
                      <a16:creationId xmlns:a16="http://schemas.microsoft.com/office/drawing/2014/main" id="{66FD44B4-5087-4867-B32E-D4026ACCF3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2544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27</a:t>
                  </a:r>
                </a:p>
              </p:txBody>
            </p:sp>
            <p:sp>
              <p:nvSpPr>
                <p:cNvPr id="50229" name="Rectangle 35">
                  <a:extLst>
                    <a:ext uri="{FF2B5EF4-FFF2-40B4-BE49-F238E27FC236}">
                      <a16:creationId xmlns:a16="http://schemas.microsoft.com/office/drawing/2014/main" id="{054BF3F5-1035-4264-8539-BFBBC6F83C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8" y="2832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28</a:t>
                  </a:r>
                </a:p>
              </p:txBody>
            </p:sp>
            <p:sp>
              <p:nvSpPr>
                <p:cNvPr id="50230" name="Rectangle 36">
                  <a:extLst>
                    <a:ext uri="{FF2B5EF4-FFF2-40B4-BE49-F238E27FC236}">
                      <a16:creationId xmlns:a16="http://schemas.microsoft.com/office/drawing/2014/main" id="{3A805D47-F5D6-4453-871C-0DE054F62A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6" y="2832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29</a:t>
                  </a:r>
                </a:p>
              </p:txBody>
            </p:sp>
            <p:sp>
              <p:nvSpPr>
                <p:cNvPr id="50231" name="Rectangle 37">
                  <a:extLst>
                    <a:ext uri="{FF2B5EF4-FFF2-40B4-BE49-F238E27FC236}">
                      <a16:creationId xmlns:a16="http://schemas.microsoft.com/office/drawing/2014/main" id="{BE2AD39D-9963-4A2F-ACBE-26E9C529D7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4" y="2832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30</a:t>
                  </a:r>
                </a:p>
              </p:txBody>
            </p:sp>
            <p:sp>
              <p:nvSpPr>
                <p:cNvPr id="50232" name="Rectangle 38">
                  <a:extLst>
                    <a:ext uri="{FF2B5EF4-FFF2-40B4-BE49-F238E27FC236}">
                      <a16:creationId xmlns:a16="http://schemas.microsoft.com/office/drawing/2014/main" id="{51B348E3-BB59-4281-8124-BB3B0EDAB5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32" y="2832"/>
                  <a:ext cx="192" cy="144"/>
                </a:xfrm>
                <a:prstGeom prst="rect">
                  <a:avLst/>
                </a:prstGeom>
                <a:noFill/>
                <a:ln w="9525">
                  <a:solidFill>
                    <a:srgbClr val="FF99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kumimoji="1"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kumimoji="1"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zh-CN" altLang="en-US" sz="1800">
                      <a:latin typeface="Times New Roman" panose="02020603050405020304" pitchFamily="18" charset="0"/>
                    </a:rPr>
                    <a:t>31</a:t>
                  </a:r>
                </a:p>
              </p:txBody>
            </p:sp>
          </p:grpSp>
          <p:sp>
            <p:nvSpPr>
              <p:cNvPr id="50184" name="AutoShape 39">
                <a:extLst>
                  <a:ext uri="{FF2B5EF4-FFF2-40B4-BE49-F238E27FC236}">
                    <a16:creationId xmlns:a16="http://schemas.microsoft.com/office/drawing/2014/main" id="{775A4609-BA04-421F-A239-E8320D7B5B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" y="990"/>
                <a:ext cx="1488" cy="3120"/>
              </a:xfrm>
              <a:prstGeom prst="can">
                <a:avLst>
                  <a:gd name="adj" fmla="val 27219"/>
                </a:avLst>
              </a:prstGeom>
              <a:noFill/>
              <a:ln w="28575">
                <a:solidFill>
                  <a:srgbClr val="FF99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0185" name="Text Box 40">
                <a:extLst>
                  <a:ext uri="{FF2B5EF4-FFF2-40B4-BE49-F238E27FC236}">
                    <a16:creationId xmlns:a16="http://schemas.microsoft.com/office/drawing/2014/main" id="{191DE4D9-7DA9-4CBE-90C3-20035BAADB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40" y="905"/>
                <a:ext cx="2016" cy="310"/>
              </a:xfrm>
              <a:prstGeom prst="rect">
                <a:avLst/>
              </a:prstGeom>
              <a:noFill/>
              <a:ln w="28575">
                <a:solidFill>
                  <a:srgbClr val="FF99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文件名      索引表地址</a:t>
                </a:r>
              </a:p>
            </p:txBody>
          </p:sp>
          <p:sp>
            <p:nvSpPr>
              <p:cNvPr id="50186" name="Rectangle 41">
                <a:extLst>
                  <a:ext uri="{FF2B5EF4-FFF2-40B4-BE49-F238E27FC236}">
                    <a16:creationId xmlns:a16="http://schemas.microsoft.com/office/drawing/2014/main" id="{961DF31D-F2A1-4B78-A43A-DA9EE40DB8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40" y="1217"/>
                <a:ext cx="2016" cy="432"/>
              </a:xfrm>
              <a:prstGeom prst="rect">
                <a:avLst/>
              </a:prstGeom>
              <a:noFill/>
              <a:ln w="28575">
                <a:solidFill>
                  <a:srgbClr val="FF99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0187" name="Text Box 42">
                <a:extLst>
                  <a:ext uri="{FF2B5EF4-FFF2-40B4-BE49-F238E27FC236}">
                    <a16:creationId xmlns:a16="http://schemas.microsoft.com/office/drawing/2014/main" id="{50801CF0-21A3-40C1-89C3-96A2A222A2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4" y="1291"/>
                <a:ext cx="1681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99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Times New Roman" panose="02020603050405020304" pitchFamily="18" charset="0"/>
                  </a:rPr>
                  <a:t>Jeep                19</a:t>
                </a:r>
              </a:p>
            </p:txBody>
          </p:sp>
          <p:sp>
            <p:nvSpPr>
              <p:cNvPr id="50188" name="Oval 43">
                <a:extLst>
                  <a:ext uri="{FF2B5EF4-FFF2-40B4-BE49-F238E27FC236}">
                    <a16:creationId xmlns:a16="http://schemas.microsoft.com/office/drawing/2014/main" id="{5BA06378-DDB4-4406-974E-7BAE61F24D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2" y="2670"/>
                <a:ext cx="336" cy="336"/>
              </a:xfrm>
              <a:prstGeom prst="ellipse">
                <a:avLst/>
              </a:prstGeom>
              <a:noFill/>
              <a:ln w="28575">
                <a:solidFill>
                  <a:srgbClr val="FF99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0189" name="Line 44">
                <a:extLst>
                  <a:ext uri="{FF2B5EF4-FFF2-40B4-BE49-F238E27FC236}">
                    <a16:creationId xmlns:a16="http://schemas.microsoft.com/office/drawing/2014/main" id="{5FC02B2D-8512-4266-A669-773F235451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60" y="1758"/>
                <a:ext cx="672" cy="1008"/>
              </a:xfrm>
              <a:prstGeom prst="line">
                <a:avLst/>
              </a:prstGeom>
              <a:noFill/>
              <a:ln w="9525">
                <a:solidFill>
                  <a:srgbClr val="FF99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0" name="Line 45">
                <a:extLst>
                  <a:ext uri="{FF2B5EF4-FFF2-40B4-BE49-F238E27FC236}">
                    <a16:creationId xmlns:a16="http://schemas.microsoft.com/office/drawing/2014/main" id="{B576551C-59A1-4EE8-AAAE-F9C6BD03F6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548" y="2334"/>
                <a:ext cx="288" cy="432"/>
              </a:xfrm>
              <a:prstGeom prst="line">
                <a:avLst/>
              </a:prstGeom>
              <a:noFill/>
              <a:ln w="9525">
                <a:solidFill>
                  <a:srgbClr val="FF99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1" name="Line 46">
                <a:extLst>
                  <a:ext uri="{FF2B5EF4-FFF2-40B4-BE49-F238E27FC236}">
                    <a16:creationId xmlns:a16="http://schemas.microsoft.com/office/drawing/2014/main" id="{DB92D194-9813-4AD2-A5BB-E520E8C2EF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60" y="2334"/>
                <a:ext cx="480" cy="432"/>
              </a:xfrm>
              <a:prstGeom prst="line">
                <a:avLst/>
              </a:prstGeom>
              <a:noFill/>
              <a:ln w="9525">
                <a:solidFill>
                  <a:srgbClr val="FF99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2" name="Freeform 47">
                <a:extLst>
                  <a:ext uri="{FF2B5EF4-FFF2-40B4-BE49-F238E27FC236}">
                    <a16:creationId xmlns:a16="http://schemas.microsoft.com/office/drawing/2014/main" id="{421357F6-37EB-4A83-A0DE-EC513114F5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8" y="2934"/>
                <a:ext cx="672" cy="72"/>
              </a:xfrm>
              <a:custGeom>
                <a:avLst/>
                <a:gdLst>
                  <a:gd name="T0" fmla="*/ 23036 w 432"/>
                  <a:gd name="T1" fmla="*/ 0 h 96"/>
                  <a:gd name="T2" fmla="*/ 12776 w 432"/>
                  <a:gd name="T3" fmla="*/ 8 h 96"/>
                  <a:gd name="T4" fmla="*/ 0 w 432"/>
                  <a:gd name="T5" fmla="*/ 0 h 9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2" h="96">
                    <a:moveTo>
                      <a:pt x="432" y="0"/>
                    </a:moveTo>
                    <a:cubicBezTo>
                      <a:pt x="372" y="48"/>
                      <a:pt x="312" y="96"/>
                      <a:pt x="240" y="96"/>
                    </a:cubicBezTo>
                    <a:cubicBezTo>
                      <a:pt x="168" y="96"/>
                      <a:pt x="84" y="48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FF9999"/>
                </a:solidFill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3" name="Line 48">
                <a:extLst>
                  <a:ext uri="{FF2B5EF4-FFF2-40B4-BE49-F238E27FC236}">
                    <a16:creationId xmlns:a16="http://schemas.microsoft.com/office/drawing/2014/main" id="{FB8A22E9-1569-442A-A5C2-EB0B604293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56" y="2910"/>
                <a:ext cx="480" cy="432"/>
              </a:xfrm>
              <a:prstGeom prst="line">
                <a:avLst/>
              </a:prstGeom>
              <a:noFill/>
              <a:ln w="9525">
                <a:solidFill>
                  <a:srgbClr val="FF9999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4" name="Text Box 49">
                <a:extLst>
                  <a:ext uri="{FF2B5EF4-FFF2-40B4-BE49-F238E27FC236}">
                    <a16:creationId xmlns:a16="http://schemas.microsoft.com/office/drawing/2014/main" id="{9B198856-472B-46D8-8E45-1CB8438AFD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1" y="1977"/>
                <a:ext cx="330" cy="20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99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  9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16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  1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10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25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 -1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 -1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 -1</a:t>
                </a:r>
              </a:p>
            </p:txBody>
          </p:sp>
          <p:sp>
            <p:nvSpPr>
              <p:cNvPr id="50195" name="Rectangle 50">
                <a:extLst>
                  <a:ext uri="{FF2B5EF4-FFF2-40B4-BE49-F238E27FC236}">
                    <a16:creationId xmlns:a16="http://schemas.microsoft.com/office/drawing/2014/main" id="{E15539C7-E325-4B60-8E0E-44551A2631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0" y="1998"/>
                <a:ext cx="1248" cy="1872"/>
              </a:xfrm>
              <a:prstGeom prst="rect">
                <a:avLst/>
              </a:prstGeom>
              <a:noFill/>
              <a:ln w="9525">
                <a:solidFill>
                  <a:srgbClr val="FF9999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0196" name="Oval 51">
                <a:extLst>
                  <a:ext uri="{FF2B5EF4-FFF2-40B4-BE49-F238E27FC236}">
                    <a16:creationId xmlns:a16="http://schemas.microsoft.com/office/drawing/2014/main" id="{EE226225-7863-4FF6-99AF-D9DBF3CC1E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2" y="1758"/>
                <a:ext cx="2256" cy="2304"/>
              </a:xfrm>
              <a:prstGeom prst="ellipse">
                <a:avLst/>
              </a:prstGeom>
              <a:noFill/>
              <a:ln w="28575">
                <a:solidFill>
                  <a:srgbClr val="FF99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50197" name="Text Box 52">
                <a:extLst>
                  <a:ext uri="{FF2B5EF4-FFF2-40B4-BE49-F238E27FC236}">
                    <a16:creationId xmlns:a16="http://schemas.microsoft.com/office/drawing/2014/main" id="{87C97BB4-4D8F-4386-8424-48734A6A26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5" y="2648"/>
                <a:ext cx="314" cy="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FF9999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latin typeface="Times New Roman" panose="02020603050405020304" pitchFamily="18" charset="0"/>
                  </a:rPr>
                  <a:t>19</a:t>
                </a:r>
              </a:p>
            </p:txBody>
          </p:sp>
          <p:sp>
            <p:nvSpPr>
              <p:cNvPr id="50198" name="Line 53">
                <a:extLst>
                  <a:ext uri="{FF2B5EF4-FFF2-40B4-BE49-F238E27FC236}">
                    <a16:creationId xmlns:a16="http://schemas.microsoft.com/office/drawing/2014/main" id="{93CC3D8D-FFFF-4E5B-99C7-1F650FA4A1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88" y="1806"/>
                <a:ext cx="1920" cy="864"/>
              </a:xfrm>
              <a:prstGeom prst="line">
                <a:avLst/>
              </a:prstGeom>
              <a:noFill/>
              <a:ln w="9525">
                <a:solidFill>
                  <a:srgbClr val="FF99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199" name="Line 54">
                <a:extLst>
                  <a:ext uri="{FF2B5EF4-FFF2-40B4-BE49-F238E27FC236}">
                    <a16:creationId xmlns:a16="http://schemas.microsoft.com/office/drawing/2014/main" id="{64A4B2FD-412A-4684-A721-0913FA4DC5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8" y="3006"/>
                <a:ext cx="1776" cy="960"/>
              </a:xfrm>
              <a:prstGeom prst="line">
                <a:avLst/>
              </a:prstGeom>
              <a:noFill/>
              <a:ln w="9525">
                <a:solidFill>
                  <a:srgbClr val="FF9999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200" name="Line 55">
                <a:extLst>
                  <a:ext uri="{FF2B5EF4-FFF2-40B4-BE49-F238E27FC236}">
                    <a16:creationId xmlns:a16="http://schemas.microsoft.com/office/drawing/2014/main" id="{19176788-4F80-4B0C-B1DC-9B96E0B151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012" y="1298"/>
                <a:ext cx="272" cy="40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9" name="灯片编号占位符 1">
            <a:extLst>
              <a:ext uri="{FF2B5EF4-FFF2-40B4-BE49-F238E27FC236}">
                <a16:creationId xmlns:a16="http://schemas.microsoft.com/office/drawing/2014/main" id="{71657F02-4B20-43E5-BD18-824E1DAA5821}"/>
              </a:ext>
            </a:extLst>
          </p:cNvPr>
          <p:cNvSpPr txBox="1">
            <a:spLocks/>
          </p:cNvSpPr>
          <p:nvPr/>
        </p:nvSpPr>
        <p:spPr bwMode="auto">
          <a:xfrm>
            <a:off x="10189963" y="6357015"/>
            <a:ext cx="73057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10477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2205550-1BBA-95B3-0581-24056A1BA923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C51248E8-36F1-4236-9398-0812753071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63552" y="539117"/>
            <a:ext cx="7772400" cy="802352"/>
          </a:xfrm>
        </p:spPr>
        <p:txBody>
          <a:bodyPr/>
          <a:lstStyle/>
          <a:p>
            <a:pPr eaLnBrk="1" hangingPunct="1"/>
            <a:r>
              <a:rPr lang="zh-CN" altLang="en-US" b="1" dirty="0"/>
              <a:t>多级索引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5F4E06F1-B590-44D0-B66A-9189693D46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9456" y="1484784"/>
            <a:ext cx="10009112" cy="42767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600" dirty="0"/>
              <a:t>当索引表本身占用许多物理块时，访问文件的效率就很低了。</a:t>
            </a:r>
            <a:endParaRPr lang="en-US" altLang="zh-CN" sz="260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600" dirty="0"/>
              <a:t>解决方法：为了提高大文件的查找速度，可以为这些一级索引块再建立一个索引，称为二级索引，即系统</a:t>
            </a:r>
            <a:r>
              <a:rPr lang="zh-CN" altLang="en-US" sz="2600" dirty="0">
                <a:solidFill>
                  <a:srgbClr val="0000FF"/>
                </a:solidFill>
              </a:rPr>
              <a:t>再分配一个盘块记录一级索引块的块号</a:t>
            </a:r>
            <a:r>
              <a:rPr lang="zh-CN" altLang="en-US" sz="2600" dirty="0"/>
              <a:t>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600" dirty="0"/>
              <a:t>如果文件再大，还可以建立三级、四级索引，依次类推。</a:t>
            </a: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7CB608C1-944E-47EE-BF72-1AEBE395E638}"/>
              </a:ext>
            </a:extLst>
          </p:cNvPr>
          <p:cNvSpPr txBox="1">
            <a:spLocks/>
          </p:cNvSpPr>
          <p:nvPr/>
        </p:nvSpPr>
        <p:spPr bwMode="auto">
          <a:xfrm>
            <a:off x="10189963" y="6357015"/>
            <a:ext cx="73057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30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A31CF77-DA03-AD18-419A-74117B8BA1DF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53250" name="Picture 5">
            <a:extLst>
              <a:ext uri="{FF2B5EF4-FFF2-40B4-BE49-F238E27FC236}">
                <a16:creationId xmlns:a16="http://schemas.microsoft.com/office/drawing/2014/main" id="{72F90448-2CE9-4885-89F8-C42C0421D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6" y="614031"/>
            <a:ext cx="7096094" cy="5141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1" name="Rectangle 6">
            <a:extLst>
              <a:ext uri="{FF2B5EF4-FFF2-40B4-BE49-F238E27FC236}">
                <a16:creationId xmlns:a16="http://schemas.microsoft.com/office/drawing/2014/main" id="{F5AF49CB-3356-41DE-A959-8DDEA7C2F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832" y="5805264"/>
            <a:ext cx="343074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/>
              <a:t>二级索引的组织形式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C0AAC23E-24A0-4BF1-BDDB-66DBA6CC5A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189963" y="6357015"/>
            <a:ext cx="730573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31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28167D2-0E61-AFF9-1011-2BE98B1DEC05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9854" y="428626"/>
            <a:ext cx="9614859" cy="858837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文件结构</a:t>
            </a:r>
            <a:endParaRPr lang="zh-CN" altLang="en-US" dirty="0"/>
          </a:p>
        </p:txBody>
      </p:sp>
      <p:sp>
        <p:nvSpPr>
          <p:cNvPr id="20482" name="Rectangle 2"/>
          <p:cNvSpPr>
            <a:spLocks noGrp="1" noChangeArrowheads="1"/>
          </p:cNvSpPr>
          <p:nvPr>
            <p:ph idx="1"/>
          </p:nvPr>
        </p:nvSpPr>
        <p:spPr>
          <a:xfrm>
            <a:off x="1271464" y="1484784"/>
            <a:ext cx="9865096" cy="4392488"/>
          </a:xfrm>
          <a:noFill/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2600" dirty="0">
                <a:solidFill>
                  <a:srgbClr val="CC0099"/>
                </a:solidFill>
              </a:rPr>
              <a:t>多重索引</a:t>
            </a:r>
            <a:endParaRPr lang="en-US" altLang="zh-CN" sz="2600" dirty="0">
              <a:solidFill>
                <a:srgbClr val="CC0099"/>
              </a:solidFill>
            </a:endParaRPr>
          </a:p>
          <a:p>
            <a:pPr eaLnBrk="1" hangingPunct="1"/>
            <a:r>
              <a:rPr lang="zh-CN" altLang="en-US" sz="2600" dirty="0"/>
              <a:t>实际中，很多操作系统采用</a:t>
            </a:r>
            <a:r>
              <a:rPr lang="zh-CN" altLang="en-US" sz="2600" dirty="0">
                <a:solidFill>
                  <a:srgbClr val="0000CC"/>
                </a:solidFill>
              </a:rPr>
              <a:t>多重索引</a:t>
            </a:r>
            <a:r>
              <a:rPr lang="zh-CN" altLang="en-US" sz="2600" dirty="0"/>
              <a:t>的物理结构，同时使用单级索引和多级索引。每个文件由一张索引表描述，表中</a:t>
            </a:r>
            <a:r>
              <a:rPr lang="zh-CN" altLang="en-US" sz="2600" dirty="0">
                <a:solidFill>
                  <a:srgbClr val="0000CC"/>
                </a:solidFill>
              </a:rPr>
              <a:t>一部分</a:t>
            </a:r>
            <a:r>
              <a:rPr lang="zh-CN" altLang="en-US" sz="2600" dirty="0"/>
              <a:t>内容直接指向物理块，称为</a:t>
            </a:r>
            <a:r>
              <a:rPr lang="zh-CN" altLang="en-US" sz="2600" dirty="0">
                <a:solidFill>
                  <a:srgbClr val="0000CC"/>
                </a:solidFill>
              </a:rPr>
              <a:t>直接块</a:t>
            </a:r>
            <a:r>
              <a:rPr lang="zh-CN" altLang="en-US" sz="2600" dirty="0"/>
              <a:t>。索引表中同时还包含</a:t>
            </a:r>
            <a:r>
              <a:rPr lang="zh-CN" altLang="en-US" sz="2600" dirty="0">
                <a:solidFill>
                  <a:srgbClr val="0000CC"/>
                </a:solidFill>
              </a:rPr>
              <a:t>一部分二级索引指针</a:t>
            </a:r>
            <a:r>
              <a:rPr lang="zh-CN" altLang="en-US" sz="2600" dirty="0"/>
              <a:t>，或者三级甚至更高级的索引指针，指向</a:t>
            </a:r>
            <a:r>
              <a:rPr lang="zh-CN" altLang="en-US" sz="2600" dirty="0">
                <a:solidFill>
                  <a:srgbClr val="0000CC"/>
                </a:solidFill>
              </a:rPr>
              <a:t>新的索引表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eaLnBrk="1" hangingPunct="1"/>
            <a:r>
              <a:rPr lang="zh-CN" altLang="en-US" sz="2600" dirty="0"/>
              <a:t>对于比较小的文件，可以直接存放在一次间接块提供的空间中，而对于较大的文件，则使用多次间接块。</a:t>
            </a:r>
            <a:endParaRPr lang="en-US" altLang="zh-CN" sz="2600" dirty="0"/>
          </a:p>
          <a:p>
            <a:pPr eaLnBrk="1" hangingPunct="1"/>
            <a:r>
              <a:rPr lang="zh-CN" altLang="en-US" sz="2600" dirty="0"/>
              <a:t>这种方式的缺点一是</a:t>
            </a:r>
            <a:r>
              <a:rPr lang="zh-CN" altLang="en-US" sz="2600" dirty="0">
                <a:solidFill>
                  <a:srgbClr val="CC0099"/>
                </a:solidFill>
              </a:rPr>
              <a:t>索引表本身占用存储空间</a:t>
            </a:r>
            <a:r>
              <a:rPr lang="zh-CN" altLang="en-US" sz="2600" dirty="0"/>
              <a:t>，二是每次访问数据都需要先访问索引表，需要更多的系统时间开销。</a:t>
            </a:r>
          </a:p>
        </p:txBody>
      </p:sp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7A87C1C1-3D3F-46BD-AD3F-5960C2E0A9F9}"/>
              </a:ext>
            </a:extLst>
          </p:cNvPr>
          <p:cNvSpPr txBox="1">
            <a:spLocks/>
          </p:cNvSpPr>
          <p:nvPr/>
        </p:nvSpPr>
        <p:spPr bwMode="auto">
          <a:xfrm>
            <a:off x="10189963" y="6357015"/>
            <a:ext cx="73057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21564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ED092C9-1EB5-B7E3-990B-AB8668AFA991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27448" y="396583"/>
            <a:ext cx="9614859" cy="858837"/>
          </a:xfrm>
        </p:spPr>
        <p:txBody>
          <a:bodyPr/>
          <a:lstStyle/>
          <a:p>
            <a:r>
              <a:rPr lang="zh-CN" altLang="en-US" dirty="0">
                <a:latin typeface="+mn-ea"/>
              </a:rPr>
              <a:t>多重索引</a:t>
            </a:r>
          </a:p>
        </p:txBody>
      </p:sp>
      <p:pic>
        <p:nvPicPr>
          <p:cNvPr id="4" name="Picture 3" descr="jc21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51584" y="1437957"/>
            <a:ext cx="7128792" cy="463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66785763-D555-466F-BC47-3850BE3DE21B}"/>
              </a:ext>
            </a:extLst>
          </p:cNvPr>
          <p:cNvSpPr txBox="1">
            <a:spLocks/>
          </p:cNvSpPr>
          <p:nvPr/>
        </p:nvSpPr>
        <p:spPr bwMode="auto">
          <a:xfrm>
            <a:off x="10189963" y="6357015"/>
            <a:ext cx="73057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27369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F1D34D5-E28F-BB50-296B-49A325821AFB}"/>
              </a:ext>
            </a:extLst>
          </p:cNvPr>
          <p:cNvSpPr/>
          <p:nvPr/>
        </p:nvSpPr>
        <p:spPr>
          <a:xfrm>
            <a:off x="533400" y="404664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7346" name="Rectangle 5">
            <a:extLst>
              <a:ext uri="{FF2B5EF4-FFF2-40B4-BE49-F238E27FC236}">
                <a16:creationId xmlns:a16="http://schemas.microsoft.com/office/drawing/2014/main" id="{E5B97F36-5280-47DE-959B-2596B6E38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2184" y="981076"/>
            <a:ext cx="3132930" cy="309562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dirty="0"/>
              <a:t>假设物理块的大小为</a:t>
            </a:r>
            <a:r>
              <a:rPr kumimoji="0" lang="en-US" altLang="zh-CN" sz="2400" dirty="0"/>
              <a:t>512</a:t>
            </a:r>
            <a:r>
              <a:rPr kumimoji="0" lang="zh-CN" altLang="en-US" sz="2400" dirty="0"/>
              <a:t>字节，每个盘块号（即地址）占用</a:t>
            </a:r>
            <a:r>
              <a:rPr kumimoji="0" lang="en-US" altLang="zh-CN" sz="2400" dirty="0"/>
              <a:t>4</a:t>
            </a:r>
            <a:r>
              <a:rPr kumimoji="0" lang="zh-CN" altLang="en-US" sz="2400" dirty="0"/>
              <a:t>个字节，则每个物理块最多能存放</a:t>
            </a:r>
            <a:r>
              <a:rPr kumimoji="0" lang="en-US" altLang="zh-CN" sz="2400" dirty="0"/>
              <a:t>128</a:t>
            </a:r>
            <a:r>
              <a:rPr kumimoji="0" lang="zh-CN" altLang="en-US" sz="2400" dirty="0"/>
              <a:t>个地址，则采用混合索引结构所能容纳的最大文件容量是</a:t>
            </a:r>
            <a:r>
              <a:rPr kumimoji="0" lang="en-US" altLang="zh-CN" sz="2400" dirty="0"/>
              <a:t>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dirty="0"/>
              <a:t> </a:t>
            </a:r>
          </a:p>
        </p:txBody>
      </p:sp>
      <p:sp>
        <p:nvSpPr>
          <p:cNvPr id="57347" name="Rectangle 7">
            <a:extLst>
              <a:ext uri="{FF2B5EF4-FFF2-40B4-BE49-F238E27FC236}">
                <a16:creationId xmlns:a16="http://schemas.microsoft.com/office/drawing/2014/main" id="{2DF115A0-5098-4786-8178-A3AADB7F6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3635" y="-664220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graphicFrame>
        <p:nvGraphicFramePr>
          <p:cNvPr id="57348" name="Object 6">
            <a:extLst>
              <a:ext uri="{FF2B5EF4-FFF2-40B4-BE49-F238E27FC236}">
                <a16:creationId xmlns:a16="http://schemas.microsoft.com/office/drawing/2014/main" id="{B1C34447-1FE1-4A75-A6E4-0C48CFAF2B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6035480"/>
              </p:ext>
            </p:extLst>
          </p:nvPr>
        </p:nvGraphicFramePr>
        <p:xfrm>
          <a:off x="983432" y="476672"/>
          <a:ext cx="6264696" cy="55852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4864874" imgH="7723070" progId="Visio.Drawing.11">
                  <p:embed/>
                </p:oleObj>
              </mc:Choice>
              <mc:Fallback>
                <p:oleObj name="Visio" r:id="rId3" imgW="4864874" imgH="7723070" progId="Visio.Drawing.11">
                  <p:embed/>
                  <p:pic>
                    <p:nvPicPr>
                      <p:cNvPr id="57348" name="Object 6">
                        <a:extLst>
                          <a:ext uri="{FF2B5EF4-FFF2-40B4-BE49-F238E27FC236}">
                            <a16:creationId xmlns:a16="http://schemas.microsoft.com/office/drawing/2014/main" id="{B1C34447-1FE1-4A75-A6E4-0C48CFAF2B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3432" y="476672"/>
                        <a:ext cx="6264696" cy="55852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E8C1D48A-6829-4139-91B8-AE321EFAF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4325" y="4056206"/>
            <a:ext cx="3150789" cy="151288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200" dirty="0"/>
              <a:t>10+128+128</a:t>
            </a:r>
            <a:r>
              <a:rPr kumimoji="0" lang="en-US" altLang="zh-CN" sz="2200" baseline="30000" dirty="0"/>
              <a:t>2</a:t>
            </a:r>
            <a:r>
              <a:rPr kumimoji="0" lang="en-US" altLang="zh-CN" sz="2200" dirty="0"/>
              <a:t>+128</a:t>
            </a:r>
            <a:r>
              <a:rPr kumimoji="0" lang="en-US" altLang="zh-CN" sz="2200" baseline="30000" dirty="0"/>
              <a:t>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  =2113674(</a:t>
            </a:r>
            <a:r>
              <a:rPr kumimoji="0" lang="zh-CN" altLang="en-US" sz="2400" dirty="0"/>
              <a:t>块</a:t>
            </a:r>
            <a:r>
              <a:rPr kumimoji="0" lang="en-US" altLang="zh-CN" sz="2400" dirty="0"/>
              <a:t>)</a:t>
            </a:r>
            <a:r>
              <a:rPr kumimoji="0" lang="zh-CN" altLang="en-US" sz="2400" dirty="0"/>
              <a:t>。 </a:t>
            </a: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182B35BA-5F6E-4408-9082-667B4904A6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189963" y="6357015"/>
            <a:ext cx="730573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34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78B27BA-4534-F2BB-5ECB-BA37C75C0FDF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068909" y="553939"/>
            <a:ext cx="9614859" cy="8588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>
                <a:latin typeface="+mn-lt"/>
              </a:rPr>
              <a:t>5.3</a:t>
            </a:r>
            <a:r>
              <a:rPr lang="en-US" altLang="zh-CN" dirty="0">
                <a:latin typeface="+mj-ea"/>
              </a:rPr>
              <a:t> </a:t>
            </a:r>
            <a:r>
              <a:rPr lang="zh-CN" altLang="en-US" dirty="0">
                <a:latin typeface="+mj-ea"/>
              </a:rPr>
              <a:t>文件的归档与压缩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1127448" y="1609626"/>
            <a:ext cx="10081120" cy="44116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zh-CN" altLang="en-US" sz="2600" dirty="0"/>
              <a:t>有时候，我们需要把一组文件存储成另一个文件，以便</a:t>
            </a:r>
            <a:r>
              <a:rPr lang="zh-CN" altLang="en-US" sz="2600" dirty="0">
                <a:solidFill>
                  <a:srgbClr val="0000CC"/>
                </a:solidFill>
              </a:rPr>
              <a:t>备份</a:t>
            </a:r>
            <a:r>
              <a:rPr lang="zh-CN" altLang="en-US" sz="2600" dirty="0"/>
              <a:t>或传输到另一个目录甚至另一个计算机上。或者需要把文件进行</a:t>
            </a:r>
            <a:r>
              <a:rPr lang="zh-CN" altLang="en-US" sz="2600" dirty="0">
                <a:solidFill>
                  <a:srgbClr val="0000CC"/>
                </a:solidFill>
              </a:rPr>
              <a:t>压缩</a:t>
            </a:r>
            <a:r>
              <a:rPr lang="zh-CN" altLang="en-US" sz="2600" dirty="0"/>
              <a:t>，使它们仅使用少量磁盘空间并能更快地通过互联网下载。</a:t>
            </a:r>
            <a:endParaRPr lang="en-US" altLang="zh-CN" sz="2600" dirty="0"/>
          </a:p>
          <a:p>
            <a:pPr algn="just" eaLnBrk="1" hangingPunct="1">
              <a:lnSpc>
                <a:spcPct val="150000"/>
              </a:lnSpc>
            </a:pPr>
            <a:r>
              <a:rPr lang="zh-CN" altLang="en-US" sz="2600" dirty="0"/>
              <a:t>在</a:t>
            </a:r>
            <a:r>
              <a:rPr lang="en-US" altLang="zh-CN" sz="2600" dirty="0"/>
              <a:t>Linux</a:t>
            </a:r>
            <a:r>
              <a:rPr lang="zh-CN" altLang="en-US" sz="2600" dirty="0"/>
              <a:t>系统中，常见的</a:t>
            </a:r>
            <a:r>
              <a:rPr lang="zh-CN" altLang="en-US" sz="2600" dirty="0">
                <a:solidFill>
                  <a:srgbClr val="0000CC"/>
                </a:solidFill>
              </a:rPr>
              <a:t>压缩</a:t>
            </a:r>
            <a:r>
              <a:rPr lang="zh-CN" altLang="en-US" sz="2600" dirty="0"/>
              <a:t>命令是</a:t>
            </a:r>
            <a:r>
              <a:rPr lang="en-US" altLang="zh-CN" sz="2600" dirty="0">
                <a:solidFill>
                  <a:srgbClr val="0000CC"/>
                </a:solidFill>
              </a:rPr>
              <a:t>gzip</a:t>
            </a:r>
            <a:r>
              <a:rPr lang="zh-CN" altLang="en-US" sz="2600" dirty="0"/>
              <a:t>和</a:t>
            </a:r>
            <a:r>
              <a:rPr lang="en-US" altLang="zh-CN" sz="2600" dirty="0">
                <a:solidFill>
                  <a:srgbClr val="0000CC"/>
                </a:solidFill>
              </a:rPr>
              <a:t>bzip2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algn="just" eaLnBrk="1" hangingPunct="1">
              <a:lnSpc>
                <a:spcPct val="150000"/>
              </a:lnSpc>
            </a:pPr>
            <a:r>
              <a:rPr lang="en-US" altLang="zh-CN" sz="2600" dirty="0">
                <a:solidFill>
                  <a:srgbClr val="0000CC"/>
                </a:solidFill>
              </a:rPr>
              <a:t>tar</a:t>
            </a:r>
            <a:r>
              <a:rPr lang="zh-CN" altLang="en-US" sz="2600" dirty="0"/>
              <a:t>命令可以将多个文件</a:t>
            </a:r>
            <a:r>
              <a:rPr lang="zh-CN" altLang="en-US" sz="2600" dirty="0">
                <a:solidFill>
                  <a:srgbClr val="0000CC"/>
                </a:solidFill>
              </a:rPr>
              <a:t>打包</a:t>
            </a:r>
            <a:r>
              <a:rPr lang="zh-CN" altLang="en-US" sz="2600" dirty="0"/>
              <a:t>为一个文件。</a:t>
            </a:r>
            <a:endParaRPr lang="en-US" altLang="zh-CN" sz="2600" dirty="0"/>
          </a:p>
          <a:p>
            <a:pPr algn="just" eaLnBrk="1" hangingPunct="1">
              <a:lnSpc>
                <a:spcPct val="110000"/>
              </a:lnSpc>
            </a:pPr>
            <a:endParaRPr lang="zh-CN" altLang="en-US" sz="28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6701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FADCED9-366B-30DD-ED5B-ED74459C9AFA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135560" y="447584"/>
            <a:ext cx="7543800" cy="8588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>
                <a:ea typeface="华文中宋" pitchFamily="2" charset="-122"/>
              </a:rPr>
              <a:t>gzip</a:t>
            </a:r>
            <a:r>
              <a:rPr lang="zh-CN" altLang="en-US" dirty="0">
                <a:ea typeface="华文中宋" pitchFamily="2" charset="-122"/>
              </a:rPr>
              <a:t>命令 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1127448" y="1437957"/>
            <a:ext cx="9721080" cy="458920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2600" dirty="0"/>
              <a:t>格式：</a:t>
            </a:r>
            <a:r>
              <a:rPr lang="en-US" altLang="zh-CN" sz="2600" dirty="0">
                <a:solidFill>
                  <a:srgbClr val="CC0099"/>
                </a:solidFill>
              </a:rPr>
              <a:t>gzip  [</a:t>
            </a:r>
            <a:r>
              <a:rPr lang="zh-CN" altLang="en-US" sz="2600" dirty="0">
                <a:solidFill>
                  <a:srgbClr val="CC0099"/>
                </a:solidFill>
              </a:rPr>
              <a:t>选项</a:t>
            </a:r>
            <a:r>
              <a:rPr lang="en-US" altLang="zh-CN" sz="2600" dirty="0">
                <a:solidFill>
                  <a:srgbClr val="CC0099"/>
                </a:solidFill>
              </a:rPr>
              <a:t>]    </a:t>
            </a:r>
            <a:r>
              <a:rPr lang="zh-CN" altLang="en-US" sz="2600" dirty="0">
                <a:solidFill>
                  <a:srgbClr val="CC0099"/>
                </a:solidFill>
              </a:rPr>
              <a:t>文件</a:t>
            </a:r>
            <a:r>
              <a:rPr lang="en-US" altLang="zh-CN" sz="2600" dirty="0">
                <a:solidFill>
                  <a:srgbClr val="CC0099"/>
                </a:solidFill>
              </a:rPr>
              <a:t>|</a:t>
            </a:r>
            <a:r>
              <a:rPr lang="zh-CN" altLang="en-US" sz="2600" dirty="0">
                <a:solidFill>
                  <a:srgbClr val="CC0099"/>
                </a:solidFill>
              </a:rPr>
              <a:t>目录</a:t>
            </a:r>
            <a:endParaRPr lang="en-US" altLang="zh-CN" sz="2600" dirty="0">
              <a:solidFill>
                <a:srgbClr val="CC0099"/>
              </a:solidFill>
            </a:endParaRPr>
          </a:p>
          <a:p>
            <a:pPr marL="0" indent="0" eaLnBrk="1" hangingPunct="1"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功能</a:t>
            </a:r>
            <a:r>
              <a:rPr lang="zh-CN" altLang="en-US" sz="2600" dirty="0"/>
              <a:t>：压缩</a:t>
            </a:r>
            <a:r>
              <a:rPr lang="en-US" altLang="zh-CN" sz="2600" dirty="0"/>
              <a:t>/</a:t>
            </a:r>
            <a:r>
              <a:rPr lang="zh-CN" altLang="en-US" sz="2600" dirty="0"/>
              <a:t>解压缩文件，无选项参数时执行压缩文件。压缩后产生扩展名为</a:t>
            </a:r>
            <a:r>
              <a:rPr lang="en-US" altLang="zh-CN" sz="2600" dirty="0">
                <a:solidFill>
                  <a:srgbClr val="0000CC"/>
                </a:solidFill>
              </a:rPr>
              <a:t>.</a:t>
            </a:r>
            <a:r>
              <a:rPr lang="en-US" altLang="zh-CN" sz="2600" dirty="0" err="1">
                <a:solidFill>
                  <a:srgbClr val="0000CC"/>
                </a:solidFill>
              </a:rPr>
              <a:t>gz</a:t>
            </a:r>
            <a:r>
              <a:rPr lang="zh-CN" altLang="en-US" sz="2600" dirty="0"/>
              <a:t>的压缩文件，并删除源文件。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zh-CN" altLang="en-US" sz="2600" dirty="0"/>
              <a:t>主要选项说明：</a:t>
            </a:r>
            <a:endParaRPr lang="en-US" altLang="zh-CN" sz="2600" dirty="0"/>
          </a:p>
          <a:p>
            <a:pPr eaLnBrk="1" hangingPunct="1">
              <a:buFontTx/>
              <a:buNone/>
            </a:pPr>
            <a:r>
              <a:rPr lang="en-US" altLang="zh-CN" sz="2600" dirty="0"/>
              <a:t>-d    </a:t>
            </a:r>
            <a:r>
              <a:rPr lang="zh-CN" altLang="en-US" sz="2600" dirty="0"/>
              <a:t>将压缩文件解压。</a:t>
            </a:r>
            <a:endParaRPr lang="en-US" altLang="zh-CN" sz="2600" dirty="0"/>
          </a:p>
          <a:p>
            <a:pPr eaLnBrk="1" hangingPunct="1">
              <a:buFontTx/>
              <a:buNone/>
            </a:pPr>
            <a:r>
              <a:rPr lang="en-US" altLang="zh-CN" sz="2600" dirty="0"/>
              <a:t>-l</a:t>
            </a:r>
            <a:r>
              <a:rPr lang="zh-CN" altLang="en-US" sz="2600" dirty="0"/>
              <a:t>     以长格式列出压缩文件的信息，包括压缩文件大小， </a:t>
            </a:r>
            <a:endParaRPr lang="en-US" altLang="zh-CN" sz="2600" dirty="0"/>
          </a:p>
          <a:p>
            <a:pPr eaLnBrk="1" hangingPunct="1">
              <a:buFontTx/>
              <a:buNone/>
            </a:pPr>
            <a:r>
              <a:rPr lang="en-US" altLang="zh-CN" sz="2600" dirty="0"/>
              <a:t>       </a:t>
            </a:r>
            <a:r>
              <a:rPr lang="zh-CN" altLang="en-US" sz="2600" dirty="0"/>
              <a:t>未压缩文件大小，压缩比例，未压缩文件名字。</a:t>
            </a:r>
            <a:endParaRPr lang="en-US" altLang="zh-CN" sz="2600" dirty="0"/>
          </a:p>
          <a:p>
            <a:pPr eaLnBrk="1" hangingPunct="1">
              <a:buFontTx/>
              <a:buNone/>
            </a:pPr>
            <a:r>
              <a:rPr lang="en-US" altLang="zh-CN" sz="2600" dirty="0"/>
              <a:t>-n    </a:t>
            </a:r>
            <a:r>
              <a:rPr lang="zh-CN" altLang="en-US" sz="2600" dirty="0"/>
              <a:t>不保留原来文件的名称和时间。</a:t>
            </a:r>
            <a:endParaRPr lang="en-US" altLang="zh-CN" sz="2600" dirty="0"/>
          </a:p>
          <a:p>
            <a:pPr eaLnBrk="1" hangingPunct="1">
              <a:buFontTx/>
              <a:buNone/>
            </a:pPr>
            <a:r>
              <a:rPr lang="en-US" altLang="zh-CN" sz="2600" dirty="0"/>
              <a:t>-v     </a:t>
            </a:r>
            <a:r>
              <a:rPr lang="zh-CN" altLang="en-US" sz="2600" dirty="0"/>
              <a:t>显示压缩比等信息。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4358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2387E7B-2669-4273-5BEF-49E747C79EE0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35560" y="386510"/>
            <a:ext cx="7543800" cy="858837"/>
          </a:xfrm>
        </p:spPr>
        <p:txBody>
          <a:bodyPr/>
          <a:lstStyle/>
          <a:p>
            <a:r>
              <a:rPr lang="en-US" altLang="zh-CN" dirty="0">
                <a:ea typeface="华文中宋" pitchFamily="2" charset="-122"/>
              </a:rPr>
              <a:t>gzip</a:t>
            </a:r>
            <a:r>
              <a:rPr lang="zh-CN" altLang="en-US" dirty="0">
                <a:ea typeface="华文中宋" pitchFamily="2" charset="-122"/>
              </a:rPr>
              <a:t>命令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9456" y="1437957"/>
            <a:ext cx="9649072" cy="4727348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例如</a:t>
            </a:r>
            <a:r>
              <a:rPr lang="zh-CN" altLang="en-US" sz="2600" dirty="0"/>
              <a:t>：假设目录</a:t>
            </a:r>
            <a:r>
              <a:rPr lang="en-US" altLang="zh-CN" sz="2600" dirty="0"/>
              <a:t>/home</a:t>
            </a:r>
            <a:r>
              <a:rPr lang="zh-CN" altLang="en-US" sz="2600" dirty="0"/>
              <a:t>下有文件</a:t>
            </a:r>
            <a:r>
              <a:rPr lang="en-US" altLang="zh-CN" sz="2600" dirty="0" err="1"/>
              <a:t>mm.txt</a:t>
            </a:r>
            <a:r>
              <a:rPr lang="zh-CN" altLang="en-US" sz="2600" dirty="0"/>
              <a:t>、</a:t>
            </a:r>
            <a:r>
              <a:rPr lang="en-US" altLang="zh-CN" sz="2600" dirty="0" err="1"/>
              <a:t>sort.txt</a:t>
            </a:r>
            <a:r>
              <a:rPr lang="zh-CN" altLang="en-US" sz="2600" dirty="0"/>
              <a:t>、</a:t>
            </a:r>
            <a:r>
              <a:rPr lang="en-US" altLang="zh-CN" sz="2600" dirty="0"/>
              <a:t>xx.com</a:t>
            </a:r>
            <a:r>
              <a:rPr lang="zh-CN" altLang="en-US" sz="2600" dirty="0"/>
              <a:t>，把</a:t>
            </a:r>
            <a:r>
              <a:rPr lang="en-US" altLang="zh-CN" sz="2600" dirty="0"/>
              <a:t>/home</a:t>
            </a:r>
            <a:r>
              <a:rPr lang="zh-CN" altLang="en-US" sz="2600" dirty="0"/>
              <a:t>目录下的每个文件压缩成</a:t>
            </a:r>
            <a:r>
              <a:rPr lang="en-US" altLang="zh-CN" sz="2600" dirty="0"/>
              <a:t>.</a:t>
            </a:r>
            <a:r>
              <a:rPr lang="en-US" altLang="zh-CN" sz="2600" dirty="0" err="1"/>
              <a:t>gz</a:t>
            </a:r>
            <a:r>
              <a:rPr lang="zh-CN" altLang="en-US" sz="2600" dirty="0"/>
              <a:t>文件。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/>
              <a:t>$ cd /home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/>
              <a:t>$ gzip *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/>
              <a:t>$ ls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/>
              <a:t>   mm.txt.gz sort.txt.gz xx.com.gz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例如</a:t>
            </a:r>
            <a:r>
              <a:rPr lang="zh-CN" altLang="en-US" sz="2600" dirty="0"/>
              <a:t>：把上例中每个压缩的文件解压，并显示压缩比。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/>
              <a:t>$ gzip -dv *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 err="1"/>
              <a:t>mm.txt.gz</a:t>
            </a:r>
            <a:r>
              <a:rPr lang="en-US" altLang="zh-CN" sz="2000" dirty="0"/>
              <a:t> 43.1%-----replaced with </a:t>
            </a:r>
            <a:r>
              <a:rPr lang="en-US" altLang="zh-CN" sz="2000" dirty="0" err="1"/>
              <a:t>mm.txt</a:t>
            </a:r>
            <a:endParaRPr lang="en-US" altLang="zh-CN" sz="200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/>
              <a:t>sort.txt.gz 62.7%-----replaced with sort.txt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/>
              <a:t>xx.com.gz 52.8%-----replaced with xx.com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/>
              <a:t>$ ls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/>
              <a:t>   mm.txt   sort.txt   xx.com</a:t>
            </a:r>
          </a:p>
          <a:p>
            <a:pPr marL="0" indent="0">
              <a:buNone/>
            </a:pPr>
            <a:endParaRPr lang="en-US" altLang="zh-CN" sz="2800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4BF583F8-6991-4540-BF8F-705BBAF73F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189963" y="6357015"/>
            <a:ext cx="730573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51528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7F7A7B8-EE6A-FFC9-D7EB-87148DAFFB2B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983432" y="404664"/>
            <a:ext cx="9614859" cy="8588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 err="1">
                <a:ea typeface="华文中宋" pitchFamily="2" charset="-122"/>
              </a:rPr>
              <a:t>zcat</a:t>
            </a:r>
            <a:r>
              <a:rPr lang="zh-CN" altLang="en-US" dirty="0">
                <a:latin typeface="+mj-ea"/>
              </a:rPr>
              <a:t>命令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1207570" y="1437957"/>
            <a:ext cx="9776859" cy="458333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600" dirty="0"/>
              <a:t>格式：</a:t>
            </a:r>
            <a:r>
              <a:rPr lang="en-US" altLang="zh-CN" sz="2600" dirty="0" err="1">
                <a:solidFill>
                  <a:srgbClr val="CC0099"/>
                </a:solidFill>
              </a:rPr>
              <a:t>zcat</a:t>
            </a:r>
            <a:r>
              <a:rPr lang="en-US" altLang="zh-CN" sz="2600" dirty="0">
                <a:solidFill>
                  <a:srgbClr val="CC0099"/>
                </a:solidFill>
              </a:rPr>
              <a:t>   [</a:t>
            </a:r>
            <a:r>
              <a:rPr lang="zh-CN" altLang="en-US" sz="2600" dirty="0">
                <a:solidFill>
                  <a:srgbClr val="CC0099"/>
                </a:solidFill>
              </a:rPr>
              <a:t>选项</a:t>
            </a:r>
            <a:r>
              <a:rPr lang="en-US" altLang="zh-CN" sz="2600" dirty="0">
                <a:solidFill>
                  <a:srgbClr val="CC0099"/>
                </a:solidFill>
              </a:rPr>
              <a:t>]   </a:t>
            </a:r>
            <a:r>
              <a:rPr lang="zh-CN" altLang="en-US" sz="2600" dirty="0">
                <a:solidFill>
                  <a:srgbClr val="CC0099"/>
                </a:solidFill>
              </a:rPr>
              <a:t>文件名</a:t>
            </a:r>
          </a:p>
          <a:p>
            <a:pPr marL="0" indent="0" eaLnBrk="1" hangingPunct="1"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功能</a:t>
            </a:r>
            <a:r>
              <a:rPr lang="zh-CN" altLang="en-US" sz="2600" dirty="0"/>
              <a:t>：显示压缩文件的内容。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zh-CN" altLang="en-US" sz="2600" dirty="0"/>
              <a:t>主要选项说明：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-l    </a:t>
            </a:r>
            <a:r>
              <a:rPr lang="zh-CN" altLang="en-US" sz="2600" dirty="0"/>
              <a:t>显示压缩包文件的列表（压缩大小，未压缩大小，比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      </a:t>
            </a:r>
            <a:r>
              <a:rPr lang="zh-CN" altLang="en-US" sz="2600" dirty="0"/>
              <a:t>率 </a:t>
            </a:r>
            <a:r>
              <a:rPr lang="en-US" altLang="zh-CN" sz="2600" dirty="0"/>
              <a:t>-- </a:t>
            </a:r>
            <a:r>
              <a:rPr lang="zh-CN" altLang="en-US" sz="2600" dirty="0"/>
              <a:t>压缩率）。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例如</a:t>
            </a:r>
            <a:r>
              <a:rPr lang="zh-CN" altLang="en-US" sz="2600" dirty="0"/>
              <a:t>：不解压缩文件的情况下，显示压缩包文件</a:t>
            </a:r>
            <a:r>
              <a:rPr lang="en-US" altLang="zh-CN" sz="2600" dirty="0"/>
              <a:t>file.gz</a:t>
            </a:r>
            <a:r>
              <a:rPr lang="zh-CN" altLang="en-US" sz="2600" dirty="0"/>
              <a:t>的内容。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$   </a:t>
            </a:r>
            <a:r>
              <a:rPr lang="en-US" altLang="zh-CN" sz="2600" dirty="0" err="1"/>
              <a:t>zcat</a:t>
            </a:r>
            <a:r>
              <a:rPr lang="en-US" altLang="zh-CN" sz="2600" dirty="0"/>
              <a:t>   file.gz</a:t>
            </a:r>
          </a:p>
          <a:p>
            <a:pPr marL="0" indent="0" eaLnBrk="1" hangingPunct="1">
              <a:buNone/>
            </a:pPr>
            <a:r>
              <a:rPr lang="zh-CN" altLang="en-US" sz="2600" dirty="0">
                <a:solidFill>
                  <a:srgbClr val="0000FF"/>
                </a:solidFill>
              </a:rPr>
              <a:t>例如</a:t>
            </a:r>
            <a:r>
              <a:rPr lang="zh-CN" altLang="en-US" sz="2600" dirty="0"/>
              <a:t>：查看多个压缩文件。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$   </a:t>
            </a:r>
            <a:r>
              <a:rPr lang="en-US" altLang="zh-CN" sz="2600" dirty="0" err="1"/>
              <a:t>zcat</a:t>
            </a:r>
            <a:r>
              <a:rPr lang="en-US" altLang="zh-CN" sz="2600" dirty="0"/>
              <a:t>   mm.txt.gz   sort.txt.gz    xx.com.gz</a:t>
            </a:r>
            <a:endParaRPr lang="zh-CN" altLang="en-US" sz="2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51955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6EE90F5-7F08-19DD-B700-8DEBFF8DE3DE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085677" y="432892"/>
            <a:ext cx="9614859" cy="8588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 err="1">
                <a:ea typeface="华文中宋" pitchFamily="2" charset="-122"/>
              </a:rPr>
              <a:t>bzip2</a:t>
            </a:r>
            <a:r>
              <a:rPr lang="zh-CN" altLang="en-US" dirty="0">
                <a:latin typeface="+mj-ea"/>
              </a:rPr>
              <a:t>命令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1034554" y="1436416"/>
            <a:ext cx="10122891" cy="458487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600" dirty="0"/>
              <a:t>格式：</a:t>
            </a:r>
            <a:r>
              <a:rPr lang="en-US" altLang="zh-CN" sz="2600" dirty="0">
                <a:solidFill>
                  <a:srgbClr val="CC0099"/>
                </a:solidFill>
              </a:rPr>
              <a:t>bzip2  [</a:t>
            </a:r>
            <a:r>
              <a:rPr lang="zh-CN" altLang="en-US" sz="2600" dirty="0">
                <a:solidFill>
                  <a:srgbClr val="CC0099"/>
                </a:solidFill>
              </a:rPr>
              <a:t>选项</a:t>
            </a:r>
            <a:r>
              <a:rPr lang="en-US" altLang="zh-CN" sz="2600" dirty="0">
                <a:solidFill>
                  <a:srgbClr val="CC0099"/>
                </a:solidFill>
              </a:rPr>
              <a:t>]   </a:t>
            </a:r>
            <a:r>
              <a:rPr lang="zh-CN" altLang="en-US" sz="2600" dirty="0">
                <a:solidFill>
                  <a:srgbClr val="CC0099"/>
                </a:solidFill>
              </a:rPr>
              <a:t>文件</a:t>
            </a:r>
            <a:r>
              <a:rPr lang="en-US" altLang="zh-CN" sz="2600" dirty="0">
                <a:solidFill>
                  <a:srgbClr val="CC0099"/>
                </a:solidFill>
              </a:rPr>
              <a:t>|</a:t>
            </a:r>
            <a:r>
              <a:rPr lang="zh-CN" altLang="en-US" sz="2600" dirty="0">
                <a:solidFill>
                  <a:srgbClr val="CC0099"/>
                </a:solidFill>
              </a:rPr>
              <a:t>目录</a:t>
            </a:r>
          </a:p>
          <a:p>
            <a:pPr marL="0" indent="0" eaLnBrk="1" hangingPunct="1"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功能</a:t>
            </a:r>
            <a:r>
              <a:rPr lang="zh-CN" altLang="en-US" sz="2600" dirty="0"/>
              <a:t>：压缩</a:t>
            </a:r>
            <a:r>
              <a:rPr lang="en-US" altLang="zh-CN" sz="2600" dirty="0"/>
              <a:t>/</a:t>
            </a:r>
            <a:r>
              <a:rPr lang="zh-CN" altLang="en-US" sz="2600" dirty="0"/>
              <a:t>解压缩文件。无选项参数时执行压缩操作，压缩后产生扩展名为</a:t>
            </a:r>
            <a:r>
              <a:rPr lang="en-US" altLang="zh-CN" sz="2600" dirty="0">
                <a:solidFill>
                  <a:srgbClr val="0000FF"/>
                </a:solidFill>
              </a:rPr>
              <a:t>.bz2</a:t>
            </a:r>
            <a:r>
              <a:rPr lang="zh-CN" altLang="en-US" sz="2600" dirty="0"/>
              <a:t>的压缩文件，并删除源文件。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zh-CN" altLang="en-US" sz="2600" dirty="0"/>
              <a:t>主要选项说明：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-d   </a:t>
            </a:r>
            <a:r>
              <a:rPr lang="zh-CN" altLang="en-US" sz="2600" dirty="0"/>
              <a:t>解压缩文件。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-z   </a:t>
            </a:r>
            <a:r>
              <a:rPr lang="zh-CN" altLang="en-US" sz="2600" dirty="0"/>
              <a:t>压缩。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-v   </a:t>
            </a:r>
            <a:r>
              <a:rPr lang="zh-CN" altLang="en-US" sz="2600" dirty="0"/>
              <a:t>显示文件的压缩比例等信息。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-k   </a:t>
            </a:r>
            <a:r>
              <a:rPr lang="zh-CN" altLang="en-US" sz="2600" dirty="0"/>
              <a:t>不删除原文件。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-f</a:t>
            </a:r>
            <a:r>
              <a:rPr lang="zh-CN" altLang="en-US" sz="2600" dirty="0"/>
              <a:t>　</a:t>
            </a:r>
            <a:r>
              <a:rPr lang="en-US" altLang="zh-CN" sz="2600" dirty="0"/>
              <a:t>bzip2</a:t>
            </a:r>
            <a:r>
              <a:rPr lang="zh-CN" altLang="en-US" sz="2600" dirty="0"/>
              <a:t>在压缩或解压缩时，若输出文件与现有文件同名，默认不会覆盖现有文件，若要覆盖，可使用此参数。</a:t>
            </a:r>
            <a:endParaRPr lang="en-US" altLang="zh-CN" sz="2600" dirty="0"/>
          </a:p>
          <a:p>
            <a:pPr marL="0" indent="0" eaLnBrk="1" hangingPunct="1">
              <a:lnSpc>
                <a:spcPct val="130000"/>
              </a:lnSpc>
              <a:buNone/>
            </a:pPr>
            <a:endParaRPr lang="zh-CN" altLang="en-US" sz="2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11938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FEE5B9F-CFF4-CE20-30E8-92E165BF1BAA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07568" y="334446"/>
            <a:ext cx="7543800" cy="8588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>
                <a:ea typeface="华文中宋" pitchFamily="2" charset="-122"/>
              </a:rPr>
              <a:t>tar </a:t>
            </a:r>
            <a:r>
              <a:rPr lang="zh-CN" altLang="en-US" dirty="0">
                <a:ea typeface="华文中宋" pitchFamily="2" charset="-122"/>
              </a:rPr>
              <a:t>命令</a:t>
            </a:r>
            <a:r>
              <a:rPr lang="zh-CN" altLang="en-US" dirty="0"/>
              <a:t> 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1055440" y="1261546"/>
            <a:ext cx="9865096" cy="4831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600" dirty="0"/>
              <a:t>语法：</a:t>
            </a:r>
            <a:r>
              <a:rPr lang="en-US" altLang="zh-CN" sz="2600" dirty="0">
                <a:solidFill>
                  <a:srgbClr val="CC0099"/>
                </a:solidFill>
              </a:rPr>
              <a:t>tar  </a:t>
            </a:r>
            <a:r>
              <a:rPr lang="zh-CN" altLang="en-US" sz="2600" dirty="0">
                <a:solidFill>
                  <a:srgbClr val="CC0099"/>
                </a:solidFill>
              </a:rPr>
              <a:t>选项</a:t>
            </a:r>
            <a:r>
              <a:rPr lang="en-US" altLang="zh-CN" sz="2600" dirty="0">
                <a:solidFill>
                  <a:srgbClr val="CC0099"/>
                </a:solidFill>
              </a:rPr>
              <a:t>   </a:t>
            </a:r>
            <a:r>
              <a:rPr lang="zh-CN" altLang="en-US" sz="2600" dirty="0">
                <a:solidFill>
                  <a:srgbClr val="CC0099"/>
                </a:solidFill>
              </a:rPr>
              <a:t>归档</a:t>
            </a:r>
            <a:r>
              <a:rPr lang="en-US" altLang="zh-CN" sz="2600" dirty="0">
                <a:solidFill>
                  <a:srgbClr val="CC0099"/>
                </a:solidFill>
              </a:rPr>
              <a:t>/</a:t>
            </a:r>
            <a:r>
              <a:rPr lang="zh-CN" altLang="en-US" sz="2600" dirty="0">
                <a:solidFill>
                  <a:srgbClr val="CC0099"/>
                </a:solidFill>
              </a:rPr>
              <a:t>压缩文件    </a:t>
            </a:r>
            <a:r>
              <a:rPr lang="en-US" altLang="zh-CN" sz="2600" dirty="0">
                <a:solidFill>
                  <a:srgbClr val="CC0099"/>
                </a:solidFill>
              </a:rPr>
              <a:t>[</a:t>
            </a:r>
            <a:r>
              <a:rPr lang="zh-CN" altLang="en-US" sz="2600" dirty="0">
                <a:solidFill>
                  <a:srgbClr val="CC0099"/>
                </a:solidFill>
              </a:rPr>
              <a:t>文件或者目录</a:t>
            </a:r>
            <a:r>
              <a:rPr lang="en-US" altLang="zh-CN" sz="2600" dirty="0">
                <a:solidFill>
                  <a:srgbClr val="CC0099"/>
                </a:solidFill>
              </a:rPr>
              <a:t>]</a:t>
            </a:r>
            <a:endParaRPr lang="zh-CN" altLang="en-US" sz="2600" dirty="0">
              <a:solidFill>
                <a:srgbClr val="CC0099"/>
              </a:solidFill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600" dirty="0"/>
              <a:t>功能：将多个文件或目录归档为</a:t>
            </a:r>
            <a:r>
              <a:rPr lang="en-US" altLang="zh-CN" sz="2600" dirty="0"/>
              <a:t>tar</a:t>
            </a:r>
            <a:r>
              <a:rPr lang="zh-CN" altLang="en-US" sz="2600" dirty="0"/>
              <a:t>文件，使用相关选项还可以压缩归档文件。</a:t>
            </a:r>
            <a:endParaRPr lang="en-US" altLang="zh-CN" sz="2600" dirty="0"/>
          </a:p>
          <a:p>
            <a:pPr marL="0" indent="0" eaLnBrk="1" hangingPunct="1">
              <a:lnSpc>
                <a:spcPct val="90000"/>
              </a:lnSpc>
            </a:pPr>
            <a:r>
              <a:rPr lang="zh-CN" altLang="en-US" sz="2600" dirty="0">
                <a:solidFill>
                  <a:srgbClr val="0000CC"/>
                </a:solidFill>
              </a:rPr>
              <a:t>使用该命令时</a:t>
            </a:r>
            <a:r>
              <a:rPr lang="zh-CN" altLang="en-US" sz="2600" dirty="0"/>
              <a:t>，</a:t>
            </a:r>
            <a:r>
              <a:rPr lang="zh-CN" altLang="en-US" sz="2600" dirty="0">
                <a:solidFill>
                  <a:srgbClr val="0000CC"/>
                </a:solidFill>
              </a:rPr>
              <a:t>主选项是必须要有的</a:t>
            </a:r>
            <a:r>
              <a:rPr lang="zh-CN" altLang="en-US" sz="2600" dirty="0"/>
              <a:t>，它告诉</a:t>
            </a:r>
            <a:r>
              <a:rPr lang="en-US" altLang="zh-CN" sz="2600" dirty="0"/>
              <a:t>tar</a:t>
            </a:r>
            <a:r>
              <a:rPr lang="zh-CN" altLang="en-US" sz="2600" dirty="0"/>
              <a:t>要做什么事情，辅选项可以选用。</a:t>
            </a:r>
            <a:endParaRPr lang="en-US" altLang="zh-CN" sz="2600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600" dirty="0"/>
              <a:t>主要选项说明：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-c  </a:t>
            </a:r>
            <a:r>
              <a:rPr lang="zh-CN" altLang="zh-CN" sz="2600" dirty="0"/>
              <a:t>创建归档</a:t>
            </a:r>
            <a:r>
              <a:rPr lang="zh-CN" altLang="en-US" sz="2600" dirty="0"/>
              <a:t>文件</a:t>
            </a:r>
            <a:r>
              <a:rPr lang="zh-CN" altLang="zh-CN" sz="2600" dirty="0"/>
              <a:t>。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-f   </a:t>
            </a:r>
            <a:r>
              <a:rPr lang="zh-CN" altLang="en-US" sz="2600" dirty="0"/>
              <a:t>文件名 </a:t>
            </a:r>
            <a:r>
              <a:rPr lang="en-US" altLang="zh-CN" sz="2600" dirty="0"/>
              <a:t>  </a:t>
            </a:r>
            <a:r>
              <a:rPr lang="zh-CN" altLang="zh-CN" sz="2600" dirty="0"/>
              <a:t>当与 </a:t>
            </a:r>
            <a:r>
              <a:rPr lang="en-US" altLang="zh-CN" sz="2600" dirty="0"/>
              <a:t>-c </a:t>
            </a:r>
            <a:r>
              <a:rPr lang="zh-CN" altLang="zh-CN" sz="2600" dirty="0"/>
              <a:t>选项一起使用时，创建的 </a:t>
            </a:r>
            <a:r>
              <a:rPr lang="en-US" altLang="zh-CN" sz="2600" dirty="0"/>
              <a:t>tar </a:t>
            </a:r>
            <a:r>
              <a:rPr lang="zh-CN" altLang="zh-CN" sz="2600" dirty="0"/>
              <a:t>文件使用该选项指定文件名；</a:t>
            </a:r>
            <a:r>
              <a:rPr lang="en-US" altLang="zh-CN" sz="2600" dirty="0"/>
              <a:t> </a:t>
            </a:r>
            <a:r>
              <a:rPr lang="zh-CN" altLang="zh-CN" sz="2600" dirty="0"/>
              <a:t>当与 </a:t>
            </a:r>
            <a:r>
              <a:rPr lang="en-US" altLang="zh-CN" sz="2600" dirty="0"/>
              <a:t>-x </a:t>
            </a:r>
            <a:r>
              <a:rPr lang="zh-CN" altLang="zh-CN" sz="2600" dirty="0"/>
              <a:t>选项一起使用时，则解除该选项指定的归档。</a:t>
            </a:r>
            <a:endParaRPr lang="zh-CN" altLang="zh-CN" sz="2600" b="0" dirty="0"/>
          </a:p>
          <a:p>
            <a:pPr marL="0" indent="0" eaLnBrk="1" hangingPunct="1">
              <a:buNone/>
            </a:pPr>
            <a:r>
              <a:rPr lang="en-US" altLang="zh-CN" sz="2600" dirty="0"/>
              <a:t>-x  </a:t>
            </a:r>
            <a:r>
              <a:rPr lang="zh-CN" altLang="en-US" sz="2600" dirty="0"/>
              <a:t>还原</a:t>
            </a:r>
            <a:r>
              <a:rPr lang="zh-CN" altLang="zh-CN" sz="2600" dirty="0"/>
              <a:t>归档</a:t>
            </a:r>
            <a:r>
              <a:rPr lang="en-US" altLang="zh-CN" sz="2600" dirty="0"/>
              <a:t>/</a:t>
            </a:r>
            <a:r>
              <a:rPr lang="zh-CN" altLang="en-US" sz="2600" dirty="0"/>
              <a:t>压缩文件</a:t>
            </a:r>
            <a:r>
              <a:rPr lang="zh-CN" altLang="zh-CN" sz="2600" dirty="0"/>
              <a:t>中</a:t>
            </a:r>
            <a:r>
              <a:rPr lang="zh-CN" altLang="en-US" sz="2600" dirty="0"/>
              <a:t>的文件和目录。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>
                <a:solidFill>
                  <a:srgbClr val="0000FF"/>
                </a:solidFill>
              </a:rPr>
              <a:t>-r</a:t>
            </a:r>
            <a:r>
              <a:rPr lang="en-US" altLang="zh-CN" sz="2600" dirty="0"/>
              <a:t>   </a:t>
            </a:r>
            <a:r>
              <a:rPr lang="zh-CN" altLang="en-US" sz="2600" dirty="0"/>
              <a:t>将文件追加到</a:t>
            </a:r>
            <a:r>
              <a:rPr lang="en-US" altLang="zh-CN" sz="2600" dirty="0"/>
              <a:t>tar</a:t>
            </a:r>
            <a:r>
              <a:rPr lang="zh-CN" altLang="en-US" sz="2600" dirty="0"/>
              <a:t>归档文件中。</a:t>
            </a:r>
            <a:endParaRPr lang="en-US" altLang="zh-CN" sz="2600" dirty="0"/>
          </a:p>
          <a:p>
            <a:pPr marL="0" indent="0" eaLnBrk="1" hangingPunct="1">
              <a:buNone/>
            </a:pPr>
            <a:endParaRPr lang="en-US" altLang="zh-CN" sz="2600" dirty="0"/>
          </a:p>
          <a:p>
            <a:pPr marL="0" indent="0" eaLnBrk="1" hangingPunct="1">
              <a:buNone/>
            </a:pPr>
            <a:endParaRPr lang="en-US" altLang="zh-CN" sz="2400" dirty="0"/>
          </a:p>
          <a:p>
            <a:pPr marL="0" indent="0" eaLnBrk="1" hangingPunct="1">
              <a:buNone/>
            </a:pPr>
            <a:endParaRPr lang="zh-CN" altLang="zh-CN" sz="2000" b="0" dirty="0"/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838EE814-666E-46DE-A665-9BAF773D2D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189963" y="6357015"/>
            <a:ext cx="730573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40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20165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0452461-5220-90BC-0B60-9F2C5F4AD437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135560" y="345952"/>
            <a:ext cx="7543800" cy="8588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>
                <a:ea typeface="华文中宋" pitchFamily="2" charset="-122"/>
              </a:rPr>
              <a:t>tar </a:t>
            </a:r>
            <a:r>
              <a:rPr lang="zh-CN" altLang="en-US" dirty="0">
                <a:ea typeface="华文中宋" pitchFamily="2" charset="-122"/>
              </a:rPr>
              <a:t>命令</a:t>
            </a:r>
            <a:r>
              <a:rPr lang="zh-CN" altLang="en-US" dirty="0"/>
              <a:t> 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1127448" y="1371208"/>
            <a:ext cx="10081119" cy="479409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2600" dirty="0"/>
              <a:t>-t   </a:t>
            </a:r>
            <a:r>
              <a:rPr lang="zh-CN" altLang="zh-CN" sz="2600" dirty="0"/>
              <a:t>显示归档</a:t>
            </a:r>
            <a:r>
              <a:rPr lang="en-US" altLang="zh-CN" sz="2600" dirty="0"/>
              <a:t>/</a:t>
            </a:r>
            <a:r>
              <a:rPr lang="zh-CN" altLang="en-US" sz="2600" dirty="0"/>
              <a:t>压缩文件的内容，查看已经备份了哪些文件</a:t>
            </a:r>
            <a:r>
              <a:rPr lang="zh-CN" altLang="zh-CN" sz="2600" dirty="0"/>
              <a:t>。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-v  </a:t>
            </a:r>
            <a:r>
              <a:rPr lang="zh-CN" altLang="en-US" sz="2600" dirty="0"/>
              <a:t>显示压缩或解压缩的处理过程信息。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-N</a:t>
            </a:r>
            <a:r>
              <a:rPr lang="zh-CN" altLang="en-US" sz="2600" dirty="0"/>
              <a:t> </a:t>
            </a:r>
            <a:r>
              <a:rPr lang="en-US" altLang="zh-CN" sz="2600" dirty="0"/>
              <a:t> </a:t>
            </a:r>
            <a:r>
              <a:rPr lang="zh-CN" altLang="en-US" sz="2600" dirty="0"/>
              <a:t>比</a:t>
            </a:r>
            <a:r>
              <a:rPr lang="en-US" altLang="zh-CN" sz="2600" dirty="0"/>
              <a:t>-N</a:t>
            </a:r>
            <a:r>
              <a:rPr lang="zh-CN" altLang="en-US" sz="2600" dirty="0"/>
              <a:t>后面接的日期（</a:t>
            </a:r>
            <a:r>
              <a:rPr lang="en-US" altLang="zh-CN" sz="2600" dirty="0"/>
              <a:t>yyyy/mm/dd</a:t>
            </a:r>
            <a:r>
              <a:rPr lang="zh-CN" altLang="en-US" sz="2600" dirty="0"/>
              <a:t>）还要新的文件，才会被打包进新文件。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--exclude FILE   </a:t>
            </a:r>
            <a:r>
              <a:rPr lang="zh-CN" altLang="en-US" sz="2600" dirty="0"/>
              <a:t>在压缩过程中，不要将</a:t>
            </a:r>
            <a:r>
              <a:rPr lang="en-US" altLang="zh-CN" sz="2600" dirty="0"/>
              <a:t>FILE</a:t>
            </a:r>
            <a:r>
              <a:rPr lang="zh-CN" altLang="en-US" sz="2600" dirty="0"/>
              <a:t>打包。</a:t>
            </a:r>
            <a:endParaRPr lang="zh-CN" altLang="zh-CN" sz="2600" dirty="0"/>
          </a:p>
          <a:p>
            <a:pPr marL="0" indent="0" eaLnBrk="1" hangingPunct="1"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-z   </a:t>
            </a:r>
            <a:r>
              <a:rPr lang="zh-CN" altLang="zh-CN" sz="2600" dirty="0">
                <a:solidFill>
                  <a:srgbClr val="0000CC"/>
                </a:solidFill>
              </a:rPr>
              <a:t>使用 </a:t>
            </a:r>
            <a:r>
              <a:rPr lang="en-US" altLang="zh-CN" sz="2600" dirty="0" err="1">
                <a:solidFill>
                  <a:srgbClr val="0000CC"/>
                </a:solidFill>
              </a:rPr>
              <a:t>gzip</a:t>
            </a:r>
            <a:r>
              <a:rPr lang="en-US" altLang="zh-CN" sz="2600" dirty="0">
                <a:solidFill>
                  <a:srgbClr val="0000CC"/>
                </a:solidFill>
              </a:rPr>
              <a:t>   </a:t>
            </a:r>
            <a:r>
              <a:rPr lang="zh-CN" altLang="en-US" sz="2600" dirty="0">
                <a:solidFill>
                  <a:srgbClr val="0000CC"/>
                </a:solidFill>
              </a:rPr>
              <a:t>方式压缩</a:t>
            </a:r>
            <a:r>
              <a:rPr lang="en-US" altLang="zh-CN" sz="2600" dirty="0">
                <a:solidFill>
                  <a:srgbClr val="0000CC"/>
                </a:solidFill>
              </a:rPr>
              <a:t>/</a:t>
            </a:r>
            <a:r>
              <a:rPr lang="zh-CN" altLang="en-US" sz="2600" dirty="0">
                <a:solidFill>
                  <a:srgbClr val="0000CC"/>
                </a:solidFill>
              </a:rPr>
              <a:t>解</a:t>
            </a:r>
            <a:r>
              <a:rPr lang="zh-CN" altLang="zh-CN" sz="2600" dirty="0">
                <a:solidFill>
                  <a:srgbClr val="0000CC"/>
                </a:solidFill>
              </a:rPr>
              <a:t>压</a:t>
            </a:r>
            <a:r>
              <a:rPr lang="zh-CN" altLang="en-US" sz="2600" dirty="0">
                <a:solidFill>
                  <a:srgbClr val="0000CC"/>
                </a:solidFill>
              </a:rPr>
              <a:t>缩归档文件。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0" indent="0" eaLnBrk="1" hangingPunct="1"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-j    </a:t>
            </a:r>
            <a:r>
              <a:rPr lang="zh-CN" altLang="zh-CN" sz="2600" dirty="0">
                <a:solidFill>
                  <a:srgbClr val="0000CC"/>
                </a:solidFill>
              </a:rPr>
              <a:t>使用 </a:t>
            </a:r>
            <a:r>
              <a:rPr lang="en-US" altLang="zh-CN" sz="2600" dirty="0" err="1">
                <a:solidFill>
                  <a:srgbClr val="0000CC"/>
                </a:solidFill>
              </a:rPr>
              <a:t>bzip2</a:t>
            </a:r>
            <a:r>
              <a:rPr lang="en-US" altLang="zh-CN" sz="2600" dirty="0">
                <a:solidFill>
                  <a:srgbClr val="0000CC"/>
                </a:solidFill>
              </a:rPr>
              <a:t> </a:t>
            </a:r>
            <a:r>
              <a:rPr lang="zh-CN" altLang="zh-CN" sz="2600" dirty="0">
                <a:solidFill>
                  <a:srgbClr val="0000CC"/>
                </a:solidFill>
              </a:rPr>
              <a:t>来压缩</a:t>
            </a:r>
            <a:r>
              <a:rPr lang="en-US" altLang="zh-CN" sz="2600" dirty="0">
                <a:solidFill>
                  <a:srgbClr val="0000CC"/>
                </a:solidFill>
              </a:rPr>
              <a:t>/</a:t>
            </a:r>
            <a:r>
              <a:rPr lang="zh-CN" altLang="en-US" sz="2600" dirty="0">
                <a:solidFill>
                  <a:srgbClr val="0000CC"/>
                </a:solidFill>
              </a:rPr>
              <a:t>解压缩归档</a:t>
            </a:r>
            <a:r>
              <a:rPr lang="zh-CN" altLang="zh-CN" sz="2600" dirty="0">
                <a:solidFill>
                  <a:srgbClr val="0000CC"/>
                </a:solidFill>
              </a:rPr>
              <a:t>文件。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0" indent="0" eaLnBrk="1" hangingPunct="1">
              <a:buFontTx/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例如</a:t>
            </a:r>
            <a:r>
              <a:rPr lang="zh-CN" altLang="en-US" sz="2600" dirty="0"/>
              <a:t>：把</a:t>
            </a:r>
            <a:r>
              <a:rPr lang="en-US" altLang="zh-CN" sz="2600" dirty="0"/>
              <a:t>/root/abc</a:t>
            </a:r>
            <a:r>
              <a:rPr lang="zh-CN" altLang="en-US" sz="2600" dirty="0"/>
              <a:t>目录包括的子目录和文件全部打包，打包文件名为</a:t>
            </a:r>
            <a:r>
              <a:rPr lang="en-US" altLang="zh-CN" sz="2600" dirty="0"/>
              <a:t>abc.tar</a:t>
            </a:r>
            <a:r>
              <a:rPr lang="zh-CN" altLang="en-US" sz="2600" dirty="0"/>
              <a:t>。</a:t>
            </a:r>
            <a:r>
              <a:rPr lang="en-US" altLang="zh-CN" sz="2600" dirty="0">
                <a:solidFill>
                  <a:srgbClr val="002060"/>
                </a:solidFill>
              </a:rPr>
              <a:t> </a:t>
            </a:r>
          </a:p>
          <a:p>
            <a:pPr marL="0" indent="0" eaLnBrk="1" hangingPunct="1">
              <a:buFontTx/>
              <a:buNone/>
            </a:pPr>
            <a:r>
              <a:rPr lang="en-US" altLang="zh-CN" sz="2600" dirty="0">
                <a:solidFill>
                  <a:srgbClr val="002060"/>
                </a:solidFill>
              </a:rPr>
              <a:t>   </a:t>
            </a:r>
            <a:r>
              <a:rPr lang="en-US" altLang="zh-CN" sz="2600" dirty="0">
                <a:solidFill>
                  <a:srgbClr val="0000CC"/>
                </a:solidFill>
              </a:rPr>
              <a:t>tar  -cf  abc.tar   /root/abc</a:t>
            </a:r>
          </a:p>
          <a:p>
            <a:pPr marL="0" indent="0" eaLnBrk="1" hangingPunct="1">
              <a:lnSpc>
                <a:spcPct val="130000"/>
              </a:lnSpc>
              <a:buNone/>
            </a:pPr>
            <a:endParaRPr lang="zh-CN" altLang="zh-CN" sz="2600" b="0" dirty="0">
              <a:solidFill>
                <a:srgbClr val="0000CC"/>
              </a:solidFill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CN" sz="2000" dirty="0"/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3054FE10-ED72-4942-BA9E-7B2CA363A0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189963" y="6357015"/>
            <a:ext cx="730573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41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90016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3429E79-7222-2C7E-158A-5005B05560FD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1544" y="404664"/>
            <a:ext cx="7543800" cy="8588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>
                <a:ea typeface="华文中宋" pitchFamily="2" charset="-122"/>
              </a:rPr>
              <a:t>tar </a:t>
            </a:r>
            <a:r>
              <a:rPr lang="zh-CN" altLang="en-US" dirty="0">
                <a:ea typeface="华文中宋" pitchFamily="2" charset="-122"/>
              </a:rPr>
              <a:t>命令</a:t>
            </a:r>
            <a:r>
              <a:rPr lang="zh-CN" altLang="en-US" dirty="0"/>
              <a:t> 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1199456" y="1484784"/>
            <a:ext cx="9937104" cy="43204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例如</a:t>
            </a:r>
            <a:r>
              <a:rPr lang="zh-CN" altLang="en-US" sz="2600" dirty="0"/>
              <a:t>：将打包文件</a:t>
            </a:r>
            <a:r>
              <a:rPr lang="en-US" altLang="zh-CN" sz="2600" dirty="0"/>
              <a:t>abc.tar</a:t>
            </a:r>
            <a:r>
              <a:rPr lang="zh-CN" altLang="en-US" sz="2600" dirty="0"/>
              <a:t>解包出来</a:t>
            </a:r>
            <a:endParaRPr lang="en-US" altLang="zh-CN" sz="2600" dirty="0"/>
          </a:p>
          <a:p>
            <a:pPr eaLnBrk="1" hangingPunct="1">
              <a:buFontTx/>
              <a:buNone/>
            </a:pPr>
            <a:r>
              <a:rPr lang="en-US" altLang="zh-CN" sz="2600" dirty="0">
                <a:solidFill>
                  <a:srgbClr val="FF0000"/>
                </a:solidFill>
              </a:rPr>
              <a:t>                     </a:t>
            </a:r>
            <a:r>
              <a:rPr lang="en-US" altLang="zh-CN" sz="2600" dirty="0">
                <a:solidFill>
                  <a:srgbClr val="002060"/>
                </a:solidFill>
              </a:rPr>
              <a:t>tar  -</a:t>
            </a:r>
            <a:r>
              <a:rPr lang="en-US" altLang="zh-CN" sz="2600" dirty="0" err="1">
                <a:solidFill>
                  <a:srgbClr val="002060"/>
                </a:solidFill>
              </a:rPr>
              <a:t>xf</a:t>
            </a:r>
            <a:r>
              <a:rPr lang="en-US" altLang="zh-CN" sz="2600" dirty="0">
                <a:solidFill>
                  <a:srgbClr val="002060"/>
                </a:solidFill>
              </a:rPr>
              <a:t>  abc.tar</a:t>
            </a:r>
          </a:p>
          <a:p>
            <a:pPr eaLnBrk="1" hangingPunct="1">
              <a:buFontTx/>
              <a:buNone/>
            </a:pPr>
            <a:endParaRPr lang="en-US" altLang="zh-CN" sz="2600" dirty="0">
              <a:solidFill>
                <a:srgbClr val="002060"/>
              </a:solidFill>
            </a:endParaRPr>
          </a:p>
          <a:p>
            <a:pPr marL="0" indent="0" eaLnBrk="1" hangingPunct="1">
              <a:buFontTx/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zh-CN" altLang="en-US" sz="2600" dirty="0"/>
              <a:t>：将</a:t>
            </a:r>
            <a:r>
              <a:rPr lang="en-US" altLang="zh-CN" sz="2600" dirty="0"/>
              <a:t>/root/</a:t>
            </a:r>
            <a:r>
              <a:rPr lang="en-US" altLang="zh-CN" sz="2600" dirty="0" err="1"/>
              <a:t>mydir</a:t>
            </a:r>
            <a:r>
              <a:rPr lang="zh-CN" altLang="en-US" sz="2600" dirty="0"/>
              <a:t>目录包括的子目录和文件全部打包，并进行压缩，压缩文件名为</a:t>
            </a:r>
            <a:r>
              <a:rPr lang="en-US" altLang="zh-CN" sz="2600" dirty="0"/>
              <a:t>myfile.tar.gz 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eaLnBrk="1" hangingPunct="1">
              <a:buFontTx/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zh-CN" altLang="en-US" sz="2600" dirty="0">
                <a:solidFill>
                  <a:srgbClr val="002060"/>
                </a:solidFill>
              </a:rPr>
              <a:t>：将</a:t>
            </a:r>
            <a:r>
              <a:rPr lang="zh-CN" altLang="en-US" sz="2600" dirty="0"/>
              <a:t>压缩文件</a:t>
            </a:r>
            <a:r>
              <a:rPr lang="en-US" altLang="zh-CN" sz="2600" dirty="0"/>
              <a:t>myfile.tar.gz</a:t>
            </a:r>
            <a:r>
              <a:rPr lang="zh-CN" altLang="en-US" sz="2600" dirty="0"/>
              <a:t>解压</a:t>
            </a:r>
            <a:endParaRPr lang="en-US" altLang="zh-CN" sz="2600" dirty="0"/>
          </a:p>
          <a:p>
            <a:pPr marL="0" indent="0" eaLnBrk="1" hangingPunct="1">
              <a:buFontTx/>
              <a:buNone/>
            </a:pPr>
            <a:r>
              <a:rPr lang="zh-CN" altLang="en-US" sz="2600" dirty="0">
                <a:solidFill>
                  <a:srgbClr val="0000FF"/>
                </a:solidFill>
              </a:rPr>
              <a:t>练习</a:t>
            </a:r>
            <a:r>
              <a:rPr lang="zh-CN" altLang="en-US" sz="2600" dirty="0"/>
              <a:t>：把</a:t>
            </a:r>
            <a:r>
              <a:rPr lang="en-US" altLang="zh-CN" sz="2600" dirty="0"/>
              <a:t>/</a:t>
            </a:r>
            <a:r>
              <a:rPr lang="en-US" altLang="zh-CN" sz="2600" dirty="0" err="1"/>
              <a:t>etc</a:t>
            </a:r>
            <a:r>
              <a:rPr lang="en-US" altLang="zh-CN" sz="2600" dirty="0"/>
              <a:t>/passwd </a:t>
            </a:r>
            <a:r>
              <a:rPr lang="zh-CN" altLang="en-US" sz="2600" dirty="0"/>
              <a:t>中比</a:t>
            </a:r>
            <a:r>
              <a:rPr lang="en-US" altLang="zh-CN" sz="2600" dirty="0"/>
              <a:t>2024/09/01</a:t>
            </a:r>
            <a:r>
              <a:rPr lang="zh-CN" altLang="en-US" sz="2600" dirty="0"/>
              <a:t>新的文件进行备份，并使用</a:t>
            </a:r>
            <a:r>
              <a:rPr lang="en-US" altLang="zh-CN" sz="2600" dirty="0"/>
              <a:t>bzip2</a:t>
            </a:r>
            <a:r>
              <a:rPr lang="zh-CN" altLang="en-US" sz="2600" dirty="0"/>
              <a:t>进行压缩，文件名为</a:t>
            </a:r>
            <a:r>
              <a:rPr lang="en-US" altLang="zh-CN" sz="2600" dirty="0"/>
              <a:t>newfile.bz2</a:t>
            </a:r>
            <a:r>
              <a:rPr lang="zh-CN" altLang="en-US" sz="2600" dirty="0"/>
              <a:t>，保留在当前目录下。</a:t>
            </a:r>
            <a:endParaRPr lang="en-US" altLang="zh-CN" sz="2600" dirty="0"/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74B770B2-DEA5-4924-BF51-D63FB849AB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189963" y="6357015"/>
            <a:ext cx="730573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42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52870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B5B4602-8D99-843B-9950-0E48CA8AF517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199455" y="412927"/>
            <a:ext cx="9614859" cy="8588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>
                <a:ea typeface="华文中宋" pitchFamily="2" charset="-122"/>
              </a:rPr>
              <a:t>zip</a:t>
            </a:r>
            <a:r>
              <a:rPr lang="zh-CN" altLang="en-US" dirty="0">
                <a:latin typeface="+mn-ea"/>
                <a:ea typeface="+mn-ea"/>
              </a:rPr>
              <a:t>命令</a:t>
            </a:r>
            <a:r>
              <a:rPr lang="zh-CN" altLang="en-US" dirty="0"/>
              <a:t> 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1199456" y="1105570"/>
            <a:ext cx="9614858" cy="50597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lnSpc>
                <a:spcPct val="110000"/>
              </a:lnSpc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zip</a:t>
            </a:r>
            <a:r>
              <a:rPr lang="zh-CN" altLang="en-US" sz="2600" dirty="0">
                <a:solidFill>
                  <a:srgbClr val="0000CC"/>
                </a:solidFill>
              </a:rPr>
              <a:t>命令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0" indent="0" eaLnBrk="1" hangingPunct="1">
              <a:lnSpc>
                <a:spcPct val="110000"/>
              </a:lnSpc>
              <a:buNone/>
            </a:pPr>
            <a:r>
              <a:rPr lang="zh-CN" altLang="en-US" sz="2600" dirty="0"/>
              <a:t>语法：</a:t>
            </a:r>
            <a:r>
              <a:rPr lang="en-US" altLang="zh-CN" sz="2600" dirty="0"/>
              <a:t>zip   </a:t>
            </a:r>
            <a:r>
              <a:rPr lang="en-US" altLang="zh-CN" sz="2600" dirty="0">
                <a:solidFill>
                  <a:srgbClr val="CC0099"/>
                </a:solidFill>
              </a:rPr>
              <a:t>[</a:t>
            </a:r>
            <a:r>
              <a:rPr lang="zh-CN" altLang="en-US" sz="2600" dirty="0">
                <a:solidFill>
                  <a:srgbClr val="CC0099"/>
                </a:solidFill>
              </a:rPr>
              <a:t>选项</a:t>
            </a:r>
            <a:r>
              <a:rPr lang="en-US" altLang="zh-CN" sz="2600" dirty="0">
                <a:solidFill>
                  <a:srgbClr val="CC0099"/>
                </a:solidFill>
              </a:rPr>
              <a:t>]   </a:t>
            </a:r>
            <a:r>
              <a:rPr lang="zh-CN" altLang="en-US" sz="2600" dirty="0">
                <a:solidFill>
                  <a:srgbClr val="CC0099"/>
                </a:solidFill>
              </a:rPr>
              <a:t>压缩文件    文件列表</a:t>
            </a:r>
            <a:endParaRPr lang="en-US" altLang="zh-CN" sz="2600" dirty="0">
              <a:solidFill>
                <a:srgbClr val="CC0099"/>
              </a:solidFill>
            </a:endParaRPr>
          </a:p>
          <a:p>
            <a:pPr marL="0" indent="0" eaLnBrk="1" hangingPunct="1">
              <a:lnSpc>
                <a:spcPct val="110000"/>
              </a:lnSpc>
              <a:buNone/>
            </a:pPr>
            <a:r>
              <a:rPr lang="zh-CN" altLang="en-US" sz="2600" dirty="0"/>
              <a:t>功能：将多个文件归档后压缩为</a:t>
            </a:r>
            <a:r>
              <a:rPr lang="en-US" altLang="zh-CN" sz="2600" dirty="0"/>
              <a:t>zip</a:t>
            </a:r>
            <a:r>
              <a:rPr lang="zh-CN" altLang="en-US" sz="2600" dirty="0"/>
              <a:t>文件。</a:t>
            </a:r>
            <a:endParaRPr lang="en-US" altLang="zh-CN" sz="2600" dirty="0"/>
          </a:p>
          <a:p>
            <a:pPr marL="0" indent="0" eaLnBrk="1" hangingPunct="1">
              <a:lnSpc>
                <a:spcPct val="110000"/>
              </a:lnSpc>
              <a:buNone/>
            </a:pPr>
            <a:r>
              <a:rPr lang="zh-CN" altLang="en-US" sz="2600" dirty="0"/>
              <a:t>主要选项说明：</a:t>
            </a:r>
            <a:endParaRPr lang="en-US" altLang="zh-CN" sz="2600" dirty="0"/>
          </a:p>
          <a:p>
            <a:pPr marL="0" indent="0" eaLnBrk="1" hangingPunct="1">
              <a:lnSpc>
                <a:spcPct val="110000"/>
              </a:lnSpc>
              <a:buNone/>
            </a:pPr>
            <a:r>
              <a:rPr lang="en-US" altLang="zh-CN" sz="2600" dirty="0"/>
              <a:t>-m   </a:t>
            </a:r>
            <a:r>
              <a:rPr lang="zh-CN" altLang="en-US" sz="2600" dirty="0"/>
              <a:t>压缩完成后删除源文件</a:t>
            </a:r>
            <a:endParaRPr lang="en-US" altLang="zh-CN" sz="2600" dirty="0"/>
          </a:p>
          <a:p>
            <a:pPr marL="0" indent="0" eaLnBrk="1" hangingPunct="1">
              <a:lnSpc>
                <a:spcPct val="110000"/>
              </a:lnSpc>
              <a:buNone/>
            </a:pPr>
            <a:r>
              <a:rPr lang="en-US" altLang="zh-CN" sz="2600" dirty="0"/>
              <a:t> -r    </a:t>
            </a:r>
            <a:r>
              <a:rPr lang="zh-CN" altLang="en-US" sz="2600" dirty="0"/>
              <a:t>按目录结构递归压缩目录中的所有文件</a:t>
            </a:r>
            <a:endParaRPr lang="en-US" altLang="zh-CN" sz="2600" dirty="0"/>
          </a:p>
          <a:p>
            <a:pPr marL="0" indent="0" eaLnBrk="1" hangingPunct="1">
              <a:lnSpc>
                <a:spcPct val="110000"/>
              </a:lnSpc>
              <a:buNone/>
            </a:pPr>
            <a:r>
              <a:rPr lang="en-US" altLang="zh-CN" sz="2600" dirty="0"/>
              <a:t>-v  </a:t>
            </a:r>
            <a:r>
              <a:rPr lang="zh-CN" altLang="en-US" sz="2600" dirty="0"/>
              <a:t>  显示压缩详细信息。 </a:t>
            </a:r>
            <a:endParaRPr lang="en-US" altLang="zh-CN" sz="2600" dirty="0"/>
          </a:p>
          <a:p>
            <a:pPr marL="0" indent="0" eaLnBrk="1" hangingPunct="1">
              <a:lnSpc>
                <a:spcPct val="110000"/>
              </a:lnSpc>
              <a:buNone/>
            </a:pPr>
            <a:r>
              <a:rPr lang="zh-CN" altLang="en-US" sz="2600" dirty="0">
                <a:solidFill>
                  <a:srgbClr val="0000FF"/>
                </a:solidFill>
              </a:rPr>
              <a:t>例如</a:t>
            </a:r>
            <a:r>
              <a:rPr lang="zh-CN" altLang="en-US" sz="2600" dirty="0"/>
              <a:t>：将当前目录下的文件</a:t>
            </a:r>
            <a:r>
              <a:rPr lang="en-US" altLang="zh-CN" sz="2600" dirty="0"/>
              <a:t>mm.txt </a:t>
            </a:r>
            <a:r>
              <a:rPr lang="zh-CN" altLang="en-US" sz="2600" dirty="0"/>
              <a:t>、</a:t>
            </a:r>
            <a:r>
              <a:rPr lang="en-US" altLang="zh-CN" sz="2600" dirty="0"/>
              <a:t>sort.txt</a:t>
            </a:r>
            <a:r>
              <a:rPr lang="zh-CN" altLang="en-US" sz="2600" dirty="0"/>
              <a:t>和</a:t>
            </a:r>
            <a:r>
              <a:rPr lang="en-US" altLang="zh-CN" sz="2600" dirty="0"/>
              <a:t>xx.com</a:t>
            </a:r>
            <a:r>
              <a:rPr lang="zh-CN" altLang="en-US" sz="2600" dirty="0"/>
              <a:t>压缩成文件</a:t>
            </a:r>
            <a:r>
              <a:rPr lang="en-US" altLang="zh-CN" sz="2600" dirty="0"/>
              <a:t>a.zip</a:t>
            </a:r>
            <a:r>
              <a:rPr lang="zh-CN" altLang="en-US" sz="2600" dirty="0"/>
              <a:t>。</a:t>
            </a:r>
          </a:p>
          <a:p>
            <a:pPr marL="0" indent="0" eaLnBrk="1" hangingPunct="1">
              <a:lnSpc>
                <a:spcPct val="110000"/>
              </a:lnSpc>
              <a:buNone/>
            </a:pPr>
            <a:r>
              <a:rPr lang="zh-CN" altLang="en-US" sz="2600" dirty="0"/>
              <a:t>        </a:t>
            </a:r>
            <a:r>
              <a:rPr lang="en-US" altLang="zh-CN" sz="2600" dirty="0"/>
              <a:t>zip  a.zip  mm.txt  sort.txt  xx.com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endParaRPr lang="en-US" altLang="zh-CN" sz="2600" dirty="0"/>
          </a:p>
          <a:p>
            <a:pPr marL="0" indent="0" eaLnBrk="1" hangingPunct="1">
              <a:lnSpc>
                <a:spcPct val="120000"/>
              </a:lnSpc>
              <a:buNone/>
            </a:pPr>
            <a:endParaRPr lang="zh-CN" altLang="en-US" sz="2600" dirty="0"/>
          </a:p>
          <a:p>
            <a:pPr marL="0" indent="0" eaLnBrk="1" hangingPunct="1">
              <a:lnSpc>
                <a:spcPct val="150000"/>
              </a:lnSpc>
              <a:buNone/>
            </a:pPr>
            <a:endParaRPr lang="en-US" altLang="zh-CN" sz="28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43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83077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2A82EE8A-CE87-279A-5B96-669275A8D8FB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81485" y="494522"/>
            <a:ext cx="9614859" cy="8588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>
                <a:ea typeface="华文中宋" pitchFamily="2" charset="-122"/>
              </a:rPr>
              <a:t>unzip</a:t>
            </a:r>
            <a:r>
              <a:rPr lang="zh-CN" altLang="en-US" dirty="0">
                <a:latin typeface="+mn-ea"/>
                <a:ea typeface="+mn-ea"/>
              </a:rPr>
              <a:t>命令</a:t>
            </a:r>
            <a:r>
              <a:rPr lang="zh-CN" altLang="en-US" dirty="0"/>
              <a:t> 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1415480" y="1268760"/>
            <a:ext cx="9361040" cy="496855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lnSpc>
                <a:spcPct val="120000"/>
              </a:lnSpc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unzip </a:t>
            </a:r>
            <a:r>
              <a:rPr lang="zh-CN" altLang="en-US" sz="2600" dirty="0">
                <a:solidFill>
                  <a:srgbClr val="0000CC"/>
                </a:solidFill>
              </a:rPr>
              <a:t>命令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zh-CN" altLang="en-US" sz="2600" dirty="0"/>
              <a:t>格式：</a:t>
            </a:r>
            <a:r>
              <a:rPr lang="en-US" altLang="zh-CN" sz="2600" dirty="0">
                <a:solidFill>
                  <a:srgbClr val="CC0099"/>
                </a:solidFill>
              </a:rPr>
              <a:t>unzip  [</a:t>
            </a:r>
            <a:r>
              <a:rPr lang="zh-CN" altLang="en-US" sz="2600" dirty="0">
                <a:solidFill>
                  <a:srgbClr val="CC0099"/>
                </a:solidFill>
              </a:rPr>
              <a:t>选项</a:t>
            </a:r>
            <a:r>
              <a:rPr lang="en-US" altLang="zh-CN" sz="2600" dirty="0">
                <a:solidFill>
                  <a:srgbClr val="CC0099"/>
                </a:solidFill>
              </a:rPr>
              <a:t>]  </a:t>
            </a:r>
            <a:r>
              <a:rPr lang="zh-CN" altLang="en-US" sz="2600" dirty="0">
                <a:solidFill>
                  <a:srgbClr val="CC0099"/>
                </a:solidFill>
              </a:rPr>
              <a:t>压缩文件名</a:t>
            </a:r>
            <a:endParaRPr lang="en-US" altLang="zh-CN" sz="2600" dirty="0">
              <a:solidFill>
                <a:srgbClr val="CC0099"/>
              </a:solidFill>
            </a:endParaRP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功能</a:t>
            </a:r>
            <a:r>
              <a:rPr lang="zh-CN" altLang="en-US" sz="2600" dirty="0"/>
              <a:t>：解压缩扩展名为</a:t>
            </a:r>
            <a:r>
              <a:rPr lang="en-US" altLang="zh-CN" sz="2600" dirty="0"/>
              <a:t>.zip</a:t>
            </a:r>
            <a:r>
              <a:rPr lang="zh-CN" altLang="en-US" sz="2600" dirty="0"/>
              <a:t>的压缩文件。</a:t>
            </a:r>
            <a:endParaRPr lang="en-US" altLang="zh-CN" sz="2600" dirty="0"/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zh-CN" altLang="en-US" sz="2600" dirty="0"/>
              <a:t>主要选项说明：</a:t>
            </a:r>
            <a:endParaRPr lang="en-US" altLang="zh-CN" sz="2600" dirty="0"/>
          </a:p>
          <a:p>
            <a:pPr marL="0" indent="-4763" eaLnBrk="1" hangingPunct="1">
              <a:lnSpc>
                <a:spcPct val="120000"/>
              </a:lnSpc>
              <a:buNone/>
            </a:pPr>
            <a:r>
              <a:rPr lang="en-US" altLang="zh-CN" sz="2600" dirty="0"/>
              <a:t>-l </a:t>
            </a:r>
            <a:r>
              <a:rPr lang="zh-CN" altLang="en-US" sz="2600" dirty="0"/>
              <a:t>  查看压缩所包含的文件</a:t>
            </a:r>
            <a:endParaRPr lang="en-US" altLang="zh-CN" sz="2600" dirty="0"/>
          </a:p>
          <a:p>
            <a:pPr marL="0" indent="-4763" eaLnBrk="1" hangingPunct="1">
              <a:lnSpc>
                <a:spcPct val="120000"/>
              </a:lnSpc>
              <a:buNone/>
            </a:pPr>
            <a:r>
              <a:rPr lang="en-US" altLang="zh-CN" sz="2600" dirty="0"/>
              <a:t>-t   </a:t>
            </a:r>
            <a:r>
              <a:rPr lang="zh-CN" altLang="en-US" sz="2600" dirty="0"/>
              <a:t>测试压缩文件是否已损坏</a:t>
            </a:r>
            <a:endParaRPr lang="en-US" altLang="zh-CN" sz="2600" dirty="0"/>
          </a:p>
          <a:p>
            <a:pPr marL="0" indent="-4763" eaLnBrk="1" hangingPunct="1">
              <a:lnSpc>
                <a:spcPct val="120000"/>
              </a:lnSpc>
              <a:buNone/>
            </a:pPr>
            <a:r>
              <a:rPr lang="en-US" altLang="zh-CN" sz="2600" dirty="0"/>
              <a:t>-d  </a:t>
            </a:r>
            <a:r>
              <a:rPr lang="zh-CN" altLang="en-US" sz="2600" dirty="0"/>
              <a:t>目录名，把压缩文件解压缩到指定目录</a:t>
            </a:r>
            <a:endParaRPr lang="en-US" altLang="zh-CN" sz="2600" dirty="0"/>
          </a:p>
          <a:p>
            <a:pPr marL="0" indent="-4763" eaLnBrk="1" hangingPunct="1">
              <a:lnSpc>
                <a:spcPct val="120000"/>
              </a:lnSpc>
              <a:buNone/>
            </a:pPr>
            <a:r>
              <a:rPr lang="en-US" altLang="zh-CN" sz="2600" dirty="0"/>
              <a:t>-n  </a:t>
            </a:r>
            <a:r>
              <a:rPr lang="zh-CN" altLang="en-US" sz="2600" dirty="0"/>
              <a:t>不覆盖已经存在的文件</a:t>
            </a:r>
            <a:endParaRPr lang="en-US" altLang="zh-CN" sz="2600" dirty="0"/>
          </a:p>
          <a:p>
            <a:pPr marL="0" indent="-4763" eaLnBrk="1" hangingPunct="1">
              <a:lnSpc>
                <a:spcPct val="120000"/>
              </a:lnSpc>
              <a:buNone/>
            </a:pPr>
            <a:r>
              <a:rPr lang="en-US" altLang="zh-CN" sz="2600" dirty="0"/>
              <a:t>-o  </a:t>
            </a:r>
            <a:r>
              <a:rPr lang="zh-CN" altLang="en-US" sz="2600" dirty="0"/>
              <a:t>强制覆盖同名文件</a:t>
            </a:r>
            <a:endParaRPr lang="en-US" altLang="zh-CN" sz="2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44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25533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1DF3EE9-1A66-FA98-FE49-8EC7D9284B9F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162082" y="523552"/>
            <a:ext cx="7111752" cy="8588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/>
              <a:t>5.4</a:t>
            </a:r>
            <a:r>
              <a:rPr lang="en-US" altLang="zh-CN" dirty="0">
                <a:latin typeface="+mj-ea"/>
              </a:rPr>
              <a:t> </a:t>
            </a:r>
            <a:r>
              <a:rPr lang="zh-CN" altLang="en-US" dirty="0">
                <a:latin typeface="+mj-ea"/>
              </a:rPr>
              <a:t>磁盘管理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199456" y="1664804"/>
            <a:ext cx="9865096" cy="352839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sz="2600" dirty="0"/>
              <a:t>linux</a:t>
            </a:r>
            <a:r>
              <a:rPr lang="zh-CN" altLang="en-US" sz="2600" dirty="0"/>
              <a:t>系统管理员，磁盘的管理是最基本也是最重要的工作之一，比如向系统中增加一块磁盘，需要的基本步骤包括：</a:t>
            </a:r>
            <a:endParaRPr lang="en-US" altLang="zh-CN" sz="2600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通过</a:t>
            </a:r>
            <a:r>
              <a:rPr lang="en-US" altLang="zh-CN" dirty="0" err="1">
                <a:solidFill>
                  <a:srgbClr val="0000CC"/>
                </a:solidFill>
              </a:rPr>
              <a:t>fdisk</a:t>
            </a:r>
            <a:r>
              <a:rPr lang="zh-CN" altLang="en-US" dirty="0">
                <a:solidFill>
                  <a:srgbClr val="0000CC"/>
                </a:solidFill>
              </a:rPr>
              <a:t>命令</a:t>
            </a:r>
            <a:r>
              <a:rPr lang="zh-CN" altLang="en-US" dirty="0"/>
              <a:t>对磁盘进行分区</a:t>
            </a:r>
            <a:r>
              <a:rPr lang="en-US" altLang="zh-CN" dirty="0"/>
              <a:t>;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通过</a:t>
            </a:r>
            <a:r>
              <a:rPr lang="en-US" altLang="zh-CN" dirty="0">
                <a:solidFill>
                  <a:srgbClr val="0000CC"/>
                </a:solidFill>
              </a:rPr>
              <a:t>mkfs</a:t>
            </a:r>
            <a:r>
              <a:rPr lang="zh-CN" altLang="en-US" dirty="0">
                <a:solidFill>
                  <a:srgbClr val="0000CC"/>
                </a:solidFill>
              </a:rPr>
              <a:t>命令</a:t>
            </a:r>
            <a:r>
              <a:rPr lang="zh-CN" altLang="en-US" dirty="0"/>
              <a:t>将磁盘分区格式化成特定的文件系统格式</a:t>
            </a:r>
            <a:r>
              <a:rPr lang="en-US" altLang="zh-CN" dirty="0"/>
              <a:t>;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通过</a:t>
            </a:r>
            <a:r>
              <a:rPr lang="en-US" altLang="zh-CN" dirty="0" err="1">
                <a:solidFill>
                  <a:srgbClr val="0000CC"/>
                </a:solidFill>
              </a:rPr>
              <a:t>mkdir</a:t>
            </a:r>
            <a:r>
              <a:rPr lang="zh-CN" altLang="en-US" dirty="0">
                <a:solidFill>
                  <a:srgbClr val="0000CC"/>
                </a:solidFill>
              </a:rPr>
              <a:t>命令</a:t>
            </a:r>
            <a:r>
              <a:rPr lang="zh-CN" altLang="en-US" dirty="0"/>
              <a:t>建立挂载点目录；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通过</a:t>
            </a:r>
            <a:r>
              <a:rPr lang="en-US" altLang="zh-CN" dirty="0">
                <a:solidFill>
                  <a:srgbClr val="0000CC"/>
                </a:solidFill>
              </a:rPr>
              <a:t>mount</a:t>
            </a:r>
            <a:r>
              <a:rPr lang="zh-CN" altLang="en-US" dirty="0">
                <a:solidFill>
                  <a:srgbClr val="0000CC"/>
                </a:solidFill>
              </a:rPr>
              <a:t>命令</a:t>
            </a:r>
            <a:r>
              <a:rPr lang="zh-CN" altLang="en-US" dirty="0"/>
              <a:t>将文件系统的分区挂载到挂载点上。</a:t>
            </a:r>
            <a:endParaRPr lang="zh-CN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5190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F7C7602-FC20-9683-CFC8-7004656D6EFF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423592" y="409923"/>
            <a:ext cx="7111752" cy="8588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+mj-ea"/>
              </a:rPr>
              <a:t>磁盘管理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055440" y="1268760"/>
            <a:ext cx="9865096" cy="44116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600" dirty="0"/>
              <a:t>Linux</a:t>
            </a:r>
            <a:r>
              <a:rPr lang="zh-CN" altLang="en-US" sz="2600" dirty="0"/>
              <a:t>中每个盘片的第一个扇区主要记录两个重要的信息：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0000CC"/>
                </a:solidFill>
              </a:rPr>
              <a:t>主引导区</a:t>
            </a:r>
            <a:r>
              <a:rPr lang="zh-CN" altLang="en-US" dirty="0"/>
              <a:t>（</a:t>
            </a:r>
            <a:r>
              <a:rPr lang="en-US" altLang="zh-CN" dirty="0"/>
              <a:t>MBR</a:t>
            </a:r>
            <a:r>
              <a:rPr lang="zh-CN" altLang="en-US" dirty="0"/>
              <a:t>）：可以安装引导加载程序的地方，占扇区的</a:t>
            </a:r>
            <a:r>
              <a:rPr lang="en-US" altLang="zh-CN" dirty="0"/>
              <a:t>446</a:t>
            </a:r>
            <a:r>
              <a:rPr lang="zh-CN" altLang="en-US" dirty="0"/>
              <a:t>字节。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0000CC"/>
                </a:solidFill>
              </a:rPr>
              <a:t>分区表</a:t>
            </a:r>
            <a:r>
              <a:rPr lang="zh-CN" altLang="en-US" dirty="0"/>
              <a:t>：记录整块硬盘分区的状态，占</a:t>
            </a:r>
            <a:r>
              <a:rPr lang="en-US" altLang="zh-CN" dirty="0"/>
              <a:t>64</a:t>
            </a:r>
            <a:r>
              <a:rPr lang="zh-CN" altLang="en-US" dirty="0"/>
              <a:t>字节。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zh-CN" altLang="en-US" sz="2600" dirty="0"/>
              <a:t>分区表可以分一到四个主分区，或者包含一到三个主分区和一个扩展分区。</a:t>
            </a:r>
            <a:r>
              <a:rPr lang="zh-CN" altLang="en-US" sz="2600" dirty="0">
                <a:solidFill>
                  <a:srgbClr val="CC0099"/>
                </a:solidFill>
              </a:rPr>
              <a:t>主分区和扩展分区总共不能超过四个</a:t>
            </a:r>
            <a:r>
              <a:rPr lang="zh-CN" altLang="en-US" sz="2600" dirty="0"/>
              <a:t>，扩展分区不能超过一个。其中，扩展分区可以再继续分区，叫做逻辑分区。</a:t>
            </a:r>
            <a:endParaRPr lang="en-US" altLang="zh-CN" sz="2600" dirty="0"/>
          </a:p>
          <a:p>
            <a:pPr marL="0" indent="0" eaLnBrk="1" hangingPunct="1">
              <a:buNone/>
            </a:pPr>
            <a:endParaRPr lang="zh-CN" altLang="zh-CN" sz="2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FD5CF3-92E7-C850-BFAC-A3AEACCAC4D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07768" y="4196876"/>
            <a:ext cx="4896544" cy="2121072"/>
          </a:xfrm>
          <a:prstGeom prst="rect">
            <a:avLst/>
          </a:prstGeom>
        </p:spPr>
      </p:pic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1C445173-8CA2-41C4-A7F9-0B2D6E213E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189963" y="6357015"/>
            <a:ext cx="730573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46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63709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D5B0F2F-CC34-1B5A-C73B-4EFC63A03D99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423592" y="404664"/>
            <a:ext cx="7111752" cy="8588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+mj-ea"/>
              </a:rPr>
              <a:t>磁盘管理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333990" y="1439892"/>
            <a:ext cx="9802570" cy="44116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600" dirty="0">
                <a:solidFill>
                  <a:srgbClr val="0000CC"/>
                </a:solidFill>
              </a:rPr>
              <a:t>主分区</a:t>
            </a:r>
            <a:r>
              <a:rPr lang="zh-CN" altLang="en-US" sz="2600" dirty="0"/>
              <a:t>的作用就是计算机用来进行</a:t>
            </a:r>
            <a:r>
              <a:rPr lang="zh-CN" altLang="en-US" sz="2600" dirty="0">
                <a:solidFill>
                  <a:srgbClr val="0000CC"/>
                </a:solidFill>
              </a:rPr>
              <a:t>启动操作系统</a:t>
            </a:r>
            <a:r>
              <a:rPr lang="zh-CN" altLang="en-US" sz="2600" dirty="0"/>
              <a:t>的，因此每一个操作系统的启动，或者称作是引导程序，都应该存放在主分区上。</a:t>
            </a:r>
            <a:endParaRPr lang="en-US" altLang="zh-CN" sz="260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600" dirty="0">
                <a:solidFill>
                  <a:srgbClr val="0000CC"/>
                </a:solidFill>
              </a:rPr>
              <a:t>扩展分区</a:t>
            </a:r>
            <a:r>
              <a:rPr lang="zh-CN" altLang="en-US" sz="2600" dirty="0"/>
              <a:t>的作用是使用</a:t>
            </a:r>
            <a:r>
              <a:rPr lang="zh-CN" altLang="en-US" sz="2600" dirty="0">
                <a:solidFill>
                  <a:srgbClr val="0000CC"/>
                </a:solidFill>
              </a:rPr>
              <a:t>额外的扇区来记录分区信息</a:t>
            </a:r>
            <a:r>
              <a:rPr lang="zh-CN" altLang="en-US" sz="2600" dirty="0"/>
              <a:t>，扩展分区不能直接使用，只有分成逻辑分区才能被格式化后作为数据访问的分区。</a:t>
            </a:r>
          </a:p>
          <a:p>
            <a:pPr eaLnBrk="1" hangingPunct="1"/>
            <a:endParaRPr lang="zh-CN" altLang="en-US" sz="2600" dirty="0"/>
          </a:p>
          <a:p>
            <a:pPr marL="0" indent="0" eaLnBrk="1" hangingPunct="1">
              <a:buNone/>
            </a:pPr>
            <a:endParaRPr lang="zh-CN" altLang="zh-CN" sz="2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8357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F6B9D1BF-C70C-D407-084A-D4CE7D318DD7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79576" y="416087"/>
            <a:ext cx="7111752" cy="8588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+mj-ea"/>
              </a:rPr>
              <a:t>磁盘管理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127448" y="1437957"/>
            <a:ext cx="9937104" cy="422329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600" dirty="0"/>
              <a:t>分区命名的规则：主分区和扩展分区的编号是</a:t>
            </a:r>
            <a:r>
              <a:rPr lang="en-US" altLang="zh-CN" sz="2600" dirty="0"/>
              <a:t>1-4</a:t>
            </a:r>
            <a:r>
              <a:rPr lang="zh-CN" altLang="en-US" sz="2600" dirty="0"/>
              <a:t>，逻辑分区的编号从</a:t>
            </a:r>
            <a:r>
              <a:rPr lang="en-US" altLang="zh-CN" sz="2600" dirty="0"/>
              <a:t>5</a:t>
            </a:r>
            <a:r>
              <a:rPr lang="zh-CN" altLang="en-US" sz="2600" dirty="0"/>
              <a:t>开始。</a:t>
            </a:r>
            <a:endParaRPr lang="en-US" altLang="zh-CN" sz="2600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600" dirty="0"/>
              <a:t>例如，设备</a:t>
            </a:r>
            <a:r>
              <a:rPr lang="en-US" altLang="zh-CN" sz="2600" dirty="0"/>
              <a:t>/dev/</a:t>
            </a:r>
            <a:r>
              <a:rPr lang="en-US" altLang="zh-CN" sz="2600" dirty="0" err="1"/>
              <a:t>sda</a:t>
            </a:r>
            <a:r>
              <a:rPr lang="zh-CN" altLang="en-US" sz="2600" dirty="0"/>
              <a:t>被分为</a:t>
            </a:r>
            <a:r>
              <a:rPr lang="en-US" altLang="zh-CN" sz="2600" dirty="0"/>
              <a:t>5</a:t>
            </a:r>
            <a:r>
              <a:rPr lang="zh-CN" altLang="en-US" sz="2600" dirty="0"/>
              <a:t>个分区，分别是</a:t>
            </a:r>
            <a:r>
              <a:rPr lang="en-US" altLang="zh-CN" sz="2600" dirty="0"/>
              <a:t>3</a:t>
            </a:r>
            <a:r>
              <a:rPr lang="zh-CN" altLang="en-US" sz="2600" dirty="0"/>
              <a:t>个主分区和一个扩展分区，其名称分别为</a:t>
            </a:r>
            <a:r>
              <a:rPr lang="en-US" altLang="zh-CN" sz="2600" dirty="0"/>
              <a:t>sda1</a:t>
            </a:r>
            <a:r>
              <a:rPr lang="zh-CN" altLang="en-US" sz="2600" dirty="0"/>
              <a:t>，</a:t>
            </a:r>
            <a:r>
              <a:rPr lang="en-US" altLang="zh-CN" sz="2600" dirty="0"/>
              <a:t>sda2</a:t>
            </a:r>
            <a:r>
              <a:rPr lang="zh-CN" altLang="en-US" sz="2600" dirty="0"/>
              <a:t>，</a:t>
            </a:r>
            <a:r>
              <a:rPr lang="en-US" altLang="zh-CN" sz="2600" dirty="0" err="1"/>
              <a:t>sda</a:t>
            </a:r>
            <a:r>
              <a:rPr lang="en-US" altLang="zh-CN" sz="2600" dirty="0"/>
              <a:t> 3</a:t>
            </a:r>
            <a:r>
              <a:rPr lang="zh-CN" altLang="en-US" sz="2600" dirty="0"/>
              <a:t>和</a:t>
            </a:r>
            <a:r>
              <a:rPr lang="en-US" altLang="zh-CN" sz="2600" dirty="0"/>
              <a:t>sda4</a:t>
            </a:r>
            <a:r>
              <a:rPr lang="zh-CN" altLang="en-US" sz="2600" dirty="0"/>
              <a:t>。其中</a:t>
            </a:r>
            <a:r>
              <a:rPr lang="en-US" altLang="zh-CN" sz="2600" dirty="0"/>
              <a:t>sda4</a:t>
            </a:r>
            <a:r>
              <a:rPr lang="zh-CN" altLang="en-US" sz="2600" dirty="0"/>
              <a:t>被划分为</a:t>
            </a:r>
            <a:r>
              <a:rPr lang="en-US" altLang="zh-CN" sz="2600" dirty="0"/>
              <a:t>2</a:t>
            </a:r>
            <a:r>
              <a:rPr lang="zh-CN" altLang="en-US" sz="2600" dirty="0"/>
              <a:t>个逻辑分区，第</a:t>
            </a:r>
            <a:r>
              <a:rPr lang="en-US" altLang="zh-CN" sz="2600" dirty="0"/>
              <a:t>1</a:t>
            </a:r>
            <a:r>
              <a:rPr lang="zh-CN" altLang="en-US" sz="2600" dirty="0"/>
              <a:t>个逻辑分区的名称为</a:t>
            </a:r>
            <a:r>
              <a:rPr lang="en-US" altLang="zh-CN" sz="2600" dirty="0"/>
              <a:t>sda5</a:t>
            </a:r>
            <a:r>
              <a:rPr lang="zh-CN" altLang="en-US" sz="2600" dirty="0"/>
              <a:t>，第</a:t>
            </a:r>
            <a:r>
              <a:rPr lang="en-US" altLang="zh-CN" sz="2600" dirty="0"/>
              <a:t>2</a:t>
            </a:r>
            <a:r>
              <a:rPr lang="zh-CN" altLang="en-US" sz="2600" dirty="0"/>
              <a:t>个逻辑分区的名称为</a:t>
            </a:r>
            <a:r>
              <a:rPr lang="en-US" altLang="zh-CN" sz="2600" dirty="0"/>
              <a:t>sda6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思考</a:t>
            </a:r>
            <a:r>
              <a:rPr lang="zh-CN" altLang="en-US" sz="2600" dirty="0"/>
              <a:t>：有一块硬盘，将其分为四个分区，同时还有剩余容量可以作为未来规划使用，你建议如何划分？</a:t>
            </a:r>
            <a:endParaRPr lang="zh-CN" altLang="zh-CN" sz="2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6462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6322192-7E04-8276-E7B8-99273650C004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351584" y="409923"/>
            <a:ext cx="7111752" cy="8588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+mj-ea"/>
              </a:rPr>
              <a:t>管理磁盘的命令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415480" y="1268760"/>
            <a:ext cx="8568952" cy="489654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 </a:t>
            </a:r>
            <a:r>
              <a:rPr lang="en-US" altLang="zh-CN" sz="2600" dirty="0" err="1">
                <a:solidFill>
                  <a:srgbClr val="0000CC"/>
                </a:solidFill>
              </a:rPr>
              <a:t>fdisk</a:t>
            </a:r>
            <a:r>
              <a:rPr lang="zh-CN" altLang="en-US" sz="2600" dirty="0">
                <a:solidFill>
                  <a:srgbClr val="0000CC"/>
                </a:solidFill>
              </a:rPr>
              <a:t>命令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600" dirty="0"/>
              <a:t>语法</a:t>
            </a:r>
            <a:r>
              <a:rPr lang="zh-CN" altLang="en-US" sz="2600" dirty="0">
                <a:solidFill>
                  <a:srgbClr val="0000CC"/>
                </a:solidFill>
              </a:rPr>
              <a:t>：</a:t>
            </a:r>
            <a:r>
              <a:rPr lang="en-US" altLang="zh-CN" sz="2600" dirty="0" err="1">
                <a:solidFill>
                  <a:srgbClr val="CC0099"/>
                </a:solidFill>
              </a:rPr>
              <a:t>fdisk</a:t>
            </a:r>
            <a:r>
              <a:rPr lang="en-US" altLang="zh-CN" sz="2600" dirty="0">
                <a:solidFill>
                  <a:srgbClr val="CC0099"/>
                </a:solidFill>
              </a:rPr>
              <a:t>   [</a:t>
            </a:r>
            <a:r>
              <a:rPr lang="zh-CN" altLang="en-US" sz="2600" dirty="0">
                <a:solidFill>
                  <a:srgbClr val="CC0099"/>
                </a:solidFill>
              </a:rPr>
              <a:t>选项</a:t>
            </a:r>
            <a:r>
              <a:rPr lang="en-US" altLang="zh-CN" sz="2600" dirty="0">
                <a:solidFill>
                  <a:srgbClr val="CC0099"/>
                </a:solidFill>
              </a:rPr>
              <a:t>]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功能：</a:t>
            </a:r>
            <a:r>
              <a:rPr lang="zh-CN" altLang="en-US" sz="2600" dirty="0"/>
              <a:t>查看磁盘及分区。  </a:t>
            </a:r>
            <a:endParaRPr lang="en-US" altLang="zh-CN" sz="26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600" dirty="0"/>
              <a:t>主要各选项说明 ：</a:t>
            </a:r>
            <a:endParaRPr lang="en-US" altLang="zh-CN" sz="26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600" dirty="0"/>
              <a:t>-l     </a:t>
            </a:r>
            <a:r>
              <a:rPr lang="zh-CN" altLang="en-US" sz="2600" dirty="0"/>
              <a:t>列出素所有分区表</a:t>
            </a:r>
            <a:endParaRPr lang="en-US" altLang="zh-CN" sz="26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600" dirty="0"/>
              <a:t>-u    </a:t>
            </a:r>
            <a:r>
              <a:rPr lang="zh-CN" altLang="en-US" sz="2600" dirty="0"/>
              <a:t>与 </a:t>
            </a:r>
            <a:r>
              <a:rPr lang="en-US" altLang="zh-CN" sz="2600" dirty="0"/>
              <a:t>-l </a:t>
            </a:r>
            <a:r>
              <a:rPr lang="zh-CN" altLang="en-US" sz="2600" dirty="0"/>
              <a:t>搭配使用，显示分区数目</a:t>
            </a:r>
            <a:endParaRPr lang="en-US" altLang="zh-CN" sz="26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600" dirty="0"/>
              <a:t>s&lt;</a:t>
            </a:r>
            <a:r>
              <a:rPr lang="zh-CN" altLang="en-US" sz="2600" dirty="0"/>
              <a:t>分区编号</a:t>
            </a:r>
            <a:r>
              <a:rPr lang="en-US" altLang="zh-CN" sz="2600" dirty="0"/>
              <a:t>&gt;    </a:t>
            </a:r>
            <a:r>
              <a:rPr lang="zh-CN" altLang="en-US" sz="2600" dirty="0"/>
              <a:t>指定分区</a:t>
            </a:r>
            <a:endParaRPr lang="en-US" altLang="zh-CN" sz="26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例如</a:t>
            </a:r>
            <a:r>
              <a:rPr lang="zh-CN" altLang="en-US" sz="2600" dirty="0"/>
              <a:t>：使用</a:t>
            </a:r>
            <a:r>
              <a:rPr lang="en-US" altLang="zh-CN" sz="2600" dirty="0" err="1"/>
              <a:t>fdisk</a:t>
            </a:r>
            <a:r>
              <a:rPr lang="en-US" altLang="zh-CN" sz="2600" dirty="0"/>
              <a:t> -l </a:t>
            </a:r>
            <a:r>
              <a:rPr lang="zh-CN" altLang="en-US" sz="2600" dirty="0"/>
              <a:t>查看磁盘分区。</a:t>
            </a:r>
            <a:endParaRPr lang="en-US" altLang="zh-CN" sz="26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600" dirty="0"/>
              <a:t>    </a:t>
            </a:r>
            <a:r>
              <a:rPr lang="en-US" altLang="zh-CN" sz="2600" dirty="0" err="1"/>
              <a:t>fdisk</a:t>
            </a:r>
            <a:r>
              <a:rPr lang="en-US" altLang="zh-CN" sz="2600" dirty="0"/>
              <a:t>  -l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例如</a:t>
            </a:r>
            <a:r>
              <a:rPr lang="zh-CN" altLang="en-US" sz="2600" dirty="0"/>
              <a:t>：使用</a:t>
            </a:r>
            <a:r>
              <a:rPr lang="en-US" altLang="zh-CN" sz="2600" dirty="0" err="1"/>
              <a:t>fdisk</a:t>
            </a:r>
            <a:r>
              <a:rPr lang="zh-CN" altLang="en-US" sz="2600" dirty="0"/>
              <a:t>对</a:t>
            </a:r>
            <a:r>
              <a:rPr lang="en-US" altLang="zh-CN" sz="2600" dirty="0"/>
              <a:t>/dev/</a:t>
            </a:r>
            <a:r>
              <a:rPr lang="en-US" altLang="zh-CN" sz="2600" dirty="0" err="1"/>
              <a:t>sdb</a:t>
            </a:r>
            <a:r>
              <a:rPr lang="zh-CN" altLang="en-US" sz="2600" dirty="0"/>
              <a:t>进行分区。</a:t>
            </a:r>
            <a:endParaRPr lang="en-US" altLang="zh-CN" sz="26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600" dirty="0"/>
              <a:t>    </a:t>
            </a:r>
            <a:r>
              <a:rPr lang="en-US" altLang="zh-CN" sz="2600" dirty="0" err="1"/>
              <a:t>fdisk</a:t>
            </a:r>
            <a:r>
              <a:rPr lang="en-US" altLang="zh-CN" sz="2600" dirty="0"/>
              <a:t>   /dev/</a:t>
            </a:r>
            <a:r>
              <a:rPr lang="en-US" altLang="zh-CN" sz="2600" dirty="0" err="1"/>
              <a:t>sdb</a:t>
            </a:r>
            <a:endParaRPr lang="en-US" altLang="zh-CN" sz="2600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CN" sz="2600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zh-CN" altLang="zh-CN" sz="2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5377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C5CA833-61D9-E5B1-1AA5-1E1E4898C1A7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79576" y="404664"/>
            <a:ext cx="7111752" cy="8588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+mj-ea"/>
              </a:rPr>
              <a:t>管理磁盘的命令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383560" y="1487287"/>
            <a:ext cx="9424880" cy="43204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2600" dirty="0"/>
              <a:t>执行分区命令后，进入一个可以和系统交互的界面，按</a:t>
            </a:r>
            <a:r>
              <a:rPr lang="en-US" altLang="zh-CN" sz="2600" dirty="0">
                <a:solidFill>
                  <a:srgbClr val="0000FF"/>
                </a:solidFill>
              </a:rPr>
              <a:t>[m]</a:t>
            </a:r>
            <a:r>
              <a:rPr lang="zh-CN" altLang="en-US" sz="2600" dirty="0">
                <a:solidFill>
                  <a:srgbClr val="0000FF"/>
                </a:solidFill>
              </a:rPr>
              <a:t>键</a:t>
            </a:r>
            <a:r>
              <a:rPr lang="zh-CN" altLang="en-US" sz="2600" dirty="0"/>
              <a:t>可以取得和系统交互的命令列表，比较常用的命令如下：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n    </a:t>
            </a:r>
            <a:r>
              <a:rPr lang="zh-CN" altLang="en-US" sz="2600" dirty="0"/>
              <a:t>新建分区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d    </a:t>
            </a:r>
            <a:r>
              <a:rPr lang="zh-CN" altLang="en-US" sz="2600" dirty="0"/>
              <a:t>删除分区</a:t>
            </a:r>
          </a:p>
          <a:p>
            <a:pPr marL="0" indent="0" eaLnBrk="1" hangingPunct="1">
              <a:buNone/>
            </a:pPr>
            <a:r>
              <a:rPr lang="en-US" altLang="zh-CN" sz="2600" dirty="0"/>
              <a:t>l     </a:t>
            </a:r>
            <a:r>
              <a:rPr lang="zh-CN" altLang="en-US" sz="2600" dirty="0"/>
              <a:t>显示分区类型</a:t>
            </a:r>
          </a:p>
          <a:p>
            <a:pPr marL="0" indent="0" eaLnBrk="1" hangingPunct="1">
              <a:buNone/>
            </a:pPr>
            <a:r>
              <a:rPr lang="en-US" altLang="zh-CN" sz="2600" dirty="0"/>
              <a:t>p </a:t>
            </a:r>
            <a:r>
              <a:rPr lang="zh-CN" altLang="en-US" sz="2600" dirty="0"/>
              <a:t>   显示分区信息</a:t>
            </a:r>
          </a:p>
          <a:p>
            <a:pPr marL="0" indent="0" eaLnBrk="1" hangingPunct="1">
              <a:buNone/>
            </a:pPr>
            <a:r>
              <a:rPr lang="en-US" altLang="zh-CN" sz="2600" dirty="0"/>
              <a:t>t </a:t>
            </a:r>
            <a:r>
              <a:rPr lang="zh-CN" altLang="en-US" sz="2600" dirty="0"/>
              <a:t>    设置分区类型</a:t>
            </a:r>
          </a:p>
          <a:p>
            <a:pPr marL="0" indent="0" eaLnBrk="1" hangingPunct="1">
              <a:buNone/>
            </a:pPr>
            <a:r>
              <a:rPr lang="en-US" altLang="zh-CN" sz="2600" dirty="0"/>
              <a:t>w </a:t>
            </a:r>
            <a:r>
              <a:rPr lang="zh-CN" altLang="en-US" sz="2600" dirty="0"/>
              <a:t>   保存修改</a:t>
            </a:r>
          </a:p>
          <a:p>
            <a:pPr marL="0" indent="0" eaLnBrk="1" hangingPunct="1">
              <a:buNone/>
            </a:pPr>
            <a:r>
              <a:rPr lang="en-US" altLang="zh-CN" sz="2600" dirty="0"/>
              <a:t>q    </a:t>
            </a:r>
            <a:r>
              <a:rPr lang="zh-CN" altLang="en-US" sz="2600" dirty="0"/>
              <a:t>退出不保存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CN" sz="2600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zh-CN" altLang="zh-CN" sz="2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4032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A71F7218-77CF-F637-EABD-C7E72B690A09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351584" y="407293"/>
            <a:ext cx="7111752" cy="8588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+mj-ea"/>
              </a:rPr>
              <a:t>管理磁盘的命令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271464" y="1196752"/>
            <a:ext cx="9037004" cy="482453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 mkfs </a:t>
            </a:r>
            <a:r>
              <a:rPr lang="zh-CN" altLang="en-US" sz="2600" dirty="0">
                <a:solidFill>
                  <a:srgbClr val="0000CC"/>
                </a:solidFill>
              </a:rPr>
              <a:t>命令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0" indent="0" eaLnBrk="1" hangingPunct="1">
              <a:buNone/>
            </a:pPr>
            <a:r>
              <a:rPr lang="zh-CN" altLang="en-US" sz="2600" dirty="0"/>
              <a:t>语法</a:t>
            </a:r>
            <a:r>
              <a:rPr lang="zh-CN" altLang="en-US" sz="2600" dirty="0">
                <a:solidFill>
                  <a:srgbClr val="0000CC"/>
                </a:solidFill>
              </a:rPr>
              <a:t>：</a:t>
            </a:r>
            <a:r>
              <a:rPr lang="en-US" altLang="zh-CN" sz="2600" dirty="0">
                <a:solidFill>
                  <a:srgbClr val="CC0099"/>
                </a:solidFill>
              </a:rPr>
              <a:t>mkfs   [</a:t>
            </a:r>
            <a:r>
              <a:rPr lang="zh-CN" altLang="en-US" sz="2600" dirty="0">
                <a:solidFill>
                  <a:srgbClr val="CC0099"/>
                </a:solidFill>
              </a:rPr>
              <a:t>选项</a:t>
            </a:r>
            <a:r>
              <a:rPr lang="en-US" altLang="zh-CN" sz="2600" dirty="0">
                <a:solidFill>
                  <a:srgbClr val="CC0099"/>
                </a:solidFill>
              </a:rPr>
              <a:t>] [</a:t>
            </a:r>
            <a:r>
              <a:rPr lang="zh-CN" altLang="en-US" sz="2600" dirty="0">
                <a:solidFill>
                  <a:srgbClr val="CC0099"/>
                </a:solidFill>
              </a:rPr>
              <a:t>参数</a:t>
            </a:r>
            <a:r>
              <a:rPr lang="en-US" altLang="zh-CN" sz="2600" dirty="0">
                <a:solidFill>
                  <a:srgbClr val="CC0099"/>
                </a:solidFill>
              </a:rPr>
              <a:t>]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0" indent="0" eaLnBrk="1" hangingPunct="1"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功能：</a:t>
            </a:r>
            <a:r>
              <a:rPr lang="zh-CN" altLang="en-US" sz="2600" dirty="0"/>
              <a:t>格式化磁盘。  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zh-CN" altLang="en-US" sz="2600" dirty="0"/>
              <a:t>主要各选项说明 ：</a:t>
            </a:r>
            <a:endParaRPr lang="en-US" altLang="zh-CN" sz="2600" b="0" dirty="0"/>
          </a:p>
          <a:p>
            <a:pPr marL="0" indent="0" eaLnBrk="1" hangingPunct="1">
              <a:buNone/>
            </a:pPr>
            <a:r>
              <a:rPr lang="en-US" altLang="zh-CN" sz="2600" dirty="0"/>
              <a:t>-v    </a:t>
            </a:r>
            <a:r>
              <a:rPr lang="zh-CN" altLang="en-US" sz="2600" dirty="0"/>
              <a:t>显示格式化进程</a:t>
            </a:r>
          </a:p>
          <a:p>
            <a:pPr marL="0" indent="0" eaLnBrk="1" hangingPunct="1">
              <a:buNone/>
            </a:pPr>
            <a:r>
              <a:rPr lang="en-US" altLang="zh-CN" sz="2600" dirty="0"/>
              <a:t>-t &lt;</a:t>
            </a:r>
            <a:r>
              <a:rPr lang="zh-CN" altLang="en-US" sz="2600" dirty="0"/>
              <a:t>文件系统类型</a:t>
            </a:r>
            <a:r>
              <a:rPr lang="en-US" altLang="zh-CN" sz="2600" dirty="0"/>
              <a:t>&gt;   </a:t>
            </a:r>
            <a:r>
              <a:rPr lang="zh-CN" altLang="en-US" sz="2600" dirty="0"/>
              <a:t>指定格式化的文件系统的类型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-c    </a:t>
            </a:r>
            <a:r>
              <a:rPr lang="zh-CN" altLang="en-US" sz="2600" dirty="0"/>
              <a:t>在制做档案系统前，检查该分区是否有坏轨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-V    </a:t>
            </a:r>
            <a:r>
              <a:rPr lang="zh-CN" altLang="en-US" sz="2600" dirty="0"/>
              <a:t>显示版本信息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例如</a:t>
            </a:r>
            <a:r>
              <a:rPr lang="zh-CN" altLang="en-US" sz="2600" dirty="0"/>
              <a:t>：将指定分区格式化为</a:t>
            </a:r>
            <a:r>
              <a:rPr lang="en-US" altLang="zh-CN" sz="2600" dirty="0"/>
              <a:t>ext4</a:t>
            </a:r>
            <a:r>
              <a:rPr lang="zh-CN" altLang="en-US" sz="2600" dirty="0"/>
              <a:t>格式。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fr-FR" altLang="zh-CN" sz="2600" dirty="0"/>
              <a:t>     mkfs  -t  ext4  /dev/sdb1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9370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C7B9222-0AA8-13D1-D626-43B423A23684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351584" y="409923"/>
            <a:ext cx="7111752" cy="8588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>
                <a:latin typeface="+mj-ea"/>
              </a:rPr>
              <a:t>管理磁盘的命令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343472" y="1268760"/>
            <a:ext cx="9649072" cy="489654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 </a:t>
            </a:r>
            <a:r>
              <a:rPr lang="en-US" altLang="zh-CN" sz="2600" dirty="0" err="1">
                <a:solidFill>
                  <a:srgbClr val="0000CC"/>
                </a:solidFill>
              </a:rPr>
              <a:t>df</a:t>
            </a:r>
            <a:r>
              <a:rPr lang="en-US" altLang="zh-CN" sz="2600" dirty="0">
                <a:solidFill>
                  <a:srgbClr val="0000CC"/>
                </a:solidFill>
              </a:rPr>
              <a:t> </a:t>
            </a:r>
            <a:r>
              <a:rPr lang="zh-CN" altLang="en-US" sz="2600" dirty="0">
                <a:solidFill>
                  <a:srgbClr val="0000CC"/>
                </a:solidFill>
              </a:rPr>
              <a:t>命令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600" dirty="0"/>
              <a:t>语法</a:t>
            </a:r>
            <a:r>
              <a:rPr lang="zh-CN" altLang="en-US" sz="2600" dirty="0">
                <a:solidFill>
                  <a:srgbClr val="0000CC"/>
                </a:solidFill>
              </a:rPr>
              <a:t>：</a:t>
            </a:r>
            <a:r>
              <a:rPr lang="en-US" altLang="zh-CN" sz="2600" dirty="0" err="1">
                <a:solidFill>
                  <a:srgbClr val="CC0099"/>
                </a:solidFill>
              </a:rPr>
              <a:t>df</a:t>
            </a:r>
            <a:r>
              <a:rPr lang="en-US" altLang="zh-CN" sz="2600" dirty="0">
                <a:solidFill>
                  <a:srgbClr val="CC0099"/>
                </a:solidFill>
              </a:rPr>
              <a:t>   [</a:t>
            </a:r>
            <a:r>
              <a:rPr lang="zh-CN" altLang="en-US" sz="2600" dirty="0">
                <a:solidFill>
                  <a:srgbClr val="CC0099"/>
                </a:solidFill>
              </a:rPr>
              <a:t>选项</a:t>
            </a:r>
            <a:r>
              <a:rPr lang="en-US" altLang="zh-CN" sz="2600" dirty="0">
                <a:solidFill>
                  <a:srgbClr val="CC0099"/>
                </a:solidFill>
              </a:rPr>
              <a:t>]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功能：</a:t>
            </a:r>
            <a:r>
              <a:rPr lang="zh-CN" altLang="en-US" sz="2600" dirty="0"/>
              <a:t>检查各硬盘分区和已挂上来的文件系统的磁盘空间，显示文件系统的相关信息。  </a:t>
            </a:r>
            <a:endParaRPr lang="en-US" altLang="zh-CN" sz="26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600" dirty="0"/>
              <a:t>主要各选项说明 ：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-a   </a:t>
            </a:r>
            <a:r>
              <a:rPr lang="zh-CN" altLang="en-US" sz="2600" dirty="0"/>
              <a:t>显示</a:t>
            </a:r>
            <a:r>
              <a:rPr lang="zh-CN" altLang="zh-CN" sz="2600" dirty="0"/>
              <a:t>全部的文件系统和各分区的磁盘使用情</a:t>
            </a:r>
            <a:r>
              <a:rPr lang="zh-CN" altLang="en-US" sz="2600" dirty="0"/>
              <a:t>况</a:t>
            </a:r>
            <a:r>
              <a:rPr lang="zh-CN" altLang="zh-CN" sz="2600" dirty="0"/>
              <a:t>。</a:t>
            </a:r>
            <a:endParaRPr lang="zh-CN" altLang="zh-CN" sz="2600" b="0" dirty="0"/>
          </a:p>
          <a:p>
            <a:pPr marL="0" indent="0" eaLnBrk="1" hangingPunct="1">
              <a:buNone/>
            </a:pPr>
            <a:r>
              <a:rPr lang="en-US" altLang="zh-CN" sz="2600" dirty="0"/>
              <a:t>-k   </a:t>
            </a:r>
            <a:r>
              <a:rPr lang="zh-CN" altLang="zh-CN" sz="2600" dirty="0"/>
              <a:t>以</a:t>
            </a:r>
            <a:r>
              <a:rPr lang="en-US" altLang="zh-CN" sz="2600" dirty="0"/>
              <a:t>k</a:t>
            </a:r>
            <a:r>
              <a:rPr lang="zh-CN" altLang="zh-CN" sz="2600" dirty="0"/>
              <a:t>字节为单位显示。</a:t>
            </a:r>
            <a:endParaRPr lang="zh-CN" altLang="zh-CN" sz="2600" b="0" dirty="0"/>
          </a:p>
          <a:p>
            <a:pPr marL="0" indent="0" eaLnBrk="1" hangingPunct="1">
              <a:buNone/>
            </a:pPr>
            <a:r>
              <a:rPr lang="en-US" altLang="zh-CN" sz="2600" dirty="0"/>
              <a:t>-t    </a:t>
            </a:r>
            <a:r>
              <a:rPr lang="zh-CN" altLang="en-US" sz="2600" dirty="0"/>
              <a:t>文件系统类型     仅显示指定</a:t>
            </a:r>
            <a:r>
              <a:rPr lang="zh-CN" altLang="zh-CN" sz="2600" dirty="0"/>
              <a:t>文件系统的使用</a:t>
            </a:r>
            <a:r>
              <a:rPr lang="zh-CN" altLang="en-US" sz="2600" dirty="0"/>
              <a:t>情况</a:t>
            </a:r>
            <a:r>
              <a:rPr lang="zh-CN" altLang="zh-CN" sz="2600" dirty="0"/>
              <a:t>。</a:t>
            </a:r>
            <a:endParaRPr lang="zh-CN" altLang="zh-CN" sz="2600" b="0" dirty="0"/>
          </a:p>
          <a:p>
            <a:pPr marL="0" indent="0" eaLnBrk="1" hangingPunct="1">
              <a:buNone/>
            </a:pPr>
            <a:r>
              <a:rPr lang="en-US" altLang="zh-CN" sz="2600" dirty="0"/>
              <a:t>-x   </a:t>
            </a:r>
            <a:r>
              <a:rPr lang="zh-CN" altLang="en-US" sz="2600" dirty="0"/>
              <a:t>文件系统类型    显示指定文件系统以外的其他文件系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      </a:t>
            </a:r>
            <a:r>
              <a:rPr lang="zh-CN" altLang="en-US" sz="2600" dirty="0"/>
              <a:t>统的使用情况</a:t>
            </a:r>
            <a:r>
              <a:rPr lang="zh-CN" altLang="zh-CN" sz="2600" dirty="0"/>
              <a:t>。</a:t>
            </a:r>
            <a:endParaRPr lang="zh-CN" altLang="zh-CN" sz="2600" b="0" dirty="0"/>
          </a:p>
          <a:p>
            <a:pPr marL="0" indent="0" eaLnBrk="1" hangingPunct="1">
              <a:buNone/>
            </a:pPr>
            <a:r>
              <a:rPr lang="en-US" altLang="zh-CN" sz="2600" dirty="0"/>
              <a:t>-T   </a:t>
            </a:r>
            <a:r>
              <a:rPr lang="zh-CN" altLang="zh-CN" sz="2600" dirty="0"/>
              <a:t>列出每个分区所属文件系统的名称。</a:t>
            </a:r>
            <a:endParaRPr lang="zh-CN" altLang="zh-CN" sz="2600" b="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6607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E9B31A2-CA71-750A-0ADA-5BFB63A9125B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63552" y="476672"/>
            <a:ext cx="7355160" cy="858837"/>
          </a:xfrm>
        </p:spPr>
        <p:txBody>
          <a:bodyPr/>
          <a:lstStyle/>
          <a:p>
            <a:r>
              <a:rPr lang="en-US" altLang="zh-CN" dirty="0"/>
              <a:t>df</a:t>
            </a:r>
            <a:r>
              <a:rPr lang="en-US" altLang="zh-CN" dirty="0">
                <a:latin typeface="+mj-ea"/>
              </a:rPr>
              <a:t> </a:t>
            </a:r>
            <a:r>
              <a:rPr lang="zh-CN" altLang="en-US" dirty="0">
                <a:latin typeface="+mj-ea"/>
              </a:rPr>
              <a:t>命令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15480" y="1628800"/>
            <a:ext cx="9505056" cy="324036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sz="2600" dirty="0"/>
              <a:t>df</a:t>
            </a:r>
            <a:r>
              <a:rPr lang="zh-CN" altLang="en-US" sz="2600" dirty="0"/>
              <a:t>命令不加任何可选参数</a:t>
            </a:r>
            <a:r>
              <a:rPr lang="en-US" altLang="zh-CN" sz="2600" dirty="0"/>
              <a:t>,</a:t>
            </a:r>
            <a:r>
              <a:rPr lang="zh-CN" altLang="en-US" sz="2600" dirty="0"/>
              <a:t>依次显示的是文件系统</a:t>
            </a:r>
            <a:r>
              <a:rPr lang="en-US" altLang="zh-CN" sz="2600" dirty="0"/>
              <a:t>,</a:t>
            </a:r>
            <a:r>
              <a:rPr lang="zh-CN" altLang="en-US" sz="2600" dirty="0"/>
              <a:t>空间大小</a:t>
            </a:r>
            <a:r>
              <a:rPr lang="en-US" altLang="zh-CN" sz="2600" dirty="0"/>
              <a:t>,</a:t>
            </a:r>
            <a:r>
              <a:rPr lang="zh-CN" altLang="en-US" sz="2600" dirty="0"/>
              <a:t>已用</a:t>
            </a:r>
            <a:r>
              <a:rPr lang="en-US" altLang="zh-CN" sz="2600" dirty="0"/>
              <a:t>,</a:t>
            </a:r>
            <a:r>
              <a:rPr lang="zh-CN" altLang="en-US" sz="2600" dirty="0"/>
              <a:t>可用</a:t>
            </a:r>
            <a:r>
              <a:rPr lang="en-US" altLang="zh-CN" sz="2600" dirty="0"/>
              <a:t>,</a:t>
            </a:r>
            <a:r>
              <a:rPr lang="zh-CN" altLang="en-US" sz="2600" dirty="0"/>
              <a:t>百分数表示的已用空间</a:t>
            </a:r>
            <a:r>
              <a:rPr lang="en-US" altLang="zh-CN" sz="2600" dirty="0"/>
              <a:t>,</a:t>
            </a:r>
            <a:r>
              <a:rPr lang="zh-CN" altLang="en-US" sz="2600" dirty="0"/>
              <a:t>挂载位置。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400" dirty="0"/>
              <a:t>$ df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000" dirty="0"/>
              <a:t>文件系统 </a:t>
            </a:r>
            <a:r>
              <a:rPr lang="en-US" altLang="zh-CN" sz="2000" dirty="0"/>
              <a:t>              </a:t>
            </a:r>
            <a:r>
              <a:rPr lang="en-US" altLang="zh-CN" sz="2000" dirty="0" err="1"/>
              <a:t>1K</a:t>
            </a:r>
            <a:r>
              <a:rPr lang="en-US" altLang="zh-CN" sz="2000" dirty="0"/>
              <a:t>-</a:t>
            </a:r>
            <a:r>
              <a:rPr lang="zh-CN" altLang="en-US" sz="2000" dirty="0"/>
              <a:t>块</a:t>
            </a:r>
            <a:r>
              <a:rPr lang="en-US" altLang="zh-CN" sz="2000" dirty="0"/>
              <a:t>       </a:t>
            </a:r>
            <a:r>
              <a:rPr lang="zh-CN" altLang="en-US" sz="2000" dirty="0"/>
              <a:t>已用</a:t>
            </a:r>
            <a:r>
              <a:rPr lang="en-US" altLang="zh-CN" sz="2000" dirty="0"/>
              <a:t>           </a:t>
            </a:r>
            <a:r>
              <a:rPr lang="zh-CN" altLang="en-US" sz="2000" dirty="0"/>
              <a:t>可用             已用</a:t>
            </a:r>
            <a:r>
              <a:rPr lang="en-US" altLang="zh-CN" sz="2000" dirty="0"/>
              <a:t>%     </a:t>
            </a:r>
            <a:r>
              <a:rPr lang="zh-CN" altLang="en-US" sz="2000" dirty="0"/>
              <a:t>挂载点</a:t>
            </a:r>
            <a:endParaRPr lang="en-US" altLang="zh-CN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/>
              <a:t>/dev/</a:t>
            </a:r>
            <a:r>
              <a:rPr lang="en-US" altLang="zh-CN" sz="2000" dirty="0" err="1"/>
              <a:t>sda2</a:t>
            </a:r>
            <a:r>
              <a:rPr lang="en-US" altLang="zh-CN" sz="2000" dirty="0"/>
              <a:t>          3834496    2580104   1059604         71%           /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/>
              <a:t>/dev/</a:t>
            </a:r>
            <a:r>
              <a:rPr lang="en-US" altLang="zh-CN" sz="2000" dirty="0" err="1"/>
              <a:t>sda1</a:t>
            </a:r>
            <a:r>
              <a:rPr lang="en-US" altLang="zh-CN" sz="2000" dirty="0"/>
              <a:t>            101089        16079        79791         17%       /boot</a:t>
            </a:r>
          </a:p>
          <a:p>
            <a:pPr marL="0" indent="0">
              <a:lnSpc>
                <a:spcPct val="130000"/>
              </a:lnSpc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2581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FE33557-179D-BFB4-FA22-6CDB665F60FE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7568" y="426359"/>
            <a:ext cx="7543800" cy="8588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>
                <a:latin typeface="+mn-lt"/>
              </a:rPr>
              <a:t>du</a:t>
            </a:r>
            <a:r>
              <a:rPr lang="en-US" altLang="zh-CN" dirty="0">
                <a:latin typeface="+mj-ea"/>
              </a:rPr>
              <a:t> </a:t>
            </a:r>
            <a:r>
              <a:rPr lang="zh-CN" altLang="en-US" dirty="0">
                <a:latin typeface="+mj-ea"/>
              </a:rPr>
              <a:t>命令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271464" y="1124744"/>
            <a:ext cx="9721080" cy="482453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du </a:t>
            </a:r>
            <a:r>
              <a:rPr lang="zh-CN" altLang="en-US" sz="2600" dirty="0">
                <a:solidFill>
                  <a:srgbClr val="0000CC"/>
                </a:solidFill>
              </a:rPr>
              <a:t>命令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600" dirty="0"/>
              <a:t>语法：</a:t>
            </a:r>
            <a:r>
              <a:rPr lang="en-US" altLang="zh-CN" sz="2600" dirty="0">
                <a:solidFill>
                  <a:srgbClr val="CC0099"/>
                </a:solidFill>
              </a:rPr>
              <a:t>du  [-</a:t>
            </a:r>
            <a:r>
              <a:rPr lang="zh-CN" altLang="en-US" sz="2600" dirty="0">
                <a:solidFill>
                  <a:srgbClr val="CC0099"/>
                </a:solidFill>
              </a:rPr>
              <a:t>选项</a:t>
            </a:r>
            <a:r>
              <a:rPr lang="en-US" altLang="zh-CN" sz="2600" dirty="0">
                <a:solidFill>
                  <a:srgbClr val="CC0099"/>
                </a:solidFill>
              </a:rPr>
              <a:t>] [</a:t>
            </a:r>
            <a:r>
              <a:rPr lang="zh-CN" altLang="en-US" sz="2600" dirty="0">
                <a:solidFill>
                  <a:srgbClr val="CC0099"/>
                </a:solidFill>
              </a:rPr>
              <a:t>文件名或目录名</a:t>
            </a:r>
            <a:r>
              <a:rPr lang="en-US" altLang="zh-CN" sz="2600" dirty="0">
                <a:solidFill>
                  <a:srgbClr val="CC0099"/>
                </a:solidFill>
              </a:rPr>
              <a:t>]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功能</a:t>
            </a:r>
            <a:r>
              <a:rPr lang="zh-CN" altLang="en-US" sz="2600" dirty="0"/>
              <a:t>：查询文件或目录的磁盘使用空间，显示文件或目录的大小。</a:t>
            </a:r>
            <a:endParaRPr lang="en-US" altLang="zh-CN" sz="26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600" dirty="0"/>
              <a:t>主要各选项说明 ：</a:t>
            </a:r>
            <a:endParaRPr lang="en-US" altLang="zh-CN" sz="260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600" dirty="0"/>
              <a:t> a   </a:t>
            </a:r>
            <a:r>
              <a:rPr lang="zh-CN" altLang="zh-CN" sz="2600" dirty="0"/>
              <a:t>显示全部目录及其次目录下的每个文件所占的磁盘空间</a:t>
            </a:r>
            <a:endParaRPr lang="zh-CN" altLang="zh-CN" sz="2600" b="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600" dirty="0"/>
              <a:t> b   </a:t>
            </a:r>
            <a:r>
              <a:rPr lang="zh-CN" altLang="zh-CN" sz="2600" dirty="0"/>
              <a:t>显示目录或文件的大小</a:t>
            </a:r>
            <a:r>
              <a:rPr lang="zh-CN" altLang="en-US" sz="2600" dirty="0"/>
              <a:t>，</a:t>
            </a:r>
            <a:r>
              <a:rPr lang="zh-CN" altLang="zh-CN" sz="2600" dirty="0"/>
              <a:t>以</a:t>
            </a:r>
            <a:r>
              <a:rPr lang="en-US" altLang="zh-CN" sz="2600" dirty="0"/>
              <a:t>byte</a:t>
            </a:r>
            <a:r>
              <a:rPr lang="zh-CN" altLang="zh-CN" sz="2600" dirty="0"/>
              <a:t>为单位。</a:t>
            </a:r>
            <a:endParaRPr lang="zh-CN" altLang="zh-CN" sz="2600" b="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600" dirty="0"/>
              <a:t> c   </a:t>
            </a:r>
            <a:r>
              <a:rPr lang="zh-CN" altLang="zh-CN" sz="2600" dirty="0"/>
              <a:t>最后再加上一个总计</a:t>
            </a:r>
            <a:endParaRPr lang="zh-CN" altLang="zh-CN" sz="2600" b="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600" dirty="0"/>
              <a:t> h   </a:t>
            </a:r>
            <a:r>
              <a:rPr lang="zh-CN" altLang="zh-CN" sz="2600" dirty="0"/>
              <a:t>以</a:t>
            </a:r>
            <a:r>
              <a:rPr lang="en-US" altLang="zh-CN" sz="2600" dirty="0"/>
              <a:t>k(kb)</a:t>
            </a:r>
            <a:r>
              <a:rPr lang="zh-CN" altLang="zh-CN" sz="2600" dirty="0"/>
              <a:t>、</a:t>
            </a:r>
            <a:r>
              <a:rPr lang="en-US" altLang="zh-CN" sz="2600" dirty="0"/>
              <a:t>M(MB)</a:t>
            </a:r>
            <a:r>
              <a:rPr lang="zh-CN" altLang="zh-CN" sz="2600" dirty="0"/>
              <a:t>、</a:t>
            </a:r>
            <a:r>
              <a:rPr lang="en-US" altLang="zh-CN" sz="2600" dirty="0"/>
              <a:t>G(GB)</a:t>
            </a:r>
            <a:r>
              <a:rPr lang="zh-CN" altLang="zh-CN" sz="2600" dirty="0"/>
              <a:t>为单位，提高信息的可读性。</a:t>
            </a:r>
            <a:endParaRPr lang="zh-CN" altLang="zh-CN" sz="2600" b="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600" dirty="0"/>
              <a:t> s   </a:t>
            </a:r>
            <a:r>
              <a:rPr lang="zh-CN" altLang="zh-CN" sz="2600" dirty="0"/>
              <a:t>只列出各文件大小的总和</a:t>
            </a:r>
            <a:endParaRPr lang="zh-CN" altLang="zh-CN" sz="2600" b="0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600" dirty="0"/>
              <a:t> x   </a:t>
            </a:r>
            <a:r>
              <a:rPr lang="zh-CN" altLang="zh-CN" sz="2600" dirty="0"/>
              <a:t>计算</a:t>
            </a:r>
            <a:r>
              <a:rPr lang="zh-CN" altLang="en-US" sz="2600" dirty="0"/>
              <a:t>指定文件系统的文</a:t>
            </a:r>
            <a:r>
              <a:rPr lang="zh-CN" altLang="zh-CN" sz="2600" dirty="0"/>
              <a:t>件</a:t>
            </a:r>
            <a:endParaRPr lang="en-US" altLang="zh-CN" sz="2600" dirty="0"/>
          </a:p>
          <a:p>
            <a:pPr marL="0" indent="0" eaLnBrk="1" hangingPunct="1">
              <a:buNone/>
            </a:pPr>
            <a:endParaRPr lang="en-US" altLang="zh-CN" sz="2400" dirty="0"/>
          </a:p>
          <a:p>
            <a:pPr marL="0" indent="0" eaLnBrk="1" hangingPunct="1">
              <a:buNone/>
            </a:pPr>
            <a:endParaRPr lang="zh-CN" altLang="zh-CN" sz="2400" b="0" dirty="0"/>
          </a:p>
          <a:p>
            <a:pPr marL="0" indent="0" eaLnBrk="1" hangingPunct="1">
              <a:buNone/>
            </a:pPr>
            <a:endParaRPr lang="en-US" altLang="zh-CN" sz="2400" dirty="0">
              <a:solidFill>
                <a:srgbClr val="CC0099"/>
              </a:solidFill>
            </a:endParaRPr>
          </a:p>
        </p:txBody>
      </p:sp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905F93E6-BCF7-4DD5-8612-605DBF0BE01A}"/>
              </a:ext>
            </a:extLst>
          </p:cNvPr>
          <p:cNvSpPr txBox="1">
            <a:spLocks/>
          </p:cNvSpPr>
          <p:nvPr/>
        </p:nvSpPr>
        <p:spPr bwMode="auto">
          <a:xfrm>
            <a:off x="10189963" y="6357015"/>
            <a:ext cx="73057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45316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375ADCA-B3FF-8D38-5054-BC128E0E0DDB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6082" name="Rectangle 3" descr="画布"/>
          <p:cNvSpPr>
            <a:spLocks noChangeArrowheads="1"/>
          </p:cNvSpPr>
          <p:nvPr/>
        </p:nvSpPr>
        <p:spPr bwMode="auto">
          <a:xfrm>
            <a:off x="1091444" y="1556792"/>
            <a:ext cx="10009112" cy="4480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8366" tIns="39183" rIns="78366" bIns="39183">
            <a:spAutoFit/>
          </a:bodyPr>
          <a:lstStyle>
            <a:lvl1pPr algn="l" defTabSz="784225" eaLnBrk="0" hangingPunct="0"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v"/>
              <a:defRPr sz="32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algn="l" defTabSz="784225" eaLnBrk="0" hangingPunct="0"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Char char=""/>
              <a:defRPr sz="28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algn="l" defTabSz="784225"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itchFamily="2" charset="2"/>
              <a:buChar char="v"/>
              <a:defRPr sz="24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algn="l" defTabSz="784225" eaLnBrk="0" hangingPunct="0">
              <a:spcBef>
                <a:spcPct val="20000"/>
              </a:spcBef>
              <a:buClr>
                <a:schemeClr val="accent2"/>
              </a:buClr>
              <a:buSzPct val="90000"/>
              <a:buFont typeface="Wingdings" pitchFamily="2" charset="2"/>
              <a:buChar char="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algn="l" defTabSz="784225" eaLnBrk="0" hangingPunct="0">
              <a:spcBef>
                <a:spcPct val="20000"/>
              </a:spcBef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defTabSz="784225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itchFamily="2" charset="2"/>
              <a:buChar char="v"/>
              <a:defRPr sz="2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342900" indent="-34290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2600" dirty="0">
                <a:solidFill>
                  <a:srgbClr val="000000"/>
                </a:solidFill>
                <a:latin typeface="+mn-ea"/>
                <a:ea typeface="+mn-ea"/>
              </a:rPr>
              <a:t>整个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ea typeface="+mn-ea"/>
              </a:rPr>
              <a:t>Linux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ea typeface="+mn-ea"/>
              </a:rPr>
              <a:t>的文件系统，都是以根目录为起点的，其他目录、文件以及外部设备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ea typeface="+mn-ea"/>
              </a:rPr>
              <a:t>包括硬盘、光驱等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ea typeface="+mn-ea"/>
              </a:rPr>
              <a:t>文件都是以根目录为起点，挂接在根目录下面。其他所有分区都被挂载到目录树的某个目录中，</a:t>
            </a:r>
            <a:r>
              <a:rPr lang="zh-CN" altLang="en-US" sz="2600" dirty="0">
                <a:solidFill>
                  <a:srgbClr val="0000CC"/>
                </a:solidFill>
                <a:latin typeface="+mn-ea"/>
                <a:ea typeface="+mn-ea"/>
              </a:rPr>
              <a:t>通过访问挂载点目录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ea typeface="+mn-ea"/>
              </a:rPr>
              <a:t>，即可实现对这些分区的访问。</a:t>
            </a:r>
            <a:endParaRPr lang="en-US" altLang="zh-CN" sz="2600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2600" dirty="0">
                <a:solidFill>
                  <a:srgbClr val="000000"/>
                </a:solidFill>
                <a:latin typeface="+mn-ea"/>
                <a:ea typeface="+mn-ea"/>
              </a:rPr>
              <a:t>例如，使用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ea typeface="+mn-ea"/>
              </a:rPr>
              <a:t>USB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ea typeface="+mn-ea"/>
              </a:rPr>
              <a:t>存储设备、光盘等存储设备，必须将这些设备中的“小”目录像嫁接一样挂载到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ea typeface="+mn-ea"/>
              </a:rPr>
              <a:t>Linux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ea typeface="+mn-ea"/>
              </a:rPr>
              <a:t>系统的“大”目录树中。将其作为“大”目录树中的一个目录进行访问。</a:t>
            </a:r>
            <a:endParaRPr lang="en-US" altLang="zh-CN" sz="2600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2600" dirty="0">
                <a:solidFill>
                  <a:srgbClr val="000000"/>
                </a:solidFill>
                <a:latin typeface="+mn-ea"/>
                <a:ea typeface="+mn-ea"/>
              </a:rPr>
              <a:t>微软的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ea typeface="+mn-ea"/>
              </a:rPr>
              <a:t>DOS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ea typeface="+mn-ea"/>
              </a:rPr>
              <a:t>和</a:t>
            </a:r>
            <a:r>
              <a:rPr lang="en-US" altLang="zh-CN" sz="2600" dirty="0">
                <a:solidFill>
                  <a:srgbClr val="000000"/>
                </a:solidFill>
                <a:latin typeface="+mn-ea"/>
                <a:ea typeface="+mn-ea"/>
              </a:rPr>
              <a:t>windows</a:t>
            </a:r>
            <a:r>
              <a:rPr lang="zh-CN" altLang="en-US" sz="2600" dirty="0">
                <a:solidFill>
                  <a:srgbClr val="000000"/>
                </a:solidFill>
                <a:latin typeface="+mn-ea"/>
                <a:ea typeface="+mn-ea"/>
              </a:rPr>
              <a:t>也是采用树型结构，但其树型结构的根是磁盘分区的盘符，有几个分区就有几个树型结构，他们之间的关系是并列的。</a:t>
            </a: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l"/>
            </a:pPr>
            <a:endParaRPr lang="zh-CN" altLang="en-US" sz="26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495600" y="617473"/>
            <a:ext cx="70567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dirty="0">
                <a:latin typeface="+mn-lt"/>
                <a:ea typeface="+mn-ea"/>
                <a:cs typeface="+mj-cs"/>
              </a:rPr>
              <a:t>5.5</a:t>
            </a:r>
            <a:r>
              <a:rPr lang="en-US" altLang="zh-CN" sz="4000" dirty="0">
                <a:cs typeface="Arial" charset="0"/>
              </a:rPr>
              <a:t> </a:t>
            </a:r>
            <a:r>
              <a:rPr lang="zh-CN" altLang="en-US" sz="4000" dirty="0">
                <a:ea typeface="黑体" pitchFamily="2" charset="-122"/>
                <a:cs typeface="Arial" charset="0"/>
              </a:rPr>
              <a:t>文件系统的挂载与卸载</a:t>
            </a:r>
            <a:endParaRPr lang="zh-CN" altLang="en-US" sz="4000" dirty="0">
              <a:latin typeface="+mj-ea"/>
              <a:ea typeface="+mj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3130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7DADB86-24A0-1264-A1BA-96AF63A703D2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1305744" y="459537"/>
            <a:ext cx="9614859" cy="858837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ea typeface="黑体" pitchFamily="2" charset="-122"/>
                <a:cs typeface="Arial" charset="0"/>
              </a:rPr>
              <a:t>文件系统的挂载与卸载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1464" y="1484784"/>
            <a:ext cx="9793088" cy="4627686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sz="2600" dirty="0">
                <a:latin typeface="+mj-lt"/>
              </a:rPr>
              <a:t>Linux</a:t>
            </a:r>
            <a:r>
              <a:rPr lang="zh-CN" altLang="en-US" sz="2600" dirty="0">
                <a:latin typeface="宋体" pitchFamily="2" charset="-122"/>
              </a:rPr>
              <a:t>系统中有一个</a:t>
            </a:r>
            <a:r>
              <a:rPr lang="en-US" altLang="zh-CN" sz="2600" dirty="0">
                <a:latin typeface="+mj-lt"/>
              </a:rPr>
              <a:t>/</a:t>
            </a:r>
            <a:r>
              <a:rPr lang="en-US" altLang="zh-CN" sz="2600" dirty="0" err="1">
                <a:latin typeface="+mj-lt"/>
              </a:rPr>
              <a:t>mnt</a:t>
            </a:r>
            <a:r>
              <a:rPr lang="zh-CN" altLang="en-US" sz="2600" dirty="0">
                <a:latin typeface="宋体" pitchFamily="2" charset="-122"/>
              </a:rPr>
              <a:t>目录，专门用作</a:t>
            </a:r>
            <a:r>
              <a:rPr lang="zh-CN" altLang="en-US" sz="2600" dirty="0">
                <a:solidFill>
                  <a:srgbClr val="0000CC"/>
                </a:solidFill>
                <a:latin typeface="宋体" pitchFamily="2" charset="-122"/>
              </a:rPr>
              <a:t>挂载点</a:t>
            </a:r>
            <a:r>
              <a:rPr lang="zh-CN" altLang="en-US" sz="2600" dirty="0">
                <a:latin typeface="宋体" pitchFamily="2" charset="-122"/>
              </a:rPr>
              <a:t>（</a:t>
            </a:r>
            <a:r>
              <a:rPr lang="en-US" altLang="zh-CN" sz="2600" dirty="0">
                <a:latin typeface="+mj-lt"/>
              </a:rPr>
              <a:t>mount Point</a:t>
            </a:r>
            <a:r>
              <a:rPr lang="zh-CN" altLang="en-US" sz="2600" dirty="0">
                <a:latin typeface="宋体" pitchFamily="2" charset="-122"/>
              </a:rPr>
              <a:t>）目录。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latin typeface="宋体" pitchFamily="2" charset="-122"/>
              </a:rPr>
              <a:t>硬盘上的各个磁盘分区都会在启动过程中自动挂载到指定的目录，并在关机时自动卸载。</a:t>
            </a:r>
            <a:r>
              <a:rPr lang="zh-CN" altLang="en-US" dirty="0"/>
              <a:t> 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latin typeface="宋体" pitchFamily="2" charset="-122"/>
              </a:rPr>
              <a:t>移动存储介质既可以在</a:t>
            </a:r>
            <a:r>
              <a:rPr lang="en-US" altLang="zh-CN" dirty="0">
                <a:latin typeface="+mj-lt"/>
              </a:rPr>
              <a:t>/</a:t>
            </a:r>
            <a:r>
              <a:rPr lang="en-US" altLang="zh-CN" dirty="0" err="1">
                <a:latin typeface="+mj-lt"/>
              </a:rPr>
              <a:t>etc</a:t>
            </a:r>
            <a:r>
              <a:rPr lang="en-US" altLang="zh-CN" dirty="0">
                <a:latin typeface="+mj-lt"/>
              </a:rPr>
              <a:t>/</a:t>
            </a:r>
            <a:r>
              <a:rPr lang="en-US" altLang="zh-CN" dirty="0" err="1">
                <a:latin typeface="+mj-lt"/>
              </a:rPr>
              <a:t>fstab</a:t>
            </a:r>
            <a:r>
              <a:rPr lang="zh-CN" altLang="en-US" dirty="0">
                <a:latin typeface="宋体" pitchFamily="2" charset="-122"/>
              </a:rPr>
              <a:t>中指定开机自动加载，也可以在需要时手动挂载</a:t>
            </a:r>
            <a:r>
              <a:rPr lang="en-US" altLang="zh-CN" dirty="0"/>
              <a:t>/</a:t>
            </a:r>
            <a:r>
              <a:rPr lang="zh-CN" altLang="en-US" dirty="0">
                <a:latin typeface="宋体" pitchFamily="2" charset="-122"/>
              </a:rPr>
              <a:t>卸载。</a:t>
            </a:r>
            <a:endParaRPr lang="en-US" altLang="zh-CN" dirty="0">
              <a:latin typeface="宋体" pitchFamily="2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>
                <a:latin typeface="宋体" pitchFamily="2" charset="-122"/>
              </a:rPr>
              <a:t>在挂载设备时首先查看挂载点目录是否存在，如果不存在必须首先创建该目录，否则</a:t>
            </a:r>
            <a:r>
              <a:rPr lang="en-US" altLang="zh-CN" dirty="0">
                <a:latin typeface="+mj-lt"/>
              </a:rPr>
              <a:t>mount</a:t>
            </a:r>
            <a:r>
              <a:rPr lang="zh-CN" altLang="en-US" dirty="0">
                <a:latin typeface="宋体" pitchFamily="2" charset="-122"/>
              </a:rPr>
              <a:t>命令无法正常执行。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54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8714A0F-8479-4984-7FFC-33C0D78F789E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4274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199456" y="1484785"/>
            <a:ext cx="10009112" cy="3960439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600" dirty="0">
                <a:solidFill>
                  <a:srgbClr val="000000"/>
                </a:solidFill>
              </a:rPr>
              <a:t>对于</a:t>
            </a:r>
            <a:r>
              <a:rPr lang="en-US" altLang="zh-CN" sz="2600" dirty="0">
                <a:solidFill>
                  <a:srgbClr val="000000"/>
                </a:solidFill>
              </a:rPr>
              <a:t>CentOS</a:t>
            </a:r>
            <a:r>
              <a:rPr lang="zh-CN" altLang="en-US" sz="2600" dirty="0">
                <a:solidFill>
                  <a:srgbClr val="000000"/>
                </a:solidFill>
              </a:rPr>
              <a:t>中的硬盘类型，常见的主要有</a:t>
            </a:r>
            <a:r>
              <a:rPr lang="en-US" altLang="zh-CN" sz="2600" dirty="0">
                <a:solidFill>
                  <a:srgbClr val="000000"/>
                </a:solidFill>
              </a:rPr>
              <a:t>SCSI</a:t>
            </a:r>
            <a:r>
              <a:rPr lang="zh-CN" altLang="en-US" sz="2600" dirty="0">
                <a:solidFill>
                  <a:srgbClr val="000000"/>
                </a:solidFill>
              </a:rPr>
              <a:t>和</a:t>
            </a:r>
            <a:r>
              <a:rPr lang="en-US" altLang="zh-CN" sz="2600" dirty="0">
                <a:solidFill>
                  <a:srgbClr val="000000"/>
                </a:solidFill>
              </a:rPr>
              <a:t>IDE</a:t>
            </a:r>
            <a:r>
              <a:rPr lang="zh-CN" altLang="en-US" sz="2600" dirty="0">
                <a:solidFill>
                  <a:srgbClr val="000000"/>
                </a:solidFill>
              </a:rPr>
              <a:t>两种：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000000"/>
                </a:solidFill>
              </a:rPr>
              <a:t>硬盘</a:t>
            </a:r>
            <a:r>
              <a:rPr lang="en-US" altLang="zh-CN" b="1" dirty="0">
                <a:solidFill>
                  <a:srgbClr val="000000"/>
                </a:solidFill>
              </a:rPr>
              <a:t>(SCSI) /dev/</a:t>
            </a:r>
            <a:r>
              <a:rPr lang="en-US" altLang="zh-CN" b="1" dirty="0" err="1">
                <a:solidFill>
                  <a:srgbClr val="000000"/>
                </a:solidFill>
              </a:rPr>
              <a:t>sdx</a:t>
            </a:r>
            <a:r>
              <a:rPr lang="en-US" altLang="zh-CN" b="1" dirty="0">
                <a:solidFill>
                  <a:srgbClr val="000000"/>
                </a:solidFill>
              </a:rPr>
              <a:t>  (x=</a:t>
            </a:r>
            <a:r>
              <a:rPr lang="en-US" altLang="zh-CN" b="1" dirty="0" err="1">
                <a:solidFill>
                  <a:srgbClr val="000000"/>
                </a:solidFill>
              </a:rPr>
              <a:t>a,b,c</a:t>
            </a:r>
            <a:r>
              <a:rPr lang="en-US" altLang="zh-CN" b="1" dirty="0">
                <a:solidFill>
                  <a:srgbClr val="000000"/>
                </a:solidFill>
              </a:rPr>
              <a:t> ...p)</a:t>
            </a:r>
            <a:br>
              <a:rPr lang="en-US" altLang="zh-CN" b="1" dirty="0">
                <a:solidFill>
                  <a:srgbClr val="000000"/>
                </a:solidFill>
              </a:rPr>
            </a:br>
            <a:r>
              <a:rPr lang="en-US" altLang="zh-CN" b="1" dirty="0">
                <a:solidFill>
                  <a:srgbClr val="000000"/>
                </a:solidFill>
              </a:rPr>
              <a:t> sda1,sda2…   sdb1,sdb2… 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b="1" dirty="0">
                <a:solidFill>
                  <a:srgbClr val="000000"/>
                </a:solidFill>
              </a:rPr>
              <a:t>硬盘</a:t>
            </a:r>
            <a:r>
              <a:rPr lang="en-US" altLang="zh-CN" b="1" dirty="0">
                <a:solidFill>
                  <a:srgbClr val="000000"/>
                </a:solidFill>
              </a:rPr>
              <a:t>(IDE) /dev/</a:t>
            </a:r>
            <a:r>
              <a:rPr lang="en-US" altLang="zh-CN" b="1" dirty="0" err="1">
                <a:solidFill>
                  <a:srgbClr val="000000"/>
                </a:solidFill>
              </a:rPr>
              <a:t>hdx</a:t>
            </a:r>
            <a:r>
              <a:rPr lang="en-US" altLang="zh-CN" b="1" dirty="0">
                <a:solidFill>
                  <a:srgbClr val="000000"/>
                </a:solidFill>
              </a:rPr>
              <a:t>  (x=</a:t>
            </a:r>
            <a:r>
              <a:rPr lang="en-US" altLang="zh-CN" b="1" dirty="0" err="1">
                <a:solidFill>
                  <a:srgbClr val="000000"/>
                </a:solidFill>
              </a:rPr>
              <a:t>a,b,c</a:t>
            </a:r>
            <a:r>
              <a:rPr lang="en-US" altLang="zh-CN" b="1" dirty="0">
                <a:solidFill>
                  <a:srgbClr val="000000"/>
                </a:solidFill>
              </a:rPr>
              <a:t>, ...p) hda1,hda2…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b="1" dirty="0">
                <a:solidFill>
                  <a:srgbClr val="000000"/>
                </a:solidFill>
              </a:rPr>
              <a:t>U</a:t>
            </a:r>
            <a:r>
              <a:rPr lang="zh-CN" altLang="en-US" b="1" dirty="0">
                <a:solidFill>
                  <a:srgbClr val="000000"/>
                </a:solidFill>
              </a:rPr>
              <a:t>盘  </a:t>
            </a:r>
            <a:r>
              <a:rPr lang="en-US" altLang="zh-CN" b="1" dirty="0">
                <a:solidFill>
                  <a:srgbClr val="000000"/>
                </a:solidFill>
              </a:rPr>
              <a:t>/dev/</a:t>
            </a:r>
            <a:r>
              <a:rPr lang="en-US" altLang="zh-CN" b="1" dirty="0" err="1">
                <a:solidFill>
                  <a:srgbClr val="000000"/>
                </a:solidFill>
              </a:rPr>
              <a:t>sdx</a:t>
            </a:r>
            <a:r>
              <a:rPr lang="en-US" altLang="zh-CN" b="1" dirty="0">
                <a:solidFill>
                  <a:srgbClr val="000000"/>
                </a:solidFill>
              </a:rPr>
              <a:t>  (x=</a:t>
            </a:r>
            <a:r>
              <a:rPr lang="en-US" altLang="zh-CN" b="1" dirty="0" err="1">
                <a:solidFill>
                  <a:srgbClr val="000000"/>
                </a:solidFill>
              </a:rPr>
              <a:t>a,b,c</a:t>
            </a:r>
            <a:r>
              <a:rPr lang="en-US" altLang="zh-CN" b="1" dirty="0">
                <a:solidFill>
                  <a:srgbClr val="000000"/>
                </a:solidFill>
              </a:rPr>
              <a:t> ...)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打印机  </a:t>
            </a:r>
            <a:r>
              <a:rPr lang="en-US" altLang="zh-CN" dirty="0"/>
              <a:t>/dev/</a:t>
            </a:r>
            <a:r>
              <a:rPr lang="en-US" altLang="zh-CN" dirty="0" err="1"/>
              <a:t>lp</a:t>
            </a:r>
            <a:r>
              <a:rPr lang="en-US" altLang="zh-CN" dirty="0"/>
              <a:t>[0-15]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光驱   </a:t>
            </a:r>
            <a:r>
              <a:rPr lang="en-US" altLang="zh-CN" dirty="0"/>
              <a:t>/dev/</a:t>
            </a:r>
            <a:r>
              <a:rPr lang="en-US" altLang="zh-CN" dirty="0" err="1"/>
              <a:t>cdrom</a:t>
            </a:r>
            <a:r>
              <a:rPr lang="en-US" altLang="zh-CN" dirty="0"/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351584" y="363095"/>
            <a:ext cx="7211144" cy="858837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ea typeface="黑体" pitchFamily="2" charset="-122"/>
                <a:cs typeface="Arial" charset="0"/>
              </a:rPr>
              <a:t>常见外部设备文件名</a:t>
            </a:r>
          </a:p>
        </p:txBody>
      </p:sp>
    </p:spTree>
    <p:extLst>
      <p:ext uri="{BB962C8B-B14F-4D97-AF65-F5344CB8AC3E}">
        <p14:creationId xmlns:p14="http://schemas.microsoft.com/office/powerpoint/2010/main" val="260284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6EC6E3CD-A2E4-F860-E40F-3D4FA899DB72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7568" y="368419"/>
            <a:ext cx="7111752" cy="8588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>
              <a:latin typeface="+mj-ea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415480" y="1437956"/>
            <a:ext cx="9649072" cy="451132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 eaLnBrk="1" hangingPunct="1">
              <a:lnSpc>
                <a:spcPct val="20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zh-CN" altLang="en-US" sz="2600" dirty="0"/>
              <a:t>：</a:t>
            </a:r>
            <a:r>
              <a:rPr lang="en-US" altLang="zh-CN" sz="2600" dirty="0"/>
              <a:t> /dev/hdd3</a:t>
            </a:r>
            <a:r>
              <a:rPr lang="zh-CN" altLang="en-US" sz="2600" dirty="0"/>
              <a:t>分区表示哪个设备？</a:t>
            </a:r>
            <a:endParaRPr lang="en-US" altLang="zh-CN" sz="2600" dirty="0"/>
          </a:p>
          <a:p>
            <a:pPr marL="0" indent="0" eaLnBrk="1" hangingPunct="1">
              <a:lnSpc>
                <a:spcPct val="20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练习</a:t>
            </a:r>
            <a:r>
              <a:rPr lang="zh-CN" altLang="en-US" sz="2600" dirty="0"/>
              <a:t>：</a:t>
            </a:r>
            <a:r>
              <a:rPr lang="en-US" altLang="zh-CN" sz="2600" dirty="0"/>
              <a:t> /dev/sdc6</a:t>
            </a:r>
            <a:r>
              <a:rPr lang="zh-CN" altLang="en-US" sz="2600" dirty="0"/>
              <a:t>分区表示哪个设备？</a:t>
            </a:r>
            <a:endParaRPr lang="en-US" altLang="zh-CN" sz="2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4176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CED83B33-E333-C2B6-D386-B91B588247B2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2135560" y="433959"/>
            <a:ext cx="7543800" cy="858837"/>
          </a:xfrm>
        </p:spPr>
        <p:txBody>
          <a:bodyPr/>
          <a:lstStyle/>
          <a:p>
            <a:pPr eaLnBrk="1" hangingPunct="1"/>
            <a:r>
              <a:rPr lang="zh-CN" altLang="en-US" dirty="0"/>
              <a:t>挂载命令</a:t>
            </a:r>
            <a:r>
              <a:rPr lang="en-US" altLang="zh-CN" dirty="0"/>
              <a:t>mount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43472" y="1268760"/>
            <a:ext cx="9793088" cy="4824536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mount </a:t>
            </a:r>
            <a:r>
              <a:rPr lang="zh-CN" altLang="en-US" sz="2600" dirty="0">
                <a:solidFill>
                  <a:srgbClr val="0000CC"/>
                </a:solidFill>
              </a:rPr>
              <a:t>命令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0" indent="0" eaLnBrk="1" hangingPunct="1">
              <a:buNone/>
            </a:pPr>
            <a:r>
              <a:rPr lang="zh-CN" altLang="en-US" sz="2600" dirty="0"/>
              <a:t>语法：</a:t>
            </a:r>
            <a:r>
              <a:rPr lang="en-US" altLang="zh-CN" sz="2600" dirty="0">
                <a:solidFill>
                  <a:srgbClr val="CC0099"/>
                </a:solidFill>
              </a:rPr>
              <a:t>mount  [</a:t>
            </a:r>
            <a:r>
              <a:rPr lang="zh-CN" altLang="en-US" sz="2600" dirty="0">
                <a:solidFill>
                  <a:srgbClr val="CC0099"/>
                </a:solidFill>
              </a:rPr>
              <a:t>选项</a:t>
            </a:r>
            <a:r>
              <a:rPr lang="en-US" altLang="zh-CN" sz="2600" dirty="0">
                <a:solidFill>
                  <a:srgbClr val="CC0099"/>
                </a:solidFill>
              </a:rPr>
              <a:t>]  [</a:t>
            </a:r>
            <a:r>
              <a:rPr lang="zh-CN" altLang="en-US" sz="2600" dirty="0">
                <a:solidFill>
                  <a:srgbClr val="CC0099"/>
                </a:solidFill>
              </a:rPr>
              <a:t>设备名</a:t>
            </a:r>
            <a:r>
              <a:rPr lang="en-US" altLang="zh-CN" sz="2600" dirty="0">
                <a:solidFill>
                  <a:srgbClr val="CC0099"/>
                </a:solidFill>
              </a:rPr>
              <a:t>]  [</a:t>
            </a:r>
            <a:r>
              <a:rPr lang="zh-CN" altLang="en-US" sz="2600" dirty="0">
                <a:solidFill>
                  <a:srgbClr val="CC0099"/>
                </a:solidFill>
              </a:rPr>
              <a:t>目录</a:t>
            </a:r>
            <a:r>
              <a:rPr lang="en-US" altLang="zh-CN" sz="2600" dirty="0">
                <a:solidFill>
                  <a:srgbClr val="CC0099"/>
                </a:solidFill>
              </a:rPr>
              <a:t>]</a:t>
            </a:r>
          </a:p>
          <a:p>
            <a:pPr marL="0" indent="0" eaLnBrk="1" hangingPunct="1"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功能</a:t>
            </a:r>
            <a:r>
              <a:rPr lang="zh-CN" altLang="en-US" sz="2600" dirty="0"/>
              <a:t>：将磁盘设备挂载到指定的目录，无选项和参数时，查看当前文件系统的挂载情况。</a:t>
            </a:r>
            <a:endParaRPr lang="en-US" altLang="zh-CN" sz="2600" dirty="0"/>
          </a:p>
          <a:p>
            <a:pPr eaLnBrk="1" hangingPunct="1"/>
            <a:r>
              <a:rPr lang="zh-CN" altLang="en-US" sz="2600" dirty="0"/>
              <a:t>进行磁盘挂载操作时，目录参数为设备的挂载点。</a:t>
            </a:r>
            <a:r>
              <a:rPr lang="zh-CN" altLang="en-US" sz="2600" dirty="0">
                <a:solidFill>
                  <a:srgbClr val="FF9900"/>
                </a:solidFill>
              </a:rPr>
              <a:t>挂载目录可以不为空，但必须存在</a:t>
            </a:r>
            <a:r>
              <a:rPr lang="zh-CN" altLang="en-US" sz="2600" dirty="0"/>
              <a:t>。磁盘设备挂载后，该挂载点目录的原文件暂时被隐藏。文件待挂载设备卸载后才能重新访问。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主要选项说明</a:t>
            </a:r>
            <a:r>
              <a:rPr lang="zh-CN" altLang="en-US" sz="2600" dirty="0"/>
              <a:t>：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-t     </a:t>
            </a:r>
            <a:r>
              <a:rPr lang="zh-CN" altLang="en-US" sz="2600" dirty="0"/>
              <a:t>文件系统类型    挂载指定的文件系统类型</a:t>
            </a:r>
            <a:endParaRPr lang="en-US" altLang="zh-CN" sz="2600" dirty="0"/>
          </a:p>
          <a:p>
            <a:pPr marL="0" indent="0" eaLnBrk="1" hangingPunct="1">
              <a:buNone/>
            </a:pPr>
            <a:r>
              <a:rPr lang="en-US" altLang="zh-CN" sz="2600" dirty="0"/>
              <a:t>-r     </a:t>
            </a:r>
            <a:r>
              <a:rPr lang="zh-CN" altLang="en-US" sz="2600" dirty="0"/>
              <a:t>以只读方式挂载文件系统，默认为读</a:t>
            </a:r>
            <a:r>
              <a:rPr lang="en-US" altLang="zh-CN" sz="2600" dirty="0"/>
              <a:t>/</a:t>
            </a:r>
            <a:r>
              <a:rPr lang="zh-CN" altLang="en-US" sz="2600" dirty="0"/>
              <a:t>写方式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763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4F39BE5-F8E2-B893-BFEF-89DA6D61B903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04804" name="Text Box 4"/>
          <p:cNvSpPr txBox="1">
            <a:spLocks noChangeArrowheads="1"/>
          </p:cNvSpPr>
          <p:nvPr/>
        </p:nvSpPr>
        <p:spPr bwMode="auto">
          <a:xfrm>
            <a:off x="1127448" y="1075839"/>
            <a:ext cx="9937104" cy="4895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lvl="1" algn="l">
              <a:lnSpc>
                <a:spcPct val="110000"/>
              </a:lnSpc>
            </a:pPr>
            <a:r>
              <a:rPr kumimoji="1" lang="zh-CN" altLang="en-US" sz="2600" dirty="0">
                <a:latin typeface="+mn-ea"/>
                <a:ea typeface="+mn-ea"/>
              </a:rPr>
              <a:t>  以挂载</a:t>
            </a:r>
            <a:r>
              <a:rPr kumimoji="1" lang="en-US" altLang="zh-CN" sz="2600" dirty="0">
                <a:latin typeface="+mn-ea"/>
                <a:ea typeface="+mn-ea"/>
              </a:rPr>
              <a:t>U</a:t>
            </a:r>
            <a:r>
              <a:rPr kumimoji="1" lang="zh-CN" altLang="en-US" sz="2600" dirty="0">
                <a:latin typeface="+mn-ea"/>
                <a:ea typeface="+mn-ea"/>
              </a:rPr>
              <a:t>盘为例</a:t>
            </a:r>
          </a:p>
          <a:p>
            <a:pPr lvl="1" algn="l">
              <a:lnSpc>
                <a:spcPct val="110000"/>
              </a:lnSpc>
            </a:pPr>
            <a:r>
              <a:rPr kumimoji="1" lang="en-US" altLang="zh-CN" sz="2600" dirty="0">
                <a:latin typeface="+mn-ea"/>
                <a:ea typeface="+mn-ea"/>
              </a:rPr>
              <a:t>1</a:t>
            </a:r>
            <a:r>
              <a:rPr kumimoji="1" lang="zh-CN" altLang="en-US" sz="2600" dirty="0">
                <a:latin typeface="+mn-ea"/>
                <a:ea typeface="+mn-ea"/>
              </a:rPr>
              <a:t>、创建挂载点目录</a:t>
            </a:r>
            <a:endParaRPr kumimoji="1" lang="en-US" altLang="zh-CN" sz="2600" dirty="0">
              <a:latin typeface="+mn-ea"/>
              <a:ea typeface="+mn-ea"/>
            </a:endParaRPr>
          </a:p>
          <a:p>
            <a:pPr lvl="1" algn="l">
              <a:lnSpc>
                <a:spcPct val="110000"/>
              </a:lnSpc>
            </a:pP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# mkdir /</a:t>
            </a:r>
            <a:r>
              <a:rPr kumimoji="1" lang="en-US" altLang="zh-CN" sz="2600" dirty="0" err="1">
                <a:solidFill>
                  <a:srgbClr val="0000CC"/>
                </a:solidFill>
                <a:latin typeface="+mn-ea"/>
                <a:ea typeface="+mn-ea"/>
              </a:rPr>
              <a:t>mnt</a:t>
            </a: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/</a:t>
            </a:r>
            <a:r>
              <a:rPr kumimoji="1" lang="en-US" altLang="zh-CN" sz="2600" dirty="0" err="1">
                <a:solidFill>
                  <a:srgbClr val="0000CC"/>
                </a:solidFill>
                <a:latin typeface="+mn-ea"/>
                <a:ea typeface="+mn-ea"/>
              </a:rPr>
              <a:t>usb</a:t>
            </a:r>
            <a:endParaRPr kumimoji="1" lang="en-US" altLang="zh-CN" sz="2600" dirty="0">
              <a:solidFill>
                <a:srgbClr val="0000CC"/>
              </a:solidFill>
              <a:latin typeface="+mn-ea"/>
              <a:ea typeface="+mn-ea"/>
            </a:endParaRPr>
          </a:p>
          <a:p>
            <a:pPr lvl="1" algn="l">
              <a:lnSpc>
                <a:spcPct val="110000"/>
              </a:lnSpc>
            </a:pPr>
            <a:r>
              <a:rPr kumimoji="1" lang="en-US" altLang="zh-CN" sz="2600" dirty="0">
                <a:latin typeface="+mn-ea"/>
                <a:ea typeface="+mn-ea"/>
              </a:rPr>
              <a:t>2</a:t>
            </a:r>
            <a:r>
              <a:rPr kumimoji="1" lang="zh-CN" altLang="en-US" sz="2600" dirty="0">
                <a:latin typeface="+mn-ea"/>
                <a:ea typeface="+mn-ea"/>
              </a:rPr>
              <a:t>、挂载和访问</a:t>
            </a:r>
            <a:r>
              <a:rPr kumimoji="1" lang="en-US" altLang="zh-CN" sz="2600" dirty="0">
                <a:latin typeface="+mn-ea"/>
                <a:ea typeface="+mn-ea"/>
              </a:rPr>
              <a:t>U</a:t>
            </a:r>
            <a:r>
              <a:rPr kumimoji="1" lang="zh-CN" altLang="en-US" sz="2600" dirty="0">
                <a:latin typeface="+mn-ea"/>
                <a:ea typeface="+mn-ea"/>
              </a:rPr>
              <a:t>盘</a:t>
            </a:r>
          </a:p>
          <a:p>
            <a:pPr lvl="1" algn="l">
              <a:lnSpc>
                <a:spcPct val="110000"/>
              </a:lnSpc>
            </a:pP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# mount  /dev/sda1   /</a:t>
            </a:r>
            <a:r>
              <a:rPr kumimoji="1" lang="en-US" altLang="zh-CN" sz="2600" dirty="0" err="1">
                <a:solidFill>
                  <a:srgbClr val="0000CC"/>
                </a:solidFill>
                <a:latin typeface="+mn-ea"/>
                <a:ea typeface="+mn-ea"/>
              </a:rPr>
              <a:t>mnt</a:t>
            </a: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/</a:t>
            </a:r>
            <a:r>
              <a:rPr kumimoji="1" lang="en-US" altLang="zh-CN" sz="2600" dirty="0" err="1">
                <a:solidFill>
                  <a:srgbClr val="0000CC"/>
                </a:solidFill>
                <a:latin typeface="+mn-ea"/>
                <a:ea typeface="+mn-ea"/>
              </a:rPr>
              <a:t>usb</a:t>
            </a:r>
            <a:endParaRPr kumimoji="1" lang="en-US" altLang="zh-CN" sz="2600" dirty="0">
              <a:solidFill>
                <a:srgbClr val="0000CC"/>
              </a:solidFill>
              <a:latin typeface="+mn-ea"/>
              <a:ea typeface="+mn-ea"/>
            </a:endParaRPr>
          </a:p>
          <a:p>
            <a:pPr lvl="1" algn="l">
              <a:lnSpc>
                <a:spcPct val="110000"/>
              </a:lnSpc>
            </a:pP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# cd  /</a:t>
            </a:r>
            <a:r>
              <a:rPr kumimoji="1" lang="en-US" altLang="zh-CN" sz="2600" dirty="0" err="1">
                <a:solidFill>
                  <a:srgbClr val="0000CC"/>
                </a:solidFill>
                <a:latin typeface="+mn-ea"/>
                <a:ea typeface="+mn-ea"/>
              </a:rPr>
              <a:t>mnt</a:t>
            </a: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/</a:t>
            </a:r>
            <a:r>
              <a:rPr kumimoji="1" lang="en-US" altLang="zh-CN" sz="2600" dirty="0" err="1">
                <a:solidFill>
                  <a:srgbClr val="0000CC"/>
                </a:solidFill>
                <a:latin typeface="+mn-ea"/>
                <a:ea typeface="+mn-ea"/>
              </a:rPr>
              <a:t>usb</a:t>
            </a:r>
            <a:endParaRPr kumimoji="1" lang="en-US" altLang="zh-CN" sz="2600" dirty="0">
              <a:solidFill>
                <a:srgbClr val="0000CC"/>
              </a:solidFill>
              <a:latin typeface="+mn-ea"/>
              <a:ea typeface="+mn-ea"/>
            </a:endParaRPr>
          </a:p>
          <a:p>
            <a:pPr lvl="1" algn="l">
              <a:lnSpc>
                <a:spcPct val="110000"/>
              </a:lnSpc>
            </a:pPr>
            <a:r>
              <a:rPr kumimoji="1" lang="en-US" altLang="zh-CN" sz="2600" dirty="0">
                <a:latin typeface="+mn-ea"/>
                <a:ea typeface="+mn-ea"/>
              </a:rPr>
              <a:t>3</a:t>
            </a:r>
            <a:r>
              <a:rPr kumimoji="1" lang="zh-CN" altLang="en-US" sz="2600" dirty="0">
                <a:latin typeface="+mn-ea"/>
                <a:ea typeface="+mn-ea"/>
              </a:rPr>
              <a:t>、卸载</a:t>
            </a:r>
            <a:r>
              <a:rPr kumimoji="1" lang="en-US" altLang="zh-CN" sz="2600" dirty="0">
                <a:latin typeface="+mn-ea"/>
                <a:ea typeface="+mn-ea"/>
              </a:rPr>
              <a:t>U</a:t>
            </a:r>
            <a:r>
              <a:rPr kumimoji="1" lang="zh-CN" altLang="en-US" sz="2600" dirty="0">
                <a:latin typeface="+mn-ea"/>
                <a:ea typeface="+mn-ea"/>
              </a:rPr>
              <a:t>盘</a:t>
            </a:r>
          </a:p>
          <a:p>
            <a:pPr lvl="1" algn="l">
              <a:lnSpc>
                <a:spcPct val="110000"/>
              </a:lnSpc>
            </a:pP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# </a:t>
            </a:r>
            <a:r>
              <a:rPr kumimoji="1" lang="en-US" altLang="zh-CN" sz="2600" dirty="0" err="1">
                <a:solidFill>
                  <a:srgbClr val="0000CC"/>
                </a:solidFill>
                <a:latin typeface="+mn-ea"/>
                <a:ea typeface="+mn-ea"/>
              </a:rPr>
              <a:t>umount</a:t>
            </a:r>
            <a:r>
              <a:rPr kumimoji="1"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 /dev/sda1</a:t>
            </a:r>
          </a:p>
          <a:p>
            <a:pPr lvl="1" algn="l">
              <a:lnSpc>
                <a:spcPct val="110000"/>
              </a:lnSpc>
            </a:pPr>
            <a:r>
              <a:rPr kumimoji="1" lang="zh-CN" altLang="en-US" sz="2600" dirty="0">
                <a:solidFill>
                  <a:srgbClr val="CC0099"/>
                </a:solidFill>
                <a:latin typeface="+mn-ea"/>
                <a:ea typeface="+mn-ea"/>
              </a:rPr>
              <a:t>注意</a:t>
            </a:r>
            <a:r>
              <a:rPr kumimoji="1" lang="zh-CN" altLang="en-US" sz="2600" dirty="0">
                <a:solidFill>
                  <a:srgbClr val="000000"/>
                </a:solidFill>
                <a:latin typeface="+mn-ea"/>
                <a:ea typeface="+mn-ea"/>
              </a:rPr>
              <a:t>：使用完挂载设备后，不能直接将挂载设备从系统拔出，否则会出问题，严重的会导致系统崩溃，必须先执行卸载命令然后再该设备拔出。</a:t>
            </a:r>
            <a:endParaRPr kumimoji="1" lang="en-US" altLang="zh-CN" sz="2400" dirty="0">
              <a:solidFill>
                <a:srgbClr val="000000"/>
              </a:solidFill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454424" y="398061"/>
            <a:ext cx="7139136" cy="858837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ea typeface="黑体" pitchFamily="2" charset="-122"/>
                <a:cs typeface="Arial" charset="0"/>
              </a:rPr>
              <a:t>文件系统的挂载与卸载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882DE61F-4A19-4A8A-84CA-43372A898A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189963" y="6357015"/>
            <a:ext cx="730573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38696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D59A347-E959-7E3F-6058-12104E9156EB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199456" y="1484784"/>
            <a:ext cx="9937104" cy="441166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 sz="2600" dirty="0">
                <a:solidFill>
                  <a:srgbClr val="0000CC"/>
                </a:solidFill>
              </a:rPr>
              <a:t>umount </a:t>
            </a:r>
            <a:r>
              <a:rPr lang="zh-CN" altLang="en-US" sz="2600" dirty="0">
                <a:solidFill>
                  <a:srgbClr val="0000CC"/>
                </a:solidFill>
              </a:rPr>
              <a:t>命令</a:t>
            </a:r>
            <a:r>
              <a:rPr lang="zh-CN" altLang="en-US" sz="2600" dirty="0"/>
              <a:t>的功能是卸下已挂上的文件系统，在关闭系统前应该把所有挂载上的文件系统卸载。这个命令和</a:t>
            </a:r>
            <a:r>
              <a:rPr lang="en-US" altLang="zh-CN" sz="2600" dirty="0"/>
              <a:t>mount</a:t>
            </a:r>
            <a:r>
              <a:rPr lang="zh-CN" altLang="en-US" sz="2600" dirty="0"/>
              <a:t>是相对的。</a:t>
            </a:r>
            <a:endParaRPr lang="en-US" altLang="zh-CN" sz="2600" dirty="0"/>
          </a:p>
          <a:p>
            <a:pPr eaLnBrk="1" hangingPunct="1">
              <a:lnSpc>
                <a:spcPct val="130000"/>
              </a:lnSpc>
            </a:pPr>
            <a:r>
              <a:rPr lang="zh-CN" altLang="en-US" sz="2600" dirty="0"/>
              <a:t>语法：</a:t>
            </a:r>
            <a:r>
              <a:rPr lang="en-US" altLang="zh-CN" sz="2600" dirty="0">
                <a:solidFill>
                  <a:srgbClr val="CC0099"/>
                </a:solidFill>
              </a:rPr>
              <a:t>umount  [</a:t>
            </a:r>
            <a:r>
              <a:rPr lang="zh-CN" altLang="en-US" sz="2600" dirty="0">
                <a:solidFill>
                  <a:srgbClr val="CC0099"/>
                </a:solidFill>
              </a:rPr>
              <a:t>设备名</a:t>
            </a:r>
            <a:r>
              <a:rPr lang="en-US" altLang="zh-CN" sz="2600" dirty="0">
                <a:solidFill>
                  <a:srgbClr val="CC0099"/>
                </a:solidFill>
              </a:rPr>
              <a:t>|</a:t>
            </a:r>
            <a:r>
              <a:rPr lang="zh-CN" altLang="en-US" sz="2600" dirty="0">
                <a:solidFill>
                  <a:srgbClr val="CC0099"/>
                </a:solidFill>
              </a:rPr>
              <a:t>加载点</a:t>
            </a:r>
            <a:r>
              <a:rPr lang="en-US" altLang="zh-CN" sz="2600" dirty="0">
                <a:solidFill>
                  <a:srgbClr val="CC0099"/>
                </a:solidFill>
              </a:rPr>
              <a:t>]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dirty="0"/>
              <a:t>卸下已挂上的光盘：</a:t>
            </a:r>
          </a:p>
          <a:p>
            <a:pPr lvl="1" eaLnBrk="1" hangingPunct="1">
              <a:lnSpc>
                <a:spcPct val="130000"/>
              </a:lnSpc>
              <a:buFontTx/>
              <a:buNone/>
            </a:pPr>
            <a:r>
              <a:rPr lang="en-US" altLang="zh-CN" dirty="0"/>
              <a:t>     umount  /dev/</a:t>
            </a:r>
            <a:r>
              <a:rPr lang="en-US" altLang="zh-CN" dirty="0" err="1"/>
              <a:t>cdrom</a:t>
            </a:r>
            <a:r>
              <a:rPr lang="en-US" altLang="zh-CN" dirty="0"/>
              <a:t> 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dirty="0"/>
              <a:t>卸下已挂上的某个分区：</a:t>
            </a:r>
          </a:p>
          <a:p>
            <a:pPr lvl="1" eaLnBrk="1" hangingPunct="1">
              <a:lnSpc>
                <a:spcPct val="130000"/>
              </a:lnSpc>
              <a:buFontTx/>
              <a:buNone/>
            </a:pPr>
            <a:r>
              <a:rPr lang="zh-CN" altLang="en-US" dirty="0"/>
              <a:t>     </a:t>
            </a:r>
            <a:r>
              <a:rPr lang="en-US" altLang="zh-CN" dirty="0"/>
              <a:t>umount  /dev/hdb1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61</a:t>
            </a:fld>
            <a:endParaRPr lang="en-US" altLang="zh-CN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2526432" y="474786"/>
            <a:ext cx="7139136" cy="858837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Arial" charset="0"/>
                <a:ea typeface="黑体" pitchFamily="2" charset="-122"/>
                <a:cs typeface="Arial" charset="0"/>
              </a:rPr>
              <a:t>文件系统的挂载与卸载</a:t>
            </a:r>
          </a:p>
        </p:txBody>
      </p:sp>
    </p:spTree>
    <p:extLst>
      <p:ext uri="{BB962C8B-B14F-4D97-AF65-F5344CB8AC3E}">
        <p14:creationId xmlns:p14="http://schemas.microsoft.com/office/powerpoint/2010/main" val="211948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8A4C74A-55D9-C05E-0714-8E92A082007B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8143D4-17F2-4391-A5C7-F25715558D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62</a:t>
            </a:fld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520FE3D-1806-4D7C-9190-3291AB745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4" y="612067"/>
            <a:ext cx="7416824" cy="5678183"/>
          </a:xfrm>
          <a:prstGeom prst="rect">
            <a:avLst/>
          </a:prstGeom>
        </p:spPr>
      </p:pic>
      <p:sp>
        <p:nvSpPr>
          <p:cNvPr id="9" name="对话气泡: 矩形 8">
            <a:extLst>
              <a:ext uri="{FF2B5EF4-FFF2-40B4-BE49-F238E27FC236}">
                <a16:creationId xmlns:a16="http://schemas.microsoft.com/office/drawing/2014/main" id="{3A094214-98F1-42E0-A4C6-BEDA8F9B738F}"/>
              </a:ext>
            </a:extLst>
          </p:cNvPr>
          <p:cNvSpPr/>
          <p:nvPr/>
        </p:nvSpPr>
        <p:spPr bwMode="auto">
          <a:xfrm>
            <a:off x="9400185" y="5014858"/>
            <a:ext cx="1872208" cy="864096"/>
          </a:xfrm>
          <a:prstGeom prst="wedgeRectCallout">
            <a:avLst>
              <a:gd name="adj1" fmla="val -249164"/>
              <a:gd name="adj2" fmla="val -14339"/>
            </a:avLst>
          </a:prstGeom>
          <a:solidFill>
            <a:schemeClr val="bg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r>
              <a:rPr lang="zh-CN" altLang="en-US" b="0" dirty="0"/>
              <a:t>要退出</a:t>
            </a:r>
            <a:r>
              <a:rPr lang="en-US" altLang="zh-CN" b="0" dirty="0"/>
              <a:t>U</a:t>
            </a:r>
            <a:r>
              <a:rPr lang="zh-CN" altLang="en-US" b="0" dirty="0"/>
              <a:t>盘的挂载点才能卸载</a:t>
            </a:r>
          </a:p>
        </p:txBody>
      </p:sp>
    </p:spTree>
    <p:extLst>
      <p:ext uri="{BB962C8B-B14F-4D97-AF65-F5344CB8AC3E}">
        <p14:creationId xmlns:p14="http://schemas.microsoft.com/office/powerpoint/2010/main" val="25909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4E48C66-4F30-1D39-3DD3-E3F0331386BC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323CDE-3AC7-4EF9-BFD3-EDBC1C9EBA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63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2561470-96B5-40E0-BBA6-37D390992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545" y="1181799"/>
            <a:ext cx="7139136" cy="5054023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BC792B06-9786-4991-93DF-B272DF2D5D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79576" y="225595"/>
            <a:ext cx="7139136" cy="858837"/>
          </a:xfrm>
        </p:spPr>
        <p:txBody>
          <a:bodyPr/>
          <a:lstStyle/>
          <a:p>
            <a:pPr eaLnBrk="1" hangingPunct="1"/>
            <a:r>
              <a:rPr lang="zh-CN" altLang="en-US" sz="3200" dirty="0">
                <a:latin typeface="Arial" charset="0"/>
                <a:ea typeface="黑体" pitchFamily="2" charset="-122"/>
                <a:cs typeface="Arial" charset="0"/>
              </a:rPr>
              <a:t>图形用户界面下查看</a:t>
            </a:r>
            <a:r>
              <a:rPr lang="en-US" altLang="zh-CN" sz="3200" dirty="0">
                <a:latin typeface="Arial" charset="0"/>
                <a:ea typeface="黑体" pitchFamily="2" charset="-122"/>
                <a:cs typeface="Arial" charset="0"/>
              </a:rPr>
              <a:t>U</a:t>
            </a:r>
            <a:r>
              <a:rPr lang="zh-CN" altLang="en-US" sz="3200" dirty="0">
                <a:latin typeface="Arial" charset="0"/>
                <a:ea typeface="黑体" pitchFamily="2" charset="-122"/>
                <a:cs typeface="Arial" charset="0"/>
              </a:rPr>
              <a:t>盘的内容</a:t>
            </a:r>
          </a:p>
        </p:txBody>
      </p:sp>
    </p:spTree>
    <p:extLst>
      <p:ext uri="{BB962C8B-B14F-4D97-AF65-F5344CB8AC3E}">
        <p14:creationId xmlns:p14="http://schemas.microsoft.com/office/powerpoint/2010/main" val="29048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5B892A7-4D93-6F0B-9EF2-15B2A7CE295C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122" name="Rectangle 1"/>
          <p:cNvSpPr>
            <a:spLocks noGrp="1" noChangeArrowheads="1"/>
          </p:cNvSpPr>
          <p:nvPr>
            <p:ph type="title"/>
          </p:nvPr>
        </p:nvSpPr>
        <p:spPr>
          <a:xfrm>
            <a:off x="2207568" y="644927"/>
            <a:ext cx="7416824" cy="649287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dirty="0"/>
              <a:t>5.6  </a:t>
            </a:r>
            <a:r>
              <a:rPr lang="en-US" altLang="zh-CN" dirty="0" err="1"/>
              <a:t>虚拟文件系统</a:t>
            </a:r>
            <a:endParaRPr lang="en-US" altLang="zh-CN" dirty="0"/>
          </a:p>
        </p:txBody>
      </p:sp>
      <p:sp>
        <p:nvSpPr>
          <p:cNvPr id="5123" name="Rectangle 2"/>
          <p:cNvSpPr>
            <a:spLocks noGrp="1" noChangeArrowheads="1"/>
          </p:cNvSpPr>
          <p:nvPr>
            <p:ph idx="1"/>
          </p:nvPr>
        </p:nvSpPr>
        <p:spPr>
          <a:xfrm>
            <a:off x="1271464" y="1557486"/>
            <a:ext cx="9577064" cy="4463802"/>
          </a:xfrm>
        </p:spPr>
        <p:txBody>
          <a:bodyPr/>
          <a:lstStyle/>
          <a:p>
            <a:pPr>
              <a:lnSpc>
                <a:spcPct val="120000"/>
              </a:lnSpc>
              <a:buClr>
                <a:srgbClr val="333399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2600" dirty="0"/>
              <a:t>为保证</a:t>
            </a:r>
            <a:r>
              <a:rPr lang="en-US" altLang="zh-CN" sz="2600" dirty="0"/>
              <a:t>Linux</a:t>
            </a:r>
            <a:r>
              <a:rPr lang="zh-CN" altLang="en-US" sz="2600" dirty="0"/>
              <a:t>的开放性，</a:t>
            </a:r>
            <a:r>
              <a:rPr lang="en-US" altLang="zh-CN" sz="2600" dirty="0"/>
              <a:t>Linux</a:t>
            </a:r>
            <a:r>
              <a:rPr lang="zh-CN" altLang="en-US" sz="2600" dirty="0"/>
              <a:t>支持其他不同类型的文件系统。为此，就必须将不同文件系统的操作和管理纳入到一个统一的框架中，使得用户程序可以通过同一个文件系统界面，也就是</a:t>
            </a:r>
            <a:r>
              <a:rPr lang="zh-CN" altLang="en-US" sz="2600" dirty="0">
                <a:solidFill>
                  <a:srgbClr val="7030A0"/>
                </a:solidFill>
              </a:rPr>
              <a:t>同一组系统调用，对不同的文件系统以及文件进行操作</a:t>
            </a:r>
            <a:r>
              <a:rPr lang="zh-CN" altLang="en-US" sz="2600" dirty="0"/>
              <a:t>。这个同一的框架就是</a:t>
            </a:r>
            <a:r>
              <a:rPr lang="en-US" altLang="zh-CN" sz="2600" dirty="0" err="1">
                <a:solidFill>
                  <a:srgbClr val="CC0099"/>
                </a:solidFill>
              </a:rPr>
              <a:t>虚拟文件系统</a:t>
            </a:r>
            <a:r>
              <a:rPr lang="zh-CN" altLang="en-US" sz="2600" dirty="0"/>
              <a:t>（</a:t>
            </a:r>
            <a:r>
              <a:rPr lang="en-US" altLang="zh-CN" sz="2600" dirty="0">
                <a:solidFill>
                  <a:srgbClr val="CC0099"/>
                </a:solidFill>
              </a:rPr>
              <a:t>V</a:t>
            </a:r>
            <a:r>
              <a:rPr lang="en-US" altLang="zh-CN" sz="2600" dirty="0"/>
              <a:t>irtual </a:t>
            </a:r>
            <a:r>
              <a:rPr lang="en-US" altLang="zh-CN" sz="2600" dirty="0">
                <a:solidFill>
                  <a:srgbClr val="CC0099"/>
                </a:solidFill>
              </a:rPr>
              <a:t>F</a:t>
            </a:r>
            <a:r>
              <a:rPr lang="en-US" altLang="zh-CN" sz="2600" dirty="0"/>
              <a:t>ile </a:t>
            </a:r>
            <a:r>
              <a:rPr lang="en-US" altLang="zh-CN" sz="2600" dirty="0">
                <a:solidFill>
                  <a:srgbClr val="CC0099"/>
                </a:solidFill>
              </a:rPr>
              <a:t>S</a:t>
            </a:r>
            <a:r>
              <a:rPr lang="en-US" altLang="zh-CN" sz="2600" dirty="0"/>
              <a:t>ystem)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>
              <a:lnSpc>
                <a:spcPct val="120000"/>
              </a:lnSpc>
              <a:buClr>
                <a:srgbClr val="333399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2600" dirty="0"/>
              <a:t>虚拟文件系统位于整个文件系统的最上层，屏蔽了各种实际文件系统的差异，为用户进程及内核其他模块提供了使用文件系统的统一</a:t>
            </a:r>
            <a:r>
              <a:rPr lang="zh-CN" altLang="en-US" sz="2600" dirty="0">
                <a:solidFill>
                  <a:srgbClr val="CC0099"/>
                </a:solidFill>
              </a:rPr>
              <a:t>接口层</a:t>
            </a:r>
            <a:r>
              <a:rPr lang="zh-CN" altLang="en-US" sz="2600" dirty="0"/>
              <a:t>。</a:t>
            </a:r>
            <a:endParaRPr lang="en-US" altLang="zh-CN" sz="2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18368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E938665-3734-A6F3-C72E-DB7FAB6E50D0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983432" y="357889"/>
            <a:ext cx="9614859" cy="858837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Arial" charset="0"/>
                <a:cs typeface="Arial" charset="0"/>
              </a:rPr>
              <a:t>Linux</a:t>
            </a:r>
            <a:r>
              <a:rPr lang="zh-CN" altLang="en-US" dirty="0">
                <a:latin typeface="Arial" charset="0"/>
                <a:ea typeface="黑体" pitchFamily="2" charset="-122"/>
                <a:cs typeface="Arial" charset="0"/>
              </a:rPr>
              <a:t>支持的文件系统</a:t>
            </a:r>
            <a:endParaRPr lang="zh-CN" altLang="en-US" dirty="0">
              <a:latin typeface="Arial" charset="0"/>
              <a:cs typeface="Arial" charset="0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15480" y="1404939"/>
            <a:ext cx="9505056" cy="4256310"/>
          </a:xfrm>
        </p:spPr>
        <p:txBody>
          <a:bodyPr/>
          <a:lstStyle/>
          <a:p>
            <a:pPr eaLnBrk="1" hangingPunct="1"/>
            <a:r>
              <a:rPr lang="en-US" altLang="zh-CN" sz="2600" dirty="0"/>
              <a:t>Linux</a:t>
            </a:r>
            <a:r>
              <a:rPr lang="zh-CN" altLang="en-US" sz="2600" dirty="0">
                <a:latin typeface="宋体" pitchFamily="2" charset="-122"/>
              </a:rPr>
              <a:t>采用虚拟文件系统（</a:t>
            </a:r>
            <a:r>
              <a:rPr lang="en-US" altLang="zh-CN" sz="2600" dirty="0">
                <a:latin typeface="+mj-lt"/>
              </a:rPr>
              <a:t>VFS</a:t>
            </a:r>
            <a:r>
              <a:rPr lang="zh-CN" altLang="en-US" sz="2600" dirty="0">
                <a:latin typeface="宋体" pitchFamily="2" charset="-122"/>
              </a:rPr>
              <a:t>）技术，可支持多种常见的文件系统，并允许用户在不同的磁盘分区上安装不同的文件系统，</a:t>
            </a:r>
            <a:r>
              <a:rPr lang="en-US" altLang="zh-CN" sz="26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Linux</a:t>
            </a:r>
            <a:r>
              <a:rPr lang="zh-CN" altLang="en-US" sz="2600" dirty="0">
                <a:solidFill>
                  <a:srgbClr val="0000CC"/>
                </a:solidFill>
                <a:latin typeface="宋体" pitchFamily="2" charset="-122"/>
              </a:rPr>
              <a:t>支持的文件系统类型主要有</a:t>
            </a:r>
            <a:r>
              <a:rPr lang="zh-CN" altLang="en-US" sz="2600" dirty="0">
                <a:latin typeface="宋体" pitchFamily="2" charset="-122"/>
              </a:rPr>
              <a:t>：</a:t>
            </a:r>
            <a:endParaRPr lang="zh-CN" altLang="en-US" sz="2600" dirty="0"/>
          </a:p>
          <a:p>
            <a:pPr marL="344487" lvl="1" indent="0" algn="just" eaLnBrk="1" hangingPunct="1">
              <a:buNone/>
            </a:pPr>
            <a:r>
              <a:rPr lang="en-US" altLang="zh-CN" dirty="0" err="1"/>
              <a:t>msdos</a:t>
            </a:r>
            <a:r>
              <a:rPr lang="zh-CN" altLang="en-US" dirty="0"/>
              <a:t>：</a:t>
            </a:r>
            <a:r>
              <a:rPr lang="en-US" altLang="zh-CN" dirty="0"/>
              <a:t>MS DOS</a:t>
            </a:r>
            <a:r>
              <a:rPr lang="zh-CN" altLang="en-US" dirty="0"/>
              <a:t>采用的</a:t>
            </a:r>
            <a:r>
              <a:rPr lang="en-US" altLang="zh-CN" dirty="0"/>
              <a:t>FAT</a:t>
            </a:r>
            <a:r>
              <a:rPr lang="zh-CN" altLang="en-US" dirty="0"/>
              <a:t>文件系统</a:t>
            </a:r>
          </a:p>
          <a:p>
            <a:pPr marL="344487" lvl="1" indent="0" algn="just" eaLnBrk="1" hangingPunct="1">
              <a:buNone/>
            </a:pPr>
            <a:r>
              <a:rPr lang="en-US" altLang="zh-CN" dirty="0" err="1"/>
              <a:t>vfat</a:t>
            </a:r>
            <a:r>
              <a:rPr lang="zh-CN" altLang="en-US" dirty="0"/>
              <a:t>：     </a:t>
            </a:r>
            <a:r>
              <a:rPr lang="en-US" altLang="zh-CN" dirty="0"/>
              <a:t>Windows</a:t>
            </a:r>
            <a:r>
              <a:rPr lang="zh-CN" altLang="en-US" dirty="0"/>
              <a:t>的</a:t>
            </a:r>
            <a:r>
              <a:rPr lang="en-US" altLang="zh-CN" dirty="0"/>
              <a:t>FAT32</a:t>
            </a:r>
            <a:r>
              <a:rPr lang="zh-CN" altLang="en-US" dirty="0"/>
              <a:t>文件系统</a:t>
            </a:r>
            <a:endParaRPr lang="en-US" altLang="zh-CN" dirty="0"/>
          </a:p>
          <a:p>
            <a:pPr marL="344487" lvl="1" indent="0" algn="just" eaLnBrk="1" hangingPunct="1">
              <a:buNone/>
            </a:pPr>
            <a:r>
              <a:rPr lang="en-US" altLang="zh-CN" dirty="0" err="1"/>
              <a:t>Ntfs</a:t>
            </a:r>
            <a:r>
              <a:rPr lang="en-US" altLang="zh-CN" dirty="0"/>
              <a:t>:       Windows</a:t>
            </a:r>
            <a:r>
              <a:rPr lang="zh-CN" altLang="en-US" dirty="0"/>
              <a:t>的</a:t>
            </a:r>
            <a:r>
              <a:rPr lang="en-US" altLang="zh-CN" dirty="0"/>
              <a:t>NTFS</a:t>
            </a:r>
            <a:r>
              <a:rPr lang="zh-CN" altLang="en-US" dirty="0"/>
              <a:t>文件系统</a:t>
            </a:r>
          </a:p>
          <a:p>
            <a:pPr marL="344487" lvl="1" indent="0" algn="just" eaLnBrk="1" hangingPunct="1">
              <a:buNone/>
            </a:pPr>
            <a:r>
              <a:rPr lang="en-US" altLang="zh-CN" dirty="0" err="1"/>
              <a:t>sysV</a:t>
            </a:r>
            <a:r>
              <a:rPr lang="zh-CN" altLang="en-US" dirty="0"/>
              <a:t>：   </a:t>
            </a:r>
            <a:r>
              <a:rPr lang="en-US" altLang="zh-CN" dirty="0"/>
              <a:t>UNIX</a:t>
            </a:r>
            <a:r>
              <a:rPr lang="zh-CN" altLang="en-US" dirty="0"/>
              <a:t>中最常用的</a:t>
            </a:r>
            <a:r>
              <a:rPr lang="en-US" altLang="zh-CN" dirty="0"/>
              <a:t>system V</a:t>
            </a:r>
            <a:r>
              <a:rPr lang="zh-CN" altLang="en-US" dirty="0"/>
              <a:t>文件系统</a:t>
            </a:r>
          </a:p>
          <a:p>
            <a:pPr marL="344487" lvl="1" indent="0" algn="just" eaLnBrk="1" hangingPunct="1">
              <a:buNone/>
            </a:pPr>
            <a:r>
              <a:rPr lang="en-US" altLang="zh-CN" dirty="0" err="1"/>
              <a:t>nfs</a:t>
            </a:r>
            <a:r>
              <a:rPr lang="zh-CN" altLang="en-US" dirty="0"/>
              <a:t>：      网络文件系统（</a:t>
            </a:r>
            <a:r>
              <a:rPr lang="en-US" altLang="zh-CN" dirty="0"/>
              <a:t>Network File System</a:t>
            </a:r>
            <a:r>
              <a:rPr lang="zh-CN" altLang="en-US" dirty="0"/>
              <a:t>）</a:t>
            </a:r>
          </a:p>
          <a:p>
            <a:pPr marL="344487" lvl="1" indent="0" algn="just" eaLnBrk="1" hangingPunct="1">
              <a:buNone/>
            </a:pPr>
            <a:r>
              <a:rPr lang="en-US" altLang="zh-CN" dirty="0" err="1"/>
              <a:t>iso9660</a:t>
            </a:r>
            <a:r>
              <a:rPr lang="zh-CN" altLang="en-US" dirty="0"/>
              <a:t>：</a:t>
            </a:r>
            <a:r>
              <a:rPr lang="en-US" altLang="zh-CN" dirty="0"/>
              <a:t>CD-ROM</a:t>
            </a:r>
            <a:r>
              <a:rPr lang="zh-CN" altLang="en-US" dirty="0"/>
              <a:t>或</a:t>
            </a:r>
            <a:r>
              <a:rPr lang="en-US" altLang="zh-CN" dirty="0"/>
              <a:t>DVD-ROM</a:t>
            </a:r>
            <a:r>
              <a:rPr lang="zh-CN" altLang="en-US" dirty="0"/>
              <a:t>的标准文件系统</a:t>
            </a:r>
          </a:p>
          <a:p>
            <a:pPr lvl="1" eaLnBrk="1" hangingPunct="1"/>
            <a:endParaRPr lang="en-US" altLang="zh-CN" sz="24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04684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7D6E56B-510E-7DC2-61E3-E7CE606FAEED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122" name="Rectangle 1"/>
          <p:cNvSpPr>
            <a:spLocks noGrp="1" noChangeArrowheads="1"/>
          </p:cNvSpPr>
          <p:nvPr>
            <p:ph type="title"/>
          </p:nvPr>
        </p:nvSpPr>
        <p:spPr>
          <a:xfrm>
            <a:off x="2135560" y="542508"/>
            <a:ext cx="7416824" cy="649287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dirty="0" err="1"/>
              <a:t>虚拟文件系统</a:t>
            </a:r>
            <a:endParaRPr lang="en-US" altLang="zh-CN" dirty="0"/>
          </a:p>
        </p:txBody>
      </p:sp>
      <p:sp>
        <p:nvSpPr>
          <p:cNvPr id="5123" name="Rectangle 2"/>
          <p:cNvSpPr>
            <a:spLocks noGrp="1" noChangeArrowheads="1"/>
          </p:cNvSpPr>
          <p:nvPr>
            <p:ph idx="1"/>
          </p:nvPr>
        </p:nvSpPr>
        <p:spPr>
          <a:xfrm>
            <a:off x="1199456" y="1340768"/>
            <a:ext cx="9793088" cy="4464496"/>
          </a:xfrm>
        </p:spPr>
        <p:txBody>
          <a:bodyPr/>
          <a:lstStyle/>
          <a:p>
            <a:pPr>
              <a:lnSpc>
                <a:spcPct val="120000"/>
              </a:lnSpc>
              <a:buClr>
                <a:srgbClr val="333399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2600" dirty="0"/>
              <a:t>虚拟文件系统之所以称为虚拟，因为它</a:t>
            </a:r>
            <a:r>
              <a:rPr lang="zh-CN" altLang="en-US" sz="2600" dirty="0">
                <a:solidFill>
                  <a:srgbClr val="0000CC"/>
                </a:solidFill>
              </a:rPr>
              <a:t>只存在于内存</a:t>
            </a:r>
            <a:r>
              <a:rPr lang="zh-CN" altLang="en-US" sz="2600" dirty="0"/>
              <a:t>，不真正存在于磁盘分区中，在系统启动时建立。</a:t>
            </a:r>
            <a:r>
              <a:rPr lang="en-US" altLang="zh-CN" sz="2600" dirty="0"/>
              <a:t>VFS</a:t>
            </a:r>
            <a:r>
              <a:rPr lang="zh-CN" altLang="en-US" sz="2600" dirty="0"/>
              <a:t>不能直接操作磁盘上的文件，所有对文件的实际操作都要通过存在磁盘上的实际文件系统来完成。</a:t>
            </a:r>
            <a:endParaRPr lang="en-US" altLang="zh-CN" sz="2600" dirty="0"/>
          </a:p>
          <a:p>
            <a:pPr>
              <a:lnSpc>
                <a:spcPct val="120000"/>
              </a:lnSpc>
              <a:buClr>
                <a:srgbClr val="333399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2600" dirty="0"/>
              <a:t>虚拟文件系统</a:t>
            </a:r>
            <a:r>
              <a:rPr lang="zh-CN" altLang="en-US" sz="2600" dirty="0">
                <a:solidFill>
                  <a:srgbClr val="0000CC"/>
                </a:solidFill>
              </a:rPr>
              <a:t>必须和某个或某些实际文件系统一起</a:t>
            </a:r>
            <a:r>
              <a:rPr lang="zh-CN" altLang="en-US" sz="2600" dirty="0"/>
              <a:t>才能实现完整的文件系统的功能。</a:t>
            </a:r>
            <a:endParaRPr lang="en-US" altLang="zh-CN" sz="2600" dirty="0"/>
          </a:p>
          <a:p>
            <a:pPr>
              <a:lnSpc>
                <a:spcPct val="120000"/>
              </a:lnSpc>
              <a:buClr>
                <a:srgbClr val="333399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zh-CN" sz="2600" dirty="0"/>
              <a:t>VFS</a:t>
            </a:r>
            <a:r>
              <a:rPr lang="zh-CN" altLang="en-US" sz="2600" dirty="0"/>
              <a:t>采用统一的数据结构在内存中描述所有的文件，为用户提供的一组标准的文件操作，如</a:t>
            </a:r>
            <a:r>
              <a:rPr lang="en-US" altLang="zh-CN" sz="2600" dirty="0"/>
              <a:t>open()</a:t>
            </a:r>
            <a:r>
              <a:rPr lang="zh-CN" altLang="en-US" sz="2600" dirty="0"/>
              <a:t>、</a:t>
            </a:r>
            <a:r>
              <a:rPr lang="en-US" altLang="zh-CN" sz="2600" dirty="0"/>
              <a:t>read()</a:t>
            </a:r>
            <a:r>
              <a:rPr lang="zh-CN" altLang="en-US" sz="2600" dirty="0"/>
              <a:t>、</a:t>
            </a:r>
            <a:r>
              <a:rPr lang="en-US" altLang="zh-CN" sz="2600" dirty="0"/>
              <a:t>write()</a:t>
            </a:r>
            <a:r>
              <a:rPr lang="zh-CN" altLang="en-US" sz="2600" dirty="0"/>
              <a:t>、</a:t>
            </a:r>
            <a:r>
              <a:rPr lang="en-US" altLang="zh-CN" sz="2600" dirty="0"/>
              <a:t>close()</a:t>
            </a:r>
            <a:r>
              <a:rPr lang="zh-CN" altLang="en-US" sz="2600" dirty="0"/>
              <a:t>等。</a:t>
            </a:r>
            <a:endParaRPr lang="en-US" altLang="zh-CN" sz="2600" dirty="0"/>
          </a:p>
          <a:p>
            <a:pPr marL="0" indent="0">
              <a:lnSpc>
                <a:spcPct val="120000"/>
              </a:lnSpc>
              <a:buClr>
                <a:srgbClr val="333399"/>
              </a:buClr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sz="2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33894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80BF909-726C-F3D9-8676-907BE04C4A96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2946" name="Rectangle 2"/>
          <p:cNvSpPr>
            <a:spLocks noGrp="1" noChangeArrowheads="1"/>
          </p:cNvSpPr>
          <p:nvPr>
            <p:ph idx="1"/>
          </p:nvPr>
        </p:nvSpPr>
        <p:spPr>
          <a:xfrm>
            <a:off x="1189546" y="1092344"/>
            <a:ext cx="9793083" cy="1512168"/>
          </a:xfrm>
          <a:noFill/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zh-CN" sz="2600" dirty="0"/>
              <a:t>VFS</a:t>
            </a:r>
            <a:r>
              <a:rPr lang="zh-CN" altLang="en-US" sz="2600" dirty="0"/>
              <a:t>负责将标准的文件操作</a:t>
            </a:r>
            <a:r>
              <a:rPr lang="zh-CN" altLang="en-US" sz="2600" dirty="0">
                <a:solidFill>
                  <a:srgbClr val="CC0099"/>
                </a:solidFill>
              </a:rPr>
              <a:t>映射</a:t>
            </a:r>
            <a:r>
              <a:rPr lang="zh-CN" altLang="en-US" sz="2600" dirty="0"/>
              <a:t>到实际的文件系统的操作。正是这种抽象和映射，保证了</a:t>
            </a:r>
            <a:r>
              <a:rPr lang="en-US" altLang="zh-CN" sz="2600" dirty="0"/>
              <a:t>Linux</a:t>
            </a:r>
            <a:r>
              <a:rPr lang="zh-CN" altLang="en-US" sz="2600" dirty="0"/>
              <a:t>可以支持多种不同的文件系统，使得所有文件系统都具有基本相同的外部表现。</a:t>
            </a:r>
            <a:r>
              <a:rPr lang="en-US" altLang="zh-CN" sz="2600" dirty="0"/>
              <a:t>VFS</a:t>
            </a:r>
            <a:r>
              <a:rPr lang="zh-CN" altLang="en-US" sz="2600" dirty="0"/>
              <a:t>与具体文件系统之间的关系如下图：</a:t>
            </a:r>
            <a:endParaRPr lang="en-US" altLang="zh-CN" sz="26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>
          <a:xfrm>
            <a:off x="2207568" y="455281"/>
            <a:ext cx="7128792" cy="649287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dirty="0"/>
              <a:t>VFS</a:t>
            </a:r>
            <a:endParaRPr lang="zh-CN" altLang="en-US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99734B2-F7B0-49D3-C441-D4213AA829D1}"/>
              </a:ext>
            </a:extLst>
          </p:cNvPr>
          <p:cNvGrpSpPr/>
          <p:nvPr/>
        </p:nvGrpSpPr>
        <p:grpSpPr>
          <a:xfrm>
            <a:off x="2495598" y="2635696"/>
            <a:ext cx="7200800" cy="2376264"/>
            <a:chOff x="1012492" y="2440594"/>
            <a:chExt cx="7452984" cy="2788606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03C9809D-EA52-D42D-9017-7D44EFE7A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2492" y="2440594"/>
              <a:ext cx="7447304" cy="2788606"/>
            </a:xfrm>
            <a:prstGeom prst="rect">
              <a:avLst/>
            </a:prstGeom>
          </p:spPr>
        </p:pic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ECC1F248-D97F-B5BA-CA62-A684BFA484F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465476" y="2440594"/>
              <a:ext cx="0" cy="2788606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sp>
        <p:nvSpPr>
          <p:cNvPr id="9" name="Rectangle 2">
            <a:extLst>
              <a:ext uri="{FF2B5EF4-FFF2-40B4-BE49-F238E27FC236}">
                <a16:creationId xmlns:a16="http://schemas.microsoft.com/office/drawing/2014/main" id="{DB101146-EF3E-E0E8-857B-0AC7FC698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471" y="5154760"/>
            <a:ext cx="9721076" cy="1124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l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6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l"/>
              <a:defRPr sz="23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600" kern="0" dirty="0"/>
              <a:t>当应用程序操作某个文件时，</a:t>
            </a:r>
            <a:r>
              <a:rPr lang="en-US" altLang="zh-CN" sz="2600" kern="0" dirty="0"/>
              <a:t>VFS </a:t>
            </a:r>
            <a:r>
              <a:rPr lang="zh-CN" altLang="en-US" sz="2600" kern="0" dirty="0"/>
              <a:t>会根据文件路径找到相应的挂载点，得到具体的文件系统信息，然后调用该文件系统的对应操作函数。</a:t>
            </a:r>
            <a:endParaRPr lang="en-US" altLang="zh-CN" sz="2600" kern="0" dirty="0"/>
          </a:p>
        </p:txBody>
      </p:sp>
      <p:sp>
        <p:nvSpPr>
          <p:cNvPr id="10" name="灯片编号占位符 1">
            <a:extLst>
              <a:ext uri="{FF2B5EF4-FFF2-40B4-BE49-F238E27FC236}">
                <a16:creationId xmlns:a16="http://schemas.microsoft.com/office/drawing/2014/main" id="{0A0ABCDB-39EC-4F62-987D-B495C5A35028}"/>
              </a:ext>
            </a:extLst>
          </p:cNvPr>
          <p:cNvSpPr txBox="1">
            <a:spLocks/>
          </p:cNvSpPr>
          <p:nvPr/>
        </p:nvSpPr>
        <p:spPr bwMode="auto">
          <a:xfrm>
            <a:off x="10189963" y="6357015"/>
            <a:ext cx="73057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59685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F9E8223-B99B-9875-B48F-0E1357E3EBF4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314" name="Rectangle 1"/>
          <p:cNvSpPr>
            <a:spLocks noGrp="1" noChangeArrowheads="1"/>
          </p:cNvSpPr>
          <p:nvPr>
            <p:ph type="title"/>
          </p:nvPr>
        </p:nvSpPr>
        <p:spPr>
          <a:xfrm>
            <a:off x="2459596" y="573440"/>
            <a:ext cx="7200799" cy="649287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dirty="0"/>
              <a:t>VFS</a:t>
            </a:r>
            <a:r>
              <a:rPr lang="zh-CN" altLang="en-US" dirty="0"/>
              <a:t>中对象</a:t>
            </a:r>
            <a:endParaRPr lang="en-US" altLang="zh-CN" dirty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idx="1"/>
          </p:nvPr>
        </p:nvSpPr>
        <p:spPr>
          <a:xfrm>
            <a:off x="1127448" y="1268760"/>
            <a:ext cx="9865096" cy="4896544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333399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zh-CN" sz="2600" dirty="0"/>
              <a:t>VFS</a:t>
            </a:r>
            <a:r>
              <a:rPr lang="zh-CN" altLang="en-US" sz="2600" dirty="0"/>
              <a:t>采用了面向对象的描述方式，</a:t>
            </a:r>
            <a:r>
              <a:rPr lang="en-US" altLang="zh-CN" sz="2600" dirty="0"/>
              <a:t>VFS</a:t>
            </a:r>
            <a:r>
              <a:rPr lang="zh-CN" altLang="en-US" sz="2600" dirty="0"/>
              <a:t>将文件系统看作为由一些对象构成，</a:t>
            </a:r>
            <a:r>
              <a:rPr lang="zh-CN" altLang="en-US" sz="2600" dirty="0">
                <a:solidFill>
                  <a:srgbClr val="0000CC"/>
                </a:solidFill>
              </a:rPr>
              <a:t>每类对象使用一种结构体来描述</a:t>
            </a:r>
            <a:r>
              <a:rPr lang="zh-CN" altLang="en-US" sz="2600" dirty="0"/>
              <a:t>，结构体中包含对象的属性数据和对象的操作集。</a:t>
            </a:r>
            <a:endParaRPr lang="en-US" altLang="zh-CN" sz="2600" dirty="0"/>
          </a:p>
          <a:p>
            <a:pPr>
              <a:lnSpc>
                <a:spcPct val="90000"/>
              </a:lnSpc>
              <a:buClr>
                <a:srgbClr val="333399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2600" dirty="0"/>
              <a:t>构成</a:t>
            </a:r>
            <a:r>
              <a:rPr lang="en-US" altLang="zh-CN" sz="2600" dirty="0"/>
              <a:t>VFS</a:t>
            </a:r>
            <a:r>
              <a:rPr lang="zh-CN" altLang="en-US" sz="2600" dirty="0"/>
              <a:t>文件系统的基本对象有四类：超级块对象、索引节点对象、目录项对象、文件对象。</a:t>
            </a:r>
          </a:p>
          <a:p>
            <a:pPr marL="800100" lvl="1" indent="-342900">
              <a:lnSpc>
                <a:spcPct val="90000"/>
              </a:lnSpc>
              <a:buClr>
                <a:schemeClr val="accent6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2400" dirty="0">
                <a:solidFill>
                  <a:srgbClr val="CC0099"/>
                </a:solidFill>
              </a:rPr>
              <a:t>超级块对象</a:t>
            </a:r>
            <a:r>
              <a:rPr lang="zh-CN" altLang="en-US" sz="2400" dirty="0"/>
              <a:t>（</a:t>
            </a:r>
            <a:r>
              <a:rPr lang="en-US" altLang="zh-CN" sz="2400" dirty="0"/>
              <a:t>superblock object</a:t>
            </a:r>
            <a:r>
              <a:rPr lang="zh-CN" altLang="en-US" sz="2400" dirty="0"/>
              <a:t>）</a:t>
            </a:r>
          </a:p>
          <a:p>
            <a:pPr marL="457200" lvl="1" indent="0">
              <a:lnSpc>
                <a:spcPct val="90000"/>
              </a:lnSpc>
              <a:buClr>
                <a:schemeClr val="accent6"/>
              </a:buClr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2400" dirty="0"/>
              <a:t>存放文件系统相关信息，代表一个已挂装的文件系统，</a:t>
            </a:r>
            <a:r>
              <a:rPr lang="zh-CN" altLang="en-US" sz="2400" dirty="0">
                <a:solidFill>
                  <a:srgbClr val="CC0099"/>
                </a:solidFill>
              </a:rPr>
              <a:t>超级块对象</a:t>
            </a:r>
            <a:r>
              <a:rPr lang="zh-CN" altLang="en-US" sz="2400" dirty="0"/>
              <a:t>记录具体逻辑文件系统所在的设备号、类型、第一个</a:t>
            </a:r>
            <a:r>
              <a:rPr lang="en-US" altLang="zh-CN" sz="2400" dirty="0" err="1"/>
              <a:t>i</a:t>
            </a:r>
            <a:r>
              <a:rPr lang="zh-CN" altLang="en-US" sz="2400" dirty="0"/>
              <a:t>节点号等基本信息。文件操作通过</a:t>
            </a:r>
            <a:r>
              <a:rPr lang="en-US" altLang="zh-CN" sz="2400" dirty="0"/>
              <a:t>VFS</a:t>
            </a:r>
            <a:r>
              <a:rPr lang="zh-CN" altLang="en-US" sz="2400" dirty="0"/>
              <a:t>中记录的函数入口指针映射得到对应的函数。</a:t>
            </a:r>
            <a:endParaRPr lang="en-US" altLang="zh-CN" sz="2400" dirty="0"/>
          </a:p>
          <a:p>
            <a:pPr marL="800100" lvl="1" indent="-342900">
              <a:lnSpc>
                <a:spcPct val="90000"/>
              </a:lnSpc>
              <a:buClr>
                <a:schemeClr val="accent6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2400" dirty="0">
                <a:solidFill>
                  <a:srgbClr val="CC0099"/>
                </a:solidFill>
              </a:rPr>
              <a:t>索引节点对象</a:t>
            </a:r>
            <a:r>
              <a:rPr lang="zh-CN" altLang="en-US" sz="2400" dirty="0"/>
              <a:t>（</a:t>
            </a:r>
            <a:r>
              <a:rPr lang="en-US" altLang="zh-CN" sz="2400" dirty="0"/>
              <a:t>inode object</a:t>
            </a:r>
            <a:r>
              <a:rPr lang="zh-CN" altLang="en-US" sz="2400" dirty="0"/>
              <a:t>）</a:t>
            </a:r>
          </a:p>
          <a:p>
            <a:pPr marL="457200" lvl="1" indent="0">
              <a:lnSpc>
                <a:spcPct val="90000"/>
              </a:lnSpc>
              <a:buClr>
                <a:schemeClr val="accent6"/>
              </a:buClr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2400" dirty="0"/>
              <a:t>存放具体文件的信息，</a:t>
            </a:r>
            <a:r>
              <a:rPr lang="en-US" altLang="zh-CN" sz="2400" dirty="0"/>
              <a:t>VFS </a:t>
            </a:r>
            <a:r>
              <a:rPr lang="en-US" altLang="zh-CN" sz="2400" dirty="0" err="1"/>
              <a:t>i</a:t>
            </a:r>
            <a:r>
              <a:rPr lang="zh-CN" altLang="en-US" sz="2400" dirty="0"/>
              <a:t>节点用来描述虚拟文件系统中的文件和目录，是所有逻辑文件系统</a:t>
            </a:r>
            <a:r>
              <a:rPr lang="en-US" altLang="zh-CN" sz="2400" dirty="0" err="1"/>
              <a:t>i</a:t>
            </a:r>
            <a:r>
              <a:rPr lang="zh-CN" altLang="en-US" sz="2400" dirty="0"/>
              <a:t>节点的抽象描述，和具体逻辑文件系统的</a:t>
            </a:r>
            <a:r>
              <a:rPr lang="en-US" altLang="zh-CN" sz="2400" dirty="0" err="1"/>
              <a:t>i</a:t>
            </a:r>
            <a:r>
              <a:rPr lang="zh-CN" altLang="en-US" sz="2400" dirty="0"/>
              <a:t>节点一一对应。</a:t>
            </a:r>
            <a:endParaRPr lang="en-US" altLang="zh-CN" sz="2400" dirty="0"/>
          </a:p>
          <a:p>
            <a:pPr marL="457200" lvl="1" indent="0">
              <a:lnSpc>
                <a:spcPct val="90000"/>
              </a:lnSpc>
              <a:buClr>
                <a:schemeClr val="accent6"/>
              </a:buClr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zh-CN" altLang="en-US" dirty="0"/>
          </a:p>
          <a:p>
            <a:pPr marL="565150" indent="-457200">
              <a:buClr>
                <a:schemeClr val="accent6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US" altLang="zh-CN" dirty="0"/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9992D033-6E0A-41F2-81FB-8DEEDA8F0B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189963" y="6357015"/>
            <a:ext cx="730573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72182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BE82664-3355-90B1-934C-ADB864F169C1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314" name="Rectangle 1"/>
          <p:cNvSpPr>
            <a:spLocks noGrp="1" noChangeArrowheads="1"/>
          </p:cNvSpPr>
          <p:nvPr>
            <p:ph type="title"/>
          </p:nvPr>
        </p:nvSpPr>
        <p:spPr>
          <a:xfrm>
            <a:off x="2495600" y="547465"/>
            <a:ext cx="7200799" cy="649287"/>
          </a:xfrm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altLang="zh-CN" dirty="0"/>
              <a:t>VFS</a:t>
            </a:r>
            <a:r>
              <a:rPr lang="zh-CN" altLang="en-US" dirty="0"/>
              <a:t>中对象</a:t>
            </a:r>
            <a:endParaRPr lang="en-US" altLang="zh-CN" dirty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idx="1"/>
          </p:nvPr>
        </p:nvSpPr>
        <p:spPr>
          <a:xfrm>
            <a:off x="1055440" y="1196752"/>
            <a:ext cx="9865096" cy="4968552"/>
          </a:xfrm>
        </p:spPr>
        <p:txBody>
          <a:bodyPr/>
          <a:lstStyle/>
          <a:p>
            <a:pPr marL="914400" lvl="1" indent="-457200">
              <a:buClr>
                <a:schemeClr val="accent6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2400" dirty="0">
                <a:solidFill>
                  <a:srgbClr val="CC0099"/>
                </a:solidFill>
              </a:rPr>
              <a:t>目录项对象</a:t>
            </a:r>
            <a:r>
              <a:rPr lang="zh-CN" altLang="en-US" sz="2400" dirty="0"/>
              <a:t>（</a:t>
            </a:r>
            <a:r>
              <a:rPr lang="en-US" altLang="zh-CN" sz="2400" dirty="0" err="1"/>
              <a:t>dentry</a:t>
            </a:r>
            <a:r>
              <a:rPr lang="en-US" altLang="zh-CN" sz="2400" dirty="0"/>
              <a:t> object</a:t>
            </a:r>
            <a:r>
              <a:rPr lang="zh-CN" altLang="en-US" sz="2400" dirty="0"/>
              <a:t>）</a:t>
            </a:r>
          </a:p>
          <a:p>
            <a:pPr marL="457200" lvl="1" indent="0">
              <a:buClr>
                <a:schemeClr val="accent6"/>
              </a:buClr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2400" dirty="0"/>
              <a:t>存放目录项与文件的链接信息，文件系统通过目录来组织文件，目录可以包含子目录，形成文件路径。</a:t>
            </a:r>
            <a:r>
              <a:rPr lang="zh-CN" altLang="en-US" sz="2400" dirty="0">
                <a:solidFill>
                  <a:srgbClr val="0000CC"/>
                </a:solidFill>
              </a:rPr>
              <a:t>路径的每一部分被称为目录项</a:t>
            </a:r>
            <a:r>
              <a:rPr lang="zh-CN" altLang="en-US" sz="2400" dirty="0"/>
              <a:t>。当</a:t>
            </a:r>
            <a:r>
              <a:rPr lang="en-US" altLang="zh-CN" sz="2400" dirty="0"/>
              <a:t>VFS</a:t>
            </a:r>
            <a:r>
              <a:rPr lang="zh-CN" altLang="en-US" sz="2400" dirty="0"/>
              <a:t>首次解析一个路径时，它依次读取路径中的每个目录和文件，逐一为它们建立相应的目录项结构，并将其与该文件与目录的索引节点关联链接在一起，在后续的文件查找中，</a:t>
            </a:r>
            <a:r>
              <a:rPr lang="en-US" altLang="zh-CN" sz="2400" dirty="0"/>
              <a:t>VFS</a:t>
            </a:r>
            <a:r>
              <a:rPr lang="zh-CN" altLang="en-US" sz="2400" dirty="0"/>
              <a:t>只需要沿目录项的链接进行查找，可以很快找到目标文件的目录项结构，然后得到文件的索引节点。</a:t>
            </a:r>
            <a:endParaRPr lang="en-US" altLang="zh-CN" sz="2400" dirty="0"/>
          </a:p>
          <a:p>
            <a:pPr marL="914400" lvl="1" indent="-457200">
              <a:buClr>
                <a:schemeClr val="accent6"/>
              </a:buCl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2400" dirty="0">
                <a:solidFill>
                  <a:srgbClr val="CC0099"/>
                </a:solidFill>
              </a:rPr>
              <a:t>文件对象</a:t>
            </a:r>
            <a:r>
              <a:rPr lang="zh-CN" altLang="en-US" sz="2400" dirty="0"/>
              <a:t>（</a:t>
            </a:r>
            <a:r>
              <a:rPr lang="en-US" altLang="zh-CN" sz="2400" dirty="0"/>
              <a:t>file object</a:t>
            </a:r>
            <a:r>
              <a:rPr lang="zh-CN" altLang="en-US" sz="2400" dirty="0"/>
              <a:t>）</a:t>
            </a:r>
          </a:p>
          <a:p>
            <a:pPr marL="457200" lvl="1" indent="0">
              <a:buClr>
                <a:schemeClr val="accent6"/>
              </a:buClr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zh-CN" altLang="en-US" sz="2400" dirty="0"/>
              <a:t>文件是最终要被进程访问的对象，每当进程打开一个文件，</a:t>
            </a:r>
            <a:r>
              <a:rPr lang="en-US" altLang="zh-CN" sz="2400" dirty="0"/>
              <a:t>VFS</a:t>
            </a:r>
            <a:r>
              <a:rPr lang="zh-CN" altLang="en-US" sz="2400" dirty="0"/>
              <a:t>都为它建立一个文件对象，来抽象所打开的文件。</a:t>
            </a:r>
            <a:r>
              <a:rPr lang="en-US" altLang="zh-CN" sz="2400" dirty="0"/>
              <a:t>VFS</a:t>
            </a:r>
            <a:r>
              <a:rPr lang="zh-CN" altLang="en-US" sz="2400" dirty="0"/>
              <a:t>文件对象还存放已打开的文件与进程的交互信息，这些信息仅当进程访问文件期间才存在于主存。</a:t>
            </a:r>
          </a:p>
          <a:p>
            <a:pPr marL="457200" lvl="1" indent="0">
              <a:buClr>
                <a:schemeClr val="accent6"/>
              </a:buClr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zh-CN" altLang="en-US" sz="24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69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5926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725A8C6-4559-BBC7-5BB8-71DDF7B818D0}"/>
              </a:ext>
            </a:extLst>
          </p:cNvPr>
          <p:cNvSpPr/>
          <p:nvPr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44452" name="Rectangle 2"/>
          <p:cNvSpPr>
            <a:spLocks noChangeArrowheads="1"/>
          </p:cNvSpPr>
          <p:nvPr/>
        </p:nvSpPr>
        <p:spPr bwMode="auto">
          <a:xfrm>
            <a:off x="2208213" y="836613"/>
            <a:ext cx="7543800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altLang="zh-CN" sz="4800" dirty="0">
                <a:solidFill>
                  <a:srgbClr val="CC00CC"/>
                </a:solidFill>
                <a:ea typeface="黑体" pitchFamily="49" charset="-122"/>
              </a:rPr>
              <a:t>Thanks!</a:t>
            </a:r>
          </a:p>
        </p:txBody>
      </p:sp>
      <p:pic>
        <p:nvPicPr>
          <p:cNvPr id="74445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856" y="2308225"/>
            <a:ext cx="2304256" cy="2344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C13A863E-9B17-4A30-8593-C530161D1372}"/>
              </a:ext>
            </a:extLst>
          </p:cNvPr>
          <p:cNvSpPr txBox="1">
            <a:spLocks/>
          </p:cNvSpPr>
          <p:nvPr/>
        </p:nvSpPr>
        <p:spPr bwMode="auto">
          <a:xfrm>
            <a:off x="10189963" y="6357015"/>
            <a:ext cx="73057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600"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70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68962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Network">
  <a:themeElements>
    <a:clrScheme name="Network 13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0000FF"/>
      </a:hlink>
      <a:folHlink>
        <a:srgbClr val="0000FF"/>
      </a:folHlink>
    </a:clrScheme>
    <a:fontScheme name="Network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1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2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3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0000FF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26770</TotalTime>
  <Words>7552</Words>
  <Application>Microsoft Office PowerPoint</Application>
  <PresentationFormat>宽屏</PresentationFormat>
  <Paragraphs>683</Paragraphs>
  <Slides>70</Slides>
  <Notes>42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70</vt:i4>
      </vt:variant>
    </vt:vector>
  </HeadingPairs>
  <TitlesOfParts>
    <vt:vector size="81" baseType="lpstr">
      <vt:lpstr>-apple-system</vt:lpstr>
      <vt:lpstr>AR PL UMing CN</vt:lpstr>
      <vt:lpstr>黑体</vt:lpstr>
      <vt:lpstr>华文中宋</vt:lpstr>
      <vt:lpstr>宋体</vt:lpstr>
      <vt:lpstr>Arial</vt:lpstr>
      <vt:lpstr>Times New Roman</vt:lpstr>
      <vt:lpstr>Wingdings</vt:lpstr>
      <vt:lpstr>Network</vt:lpstr>
      <vt:lpstr>图片</vt:lpstr>
      <vt:lpstr>Visio</vt:lpstr>
      <vt:lpstr>       第 5 章       </vt:lpstr>
      <vt:lpstr>本章内容</vt:lpstr>
      <vt:lpstr>5.1  文件系统基础</vt:lpstr>
      <vt:lpstr>Linux文件系统</vt:lpstr>
      <vt:lpstr>PowerPoint 演示文稿</vt:lpstr>
      <vt:lpstr>Linux文件的命名</vt:lpstr>
      <vt:lpstr>Linux文件目录</vt:lpstr>
      <vt:lpstr>目录常见概念</vt:lpstr>
      <vt:lpstr>文件的索引节点</vt:lpstr>
      <vt:lpstr>文件的索引节点</vt:lpstr>
      <vt:lpstr>文件属性</vt:lpstr>
      <vt:lpstr>文件的软硬链接</vt:lpstr>
      <vt:lpstr>软链接</vt:lpstr>
      <vt:lpstr>硬链接</vt:lpstr>
      <vt:lpstr>硬链接</vt:lpstr>
      <vt:lpstr>文件的软硬链接</vt:lpstr>
      <vt:lpstr>文件目录</vt:lpstr>
      <vt:lpstr>PowerPoint 演示文稿</vt:lpstr>
      <vt:lpstr>PowerPoint 演示文稿</vt:lpstr>
      <vt:lpstr>PowerPoint 演示文稿</vt:lpstr>
      <vt:lpstr>PowerPoint 演示文稿</vt:lpstr>
      <vt:lpstr>5.2  文件的结构</vt:lpstr>
      <vt:lpstr>文件结构</vt:lpstr>
      <vt:lpstr>文件结构</vt:lpstr>
      <vt:lpstr>连续文件</vt:lpstr>
      <vt:lpstr>文件结构</vt:lpstr>
      <vt:lpstr>串联文件</vt:lpstr>
      <vt:lpstr>文件结构</vt:lpstr>
      <vt:lpstr>随机文件</vt:lpstr>
      <vt:lpstr>多级索引</vt:lpstr>
      <vt:lpstr>PowerPoint 演示文稿</vt:lpstr>
      <vt:lpstr>文件结构</vt:lpstr>
      <vt:lpstr>多重索引</vt:lpstr>
      <vt:lpstr>PowerPoint 演示文稿</vt:lpstr>
      <vt:lpstr>5.3 文件的归档与压缩</vt:lpstr>
      <vt:lpstr>gzip命令 </vt:lpstr>
      <vt:lpstr>gzip命令 </vt:lpstr>
      <vt:lpstr>zcat命令</vt:lpstr>
      <vt:lpstr>bzip2命令</vt:lpstr>
      <vt:lpstr>tar 命令 </vt:lpstr>
      <vt:lpstr>tar 命令 </vt:lpstr>
      <vt:lpstr>tar 命令 </vt:lpstr>
      <vt:lpstr>zip命令 </vt:lpstr>
      <vt:lpstr>unzip命令 </vt:lpstr>
      <vt:lpstr>5.4 磁盘管理</vt:lpstr>
      <vt:lpstr>磁盘管理</vt:lpstr>
      <vt:lpstr>磁盘管理</vt:lpstr>
      <vt:lpstr>磁盘管理</vt:lpstr>
      <vt:lpstr>管理磁盘的命令</vt:lpstr>
      <vt:lpstr>管理磁盘的命令</vt:lpstr>
      <vt:lpstr>管理磁盘的命令</vt:lpstr>
      <vt:lpstr>管理磁盘的命令</vt:lpstr>
      <vt:lpstr>df 命令 </vt:lpstr>
      <vt:lpstr>du 命令</vt:lpstr>
      <vt:lpstr>PowerPoint 演示文稿</vt:lpstr>
      <vt:lpstr>文件系统的挂载与卸载</vt:lpstr>
      <vt:lpstr>常见外部设备文件名</vt:lpstr>
      <vt:lpstr>PowerPoint 演示文稿</vt:lpstr>
      <vt:lpstr>挂载命令mount</vt:lpstr>
      <vt:lpstr>文件系统的挂载与卸载</vt:lpstr>
      <vt:lpstr>文件系统的挂载与卸载</vt:lpstr>
      <vt:lpstr>PowerPoint 演示文稿</vt:lpstr>
      <vt:lpstr>图形用户界面下查看U盘的内容</vt:lpstr>
      <vt:lpstr>5.6  虚拟文件系统</vt:lpstr>
      <vt:lpstr>Linux支持的文件系统</vt:lpstr>
      <vt:lpstr>虚拟文件系统</vt:lpstr>
      <vt:lpstr>VFS</vt:lpstr>
      <vt:lpstr>VFS中对象</vt:lpstr>
      <vt:lpstr>VFS中对象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计算机应用技术基础</dc:title>
  <dc:creator>李群</dc:creator>
  <cp:lastModifiedBy>liqun</cp:lastModifiedBy>
  <cp:revision>2633</cp:revision>
  <dcterms:created xsi:type="dcterms:W3CDTF">2007-09-10T04:44:13Z</dcterms:created>
  <dcterms:modified xsi:type="dcterms:W3CDTF">2024-10-07T11:03:17Z</dcterms:modified>
</cp:coreProperties>
</file>