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  <p:sldMasterId id="2147483695" r:id="rId2"/>
  </p:sldMasterIdLst>
  <p:notesMasterIdLst>
    <p:notesMasterId r:id="rId72"/>
  </p:notesMasterIdLst>
  <p:handoutMasterIdLst>
    <p:handoutMasterId r:id="rId73"/>
  </p:handoutMasterIdLst>
  <p:sldIdLst>
    <p:sldId id="256" r:id="rId3"/>
    <p:sldId id="482" r:id="rId4"/>
    <p:sldId id="507" r:id="rId5"/>
    <p:sldId id="523" r:id="rId6"/>
    <p:sldId id="509" r:id="rId7"/>
    <p:sldId id="514" r:id="rId8"/>
    <p:sldId id="525" r:id="rId9"/>
    <p:sldId id="526" r:id="rId10"/>
    <p:sldId id="527" r:id="rId11"/>
    <p:sldId id="515" r:id="rId12"/>
    <p:sldId id="535" r:id="rId13"/>
    <p:sldId id="534" r:id="rId14"/>
    <p:sldId id="648" r:id="rId15"/>
    <p:sldId id="537" r:id="rId16"/>
    <p:sldId id="602" r:id="rId17"/>
    <p:sldId id="640" r:id="rId18"/>
    <p:sldId id="573" r:id="rId19"/>
    <p:sldId id="604" r:id="rId20"/>
    <p:sldId id="622" r:id="rId21"/>
    <p:sldId id="623" r:id="rId22"/>
    <p:sldId id="624" r:id="rId23"/>
    <p:sldId id="605" r:id="rId24"/>
    <p:sldId id="606" r:id="rId25"/>
    <p:sldId id="608" r:id="rId26"/>
    <p:sldId id="609" r:id="rId27"/>
    <p:sldId id="655" r:id="rId28"/>
    <p:sldId id="617" r:id="rId29"/>
    <p:sldId id="618" r:id="rId30"/>
    <p:sldId id="621" r:id="rId31"/>
    <p:sldId id="575" r:id="rId32"/>
    <p:sldId id="646" r:id="rId33"/>
    <p:sldId id="647" r:id="rId34"/>
    <p:sldId id="644" r:id="rId35"/>
    <p:sldId id="643" r:id="rId36"/>
    <p:sldId id="649" r:id="rId37"/>
    <p:sldId id="641" r:id="rId38"/>
    <p:sldId id="652" r:id="rId39"/>
    <p:sldId id="650" r:id="rId40"/>
    <p:sldId id="651" r:id="rId41"/>
    <p:sldId id="582" r:id="rId42"/>
    <p:sldId id="583" r:id="rId43"/>
    <p:sldId id="542" r:id="rId44"/>
    <p:sldId id="543" r:id="rId45"/>
    <p:sldId id="561" r:id="rId46"/>
    <p:sldId id="620" r:id="rId47"/>
    <p:sldId id="657" r:id="rId48"/>
    <p:sldId id="546" r:id="rId49"/>
    <p:sldId id="544" r:id="rId50"/>
    <p:sldId id="547" r:id="rId51"/>
    <p:sldId id="548" r:id="rId52"/>
    <p:sldId id="562" r:id="rId53"/>
    <p:sldId id="564" r:id="rId54"/>
    <p:sldId id="553" r:id="rId55"/>
    <p:sldId id="554" r:id="rId56"/>
    <p:sldId id="565" r:id="rId57"/>
    <p:sldId id="556" r:id="rId58"/>
    <p:sldId id="555" r:id="rId59"/>
    <p:sldId id="632" r:id="rId60"/>
    <p:sldId id="633" r:id="rId61"/>
    <p:sldId id="634" r:id="rId62"/>
    <p:sldId id="659" r:id="rId63"/>
    <p:sldId id="635" r:id="rId64"/>
    <p:sldId id="660" r:id="rId65"/>
    <p:sldId id="590" r:id="rId66"/>
    <p:sldId id="661" r:id="rId67"/>
    <p:sldId id="662" r:id="rId68"/>
    <p:sldId id="558" r:id="rId69"/>
    <p:sldId id="658" r:id="rId70"/>
    <p:sldId id="654" r:id="rId71"/>
  </p:sldIdLst>
  <p:sldSz cx="12192000" cy="6858000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CC0099"/>
    <a:srgbClr val="33CC33"/>
    <a:srgbClr val="CCECFF"/>
    <a:srgbClr val="0000FF"/>
    <a:srgbClr val="FF3300"/>
    <a:srgbClr val="6699FF"/>
    <a:srgbClr val="00FFFF"/>
    <a:srgbClr val="FF99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60" autoAdjust="0"/>
    <p:restoredTop sz="83221" autoAdjust="0"/>
  </p:normalViewPr>
  <p:slideViewPr>
    <p:cSldViewPr>
      <p:cViewPr varScale="1">
        <p:scale>
          <a:sx n="95" d="100"/>
          <a:sy n="95" d="100"/>
        </p:scale>
        <p:origin x="1284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95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90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4B9BB-6DE8-4551-91B0-1D212BA0667C}" type="datetimeFigureOut">
              <a:rPr lang="zh-CN" altLang="en-US" smtClean="0"/>
              <a:pPr/>
              <a:t>2024/11/26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79E54-6977-419B-BC40-D913703F14B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045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72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95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7470E5E1-4843-4932-A191-9860DB39C7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37970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8809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date  [+FORMAT] </a:t>
            </a:r>
            <a:r>
              <a:rPr lang="zh-CN" altLang="en-US" dirty="0"/>
              <a:t>可以用来显示或设定系统的日期与时间：</a:t>
            </a:r>
            <a:endParaRPr lang="en-US" altLang="zh-CN" dirty="0"/>
          </a:p>
          <a:p>
            <a:r>
              <a:rPr lang="en-US" altLang="zh-CN" dirty="0"/>
              <a:t>%A </a:t>
            </a:r>
            <a:r>
              <a:rPr lang="zh-CN" altLang="en-US" dirty="0"/>
              <a:t>星期的完整名称</a:t>
            </a:r>
            <a:endParaRPr lang="en-US" altLang="zh-CN" dirty="0"/>
          </a:p>
          <a:p>
            <a:r>
              <a:rPr lang="en-US" altLang="zh-CN" dirty="0"/>
              <a:t>%B </a:t>
            </a:r>
            <a:r>
              <a:rPr lang="zh-CN" altLang="en-US" dirty="0"/>
              <a:t>月份的完整英文名称。 </a:t>
            </a:r>
          </a:p>
          <a:p>
            <a:r>
              <a:rPr lang="en-US" altLang="zh-CN" dirty="0"/>
              <a:t>%d </a:t>
            </a:r>
            <a:r>
              <a:rPr lang="zh-CN" altLang="en-US" dirty="0"/>
              <a:t>日期</a:t>
            </a:r>
            <a:r>
              <a:rPr lang="en-US" altLang="zh-CN" dirty="0"/>
              <a:t>(</a:t>
            </a:r>
            <a:r>
              <a:rPr lang="zh-CN" altLang="en-US" dirty="0"/>
              <a:t>以</a:t>
            </a:r>
            <a:r>
              <a:rPr lang="en-US" altLang="zh-CN" dirty="0"/>
              <a:t>01-31</a:t>
            </a:r>
            <a:r>
              <a:rPr lang="zh-CN" altLang="en-US" dirty="0"/>
              <a:t>来表示</a:t>
            </a:r>
            <a:r>
              <a:rPr lang="en-US" altLang="zh-CN" dirty="0"/>
              <a:t>)</a:t>
            </a:r>
            <a:r>
              <a:rPr lang="zh-CN" altLang="en-US" dirty="0"/>
              <a:t>。 </a:t>
            </a:r>
            <a:endParaRPr lang="en-US" altLang="zh-CN" dirty="0"/>
          </a:p>
          <a:p>
            <a:r>
              <a:rPr lang="en-US" altLang="zh-CN" dirty="0"/>
              <a:t>%Y </a:t>
            </a:r>
            <a:r>
              <a:rPr lang="zh-CN" altLang="en-US" dirty="0"/>
              <a:t>年份</a:t>
            </a:r>
            <a:r>
              <a:rPr lang="en-US" altLang="zh-CN" dirty="0"/>
              <a:t>(</a:t>
            </a:r>
            <a:r>
              <a:rPr lang="zh-CN" altLang="en-US" dirty="0"/>
              <a:t>以四位数来表示</a:t>
            </a:r>
            <a:r>
              <a:rPr lang="en-US" altLang="zh-CN" dirty="0"/>
              <a:t>)</a:t>
            </a:r>
            <a:r>
              <a:rPr lang="zh-CN" altLang="en-US" dirty="0"/>
              <a:t>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9239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7851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位置参数</a:t>
            </a:r>
            <a:endParaRPr lang="en-US" altLang="zh-CN" dirty="0"/>
          </a:p>
          <a:p>
            <a:r>
              <a:rPr lang="zh-CN" altLang="en-US" dirty="0"/>
              <a:t>位置变量按顺序从</a:t>
            </a:r>
            <a:r>
              <a:rPr lang="en-US" altLang="zh-CN" dirty="0"/>
              <a:t>1</a:t>
            </a:r>
            <a:r>
              <a:rPr lang="zh-CN" altLang="en-US" dirty="0"/>
              <a:t>至</a:t>
            </a:r>
            <a:r>
              <a:rPr lang="en-US" altLang="zh-CN" dirty="0"/>
              <a:t>9</a:t>
            </a:r>
            <a:r>
              <a:rPr lang="zh-CN" altLang="en-US" dirty="0"/>
              <a:t>计数，并被命名为</a:t>
            </a:r>
            <a:r>
              <a:rPr lang="en-US" altLang="zh-CN" dirty="0"/>
              <a:t>$1</a:t>
            </a:r>
            <a:r>
              <a:rPr lang="zh-CN" altLang="en-US" dirty="0"/>
              <a:t>、</a:t>
            </a:r>
            <a:r>
              <a:rPr lang="en-US" altLang="zh-CN" dirty="0"/>
              <a:t>$2</a:t>
            </a:r>
            <a:r>
              <a:rPr lang="zh-CN" altLang="en-US" dirty="0"/>
              <a:t>，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0271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7395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Shell</a:t>
            </a:r>
            <a:r>
              <a:rPr lang="zh-CN" altLang="en-US"/>
              <a:t>变量只有字符类型，它们只能存放整数数字字符串，如“</a:t>
            </a:r>
            <a:r>
              <a:rPr lang="en-US" altLang="zh-CN"/>
              <a:t>127</a:t>
            </a:r>
            <a:r>
              <a:rPr lang="zh-CN" altLang="en-US"/>
              <a:t>”等，</a:t>
            </a:r>
            <a:r>
              <a:rPr lang="en-US" altLang="zh-CN"/>
              <a:t>Shell</a:t>
            </a:r>
            <a:r>
              <a:rPr lang="zh-CN" altLang="en-US"/>
              <a:t>本身也没有数字运算的能力，必须借助某些命令来进行算术运算，</a:t>
            </a:r>
            <a:r>
              <a:rPr lang="en-US" altLang="zh-CN"/>
              <a:t>expr</a:t>
            </a:r>
            <a:r>
              <a:rPr lang="zh-CN" altLang="en-US"/>
              <a:t>就是用来进行数字表达式计算的命令。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7542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17542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2070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eq:equal</a:t>
            </a:r>
            <a:endParaRPr lang="en-US" altLang="zh-CN" dirty="0"/>
          </a:p>
          <a:p>
            <a:r>
              <a:rPr lang="en-US" altLang="zh-CN" dirty="0" err="1"/>
              <a:t>ge:greater</a:t>
            </a:r>
            <a:r>
              <a:rPr lang="en-US" altLang="zh-CN" dirty="0"/>
              <a:t> equal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237900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$USER : </a:t>
            </a:r>
            <a:r>
              <a:rPr lang="zh-CN" altLang="en-US" dirty="0"/>
              <a:t>环境变量，用于存储用户登录名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24869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1242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/>
              <a:t>$@</a:t>
            </a:r>
            <a:r>
              <a:rPr lang="zh-CN" altLang="en-US" sz="1200" dirty="0"/>
              <a:t>：脚本里以单个字符串形式保存的参数，有几个参数，就循环几次。</a:t>
            </a:r>
            <a:endParaRPr lang="en-US" altLang="zh-CN" sz="1200" dirty="0"/>
          </a:p>
          <a:p>
            <a:r>
              <a:rPr lang="en-US" altLang="zh-CN" sz="1200" dirty="0"/>
              <a:t>@</a:t>
            </a:r>
            <a:r>
              <a:rPr lang="zh-CN" altLang="en-US" sz="1200" dirty="0"/>
              <a:t>*：脚本里的参数是一个整体，</a:t>
            </a:r>
            <a:r>
              <a:rPr lang="en-US" altLang="zh-CN" sz="1200" dirty="0"/>
              <a:t>for</a:t>
            </a:r>
            <a:r>
              <a:rPr lang="zh-CN" altLang="en-US" sz="1200" dirty="0"/>
              <a:t>只循环一次。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9708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&lt; </a:t>
            </a:r>
            <a:r>
              <a:rPr lang="zh-CN" altLang="en-US" dirty="0"/>
              <a:t>输入重定向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32644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-</a:t>
            </a:r>
            <a:r>
              <a:rPr lang="en-US" altLang="zh-CN" dirty="0" err="1"/>
              <a:t>gt</a:t>
            </a:r>
            <a:r>
              <a:rPr lang="en-US" altLang="zh-CN" dirty="0"/>
              <a:t>  </a:t>
            </a:r>
            <a:r>
              <a:rPr lang="zh-CN" altLang="en-US" dirty="0"/>
              <a:t>大于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03604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 err="1"/>
              <a:t>lt</a:t>
            </a:r>
            <a:r>
              <a:rPr lang="en-US" altLang="zh-CN" sz="1200" dirty="0"/>
              <a:t> </a:t>
            </a:r>
            <a:r>
              <a:rPr lang="zh-CN" altLang="en-US" sz="1200" dirty="0"/>
              <a:t>小于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7710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break</a:t>
            </a:r>
            <a:r>
              <a:rPr lang="zh-CN" altLang="en-US" dirty="0"/>
              <a:t>用于终止整个循环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051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&amp;&amp;   </a:t>
            </a:r>
            <a:r>
              <a:rPr lang="zh-CN" altLang="en-US" dirty="0"/>
              <a:t>逻辑的 </a:t>
            </a:r>
            <a:r>
              <a:rPr lang="en-US" altLang="zh-CN" dirty="0"/>
              <a:t>AND </a:t>
            </a:r>
            <a:r>
              <a:rPr lang="zh-CN" altLang="en-US" dirty="0"/>
              <a:t>的意思</a:t>
            </a:r>
            <a:r>
              <a:rPr lang="en-US" altLang="zh-CN" dirty="0"/>
              <a:t>, -a </a:t>
            </a:r>
            <a:r>
              <a:rPr lang="zh-CN" altLang="en-US" dirty="0"/>
              <a:t>也是这个意思  </a:t>
            </a:r>
          </a:p>
          <a:p>
            <a:r>
              <a:rPr lang="en-US" altLang="zh-CN" dirty="0"/>
              <a:t>||  </a:t>
            </a:r>
            <a:r>
              <a:rPr lang="zh-CN" altLang="en-US" dirty="0"/>
              <a:t>逻辑的 </a:t>
            </a:r>
            <a:r>
              <a:rPr lang="en-US" altLang="zh-CN" dirty="0"/>
              <a:t>OR </a:t>
            </a:r>
            <a:r>
              <a:rPr lang="zh-CN" altLang="en-US" dirty="0"/>
              <a:t>的意思， </a:t>
            </a:r>
            <a:r>
              <a:rPr lang="en-US" altLang="zh-CN" dirty="0"/>
              <a:t>-o </a:t>
            </a:r>
            <a:r>
              <a:rPr lang="zh-CN" altLang="en-US" dirty="0"/>
              <a:t>也是这个意思</a:t>
            </a:r>
            <a:endParaRPr lang="en-US" altLang="zh-CN" dirty="0"/>
          </a:p>
          <a:p>
            <a:r>
              <a:rPr lang="en-US" altLang="zh-CN" dirty="0"/>
              <a:t>echo -n </a:t>
            </a:r>
            <a:r>
              <a:rPr lang="zh-CN" altLang="en-US" dirty="0"/>
              <a:t>表示要输出的内容不换行。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70E5E1-4843-4932-A191-9860DB39C7B3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336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97536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5" name="Line 40"/>
          <p:cNvSpPr>
            <a:spLocks noChangeShapeType="1"/>
          </p:cNvSpPr>
          <p:nvPr/>
        </p:nvSpPr>
        <p:spPr bwMode="auto">
          <a:xfrm>
            <a:off x="406400" y="2819400"/>
            <a:ext cx="10972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 b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21217" y="466725"/>
            <a:ext cx="9042400" cy="2133600"/>
          </a:xfrm>
        </p:spPr>
        <p:txBody>
          <a:bodyPr/>
          <a:lstStyle>
            <a:lvl1pPr algn="r">
              <a:defRPr sz="5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132417" y="3049588"/>
            <a:ext cx="83312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0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39184" y="188913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548680"/>
            <a:ext cx="10058400" cy="858837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727848" y="5763433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871B5-850E-4E14-A636-3EC679EBF03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F4681-0EF9-4093-ADCE-209947C6A47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548680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FDFE95-E975-478F-A645-7C4EB3F759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69313" y="433388"/>
            <a:ext cx="9614859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E65B35-C933-4A04-A71C-03F9021F5B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9456" y="548680"/>
            <a:ext cx="961485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BB0021-1471-4A19-B058-3F89A7DAB66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C099A-6552-4724-AD39-B0EE2F003FA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CEEF5-A4E8-4B38-9B9A-645F7197AB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40781A-A4F2-4A76-904B-091E0D892C1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4826" y="553939"/>
            <a:ext cx="961485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C00A0-2C46-4087-9057-200FC475D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DF150-94D8-4D32-8C0D-14E986444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8570" y="548680"/>
            <a:ext cx="961485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023B1-0CB4-4C69-A1E8-9B75F5986A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标题，文本与媒体剪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8570" y="548680"/>
            <a:ext cx="961485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媒体占位符 3"/>
          <p:cNvSpPr>
            <a:spLocks noGrp="1"/>
          </p:cNvSpPr>
          <p:nvPr>
            <p:ph type="media"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6F5EE4-F81D-4B65-813D-8973884A9E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8570" y="548680"/>
            <a:ext cx="9614859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4ACCD-D9C7-48A9-AF67-F346CBBA37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199F4-F9C2-47F3-A9CF-C7E61E01A2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8551" y="-27384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F5370-F617-452E-810F-51450643CF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C2A26A-A11D-4C40-BEE9-C2540F45426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8551" y="44624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250AA8-0700-402F-A230-C897B65B06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-27384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8EC45F-5BC3-4AFD-AE53-C02A6CCE0A7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8551" y="193899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8214C-F769-43E3-96E2-59F4E44E6C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E68C6-869C-40A5-9B67-E3B41CE595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E68C6-869C-40A5-9B67-E3B41CE595A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5DD36-B387-4528-8554-6653607938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3FD14-5D83-42E5-805D-56005BCDE0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8551" y="148842"/>
            <a:ext cx="10058400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4D261-371C-478E-9D92-CC4BEDE0F7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122239"/>
            <a:ext cx="2743200" cy="6008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22239"/>
            <a:ext cx="8026400" cy="6008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6A5805-CF17-4D74-92E1-6F9D498D63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3572419-E38F-B240-C653-893BC53129D3}"/>
              </a:ext>
            </a:extLst>
          </p:cNvPr>
          <p:cNvSpPr/>
          <p:nvPr userDrawn="1"/>
        </p:nvSpPr>
        <p:spPr>
          <a:xfrm>
            <a:off x="533400" y="579120"/>
            <a:ext cx="11125200" cy="5699760"/>
          </a:xfrm>
          <a:prstGeom prst="rect">
            <a:avLst/>
          </a:prstGeom>
          <a:solidFill>
            <a:schemeClr val="bg1"/>
          </a:solidFill>
          <a:ln w="1079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5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501968"/>
            <a:ext cx="10058400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1801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000" b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99856" y="5772309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pPr>
              <a:defRPr/>
            </a:pPr>
            <a:fld id="{F1DF145E-C5AF-4A14-B9F0-BF7FA68005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b="1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98551" y="34641"/>
            <a:ext cx="10058400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19263"/>
            <a:ext cx="10972800" cy="441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4800" y="6180138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2000" b="0"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705351" y="6240463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600" b="1"/>
            </a:lvl1pPr>
          </a:lstStyle>
          <a:p>
            <a:pPr>
              <a:defRPr/>
            </a:pPr>
            <a:fld id="{49D54238-E30E-46E7-B70F-7CD9559569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60" r:id="rId8"/>
    <p:sldLayoutId id="2147483742" r:id="rId9"/>
    <p:sldLayoutId id="2147483743" r:id="rId10"/>
    <p:sldLayoutId id="2147483744" r:id="rId11"/>
    <p:sldLayoutId id="2147483745" r:id="rId12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 b="1">
          <a:solidFill>
            <a:schemeClr val="tx1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 b="1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 b="1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87488" y="1412776"/>
            <a:ext cx="6911975" cy="1846262"/>
          </a:xfrm>
        </p:spPr>
        <p:txBody>
          <a:bodyPr/>
          <a:lstStyle/>
          <a:p>
            <a:pPr algn="ctr" eaLnBrk="1" hangingPunct="1"/>
            <a:r>
              <a:rPr lang="en-US" altLang="zh-CN" sz="5000" dirty="0"/>
              <a:t>       </a:t>
            </a:r>
            <a:r>
              <a:rPr lang="zh-CN" altLang="en-US" sz="5400" dirty="0">
                <a:solidFill>
                  <a:schemeClr val="bg1"/>
                </a:solidFill>
              </a:rPr>
              <a:t>第 </a:t>
            </a:r>
            <a:r>
              <a:rPr lang="en-US" altLang="zh-CN" sz="5400" dirty="0">
                <a:solidFill>
                  <a:schemeClr val="bg1"/>
                </a:solidFill>
              </a:rPr>
              <a:t>9 </a:t>
            </a:r>
            <a:r>
              <a:rPr lang="zh-CN" altLang="en-US" sz="5400" dirty="0">
                <a:solidFill>
                  <a:schemeClr val="bg1"/>
                </a:solidFill>
              </a:rPr>
              <a:t>章</a:t>
            </a:r>
            <a:br>
              <a:rPr lang="en-US" altLang="zh-CN" sz="5400" dirty="0"/>
            </a:br>
            <a:r>
              <a:rPr lang="en-US" altLang="zh-CN" sz="5400" dirty="0"/>
              <a:t>      </a:t>
            </a:r>
            <a:endParaRPr lang="zh-CN" altLang="en-US" sz="4200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95600" y="3140968"/>
            <a:ext cx="6248400" cy="2449512"/>
          </a:xfrm>
        </p:spPr>
        <p:txBody>
          <a:bodyPr/>
          <a:lstStyle/>
          <a:p>
            <a:pPr algn="ctr" eaLnBrk="1" hangingPunct="1"/>
            <a:r>
              <a:rPr lang="en-US" altLang="zh-CN" sz="5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shell </a:t>
            </a:r>
            <a:r>
              <a:rPr lang="zh-CN" altLang="en-US" sz="54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编程</a:t>
            </a:r>
            <a:endParaRPr lang="en-US" altLang="zh-CN" sz="54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 algn="ctr" eaLnBrk="1" hangingPunct="1"/>
            <a:endParaRPr lang="en-US" altLang="zh-CN" sz="30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552" y="1196752"/>
            <a:ext cx="8229600" cy="46805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Shell </a:t>
            </a:r>
            <a:r>
              <a:rPr lang="zh-CN" altLang="en-US" dirty="0"/>
              <a:t>概述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创建</a:t>
            </a:r>
            <a:r>
              <a:rPr lang="en-US" altLang="zh-CN" dirty="0"/>
              <a:t>Shell</a:t>
            </a:r>
            <a:r>
              <a:rPr lang="zh-CN" altLang="en-US" dirty="0"/>
              <a:t>程序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Shell </a:t>
            </a:r>
            <a:r>
              <a:rPr lang="zh-CN" altLang="en-US" dirty="0"/>
              <a:t>变量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Shell</a:t>
            </a:r>
            <a:r>
              <a:rPr lang="zh-CN" altLang="en-US" dirty="0"/>
              <a:t> 表达式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Shell</a:t>
            </a:r>
            <a:r>
              <a:rPr lang="zh-CN" altLang="en-US" dirty="0"/>
              <a:t>的流程控制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Shell</a:t>
            </a:r>
            <a:r>
              <a:rPr lang="zh-CN" altLang="en-US" dirty="0"/>
              <a:t>函数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900356" y="551309"/>
            <a:ext cx="7761288" cy="858838"/>
          </a:xfrm>
        </p:spPr>
        <p:txBody>
          <a:bodyPr/>
          <a:lstStyle/>
          <a:p>
            <a:pPr eaLnBrk="1" hangingPunct="1"/>
            <a:r>
              <a:rPr lang="zh-CN" altLang="en-US" sz="4600" dirty="0"/>
              <a:t>本章内容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048484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83409" y="552841"/>
            <a:ext cx="7272808" cy="685800"/>
          </a:xfrm>
        </p:spPr>
        <p:txBody>
          <a:bodyPr/>
          <a:lstStyle/>
          <a:p>
            <a:r>
              <a:rPr lang="en-US" altLang="zh-CN" dirty="0"/>
              <a:t>9.1  Shell </a:t>
            </a:r>
            <a:r>
              <a:rPr lang="zh-CN" altLang="en-US" dirty="0"/>
              <a:t>概述</a:t>
            </a:r>
          </a:p>
        </p:txBody>
      </p:sp>
      <p:sp>
        <p:nvSpPr>
          <p:cNvPr id="2125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412776"/>
            <a:ext cx="10081119" cy="4465637"/>
          </a:xfrm>
        </p:spPr>
        <p:txBody>
          <a:bodyPr/>
          <a:lstStyle/>
          <a:p>
            <a:r>
              <a:rPr lang="en-US" altLang="zh-CN" sz="2600" dirty="0"/>
              <a:t>Shell</a:t>
            </a:r>
            <a:r>
              <a:rPr lang="zh-CN" altLang="en-US" sz="2600" dirty="0"/>
              <a:t>是介于使用者和</a:t>
            </a:r>
            <a:r>
              <a:rPr lang="en-US" altLang="zh-CN" sz="2600" dirty="0"/>
              <a:t>Linux </a:t>
            </a:r>
            <a:r>
              <a:rPr lang="zh-CN" altLang="en-US" sz="2600" dirty="0"/>
              <a:t>操作系统之核心程序之间的一个</a:t>
            </a:r>
            <a:r>
              <a:rPr lang="zh-CN" altLang="en-US" sz="2600" dirty="0">
                <a:solidFill>
                  <a:srgbClr val="CC0099"/>
                </a:solidFill>
              </a:rPr>
              <a:t>接口</a:t>
            </a:r>
            <a:r>
              <a:rPr lang="zh-CN" altLang="en-US" sz="2600" dirty="0"/>
              <a:t>。为了</a:t>
            </a:r>
            <a:r>
              <a:rPr lang="zh-CN" altLang="en-US" sz="2600" dirty="0">
                <a:solidFill>
                  <a:srgbClr val="0000CC"/>
                </a:solidFill>
              </a:rPr>
              <a:t>对用户屏蔽内核的复杂性</a:t>
            </a:r>
            <a:r>
              <a:rPr lang="zh-CN" altLang="en-US" sz="2600" dirty="0"/>
              <a:t>，也为了</a:t>
            </a:r>
            <a:r>
              <a:rPr lang="zh-CN" altLang="en-US" sz="2600" dirty="0">
                <a:solidFill>
                  <a:srgbClr val="0000CC"/>
                </a:solidFill>
              </a:rPr>
              <a:t>保护内核</a:t>
            </a:r>
            <a:r>
              <a:rPr lang="zh-CN" altLang="en-US" sz="2600" dirty="0"/>
              <a:t>以免用户误操作造成损害，在内核的周围建了一个</a:t>
            </a:r>
            <a:r>
              <a:rPr lang="zh-CN" altLang="en-US" sz="2600" dirty="0">
                <a:solidFill>
                  <a:srgbClr val="CC0099"/>
                </a:solidFill>
              </a:rPr>
              <a:t>外壳</a:t>
            </a:r>
            <a:r>
              <a:rPr lang="en-US" altLang="zh-CN" sz="2600" dirty="0">
                <a:solidFill>
                  <a:srgbClr val="CC0099"/>
                </a:solidFill>
              </a:rPr>
              <a:t>(shell)</a:t>
            </a:r>
            <a:r>
              <a:rPr lang="zh-CN" altLang="en-US" sz="2600" dirty="0"/>
              <a:t>。用户向</a:t>
            </a:r>
            <a:r>
              <a:rPr lang="en-US" altLang="zh-CN" sz="2600" dirty="0"/>
              <a:t>shell</a:t>
            </a:r>
            <a:r>
              <a:rPr lang="zh-CN" altLang="en-US" sz="2600" dirty="0"/>
              <a:t>提出请求，</a:t>
            </a:r>
            <a:r>
              <a:rPr lang="en-US" altLang="zh-CN" sz="2600" dirty="0"/>
              <a:t>shell</a:t>
            </a:r>
            <a:r>
              <a:rPr lang="zh-CN" altLang="en-US" sz="2600" dirty="0"/>
              <a:t>解释并将请求传给内核。前面章节介绍的</a:t>
            </a:r>
            <a:r>
              <a:rPr lang="en-US" altLang="zh-CN" sz="2600" dirty="0"/>
              <a:t>Shell</a:t>
            </a:r>
            <a:r>
              <a:rPr lang="zh-CN" altLang="en-US" sz="2600" dirty="0"/>
              <a:t>都是基于单个命令行的交互执行方式。</a:t>
            </a:r>
            <a:endParaRPr lang="en-US" altLang="zh-CN" sz="2600" dirty="0"/>
          </a:p>
          <a:p>
            <a:r>
              <a:rPr lang="en-US" altLang="zh-CN" sz="2600" dirty="0">
                <a:solidFill>
                  <a:srgbClr val="0000CC"/>
                </a:solidFill>
              </a:rPr>
              <a:t>Shell</a:t>
            </a:r>
            <a:r>
              <a:rPr lang="zh-CN" altLang="en-US" sz="2600" dirty="0">
                <a:solidFill>
                  <a:srgbClr val="0000CC"/>
                </a:solidFill>
              </a:rPr>
              <a:t>也是一种可编程的程序设计语言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    </a:t>
            </a:r>
            <a:r>
              <a:rPr lang="zh-CN" altLang="en-US" sz="2600" dirty="0"/>
              <a:t>将若干个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命令行写入一个文件就</a:t>
            </a:r>
            <a:endParaRPr lang="en-US" altLang="zh-CN" sz="2600" dirty="0"/>
          </a:p>
          <a:p>
            <a:pPr marL="0" indent="0">
              <a:buNone/>
            </a:pPr>
            <a:r>
              <a:rPr lang="en-US" altLang="zh-CN" sz="2600" dirty="0"/>
              <a:t>    </a:t>
            </a:r>
            <a:r>
              <a:rPr lang="zh-CN" altLang="en-US" sz="2600" dirty="0"/>
              <a:t>构成了一个</a:t>
            </a:r>
            <a:r>
              <a:rPr lang="en-US" altLang="zh-CN" sz="2600" dirty="0"/>
              <a:t>Shell</a:t>
            </a:r>
            <a:r>
              <a:rPr lang="zh-CN" altLang="en-US" sz="2600" dirty="0"/>
              <a:t>程序，它可以被</a:t>
            </a:r>
            <a:r>
              <a:rPr lang="en-US" altLang="zh-CN" sz="2600" dirty="0"/>
              <a:t>Shell</a:t>
            </a:r>
          </a:p>
          <a:p>
            <a:pPr marL="0" indent="0">
              <a:buNone/>
            </a:pPr>
            <a:r>
              <a:rPr lang="en-US" altLang="zh-CN" sz="2600" dirty="0"/>
              <a:t>    </a:t>
            </a:r>
            <a:r>
              <a:rPr lang="zh-CN" altLang="en-US" sz="2600" dirty="0"/>
              <a:t>逐条解释执行。</a:t>
            </a:r>
          </a:p>
          <a:p>
            <a:endParaRPr lang="zh-CN" altLang="en-US" sz="2600" dirty="0"/>
          </a:p>
          <a:p>
            <a:endParaRPr lang="en-US" altLang="zh-CN" sz="2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024" y="3861048"/>
            <a:ext cx="250246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5901270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95091858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title"/>
          </p:nvPr>
        </p:nvSpPr>
        <p:spPr>
          <a:xfrm>
            <a:off x="1991544" y="498610"/>
            <a:ext cx="7992888" cy="858837"/>
          </a:xfrm>
        </p:spPr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>
                <a:latin typeface="+mj-ea"/>
              </a:rPr>
              <a:t>语言的特点</a:t>
            </a:r>
          </a:p>
        </p:txBody>
      </p:sp>
      <p:sp>
        <p:nvSpPr>
          <p:cNvPr id="5123" name="内容占位符 2"/>
          <p:cNvSpPr>
            <a:spLocks noGrp="1"/>
          </p:cNvSpPr>
          <p:nvPr>
            <p:ph idx="1"/>
          </p:nvPr>
        </p:nvSpPr>
        <p:spPr>
          <a:xfrm>
            <a:off x="1199456" y="1484784"/>
            <a:ext cx="9937104" cy="46085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 dirty="0">
                <a:latin typeface="+mn-ea"/>
              </a:rPr>
              <a:t>与其他编程语言相比，</a:t>
            </a: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Shell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语言具有如下特点</a:t>
            </a:r>
            <a:r>
              <a:rPr lang="zh-CN" altLang="en-US" sz="2600" dirty="0">
                <a:latin typeface="+mn-ea"/>
              </a:rPr>
              <a:t>：</a:t>
            </a:r>
            <a:endParaRPr lang="en-US" altLang="zh-CN" sz="2600" dirty="0">
              <a:latin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1</a:t>
            </a:r>
            <a:r>
              <a:rPr lang="zh-CN" altLang="en-US" sz="2600" dirty="0">
                <a:latin typeface="+mn-ea"/>
              </a:rPr>
              <a:t>）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是一种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解释性语言</a:t>
            </a:r>
            <a:r>
              <a:rPr lang="zh-CN" altLang="en-US" sz="2600" dirty="0">
                <a:latin typeface="+mn-ea"/>
              </a:rPr>
              <a:t>。就是说，用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语言编写的程序不需要编译，可以直接由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进程解释执行。</a:t>
            </a:r>
            <a:endParaRPr lang="en-US" altLang="zh-CN" sz="2600" dirty="0">
              <a:latin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2</a:t>
            </a:r>
            <a:r>
              <a:rPr lang="zh-CN" altLang="en-US" sz="2600" dirty="0">
                <a:latin typeface="+mn-ea"/>
              </a:rPr>
              <a:t>）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是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基于字符串的语言</a:t>
            </a:r>
            <a:r>
              <a:rPr lang="zh-CN" altLang="en-US" sz="2600" dirty="0">
                <a:latin typeface="+mn-ea"/>
              </a:rPr>
              <a:t>。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只是做字符串处理，不支持复杂的数据结构和运算。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的输出也全部是字符方式的。</a:t>
            </a:r>
            <a:endParaRPr lang="en-US" altLang="zh-CN" sz="2600" dirty="0">
              <a:latin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 sz="2600" dirty="0">
                <a:latin typeface="+mn-ea"/>
              </a:rPr>
              <a:t>（</a:t>
            </a:r>
            <a:r>
              <a:rPr lang="en-US" altLang="zh-CN" sz="2600" dirty="0">
                <a:latin typeface="+mn-ea"/>
              </a:rPr>
              <a:t>3</a:t>
            </a:r>
            <a:r>
              <a:rPr lang="zh-CN" altLang="en-US" sz="2600" dirty="0">
                <a:latin typeface="+mn-ea"/>
              </a:rPr>
              <a:t>）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是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命令级语言</a:t>
            </a:r>
            <a:r>
              <a:rPr lang="zh-CN" altLang="en-US" sz="2600" dirty="0">
                <a:latin typeface="+mn-ea"/>
              </a:rPr>
              <a:t>。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程序全部由命令而不是语句组成，几乎所有的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命令和可执行程序都可用来编写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程序，命令的组合功能十分强大。</a:t>
            </a:r>
            <a:endParaRPr lang="en-US" altLang="zh-CN" sz="2600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2600" dirty="0">
                <a:latin typeface="+mn-ea"/>
              </a:rPr>
              <a:t>另外需要说明的是，不同版本的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程序可能不完全兼容。</a:t>
            </a:r>
            <a:endParaRPr lang="en-US" altLang="zh-CN" sz="26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1094296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764" y="496100"/>
            <a:ext cx="8712968" cy="858837"/>
          </a:xfrm>
        </p:spPr>
        <p:txBody>
          <a:bodyPr/>
          <a:lstStyle/>
          <a:p>
            <a:r>
              <a:rPr lang="en-US" altLang="zh-CN" dirty="0"/>
              <a:t>Shell</a:t>
            </a:r>
            <a:r>
              <a:rPr lang="zh-CN" altLang="en-US" dirty="0">
                <a:latin typeface="+mj-ea"/>
              </a:rPr>
              <a:t>脚本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1696" y="1354937"/>
            <a:ext cx="9937104" cy="477170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 dirty="0">
                <a:latin typeface="+mn-ea"/>
              </a:rPr>
              <a:t>利用文本编辑器，事先把一系列</a:t>
            </a:r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命令或可执行程序放到文件中，然后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修改文件的访问权限</a:t>
            </a:r>
            <a:r>
              <a:rPr lang="zh-CN" altLang="en-US" sz="2600" dirty="0">
                <a:latin typeface="+mn-ea"/>
              </a:rPr>
              <a:t>，使之能够像系统命令或实用程序一样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执行</a:t>
            </a:r>
            <a:r>
              <a:rPr lang="zh-CN" altLang="en-US" sz="2600" dirty="0">
                <a:latin typeface="+mn-ea"/>
              </a:rPr>
              <a:t>，这样的文本文件就是</a:t>
            </a:r>
            <a:r>
              <a:rPr lang="en-US" altLang="zh-CN" sz="2600" dirty="0">
                <a:solidFill>
                  <a:srgbClr val="0000CC"/>
                </a:solidFill>
                <a:latin typeface="+mn-ea"/>
              </a:rPr>
              <a:t>Shell</a:t>
            </a:r>
            <a:r>
              <a:rPr lang="zh-CN" altLang="en-US" sz="2600" dirty="0">
                <a:solidFill>
                  <a:srgbClr val="0000CC"/>
                </a:solidFill>
                <a:latin typeface="+mn-ea"/>
              </a:rPr>
              <a:t>脚本</a:t>
            </a:r>
            <a:r>
              <a:rPr lang="zh-CN" altLang="en-US" sz="2600" dirty="0">
                <a:latin typeface="+mn-ea"/>
              </a:rPr>
              <a:t>，或称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程序。</a:t>
            </a:r>
            <a:endParaRPr lang="en-US" altLang="zh-CN" sz="2600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2600" dirty="0">
                <a:latin typeface="+mn-ea"/>
              </a:rPr>
              <a:t>简单说，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脚本就是一种包含若干</a:t>
            </a:r>
            <a:r>
              <a:rPr lang="en-US" altLang="zh-CN" sz="2600" dirty="0">
                <a:latin typeface="+mn-ea"/>
              </a:rPr>
              <a:t>Linux</a:t>
            </a:r>
            <a:r>
              <a:rPr lang="zh-CN" altLang="en-US" sz="2600" dirty="0">
                <a:latin typeface="+mn-ea"/>
              </a:rPr>
              <a:t>命令或可执行程序的文本文件。</a:t>
            </a:r>
          </a:p>
          <a:p>
            <a:pPr>
              <a:lnSpc>
                <a:spcPct val="90000"/>
              </a:lnSpc>
            </a:pPr>
            <a:r>
              <a:rPr lang="zh-CN" altLang="en-US" sz="2600" dirty="0">
                <a:latin typeface="+mn-ea"/>
              </a:rPr>
              <a:t>当执行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脚本时，文件中的所有命令将从头到尾，一个一个地顺序执行（除非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脚本中含有控制结构语句），就像用户在终端前，以命令行方式，每次输入一个命令，让系统依次执行一样。</a:t>
            </a:r>
            <a:endParaRPr lang="en-US" altLang="zh-CN" sz="2600" dirty="0">
              <a:latin typeface="+mn-ea"/>
            </a:endParaRPr>
          </a:p>
          <a:p>
            <a:pPr>
              <a:lnSpc>
                <a:spcPct val="90000"/>
              </a:lnSpc>
            </a:pPr>
            <a:r>
              <a:rPr lang="zh-CN" altLang="en-US" sz="2600" dirty="0">
                <a:latin typeface="+mn-ea"/>
              </a:rPr>
              <a:t>通过使用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solidFill>
                  <a:srgbClr val="CC0099"/>
                </a:solidFill>
                <a:latin typeface="+mn-ea"/>
              </a:rPr>
              <a:t>使大量的任务自动化</a:t>
            </a:r>
            <a:r>
              <a:rPr lang="zh-CN" altLang="en-US" sz="2600" dirty="0">
                <a:latin typeface="+mn-ea"/>
              </a:rPr>
              <a:t>，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脚本在处理自动循环或大的任务方面可节省大量的时间，且功能强大。</a:t>
            </a:r>
          </a:p>
          <a:p>
            <a:pPr>
              <a:lnSpc>
                <a:spcPct val="90000"/>
              </a:lnSpc>
            </a:pPr>
            <a:endParaRPr lang="zh-CN" altLang="en-US" sz="2600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165634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黑体" pitchFamily="49" charset="-122"/>
              </a:rPr>
              <a:t>9.2  </a:t>
            </a:r>
            <a:r>
              <a:rPr lang="zh-CN" altLang="en-US" dirty="0">
                <a:ea typeface="黑体" pitchFamily="49" charset="-122"/>
              </a:rPr>
              <a:t>创建</a:t>
            </a:r>
            <a:r>
              <a:rPr lang="en-US" altLang="zh-CN" dirty="0"/>
              <a:t>Shell</a:t>
            </a:r>
            <a:r>
              <a:rPr lang="zh-CN" altLang="en-US" dirty="0">
                <a:ea typeface="黑体" pitchFamily="49" charset="-122"/>
              </a:rPr>
              <a:t>程序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1066800" y="1556792"/>
            <a:ext cx="10141768" cy="4411662"/>
          </a:xfrm>
        </p:spPr>
        <p:txBody>
          <a:bodyPr/>
          <a:lstStyle/>
          <a:p>
            <a:r>
              <a:rPr lang="zh-CN" altLang="en-US" sz="2600" dirty="0">
                <a:ea typeface="黑体" pitchFamily="49" charset="-122"/>
              </a:rPr>
              <a:t>通常，</a:t>
            </a:r>
            <a:r>
              <a:rPr lang="en-US" altLang="zh-CN" sz="2600" dirty="0">
                <a:solidFill>
                  <a:srgbClr val="0000CC"/>
                </a:solidFill>
                <a:ea typeface="黑体" pitchFamily="49" charset="-122"/>
              </a:rPr>
              <a:t>Shell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脚本的第一行均包含一个以“</a:t>
            </a:r>
            <a:r>
              <a:rPr lang="en-US" altLang="zh-CN" sz="2600" dirty="0">
                <a:solidFill>
                  <a:srgbClr val="0000CC"/>
                </a:solidFill>
                <a:ea typeface="黑体" pitchFamily="49" charset="-122"/>
              </a:rPr>
              <a:t>#!”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为起始标志的文本行</a:t>
            </a:r>
            <a:r>
              <a:rPr lang="zh-CN" altLang="en-US" sz="2600" dirty="0">
                <a:ea typeface="黑体" pitchFamily="49" charset="-122"/>
              </a:rPr>
              <a:t>。指明系统用哪种</a:t>
            </a: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解释用户的</a:t>
            </a: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程序。 </a:t>
            </a:r>
            <a:endParaRPr lang="en-US" altLang="zh-CN" sz="2600" dirty="0">
              <a:ea typeface="黑体" pitchFamily="49" charset="-122"/>
            </a:endParaRPr>
          </a:p>
          <a:p>
            <a:r>
              <a:rPr lang="zh-CN" altLang="en-US" sz="2600" dirty="0">
                <a:ea typeface="黑体" pitchFamily="49" charset="-122"/>
              </a:rPr>
              <a:t>“</a:t>
            </a:r>
            <a:r>
              <a:rPr lang="en-US" altLang="zh-CN" sz="2600" dirty="0">
                <a:ea typeface="黑体" pitchFamily="49" charset="-122"/>
              </a:rPr>
              <a:t>#!</a:t>
            </a:r>
            <a:r>
              <a:rPr lang="zh-CN" altLang="en-US" sz="2600" dirty="0">
                <a:ea typeface="黑体" pitchFamily="49" charset="-122"/>
              </a:rPr>
              <a:t>”特殊标志实际是一个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文件类型标识码</a:t>
            </a:r>
            <a:r>
              <a:rPr lang="zh-CN" altLang="en-US" sz="2600" dirty="0">
                <a:ea typeface="黑体" pitchFamily="49" charset="-122"/>
              </a:rPr>
              <a:t>，表示当前的文件是一个可执行的</a:t>
            </a: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脚本文件。紧随“</a:t>
            </a:r>
            <a:r>
              <a:rPr lang="en-US" altLang="zh-CN" sz="2600" dirty="0">
                <a:ea typeface="黑体" pitchFamily="49" charset="-122"/>
              </a:rPr>
              <a:t>#!</a:t>
            </a:r>
            <a:r>
              <a:rPr lang="zh-CN" altLang="en-US" sz="2600" dirty="0">
                <a:ea typeface="黑体" pitchFamily="49" charset="-122"/>
              </a:rPr>
              <a:t>” 标志的是一个路径文件名，指向用于执行当前</a:t>
            </a: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脚本文件的命令解释程序。</a:t>
            </a:r>
            <a:endParaRPr lang="en-US" altLang="zh-CN" sz="2600" dirty="0">
              <a:ea typeface="黑体" pitchFamily="49" charset="-122"/>
            </a:endParaRPr>
          </a:p>
          <a:p>
            <a:pPr marL="0" indent="0">
              <a:buNone/>
            </a:pPr>
            <a:r>
              <a:rPr lang="zh-CN" altLang="en-US" sz="2600" dirty="0">
                <a:ea typeface="黑体" pitchFamily="49" charset="-122"/>
              </a:rPr>
              <a:t>例如：</a:t>
            </a:r>
          </a:p>
          <a:p>
            <a:pPr marL="0" indent="0">
              <a:buNone/>
            </a:pPr>
            <a:r>
              <a:rPr lang="zh-CN" altLang="en-US" sz="2600" dirty="0">
                <a:ea typeface="黑体" pitchFamily="49" charset="-122"/>
              </a:rPr>
              <a:t>     表示调用</a:t>
            </a:r>
            <a:r>
              <a:rPr lang="en-US" altLang="zh-CN" sz="2600" dirty="0">
                <a:ea typeface="黑体" pitchFamily="49" charset="-122"/>
              </a:rPr>
              <a:t>Linux</a:t>
            </a:r>
            <a:r>
              <a:rPr lang="zh-CN" altLang="en-US" sz="2600" dirty="0">
                <a:ea typeface="黑体" pitchFamily="49" charset="-122"/>
              </a:rPr>
              <a:t>系统默认的</a:t>
            </a: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，即</a:t>
            </a:r>
            <a:r>
              <a:rPr lang="en-US" altLang="zh-CN" sz="2600" dirty="0">
                <a:ea typeface="黑体" pitchFamily="49" charset="-122"/>
              </a:rPr>
              <a:t>Bash</a:t>
            </a:r>
            <a:r>
              <a:rPr lang="zh-CN" altLang="en-US" sz="2600" dirty="0">
                <a:ea typeface="黑体" pitchFamily="49" charset="-122"/>
              </a:rPr>
              <a:t>，来解释执行当前的</a:t>
            </a: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脚本。</a:t>
            </a:r>
          </a:p>
          <a:p>
            <a:pPr marL="0" indent="0">
              <a:buNone/>
            </a:pPr>
            <a:endParaRPr lang="zh-CN" altLang="en-US" sz="2400" dirty="0">
              <a:ea typeface="黑体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279576" y="3645024"/>
            <a:ext cx="6884987" cy="564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GB" altLang="en-US" sz="2800" dirty="0">
                <a:solidFill>
                  <a:srgbClr val="CC0099"/>
                </a:solidFill>
                <a:latin typeface="+mn-lt"/>
              </a:rPr>
              <a:t>#!/bin/bash</a:t>
            </a:r>
          </a:p>
        </p:txBody>
      </p:sp>
    </p:spTree>
    <p:extLst>
      <p:ext uri="{BB962C8B-B14F-4D97-AF65-F5344CB8AC3E}">
        <p14:creationId xmlns:p14="http://schemas.microsoft.com/office/powerpoint/2010/main" val="1337464453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1415480" y="1457976"/>
            <a:ext cx="9505056" cy="3843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Arial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SzPct val="100000"/>
              <a:buFont typeface="Arial" pitchFamily="34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Times New Roman" pitchFamily="18" charset="0"/>
              </a:defRPr>
            </a:lvl9pPr>
          </a:lstStyle>
          <a:p>
            <a:pPr algn="l">
              <a:lnSpc>
                <a:spcPct val="150000"/>
              </a:lnSpc>
              <a:buSzPct val="70000"/>
            </a:pPr>
            <a:r>
              <a:rPr lang="en-US" altLang="zh-CN" sz="2800" dirty="0">
                <a:solidFill>
                  <a:srgbClr val="0000CC"/>
                </a:solidFill>
                <a:latin typeface="+mn-ea"/>
                <a:ea typeface="+mn-ea"/>
              </a:rPr>
              <a:t>Shell</a:t>
            </a:r>
            <a:r>
              <a:rPr lang="zh-CN" altLang="en-US" sz="2800" dirty="0">
                <a:solidFill>
                  <a:srgbClr val="0000CC"/>
                </a:solidFill>
                <a:latin typeface="+mn-ea"/>
                <a:ea typeface="+mn-ea"/>
              </a:rPr>
              <a:t>的基本元素</a:t>
            </a:r>
            <a:r>
              <a:rPr lang="zh-CN" altLang="en-US" sz="2800" dirty="0">
                <a:latin typeface="+mn-ea"/>
                <a:ea typeface="+mn-ea"/>
              </a:rPr>
              <a:t>：</a:t>
            </a:r>
          </a:p>
          <a:p>
            <a:pPr algn="l">
              <a:lnSpc>
                <a:spcPct val="150000"/>
              </a:lnSpc>
              <a:buSzPct val="70000"/>
            </a:pPr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） </a:t>
            </a:r>
            <a:r>
              <a:rPr lang="en-US" altLang="zh-CN" sz="2800" dirty="0">
                <a:latin typeface="+mn-lt"/>
                <a:ea typeface="+mn-ea"/>
              </a:rPr>
              <a:t>#</a:t>
            </a:r>
            <a:r>
              <a:rPr lang="zh-CN" altLang="en-US" sz="2800" dirty="0">
                <a:latin typeface="+mn-lt"/>
                <a:ea typeface="+mn-ea"/>
              </a:rPr>
              <a:t>！</a:t>
            </a:r>
            <a:r>
              <a:rPr lang="en-US" altLang="zh-CN" sz="2800" dirty="0">
                <a:latin typeface="+mn-lt"/>
                <a:ea typeface="+mn-ea"/>
              </a:rPr>
              <a:t>/bin/bash </a:t>
            </a:r>
            <a:r>
              <a:rPr lang="zh-CN" altLang="en-US" sz="2800" dirty="0">
                <a:latin typeface="+mn-ea"/>
                <a:ea typeface="+mn-ea"/>
              </a:rPr>
              <a:t>必须的，指出</a:t>
            </a:r>
            <a:r>
              <a:rPr lang="en-US" altLang="zh-CN" sz="2800" dirty="0">
                <a:latin typeface="+mn-ea"/>
                <a:ea typeface="+mn-ea"/>
              </a:rPr>
              <a:t>shell</a:t>
            </a:r>
            <a:r>
              <a:rPr lang="zh-CN" altLang="en-US" sz="2800" dirty="0">
                <a:latin typeface="+mn-ea"/>
                <a:ea typeface="+mn-ea"/>
              </a:rPr>
              <a:t>的类型；</a:t>
            </a:r>
          </a:p>
          <a:p>
            <a:pPr algn="l">
              <a:lnSpc>
                <a:spcPct val="150000"/>
              </a:lnSpc>
              <a:buSzPct val="70000"/>
            </a:pPr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2</a:t>
            </a:r>
            <a:r>
              <a:rPr lang="zh-CN" altLang="en-US" sz="2800" dirty="0">
                <a:latin typeface="+mn-ea"/>
                <a:ea typeface="+mn-ea"/>
              </a:rPr>
              <a:t>）注释行，使用“</a:t>
            </a:r>
            <a:r>
              <a:rPr lang="en-US" altLang="zh-CN" sz="2800" dirty="0">
                <a:solidFill>
                  <a:srgbClr val="CC0099"/>
                </a:solidFill>
                <a:latin typeface="+mn-ea"/>
                <a:ea typeface="+mn-ea"/>
              </a:rPr>
              <a:t>#</a:t>
            </a:r>
            <a:r>
              <a:rPr lang="zh-CN" altLang="en-US" sz="2800" dirty="0">
                <a:latin typeface="+mn-ea"/>
                <a:ea typeface="+mn-ea"/>
              </a:rPr>
              <a:t>”符号；</a:t>
            </a:r>
          </a:p>
          <a:p>
            <a:pPr algn="l">
              <a:lnSpc>
                <a:spcPct val="150000"/>
              </a:lnSpc>
              <a:buSzPct val="70000"/>
            </a:pPr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3</a:t>
            </a:r>
            <a:r>
              <a:rPr lang="zh-CN" altLang="en-US" sz="2800" dirty="0">
                <a:latin typeface="+mn-ea"/>
                <a:ea typeface="+mn-ea"/>
              </a:rPr>
              <a:t>）变量</a:t>
            </a:r>
          </a:p>
          <a:p>
            <a:pPr algn="l">
              <a:lnSpc>
                <a:spcPct val="150000"/>
              </a:lnSpc>
              <a:buSzPct val="70000"/>
            </a:pPr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4</a:t>
            </a:r>
            <a:r>
              <a:rPr lang="zh-CN" altLang="en-US" sz="2800" dirty="0">
                <a:latin typeface="+mn-ea"/>
                <a:ea typeface="+mn-ea"/>
              </a:rPr>
              <a:t>）控制</a:t>
            </a:r>
          </a:p>
          <a:p>
            <a:pPr marL="457200" indent="-457200" algn="l">
              <a:lnSpc>
                <a:spcPct val="120000"/>
              </a:lnSpc>
              <a:buSzPct val="70000"/>
              <a:buFont typeface="Wingdings" panose="05000000000000000000" pitchFamily="2" charset="2"/>
              <a:buChar char="l"/>
            </a:pP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11" name="标题 1"/>
          <p:cNvSpPr txBox="1">
            <a:spLocks/>
          </p:cNvSpPr>
          <p:nvPr/>
        </p:nvSpPr>
        <p:spPr bwMode="auto">
          <a:xfrm>
            <a:off x="2207568" y="566333"/>
            <a:ext cx="8208912" cy="858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 b="1">
                <a:solidFill>
                  <a:schemeClr val="tx1"/>
                </a:solidFill>
                <a:latin typeface="Arial" charset="0"/>
                <a:ea typeface="黑体" pitchFamily="2" charset="-122"/>
              </a:defRPr>
            </a:lvl9pPr>
          </a:lstStyle>
          <a:p>
            <a:r>
              <a:rPr lang="en-US" altLang="zh-CN" kern="0" dirty="0">
                <a:latin typeface="+mn-lt"/>
              </a:rPr>
              <a:t>Shell</a:t>
            </a:r>
            <a:r>
              <a:rPr lang="zh-CN" altLang="en-US" kern="0" dirty="0">
                <a:latin typeface="+mj-ea"/>
              </a:rPr>
              <a:t>的基本元素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390557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91544" y="465252"/>
            <a:ext cx="8568952" cy="858837"/>
          </a:xfrm>
        </p:spPr>
        <p:txBody>
          <a:bodyPr/>
          <a:lstStyle/>
          <a:p>
            <a:r>
              <a:rPr lang="zh-CN" altLang="en-US" dirty="0"/>
              <a:t>编写</a:t>
            </a:r>
            <a:r>
              <a:rPr lang="en-US" altLang="zh-CN" dirty="0"/>
              <a:t>Shell</a:t>
            </a:r>
            <a:r>
              <a:rPr lang="zh-CN" altLang="en-US" dirty="0"/>
              <a:t>脚本步骤</a:t>
            </a:r>
          </a:p>
        </p:txBody>
      </p:sp>
      <p:sp>
        <p:nvSpPr>
          <p:cNvPr id="2129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09688" y="1496204"/>
            <a:ext cx="10081120" cy="4896544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步骤：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altLang="zh-CN" sz="2600" dirty="0"/>
              <a:t>Shell</a:t>
            </a:r>
            <a:r>
              <a:rPr lang="zh-CN" altLang="en-US" sz="2600" dirty="0"/>
              <a:t>脚本程序可以用</a:t>
            </a:r>
            <a:r>
              <a:rPr lang="en-US" altLang="zh-CN" sz="2600" dirty="0"/>
              <a:t>vim</a:t>
            </a:r>
            <a:r>
              <a:rPr lang="zh-CN" altLang="en-US" sz="2600" dirty="0"/>
              <a:t>等</a:t>
            </a:r>
            <a:r>
              <a:rPr lang="zh-CN" altLang="en-US" sz="2600" dirty="0">
                <a:solidFill>
                  <a:srgbClr val="CC0099"/>
                </a:solidFill>
              </a:rPr>
              <a:t>文字编辑器</a:t>
            </a:r>
            <a:r>
              <a:rPr lang="zh-CN" altLang="en-US" sz="2600" dirty="0"/>
              <a:t>编写，将脚本命名为</a:t>
            </a:r>
            <a:r>
              <a:rPr lang="zh-CN" altLang="en-US" sz="2600" dirty="0">
                <a:solidFill>
                  <a:srgbClr val="CC0099"/>
                </a:solidFill>
              </a:rPr>
              <a:t>脚本功能</a:t>
            </a:r>
            <a:r>
              <a:rPr lang="en-US" altLang="zh-CN" sz="2600" dirty="0">
                <a:solidFill>
                  <a:srgbClr val="CC0099"/>
                </a:solidFill>
              </a:rPr>
              <a:t>.</a:t>
            </a:r>
            <a:r>
              <a:rPr lang="en-US" altLang="zh-CN" sz="2600" dirty="0" err="1">
                <a:solidFill>
                  <a:srgbClr val="CC0099"/>
                </a:solidFill>
              </a:rPr>
              <a:t>sh</a:t>
            </a:r>
            <a:r>
              <a:rPr lang="zh-CN" altLang="en-US" sz="2600" dirty="0"/>
              <a:t>（一般以</a:t>
            </a:r>
            <a:r>
              <a:rPr lang="en-US" altLang="zh-CN" sz="2600" dirty="0"/>
              <a:t>.</a:t>
            </a:r>
            <a:r>
              <a:rPr lang="en-US" altLang="zh-CN" sz="2600" dirty="0" err="1"/>
              <a:t>sh</a:t>
            </a:r>
            <a:r>
              <a:rPr lang="zh-CN" altLang="en-US" sz="2600" dirty="0"/>
              <a:t>为文件后缀，没有也行）；</a:t>
            </a:r>
          </a:p>
          <a:p>
            <a:pPr algn="just">
              <a:lnSpc>
                <a:spcPct val="120000"/>
              </a:lnSpc>
            </a:pPr>
            <a:r>
              <a:rPr lang="en-US" altLang="zh-CN" sz="2600" dirty="0"/>
              <a:t>Shell</a:t>
            </a:r>
            <a:r>
              <a:rPr lang="zh-CN" altLang="en-US" sz="2600" dirty="0"/>
              <a:t>脚本程序总是以</a:t>
            </a:r>
            <a:r>
              <a:rPr lang="en-US" altLang="zh-CN" sz="2600" dirty="0">
                <a:solidFill>
                  <a:srgbClr val="CC0099"/>
                </a:solidFill>
              </a:rPr>
              <a:t>#!/bin/bash</a:t>
            </a:r>
            <a:r>
              <a:rPr lang="zh-CN" altLang="en-US" sz="2600" dirty="0"/>
              <a:t>开头，它通知使用系统上默认的</a:t>
            </a:r>
            <a:r>
              <a:rPr lang="en-US" altLang="zh-CN" sz="2600" dirty="0"/>
              <a:t>shell</a:t>
            </a:r>
            <a:r>
              <a:rPr lang="zh-CN" altLang="en-US" sz="2600" dirty="0"/>
              <a:t>解释器。</a:t>
            </a:r>
          </a:p>
          <a:p>
            <a:pPr algn="just">
              <a:lnSpc>
                <a:spcPct val="120000"/>
              </a:lnSpc>
            </a:pPr>
            <a:r>
              <a:rPr lang="zh-CN" altLang="en-US" sz="2600" dirty="0"/>
              <a:t>脚本程序编写完毕后，在运行前需要使用</a:t>
            </a:r>
            <a:r>
              <a:rPr lang="en-US" altLang="zh-CN" sz="2600" dirty="0" err="1">
                <a:solidFill>
                  <a:srgbClr val="CC0099"/>
                </a:solidFill>
              </a:rPr>
              <a:t>chmod</a:t>
            </a:r>
            <a:r>
              <a:rPr lang="zh-CN" altLang="en-US" sz="2600" dirty="0">
                <a:solidFill>
                  <a:srgbClr val="CC0099"/>
                </a:solidFill>
              </a:rPr>
              <a:t>命令</a:t>
            </a:r>
            <a:r>
              <a:rPr lang="zh-CN" altLang="en-US" sz="2600" dirty="0"/>
              <a:t>，赋予该脚本文件可</a:t>
            </a:r>
            <a:r>
              <a:rPr lang="zh-CN" altLang="en-US" sz="2600" dirty="0">
                <a:solidFill>
                  <a:srgbClr val="CC0099"/>
                </a:solidFill>
              </a:rPr>
              <a:t>执行</a:t>
            </a:r>
            <a:r>
              <a:rPr lang="zh-CN" altLang="en-US" sz="2600" dirty="0"/>
              <a:t>的权限。</a:t>
            </a:r>
            <a:endParaRPr lang="zh-CN" altLang="en-US" sz="2600" dirty="0">
              <a:solidFill>
                <a:srgbClr val="CC0099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zh-CN" altLang="en-US" sz="2600" dirty="0">
                <a:solidFill>
                  <a:srgbClr val="CC0099"/>
                </a:solidFill>
              </a:rPr>
              <a:t>运行</a:t>
            </a:r>
            <a:r>
              <a:rPr lang="zh-CN" altLang="en-US" sz="2600" dirty="0"/>
              <a:t>脚本程序的命令</a:t>
            </a:r>
            <a:r>
              <a:rPr lang="en-US" altLang="zh-CN" sz="2600" dirty="0">
                <a:solidFill>
                  <a:srgbClr val="CC0099"/>
                </a:solidFill>
              </a:rPr>
              <a:t>./filename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090029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91544" y="530642"/>
            <a:ext cx="7543800" cy="858837"/>
          </a:xfrm>
        </p:spPr>
        <p:txBody>
          <a:bodyPr/>
          <a:lstStyle/>
          <a:p>
            <a:r>
              <a:rPr lang="zh-CN" altLang="en-US" dirty="0">
                <a:latin typeface="+mj-ea"/>
              </a:rPr>
              <a:t>一个简单的</a:t>
            </a:r>
            <a:r>
              <a:rPr lang="zh-CN" altLang="zh-CN" dirty="0"/>
              <a:t>Shell</a:t>
            </a:r>
            <a:r>
              <a:rPr lang="zh-CN" altLang="en-US" dirty="0">
                <a:latin typeface="+mj-ea"/>
              </a:rPr>
              <a:t>程序</a:t>
            </a:r>
            <a:endParaRPr lang="zh-CN" altLang="zh-CN" dirty="0">
              <a:latin typeface="+mj-ea"/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199456" y="1261204"/>
            <a:ext cx="9865096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zh-CN" sz="2200" dirty="0">
                <a:latin typeface="+mn-ea"/>
                <a:ea typeface="+mn-ea"/>
              </a:rPr>
              <a:t>简单脚本示例：</a:t>
            </a:r>
          </a:p>
          <a:p>
            <a:pPr algn="l"/>
            <a:r>
              <a:rPr lang="zh-CN" altLang="zh-CN" sz="2200" dirty="0">
                <a:latin typeface="+mn-ea"/>
                <a:ea typeface="+mn-ea"/>
              </a:rPr>
              <a:t>vi</a:t>
            </a:r>
            <a:r>
              <a:rPr lang="en-US" altLang="zh-CN" sz="2200" dirty="0">
                <a:latin typeface="+mn-ea"/>
                <a:ea typeface="+mn-ea"/>
              </a:rPr>
              <a:t>m</a:t>
            </a:r>
            <a:r>
              <a:rPr lang="zh-CN" altLang="zh-CN" sz="2200" dirty="0">
                <a:latin typeface="+mn-ea"/>
                <a:ea typeface="+mn-ea"/>
              </a:rPr>
              <a:t> ShowHello.sh</a:t>
            </a:r>
          </a:p>
          <a:p>
            <a:pPr algn="l"/>
            <a:r>
              <a:rPr lang="zh-CN" altLang="zh-CN" sz="2200" dirty="0">
                <a:latin typeface="+mn-ea"/>
                <a:ea typeface="+mn-ea"/>
              </a:rPr>
              <a:t>以下为脚本内容：</a:t>
            </a:r>
          </a:p>
          <a:p>
            <a:pPr algn="l"/>
            <a:r>
              <a:rPr lang="en-US" altLang="zh-CN" sz="2200" dirty="0">
                <a:solidFill>
                  <a:schemeClr val="hlink"/>
                </a:solidFill>
                <a:latin typeface="+mn-ea"/>
                <a:ea typeface="+mn-ea"/>
              </a:rPr>
              <a:t>#!/bin/bash</a:t>
            </a:r>
          </a:p>
          <a:p>
            <a:pPr algn="l"/>
            <a:r>
              <a:rPr lang="en-US" altLang="zh-CN" sz="2200" dirty="0">
                <a:solidFill>
                  <a:schemeClr val="hlink"/>
                </a:solidFill>
                <a:latin typeface="+mn-ea"/>
                <a:ea typeface="+mn-ea"/>
              </a:rPr>
              <a:t>#ShowHello.sh</a:t>
            </a:r>
          </a:p>
          <a:p>
            <a:pPr algn="l"/>
            <a:r>
              <a:rPr lang="en-US" altLang="zh-CN" sz="2200" dirty="0">
                <a:solidFill>
                  <a:schemeClr val="hlink"/>
                </a:solidFill>
                <a:latin typeface="+mn-ea"/>
                <a:ea typeface="+mn-ea"/>
              </a:rPr>
              <a:t>echo Hellow World !</a:t>
            </a:r>
          </a:p>
          <a:p>
            <a:pPr algn="l"/>
            <a:r>
              <a:rPr lang="en-US" altLang="zh-CN" sz="2200" dirty="0">
                <a:solidFill>
                  <a:schemeClr val="hlink"/>
                </a:solidFill>
                <a:latin typeface="+mn-ea"/>
                <a:ea typeface="+mn-ea"/>
              </a:rPr>
              <a:t>echo -n "Today is"</a:t>
            </a:r>
          </a:p>
          <a:p>
            <a:pPr algn="l"/>
            <a:r>
              <a:rPr lang="en-US" altLang="zh-CN" sz="2200" dirty="0">
                <a:solidFill>
                  <a:schemeClr val="hlink"/>
                </a:solidFill>
                <a:latin typeface="+mn-ea"/>
                <a:ea typeface="+mn-ea"/>
              </a:rPr>
              <a:t>date "+%A,%B,%d,%Y."</a:t>
            </a:r>
          </a:p>
          <a:p>
            <a:pPr algn="l"/>
            <a:r>
              <a:rPr lang="zh-CN" altLang="zh-CN" sz="2200" dirty="0">
                <a:latin typeface="+mn-ea"/>
                <a:ea typeface="+mn-ea"/>
              </a:rPr>
              <a:t>保存，退出vi</a:t>
            </a:r>
            <a:r>
              <a:rPr lang="en-US" altLang="zh-CN" sz="2200" dirty="0">
                <a:latin typeface="+mn-ea"/>
                <a:ea typeface="+mn-ea"/>
              </a:rPr>
              <a:t>m</a:t>
            </a:r>
            <a:r>
              <a:rPr lang="zh-CN" altLang="zh-CN" sz="2200" dirty="0">
                <a:latin typeface="+mn-ea"/>
                <a:ea typeface="+mn-ea"/>
              </a:rPr>
              <a:t>编辑器。为脚本添加可执行权限：</a:t>
            </a:r>
          </a:p>
          <a:p>
            <a:pPr algn="l"/>
            <a:r>
              <a:rPr lang="zh-CN" altLang="en-US" sz="2000" dirty="0"/>
              <a:t>［</a:t>
            </a:r>
            <a:r>
              <a:rPr lang="en-US" altLang="zh-CN" sz="2000" dirty="0"/>
              <a:t>root@ localhost  ~</a:t>
            </a:r>
            <a:r>
              <a:rPr lang="zh-CN" altLang="en-US" sz="2000" dirty="0"/>
              <a:t>］ </a:t>
            </a:r>
            <a:r>
              <a:rPr lang="en-US" altLang="zh-CN" sz="2000" dirty="0"/>
              <a:t># </a:t>
            </a:r>
            <a:r>
              <a:rPr lang="zh-CN" altLang="zh-CN" sz="2200" dirty="0">
                <a:latin typeface="+mn-ea"/>
                <a:ea typeface="+mn-ea"/>
              </a:rPr>
              <a:t>chmod +x ShowHello.sh</a:t>
            </a:r>
          </a:p>
          <a:p>
            <a:pPr algn="l"/>
            <a:r>
              <a:rPr lang="zh-CN" altLang="zh-CN" sz="2200" dirty="0">
                <a:latin typeface="+mn-ea"/>
                <a:ea typeface="+mn-ea"/>
              </a:rPr>
              <a:t>运行脚本</a:t>
            </a:r>
            <a:r>
              <a:rPr lang="en-US" altLang="zh-CN" sz="2200" dirty="0">
                <a:latin typeface="+mn-ea"/>
                <a:ea typeface="+mn-ea"/>
              </a:rPr>
              <a:t>  </a:t>
            </a:r>
          </a:p>
          <a:p>
            <a:pPr algn="l"/>
            <a:r>
              <a:rPr lang="zh-CN" altLang="en-US" sz="2000" dirty="0"/>
              <a:t>［</a:t>
            </a:r>
            <a:r>
              <a:rPr lang="en-US" altLang="zh-CN" sz="2000" dirty="0"/>
              <a:t>root@ localhost  ~</a:t>
            </a:r>
            <a:r>
              <a:rPr lang="zh-CN" altLang="en-US" sz="2000" dirty="0"/>
              <a:t>］ </a:t>
            </a:r>
            <a:r>
              <a:rPr lang="en-US" altLang="zh-CN" sz="2000" dirty="0"/>
              <a:t>#</a:t>
            </a:r>
            <a:r>
              <a:rPr lang="en-US" altLang="zh-CN" sz="2200" dirty="0">
                <a:latin typeface="+mn-ea"/>
                <a:ea typeface="+mn-ea"/>
              </a:rPr>
              <a:t>./</a:t>
            </a:r>
            <a:r>
              <a:rPr lang="zh-CN" altLang="zh-CN" sz="2200" dirty="0">
                <a:latin typeface="+mn-ea"/>
                <a:ea typeface="+mn-ea"/>
              </a:rPr>
              <a:t>ShowHello.sh</a:t>
            </a:r>
            <a:endParaRPr lang="en-US" altLang="zh-CN" sz="2200" dirty="0">
              <a:latin typeface="+mn-ea"/>
              <a:ea typeface="+mn-ea"/>
            </a:endParaRPr>
          </a:p>
          <a:p>
            <a:pPr algn="l"/>
            <a:r>
              <a:rPr lang="en-US" altLang="zh-CN" sz="2200" dirty="0">
                <a:latin typeface="+mn-ea"/>
                <a:ea typeface="+mn-ea"/>
              </a:rPr>
              <a:t>Hello World!</a:t>
            </a:r>
          </a:p>
          <a:p>
            <a:pPr algn="l"/>
            <a:r>
              <a:rPr lang="en-US" altLang="zh-CN" sz="2200" dirty="0">
                <a:latin typeface="+mn-ea"/>
                <a:ea typeface="+mn-ea"/>
              </a:rPr>
              <a:t>Today is </a:t>
            </a:r>
            <a:r>
              <a:rPr lang="zh-CN" altLang="en-US" sz="2200" dirty="0">
                <a:latin typeface="+mn-ea"/>
                <a:ea typeface="+mn-ea"/>
              </a:rPr>
              <a:t>星期六 ，四月，</a:t>
            </a:r>
            <a:r>
              <a:rPr lang="en-US" altLang="zh-CN" sz="2200" dirty="0">
                <a:latin typeface="+mn-ea"/>
                <a:ea typeface="+mn-ea"/>
              </a:rPr>
              <a:t>20</a:t>
            </a:r>
            <a:r>
              <a:rPr lang="zh-CN" altLang="en-US" sz="2200" dirty="0">
                <a:latin typeface="+mn-ea"/>
                <a:ea typeface="+mn-ea"/>
              </a:rPr>
              <a:t>，</a:t>
            </a:r>
            <a:r>
              <a:rPr lang="en-US" altLang="zh-CN" sz="2200" dirty="0">
                <a:latin typeface="+mn-ea"/>
                <a:ea typeface="+mn-ea"/>
              </a:rPr>
              <a:t>2024.</a:t>
            </a:r>
            <a:endParaRPr lang="zh-CN" altLang="zh-CN" sz="2200" dirty="0">
              <a:latin typeface="+mn-ea"/>
              <a:ea typeface="+mn-ea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428184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1129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algn="ctr"/>
            <a:r>
              <a:rPr lang="en-US" altLang="zh-CN" sz="4000" dirty="0">
                <a:ea typeface="黑体" pitchFamily="49" charset="-122"/>
              </a:rPr>
              <a:t>Shell</a:t>
            </a:r>
            <a:r>
              <a:rPr lang="zh-CN" altLang="en-US" sz="4000" dirty="0">
                <a:ea typeface="黑体" pitchFamily="49" charset="-122"/>
              </a:rPr>
              <a:t>特殊字符</a:t>
            </a:r>
          </a:p>
        </p:txBody>
      </p:sp>
      <p:sp>
        <p:nvSpPr>
          <p:cNvPr id="75779" name="内容占位符 2"/>
          <p:cNvSpPr>
            <a:spLocks noGrp="1"/>
          </p:cNvSpPr>
          <p:nvPr>
            <p:ph idx="4294967295"/>
          </p:nvPr>
        </p:nvSpPr>
        <p:spPr>
          <a:xfrm>
            <a:off x="1271464" y="1628800"/>
            <a:ext cx="10009112" cy="44116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定义了一些</a:t>
            </a:r>
            <a:r>
              <a:rPr lang="zh-CN" altLang="en-US" sz="2600" dirty="0">
                <a:solidFill>
                  <a:srgbClr val="C00000"/>
                </a:solidFill>
                <a:ea typeface="黑体" pitchFamily="49" charset="-122"/>
              </a:rPr>
              <a:t>特殊字符</a:t>
            </a:r>
            <a:r>
              <a:rPr lang="zh-CN" altLang="en-US" sz="2600" dirty="0">
                <a:ea typeface="黑体" pitchFamily="49" charset="-122"/>
              </a:rPr>
              <a:t>，称为</a:t>
            </a:r>
            <a:r>
              <a:rPr lang="zh-CN" altLang="en-US" sz="2600" dirty="0">
                <a:solidFill>
                  <a:srgbClr val="C00000"/>
                </a:solidFill>
                <a:ea typeface="黑体" pitchFamily="49" charset="-122"/>
              </a:rPr>
              <a:t>元字符</a:t>
            </a:r>
            <a:r>
              <a:rPr lang="zh-CN" altLang="en-US" sz="2600" dirty="0">
                <a:ea typeface="黑体" pitchFamily="49" charset="-122"/>
              </a:rPr>
              <a:t>，它们对</a:t>
            </a: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有特殊的含义。</a:t>
            </a: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在读入命令行后要</a:t>
            </a:r>
            <a:r>
              <a:rPr lang="zh-CN" altLang="en-US" sz="2600" dirty="0">
                <a:solidFill>
                  <a:srgbClr val="CC0099"/>
                </a:solidFill>
                <a:ea typeface="黑体" pitchFamily="49" charset="-122"/>
              </a:rPr>
              <a:t>先</a:t>
            </a:r>
            <a:r>
              <a:rPr lang="zh-CN" altLang="en-US" sz="2600" dirty="0">
                <a:ea typeface="黑体" pitchFamily="49" charset="-122"/>
              </a:rPr>
              <a:t>对命令行进行扫描，找出元字符进行相应的</a:t>
            </a:r>
            <a:r>
              <a:rPr lang="zh-CN" altLang="en-US" sz="2600" dirty="0">
                <a:solidFill>
                  <a:srgbClr val="CC0099"/>
                </a:solidFill>
                <a:ea typeface="黑体" pitchFamily="49" charset="-122"/>
              </a:rPr>
              <a:t>替换或处理</a:t>
            </a:r>
            <a:r>
              <a:rPr lang="zh-CN" altLang="en-US" sz="2600" dirty="0">
                <a:ea typeface="黑体" pitchFamily="49" charset="-122"/>
              </a:rPr>
              <a:t>，以确定要执行的程序和它的参数及执行方式等。</a:t>
            </a:r>
            <a:endParaRPr lang="en-US" altLang="zh-CN" sz="2600" dirty="0">
              <a:ea typeface="黑体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600" dirty="0">
                <a:ea typeface="黑体" pitchFamily="49" charset="-122"/>
              </a:rPr>
              <a:t>Shell</a:t>
            </a:r>
            <a:r>
              <a:rPr lang="zh-CN" altLang="en-US" sz="2600" dirty="0">
                <a:ea typeface="黑体" pitchFamily="49" charset="-122"/>
              </a:rPr>
              <a:t>的元字符包括：文件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通配符</a:t>
            </a:r>
            <a:r>
              <a:rPr lang="zh-CN" altLang="en-US" sz="2600" dirty="0">
                <a:ea typeface="黑体" pitchFamily="49" charset="-122"/>
              </a:rPr>
              <a:t>、输入</a:t>
            </a:r>
            <a:r>
              <a:rPr lang="en-US" altLang="zh-CN" sz="2600" dirty="0">
                <a:ea typeface="黑体" pitchFamily="49" charset="-122"/>
              </a:rPr>
              <a:t>/</a:t>
            </a:r>
            <a:r>
              <a:rPr lang="zh-CN" altLang="en-US" sz="2600" dirty="0">
                <a:ea typeface="黑体" pitchFamily="49" charset="-122"/>
              </a:rPr>
              <a:t>输出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重定向</a:t>
            </a:r>
            <a:r>
              <a:rPr lang="zh-CN" altLang="en-US" sz="2600" dirty="0">
                <a:ea typeface="黑体" pitchFamily="49" charset="-122"/>
              </a:rPr>
              <a:t>及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管道符</a:t>
            </a:r>
            <a:r>
              <a:rPr lang="zh-CN" altLang="en-US" sz="2600" dirty="0">
                <a:ea typeface="黑体" pitchFamily="49" charset="-122"/>
              </a:rPr>
              <a:t>、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注释符</a:t>
            </a:r>
            <a:r>
              <a:rPr lang="zh-CN" altLang="en-US" sz="2600" dirty="0">
                <a:ea typeface="黑体" pitchFamily="49" charset="-122"/>
              </a:rPr>
              <a:t>、命令执行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控制符</a:t>
            </a:r>
            <a:r>
              <a:rPr lang="zh-CN" altLang="en-US" sz="2600" dirty="0">
                <a:ea typeface="黑体" pitchFamily="49" charset="-122"/>
              </a:rPr>
              <a:t>、命令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组合与替换符</a:t>
            </a:r>
            <a:r>
              <a:rPr lang="zh-CN" altLang="en-US" sz="2600" dirty="0">
                <a:ea typeface="黑体" pitchFamily="49" charset="-122"/>
              </a:rPr>
              <a:t>、</a:t>
            </a:r>
            <a:r>
              <a:rPr lang="zh-CN" altLang="en-US" sz="2600" dirty="0">
                <a:solidFill>
                  <a:srgbClr val="0000CC"/>
                </a:solidFill>
                <a:ea typeface="黑体" pitchFamily="49" charset="-122"/>
              </a:rPr>
              <a:t>转义符</a:t>
            </a:r>
            <a:r>
              <a:rPr lang="zh-CN" altLang="en-US" sz="2600" dirty="0">
                <a:ea typeface="黑体" pitchFamily="49" charset="-122"/>
              </a:rPr>
              <a:t>等。</a:t>
            </a:r>
            <a:endParaRPr lang="en-US" altLang="zh-CN" sz="2600" dirty="0">
              <a:ea typeface="黑体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2600" dirty="0">
              <a:ea typeface="黑体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0C099A-6552-4724-AD39-B0EE2F003FA2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8472709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命令执行控制符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12776"/>
            <a:ext cx="10213776" cy="4627686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zh-CN" altLang="en-US" sz="2600" dirty="0"/>
              <a:t>命令执行控制符用于控制命令的执行方式，指示</a:t>
            </a:r>
            <a:r>
              <a:rPr lang="en-US" altLang="zh-CN" sz="2600" dirty="0"/>
              <a:t>Shell</a:t>
            </a:r>
            <a:r>
              <a:rPr lang="zh-CN" altLang="en-US" sz="2600" dirty="0">
                <a:solidFill>
                  <a:srgbClr val="0000CC"/>
                </a:solidFill>
              </a:rPr>
              <a:t>何时</a:t>
            </a:r>
            <a:r>
              <a:rPr lang="zh-CN" altLang="en-US" sz="2600" dirty="0"/>
              <a:t>该执行这个命令以及在</a:t>
            </a:r>
            <a:r>
              <a:rPr lang="zh-CN" altLang="en-US" sz="2600" dirty="0">
                <a:solidFill>
                  <a:srgbClr val="0000CC"/>
                </a:solidFill>
              </a:rPr>
              <a:t>何处</a:t>
            </a:r>
            <a:r>
              <a:rPr lang="zh-CN" altLang="en-US" sz="2600" dirty="0"/>
              <a:t>（前台、后台）执行这个命令。</a:t>
            </a:r>
            <a:endParaRPr lang="en-US" altLang="zh-CN" sz="2600" dirty="0"/>
          </a:p>
          <a:p>
            <a:pPr marL="0" indent="0" eaLnBrk="1" hangingPunct="1">
              <a:buNone/>
              <a:defRPr/>
            </a:pPr>
            <a:r>
              <a:rPr lang="en-US" altLang="zh-CN" sz="2600" dirty="0">
                <a:solidFill>
                  <a:srgbClr val="0000CC"/>
                </a:solidFill>
              </a:rPr>
              <a:t>1.  </a:t>
            </a:r>
            <a:r>
              <a:rPr lang="zh-CN" altLang="en-US" sz="2600" dirty="0">
                <a:solidFill>
                  <a:srgbClr val="0000CC"/>
                </a:solidFill>
              </a:rPr>
              <a:t>顺序执行  （</a:t>
            </a:r>
            <a:r>
              <a:rPr lang="zh-CN" altLang="en-US" sz="2600" dirty="0">
                <a:solidFill>
                  <a:srgbClr val="CC0099"/>
                </a:solidFill>
              </a:rPr>
              <a:t>；</a:t>
            </a:r>
            <a:r>
              <a:rPr lang="zh-CN" altLang="en-US" sz="2600" dirty="0">
                <a:solidFill>
                  <a:srgbClr val="0000CC"/>
                </a:solidFill>
              </a:rPr>
              <a:t>）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552450" indent="-552450" eaLnBrk="1" hangingPunct="1">
              <a:buNone/>
              <a:defRPr/>
            </a:pPr>
            <a:r>
              <a:rPr lang="zh-CN" altLang="en-US" sz="2600" dirty="0"/>
              <a:t>格式：</a:t>
            </a:r>
            <a:r>
              <a:rPr lang="zh-CN" altLang="en-US" sz="2600" dirty="0">
                <a:solidFill>
                  <a:srgbClr val="CC0099"/>
                </a:solidFill>
              </a:rPr>
              <a:t>命令</a:t>
            </a:r>
            <a:r>
              <a:rPr lang="en-US" altLang="zh-CN" sz="2600" dirty="0">
                <a:solidFill>
                  <a:srgbClr val="CC0099"/>
                </a:solidFill>
              </a:rPr>
              <a:t>1   </a:t>
            </a:r>
            <a:r>
              <a:rPr lang="zh-CN" altLang="en-US" sz="2600" dirty="0">
                <a:solidFill>
                  <a:srgbClr val="CC0099"/>
                </a:solidFill>
              </a:rPr>
              <a:t>；命令</a:t>
            </a:r>
            <a:r>
              <a:rPr lang="en-US" altLang="zh-CN" sz="2600" dirty="0">
                <a:solidFill>
                  <a:srgbClr val="CC0099"/>
                </a:solidFill>
              </a:rPr>
              <a:t>2</a:t>
            </a:r>
          </a:p>
          <a:p>
            <a:pPr marL="552450" indent="-552450" eaLnBrk="1" hangingPunct="1">
              <a:buNone/>
              <a:defRPr/>
            </a:pPr>
            <a:r>
              <a:rPr lang="zh-CN" altLang="en-US" sz="2600" dirty="0"/>
              <a:t>含义：</a:t>
            </a:r>
            <a:r>
              <a:rPr lang="zh-CN" altLang="en-US" sz="2600" dirty="0">
                <a:solidFill>
                  <a:srgbClr val="0000CC"/>
                </a:solidFill>
              </a:rPr>
              <a:t>顺序执行</a:t>
            </a:r>
            <a:r>
              <a:rPr lang="zh-CN" altLang="en-US" sz="2600" dirty="0"/>
              <a:t>命令</a:t>
            </a:r>
            <a:r>
              <a:rPr lang="en-US" altLang="zh-CN" sz="2600" dirty="0"/>
              <a:t>1</a:t>
            </a:r>
            <a:r>
              <a:rPr lang="zh-CN" altLang="en-US" sz="2600" dirty="0"/>
              <a:t>和命令</a:t>
            </a:r>
            <a:r>
              <a:rPr lang="en-US" altLang="zh-CN" sz="2600" dirty="0"/>
              <a:t>2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552450" indent="-552450" eaLnBrk="1" hangingPunct="1">
              <a:buNone/>
              <a:defRPr/>
            </a:pPr>
            <a:r>
              <a:rPr lang="en-US" altLang="zh-CN" sz="2600" dirty="0">
                <a:solidFill>
                  <a:srgbClr val="0000CC"/>
                </a:solidFill>
              </a:rPr>
              <a:t>2. </a:t>
            </a:r>
            <a:r>
              <a:rPr lang="zh-CN" altLang="en-US" sz="2600" dirty="0">
                <a:solidFill>
                  <a:srgbClr val="0000CC"/>
                </a:solidFill>
              </a:rPr>
              <a:t>逻辑与（</a:t>
            </a:r>
            <a:r>
              <a:rPr lang="en-US" altLang="zh-CN" sz="2600" dirty="0">
                <a:solidFill>
                  <a:srgbClr val="CC0099"/>
                </a:solidFill>
              </a:rPr>
              <a:t>&amp;&amp;</a:t>
            </a:r>
            <a:r>
              <a:rPr lang="zh-CN" altLang="en-US" sz="2600" dirty="0">
                <a:solidFill>
                  <a:srgbClr val="0000CC"/>
                </a:solidFill>
              </a:rPr>
              <a:t>）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552450" indent="-552450" eaLnBrk="1" hangingPunct="1">
              <a:buNone/>
              <a:defRPr/>
            </a:pPr>
            <a:r>
              <a:rPr lang="zh-CN" altLang="en-US" sz="2600" dirty="0"/>
              <a:t>格式：</a:t>
            </a:r>
            <a:r>
              <a:rPr lang="zh-CN" altLang="en-US" sz="2600" dirty="0">
                <a:solidFill>
                  <a:srgbClr val="CC0099"/>
                </a:solidFill>
              </a:rPr>
              <a:t>命令</a:t>
            </a:r>
            <a:r>
              <a:rPr lang="en-US" altLang="zh-CN" sz="2600" dirty="0">
                <a:solidFill>
                  <a:srgbClr val="CC0099"/>
                </a:solidFill>
              </a:rPr>
              <a:t>1   &amp;&amp;  </a:t>
            </a:r>
            <a:r>
              <a:rPr lang="zh-CN" altLang="en-US" sz="2600" dirty="0">
                <a:solidFill>
                  <a:srgbClr val="CC0099"/>
                </a:solidFill>
              </a:rPr>
              <a:t>命令</a:t>
            </a:r>
            <a:r>
              <a:rPr lang="en-US" altLang="zh-CN" sz="2600" dirty="0">
                <a:solidFill>
                  <a:srgbClr val="CC0099"/>
                </a:solidFill>
              </a:rPr>
              <a:t>2</a:t>
            </a:r>
          </a:p>
          <a:p>
            <a:pPr marL="552450" indent="-552450" eaLnBrk="1" hangingPunct="1">
              <a:buNone/>
              <a:defRPr/>
            </a:pPr>
            <a:r>
              <a:rPr lang="zh-CN" altLang="en-US" sz="2600" dirty="0"/>
              <a:t>含义：“逻辑与”执行，</a:t>
            </a:r>
            <a:r>
              <a:rPr lang="zh-CN" altLang="en-US" sz="2600" dirty="0">
                <a:solidFill>
                  <a:srgbClr val="0000CC"/>
                </a:solidFill>
              </a:rPr>
              <a:t>若命令</a:t>
            </a:r>
            <a:r>
              <a:rPr lang="en-US" altLang="zh-CN" sz="2600" dirty="0">
                <a:solidFill>
                  <a:srgbClr val="0000CC"/>
                </a:solidFill>
              </a:rPr>
              <a:t>1</a:t>
            </a:r>
            <a:r>
              <a:rPr lang="zh-CN" altLang="en-US" sz="2600" dirty="0">
                <a:solidFill>
                  <a:srgbClr val="0000CC"/>
                </a:solidFill>
              </a:rPr>
              <a:t>执行成功则执行命令</a:t>
            </a:r>
            <a:r>
              <a:rPr lang="en-US" altLang="zh-CN" sz="2600" dirty="0">
                <a:solidFill>
                  <a:srgbClr val="0000CC"/>
                </a:solidFill>
              </a:rPr>
              <a:t>2;                </a:t>
            </a:r>
          </a:p>
          <a:p>
            <a:pPr marL="552450" indent="-552450" eaLnBrk="1" hangingPunct="1">
              <a:buNone/>
              <a:defRPr/>
            </a:pPr>
            <a:r>
              <a:rPr lang="en-US" altLang="zh-CN" sz="2600" dirty="0">
                <a:solidFill>
                  <a:srgbClr val="0000CC"/>
                </a:solidFill>
              </a:rPr>
              <a:t>              </a:t>
            </a:r>
            <a:r>
              <a:rPr lang="zh-CN" altLang="en-US" sz="2600" dirty="0">
                <a:solidFill>
                  <a:srgbClr val="0000CC"/>
                </a:solidFill>
              </a:rPr>
              <a:t>否则不执行命令</a:t>
            </a:r>
            <a:r>
              <a:rPr lang="en-US" altLang="zh-CN" sz="2600" dirty="0">
                <a:solidFill>
                  <a:srgbClr val="0000CC"/>
                </a:solidFill>
              </a:rPr>
              <a:t>2</a:t>
            </a:r>
            <a:r>
              <a:rPr lang="zh-CN" altLang="en-US" sz="2600" dirty="0"/>
              <a:t>。</a:t>
            </a: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9736706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命令执行控制符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589539"/>
            <a:ext cx="9793088" cy="4411662"/>
          </a:xfrm>
        </p:spPr>
        <p:txBody>
          <a:bodyPr/>
          <a:lstStyle/>
          <a:p>
            <a:pPr marL="552450" indent="-552450" eaLnBrk="1" hangingPunct="1">
              <a:lnSpc>
                <a:spcPct val="120000"/>
              </a:lnSpc>
              <a:buNone/>
              <a:defRPr/>
            </a:pPr>
            <a:r>
              <a:rPr lang="en-US" altLang="zh-CN" sz="2600" dirty="0">
                <a:solidFill>
                  <a:srgbClr val="0000CC"/>
                </a:solidFill>
              </a:rPr>
              <a:t>3. </a:t>
            </a:r>
            <a:r>
              <a:rPr lang="zh-CN" altLang="en-US" sz="2600" dirty="0">
                <a:solidFill>
                  <a:srgbClr val="0000CC"/>
                </a:solidFill>
              </a:rPr>
              <a:t>逻辑或（ </a:t>
            </a:r>
            <a:r>
              <a:rPr lang="en-US" altLang="zh-CN" sz="2600" dirty="0">
                <a:solidFill>
                  <a:srgbClr val="CC0099"/>
                </a:solidFill>
              </a:rPr>
              <a:t>|| </a:t>
            </a:r>
            <a:r>
              <a:rPr lang="zh-CN" altLang="en-US" sz="2600" dirty="0">
                <a:solidFill>
                  <a:srgbClr val="0000CC"/>
                </a:solidFill>
              </a:rPr>
              <a:t>）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552450" indent="-552450" eaLnBrk="1" hangingPunct="1">
              <a:lnSpc>
                <a:spcPct val="120000"/>
              </a:lnSpc>
              <a:buNone/>
              <a:defRPr/>
            </a:pPr>
            <a:r>
              <a:rPr lang="zh-CN" altLang="en-US" sz="2600" dirty="0"/>
              <a:t>格式：</a:t>
            </a:r>
            <a:r>
              <a:rPr lang="zh-CN" altLang="en-US" sz="2600" dirty="0">
                <a:solidFill>
                  <a:srgbClr val="CC0099"/>
                </a:solidFill>
              </a:rPr>
              <a:t>命令</a:t>
            </a:r>
            <a:r>
              <a:rPr lang="en-US" altLang="zh-CN" sz="2600" dirty="0">
                <a:solidFill>
                  <a:srgbClr val="CC0099"/>
                </a:solidFill>
              </a:rPr>
              <a:t>1 || </a:t>
            </a:r>
            <a:r>
              <a:rPr lang="zh-CN" altLang="en-US" sz="2600" dirty="0">
                <a:solidFill>
                  <a:srgbClr val="CC0099"/>
                </a:solidFill>
              </a:rPr>
              <a:t>命令</a:t>
            </a:r>
            <a:r>
              <a:rPr lang="en-US" altLang="zh-CN" sz="2600" dirty="0">
                <a:solidFill>
                  <a:srgbClr val="CC0099"/>
                </a:solidFill>
              </a:rPr>
              <a:t>2</a:t>
            </a:r>
          </a:p>
          <a:p>
            <a:pPr marL="552450" indent="-552450" eaLnBrk="1" hangingPunct="1">
              <a:lnSpc>
                <a:spcPct val="120000"/>
              </a:lnSpc>
              <a:buNone/>
              <a:defRPr/>
            </a:pPr>
            <a:r>
              <a:rPr lang="zh-CN" altLang="en-US" sz="2600" dirty="0">
                <a:solidFill>
                  <a:srgbClr val="CC0099"/>
                </a:solidFill>
              </a:rPr>
              <a:t>含义：</a:t>
            </a:r>
            <a:r>
              <a:rPr lang="zh-CN" altLang="en-US" sz="2600" dirty="0"/>
              <a:t>“逻辑或”执行，若命令</a:t>
            </a:r>
            <a:r>
              <a:rPr lang="en-US" altLang="zh-CN" sz="2600" dirty="0"/>
              <a:t>1</a:t>
            </a:r>
            <a:r>
              <a:rPr lang="zh-CN" altLang="en-US" sz="2600" dirty="0"/>
              <a:t>执行成功则不执行命 </a:t>
            </a:r>
            <a:endParaRPr lang="en-US" altLang="zh-CN" sz="2600" dirty="0"/>
          </a:p>
          <a:p>
            <a:pPr marL="552450" indent="-552450" eaLnBrk="1" hangingPunct="1">
              <a:lnSpc>
                <a:spcPct val="120000"/>
              </a:lnSpc>
              <a:buNone/>
              <a:defRPr/>
            </a:pPr>
            <a:r>
              <a:rPr lang="en-US" altLang="zh-CN" sz="2600" dirty="0"/>
              <a:t>              </a:t>
            </a:r>
            <a:r>
              <a:rPr lang="zh-CN" altLang="en-US" sz="2600" dirty="0"/>
              <a:t>令</a:t>
            </a:r>
            <a:r>
              <a:rPr lang="en-US" altLang="zh-CN" sz="2600" dirty="0"/>
              <a:t>2</a:t>
            </a:r>
            <a:r>
              <a:rPr lang="zh-CN" altLang="en-US" sz="2600" dirty="0"/>
              <a:t>； 否则继续执行命令</a:t>
            </a:r>
            <a:r>
              <a:rPr lang="en-US" altLang="zh-CN" sz="2600" dirty="0"/>
              <a:t>2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552450" indent="-552450" eaLnBrk="1" hangingPunct="1">
              <a:lnSpc>
                <a:spcPct val="120000"/>
              </a:lnSpc>
              <a:buNone/>
              <a:defRPr/>
            </a:pPr>
            <a:r>
              <a:rPr lang="en-US" altLang="zh-CN" sz="2600" dirty="0">
                <a:solidFill>
                  <a:srgbClr val="0000CC"/>
                </a:solidFill>
              </a:rPr>
              <a:t>4. </a:t>
            </a:r>
            <a:r>
              <a:rPr lang="zh-CN" altLang="en-US" sz="2600" dirty="0">
                <a:solidFill>
                  <a:srgbClr val="0000CC"/>
                </a:solidFill>
              </a:rPr>
              <a:t>后台命令（  </a:t>
            </a:r>
            <a:r>
              <a:rPr lang="en-US" altLang="zh-CN" sz="2600" dirty="0">
                <a:solidFill>
                  <a:srgbClr val="CC0099"/>
                </a:solidFill>
              </a:rPr>
              <a:t>&amp;</a:t>
            </a: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zh-CN" altLang="en-US" sz="2600" dirty="0">
                <a:solidFill>
                  <a:srgbClr val="0000CC"/>
                </a:solidFill>
              </a:rPr>
              <a:t>）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552450" indent="-552450" eaLnBrk="1" hangingPunct="1">
              <a:lnSpc>
                <a:spcPct val="120000"/>
              </a:lnSpc>
              <a:buNone/>
              <a:defRPr/>
            </a:pPr>
            <a:r>
              <a:rPr lang="zh-CN" altLang="en-US" sz="2600" dirty="0"/>
              <a:t>格式：</a:t>
            </a:r>
            <a:r>
              <a:rPr lang="zh-CN" altLang="en-US" sz="2600" dirty="0">
                <a:solidFill>
                  <a:srgbClr val="CC0099"/>
                </a:solidFill>
              </a:rPr>
              <a:t>命令</a:t>
            </a:r>
            <a:r>
              <a:rPr lang="en-US" altLang="zh-CN" sz="2600" dirty="0">
                <a:solidFill>
                  <a:srgbClr val="CC0099"/>
                </a:solidFill>
              </a:rPr>
              <a:t>   &amp;</a:t>
            </a:r>
          </a:p>
          <a:p>
            <a:pPr marL="552450" indent="-552450" eaLnBrk="1" hangingPunct="1">
              <a:lnSpc>
                <a:spcPct val="120000"/>
              </a:lnSpc>
              <a:buNone/>
              <a:defRPr/>
            </a:pPr>
            <a:r>
              <a:rPr lang="zh-CN" altLang="en-US" sz="2600" dirty="0">
                <a:solidFill>
                  <a:srgbClr val="CC0099"/>
                </a:solidFill>
              </a:rPr>
              <a:t>含义：</a:t>
            </a:r>
            <a:r>
              <a:rPr lang="zh-CN" altLang="en-US" sz="2600" dirty="0"/>
              <a:t>后台执行命令。</a:t>
            </a:r>
            <a:endParaRPr lang="en-US" altLang="zh-CN" sz="2600" dirty="0"/>
          </a:p>
          <a:p>
            <a:pPr marL="552450" indent="-552450" eaLnBrk="1" hangingPunct="1">
              <a:buNone/>
              <a:defRPr/>
            </a:pPr>
            <a:endParaRPr lang="en-US" altLang="zh-CN" sz="2400" dirty="0">
              <a:solidFill>
                <a:srgbClr val="CC0099"/>
              </a:solidFill>
            </a:endParaRPr>
          </a:p>
          <a:p>
            <a:pPr marL="552450" indent="-552450" eaLnBrk="1" hangingPunct="1">
              <a:buNone/>
              <a:defRPr/>
            </a:pPr>
            <a:endParaRPr lang="zh-CN" altLang="en-US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699792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375148"/>
            <a:ext cx="10009112" cy="486216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600" dirty="0"/>
              <a:t>当一个字符串配括在</a:t>
            </a:r>
            <a:r>
              <a:rPr lang="zh-CN" altLang="en-US" sz="2600" dirty="0">
                <a:solidFill>
                  <a:srgbClr val="0000CC"/>
                </a:solidFill>
              </a:rPr>
              <a:t>反撇号 </a:t>
            </a:r>
            <a:r>
              <a:rPr lang="zh-CN" altLang="en-US" sz="2600" dirty="0"/>
              <a:t>“ </a:t>
            </a:r>
            <a:r>
              <a:rPr lang="en-US" altLang="zh-CN" sz="3600" dirty="0">
                <a:solidFill>
                  <a:srgbClr val="CC0099"/>
                </a:solidFill>
              </a:rPr>
              <a:t>`</a:t>
            </a:r>
            <a:r>
              <a:rPr lang="en-US" altLang="zh-CN" sz="2600" dirty="0"/>
              <a:t> </a:t>
            </a:r>
            <a:r>
              <a:rPr lang="en-US" altLang="zh-CN" sz="2600" dirty="0">
                <a:latin typeface="+mn-ea"/>
              </a:rPr>
              <a:t>”</a:t>
            </a:r>
            <a:r>
              <a:rPr lang="zh-CN" altLang="en-US" sz="2600" dirty="0"/>
              <a:t>中时，该字符串将先被</a:t>
            </a:r>
            <a:r>
              <a:rPr lang="en-US" altLang="zh-CN" sz="2600" dirty="0"/>
              <a:t>Shell</a:t>
            </a:r>
            <a:r>
              <a:rPr lang="zh-CN" altLang="en-US" sz="2600" dirty="0"/>
              <a:t>作为命令解释执行，然后用命令执行后的输出结果替换 </a:t>
            </a:r>
            <a:r>
              <a:rPr lang="en-US" altLang="zh-CN" sz="2600" dirty="0"/>
              <a:t>`</a:t>
            </a:r>
            <a:r>
              <a:rPr lang="zh-CN" altLang="en-US" sz="2600" dirty="0"/>
              <a:t>字符串</a:t>
            </a:r>
            <a:r>
              <a:rPr lang="en-US" altLang="zh-CN" sz="2600" dirty="0"/>
              <a:t>` 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/>
              <a:t>例如，将一个</a:t>
            </a:r>
            <a:r>
              <a:rPr lang="en-US" altLang="zh-CN" sz="2600" dirty="0"/>
              <a:t>Shell</a:t>
            </a:r>
            <a:r>
              <a:rPr lang="zh-CN" altLang="en-US" sz="2600" dirty="0"/>
              <a:t>命令的输出作为另一个命令的参数：</a:t>
            </a:r>
            <a:endParaRPr lang="en-US" altLang="zh-CN" sz="26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/>
              <a:t> </a:t>
            </a:r>
            <a:r>
              <a:rPr lang="en-US" altLang="zh-CN" sz="2100" dirty="0"/>
              <a:t>[root@localhost ~ ]#  echo  </a:t>
            </a:r>
            <a:r>
              <a:rPr lang="zh-CN" altLang="en-US" sz="2100" dirty="0"/>
              <a:t>“</a:t>
            </a:r>
            <a:r>
              <a:rPr lang="en-US" altLang="zh-CN" sz="2100" dirty="0"/>
              <a:t>Now my work directory is `</a:t>
            </a:r>
            <a:r>
              <a:rPr lang="en-US" altLang="zh-CN" sz="2100" dirty="0" err="1"/>
              <a:t>pwd</a:t>
            </a:r>
            <a:r>
              <a:rPr lang="en-US" altLang="zh-CN" sz="2100" dirty="0"/>
              <a:t>` ”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/>
              <a:t>Now my work directory is  </a:t>
            </a:r>
            <a:r>
              <a:rPr lang="en-US" altLang="zh-CN" sz="2200" dirty="0">
                <a:solidFill>
                  <a:srgbClr val="CC0099"/>
                </a:solidFill>
              </a:rPr>
              <a:t>/root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/>
              <a:t>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 time=`date`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/>
              <a:t>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 echo $time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200" dirty="0"/>
              <a:t>2024</a:t>
            </a:r>
            <a:r>
              <a:rPr lang="zh-CN" altLang="en-US" sz="2200" dirty="0"/>
              <a:t>年  </a:t>
            </a:r>
            <a:r>
              <a:rPr lang="en-US" altLang="zh-CN" sz="2200" dirty="0"/>
              <a:t>4</a:t>
            </a:r>
            <a:r>
              <a:rPr lang="zh-CN" altLang="en-US" sz="2200" dirty="0"/>
              <a:t>月 </a:t>
            </a:r>
            <a:r>
              <a:rPr lang="en-US" altLang="zh-CN" sz="2200" dirty="0"/>
              <a:t>20</a:t>
            </a:r>
            <a:r>
              <a:rPr lang="zh-CN" altLang="en-US" sz="2200" dirty="0"/>
              <a:t>日   星期六   </a:t>
            </a:r>
            <a:r>
              <a:rPr lang="en-US" altLang="zh-CN" sz="2200" dirty="0"/>
              <a:t>13:52:25   CST</a:t>
            </a:r>
            <a:endParaRPr lang="zh-CN" altLang="en-US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820476" y="499631"/>
            <a:ext cx="8668012" cy="858837"/>
          </a:xfrm>
        </p:spPr>
        <p:txBody>
          <a:bodyPr/>
          <a:lstStyle/>
          <a:p>
            <a:pPr eaLnBrk="1" hangingPunct="1"/>
            <a:r>
              <a:rPr lang="zh-CN" altLang="en-US" dirty="0"/>
              <a:t>命令替换符</a:t>
            </a:r>
          </a:p>
        </p:txBody>
      </p:sp>
    </p:spTree>
    <p:extLst>
      <p:ext uri="{BB962C8B-B14F-4D97-AF65-F5344CB8AC3E}">
        <p14:creationId xmlns:p14="http://schemas.microsoft.com/office/powerpoint/2010/main" val="495202031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625947"/>
            <a:ext cx="10058400" cy="858837"/>
          </a:xfrm>
        </p:spPr>
        <p:txBody>
          <a:bodyPr/>
          <a:lstStyle/>
          <a:p>
            <a:r>
              <a:rPr lang="en-US" altLang="zh-CN" dirty="0">
                <a:ea typeface="黑体" pitchFamily="49" charset="-122"/>
              </a:rPr>
              <a:t>9.3  </a:t>
            </a:r>
            <a:r>
              <a:rPr lang="en-US" altLang="zh-CN" dirty="0"/>
              <a:t>shell</a:t>
            </a:r>
            <a:r>
              <a:rPr lang="zh-CN" altLang="en-US" dirty="0">
                <a:ea typeface="黑体" pitchFamily="49" charset="-122"/>
              </a:rPr>
              <a:t>变量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563678"/>
            <a:ext cx="9925744" cy="484371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600" dirty="0"/>
              <a:t>Shell</a:t>
            </a:r>
            <a:r>
              <a:rPr lang="zh-CN" altLang="en-US" sz="2600" dirty="0"/>
              <a:t>提供了定义和使用变量的功能。用户可以将一些常用的数据存放在</a:t>
            </a:r>
            <a:r>
              <a:rPr lang="en-US" altLang="zh-CN" sz="2600" dirty="0"/>
              <a:t>Shell</a:t>
            </a:r>
            <a:r>
              <a:rPr lang="zh-CN" altLang="en-US" sz="2600" dirty="0"/>
              <a:t>变量中，并在命令行中引用这些变量。</a:t>
            </a:r>
            <a:endParaRPr lang="en-US" altLang="zh-CN" sz="2600" dirty="0"/>
          </a:p>
          <a:p>
            <a:pPr eaLnBrk="1" hangingPunct="1">
              <a:defRPr/>
            </a:pPr>
            <a:r>
              <a:rPr lang="zh-CN" altLang="en-US" sz="2600" dirty="0"/>
              <a:t>变量分类</a:t>
            </a:r>
            <a:r>
              <a:rPr lang="en-US" altLang="zh-CN" sz="2600" dirty="0"/>
              <a:t>:</a:t>
            </a:r>
            <a:r>
              <a:rPr lang="zh-CN" altLang="en-US" sz="2600" dirty="0">
                <a:solidFill>
                  <a:srgbClr val="0000CC"/>
                </a:solidFill>
              </a:rPr>
              <a:t>环境变量</a:t>
            </a:r>
            <a:r>
              <a:rPr lang="zh-CN" altLang="en-US" sz="2600" dirty="0"/>
              <a:t>、</a:t>
            </a:r>
            <a:r>
              <a:rPr lang="zh-CN" altLang="en-US" sz="2600" dirty="0">
                <a:solidFill>
                  <a:srgbClr val="0000CC"/>
                </a:solidFill>
              </a:rPr>
              <a:t>系统变量</a:t>
            </a:r>
            <a:r>
              <a:rPr lang="zh-CN" altLang="en-US" sz="2600" dirty="0"/>
              <a:t>、</a:t>
            </a:r>
            <a:r>
              <a:rPr lang="zh-CN" altLang="en-US" sz="2600" dirty="0">
                <a:solidFill>
                  <a:srgbClr val="0000CC"/>
                </a:solidFill>
              </a:rPr>
              <a:t>用户变量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lvl="1" eaLnBrk="1" hangingPunct="1">
              <a:defRPr/>
            </a:pPr>
            <a:r>
              <a:rPr lang="zh-CN" altLang="en-US" dirty="0">
                <a:solidFill>
                  <a:srgbClr val="0000CC"/>
                </a:solidFill>
              </a:rPr>
              <a:t>环境变量</a:t>
            </a:r>
            <a:r>
              <a:rPr lang="zh-CN" altLang="en-US" dirty="0"/>
              <a:t>是为系统内核、系统命令和应用程序提供运行环境而设定的变量，当</a:t>
            </a:r>
            <a:r>
              <a:rPr lang="en-US" altLang="zh-CN" dirty="0"/>
              <a:t>Shell</a:t>
            </a:r>
            <a:r>
              <a:rPr lang="zh-CN" altLang="en-US" dirty="0"/>
              <a:t>程序启动时，由系统</a:t>
            </a:r>
            <a:r>
              <a:rPr lang="zh-CN" altLang="en-US" dirty="0">
                <a:solidFill>
                  <a:srgbClr val="CC0099"/>
                </a:solidFill>
              </a:rPr>
              <a:t>自动设置，可以修改</a:t>
            </a:r>
            <a:r>
              <a:rPr lang="zh-CN" altLang="en-US" dirty="0"/>
              <a:t>，环境变量不随</a:t>
            </a:r>
            <a:r>
              <a:rPr lang="en-US" altLang="zh-CN" dirty="0"/>
              <a:t>Shell</a:t>
            </a:r>
            <a:r>
              <a:rPr lang="zh-CN" altLang="en-US" dirty="0"/>
              <a:t>程序的结束而消失。</a:t>
            </a:r>
            <a:endParaRPr lang="en-US" altLang="zh-CN" dirty="0"/>
          </a:p>
          <a:p>
            <a:pPr lvl="1" eaLnBrk="1" hangingPunct="1">
              <a:defRPr/>
            </a:pPr>
            <a:r>
              <a:rPr lang="zh-CN" altLang="en-US" dirty="0"/>
              <a:t>环境变量定义在如</a:t>
            </a:r>
            <a:r>
              <a:rPr lang="en-US" altLang="zh-CN" dirty="0"/>
              <a:t>/</a:t>
            </a:r>
            <a:r>
              <a:rPr lang="en-US" altLang="zh-CN" dirty="0" err="1"/>
              <a:t>etc</a:t>
            </a:r>
            <a:r>
              <a:rPr lang="en-US" altLang="zh-CN" dirty="0"/>
              <a:t>/profile</a:t>
            </a:r>
            <a:r>
              <a:rPr lang="zh-CN" altLang="en-US" dirty="0"/>
              <a:t>等的</a:t>
            </a:r>
            <a:r>
              <a:rPr lang="en-US" altLang="zh-CN" dirty="0"/>
              <a:t>Shell</a:t>
            </a:r>
            <a:r>
              <a:rPr lang="zh-CN" altLang="en-US" dirty="0"/>
              <a:t>启动配置文件中，下表列举了常用的环境变量：</a:t>
            </a: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626002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63552" y="498158"/>
            <a:ext cx="7992888" cy="785812"/>
          </a:xfrm>
        </p:spPr>
        <p:txBody>
          <a:bodyPr/>
          <a:lstStyle/>
          <a:p>
            <a:pPr eaLnBrk="1" hangingPunct="1"/>
            <a:r>
              <a:rPr lang="zh-CN" altLang="en-US" dirty="0"/>
              <a:t>环境变量</a:t>
            </a:r>
          </a:p>
        </p:txBody>
      </p:sp>
      <p:graphicFrame>
        <p:nvGraphicFramePr>
          <p:cNvPr id="66644" name="Group 8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46803094"/>
              </p:ext>
            </p:extLst>
          </p:nvPr>
        </p:nvGraphicFramePr>
        <p:xfrm>
          <a:off x="1919537" y="1418808"/>
          <a:ext cx="8285163" cy="4602480"/>
        </p:xfrm>
        <a:graphic>
          <a:graphicData uri="http://schemas.openxmlformats.org/drawingml/2006/table">
            <a:tbl>
              <a:tblPr/>
              <a:tblGrid>
                <a:gridCol w="3025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6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变量名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说明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$HOME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设置用户默认的目录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$PATH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  <a:defRPr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设置命令搜索路径，以冒号分隔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$USER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、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$LOGNAME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用户登录名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$TERM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设置终端类型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$LD_LIBRARY_PATH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寻找库的路径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,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以冒号分隔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$SHELL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当前使用的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Shell,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也指出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Shell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的路径名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$PS1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系统提示符，特权用户是“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#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”，普通用户是“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”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$PS2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设置系统的次提示符，通常是‘</a:t>
                      </a: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&gt;’</a:t>
                      </a: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$IFS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Arial" charset="0"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输入区的分隔符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868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82416" y="407671"/>
            <a:ext cx="7211144" cy="858837"/>
          </a:xfrm>
        </p:spPr>
        <p:txBody>
          <a:bodyPr/>
          <a:lstStyle/>
          <a:p>
            <a:r>
              <a:rPr lang="zh-CN" altLang="en-US" dirty="0">
                <a:ea typeface="黑体" pitchFamily="49" charset="-122"/>
              </a:rPr>
              <a:t>系统变量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5440" y="1268760"/>
            <a:ext cx="10225136" cy="5256584"/>
          </a:xfrm>
        </p:spPr>
        <p:txBody>
          <a:bodyPr/>
          <a:lstStyle/>
          <a:p>
            <a:pPr eaLnBrk="1" hangingPunct="1">
              <a:lnSpc>
                <a:spcPct val="85000"/>
              </a:lnSpc>
              <a:defRPr/>
            </a:pPr>
            <a:r>
              <a:rPr lang="zh-CN" altLang="en-US" sz="2400" dirty="0">
                <a:solidFill>
                  <a:srgbClr val="0000CC"/>
                </a:solidFill>
              </a:rPr>
              <a:t>系统变量</a:t>
            </a:r>
            <a:r>
              <a:rPr lang="zh-CN" altLang="en-US" sz="2400" dirty="0"/>
              <a:t>也叫特殊变量，是由</a:t>
            </a:r>
            <a:r>
              <a:rPr lang="en-US" altLang="zh-CN" sz="2400" dirty="0"/>
              <a:t>Shell</a:t>
            </a:r>
            <a:r>
              <a:rPr lang="zh-CN" altLang="en-US" sz="2400" dirty="0"/>
              <a:t>自定义的一组变量，用于记录</a:t>
            </a:r>
            <a:r>
              <a:rPr lang="en-US" altLang="zh-CN" sz="2400" dirty="0"/>
              <a:t>Shell</a:t>
            </a:r>
            <a:r>
              <a:rPr lang="zh-CN" altLang="en-US" sz="2400" dirty="0"/>
              <a:t>当前运行状态的一些信息，如运行参数、进程号和命令退出状态等，用户可以引用这些变量，</a:t>
            </a:r>
            <a:r>
              <a:rPr lang="zh-CN" altLang="en-US" sz="2400" dirty="0">
                <a:solidFill>
                  <a:srgbClr val="CC0099"/>
                </a:solidFill>
              </a:rPr>
              <a:t>不能修改</a:t>
            </a:r>
            <a:r>
              <a:rPr lang="zh-CN" altLang="en-US" sz="2400" dirty="0"/>
              <a:t>。</a:t>
            </a:r>
            <a:r>
              <a:rPr lang="en-US" altLang="zh-CN" sz="2400" dirty="0"/>
              <a:t>Shell</a:t>
            </a:r>
            <a:r>
              <a:rPr lang="zh-CN" altLang="en-US" sz="2400" dirty="0"/>
              <a:t>常用的系统变量如下表：</a:t>
            </a:r>
          </a:p>
          <a:p>
            <a:pPr marL="0" indent="0" eaLnBrk="1" hangingPunct="1">
              <a:buNone/>
              <a:defRPr/>
            </a:pPr>
            <a:endParaRPr lang="en-US" altLang="zh-CN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262" y="2343170"/>
            <a:ext cx="772147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7256383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271464" y="1052737"/>
            <a:ext cx="9793088" cy="504055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vim  sysvar.sh</a:t>
            </a:r>
          </a:p>
          <a:p>
            <a:pPr marL="0" indent="0">
              <a:buNone/>
            </a:pPr>
            <a:r>
              <a:rPr lang="en-US" altLang="zh-CN" sz="2400" dirty="0"/>
              <a:t>#!/bin/bash</a:t>
            </a:r>
          </a:p>
          <a:p>
            <a:pPr marL="0" indent="0">
              <a:buNone/>
            </a:pPr>
            <a:r>
              <a:rPr lang="en-US" altLang="zh-CN" sz="2400" dirty="0"/>
              <a:t># this script explains how the system variable works</a:t>
            </a:r>
          </a:p>
          <a:p>
            <a:pPr marL="0" indent="0">
              <a:buNone/>
            </a:pPr>
            <a:r>
              <a:rPr lang="en-US" altLang="zh-CN" sz="2400" dirty="0"/>
              <a:t>echo “The name of this program is $0”</a:t>
            </a:r>
          </a:p>
          <a:p>
            <a:pPr marL="0" indent="0">
              <a:buNone/>
            </a:pPr>
            <a:r>
              <a:rPr lang="en-US" altLang="zh-CN" sz="2400" dirty="0"/>
              <a:t>echo “You’ve input $# parameters. They are $* ”</a:t>
            </a:r>
          </a:p>
          <a:p>
            <a:pPr marL="0" indent="0">
              <a:buNone/>
            </a:pPr>
            <a:r>
              <a:rPr lang="en-US" altLang="zh-CN" sz="2400" dirty="0"/>
              <a:t>echo “And the first one them is $1”</a:t>
            </a:r>
          </a:p>
          <a:p>
            <a:pPr marL="0" indent="0">
              <a:buNone/>
            </a:pPr>
            <a:r>
              <a:rPr lang="en-US" altLang="zh-CN" sz="2400" dirty="0"/>
              <a:t>echo “And the second one them is $2”</a:t>
            </a:r>
          </a:p>
          <a:p>
            <a:pPr marL="0" indent="0">
              <a:buNone/>
            </a:pPr>
            <a:r>
              <a:rPr lang="en-US" altLang="zh-CN" sz="2400" dirty="0"/>
              <a:t>echo “The </a:t>
            </a:r>
            <a:r>
              <a:rPr lang="en-US" altLang="zh-CN" sz="2400" dirty="0" err="1"/>
              <a:t>PID</a:t>
            </a:r>
            <a:r>
              <a:rPr lang="en-US" altLang="zh-CN" sz="2400" dirty="0"/>
              <a:t> of this program is $$”</a:t>
            </a:r>
          </a:p>
          <a:p>
            <a:pPr marL="0" indent="0">
              <a:buNone/>
            </a:pPr>
            <a:r>
              <a:rPr lang="en-US" altLang="zh-CN" sz="2400" dirty="0"/>
              <a:t>echo “…”</a:t>
            </a:r>
          </a:p>
          <a:p>
            <a:pPr marL="0" indent="0">
              <a:buNone/>
            </a:pPr>
            <a:r>
              <a:rPr lang="en-US" altLang="zh-CN" sz="2400" dirty="0"/>
              <a:t>echo  “You’ve </a:t>
            </a:r>
            <a:r>
              <a:rPr lang="en-US" altLang="zh-CN" sz="2400" dirty="0" err="1"/>
              <a:t>excuted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correctly,and</a:t>
            </a:r>
            <a:r>
              <a:rPr lang="en-US" altLang="zh-CN" sz="2400" dirty="0"/>
              <a:t> return code is $?”</a:t>
            </a:r>
          </a:p>
          <a:p>
            <a:pPr marL="0" indent="0">
              <a:buNone/>
            </a:pPr>
            <a:r>
              <a:rPr lang="zh-CN" altLang="en-US" sz="2400" dirty="0"/>
              <a:t>其输出如下：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14ACCD-D9C7-48A9-AF67-F346CBBA37A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635384" y="548680"/>
            <a:ext cx="7416824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+mn-ea"/>
                <a:ea typeface="+mn-ea"/>
              </a:rPr>
              <a:t>程序举例</a:t>
            </a:r>
            <a:r>
              <a:rPr lang="zh-CN" altLang="en-US" sz="2800" dirty="0"/>
              <a:t>：</a:t>
            </a:r>
            <a:r>
              <a:rPr lang="en-US" altLang="zh-CN" sz="2800" dirty="0"/>
              <a:t>sysvar.sh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918031549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084DEA-471D-469D-9A3D-16965F140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771634"/>
            <a:ext cx="10081120" cy="531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49427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系统变量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23256" y="1580371"/>
            <a:ext cx="9781728" cy="44116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CC"/>
                </a:solidFill>
              </a:rPr>
              <a:t>shift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  <a:r>
              <a:rPr lang="zh-CN" altLang="en-US" sz="2600" dirty="0"/>
              <a:t>用于移动位置参数，比如将</a:t>
            </a:r>
            <a:r>
              <a:rPr lang="en-US" altLang="zh-CN" sz="2600" dirty="0"/>
              <a:t>$2</a:t>
            </a:r>
            <a:r>
              <a:rPr lang="zh-CN" altLang="en-US" sz="2600" dirty="0"/>
              <a:t>中的内容移动到</a:t>
            </a:r>
            <a:r>
              <a:rPr lang="en-US" altLang="zh-CN" sz="2600" dirty="0"/>
              <a:t>$1</a:t>
            </a:r>
            <a:r>
              <a:rPr lang="zh-CN" altLang="en-US" sz="2600" dirty="0"/>
              <a:t>，</a:t>
            </a:r>
            <a:r>
              <a:rPr lang="en-US" altLang="zh-CN" sz="2600" dirty="0"/>
              <a:t>$3</a:t>
            </a:r>
            <a:r>
              <a:rPr lang="zh-CN" altLang="en-US" sz="2600" dirty="0"/>
              <a:t>中的内容移至</a:t>
            </a:r>
            <a:r>
              <a:rPr lang="en-US" altLang="zh-CN" sz="2600" dirty="0"/>
              <a:t>$2</a:t>
            </a:r>
            <a:r>
              <a:rPr lang="zh-CN" altLang="en-US" sz="2600" dirty="0"/>
              <a:t>，</a:t>
            </a:r>
            <a:r>
              <a:rPr lang="en-US" altLang="zh-CN" sz="2600" dirty="0"/>
              <a:t>$4</a:t>
            </a:r>
            <a:r>
              <a:rPr lang="zh-CN" altLang="en-US" sz="2600" dirty="0"/>
              <a:t>中的内容移至</a:t>
            </a:r>
            <a:r>
              <a:rPr lang="en-US" altLang="zh-CN" sz="2600" dirty="0"/>
              <a:t>$3</a:t>
            </a:r>
            <a:r>
              <a:rPr lang="zh-CN" altLang="en-US" sz="2600" dirty="0"/>
              <a:t>，以此类推</a:t>
            </a:r>
            <a:r>
              <a:rPr lang="en-US" altLang="zh-CN" sz="2600" dirty="0"/>
              <a:t>……</a:t>
            </a:r>
            <a:r>
              <a:rPr lang="zh-CN" altLang="en-US" sz="2600" dirty="0"/>
              <a:t>原来的</a:t>
            </a:r>
            <a:r>
              <a:rPr lang="en-US" altLang="zh-CN" sz="2600" dirty="0"/>
              <a:t>$1</a:t>
            </a:r>
            <a:r>
              <a:rPr lang="zh-CN" altLang="en-US" sz="2600" dirty="0"/>
              <a:t>、</a:t>
            </a:r>
            <a:r>
              <a:rPr lang="en-US" altLang="zh-CN" sz="2600" dirty="0"/>
              <a:t>$2</a:t>
            </a:r>
            <a:r>
              <a:rPr lang="zh-CN" altLang="en-US" sz="2600" dirty="0"/>
              <a:t>、</a:t>
            </a:r>
            <a:r>
              <a:rPr lang="en-US" altLang="zh-CN" sz="2600" dirty="0"/>
              <a:t>$3</a:t>
            </a:r>
            <a:r>
              <a:rPr lang="zh-CN" altLang="en-US" sz="2600" dirty="0"/>
              <a:t>丢弃。但位置参数</a:t>
            </a:r>
            <a:r>
              <a:rPr lang="en-US" altLang="zh-CN" sz="2600" dirty="0"/>
              <a:t>$0</a:t>
            </a:r>
            <a:r>
              <a:rPr lang="zh-CN" altLang="en-US" sz="2600" dirty="0"/>
              <a:t>不参与移位。</a:t>
            </a:r>
            <a:endParaRPr lang="en-US" altLang="zh-CN" sz="2600" dirty="0"/>
          </a:p>
          <a:p>
            <a:pPr>
              <a:lnSpc>
                <a:spcPct val="150000"/>
              </a:lnSpc>
            </a:pPr>
            <a:r>
              <a:rPr lang="en-US" altLang="zh-CN" sz="2600" dirty="0"/>
              <a:t>shift</a:t>
            </a:r>
            <a:r>
              <a:rPr lang="zh-CN" altLang="en-US" sz="2600" dirty="0"/>
              <a:t>命令的格式</a:t>
            </a:r>
            <a:r>
              <a:rPr lang="en-US" altLang="zh-CN" sz="2600" dirty="0"/>
              <a:t>:  </a:t>
            </a:r>
            <a:r>
              <a:rPr lang="en-US" altLang="zh-CN" sz="2600" dirty="0">
                <a:solidFill>
                  <a:srgbClr val="0000CC"/>
                </a:solidFill>
              </a:rPr>
              <a:t>shift [ n 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600" dirty="0"/>
              <a:t>   </a:t>
            </a:r>
            <a:r>
              <a:rPr lang="zh-CN" altLang="en-US" sz="2600" dirty="0"/>
              <a:t>选项</a:t>
            </a:r>
            <a:r>
              <a:rPr lang="en-US" altLang="zh-CN" sz="2600" dirty="0"/>
              <a:t>n</a:t>
            </a:r>
            <a:r>
              <a:rPr lang="zh-CN" altLang="en-US" sz="2600" dirty="0"/>
              <a:t>表示向左移动参数的个数，默认为</a:t>
            </a:r>
            <a:r>
              <a:rPr lang="en-US" altLang="zh-CN" sz="2600" dirty="0"/>
              <a:t>1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14ACCD-D9C7-48A9-AF67-F346CBBA37AF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61318756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1464" y="836712"/>
            <a:ext cx="9793088" cy="5400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vim  movelab1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#!/bin/bash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# this program show 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$1,$2,$3,$4,$5,$6,$6,$7,$8,$9;shift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$1,$2,$3,$4,$5,$6,$6,$7,$8,$9;shift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$1,$2,$3,$4,$5,$6,$6,$7,$8,$9;shift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$1,$2,$3,$4,$5,$6,$6,$7,$8,$9;shift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$1,$2,$3,$4,$5,$6,$6,$7,$8,$9;shift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$1,$2,$3,$4,$5,$6,$6,$7,$8,$9;shift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$1,$2,$3,$4,$5,$6,$6,$7,$8,$9;shift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$1,$2,$3,$4,$5,$6,$6,$7,$8,$9;shift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echo $1,$2,$3,$4,$5,$6,$6,$7,$8,$9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131343" y="455910"/>
            <a:ext cx="5929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+mn-ea"/>
                <a:ea typeface="+mn-ea"/>
              </a:rPr>
              <a:t>程序举例</a:t>
            </a:r>
            <a:r>
              <a:rPr lang="zh-CN" altLang="en-US" sz="2800" dirty="0"/>
              <a:t>：</a:t>
            </a:r>
            <a:r>
              <a:rPr lang="en-US" altLang="zh-CN" sz="2800" dirty="0"/>
              <a:t>movelab1</a:t>
            </a:r>
            <a:endParaRPr lang="zh-CN" altLang="en-US" sz="2800" dirty="0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231904" y="6356176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9488055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450A4B-4658-4AF2-A8B3-A515CCE5F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637367"/>
            <a:ext cx="10052789" cy="5196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41161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550" y="510952"/>
            <a:ext cx="7345363" cy="685800"/>
          </a:xfrm>
        </p:spPr>
        <p:txBody>
          <a:bodyPr/>
          <a:lstStyle/>
          <a:p>
            <a:pPr eaLnBrk="1" hangingPunct="1"/>
            <a:r>
              <a:rPr lang="zh-CN" altLang="en-US" dirty="0"/>
              <a:t>用户变量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196752"/>
            <a:ext cx="10297144" cy="5472608"/>
          </a:xfrm>
        </p:spPr>
        <p:txBody>
          <a:bodyPr/>
          <a:lstStyle/>
          <a:p>
            <a:pPr marL="552450" indent="-552450" eaLnBrk="1" hangingPunct="1">
              <a:lnSpc>
                <a:spcPct val="90000"/>
              </a:lnSpc>
              <a:buNone/>
              <a:defRPr/>
            </a:pPr>
            <a:r>
              <a:rPr lang="en-US" altLang="zh-CN" sz="2600" dirty="0"/>
              <a:t>1. </a:t>
            </a:r>
            <a:r>
              <a:rPr lang="zh-CN" altLang="en-US" sz="2600" dirty="0">
                <a:solidFill>
                  <a:srgbClr val="0000CC"/>
                </a:solidFill>
              </a:rPr>
              <a:t>变量名</a:t>
            </a:r>
          </a:p>
          <a:p>
            <a:pPr marL="998538" lvl="1" indent="-476250" eaLnBrk="1" hangingPunct="1">
              <a:lnSpc>
                <a:spcPct val="90000"/>
              </a:lnSpc>
              <a:defRPr/>
            </a:pPr>
            <a:r>
              <a:rPr lang="zh-CN" altLang="en-US" dirty="0"/>
              <a:t>命令规则：以字母或下划线开头，由字母、数字、下划线组成，</a:t>
            </a:r>
            <a:r>
              <a:rPr lang="zh-CN" altLang="en-US" dirty="0">
                <a:solidFill>
                  <a:srgbClr val="0000CC"/>
                </a:solidFill>
              </a:rPr>
              <a:t>第一个字符不能为数字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CC"/>
                </a:solidFill>
              </a:rPr>
              <a:t>变量名区分大小写</a:t>
            </a:r>
            <a:r>
              <a:rPr lang="zh-CN" altLang="en-US" dirty="0"/>
              <a:t>。</a:t>
            </a:r>
          </a:p>
          <a:p>
            <a:pPr marL="552450" indent="-552450" eaLnBrk="1" hangingPunct="1">
              <a:lnSpc>
                <a:spcPct val="90000"/>
              </a:lnSpc>
              <a:buNone/>
              <a:defRPr/>
            </a:pPr>
            <a:r>
              <a:rPr lang="en-US" altLang="zh-CN" sz="2600" dirty="0"/>
              <a:t>2. </a:t>
            </a:r>
            <a:r>
              <a:rPr lang="zh-CN" altLang="en-US" sz="2600" dirty="0">
                <a:solidFill>
                  <a:srgbClr val="0000CC"/>
                </a:solidFill>
              </a:rPr>
              <a:t>变量赋值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552450" indent="-552450" eaLnBrk="1" hangingPunct="1">
              <a:lnSpc>
                <a:spcPct val="90000"/>
              </a:lnSpc>
              <a:buNone/>
              <a:defRPr/>
            </a:pPr>
            <a:r>
              <a:rPr lang="en-US" altLang="zh-CN" sz="2600" dirty="0"/>
              <a:t>Shell</a:t>
            </a:r>
            <a:r>
              <a:rPr lang="zh-CN" altLang="en-US" sz="2600" dirty="0"/>
              <a:t>下的变量无需声明，赋值的同时即声明了变量。</a:t>
            </a:r>
          </a:p>
          <a:p>
            <a:pPr marL="998538" lvl="1" indent="-476250" eaLnBrk="1" hangingPunct="1">
              <a:lnSpc>
                <a:spcPct val="90000"/>
              </a:lnSpc>
              <a:defRPr/>
            </a:pPr>
            <a:r>
              <a:rPr lang="zh-CN" altLang="en-US" dirty="0"/>
              <a:t>格式：</a:t>
            </a:r>
          </a:p>
          <a:p>
            <a:pPr lvl="2" indent="0" eaLnBrk="1" hangingPunct="1">
              <a:lnSpc>
                <a:spcPct val="90000"/>
              </a:lnSpc>
              <a:buNone/>
              <a:defRPr/>
            </a:pPr>
            <a:r>
              <a:rPr lang="zh-CN" altLang="en-US" sz="2600" dirty="0">
                <a:solidFill>
                  <a:srgbClr val="0000CC"/>
                </a:solidFill>
              </a:rPr>
              <a:t>变量名＝变量值</a:t>
            </a:r>
            <a:endParaRPr lang="en-US" altLang="zh-CN" sz="2900" dirty="0">
              <a:solidFill>
                <a:srgbClr val="0000CC"/>
              </a:solidFill>
            </a:endParaRPr>
          </a:p>
          <a:p>
            <a:pPr indent="0" eaLnBrk="1" hangingPunct="1">
              <a:lnSpc>
                <a:spcPct val="90000"/>
              </a:lnSpc>
              <a:buNone/>
              <a:defRPr/>
            </a:pPr>
            <a:r>
              <a:rPr lang="zh-CN" altLang="en-US" sz="2600" dirty="0"/>
              <a:t>例如：</a:t>
            </a:r>
            <a:r>
              <a:rPr lang="en-US" altLang="zh-CN" sz="2600" dirty="0"/>
              <a:t>x=6</a:t>
            </a:r>
          </a:p>
          <a:p>
            <a:pPr indent="0" eaLnBrk="1" hangingPunct="1">
              <a:lnSpc>
                <a:spcPct val="90000"/>
              </a:lnSpc>
              <a:buNone/>
              <a:defRPr/>
            </a:pPr>
            <a:r>
              <a:rPr lang="en-US" altLang="zh-CN" sz="2600" dirty="0"/>
              <a:t>           a="hello world"</a:t>
            </a:r>
          </a:p>
          <a:p>
            <a:pPr marL="998538" lvl="1" indent="-476250" eaLnBrk="1" hangingPunct="1">
              <a:lnSpc>
                <a:spcPct val="90000"/>
              </a:lnSpc>
              <a:defRPr/>
            </a:pPr>
            <a:r>
              <a:rPr lang="zh-CN" altLang="en-US" dirty="0">
                <a:solidFill>
                  <a:srgbClr val="0000CC"/>
                </a:solidFill>
              </a:rPr>
              <a:t>注意</a:t>
            </a:r>
            <a:r>
              <a:rPr lang="zh-CN" altLang="en-US" dirty="0"/>
              <a:t>：赋值号</a:t>
            </a:r>
            <a:r>
              <a:rPr lang="zh-CN" altLang="en-US" dirty="0">
                <a:solidFill>
                  <a:srgbClr val="CC0099"/>
                </a:solidFill>
              </a:rPr>
              <a:t>两边不能有空格</a:t>
            </a:r>
            <a:r>
              <a:rPr lang="zh-CN" altLang="en-US" dirty="0"/>
              <a:t>，如果字符串中含有空格，应用引号将字符串括起来。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66417213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2477566" y="620688"/>
            <a:ext cx="7722890" cy="685800"/>
          </a:xfrm>
        </p:spPr>
        <p:txBody>
          <a:bodyPr/>
          <a:lstStyle/>
          <a:p>
            <a:pPr eaLnBrk="1" hangingPunct="1"/>
            <a:r>
              <a:rPr lang="zh-CN" altLang="en-US" dirty="0"/>
              <a:t>用户变量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27448" y="1433264"/>
            <a:ext cx="10153128" cy="4804048"/>
          </a:xfrm>
        </p:spPr>
        <p:txBody>
          <a:bodyPr/>
          <a:lstStyle/>
          <a:p>
            <a:pPr marL="552450" indent="-552450" eaLnBrk="1" hangingPunct="1">
              <a:lnSpc>
                <a:spcPct val="90000"/>
              </a:lnSpc>
              <a:buNone/>
              <a:defRPr/>
            </a:pPr>
            <a:r>
              <a:rPr lang="en-US" altLang="zh-CN" sz="2600" dirty="0"/>
              <a:t>3. </a:t>
            </a:r>
            <a:r>
              <a:rPr lang="zh-CN" altLang="en-US" sz="2600" dirty="0">
                <a:solidFill>
                  <a:srgbClr val="0000CC"/>
                </a:solidFill>
              </a:rPr>
              <a:t>引用变量值</a:t>
            </a:r>
          </a:p>
          <a:p>
            <a:pPr marL="998538" lvl="1" indent="-476250" eaLnBrk="1" hangingPunct="1">
              <a:lnSpc>
                <a:spcPct val="90000"/>
              </a:lnSpc>
              <a:defRPr/>
            </a:pPr>
            <a:r>
              <a:rPr lang="zh-CN" altLang="en-US" dirty="0"/>
              <a:t>访问</a:t>
            </a:r>
            <a:r>
              <a:rPr lang="en-US" altLang="zh-CN" dirty="0"/>
              <a:t>shell</a:t>
            </a:r>
            <a:r>
              <a:rPr lang="zh-CN" altLang="en-US" dirty="0"/>
              <a:t>变量的值，必须在变量名前面加</a:t>
            </a:r>
            <a:r>
              <a:rPr lang="en-US" altLang="zh-CN" dirty="0">
                <a:solidFill>
                  <a:srgbClr val="CC0099"/>
                </a:solidFill>
              </a:rPr>
              <a:t>$</a:t>
            </a:r>
            <a:r>
              <a:rPr lang="zh-CN" altLang="en-US" dirty="0"/>
              <a:t>符号：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0000CC"/>
                </a:solidFill>
              </a:rPr>
              <a:t>$</a:t>
            </a:r>
            <a:r>
              <a:rPr lang="zh-CN" altLang="en-US" dirty="0">
                <a:solidFill>
                  <a:srgbClr val="0000CC"/>
                </a:solidFill>
              </a:rPr>
              <a:t>变量名  或</a:t>
            </a:r>
            <a:r>
              <a:rPr lang="en-US" altLang="zh-CN" dirty="0">
                <a:solidFill>
                  <a:srgbClr val="0000CC"/>
                </a:solidFill>
              </a:rPr>
              <a:t>${ </a:t>
            </a:r>
            <a:r>
              <a:rPr lang="zh-CN" altLang="en-US" dirty="0">
                <a:solidFill>
                  <a:srgbClr val="0000CC"/>
                </a:solidFill>
              </a:rPr>
              <a:t>变量名 </a:t>
            </a:r>
            <a:r>
              <a:rPr lang="en-US" altLang="zh-CN" dirty="0">
                <a:solidFill>
                  <a:srgbClr val="0000CC"/>
                </a:solidFill>
              </a:rPr>
              <a:t>} </a:t>
            </a:r>
          </a:p>
          <a:p>
            <a:pPr marL="998538" lvl="1" indent="-476250" eaLnBrk="1" hangingPunct="1">
              <a:lnSpc>
                <a:spcPct val="90000"/>
              </a:lnSpc>
              <a:defRPr/>
            </a:pPr>
            <a:r>
              <a:rPr lang="zh-CN" altLang="en-US" dirty="0"/>
              <a:t>如果变量名包含在其他字符串中，这时就需要用</a:t>
            </a:r>
            <a:r>
              <a:rPr lang="en-US" altLang="zh-CN" dirty="0"/>
              <a:t>{ }</a:t>
            </a:r>
            <a:r>
              <a:rPr lang="zh-CN" altLang="en-US" dirty="0"/>
              <a:t>将变量名括起来。</a:t>
            </a:r>
            <a:endParaRPr lang="en-US" altLang="zh-CN" dirty="0"/>
          </a:p>
          <a:p>
            <a:pPr marL="998538" lvl="1" indent="-476250" eaLnBrk="1" hangingPunct="1">
              <a:lnSpc>
                <a:spcPct val="90000"/>
              </a:lnSpc>
              <a:defRPr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522288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 [</a:t>
            </a:r>
            <a:r>
              <a:rPr lang="en-US" altLang="zh-CN" dirty="0" err="1"/>
              <a:t>root@localhost</a:t>
            </a:r>
            <a:r>
              <a:rPr lang="en-US" altLang="zh-CN" dirty="0"/>
              <a:t> ~ ]#  a=good</a:t>
            </a:r>
          </a:p>
          <a:p>
            <a:pPr marL="522288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 [</a:t>
            </a:r>
            <a:r>
              <a:rPr lang="en-US" altLang="zh-CN" dirty="0" err="1"/>
              <a:t>root@localhost</a:t>
            </a:r>
            <a:r>
              <a:rPr lang="en-US" altLang="zh-CN" dirty="0"/>
              <a:t> ~ ]#  echo “${a}morning”</a:t>
            </a:r>
          </a:p>
          <a:p>
            <a:pPr marL="522288"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dirty="0"/>
              <a:t> </a:t>
            </a:r>
            <a:r>
              <a:rPr lang="en-US" altLang="zh-CN" dirty="0" err="1"/>
              <a:t>goodmorning</a:t>
            </a:r>
            <a:endParaRPr lang="en-US" altLang="zh-CN" dirty="0"/>
          </a:p>
          <a:p>
            <a:pPr marL="979488" lvl="1" indent="-457200" eaLnBrk="1" hangingPunct="1">
              <a:lnSpc>
                <a:spcPct val="90000"/>
              </a:lnSpc>
              <a:defRPr/>
            </a:pPr>
            <a:r>
              <a:rPr lang="zh-CN" altLang="en-US" dirty="0"/>
              <a:t>为了避免变量名混淆，建议总是使用</a:t>
            </a:r>
            <a:r>
              <a:rPr lang="en-US" altLang="zh-CN" dirty="0"/>
              <a:t>{ }</a:t>
            </a:r>
            <a:r>
              <a:rPr lang="zh-CN" altLang="en-US" dirty="0"/>
              <a:t>将变量名括起来。</a:t>
            </a:r>
          </a:p>
          <a:p>
            <a:pPr marL="979488" lvl="1" indent="-457200" eaLnBrk="1" hangingPunct="1">
              <a:defRPr/>
            </a:pPr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5866909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43472" y="1196752"/>
            <a:ext cx="9649072" cy="54726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/>
              <a:t>4. </a:t>
            </a:r>
            <a:r>
              <a:rPr lang="zh-CN" altLang="en-US" sz="2600" dirty="0">
                <a:solidFill>
                  <a:srgbClr val="0000CC"/>
                </a:solidFill>
              </a:rPr>
              <a:t>变量清除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buNone/>
            </a:pPr>
            <a:r>
              <a:rPr lang="zh-CN" altLang="en-US" sz="2600" dirty="0"/>
              <a:t>所设置的变量不需要时，可以清除。</a:t>
            </a:r>
            <a:endParaRPr lang="en-US" altLang="zh-CN" sz="2600" dirty="0"/>
          </a:p>
          <a:p>
            <a:pPr lvl="1"/>
            <a:r>
              <a:rPr lang="zh-CN" altLang="en-US" dirty="0">
                <a:solidFill>
                  <a:srgbClr val="0000CC"/>
                </a:solidFill>
              </a:rPr>
              <a:t>格式：   </a:t>
            </a:r>
            <a:r>
              <a:rPr lang="en-US" altLang="zh-CN" dirty="0">
                <a:solidFill>
                  <a:srgbClr val="0000CC"/>
                </a:solidFill>
              </a:rPr>
              <a:t>unset </a:t>
            </a:r>
            <a:r>
              <a:rPr lang="zh-CN" altLang="en-US" dirty="0">
                <a:solidFill>
                  <a:srgbClr val="0000CC"/>
                </a:solidFill>
              </a:rPr>
              <a:t>变量名</a:t>
            </a:r>
          </a:p>
          <a:p>
            <a:pPr marL="0" indent="0">
              <a:buNone/>
            </a:pPr>
            <a:r>
              <a:rPr lang="zh-CN" altLang="en-US" sz="2600" dirty="0"/>
              <a:t>例如：</a:t>
            </a:r>
            <a:endParaRPr lang="en-US" altLang="zh-CN" sz="2600" dirty="0"/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 [</a:t>
            </a:r>
            <a:r>
              <a:rPr lang="en-US" altLang="zh-CN" dirty="0" err="1"/>
              <a:t>root@localhost</a:t>
            </a:r>
            <a:r>
              <a:rPr lang="en-US" altLang="zh-CN" dirty="0"/>
              <a:t> ~ ]#  a=good</a:t>
            </a:r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 [</a:t>
            </a:r>
            <a:r>
              <a:rPr lang="en-US" altLang="zh-CN" dirty="0" err="1"/>
              <a:t>root@localhost</a:t>
            </a:r>
            <a:r>
              <a:rPr lang="en-US" altLang="zh-CN" dirty="0"/>
              <a:t> ~ ]#  echo “${a}morning”</a:t>
            </a:r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 </a:t>
            </a:r>
            <a:r>
              <a:rPr lang="en-US" altLang="zh-CN" dirty="0" err="1"/>
              <a:t>goodmorning</a:t>
            </a:r>
            <a:endParaRPr lang="en-US" altLang="zh-CN" dirty="0"/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 [</a:t>
            </a:r>
            <a:r>
              <a:rPr lang="en-US" altLang="zh-CN" dirty="0" err="1"/>
              <a:t>root@localhost</a:t>
            </a:r>
            <a:r>
              <a:rPr lang="en-US" altLang="zh-CN" dirty="0"/>
              <a:t> ~ ]#  unset  a</a:t>
            </a:r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 [</a:t>
            </a:r>
            <a:r>
              <a:rPr lang="en-US" altLang="zh-CN" dirty="0" err="1"/>
              <a:t>root@localhost</a:t>
            </a:r>
            <a:r>
              <a:rPr lang="en-US" altLang="zh-CN" dirty="0"/>
              <a:t> ~ ]#  echo “${a}morning”</a:t>
            </a:r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 morning</a:t>
            </a:r>
          </a:p>
          <a:p>
            <a:pPr marL="0" lvl="1" indent="0">
              <a:buClr>
                <a:schemeClr val="tx2"/>
              </a:buClr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sz="2600" dirty="0"/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0563069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用户变量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04442" y="1420574"/>
            <a:ext cx="9937104" cy="441166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/>
              <a:t>5. </a:t>
            </a:r>
            <a:r>
              <a:rPr lang="zh-CN" altLang="en-US" sz="2600" dirty="0">
                <a:solidFill>
                  <a:srgbClr val="0000CC"/>
                </a:solidFill>
              </a:rPr>
              <a:t>只读变量</a:t>
            </a:r>
            <a:endParaRPr lang="en-US" altLang="zh-CN" sz="2600" dirty="0"/>
          </a:p>
          <a:p>
            <a:pPr marL="0" indent="0">
              <a:buNone/>
            </a:pPr>
            <a:r>
              <a:rPr lang="zh-CN" altLang="en-US" sz="2600" dirty="0"/>
              <a:t>    如果赋值后不希望改变变量，使其类似常量，可以使用</a:t>
            </a:r>
            <a:r>
              <a:rPr lang="en-US" altLang="zh-CN" sz="2600" dirty="0" err="1"/>
              <a:t>readonly</a:t>
            </a:r>
            <a:r>
              <a:rPr lang="zh-CN" altLang="en-US" sz="2600" dirty="0"/>
              <a:t>命令将其设为只读。例如：</a:t>
            </a:r>
            <a:endParaRPr lang="en-US" altLang="zh-CN" sz="2600" dirty="0"/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 [</a:t>
            </a:r>
            <a:r>
              <a:rPr lang="en-US" altLang="zh-CN" dirty="0" err="1"/>
              <a:t>root@localhost</a:t>
            </a:r>
            <a:r>
              <a:rPr lang="en-US" altLang="zh-CN" dirty="0"/>
              <a:t> ~ ]#  a=good</a:t>
            </a:r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 [</a:t>
            </a:r>
            <a:r>
              <a:rPr lang="en-US" altLang="zh-CN" dirty="0" err="1"/>
              <a:t>root@localhost</a:t>
            </a:r>
            <a:r>
              <a:rPr lang="en-US" altLang="zh-CN" dirty="0"/>
              <a:t> ~ ]#  </a:t>
            </a:r>
            <a:r>
              <a:rPr lang="en-US" altLang="zh-CN" dirty="0" err="1"/>
              <a:t>readonly</a:t>
            </a:r>
            <a:r>
              <a:rPr lang="en-US" altLang="zh-CN" dirty="0"/>
              <a:t> a  </a:t>
            </a:r>
            <a:r>
              <a:rPr lang="en-US" altLang="zh-CN" sz="1800" dirty="0">
                <a:solidFill>
                  <a:srgbClr val="0000CC"/>
                </a:solidFill>
              </a:rPr>
              <a:t>//</a:t>
            </a:r>
            <a:r>
              <a:rPr lang="zh-CN" altLang="en-US" sz="1800" dirty="0">
                <a:solidFill>
                  <a:srgbClr val="0000CC"/>
                </a:solidFill>
              </a:rPr>
              <a:t>或直接在赋值时设为只读</a:t>
            </a:r>
            <a:endParaRPr lang="en-US" altLang="zh-CN" sz="1800" dirty="0">
              <a:solidFill>
                <a:srgbClr val="0000CC"/>
              </a:solidFill>
            </a:endParaRPr>
          </a:p>
          <a:p>
            <a:pPr marL="0" lvl="1" indent="0">
              <a:buClr>
                <a:schemeClr val="tx2"/>
              </a:buClr>
              <a:buNone/>
            </a:pPr>
            <a:r>
              <a:rPr lang="zh-CN" altLang="en-US" dirty="0"/>
              <a:t>此时，若要用</a:t>
            </a:r>
            <a:r>
              <a:rPr lang="en-US" altLang="zh-CN" dirty="0"/>
              <a:t>unset </a:t>
            </a:r>
            <a:r>
              <a:rPr lang="zh-CN" altLang="en-US" dirty="0"/>
              <a:t>清除变量</a:t>
            </a:r>
            <a:r>
              <a:rPr lang="en-US" altLang="zh-CN" dirty="0"/>
              <a:t>a</a:t>
            </a:r>
            <a:r>
              <a:rPr lang="zh-CN" altLang="en-US" dirty="0"/>
              <a:t>或者对</a:t>
            </a:r>
            <a:r>
              <a:rPr lang="en-US" altLang="zh-CN" dirty="0"/>
              <a:t>a</a:t>
            </a:r>
            <a:r>
              <a:rPr lang="zh-CN" altLang="en-US" dirty="0"/>
              <a:t>重新赋值，则会产生错误。</a:t>
            </a:r>
            <a:endParaRPr lang="en-US" altLang="zh-CN" dirty="0"/>
          </a:p>
          <a:p>
            <a:pPr marL="0" lvl="1" indent="0">
              <a:buClr>
                <a:schemeClr val="tx2"/>
              </a:buClr>
              <a:buNone/>
            </a:pPr>
            <a:r>
              <a:rPr lang="en-US" altLang="zh-CN" dirty="0"/>
              <a:t>6. </a:t>
            </a:r>
            <a:r>
              <a:rPr lang="zh-CN" altLang="en-US" dirty="0">
                <a:solidFill>
                  <a:srgbClr val="0000CC"/>
                </a:solidFill>
                <a:cs typeface="+mn-cs"/>
              </a:rPr>
              <a:t>局部变量</a:t>
            </a:r>
            <a:endParaRPr lang="en-US" altLang="zh-CN" dirty="0">
              <a:solidFill>
                <a:srgbClr val="0000CC"/>
              </a:solidFill>
              <a:cs typeface="+mn-cs"/>
            </a:endParaRPr>
          </a:p>
          <a:p>
            <a:pPr marL="0" lvl="1" indent="0">
              <a:buClr>
                <a:schemeClr val="tx2"/>
              </a:buClr>
              <a:buNone/>
            </a:pPr>
            <a:r>
              <a:rPr lang="zh-CN" altLang="en-US" dirty="0"/>
              <a:t>  </a:t>
            </a:r>
            <a:r>
              <a:rPr lang="en-US" altLang="zh-CN" dirty="0"/>
              <a:t>Shell</a:t>
            </a:r>
            <a:r>
              <a:rPr lang="zh-CN" altLang="en-US" dirty="0"/>
              <a:t>的变量默认为全局作用的，如果需要在一定范围内生效，则需要加上</a:t>
            </a:r>
            <a:r>
              <a:rPr lang="en-US" altLang="zh-CN" dirty="0"/>
              <a:t>local</a:t>
            </a:r>
            <a:r>
              <a:rPr lang="zh-CN" altLang="en-US" dirty="0"/>
              <a:t>限制，使用命令“</a:t>
            </a:r>
            <a:r>
              <a:rPr lang="en-US" altLang="zh-CN" dirty="0"/>
              <a:t>local a”</a:t>
            </a:r>
            <a:r>
              <a:rPr lang="zh-CN" altLang="en-US" dirty="0"/>
              <a:t>就将设置</a:t>
            </a:r>
            <a:r>
              <a:rPr lang="en-US" altLang="zh-CN" dirty="0"/>
              <a:t>a</a:t>
            </a:r>
            <a:r>
              <a:rPr lang="zh-CN" altLang="en-US" dirty="0"/>
              <a:t>为局部变量。</a:t>
            </a:r>
            <a:endParaRPr lang="en-US" altLang="zh-CN" dirty="0"/>
          </a:p>
          <a:p>
            <a:pPr marL="0" indent="0">
              <a:buNone/>
            </a:pPr>
            <a:endParaRPr lang="en-US" altLang="zh-CN" sz="2600" dirty="0"/>
          </a:p>
          <a:p>
            <a:pPr marL="0" indent="0">
              <a:buNone/>
            </a:pPr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8096085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FC2938B-AE3A-C7BE-FC54-AAB223EB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1228966"/>
            <a:ext cx="7632848" cy="4400068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2221539706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read</a:t>
            </a:r>
            <a:r>
              <a:rPr lang="zh-CN" altLang="en-US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9456" y="1484784"/>
            <a:ext cx="10058400" cy="441166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read </a:t>
            </a:r>
            <a:r>
              <a:rPr lang="zh-CN" altLang="en-US" sz="2600" dirty="0">
                <a:solidFill>
                  <a:srgbClr val="0000CC"/>
                </a:solidFill>
              </a:rPr>
              <a:t>命令 </a:t>
            </a:r>
          </a:p>
          <a:p>
            <a:pPr marL="0" indent="0">
              <a:buNone/>
            </a:pPr>
            <a:r>
              <a:rPr lang="zh-CN" altLang="en-US" sz="2600" dirty="0"/>
              <a:t>在</a:t>
            </a:r>
            <a:r>
              <a:rPr lang="en-US" altLang="zh-CN" sz="2600" dirty="0"/>
              <a:t>shell</a:t>
            </a:r>
            <a:r>
              <a:rPr lang="zh-CN" altLang="en-US" sz="2600" dirty="0"/>
              <a:t>程序设计中，变量的值可以作为字符串从键盘读入，然后赋给指定的变量。</a:t>
            </a:r>
          </a:p>
          <a:p>
            <a:pPr marL="0" indent="0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格式：</a:t>
            </a:r>
            <a:r>
              <a:rPr lang="en-US" altLang="zh-CN" sz="2600" dirty="0">
                <a:solidFill>
                  <a:srgbClr val="0000CC"/>
                </a:solidFill>
              </a:rPr>
              <a:t>read  </a:t>
            </a:r>
            <a:r>
              <a:rPr lang="zh-CN" altLang="en-US" sz="2600" dirty="0">
                <a:solidFill>
                  <a:srgbClr val="0000CC"/>
                </a:solidFill>
              </a:rPr>
              <a:t>变量</a:t>
            </a:r>
          </a:p>
          <a:p>
            <a:r>
              <a:rPr lang="zh-CN" altLang="en-US" sz="2600" dirty="0"/>
              <a:t>通常用在</a:t>
            </a:r>
            <a:r>
              <a:rPr lang="en-US" altLang="zh-CN" sz="2600" dirty="0"/>
              <a:t>shell</a:t>
            </a:r>
            <a:r>
              <a:rPr lang="zh-CN" altLang="en-US" sz="2600" dirty="0"/>
              <a:t>脚本中与用户进行交互的场合。该命令可以一次读取</a:t>
            </a:r>
            <a:r>
              <a:rPr lang="zh-CN" altLang="en-US" sz="2600" dirty="0">
                <a:solidFill>
                  <a:srgbClr val="CC0099"/>
                </a:solidFill>
              </a:rPr>
              <a:t>多个变量</a:t>
            </a:r>
            <a:r>
              <a:rPr lang="zh-CN" altLang="en-US" sz="2600" dirty="0"/>
              <a:t>的值，变量和输入的值都需要使用</a:t>
            </a:r>
            <a:r>
              <a:rPr lang="zh-CN" altLang="en-US" sz="2600" dirty="0">
                <a:solidFill>
                  <a:srgbClr val="CC0099"/>
                </a:solidFill>
              </a:rPr>
              <a:t>空格隔开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r>
              <a:rPr lang="zh-CN" altLang="en-US" sz="2600" dirty="0"/>
              <a:t>如果指定的变量名少于字段数量，则多出的字段数量分配给最后一个变量，如果指定的变量命令多于字段数量，则多出的变量赋值为空。</a:t>
            </a:r>
            <a:endParaRPr lang="en-US" altLang="zh-CN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8556240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9496" y="620688"/>
            <a:ext cx="9577064" cy="5904656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zh-CN" altLang="en-US" sz="2600" dirty="0"/>
              <a:t>例如：用</a:t>
            </a:r>
            <a:r>
              <a:rPr lang="en-US" altLang="zh-CN" sz="2600" dirty="0"/>
              <a:t>read</a:t>
            </a:r>
            <a:r>
              <a:rPr lang="zh-CN" altLang="en-US" sz="2600" dirty="0"/>
              <a:t>命令读入变量的值。</a:t>
            </a:r>
            <a:endParaRPr lang="en-US" altLang="zh-CN" sz="26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read var1 var2 var3 var4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1 22 333 4444 55555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echo $var1 $var2 $var3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1 22 333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echo $var4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4444 55555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read  var1 var2 var3 var4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1 22 333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echo $var1 $var2 $var3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1 22 333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echo $var4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</a:t>
            </a:r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0582636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271464" y="620688"/>
            <a:ext cx="972108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/>
            <a:r>
              <a:rPr lang="zh-CN" altLang="en-US" sz="2600" dirty="0">
                <a:latin typeface="+mn-ea"/>
                <a:ea typeface="+mn-ea"/>
              </a:rPr>
              <a:t>例如，向某人问好，以下为脚本内容：</a:t>
            </a:r>
            <a:endParaRPr lang="zh-CN" altLang="zh-CN" sz="2600" dirty="0">
              <a:latin typeface="+mn-ea"/>
              <a:ea typeface="+mn-ea"/>
            </a:endParaRPr>
          </a:p>
          <a:p>
            <a:pPr algn="l"/>
            <a:r>
              <a:rPr lang="zh-CN" altLang="zh-CN" sz="2600" dirty="0">
                <a:latin typeface="+mn-ea"/>
                <a:ea typeface="+mn-ea"/>
              </a:rPr>
              <a:t>vi</a:t>
            </a:r>
            <a:r>
              <a:rPr lang="en-US" altLang="zh-CN" sz="2600" dirty="0">
                <a:latin typeface="+mn-ea"/>
                <a:ea typeface="+mn-ea"/>
              </a:rPr>
              <a:t>m</a:t>
            </a:r>
            <a:r>
              <a:rPr lang="zh-CN" altLang="zh-CN" sz="2600" dirty="0">
                <a:latin typeface="+mn-ea"/>
                <a:ea typeface="+mn-ea"/>
              </a:rPr>
              <a:t> Hello.sh</a:t>
            </a:r>
          </a:p>
          <a:p>
            <a:pPr algn="l"/>
            <a:r>
              <a:rPr lang="en-US" altLang="zh-CN" sz="2600" dirty="0">
                <a:solidFill>
                  <a:schemeClr val="hlink"/>
                </a:solidFill>
                <a:latin typeface="+mn-ea"/>
                <a:ea typeface="+mn-ea"/>
              </a:rPr>
              <a:t>#!/bin/bash</a:t>
            </a:r>
          </a:p>
          <a:p>
            <a:pPr algn="l"/>
            <a:r>
              <a:rPr lang="en-US" altLang="zh-CN" sz="2600" dirty="0">
                <a:solidFill>
                  <a:schemeClr val="hlink"/>
                </a:solidFill>
                <a:latin typeface="+mn-ea"/>
                <a:ea typeface="+mn-ea"/>
              </a:rPr>
              <a:t>#To show hello to somebody</a:t>
            </a:r>
          </a:p>
          <a:p>
            <a:pPr algn="l"/>
            <a:r>
              <a:rPr lang="en-US" altLang="zh-CN" sz="2600" dirty="0">
                <a:solidFill>
                  <a:schemeClr val="hlink"/>
                </a:solidFill>
                <a:latin typeface="+mn-ea"/>
                <a:ea typeface="+mn-ea"/>
              </a:rPr>
              <a:t>echo -n “Enter Your Name:”</a:t>
            </a:r>
          </a:p>
          <a:p>
            <a:pPr algn="l"/>
            <a:r>
              <a:rPr lang="en-US" altLang="zh-CN" sz="2600" dirty="0">
                <a:solidFill>
                  <a:schemeClr val="hlink"/>
                </a:solidFill>
                <a:latin typeface="+mn-ea"/>
                <a:ea typeface="+mn-ea"/>
              </a:rPr>
              <a:t>read NAME</a:t>
            </a:r>
          </a:p>
          <a:p>
            <a:pPr algn="l"/>
            <a:r>
              <a:rPr lang="en-US" altLang="zh-CN" sz="2600" dirty="0">
                <a:solidFill>
                  <a:schemeClr val="hlink"/>
                </a:solidFill>
                <a:latin typeface="+mn-ea"/>
                <a:ea typeface="+mn-ea"/>
              </a:rPr>
              <a:t>echo “</a:t>
            </a:r>
            <a:r>
              <a:rPr lang="en-US" altLang="zh-CN" sz="2600" dirty="0" err="1">
                <a:solidFill>
                  <a:schemeClr val="hlink"/>
                </a:solidFill>
                <a:latin typeface="+mn-ea"/>
                <a:ea typeface="+mn-ea"/>
              </a:rPr>
              <a:t>Hello,$NAME</a:t>
            </a:r>
            <a:r>
              <a:rPr lang="en-US" altLang="zh-CN" sz="2600" dirty="0">
                <a:solidFill>
                  <a:schemeClr val="hlink"/>
                </a:solidFill>
                <a:latin typeface="+mn-ea"/>
                <a:ea typeface="+mn-ea"/>
              </a:rPr>
              <a:t>!”</a:t>
            </a:r>
            <a:endParaRPr lang="zh-CN" altLang="zh-CN" sz="2600" dirty="0">
              <a:latin typeface="+mn-ea"/>
              <a:ea typeface="+mn-ea"/>
            </a:endParaRPr>
          </a:p>
          <a:p>
            <a:pPr algn="l"/>
            <a:r>
              <a:rPr lang="zh-CN" altLang="zh-CN" sz="2600" dirty="0">
                <a:latin typeface="+mn-ea"/>
                <a:ea typeface="+mn-ea"/>
              </a:rPr>
              <a:t>保存，退出vi</a:t>
            </a:r>
            <a:r>
              <a:rPr lang="en-US" altLang="zh-CN" sz="2600" dirty="0">
                <a:latin typeface="+mn-ea"/>
                <a:ea typeface="+mn-ea"/>
              </a:rPr>
              <a:t>m</a:t>
            </a:r>
            <a:r>
              <a:rPr lang="zh-CN" altLang="zh-CN" sz="2600" dirty="0">
                <a:latin typeface="+mn-ea"/>
                <a:ea typeface="+mn-ea"/>
              </a:rPr>
              <a:t>编辑器。</a:t>
            </a:r>
          </a:p>
          <a:p>
            <a:pPr algn="l"/>
            <a:r>
              <a:rPr lang="zh-CN" altLang="zh-CN" sz="2600" dirty="0">
                <a:latin typeface="+mn-ea"/>
                <a:ea typeface="+mn-ea"/>
              </a:rPr>
              <a:t>为脚本添加可执行权限：</a:t>
            </a:r>
          </a:p>
          <a:p>
            <a:pPr algn="l"/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</a:t>
            </a:r>
            <a:r>
              <a:rPr lang="zh-CN" altLang="zh-CN" sz="2400" dirty="0">
                <a:latin typeface="+mn-ea"/>
                <a:ea typeface="+mn-ea"/>
              </a:rPr>
              <a:t>chmod +x Hello.sh</a:t>
            </a:r>
          </a:p>
          <a:p>
            <a:pPr algn="l"/>
            <a:r>
              <a:rPr lang="en-US" altLang="zh-CN" sz="2400" dirty="0"/>
              <a:t> 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</a:t>
            </a:r>
            <a:r>
              <a:rPr lang="en-US" altLang="zh-CN" sz="2400" dirty="0">
                <a:latin typeface="+mn-ea"/>
                <a:ea typeface="+mn-ea"/>
              </a:rPr>
              <a:t>./</a:t>
            </a:r>
            <a:r>
              <a:rPr lang="zh-CN" altLang="zh-CN" sz="2400" dirty="0">
                <a:latin typeface="+mn-ea"/>
                <a:ea typeface="+mn-ea"/>
              </a:rPr>
              <a:t>Hello.sh</a:t>
            </a:r>
            <a:endParaRPr lang="en-US" altLang="zh-CN" sz="2400" dirty="0">
              <a:latin typeface="+mn-ea"/>
              <a:ea typeface="+mn-ea"/>
            </a:endParaRPr>
          </a:p>
          <a:p>
            <a:pPr algn="l"/>
            <a:r>
              <a:rPr lang="en-US" altLang="zh-CN" sz="2400" dirty="0"/>
              <a:t>Enter Your Name: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46A438-049E-3941-0861-B876D4FEADFE}"/>
              </a:ext>
            </a:extLst>
          </p:cNvPr>
          <p:cNvSpPr txBox="1"/>
          <p:nvPr/>
        </p:nvSpPr>
        <p:spPr>
          <a:xfrm>
            <a:off x="4295800" y="4929559"/>
            <a:ext cx="64953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/>
              <a:t>lily</a:t>
            </a:r>
            <a:endParaRPr lang="zh-CN" altLang="en-US" sz="2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4FBA20-6327-86A9-E262-C16DE99A7C13}"/>
              </a:ext>
            </a:extLst>
          </p:cNvPr>
          <p:cNvSpPr txBox="1"/>
          <p:nvPr/>
        </p:nvSpPr>
        <p:spPr>
          <a:xfrm>
            <a:off x="1271464" y="5402540"/>
            <a:ext cx="166904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600" dirty="0" err="1"/>
              <a:t>Hello,lily</a:t>
            </a:r>
            <a:r>
              <a:rPr lang="en-US" altLang="zh-CN" sz="2600" dirty="0"/>
              <a:t>!</a:t>
            </a:r>
            <a:endParaRPr lang="zh-CN" altLang="zh-CN" sz="2600" dirty="0"/>
          </a:p>
        </p:txBody>
      </p:sp>
    </p:spTree>
    <p:extLst>
      <p:ext uri="{BB962C8B-B14F-4D97-AF65-F5344CB8AC3E}">
        <p14:creationId xmlns:p14="http://schemas.microsoft.com/office/powerpoint/2010/main" val="212876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9.4  Shell</a:t>
            </a:r>
            <a:r>
              <a:rPr lang="zh-CN" altLang="en-US" dirty="0"/>
              <a:t>表达式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628800"/>
            <a:ext cx="9577064" cy="468052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zh-CN" sz="2600" dirty="0"/>
              <a:t>Shell</a:t>
            </a:r>
            <a:r>
              <a:rPr lang="zh-CN" altLang="en-US" sz="2600" dirty="0"/>
              <a:t>语言支持表达式计算。</a:t>
            </a:r>
            <a:r>
              <a:rPr lang="en-US" altLang="zh-CN" sz="2600" dirty="0"/>
              <a:t>Shell</a:t>
            </a:r>
            <a:r>
              <a:rPr lang="zh-CN" altLang="en-US" sz="2600" dirty="0"/>
              <a:t>表达式主要有两种形式：</a:t>
            </a:r>
            <a:endParaRPr lang="en-US" altLang="zh-CN" sz="2600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dirty="0"/>
              <a:t>一种是用于数值计算的</a:t>
            </a:r>
            <a:r>
              <a:rPr lang="zh-CN" altLang="en-US" dirty="0">
                <a:solidFill>
                  <a:srgbClr val="0000CC"/>
                </a:solidFill>
              </a:rPr>
              <a:t>算术表达式</a:t>
            </a:r>
            <a:r>
              <a:rPr lang="zh-CN" altLang="en-US" dirty="0"/>
              <a:t>，其结果是数值；</a:t>
            </a:r>
            <a:endParaRPr lang="en-US" altLang="zh-CN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dirty="0"/>
              <a:t>另一种是用于进行条件测试或判断的</a:t>
            </a:r>
            <a:r>
              <a:rPr lang="zh-CN" altLang="en-US" dirty="0">
                <a:solidFill>
                  <a:srgbClr val="0000CC"/>
                </a:solidFill>
              </a:rPr>
              <a:t>逻辑表达式</a:t>
            </a:r>
            <a:r>
              <a:rPr lang="zh-CN" altLang="en-US" dirty="0"/>
              <a:t>，其结果是真假值。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059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算术运算表达式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1404" y="1562705"/>
            <a:ext cx="10729192" cy="51786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2600" dirty="0"/>
              <a:t>算术运算：</a:t>
            </a:r>
            <a:r>
              <a:rPr lang="en-US" altLang="zh-CN" sz="2600" dirty="0">
                <a:solidFill>
                  <a:srgbClr val="0000CC"/>
                </a:solidFill>
              </a:rPr>
              <a:t>expr</a:t>
            </a:r>
            <a:r>
              <a:rPr lang="zh-CN" altLang="en-US" sz="2600" dirty="0">
                <a:solidFill>
                  <a:srgbClr val="0000CC"/>
                </a:solidFill>
              </a:rPr>
              <a:t>命令</a:t>
            </a:r>
          </a:p>
          <a:p>
            <a:pPr marL="173038" indent="0" eaLnBrk="1" hangingPunct="1">
              <a:lnSpc>
                <a:spcPct val="90000"/>
              </a:lnSpc>
              <a:buNone/>
              <a:defRPr/>
            </a:pPr>
            <a:r>
              <a:rPr lang="zh-CN" altLang="en-US" sz="2600" dirty="0"/>
              <a:t>功能：该命令提供算术运算功能，并能对数字或非数字字符串进行计算。</a:t>
            </a:r>
            <a:endParaRPr lang="en-US" altLang="zh-CN" sz="2600" dirty="0"/>
          </a:p>
          <a:p>
            <a:pPr marL="173038" indent="0" eaLnBrk="1" hangingPunct="1">
              <a:lnSpc>
                <a:spcPct val="90000"/>
              </a:lnSpc>
              <a:buNone/>
              <a:defRPr/>
            </a:pPr>
            <a:r>
              <a:rPr lang="zh-CN" altLang="en-US" sz="2600" dirty="0"/>
              <a:t>格式：</a:t>
            </a:r>
            <a:r>
              <a:rPr lang="en-US" altLang="zh-CN" sz="2600" dirty="0" err="1">
                <a:solidFill>
                  <a:srgbClr val="0000CC"/>
                </a:solidFill>
              </a:rPr>
              <a:t>expr</a:t>
            </a:r>
            <a:r>
              <a:rPr lang="en-US" altLang="zh-CN" sz="2600" dirty="0">
                <a:solidFill>
                  <a:srgbClr val="0000CC"/>
                </a:solidFill>
              </a:rPr>
              <a:t> </a:t>
            </a:r>
            <a:r>
              <a:rPr lang="zh-CN" altLang="en-US" sz="2600" dirty="0">
                <a:solidFill>
                  <a:srgbClr val="0000CC"/>
                </a:solidFill>
              </a:rPr>
              <a:t>数值</a:t>
            </a:r>
            <a:r>
              <a:rPr lang="en-US" altLang="zh-CN" sz="2600" dirty="0">
                <a:solidFill>
                  <a:srgbClr val="0000CC"/>
                </a:solidFill>
              </a:rPr>
              <a:t>1   </a:t>
            </a:r>
            <a:r>
              <a:rPr lang="zh-CN" altLang="en-US" sz="2600" dirty="0">
                <a:solidFill>
                  <a:srgbClr val="0000CC"/>
                </a:solidFill>
              </a:rPr>
              <a:t>运算符  数值</a:t>
            </a:r>
            <a:r>
              <a:rPr lang="en-US" altLang="zh-CN" sz="2600" dirty="0">
                <a:solidFill>
                  <a:srgbClr val="0000CC"/>
                </a:solidFill>
              </a:rPr>
              <a:t>2</a:t>
            </a:r>
          </a:p>
          <a:p>
            <a:pPr marL="630238" indent="-457200" eaLnBrk="1" hangingPunct="1">
              <a:lnSpc>
                <a:spcPct val="90000"/>
              </a:lnSpc>
              <a:defRPr/>
            </a:pPr>
            <a:r>
              <a:rPr lang="en-US" altLang="zh-CN" sz="2600" dirty="0" err="1"/>
              <a:t>expr</a:t>
            </a:r>
            <a:r>
              <a:rPr lang="zh-CN" altLang="en-US" sz="2600" dirty="0"/>
              <a:t>支持以下运算符：</a:t>
            </a:r>
            <a:endParaRPr lang="en-US" altLang="zh-CN" sz="2600" dirty="0"/>
          </a:p>
          <a:p>
            <a:pPr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rgbClr val="CC0099"/>
                </a:solidFill>
              </a:rPr>
              <a:t>+</a:t>
            </a:r>
            <a:r>
              <a:rPr lang="zh-CN" altLang="en-US" dirty="0">
                <a:solidFill>
                  <a:srgbClr val="CC0099"/>
                </a:solidFill>
              </a:rPr>
              <a:t>、</a:t>
            </a:r>
            <a:r>
              <a:rPr lang="en-US" altLang="zh-CN" dirty="0">
                <a:solidFill>
                  <a:srgbClr val="CC0099"/>
                </a:solidFill>
              </a:rPr>
              <a:t>- </a:t>
            </a:r>
            <a:r>
              <a:rPr lang="zh-CN" altLang="en-US" dirty="0">
                <a:solidFill>
                  <a:srgbClr val="CC0099"/>
                </a:solidFill>
              </a:rPr>
              <a:t>、</a:t>
            </a:r>
            <a:r>
              <a:rPr lang="en-US" altLang="zh-CN" dirty="0">
                <a:solidFill>
                  <a:srgbClr val="CC0099"/>
                </a:solidFill>
              </a:rPr>
              <a:t>* </a:t>
            </a:r>
            <a:r>
              <a:rPr lang="zh-CN" altLang="en-US" dirty="0">
                <a:solidFill>
                  <a:srgbClr val="CC0099"/>
                </a:solidFill>
              </a:rPr>
              <a:t>、</a:t>
            </a:r>
            <a:r>
              <a:rPr lang="en-US" altLang="zh-CN" dirty="0">
                <a:solidFill>
                  <a:srgbClr val="CC0099"/>
                </a:solidFill>
              </a:rPr>
              <a:t>/ </a:t>
            </a:r>
            <a:r>
              <a:rPr lang="zh-CN" altLang="en-US" dirty="0">
                <a:solidFill>
                  <a:srgbClr val="CC0099"/>
                </a:solidFill>
              </a:rPr>
              <a:t>、</a:t>
            </a:r>
            <a:r>
              <a:rPr lang="en-US" altLang="zh-CN" dirty="0">
                <a:solidFill>
                  <a:srgbClr val="CC0099"/>
                </a:solidFill>
              </a:rPr>
              <a:t>%    </a:t>
            </a:r>
            <a:r>
              <a:rPr lang="zh-CN" altLang="en-US" dirty="0"/>
              <a:t>（加、减、乘、除、取余</a:t>
            </a:r>
            <a:r>
              <a:rPr lang="en-US" altLang="zh-CN" dirty="0"/>
              <a:t> 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indent="0" eaLnBrk="1" hangingPunct="1">
              <a:lnSpc>
                <a:spcPct val="90000"/>
              </a:lnSpc>
              <a:buNone/>
              <a:defRPr/>
            </a:pPr>
            <a:r>
              <a:rPr lang="en-US" altLang="zh-CN" dirty="0">
                <a:solidFill>
                  <a:srgbClr val="CC0099"/>
                </a:solidFill>
              </a:rPr>
              <a:t>&amp;</a:t>
            </a:r>
            <a:r>
              <a:rPr lang="zh-CN" altLang="en-US" dirty="0">
                <a:solidFill>
                  <a:srgbClr val="CC0099"/>
                </a:solidFill>
              </a:rPr>
              <a:t>、</a:t>
            </a:r>
            <a:r>
              <a:rPr lang="en-US" altLang="zh-CN" dirty="0">
                <a:solidFill>
                  <a:srgbClr val="CC0099"/>
                </a:solidFill>
              </a:rPr>
              <a:t>|     </a:t>
            </a:r>
            <a:r>
              <a:rPr lang="zh-CN" altLang="en-US" dirty="0"/>
              <a:t>（逻辑与、逻辑或）</a:t>
            </a:r>
            <a:endParaRPr lang="en-US" altLang="zh-CN" dirty="0"/>
          </a:p>
          <a:p>
            <a:pPr marL="762000" indent="-419100" eaLnBrk="1" hangingPunct="1">
              <a:lnSpc>
                <a:spcPct val="90000"/>
              </a:lnSpc>
              <a:defRPr/>
            </a:pPr>
            <a:r>
              <a:rPr lang="zh-CN" altLang="en-US" sz="2600" dirty="0"/>
              <a:t>“ </a:t>
            </a:r>
            <a:r>
              <a:rPr lang="en-US" altLang="zh-CN" sz="2600" dirty="0"/>
              <a:t>&amp;</a:t>
            </a:r>
            <a:r>
              <a:rPr lang="zh-CN" altLang="en-US" sz="2600" dirty="0"/>
              <a:t>”</a:t>
            </a:r>
            <a:r>
              <a:rPr lang="en-US" altLang="zh-CN" sz="2600" dirty="0"/>
              <a:t> </a:t>
            </a:r>
            <a:r>
              <a:rPr lang="zh-CN" altLang="en-US" sz="2600" dirty="0"/>
              <a:t>运算当两个数值都非</a:t>
            </a:r>
            <a:r>
              <a:rPr lang="en-US" altLang="zh-CN" sz="2600" dirty="0"/>
              <a:t>0</a:t>
            </a:r>
            <a:r>
              <a:rPr lang="zh-CN" altLang="en-US" sz="2600" dirty="0"/>
              <a:t>时输出第</a:t>
            </a:r>
            <a:r>
              <a:rPr lang="en-US" altLang="zh-CN" sz="2600" dirty="0"/>
              <a:t>1</a:t>
            </a:r>
            <a:r>
              <a:rPr lang="zh-CN" altLang="en-US" sz="2600" dirty="0"/>
              <a:t>个数值，否则输出</a:t>
            </a:r>
            <a:r>
              <a:rPr lang="en-US" altLang="zh-CN" sz="2600" dirty="0"/>
              <a:t>0</a:t>
            </a:r>
            <a:r>
              <a:rPr lang="zh-CN" altLang="en-US" sz="2600" dirty="0"/>
              <a:t>；“ </a:t>
            </a:r>
            <a:r>
              <a:rPr lang="en-US" altLang="zh-CN" sz="2600" dirty="0"/>
              <a:t>| </a:t>
            </a:r>
            <a:r>
              <a:rPr lang="zh-CN" altLang="en-US" sz="2600" dirty="0"/>
              <a:t>”运算当第</a:t>
            </a:r>
            <a:r>
              <a:rPr lang="en-US" altLang="zh-CN" sz="2600" dirty="0"/>
              <a:t>1</a:t>
            </a:r>
            <a:r>
              <a:rPr lang="zh-CN" altLang="en-US" sz="2600" dirty="0"/>
              <a:t>个数值非</a:t>
            </a:r>
            <a:r>
              <a:rPr lang="en-US" altLang="zh-CN" sz="2600" dirty="0"/>
              <a:t>0</a:t>
            </a:r>
            <a:r>
              <a:rPr lang="zh-CN" altLang="en-US" sz="2600" dirty="0"/>
              <a:t>时输出第</a:t>
            </a:r>
            <a:r>
              <a:rPr lang="en-US" altLang="zh-CN" sz="2600" dirty="0"/>
              <a:t>1</a:t>
            </a:r>
            <a:r>
              <a:rPr lang="zh-CN" altLang="en-US" sz="2600" dirty="0"/>
              <a:t>个数，否则输出第</a:t>
            </a:r>
            <a:r>
              <a:rPr lang="en-US" altLang="zh-CN" sz="2600" dirty="0"/>
              <a:t>2</a:t>
            </a:r>
            <a:r>
              <a:rPr lang="zh-CN" altLang="en-US" sz="2600" dirty="0"/>
              <a:t>个数。</a:t>
            </a:r>
            <a:endParaRPr lang="en-US" altLang="zh-CN" sz="2600" dirty="0"/>
          </a:p>
          <a:p>
            <a:pPr indent="0" eaLnBrk="1" hangingPunct="1">
              <a:lnSpc>
                <a:spcPct val="90000"/>
              </a:lnSpc>
              <a:buNone/>
              <a:defRPr/>
            </a:pPr>
            <a:r>
              <a:rPr lang="zh-CN" altLang="en-US" sz="2200" dirty="0">
                <a:solidFill>
                  <a:srgbClr val="0000CC"/>
                </a:solidFill>
              </a:rPr>
              <a:t>说明</a:t>
            </a:r>
            <a:r>
              <a:rPr lang="zh-CN" altLang="en-US" sz="2200" dirty="0"/>
              <a:t>：字符</a:t>
            </a:r>
            <a:r>
              <a:rPr lang="zh-CN" altLang="en-US" sz="2200" dirty="0">
                <a:solidFill>
                  <a:srgbClr val="FF0000"/>
                </a:solidFill>
              </a:rPr>
              <a:t>*</a:t>
            </a:r>
            <a:r>
              <a:rPr lang="zh-CN" altLang="en-US" sz="2200" dirty="0"/>
              <a:t>（乘）、</a:t>
            </a:r>
            <a:r>
              <a:rPr lang="en-US" altLang="zh-CN" sz="2200" dirty="0">
                <a:solidFill>
                  <a:srgbClr val="FF0000"/>
                </a:solidFill>
              </a:rPr>
              <a:t>%</a:t>
            </a:r>
            <a:r>
              <a:rPr lang="zh-CN" altLang="en-US" sz="2200" dirty="0"/>
              <a:t>（取余）、</a:t>
            </a:r>
            <a:r>
              <a:rPr lang="en-US" altLang="zh-CN" sz="2200" dirty="0">
                <a:solidFill>
                  <a:srgbClr val="FF0000"/>
                </a:solidFill>
              </a:rPr>
              <a:t>&amp;</a:t>
            </a:r>
            <a:r>
              <a:rPr lang="en-US" altLang="zh-CN" sz="2200" dirty="0"/>
              <a:t> </a:t>
            </a:r>
            <a:r>
              <a:rPr lang="zh-CN" altLang="en-US" sz="2200" dirty="0"/>
              <a:t>、</a:t>
            </a:r>
            <a:r>
              <a:rPr lang="en-US" altLang="zh-CN" sz="2200" dirty="0">
                <a:solidFill>
                  <a:srgbClr val="FF0000"/>
                </a:solidFill>
              </a:rPr>
              <a:t>| </a:t>
            </a:r>
            <a:r>
              <a:rPr lang="zh-CN" altLang="en-US" sz="2200" dirty="0"/>
              <a:t>在</a:t>
            </a:r>
            <a:r>
              <a:rPr lang="en-US" altLang="zh-CN" sz="2200" dirty="0"/>
              <a:t>shell</a:t>
            </a:r>
            <a:r>
              <a:rPr lang="zh-CN" altLang="en-US" sz="2200" dirty="0"/>
              <a:t>中有特殊含义，因此他们的前面必须有转义字符“</a:t>
            </a:r>
            <a:r>
              <a:rPr lang="en-US" altLang="zh-CN" sz="2200" dirty="0"/>
              <a:t>\”</a:t>
            </a:r>
            <a:r>
              <a:rPr lang="zh-CN" altLang="en-US" sz="2200" dirty="0"/>
              <a:t>，例如：</a:t>
            </a:r>
            <a:r>
              <a:rPr lang="en-US" altLang="zh-CN" sz="2200" dirty="0"/>
              <a:t>expr $a \* $b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indent="0" eaLnBrk="1" hangingPunct="1">
              <a:lnSpc>
                <a:spcPct val="90000"/>
              </a:lnSpc>
              <a:buNone/>
              <a:defRPr/>
            </a:pPr>
            <a:r>
              <a:rPr lang="zh-CN" altLang="en-US" sz="2200" dirty="0"/>
              <a:t>当有变量参与运算时，需要在变量名前面加“</a:t>
            </a:r>
            <a:r>
              <a:rPr lang="en-US" altLang="zh-CN" sz="2200" dirty="0"/>
              <a:t>$”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indent="0" eaLnBrk="1" hangingPunct="1">
              <a:lnSpc>
                <a:spcPct val="90000"/>
              </a:lnSpc>
              <a:buNone/>
              <a:defRPr/>
            </a:pPr>
            <a:endParaRPr lang="en-US" altLang="zh-CN" sz="2200" dirty="0"/>
          </a:p>
          <a:p>
            <a:pPr indent="0" eaLnBrk="1" hangingPunct="1">
              <a:lnSpc>
                <a:spcPct val="90000"/>
              </a:lnSpc>
              <a:buNone/>
              <a:defRPr/>
            </a:pPr>
            <a:endParaRPr lang="en-US" altLang="zh-CN" sz="2200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84168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8865394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expr</a:t>
            </a:r>
            <a:r>
              <a:rPr lang="zh-CN" altLang="en-US" dirty="0"/>
              <a:t>命令用法示例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3432" y="1625442"/>
            <a:ext cx="10145548" cy="4539862"/>
          </a:xfrm>
        </p:spPr>
        <p:txBody>
          <a:bodyPr/>
          <a:lstStyle/>
          <a:p>
            <a:pPr marL="0" indent="0" eaLnBrk="1" hangingPunct="1">
              <a:buNone/>
              <a:defRPr/>
            </a:pPr>
            <a:r>
              <a:rPr lang="en-US" altLang="zh-CN" sz="2600" dirty="0"/>
              <a:t> [</a:t>
            </a:r>
            <a:r>
              <a:rPr lang="en-US" altLang="zh-CN" sz="2600" dirty="0" err="1"/>
              <a:t>root@localhost</a:t>
            </a:r>
            <a:r>
              <a:rPr lang="en-US" altLang="zh-CN" sz="2600" dirty="0"/>
              <a:t> ~ ]# a=13</a:t>
            </a:r>
          </a:p>
          <a:p>
            <a:pPr marL="0" indent="0" eaLnBrk="1" hangingPunct="1">
              <a:buNone/>
              <a:defRPr/>
            </a:pPr>
            <a:r>
              <a:rPr lang="en-US" altLang="zh-CN" sz="2600" dirty="0"/>
              <a:t> [</a:t>
            </a:r>
            <a:r>
              <a:rPr lang="en-US" altLang="zh-CN" sz="2600" dirty="0" err="1"/>
              <a:t>root@localhost</a:t>
            </a:r>
            <a:r>
              <a:rPr lang="en-US" altLang="zh-CN" sz="2600" dirty="0"/>
              <a:t> ~ ]#  expr  "$a" - 4 + 2 </a:t>
            </a:r>
          </a:p>
          <a:p>
            <a:pPr marL="0" indent="0" eaLnBrk="1" hangingPunct="1">
              <a:buNone/>
              <a:defRPr/>
            </a:pPr>
            <a:r>
              <a:rPr lang="en-US" altLang="zh-CN" sz="2600" dirty="0"/>
              <a:t>  11                              </a:t>
            </a:r>
            <a:r>
              <a:rPr lang="en-US" altLang="zh-CN" sz="2600" dirty="0">
                <a:solidFill>
                  <a:srgbClr val="0000CC"/>
                </a:solidFill>
              </a:rPr>
              <a:t>// </a:t>
            </a:r>
            <a:r>
              <a:rPr lang="zh-CN" altLang="en-US" sz="2600" dirty="0">
                <a:solidFill>
                  <a:srgbClr val="0000CC"/>
                </a:solidFill>
              </a:rPr>
              <a:t>注意运算符的两旁要有空格</a:t>
            </a:r>
            <a:endParaRPr lang="en-US" altLang="zh-CN" sz="2600" dirty="0"/>
          </a:p>
          <a:p>
            <a:pPr marL="0" indent="0" eaLnBrk="1" hangingPunct="1">
              <a:buNone/>
              <a:defRPr/>
            </a:pPr>
            <a:r>
              <a:rPr lang="en-US" altLang="zh-CN" sz="2600" dirty="0"/>
              <a:t> [</a:t>
            </a:r>
            <a:r>
              <a:rPr lang="en-US" altLang="zh-CN" sz="2600" dirty="0" err="1"/>
              <a:t>root@localhost</a:t>
            </a:r>
            <a:r>
              <a:rPr lang="en-US" altLang="zh-CN" sz="2600" dirty="0"/>
              <a:t> ~ ]# expr  4   \*  5</a:t>
            </a:r>
          </a:p>
          <a:p>
            <a:pPr marL="0" indent="0" eaLnBrk="1" hangingPunct="1">
              <a:buNone/>
              <a:defRPr/>
            </a:pPr>
            <a:r>
              <a:rPr lang="en-US" altLang="zh-CN" sz="2600" dirty="0"/>
              <a:t>  20                           </a:t>
            </a:r>
          </a:p>
          <a:p>
            <a:pPr marL="0" indent="0" eaLnBrk="1" hangingPunct="1">
              <a:buNone/>
              <a:defRPr/>
            </a:pPr>
            <a:r>
              <a:rPr lang="en-US" altLang="zh-CN" sz="2600" dirty="0"/>
              <a:t> [</a:t>
            </a:r>
            <a:r>
              <a:rPr lang="en-US" altLang="zh-CN" sz="2600" dirty="0" err="1"/>
              <a:t>root@localhost</a:t>
            </a:r>
            <a:r>
              <a:rPr lang="en-US" altLang="zh-CN" sz="2600" dirty="0"/>
              <a:t> ~ ]# expr  `expr  5 + 7 ` / 3</a:t>
            </a:r>
          </a:p>
          <a:p>
            <a:pPr marL="0" indent="0" eaLnBrk="1" hangingPunct="1">
              <a:buNone/>
              <a:defRPr/>
            </a:pPr>
            <a:r>
              <a:rPr lang="en-US" altLang="zh-CN" sz="2600" dirty="0"/>
              <a:t>   4 </a:t>
            </a:r>
            <a:r>
              <a:rPr lang="en-US" altLang="zh-CN" sz="2600" dirty="0">
                <a:solidFill>
                  <a:srgbClr val="0000CC"/>
                </a:solidFill>
              </a:rPr>
              <a:t>                                // </a:t>
            </a:r>
            <a:r>
              <a:rPr lang="zh-CN" altLang="en-US" sz="2600" dirty="0">
                <a:solidFill>
                  <a:srgbClr val="0000CC"/>
                </a:solidFill>
              </a:rPr>
              <a:t>用命令替换改变运算的次序</a:t>
            </a:r>
            <a:endParaRPr lang="zh-CN" altLang="en-US" sz="2400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84168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1275588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252" y="620688"/>
            <a:ext cx="10129315" cy="576064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300" dirty="0"/>
              <a:t>例如，从键盘读入</a:t>
            </a:r>
            <a:r>
              <a:rPr lang="en-US" altLang="zh-CN" sz="2300" dirty="0"/>
              <a:t>x</a:t>
            </a:r>
            <a:r>
              <a:rPr lang="zh-CN" altLang="en-US" sz="2300" dirty="0"/>
              <a:t>、</a:t>
            </a:r>
            <a:r>
              <a:rPr lang="en-US" altLang="zh-CN" sz="2300" dirty="0"/>
              <a:t>y</a:t>
            </a:r>
            <a:r>
              <a:rPr lang="zh-CN" altLang="en-US" sz="2300" dirty="0"/>
              <a:t>的值，然后做加法运算和乘法运算，最后输出结果。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(1)</a:t>
            </a:r>
            <a:r>
              <a:rPr lang="zh-CN" altLang="en-US" sz="2300" dirty="0"/>
              <a:t>用</a:t>
            </a:r>
            <a:r>
              <a:rPr lang="en-US" altLang="zh-CN" sz="2300" dirty="0"/>
              <a:t>vim</a:t>
            </a:r>
            <a:r>
              <a:rPr lang="zh-CN" altLang="en-US" sz="2300" dirty="0"/>
              <a:t>编辑程序</a:t>
            </a:r>
            <a:endParaRPr lang="en-US" altLang="zh-CN" sz="23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[</a:t>
            </a:r>
            <a:r>
              <a:rPr lang="en-US" altLang="zh-CN" sz="2300" dirty="0" err="1"/>
              <a:t>root@localhost</a:t>
            </a:r>
            <a:r>
              <a:rPr lang="en-US" altLang="zh-CN" sz="2300" dirty="0"/>
              <a:t> ~ ]# vim  yunsuan.sh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#!/bin/sh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read x y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a=`expr $x + $y`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b=`expr $x \* $y`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echo "The sum is $a"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echo "The product  is $b“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300" dirty="0"/>
              <a:t>(2)</a:t>
            </a:r>
            <a:r>
              <a:rPr lang="zh-CN" altLang="en-US" sz="2300" dirty="0"/>
              <a:t>设置权限</a:t>
            </a:r>
            <a:r>
              <a:rPr lang="zh-CN" altLang="en-US" sz="2700" dirty="0"/>
              <a:t>：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300" dirty="0"/>
              <a:t> [</a:t>
            </a:r>
            <a:r>
              <a:rPr lang="en-US" altLang="zh-CN" sz="2300" dirty="0" err="1"/>
              <a:t>root@localhost</a:t>
            </a:r>
            <a:r>
              <a:rPr lang="en-US" altLang="zh-CN" sz="2300" dirty="0"/>
              <a:t> ~ ]# </a:t>
            </a:r>
            <a:r>
              <a:rPr lang="en-US" altLang="zh-CN" sz="2300" dirty="0" err="1"/>
              <a:t>chmod</a:t>
            </a:r>
            <a:r>
              <a:rPr lang="en-US" altLang="zh-CN" sz="2300" dirty="0"/>
              <a:t>    +x   yunsuan.sh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(3)</a:t>
            </a:r>
            <a:r>
              <a:rPr lang="zh-CN" altLang="en-US" sz="2300" dirty="0"/>
              <a:t>执行：</a:t>
            </a:r>
            <a:endParaRPr lang="en-US" altLang="zh-CN" sz="23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 [</a:t>
            </a:r>
            <a:r>
              <a:rPr lang="en-US" altLang="zh-CN" sz="2300" dirty="0" err="1"/>
              <a:t>root@localhost</a:t>
            </a:r>
            <a:r>
              <a:rPr lang="en-US" altLang="zh-CN" sz="2300" dirty="0"/>
              <a:t> ~ ]# ./yunsuan.sh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45  78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The sum is 123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300" dirty="0"/>
              <a:t>The product is 3510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400" dirty="0"/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17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84223"/>
            <a:ext cx="10058400" cy="858837"/>
          </a:xfrm>
        </p:spPr>
        <p:txBody>
          <a:bodyPr/>
          <a:lstStyle/>
          <a:p>
            <a:pPr eaLnBrk="1" hangingPunct="1"/>
            <a:r>
              <a:rPr lang="en-US" altLang="zh-CN" dirty="0"/>
              <a:t>expr</a:t>
            </a:r>
            <a:r>
              <a:rPr lang="zh-CN" altLang="en-US" dirty="0"/>
              <a:t>命令用法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141709"/>
            <a:ext cx="9997752" cy="1584176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2600" dirty="0"/>
              <a:t>说明：</a:t>
            </a:r>
            <a:r>
              <a:rPr lang="en-US" altLang="zh-CN" sz="2600" dirty="0" err="1"/>
              <a:t>expr</a:t>
            </a:r>
            <a:r>
              <a:rPr lang="zh-CN" altLang="en-US" sz="2600" dirty="0"/>
              <a:t>命令可以作关系运算</a:t>
            </a:r>
          </a:p>
          <a:p>
            <a:pPr lvl="3" eaLnBrk="1" hangingPunct="1">
              <a:defRPr/>
            </a:pPr>
            <a:r>
              <a:rPr lang="zh-CN" altLang="en-US" sz="2600" dirty="0"/>
              <a:t>当比较结果为</a:t>
            </a:r>
            <a:r>
              <a:rPr lang="zh-CN" altLang="en-US" sz="2600" dirty="0">
                <a:solidFill>
                  <a:srgbClr val="CC0099"/>
                </a:solidFill>
              </a:rPr>
              <a:t>真</a:t>
            </a:r>
            <a:r>
              <a:rPr lang="zh-CN" altLang="en-US" sz="2600" dirty="0"/>
              <a:t>时，</a:t>
            </a:r>
            <a:r>
              <a:rPr lang="en-US" altLang="zh-CN" sz="2600" dirty="0"/>
              <a:t>expr</a:t>
            </a:r>
            <a:r>
              <a:rPr lang="zh-CN" altLang="en-US" sz="2600" dirty="0"/>
              <a:t>命令显示</a:t>
            </a:r>
            <a:r>
              <a:rPr lang="en-US" altLang="zh-CN" sz="2600" dirty="0">
                <a:solidFill>
                  <a:srgbClr val="CC0099"/>
                </a:solidFill>
              </a:rPr>
              <a:t>1</a:t>
            </a:r>
            <a:r>
              <a:rPr lang="zh-CN" altLang="en-US" sz="2600" dirty="0"/>
              <a:t>；</a:t>
            </a:r>
          </a:p>
          <a:p>
            <a:pPr lvl="3" eaLnBrk="1" hangingPunct="1">
              <a:defRPr/>
            </a:pPr>
            <a:r>
              <a:rPr lang="zh-CN" altLang="en-US" sz="2600" dirty="0"/>
              <a:t>当比较结果为</a:t>
            </a:r>
            <a:r>
              <a:rPr lang="zh-CN" altLang="en-US" sz="2600" dirty="0">
                <a:solidFill>
                  <a:srgbClr val="0000CC"/>
                </a:solidFill>
              </a:rPr>
              <a:t>假</a:t>
            </a:r>
            <a:r>
              <a:rPr lang="zh-CN" altLang="en-US" sz="2600" dirty="0"/>
              <a:t>时，</a:t>
            </a:r>
            <a:r>
              <a:rPr lang="en-US" altLang="zh-CN" sz="2600" dirty="0"/>
              <a:t>expr</a:t>
            </a:r>
            <a:r>
              <a:rPr lang="zh-CN" altLang="en-US" sz="2600" dirty="0"/>
              <a:t>命令显示</a:t>
            </a:r>
            <a:r>
              <a:rPr lang="en-US" altLang="zh-CN" sz="2600" dirty="0">
                <a:solidFill>
                  <a:srgbClr val="0000CC"/>
                </a:solidFill>
              </a:rPr>
              <a:t>0</a:t>
            </a:r>
            <a:r>
              <a:rPr lang="zh-CN" altLang="en-US" sz="2600" dirty="0"/>
              <a:t>。</a:t>
            </a:r>
          </a:p>
        </p:txBody>
      </p:sp>
      <p:graphicFrame>
        <p:nvGraphicFramePr>
          <p:cNvPr id="59483" name="Group 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34204"/>
              </p:ext>
            </p:extLst>
          </p:nvPr>
        </p:nvGraphicFramePr>
        <p:xfrm>
          <a:off x="3863752" y="2724534"/>
          <a:ext cx="3672408" cy="3169920"/>
        </p:xfrm>
        <a:graphic>
          <a:graphicData uri="http://schemas.openxmlformats.org/drawingml/2006/table">
            <a:tbl>
              <a:tblPr/>
              <a:tblGrid>
                <a:gridCol w="1589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048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关系运算符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含义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90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等于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90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!=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不等于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90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&lt;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90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&lt;=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小于等于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90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&gt;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909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&gt;=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defRPr sz="25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FF9933"/>
                        </a:buClr>
                        <a:buSzPct val="70000"/>
                        <a:buFont typeface="Wingdings" pitchFamily="2" charset="2"/>
                        <a:defRPr sz="21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CC99FF"/>
                        </a:buClr>
                        <a:buSzPct val="7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60000"/>
                        <a:buFont typeface="Wingdings" pitchFamily="2" charset="2"/>
                        <a:defRPr sz="1700"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楷体_GB2312" pitchFamily="49" charset="-122"/>
                        </a:rPr>
                        <a:t>大于等于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29200" y="6021288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31623750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逻辑测试表达式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6800" y="1407517"/>
            <a:ext cx="10213776" cy="4608512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sz="2800" dirty="0">
                <a:solidFill>
                  <a:srgbClr val="0000CC"/>
                </a:solidFill>
              </a:rPr>
              <a:t>test</a:t>
            </a:r>
            <a:r>
              <a:rPr lang="zh-CN" altLang="en-US" sz="2800" dirty="0">
                <a:solidFill>
                  <a:srgbClr val="0000CC"/>
                </a:solidFill>
              </a:rPr>
              <a:t>命令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/>
              <a:t>test</a:t>
            </a:r>
            <a:r>
              <a:rPr lang="zh-CN" altLang="en-US" sz="2600" dirty="0"/>
              <a:t>命令可对字符串、整数及文件进行各类测试，</a:t>
            </a:r>
            <a:r>
              <a:rPr lang="en-US" altLang="zh-CN" sz="2600" dirty="0">
                <a:solidFill>
                  <a:srgbClr val="0000CC"/>
                </a:solidFill>
              </a:rPr>
              <a:t>test</a:t>
            </a:r>
            <a:r>
              <a:rPr lang="zh-CN" altLang="en-US" sz="2600" dirty="0">
                <a:solidFill>
                  <a:srgbClr val="0000CC"/>
                </a:solidFill>
              </a:rPr>
              <a:t>命令并不输出任何结果</a:t>
            </a:r>
            <a:r>
              <a:rPr lang="zh-CN" altLang="en-US" sz="2600" dirty="0"/>
              <a:t>，而是用</a:t>
            </a:r>
            <a:r>
              <a:rPr lang="zh-CN" altLang="en-US" sz="2600" dirty="0">
                <a:solidFill>
                  <a:srgbClr val="0000CC"/>
                </a:solidFill>
              </a:rPr>
              <a:t>退出的状态</a:t>
            </a:r>
            <a:r>
              <a:rPr lang="zh-CN" altLang="en-US" sz="2600" dirty="0"/>
              <a:t>来表示测试的结果：退出状态为</a:t>
            </a:r>
            <a:r>
              <a:rPr lang="en-US" altLang="zh-CN" sz="2600" dirty="0">
                <a:solidFill>
                  <a:srgbClr val="CC0099"/>
                </a:solidFill>
              </a:rPr>
              <a:t>0</a:t>
            </a:r>
            <a:r>
              <a:rPr lang="zh-CN" altLang="en-US" sz="2600" dirty="0"/>
              <a:t>时表示</a:t>
            </a:r>
            <a:r>
              <a:rPr lang="en-US" altLang="zh-CN" sz="2600" dirty="0"/>
              <a:t>test</a:t>
            </a:r>
            <a:r>
              <a:rPr lang="zh-CN" altLang="en-US" sz="2600" dirty="0"/>
              <a:t>成功，测试结果</a:t>
            </a:r>
            <a:r>
              <a:rPr lang="zh-CN" altLang="en-US" sz="2600" dirty="0">
                <a:solidFill>
                  <a:srgbClr val="CC0099"/>
                </a:solidFill>
              </a:rPr>
              <a:t>为真</a:t>
            </a:r>
            <a:r>
              <a:rPr lang="zh-CN" altLang="en-US" sz="2600" dirty="0"/>
              <a:t>；退出状态为</a:t>
            </a:r>
            <a:r>
              <a:rPr lang="en-US" altLang="zh-CN" sz="2600" dirty="0">
                <a:solidFill>
                  <a:srgbClr val="33CC33"/>
                </a:solidFill>
              </a:rPr>
              <a:t>1</a:t>
            </a:r>
            <a:r>
              <a:rPr lang="zh-CN" altLang="en-US" sz="2600" dirty="0"/>
              <a:t>，表示</a:t>
            </a:r>
            <a:r>
              <a:rPr lang="en-US" altLang="zh-CN" sz="2600" dirty="0"/>
              <a:t>test</a:t>
            </a:r>
            <a:r>
              <a:rPr lang="zh-CN" altLang="en-US" sz="2600" dirty="0"/>
              <a:t>失败，测试结果为</a:t>
            </a:r>
            <a:r>
              <a:rPr lang="zh-CN" altLang="en-US" sz="2600" dirty="0">
                <a:solidFill>
                  <a:srgbClr val="33CC33"/>
                </a:solidFill>
              </a:rPr>
              <a:t>假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/>
              <a:t>格式： </a:t>
            </a:r>
            <a:r>
              <a:rPr lang="en-US" altLang="zh-CN" sz="2600" dirty="0"/>
              <a:t>        </a:t>
            </a:r>
            <a:r>
              <a:rPr lang="en-US" altLang="zh-CN" sz="2600" dirty="0">
                <a:solidFill>
                  <a:srgbClr val="0000CC"/>
                </a:solidFill>
              </a:rPr>
              <a:t>test  </a:t>
            </a:r>
            <a:r>
              <a:rPr lang="zh-CN" altLang="en-US" sz="2600" dirty="0">
                <a:solidFill>
                  <a:srgbClr val="0000CC"/>
                </a:solidFill>
              </a:rPr>
              <a:t>表达式</a:t>
            </a:r>
            <a:endParaRPr lang="en-US" altLang="zh-CN" sz="2600" dirty="0">
              <a:solidFill>
                <a:srgbClr val="0000CC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          </a:t>
            </a:r>
            <a:r>
              <a:rPr lang="zh-CN" altLang="en-US" sz="2600" dirty="0">
                <a:solidFill>
                  <a:srgbClr val="0000CC"/>
                </a:solidFill>
              </a:rPr>
              <a:t>或者</a:t>
            </a:r>
            <a:r>
              <a:rPr lang="en-US" altLang="zh-CN" sz="2600" dirty="0">
                <a:solidFill>
                  <a:srgbClr val="0000CC"/>
                </a:solidFill>
              </a:rPr>
              <a:t>    [    </a:t>
            </a:r>
            <a:r>
              <a:rPr lang="zh-CN" altLang="en-US" sz="2600" dirty="0">
                <a:solidFill>
                  <a:srgbClr val="0000CC"/>
                </a:solidFill>
              </a:rPr>
              <a:t>表达式     </a:t>
            </a:r>
            <a:r>
              <a:rPr lang="en-US" altLang="zh-CN" sz="2600" dirty="0">
                <a:solidFill>
                  <a:srgbClr val="0000CC"/>
                </a:solidFill>
              </a:rPr>
              <a:t>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注意</a:t>
            </a:r>
            <a:r>
              <a:rPr lang="zh-CN" altLang="en-US" sz="2600" dirty="0"/>
              <a:t>：后一种形式的“ </a:t>
            </a:r>
            <a:r>
              <a:rPr lang="en-US" altLang="zh-CN" sz="2600" dirty="0"/>
              <a:t>[ </a:t>
            </a:r>
            <a:r>
              <a:rPr lang="zh-CN" altLang="en-US" sz="2600" dirty="0"/>
              <a:t>”和 “</a:t>
            </a:r>
            <a:r>
              <a:rPr lang="en-US" altLang="zh-CN" sz="2600" dirty="0"/>
              <a:t> ] </a:t>
            </a:r>
            <a:r>
              <a:rPr lang="zh-CN" altLang="en-US" sz="2600" dirty="0"/>
              <a:t>”</a:t>
            </a:r>
            <a:r>
              <a:rPr lang="zh-CN" altLang="en-US" sz="2600" dirty="0">
                <a:solidFill>
                  <a:srgbClr val="CC0099"/>
                </a:solidFill>
              </a:rPr>
              <a:t>两侧有空格</a:t>
            </a:r>
            <a:endParaRPr lang="en-US" altLang="zh-CN" sz="2600" dirty="0">
              <a:solidFill>
                <a:srgbClr val="CC0099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sz="2600" dirty="0">
              <a:solidFill>
                <a:srgbClr val="0000CC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48695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表达式的比较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12776"/>
            <a:ext cx="10429800" cy="511256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1.</a:t>
            </a:r>
            <a:r>
              <a:rPr lang="zh-CN" altLang="en-US" sz="2600" dirty="0">
                <a:solidFill>
                  <a:srgbClr val="0000CC"/>
                </a:solidFill>
              </a:rPr>
              <a:t>字符串测试 </a:t>
            </a:r>
          </a:p>
          <a:p>
            <a:pPr marL="0" indent="0" eaLnBrk="1" hangingPunct="1">
              <a:buNone/>
            </a:pPr>
            <a:r>
              <a:rPr lang="zh-CN" altLang="en-US" sz="2600" dirty="0"/>
              <a:t>作用：测试字符串是否相等、长度是否为零，字符串是否为</a:t>
            </a:r>
            <a:r>
              <a:rPr lang="en-US" altLang="zh-CN" sz="2600" dirty="0"/>
              <a:t>NULL</a:t>
            </a:r>
            <a:r>
              <a:rPr lang="zh-CN" altLang="en-US" sz="2600" dirty="0"/>
              <a:t>。</a:t>
            </a:r>
            <a:r>
              <a:rPr lang="zh-CN" altLang="en-US" sz="2600" dirty="0">
                <a:solidFill>
                  <a:srgbClr val="0000CC"/>
                </a:solidFill>
              </a:rPr>
              <a:t>为真返回值为</a:t>
            </a:r>
            <a:r>
              <a:rPr lang="en-US" altLang="zh-CN" sz="2600" dirty="0">
                <a:solidFill>
                  <a:srgbClr val="0000CC"/>
                </a:solidFill>
              </a:rPr>
              <a:t>0</a:t>
            </a:r>
            <a:r>
              <a:rPr lang="zh-CN" altLang="en-US" sz="2600" dirty="0">
                <a:solidFill>
                  <a:srgbClr val="0000CC"/>
                </a:solidFill>
              </a:rPr>
              <a:t>，为假返回值是</a:t>
            </a:r>
            <a:r>
              <a:rPr lang="en-US" altLang="zh-CN" sz="2600" dirty="0">
                <a:solidFill>
                  <a:srgbClr val="0000CC"/>
                </a:solidFill>
              </a:rPr>
              <a:t>1</a:t>
            </a:r>
            <a:r>
              <a:rPr lang="zh-CN" altLang="en-US" sz="2600" dirty="0"/>
              <a:t>。常用的字符串操作符如下：</a:t>
            </a:r>
          </a:p>
          <a:p>
            <a:pPr eaLnBrk="1" hangingPunct="1"/>
            <a:endParaRPr lang="zh-CN" altLang="en-US" dirty="0"/>
          </a:p>
          <a:p>
            <a:pPr eaLnBrk="1" hangingPunct="1"/>
            <a:endParaRPr lang="en-US" altLang="zh-CN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B3EF6E-80BC-73A9-2ED7-35C58DC35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0441" y="2812802"/>
            <a:ext cx="7999613" cy="2956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3271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5116" y="836712"/>
            <a:ext cx="10141767" cy="5329237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sz="2200" dirty="0"/>
              <a:t>例如，从键盘读入两个字符串，判断这两个字符串是否相等。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(1)</a:t>
            </a:r>
            <a:r>
              <a:rPr lang="zh-CN" altLang="en-US" sz="2200" dirty="0"/>
              <a:t>用</a:t>
            </a:r>
            <a:r>
              <a:rPr lang="en-US" altLang="zh-CN" sz="2200" dirty="0"/>
              <a:t>vim</a:t>
            </a:r>
            <a:r>
              <a:rPr lang="zh-CN" altLang="en-US" sz="2200" dirty="0"/>
              <a:t>编辑程序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200" dirty="0"/>
              <a:t>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vim test1.sh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#!/bin/bash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read  </a:t>
            </a:r>
            <a:r>
              <a:rPr lang="en-US" altLang="zh-CN" sz="2200" dirty="0" err="1"/>
              <a:t>ar1</a:t>
            </a:r>
            <a:r>
              <a:rPr lang="en-US" altLang="zh-CN" sz="2200" dirty="0"/>
              <a:t>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read  </a:t>
            </a:r>
            <a:r>
              <a:rPr lang="en-US" altLang="zh-CN" sz="2200" dirty="0" err="1"/>
              <a:t>ar2</a:t>
            </a:r>
            <a:r>
              <a:rPr lang="en-US" altLang="zh-CN" sz="2200" dirty="0"/>
              <a:t>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[   "$ar1"  =  "$ar2"   ]               # </a:t>
            </a:r>
            <a:r>
              <a:rPr lang="en-US" altLang="zh-CN" sz="2200" dirty="0">
                <a:solidFill>
                  <a:srgbClr val="0000CC"/>
                </a:solidFill>
              </a:rPr>
              <a:t>test $ar1 = $ar2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echo $?                                       #</a:t>
            </a:r>
            <a:r>
              <a:rPr lang="zh-CN" altLang="en-US" sz="2200" dirty="0"/>
              <a:t>保存前一个命令的返回码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(2)</a:t>
            </a:r>
            <a:r>
              <a:rPr lang="zh-CN" altLang="en-US" sz="2200" dirty="0"/>
              <a:t>设置权限：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200" dirty="0"/>
              <a:t>	</a:t>
            </a: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 </a:t>
            </a:r>
            <a:r>
              <a:rPr lang="en-US" altLang="zh-CN" sz="2200" dirty="0" err="1"/>
              <a:t>chmod</a:t>
            </a:r>
            <a:r>
              <a:rPr lang="en-US" altLang="zh-CN" sz="2200" dirty="0"/>
              <a:t> +x test1.sh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(3)</a:t>
            </a:r>
            <a:r>
              <a:rPr lang="zh-CN" altLang="en-US" sz="2200" dirty="0"/>
              <a:t>执行：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./test1.sh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 err="1"/>
              <a:t>aaa</a:t>
            </a:r>
            <a:endParaRPr lang="en-US" altLang="zh-CN" sz="22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 err="1"/>
              <a:t>bbb</a:t>
            </a:r>
            <a:endParaRPr lang="en-US" altLang="zh-CN" sz="22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1</a:t>
            </a: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6312024" y="5178819"/>
            <a:ext cx="4968056" cy="83099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CC"/>
                </a:solidFill>
                <a:latin typeface="+mn-ea"/>
                <a:ea typeface="+mn-ea"/>
              </a:rPr>
              <a:t>注意</a:t>
            </a:r>
            <a:r>
              <a:rPr lang="en-US" altLang="zh-CN">
                <a:solidFill>
                  <a:srgbClr val="CC0099"/>
                </a:solidFill>
                <a:latin typeface="+mn-ea"/>
                <a:ea typeface="+mn-ea"/>
              </a:rPr>
              <a:t>:“[”</a:t>
            </a:r>
            <a:r>
              <a:rPr lang="zh-CN" altLang="en-US" dirty="0">
                <a:solidFill>
                  <a:srgbClr val="CC0099"/>
                </a:solidFill>
                <a:latin typeface="+mn-ea"/>
                <a:ea typeface="+mn-ea"/>
              </a:rPr>
              <a:t>后面和“</a:t>
            </a:r>
            <a:r>
              <a:rPr lang="en-US" altLang="zh-CN" dirty="0">
                <a:solidFill>
                  <a:srgbClr val="CC0099"/>
                </a:solidFill>
                <a:latin typeface="+mn-ea"/>
                <a:ea typeface="+mn-ea"/>
              </a:rPr>
              <a:t>]”</a:t>
            </a:r>
            <a:r>
              <a:rPr lang="zh-CN" altLang="en-US" dirty="0">
                <a:solidFill>
                  <a:srgbClr val="CC0099"/>
                </a:solidFill>
                <a:latin typeface="+mn-ea"/>
                <a:ea typeface="+mn-ea"/>
              </a:rPr>
              <a:t>前面及等号“</a:t>
            </a:r>
            <a:r>
              <a:rPr lang="en-US" altLang="zh-CN" dirty="0">
                <a:solidFill>
                  <a:srgbClr val="CC0099"/>
                </a:solidFill>
                <a:latin typeface="+mn-ea"/>
                <a:ea typeface="+mn-ea"/>
              </a:rPr>
              <a:t>=”</a:t>
            </a:r>
            <a:r>
              <a:rPr lang="zh-CN" altLang="en-US" dirty="0">
                <a:solidFill>
                  <a:srgbClr val="CC0099"/>
                </a:solidFill>
                <a:latin typeface="+mn-ea"/>
                <a:ea typeface="+mn-ea"/>
              </a:rPr>
              <a:t>的前后都应有一空格；</a:t>
            </a:r>
          </a:p>
        </p:txBody>
      </p:sp>
    </p:spTree>
    <p:extLst>
      <p:ext uri="{BB962C8B-B14F-4D97-AF65-F5344CB8AC3E}">
        <p14:creationId xmlns:p14="http://schemas.microsoft.com/office/powerpoint/2010/main" val="2236436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表达式的比较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3452" y="1304259"/>
            <a:ext cx="10058400" cy="45259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2.</a:t>
            </a:r>
            <a:r>
              <a:rPr lang="zh-CN" altLang="en-US" sz="2600" dirty="0">
                <a:solidFill>
                  <a:srgbClr val="0000CC"/>
                </a:solidFill>
              </a:rPr>
              <a:t>数字比较 </a:t>
            </a:r>
          </a:p>
          <a:p>
            <a:pPr marL="0" indent="0" eaLnBrk="1" hangingPunct="1">
              <a:buNone/>
            </a:pPr>
            <a:r>
              <a:rPr lang="zh-CN" altLang="en-US" sz="2600" dirty="0"/>
              <a:t>在</a:t>
            </a:r>
            <a:r>
              <a:rPr lang="en-US" altLang="zh-CN" sz="2600" dirty="0"/>
              <a:t>shell</a:t>
            </a:r>
            <a:r>
              <a:rPr lang="zh-CN" altLang="en-US" sz="2600" dirty="0"/>
              <a:t>编程中的关系运算有别于其他编程语言。</a:t>
            </a:r>
          </a:p>
          <a:p>
            <a:pPr eaLnBrk="1" hangingPunct="1"/>
            <a:endParaRPr lang="en-US" altLang="zh-CN" dirty="0"/>
          </a:p>
        </p:txBody>
      </p:sp>
      <p:pic>
        <p:nvPicPr>
          <p:cNvPr id="1843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9" y="2459077"/>
            <a:ext cx="7128792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643824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表达式的比较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33835"/>
            <a:ext cx="6613376" cy="532765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200" dirty="0"/>
              <a:t>例如，比较两个数字是否相等。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0000CC"/>
                </a:solidFill>
              </a:rPr>
              <a:t>(1)</a:t>
            </a:r>
            <a:r>
              <a:rPr lang="zh-CN" altLang="en-US" sz="2200" dirty="0">
                <a:solidFill>
                  <a:srgbClr val="0000CC"/>
                </a:solidFill>
              </a:rPr>
              <a:t>用</a:t>
            </a:r>
            <a:r>
              <a:rPr lang="en-US" altLang="zh-CN" sz="2200" dirty="0">
                <a:solidFill>
                  <a:srgbClr val="0000CC"/>
                </a:solidFill>
              </a:rPr>
              <a:t>vim</a:t>
            </a:r>
            <a:r>
              <a:rPr lang="zh-CN" altLang="en-US" sz="2200" dirty="0">
                <a:solidFill>
                  <a:srgbClr val="0000CC"/>
                </a:solidFill>
              </a:rPr>
              <a:t>编辑程序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200" dirty="0"/>
              <a:t>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vim test2.sh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#!/bin/bash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read x y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if  test  $x  -eq  $y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then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   echo “$x= =$y”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else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   echo “$x!=$y”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fi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0000CC"/>
                </a:solidFill>
              </a:rPr>
              <a:t>(2)</a:t>
            </a:r>
            <a:r>
              <a:rPr lang="zh-CN" altLang="en-US" sz="2200" dirty="0">
                <a:solidFill>
                  <a:srgbClr val="0000CC"/>
                </a:solidFill>
              </a:rPr>
              <a:t>设置权限：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200" dirty="0"/>
              <a:t>	</a:t>
            </a:r>
            <a:r>
              <a:rPr lang="en-US" altLang="zh-CN" sz="2200" dirty="0"/>
              <a:t>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</a:t>
            </a:r>
            <a:r>
              <a:rPr lang="en-US" altLang="zh-CN" sz="2200" dirty="0" err="1"/>
              <a:t>chmod</a:t>
            </a:r>
            <a:r>
              <a:rPr lang="en-US" altLang="zh-CN" sz="2200" dirty="0"/>
              <a:t> +x test2sh</a:t>
            </a:r>
          </a:p>
        </p:txBody>
      </p:sp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7104112" y="2434386"/>
            <a:ext cx="4320480" cy="288032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rgbClr val="339966"/>
              </a:buClr>
              <a:buFont typeface="Wingdings" pitchFamily="2" charset="2"/>
              <a:buNone/>
            </a:pPr>
            <a:r>
              <a:rPr lang="en-US" altLang="zh-CN" sz="2200" dirty="0">
                <a:solidFill>
                  <a:srgbClr val="0000CC"/>
                </a:solidFill>
                <a:ea typeface="黑体" pitchFamily="49" charset="-122"/>
              </a:rPr>
              <a:t>(3)</a:t>
            </a:r>
            <a:r>
              <a:rPr lang="zh-CN" altLang="en-US" sz="2200" dirty="0">
                <a:solidFill>
                  <a:srgbClr val="0000CC"/>
                </a:solidFill>
                <a:ea typeface="黑体" pitchFamily="49" charset="-122"/>
              </a:rPr>
              <a:t>执行：</a:t>
            </a:r>
          </a:p>
          <a:p>
            <a:pPr algn="l" eaLnBrk="1" hangingPunct="1">
              <a:spcBef>
                <a:spcPct val="20000"/>
              </a:spcBef>
              <a:buClr>
                <a:srgbClr val="339966"/>
              </a:buClr>
            </a:pPr>
            <a:r>
              <a:rPr lang="en-US" altLang="zh-CN" sz="2200" dirty="0"/>
              <a:t>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</a:t>
            </a:r>
            <a:r>
              <a:rPr lang="en-US" altLang="zh-CN" sz="2200" dirty="0">
                <a:ea typeface="黑体" pitchFamily="49" charset="-122"/>
              </a:rPr>
              <a:t>./test2.sh</a:t>
            </a:r>
          </a:p>
          <a:p>
            <a:pPr lvl="1" algn="l" eaLnBrk="1" hangingPunct="1">
              <a:spcBef>
                <a:spcPct val="20000"/>
              </a:spcBef>
              <a:buClr>
                <a:srgbClr val="339966"/>
              </a:buClr>
              <a:buFont typeface="Wingdings" pitchFamily="2" charset="2"/>
              <a:buNone/>
            </a:pPr>
            <a:r>
              <a:rPr lang="en-US" altLang="zh-CN" sz="2200" dirty="0">
                <a:ea typeface="黑体" pitchFamily="49" charset="-122"/>
              </a:rPr>
              <a:t>50  100</a:t>
            </a:r>
          </a:p>
          <a:p>
            <a:pPr lvl="1" algn="l" eaLnBrk="1" hangingPunct="1">
              <a:spcBef>
                <a:spcPct val="20000"/>
              </a:spcBef>
              <a:buClr>
                <a:srgbClr val="339966"/>
              </a:buClr>
              <a:buFont typeface="Wingdings" pitchFamily="2" charset="2"/>
              <a:buNone/>
            </a:pPr>
            <a:r>
              <a:rPr lang="en-US" altLang="zh-CN" sz="2200" dirty="0">
                <a:ea typeface="黑体" pitchFamily="49" charset="-122"/>
              </a:rPr>
              <a:t>50!=100</a:t>
            </a:r>
          </a:p>
          <a:p>
            <a:pPr algn="l" eaLnBrk="1" hangingPunct="1">
              <a:spcBef>
                <a:spcPct val="20000"/>
              </a:spcBef>
              <a:buClr>
                <a:srgbClr val="339966"/>
              </a:buClr>
            </a:pPr>
            <a:r>
              <a:rPr lang="en-US" altLang="zh-CN" sz="2200" dirty="0"/>
              <a:t>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</a:t>
            </a:r>
            <a:r>
              <a:rPr lang="en-US" altLang="zh-CN" sz="2200" dirty="0">
                <a:ea typeface="黑体" pitchFamily="49" charset="-122"/>
              </a:rPr>
              <a:t>./test2.sh</a:t>
            </a:r>
          </a:p>
          <a:p>
            <a:pPr lvl="1" algn="l" eaLnBrk="1" hangingPunct="1">
              <a:spcBef>
                <a:spcPct val="20000"/>
              </a:spcBef>
              <a:buClr>
                <a:srgbClr val="339966"/>
              </a:buClr>
              <a:buFont typeface="Wingdings" pitchFamily="2" charset="2"/>
              <a:buNone/>
            </a:pPr>
            <a:r>
              <a:rPr lang="en-US" altLang="zh-CN" sz="2200" dirty="0">
                <a:ea typeface="黑体" pitchFamily="49" charset="-122"/>
              </a:rPr>
              <a:t>150  150</a:t>
            </a:r>
          </a:p>
          <a:p>
            <a:pPr lvl="1" algn="l" eaLnBrk="1" hangingPunct="1">
              <a:spcBef>
                <a:spcPct val="20000"/>
              </a:spcBef>
              <a:buClr>
                <a:srgbClr val="339966"/>
              </a:buClr>
              <a:buFont typeface="Wingdings" pitchFamily="2" charset="2"/>
              <a:buNone/>
            </a:pPr>
            <a:r>
              <a:rPr lang="en-US" altLang="zh-CN" sz="2200" dirty="0">
                <a:ea typeface="黑体" pitchFamily="49" charset="-122"/>
              </a:rPr>
              <a:t>150= =150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81948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表达式的比较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052737"/>
            <a:ext cx="10297144" cy="4741863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3.</a:t>
            </a:r>
            <a:r>
              <a:rPr lang="zh-CN" altLang="en-US" sz="2600" dirty="0">
                <a:solidFill>
                  <a:srgbClr val="0000CC"/>
                </a:solidFill>
              </a:rPr>
              <a:t>文件测试</a:t>
            </a:r>
          </a:p>
          <a:p>
            <a:pPr marL="0" indent="0" eaLnBrk="1" hangingPunct="1">
              <a:buNone/>
            </a:pPr>
            <a:r>
              <a:rPr lang="zh-CN" altLang="en-US" sz="2600" dirty="0"/>
              <a:t>文件测试表达式通常是为了测试文件的信息，一般由脚本来决定文件是否应该备份、复制或删除。常用操作符如下：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CN" dirty="0"/>
          </a:p>
        </p:txBody>
      </p:sp>
      <p:pic>
        <p:nvPicPr>
          <p:cNvPr id="1884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216" y="2592352"/>
            <a:ext cx="7753200" cy="3425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25036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760171"/>
            <a:ext cx="8748973" cy="532859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000" dirty="0"/>
              <a:t>例如，判断</a:t>
            </a:r>
            <a:r>
              <a:rPr lang="en-US" altLang="zh-CN" sz="2000" dirty="0" err="1"/>
              <a:t>zb</a:t>
            </a:r>
            <a:r>
              <a:rPr lang="zh-CN" altLang="en-US" sz="2000" dirty="0"/>
              <a:t>目录是否存在</a:t>
            </a:r>
            <a:r>
              <a:rPr lang="en-US" altLang="zh-CN" sz="2000" dirty="0"/>
              <a:t>/root</a:t>
            </a:r>
            <a:r>
              <a:rPr lang="zh-CN" altLang="en-US" sz="2000" dirty="0"/>
              <a:t>下。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(1)</a:t>
            </a:r>
            <a:r>
              <a:rPr lang="zh-CN" altLang="en-US" sz="2000" dirty="0"/>
              <a:t>用</a:t>
            </a:r>
            <a:r>
              <a:rPr lang="en-US" altLang="zh-CN" sz="2000" dirty="0"/>
              <a:t>vim</a:t>
            </a:r>
            <a:r>
              <a:rPr lang="zh-CN" altLang="en-US" sz="2000" dirty="0"/>
              <a:t>编辑程序</a:t>
            </a:r>
            <a:endParaRPr lang="en-US" altLang="zh-CN" sz="2000" dirty="0"/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[</a:t>
            </a:r>
            <a:r>
              <a:rPr lang="en-US" altLang="zh-CN" sz="2000" dirty="0" err="1"/>
              <a:t>root@localhost</a:t>
            </a:r>
            <a:r>
              <a:rPr lang="en-US" altLang="zh-CN" sz="2000" dirty="0"/>
              <a:t> ~ ]# vim test3.sh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#!/bin/bash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test   -d   /root/</a:t>
            </a:r>
            <a:r>
              <a:rPr lang="en-US" altLang="zh-CN" sz="2000" dirty="0" err="1"/>
              <a:t>zb</a:t>
            </a:r>
            <a:r>
              <a:rPr lang="en-US" altLang="zh-CN" sz="2000" dirty="0"/>
              <a:t> 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echo $?                                              #</a:t>
            </a:r>
            <a:r>
              <a:rPr lang="zh-CN" altLang="en-US" sz="2000" dirty="0"/>
              <a:t>保存前一个命令的返回码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(2)</a:t>
            </a:r>
            <a:r>
              <a:rPr lang="zh-CN" altLang="en-US" sz="2000" dirty="0"/>
              <a:t>设置权限：</a:t>
            </a:r>
            <a:endParaRPr lang="en-US" altLang="zh-CN" sz="2000" dirty="0"/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[</a:t>
            </a:r>
            <a:r>
              <a:rPr lang="en-US" altLang="zh-CN" sz="2000" dirty="0" err="1"/>
              <a:t>root@localhost</a:t>
            </a:r>
            <a:r>
              <a:rPr lang="en-US" altLang="zh-CN" sz="2000" dirty="0"/>
              <a:t> ~ ]# </a:t>
            </a:r>
            <a:r>
              <a:rPr lang="en-US" altLang="zh-CN" sz="2000" dirty="0" err="1"/>
              <a:t>chmod</a:t>
            </a:r>
            <a:r>
              <a:rPr lang="en-US" altLang="zh-CN" sz="2000" dirty="0"/>
              <a:t> +x test3.sh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(3)</a:t>
            </a:r>
            <a:r>
              <a:rPr lang="zh-CN" altLang="en-US" sz="2000" dirty="0"/>
              <a:t>执行：</a:t>
            </a:r>
            <a:endParaRPr lang="en-US" altLang="zh-CN" sz="2000" dirty="0"/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 [</a:t>
            </a:r>
            <a:r>
              <a:rPr lang="en-US" altLang="zh-CN" sz="2000" dirty="0" err="1"/>
              <a:t>root@localhost</a:t>
            </a:r>
            <a:r>
              <a:rPr lang="en-US" altLang="zh-CN" sz="2000" dirty="0"/>
              <a:t> ~ ]# ./test3.sh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1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(4) </a:t>
            </a:r>
            <a:r>
              <a:rPr lang="zh-CN" altLang="en-US" sz="2000" dirty="0"/>
              <a:t>在</a:t>
            </a:r>
            <a:r>
              <a:rPr lang="en-US" altLang="zh-CN" sz="2000" dirty="0"/>
              <a:t>/root</a:t>
            </a:r>
            <a:r>
              <a:rPr lang="zh-CN" altLang="en-US" sz="2000" dirty="0"/>
              <a:t>添加</a:t>
            </a:r>
            <a:r>
              <a:rPr lang="en-US" altLang="zh-CN" sz="2000" dirty="0" err="1"/>
              <a:t>zb</a:t>
            </a:r>
            <a:r>
              <a:rPr lang="zh-CN" altLang="en-US" sz="2000" dirty="0"/>
              <a:t>目录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 [</a:t>
            </a:r>
            <a:r>
              <a:rPr lang="en-US" altLang="zh-CN" sz="2000" dirty="0" err="1"/>
              <a:t>root@localhost</a:t>
            </a:r>
            <a:r>
              <a:rPr lang="en-US" altLang="zh-CN" sz="2000" dirty="0"/>
              <a:t> ~ ]# </a:t>
            </a:r>
            <a:r>
              <a:rPr lang="en-US" altLang="zh-CN" sz="2000" dirty="0" err="1"/>
              <a:t>mkdir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zb</a:t>
            </a:r>
            <a:endParaRPr lang="en-US" altLang="zh-CN" sz="2000" dirty="0"/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(5)</a:t>
            </a:r>
            <a:r>
              <a:rPr lang="zh-CN" altLang="en-US" sz="2000" dirty="0"/>
              <a:t>执行：</a:t>
            </a:r>
            <a:endParaRPr lang="en-US" altLang="zh-CN" sz="2000" dirty="0"/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 [root@localhost ~ ]# ./test3.sh           </a:t>
            </a:r>
          </a:p>
          <a:p>
            <a:pPr marL="381000" indent="-381000" eaLnBrk="1" hangingPunct="1">
              <a:lnSpc>
                <a:spcPct val="90000"/>
              </a:lnSpc>
              <a:buNone/>
            </a:pPr>
            <a:r>
              <a:rPr lang="en-US" altLang="zh-CN" sz="2000" dirty="0"/>
              <a:t>0</a:t>
            </a:r>
          </a:p>
        </p:txBody>
      </p:sp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6672064" y="4653136"/>
            <a:ext cx="471626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CC"/>
                </a:solidFill>
                <a:latin typeface="+mn-ea"/>
                <a:ea typeface="+mn-ea"/>
              </a:rPr>
              <a:t>注意</a:t>
            </a:r>
            <a:r>
              <a:rPr lang="en-US" altLang="zh-CN" dirty="0">
                <a:solidFill>
                  <a:srgbClr val="0000CC"/>
                </a:solidFill>
                <a:latin typeface="+mn-ea"/>
                <a:ea typeface="+mn-ea"/>
              </a:rPr>
              <a:t>: </a:t>
            </a:r>
            <a:r>
              <a:rPr lang="zh-CN" altLang="en-US" dirty="0">
                <a:solidFill>
                  <a:srgbClr val="0000CC"/>
                </a:solidFill>
                <a:latin typeface="+mn-ea"/>
                <a:ea typeface="+mn-ea"/>
              </a:rPr>
              <a:t>运行结果</a:t>
            </a:r>
            <a:r>
              <a:rPr lang="en-US" altLang="zh-CN" dirty="0">
                <a:solidFill>
                  <a:srgbClr val="0000CC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0000CC"/>
                </a:solidFill>
                <a:latin typeface="+mn-ea"/>
                <a:ea typeface="+mn-ea"/>
              </a:rPr>
              <a:t>表示判断的目录不存在，</a:t>
            </a:r>
            <a:r>
              <a:rPr lang="en-US" altLang="zh-CN" dirty="0">
                <a:solidFill>
                  <a:srgbClr val="0000CC"/>
                </a:solidFill>
                <a:latin typeface="+mn-ea"/>
                <a:ea typeface="+mn-ea"/>
              </a:rPr>
              <a:t>0</a:t>
            </a:r>
            <a:r>
              <a:rPr lang="zh-CN" altLang="en-US" dirty="0">
                <a:solidFill>
                  <a:srgbClr val="0000CC"/>
                </a:solidFill>
                <a:latin typeface="+mn-ea"/>
                <a:ea typeface="+mn-ea"/>
              </a:rPr>
              <a:t>表示判断的目录存在。</a:t>
            </a:r>
          </a:p>
        </p:txBody>
      </p:sp>
    </p:spTree>
    <p:extLst>
      <p:ext uri="{BB962C8B-B14F-4D97-AF65-F5344CB8AC3E}">
        <p14:creationId xmlns:p14="http://schemas.microsoft.com/office/powerpoint/2010/main" val="4167156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21756" y="470928"/>
            <a:ext cx="8856984" cy="858837"/>
          </a:xfrm>
        </p:spPr>
        <p:txBody>
          <a:bodyPr/>
          <a:lstStyle/>
          <a:p>
            <a:r>
              <a:rPr lang="en-US" altLang="zh-CN" dirty="0">
                <a:ea typeface="黑体" pitchFamily="49" charset="-122"/>
              </a:rPr>
              <a:t>9.5  Shell</a:t>
            </a:r>
            <a:r>
              <a:rPr lang="zh-CN" altLang="en-US" dirty="0">
                <a:ea typeface="黑体" pitchFamily="49" charset="-122"/>
              </a:rPr>
              <a:t>的流程控制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7408" y="1340768"/>
            <a:ext cx="10729192" cy="441166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latin typeface="+mn-ea"/>
              </a:rPr>
              <a:t>与</a:t>
            </a:r>
            <a:r>
              <a:rPr lang="en-US" altLang="zh-CN" sz="2600" dirty="0">
                <a:latin typeface="+mn-ea"/>
              </a:rPr>
              <a:t>C</a:t>
            </a:r>
            <a:r>
              <a:rPr lang="zh-CN" altLang="en-US" sz="2600" dirty="0">
                <a:latin typeface="+mn-ea"/>
              </a:rPr>
              <a:t>语言的控制结构语句类似，</a:t>
            </a:r>
            <a:r>
              <a:rPr lang="en-US" altLang="zh-CN" sz="2600" dirty="0">
                <a:latin typeface="+mn-ea"/>
              </a:rPr>
              <a:t>Shell</a:t>
            </a:r>
            <a:r>
              <a:rPr lang="zh-CN" altLang="en-US" sz="2600" dirty="0">
                <a:latin typeface="+mn-ea"/>
              </a:rPr>
              <a:t>提供了几个专门的内部命令来构造控制结构，用它们可以构造出任意的分支与循环。这些命令可以分为以下几类：</a:t>
            </a:r>
            <a:endParaRPr lang="en-US" altLang="zh-CN" sz="26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+mn-ea"/>
              </a:rPr>
              <a:t>分支结构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if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case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+mn-ea"/>
              </a:rPr>
              <a:t>循环结构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while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until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for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+mn-ea"/>
              </a:rPr>
              <a:t>循环控制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break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continue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00CC"/>
                </a:solidFill>
                <a:latin typeface="+mn-ea"/>
              </a:rPr>
              <a:t>结束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dirty="0">
                <a:latin typeface="+mn-ea"/>
              </a:rPr>
              <a:t>return</a:t>
            </a:r>
            <a:r>
              <a:rPr lang="zh-CN" altLang="en-US" dirty="0">
                <a:latin typeface="+mn-ea"/>
              </a:rPr>
              <a:t>、</a:t>
            </a:r>
            <a:r>
              <a:rPr lang="en-US" altLang="zh-CN" dirty="0">
                <a:latin typeface="+mn-ea"/>
              </a:rPr>
              <a:t>exit</a:t>
            </a:r>
            <a:endParaRPr lang="zh-CN" altLang="en-US" dirty="0"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2794514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条件结构语句 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1386407"/>
            <a:ext cx="9925744" cy="4536504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If</a:t>
            </a:r>
            <a:r>
              <a:rPr lang="zh-CN" altLang="en-US" sz="2600" dirty="0">
                <a:solidFill>
                  <a:srgbClr val="0000CC"/>
                </a:solidFill>
              </a:rPr>
              <a:t> 命令：</a:t>
            </a:r>
            <a:r>
              <a:rPr lang="zh-CN" altLang="en-US" sz="2600" dirty="0"/>
              <a:t>根据条件命令执行的结果决定后续命令的执行路径。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语法</a:t>
            </a:r>
            <a:r>
              <a:rPr lang="zh-CN" altLang="en-US" sz="2600" dirty="0"/>
              <a:t>：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if  </a:t>
            </a:r>
            <a:r>
              <a:rPr lang="zh-CN" altLang="en-US" dirty="0">
                <a:solidFill>
                  <a:srgbClr val="0000CC"/>
                </a:solidFill>
              </a:rPr>
              <a:t>条件命令</a:t>
            </a:r>
            <a:r>
              <a:rPr lang="en-US" altLang="zh-CN" dirty="0">
                <a:solidFill>
                  <a:srgbClr val="0000CC"/>
                </a:solidFill>
              </a:rPr>
              <a:t>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then  </a:t>
            </a:r>
            <a:r>
              <a:rPr lang="zh-CN" altLang="en-US" dirty="0">
                <a:solidFill>
                  <a:srgbClr val="0000CC"/>
                </a:solidFill>
              </a:rPr>
              <a:t>命令列表</a:t>
            </a:r>
            <a:r>
              <a:rPr lang="en-US" altLang="zh-CN" dirty="0">
                <a:solidFill>
                  <a:srgbClr val="0000CC"/>
                </a:solidFill>
              </a:rPr>
              <a:t>1                   </a:t>
            </a:r>
            <a:r>
              <a:rPr lang="en-US" altLang="zh-CN" sz="2400" dirty="0"/>
              <a:t>#  </a:t>
            </a:r>
            <a:r>
              <a:rPr lang="zh-CN" altLang="en-US" sz="2400" dirty="0"/>
              <a:t>若</a:t>
            </a:r>
            <a:r>
              <a:rPr lang="en-US" altLang="zh-CN" sz="2400" dirty="0"/>
              <a:t>$? </a:t>
            </a:r>
            <a:r>
              <a:rPr lang="zh-CN" altLang="en-US" sz="2400" dirty="0"/>
              <a:t>为</a:t>
            </a:r>
            <a:r>
              <a:rPr lang="en-US" altLang="zh-CN" sz="2400" dirty="0"/>
              <a:t>0</a:t>
            </a:r>
            <a:r>
              <a:rPr lang="zh-CN" altLang="en-US" sz="2400" dirty="0"/>
              <a:t>，执行此分支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[  else </a:t>
            </a:r>
            <a:r>
              <a:rPr lang="zh-CN" altLang="en-US" dirty="0">
                <a:solidFill>
                  <a:srgbClr val="0000CC"/>
                </a:solidFill>
              </a:rPr>
              <a:t>命令列表</a:t>
            </a:r>
            <a:r>
              <a:rPr lang="en-US" altLang="zh-CN" dirty="0">
                <a:solidFill>
                  <a:srgbClr val="0000CC"/>
                </a:solidFill>
              </a:rPr>
              <a:t>2  ]              </a:t>
            </a:r>
            <a:r>
              <a:rPr lang="en-US" altLang="zh-CN" sz="2400" dirty="0"/>
              <a:t>#  </a:t>
            </a:r>
            <a:r>
              <a:rPr lang="zh-CN" altLang="en-US" sz="2400" dirty="0"/>
              <a:t>否则，执行此分支</a:t>
            </a:r>
            <a:endParaRPr lang="en-US" altLang="zh-CN" sz="2400" dirty="0"/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fi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/>
              <a:t>Linux</a:t>
            </a:r>
            <a:r>
              <a:rPr lang="zh-CN" altLang="en-US" sz="2600" dirty="0"/>
              <a:t>里的</a:t>
            </a:r>
            <a:r>
              <a:rPr lang="en-US" altLang="zh-CN" sz="2600" dirty="0"/>
              <a:t>if</a:t>
            </a:r>
            <a:r>
              <a:rPr lang="zh-CN" altLang="en-US" sz="2600" dirty="0"/>
              <a:t>的</a:t>
            </a:r>
            <a:r>
              <a:rPr lang="zh-CN" altLang="en-US" sz="2600" dirty="0">
                <a:solidFill>
                  <a:srgbClr val="CC0099"/>
                </a:solidFill>
              </a:rPr>
              <a:t>结束标志</a:t>
            </a:r>
            <a:r>
              <a:rPr lang="zh-CN" altLang="en-US" sz="2600" dirty="0"/>
              <a:t>是将</a:t>
            </a:r>
            <a:r>
              <a:rPr lang="en-US" altLang="zh-CN" sz="2600" dirty="0"/>
              <a:t>if</a:t>
            </a:r>
            <a:r>
              <a:rPr lang="zh-CN" altLang="en-US" sz="2600" dirty="0"/>
              <a:t>反过来写成</a:t>
            </a:r>
            <a:r>
              <a:rPr lang="en-US" altLang="zh-CN" sz="2600" dirty="0">
                <a:solidFill>
                  <a:srgbClr val="CC0099"/>
                </a:solidFill>
              </a:rPr>
              <a:t>fi</a:t>
            </a:r>
            <a:r>
              <a:rPr lang="zh-CN" altLang="en-US" sz="2600" dirty="0"/>
              <a:t>。</a:t>
            </a:r>
            <a:endParaRPr lang="en-US" altLang="zh-CN" sz="26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/>
              <a:t>If</a:t>
            </a:r>
            <a:r>
              <a:rPr lang="zh-CN" altLang="en-US" sz="2600" dirty="0"/>
              <a:t>命令的执行过程</a:t>
            </a:r>
            <a:r>
              <a:rPr lang="en-US" altLang="zh-CN" sz="2600" dirty="0"/>
              <a:t>:</a:t>
            </a:r>
            <a:r>
              <a:rPr lang="zh-CN" altLang="en-US" sz="2600" dirty="0"/>
              <a:t>首先执行条件命令，然后根据条件命令的</a:t>
            </a:r>
            <a:r>
              <a:rPr lang="zh-CN" altLang="en-US" sz="2600" dirty="0">
                <a:solidFill>
                  <a:srgbClr val="0000CC"/>
                </a:solidFill>
              </a:rPr>
              <a:t>退出状态作为条件决定后续的执行路径</a:t>
            </a:r>
            <a:r>
              <a:rPr lang="zh-CN" altLang="en-US" sz="2600" dirty="0"/>
              <a:t>。若条件为真则执行命令列表</a:t>
            </a:r>
            <a:r>
              <a:rPr lang="en-US" altLang="zh-CN" sz="2600" dirty="0"/>
              <a:t>1</a:t>
            </a:r>
            <a:r>
              <a:rPr lang="zh-CN" altLang="en-US" sz="2600" dirty="0"/>
              <a:t>，否则执行命令列表</a:t>
            </a:r>
            <a:r>
              <a:rPr lang="en-US" altLang="zh-CN" sz="2600" dirty="0"/>
              <a:t>2</a:t>
            </a:r>
            <a:r>
              <a:rPr lang="zh-CN" altLang="en-US" sz="2600" dirty="0"/>
              <a:t>。以上是</a:t>
            </a:r>
            <a:r>
              <a:rPr lang="en-US" altLang="zh-CN" sz="2600" dirty="0"/>
              <a:t>if</a:t>
            </a:r>
            <a:r>
              <a:rPr lang="zh-CN" altLang="en-US" sz="2600" dirty="0"/>
              <a:t>语句最</a:t>
            </a:r>
            <a:r>
              <a:rPr lang="zh-CN" altLang="en-US" sz="2600" dirty="0">
                <a:solidFill>
                  <a:srgbClr val="0000CC"/>
                </a:solidFill>
              </a:rPr>
              <a:t>基本的格式</a:t>
            </a:r>
            <a:r>
              <a:rPr lang="zh-CN" altLang="en-US" sz="2600" dirty="0"/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33340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1388913" y="1154933"/>
            <a:ext cx="4038600" cy="4411662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solidFill>
                  <a:srgbClr val="CC0099"/>
                </a:solidFill>
              </a:rPr>
              <a:t>If</a:t>
            </a:r>
            <a:r>
              <a:rPr lang="zh-CN" altLang="en-US" sz="2600" dirty="0">
                <a:solidFill>
                  <a:srgbClr val="CC0099"/>
                </a:solidFill>
              </a:rPr>
              <a:t>其它格式</a:t>
            </a:r>
          </a:p>
        </p:txBody>
      </p:sp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1703512" y="1772816"/>
            <a:ext cx="9793088" cy="446764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solidFill>
                  <a:srgbClr val="0000CC"/>
                </a:solidFill>
                <a:latin typeface="+mn-lt"/>
                <a:ea typeface="+mn-ea"/>
              </a:rPr>
              <a:t>If</a:t>
            </a:r>
            <a:r>
              <a:rPr lang="en-US" altLang="zh-CN" sz="2600" dirty="0">
                <a:latin typeface="+mn-lt"/>
                <a:ea typeface="+mn-ea"/>
              </a:rPr>
              <a:t> </a:t>
            </a:r>
            <a:r>
              <a:rPr lang="zh-CN" altLang="en-US" sz="2600" dirty="0">
                <a:latin typeface="+mn-ea"/>
                <a:ea typeface="+mn-ea"/>
              </a:rPr>
              <a:t>条件命令</a:t>
            </a:r>
            <a:endParaRPr lang="en-US" altLang="zh-CN" sz="2600" dirty="0">
              <a:latin typeface="+mn-ea"/>
              <a:ea typeface="+mn-ea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solidFill>
                  <a:srgbClr val="0000CC"/>
                </a:solidFill>
                <a:latin typeface="+mn-lt"/>
                <a:ea typeface="+mn-ea"/>
              </a:rPr>
              <a:t>then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latin typeface="+mn-ea"/>
                <a:ea typeface="+mn-ea"/>
              </a:rPr>
              <a:t>  </a:t>
            </a:r>
            <a:r>
              <a:rPr lang="zh-CN" altLang="en-US" sz="2600" dirty="0">
                <a:latin typeface="+mn-ea"/>
                <a:ea typeface="+mn-ea"/>
              </a:rPr>
              <a:t>命令列表</a:t>
            </a:r>
            <a:r>
              <a:rPr lang="en-US" altLang="zh-CN" sz="2600" dirty="0">
                <a:latin typeface="+mn-ea"/>
                <a:ea typeface="+mn-ea"/>
              </a:rPr>
              <a:t>1</a:t>
            </a:r>
            <a:r>
              <a:rPr lang="zh-CN" altLang="en-US" sz="2600" dirty="0">
                <a:latin typeface="+mn-ea"/>
                <a:ea typeface="+mn-ea"/>
              </a:rPr>
              <a:t>      </a:t>
            </a:r>
            <a:r>
              <a:rPr lang="en-US" altLang="zh-CN" sz="2600" dirty="0">
                <a:latin typeface="+mn-ea"/>
                <a:ea typeface="+mn-ea"/>
              </a:rPr>
              <a:t>#</a:t>
            </a:r>
            <a:r>
              <a:rPr lang="zh-CN" altLang="en-US" sz="2600" dirty="0">
                <a:latin typeface="+mn-ea"/>
                <a:ea typeface="+mn-ea"/>
              </a:rPr>
              <a:t>可以是多条语句 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latin typeface="+mn-ea"/>
                <a:ea typeface="+mn-ea"/>
              </a:rPr>
              <a:t>[</a:t>
            </a:r>
            <a:r>
              <a:rPr lang="en-US" altLang="zh-CN" sz="2600" dirty="0" err="1">
                <a:solidFill>
                  <a:srgbClr val="0000CC"/>
                </a:solidFill>
                <a:latin typeface="+mn-lt"/>
                <a:ea typeface="+mn-ea"/>
              </a:rPr>
              <a:t>elif</a:t>
            </a:r>
            <a:r>
              <a:rPr lang="en-US" altLang="zh-CN" sz="2600" dirty="0">
                <a:latin typeface="+mn-ea"/>
                <a:ea typeface="+mn-ea"/>
              </a:rPr>
              <a:t> </a:t>
            </a:r>
            <a:r>
              <a:rPr lang="zh-CN" altLang="en-US" sz="2600" dirty="0">
                <a:latin typeface="+mn-ea"/>
                <a:ea typeface="+mn-ea"/>
              </a:rPr>
              <a:t>条件</a:t>
            </a:r>
            <a:r>
              <a:rPr lang="en-US" altLang="zh-CN" sz="2600" dirty="0">
                <a:latin typeface="+mn-ea"/>
                <a:ea typeface="+mn-ea"/>
              </a:rPr>
              <a:t>2</a:t>
            </a:r>
          </a:p>
          <a:p>
            <a:pPr lvl="1"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solidFill>
                  <a:srgbClr val="0000CC"/>
                </a:solidFill>
                <a:latin typeface="+mn-lt"/>
                <a:ea typeface="+mn-ea"/>
              </a:rPr>
              <a:t>then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latin typeface="+mn-ea"/>
                <a:ea typeface="+mn-ea"/>
              </a:rPr>
              <a:t>      </a:t>
            </a:r>
            <a:r>
              <a:rPr lang="zh-CN" altLang="en-US" sz="2600" dirty="0">
                <a:latin typeface="+mn-ea"/>
                <a:ea typeface="+mn-ea"/>
              </a:rPr>
              <a:t>命令列表</a:t>
            </a:r>
            <a:r>
              <a:rPr lang="en-US" altLang="zh-CN" sz="2600" dirty="0">
                <a:latin typeface="+mn-ea"/>
                <a:ea typeface="+mn-ea"/>
              </a:rPr>
              <a:t>2 </a:t>
            </a:r>
            <a:r>
              <a:rPr lang="zh-CN" altLang="en-US" sz="2600" dirty="0">
                <a:latin typeface="+mn-ea"/>
                <a:ea typeface="+mn-ea"/>
              </a:rPr>
              <a:t> </a:t>
            </a:r>
            <a:r>
              <a:rPr lang="en-US" altLang="zh-CN" sz="2600" dirty="0">
                <a:latin typeface="+mn-ea"/>
                <a:ea typeface="+mn-ea"/>
              </a:rPr>
              <a:t>#</a:t>
            </a:r>
            <a:r>
              <a:rPr lang="zh-CN" altLang="en-US" sz="2600" dirty="0">
                <a:latin typeface="+mn-ea"/>
                <a:ea typeface="+mn-ea"/>
              </a:rPr>
              <a:t>可以是多条语句</a:t>
            </a:r>
            <a:r>
              <a:rPr lang="en-US" altLang="zh-CN" sz="2600" dirty="0">
                <a:latin typeface="+mn-ea"/>
                <a:ea typeface="+mn-ea"/>
              </a:rPr>
              <a:t>]</a:t>
            </a:r>
          </a:p>
          <a:p>
            <a:pPr marL="0" lvl="1"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/>
              <a:t>…</a:t>
            </a:r>
            <a:endParaRPr lang="en-US" altLang="zh-CN" sz="2600" dirty="0">
              <a:latin typeface="+mn-ea"/>
              <a:ea typeface="+mn-ea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latin typeface="+mn-ea"/>
                <a:ea typeface="+mn-ea"/>
              </a:rPr>
              <a:t>[</a:t>
            </a:r>
            <a:r>
              <a:rPr lang="en-US" altLang="zh-CN" sz="2600" dirty="0">
                <a:solidFill>
                  <a:srgbClr val="0000CC"/>
                </a:solidFill>
                <a:latin typeface="+mn-lt"/>
                <a:ea typeface="+mn-ea"/>
              </a:rPr>
              <a:t>else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latin typeface="+mn-ea"/>
                <a:ea typeface="+mn-ea"/>
              </a:rPr>
              <a:t>  </a:t>
            </a:r>
            <a:r>
              <a:rPr lang="zh-CN" altLang="en-US" sz="2600" dirty="0">
                <a:latin typeface="+mn-ea"/>
                <a:ea typeface="+mn-ea"/>
              </a:rPr>
              <a:t>命令列表</a:t>
            </a:r>
            <a:r>
              <a:rPr lang="en-US" altLang="zh-CN" sz="2600" dirty="0">
                <a:latin typeface="+mn-ea"/>
                <a:ea typeface="+mn-ea"/>
              </a:rPr>
              <a:t>3  </a:t>
            </a:r>
            <a:r>
              <a:rPr lang="zh-CN" altLang="en-US" sz="2600" dirty="0">
                <a:latin typeface="+mn-ea"/>
                <a:ea typeface="+mn-ea"/>
              </a:rPr>
              <a:t>    </a:t>
            </a:r>
            <a:r>
              <a:rPr lang="en-US" altLang="zh-CN" sz="2600" dirty="0">
                <a:latin typeface="+mn-ea"/>
                <a:ea typeface="+mn-ea"/>
              </a:rPr>
              <a:t>#</a:t>
            </a:r>
            <a:r>
              <a:rPr lang="zh-CN" altLang="en-US" sz="2600" dirty="0">
                <a:latin typeface="+mn-ea"/>
                <a:ea typeface="+mn-ea"/>
              </a:rPr>
              <a:t>可以是多条语句 </a:t>
            </a:r>
            <a:r>
              <a:rPr lang="en-US" altLang="zh-CN" sz="2600" dirty="0">
                <a:latin typeface="+mn-ea"/>
                <a:ea typeface="+mn-ea"/>
              </a:rPr>
              <a:t>]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zh-CN" sz="2600" dirty="0">
                <a:solidFill>
                  <a:srgbClr val="0000CC"/>
                </a:solidFill>
                <a:latin typeface="+mn-ea"/>
                <a:ea typeface="+mn-ea"/>
              </a:rPr>
              <a:t> </a:t>
            </a:r>
            <a:r>
              <a:rPr lang="en-US" altLang="zh-CN" sz="2600" dirty="0">
                <a:solidFill>
                  <a:srgbClr val="0000CC"/>
                </a:solidFill>
                <a:latin typeface="+mn-lt"/>
                <a:ea typeface="+mn-ea"/>
              </a:rPr>
              <a:t>fi</a:t>
            </a:r>
            <a:endParaRPr lang="zh-CN" altLang="en-US" sz="2600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847528" y="332656"/>
            <a:ext cx="8928992" cy="858837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条件结构语句 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8292244" y="2998113"/>
            <a:ext cx="2952328" cy="86177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CC"/>
                </a:solidFill>
                <a:latin typeface="+mn-ea"/>
                <a:ea typeface="+mn-ea"/>
              </a:rPr>
              <a:t>注意</a:t>
            </a:r>
            <a:r>
              <a:rPr lang="en-US" altLang="zh-CN" sz="2000" dirty="0">
                <a:solidFill>
                  <a:srgbClr val="0000CC"/>
                </a:solidFill>
                <a:latin typeface="+mn-ea"/>
                <a:ea typeface="+mn-ea"/>
              </a:rPr>
              <a:t>: </a:t>
            </a:r>
            <a:r>
              <a:rPr lang="en-US" altLang="zh-CN" sz="2000" dirty="0" err="1">
                <a:solidFill>
                  <a:srgbClr val="0000CC"/>
                </a:solidFill>
                <a:latin typeface="+mn-lt"/>
                <a:ea typeface="+mn-ea"/>
              </a:rPr>
              <a:t>elif</a:t>
            </a:r>
            <a:r>
              <a:rPr lang="zh-CN" altLang="en-US" sz="2000" dirty="0">
                <a:solidFill>
                  <a:srgbClr val="0000CC"/>
                </a:solidFill>
                <a:latin typeface="+mn-ea"/>
                <a:ea typeface="+mn-ea"/>
              </a:rPr>
              <a:t>是</a:t>
            </a:r>
            <a:r>
              <a:rPr lang="en-US" altLang="zh-CN" sz="2000" dirty="0">
                <a:solidFill>
                  <a:srgbClr val="0000CC"/>
                </a:solidFill>
                <a:latin typeface="+mn-lt"/>
                <a:ea typeface="+mn-ea"/>
              </a:rPr>
              <a:t>else if</a:t>
            </a:r>
            <a:r>
              <a:rPr lang="zh-CN" altLang="en-US" sz="2000" dirty="0">
                <a:solidFill>
                  <a:srgbClr val="0000CC"/>
                </a:solidFill>
                <a:latin typeface="+mn-ea"/>
                <a:ea typeface="+mn-ea"/>
              </a:rPr>
              <a:t>的</a:t>
            </a:r>
            <a:endParaRPr lang="en-US" altLang="zh-CN" sz="2000" dirty="0">
              <a:solidFill>
                <a:srgbClr val="0000CC"/>
              </a:solidFill>
              <a:latin typeface="+mn-ea"/>
              <a:ea typeface="+mn-ea"/>
            </a:endParaRPr>
          </a:p>
          <a:p>
            <a:pPr algn="l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CC"/>
                </a:solidFill>
                <a:latin typeface="+mn-ea"/>
                <a:ea typeface="+mn-ea"/>
              </a:rPr>
              <a:t>缩写，并且省略了</a:t>
            </a:r>
            <a:r>
              <a:rPr lang="en-US" altLang="zh-CN" sz="2000" dirty="0">
                <a:solidFill>
                  <a:srgbClr val="0000CC"/>
                </a:solidFill>
                <a:latin typeface="+mn-lt"/>
                <a:ea typeface="+mn-ea"/>
              </a:rPr>
              <a:t>fi</a:t>
            </a:r>
            <a:endParaRPr lang="zh-CN" altLang="en-US" sz="2000" dirty="0">
              <a:solidFill>
                <a:srgbClr val="0000CC"/>
              </a:solidFill>
              <a:latin typeface="+mn-lt"/>
              <a:ea typeface="+mn-ea"/>
            </a:endParaRPr>
          </a:p>
        </p:txBody>
      </p:sp>
      <p:sp>
        <p:nvSpPr>
          <p:cNvPr id="8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52407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47529" y="1196752"/>
            <a:ext cx="7488187" cy="5328592"/>
          </a:xfrm>
        </p:spPr>
        <p:txBody>
          <a:bodyPr/>
          <a:lstStyle/>
          <a:p>
            <a:pPr lvl="1" eaLnBrk="1" hangingPunct="1">
              <a:buNone/>
            </a:pPr>
            <a:r>
              <a:rPr lang="en-US" altLang="zh-CN" sz="2200" dirty="0"/>
              <a:t>[root@localhost ~ ]# vim test5.sh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#!/bin/bash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echo “Please enter the directory name or file name”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read  DORF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if [ -d $DORF ]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then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  ls $DORF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 err="1"/>
              <a:t>elif</a:t>
            </a:r>
            <a:r>
              <a:rPr lang="en-US" altLang="zh-CN" sz="2200" dirty="0"/>
              <a:t> [ -f $DORF ]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then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  cat $DORF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else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  echo “input error!”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sz="2200" dirty="0"/>
              <a:t>fi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70FA258-9FF6-16F1-A009-865A38203155}"/>
              </a:ext>
            </a:extLst>
          </p:cNvPr>
          <p:cNvSpPr txBox="1"/>
          <p:nvPr/>
        </p:nvSpPr>
        <p:spPr>
          <a:xfrm>
            <a:off x="623392" y="476672"/>
            <a:ext cx="109452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例如，输入一个字符串，如果是目录，则显示目录下的信息，如果为文件则显示文件的内容。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034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AC3BF0-1294-456C-86C5-5A783554FB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BDD166-48A5-4376-C0A2-C43B84E88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960" y="803529"/>
            <a:ext cx="8869706" cy="54369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5037506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476672"/>
            <a:ext cx="10058400" cy="858837"/>
          </a:xfrm>
        </p:spPr>
        <p:txBody>
          <a:bodyPr/>
          <a:lstStyle/>
          <a:p>
            <a:pPr eaLnBrk="1" hangingPunct="1"/>
            <a:r>
              <a:rPr lang="zh-CN" altLang="en-US" dirty="0"/>
              <a:t>条件结构语句 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201" y="1412776"/>
            <a:ext cx="11017224" cy="53276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CC"/>
                </a:solidFill>
              </a:rPr>
              <a:t>case</a:t>
            </a:r>
            <a:r>
              <a:rPr lang="zh-CN" altLang="en-US" sz="2400" dirty="0">
                <a:solidFill>
                  <a:srgbClr val="0000CC"/>
                </a:solidFill>
              </a:rPr>
              <a:t>命令</a:t>
            </a:r>
            <a:r>
              <a:rPr lang="zh-CN" altLang="en-US" sz="2400" dirty="0"/>
              <a:t>是一个多选择语句，根据变量与哪种模式匹配即执行相应的语句序列。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CC0099"/>
                </a:solidFill>
              </a:rPr>
              <a:t>语法：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CC"/>
                </a:solidFill>
              </a:rPr>
              <a:t>case  </a:t>
            </a:r>
            <a:r>
              <a:rPr lang="zh-CN" altLang="en-US" sz="2400" dirty="0">
                <a:solidFill>
                  <a:srgbClr val="0000CC"/>
                </a:solidFill>
              </a:rPr>
              <a:t>测试字符串  </a:t>
            </a:r>
            <a:r>
              <a:rPr lang="en-US" altLang="zh-CN" sz="2400" dirty="0">
                <a:solidFill>
                  <a:srgbClr val="0000CC"/>
                </a:solidFill>
              </a:rPr>
              <a:t>in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模式</a:t>
            </a:r>
            <a:r>
              <a:rPr lang="en-US" altLang="zh-CN" sz="2400" dirty="0">
                <a:solidFill>
                  <a:srgbClr val="0000CC"/>
                </a:solidFill>
              </a:rPr>
              <a:t>1</a:t>
            </a:r>
            <a:r>
              <a:rPr lang="zh-CN" altLang="en-US" sz="2400" dirty="0">
                <a:solidFill>
                  <a:srgbClr val="0000CC"/>
                </a:solidFill>
              </a:rPr>
              <a:t>） 命令列表</a:t>
            </a:r>
            <a:r>
              <a:rPr lang="en-US" altLang="zh-CN" sz="2400" dirty="0">
                <a:solidFill>
                  <a:srgbClr val="0000CC"/>
                </a:solidFill>
              </a:rPr>
              <a:t>1</a:t>
            </a:r>
            <a:r>
              <a:rPr lang="zh-CN" altLang="en-US" sz="2400" dirty="0"/>
              <a:t>；；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模式</a:t>
            </a:r>
            <a:r>
              <a:rPr lang="en-US" altLang="zh-CN" sz="2400" dirty="0">
                <a:solidFill>
                  <a:srgbClr val="0000CC"/>
                </a:solidFill>
              </a:rPr>
              <a:t>2</a:t>
            </a:r>
            <a:r>
              <a:rPr lang="zh-CN" altLang="en-US" sz="2400" dirty="0">
                <a:solidFill>
                  <a:srgbClr val="0000CC"/>
                </a:solidFill>
              </a:rPr>
              <a:t>） 命令列表</a:t>
            </a:r>
            <a:r>
              <a:rPr lang="en-US" altLang="zh-CN" sz="2400" dirty="0">
                <a:solidFill>
                  <a:srgbClr val="0000CC"/>
                </a:solidFill>
              </a:rPr>
              <a:t>2</a:t>
            </a:r>
            <a:r>
              <a:rPr lang="zh-CN" altLang="en-US" sz="2400" dirty="0"/>
              <a:t>；；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/>
              <a:t>  …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0000CC"/>
                </a:solidFill>
              </a:rPr>
              <a:t>模式</a:t>
            </a:r>
            <a:r>
              <a:rPr lang="en-US" altLang="zh-CN" sz="2400" dirty="0">
                <a:solidFill>
                  <a:srgbClr val="0000CC"/>
                </a:solidFill>
              </a:rPr>
              <a:t>n</a:t>
            </a:r>
            <a:r>
              <a:rPr lang="zh-CN" altLang="en-US" sz="2400" dirty="0">
                <a:solidFill>
                  <a:srgbClr val="0000CC"/>
                </a:solidFill>
              </a:rPr>
              <a:t>） 命令列表</a:t>
            </a:r>
            <a:r>
              <a:rPr lang="en-US" altLang="zh-CN" sz="2400" dirty="0">
                <a:solidFill>
                  <a:srgbClr val="0000CC"/>
                </a:solidFill>
              </a:rPr>
              <a:t>n</a:t>
            </a:r>
            <a:r>
              <a:rPr lang="zh-CN" altLang="en-US" sz="2400" dirty="0"/>
              <a:t>；；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400" dirty="0" err="1">
                <a:solidFill>
                  <a:srgbClr val="0000CC"/>
                </a:solidFill>
              </a:rPr>
              <a:t>esac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zh-CN" altLang="en-US" sz="2400" dirty="0"/>
              <a:t>每个分支条件必须以两个分号“</a:t>
            </a:r>
            <a:r>
              <a:rPr lang="zh-CN" altLang="en-US" sz="2400" dirty="0">
                <a:solidFill>
                  <a:srgbClr val="CC0099"/>
                </a:solidFill>
              </a:rPr>
              <a:t>；；</a:t>
            </a:r>
            <a:r>
              <a:rPr lang="zh-CN" altLang="en-US" sz="2400" dirty="0"/>
              <a:t>”结尾。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/>
              <a:t>case</a:t>
            </a:r>
            <a:r>
              <a:rPr lang="zh-CN" altLang="en-US" sz="2400" dirty="0"/>
              <a:t>命令的执行过程，先将测试字符串与各个模式字符串逐一比较，若发现了一个匹配的模式则执行该模式对应的命令列表。</a:t>
            </a:r>
            <a:r>
              <a:rPr lang="zh-CN" altLang="en-US" sz="2400" dirty="0">
                <a:solidFill>
                  <a:srgbClr val="0000CC"/>
                </a:solidFill>
              </a:rPr>
              <a:t>如果都不匹配，可用“ </a:t>
            </a:r>
            <a:r>
              <a:rPr lang="en-US" altLang="zh-CN" sz="2400" dirty="0">
                <a:solidFill>
                  <a:srgbClr val="0000CC"/>
                </a:solidFill>
              </a:rPr>
              <a:t>* ”</a:t>
            </a:r>
            <a:r>
              <a:rPr lang="zh-CN" altLang="en-US" sz="2400" dirty="0">
                <a:solidFill>
                  <a:srgbClr val="0000CC"/>
                </a:solidFill>
              </a:rPr>
              <a:t>代替</a:t>
            </a:r>
            <a:r>
              <a:rPr lang="zh-CN" altLang="en-US" sz="2400" dirty="0"/>
              <a:t>，相当于</a:t>
            </a:r>
            <a:r>
              <a:rPr lang="en-US" altLang="zh-CN" sz="2400" dirty="0" err="1"/>
              <a:t>defult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CC0099"/>
                </a:solidFill>
              </a:rPr>
              <a:t>注意</a:t>
            </a:r>
            <a:r>
              <a:rPr lang="zh-CN" altLang="en-US" sz="2400" dirty="0"/>
              <a:t>：若有多个匹配的模式时，只执行最前面的那个分支。</a:t>
            </a:r>
            <a:endParaRPr lang="en-US" altLang="zh-CN" sz="2400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356176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004463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3392" y="620688"/>
            <a:ext cx="11017224" cy="5544616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200" dirty="0">
                <a:latin typeface="+mn-ea"/>
              </a:rPr>
              <a:t>例如：</a:t>
            </a:r>
            <a:r>
              <a:rPr lang="en-US" altLang="zh-CN" sz="2200" dirty="0">
                <a:latin typeface="+mn-ea"/>
              </a:rPr>
              <a:t>Linux</a:t>
            </a:r>
            <a:r>
              <a:rPr lang="zh-CN" altLang="en-US" sz="2200" dirty="0">
                <a:latin typeface="+mn-ea"/>
              </a:rPr>
              <a:t>是一个多用户操作系统，编写程序根据不同的用户登录输出不同的反馈结果。</a:t>
            </a:r>
            <a:endParaRPr lang="en-US" altLang="zh-CN" sz="2200" dirty="0">
              <a:latin typeface="+mn-ea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CN" sz="2200" dirty="0">
                <a:solidFill>
                  <a:srgbClr val="0000CC"/>
                </a:solidFill>
                <a:latin typeface="+mn-ea"/>
              </a:rPr>
              <a:t>(1)</a:t>
            </a:r>
            <a:r>
              <a:rPr lang="zh-CN" altLang="en-US" sz="2200" dirty="0">
                <a:solidFill>
                  <a:srgbClr val="0000CC"/>
                </a:solidFill>
                <a:latin typeface="+mn-ea"/>
              </a:rPr>
              <a:t>用</a:t>
            </a:r>
            <a:r>
              <a:rPr lang="en-US" altLang="zh-CN" sz="2200" dirty="0">
                <a:solidFill>
                  <a:srgbClr val="0000CC"/>
                </a:solidFill>
                <a:latin typeface="+mn-ea"/>
              </a:rPr>
              <a:t>vim</a:t>
            </a:r>
            <a:r>
              <a:rPr lang="zh-CN" altLang="en-US" sz="2200" dirty="0">
                <a:solidFill>
                  <a:srgbClr val="0000CC"/>
                </a:solidFill>
                <a:latin typeface="+mn-ea"/>
              </a:rPr>
              <a:t>编辑程序</a:t>
            </a:r>
            <a:r>
              <a:rPr lang="en-US" altLang="zh-CN" sz="2200" dirty="0">
                <a:solidFill>
                  <a:srgbClr val="0000CC"/>
                </a:solidFill>
                <a:latin typeface="+mn-ea"/>
              </a:rPr>
              <a:t>test6.sh</a:t>
            </a:r>
            <a:endParaRPr lang="zh-CN" altLang="en-US" sz="2200" dirty="0">
              <a:solidFill>
                <a:srgbClr val="0000CC"/>
              </a:solidFill>
              <a:latin typeface="+mn-ea"/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200" dirty="0"/>
              <a:t>[root@localhost ~ ]#  </a:t>
            </a:r>
            <a:r>
              <a:rPr lang="en-US" altLang="zh-CN" sz="2200" dirty="0">
                <a:latin typeface="+mn-ea"/>
              </a:rPr>
              <a:t>vim test6.sh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#!/bin/bash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case $USER  in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 </a:t>
            </a:r>
            <a:r>
              <a:rPr lang="en-US" altLang="zh-CN" sz="2200" dirty="0" err="1">
                <a:latin typeface="+mn-ea"/>
              </a:rPr>
              <a:t>zhangsan</a:t>
            </a:r>
            <a:r>
              <a:rPr lang="en-US" altLang="zh-CN" sz="2200" dirty="0">
                <a:latin typeface="+mn-ea"/>
              </a:rPr>
              <a:t>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   echo "You are </a:t>
            </a:r>
            <a:r>
              <a:rPr lang="en-US" altLang="zh-CN" sz="2200" dirty="0" err="1">
                <a:latin typeface="+mn-ea"/>
              </a:rPr>
              <a:t>zhangsan</a:t>
            </a:r>
            <a:r>
              <a:rPr lang="en-US" altLang="zh-CN" sz="2200" dirty="0">
                <a:latin typeface="+mn-ea"/>
              </a:rPr>
              <a:t>!";;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 </a:t>
            </a:r>
            <a:r>
              <a:rPr lang="en-US" altLang="zh-CN" sz="2200" dirty="0" err="1">
                <a:latin typeface="+mn-ea"/>
              </a:rPr>
              <a:t>lisi</a:t>
            </a:r>
            <a:r>
              <a:rPr lang="en-US" altLang="zh-CN" sz="2200" dirty="0">
                <a:latin typeface="+mn-ea"/>
              </a:rPr>
              <a:t>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   echo "You are </a:t>
            </a:r>
            <a:r>
              <a:rPr lang="en-US" altLang="zh-CN" sz="2200" dirty="0" err="1">
                <a:latin typeface="+mn-ea"/>
              </a:rPr>
              <a:t>lisi</a:t>
            </a:r>
            <a:r>
              <a:rPr lang="en-US" altLang="zh-CN" sz="2200" dirty="0">
                <a:latin typeface="+mn-ea"/>
              </a:rPr>
              <a:t>";     </a:t>
            </a:r>
            <a:r>
              <a:rPr lang="en-US" altLang="zh-CN" sz="2200" dirty="0">
                <a:solidFill>
                  <a:srgbClr val="0000CC"/>
                </a:solidFill>
                <a:latin typeface="+mn-ea"/>
              </a:rPr>
              <a:t># </a:t>
            </a:r>
            <a:r>
              <a:rPr lang="zh-CN" altLang="en-US" sz="2200" dirty="0">
                <a:solidFill>
                  <a:srgbClr val="0000CC"/>
                </a:solidFill>
                <a:latin typeface="+mn-ea"/>
              </a:rPr>
              <a:t>注意这里只有一个分号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200" dirty="0">
                <a:latin typeface="+mn-ea"/>
              </a:rPr>
              <a:t>   </a:t>
            </a:r>
            <a:r>
              <a:rPr lang="en-US" altLang="zh-CN" sz="2200" dirty="0">
                <a:latin typeface="+mn-ea"/>
              </a:rPr>
              <a:t>echo "Welcome!";;        </a:t>
            </a:r>
            <a:r>
              <a:rPr lang="en-US" altLang="zh-CN" sz="2200" dirty="0">
                <a:solidFill>
                  <a:srgbClr val="0000CC"/>
                </a:solidFill>
                <a:latin typeface="+mn-ea"/>
              </a:rPr>
              <a:t># </a:t>
            </a:r>
            <a:r>
              <a:rPr lang="zh-CN" altLang="en-US" sz="2200" dirty="0">
                <a:solidFill>
                  <a:srgbClr val="0000CC"/>
                </a:solidFill>
                <a:latin typeface="+mn-ea"/>
              </a:rPr>
              <a:t>这里才是两个分号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200" dirty="0">
                <a:latin typeface="+mn-ea"/>
              </a:rPr>
              <a:t>  </a:t>
            </a:r>
            <a:r>
              <a:rPr lang="en-US" altLang="zh-CN" sz="2200" dirty="0">
                <a:latin typeface="+mn-ea"/>
              </a:rPr>
              <a:t>root)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   echo "You are root! "; echo "Welcome to Beijing!";;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           </a:t>
            </a:r>
            <a:r>
              <a:rPr lang="en-US" altLang="zh-CN" sz="2200" dirty="0">
                <a:solidFill>
                  <a:srgbClr val="0000CC"/>
                </a:solidFill>
                <a:latin typeface="+mn-ea"/>
              </a:rPr>
              <a:t># </a:t>
            </a:r>
            <a:r>
              <a:rPr lang="zh-CN" altLang="en-US" sz="2200" dirty="0">
                <a:solidFill>
                  <a:srgbClr val="0000CC"/>
                </a:solidFill>
                <a:latin typeface="+mn-ea"/>
              </a:rPr>
              <a:t>将两个命令写在一行，用一个分号作为分隔符</a:t>
            </a:r>
            <a:r>
              <a:rPr lang="zh-CN" altLang="en-US" sz="2200" dirty="0">
                <a:latin typeface="+mn-ea"/>
              </a:rPr>
              <a:t>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200" dirty="0">
                <a:latin typeface="+mn-ea"/>
              </a:rPr>
              <a:t>  *</a:t>
            </a:r>
            <a:r>
              <a:rPr lang="en-US" altLang="zh-CN" sz="2200" dirty="0">
                <a:latin typeface="+mn-ea"/>
              </a:rPr>
              <a:t>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   echo "Who are you?$USER?";;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latin typeface="+mn-ea"/>
              </a:rPr>
              <a:t> </a:t>
            </a:r>
            <a:r>
              <a:rPr lang="en-US" altLang="zh-CN" sz="2200" dirty="0" err="1">
                <a:latin typeface="+mn-ea"/>
              </a:rPr>
              <a:t>esac</a:t>
            </a:r>
            <a:endParaRPr lang="en-US" altLang="zh-CN" sz="2200" dirty="0">
              <a:latin typeface="+mn-ea"/>
            </a:endParaRP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07601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7488" y="578622"/>
            <a:ext cx="9577064" cy="441166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CC"/>
                </a:solidFill>
              </a:rPr>
              <a:t>(2)</a:t>
            </a:r>
            <a:r>
              <a:rPr lang="zh-CN" altLang="en-US" sz="2400" dirty="0">
                <a:solidFill>
                  <a:srgbClr val="0000CC"/>
                </a:solidFill>
              </a:rPr>
              <a:t>设置权限：</a:t>
            </a:r>
            <a:endParaRPr lang="en-US" altLang="zh-CN" sz="2400" dirty="0">
              <a:solidFill>
                <a:srgbClr val="0000CC"/>
              </a:solidFill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/>
              <a:t>[</a:t>
            </a:r>
            <a:r>
              <a:rPr lang="en-US" altLang="zh-CN" sz="2400" dirty="0" err="1"/>
              <a:t>root@localhost</a:t>
            </a:r>
            <a:r>
              <a:rPr lang="en-US" altLang="zh-CN" sz="2400" dirty="0"/>
              <a:t> ~ ]# </a:t>
            </a:r>
            <a:r>
              <a:rPr lang="en-US" altLang="zh-CN" sz="2400" dirty="0" err="1"/>
              <a:t>chmod</a:t>
            </a:r>
            <a:r>
              <a:rPr lang="en-US" altLang="zh-CN" sz="2400" dirty="0"/>
              <a:t> +x test6.sh</a:t>
            </a: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CC"/>
                </a:solidFill>
              </a:rPr>
              <a:t>(3)</a:t>
            </a:r>
            <a:r>
              <a:rPr lang="zh-CN" altLang="en-US" sz="2400" dirty="0">
                <a:solidFill>
                  <a:srgbClr val="0000CC"/>
                </a:solidFill>
              </a:rPr>
              <a:t>执行：</a:t>
            </a:r>
          </a:p>
          <a:p>
            <a:pPr lvl="1" eaLnBrk="1" hangingPunct="1">
              <a:lnSpc>
                <a:spcPct val="150000"/>
              </a:lnSpc>
              <a:buNone/>
            </a:pPr>
            <a:endParaRPr lang="en-US" altLang="zh-CN" sz="24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7A00106-57A8-5C27-D4A9-3CDFC2D9C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373480"/>
            <a:ext cx="8604956" cy="38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440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循环结构语句 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1393602"/>
            <a:ext cx="10513168" cy="4987726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for </a:t>
            </a:r>
            <a:r>
              <a:rPr lang="zh-CN" altLang="en-US" sz="2600" dirty="0">
                <a:solidFill>
                  <a:srgbClr val="0000CC"/>
                </a:solidFill>
              </a:rPr>
              <a:t>循环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600" dirty="0">
                <a:solidFill>
                  <a:srgbClr val="C00000"/>
                </a:solidFill>
              </a:rPr>
              <a:t>语法</a:t>
            </a:r>
            <a:r>
              <a:rPr lang="zh-CN" altLang="en-US" sz="2600" dirty="0"/>
              <a:t>：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for  </a:t>
            </a:r>
            <a:r>
              <a:rPr lang="zh-CN" altLang="en-US" dirty="0">
                <a:solidFill>
                  <a:srgbClr val="0000CC"/>
                </a:solidFill>
              </a:rPr>
              <a:t>变量  </a:t>
            </a:r>
            <a:r>
              <a:rPr lang="en-US" altLang="zh-CN" dirty="0">
                <a:solidFill>
                  <a:srgbClr val="0000CC"/>
                </a:solidFill>
              </a:rPr>
              <a:t>[in </a:t>
            </a:r>
            <a:r>
              <a:rPr lang="zh-CN" altLang="en-US" dirty="0">
                <a:solidFill>
                  <a:srgbClr val="0000CC"/>
                </a:solidFill>
              </a:rPr>
              <a:t>字符串列表</a:t>
            </a:r>
            <a:r>
              <a:rPr lang="en-US" altLang="zh-CN" dirty="0">
                <a:solidFill>
                  <a:srgbClr val="0000CC"/>
                </a:solidFill>
              </a:rPr>
              <a:t>]</a:t>
            </a:r>
            <a:endParaRPr lang="zh-CN" altLang="en-US" dirty="0">
              <a:solidFill>
                <a:srgbClr val="0000CC"/>
              </a:solidFill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do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    </a:t>
            </a:r>
            <a:r>
              <a:rPr lang="zh-CN" altLang="en-US" dirty="0">
                <a:solidFill>
                  <a:srgbClr val="0000CC"/>
                </a:solidFill>
              </a:rPr>
              <a:t>命令列表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CC"/>
                </a:solidFill>
              </a:rPr>
              <a:t> </a:t>
            </a:r>
            <a:r>
              <a:rPr lang="en-US" altLang="zh-CN" dirty="0">
                <a:solidFill>
                  <a:srgbClr val="0000CC"/>
                </a:solidFill>
              </a:rPr>
              <a:t>done</a:t>
            </a:r>
            <a:endParaRPr lang="en-US" altLang="zh-CN" b="1" dirty="0">
              <a:solidFill>
                <a:srgbClr val="0000CC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600" dirty="0"/>
              <a:t>for</a:t>
            </a:r>
            <a:r>
              <a:rPr lang="zh-CN" altLang="en-US" sz="2600" dirty="0"/>
              <a:t>命令执行的过程是，定义一个变量，它依次取字符串列表中的各个字符串的值。对每次取值都依次执行命令列表，直到所有的字符串都处理完。</a:t>
            </a:r>
            <a:endParaRPr lang="en-US" altLang="zh-CN" sz="26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/>
              <a:t>当没有指定字符串列表时，默认指脚本的参数列表，即</a:t>
            </a:r>
            <a:r>
              <a:rPr lang="en-US" altLang="zh-CN" sz="2600" dirty="0"/>
              <a:t>for  i </a:t>
            </a:r>
            <a:r>
              <a:rPr lang="zh-CN" altLang="en-US" sz="2600" dirty="0"/>
              <a:t>等同于 </a:t>
            </a:r>
            <a:r>
              <a:rPr lang="en-US" altLang="zh-CN" sz="2600" dirty="0"/>
              <a:t>for </a:t>
            </a:r>
            <a:r>
              <a:rPr lang="en-US" altLang="zh-CN" sz="2600" dirty="0" err="1"/>
              <a:t>i</a:t>
            </a:r>
            <a:r>
              <a:rPr lang="en-US" altLang="zh-CN" sz="2600" dirty="0"/>
              <a:t> in “$@”</a:t>
            </a:r>
            <a:r>
              <a:rPr lang="zh-CN" altLang="en-US" sz="2600" dirty="0"/>
              <a:t>。</a:t>
            </a:r>
            <a:endParaRPr lang="en-US" altLang="zh-CN" sz="2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140421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416" y="656692"/>
            <a:ext cx="10585175" cy="5544616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200" dirty="0"/>
              <a:t>例如，统计当前目录下每个</a:t>
            </a:r>
            <a:r>
              <a:rPr lang="en-US" altLang="zh-CN" sz="2200" dirty="0"/>
              <a:t>c</a:t>
            </a:r>
            <a:r>
              <a:rPr lang="zh-CN" altLang="en-US" sz="2200" dirty="0"/>
              <a:t>源文件的行数，并将它们累加起来输出。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(1)</a:t>
            </a:r>
            <a:r>
              <a:rPr lang="zh-CN" altLang="en-US" sz="2200" dirty="0"/>
              <a:t>编辑脚本程序</a:t>
            </a:r>
            <a:r>
              <a:rPr lang="en-US" altLang="zh-CN" sz="2200" dirty="0"/>
              <a:t>countlines.sh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 vim  countlines.sh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#!/bin/bash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for  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 in  *.c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 do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 lines=` </a:t>
            </a:r>
            <a:r>
              <a:rPr lang="en-US" altLang="zh-CN" sz="2200" dirty="0" err="1"/>
              <a:t>wc</a:t>
            </a:r>
            <a:r>
              <a:rPr lang="en-US" altLang="zh-CN" sz="2200" dirty="0"/>
              <a:t> -l &lt; $</a:t>
            </a:r>
            <a:r>
              <a:rPr lang="en-US" altLang="zh-CN" sz="2200" dirty="0" err="1"/>
              <a:t>i</a:t>
            </a:r>
            <a:r>
              <a:rPr lang="en-US" altLang="zh-CN" sz="2200" dirty="0"/>
              <a:t> `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 sum=`expr $sum  +  $lines`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 done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echo  $sum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(2)</a:t>
            </a:r>
            <a:r>
              <a:rPr lang="zh-CN" altLang="en-US" sz="2200" dirty="0"/>
              <a:t>设置权限：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</a:t>
            </a:r>
            <a:r>
              <a:rPr lang="en-US" altLang="zh-CN" sz="2200" dirty="0" err="1"/>
              <a:t>chmod</a:t>
            </a:r>
            <a:r>
              <a:rPr lang="en-US" altLang="zh-CN" sz="2200" dirty="0"/>
              <a:t>  +x  countlines.sh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200" dirty="0"/>
              <a:t>(3)</a:t>
            </a:r>
            <a:r>
              <a:rPr lang="zh-CN" altLang="en-US" sz="2200" dirty="0"/>
              <a:t>执行： 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  ./countlines.sh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200" dirty="0"/>
              <a:t>1231</a:t>
            </a:r>
          </a:p>
        </p:txBody>
      </p:sp>
      <p:sp>
        <p:nvSpPr>
          <p:cNvPr id="3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73386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99456" y="620687"/>
            <a:ext cx="9937104" cy="561977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zh-CN" altLang="en-US" sz="2200" dirty="0"/>
              <a:t>例如：求从</a:t>
            </a:r>
            <a:r>
              <a:rPr lang="en-US" altLang="zh-CN" sz="2200" dirty="0"/>
              <a:t>1</a:t>
            </a:r>
            <a:r>
              <a:rPr lang="zh-CN" altLang="en-US" sz="2200" dirty="0"/>
              <a:t>到</a:t>
            </a:r>
            <a:r>
              <a:rPr lang="en-US" altLang="zh-CN" sz="2200" dirty="0"/>
              <a:t>100</a:t>
            </a:r>
            <a:r>
              <a:rPr lang="zh-CN" altLang="en-US" sz="2200" dirty="0"/>
              <a:t>的和。</a:t>
            </a: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200" dirty="0"/>
              <a:t>(1)</a:t>
            </a:r>
            <a:r>
              <a:rPr lang="zh-CN" altLang="en-US" sz="2200" dirty="0"/>
              <a:t> 编辑脚本程序</a:t>
            </a:r>
            <a:r>
              <a:rPr lang="en-US" altLang="zh-CN" sz="2200" dirty="0"/>
              <a:t>test7.sh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vim  test7.sh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#!/bin/bash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total=0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for ((j=</a:t>
            </a:r>
            <a:r>
              <a:rPr lang="en-US" altLang="zh-CN" sz="2200" dirty="0" err="1"/>
              <a:t>1;j</a:t>
            </a:r>
            <a:r>
              <a:rPr lang="en-US" altLang="zh-CN" sz="2200" dirty="0"/>
              <a:t>&lt;=</a:t>
            </a:r>
            <a:r>
              <a:rPr lang="en-US" altLang="zh-CN" sz="2200" dirty="0" err="1"/>
              <a:t>100;j</a:t>
            </a:r>
            <a:r>
              <a:rPr lang="en-US" altLang="zh-CN" sz="2200" dirty="0"/>
              <a:t>++));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  do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  total=`expr  $total  +  $j`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  done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echo "The result is $total"</a:t>
            </a: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200" dirty="0"/>
              <a:t>(2)</a:t>
            </a:r>
            <a:r>
              <a:rPr lang="zh-CN" altLang="en-US" sz="2200" dirty="0"/>
              <a:t>设置权限：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</a:t>
            </a:r>
            <a:r>
              <a:rPr lang="en-US" altLang="zh-CN" sz="2200" dirty="0" err="1"/>
              <a:t>chmod</a:t>
            </a:r>
            <a:r>
              <a:rPr lang="en-US" altLang="zh-CN" sz="2200" dirty="0"/>
              <a:t> +x test7.sh</a:t>
            </a:r>
          </a:p>
          <a:p>
            <a:pPr marL="457200" indent="-457200" eaLnBrk="1" hangingPunct="1">
              <a:lnSpc>
                <a:spcPct val="90000"/>
              </a:lnSpc>
              <a:buNone/>
            </a:pPr>
            <a:r>
              <a:rPr lang="en-US" altLang="zh-CN" sz="2200" dirty="0"/>
              <a:t>(3)</a:t>
            </a:r>
            <a:r>
              <a:rPr lang="zh-CN" altLang="en-US" sz="2200" dirty="0"/>
              <a:t>执行：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./test7.sh</a:t>
            </a:r>
          </a:p>
          <a:p>
            <a:pPr marL="838200" lvl="1" indent="-381000" eaLnBrk="1" hangingPunct="1">
              <a:lnSpc>
                <a:spcPct val="90000"/>
              </a:lnSpc>
              <a:buNone/>
            </a:pPr>
            <a:r>
              <a:rPr lang="en-US" altLang="zh-CN" sz="2200" dirty="0"/>
              <a:t>The result is 5050</a:t>
            </a:r>
          </a:p>
        </p:txBody>
      </p:sp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6464917" y="2132856"/>
            <a:ext cx="4500562" cy="1785104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000CC"/>
                </a:solidFill>
                <a:latin typeface="+mn-ea"/>
                <a:ea typeface="+mn-ea"/>
              </a:rPr>
              <a:t>注意：</a:t>
            </a:r>
            <a:r>
              <a:rPr lang="en-US" altLang="zh-CN" sz="2200" dirty="0">
                <a:solidFill>
                  <a:srgbClr val="0000CC"/>
                </a:solidFill>
                <a:latin typeface="+mn-ea"/>
                <a:ea typeface="+mn-ea"/>
              </a:rPr>
              <a:t>for</a:t>
            </a:r>
            <a:r>
              <a:rPr lang="zh-CN" altLang="en-US" sz="2200" dirty="0">
                <a:solidFill>
                  <a:srgbClr val="0000CC"/>
                </a:solidFill>
                <a:latin typeface="+mn-ea"/>
                <a:ea typeface="+mn-ea"/>
              </a:rPr>
              <a:t>语句中的双括号不能省，最后的分号可有可无，表达式</a:t>
            </a:r>
            <a:r>
              <a:rPr lang="en-US" altLang="zh-CN" sz="2200" dirty="0">
                <a:solidFill>
                  <a:srgbClr val="0000CC"/>
                </a:solidFill>
                <a:latin typeface="+mn-ea"/>
                <a:ea typeface="+mn-ea"/>
              </a:rPr>
              <a:t>total=`expr $total + $j`</a:t>
            </a:r>
            <a:r>
              <a:rPr lang="zh-CN" altLang="en-US" sz="2200" dirty="0">
                <a:solidFill>
                  <a:srgbClr val="0000CC"/>
                </a:solidFill>
                <a:latin typeface="+mn-ea"/>
                <a:ea typeface="+mn-ea"/>
              </a:rPr>
              <a:t>的</a:t>
            </a:r>
            <a:r>
              <a:rPr lang="zh-CN" altLang="en-US" sz="2200" dirty="0">
                <a:solidFill>
                  <a:srgbClr val="C00000"/>
                </a:solidFill>
                <a:latin typeface="+mn-ea"/>
                <a:ea typeface="+mn-ea"/>
              </a:rPr>
              <a:t>加号两边的空格不能省</a:t>
            </a:r>
            <a:r>
              <a:rPr lang="zh-CN" altLang="en-US" sz="2200" dirty="0">
                <a:solidFill>
                  <a:srgbClr val="0000CC"/>
                </a:solidFill>
                <a:latin typeface="+mn-ea"/>
                <a:ea typeface="+mn-ea"/>
              </a:rPr>
              <a:t>，否则会成为字符串的连接。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17096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循环结构语句 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196752"/>
            <a:ext cx="9577064" cy="4968552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while</a:t>
            </a:r>
            <a:r>
              <a:rPr lang="zh-CN" altLang="en-US" sz="2600" dirty="0">
                <a:solidFill>
                  <a:srgbClr val="0000CC"/>
                </a:solidFill>
              </a:rPr>
              <a:t>循环 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C00000"/>
                </a:solidFill>
              </a:rPr>
              <a:t>语法：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while </a:t>
            </a:r>
            <a:r>
              <a:rPr lang="zh-CN" altLang="en-US" dirty="0">
                <a:solidFill>
                  <a:srgbClr val="0000CC"/>
                </a:solidFill>
              </a:rPr>
              <a:t>条件命令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CC"/>
                </a:solidFill>
              </a:rPr>
              <a:t>  </a:t>
            </a:r>
            <a:r>
              <a:rPr lang="en-US" altLang="zh-CN" dirty="0">
                <a:solidFill>
                  <a:srgbClr val="0000CC"/>
                </a:solidFill>
              </a:rPr>
              <a:t>do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    </a:t>
            </a:r>
            <a:r>
              <a:rPr lang="zh-CN" altLang="en-US" dirty="0">
                <a:solidFill>
                  <a:srgbClr val="0000CC"/>
                </a:solidFill>
              </a:rPr>
              <a:t>命令列表</a:t>
            </a: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CC"/>
                </a:solidFill>
              </a:rPr>
              <a:t>  </a:t>
            </a:r>
            <a:r>
              <a:rPr lang="en-US" altLang="zh-CN" dirty="0">
                <a:solidFill>
                  <a:srgbClr val="0000CC"/>
                </a:solidFill>
              </a:rPr>
              <a:t>done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dirty="0"/>
              <a:t>while</a:t>
            </a:r>
            <a:r>
              <a:rPr lang="zh-CN" altLang="en-US" sz="2600" dirty="0"/>
              <a:t>命令的作用是进行有条件的循环控制，只要</a:t>
            </a:r>
            <a:r>
              <a:rPr lang="en-US" altLang="zh-CN" sz="2600" dirty="0">
                <a:solidFill>
                  <a:srgbClr val="CC0099"/>
                </a:solidFill>
              </a:rPr>
              <a:t>while</a:t>
            </a:r>
            <a:r>
              <a:rPr lang="zh-CN" altLang="en-US" sz="2600" dirty="0">
                <a:solidFill>
                  <a:srgbClr val="CC0099"/>
                </a:solidFill>
              </a:rPr>
              <a:t>表达式为真</a:t>
            </a:r>
            <a:r>
              <a:rPr lang="zh-CN" altLang="en-US" sz="2600" dirty="0"/>
              <a:t>，</a:t>
            </a:r>
            <a:r>
              <a:rPr lang="en-US" altLang="zh-CN" sz="2600" dirty="0"/>
              <a:t>do</a:t>
            </a:r>
            <a:r>
              <a:rPr lang="zh-CN" altLang="en-US" sz="2600" dirty="0"/>
              <a:t>和</a:t>
            </a:r>
            <a:r>
              <a:rPr lang="en-US" altLang="zh-CN" sz="2600" dirty="0"/>
              <a:t>done</a:t>
            </a:r>
            <a:r>
              <a:rPr lang="zh-CN" altLang="en-US" sz="2600" dirty="0"/>
              <a:t>之间的操作就一直会进行。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218626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620688"/>
            <a:ext cx="9649072" cy="5904656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200" dirty="0"/>
              <a:t>例如：用</a:t>
            </a:r>
            <a:r>
              <a:rPr lang="en-US" altLang="zh-CN" sz="2200" dirty="0"/>
              <a:t>while</a:t>
            </a:r>
            <a:r>
              <a:rPr lang="zh-CN" altLang="en-US" sz="2200" dirty="0"/>
              <a:t>循环求</a:t>
            </a:r>
            <a:r>
              <a:rPr lang="en-US" altLang="zh-CN" sz="2200" dirty="0"/>
              <a:t>1</a:t>
            </a:r>
            <a:r>
              <a:rPr lang="zh-CN" altLang="en-US" sz="2200" dirty="0"/>
              <a:t>到</a:t>
            </a:r>
            <a:r>
              <a:rPr lang="en-US" altLang="zh-CN" sz="2200" dirty="0"/>
              <a:t>100</a:t>
            </a:r>
            <a:r>
              <a:rPr lang="zh-CN" altLang="en-US" sz="2200" dirty="0"/>
              <a:t>的和。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zh-CN" altLang="en-US" sz="2200" dirty="0"/>
              <a:t>  </a:t>
            </a:r>
            <a:r>
              <a:rPr lang="en-US" altLang="zh-CN" sz="2200" dirty="0"/>
              <a:t>(1)</a:t>
            </a:r>
            <a:r>
              <a:rPr lang="zh-CN" altLang="en-US" sz="2200" dirty="0"/>
              <a:t>编辑脚本程序</a:t>
            </a:r>
            <a:r>
              <a:rPr lang="en-US" altLang="zh-CN" sz="2200" dirty="0"/>
              <a:t>test8.sh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vim test8.sh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#!/bin/bash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total=0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num=0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CC0099"/>
                </a:solidFill>
              </a:rPr>
              <a:t>while</a:t>
            </a:r>
            <a:r>
              <a:rPr lang="en-US" altLang="zh-CN" sz="2200" dirty="0">
                <a:solidFill>
                  <a:srgbClr val="0000CC"/>
                </a:solidFill>
              </a:rPr>
              <a:t>((num&lt;=100))</a:t>
            </a:r>
            <a:r>
              <a:rPr lang="en-US" altLang="zh-CN" sz="2200" dirty="0"/>
              <a:t>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CC0099"/>
                </a:solidFill>
              </a:rPr>
              <a:t>do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 total=`expr $total + $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`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0000CC"/>
                </a:solidFill>
              </a:rPr>
              <a:t>   ((</a:t>
            </a:r>
            <a:r>
              <a:rPr lang="en-US" altLang="zh-CN" sz="2200" dirty="0" err="1">
                <a:solidFill>
                  <a:srgbClr val="0000CC"/>
                </a:solidFill>
              </a:rPr>
              <a:t>num</a:t>
            </a:r>
            <a:r>
              <a:rPr lang="en-US" altLang="zh-CN" sz="2200" dirty="0">
                <a:solidFill>
                  <a:srgbClr val="0000CC"/>
                </a:solidFill>
              </a:rPr>
              <a:t>+=1))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</a:t>
            </a:r>
            <a:r>
              <a:rPr lang="en-US" altLang="zh-CN" sz="2200" dirty="0">
                <a:solidFill>
                  <a:srgbClr val="CC0099"/>
                </a:solidFill>
              </a:rPr>
              <a:t>done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echo "The result is $total"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(2)</a:t>
            </a:r>
            <a:r>
              <a:rPr lang="zh-CN" altLang="en-US" sz="2200" dirty="0"/>
              <a:t>设置权限：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dirty="0"/>
              <a:t>[root@localhost ~ ]# chmod +x test8.sh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(3)</a:t>
            </a:r>
            <a:r>
              <a:rPr lang="zh-CN" altLang="en-US" sz="2200" dirty="0"/>
              <a:t>执行：</a:t>
            </a:r>
            <a:endParaRPr lang="en-US" altLang="zh-CN" sz="2200" dirty="0"/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[root@localhost ~ ]# ./test8.sh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The result is 5050</a:t>
            </a: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428184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52426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循环结构语句 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196752"/>
            <a:ext cx="10357792" cy="4896544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600" dirty="0">
                <a:solidFill>
                  <a:srgbClr val="0000CC"/>
                </a:solidFill>
              </a:rPr>
              <a:t>until</a:t>
            </a:r>
            <a:r>
              <a:rPr lang="zh-CN" altLang="en-US" sz="2600" dirty="0">
                <a:solidFill>
                  <a:srgbClr val="0000CC"/>
                </a:solidFill>
              </a:rPr>
              <a:t>循环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2600" dirty="0">
                <a:solidFill>
                  <a:srgbClr val="CC0099"/>
                </a:solidFill>
              </a:rPr>
              <a:t>语法</a:t>
            </a:r>
            <a:r>
              <a:rPr lang="zh-CN" altLang="en-US" sz="2600" dirty="0"/>
              <a:t>：</a:t>
            </a: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CC"/>
                </a:solidFill>
              </a:rPr>
              <a:t>until </a:t>
            </a:r>
            <a:r>
              <a:rPr lang="zh-CN" altLang="en-US" dirty="0">
                <a:solidFill>
                  <a:srgbClr val="0000CC"/>
                </a:solidFill>
              </a:rPr>
              <a:t>条件命令</a:t>
            </a: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CC"/>
                </a:solidFill>
              </a:rPr>
              <a:t>do</a:t>
            </a: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0000CC"/>
                </a:solidFill>
              </a:rPr>
              <a:t>    </a:t>
            </a:r>
            <a:r>
              <a:rPr lang="zh-CN" altLang="en-US" dirty="0">
                <a:solidFill>
                  <a:srgbClr val="0000CC"/>
                </a:solidFill>
              </a:rPr>
              <a:t>命令列表</a:t>
            </a:r>
            <a:endParaRPr lang="en-US" altLang="zh-CN" dirty="0">
              <a:solidFill>
                <a:srgbClr val="0000CC"/>
              </a:solidFill>
            </a:endParaRPr>
          </a:p>
          <a:p>
            <a:pPr lvl="1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dirty="0">
                <a:solidFill>
                  <a:srgbClr val="0000CC"/>
                </a:solidFill>
              </a:rPr>
              <a:t>done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600" dirty="0"/>
              <a:t>until</a:t>
            </a:r>
            <a:r>
              <a:rPr lang="zh-CN" altLang="en-US" sz="2600" dirty="0"/>
              <a:t>命令与</a:t>
            </a:r>
            <a:r>
              <a:rPr lang="en-US" altLang="zh-CN" sz="2600" dirty="0"/>
              <a:t>while</a:t>
            </a:r>
            <a:r>
              <a:rPr lang="zh-CN" altLang="en-US" sz="2600" dirty="0"/>
              <a:t>类似，区别在于</a:t>
            </a:r>
            <a:r>
              <a:rPr lang="en-US" altLang="zh-CN" sz="2600" dirty="0"/>
              <a:t>while</a:t>
            </a:r>
            <a:r>
              <a:rPr lang="zh-CN" altLang="en-US" sz="2600" dirty="0"/>
              <a:t>是当判断条件为真时执行循环，而</a:t>
            </a:r>
            <a:r>
              <a:rPr lang="en-US" altLang="zh-CN" sz="2600" dirty="0"/>
              <a:t>until</a:t>
            </a:r>
            <a:r>
              <a:rPr lang="zh-CN" altLang="en-US" sz="2600" dirty="0"/>
              <a:t>循环在判断条件为假时执行循环体命令，直到</a:t>
            </a:r>
            <a:r>
              <a:rPr lang="zh-CN" altLang="en-US" sz="2600" dirty="0">
                <a:solidFill>
                  <a:srgbClr val="CC0099"/>
                </a:solidFill>
              </a:rPr>
              <a:t>条件成立才停止循环</a:t>
            </a:r>
            <a:r>
              <a:rPr lang="zh-CN" altLang="en-US" sz="2600" dirty="0"/>
              <a:t>。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09300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43472" y="620688"/>
            <a:ext cx="9865096" cy="5976664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200" dirty="0"/>
              <a:t>例如</a:t>
            </a:r>
            <a:r>
              <a:rPr lang="en-US" altLang="zh-CN" sz="2200" dirty="0"/>
              <a:t>:</a:t>
            </a:r>
            <a:r>
              <a:rPr lang="zh-CN" altLang="en-US" sz="2200" dirty="0"/>
              <a:t>用</a:t>
            </a:r>
            <a:r>
              <a:rPr lang="en-US" altLang="zh-CN" sz="2200" dirty="0"/>
              <a:t>until</a:t>
            </a:r>
            <a:r>
              <a:rPr lang="zh-CN" altLang="en-US" sz="2200" dirty="0"/>
              <a:t>循环求</a:t>
            </a:r>
            <a:r>
              <a:rPr lang="en-US" altLang="zh-CN" sz="2200" dirty="0"/>
              <a:t>1</a:t>
            </a:r>
            <a:r>
              <a:rPr lang="zh-CN" altLang="en-US" sz="2200" dirty="0"/>
              <a:t>到</a:t>
            </a:r>
            <a:r>
              <a:rPr lang="en-US" altLang="zh-CN" sz="2200" dirty="0"/>
              <a:t>100</a:t>
            </a:r>
            <a:r>
              <a:rPr lang="zh-CN" altLang="en-US" sz="2200" dirty="0"/>
              <a:t>的和。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(1)</a:t>
            </a:r>
            <a:r>
              <a:rPr lang="zh-CN" altLang="en-US" sz="2200" dirty="0"/>
              <a:t>编辑脚本程序</a:t>
            </a:r>
            <a:r>
              <a:rPr lang="en-US" altLang="zh-CN" sz="2200" dirty="0"/>
              <a:t>test9.sh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  vim test9.sh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#!/bin/bash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total=0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 err="1"/>
              <a:t>num</a:t>
            </a:r>
            <a:r>
              <a:rPr lang="en-US" altLang="zh-CN" sz="2200" dirty="0"/>
              <a:t>=0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until   </a:t>
            </a:r>
            <a:r>
              <a:rPr lang="en-US" altLang="zh-CN" sz="2200" dirty="0">
                <a:solidFill>
                  <a:srgbClr val="0000CC"/>
                </a:solidFill>
              </a:rPr>
              <a:t>[  $num -</a:t>
            </a:r>
            <a:r>
              <a:rPr lang="en-US" altLang="zh-CN" sz="2200" dirty="0" err="1">
                <a:solidFill>
                  <a:srgbClr val="0000CC"/>
                </a:solidFill>
              </a:rPr>
              <a:t>gt</a:t>
            </a:r>
            <a:r>
              <a:rPr lang="en-US" altLang="zh-CN" sz="2200" dirty="0">
                <a:solidFill>
                  <a:srgbClr val="0000CC"/>
                </a:solidFill>
              </a:rPr>
              <a:t> 100  ]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do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total=`expr $total + $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` 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=`expr $</a:t>
            </a:r>
            <a:r>
              <a:rPr lang="en-US" altLang="zh-CN" sz="2200" dirty="0" err="1"/>
              <a:t>num</a:t>
            </a:r>
            <a:r>
              <a:rPr lang="en-US" altLang="zh-CN" sz="2200" dirty="0"/>
              <a:t> + 1`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done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echo "The result is $total"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(2)</a:t>
            </a:r>
            <a:r>
              <a:rPr lang="zh-CN" altLang="en-US" sz="2200" dirty="0"/>
              <a:t>设置权限：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200" dirty="0"/>
              <a:t>   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</a:t>
            </a:r>
            <a:r>
              <a:rPr lang="en-US" altLang="zh-CN" sz="2200" dirty="0" err="1"/>
              <a:t>chmod</a:t>
            </a:r>
            <a:r>
              <a:rPr lang="en-US" altLang="zh-CN" sz="2200" dirty="0"/>
              <a:t> +x test9.sh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(3)</a:t>
            </a:r>
            <a:r>
              <a:rPr lang="zh-CN" altLang="en-US" sz="2200" dirty="0"/>
              <a:t>执行：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 ./test9.sh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The result is 5050</a:t>
            </a: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91403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退出循环语句 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438410"/>
            <a:ext cx="10441160" cy="4968552"/>
          </a:xfrm>
        </p:spPr>
        <p:txBody>
          <a:bodyPr/>
          <a:lstStyle/>
          <a:p>
            <a:pPr eaLnBrk="1" hangingPunct="1"/>
            <a:r>
              <a:rPr lang="en-US" altLang="zh-CN" sz="2600" dirty="0">
                <a:solidFill>
                  <a:srgbClr val="CC0099"/>
                </a:solidFill>
              </a:rPr>
              <a:t>break</a:t>
            </a:r>
            <a:r>
              <a:rPr lang="zh-CN" altLang="en-US" sz="2600" dirty="0">
                <a:solidFill>
                  <a:srgbClr val="CC0099"/>
                </a:solidFill>
              </a:rPr>
              <a:t>和</a:t>
            </a:r>
            <a:r>
              <a:rPr lang="en-US" altLang="zh-CN" sz="2600" dirty="0">
                <a:solidFill>
                  <a:srgbClr val="CC0099"/>
                </a:solidFill>
              </a:rPr>
              <a:t>continue</a:t>
            </a:r>
            <a:r>
              <a:rPr lang="zh-CN" altLang="en-US" sz="2600" dirty="0"/>
              <a:t>命令的作用与</a:t>
            </a:r>
            <a:r>
              <a:rPr lang="en-US" altLang="zh-CN" sz="2600" dirty="0"/>
              <a:t>C</a:t>
            </a:r>
            <a:r>
              <a:rPr lang="zh-CN" altLang="en-US" sz="2600" dirty="0"/>
              <a:t>语言中的</a:t>
            </a:r>
            <a:r>
              <a:rPr lang="en-US" altLang="zh-CN" sz="2600" dirty="0"/>
              <a:t>break</a:t>
            </a:r>
            <a:r>
              <a:rPr lang="zh-CN" altLang="en-US" sz="2600" dirty="0"/>
              <a:t>和</a:t>
            </a:r>
            <a:r>
              <a:rPr lang="en-US" altLang="zh-CN" sz="2600" dirty="0"/>
              <a:t>continue</a:t>
            </a:r>
            <a:r>
              <a:rPr lang="zh-CN" altLang="en-US" sz="2600" dirty="0"/>
              <a:t>语句相同，用于在必要时跳出循环。</a:t>
            </a:r>
            <a:endParaRPr lang="en-US" altLang="zh-CN" sz="2600" dirty="0"/>
          </a:p>
          <a:p>
            <a:pPr eaLnBrk="1" hangingPunct="1"/>
            <a:r>
              <a:rPr lang="en-US" altLang="zh-CN" sz="2600" dirty="0">
                <a:solidFill>
                  <a:srgbClr val="0000CC"/>
                </a:solidFill>
              </a:rPr>
              <a:t>break</a:t>
            </a:r>
            <a:r>
              <a:rPr lang="zh-CN" altLang="en-US" sz="2600" dirty="0">
                <a:solidFill>
                  <a:srgbClr val="0000CC"/>
                </a:solidFill>
              </a:rPr>
              <a:t>用于终止整个循环</a:t>
            </a:r>
            <a:r>
              <a:rPr lang="zh-CN" altLang="en-US" sz="2600" dirty="0"/>
              <a:t>，</a:t>
            </a:r>
            <a:r>
              <a:rPr lang="en-US" altLang="zh-CN" sz="2600" dirty="0">
                <a:solidFill>
                  <a:srgbClr val="0000CC"/>
                </a:solidFill>
              </a:rPr>
              <a:t>continue</a:t>
            </a:r>
            <a:r>
              <a:rPr lang="zh-CN" altLang="en-US" sz="2600" dirty="0">
                <a:solidFill>
                  <a:srgbClr val="0000CC"/>
                </a:solidFill>
              </a:rPr>
              <a:t>用于终止本轮循环</a:t>
            </a:r>
            <a:r>
              <a:rPr lang="zh-CN" altLang="en-US" sz="2600" dirty="0"/>
              <a:t>，直接进入下一轮循环。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另外，</a:t>
            </a:r>
            <a:r>
              <a:rPr lang="en-US" altLang="zh-CN" sz="2600" dirty="0"/>
              <a:t>break</a:t>
            </a:r>
            <a:r>
              <a:rPr lang="zh-CN" altLang="en-US" sz="2600" dirty="0"/>
              <a:t>和</a:t>
            </a:r>
            <a:r>
              <a:rPr lang="en-US" altLang="zh-CN" sz="2600" dirty="0"/>
              <a:t>continue</a:t>
            </a:r>
            <a:r>
              <a:rPr lang="zh-CN" altLang="en-US" sz="2600" dirty="0"/>
              <a:t>命令只能应用在</a:t>
            </a:r>
            <a:r>
              <a:rPr lang="en-US" altLang="zh-CN" sz="2600" dirty="0"/>
              <a:t>for</a:t>
            </a:r>
            <a:r>
              <a:rPr lang="zh-CN" altLang="en-US" sz="2600" dirty="0"/>
              <a:t>、</a:t>
            </a:r>
            <a:r>
              <a:rPr lang="en-US" altLang="zh-CN" sz="2600" dirty="0"/>
              <a:t>while</a:t>
            </a:r>
            <a:r>
              <a:rPr lang="zh-CN" altLang="en-US" sz="2600" dirty="0"/>
              <a:t>和</a:t>
            </a:r>
            <a:r>
              <a:rPr lang="en-US" altLang="zh-CN" sz="2600" dirty="0"/>
              <a:t>until</a:t>
            </a:r>
            <a:r>
              <a:rPr lang="zh-CN" altLang="en-US" sz="2600" dirty="0"/>
              <a:t>命令的循环体内。</a:t>
            </a:r>
            <a:endParaRPr lang="en-US" altLang="zh-CN" sz="2600" dirty="0"/>
          </a:p>
          <a:p>
            <a:pPr eaLnBrk="1" hangingPunct="1"/>
            <a:r>
              <a:rPr lang="en-US" altLang="zh-CN" sz="2600" dirty="0">
                <a:solidFill>
                  <a:srgbClr val="0000CC"/>
                </a:solidFill>
              </a:rPr>
              <a:t>exit</a:t>
            </a:r>
            <a:r>
              <a:rPr lang="zh-CN" altLang="en-US" sz="2600" dirty="0"/>
              <a:t>命令用于终止</a:t>
            </a:r>
            <a:r>
              <a:rPr lang="en-US" altLang="zh-CN" sz="2600" dirty="0"/>
              <a:t>Shell</a:t>
            </a:r>
            <a:r>
              <a:rPr lang="zh-CN" altLang="en-US" sz="2600" dirty="0"/>
              <a:t>脚本程序并返回值。该值可用“</a:t>
            </a:r>
            <a:r>
              <a:rPr lang="en-US" altLang="zh-CN" sz="2600" dirty="0"/>
              <a:t>$?</a:t>
            </a:r>
            <a:r>
              <a:rPr lang="zh-CN" altLang="en-US" sz="2600" dirty="0"/>
              <a:t>”在下一条命令中获取。</a:t>
            </a:r>
            <a:endParaRPr lang="en-US" altLang="zh-CN" sz="2600" dirty="0"/>
          </a:p>
          <a:p>
            <a:pPr eaLnBrk="1" hangingPunct="1"/>
            <a:r>
              <a:rPr lang="zh-CN" altLang="en-US" sz="2600" dirty="0"/>
              <a:t>通常情况下正常执行的程序将返回</a:t>
            </a:r>
            <a:r>
              <a:rPr lang="en-US" altLang="zh-CN" sz="2600" dirty="0"/>
              <a:t>0</a:t>
            </a:r>
            <a:r>
              <a:rPr lang="zh-CN" altLang="en-US" sz="2600" dirty="0"/>
              <a:t>，而未正常结束的程序则返回</a:t>
            </a:r>
            <a:r>
              <a:rPr lang="en-US" altLang="zh-CN" sz="2600" dirty="0"/>
              <a:t>1</a:t>
            </a:r>
            <a:r>
              <a:rPr lang="zh-CN" altLang="en-US" sz="2600" dirty="0"/>
              <a:t>～</a:t>
            </a:r>
            <a:r>
              <a:rPr lang="en-US" altLang="zh-CN" sz="2600" dirty="0"/>
              <a:t>255</a:t>
            </a:r>
            <a:r>
              <a:rPr lang="zh-CN" altLang="en-US" sz="2600" dirty="0"/>
              <a:t>间的错误代码。</a:t>
            </a:r>
            <a:endParaRPr lang="zh-CN" altLang="en-US" sz="2600" dirty="0">
              <a:solidFill>
                <a:srgbClr val="CC0099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012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847528" y="583059"/>
            <a:ext cx="8640960" cy="565425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例如：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vim test10.sh</a:t>
            </a:r>
          </a:p>
          <a:p>
            <a:pPr marL="0" indent="0">
              <a:buNone/>
            </a:pPr>
            <a:r>
              <a:rPr lang="en-US" altLang="zh-CN" sz="2400" dirty="0"/>
              <a:t>#!/bin/bash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CC"/>
                </a:solidFill>
              </a:rPr>
              <a:t>for</a:t>
            </a:r>
            <a:r>
              <a:rPr lang="en-US" altLang="zh-CN" sz="2400" dirty="0"/>
              <a:t> age </a:t>
            </a:r>
            <a:r>
              <a:rPr lang="en-US" altLang="zh-CN" sz="2400" dirty="0">
                <a:solidFill>
                  <a:srgbClr val="0000CC"/>
                </a:solidFill>
              </a:rPr>
              <a:t>in </a:t>
            </a:r>
            <a:r>
              <a:rPr lang="en-US" altLang="zh-CN" sz="2400" dirty="0"/>
              <a:t> 58  14  -25  26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CC"/>
                </a:solidFill>
              </a:rPr>
              <a:t>do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CC0099"/>
                </a:solidFill>
              </a:rPr>
              <a:t>if </a:t>
            </a:r>
            <a:r>
              <a:rPr lang="en-US" altLang="zh-CN" sz="2400" dirty="0"/>
              <a:t>[ $age -</a:t>
            </a:r>
            <a:r>
              <a:rPr lang="en-US" altLang="zh-CN" sz="2400" dirty="0" err="1"/>
              <a:t>lt</a:t>
            </a:r>
            <a:r>
              <a:rPr lang="en-US" altLang="zh-CN" sz="2400" dirty="0"/>
              <a:t> 0 ];</a:t>
            </a:r>
          </a:p>
          <a:p>
            <a:pPr marL="0" indent="0">
              <a:buNone/>
            </a:pPr>
            <a:r>
              <a:rPr lang="en-US" altLang="zh-CN" sz="2400" dirty="0"/>
              <a:t>then</a:t>
            </a:r>
          </a:p>
          <a:p>
            <a:pPr marL="0" indent="0">
              <a:buNone/>
            </a:pPr>
            <a:r>
              <a:rPr lang="en-US" altLang="zh-CN" sz="2400" dirty="0"/>
              <a:t>echo “$age is not a valid age. Exit …”</a:t>
            </a:r>
          </a:p>
          <a:p>
            <a:pPr marL="0" indent="0">
              <a:buNone/>
            </a:pPr>
            <a:r>
              <a:rPr lang="en-US" altLang="zh-CN" sz="2400" dirty="0"/>
              <a:t>exit 100</a:t>
            </a:r>
          </a:p>
          <a:p>
            <a:pPr marL="0" indent="0">
              <a:buNone/>
            </a:pPr>
            <a:r>
              <a:rPr lang="en-US" altLang="zh-CN" sz="2400" dirty="0"/>
              <a:t>else</a:t>
            </a:r>
          </a:p>
          <a:p>
            <a:pPr marL="0" indent="0">
              <a:buNone/>
            </a:pPr>
            <a:r>
              <a:rPr lang="en-US" altLang="zh-CN" sz="2400" dirty="0"/>
              <a:t>echo “$age is a valid age”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CC0099"/>
                </a:solidFill>
              </a:rPr>
              <a:t>fi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0000CC"/>
                </a:solidFill>
              </a:rPr>
              <a:t>done</a:t>
            </a:r>
            <a:endParaRPr lang="zh-CN" altLang="en-US" sz="2400" dirty="0">
              <a:solidFill>
                <a:srgbClr val="0000CC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2226839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9416" y="4234470"/>
            <a:ext cx="10513168" cy="157079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/>
              <a:t>执行该脚本，到</a:t>
            </a:r>
            <a:r>
              <a:rPr lang="en-US" altLang="zh-CN" sz="2400" dirty="0"/>
              <a:t>-25</a:t>
            </a:r>
            <a:r>
              <a:rPr lang="zh-CN" altLang="en-US" sz="2400" dirty="0"/>
              <a:t>处程序就停止并跳出运行。执行“</a:t>
            </a:r>
            <a:r>
              <a:rPr lang="en-US" altLang="zh-CN" sz="2400" dirty="0"/>
              <a:t>echo $?”</a:t>
            </a:r>
            <a:r>
              <a:rPr lang="zh-CN" altLang="en-US" sz="2400" dirty="0"/>
              <a:t>命令就会显示“</a:t>
            </a:r>
            <a:r>
              <a:rPr lang="en-US" altLang="zh-CN" sz="2400" dirty="0"/>
              <a:t>100</a:t>
            </a:r>
            <a:r>
              <a:rPr lang="zh-CN" altLang="en-US" sz="2400" dirty="0"/>
              <a:t>”。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/>
              <a:t>通常情况下，正常执行的程序将返回</a:t>
            </a:r>
            <a:r>
              <a:rPr lang="en-US" altLang="zh-CN" sz="2400" dirty="0"/>
              <a:t>0</a:t>
            </a:r>
            <a:r>
              <a:rPr lang="zh-CN" altLang="en-US" sz="2400" dirty="0"/>
              <a:t>，而未正常结束的程序则返回</a:t>
            </a:r>
            <a:r>
              <a:rPr lang="en-US" altLang="zh-CN" sz="2400" dirty="0"/>
              <a:t>1</a:t>
            </a:r>
            <a:r>
              <a:rPr lang="zh-CN" altLang="en-US" sz="2400" dirty="0"/>
              <a:t>～</a:t>
            </a:r>
            <a:r>
              <a:rPr lang="en-US" altLang="zh-CN" sz="2400" dirty="0"/>
              <a:t>255</a:t>
            </a:r>
            <a:r>
              <a:rPr lang="zh-CN" altLang="en-US" sz="2400" dirty="0"/>
              <a:t>间的错误代码。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91637B-24FF-4758-8C54-F4C3808F5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288" y="764705"/>
            <a:ext cx="8757888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473567"/>
      </p:ext>
    </p:extLst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43472" y="692696"/>
            <a:ext cx="9289032" cy="5544616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vim  test_break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#!/bin/bash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# this is break test script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 err="1"/>
              <a:t>i</a:t>
            </a:r>
            <a:r>
              <a:rPr lang="en-US" altLang="zh-CN" sz="2300" dirty="0"/>
              <a:t>=1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>
                <a:solidFill>
                  <a:srgbClr val="0000CC"/>
                </a:solidFill>
              </a:rPr>
              <a:t>for </a:t>
            </a:r>
            <a:r>
              <a:rPr lang="en-US" altLang="zh-CN" sz="2300" dirty="0"/>
              <a:t>day </a:t>
            </a:r>
            <a:r>
              <a:rPr lang="en-US" altLang="zh-CN" sz="2300" dirty="0">
                <a:solidFill>
                  <a:srgbClr val="0000CC"/>
                </a:solidFill>
              </a:rPr>
              <a:t>in</a:t>
            </a:r>
            <a:r>
              <a:rPr lang="en-US" altLang="zh-CN" sz="2300" dirty="0"/>
              <a:t> Mon Tue Wed Thu Fri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do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   echo "Weekday $((</a:t>
            </a:r>
            <a:r>
              <a:rPr lang="en-US" altLang="zh-CN" sz="2300" dirty="0" err="1"/>
              <a:t>i</a:t>
            </a:r>
            <a:r>
              <a:rPr lang="en-US" altLang="zh-CN" sz="2300" dirty="0"/>
              <a:t>++)) : $day"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   if [   $</a:t>
            </a:r>
            <a:r>
              <a:rPr lang="en-US" altLang="zh-CN" sz="2300" dirty="0" err="1"/>
              <a:t>i</a:t>
            </a:r>
            <a:r>
              <a:rPr lang="en-US" altLang="zh-CN" sz="2300" dirty="0"/>
              <a:t>  -eq 3   ]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      then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      </a:t>
            </a:r>
            <a:r>
              <a:rPr lang="en-US" altLang="zh-CN" sz="2300" dirty="0">
                <a:solidFill>
                  <a:srgbClr val="0000CC"/>
                </a:solidFill>
              </a:rPr>
              <a:t>break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   fi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done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2300" dirty="0"/>
              <a:t>[root@ Linux  root</a:t>
            </a:r>
            <a:r>
              <a:rPr lang="zh-CN" altLang="en-US" sz="2300" dirty="0"/>
              <a:t>］</a:t>
            </a:r>
            <a:r>
              <a:rPr lang="en-US" altLang="zh-CN" sz="2300" dirty="0"/>
              <a:t># chmod +x  </a:t>
            </a:r>
            <a:r>
              <a:rPr lang="en-US" altLang="zh-CN" sz="2300" dirty="0" err="1"/>
              <a:t>test_break</a:t>
            </a:r>
            <a:endParaRPr lang="en-US" altLang="zh-CN" sz="2300" dirty="0"/>
          </a:p>
          <a:p>
            <a:pPr marL="0" indent="0">
              <a:buNone/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3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39541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4F64A2-4C58-E522-BE3C-29515B19DD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A782B7-A150-6762-EF98-56E3145051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111" y="1628801"/>
            <a:ext cx="8855778" cy="24482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6526446"/>
      </p:ext>
    </p:extLst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559496" y="476672"/>
            <a:ext cx="9361040" cy="576064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300" dirty="0"/>
              <a:t>vim </a:t>
            </a:r>
            <a:r>
              <a:rPr lang="en-US" altLang="zh-CN" sz="2300" dirty="0" err="1"/>
              <a:t>test_continue</a:t>
            </a:r>
            <a:endParaRPr lang="en-US" altLang="zh-CN" sz="2300" dirty="0"/>
          </a:p>
          <a:p>
            <a:pPr marL="0" indent="0">
              <a:buNone/>
            </a:pPr>
            <a:r>
              <a:rPr lang="en-US" altLang="zh-CN" sz="2300" dirty="0"/>
              <a:t>#!/bin/bash</a:t>
            </a:r>
          </a:p>
          <a:p>
            <a:pPr marL="0" indent="0">
              <a:buNone/>
            </a:pPr>
            <a:r>
              <a:rPr lang="en-US" altLang="zh-CN" sz="2300" dirty="0"/>
              <a:t># this is continue  test script</a:t>
            </a:r>
          </a:p>
          <a:p>
            <a:pPr marL="0" indent="0">
              <a:buNone/>
            </a:pPr>
            <a:r>
              <a:rPr lang="en-US" altLang="zh-CN" sz="2300" dirty="0" err="1"/>
              <a:t>i</a:t>
            </a:r>
            <a:r>
              <a:rPr lang="en-US" altLang="zh-CN" sz="2300" dirty="0"/>
              <a:t>=1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rgbClr val="0000CC"/>
                </a:solidFill>
              </a:rPr>
              <a:t>for</a:t>
            </a:r>
            <a:r>
              <a:rPr lang="en-US" altLang="zh-CN" sz="2300" dirty="0"/>
              <a:t> day </a:t>
            </a:r>
            <a:r>
              <a:rPr lang="en-US" altLang="zh-CN" sz="2300" dirty="0">
                <a:solidFill>
                  <a:srgbClr val="0000CC"/>
                </a:solidFill>
              </a:rPr>
              <a:t>in </a:t>
            </a:r>
            <a:r>
              <a:rPr lang="en-US" altLang="zh-CN" sz="2300" dirty="0"/>
              <a:t>Mon  Tue  Wed  Thu  Fri  Sat  Sun</a:t>
            </a:r>
          </a:p>
          <a:p>
            <a:pPr marL="0" indent="0">
              <a:buNone/>
            </a:pPr>
            <a:r>
              <a:rPr lang="en-US" altLang="zh-CN" sz="2300" dirty="0"/>
              <a:t>do</a:t>
            </a:r>
          </a:p>
          <a:p>
            <a:pPr marL="0" indent="0">
              <a:buNone/>
            </a:pPr>
            <a:r>
              <a:rPr lang="en-US" altLang="zh-CN" sz="2300" dirty="0"/>
              <a:t>   echo -n "Day $((</a:t>
            </a:r>
            <a:r>
              <a:rPr lang="en-US" altLang="zh-CN" sz="2300" dirty="0" err="1"/>
              <a:t>i</a:t>
            </a:r>
            <a:r>
              <a:rPr lang="en-US" altLang="zh-CN" sz="2300" dirty="0"/>
              <a:t>++)) : $day"</a:t>
            </a:r>
          </a:p>
          <a:p>
            <a:pPr marL="0" indent="0">
              <a:buNone/>
            </a:pPr>
            <a:r>
              <a:rPr lang="en-US" altLang="zh-CN" sz="2300" dirty="0"/>
              <a:t>   if [ $</a:t>
            </a:r>
            <a:r>
              <a:rPr lang="en-US" altLang="zh-CN" sz="2300" dirty="0" err="1"/>
              <a:t>i</a:t>
            </a:r>
            <a:r>
              <a:rPr lang="en-US" altLang="zh-CN" sz="2300" dirty="0"/>
              <a:t> -eq 7 </a:t>
            </a:r>
            <a:r>
              <a:rPr lang="en-US" altLang="zh-CN" sz="2300" dirty="0">
                <a:solidFill>
                  <a:srgbClr val="0000CC"/>
                </a:solidFill>
              </a:rPr>
              <a:t>-o </a:t>
            </a:r>
            <a:r>
              <a:rPr lang="en-US" altLang="zh-CN" sz="2300" dirty="0"/>
              <a:t>$</a:t>
            </a:r>
            <a:r>
              <a:rPr lang="en-US" altLang="zh-CN" sz="2300" dirty="0" err="1"/>
              <a:t>i</a:t>
            </a:r>
            <a:r>
              <a:rPr lang="en-US" altLang="zh-CN" sz="2300" dirty="0"/>
              <a:t> -eq 8 ]</a:t>
            </a:r>
          </a:p>
          <a:p>
            <a:pPr marL="0" indent="0">
              <a:buNone/>
            </a:pPr>
            <a:r>
              <a:rPr lang="en-US" altLang="zh-CN" sz="2300" dirty="0"/>
              <a:t>       then</a:t>
            </a:r>
          </a:p>
          <a:p>
            <a:pPr marL="0" indent="0">
              <a:buNone/>
            </a:pPr>
            <a:r>
              <a:rPr lang="en-US" altLang="zh-CN" sz="2300" dirty="0"/>
              <a:t>       echo " (WEEKEND)" </a:t>
            </a:r>
          </a:p>
          <a:p>
            <a:pPr marL="0" indent="0">
              <a:buNone/>
            </a:pPr>
            <a:r>
              <a:rPr lang="en-US" altLang="zh-CN" sz="2300" dirty="0"/>
              <a:t>       </a:t>
            </a:r>
            <a:r>
              <a:rPr lang="en-US" altLang="zh-CN" sz="2300" dirty="0">
                <a:solidFill>
                  <a:srgbClr val="0000CC"/>
                </a:solidFill>
              </a:rPr>
              <a:t>continue</a:t>
            </a:r>
          </a:p>
          <a:p>
            <a:pPr marL="0" indent="0">
              <a:buNone/>
            </a:pPr>
            <a:r>
              <a:rPr lang="en-US" altLang="zh-CN" sz="2300" dirty="0"/>
              <a:t>   fi </a:t>
            </a:r>
          </a:p>
          <a:p>
            <a:pPr marL="0" indent="0">
              <a:buNone/>
            </a:pPr>
            <a:r>
              <a:rPr lang="en-US" altLang="zh-CN" sz="2300" dirty="0"/>
              <a:t>   echo " (weekday)"</a:t>
            </a:r>
          </a:p>
          <a:p>
            <a:pPr marL="0" indent="0">
              <a:buNone/>
            </a:pPr>
            <a:r>
              <a:rPr lang="en-US" altLang="zh-CN" sz="2300" dirty="0"/>
              <a:t>done</a:t>
            </a:r>
          </a:p>
          <a:p>
            <a:pPr marL="0" indent="0">
              <a:buNone/>
            </a:pPr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3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94741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B10C7-E6F3-BFDB-ED79-EEA6B116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8311FA-6506-8C1F-C189-646673A612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E6F9BA-A238-EF79-6790-3206E4170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905" y="1556792"/>
            <a:ext cx="8950191" cy="3672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7148761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+mn-lt"/>
              </a:rPr>
              <a:t>9.6  shell</a:t>
            </a:r>
            <a:r>
              <a:rPr lang="zh-CN" altLang="en-US" dirty="0">
                <a:latin typeface="+mn-lt"/>
              </a:rPr>
              <a:t>函数 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1340768"/>
            <a:ext cx="10441160" cy="468052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600" dirty="0"/>
              <a:t>shell</a:t>
            </a:r>
            <a:r>
              <a:rPr lang="zh-CN" altLang="en-US" sz="2600" dirty="0"/>
              <a:t>程序也支持函数。一个函数就是一个子程序，用于完成特定的任务，可以重复调用这个函数。</a:t>
            </a:r>
            <a:endParaRPr lang="en-US" altLang="zh-CN" sz="2600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调用函数的方法与执行</a:t>
            </a:r>
            <a:r>
              <a:rPr lang="en-US" altLang="zh-CN" dirty="0"/>
              <a:t>Shell</a:t>
            </a:r>
            <a:r>
              <a:rPr lang="zh-CN" altLang="en-US" dirty="0"/>
              <a:t>命令无异。</a:t>
            </a:r>
            <a:endParaRPr lang="en-US" altLang="zh-CN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可以在</a:t>
            </a:r>
            <a:r>
              <a:rPr lang="en-US" altLang="zh-CN" dirty="0"/>
              <a:t>Shell</a:t>
            </a:r>
            <a:r>
              <a:rPr lang="zh-CN" altLang="en-US" dirty="0"/>
              <a:t>脚本中调用。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dirty="0"/>
              <a:t>在命令行上直接调用（定义函数的文件需先加载）。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600" dirty="0"/>
              <a:t>函数必须在调用之前定义。</a:t>
            </a:r>
            <a:endParaRPr lang="en-US" altLang="zh-CN" sz="2600" dirty="0"/>
          </a:p>
          <a:p>
            <a:pPr eaLnBrk="1" hangingPunct="1">
              <a:lnSpc>
                <a:spcPct val="150000"/>
              </a:lnSpc>
            </a:pPr>
            <a:r>
              <a:rPr lang="en-US" altLang="zh-CN" sz="2600" dirty="0"/>
              <a:t>Shell</a:t>
            </a:r>
            <a:r>
              <a:rPr lang="zh-CN" altLang="en-US" sz="2600" dirty="0"/>
              <a:t>函数的名字必须唯一，且符合变量命名规则。</a:t>
            </a:r>
            <a:endParaRPr lang="en-US" altLang="zh-CN" sz="2600" dirty="0"/>
          </a:p>
          <a:p>
            <a:pPr marL="0" indent="0" eaLnBrk="1" hangingPunct="1">
              <a:buNone/>
            </a:pPr>
            <a:endParaRPr lang="en-US" altLang="zh-CN" sz="2600" dirty="0"/>
          </a:p>
          <a:p>
            <a:pPr marL="0" indent="0" eaLnBrk="1" hangingPunct="1">
              <a:buNone/>
            </a:pPr>
            <a:endParaRPr lang="en-US" altLang="zh-CN" sz="2600" dirty="0"/>
          </a:p>
          <a:p>
            <a:pPr marL="0" indent="0" eaLnBrk="1" hangingPunct="1">
              <a:buNone/>
            </a:pP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265593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+mn-lt"/>
              </a:rPr>
              <a:t>shell</a:t>
            </a:r>
            <a:r>
              <a:rPr lang="zh-CN" altLang="en-US" dirty="0">
                <a:latin typeface="+mn-lt"/>
              </a:rPr>
              <a:t>函数 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22176" y="1580371"/>
            <a:ext cx="10058400" cy="4411662"/>
          </a:xfrm>
        </p:spPr>
        <p:txBody>
          <a:bodyPr/>
          <a:lstStyle/>
          <a:p>
            <a:pPr eaLnBrk="1" hangingPunct="1"/>
            <a:r>
              <a:rPr lang="zh-CN" altLang="en-US" sz="2600" dirty="0"/>
              <a:t>函数声明</a:t>
            </a:r>
          </a:p>
          <a:p>
            <a:pPr marL="0" indent="0" eaLnBrk="1" hangingPunct="1">
              <a:buNone/>
            </a:pPr>
            <a:r>
              <a:rPr lang="zh-CN" altLang="en-US" sz="2600" dirty="0">
                <a:solidFill>
                  <a:srgbClr val="0000CC"/>
                </a:solidFill>
              </a:rPr>
              <a:t>   函数格式</a:t>
            </a:r>
            <a:r>
              <a:rPr lang="zh-CN" altLang="en-US" sz="2600" dirty="0"/>
              <a:t>如下：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dirty="0">
                <a:solidFill>
                  <a:srgbClr val="CC0099"/>
                </a:solidFill>
              </a:rPr>
              <a:t>函数名（   ）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C0099"/>
                </a:solidFill>
              </a:rPr>
              <a:t>{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C0099"/>
                </a:solidFill>
              </a:rPr>
              <a:t>   </a:t>
            </a:r>
            <a:r>
              <a:rPr lang="zh-CN" altLang="en-US" dirty="0">
                <a:solidFill>
                  <a:srgbClr val="CC0099"/>
                </a:solidFill>
              </a:rPr>
              <a:t>函数体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CC0099"/>
                </a:solidFill>
              </a:rPr>
              <a:t>}</a:t>
            </a:r>
          </a:p>
          <a:p>
            <a:pPr eaLnBrk="1" hangingPunct="1"/>
            <a:r>
              <a:rPr lang="zh-CN" altLang="en-US" sz="2600" dirty="0">
                <a:solidFill>
                  <a:srgbClr val="0000CC"/>
                </a:solidFill>
              </a:rPr>
              <a:t>函数调用方式</a:t>
            </a:r>
            <a:r>
              <a:rPr lang="zh-CN" altLang="en-US" sz="2600" dirty="0"/>
              <a:t>为：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b="1" dirty="0"/>
              <a:t>函数名  </a:t>
            </a:r>
            <a:r>
              <a:rPr lang="en-US" altLang="zh-CN" dirty="0"/>
              <a:t>[</a:t>
            </a:r>
            <a:r>
              <a:rPr lang="zh-CN" altLang="en-US" b="1" dirty="0"/>
              <a:t>参数列表</a:t>
            </a:r>
            <a:r>
              <a:rPr lang="en-US" altLang="zh-CN" b="1" dirty="0"/>
              <a:t>]</a:t>
            </a:r>
            <a:endParaRPr lang="zh-CN" altLang="en-US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0710168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+mn-lt"/>
              </a:rPr>
              <a:t>shell</a:t>
            </a:r>
            <a:r>
              <a:rPr lang="zh-CN" altLang="en-US" dirty="0">
                <a:latin typeface="+mn-lt"/>
              </a:rPr>
              <a:t>函数 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00" y="1268760"/>
            <a:ext cx="10945216" cy="5184576"/>
          </a:xfrm>
        </p:spPr>
        <p:txBody>
          <a:bodyPr/>
          <a:lstStyle/>
          <a:p>
            <a:pPr eaLnBrk="1" hangingPunct="1"/>
            <a:r>
              <a:rPr lang="zh-CN" altLang="en-US" sz="2600" dirty="0">
                <a:solidFill>
                  <a:srgbClr val="0000CC"/>
                </a:solidFill>
              </a:rPr>
              <a:t>参数</a:t>
            </a:r>
            <a:endParaRPr lang="en-US" altLang="zh-CN" sz="2600" dirty="0"/>
          </a:p>
          <a:p>
            <a:pPr lvl="1" eaLnBrk="1" hangingPunct="1"/>
            <a:r>
              <a:rPr lang="zh-CN" altLang="en-US" dirty="0"/>
              <a:t>调用函数时，使用位置参数的形式为函数传递参数。</a:t>
            </a:r>
          </a:p>
          <a:p>
            <a:pPr lvl="1" eaLnBrk="1" hangingPunct="1"/>
            <a:r>
              <a:rPr lang="zh-CN" altLang="en-US" dirty="0"/>
              <a:t>函数内的</a:t>
            </a:r>
            <a:r>
              <a:rPr lang="en-US" altLang="zh-CN" dirty="0"/>
              <a:t>$1-${n} </a:t>
            </a:r>
            <a:r>
              <a:rPr lang="zh-CN" altLang="en-US" dirty="0"/>
              <a:t>、 </a:t>
            </a:r>
            <a:r>
              <a:rPr lang="en-US" altLang="zh-CN" dirty="0"/>
              <a:t>$@ </a:t>
            </a:r>
            <a:r>
              <a:rPr lang="zh-CN" altLang="en-US" dirty="0"/>
              <a:t>和</a:t>
            </a:r>
            <a:r>
              <a:rPr lang="en-US" altLang="zh-CN" dirty="0"/>
              <a:t>$* </a:t>
            </a:r>
            <a:r>
              <a:rPr lang="zh-CN" altLang="en-US" dirty="0"/>
              <a:t>表示其接收的参数。</a:t>
            </a:r>
          </a:p>
          <a:p>
            <a:pPr lvl="1" eaLnBrk="1" hangingPunct="1"/>
            <a:r>
              <a:rPr lang="zh-CN" altLang="en-US" dirty="0"/>
              <a:t>函数调用结束后位置参数 </a:t>
            </a:r>
            <a:r>
              <a:rPr lang="en-US" altLang="zh-CN" dirty="0"/>
              <a:t>$1-${n} </a:t>
            </a:r>
            <a:r>
              <a:rPr lang="zh-CN" altLang="en-US" dirty="0"/>
              <a:t>、</a:t>
            </a:r>
            <a:r>
              <a:rPr lang="en-US" altLang="zh-CN" dirty="0"/>
              <a:t>$* </a:t>
            </a:r>
            <a:r>
              <a:rPr lang="zh-CN" altLang="en-US" dirty="0"/>
              <a:t>和 </a:t>
            </a:r>
            <a:r>
              <a:rPr lang="en-US" altLang="zh-CN" dirty="0"/>
              <a:t>$@ </a:t>
            </a:r>
            <a:r>
              <a:rPr lang="zh-CN" altLang="en-US" dirty="0"/>
              <a:t>将被重置为调用函数之前的值。</a:t>
            </a:r>
          </a:p>
          <a:p>
            <a:pPr lvl="1" eaLnBrk="1" hangingPunct="1"/>
            <a:r>
              <a:rPr lang="zh-CN" altLang="en-US" dirty="0"/>
              <a:t>在主程序和函数中，</a:t>
            </a:r>
            <a:r>
              <a:rPr lang="en-US" altLang="zh-CN" dirty="0"/>
              <a:t>$0</a:t>
            </a:r>
            <a:r>
              <a:rPr lang="zh-CN" altLang="en-US" dirty="0"/>
              <a:t>始终代表脚本名。</a:t>
            </a:r>
            <a:endParaRPr lang="en-US" altLang="zh-CN" dirty="0"/>
          </a:p>
          <a:p>
            <a:pPr eaLnBrk="1" hangingPunct="1"/>
            <a:r>
              <a:rPr lang="zh-CN" altLang="en-US" sz="2600" dirty="0">
                <a:solidFill>
                  <a:srgbClr val="0000CC"/>
                </a:solidFill>
              </a:rPr>
              <a:t>变量</a:t>
            </a:r>
            <a:endParaRPr lang="en-US" altLang="zh-CN" sz="2600" dirty="0"/>
          </a:p>
          <a:p>
            <a:pPr lvl="1" eaLnBrk="1" hangingPunct="1"/>
            <a:r>
              <a:rPr lang="zh-CN" altLang="en-US" b="1" dirty="0"/>
              <a:t>函数内使用 </a:t>
            </a:r>
            <a:r>
              <a:rPr lang="en-US" altLang="zh-CN" b="1" dirty="0"/>
              <a:t>local </a:t>
            </a:r>
            <a:r>
              <a:rPr lang="zh-CN" altLang="en-US" b="1" dirty="0"/>
              <a:t>声明的变量是局部变量</a:t>
            </a:r>
            <a:r>
              <a:rPr lang="zh-CN" altLang="en-US" dirty="0"/>
              <a:t>。</a:t>
            </a:r>
            <a:endParaRPr lang="zh-CN" altLang="en-US" b="1" dirty="0"/>
          </a:p>
          <a:p>
            <a:pPr lvl="1" eaLnBrk="1" hangingPunct="1"/>
            <a:r>
              <a:rPr lang="zh-CN" altLang="en-US" b="1" dirty="0"/>
              <a:t>局部变量的作用域是当前函数以及其调用的所有函数。</a:t>
            </a:r>
          </a:p>
          <a:p>
            <a:pPr lvl="1" eaLnBrk="1" hangingPunct="1"/>
            <a:r>
              <a:rPr lang="zh-CN" altLang="en-US" b="1" dirty="0"/>
              <a:t>函数内未使用 </a:t>
            </a:r>
            <a:r>
              <a:rPr lang="en-US" altLang="zh-CN" b="1" dirty="0"/>
              <a:t>local </a:t>
            </a:r>
            <a:r>
              <a:rPr lang="zh-CN" altLang="en-US" b="1" dirty="0"/>
              <a:t>声明的变量是全局变量。</a:t>
            </a:r>
          </a:p>
        </p:txBody>
      </p:sp>
    </p:spTree>
    <p:extLst>
      <p:ext uri="{BB962C8B-B14F-4D97-AF65-F5344CB8AC3E}">
        <p14:creationId xmlns:p14="http://schemas.microsoft.com/office/powerpoint/2010/main" val="2350667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424" y="620688"/>
            <a:ext cx="10513168" cy="5688632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zh-CN" altLang="en-US" sz="2200" dirty="0"/>
              <a:t>例如：</a:t>
            </a:r>
            <a:r>
              <a:rPr lang="en-US" altLang="zh-CN" sz="2200" dirty="0"/>
              <a:t>shell</a:t>
            </a:r>
            <a:r>
              <a:rPr lang="zh-CN" altLang="en-US" sz="2200" dirty="0"/>
              <a:t>函数</a:t>
            </a:r>
            <a:r>
              <a:rPr lang="en-US" altLang="zh-CN" sz="2200" dirty="0"/>
              <a:t>-</a:t>
            </a:r>
            <a:r>
              <a:rPr lang="zh-CN" altLang="en-US" sz="2200" dirty="0"/>
              <a:t>阶乘计算。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(1)</a:t>
            </a:r>
            <a:r>
              <a:rPr lang="zh-CN" altLang="en-US" sz="2200" dirty="0"/>
              <a:t>编辑代码</a:t>
            </a: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vim test12.sh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#!/bin/bash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CC0099"/>
                </a:solidFill>
              </a:rPr>
              <a:t>fun()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CC0099"/>
                </a:solidFill>
              </a:rPr>
              <a:t>{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read  -p "</a:t>
            </a:r>
            <a:r>
              <a:rPr lang="zh-CN" altLang="en-US" sz="2200" dirty="0"/>
              <a:t>请输入一个数字计算它的阶乘：</a:t>
            </a:r>
            <a:r>
              <a:rPr lang="en-US" altLang="zh-CN" sz="2200" dirty="0"/>
              <a:t>" num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fun=1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for((</a:t>
            </a:r>
            <a:r>
              <a:rPr lang="en-US" altLang="zh-CN" sz="2200" dirty="0" err="1"/>
              <a:t>i</a:t>
            </a:r>
            <a:r>
              <a:rPr lang="en-US" altLang="zh-CN" sz="2200" dirty="0"/>
              <a:t>=1;i&lt;=$</a:t>
            </a:r>
            <a:r>
              <a:rPr lang="en-US" altLang="zh-CN" sz="2200" dirty="0" err="1"/>
              <a:t>num;i</a:t>
            </a:r>
            <a:r>
              <a:rPr lang="en-US" altLang="zh-CN" sz="2200" dirty="0"/>
              <a:t>++))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do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  fun=`expr $fun \* $</a:t>
            </a:r>
            <a:r>
              <a:rPr lang="en-US" altLang="zh-CN" sz="2200" dirty="0" err="1"/>
              <a:t>i</a:t>
            </a:r>
            <a:r>
              <a:rPr lang="en-US" altLang="zh-CN" sz="2200" dirty="0"/>
              <a:t>`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    echo "$fun"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 done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CC0099"/>
                </a:solidFill>
              </a:rPr>
              <a:t>}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>
                <a:solidFill>
                  <a:srgbClr val="0000CC"/>
                </a:solidFill>
              </a:rPr>
              <a:t>fun $num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200" dirty="0"/>
              <a:t>(2)</a:t>
            </a:r>
            <a:r>
              <a:rPr lang="zh-CN" altLang="en-US" sz="2200" dirty="0"/>
              <a:t>修改权限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200" dirty="0"/>
              <a:t>	</a:t>
            </a:r>
            <a:r>
              <a:rPr lang="en-US" altLang="zh-CN" sz="2200" dirty="0"/>
              <a:t>[</a:t>
            </a:r>
            <a:r>
              <a:rPr lang="en-US" altLang="zh-CN" sz="2200" dirty="0" err="1"/>
              <a:t>root@localhost</a:t>
            </a:r>
            <a:r>
              <a:rPr lang="en-US" altLang="zh-CN" sz="2200" dirty="0"/>
              <a:t> ~ ]# </a:t>
            </a:r>
            <a:r>
              <a:rPr lang="en-US" altLang="zh-CN" sz="2200" dirty="0" err="1"/>
              <a:t>chmod</a:t>
            </a:r>
            <a:r>
              <a:rPr lang="en-US" altLang="zh-CN" sz="2200" dirty="0"/>
              <a:t> +x test12.sh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CN" sz="2000" dirty="0"/>
          </a:p>
        </p:txBody>
      </p:sp>
      <p:sp>
        <p:nvSpPr>
          <p:cNvPr id="210948" name="Text Box 4"/>
          <p:cNvSpPr txBox="1">
            <a:spLocks noChangeArrowheads="1"/>
          </p:cNvSpPr>
          <p:nvPr/>
        </p:nvSpPr>
        <p:spPr bwMode="auto">
          <a:xfrm>
            <a:off x="7103666" y="3717032"/>
            <a:ext cx="4176910" cy="1107996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000CC"/>
                </a:solidFill>
                <a:latin typeface="+mn-ea"/>
                <a:ea typeface="+mn-ea"/>
              </a:rPr>
              <a:t>注意：函数定义完成后必须同时写出函数的调用，然后对此文件进行权限设定，再执行此文件。</a:t>
            </a:r>
          </a:p>
        </p:txBody>
      </p:sp>
    </p:spTree>
    <p:extLst>
      <p:ext uri="{BB962C8B-B14F-4D97-AF65-F5344CB8AC3E}">
        <p14:creationId xmlns:p14="http://schemas.microsoft.com/office/powerpoint/2010/main" val="2424063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9602B6-4376-4AC1-9A45-81D88D88A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692696"/>
            <a:ext cx="8229600" cy="489654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(3)</a:t>
            </a:r>
            <a:r>
              <a:rPr lang="zh-CN" altLang="en-US" sz="2400" dirty="0"/>
              <a:t>程序运行结果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CBB8E77-0EB2-4DDD-BC21-EF10FF84C4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B0E8C28-E1B7-4A4B-9C27-2D1E15EDB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1268760"/>
            <a:ext cx="7704856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57214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2" name="Rectangle 2"/>
          <p:cNvSpPr>
            <a:spLocks noChangeArrowheads="1"/>
          </p:cNvSpPr>
          <p:nvPr/>
        </p:nvSpPr>
        <p:spPr bwMode="auto">
          <a:xfrm>
            <a:off x="2208214" y="836613"/>
            <a:ext cx="7056139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zh-CN" sz="4200">
                <a:solidFill>
                  <a:srgbClr val="CC00CC"/>
                </a:solidFill>
                <a:ea typeface="黑体" pitchFamily="49" charset="-122"/>
              </a:rPr>
              <a:t>Thanks!</a:t>
            </a:r>
          </a:p>
        </p:txBody>
      </p:sp>
      <p:pic>
        <p:nvPicPr>
          <p:cNvPr id="74445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989" y="2564905"/>
            <a:ext cx="2232248" cy="2033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1"/>
          <p:cNvSpPr>
            <a:spLocks noGrp="1"/>
          </p:cNvSpPr>
          <p:nvPr>
            <p:ph type="sldNum" sz="quarter" idx="11"/>
          </p:nvPr>
        </p:nvSpPr>
        <p:spPr>
          <a:xfrm>
            <a:off x="5053013" y="6240463"/>
            <a:ext cx="2133600" cy="457200"/>
          </a:xfrm>
        </p:spPr>
        <p:txBody>
          <a:bodyPr/>
          <a:lstStyle/>
          <a:p>
            <a:pPr>
              <a:defRPr/>
            </a:pPr>
            <a:fld id="{110871B5-850E-4E14-A636-3EC679EBF038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983799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etwork">
  <a:themeElements>
    <a:clrScheme name="Network 13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0000FF"/>
      </a:hlink>
      <a:folHlink>
        <a:srgbClr val="0000FF"/>
      </a:folHlink>
    </a:clrScheme>
    <a:fontScheme name="Network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1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2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3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Network">
  <a:themeElements>
    <a:clrScheme name="2_Network 13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0000FF"/>
      </a:hlink>
      <a:folHlink>
        <a:srgbClr val="0000FF"/>
      </a:folHlink>
    </a:clrScheme>
    <a:fontScheme name="2_Network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1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2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etwork 13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26561</TotalTime>
  <Words>5844</Words>
  <Application>Microsoft Office PowerPoint</Application>
  <PresentationFormat>宽屏</PresentationFormat>
  <Paragraphs>704</Paragraphs>
  <Slides>69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69</vt:i4>
      </vt:variant>
    </vt:vector>
  </HeadingPairs>
  <TitlesOfParts>
    <vt:vector size="76" baseType="lpstr">
      <vt:lpstr>黑体</vt:lpstr>
      <vt:lpstr>Arial</vt:lpstr>
      <vt:lpstr>Tahoma</vt:lpstr>
      <vt:lpstr>Times New Roman</vt:lpstr>
      <vt:lpstr>Wingdings</vt:lpstr>
      <vt:lpstr>Network</vt:lpstr>
      <vt:lpstr>2_Network</vt:lpstr>
      <vt:lpstr>       第 9 章       </vt:lpstr>
      <vt:lpstr>本章内容</vt:lpstr>
      <vt:lpstr>9.1  Shell 概述</vt:lpstr>
      <vt:lpstr>Shell语言的特点</vt:lpstr>
      <vt:lpstr>Shell脚本</vt:lpstr>
      <vt:lpstr>9.2  创建Shell程序</vt:lpstr>
      <vt:lpstr>PowerPoint 演示文稿</vt:lpstr>
      <vt:lpstr>编写Shell脚本步骤</vt:lpstr>
      <vt:lpstr>一个简单的Shell程序</vt:lpstr>
      <vt:lpstr>Shell特殊字符</vt:lpstr>
      <vt:lpstr>命令执行控制符</vt:lpstr>
      <vt:lpstr>命令执行控制符</vt:lpstr>
      <vt:lpstr>命令替换符</vt:lpstr>
      <vt:lpstr>9.3  shell变量</vt:lpstr>
      <vt:lpstr>环境变量</vt:lpstr>
      <vt:lpstr>系统变量</vt:lpstr>
      <vt:lpstr>PowerPoint 演示文稿</vt:lpstr>
      <vt:lpstr>PowerPoint 演示文稿</vt:lpstr>
      <vt:lpstr>系统变量</vt:lpstr>
      <vt:lpstr>PowerPoint 演示文稿</vt:lpstr>
      <vt:lpstr>PowerPoint 演示文稿</vt:lpstr>
      <vt:lpstr>用户变量</vt:lpstr>
      <vt:lpstr>用户变量</vt:lpstr>
      <vt:lpstr>用户变量</vt:lpstr>
      <vt:lpstr>用户变量</vt:lpstr>
      <vt:lpstr>PowerPoint 演示文稿</vt:lpstr>
      <vt:lpstr>read命令</vt:lpstr>
      <vt:lpstr>PowerPoint 演示文稿</vt:lpstr>
      <vt:lpstr>PowerPoint 演示文稿</vt:lpstr>
      <vt:lpstr>9.4  Shell表达式</vt:lpstr>
      <vt:lpstr>算术运算表达式</vt:lpstr>
      <vt:lpstr>expr命令用法示例</vt:lpstr>
      <vt:lpstr>PowerPoint 演示文稿</vt:lpstr>
      <vt:lpstr>expr命令用法</vt:lpstr>
      <vt:lpstr>逻辑测试表达式</vt:lpstr>
      <vt:lpstr>表达式的比较</vt:lpstr>
      <vt:lpstr>PowerPoint 演示文稿</vt:lpstr>
      <vt:lpstr>表达式的比较</vt:lpstr>
      <vt:lpstr>表达式的比较</vt:lpstr>
      <vt:lpstr>表达式的比较</vt:lpstr>
      <vt:lpstr>PowerPoint 演示文稿</vt:lpstr>
      <vt:lpstr>9.5  Shell的流程控制</vt:lpstr>
      <vt:lpstr>条件结构语句 </vt:lpstr>
      <vt:lpstr>条件结构语句 </vt:lpstr>
      <vt:lpstr>PowerPoint 演示文稿</vt:lpstr>
      <vt:lpstr>PowerPoint 演示文稿</vt:lpstr>
      <vt:lpstr>条件结构语句 </vt:lpstr>
      <vt:lpstr>PowerPoint 演示文稿</vt:lpstr>
      <vt:lpstr>PowerPoint 演示文稿</vt:lpstr>
      <vt:lpstr>循环结构语句 </vt:lpstr>
      <vt:lpstr>PowerPoint 演示文稿</vt:lpstr>
      <vt:lpstr>PowerPoint 演示文稿</vt:lpstr>
      <vt:lpstr>循环结构语句 </vt:lpstr>
      <vt:lpstr>PowerPoint 演示文稿</vt:lpstr>
      <vt:lpstr>循环结构语句 </vt:lpstr>
      <vt:lpstr>PowerPoint 演示文稿</vt:lpstr>
      <vt:lpstr>退出循环语句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9.6  shell函数 </vt:lpstr>
      <vt:lpstr>shell函数 </vt:lpstr>
      <vt:lpstr>shell函数 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计算机应用技术基础</dc:title>
  <dc:creator>李群</dc:creator>
  <cp:lastModifiedBy>PC-100</cp:lastModifiedBy>
  <cp:revision>2167</cp:revision>
  <dcterms:created xsi:type="dcterms:W3CDTF">2007-09-10T04:44:13Z</dcterms:created>
  <dcterms:modified xsi:type="dcterms:W3CDTF">2024-11-26T01:01:16Z</dcterms:modified>
</cp:coreProperties>
</file>