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4" r:id="rId1"/>
    <p:sldMasterId id="2147483695" r:id="rId2"/>
  </p:sldMasterIdLst>
  <p:notesMasterIdLst>
    <p:notesMasterId r:id="rId98"/>
  </p:notesMasterIdLst>
  <p:handoutMasterIdLst>
    <p:handoutMasterId r:id="rId99"/>
  </p:handoutMasterIdLst>
  <p:sldIdLst>
    <p:sldId id="256" r:id="rId3"/>
    <p:sldId id="482" r:id="rId4"/>
    <p:sldId id="505" r:id="rId5"/>
    <p:sldId id="602" r:id="rId6"/>
    <p:sldId id="604" r:id="rId7"/>
    <p:sldId id="763" r:id="rId8"/>
    <p:sldId id="833" r:id="rId9"/>
    <p:sldId id="736" r:id="rId10"/>
    <p:sldId id="687" r:id="rId11"/>
    <p:sldId id="690" r:id="rId12"/>
    <p:sldId id="692" r:id="rId13"/>
    <p:sldId id="693" r:id="rId14"/>
    <p:sldId id="694" r:id="rId15"/>
    <p:sldId id="691" r:id="rId16"/>
    <p:sldId id="846" r:id="rId17"/>
    <p:sldId id="679" r:id="rId18"/>
    <p:sldId id="829" r:id="rId19"/>
    <p:sldId id="698" r:id="rId20"/>
    <p:sldId id="834" r:id="rId21"/>
    <p:sldId id="680" r:id="rId22"/>
    <p:sldId id="847" r:id="rId23"/>
    <p:sldId id="711" r:id="rId24"/>
    <p:sldId id="838" r:id="rId25"/>
    <p:sldId id="840" r:id="rId26"/>
    <p:sldId id="849" r:id="rId27"/>
    <p:sldId id="836" r:id="rId28"/>
    <p:sldId id="706" r:id="rId29"/>
    <p:sldId id="664" r:id="rId30"/>
    <p:sldId id="765" r:id="rId31"/>
    <p:sldId id="700" r:id="rId32"/>
    <p:sldId id="701" r:id="rId33"/>
    <p:sldId id="708" r:id="rId34"/>
    <p:sldId id="709" r:id="rId35"/>
    <p:sldId id="702" r:id="rId36"/>
    <p:sldId id="715" r:id="rId37"/>
    <p:sldId id="712" r:id="rId38"/>
    <p:sldId id="716" r:id="rId39"/>
    <p:sldId id="714" r:id="rId40"/>
    <p:sldId id="830" r:id="rId41"/>
    <p:sldId id="718" r:id="rId42"/>
    <p:sldId id="719" r:id="rId43"/>
    <p:sldId id="837" r:id="rId44"/>
    <p:sldId id="720" r:id="rId45"/>
    <p:sldId id="764" r:id="rId46"/>
    <p:sldId id="322" r:id="rId47"/>
    <p:sldId id="731" r:id="rId48"/>
    <p:sldId id="726" r:id="rId49"/>
    <p:sldId id="728" r:id="rId50"/>
    <p:sldId id="729" r:id="rId51"/>
    <p:sldId id="727" r:id="rId52"/>
    <p:sldId id="649" r:id="rId53"/>
    <p:sldId id="734" r:id="rId54"/>
    <p:sldId id="735" r:id="rId55"/>
    <p:sldId id="654" r:id="rId56"/>
    <p:sldId id="850" r:id="rId57"/>
    <p:sldId id="831" r:id="rId58"/>
    <p:sldId id="841" r:id="rId59"/>
    <p:sldId id="842" r:id="rId60"/>
    <p:sldId id="780" r:id="rId61"/>
    <p:sldId id="800" r:id="rId62"/>
    <p:sldId id="781" r:id="rId63"/>
    <p:sldId id="809" r:id="rId64"/>
    <p:sldId id="810" r:id="rId65"/>
    <p:sldId id="816" r:id="rId66"/>
    <p:sldId id="817" r:id="rId67"/>
    <p:sldId id="818" r:id="rId68"/>
    <p:sldId id="843" r:id="rId69"/>
    <p:sldId id="844" r:id="rId70"/>
    <p:sldId id="801" r:id="rId71"/>
    <p:sldId id="786" r:id="rId72"/>
    <p:sldId id="787" r:id="rId73"/>
    <p:sldId id="411" r:id="rId74"/>
    <p:sldId id="788" r:id="rId75"/>
    <p:sldId id="855" r:id="rId76"/>
    <p:sldId id="814" r:id="rId77"/>
    <p:sldId id="856" r:id="rId78"/>
    <p:sldId id="815" r:id="rId79"/>
    <p:sldId id="857" r:id="rId80"/>
    <p:sldId id="859" r:id="rId81"/>
    <p:sldId id="862" r:id="rId82"/>
    <p:sldId id="864" r:id="rId83"/>
    <p:sldId id="866" r:id="rId84"/>
    <p:sldId id="860" r:id="rId85"/>
    <p:sldId id="865" r:id="rId86"/>
    <p:sldId id="863" r:id="rId87"/>
    <p:sldId id="861" r:id="rId88"/>
    <p:sldId id="804" r:id="rId89"/>
    <p:sldId id="824" r:id="rId90"/>
    <p:sldId id="823" r:id="rId91"/>
    <p:sldId id="868" r:id="rId92"/>
    <p:sldId id="869" r:id="rId93"/>
    <p:sldId id="867" r:id="rId94"/>
    <p:sldId id="624" r:id="rId95"/>
    <p:sldId id="732" r:id="rId96"/>
    <p:sldId id="827" r:id="rId97"/>
  </p:sldIdLst>
  <p:sldSz cx="12192000" cy="6858000"/>
  <p:notesSz cx="6858000" cy="9144000"/>
  <p:defaultTextStyle>
    <a:defPPr>
      <a:defRPr lang="zh-CN"/>
    </a:defPPr>
    <a:lvl1pPr algn="ctr" rtl="0" fontAlgn="base">
      <a:spcBef>
        <a:spcPct val="0"/>
      </a:spcBef>
      <a:spcAft>
        <a:spcPct val="0"/>
      </a:spcAft>
      <a:defRPr b="1" kern="1200">
        <a:solidFill>
          <a:schemeClr val="tx1"/>
        </a:solidFill>
        <a:latin typeface="Arial" charset="0"/>
        <a:ea typeface="宋体" pitchFamily="2" charset="-122"/>
        <a:cs typeface="+mn-cs"/>
      </a:defRPr>
    </a:lvl1pPr>
    <a:lvl2pPr marL="457200" algn="ctr" rtl="0" fontAlgn="base">
      <a:spcBef>
        <a:spcPct val="0"/>
      </a:spcBef>
      <a:spcAft>
        <a:spcPct val="0"/>
      </a:spcAft>
      <a:defRPr b="1" kern="1200">
        <a:solidFill>
          <a:schemeClr val="tx1"/>
        </a:solidFill>
        <a:latin typeface="Arial" charset="0"/>
        <a:ea typeface="宋体" pitchFamily="2" charset="-122"/>
        <a:cs typeface="+mn-cs"/>
      </a:defRPr>
    </a:lvl2pPr>
    <a:lvl3pPr marL="914400" algn="ctr" rtl="0" fontAlgn="base">
      <a:spcBef>
        <a:spcPct val="0"/>
      </a:spcBef>
      <a:spcAft>
        <a:spcPct val="0"/>
      </a:spcAft>
      <a:defRPr b="1" kern="1200">
        <a:solidFill>
          <a:schemeClr val="tx1"/>
        </a:solidFill>
        <a:latin typeface="Arial" charset="0"/>
        <a:ea typeface="宋体" pitchFamily="2" charset="-122"/>
        <a:cs typeface="+mn-cs"/>
      </a:defRPr>
    </a:lvl3pPr>
    <a:lvl4pPr marL="1371600" algn="ctr" rtl="0" fontAlgn="base">
      <a:spcBef>
        <a:spcPct val="0"/>
      </a:spcBef>
      <a:spcAft>
        <a:spcPct val="0"/>
      </a:spcAft>
      <a:defRPr b="1" kern="1200">
        <a:solidFill>
          <a:schemeClr val="tx1"/>
        </a:solidFill>
        <a:latin typeface="Arial" charset="0"/>
        <a:ea typeface="宋体" pitchFamily="2" charset="-122"/>
        <a:cs typeface="+mn-cs"/>
      </a:defRPr>
    </a:lvl4pPr>
    <a:lvl5pPr marL="1828800" algn="ctr"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99FF"/>
    <a:srgbClr val="0000CC"/>
    <a:srgbClr val="CC0099"/>
    <a:srgbClr val="FF9900"/>
    <a:srgbClr val="CCECFF"/>
    <a:srgbClr val="3A273F"/>
    <a:srgbClr val="0000FF"/>
    <a:srgbClr val="FF3300"/>
    <a:srgbClr val="00FFFF"/>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78658" autoAdjust="0"/>
  </p:normalViewPr>
  <p:slideViewPr>
    <p:cSldViewPr>
      <p:cViewPr>
        <p:scale>
          <a:sx n="50" d="100"/>
          <a:sy n="50" d="100"/>
        </p:scale>
        <p:origin x="504" y="92"/>
      </p:cViewPr>
      <p:guideLst>
        <p:guide orient="horz" pos="2160"/>
        <p:guide pos="3840"/>
      </p:guideLst>
    </p:cSldViewPr>
  </p:slideViewPr>
  <p:outlineViewPr>
    <p:cViewPr>
      <p:scale>
        <a:sx n="33" d="100"/>
        <a:sy n="33" d="100"/>
      </p:scale>
      <p:origin x="0" y="1266"/>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90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7B4B9BB-6DE8-4551-91B0-1D212BA0667C}" type="datetimeFigureOut">
              <a:rPr lang="zh-CN" altLang="en-US" smtClean="0"/>
              <a:pPr/>
              <a:t>2024/10/21</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7379E54-6977-419B-BC40-D913703F14B0}" type="slidenum">
              <a:rPr lang="zh-CN" altLang="en-US" smtClean="0"/>
              <a:pPr/>
              <a:t>‹#›</a:t>
            </a:fld>
            <a:endParaRPr lang="zh-CN" altLang="en-US"/>
          </a:p>
        </p:txBody>
      </p:sp>
    </p:spTree>
    <p:extLst>
      <p:ext uri="{BB962C8B-B14F-4D97-AF65-F5344CB8AC3E}">
        <p14:creationId xmlns:p14="http://schemas.microsoft.com/office/powerpoint/2010/main" val="2811045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vl1pPr>
          </a:lstStyle>
          <a:p>
            <a:pPr>
              <a:defRPr/>
            </a:pPr>
            <a:endParaRPr lang="en-US" altLang="zh-CN"/>
          </a:p>
        </p:txBody>
      </p:sp>
      <p:sp>
        <p:nvSpPr>
          <p:cNvPr id="1095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ltLang="zh-CN"/>
          </a:p>
        </p:txBody>
      </p:sp>
      <p:sp>
        <p:nvSpPr>
          <p:cNvPr id="9728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1095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095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vl1pPr>
          </a:lstStyle>
          <a:p>
            <a:pPr>
              <a:defRPr/>
            </a:pPr>
            <a:endParaRPr lang="en-US" altLang="zh-CN"/>
          </a:p>
        </p:txBody>
      </p:sp>
      <p:sp>
        <p:nvSpPr>
          <p:cNvPr id="1095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pPr>
              <a:defRPr/>
            </a:pPr>
            <a:fld id="{7470E5E1-4843-4932-A191-9860DB39C7B3}" type="slidenum">
              <a:rPr lang="en-US" altLang="zh-CN"/>
              <a:pPr>
                <a:defRPr/>
              </a:pPr>
              <a:t>‹#›</a:t>
            </a:fld>
            <a:endParaRPr lang="en-US" altLang="zh-CN"/>
          </a:p>
        </p:txBody>
      </p:sp>
    </p:spTree>
    <p:extLst>
      <p:ext uri="{BB962C8B-B14F-4D97-AF65-F5344CB8AC3E}">
        <p14:creationId xmlns:p14="http://schemas.microsoft.com/office/powerpoint/2010/main" val="9137970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可中断的睡眠状态的进程会睡眠直到某个条件变为真，如产生一个硬件中断、释放进程正在等待的系统资源或是传递一个信号都可以是唤醒进程的条件。</a:t>
            </a:r>
            <a:endParaRPr lang="en-US" altLang="zh-CN"/>
          </a:p>
          <a:p>
            <a:r>
              <a:rPr lang="zh-CN" altLang="en-US"/>
              <a:t>不可中断睡眠状态与可中断睡眠状态类似，但是它有一个例外，那就是把信号传递到这种睡眠状态的进程不能改变它的状态，也就是说它不响应信号的唤醒。</a:t>
            </a:r>
            <a:endParaRPr lang="en-US" altLang="zh-CN"/>
          </a:p>
          <a:p>
            <a:pPr algn="just"/>
            <a:r>
              <a:rPr lang="en-US" altLang="zh-CN"/>
              <a:t>task_struct</a:t>
            </a:r>
            <a:r>
              <a:rPr lang="zh-CN" altLang="en-US"/>
              <a:t>结构</a:t>
            </a:r>
            <a:r>
              <a:rPr lang="en-US" altLang="zh-CN"/>
              <a:t>:</a:t>
            </a:r>
            <a:r>
              <a:rPr lang="zh-CN" altLang="en-US"/>
              <a:t>进程描述符</a:t>
            </a:r>
            <a:r>
              <a:rPr lang="en-US" altLang="zh-CN"/>
              <a:t>(</a:t>
            </a:r>
            <a:r>
              <a:rPr lang="zh-CN" altLang="en-US"/>
              <a:t>进程控制块）</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5</a:t>
            </a:fld>
            <a:endParaRPr lang="en-US" altLang="zh-CN"/>
          </a:p>
        </p:txBody>
      </p:sp>
    </p:spTree>
    <p:extLst>
      <p:ext uri="{BB962C8B-B14F-4D97-AF65-F5344CB8AC3E}">
        <p14:creationId xmlns:p14="http://schemas.microsoft.com/office/powerpoint/2010/main" val="3481897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err="1"/>
              <a:t>ps</a:t>
            </a:r>
            <a:r>
              <a:rPr lang="zh-CN" altLang="en-US" dirty="0"/>
              <a:t>命令是</a:t>
            </a:r>
            <a:r>
              <a:rPr lang="en-US" altLang="zh-CN" dirty="0"/>
              <a:t>Process Status</a:t>
            </a:r>
            <a:r>
              <a:rPr lang="zh-CN" altLang="en-US" dirty="0"/>
              <a:t>的缩写</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11</a:t>
            </a:fld>
            <a:endParaRPr lang="en-US" altLang="zh-CN"/>
          </a:p>
        </p:txBody>
      </p:sp>
    </p:spTree>
    <p:extLst>
      <p:ext uri="{BB962C8B-B14F-4D97-AF65-F5344CB8AC3E}">
        <p14:creationId xmlns:p14="http://schemas.microsoft.com/office/powerpoint/2010/main" val="2735249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SZ</a:t>
            </a:r>
            <a:r>
              <a:rPr lang="zh-CN" altLang="en-US" dirty="0"/>
              <a:t>进程使用的内存的大小</a:t>
            </a:r>
            <a:endParaRPr lang="en-US" altLang="zh-CN" dirty="0"/>
          </a:p>
          <a:p>
            <a:r>
              <a:rPr lang="en-US" altLang="zh-CN" dirty="0"/>
              <a:t>ADDR</a:t>
            </a:r>
            <a:r>
              <a:rPr lang="zh-CN" altLang="en-US" dirty="0"/>
              <a:t>程序在内存的哪个部分</a:t>
            </a:r>
            <a:endParaRPr lang="en-US" altLang="zh-CN" dirty="0"/>
          </a:p>
          <a:p>
            <a:r>
              <a:rPr lang="en-US" altLang="zh-CN" dirty="0"/>
              <a:t>F</a:t>
            </a:r>
            <a:r>
              <a:rPr lang="zh-CN" altLang="en-US" dirty="0"/>
              <a:t>：内核分配给进程的系统标记：</a:t>
            </a:r>
            <a:r>
              <a:rPr lang="en-US" altLang="zh-CN" dirty="0"/>
              <a:t>1 </a:t>
            </a:r>
            <a:r>
              <a:rPr lang="zh-CN" altLang="en-US" dirty="0"/>
              <a:t>代表进程被 </a:t>
            </a:r>
            <a:r>
              <a:rPr lang="en-US" altLang="zh-CN" dirty="0"/>
              <a:t>fork </a:t>
            </a:r>
            <a:r>
              <a:rPr lang="zh-CN" altLang="en-US" dirty="0"/>
              <a:t>但没有被执行。</a:t>
            </a:r>
            <a:r>
              <a:rPr lang="en-US" altLang="zh-CN" dirty="0"/>
              <a:t>4 </a:t>
            </a:r>
            <a:r>
              <a:rPr lang="zh-CN" altLang="en-US" dirty="0"/>
              <a:t>代表使用了超级管理员的权限。</a:t>
            </a:r>
            <a:r>
              <a:rPr lang="en-US" altLang="zh-CN" dirty="0"/>
              <a:t>5 </a:t>
            </a:r>
            <a:r>
              <a:rPr lang="zh-CN" altLang="en-US" dirty="0"/>
              <a:t>代表 </a:t>
            </a:r>
            <a:r>
              <a:rPr lang="en-US" altLang="zh-CN" dirty="0"/>
              <a:t>1 </a:t>
            </a:r>
            <a:r>
              <a:rPr lang="zh-CN" altLang="en-US" dirty="0"/>
              <a:t>和 </a:t>
            </a:r>
            <a:r>
              <a:rPr lang="en-US" altLang="zh-CN" dirty="0"/>
              <a:t>4 </a:t>
            </a:r>
            <a:r>
              <a:rPr lang="zh-CN" altLang="en-US" dirty="0"/>
              <a:t>都做了。</a:t>
            </a:r>
            <a:r>
              <a:rPr lang="en-US" altLang="zh-CN" dirty="0"/>
              <a:t>0 </a:t>
            </a:r>
            <a:r>
              <a:rPr lang="zh-CN" altLang="en-US" dirty="0"/>
              <a:t>没有任何特殊含义，含义为进程被 </a:t>
            </a:r>
            <a:r>
              <a:rPr lang="en-US" altLang="zh-CN" dirty="0"/>
              <a:t>fork </a:t>
            </a:r>
            <a:r>
              <a:rPr lang="zh-CN" altLang="en-US" dirty="0"/>
              <a:t>了，也确实执行了，并且没有超级用户权限。</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13</a:t>
            </a:fld>
            <a:endParaRPr lang="en-US" altLang="zh-CN"/>
          </a:p>
        </p:txBody>
      </p:sp>
    </p:spTree>
    <p:extLst>
      <p:ext uri="{BB962C8B-B14F-4D97-AF65-F5344CB8AC3E}">
        <p14:creationId xmlns:p14="http://schemas.microsoft.com/office/powerpoint/2010/main" val="1720469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20</a:t>
            </a:fld>
            <a:endParaRPr lang="en-US" altLang="zh-CN"/>
          </a:p>
        </p:txBody>
      </p:sp>
    </p:spTree>
    <p:extLst>
      <p:ext uri="{BB962C8B-B14F-4D97-AF65-F5344CB8AC3E}">
        <p14:creationId xmlns:p14="http://schemas.microsoft.com/office/powerpoint/2010/main" val="3589622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进程的</a:t>
            </a:r>
            <a:r>
              <a:rPr lang="en-US" altLang="zh-CN" dirty="0"/>
              <a:t>nice</a:t>
            </a:r>
            <a:r>
              <a:rPr lang="zh-CN" altLang="en-US" dirty="0"/>
              <a:t>值不是进程的优先级，</a:t>
            </a:r>
            <a:r>
              <a:rPr lang="en-US" altLang="zh-CN" dirty="0"/>
              <a:t>PRI</a:t>
            </a:r>
            <a:r>
              <a:rPr lang="zh-CN" altLang="en-US" dirty="0"/>
              <a:t>值才是进程的优先级大小，</a:t>
            </a:r>
            <a:r>
              <a:rPr lang="en-US" altLang="zh-CN" dirty="0"/>
              <a:t>PRI</a:t>
            </a:r>
            <a:r>
              <a:rPr lang="zh-CN" altLang="en-US" dirty="0"/>
              <a:t>和</a:t>
            </a:r>
            <a:r>
              <a:rPr lang="en-US" altLang="zh-CN" dirty="0"/>
              <a:t>NI</a:t>
            </a:r>
            <a:r>
              <a:rPr lang="zh-CN" altLang="en-US" dirty="0"/>
              <a:t>并不是同一个概念，不过</a:t>
            </a:r>
            <a:r>
              <a:rPr lang="en-US" altLang="zh-CN" dirty="0"/>
              <a:t>NI</a:t>
            </a:r>
            <a:r>
              <a:rPr lang="zh-CN" altLang="en-US" dirty="0"/>
              <a:t>值一定程度上决定了进程的优先级</a:t>
            </a:r>
            <a:r>
              <a:rPr lang="en-US" altLang="zh-CN" dirty="0"/>
              <a:t>PRI</a:t>
            </a:r>
            <a:r>
              <a:rPr lang="zh-CN" altLang="en-US" dirty="0"/>
              <a:t>值。</a:t>
            </a:r>
            <a:r>
              <a:rPr lang="en-US" altLang="zh-CN" dirty="0"/>
              <a:t>PRI(now) = PRI(start) + NI(now)2.</a:t>
            </a:r>
            <a:r>
              <a:rPr lang="zh-CN" altLang="en-US" dirty="0"/>
              <a:t>在</a:t>
            </a:r>
            <a:r>
              <a:rPr lang="en-US" altLang="zh-CN" dirty="0"/>
              <a:t>Linux</a:t>
            </a:r>
            <a:r>
              <a:rPr lang="zh-CN" altLang="en-US" dirty="0"/>
              <a:t>操作系统中，我们是通过修改</a:t>
            </a:r>
            <a:r>
              <a:rPr lang="en-US" altLang="zh-CN" dirty="0"/>
              <a:t>nice</a:t>
            </a:r>
            <a:r>
              <a:rPr lang="zh-CN" altLang="en-US" dirty="0"/>
              <a:t>值的大小来间接调整现在</a:t>
            </a:r>
            <a:r>
              <a:rPr lang="en-US" altLang="zh-CN" dirty="0"/>
              <a:t>PRI</a:t>
            </a:r>
            <a:r>
              <a:rPr lang="zh-CN" altLang="en-US" dirty="0"/>
              <a:t>值的大小。</a:t>
            </a:r>
            <a:r>
              <a:rPr lang="en-US" altLang="zh-CN" dirty="0"/>
              <a:t>PRI</a:t>
            </a:r>
            <a:r>
              <a:rPr lang="zh-CN" altLang="en-US" dirty="0"/>
              <a:t>反映了进程现在优先级的大小，</a:t>
            </a:r>
            <a:r>
              <a:rPr lang="en-US" altLang="zh-CN" dirty="0"/>
              <a:t>NI</a:t>
            </a:r>
            <a:r>
              <a:rPr lang="zh-CN" altLang="en-US" dirty="0"/>
              <a:t>值反映了进程优先级相对初始值的修改程度。</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21</a:t>
            </a:fld>
            <a:endParaRPr lang="en-US" altLang="zh-CN"/>
          </a:p>
        </p:txBody>
      </p:sp>
    </p:spTree>
    <p:extLst>
      <p:ext uri="{BB962C8B-B14F-4D97-AF65-F5344CB8AC3E}">
        <p14:creationId xmlns:p14="http://schemas.microsoft.com/office/powerpoint/2010/main" val="3368889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让程序暂停或者休眠一段时间</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23</a:t>
            </a:fld>
            <a:endParaRPr lang="en-US" altLang="zh-CN"/>
          </a:p>
        </p:txBody>
      </p:sp>
    </p:spTree>
    <p:extLst>
      <p:ext uri="{BB962C8B-B14F-4D97-AF65-F5344CB8AC3E}">
        <p14:creationId xmlns:p14="http://schemas.microsoft.com/office/powerpoint/2010/main" val="3758490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某些命令或者模块的运行依赖于其它命令或者模块的运行结果</a:t>
            </a:r>
            <a:endParaRPr lang="en-US" altLang="zh-CN" dirty="0"/>
          </a:p>
          <a:p>
            <a:r>
              <a:rPr lang="zh-CN" altLang="en-US" dirty="0"/>
              <a:t>等待作业号或者进程号制定的进程退出，返回最后一个作业或进程的退出状态状态，可以在脚本中使用。如果没有制定参数，则等待所有子进程的退出，其退出状态为</a:t>
            </a:r>
            <a:r>
              <a:rPr lang="en-US" altLang="zh-CN" dirty="0"/>
              <a:t>0.</a:t>
            </a:r>
          </a:p>
          <a:p>
            <a:r>
              <a:rPr lang="en-US" altLang="zh-CN" dirty="0"/>
              <a:t>sleep</a:t>
            </a:r>
            <a:r>
              <a:rPr lang="zh-CN" altLang="en-US" dirty="0"/>
              <a:t>只是在命令之间插入一个定时暂停。</a:t>
            </a:r>
            <a:r>
              <a:rPr lang="en-US" altLang="zh-CN" dirty="0"/>
              <a:t>wait</a:t>
            </a:r>
            <a:r>
              <a:rPr lang="zh-CN" altLang="en-US" dirty="0"/>
              <a:t>命令在完成后才通知它已完成</a:t>
            </a:r>
            <a:endParaRPr lang="en-US" altLang="zh-CN" dirty="0"/>
          </a:p>
          <a:p>
            <a:r>
              <a:rPr lang="en-US" altLang="zh-CN" dirty="0"/>
              <a:t>wait</a:t>
            </a:r>
            <a:r>
              <a:rPr lang="zh-CN" altLang="en-US" dirty="0"/>
              <a:t>：当用户想要停止当前进程，并且它释放该进程持有的所有资源并等待其他进程执行</a:t>
            </a:r>
            <a:endParaRPr lang="en-US" altLang="zh-CN" dirty="0"/>
          </a:p>
          <a:p>
            <a:r>
              <a:rPr lang="en-US" altLang="zh-CN" dirty="0"/>
              <a:t>Sleep</a:t>
            </a:r>
            <a:r>
              <a:rPr lang="zh-CN" altLang="en-US" dirty="0"/>
              <a:t>：当用户想要暂停当前进程一段时间时，使用此系统调用。它会将锁保持在资源上，直到睡眠时间结束，然后再次开始执行进程。</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24</a:t>
            </a:fld>
            <a:endParaRPr lang="en-US" altLang="zh-CN"/>
          </a:p>
        </p:txBody>
      </p:sp>
    </p:spTree>
    <p:extLst>
      <p:ext uri="{BB962C8B-B14F-4D97-AF65-F5344CB8AC3E}">
        <p14:creationId xmlns:p14="http://schemas.microsoft.com/office/powerpoint/2010/main" val="3518666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多个进程等待</a:t>
            </a:r>
            <a:endParaRPr lang="en-US" altLang="zh-CN" dirty="0"/>
          </a:p>
          <a:p>
            <a:r>
              <a:rPr lang="en-US" altLang="zh-CN" dirty="0"/>
              <a:t>wait</a:t>
            </a:r>
            <a:r>
              <a:rPr lang="zh-CN" altLang="en-US" dirty="0"/>
              <a:t>该脚本在命令之前和之后打印当前时间。没有任何参数，程序会等待所有进程完成。</a:t>
            </a:r>
            <a:endParaRPr lang="en-US" altLang="zh-CN" dirty="0"/>
          </a:p>
          <a:p>
            <a:r>
              <a:rPr lang="zh-CN" altLang="en-US" dirty="0"/>
              <a:t>由于进程在后台运行，所有三个进程都在十五秒内完成。</a:t>
            </a:r>
            <a:endParaRPr lang="en-US" altLang="zh-CN"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25</a:t>
            </a:fld>
            <a:endParaRPr lang="en-US" altLang="zh-CN"/>
          </a:p>
        </p:txBody>
      </p:sp>
    </p:spTree>
    <p:extLst>
      <p:ext uri="{BB962C8B-B14F-4D97-AF65-F5344CB8AC3E}">
        <p14:creationId xmlns:p14="http://schemas.microsoft.com/office/powerpoint/2010/main" val="1120963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如果</a:t>
            </a:r>
            <a:r>
              <a:rPr lang="en-US" altLang="zh-CN" dirty="0"/>
              <a:t>at</a:t>
            </a:r>
            <a:r>
              <a:rPr lang="zh-CN" altLang="en-US" dirty="0"/>
              <a:t>命令不能执行，需要开启</a:t>
            </a:r>
            <a:r>
              <a:rPr lang="en-US" altLang="zh-CN" dirty="0" err="1"/>
              <a:t>atd</a:t>
            </a:r>
            <a:r>
              <a:rPr lang="zh-CN" altLang="en-US" dirty="0"/>
              <a:t>进程，使用</a:t>
            </a:r>
            <a:r>
              <a:rPr lang="en-US" altLang="zh-CN" dirty="0" err="1"/>
              <a:t>ps</a:t>
            </a:r>
            <a:r>
              <a:rPr lang="en-US" altLang="zh-CN" dirty="0"/>
              <a:t> –</a:t>
            </a:r>
            <a:r>
              <a:rPr lang="en-US" altLang="zh-CN" dirty="0" err="1"/>
              <a:t>ef|grep</a:t>
            </a:r>
            <a:r>
              <a:rPr lang="en-US" altLang="zh-CN" dirty="0"/>
              <a:t> </a:t>
            </a:r>
            <a:r>
              <a:rPr lang="en-US" altLang="zh-CN" dirty="0" err="1"/>
              <a:t>atd</a:t>
            </a:r>
            <a:r>
              <a:rPr lang="zh-CN" altLang="en-US" dirty="0"/>
              <a:t>命令查看，使用</a:t>
            </a:r>
            <a:r>
              <a:rPr lang="en-US" altLang="zh-CN" dirty="0" err="1"/>
              <a:t>systemctl</a:t>
            </a:r>
            <a:r>
              <a:rPr lang="en-US" altLang="zh-CN" dirty="0"/>
              <a:t> start </a:t>
            </a:r>
            <a:r>
              <a:rPr lang="en-US" altLang="zh-CN" dirty="0" err="1"/>
              <a:t>atd</a:t>
            </a:r>
            <a:r>
              <a:rPr lang="zh-CN" altLang="en-US" dirty="0"/>
              <a:t>命令开启。</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30</a:t>
            </a:fld>
            <a:endParaRPr lang="en-US" altLang="zh-CN"/>
          </a:p>
        </p:txBody>
      </p:sp>
    </p:spTree>
    <p:extLst>
      <p:ext uri="{BB962C8B-B14F-4D97-AF65-F5344CB8AC3E}">
        <p14:creationId xmlns:p14="http://schemas.microsoft.com/office/powerpoint/2010/main" val="2190935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指定执行命令的具体日期，格式为</a:t>
            </a:r>
            <a:r>
              <a:rPr lang="en-US" altLang="zh-CN" dirty="0"/>
              <a:t>month </a:t>
            </a:r>
            <a:r>
              <a:rPr lang="en-US" altLang="zh-CN" dirty="0" err="1"/>
              <a:t>dat</a:t>
            </a:r>
            <a:r>
              <a:rPr lang="zh-CN" altLang="en-US" dirty="0"/>
              <a:t>（月 日）或者</a:t>
            </a:r>
            <a:r>
              <a:rPr lang="en-US" altLang="zh-CN" dirty="0"/>
              <a:t>mm/dd/</a:t>
            </a:r>
            <a:r>
              <a:rPr lang="en-US" altLang="zh-CN" dirty="0" err="1"/>
              <a:t>yy</a:t>
            </a:r>
            <a:r>
              <a:rPr lang="zh-CN" altLang="en-US" dirty="0"/>
              <a:t>指定的日期必须跟着写在在指定时间的后面。</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31</a:t>
            </a:fld>
            <a:endParaRPr lang="en-US" altLang="zh-CN"/>
          </a:p>
        </p:txBody>
      </p:sp>
    </p:spTree>
    <p:extLst>
      <p:ext uri="{BB962C8B-B14F-4D97-AF65-F5344CB8AC3E}">
        <p14:creationId xmlns:p14="http://schemas.microsoft.com/office/powerpoint/2010/main" val="1456142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wall</a:t>
            </a:r>
            <a:r>
              <a:rPr lang="zh-CN" altLang="en-US" dirty="0"/>
              <a:t>命令会将讯息传给每一个 </a:t>
            </a:r>
            <a:r>
              <a:rPr lang="en-US" altLang="zh-CN" dirty="0" err="1"/>
              <a:t>mesg</a:t>
            </a:r>
            <a:r>
              <a:rPr lang="en-US" altLang="zh-CN" dirty="0"/>
              <a:t> </a:t>
            </a:r>
            <a:r>
              <a:rPr lang="zh-CN" altLang="en-US" dirty="0"/>
              <a:t>设定为 </a:t>
            </a:r>
            <a:r>
              <a:rPr lang="en-US" altLang="zh-CN" dirty="0"/>
              <a:t>yes </a:t>
            </a:r>
            <a:r>
              <a:rPr lang="zh-CN" altLang="en-US" dirty="0"/>
              <a:t>的上线使用者，也就是将信息发送给每位同意接收公众信息的终端机用户。</a:t>
            </a:r>
            <a:endParaRPr lang="en-US" altLang="zh-CN" dirty="0"/>
          </a:p>
          <a:p>
            <a:r>
              <a:rPr lang="zh-CN" altLang="en-US" dirty="0"/>
              <a:t>日期格式或为：</a:t>
            </a:r>
            <a:r>
              <a:rPr lang="en-US" altLang="zh-CN" dirty="0"/>
              <a:t>12/31/2024</a:t>
            </a: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32</a:t>
            </a:fld>
            <a:endParaRPr lang="en-US" altLang="zh-CN"/>
          </a:p>
        </p:txBody>
      </p:sp>
    </p:spTree>
    <p:extLst>
      <p:ext uri="{BB962C8B-B14F-4D97-AF65-F5344CB8AC3E}">
        <p14:creationId xmlns:p14="http://schemas.microsoft.com/office/powerpoint/2010/main" val="3159835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batch:</a:t>
            </a:r>
            <a:r>
              <a:rPr lang="zh-CN" altLang="en-US" dirty="0"/>
              <a:t>批量</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35</a:t>
            </a:fld>
            <a:endParaRPr lang="en-US" altLang="zh-CN"/>
          </a:p>
        </p:txBody>
      </p:sp>
    </p:spTree>
    <p:extLst>
      <p:ext uri="{BB962C8B-B14F-4D97-AF65-F5344CB8AC3E}">
        <p14:creationId xmlns:p14="http://schemas.microsoft.com/office/powerpoint/2010/main" val="3263159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tar </a:t>
            </a:r>
            <a:r>
              <a:rPr lang="zh-CN" altLang="en-US" dirty="0"/>
              <a:t>命令</a:t>
            </a:r>
          </a:p>
          <a:p>
            <a:r>
              <a:rPr lang="en-US" altLang="zh-CN" dirty="0"/>
              <a:t>-c  </a:t>
            </a:r>
            <a:r>
              <a:rPr lang="zh-CN" altLang="en-US" dirty="0"/>
              <a:t>创建归档文件</a:t>
            </a:r>
            <a:endParaRPr lang="en-US" altLang="zh-CN" dirty="0"/>
          </a:p>
          <a:p>
            <a:r>
              <a:rPr lang="en-US" altLang="zh-CN" dirty="0"/>
              <a:t>-f  </a:t>
            </a:r>
            <a:r>
              <a:rPr lang="zh-CN" altLang="en-US" dirty="0"/>
              <a:t>文件名 </a:t>
            </a:r>
            <a:endParaRPr lang="en-US" altLang="zh-CN" dirty="0"/>
          </a:p>
          <a:p>
            <a:r>
              <a:rPr lang="en-US" altLang="zh-CN" dirty="0"/>
              <a:t>-z   </a:t>
            </a:r>
            <a:r>
              <a:rPr lang="zh-CN" altLang="en-US" dirty="0"/>
              <a:t>使用 </a:t>
            </a:r>
            <a:r>
              <a:rPr lang="en-US" altLang="zh-CN" dirty="0" err="1"/>
              <a:t>gzip</a:t>
            </a:r>
            <a:r>
              <a:rPr lang="en-US" altLang="zh-CN" dirty="0"/>
              <a:t> </a:t>
            </a:r>
            <a:r>
              <a:rPr lang="zh-CN" altLang="en-US" dirty="0"/>
              <a:t>方式压缩</a:t>
            </a:r>
            <a:r>
              <a:rPr lang="en-US" altLang="zh-CN" dirty="0"/>
              <a:t>/</a:t>
            </a:r>
            <a:r>
              <a:rPr lang="zh-CN" altLang="en-US" dirty="0"/>
              <a:t>解压缩归档文件</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41</a:t>
            </a:fld>
            <a:endParaRPr lang="en-US" altLang="zh-CN"/>
          </a:p>
        </p:txBody>
      </p:sp>
    </p:spTree>
    <p:extLst>
      <p:ext uri="{BB962C8B-B14F-4D97-AF65-F5344CB8AC3E}">
        <p14:creationId xmlns:p14="http://schemas.microsoft.com/office/powerpoint/2010/main" val="2952554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42</a:t>
            </a:fld>
            <a:endParaRPr lang="en-US" altLang="zh-CN"/>
          </a:p>
        </p:txBody>
      </p:sp>
    </p:spTree>
    <p:extLst>
      <p:ext uri="{BB962C8B-B14F-4D97-AF65-F5344CB8AC3E}">
        <p14:creationId xmlns:p14="http://schemas.microsoft.com/office/powerpoint/2010/main" val="3666223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43</a:t>
            </a:fld>
            <a:endParaRPr lang="en-US" altLang="zh-CN"/>
          </a:p>
        </p:txBody>
      </p:sp>
    </p:spTree>
    <p:extLst>
      <p:ext uri="{BB962C8B-B14F-4D97-AF65-F5344CB8AC3E}">
        <p14:creationId xmlns:p14="http://schemas.microsoft.com/office/powerpoint/2010/main" val="24017073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44</a:t>
            </a:fld>
            <a:endParaRPr lang="en-US" altLang="zh-CN"/>
          </a:p>
        </p:txBody>
      </p:sp>
    </p:spTree>
    <p:extLst>
      <p:ext uri="{BB962C8B-B14F-4D97-AF65-F5344CB8AC3E}">
        <p14:creationId xmlns:p14="http://schemas.microsoft.com/office/powerpoint/2010/main" val="1140776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Linux</a:t>
            </a:r>
            <a:r>
              <a:rPr lang="zh-CN" altLang="en-US" dirty="0"/>
              <a:t>系统采用先克隆再变身创建进程</a:t>
            </a:r>
            <a:endParaRPr lang="en-US" altLang="zh-CN" dirty="0"/>
          </a:p>
          <a:p>
            <a:r>
              <a:rPr lang="zh-CN" altLang="en-US" dirty="0"/>
              <a:t>其他操作系统采用生产机制</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46</a:t>
            </a:fld>
            <a:endParaRPr lang="en-US" altLang="zh-CN"/>
          </a:p>
        </p:txBody>
      </p:sp>
    </p:spTree>
    <p:extLst>
      <p:ext uri="{BB962C8B-B14F-4D97-AF65-F5344CB8AC3E}">
        <p14:creationId xmlns:p14="http://schemas.microsoft.com/office/powerpoint/2010/main" val="13050898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调用</a:t>
            </a:r>
            <a:r>
              <a:rPr lang="en-US" altLang="zh-CN"/>
              <a:t>fork()</a:t>
            </a:r>
            <a:r>
              <a:rPr lang="zh-CN" altLang="en-US"/>
              <a:t>的进程是父进程，新裂变出的进程就是子进程。新创建的进程与父进程几乎完全相同，只有少量属性必须不同，例如，每个进程的</a:t>
            </a:r>
            <a:r>
              <a:rPr lang="en-US" altLang="zh-CN"/>
              <a:t>PID</a:t>
            </a:r>
            <a:r>
              <a:rPr lang="zh-CN" altLang="en-US"/>
              <a:t>必须是唯一的。调用</a:t>
            </a:r>
            <a:r>
              <a:rPr lang="en-US" altLang="zh-CN"/>
              <a:t>fork()</a:t>
            </a:r>
            <a:r>
              <a:rPr lang="zh-CN" altLang="en-US"/>
              <a:t>后，子进程被创建，此时父进程和子进程都从这个系统调用内部继续运行。</a:t>
            </a:r>
          </a:p>
          <a:p>
            <a:r>
              <a:rPr lang="zh-CN" altLang="en-US"/>
              <a:t>为了区分父／子进程，</a:t>
            </a:r>
            <a:r>
              <a:rPr lang="en-US" altLang="zh-CN"/>
              <a:t>fork()</a:t>
            </a:r>
            <a:r>
              <a:rPr lang="zh-CN" altLang="en-US"/>
              <a:t>给两个进程返回不同的值。对父进程，</a:t>
            </a:r>
            <a:r>
              <a:rPr lang="en-US" altLang="zh-CN"/>
              <a:t>fork()</a:t>
            </a:r>
            <a:r>
              <a:rPr lang="zh-CN" altLang="en-US"/>
              <a:t>返回新创建子进程的进程标识符（</a:t>
            </a:r>
            <a:r>
              <a:rPr lang="en-US" altLang="zh-CN"/>
              <a:t>PID</a:t>
            </a:r>
            <a:r>
              <a:rPr lang="zh-CN" altLang="en-US"/>
              <a:t>），而对子进程，</a:t>
            </a:r>
            <a:r>
              <a:rPr lang="en-US" altLang="zh-CN"/>
              <a:t>fork()</a:t>
            </a:r>
            <a:r>
              <a:rPr lang="zh-CN" altLang="en-US"/>
              <a:t>返回值</a:t>
            </a:r>
            <a:r>
              <a:rPr lang="en-US" altLang="zh-CN"/>
              <a:t>0 </a:t>
            </a:r>
          </a:p>
          <a:p>
            <a:endParaRPr lang="zh-CN" altLang="en-US"/>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47</a:t>
            </a:fld>
            <a:endParaRPr lang="en-US" altLang="zh-CN"/>
          </a:p>
        </p:txBody>
      </p:sp>
    </p:spTree>
    <p:extLst>
      <p:ext uri="{BB962C8B-B14F-4D97-AF65-F5344CB8AC3E}">
        <p14:creationId xmlns:p14="http://schemas.microsoft.com/office/powerpoint/2010/main" val="36072180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exit</a:t>
            </a:r>
            <a:r>
              <a:rPr lang="zh-CN" altLang="en-US" dirty="0"/>
              <a:t>的功能为：退出当前运行的程序，并将参数</a:t>
            </a:r>
            <a:r>
              <a:rPr lang="en-US" altLang="zh-CN" dirty="0"/>
              <a:t>value</a:t>
            </a:r>
            <a:r>
              <a:rPr lang="zh-CN" altLang="en-US" dirty="0"/>
              <a:t>返回给主调进程</a:t>
            </a:r>
            <a:endParaRPr lang="en-US" altLang="zh-CN" dirty="0"/>
          </a:p>
          <a:p>
            <a:r>
              <a:rPr lang="en-US" altLang="zh-CN" dirty="0"/>
              <a:t>exit(0)</a:t>
            </a:r>
            <a:r>
              <a:rPr lang="zh-CN" altLang="en-US" dirty="0"/>
              <a:t>则是返回</a:t>
            </a:r>
            <a:r>
              <a:rPr lang="en-US" altLang="zh-CN" dirty="0"/>
              <a:t>0</a:t>
            </a:r>
            <a:r>
              <a:rPr lang="zh-CN" altLang="en-US" dirty="0"/>
              <a:t>。</a:t>
            </a:r>
            <a:r>
              <a:rPr lang="en-US" altLang="zh-CN" dirty="0"/>
              <a:t>exit(0)</a:t>
            </a:r>
            <a:r>
              <a:rPr lang="zh-CN" altLang="en-US" dirty="0"/>
              <a:t>表示程序正常退出，非</a:t>
            </a:r>
            <a:r>
              <a:rPr lang="en-US" altLang="zh-CN" dirty="0"/>
              <a:t>0</a:t>
            </a:r>
            <a:r>
              <a:rPr lang="zh-CN" altLang="en-US" dirty="0"/>
              <a:t>表示非正常退出</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48</a:t>
            </a:fld>
            <a:endParaRPr lang="en-US" altLang="zh-CN"/>
          </a:p>
        </p:txBody>
      </p:sp>
    </p:spTree>
    <p:extLst>
      <p:ext uri="{BB962C8B-B14F-4D97-AF65-F5344CB8AC3E}">
        <p14:creationId xmlns:p14="http://schemas.microsoft.com/office/powerpoint/2010/main" val="38817689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Rot="1" noChangeAspect="1" noChangeArrowheads="1" noTextEdit="1"/>
          </p:cNvSpPr>
          <p:nvPr>
            <p:ph type="sldImg"/>
          </p:nvPr>
        </p:nvSpPr>
        <p:spPr>
          <a:xfrm>
            <a:off x="381000" y="685800"/>
            <a:ext cx="6096000" cy="3429000"/>
          </a:xfrm>
          <a:ln/>
        </p:spPr>
      </p:sp>
      <p:sp>
        <p:nvSpPr>
          <p:cNvPr id="326659" name="Rectangle 3"/>
          <p:cNvSpPr>
            <a:spLocks noGrp="1" noChangeArrowheads="1"/>
          </p:cNvSpPr>
          <p:nvPr>
            <p:ph type="body" idx="1"/>
          </p:nvPr>
        </p:nvSpPr>
        <p:spPr>
          <a:xfrm>
            <a:off x="914400" y="4343400"/>
            <a:ext cx="5029200" cy="4114800"/>
          </a:xfrm>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一个进程成功调用</a:t>
            </a:r>
            <a:r>
              <a:rPr lang="en-US" altLang="zh-CN" dirty="0"/>
              <a:t>fork()</a:t>
            </a:r>
            <a:r>
              <a:rPr lang="zh-CN" altLang="en-US" dirty="0"/>
              <a:t>之后，就从调用点之后裂变为两个进程。</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50</a:t>
            </a:fld>
            <a:endParaRPr lang="en-US" altLang="zh-CN"/>
          </a:p>
        </p:txBody>
      </p:sp>
    </p:spTree>
    <p:extLst>
      <p:ext uri="{BB962C8B-B14F-4D97-AF65-F5344CB8AC3E}">
        <p14:creationId xmlns:p14="http://schemas.microsoft.com/office/powerpoint/2010/main" val="3304768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51</a:t>
            </a:fld>
            <a:endParaRPr lang="en-US" altLang="zh-CN"/>
          </a:p>
        </p:txBody>
      </p:sp>
    </p:spTree>
    <p:extLst>
      <p:ext uri="{BB962C8B-B14F-4D97-AF65-F5344CB8AC3E}">
        <p14:creationId xmlns:p14="http://schemas.microsoft.com/office/powerpoint/2010/main" val="31941862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xfrm>
            <a:off x="381000" y="685800"/>
            <a:ext cx="6096000" cy="3429000"/>
          </a:xfrm>
          <a:ln/>
        </p:spPr>
      </p:sp>
      <p:sp>
        <p:nvSpPr>
          <p:cNvPr id="324611" name="Rectangle 3"/>
          <p:cNvSpPr>
            <a:spLocks noGrp="1" noChangeArrowheads="1"/>
          </p:cNvSpPr>
          <p:nvPr>
            <p:ph type="body" idx="1"/>
          </p:nvPr>
        </p:nvSpPr>
        <p:spPr>
          <a:xfrm>
            <a:off x="914400" y="4343400"/>
            <a:ext cx="5029200" cy="4114800"/>
          </a:xfrm>
        </p:spPr>
        <p:txBody>
          <a:bodyPr/>
          <a:lstStyle/>
          <a:p>
            <a:pPr algn="just"/>
            <a:r>
              <a:rPr lang="en-US" altLang="zh-CN"/>
              <a:t> pid_t</a:t>
            </a:r>
            <a:r>
              <a:rPr lang="zh-CN" altLang="en-US"/>
              <a:t>的类型定义，这个类型定义实际上就是</a:t>
            </a:r>
            <a:r>
              <a:rPr lang="en-US" altLang="zh-CN"/>
              <a:t>int</a:t>
            </a:r>
            <a:r>
              <a:rPr lang="zh-CN" altLang="en-US"/>
              <a:t>型。</a:t>
            </a:r>
            <a:endParaRPr lang="en-US"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Rot="1" noChangeAspect="1" noChangeArrowheads="1" noTextEdit="1"/>
          </p:cNvSpPr>
          <p:nvPr>
            <p:ph type="sldImg"/>
          </p:nvPr>
        </p:nvSpPr>
        <p:spPr>
          <a:xfrm>
            <a:off x="381000" y="685800"/>
            <a:ext cx="6096000" cy="3429000"/>
          </a:xfrm>
          <a:ln/>
        </p:spPr>
      </p:sp>
      <p:sp>
        <p:nvSpPr>
          <p:cNvPr id="326659" name="Rectangle 3"/>
          <p:cNvSpPr>
            <a:spLocks noGrp="1" noChangeArrowheads="1"/>
          </p:cNvSpPr>
          <p:nvPr>
            <p:ph type="body" idx="1"/>
          </p:nvPr>
        </p:nvSpPr>
        <p:spPr>
          <a:xfrm>
            <a:off x="914400" y="4343400"/>
            <a:ext cx="5029200" cy="4114800"/>
          </a:xfrm>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81FFA48-3EC7-4BA3-B0A9-E92D6080717B}" type="slidenum">
              <a:rPr lang="zh-CN" altLang="en-US" smtClean="0"/>
              <a:pPr/>
              <a:t>54</a:t>
            </a:fld>
            <a:endParaRPr lang="en-US" altLang="zh-CN"/>
          </a:p>
        </p:txBody>
      </p:sp>
    </p:spTree>
    <p:extLst>
      <p:ext uri="{BB962C8B-B14F-4D97-AF65-F5344CB8AC3E}">
        <p14:creationId xmlns:p14="http://schemas.microsoft.com/office/powerpoint/2010/main" val="38981784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例如：在</a:t>
            </a:r>
            <a:r>
              <a:rPr lang="en-US" altLang="zh-CN" dirty="0"/>
              <a:t>shell</a:t>
            </a:r>
            <a:r>
              <a:rPr lang="zh-CN" altLang="en-US" dirty="0"/>
              <a:t>命令行执行</a:t>
            </a:r>
            <a:r>
              <a:rPr lang="en-US" altLang="zh-CN" dirty="0"/>
              <a:t>ls</a:t>
            </a:r>
            <a:r>
              <a:rPr lang="zh-CN" altLang="en-US" dirty="0"/>
              <a:t>命令，实际上是</a:t>
            </a:r>
            <a:r>
              <a:rPr lang="en-US" altLang="zh-CN" dirty="0"/>
              <a:t>shell</a:t>
            </a:r>
            <a:r>
              <a:rPr lang="zh-CN" altLang="en-US" dirty="0"/>
              <a:t>进程调用</a:t>
            </a:r>
            <a:r>
              <a:rPr lang="en-US" altLang="zh-CN" dirty="0"/>
              <a:t>fork</a:t>
            </a:r>
            <a:r>
              <a:rPr lang="zh-CN" altLang="en-US" dirty="0"/>
              <a:t>复制一个新的子进程，在利用</a:t>
            </a:r>
            <a:r>
              <a:rPr lang="en-US" altLang="zh-CN" dirty="0"/>
              <a:t>exec</a:t>
            </a:r>
            <a:r>
              <a:rPr lang="zh-CN" altLang="en-US" dirty="0"/>
              <a:t>系统调用将新产生的子进程完全替换成</a:t>
            </a:r>
            <a:r>
              <a:rPr lang="en-US" altLang="zh-CN" dirty="0"/>
              <a:t>ls</a:t>
            </a:r>
            <a:r>
              <a:rPr lang="zh-CN" altLang="en-US" dirty="0"/>
              <a:t>进程。</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56</a:t>
            </a:fld>
            <a:endParaRPr lang="en-US" altLang="zh-CN"/>
          </a:p>
        </p:txBody>
      </p:sp>
    </p:spTree>
    <p:extLst>
      <p:ext uri="{BB962C8B-B14F-4D97-AF65-F5344CB8AC3E}">
        <p14:creationId xmlns:p14="http://schemas.microsoft.com/office/powerpoint/2010/main" val="1230456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xfrm>
            <a:off x="381000" y="685800"/>
            <a:ext cx="6096000" cy="3429000"/>
          </a:xfrm>
          <a:ln/>
        </p:spPr>
      </p:sp>
      <p:sp>
        <p:nvSpPr>
          <p:cNvPr id="324611" name="Rectangle 3"/>
          <p:cNvSpPr>
            <a:spLocks noGrp="1" noChangeArrowheads="1"/>
          </p:cNvSpPr>
          <p:nvPr>
            <p:ph type="body" idx="1"/>
          </p:nvPr>
        </p:nvSpPr>
        <p:spPr>
          <a:xfrm>
            <a:off x="914400" y="4343400"/>
            <a:ext cx="5029200" cy="4114800"/>
          </a:xfrm>
        </p:spPr>
        <p:txBody>
          <a:bodyPr/>
          <a:lstStyle/>
          <a:p>
            <a:pPr algn="just"/>
            <a:r>
              <a:rPr lang="en-US" altLang="zh-CN"/>
              <a:t> pid_t</a:t>
            </a:r>
            <a:r>
              <a:rPr lang="zh-CN" altLang="en-US"/>
              <a:t>的类型定义，这个类型定义实际上就是</a:t>
            </a:r>
            <a:r>
              <a:rPr lang="en-US" altLang="zh-CN"/>
              <a:t>int</a:t>
            </a:r>
            <a:r>
              <a:rPr lang="zh-CN" altLang="en-US"/>
              <a:t>型。</a:t>
            </a:r>
            <a:endParaRPr lang="en-US" altLang="zh-CN" dirty="0"/>
          </a:p>
        </p:txBody>
      </p:sp>
    </p:spTree>
    <p:extLst>
      <p:ext uri="{BB962C8B-B14F-4D97-AF65-F5344CB8AC3E}">
        <p14:creationId xmlns:p14="http://schemas.microsoft.com/office/powerpoint/2010/main" val="34758843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Rot="1" noChangeAspect="1" noChangeArrowheads="1" noTextEdit="1"/>
          </p:cNvSpPr>
          <p:nvPr>
            <p:ph type="sldImg"/>
          </p:nvPr>
        </p:nvSpPr>
        <p:spPr>
          <a:xfrm>
            <a:off x="381000" y="685800"/>
            <a:ext cx="6096000" cy="3429000"/>
          </a:xfrm>
          <a:ln/>
        </p:spPr>
      </p:sp>
      <p:sp>
        <p:nvSpPr>
          <p:cNvPr id="326659" name="Rectangle 3"/>
          <p:cNvSpPr>
            <a:spLocks noGrp="1" noChangeArrowheads="1"/>
          </p:cNvSpPr>
          <p:nvPr>
            <p:ph type="body" idx="1"/>
          </p:nvPr>
        </p:nvSpPr>
        <p:spPr>
          <a:xfrm>
            <a:off x="914400" y="4343400"/>
            <a:ext cx="5029200" cy="4114800"/>
          </a:xfrm>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例如：在</a:t>
            </a:r>
            <a:r>
              <a:rPr lang="en-US" altLang="zh-CN" dirty="0"/>
              <a:t>shell</a:t>
            </a:r>
            <a:r>
              <a:rPr lang="zh-CN" altLang="en-US" dirty="0"/>
              <a:t>命令行执行</a:t>
            </a:r>
            <a:r>
              <a:rPr lang="en-US" altLang="zh-CN" dirty="0"/>
              <a:t>ls</a:t>
            </a:r>
            <a:r>
              <a:rPr lang="zh-CN" altLang="en-US" dirty="0"/>
              <a:t>命令，实际上是</a:t>
            </a:r>
            <a:r>
              <a:rPr lang="en-US" altLang="zh-CN" dirty="0"/>
              <a:t>shell</a:t>
            </a:r>
            <a:r>
              <a:rPr lang="zh-CN" altLang="en-US" dirty="0"/>
              <a:t>进程调用</a:t>
            </a:r>
            <a:r>
              <a:rPr lang="en-US" altLang="zh-CN" dirty="0"/>
              <a:t>fork</a:t>
            </a:r>
            <a:r>
              <a:rPr lang="zh-CN" altLang="en-US" dirty="0"/>
              <a:t>复制一个新的子进程，在利用</a:t>
            </a:r>
            <a:r>
              <a:rPr lang="en-US" altLang="zh-CN" dirty="0"/>
              <a:t>exec</a:t>
            </a:r>
            <a:r>
              <a:rPr lang="zh-CN" altLang="en-US" dirty="0"/>
              <a:t>系统调用将新产生的子进程完全替换成</a:t>
            </a:r>
            <a:r>
              <a:rPr lang="en-US" altLang="zh-CN" dirty="0"/>
              <a:t>ls</a:t>
            </a:r>
            <a:r>
              <a:rPr lang="zh-CN" altLang="en-US" dirty="0"/>
              <a:t>进程。</a:t>
            </a:r>
          </a:p>
          <a:p>
            <a:endParaRPr lang="zh-CN" altLang="en-US" dirty="0"/>
          </a:p>
        </p:txBody>
      </p:sp>
    </p:spTree>
    <p:extLst>
      <p:ext uri="{BB962C8B-B14F-4D97-AF65-F5344CB8AC3E}">
        <p14:creationId xmlns:p14="http://schemas.microsoft.com/office/powerpoint/2010/main" val="42856660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460C0A1-8956-4087-9FED-4DDEEB7237DB}" type="slidenum">
              <a:rPr lang="en-US" altLang="zh-CN"/>
              <a:pPr eaLnBrk="1" hangingPunct="1"/>
              <a:t>60</a:t>
            </a:fld>
            <a:endParaRPr lang="en-US" altLang="zh-CN"/>
          </a:p>
        </p:txBody>
      </p:sp>
      <p:sp>
        <p:nvSpPr>
          <p:cNvPr id="56323" name="Rectangle 2"/>
          <p:cNvSpPr>
            <a:spLocks noGrp="1" noRot="1" noChangeAspect="1" noChangeArrowheads="1" noTextEdit="1"/>
          </p:cNvSpPr>
          <p:nvPr>
            <p:ph type="sldImg"/>
          </p:nvPr>
        </p:nvSpPr>
        <p:spPr>
          <a:xfrm>
            <a:off x="381000" y="685800"/>
            <a:ext cx="6096000" cy="3429000"/>
          </a:xfrm>
          <a:ln/>
        </p:spPr>
      </p:sp>
      <p:sp>
        <p:nvSpPr>
          <p:cNvPr id="56324"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460C0A1-8956-4087-9FED-4DDEEB7237DB}" type="slidenum">
              <a:rPr lang="en-US" altLang="zh-CN"/>
              <a:pPr eaLnBrk="1" hangingPunct="1"/>
              <a:t>61</a:t>
            </a:fld>
            <a:endParaRPr lang="en-US" altLang="zh-CN"/>
          </a:p>
        </p:txBody>
      </p:sp>
      <p:sp>
        <p:nvSpPr>
          <p:cNvPr id="56323" name="Rectangle 2"/>
          <p:cNvSpPr>
            <a:spLocks noGrp="1" noRot="1" noChangeAspect="1" noChangeArrowheads="1" noTextEdit="1"/>
          </p:cNvSpPr>
          <p:nvPr>
            <p:ph type="sldImg"/>
          </p:nvPr>
        </p:nvSpPr>
        <p:spPr>
          <a:xfrm>
            <a:off x="381000" y="685800"/>
            <a:ext cx="6096000" cy="3429000"/>
          </a:xfrm>
          <a:ln/>
        </p:spPr>
      </p:sp>
      <p:sp>
        <p:nvSpPr>
          <p:cNvPr id="56324" name="Rectangle 3"/>
          <p:cNvSpPr>
            <a:spLocks noGrp="1" noChangeArrowheads="1"/>
          </p:cNvSpPr>
          <p:nvPr>
            <p:ph type="body" idx="1"/>
          </p:nvPr>
        </p:nvSpPr>
        <p:spPr>
          <a:noFill/>
        </p:spPr>
        <p:txBody>
          <a:bodyPr/>
          <a:lstStyle/>
          <a:p>
            <a:pPr eaLnBrk="1" hangingPunct="1"/>
            <a:endParaRPr lang="zh-CN" altLang="zh-CN" dirty="0">
              <a:ea typeface="宋体"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31</a:t>
            </a:r>
            <a:r>
              <a:rPr lang="zh-CN" altLang="en-US" dirty="0"/>
              <a:t>个常规信号和</a:t>
            </a:r>
            <a:r>
              <a:rPr lang="en-US" altLang="zh-CN" dirty="0"/>
              <a:t>31</a:t>
            </a:r>
            <a:r>
              <a:rPr lang="zh-CN" altLang="en-US" dirty="0"/>
              <a:t>个扩展信号（实时信号）</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62</a:t>
            </a:fld>
            <a:endParaRPr lang="en-US" altLang="zh-CN"/>
          </a:p>
        </p:txBody>
      </p:sp>
    </p:spTree>
    <p:extLst>
      <p:ext uri="{BB962C8B-B14F-4D97-AF65-F5344CB8AC3E}">
        <p14:creationId xmlns:p14="http://schemas.microsoft.com/office/powerpoint/2010/main" val="33939188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每个进程都有一个信号掩码（</a:t>
            </a:r>
            <a:r>
              <a:rPr lang="en-US" altLang="zh-CN" dirty="0"/>
              <a:t>signal mask</a:t>
            </a:r>
            <a:r>
              <a:rPr lang="zh-CN" altLang="en-US" dirty="0"/>
              <a:t>），也称为信号屏蔽字，它规定了当前要屏蔽或要阻塞递送到该进程的信号集。</a:t>
            </a:r>
            <a:endParaRPr lang="en-US" altLang="zh-CN" dirty="0"/>
          </a:p>
          <a:p>
            <a:r>
              <a:rPr lang="zh-CN" altLang="en-US" dirty="0"/>
              <a:t>对于每种可能的信号，该掩码中都有一位与之对应。对于某种信号，若其对应位（</a:t>
            </a:r>
            <a:r>
              <a:rPr lang="en-US" altLang="zh-CN" dirty="0"/>
              <a:t>bit</a:t>
            </a:r>
            <a:r>
              <a:rPr lang="zh-CN" altLang="en-US" dirty="0"/>
              <a:t>）已设置，则它当前是被阻塞的。</a:t>
            </a:r>
            <a:endParaRPr lang="en-US" altLang="zh-CN" dirty="0"/>
          </a:p>
          <a:p>
            <a:r>
              <a:rPr lang="zh-CN" altLang="en-US" dirty="0"/>
              <a:t>简单地说，信号掩码是一个“位图”，其中每一位都对应着一种信号。如果位图中的某一位为</a:t>
            </a:r>
            <a:r>
              <a:rPr lang="en-US" altLang="zh-CN" dirty="0"/>
              <a:t>1</a:t>
            </a:r>
            <a:r>
              <a:rPr lang="zh-CN" altLang="en-US" dirty="0"/>
              <a:t>，就表示在执行当前信号集的处理程序期间相应的信号暂时被“屏蔽”或“阻塞”，使得在执行的过程中不会嵌套地响应那个信号。</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66</a:t>
            </a:fld>
            <a:endParaRPr lang="en-US" altLang="zh-CN"/>
          </a:p>
        </p:txBody>
      </p:sp>
    </p:spTree>
    <p:extLst>
      <p:ext uri="{BB962C8B-B14F-4D97-AF65-F5344CB8AC3E}">
        <p14:creationId xmlns:p14="http://schemas.microsoft.com/office/powerpoint/2010/main" val="27050287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err="1"/>
              <a:t>ps</a:t>
            </a:r>
            <a:r>
              <a:rPr lang="zh-CN" altLang="en-US" dirty="0"/>
              <a:t>命令，</a:t>
            </a:r>
            <a:r>
              <a:rPr lang="en-US" altLang="zh-CN" dirty="0"/>
              <a:t>-C &lt;</a:t>
            </a:r>
            <a:r>
              <a:rPr lang="zh-CN" altLang="en-US" dirty="0"/>
              <a:t>命令</a:t>
            </a:r>
            <a:r>
              <a:rPr lang="en-US" altLang="zh-CN" dirty="0"/>
              <a:t>&gt;</a:t>
            </a:r>
            <a:r>
              <a:rPr lang="zh-CN" altLang="en-US" dirty="0"/>
              <a:t>选项：列出指定命令的状况</a:t>
            </a:r>
          </a:p>
          <a:p>
            <a:r>
              <a:rPr lang="en-US" altLang="zh-CN" dirty="0" err="1"/>
              <a:t>recur.c</a:t>
            </a:r>
            <a:r>
              <a:rPr lang="zh-CN" altLang="en-US" dirty="0"/>
              <a:t>是一个简单的无限循环程序，用来测试一个普通进程（未对信号处理作特殊设置的进程）对信号的默认反映；</a:t>
            </a:r>
            <a:endParaRPr lang="en-US" altLang="zh-CN" dirty="0"/>
          </a:p>
          <a:p>
            <a:r>
              <a:rPr lang="zh-CN" altLang="en-US" dirty="0"/>
              <a:t>处于运行态的进程能及时响应</a:t>
            </a:r>
            <a:r>
              <a:rPr lang="en-US" altLang="zh-CN" dirty="0"/>
              <a:t>SIGTTERM</a:t>
            </a:r>
            <a:r>
              <a:rPr lang="zh-CN" altLang="en-US" dirty="0"/>
              <a:t>、</a:t>
            </a:r>
            <a:r>
              <a:rPr lang="en-US" altLang="zh-CN" dirty="0"/>
              <a:t>SIGSTOP</a:t>
            </a:r>
            <a:r>
              <a:rPr lang="zh-CN" altLang="en-US" dirty="0"/>
              <a:t>等多种信号（如第</a:t>
            </a:r>
            <a:r>
              <a:rPr lang="en-US" altLang="zh-CN" dirty="0"/>
              <a:t>1</a:t>
            </a:r>
            <a:r>
              <a:rPr lang="zh-CN" altLang="en-US" dirty="0"/>
              <a:t>、</a:t>
            </a:r>
            <a:r>
              <a:rPr lang="en-US" altLang="zh-CN" dirty="0"/>
              <a:t>2</a:t>
            </a:r>
            <a:r>
              <a:rPr lang="zh-CN" altLang="en-US" dirty="0"/>
              <a:t>个</a:t>
            </a:r>
            <a:r>
              <a:rPr lang="en-US" altLang="zh-CN" dirty="0"/>
              <a:t>kill</a:t>
            </a:r>
            <a:r>
              <a:rPr lang="zh-CN" altLang="en-US" dirty="0"/>
              <a:t>命令）；</a:t>
            </a:r>
            <a:endParaRPr lang="en-US" altLang="zh-CN" dirty="0"/>
          </a:p>
          <a:p>
            <a:r>
              <a:rPr lang="zh-CN" altLang="en-US" dirty="0"/>
              <a:t>处于停止态的进程会阻塞对许多信号的处理（如第</a:t>
            </a:r>
            <a:r>
              <a:rPr lang="en-US" altLang="zh-CN" dirty="0"/>
              <a:t>3</a:t>
            </a:r>
            <a:r>
              <a:rPr lang="zh-CN" altLang="en-US" dirty="0"/>
              <a:t>个</a:t>
            </a:r>
            <a:r>
              <a:rPr lang="en-US" altLang="zh-CN" dirty="0"/>
              <a:t>kill</a:t>
            </a:r>
            <a:r>
              <a:rPr lang="zh-CN" altLang="en-US" dirty="0"/>
              <a:t>命令），但可以响应</a:t>
            </a:r>
            <a:r>
              <a:rPr lang="en-US" altLang="zh-CN" dirty="0"/>
              <a:t>SIGCONT</a:t>
            </a:r>
            <a:r>
              <a:rPr lang="zh-CN" altLang="en-US" dirty="0"/>
              <a:t>信号（如图第</a:t>
            </a:r>
            <a:r>
              <a:rPr lang="en-US" altLang="zh-CN" dirty="0"/>
              <a:t>4</a:t>
            </a:r>
            <a:r>
              <a:rPr lang="zh-CN" altLang="en-US" dirty="0"/>
              <a:t>个</a:t>
            </a:r>
            <a:r>
              <a:rPr lang="en-US" altLang="zh-CN" dirty="0"/>
              <a:t>kill</a:t>
            </a:r>
            <a:r>
              <a:rPr lang="zh-CN" altLang="en-US" dirty="0"/>
              <a:t>命令），</a:t>
            </a:r>
            <a:endParaRPr lang="en-US" altLang="zh-CN" dirty="0"/>
          </a:p>
          <a:p>
            <a:r>
              <a:rPr lang="zh-CN" altLang="en-US" dirty="0"/>
              <a:t>也可以响应</a:t>
            </a:r>
            <a:r>
              <a:rPr lang="en-US" altLang="zh-CN" dirty="0"/>
              <a:t>SIGKILL</a:t>
            </a:r>
            <a:r>
              <a:rPr lang="zh-CN" altLang="en-US" dirty="0"/>
              <a:t>命令（如第</a:t>
            </a:r>
            <a:r>
              <a:rPr lang="en-US" altLang="zh-CN" dirty="0"/>
              <a:t>6</a:t>
            </a:r>
            <a:r>
              <a:rPr lang="zh-CN" altLang="en-US" dirty="0"/>
              <a:t>个</a:t>
            </a:r>
            <a:r>
              <a:rPr lang="en-US" altLang="zh-CN" dirty="0"/>
              <a:t>kill</a:t>
            </a:r>
            <a:r>
              <a:rPr lang="zh-CN" altLang="en-US" dirty="0"/>
              <a:t>命令）</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67</a:t>
            </a:fld>
            <a:endParaRPr lang="en-US" altLang="zh-CN"/>
          </a:p>
        </p:txBody>
      </p:sp>
    </p:spTree>
    <p:extLst>
      <p:ext uri="{BB962C8B-B14F-4D97-AF65-F5344CB8AC3E}">
        <p14:creationId xmlns:p14="http://schemas.microsoft.com/office/powerpoint/2010/main" val="15536741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err="1"/>
              <a:t>ps</a:t>
            </a:r>
            <a:r>
              <a:rPr lang="zh-CN" altLang="en-US" dirty="0"/>
              <a:t>命令，</a:t>
            </a:r>
            <a:r>
              <a:rPr lang="en-US" altLang="zh-CN" dirty="0"/>
              <a:t>-C &lt;</a:t>
            </a:r>
            <a:r>
              <a:rPr lang="zh-CN" altLang="en-US" dirty="0"/>
              <a:t>命令</a:t>
            </a:r>
            <a:r>
              <a:rPr lang="en-US" altLang="zh-CN" dirty="0"/>
              <a:t>&gt;</a:t>
            </a:r>
            <a:r>
              <a:rPr lang="zh-CN" altLang="en-US" dirty="0"/>
              <a:t>选项：列出指定命令的状况</a:t>
            </a:r>
          </a:p>
          <a:p>
            <a:r>
              <a:rPr lang="en-US" altLang="zh-CN"/>
              <a:t>kill  -19            </a:t>
            </a:r>
            <a:r>
              <a:rPr lang="en-US" altLang="zh-CN" dirty="0"/>
              <a:t>SIGSTOP      </a:t>
            </a:r>
            <a:r>
              <a:rPr lang="zh-CN" altLang="en-US" dirty="0"/>
              <a:t>暂停执行信号，通常用来调试程序；</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68</a:t>
            </a:fld>
            <a:endParaRPr lang="en-US" altLang="zh-CN"/>
          </a:p>
        </p:txBody>
      </p:sp>
    </p:spTree>
    <p:extLst>
      <p:ext uri="{BB962C8B-B14F-4D97-AF65-F5344CB8AC3E}">
        <p14:creationId xmlns:p14="http://schemas.microsoft.com/office/powerpoint/2010/main" val="849637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460C0A1-8956-4087-9FED-4DDEEB7237DB}" type="slidenum">
              <a:rPr lang="en-US" altLang="zh-CN"/>
              <a:pPr eaLnBrk="1" hangingPunct="1"/>
              <a:t>69</a:t>
            </a:fld>
            <a:endParaRPr lang="en-US" altLang="zh-CN"/>
          </a:p>
        </p:txBody>
      </p:sp>
      <p:sp>
        <p:nvSpPr>
          <p:cNvPr id="56323" name="Rectangle 2"/>
          <p:cNvSpPr>
            <a:spLocks noGrp="1" noRot="1" noChangeAspect="1" noChangeArrowheads="1" noTextEdit="1"/>
          </p:cNvSpPr>
          <p:nvPr>
            <p:ph type="sldImg"/>
          </p:nvPr>
        </p:nvSpPr>
        <p:spPr>
          <a:xfrm>
            <a:off x="381000" y="685800"/>
            <a:ext cx="6096000" cy="3429000"/>
          </a:xfrm>
          <a:ln/>
        </p:spPr>
      </p:sp>
      <p:sp>
        <p:nvSpPr>
          <p:cNvPr id="56324" name="Rectangle 3"/>
          <p:cNvSpPr>
            <a:spLocks noGrp="1" noChangeArrowheads="1"/>
          </p:cNvSpPr>
          <p:nvPr>
            <p:ph type="body" idx="1"/>
          </p:nvPr>
        </p:nvSpPr>
        <p:spPr>
          <a:noFill/>
        </p:spPr>
        <p:txBody>
          <a:bodyPr/>
          <a:lstStyle/>
          <a:p>
            <a:pPr eaLnBrk="1" hangingPunct="1"/>
            <a:r>
              <a:rPr lang="zh-CN" altLang="en-US">
                <a:ea typeface="宋体" charset="-122"/>
              </a:rPr>
              <a:t>有名管道也称命名管道</a:t>
            </a:r>
            <a:endParaRPr lang="en-US" altLang="zh-CN">
              <a:ea typeface="宋体" charset="-122"/>
            </a:endParaRPr>
          </a:p>
          <a:p>
            <a:pPr eaLnBrk="1" hangingPunct="1"/>
            <a:r>
              <a:rPr lang="zh-CN" altLang="en-US">
                <a:ea typeface="宋体" charset="-122"/>
              </a:rPr>
              <a:t>管道的容量也是有限的，通常是一个内存页面的大小。</a:t>
            </a:r>
            <a:endParaRPr lang="zh-CN" altLang="zh-CN">
              <a:ea typeface="宋体"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管道是单向传输</a:t>
            </a:r>
            <a:endParaRPr lang="en-US" altLang="zh-CN" dirty="0"/>
          </a:p>
          <a:p>
            <a:r>
              <a:rPr lang="zh-CN" altLang="en-US" dirty="0"/>
              <a:t>管道是基于字节流的</a:t>
            </a:r>
          </a:p>
          <a:p>
            <a:r>
              <a:rPr lang="zh-CN" altLang="en-US" dirty="0"/>
              <a:t>管道是自带同步机制的，在保证数据安全的前提下，按照特定顺序访问临界资源</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70</a:t>
            </a:fld>
            <a:endParaRPr lang="en-US" altLang="zh-CN"/>
          </a:p>
        </p:txBody>
      </p:sp>
    </p:spTree>
    <p:extLst>
      <p:ext uri="{BB962C8B-B14F-4D97-AF65-F5344CB8AC3E}">
        <p14:creationId xmlns:p14="http://schemas.microsoft.com/office/powerpoint/2010/main" val="13306178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文件描述符在形式上是一个非负整数。实际上是一个索引值，指向内核为每一个进程所维护的该进程打开文件的记录表。当程序打开一个现有文件或者创建一个新文件时，内核向进程返回一个文件描述符。进程使用它来标识打开的文件。</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71</a:t>
            </a:fld>
            <a:endParaRPr lang="en-US" altLang="zh-CN"/>
          </a:p>
        </p:txBody>
      </p:sp>
    </p:spTree>
    <p:extLst>
      <p:ext uri="{BB962C8B-B14F-4D97-AF65-F5344CB8AC3E}">
        <p14:creationId xmlns:p14="http://schemas.microsoft.com/office/powerpoint/2010/main" val="5713096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BB146073-33BE-21CA-6697-7499D7C4C72D}"/>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C75F638-FDDB-4E12-9364-8CFF7E169485}" type="slidenum">
              <a:rPr lang="en-US" altLang="zh-CN"/>
              <a:pPr eaLnBrk="1" hangingPunct="1"/>
              <a:t>72</a:t>
            </a:fld>
            <a:endParaRPr lang="en-US" altLang="zh-CN"/>
          </a:p>
        </p:txBody>
      </p:sp>
      <p:sp>
        <p:nvSpPr>
          <p:cNvPr id="60419" name="Rectangle 2">
            <a:extLst>
              <a:ext uri="{FF2B5EF4-FFF2-40B4-BE49-F238E27FC236}">
                <a16:creationId xmlns:a16="http://schemas.microsoft.com/office/drawing/2014/main" id="{97F279C2-2536-F6EA-9E13-D53C54766235}"/>
              </a:ext>
            </a:extLst>
          </p:cNvPr>
          <p:cNvSpPr>
            <a:spLocks noGrp="1" noRot="1" noChangeAspect="1" noChangeArrowheads="1" noTextEdit="1"/>
          </p:cNvSpPr>
          <p:nvPr>
            <p:ph type="sldImg"/>
          </p:nvPr>
        </p:nvSpPr>
        <p:spPr>
          <a:xfrm>
            <a:off x="381000" y="685800"/>
            <a:ext cx="6096000" cy="3429000"/>
          </a:xfrm>
          <a:ln/>
        </p:spPr>
      </p:sp>
      <p:sp>
        <p:nvSpPr>
          <p:cNvPr id="60420" name="Rectangle 3">
            <a:extLst>
              <a:ext uri="{FF2B5EF4-FFF2-40B4-BE49-F238E27FC236}">
                <a16:creationId xmlns:a16="http://schemas.microsoft.com/office/drawing/2014/main" id="{6E247AD1-EA08-2600-AA7D-F1B384D973B3}"/>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Rot="1" noChangeAspect="1" noChangeArrowheads="1" noTextEdit="1"/>
          </p:cNvSpPr>
          <p:nvPr>
            <p:ph type="sldImg"/>
          </p:nvPr>
        </p:nvSpPr>
        <p:spPr>
          <a:xfrm>
            <a:off x="381000" y="685800"/>
            <a:ext cx="6096000" cy="3429000"/>
          </a:xfrm>
          <a:ln/>
        </p:spPr>
      </p:sp>
      <p:sp>
        <p:nvSpPr>
          <p:cNvPr id="326659" name="Rectangle 3"/>
          <p:cNvSpPr>
            <a:spLocks noGrp="1" noChangeArrowheads="1"/>
          </p:cNvSpPr>
          <p:nvPr>
            <p:ph type="body" idx="1"/>
          </p:nvPr>
        </p:nvSpPr>
        <p:spPr>
          <a:xfrm>
            <a:off x="914400" y="4343400"/>
            <a:ext cx="5029200" cy="4114800"/>
          </a:xfrm>
        </p:spPr>
        <p:txBody>
          <a:bodyPr/>
          <a:lstStyle/>
          <a:p>
            <a:endParaRPr lang="zh-CN" altLang="en-US" dirty="0"/>
          </a:p>
        </p:txBody>
      </p:sp>
    </p:spTree>
    <p:extLst>
      <p:ext uri="{BB962C8B-B14F-4D97-AF65-F5344CB8AC3E}">
        <p14:creationId xmlns:p14="http://schemas.microsoft.com/office/powerpoint/2010/main" val="9933452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err="1"/>
              <a:t>perror</a:t>
            </a:r>
            <a:r>
              <a:rPr lang="en-US" altLang="zh-CN" dirty="0"/>
              <a:t>(s) </a:t>
            </a:r>
            <a:r>
              <a:rPr lang="zh-CN" altLang="en-US" dirty="0"/>
              <a:t>用来将上一个函数发生错误的原因输出到标准设备</a:t>
            </a:r>
            <a:r>
              <a:rPr lang="en-US" altLang="zh-CN" dirty="0"/>
              <a:t>(stderr)</a:t>
            </a:r>
            <a:r>
              <a:rPr lang="zh-CN" altLang="en-US" dirty="0"/>
              <a:t>。</a:t>
            </a:r>
            <a:endParaRPr lang="en-US" altLang="zh-CN" dirty="0"/>
          </a:p>
          <a:p>
            <a:r>
              <a:rPr lang="zh-CN" altLang="en-US" dirty="0"/>
              <a:t>参数 </a:t>
            </a:r>
            <a:r>
              <a:rPr lang="en-US" altLang="zh-CN" dirty="0"/>
              <a:t>s </a:t>
            </a:r>
            <a:r>
              <a:rPr lang="zh-CN" altLang="en-US" dirty="0"/>
              <a:t>所指的字符串会先打印出，后面再加上错误原因字符串。</a:t>
            </a:r>
            <a:endParaRPr lang="en-US" altLang="zh-CN" dirty="0"/>
          </a:p>
          <a:p>
            <a:endParaRPr lang="en-US" altLang="zh-CN" dirty="0"/>
          </a:p>
          <a:p>
            <a:r>
              <a:rPr lang="en-US" altLang="zh-CN" dirty="0" err="1"/>
              <a:t>sprintf</a:t>
            </a:r>
            <a:r>
              <a:rPr lang="zh-CN" altLang="en-US" dirty="0"/>
              <a:t>指的是字符串格式化命令，主要功能是把格式化的数据写入某个字符串中。</a:t>
            </a:r>
            <a:r>
              <a:rPr lang="en-US" altLang="zh-CN" dirty="0" err="1"/>
              <a:t>sprintf</a:t>
            </a:r>
            <a:r>
              <a:rPr lang="en-US" altLang="zh-CN" dirty="0"/>
              <a:t> </a:t>
            </a:r>
            <a:r>
              <a:rPr lang="zh-CN" altLang="en-US" dirty="0"/>
              <a:t>是个变参函数。使用</a:t>
            </a:r>
            <a:r>
              <a:rPr lang="en-US" altLang="zh-CN" dirty="0" err="1"/>
              <a:t>sprintf</a:t>
            </a:r>
            <a:r>
              <a:rPr lang="en-US" altLang="zh-CN" dirty="0"/>
              <a:t> </a:t>
            </a:r>
            <a:r>
              <a:rPr lang="zh-CN" altLang="en-US" dirty="0"/>
              <a:t>对于写入</a:t>
            </a:r>
            <a:r>
              <a:rPr lang="en-US" altLang="zh-CN" dirty="0"/>
              <a:t>buffer</a:t>
            </a:r>
            <a:r>
              <a:rPr lang="zh-CN" altLang="en-US" dirty="0"/>
              <a:t>的字符数是没有限制的，可以使用 </a:t>
            </a:r>
            <a:r>
              <a:rPr lang="en-US" altLang="zh-CN" dirty="0" err="1"/>
              <a:t>snprintf</a:t>
            </a:r>
            <a:r>
              <a:rPr lang="zh-CN" altLang="en-US" dirty="0"/>
              <a:t>函数，该函数可对写入字符数做出限制。</a:t>
            </a:r>
            <a:endParaRPr lang="en-US" altLang="zh-CN" dirty="0"/>
          </a:p>
          <a:p>
            <a:endParaRPr lang="en-US" altLang="zh-CN" dirty="0"/>
          </a:p>
          <a:p>
            <a:r>
              <a:rPr lang="en-US" altLang="zh-CN" dirty="0"/>
              <a:t>exit(1)</a:t>
            </a:r>
            <a:r>
              <a:rPr lang="zh-CN" altLang="en-US" dirty="0"/>
              <a:t>表示异常退出；</a:t>
            </a:r>
            <a:r>
              <a:rPr lang="en-US" altLang="zh-CN" dirty="0"/>
              <a:t>exit(0)</a:t>
            </a:r>
            <a:r>
              <a:rPr lang="zh-CN" altLang="en-US" dirty="0"/>
              <a:t>表示正常退出 </a:t>
            </a:r>
            <a:endParaRPr lang="en-US" altLang="zh-CN" dirty="0"/>
          </a:p>
          <a:p>
            <a:endParaRPr lang="en-US" altLang="zh-CN" dirty="0"/>
          </a:p>
          <a:p>
            <a:r>
              <a:rPr lang="en-US" altLang="zh-CN" dirty="0"/>
              <a:t>wait</a:t>
            </a:r>
            <a:r>
              <a:rPr lang="zh-CN" altLang="en-US" dirty="0"/>
              <a:t>（</a:t>
            </a:r>
            <a:r>
              <a:rPr lang="en-US" altLang="zh-CN" dirty="0"/>
              <a:t>NULL</a:t>
            </a:r>
            <a:r>
              <a:rPr lang="zh-CN" altLang="en-US" dirty="0"/>
              <a:t>）：等待子进程退出，</a:t>
            </a:r>
            <a:r>
              <a:rPr lang="en-US" altLang="zh-CN" dirty="0"/>
              <a:t>NULL</a:t>
            </a:r>
            <a:r>
              <a:rPr lang="zh-CN" altLang="en-US" dirty="0"/>
              <a:t>的意思是退出状态不关注。</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75</a:t>
            </a:fld>
            <a:endParaRPr lang="en-US" altLang="zh-CN"/>
          </a:p>
        </p:txBody>
      </p:sp>
    </p:spTree>
    <p:extLst>
      <p:ext uri="{BB962C8B-B14F-4D97-AF65-F5344CB8AC3E}">
        <p14:creationId xmlns:p14="http://schemas.microsoft.com/office/powerpoint/2010/main" val="13064824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Rot="1" noChangeAspect="1" noChangeArrowheads="1" noTextEdit="1"/>
          </p:cNvSpPr>
          <p:nvPr>
            <p:ph type="sldImg"/>
          </p:nvPr>
        </p:nvSpPr>
        <p:spPr>
          <a:xfrm>
            <a:off x="381000" y="685800"/>
            <a:ext cx="6096000" cy="3429000"/>
          </a:xfrm>
          <a:ln/>
        </p:spPr>
      </p:sp>
      <p:sp>
        <p:nvSpPr>
          <p:cNvPr id="326659" name="Rectangle 3"/>
          <p:cNvSpPr>
            <a:spLocks noGrp="1" noChangeArrowheads="1"/>
          </p:cNvSpPr>
          <p:nvPr>
            <p:ph type="body" idx="1"/>
          </p:nvPr>
        </p:nvSpPr>
        <p:spPr>
          <a:xfrm>
            <a:off x="914400" y="4343400"/>
            <a:ext cx="5029200" cy="4114800"/>
          </a:xfrm>
        </p:spPr>
        <p:txBody>
          <a:bodyPr/>
          <a:lstStyle/>
          <a:p>
            <a:endParaRPr lang="zh-CN" altLang="en-US" dirty="0"/>
          </a:p>
        </p:txBody>
      </p:sp>
    </p:spTree>
    <p:extLst>
      <p:ext uri="{BB962C8B-B14F-4D97-AF65-F5344CB8AC3E}">
        <p14:creationId xmlns:p14="http://schemas.microsoft.com/office/powerpoint/2010/main" val="21512581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宋体" pitchFamily="2" charset="-122"/>
                <a:ea typeface="楷体_GB2312" pitchFamily="49" charset="-122"/>
              </a:rPr>
              <a:t>问题：如果没有</a:t>
            </a:r>
            <a:r>
              <a:rPr lang="en-US" altLang="zh-CN" sz="1200" dirty="0" err="1">
                <a:cs typeface="Times New Roman" pitchFamily="18" charset="0"/>
              </a:rPr>
              <a:t>lockf</a:t>
            </a:r>
            <a:r>
              <a:rPr lang="zh-CN" altLang="en-US" sz="1200" dirty="0"/>
              <a:t>（），结果会怎样？</a:t>
            </a:r>
          </a:p>
          <a:p>
            <a:r>
              <a:rPr lang="en-US" altLang="zh-CN" dirty="0"/>
              <a:t>exit(1);</a:t>
            </a:r>
            <a:r>
              <a:rPr lang="zh-CN" altLang="en-US" dirty="0"/>
              <a:t>运行异常退出程序</a:t>
            </a:r>
            <a:endParaRPr lang="en-US" altLang="zh-CN" dirty="0"/>
          </a:p>
          <a:p>
            <a:r>
              <a:rPr lang="en-US" altLang="zh-CN" dirty="0" err="1"/>
              <a:t>lockf</a:t>
            </a:r>
            <a:r>
              <a:rPr lang="en-US" altLang="zh-CN" dirty="0"/>
              <a:t>(fd,1,0)</a:t>
            </a:r>
            <a:r>
              <a:rPr lang="zh-CN" altLang="en-US" dirty="0"/>
              <a:t>是给</a:t>
            </a:r>
            <a:r>
              <a:rPr lang="en-US" altLang="zh-CN" dirty="0" err="1"/>
              <a:t>fd</a:t>
            </a:r>
            <a:r>
              <a:rPr lang="zh-CN" altLang="en-US" dirty="0"/>
              <a:t>文件上锁，</a:t>
            </a:r>
            <a:r>
              <a:rPr lang="en-US" altLang="zh-CN" dirty="0" err="1"/>
              <a:t>lockf</a:t>
            </a:r>
            <a:r>
              <a:rPr lang="en-US" altLang="zh-CN" dirty="0"/>
              <a:t>(fd,0,0)</a:t>
            </a:r>
            <a:r>
              <a:rPr lang="zh-CN" altLang="en-US" dirty="0"/>
              <a:t>是解锁，配合使用，实现进程的互斥。</a:t>
            </a:r>
            <a:endParaRPr lang="en-US" altLang="zh-CN" dirty="0"/>
          </a:p>
          <a:p>
            <a:r>
              <a:rPr lang="en-US" altLang="zh-CN" dirty="0"/>
              <a:t>sleep(2);</a:t>
            </a:r>
            <a:r>
              <a:rPr lang="zh-CN" altLang="en-US" dirty="0"/>
              <a:t>等待父进程读。</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77</a:t>
            </a:fld>
            <a:endParaRPr lang="en-US" altLang="zh-CN"/>
          </a:p>
        </p:txBody>
      </p:sp>
    </p:spTree>
    <p:extLst>
      <p:ext uri="{BB962C8B-B14F-4D97-AF65-F5344CB8AC3E}">
        <p14:creationId xmlns:p14="http://schemas.microsoft.com/office/powerpoint/2010/main" val="4234417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Rot="1" noChangeAspect="1" noChangeArrowheads="1" noTextEdit="1"/>
          </p:cNvSpPr>
          <p:nvPr>
            <p:ph type="sldImg"/>
          </p:nvPr>
        </p:nvSpPr>
        <p:spPr>
          <a:xfrm>
            <a:off x="381000" y="685800"/>
            <a:ext cx="6096000" cy="3429000"/>
          </a:xfrm>
          <a:ln/>
        </p:spPr>
      </p:sp>
      <p:sp>
        <p:nvSpPr>
          <p:cNvPr id="326659" name="Rectangle 3"/>
          <p:cNvSpPr>
            <a:spLocks noGrp="1" noChangeArrowheads="1"/>
          </p:cNvSpPr>
          <p:nvPr>
            <p:ph type="body" idx="1"/>
          </p:nvPr>
        </p:nvSpPr>
        <p:spPr>
          <a:xfrm>
            <a:off x="914400" y="4343400"/>
            <a:ext cx="5029200" cy="4114800"/>
          </a:xfrm>
        </p:spPr>
        <p:txBody>
          <a:bodyPr/>
          <a:lstStyle/>
          <a:p>
            <a:r>
              <a:rPr lang="zh-CN" altLang="en-US" dirty="0"/>
              <a:t>也可能打印结果：</a:t>
            </a:r>
            <a:endParaRPr lang="en-US" altLang="zh-CN" dirty="0"/>
          </a:p>
          <a:p>
            <a:r>
              <a:rPr lang="en-US" altLang="zh-CN" dirty="0"/>
              <a:t>child p1 is sending messages</a:t>
            </a:r>
            <a:r>
              <a:rPr lang="zh-CN" altLang="en-US" dirty="0"/>
              <a:t>！</a:t>
            </a:r>
          </a:p>
          <a:p>
            <a:r>
              <a:rPr lang="en-US" altLang="zh-CN" dirty="0"/>
              <a:t>child p2 is sending messages</a:t>
            </a:r>
            <a:r>
              <a:rPr lang="zh-CN" altLang="en-US" dirty="0"/>
              <a:t>！</a:t>
            </a:r>
          </a:p>
        </p:txBody>
      </p:sp>
    </p:spTree>
    <p:extLst>
      <p:ext uri="{BB962C8B-B14F-4D97-AF65-F5344CB8AC3E}">
        <p14:creationId xmlns:p14="http://schemas.microsoft.com/office/powerpoint/2010/main" val="1474455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非阻塞方式下，如果读操作时设备数据不充足，或写数据时缓冲区空间不足，系统只是简单返回</a:t>
            </a:r>
            <a:r>
              <a:rPr lang="en-US" altLang="zh-CN" dirty="0"/>
              <a:t>-EAGAIN, </a:t>
            </a:r>
            <a:r>
              <a:rPr lang="zh-CN" altLang="en-US" dirty="0"/>
              <a:t>并不会阻塞线程，可以继续向下执行程序。</a:t>
            </a:r>
            <a:endParaRPr lang="en-US" altLang="zh-CN" dirty="0"/>
          </a:p>
          <a:p>
            <a:r>
              <a:rPr lang="zh-CN" altLang="en-US" dirty="0"/>
              <a:t>参数</a:t>
            </a:r>
            <a:r>
              <a:rPr lang="en-US" altLang="zh-CN" dirty="0"/>
              <a:t>1</a:t>
            </a:r>
            <a:r>
              <a:rPr lang="zh-CN" altLang="en-US" dirty="0"/>
              <a:t>（</a:t>
            </a:r>
            <a:r>
              <a:rPr lang="en-US" altLang="zh-CN" dirty="0"/>
              <a:t>filename</a:t>
            </a:r>
            <a:r>
              <a:rPr lang="zh-CN" altLang="en-US" dirty="0"/>
              <a:t>）：是将要在文件系统中创建的一个专用文件。</a:t>
            </a:r>
          </a:p>
          <a:p>
            <a:r>
              <a:rPr lang="zh-CN" altLang="en-US" dirty="0"/>
              <a:t>参数</a:t>
            </a:r>
            <a:r>
              <a:rPr lang="en-US" altLang="zh-CN" dirty="0"/>
              <a:t>2</a:t>
            </a:r>
            <a:r>
              <a:rPr lang="zh-CN" altLang="en-US" dirty="0"/>
              <a:t>（</a:t>
            </a:r>
            <a:r>
              <a:rPr lang="en-US" altLang="zh-CN" dirty="0"/>
              <a:t>mode</a:t>
            </a:r>
            <a:r>
              <a:rPr lang="zh-CN" altLang="en-US" dirty="0"/>
              <a:t>）：用来规定</a:t>
            </a:r>
            <a:r>
              <a:rPr lang="en-US" altLang="zh-CN" dirty="0"/>
              <a:t>FIFO</a:t>
            </a:r>
            <a:r>
              <a:rPr lang="zh-CN" altLang="en-US" dirty="0"/>
              <a:t>的读写权限。</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79</a:t>
            </a:fld>
            <a:endParaRPr lang="en-US" altLang="zh-CN"/>
          </a:p>
        </p:txBody>
      </p:sp>
    </p:spTree>
    <p:extLst>
      <p:ext uri="{BB962C8B-B14F-4D97-AF65-F5344CB8AC3E}">
        <p14:creationId xmlns:p14="http://schemas.microsoft.com/office/powerpoint/2010/main" val="12460079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CE6CEB9-4EA9-4639-8804-E8B4AC3B53A4}" type="slidenum">
              <a:rPr lang="en-US" altLang="zh-CN"/>
              <a:pPr eaLnBrk="1" hangingPunct="1"/>
              <a:t>80</a:t>
            </a:fld>
            <a:endParaRPr lang="en-US" altLang="zh-CN"/>
          </a:p>
        </p:txBody>
      </p:sp>
      <p:sp>
        <p:nvSpPr>
          <p:cNvPr id="57347" name="Rectangle 2"/>
          <p:cNvSpPr>
            <a:spLocks noGrp="1" noRot="1" noChangeAspect="1" noChangeArrowheads="1" noTextEdit="1"/>
          </p:cNvSpPr>
          <p:nvPr>
            <p:ph type="sldImg"/>
          </p:nvPr>
        </p:nvSpPr>
        <p:spPr>
          <a:xfrm>
            <a:off x="381000" y="685800"/>
            <a:ext cx="6096000" cy="3429000"/>
          </a:xfrm>
          <a:ln/>
        </p:spPr>
      </p:sp>
      <p:sp>
        <p:nvSpPr>
          <p:cNvPr id="57348" name="Rectangle 3"/>
          <p:cNvSpPr>
            <a:spLocks noGrp="1" noChangeArrowheads="1"/>
          </p:cNvSpPr>
          <p:nvPr>
            <p:ph type="body" idx="1"/>
          </p:nvPr>
        </p:nvSpPr>
        <p:spPr>
          <a:noFill/>
        </p:spPr>
        <p:txBody>
          <a:bodyPr/>
          <a:lstStyle/>
          <a:p>
            <a:pPr eaLnBrk="1" hangingPunct="1"/>
            <a:r>
              <a:rPr lang="zh-CN" altLang="en-US" dirty="0">
                <a:ea typeface="宋体" charset="-122"/>
              </a:rPr>
              <a:t>使用有名管道的时候可以把管道当成一个文件，但是与普通文件不同的是有名管道需要考虑阻塞问题。</a:t>
            </a:r>
            <a:endParaRPr lang="en-US" altLang="zh-CN" dirty="0">
              <a:ea typeface="宋体" charset="-122"/>
            </a:endParaRPr>
          </a:p>
          <a:p>
            <a:pPr eaLnBrk="1" hangingPunct="1"/>
            <a:r>
              <a:rPr lang="zh-CN" altLang="en-US" dirty="0">
                <a:ea typeface="宋体" charset="-122"/>
              </a:rPr>
              <a:t>简单的说就是，打开一个管道之后，如果是非阻塞模式，则不论管道的两边（一边读一边写）有没有正在操作，都会直接返回。但是如果是阻塞模式，则必须要保证管道两边都要有进程同时操作，否则就会阻塞。</a:t>
            </a:r>
            <a:endParaRPr lang="zh-CN" altLang="zh-CN" dirty="0">
              <a:ea typeface="宋体" charset="-122"/>
            </a:endParaRPr>
          </a:p>
        </p:txBody>
      </p:sp>
    </p:spTree>
    <p:extLst>
      <p:ext uri="{BB962C8B-B14F-4D97-AF65-F5344CB8AC3E}">
        <p14:creationId xmlns:p14="http://schemas.microsoft.com/office/powerpoint/2010/main" val="25946705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644</a:t>
            </a:r>
            <a:r>
              <a:rPr lang="zh-CN" altLang="en-US" dirty="0"/>
              <a:t>本用户有可读可写权限</a:t>
            </a:r>
            <a:r>
              <a:rPr lang="en-US" altLang="zh-CN" dirty="0"/>
              <a:t>,</a:t>
            </a:r>
            <a:r>
              <a:rPr lang="zh-CN" altLang="en-US" dirty="0"/>
              <a:t>群组有只读权限</a:t>
            </a:r>
            <a:r>
              <a:rPr lang="en-US" altLang="zh-CN" dirty="0"/>
              <a:t>,</a:t>
            </a:r>
            <a:r>
              <a:rPr lang="zh-CN" altLang="en-US" dirty="0"/>
              <a:t>其他用户为只读权限</a:t>
            </a:r>
            <a:endParaRPr lang="en-US" altLang="zh-CN" dirty="0"/>
          </a:p>
          <a:p>
            <a:r>
              <a:rPr lang="en-US" altLang="zh-CN" dirty="0"/>
              <a:t>0</a:t>
            </a:r>
            <a:r>
              <a:rPr lang="zh-CN" altLang="en-US" dirty="0"/>
              <a:t>， 表示十进制</a:t>
            </a:r>
            <a:endParaRPr lang="en-US" altLang="zh-CN" dirty="0"/>
          </a:p>
          <a:p>
            <a:r>
              <a:rPr lang="en-US" altLang="zh-CN" dirty="0"/>
              <a:t>read</a:t>
            </a:r>
            <a:r>
              <a:rPr lang="zh-CN" altLang="en-US" dirty="0"/>
              <a:t>函数的三个参数：文件描述符；指定读入数据的数据缓冲区；指定读入的字节数</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81</a:t>
            </a:fld>
            <a:endParaRPr lang="en-US" altLang="zh-CN"/>
          </a:p>
        </p:txBody>
      </p:sp>
    </p:spTree>
    <p:extLst>
      <p:ext uri="{BB962C8B-B14F-4D97-AF65-F5344CB8AC3E}">
        <p14:creationId xmlns:p14="http://schemas.microsoft.com/office/powerpoint/2010/main" val="10531886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82</a:t>
            </a:fld>
            <a:endParaRPr lang="en-US" altLang="zh-CN"/>
          </a:p>
        </p:txBody>
      </p:sp>
    </p:spTree>
    <p:extLst>
      <p:ext uri="{BB962C8B-B14F-4D97-AF65-F5344CB8AC3E}">
        <p14:creationId xmlns:p14="http://schemas.microsoft.com/office/powerpoint/2010/main" val="38416152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在</a:t>
            </a:r>
            <a:r>
              <a:rPr lang="en-US" altLang="zh-CN" dirty="0"/>
              <a:t>Linux</a:t>
            </a:r>
            <a:r>
              <a:rPr lang="zh-CN" altLang="en-US" dirty="0"/>
              <a:t>中，</a:t>
            </a:r>
            <a:r>
              <a:rPr lang="en-US" altLang="zh-CN" dirty="0" err="1"/>
              <a:t>mkfifo</a:t>
            </a:r>
            <a:r>
              <a:rPr lang="zh-CN" altLang="en-US" dirty="0"/>
              <a:t>创建的命名管道默认是阻塞的。需要读写两端同时操作。</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83</a:t>
            </a:fld>
            <a:endParaRPr lang="en-US" altLang="zh-CN"/>
          </a:p>
        </p:txBody>
      </p:sp>
    </p:spTree>
    <p:extLst>
      <p:ext uri="{BB962C8B-B14F-4D97-AF65-F5344CB8AC3E}">
        <p14:creationId xmlns:p14="http://schemas.microsoft.com/office/powerpoint/2010/main" val="34063916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ssize_t [2]  </a:t>
            </a:r>
            <a:r>
              <a:rPr lang="zh-CN" altLang="en-US" dirty="0"/>
              <a:t>是</a:t>
            </a:r>
            <a:r>
              <a:rPr lang="en-US" altLang="zh-CN" dirty="0"/>
              <a:t>C</a:t>
            </a:r>
            <a:r>
              <a:rPr lang="zh-CN" altLang="en-US" dirty="0"/>
              <a:t>语言头文件</a:t>
            </a:r>
            <a:r>
              <a:rPr lang="en-US" altLang="zh-CN" dirty="0" err="1"/>
              <a:t>stddef.h</a:t>
            </a:r>
            <a:r>
              <a:rPr lang="zh-CN" altLang="en-US" dirty="0"/>
              <a:t>中定义的类型</a:t>
            </a:r>
            <a:endParaRPr lang="en-US" altLang="zh-CN" dirty="0"/>
          </a:p>
          <a:p>
            <a:r>
              <a:rPr lang="en-US" altLang="zh-CN" dirty="0"/>
              <a:t>ssize_t:</a:t>
            </a:r>
            <a:r>
              <a:rPr lang="zh-CN" altLang="en-US" dirty="0"/>
              <a:t>这个数据类型用来表示可以被执行读写操作的数据块的大小</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84</a:t>
            </a:fld>
            <a:endParaRPr lang="en-US" altLang="zh-CN"/>
          </a:p>
        </p:txBody>
      </p:sp>
    </p:spTree>
    <p:extLst>
      <p:ext uri="{BB962C8B-B14F-4D97-AF65-F5344CB8AC3E}">
        <p14:creationId xmlns:p14="http://schemas.microsoft.com/office/powerpoint/2010/main" val="5322140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85</a:t>
            </a:fld>
            <a:endParaRPr lang="en-US" altLang="zh-CN"/>
          </a:p>
        </p:txBody>
      </p:sp>
    </p:spTree>
    <p:extLst>
      <p:ext uri="{BB962C8B-B14F-4D97-AF65-F5344CB8AC3E}">
        <p14:creationId xmlns:p14="http://schemas.microsoft.com/office/powerpoint/2010/main" val="23133158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86</a:t>
            </a:fld>
            <a:endParaRPr lang="en-US" altLang="zh-CN"/>
          </a:p>
        </p:txBody>
      </p:sp>
    </p:spTree>
    <p:extLst>
      <p:ext uri="{BB962C8B-B14F-4D97-AF65-F5344CB8AC3E}">
        <p14:creationId xmlns:p14="http://schemas.microsoft.com/office/powerpoint/2010/main" val="23135008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CE6CEB9-4EA9-4639-8804-E8B4AC3B53A4}" type="slidenum">
              <a:rPr lang="en-US" altLang="zh-CN"/>
              <a:pPr eaLnBrk="1" hangingPunct="1"/>
              <a:t>87</a:t>
            </a:fld>
            <a:endParaRPr lang="en-US" altLang="zh-CN"/>
          </a:p>
        </p:txBody>
      </p:sp>
      <p:sp>
        <p:nvSpPr>
          <p:cNvPr id="57347" name="Rectangle 2"/>
          <p:cNvSpPr>
            <a:spLocks noGrp="1" noRot="1" noChangeAspect="1" noChangeArrowheads="1" noTextEdit="1"/>
          </p:cNvSpPr>
          <p:nvPr>
            <p:ph type="sldImg"/>
          </p:nvPr>
        </p:nvSpPr>
        <p:spPr>
          <a:xfrm>
            <a:off x="381000" y="685800"/>
            <a:ext cx="6096000" cy="3429000"/>
          </a:xfrm>
          <a:ln/>
        </p:spPr>
      </p:sp>
      <p:sp>
        <p:nvSpPr>
          <p:cNvPr id="57348" name="Rectangle 3"/>
          <p:cNvSpPr>
            <a:spLocks noGrp="1" noChangeArrowheads="1"/>
          </p:cNvSpPr>
          <p:nvPr>
            <p:ph type="body" idx="1"/>
          </p:nvPr>
        </p:nvSpPr>
        <p:spPr>
          <a:noFill/>
        </p:spPr>
        <p:txBody>
          <a:bodyPr/>
          <a:lstStyle/>
          <a:p>
            <a:pPr eaLnBrk="1" hangingPunct="1"/>
            <a:endParaRPr lang="zh-CN" altLang="zh-CN" dirty="0">
              <a:ea typeface="宋体"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1DAB32-532E-4445-8014-BC8B0C231BB1}" type="slidenum">
              <a:rPr lang="en-US" altLang="zh-CN"/>
              <a:pPr/>
              <a:t>89</a:t>
            </a:fld>
            <a:endParaRPr lang="en-US" altLang="zh-CN"/>
          </a:p>
        </p:txBody>
      </p:sp>
      <p:sp>
        <p:nvSpPr>
          <p:cNvPr id="166914" name="Rectangle 2"/>
          <p:cNvSpPr>
            <a:spLocks noGrp="1" noRot="1" noChangeAspect="1" noChangeArrowheads="1" noTextEdit="1"/>
          </p:cNvSpPr>
          <p:nvPr>
            <p:ph type="sldImg"/>
          </p:nvPr>
        </p:nvSpPr>
        <p:spPr>
          <a:xfrm>
            <a:off x="381000" y="685800"/>
            <a:ext cx="6096000" cy="3429000"/>
          </a:xfrm>
          <a:ln/>
        </p:spPr>
      </p:sp>
      <p:sp>
        <p:nvSpPr>
          <p:cNvPr id="166915" name="Rectangle 3"/>
          <p:cNvSpPr>
            <a:spLocks noGrp="1" noChangeArrowheads="1"/>
          </p:cNvSpPr>
          <p:nvPr>
            <p:ph type="body" idx="1"/>
          </p:nvPr>
        </p:nvSpPr>
        <p:spPr>
          <a:xfrm>
            <a:off x="914400" y="4343400"/>
            <a:ext cx="5029200" cy="4114800"/>
          </a:xfrm>
        </p:spPr>
        <p:txBody>
          <a:bodyPr/>
          <a:lstStyle/>
          <a:p>
            <a:r>
              <a:rPr lang="zh-CN" altLang="en-US"/>
              <a:t>多线程与多进程的问题</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460C0A1-8956-4087-9FED-4DDEEB7237DB}" type="slidenum">
              <a:rPr lang="en-US" altLang="zh-CN"/>
              <a:pPr eaLnBrk="1" hangingPunct="1"/>
              <a:t>90</a:t>
            </a:fld>
            <a:endParaRPr lang="en-US" altLang="zh-CN"/>
          </a:p>
        </p:txBody>
      </p:sp>
      <p:sp>
        <p:nvSpPr>
          <p:cNvPr id="56323" name="Rectangle 2"/>
          <p:cNvSpPr>
            <a:spLocks noGrp="1" noRot="1" noChangeAspect="1" noChangeArrowheads="1" noTextEdit="1"/>
          </p:cNvSpPr>
          <p:nvPr>
            <p:ph type="sldImg"/>
          </p:nvPr>
        </p:nvSpPr>
        <p:spPr>
          <a:xfrm>
            <a:off x="381000" y="685800"/>
            <a:ext cx="6096000" cy="3429000"/>
          </a:xfrm>
          <a:ln/>
        </p:spPr>
      </p:sp>
      <p:sp>
        <p:nvSpPr>
          <p:cNvPr id="56324" name="Rectangle 3"/>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dirty="0"/>
              <a:t>较之管道，共享内存的使用较复杂。</a:t>
            </a:r>
            <a:endParaRPr lang="en-US" altLang="zh-CN" dirty="0"/>
          </a:p>
          <a:p>
            <a:pPr eaLnBrk="1" hangingPunct="1"/>
            <a:endParaRPr lang="zh-CN" altLang="zh-CN" dirty="0">
              <a:ea typeface="宋体" charset="-122"/>
            </a:endParaRPr>
          </a:p>
        </p:txBody>
      </p:sp>
    </p:spTree>
    <p:extLst>
      <p:ext uri="{BB962C8B-B14F-4D97-AF65-F5344CB8AC3E}">
        <p14:creationId xmlns:p14="http://schemas.microsoft.com/office/powerpoint/2010/main" val="12706226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460C0A1-8956-4087-9FED-4DDEEB7237DB}" type="slidenum">
              <a:rPr lang="en-US" altLang="zh-CN"/>
              <a:pPr eaLnBrk="1" hangingPunct="1"/>
              <a:t>91</a:t>
            </a:fld>
            <a:endParaRPr lang="en-US" altLang="zh-CN"/>
          </a:p>
        </p:txBody>
      </p:sp>
      <p:sp>
        <p:nvSpPr>
          <p:cNvPr id="56323" name="Rectangle 2"/>
          <p:cNvSpPr>
            <a:spLocks noGrp="1" noRot="1" noChangeAspect="1" noChangeArrowheads="1" noTextEdit="1"/>
          </p:cNvSpPr>
          <p:nvPr>
            <p:ph type="sldImg"/>
          </p:nvPr>
        </p:nvSpPr>
        <p:spPr>
          <a:xfrm>
            <a:off x="381000" y="685800"/>
            <a:ext cx="6096000" cy="3429000"/>
          </a:xfrm>
          <a:ln/>
        </p:spPr>
      </p:sp>
      <p:sp>
        <p:nvSpPr>
          <p:cNvPr id="56324" name="Rectangle 3"/>
          <p:cNvSpPr>
            <a:spLocks noGrp="1" noChangeArrowheads="1"/>
          </p:cNvSpPr>
          <p:nvPr>
            <p:ph type="body" idx="1"/>
          </p:nvPr>
        </p:nvSpPr>
        <p:spPr>
          <a:noFill/>
        </p:spPr>
        <p:txBody>
          <a:bodyPr/>
          <a:lstStyle/>
          <a:p>
            <a:pPr eaLnBrk="1" hangingPunct="1"/>
            <a:r>
              <a:rPr lang="zh-CN" altLang="en-US" dirty="0">
                <a:ea typeface="宋体" charset="-122"/>
              </a:rPr>
              <a:t>由于共享内存区就在进程自己的地址空间内，因此访问速度快，只要发送进程将数据写入共享内存，接收进程就可立即得到数据。</a:t>
            </a:r>
            <a:endParaRPr lang="en-US" altLang="zh-CN" dirty="0">
              <a:ea typeface="宋体" charset="-122"/>
            </a:endParaRPr>
          </a:p>
          <a:p>
            <a:pPr eaLnBrk="1" hangingPunct="1"/>
            <a:r>
              <a:rPr lang="en-US" altLang="zh-CN" dirty="0" err="1">
                <a:ea typeface="宋体" charset="-122"/>
              </a:rPr>
              <a:t>shmdt</a:t>
            </a:r>
            <a:r>
              <a:rPr lang="en-US" altLang="zh-CN" dirty="0">
                <a:ea typeface="宋体" charset="-122"/>
              </a:rPr>
              <a:t>() </a:t>
            </a:r>
            <a:r>
              <a:rPr lang="zh-CN" altLang="en-US" dirty="0">
                <a:ea typeface="宋体" charset="-122"/>
              </a:rPr>
              <a:t>是一个</a:t>
            </a:r>
            <a:r>
              <a:rPr lang="en-US" altLang="zh-CN" dirty="0">
                <a:ea typeface="宋体" charset="-122"/>
              </a:rPr>
              <a:t>Linux</a:t>
            </a:r>
            <a:r>
              <a:rPr lang="zh-CN" altLang="en-US" dirty="0">
                <a:ea typeface="宋体" charset="-122"/>
              </a:rPr>
              <a:t>系统调用函数</a:t>
            </a:r>
            <a:r>
              <a:rPr lang="en-US" altLang="zh-CN" dirty="0">
                <a:ea typeface="宋体" charset="-122"/>
              </a:rPr>
              <a:t>,</a:t>
            </a:r>
            <a:r>
              <a:rPr lang="zh-CN" altLang="en-US" dirty="0">
                <a:ea typeface="宋体" charset="-122"/>
              </a:rPr>
              <a:t>用于将当前进程地址空间中附加的共享内存段分离。当进程不再需要访问共享内存段时</a:t>
            </a:r>
            <a:r>
              <a:rPr lang="en-US" altLang="zh-CN" dirty="0">
                <a:ea typeface="宋体" charset="-122"/>
              </a:rPr>
              <a:t>,</a:t>
            </a:r>
            <a:r>
              <a:rPr lang="zh-CN" altLang="en-US" dirty="0">
                <a:ea typeface="宋体" charset="-122"/>
              </a:rPr>
              <a:t>可以调用 </a:t>
            </a:r>
            <a:r>
              <a:rPr lang="en-US" altLang="zh-CN" dirty="0" err="1">
                <a:ea typeface="宋体" charset="-122"/>
              </a:rPr>
              <a:t>shmdt</a:t>
            </a:r>
            <a:r>
              <a:rPr lang="en-US" altLang="zh-CN" dirty="0">
                <a:ea typeface="宋体" charset="-122"/>
              </a:rPr>
              <a:t>() </a:t>
            </a:r>
            <a:r>
              <a:rPr lang="zh-CN" altLang="en-US" dirty="0">
                <a:ea typeface="宋体" charset="-122"/>
              </a:rPr>
              <a:t>函数将其分离</a:t>
            </a:r>
            <a:endParaRPr lang="zh-CN" altLang="zh-CN" dirty="0">
              <a:ea typeface="宋体" charset="-122"/>
            </a:endParaRPr>
          </a:p>
        </p:txBody>
      </p:sp>
    </p:spTree>
    <p:extLst>
      <p:ext uri="{BB962C8B-B14F-4D97-AF65-F5344CB8AC3E}">
        <p14:creationId xmlns:p14="http://schemas.microsoft.com/office/powerpoint/2010/main" val="35338157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460C0A1-8956-4087-9FED-4DDEEB7237DB}" type="slidenum">
              <a:rPr lang="en-US" altLang="zh-CN"/>
              <a:pPr eaLnBrk="1" hangingPunct="1"/>
              <a:t>92</a:t>
            </a:fld>
            <a:endParaRPr lang="en-US" altLang="zh-CN"/>
          </a:p>
        </p:txBody>
      </p:sp>
      <p:sp>
        <p:nvSpPr>
          <p:cNvPr id="56323" name="Rectangle 2"/>
          <p:cNvSpPr>
            <a:spLocks noGrp="1" noRot="1" noChangeAspect="1" noChangeArrowheads="1" noTextEdit="1"/>
          </p:cNvSpPr>
          <p:nvPr>
            <p:ph type="sldImg"/>
          </p:nvPr>
        </p:nvSpPr>
        <p:spPr>
          <a:xfrm>
            <a:off x="381000" y="685800"/>
            <a:ext cx="6096000" cy="3429000"/>
          </a:xfrm>
          <a:ln/>
        </p:spPr>
      </p:sp>
      <p:sp>
        <p:nvSpPr>
          <p:cNvPr id="56324" name="Rectangle 3"/>
          <p:cNvSpPr>
            <a:spLocks noGrp="1" noChangeArrowheads="1"/>
          </p:cNvSpPr>
          <p:nvPr>
            <p:ph type="body" idx="1"/>
          </p:nvPr>
        </p:nvSpPr>
        <p:spPr>
          <a:noFill/>
        </p:spPr>
        <p:txBody>
          <a:bodyPr/>
          <a:lstStyle/>
          <a:p>
            <a:pPr eaLnBrk="1" hangingPunct="1"/>
            <a:r>
              <a:rPr lang="zh-CN" altLang="en-US" dirty="0">
                <a:ea typeface="宋体" charset="-122"/>
              </a:rPr>
              <a:t>创建或打开消息队列：</a:t>
            </a:r>
            <a:r>
              <a:rPr lang="en-US" altLang="zh-CN" dirty="0" err="1">
                <a:ea typeface="宋体" charset="-122"/>
              </a:rPr>
              <a:t>msgget</a:t>
            </a:r>
            <a:r>
              <a:rPr lang="zh-CN" altLang="en-US" dirty="0">
                <a:ea typeface="宋体" charset="-122"/>
              </a:rPr>
              <a:t>。这里创建的消息队列的数量会受到消息队列数量的限制</a:t>
            </a:r>
          </a:p>
          <a:p>
            <a:pPr eaLnBrk="1" hangingPunct="1"/>
            <a:r>
              <a:rPr lang="zh-CN" altLang="en-US" dirty="0">
                <a:ea typeface="宋体" charset="-122"/>
              </a:rPr>
              <a:t>添加消息：</a:t>
            </a:r>
            <a:r>
              <a:rPr lang="en-US" altLang="zh-CN" dirty="0" err="1">
                <a:ea typeface="宋体" charset="-122"/>
              </a:rPr>
              <a:t>msgsnd</a:t>
            </a:r>
            <a:r>
              <a:rPr lang="zh-CN" altLang="en-US" dirty="0">
                <a:ea typeface="宋体" charset="-122"/>
              </a:rPr>
              <a:t>函数，它把消息添加到已打开的消息队列末尾</a:t>
            </a:r>
          </a:p>
          <a:p>
            <a:pPr eaLnBrk="1" hangingPunct="1"/>
            <a:r>
              <a:rPr lang="zh-CN" altLang="en-US" dirty="0">
                <a:ea typeface="宋体" charset="-122"/>
              </a:rPr>
              <a:t>读取消息：</a:t>
            </a:r>
            <a:r>
              <a:rPr lang="en-US" altLang="zh-CN" dirty="0">
                <a:ea typeface="宋体" charset="-122"/>
              </a:rPr>
              <a:t>msgrcv</a:t>
            </a:r>
            <a:r>
              <a:rPr lang="zh-CN" altLang="en-US" dirty="0">
                <a:ea typeface="宋体" charset="-122"/>
              </a:rPr>
              <a:t>，它把消息从消息队列中取走，与</a:t>
            </a:r>
            <a:r>
              <a:rPr lang="en-US" altLang="zh-CN" dirty="0">
                <a:ea typeface="宋体" charset="-122"/>
              </a:rPr>
              <a:t>FIFO</a:t>
            </a:r>
            <a:r>
              <a:rPr lang="zh-CN" altLang="en-US" dirty="0">
                <a:ea typeface="宋体" charset="-122"/>
              </a:rPr>
              <a:t>不同的是，这里可以指定取走某一条消息</a:t>
            </a:r>
          </a:p>
          <a:p>
            <a:pPr eaLnBrk="1" hangingPunct="1"/>
            <a:r>
              <a:rPr lang="zh-CN" altLang="en-US" dirty="0">
                <a:ea typeface="宋体" charset="-122"/>
              </a:rPr>
              <a:t>控制消息队列：</a:t>
            </a:r>
            <a:r>
              <a:rPr lang="en-US" altLang="zh-CN" dirty="0" err="1">
                <a:ea typeface="宋体" charset="-122"/>
              </a:rPr>
              <a:t>msgctl</a:t>
            </a:r>
            <a:endParaRPr lang="en-US" altLang="zh-CN" dirty="0">
              <a:ea typeface="宋体" charset="-122"/>
            </a:endParaRPr>
          </a:p>
          <a:p>
            <a:pPr eaLnBrk="1" hangingPunct="1"/>
            <a:endParaRPr lang="zh-CN" altLang="zh-CN" dirty="0">
              <a:ea typeface="宋体" charset="-122"/>
            </a:endParaRPr>
          </a:p>
        </p:txBody>
      </p:sp>
    </p:spTree>
    <p:extLst>
      <p:ext uri="{BB962C8B-B14F-4D97-AF65-F5344CB8AC3E}">
        <p14:creationId xmlns:p14="http://schemas.microsoft.com/office/powerpoint/2010/main" val="4054173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9753600" y="1066800"/>
            <a:ext cx="0" cy="4495800"/>
          </a:xfrm>
          <a:prstGeom prst="line">
            <a:avLst/>
          </a:prstGeom>
          <a:noFill/>
          <a:ln w="9525">
            <a:solidFill>
              <a:schemeClr val="tx1"/>
            </a:solidFill>
            <a:round/>
            <a:headEnd/>
            <a:tailEnd/>
          </a:ln>
          <a:effectLst/>
        </p:spPr>
        <p:txBody>
          <a:bodyPr/>
          <a:lstStyle/>
          <a:p>
            <a:pPr>
              <a:defRPr/>
            </a:pPr>
            <a:endParaRPr lang="zh-CN" altLang="en-US" b="0"/>
          </a:p>
        </p:txBody>
      </p:sp>
      <p:sp>
        <p:nvSpPr>
          <p:cNvPr id="5" name="Line 40"/>
          <p:cNvSpPr>
            <a:spLocks noChangeShapeType="1"/>
          </p:cNvSpPr>
          <p:nvPr/>
        </p:nvSpPr>
        <p:spPr bwMode="auto">
          <a:xfrm>
            <a:off x="406400" y="2819400"/>
            <a:ext cx="10972800" cy="0"/>
          </a:xfrm>
          <a:prstGeom prst="line">
            <a:avLst/>
          </a:prstGeom>
          <a:noFill/>
          <a:ln w="6350">
            <a:solidFill>
              <a:schemeClr val="tx1"/>
            </a:solidFill>
            <a:round/>
            <a:headEnd/>
            <a:tailEnd/>
          </a:ln>
          <a:effectLst/>
        </p:spPr>
        <p:txBody>
          <a:bodyPr/>
          <a:lstStyle/>
          <a:p>
            <a:pPr>
              <a:defRPr/>
            </a:pPr>
            <a:endParaRPr lang="zh-CN" altLang="en-US" b="0"/>
          </a:p>
        </p:txBody>
      </p:sp>
      <p:sp>
        <p:nvSpPr>
          <p:cNvPr id="28675" name="Rectangle 3"/>
          <p:cNvSpPr>
            <a:spLocks noGrp="1" noChangeArrowheads="1"/>
          </p:cNvSpPr>
          <p:nvPr>
            <p:ph type="ctrTitle"/>
          </p:nvPr>
        </p:nvSpPr>
        <p:spPr>
          <a:xfrm>
            <a:off x="421217" y="466725"/>
            <a:ext cx="9042400" cy="2133600"/>
          </a:xfrm>
        </p:spPr>
        <p:txBody>
          <a:bodyPr/>
          <a:lstStyle>
            <a:lvl1pPr algn="r">
              <a:defRPr sz="5200"/>
            </a:lvl1pPr>
          </a:lstStyle>
          <a:p>
            <a:r>
              <a:rPr lang="zh-CN" altLang="en-US"/>
              <a:t>单击此处编辑母版标题样式</a:t>
            </a:r>
          </a:p>
        </p:txBody>
      </p:sp>
      <p:sp>
        <p:nvSpPr>
          <p:cNvPr id="28676" name="Rectangle 4"/>
          <p:cNvSpPr>
            <a:spLocks noGrp="1" noChangeArrowheads="1"/>
          </p:cNvSpPr>
          <p:nvPr>
            <p:ph type="subTitle" idx="1"/>
          </p:nvPr>
        </p:nvSpPr>
        <p:spPr>
          <a:xfrm>
            <a:off x="1132417" y="3049588"/>
            <a:ext cx="8331200" cy="2362200"/>
          </a:xfrm>
        </p:spPr>
        <p:txBody>
          <a:bodyPr/>
          <a:lstStyle>
            <a:lvl1pPr marL="0" indent="0" algn="r">
              <a:buFont typeface="Wingdings"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bwMode="auto">
          <a:xfrm>
            <a:off x="609600" y="6248400"/>
            <a:ext cx="28448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l">
              <a:defRPr sz="1000" b="0"/>
            </a:lvl1pPr>
          </a:lstStyle>
          <a:p>
            <a:pPr>
              <a:defRPr/>
            </a:pPr>
            <a:fld id="{221F92A9-61B3-4CB6-827F-CDE6D187D548}" type="datetime1">
              <a:rPr lang="zh-CN" altLang="en-US" smtClean="0"/>
              <a:t>2024/10/21</a:t>
            </a:fld>
            <a:endParaRPr lang="en-US" altLang="zh-CN"/>
          </a:p>
        </p:txBody>
      </p:sp>
      <p:sp>
        <p:nvSpPr>
          <p:cNvPr id="39" name="Rectangle 6"/>
          <p:cNvSpPr>
            <a:spLocks noGrp="1" noChangeArrowheads="1"/>
          </p:cNvSpPr>
          <p:nvPr>
            <p:ph type="ftr" sz="quarter" idx="11"/>
          </p:nvPr>
        </p:nvSpPr>
        <p:spPr>
          <a:xfrm>
            <a:off x="239184" y="188913"/>
            <a:ext cx="3860800" cy="457200"/>
          </a:xfrm>
        </p:spPr>
        <p:txBody>
          <a:bodyPr/>
          <a:lstStyle>
            <a:lvl1pPr>
              <a:defRPr/>
            </a:lvl1pPr>
          </a:lstStyle>
          <a:p>
            <a:pPr>
              <a:defRPr/>
            </a:pPr>
            <a:endParaRPr lang="en-US" altLang="zh-CN"/>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9416" y="548680"/>
            <a:ext cx="10058400" cy="858837"/>
          </a:xfrm>
        </p:spPr>
        <p:txBody>
          <a:bodyPr/>
          <a:lstStyle>
            <a:lvl1pPr algn="ctr">
              <a:defRPr sz="4000"/>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1"/>
          </p:nvPr>
        </p:nvSpPr>
        <p:spPr>
          <a:xfrm>
            <a:off x="4673600" y="5877272"/>
            <a:ext cx="2844800" cy="457200"/>
          </a:xfrm>
        </p:spPr>
        <p:txBody>
          <a:bodyPr/>
          <a:lstStyle>
            <a:lvl1pPr>
              <a:defRPr/>
            </a:lvl1pPr>
          </a:lstStyle>
          <a:p>
            <a:pPr>
              <a:defRPr/>
            </a:pPr>
            <a:fld id="{110871B5-850E-4E14-A636-3EC679EBF038}" type="slidenum">
              <a:rPr lang="en-US" altLang="zh-CN"/>
              <a:pPr>
                <a:defRPr/>
              </a:pPr>
              <a:t>‹#›</a:t>
            </a:fld>
            <a:endParaRPr lang="en-US" altLang="zh-CN"/>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ftr" sz="quarter" idx="10"/>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1"/>
          </p:nvPr>
        </p:nvSpPr>
        <p:spPr>
          <a:xfrm>
            <a:off x="4722284" y="5877272"/>
            <a:ext cx="2844800" cy="457200"/>
          </a:xfrm>
        </p:spPr>
        <p:txBody>
          <a:bodyPr/>
          <a:lstStyle>
            <a:lvl1pPr>
              <a:defRPr/>
            </a:lvl1pPr>
          </a:lstStyle>
          <a:p>
            <a:pPr>
              <a:defRPr/>
            </a:pPr>
            <a:fld id="{67DF4681-0EF9-4093-ADCE-209947C6A470}" type="slidenum">
              <a:rPr lang="en-US" altLang="zh-CN"/>
              <a:pPr>
                <a:defRPr/>
              </a:pPr>
              <a:t>‹#›</a:t>
            </a:fld>
            <a:endParaRPr lang="en-US" altLang="zh-CN" dirty="0"/>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098551" y="620688"/>
            <a:ext cx="10058400" cy="858837"/>
          </a:xfrm>
        </p:spPr>
        <p:txBody>
          <a:bodyPr/>
          <a:lstStyle>
            <a:lvl1pPr algn="ctr">
              <a:defRPr/>
            </a:lvl1pPr>
          </a:lstStyle>
          <a:p>
            <a:r>
              <a:rPr lang="zh-CN" altLang="en-US" dirty="0"/>
              <a:t>单击此处编辑母版标题样式</a:t>
            </a:r>
          </a:p>
        </p:txBody>
      </p:sp>
      <p:sp>
        <p:nvSpPr>
          <p:cNvPr id="3" name="内容占位符 2"/>
          <p:cNvSpPr>
            <a:spLocks noGrp="1"/>
          </p:cNvSpPr>
          <p:nvPr>
            <p:ph sz="half" idx="1"/>
          </p:nvPr>
        </p:nvSpPr>
        <p:spPr>
          <a:xfrm>
            <a:off x="609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1"/>
          </p:nvPr>
        </p:nvSpPr>
        <p:spPr>
          <a:xfrm>
            <a:off x="4705351" y="5933126"/>
            <a:ext cx="2844800" cy="457200"/>
          </a:xfrm>
        </p:spPr>
        <p:txBody>
          <a:bodyPr/>
          <a:lstStyle>
            <a:lvl1pPr>
              <a:defRPr/>
            </a:lvl1pPr>
          </a:lstStyle>
          <a:p>
            <a:pPr>
              <a:defRPr/>
            </a:pPr>
            <a:fld id="{12FDFE95-E975-478F-A645-7C4EB3F7594E}" type="slidenum">
              <a:rPr lang="en-US" altLang="zh-CN"/>
              <a:pPr>
                <a:defRPr/>
              </a:pPr>
              <a:t>‹#›</a:t>
            </a:fld>
            <a:endParaRPr lang="en-US" altLang="zh-CN"/>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599" y="508934"/>
            <a:ext cx="10972801" cy="1143000"/>
          </a:xfrm>
        </p:spPr>
        <p:txBody>
          <a:bodyPr/>
          <a:lstStyle>
            <a:lvl1pPr algn="ctr">
              <a:defRPr/>
            </a:lvl1pPr>
          </a:lstStyle>
          <a:p>
            <a:r>
              <a:rPr lang="zh-CN" altLang="en-US" dirty="0"/>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ftr" sz="quarter" idx="10"/>
          </p:nvPr>
        </p:nvSpPr>
        <p:spPr/>
        <p:txBody>
          <a:bodyPr/>
          <a:lstStyle>
            <a:lvl1pPr>
              <a:defRPr/>
            </a:lvl1pPr>
          </a:lstStyle>
          <a:p>
            <a:pPr>
              <a:defRPr/>
            </a:pPr>
            <a:endParaRPr lang="en-US" altLang="zh-CN"/>
          </a:p>
        </p:txBody>
      </p:sp>
      <p:sp>
        <p:nvSpPr>
          <p:cNvPr id="8" name="Rectangle 7"/>
          <p:cNvSpPr>
            <a:spLocks noGrp="1" noChangeArrowheads="1"/>
          </p:cNvSpPr>
          <p:nvPr>
            <p:ph type="sldNum" sz="quarter" idx="11"/>
          </p:nvPr>
        </p:nvSpPr>
        <p:spPr/>
        <p:txBody>
          <a:bodyPr/>
          <a:lstStyle>
            <a:lvl1pPr>
              <a:defRPr/>
            </a:lvl1pPr>
          </a:lstStyle>
          <a:p>
            <a:pPr>
              <a:defRPr/>
            </a:pPr>
            <a:fld id="{74E65B35-C933-4A04-A71C-03F9021F5B4F}" type="slidenum">
              <a:rPr lang="en-US" altLang="zh-CN"/>
              <a:pPr>
                <a:defRPr/>
              </a:pPr>
              <a:t>‹#›</a:t>
            </a:fld>
            <a:endParaRPr lang="en-US" altLang="zh-CN"/>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767408" y="764704"/>
            <a:ext cx="10058400" cy="858837"/>
          </a:xfrm>
        </p:spPr>
        <p:txBody>
          <a:bodyPr/>
          <a:lstStyle>
            <a:lvl1pPr algn="ctr">
              <a:defRPr/>
            </a:lvl1pPr>
          </a:lstStyle>
          <a:p>
            <a:r>
              <a:rPr lang="zh-CN" altLang="en-US" dirty="0"/>
              <a:t>单击此处编辑母版标题样式</a:t>
            </a:r>
          </a:p>
        </p:txBody>
      </p:sp>
      <p:sp>
        <p:nvSpPr>
          <p:cNvPr id="3" name="Rectangle 6"/>
          <p:cNvSpPr>
            <a:spLocks noGrp="1" noChangeArrowheads="1"/>
          </p:cNvSpPr>
          <p:nvPr>
            <p:ph type="ftr" sz="quarter" idx="10"/>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1"/>
          </p:nvPr>
        </p:nvSpPr>
        <p:spPr/>
        <p:txBody>
          <a:bodyPr/>
          <a:lstStyle>
            <a:lvl1pPr>
              <a:defRPr/>
            </a:lvl1pPr>
          </a:lstStyle>
          <a:p>
            <a:pPr>
              <a:defRPr/>
            </a:pPr>
            <a:fld id="{BBBB0021-1471-4A19-B058-3F89A7DAB666}" type="slidenum">
              <a:rPr lang="en-US" altLang="zh-CN"/>
              <a:pPr>
                <a:defRPr/>
              </a:pPr>
              <a:t>‹#›</a:t>
            </a:fld>
            <a:endParaRPr lang="en-US" altLang="zh-CN"/>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p:txBody>
          <a:bodyPr/>
          <a:lstStyle>
            <a:lvl1pPr>
              <a:defRPr/>
            </a:lvl1pPr>
          </a:lstStyle>
          <a:p>
            <a:pPr>
              <a:defRPr/>
            </a:pPr>
            <a:endParaRPr lang="en-US" altLang="zh-CN"/>
          </a:p>
        </p:txBody>
      </p:sp>
      <p:sp>
        <p:nvSpPr>
          <p:cNvPr id="3" name="Rectangle 7"/>
          <p:cNvSpPr>
            <a:spLocks noGrp="1" noChangeArrowheads="1"/>
          </p:cNvSpPr>
          <p:nvPr>
            <p:ph type="sldNum" sz="quarter" idx="11"/>
          </p:nvPr>
        </p:nvSpPr>
        <p:spPr/>
        <p:txBody>
          <a:bodyPr/>
          <a:lstStyle>
            <a:lvl1pPr>
              <a:defRPr/>
            </a:lvl1pPr>
          </a:lstStyle>
          <a:p>
            <a:pPr>
              <a:defRPr/>
            </a:pPr>
            <a:fld id="{700C099A-6552-4724-AD39-B0EE2F003FA2}" type="slidenum">
              <a:rPr lang="en-US" altLang="zh-CN"/>
              <a:pPr>
                <a:defRPr/>
              </a:pPr>
              <a:t>‹#›</a:t>
            </a:fld>
            <a:endParaRPr lang="en-US" altLang="zh-CN"/>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2" y="555625"/>
            <a:ext cx="6815667" cy="539365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1"/>
          </p:nvPr>
        </p:nvSpPr>
        <p:spPr/>
        <p:txBody>
          <a:bodyPr/>
          <a:lstStyle>
            <a:lvl1pPr>
              <a:defRPr/>
            </a:lvl1pPr>
          </a:lstStyle>
          <a:p>
            <a:pPr>
              <a:defRPr/>
            </a:pPr>
            <a:fld id="{7ACCEEF5-A4E8-4B38-9B9A-645F7197AB0D}" type="slidenum">
              <a:rPr lang="en-US" altLang="zh-CN"/>
              <a:pPr>
                <a:defRPr/>
              </a:pPr>
              <a:t>‹#›</a:t>
            </a:fld>
            <a:endParaRPr lang="en-US" altLang="zh-CN"/>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055440" y="612775"/>
            <a:ext cx="972107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1"/>
          </p:nvPr>
        </p:nvSpPr>
        <p:spPr>
          <a:xfrm>
            <a:off x="4673600" y="5924128"/>
            <a:ext cx="2844800" cy="457200"/>
          </a:xfrm>
        </p:spPr>
        <p:txBody>
          <a:bodyPr/>
          <a:lstStyle>
            <a:lvl1pPr>
              <a:defRPr/>
            </a:lvl1pPr>
          </a:lstStyle>
          <a:p>
            <a:pPr>
              <a:defRPr/>
            </a:pPr>
            <a:fld id="{0440781A-A4F2-4A76-904B-091E0D892C1E}" type="slidenum">
              <a:rPr lang="en-US" altLang="zh-CN"/>
              <a:pPr>
                <a:defRPr/>
              </a:pPr>
              <a:t>‹#›</a:t>
            </a:fld>
            <a:endParaRPr lang="en-US" altLang="zh-CN" dirty="0"/>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731404" y="548680"/>
            <a:ext cx="10729192" cy="858837"/>
          </a:xfrm>
        </p:spPr>
        <p:txBody>
          <a:bodyPr/>
          <a:lstStyle>
            <a:lvl1pPr algn="ctr">
              <a:defRPr/>
            </a:lvl1pPr>
          </a:lstStyle>
          <a:p>
            <a:r>
              <a:rPr lang="zh-CN" altLang="en-US" dirty="0"/>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1"/>
          </p:nvPr>
        </p:nvSpPr>
        <p:spPr>
          <a:xfrm>
            <a:off x="4673600" y="5934491"/>
            <a:ext cx="2844800" cy="457200"/>
          </a:xfrm>
        </p:spPr>
        <p:txBody>
          <a:bodyPr/>
          <a:lstStyle>
            <a:lvl1pPr>
              <a:defRPr/>
            </a:lvl1pPr>
          </a:lstStyle>
          <a:p>
            <a:pPr>
              <a:defRPr/>
            </a:pPr>
            <a:fld id="{673C00A0-2C46-4087-9057-200FC475DE87}" type="slidenum">
              <a:rPr lang="en-US" altLang="zh-CN"/>
              <a:pPr>
                <a:defRPr/>
              </a:pPr>
              <a:t>‹#›</a:t>
            </a:fld>
            <a:endParaRPr lang="en-US" altLang="zh-CN"/>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122239"/>
            <a:ext cx="2743200" cy="6008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92151" y="467001"/>
            <a:ext cx="8026400" cy="6008687"/>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ftr" sz="quarter" idx="10"/>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1"/>
          </p:nvPr>
        </p:nvSpPr>
        <p:spPr>
          <a:xfrm>
            <a:off x="4732311" y="5861205"/>
            <a:ext cx="2844800" cy="457200"/>
          </a:xfrm>
        </p:spPr>
        <p:txBody>
          <a:bodyPr/>
          <a:lstStyle>
            <a:lvl1pPr>
              <a:defRPr/>
            </a:lvl1pPr>
          </a:lstStyle>
          <a:p>
            <a:pPr>
              <a:defRPr/>
            </a:pPr>
            <a:fld id="{BECDF150-94D8-4D32-8C0D-14E98644416A}" type="slidenum">
              <a:rPr lang="en-US" altLang="zh-CN"/>
              <a:pPr>
                <a:defRPr/>
              </a:pPr>
              <a:t>‹#›</a:t>
            </a:fld>
            <a:endParaRPr lang="en-US" altLang="zh-CN"/>
          </a:p>
        </p:txBody>
      </p:sp>
    </p:spTree>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39416" y="620688"/>
            <a:ext cx="10585176" cy="858837"/>
          </a:xfrm>
        </p:spPr>
        <p:txBody>
          <a:bodyPr/>
          <a:lstStyle>
            <a:lvl1pPr algn="ctr">
              <a:defRPr/>
            </a:lvl1pPr>
          </a:lstStyle>
          <a:p>
            <a:r>
              <a:rPr lang="zh-CN" altLang="en-US" dirty="0"/>
              <a:t>单击此处编辑母版标题样式</a:t>
            </a:r>
          </a:p>
        </p:txBody>
      </p:sp>
      <p:sp>
        <p:nvSpPr>
          <p:cNvPr id="3" name="文本占位符 2"/>
          <p:cNvSpPr>
            <a:spLocks noGrp="1"/>
          </p:cNvSpPr>
          <p:nvPr>
            <p:ph type="body" sz="half" idx="1"/>
          </p:nvPr>
        </p:nvSpPr>
        <p:spPr>
          <a:xfrm>
            <a:off x="609600" y="1719263"/>
            <a:ext cx="53848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1"/>
          </p:nvPr>
        </p:nvSpPr>
        <p:spPr>
          <a:xfrm>
            <a:off x="4775200" y="5902325"/>
            <a:ext cx="2844800" cy="457200"/>
          </a:xfrm>
        </p:spPr>
        <p:txBody>
          <a:bodyPr/>
          <a:lstStyle>
            <a:lvl1pPr>
              <a:defRPr/>
            </a:lvl1pPr>
          </a:lstStyle>
          <a:p>
            <a:pPr>
              <a:defRPr/>
            </a:pPr>
            <a:fld id="{B79023B1-0CB4-4C69-A1E8-9B75F5986AF7}" type="slidenum">
              <a:rPr lang="en-US" altLang="zh-CN"/>
              <a:pPr>
                <a:defRPr/>
              </a:pPr>
              <a:t>‹#›</a:t>
            </a:fld>
            <a:endParaRPr lang="en-US" altLang="zh-CN"/>
          </a:p>
        </p:txBody>
      </p:sp>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Media" preserve="1">
  <p:cSld name="标题，文本与媒体剪辑">
    <p:spTree>
      <p:nvGrpSpPr>
        <p:cNvPr id="1" name=""/>
        <p:cNvGrpSpPr/>
        <p:nvPr/>
      </p:nvGrpSpPr>
      <p:grpSpPr>
        <a:xfrm>
          <a:off x="0" y="0"/>
          <a:ext cx="0" cy="0"/>
          <a:chOff x="0" y="0"/>
          <a:chExt cx="0" cy="0"/>
        </a:xfrm>
      </p:grpSpPr>
      <p:sp>
        <p:nvSpPr>
          <p:cNvPr id="2" name="标题 1"/>
          <p:cNvSpPr>
            <a:spLocks noGrp="1"/>
          </p:cNvSpPr>
          <p:nvPr>
            <p:ph type="title"/>
          </p:nvPr>
        </p:nvSpPr>
        <p:spPr>
          <a:xfrm>
            <a:off x="983432" y="685035"/>
            <a:ext cx="10225136" cy="858837"/>
          </a:xfrm>
        </p:spPr>
        <p:txBody>
          <a:bodyPr/>
          <a:lstStyle>
            <a:lvl1pPr algn="ctr">
              <a:defRPr/>
            </a:lvl1pPr>
          </a:lstStyle>
          <a:p>
            <a:r>
              <a:rPr lang="zh-CN" altLang="en-US" dirty="0"/>
              <a:t>单击此处编辑母版标题样式</a:t>
            </a:r>
          </a:p>
        </p:txBody>
      </p:sp>
      <p:sp>
        <p:nvSpPr>
          <p:cNvPr id="3" name="文本占位符 2"/>
          <p:cNvSpPr>
            <a:spLocks noGrp="1"/>
          </p:cNvSpPr>
          <p:nvPr>
            <p:ph type="body" sz="half" idx="1"/>
          </p:nvPr>
        </p:nvSpPr>
        <p:spPr>
          <a:xfrm>
            <a:off x="609600" y="1719263"/>
            <a:ext cx="53848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媒体占位符 3"/>
          <p:cNvSpPr>
            <a:spLocks noGrp="1"/>
          </p:cNvSpPr>
          <p:nvPr>
            <p:ph type="media" sz="half" idx="2"/>
          </p:nvPr>
        </p:nvSpPr>
        <p:spPr>
          <a:xfrm>
            <a:off x="6197600" y="1719263"/>
            <a:ext cx="5384800" cy="4411662"/>
          </a:xfrm>
        </p:spPr>
        <p:txBody>
          <a:bodyPr/>
          <a:lstStyle/>
          <a:p>
            <a:pPr lvl="0"/>
            <a:endParaRPr lang="zh-CN" altLang="en-US" noProof="0"/>
          </a:p>
        </p:txBody>
      </p:sp>
      <p:sp>
        <p:nvSpPr>
          <p:cNvPr id="5" name="Rectangle 6"/>
          <p:cNvSpPr>
            <a:spLocks noGrp="1" noChangeArrowheads="1"/>
          </p:cNvSpPr>
          <p:nvPr>
            <p:ph type="ftr" sz="quarter" idx="10"/>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1"/>
          </p:nvPr>
        </p:nvSpPr>
        <p:spPr>
          <a:xfrm>
            <a:off x="4775200" y="5842612"/>
            <a:ext cx="2844800" cy="457200"/>
          </a:xfrm>
        </p:spPr>
        <p:txBody>
          <a:bodyPr/>
          <a:lstStyle>
            <a:lvl1pPr>
              <a:defRPr/>
            </a:lvl1pPr>
          </a:lstStyle>
          <a:p>
            <a:pPr>
              <a:defRPr/>
            </a:pPr>
            <a:fld id="{C16F5EE4-F81D-4B65-813D-8973884A9E34}" type="slidenum">
              <a:rPr lang="en-US" altLang="zh-CN"/>
              <a:pPr>
                <a:defRPr/>
              </a:pPr>
              <a:t>‹#›</a:t>
            </a:fld>
            <a:endParaRPr lang="en-US" altLang="zh-CN"/>
          </a:p>
        </p:txBody>
      </p:sp>
    </p:spTree>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1424" y="620688"/>
            <a:ext cx="10369152" cy="858837"/>
          </a:xfrm>
        </p:spPr>
        <p:txBody>
          <a:bodyPr/>
          <a:lstStyle>
            <a:lvl1pPr algn="ctr">
              <a:defRPr/>
            </a:lvl1pPr>
          </a:lstStyle>
          <a:p>
            <a:r>
              <a:rPr lang="zh-CN" altLang="en-US" dirty="0"/>
              <a:t>单击此处编辑母版标题样式</a:t>
            </a:r>
          </a:p>
        </p:txBody>
      </p:sp>
      <p:sp>
        <p:nvSpPr>
          <p:cNvPr id="3" name="表格占位符 2"/>
          <p:cNvSpPr>
            <a:spLocks noGrp="1"/>
          </p:cNvSpPr>
          <p:nvPr>
            <p:ph type="tbl" idx="1"/>
          </p:nvPr>
        </p:nvSpPr>
        <p:spPr>
          <a:xfrm>
            <a:off x="609600" y="1719263"/>
            <a:ext cx="10972800" cy="4411662"/>
          </a:xfrm>
        </p:spPr>
        <p:txBody>
          <a:bodyPr/>
          <a:lstStyle/>
          <a:p>
            <a:pPr lvl="0"/>
            <a:endParaRPr lang="zh-CN" altLang="en-US" noProof="0"/>
          </a:p>
        </p:txBody>
      </p:sp>
      <p:sp>
        <p:nvSpPr>
          <p:cNvPr id="4" name="Rectangle 6"/>
          <p:cNvSpPr>
            <a:spLocks noGrp="1" noChangeArrowheads="1"/>
          </p:cNvSpPr>
          <p:nvPr>
            <p:ph type="ftr" sz="quarter" idx="10"/>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1"/>
          </p:nvPr>
        </p:nvSpPr>
        <p:spPr>
          <a:xfrm>
            <a:off x="4673600" y="5780112"/>
            <a:ext cx="2844800" cy="457200"/>
          </a:xfrm>
        </p:spPr>
        <p:txBody>
          <a:bodyPr/>
          <a:lstStyle>
            <a:lvl1pPr>
              <a:defRPr/>
            </a:lvl1pPr>
          </a:lstStyle>
          <a:p>
            <a:pPr>
              <a:defRPr/>
            </a:pPr>
            <a:fld id="{6614ACCD-D9C7-48A9-AF67-F346CBBA37AF}" type="slidenum">
              <a:rPr lang="en-US" altLang="zh-CN"/>
              <a:pPr>
                <a:defRPr/>
              </a:pPr>
              <a:t>‹#›</a:t>
            </a:fld>
            <a:endParaRPr lang="en-US" altLang="zh-CN"/>
          </a:p>
        </p:txBody>
      </p:sp>
    </p:spTree>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1"/>
          </p:nvPr>
        </p:nvSpPr>
        <p:spPr>
          <a:ln/>
        </p:spPr>
        <p:txBody>
          <a:bodyPr/>
          <a:lstStyle>
            <a:lvl1pPr>
              <a:defRPr/>
            </a:lvl1pPr>
          </a:lstStyle>
          <a:p>
            <a:pPr>
              <a:defRPr/>
            </a:pPr>
            <a:fld id="{D7E199F4-F9C2-47F3-A9CF-C7E61E01A2A8}" type="slidenum">
              <a:rPr lang="en-US" altLang="zh-CN"/>
              <a:pPr>
                <a:defRPr/>
              </a:pPr>
              <a:t>‹#›</a:t>
            </a:fld>
            <a:endParaRPr lang="en-US" altLang="zh-CN"/>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1"/>
          </p:nvPr>
        </p:nvSpPr>
        <p:spPr>
          <a:ln/>
        </p:spPr>
        <p:txBody>
          <a:bodyPr/>
          <a:lstStyle>
            <a:lvl1pPr>
              <a:defRPr/>
            </a:lvl1pPr>
          </a:lstStyle>
          <a:p>
            <a:pPr>
              <a:defRPr/>
            </a:pPr>
            <a:fld id="{46CF5370-F617-452E-810F-51450643CFF6}" type="slidenum">
              <a:rPr lang="en-US" altLang="zh-CN"/>
              <a:pPr>
                <a:defRPr/>
              </a:pPr>
              <a:t>‹#›</a:t>
            </a:fld>
            <a:endParaRPr lang="en-US" altLang="zh-CN"/>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1"/>
          </p:nvPr>
        </p:nvSpPr>
        <p:spPr>
          <a:ln/>
        </p:spPr>
        <p:txBody>
          <a:bodyPr/>
          <a:lstStyle>
            <a:lvl1pPr>
              <a:defRPr/>
            </a:lvl1pPr>
          </a:lstStyle>
          <a:p>
            <a:pPr>
              <a:defRPr/>
            </a:pPr>
            <a:fld id="{0DC2A26A-A11D-4C40-BEE9-C2540F45426C}" type="slidenum">
              <a:rPr lang="en-US" altLang="zh-CN"/>
              <a:pPr>
                <a:defRPr/>
              </a:pPr>
              <a:t>‹#›</a:t>
            </a:fld>
            <a:endParaRPr lang="en-US" altLang="zh-CN"/>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1"/>
          </p:nvPr>
        </p:nvSpPr>
        <p:spPr>
          <a:ln/>
        </p:spPr>
        <p:txBody>
          <a:bodyPr/>
          <a:lstStyle>
            <a:lvl1pPr>
              <a:defRPr/>
            </a:lvl1pPr>
          </a:lstStyle>
          <a:p>
            <a:pPr>
              <a:defRPr/>
            </a:pPr>
            <a:fld id="{60250AA8-0700-402F-A230-C897B65B06C7}" type="slidenum">
              <a:rPr lang="en-US" altLang="zh-CN"/>
              <a:pPr>
                <a:defRPr/>
              </a:pPr>
              <a:t>‹#›</a:t>
            </a:fld>
            <a:endParaRPr lang="en-US" altLang="zh-CN"/>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9134805" cy="1143000"/>
          </a:xfrm>
        </p:spPr>
        <p:txBody>
          <a:bodyPr/>
          <a:lstStyle>
            <a:lvl1pPr>
              <a:defRPr/>
            </a:lvl1pPr>
          </a:lstStyle>
          <a:p>
            <a:r>
              <a:rPr lang="zh-CN" altLang="en-US" dirty="0"/>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7"/>
          <p:cNvSpPr>
            <a:spLocks noGrp="1" noChangeArrowheads="1"/>
          </p:cNvSpPr>
          <p:nvPr>
            <p:ph type="sldNum" sz="quarter" idx="11"/>
          </p:nvPr>
        </p:nvSpPr>
        <p:spPr>
          <a:ln/>
        </p:spPr>
        <p:txBody>
          <a:bodyPr/>
          <a:lstStyle>
            <a:lvl1pPr>
              <a:defRPr/>
            </a:lvl1pPr>
          </a:lstStyle>
          <a:p>
            <a:pPr>
              <a:defRPr/>
            </a:pPr>
            <a:fld id="{E78EC45F-5BC3-4AFD-AE53-C02A6CCE0A72}" type="slidenum">
              <a:rPr lang="en-US" altLang="zh-CN"/>
              <a:pPr>
                <a:defRPr/>
              </a:pPr>
              <a:t>‹#›</a:t>
            </a:fld>
            <a:endParaRPr lang="en-US" altLang="zh-CN"/>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1"/>
          </p:nvPr>
        </p:nvSpPr>
        <p:spPr>
          <a:ln/>
        </p:spPr>
        <p:txBody>
          <a:bodyPr/>
          <a:lstStyle>
            <a:lvl1pPr>
              <a:defRPr/>
            </a:lvl1pPr>
          </a:lstStyle>
          <a:p>
            <a:pPr>
              <a:defRPr/>
            </a:pPr>
            <a:fld id="{FCA8214C-F769-43E3-96E2-59F4E44E6C02}" type="slidenum">
              <a:rPr lang="en-US" altLang="zh-CN"/>
              <a:pPr>
                <a:defRPr/>
              </a:pPr>
              <a:t>‹#›</a:t>
            </a:fld>
            <a:endParaRPr lang="en-US" altLang="zh-CN"/>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7"/>
          <p:cNvSpPr>
            <a:spLocks noGrp="1" noChangeArrowheads="1"/>
          </p:cNvSpPr>
          <p:nvPr>
            <p:ph type="sldNum" sz="quarter" idx="11"/>
          </p:nvPr>
        </p:nvSpPr>
        <p:spPr>
          <a:ln/>
        </p:spPr>
        <p:txBody>
          <a:bodyPr/>
          <a:lstStyle>
            <a:lvl1pPr>
              <a:defRPr/>
            </a:lvl1pPr>
          </a:lstStyle>
          <a:p>
            <a:pPr>
              <a:defRPr/>
            </a:pPr>
            <a:fld id="{76CE68C6-869C-40A5-9B67-E3B41CE595A1}" type="slidenum">
              <a:rPr lang="en-US" altLang="zh-CN"/>
              <a:pPr>
                <a:defRPr/>
              </a:pPr>
              <a:t>‹#›</a:t>
            </a:fld>
            <a:endParaRPr lang="en-US" altLang="zh-CN"/>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7"/>
          <p:cNvSpPr>
            <a:spLocks noGrp="1" noChangeArrowheads="1"/>
          </p:cNvSpPr>
          <p:nvPr>
            <p:ph type="sldNum" sz="quarter" idx="11"/>
          </p:nvPr>
        </p:nvSpPr>
        <p:spPr>
          <a:ln/>
        </p:spPr>
        <p:txBody>
          <a:bodyPr/>
          <a:lstStyle>
            <a:lvl1pPr>
              <a:defRPr/>
            </a:lvl1pPr>
          </a:lstStyle>
          <a:p>
            <a:pPr>
              <a:defRPr/>
            </a:pPr>
            <a:fld id="{76CE68C6-869C-40A5-9B67-E3B41CE595A1}" type="slidenum">
              <a:rPr lang="en-US" altLang="zh-CN"/>
              <a:pPr>
                <a:defRPr/>
              </a:pPr>
              <a:t>‹#›</a:t>
            </a:fld>
            <a:endParaRPr lang="en-US" altLang="zh-CN"/>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1"/>
          </p:nvPr>
        </p:nvSpPr>
        <p:spPr>
          <a:ln/>
        </p:spPr>
        <p:txBody>
          <a:bodyPr/>
          <a:lstStyle>
            <a:lvl1pPr>
              <a:defRPr/>
            </a:lvl1pPr>
          </a:lstStyle>
          <a:p>
            <a:pPr>
              <a:defRPr/>
            </a:pPr>
            <a:fld id="{4015DD36-B387-4528-8554-6653607938B2}" type="slidenum">
              <a:rPr lang="en-US" altLang="zh-CN"/>
              <a:pPr>
                <a:defRPr/>
              </a:pPr>
              <a:t>‹#›</a:t>
            </a:fld>
            <a:endParaRPr lang="en-US" altLang="zh-CN"/>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1"/>
          </p:nvPr>
        </p:nvSpPr>
        <p:spPr>
          <a:ln/>
        </p:spPr>
        <p:txBody>
          <a:bodyPr/>
          <a:lstStyle>
            <a:lvl1pPr>
              <a:defRPr/>
            </a:lvl1pPr>
          </a:lstStyle>
          <a:p>
            <a:pPr>
              <a:defRPr/>
            </a:pPr>
            <a:fld id="{1983FD14-5D83-42E5-805D-56005BCDE088}" type="slidenum">
              <a:rPr lang="en-US" altLang="zh-CN"/>
              <a:pPr>
                <a:defRPr/>
              </a:pPr>
              <a:t>‹#›</a:t>
            </a:fld>
            <a:endParaRPr lang="en-US" altLang="zh-CN"/>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1"/>
          </p:nvPr>
        </p:nvSpPr>
        <p:spPr>
          <a:ln/>
        </p:spPr>
        <p:txBody>
          <a:bodyPr/>
          <a:lstStyle>
            <a:lvl1pPr>
              <a:defRPr/>
            </a:lvl1pPr>
          </a:lstStyle>
          <a:p>
            <a:pPr>
              <a:defRPr/>
            </a:pPr>
            <a:fld id="{55D4D261-371C-478E-9D92-CC4BEDE0F769}" type="slidenum">
              <a:rPr lang="en-US" altLang="zh-CN"/>
              <a:pPr>
                <a:defRPr/>
              </a:pPr>
              <a:t>‹#›</a:t>
            </a:fld>
            <a:endParaRPr lang="en-US" altLang="zh-CN"/>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122239"/>
            <a:ext cx="2743200" cy="6008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122239"/>
            <a:ext cx="8026400" cy="60086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1"/>
          </p:nvPr>
        </p:nvSpPr>
        <p:spPr>
          <a:ln/>
        </p:spPr>
        <p:txBody>
          <a:bodyPr/>
          <a:lstStyle>
            <a:lvl1pPr>
              <a:defRPr/>
            </a:lvl1pPr>
          </a:lstStyle>
          <a:p>
            <a:pPr>
              <a:defRPr/>
            </a:pPr>
            <a:fld id="{126A5805-CF17-4D74-92E1-6F9D498D634E}" type="slidenum">
              <a:rPr lang="en-US" altLang="zh-CN"/>
              <a:pPr>
                <a:defRPr/>
              </a:pPr>
              <a:t>‹#›</a:t>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l="-1000" r="-1000"/>
          </a:stretch>
        </a:blip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C5600AC-75CF-ABFA-4524-8C9DAED3BB06}"/>
              </a:ext>
            </a:extLst>
          </p:cNvPr>
          <p:cNvSpPr/>
          <p:nvPr userDrawn="1"/>
        </p:nvSpPr>
        <p:spPr>
          <a:xfrm>
            <a:off x="533400" y="601659"/>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50" name="Rectangle 3"/>
          <p:cNvSpPr>
            <a:spLocks noGrp="1" noChangeArrowheads="1"/>
          </p:cNvSpPr>
          <p:nvPr>
            <p:ph type="title"/>
          </p:nvPr>
        </p:nvSpPr>
        <p:spPr bwMode="auto">
          <a:xfrm>
            <a:off x="983432" y="548680"/>
            <a:ext cx="10058400"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2051" name="Rectangle 4"/>
          <p:cNvSpPr>
            <a:spLocks noGrp="1" noChangeArrowheads="1"/>
          </p:cNvSpPr>
          <p:nvPr>
            <p:ph type="body" idx="1"/>
          </p:nvPr>
        </p:nvSpPr>
        <p:spPr bwMode="auto">
          <a:xfrm>
            <a:off x="609600" y="1719263"/>
            <a:ext cx="109728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7654" name="Rectangle 6"/>
          <p:cNvSpPr>
            <a:spLocks noGrp="1" noChangeArrowheads="1"/>
          </p:cNvSpPr>
          <p:nvPr>
            <p:ph type="ftr" sz="quarter" idx="3"/>
          </p:nvPr>
        </p:nvSpPr>
        <p:spPr bwMode="auto">
          <a:xfrm>
            <a:off x="304800" y="6180138"/>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2000" b="0">
                <a:ea typeface="+mn-ea"/>
              </a:defRPr>
            </a:lvl1pPr>
          </a:lstStyle>
          <a:p>
            <a:pPr>
              <a:defRPr/>
            </a:pPr>
            <a:endParaRPr lang="en-US" altLang="zh-CN"/>
          </a:p>
        </p:txBody>
      </p:sp>
      <p:sp>
        <p:nvSpPr>
          <p:cNvPr id="27655" name="Rectangle 7"/>
          <p:cNvSpPr>
            <a:spLocks noGrp="1" noChangeArrowheads="1"/>
          </p:cNvSpPr>
          <p:nvPr>
            <p:ph type="sldNum" sz="quarter" idx="4"/>
          </p:nvPr>
        </p:nvSpPr>
        <p:spPr bwMode="auto">
          <a:xfrm>
            <a:off x="4799856" y="582168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600" b="1"/>
            </a:lvl1pPr>
          </a:lstStyle>
          <a:p>
            <a:pPr>
              <a:defRPr/>
            </a:pPr>
            <a:fld id="{F1DF145E-C5AF-4A14-B9F0-BF7FA680051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Lst>
  <p:transition/>
  <p:hf hdr="0" ftr="0" dt="0"/>
  <p:txStyles>
    <p:titleStyle>
      <a:lvl1pPr algn="ctr" rtl="0" eaLnBrk="0" fontAlgn="base" hangingPunct="0">
        <a:spcBef>
          <a:spcPct val="0"/>
        </a:spcBef>
        <a:spcAft>
          <a:spcPct val="0"/>
        </a:spcAft>
        <a:defRPr sz="42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b="1">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b="1">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b="1">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b="1">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3"/>
          <p:cNvSpPr>
            <a:spLocks noGrp="1" noChangeArrowheads="1"/>
          </p:cNvSpPr>
          <p:nvPr>
            <p:ph type="title"/>
          </p:nvPr>
        </p:nvSpPr>
        <p:spPr bwMode="auto">
          <a:xfrm>
            <a:off x="609600" y="122239"/>
            <a:ext cx="10972800"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3075" name="Rectangle 4"/>
          <p:cNvSpPr>
            <a:spLocks noGrp="1" noChangeArrowheads="1"/>
          </p:cNvSpPr>
          <p:nvPr>
            <p:ph type="body" idx="1"/>
          </p:nvPr>
        </p:nvSpPr>
        <p:spPr bwMode="auto">
          <a:xfrm>
            <a:off x="609600" y="1719263"/>
            <a:ext cx="109728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7654" name="Rectangle 6"/>
          <p:cNvSpPr>
            <a:spLocks noGrp="1" noChangeArrowheads="1"/>
          </p:cNvSpPr>
          <p:nvPr>
            <p:ph type="ftr" sz="quarter" idx="3"/>
          </p:nvPr>
        </p:nvSpPr>
        <p:spPr bwMode="auto">
          <a:xfrm>
            <a:off x="304800" y="6180138"/>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2000" b="0">
                <a:ea typeface="+mn-ea"/>
              </a:defRPr>
            </a:lvl1pPr>
          </a:lstStyle>
          <a:p>
            <a:pPr>
              <a:defRPr/>
            </a:pPr>
            <a:endParaRPr lang="en-US" altLang="zh-CN"/>
          </a:p>
        </p:txBody>
      </p:sp>
      <p:sp>
        <p:nvSpPr>
          <p:cNvPr id="27655" name="Rectangle 7"/>
          <p:cNvSpPr>
            <a:spLocks noGrp="1" noChangeArrowheads="1"/>
          </p:cNvSpPr>
          <p:nvPr>
            <p:ph type="sldNum" sz="quarter" idx="4"/>
          </p:nvPr>
        </p:nvSpPr>
        <p:spPr bwMode="auto">
          <a:xfrm>
            <a:off x="4705351" y="6240463"/>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600" b="1"/>
            </a:lvl1pPr>
          </a:lstStyle>
          <a:p>
            <a:pPr>
              <a:defRPr/>
            </a:pPr>
            <a:fld id="{49D54238-E30E-46E7-B70F-7CD95595695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60" r:id="rId8"/>
    <p:sldLayoutId id="2147483742" r:id="rId9"/>
    <p:sldLayoutId id="2147483743" r:id="rId10"/>
    <p:sldLayoutId id="2147483744" r:id="rId11"/>
    <p:sldLayoutId id="2147483745" r:id="rId12"/>
  </p:sldLayoutIdLst>
  <p:transition/>
  <p:hf hdr="0" ftr="0" dt="0"/>
  <p:txStyles>
    <p:titleStyle>
      <a:lvl1pPr algn="ctr" rtl="0" eaLnBrk="0" fontAlgn="base" hangingPunct="0">
        <a:spcBef>
          <a:spcPct val="0"/>
        </a:spcBef>
        <a:spcAft>
          <a:spcPct val="0"/>
        </a:spcAft>
        <a:defRPr sz="42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宋体" pitchFamily="2" charset="-122"/>
        </a:defRPr>
      </a:lvl2pPr>
      <a:lvl3pPr algn="l" rtl="0" eaLnBrk="0" fontAlgn="base" hangingPunct="0">
        <a:spcBef>
          <a:spcPct val="0"/>
        </a:spcBef>
        <a:spcAft>
          <a:spcPct val="0"/>
        </a:spcAft>
        <a:defRPr sz="4200" b="1">
          <a:solidFill>
            <a:schemeClr val="tx1"/>
          </a:solidFill>
          <a:latin typeface="Arial" charset="0"/>
          <a:ea typeface="宋体" pitchFamily="2" charset="-122"/>
        </a:defRPr>
      </a:lvl3pPr>
      <a:lvl4pPr algn="l" rtl="0" eaLnBrk="0" fontAlgn="base" hangingPunct="0">
        <a:spcBef>
          <a:spcPct val="0"/>
        </a:spcBef>
        <a:spcAft>
          <a:spcPct val="0"/>
        </a:spcAft>
        <a:defRPr sz="4200" b="1">
          <a:solidFill>
            <a:schemeClr val="tx1"/>
          </a:solidFill>
          <a:latin typeface="Arial" charset="0"/>
          <a:ea typeface="宋体" pitchFamily="2" charset="-122"/>
        </a:defRPr>
      </a:lvl4pPr>
      <a:lvl5pPr algn="l" rtl="0" eaLnBrk="0" fontAlgn="base" hangingPunct="0">
        <a:spcBef>
          <a:spcPct val="0"/>
        </a:spcBef>
        <a:spcAft>
          <a:spcPct val="0"/>
        </a:spcAft>
        <a:defRPr sz="4200" b="1">
          <a:solidFill>
            <a:schemeClr val="tx1"/>
          </a:solidFill>
          <a:latin typeface="Arial" charset="0"/>
          <a:ea typeface="宋体" pitchFamily="2" charset="-122"/>
        </a:defRPr>
      </a:lvl5pPr>
      <a:lvl6pPr marL="457200" algn="l" rtl="0" fontAlgn="base">
        <a:spcBef>
          <a:spcPct val="0"/>
        </a:spcBef>
        <a:spcAft>
          <a:spcPct val="0"/>
        </a:spcAft>
        <a:defRPr sz="4200" b="1">
          <a:solidFill>
            <a:schemeClr val="tx1"/>
          </a:solidFill>
          <a:latin typeface="Arial" charset="0"/>
          <a:ea typeface="宋体" pitchFamily="2" charset="-122"/>
        </a:defRPr>
      </a:lvl6pPr>
      <a:lvl7pPr marL="914400" algn="l" rtl="0" fontAlgn="base">
        <a:spcBef>
          <a:spcPct val="0"/>
        </a:spcBef>
        <a:spcAft>
          <a:spcPct val="0"/>
        </a:spcAft>
        <a:defRPr sz="4200" b="1">
          <a:solidFill>
            <a:schemeClr val="tx1"/>
          </a:solidFill>
          <a:latin typeface="Arial" charset="0"/>
          <a:ea typeface="宋体" pitchFamily="2" charset="-122"/>
        </a:defRPr>
      </a:lvl7pPr>
      <a:lvl8pPr marL="1371600" algn="l" rtl="0" fontAlgn="base">
        <a:spcBef>
          <a:spcPct val="0"/>
        </a:spcBef>
        <a:spcAft>
          <a:spcPct val="0"/>
        </a:spcAft>
        <a:defRPr sz="4200" b="1">
          <a:solidFill>
            <a:schemeClr val="tx1"/>
          </a:solidFill>
          <a:latin typeface="Arial" charset="0"/>
          <a:ea typeface="宋体" pitchFamily="2" charset="-122"/>
        </a:defRPr>
      </a:lvl8pPr>
      <a:lvl9pPr marL="1828800" algn="l" rtl="0" fontAlgn="base">
        <a:spcBef>
          <a:spcPct val="0"/>
        </a:spcBef>
        <a:spcAft>
          <a:spcPct val="0"/>
        </a:spcAft>
        <a:defRPr sz="4200" b="1">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b="1">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b="1">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b="1">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b="1">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ctrTitle"/>
          </p:nvPr>
        </p:nvSpPr>
        <p:spPr>
          <a:xfrm>
            <a:off x="1343026" y="1438722"/>
            <a:ext cx="6911975" cy="1846262"/>
          </a:xfrm>
        </p:spPr>
        <p:txBody>
          <a:bodyPr/>
          <a:lstStyle/>
          <a:p>
            <a:pPr algn="ctr" eaLnBrk="1" hangingPunct="1"/>
            <a:r>
              <a:rPr lang="en-US" altLang="zh-CN" sz="5000" dirty="0"/>
              <a:t>       </a:t>
            </a:r>
            <a:r>
              <a:rPr lang="zh-CN" altLang="en-US" sz="5400" dirty="0">
                <a:solidFill>
                  <a:schemeClr val="bg1"/>
                </a:solidFill>
              </a:rPr>
              <a:t>第</a:t>
            </a:r>
            <a:r>
              <a:rPr lang="en-US" altLang="zh-CN" sz="5400" dirty="0">
                <a:solidFill>
                  <a:schemeClr val="bg1"/>
                </a:solidFill>
              </a:rPr>
              <a:t>7</a:t>
            </a:r>
            <a:r>
              <a:rPr lang="zh-CN" altLang="en-US" sz="5400" dirty="0">
                <a:solidFill>
                  <a:schemeClr val="bg1"/>
                </a:solidFill>
              </a:rPr>
              <a:t>章</a:t>
            </a:r>
            <a:br>
              <a:rPr lang="en-US" altLang="zh-CN" sz="5400" dirty="0"/>
            </a:br>
            <a:r>
              <a:rPr lang="en-US" altLang="zh-CN" sz="5400" dirty="0"/>
              <a:t>      </a:t>
            </a:r>
            <a:endParaRPr lang="zh-CN" altLang="en-US" sz="4200" dirty="0"/>
          </a:p>
        </p:txBody>
      </p:sp>
      <p:sp>
        <p:nvSpPr>
          <p:cNvPr id="18436" name="Rectangle 3"/>
          <p:cNvSpPr>
            <a:spLocks noGrp="1" noChangeArrowheads="1"/>
          </p:cNvSpPr>
          <p:nvPr>
            <p:ph type="subTitle" idx="1"/>
          </p:nvPr>
        </p:nvSpPr>
        <p:spPr>
          <a:xfrm>
            <a:off x="2506663" y="2919413"/>
            <a:ext cx="6248400" cy="2449512"/>
          </a:xfrm>
        </p:spPr>
        <p:txBody>
          <a:bodyPr/>
          <a:lstStyle/>
          <a:p>
            <a:pPr algn="ctr" eaLnBrk="1" hangingPunct="1"/>
            <a:r>
              <a:rPr lang="en-US" altLang="zh-CN" sz="5400" dirty="0">
                <a:solidFill>
                  <a:schemeClr val="bg1"/>
                </a:solidFill>
                <a:latin typeface="黑体" pitchFamily="2" charset="-122"/>
              </a:rPr>
              <a:t>Linux</a:t>
            </a:r>
            <a:r>
              <a:rPr lang="zh-CN" altLang="en-US" sz="5400" dirty="0">
                <a:solidFill>
                  <a:schemeClr val="bg1"/>
                </a:solidFill>
                <a:latin typeface="黑体" pitchFamily="2" charset="-122"/>
              </a:rPr>
              <a:t>进程</a:t>
            </a:r>
          </a:p>
          <a:p>
            <a:pPr algn="ctr" eaLnBrk="1" hangingPunct="1"/>
            <a:endParaRPr lang="en-US" altLang="zh-CN" sz="1000" dirty="0">
              <a:latin typeface="Times New Roman" pitchFamily="18" charset="0"/>
            </a:endParaRPr>
          </a:p>
          <a:p>
            <a:pPr algn="ctr" eaLnBrk="1" hangingPunct="1"/>
            <a:endParaRPr lang="en-US" altLang="zh-CN" sz="3000" dirty="0">
              <a:latin typeface="Times New Roman" pitchFamily="18" charset="0"/>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1981200" y="1641376"/>
            <a:ext cx="8229600" cy="4464496"/>
          </a:xfrm>
        </p:spPr>
        <p:txBody>
          <a:bodyPr/>
          <a:lstStyle/>
          <a:p>
            <a:pPr>
              <a:lnSpc>
                <a:spcPct val="150000"/>
              </a:lnSpc>
            </a:pPr>
            <a:r>
              <a:rPr lang="zh-CN" altLang="en-US" dirty="0"/>
              <a:t>进程概述</a:t>
            </a:r>
          </a:p>
          <a:p>
            <a:pPr>
              <a:lnSpc>
                <a:spcPct val="150000"/>
              </a:lnSpc>
            </a:pPr>
            <a:r>
              <a:rPr lang="zh-CN" altLang="en-US" dirty="0"/>
              <a:t>管理进程的</a:t>
            </a:r>
            <a:r>
              <a:rPr lang="en-US" altLang="zh-CN" dirty="0"/>
              <a:t>Shell</a:t>
            </a:r>
            <a:r>
              <a:rPr lang="zh-CN" altLang="en-US" dirty="0"/>
              <a:t>命令</a:t>
            </a:r>
            <a:endParaRPr lang="en-US" altLang="zh-CN" dirty="0"/>
          </a:p>
          <a:p>
            <a:pPr>
              <a:lnSpc>
                <a:spcPct val="150000"/>
              </a:lnSpc>
            </a:pPr>
            <a:r>
              <a:rPr lang="zh-CN" altLang="en-US" dirty="0"/>
              <a:t>进程的调度启动</a:t>
            </a:r>
            <a:endParaRPr lang="en-US" altLang="zh-CN" dirty="0"/>
          </a:p>
          <a:p>
            <a:pPr>
              <a:lnSpc>
                <a:spcPct val="150000"/>
              </a:lnSpc>
            </a:pPr>
            <a:r>
              <a:rPr lang="zh-CN" altLang="en-US" dirty="0"/>
              <a:t>进程的创建</a:t>
            </a:r>
            <a:endParaRPr lang="en-US" altLang="zh-CN" dirty="0"/>
          </a:p>
          <a:p>
            <a:pPr>
              <a:lnSpc>
                <a:spcPct val="150000"/>
              </a:lnSpc>
            </a:pPr>
            <a:r>
              <a:rPr lang="zh-CN" altLang="en-US" dirty="0"/>
              <a:t>进程通信</a:t>
            </a:r>
            <a:endParaRPr lang="en-US" altLang="zh-CN" dirty="0"/>
          </a:p>
          <a:p>
            <a:pPr marL="0" indent="0">
              <a:lnSpc>
                <a:spcPct val="150000"/>
              </a:lnSpc>
              <a:buNone/>
            </a:pPr>
            <a:endParaRPr lang="zh-CN" altLang="en-US" dirty="0"/>
          </a:p>
        </p:txBody>
      </p:sp>
      <p:sp>
        <p:nvSpPr>
          <p:cNvPr id="6" name="Rectangle 2"/>
          <p:cNvSpPr>
            <a:spLocks noGrp="1" noChangeArrowheads="1"/>
          </p:cNvSpPr>
          <p:nvPr>
            <p:ph type="title"/>
          </p:nvPr>
        </p:nvSpPr>
        <p:spPr>
          <a:xfrm>
            <a:off x="1991544" y="553938"/>
            <a:ext cx="8352928" cy="858838"/>
          </a:xfrm>
        </p:spPr>
        <p:txBody>
          <a:bodyPr/>
          <a:lstStyle/>
          <a:p>
            <a:pPr eaLnBrk="1" hangingPunct="1"/>
            <a:r>
              <a:rPr lang="zh-CN" altLang="en-US" sz="4600" dirty="0"/>
              <a:t>本章内容</a:t>
            </a:r>
          </a:p>
        </p:txBody>
      </p:sp>
      <p:sp>
        <p:nvSpPr>
          <p:cNvPr id="3" name="灯片编号占位符 2"/>
          <p:cNvSpPr>
            <a:spLocks noGrp="1"/>
          </p:cNvSpPr>
          <p:nvPr>
            <p:ph type="sldNum" sz="quarter" idx="11"/>
          </p:nvPr>
        </p:nvSpPr>
        <p:spPr/>
        <p:txBody>
          <a:bodyPr/>
          <a:lstStyle/>
          <a:p>
            <a:pPr>
              <a:defRPr/>
            </a:pPr>
            <a:fld id="{110871B5-850E-4E14-A636-3EC679EBF038}" type="slidenum">
              <a:rPr lang="en-US" altLang="zh-CN" smtClean="0"/>
              <a:pPr>
                <a:defRPr/>
              </a:pPr>
              <a:t>2</a:t>
            </a:fld>
            <a:endParaRPr lang="en-US" altLang="zh-CN" dirty="0"/>
          </a:p>
        </p:txBody>
      </p:sp>
    </p:spTree>
    <p:extLst>
      <p:ext uri="{BB962C8B-B14F-4D97-AF65-F5344CB8AC3E}">
        <p14:creationId xmlns:p14="http://schemas.microsoft.com/office/powerpoint/2010/main" val="2904848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1" name="Rectangle 3"/>
          <p:cNvSpPr>
            <a:spLocks noGrp="1" noChangeArrowheads="1"/>
          </p:cNvSpPr>
          <p:nvPr>
            <p:ph type="body" idx="1"/>
          </p:nvPr>
        </p:nvSpPr>
        <p:spPr>
          <a:xfrm>
            <a:off x="1199456" y="1484784"/>
            <a:ext cx="10081120" cy="4450723"/>
          </a:xfrm>
        </p:spPr>
        <p:txBody>
          <a:bodyPr/>
          <a:lstStyle/>
          <a:p>
            <a:pPr>
              <a:lnSpc>
                <a:spcPct val="90000"/>
              </a:lnSpc>
            </a:pPr>
            <a:r>
              <a:rPr lang="zh-CN" altLang="en-US" sz="2400" dirty="0">
                <a:solidFill>
                  <a:srgbClr val="0000CC"/>
                </a:solidFill>
                <a:latin typeface="+mn-ea"/>
              </a:rPr>
              <a:t>程序</a:t>
            </a:r>
            <a:r>
              <a:rPr lang="zh-CN" altLang="en-US" sz="2400" dirty="0">
                <a:latin typeface="+mn-ea"/>
              </a:rPr>
              <a:t>：是存储在磁盘上能完成一定功能的指令序列和数据的</a:t>
            </a:r>
            <a:r>
              <a:rPr lang="zh-CN" altLang="en-US" sz="2400" dirty="0">
                <a:solidFill>
                  <a:srgbClr val="FF9900"/>
                </a:solidFill>
                <a:latin typeface="+mn-ea"/>
              </a:rPr>
              <a:t>静态</a:t>
            </a:r>
            <a:r>
              <a:rPr lang="zh-CN" altLang="en-US" sz="2400" dirty="0">
                <a:latin typeface="+mn-ea"/>
              </a:rPr>
              <a:t>实体。</a:t>
            </a:r>
            <a:endParaRPr lang="en-US" altLang="zh-CN" sz="2400" dirty="0">
              <a:solidFill>
                <a:srgbClr val="0000CC"/>
              </a:solidFill>
              <a:latin typeface="+mn-ea"/>
            </a:endParaRPr>
          </a:p>
          <a:p>
            <a:pPr>
              <a:lnSpc>
                <a:spcPct val="90000"/>
              </a:lnSpc>
            </a:pPr>
            <a:r>
              <a:rPr lang="zh-CN" altLang="en-US" sz="2400" dirty="0">
                <a:solidFill>
                  <a:srgbClr val="0000CC"/>
                </a:solidFill>
                <a:latin typeface="+mn-ea"/>
              </a:rPr>
              <a:t>进程</a:t>
            </a:r>
            <a:r>
              <a:rPr lang="zh-CN" altLang="en-US" sz="2400" dirty="0">
                <a:latin typeface="+mn-ea"/>
              </a:rPr>
              <a:t>：是指具有独立功能的程序的一次运行过程，也是系统</a:t>
            </a:r>
            <a:r>
              <a:rPr lang="zh-CN" altLang="en-US" sz="2400" dirty="0">
                <a:solidFill>
                  <a:srgbClr val="FF9900"/>
                </a:solidFill>
                <a:latin typeface="+mn-ea"/>
              </a:rPr>
              <a:t>资源分配</a:t>
            </a:r>
            <a:r>
              <a:rPr lang="zh-CN" altLang="en-US" sz="2400" dirty="0">
                <a:latin typeface="+mn-ea"/>
              </a:rPr>
              <a:t>和</a:t>
            </a:r>
            <a:r>
              <a:rPr lang="zh-CN" altLang="en-US" sz="2400" dirty="0">
                <a:solidFill>
                  <a:srgbClr val="FF9900"/>
                </a:solidFill>
                <a:latin typeface="+mn-ea"/>
              </a:rPr>
              <a:t>调度</a:t>
            </a:r>
            <a:r>
              <a:rPr lang="zh-CN" altLang="en-US" sz="2400" dirty="0">
                <a:latin typeface="+mn-ea"/>
              </a:rPr>
              <a:t>的基本单位。</a:t>
            </a:r>
            <a:endParaRPr lang="en-US" altLang="zh-CN" sz="2400" dirty="0">
              <a:latin typeface="+mn-ea"/>
            </a:endParaRPr>
          </a:p>
          <a:p>
            <a:pPr>
              <a:lnSpc>
                <a:spcPct val="90000"/>
              </a:lnSpc>
            </a:pPr>
            <a:r>
              <a:rPr lang="zh-CN" altLang="en-US" sz="2400" dirty="0">
                <a:latin typeface="+mn-ea"/>
              </a:rPr>
              <a:t>程序与进程的区别：进程不是程序，但由程序产生；程序只是一个静态的指令集合，不占系统的运行资源，而进程是一个随时都能发生变化、动态的、使用系统运行资源的程序。</a:t>
            </a:r>
            <a:endParaRPr lang="en-US" altLang="zh-CN" sz="2400" dirty="0">
              <a:latin typeface="+mn-ea"/>
            </a:endParaRPr>
          </a:p>
          <a:p>
            <a:pPr>
              <a:lnSpc>
                <a:spcPct val="90000"/>
              </a:lnSpc>
            </a:pPr>
            <a:r>
              <a:rPr lang="zh-CN" altLang="en-US" sz="2400" dirty="0">
                <a:solidFill>
                  <a:srgbClr val="0000CC"/>
                </a:solidFill>
                <a:latin typeface="+mn-ea"/>
              </a:rPr>
              <a:t>可以这么认为</a:t>
            </a:r>
            <a:r>
              <a:rPr lang="zh-CN" altLang="en-US" sz="2400" dirty="0">
                <a:latin typeface="+mn-ea"/>
              </a:rPr>
              <a:t>：程序代表我们期望完成某工作的计划和步骤，它还浮现在纸面上，等待具体实现。而具体实现过程由进程来完成，它除了包含程序中的所有内容外，还可能包含一些额外的数据。</a:t>
            </a:r>
            <a:endParaRPr lang="en-US" altLang="zh-CN" sz="2400" dirty="0">
              <a:latin typeface="+mn-ea"/>
            </a:endParaRPr>
          </a:p>
          <a:p>
            <a:pPr>
              <a:lnSpc>
                <a:spcPct val="90000"/>
              </a:lnSpc>
            </a:pPr>
            <a:r>
              <a:rPr lang="zh-CN" altLang="en-US" sz="2400" dirty="0">
                <a:solidFill>
                  <a:srgbClr val="0000CC"/>
                </a:solidFill>
                <a:latin typeface="+mn-ea"/>
              </a:rPr>
              <a:t>作业</a:t>
            </a:r>
            <a:r>
              <a:rPr lang="zh-CN" altLang="en-US" sz="2400" dirty="0">
                <a:latin typeface="+mn-ea"/>
              </a:rPr>
              <a:t>：正在执行的一个或多个相关进程可形成一个作业，一个作业可启动多个进程。</a:t>
            </a:r>
          </a:p>
        </p:txBody>
      </p:sp>
      <p:sp>
        <p:nvSpPr>
          <p:cNvPr id="4" name="Rectangle 2"/>
          <p:cNvSpPr>
            <a:spLocks noGrp="1" noRot="1" noChangeArrowheads="1"/>
          </p:cNvSpPr>
          <p:nvPr>
            <p:ph type="title"/>
          </p:nvPr>
        </p:nvSpPr>
        <p:spPr>
          <a:xfrm>
            <a:off x="1789820" y="535167"/>
            <a:ext cx="8194612" cy="868363"/>
          </a:xfrm>
        </p:spPr>
        <p:txBody>
          <a:bodyPr/>
          <a:lstStyle/>
          <a:p>
            <a:r>
              <a:rPr lang="en-US" altLang="zh-CN" dirty="0"/>
              <a:t>7.1 Linux</a:t>
            </a:r>
            <a:r>
              <a:rPr lang="zh-CN" altLang="en-US" dirty="0"/>
              <a:t>进程概述</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a:t>
            </a:fld>
            <a:endParaRPr lang="en-US" altLang="zh-CN" dirty="0"/>
          </a:p>
        </p:txBody>
      </p:sp>
    </p:spTree>
    <p:extLst>
      <p:ext uri="{BB962C8B-B14F-4D97-AF65-F5344CB8AC3E}">
        <p14:creationId xmlns:p14="http://schemas.microsoft.com/office/powerpoint/2010/main" val="3928719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 Box 4"/>
          <p:cNvSpPr txBox="1">
            <a:spLocks noChangeArrowheads="1"/>
          </p:cNvSpPr>
          <p:nvPr/>
        </p:nvSpPr>
        <p:spPr bwMode="auto">
          <a:xfrm>
            <a:off x="911424" y="1576965"/>
            <a:ext cx="10441160" cy="3785652"/>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68686"/>
                  </a:outerShdw>
                </a:effectLst>
              </a14:hiddenEffects>
            </a:ext>
          </a:extLst>
        </p:spPr>
        <p:txBody>
          <a:bodyPr wrap="square">
            <a:spAutoFit/>
          </a:bodyPr>
          <a:lstStyle/>
          <a:p>
            <a:pPr marL="342900" indent="-342900" algn="l">
              <a:buSzPct val="80000"/>
              <a:buFont typeface="Wingdings" panose="05000000000000000000" pitchFamily="2" charset="2"/>
              <a:buChar char="l"/>
            </a:pPr>
            <a:r>
              <a:rPr lang="zh-CN" altLang="en-US" sz="2400" dirty="0">
                <a:latin typeface="+mn-ea"/>
                <a:ea typeface="+mn-ea"/>
              </a:rPr>
              <a:t>通常在操作系统中，进程至少有三种基本的状态：</a:t>
            </a:r>
            <a:endParaRPr lang="en-US" altLang="zh-CN" sz="2400" dirty="0">
              <a:latin typeface="+mn-ea"/>
              <a:ea typeface="+mn-ea"/>
            </a:endParaRPr>
          </a:p>
          <a:p>
            <a:pPr algn="l"/>
            <a:r>
              <a:rPr lang="zh-CN" altLang="en-US" sz="2400" dirty="0">
                <a:solidFill>
                  <a:srgbClr val="CC0099"/>
                </a:solidFill>
                <a:latin typeface="+mn-ea"/>
                <a:ea typeface="+mn-ea"/>
              </a:rPr>
              <a:t>运行态</a:t>
            </a:r>
            <a:r>
              <a:rPr lang="zh-CN" altLang="en-US" sz="2400" dirty="0">
                <a:latin typeface="+mn-ea"/>
                <a:ea typeface="+mn-ea"/>
              </a:rPr>
              <a:t>：当前进程已分配到</a:t>
            </a:r>
            <a:r>
              <a:rPr lang="en-US" altLang="zh-CN" sz="2400" dirty="0">
                <a:latin typeface="+mn-ea"/>
                <a:ea typeface="+mn-ea"/>
              </a:rPr>
              <a:t>CPU，</a:t>
            </a:r>
            <a:r>
              <a:rPr lang="zh-CN" altLang="en-US" sz="2400" dirty="0">
                <a:latin typeface="+mn-ea"/>
                <a:ea typeface="+mn-ea"/>
              </a:rPr>
              <a:t>正在处理器上执行的状态。处于这种状态的进程个数不能大于</a:t>
            </a:r>
            <a:r>
              <a:rPr lang="en-US" altLang="zh-CN" sz="2400" dirty="0">
                <a:latin typeface="+mn-ea"/>
                <a:ea typeface="+mn-ea"/>
              </a:rPr>
              <a:t>CPU</a:t>
            </a:r>
            <a:r>
              <a:rPr lang="zh-CN" altLang="en-US" sz="2400" dirty="0">
                <a:latin typeface="+mn-ea"/>
                <a:ea typeface="+mn-ea"/>
              </a:rPr>
              <a:t>的数目。（分为核心态运行和用户运行态。）</a:t>
            </a:r>
            <a:endParaRPr lang="en-US" altLang="zh-CN" sz="2400" dirty="0">
              <a:latin typeface="+mn-ea"/>
              <a:ea typeface="+mn-ea"/>
            </a:endParaRPr>
          </a:p>
          <a:p>
            <a:pPr algn="l"/>
            <a:r>
              <a:rPr lang="zh-CN" altLang="en-US" sz="2400" dirty="0">
                <a:solidFill>
                  <a:srgbClr val="CC0099"/>
                </a:solidFill>
                <a:latin typeface="+mn-ea"/>
                <a:ea typeface="+mn-ea"/>
              </a:rPr>
              <a:t>就绪态</a:t>
            </a:r>
            <a:r>
              <a:rPr lang="zh-CN" altLang="en-US" sz="2400" dirty="0">
                <a:latin typeface="+mn-ea"/>
                <a:ea typeface="+mn-ea"/>
              </a:rPr>
              <a:t>：指进程已具备运行条件，但因为其他进程正占用</a:t>
            </a:r>
            <a:r>
              <a:rPr lang="en-US" altLang="zh-CN" sz="2400" dirty="0">
                <a:latin typeface="+mn-ea"/>
                <a:ea typeface="+mn-ea"/>
              </a:rPr>
              <a:t>CPU</a:t>
            </a:r>
            <a:r>
              <a:rPr lang="zh-CN" altLang="en-US" sz="2400" dirty="0">
                <a:latin typeface="+mn-ea"/>
                <a:ea typeface="+mn-ea"/>
              </a:rPr>
              <a:t>，所以暂时不能运行而等待分配</a:t>
            </a:r>
            <a:r>
              <a:rPr lang="en-US" altLang="zh-CN" sz="2400" dirty="0">
                <a:latin typeface="+mn-ea"/>
                <a:ea typeface="+mn-ea"/>
              </a:rPr>
              <a:t>CPU</a:t>
            </a:r>
            <a:r>
              <a:rPr lang="zh-CN" altLang="en-US" sz="2400" dirty="0">
                <a:latin typeface="+mn-ea"/>
                <a:ea typeface="+mn-ea"/>
              </a:rPr>
              <a:t>的状态。</a:t>
            </a:r>
            <a:r>
              <a:rPr lang="en-US" altLang="zh-CN" sz="2400" dirty="0">
                <a:latin typeface="+mn-ea"/>
                <a:ea typeface="+mn-ea"/>
              </a:rPr>
              <a:t>(</a:t>
            </a:r>
            <a:r>
              <a:rPr lang="zh-CN" altLang="en-US" sz="2400" dirty="0">
                <a:latin typeface="+mn-ea"/>
                <a:ea typeface="+mn-ea"/>
              </a:rPr>
              <a:t>分内存就绪和外存就绪。）</a:t>
            </a:r>
            <a:endParaRPr lang="en-US" altLang="zh-CN" sz="2400" dirty="0">
              <a:latin typeface="+mn-ea"/>
              <a:ea typeface="+mn-ea"/>
            </a:endParaRPr>
          </a:p>
          <a:p>
            <a:pPr algn="l"/>
            <a:r>
              <a:rPr lang="zh-CN" altLang="en-US" sz="2400" dirty="0">
                <a:solidFill>
                  <a:srgbClr val="CC0099"/>
                </a:solidFill>
                <a:latin typeface="+mn-ea"/>
                <a:ea typeface="+mn-ea"/>
              </a:rPr>
              <a:t>阻塞态</a:t>
            </a:r>
            <a:r>
              <a:rPr lang="zh-CN" altLang="en-US" sz="2400" dirty="0">
                <a:latin typeface="+mn-ea"/>
                <a:ea typeface="+mn-ea"/>
              </a:rPr>
              <a:t>：进程因等待某种事情发生</a:t>
            </a:r>
            <a:endParaRPr lang="en-US" altLang="zh-CN" sz="2400" dirty="0">
              <a:latin typeface="+mn-ea"/>
              <a:ea typeface="+mn-ea"/>
            </a:endParaRPr>
          </a:p>
          <a:p>
            <a:pPr algn="l"/>
            <a:r>
              <a:rPr lang="zh-CN" altLang="en-US" sz="2400" dirty="0">
                <a:latin typeface="+mn-ea"/>
                <a:ea typeface="+mn-ea"/>
              </a:rPr>
              <a:t>（例如等待</a:t>
            </a:r>
            <a:r>
              <a:rPr lang="en-US" altLang="zh-CN" sz="2400" dirty="0">
                <a:latin typeface="+mn-ea"/>
                <a:ea typeface="+mn-ea"/>
              </a:rPr>
              <a:t>I/O</a:t>
            </a:r>
            <a:r>
              <a:rPr lang="zh-CN" altLang="en-US" sz="2400" dirty="0">
                <a:latin typeface="+mn-ea"/>
                <a:ea typeface="+mn-ea"/>
              </a:rPr>
              <a:t>操作，等待其他进</a:t>
            </a:r>
            <a:endParaRPr lang="en-US" altLang="zh-CN" sz="2400" dirty="0">
              <a:latin typeface="+mn-ea"/>
              <a:ea typeface="+mn-ea"/>
            </a:endParaRPr>
          </a:p>
          <a:p>
            <a:pPr algn="l"/>
            <a:r>
              <a:rPr lang="zh-CN" altLang="en-US" sz="2400" dirty="0">
                <a:latin typeface="+mn-ea"/>
                <a:ea typeface="+mn-ea"/>
              </a:rPr>
              <a:t>程发来的信号等）而暂时不能运</a:t>
            </a:r>
            <a:endParaRPr lang="en-US" altLang="zh-CN" sz="2400" dirty="0">
              <a:latin typeface="+mn-ea"/>
              <a:ea typeface="+mn-ea"/>
            </a:endParaRPr>
          </a:p>
          <a:p>
            <a:pPr algn="l"/>
            <a:r>
              <a:rPr lang="zh-CN" altLang="en-US" sz="2400" dirty="0">
                <a:latin typeface="+mn-ea"/>
                <a:ea typeface="+mn-ea"/>
              </a:rPr>
              <a:t>行的状态</a:t>
            </a:r>
            <a:r>
              <a:rPr lang="en-US" altLang="zh-CN" sz="2400" dirty="0">
                <a:latin typeface="+mn-ea"/>
                <a:ea typeface="+mn-ea"/>
              </a:rPr>
              <a:t>,</a:t>
            </a:r>
            <a:r>
              <a:rPr lang="zh-CN" altLang="en-US" sz="2400" dirty="0">
                <a:latin typeface="+mn-ea"/>
                <a:ea typeface="+mn-ea"/>
              </a:rPr>
              <a:t>即使</a:t>
            </a:r>
            <a:r>
              <a:rPr lang="en-US" altLang="zh-CN" sz="2400" dirty="0">
                <a:latin typeface="+mn-ea"/>
                <a:ea typeface="+mn-ea"/>
              </a:rPr>
              <a:t>CPU</a:t>
            </a:r>
            <a:r>
              <a:rPr lang="zh-CN" altLang="en-US" sz="2400" dirty="0">
                <a:latin typeface="+mn-ea"/>
                <a:ea typeface="+mn-ea"/>
              </a:rPr>
              <a:t>空闲，它也</a:t>
            </a:r>
            <a:endParaRPr lang="en-US" altLang="zh-CN" sz="2400" dirty="0">
              <a:latin typeface="+mn-ea"/>
              <a:ea typeface="+mn-ea"/>
            </a:endParaRPr>
          </a:p>
          <a:p>
            <a:pPr algn="l"/>
            <a:r>
              <a:rPr lang="zh-CN" altLang="en-US" sz="2400" dirty="0">
                <a:latin typeface="+mn-ea"/>
                <a:ea typeface="+mn-ea"/>
              </a:rPr>
              <a:t>无法使用。</a:t>
            </a:r>
          </a:p>
        </p:txBody>
      </p:sp>
      <p:sp>
        <p:nvSpPr>
          <p:cNvPr id="5" name="Rectangle 2"/>
          <p:cNvSpPr>
            <a:spLocks noGrp="1" noChangeArrowheads="1"/>
          </p:cNvSpPr>
          <p:nvPr>
            <p:ph type="title"/>
          </p:nvPr>
        </p:nvSpPr>
        <p:spPr>
          <a:xfrm>
            <a:off x="2063552" y="547543"/>
            <a:ext cx="8712968" cy="858837"/>
          </a:xfrm>
        </p:spPr>
        <p:txBody>
          <a:bodyPr/>
          <a:lstStyle/>
          <a:p>
            <a:r>
              <a:rPr lang="en-US" altLang="zh-CN" dirty="0"/>
              <a:t>linux</a:t>
            </a:r>
            <a:r>
              <a:rPr lang="zh-CN" altLang="en-US" dirty="0"/>
              <a:t>进程状态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4</a:t>
            </a:fld>
            <a:endParaRPr lang="en-US" altLang="zh-CN"/>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6120" y="3789040"/>
            <a:ext cx="3466112" cy="2244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3078386"/>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 Box 4"/>
          <p:cNvSpPr txBox="1">
            <a:spLocks noChangeArrowheads="1"/>
          </p:cNvSpPr>
          <p:nvPr/>
        </p:nvSpPr>
        <p:spPr bwMode="auto">
          <a:xfrm>
            <a:off x="1087191" y="1700808"/>
            <a:ext cx="10081120" cy="3579057"/>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68686"/>
                  </a:outerShdw>
                </a:effectLst>
              </a14:hiddenEffects>
            </a:ext>
          </a:extLst>
        </p:spPr>
        <p:txBody>
          <a:bodyPr wrap="square">
            <a:spAutoFit/>
          </a:bodyPr>
          <a:lstStyle/>
          <a:p>
            <a:pPr marL="342900" indent="-342900" algn="l">
              <a:lnSpc>
                <a:spcPct val="120000"/>
              </a:lnSpc>
              <a:buSzPct val="80000"/>
              <a:buFont typeface="Wingdings" panose="05000000000000000000" pitchFamily="2" charset="2"/>
              <a:buChar char="l"/>
            </a:pPr>
            <a:r>
              <a:rPr lang="en-US" altLang="zh-CN" sz="2400" dirty="0">
                <a:latin typeface="+mn-ea"/>
                <a:ea typeface="+mn-ea"/>
              </a:rPr>
              <a:t>Linux</a:t>
            </a:r>
            <a:r>
              <a:rPr lang="zh-CN" altLang="en-US" sz="2400" dirty="0">
                <a:latin typeface="+mn-ea"/>
                <a:ea typeface="+mn-ea"/>
              </a:rPr>
              <a:t>还描述进程的以下状态：</a:t>
            </a:r>
            <a:endParaRPr lang="en-US" altLang="zh-CN" sz="2400" dirty="0">
              <a:latin typeface="+mn-ea"/>
              <a:ea typeface="+mn-ea"/>
            </a:endParaRPr>
          </a:p>
          <a:p>
            <a:pPr algn="l">
              <a:lnSpc>
                <a:spcPct val="120000"/>
              </a:lnSpc>
            </a:pPr>
            <a:r>
              <a:rPr lang="zh-CN" altLang="en-US" sz="2400" dirty="0">
                <a:solidFill>
                  <a:srgbClr val="CC0099"/>
                </a:solidFill>
                <a:latin typeface="+mn-ea"/>
                <a:ea typeface="+mn-ea"/>
              </a:rPr>
              <a:t>休眠状态</a:t>
            </a:r>
            <a:r>
              <a:rPr lang="zh-CN" altLang="en-US" sz="2400" dirty="0">
                <a:latin typeface="+mn-ea"/>
                <a:ea typeface="+mn-ea"/>
              </a:rPr>
              <a:t>：进程主动暂时停止运行，分可中断休眠和不可中断休眠。可中断休眠状态的进程处于某个等待队列中，它能够被信号（</a:t>
            </a:r>
            <a:r>
              <a:rPr lang="en-US" altLang="zh-CN" sz="2400" dirty="0">
                <a:latin typeface="+mn-ea"/>
                <a:ea typeface="+mn-ea"/>
              </a:rPr>
              <a:t>signal</a:t>
            </a:r>
            <a:r>
              <a:rPr lang="zh-CN" altLang="en-US" sz="2400" dirty="0">
                <a:latin typeface="+mn-ea"/>
                <a:ea typeface="+mn-ea"/>
              </a:rPr>
              <a:t>）或中断唤醒，等待资源的请求满足时，也能被唤醒。不可中断休眠状态的进程处于某个等待队列中，不能被信号唤醒，只有等待的资源被满足时才被唤醒。</a:t>
            </a:r>
          </a:p>
          <a:p>
            <a:pPr algn="l">
              <a:lnSpc>
                <a:spcPct val="120000"/>
              </a:lnSpc>
            </a:pPr>
            <a:r>
              <a:rPr lang="zh-CN" altLang="en-US" sz="2400" dirty="0">
                <a:solidFill>
                  <a:srgbClr val="CC0099"/>
                </a:solidFill>
                <a:latin typeface="+mn-ea"/>
                <a:ea typeface="+mn-ea"/>
              </a:rPr>
              <a:t>僵死状态</a:t>
            </a:r>
            <a:r>
              <a:rPr lang="zh-CN" altLang="en-US" sz="2400" dirty="0">
                <a:latin typeface="+mn-ea"/>
                <a:ea typeface="+mn-ea"/>
              </a:rPr>
              <a:t>：进程的运行已经结束，但它没有释放系统资源，如没有释放内存和</a:t>
            </a:r>
            <a:r>
              <a:rPr lang="en-US" altLang="zh-CN" sz="2400" dirty="0" err="1">
                <a:latin typeface="+mn-ea"/>
                <a:ea typeface="+mn-ea"/>
              </a:rPr>
              <a:t>task_struct</a:t>
            </a:r>
            <a:r>
              <a:rPr lang="zh-CN" altLang="en-US" sz="2400" dirty="0">
                <a:latin typeface="+mn-ea"/>
                <a:ea typeface="+mn-ea"/>
              </a:rPr>
              <a:t>结构等。</a:t>
            </a:r>
          </a:p>
          <a:p>
            <a:pPr algn="l">
              <a:lnSpc>
                <a:spcPct val="120000"/>
              </a:lnSpc>
            </a:pPr>
            <a:r>
              <a:rPr lang="zh-CN" altLang="en-US" sz="2400" dirty="0">
                <a:solidFill>
                  <a:srgbClr val="CC0099"/>
                </a:solidFill>
                <a:latin typeface="+mn-ea"/>
                <a:ea typeface="+mn-ea"/>
              </a:rPr>
              <a:t>终止状态</a:t>
            </a:r>
            <a:r>
              <a:rPr lang="zh-CN" altLang="en-US" sz="2400" dirty="0">
                <a:latin typeface="+mn-ea"/>
                <a:ea typeface="+mn-ea"/>
              </a:rPr>
              <a:t>：进程已经结束，系统正在回收资源。</a:t>
            </a:r>
          </a:p>
        </p:txBody>
      </p:sp>
      <p:sp>
        <p:nvSpPr>
          <p:cNvPr id="5" name="Rectangle 2"/>
          <p:cNvSpPr>
            <a:spLocks noGrp="1" noChangeArrowheads="1"/>
          </p:cNvSpPr>
          <p:nvPr>
            <p:ph type="title"/>
          </p:nvPr>
        </p:nvSpPr>
        <p:spPr>
          <a:xfrm>
            <a:off x="1847528" y="620688"/>
            <a:ext cx="8208912" cy="858837"/>
          </a:xfrm>
        </p:spPr>
        <p:txBody>
          <a:bodyPr/>
          <a:lstStyle/>
          <a:p>
            <a:r>
              <a:rPr lang="zh-CN" altLang="en-US" dirty="0"/>
              <a:t>进程状态细化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5</a:t>
            </a:fld>
            <a:endParaRPr lang="en-US" altLang="zh-CN"/>
          </a:p>
        </p:txBody>
      </p:sp>
    </p:spTree>
    <p:extLst>
      <p:ext uri="{BB962C8B-B14F-4D97-AF65-F5344CB8AC3E}">
        <p14:creationId xmlns:p14="http://schemas.microsoft.com/office/powerpoint/2010/main" val="164753505"/>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1" name="Rectangle 3"/>
          <p:cNvSpPr>
            <a:spLocks noGrp="1" noChangeArrowheads="1"/>
          </p:cNvSpPr>
          <p:nvPr>
            <p:ph type="body" idx="1"/>
          </p:nvPr>
        </p:nvSpPr>
        <p:spPr>
          <a:xfrm>
            <a:off x="1199456" y="1484784"/>
            <a:ext cx="9937104" cy="4392488"/>
          </a:xfrm>
        </p:spPr>
        <p:txBody>
          <a:bodyPr/>
          <a:lstStyle/>
          <a:p>
            <a:r>
              <a:rPr lang="zh-CN" altLang="en-US" sz="2600" dirty="0">
                <a:solidFill>
                  <a:srgbClr val="0000CC"/>
                </a:solidFill>
                <a:latin typeface="+mn-ea"/>
              </a:rPr>
              <a:t>守护进程：</a:t>
            </a:r>
            <a:r>
              <a:rPr lang="zh-CN" altLang="en-US" sz="2600" dirty="0">
                <a:latin typeface="+mn-ea"/>
              </a:rPr>
              <a:t>总是处于活跃状态，一般在后台运行，守护进程通常由系统在开机时，通过脚本自动激活启动或由超级管理用户</a:t>
            </a:r>
            <a:r>
              <a:rPr lang="en-US" altLang="zh-CN" sz="2600" dirty="0">
                <a:latin typeface="+mn-ea"/>
              </a:rPr>
              <a:t>root</a:t>
            </a:r>
            <a:r>
              <a:rPr lang="zh-CN" altLang="en-US" sz="2600" dirty="0">
                <a:latin typeface="+mn-ea"/>
              </a:rPr>
              <a:t>来启动。</a:t>
            </a:r>
            <a:endParaRPr lang="en-US" altLang="zh-CN" sz="2600" dirty="0">
              <a:latin typeface="+mn-ea"/>
            </a:endParaRPr>
          </a:p>
          <a:p>
            <a:r>
              <a:rPr lang="zh-CN" altLang="en-US" sz="2600" dirty="0">
                <a:solidFill>
                  <a:srgbClr val="0000CC"/>
                </a:solidFill>
                <a:latin typeface="+mn-ea"/>
              </a:rPr>
              <a:t>交互式进程：</a:t>
            </a:r>
            <a:r>
              <a:rPr lang="zh-CN" altLang="en-US" sz="2600" dirty="0">
                <a:latin typeface="+mn-ea"/>
              </a:rPr>
              <a:t>由</a:t>
            </a:r>
            <a:r>
              <a:rPr lang="en-US" altLang="zh-CN" sz="2600" dirty="0">
                <a:latin typeface="+mn-ea"/>
              </a:rPr>
              <a:t>shell</a:t>
            </a:r>
            <a:r>
              <a:rPr lang="zh-CN" altLang="en-US" sz="2600" dirty="0">
                <a:latin typeface="+mn-ea"/>
              </a:rPr>
              <a:t>终端启动的进程，在执行过程中，需要与用户进行交互操作，运行于前台或后台。</a:t>
            </a:r>
            <a:endParaRPr lang="en-US" altLang="zh-CN" sz="2600" dirty="0">
              <a:latin typeface="+mn-ea"/>
            </a:endParaRPr>
          </a:p>
          <a:p>
            <a:r>
              <a:rPr lang="zh-CN" altLang="en-US" sz="2600" dirty="0">
                <a:solidFill>
                  <a:srgbClr val="0000CC"/>
                </a:solidFill>
                <a:latin typeface="+mn-ea"/>
              </a:rPr>
              <a:t>批处理进程：</a:t>
            </a:r>
            <a:r>
              <a:rPr lang="zh-CN" altLang="en-US" sz="2600" dirty="0">
                <a:latin typeface="+mn-ea"/>
              </a:rPr>
              <a:t>不需要用户交互，一般在后台运行，这类进程不需要非常快的反应，经常被调度期限制。</a:t>
            </a:r>
            <a:endParaRPr lang="en-US" altLang="zh-CN" sz="2600" dirty="0">
              <a:latin typeface="+mn-ea"/>
            </a:endParaRPr>
          </a:p>
          <a:p>
            <a:r>
              <a:rPr lang="zh-CN" altLang="en-US" sz="2600" dirty="0">
                <a:solidFill>
                  <a:srgbClr val="0000CC"/>
                </a:solidFill>
                <a:latin typeface="+mn-ea"/>
              </a:rPr>
              <a:t>实时进程</a:t>
            </a:r>
            <a:r>
              <a:rPr lang="zh-CN" altLang="en-US" sz="2600" dirty="0">
                <a:latin typeface="+mn-ea"/>
              </a:rPr>
              <a:t>：对调度期有非常严格的要求，不能被低优先级进程阻塞，并且需要在很短的时间内做出反应，典型的实时进程有音视频应用程序、机器人控制等。</a:t>
            </a:r>
          </a:p>
        </p:txBody>
      </p:sp>
      <p:sp>
        <p:nvSpPr>
          <p:cNvPr id="4" name="Rectangle 2"/>
          <p:cNvSpPr>
            <a:spLocks noGrp="1" noRot="1" noChangeArrowheads="1"/>
          </p:cNvSpPr>
          <p:nvPr>
            <p:ph type="title"/>
          </p:nvPr>
        </p:nvSpPr>
        <p:spPr>
          <a:xfrm>
            <a:off x="1991544" y="434825"/>
            <a:ext cx="7507560" cy="868363"/>
          </a:xfrm>
        </p:spPr>
        <p:txBody>
          <a:bodyPr/>
          <a:lstStyle/>
          <a:p>
            <a:r>
              <a:rPr lang="zh-CN" altLang="en-US" dirty="0"/>
              <a:t>进程的分类 </a:t>
            </a:r>
          </a:p>
        </p:txBody>
      </p:sp>
      <p:sp>
        <p:nvSpPr>
          <p:cNvPr id="5" name="灯片编号占位符 1"/>
          <p:cNvSpPr>
            <a:spLocks noGrp="1"/>
          </p:cNvSpPr>
          <p:nvPr>
            <p:ph type="sldNum" sz="quarter" idx="11"/>
          </p:nvPr>
        </p:nvSpPr>
        <p:spPr>
          <a:xfrm>
            <a:off x="5053013" y="6240463"/>
            <a:ext cx="2133600" cy="457200"/>
          </a:xfrm>
        </p:spPr>
        <p:txBody>
          <a:bodyPr/>
          <a:lstStyle/>
          <a:p>
            <a:pPr>
              <a:defRPr/>
            </a:pPr>
            <a:fld id="{110871B5-850E-4E14-A636-3EC679EBF038}" type="slidenum">
              <a:rPr lang="en-US" altLang="zh-CN" smtClean="0"/>
              <a:pPr>
                <a:defRPr/>
              </a:pPr>
              <a:t>6</a:t>
            </a:fld>
            <a:endParaRPr lang="en-US" altLang="zh-CN" dirty="0"/>
          </a:p>
        </p:txBody>
      </p:sp>
    </p:spTree>
    <p:extLst>
      <p:ext uri="{BB962C8B-B14F-4D97-AF65-F5344CB8AC3E}">
        <p14:creationId xmlns:p14="http://schemas.microsoft.com/office/powerpoint/2010/main" val="699036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1" name="Rectangle 3"/>
          <p:cNvSpPr>
            <a:spLocks noGrp="1" noChangeArrowheads="1"/>
          </p:cNvSpPr>
          <p:nvPr>
            <p:ph type="body" idx="1"/>
          </p:nvPr>
        </p:nvSpPr>
        <p:spPr>
          <a:xfrm>
            <a:off x="1091444" y="1484784"/>
            <a:ext cx="10009112" cy="4392488"/>
          </a:xfrm>
        </p:spPr>
        <p:txBody>
          <a:bodyPr/>
          <a:lstStyle/>
          <a:p>
            <a:r>
              <a:rPr lang="zh-CN" altLang="en-US" sz="2600" dirty="0">
                <a:solidFill>
                  <a:srgbClr val="0000CC"/>
                </a:solidFill>
                <a:latin typeface="+mn-ea"/>
              </a:rPr>
              <a:t>进程的属性，进程的属性即描述进程的信息</a:t>
            </a:r>
            <a:endParaRPr lang="en-US" altLang="zh-CN" sz="2600" dirty="0">
              <a:latin typeface="+mn-ea"/>
            </a:endParaRPr>
          </a:p>
          <a:p>
            <a:pPr lvl="1">
              <a:lnSpc>
                <a:spcPct val="120000"/>
              </a:lnSpc>
            </a:pPr>
            <a:r>
              <a:rPr lang="zh-CN" altLang="en-US" dirty="0">
                <a:latin typeface="+mn-ea"/>
              </a:rPr>
              <a:t>进程</a:t>
            </a:r>
            <a:r>
              <a:rPr lang="en-US" altLang="zh-CN" dirty="0">
                <a:latin typeface="+mn-ea"/>
              </a:rPr>
              <a:t>ID(PID):</a:t>
            </a:r>
            <a:r>
              <a:rPr lang="zh-CN" altLang="en-US" dirty="0">
                <a:latin typeface="+mn-ea"/>
              </a:rPr>
              <a:t>数值唯一，用来区分进程</a:t>
            </a:r>
            <a:endParaRPr lang="en-US" altLang="zh-CN" dirty="0">
              <a:latin typeface="+mn-ea"/>
            </a:endParaRPr>
          </a:p>
          <a:p>
            <a:pPr lvl="1">
              <a:lnSpc>
                <a:spcPct val="120000"/>
              </a:lnSpc>
            </a:pPr>
            <a:r>
              <a:rPr lang="zh-CN" altLang="en-US" dirty="0">
                <a:solidFill>
                  <a:schemeClr val="tx1"/>
                </a:solidFill>
                <a:latin typeface="+mn-ea"/>
              </a:rPr>
              <a:t>父进程和父进程的</a:t>
            </a:r>
            <a:r>
              <a:rPr lang="en-US" altLang="zh-CN" dirty="0">
                <a:solidFill>
                  <a:schemeClr val="tx1"/>
                </a:solidFill>
                <a:latin typeface="+mn-ea"/>
              </a:rPr>
              <a:t>ID</a:t>
            </a:r>
            <a:r>
              <a:rPr lang="zh-CN" altLang="en-US" dirty="0">
                <a:solidFill>
                  <a:schemeClr val="tx1"/>
                </a:solidFill>
                <a:latin typeface="+mn-ea"/>
              </a:rPr>
              <a:t>（</a:t>
            </a:r>
            <a:r>
              <a:rPr lang="en-US" altLang="zh-CN" dirty="0">
                <a:solidFill>
                  <a:schemeClr val="tx1"/>
                </a:solidFill>
                <a:latin typeface="+mn-ea"/>
              </a:rPr>
              <a:t>PPID)</a:t>
            </a:r>
            <a:endParaRPr lang="zh-CN" altLang="en-US" dirty="0">
              <a:solidFill>
                <a:schemeClr val="tx1"/>
              </a:solidFill>
              <a:latin typeface="+mn-ea"/>
            </a:endParaRPr>
          </a:p>
          <a:p>
            <a:pPr lvl="1">
              <a:lnSpc>
                <a:spcPct val="120000"/>
              </a:lnSpc>
            </a:pPr>
            <a:r>
              <a:rPr lang="zh-CN" altLang="en-US" dirty="0">
                <a:solidFill>
                  <a:schemeClr val="tx1"/>
                </a:solidFill>
                <a:latin typeface="+mn-ea"/>
              </a:rPr>
              <a:t>启动进程的用户</a:t>
            </a:r>
            <a:r>
              <a:rPr lang="en-US" altLang="zh-CN" dirty="0">
                <a:solidFill>
                  <a:schemeClr val="tx1"/>
                </a:solidFill>
                <a:latin typeface="+mn-ea"/>
              </a:rPr>
              <a:t>ID</a:t>
            </a:r>
            <a:r>
              <a:rPr lang="zh-CN" altLang="en-US" dirty="0">
                <a:solidFill>
                  <a:schemeClr val="tx1"/>
                </a:solidFill>
                <a:latin typeface="+mn-ea"/>
              </a:rPr>
              <a:t>（</a:t>
            </a:r>
            <a:r>
              <a:rPr lang="en-US" altLang="zh-CN" dirty="0">
                <a:solidFill>
                  <a:schemeClr val="tx1"/>
                </a:solidFill>
                <a:latin typeface="+mn-ea"/>
              </a:rPr>
              <a:t>UID</a:t>
            </a:r>
            <a:r>
              <a:rPr lang="zh-CN" altLang="en-US" dirty="0">
                <a:solidFill>
                  <a:schemeClr val="tx1"/>
                </a:solidFill>
                <a:latin typeface="+mn-ea"/>
              </a:rPr>
              <a:t>）和所归属的组（</a:t>
            </a:r>
            <a:r>
              <a:rPr lang="en-US" altLang="zh-CN" dirty="0">
                <a:solidFill>
                  <a:schemeClr val="tx1"/>
                </a:solidFill>
                <a:latin typeface="+mn-ea"/>
              </a:rPr>
              <a:t>GID</a:t>
            </a:r>
            <a:r>
              <a:rPr lang="zh-CN" altLang="en-US" dirty="0">
                <a:solidFill>
                  <a:schemeClr val="tx1"/>
                </a:solidFill>
                <a:latin typeface="+mn-ea"/>
              </a:rPr>
              <a:t>）</a:t>
            </a:r>
          </a:p>
          <a:p>
            <a:pPr lvl="1">
              <a:lnSpc>
                <a:spcPct val="120000"/>
              </a:lnSpc>
            </a:pPr>
            <a:r>
              <a:rPr lang="zh-CN" altLang="en-US" dirty="0">
                <a:solidFill>
                  <a:schemeClr val="tx1"/>
                </a:solidFill>
                <a:latin typeface="+mn-ea"/>
              </a:rPr>
              <a:t>进程状态：状态分为运行、就绪、休眠等</a:t>
            </a:r>
          </a:p>
          <a:p>
            <a:pPr lvl="1">
              <a:lnSpc>
                <a:spcPct val="120000"/>
              </a:lnSpc>
            </a:pPr>
            <a:r>
              <a:rPr lang="zh-CN" altLang="en-US" dirty="0">
                <a:solidFill>
                  <a:schemeClr val="tx1"/>
                </a:solidFill>
                <a:latin typeface="+mn-ea"/>
              </a:rPr>
              <a:t>进程执行的优先级</a:t>
            </a:r>
          </a:p>
          <a:p>
            <a:pPr lvl="1">
              <a:lnSpc>
                <a:spcPct val="120000"/>
              </a:lnSpc>
            </a:pPr>
            <a:r>
              <a:rPr lang="zh-CN" altLang="en-US" dirty="0">
                <a:solidFill>
                  <a:schemeClr val="tx1"/>
                </a:solidFill>
                <a:latin typeface="+mn-ea"/>
              </a:rPr>
              <a:t>进程所连接的终端名</a:t>
            </a:r>
          </a:p>
          <a:p>
            <a:pPr lvl="1">
              <a:lnSpc>
                <a:spcPct val="120000"/>
              </a:lnSpc>
            </a:pPr>
            <a:r>
              <a:rPr lang="zh-CN" altLang="en-US" dirty="0">
                <a:solidFill>
                  <a:schemeClr val="tx1"/>
                </a:solidFill>
                <a:latin typeface="+mn-ea"/>
              </a:rPr>
              <a:t>进程资源占用：比如占用资源大小（内存、</a:t>
            </a:r>
            <a:r>
              <a:rPr lang="en-US" altLang="zh-CN" dirty="0">
                <a:solidFill>
                  <a:schemeClr val="tx1"/>
                </a:solidFill>
                <a:latin typeface="+mn-ea"/>
              </a:rPr>
              <a:t>CPU</a:t>
            </a:r>
            <a:r>
              <a:rPr lang="zh-CN" altLang="en-US" dirty="0">
                <a:solidFill>
                  <a:schemeClr val="tx1"/>
                </a:solidFill>
                <a:latin typeface="+mn-ea"/>
              </a:rPr>
              <a:t>占用量等）</a:t>
            </a:r>
          </a:p>
        </p:txBody>
      </p:sp>
      <p:sp>
        <p:nvSpPr>
          <p:cNvPr id="4" name="Rectangle 2"/>
          <p:cNvSpPr>
            <a:spLocks noGrp="1" noRot="1" noChangeArrowheads="1"/>
          </p:cNvSpPr>
          <p:nvPr>
            <p:ph type="title"/>
          </p:nvPr>
        </p:nvSpPr>
        <p:spPr>
          <a:xfrm>
            <a:off x="1991544" y="522464"/>
            <a:ext cx="8064896" cy="868363"/>
          </a:xfrm>
        </p:spPr>
        <p:txBody>
          <a:bodyPr/>
          <a:lstStyle/>
          <a:p>
            <a:r>
              <a:rPr lang="zh-CN" altLang="en-US" dirty="0"/>
              <a:t>进程的属性 </a:t>
            </a:r>
          </a:p>
        </p:txBody>
      </p:sp>
      <p:sp>
        <p:nvSpPr>
          <p:cNvPr id="5" name="灯片编号占位符 1"/>
          <p:cNvSpPr>
            <a:spLocks noGrp="1"/>
          </p:cNvSpPr>
          <p:nvPr>
            <p:ph type="sldNum" sz="quarter" idx="11"/>
          </p:nvPr>
        </p:nvSpPr>
        <p:spPr>
          <a:xfrm>
            <a:off x="5029200" y="5964152"/>
            <a:ext cx="2133600" cy="457200"/>
          </a:xfrm>
        </p:spPr>
        <p:txBody>
          <a:bodyPr/>
          <a:lstStyle/>
          <a:p>
            <a:pPr>
              <a:defRPr/>
            </a:pPr>
            <a:fld id="{110871B5-850E-4E14-A636-3EC679EBF038}" type="slidenum">
              <a:rPr lang="en-US" altLang="zh-CN" smtClean="0"/>
              <a:pPr>
                <a:defRPr/>
              </a:pPr>
              <a:t>7</a:t>
            </a:fld>
            <a:endParaRPr lang="en-US" altLang="zh-CN" dirty="0"/>
          </a:p>
        </p:txBody>
      </p:sp>
    </p:spTree>
    <p:extLst>
      <p:ext uri="{BB962C8B-B14F-4D97-AF65-F5344CB8AC3E}">
        <p14:creationId xmlns:p14="http://schemas.microsoft.com/office/powerpoint/2010/main" val="149539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body" idx="1"/>
          </p:nvPr>
        </p:nvSpPr>
        <p:spPr>
          <a:xfrm>
            <a:off x="1051187" y="1268760"/>
            <a:ext cx="10153128" cy="5184576"/>
          </a:xfrm>
        </p:spPr>
        <p:txBody>
          <a:bodyPr/>
          <a:lstStyle/>
          <a:p>
            <a:pPr marL="0" indent="0">
              <a:buNone/>
            </a:pPr>
            <a:r>
              <a:rPr lang="zh-CN" altLang="en-US" sz="2600" dirty="0">
                <a:solidFill>
                  <a:srgbClr val="0000CC"/>
                </a:solidFill>
                <a:latin typeface="+mn-ea"/>
                <a:cs typeface="Times New Roman" pitchFamily="18" charset="0"/>
              </a:rPr>
              <a:t>前后台切换 </a:t>
            </a:r>
            <a:endParaRPr lang="en-US" altLang="zh-CN" sz="2600" dirty="0">
              <a:solidFill>
                <a:srgbClr val="0000CC"/>
              </a:solidFill>
              <a:latin typeface="+mn-ea"/>
              <a:cs typeface="Times New Roman" pitchFamily="18" charset="0"/>
            </a:endParaRPr>
          </a:p>
          <a:p>
            <a:pPr>
              <a:lnSpc>
                <a:spcPct val="80000"/>
              </a:lnSpc>
            </a:pPr>
            <a:r>
              <a:rPr lang="en-US" altLang="zh-CN" sz="2600" dirty="0">
                <a:solidFill>
                  <a:srgbClr val="CC0099"/>
                </a:solidFill>
                <a:latin typeface="+mn-ea"/>
                <a:cs typeface="Times New Roman" pitchFamily="18" charset="0"/>
              </a:rPr>
              <a:t>bg </a:t>
            </a:r>
            <a:r>
              <a:rPr lang="zh-CN" altLang="en-US" sz="2600" dirty="0">
                <a:solidFill>
                  <a:srgbClr val="CC0099"/>
                </a:solidFill>
                <a:latin typeface="+mn-ea"/>
                <a:cs typeface="Times New Roman" pitchFamily="18" charset="0"/>
              </a:rPr>
              <a:t>命令</a:t>
            </a:r>
            <a:endParaRPr lang="en-US" altLang="zh-CN" sz="2600" dirty="0">
              <a:solidFill>
                <a:srgbClr val="CC0099"/>
              </a:solidFill>
              <a:latin typeface="+mn-ea"/>
              <a:cs typeface="Times New Roman" pitchFamily="18" charset="0"/>
            </a:endParaRPr>
          </a:p>
          <a:p>
            <a:pPr marL="344487" lvl="1" indent="0">
              <a:lnSpc>
                <a:spcPct val="80000"/>
              </a:lnSpc>
              <a:buNone/>
            </a:pPr>
            <a:r>
              <a:rPr lang="zh-CN" altLang="en-US" dirty="0">
                <a:latin typeface="+mn-ea"/>
                <a:cs typeface="Times New Roman" pitchFamily="18" charset="0"/>
              </a:rPr>
              <a:t>格式：</a:t>
            </a:r>
            <a:r>
              <a:rPr lang="en-US" altLang="zh-CN" dirty="0">
                <a:solidFill>
                  <a:srgbClr val="0000CC"/>
                </a:solidFill>
                <a:latin typeface="+mn-ea"/>
                <a:cs typeface="Times New Roman" pitchFamily="18" charset="0"/>
              </a:rPr>
              <a:t>bg [</a:t>
            </a:r>
            <a:r>
              <a:rPr lang="zh-CN" altLang="en-US" dirty="0">
                <a:solidFill>
                  <a:srgbClr val="0000CC"/>
                </a:solidFill>
                <a:latin typeface="+mn-ea"/>
                <a:cs typeface="Times New Roman" pitchFamily="18" charset="0"/>
              </a:rPr>
              <a:t>作业号</a:t>
            </a:r>
            <a:r>
              <a:rPr lang="en-US" altLang="zh-CN" dirty="0">
                <a:solidFill>
                  <a:srgbClr val="0000CC"/>
                </a:solidFill>
                <a:latin typeface="+mn-ea"/>
                <a:cs typeface="Times New Roman" pitchFamily="18" charset="0"/>
              </a:rPr>
              <a:t>] </a:t>
            </a:r>
            <a:r>
              <a:rPr lang="zh-CN" altLang="en-US" dirty="0">
                <a:latin typeface="+mn-ea"/>
                <a:cs typeface="Times New Roman" pitchFamily="18" charset="0"/>
              </a:rPr>
              <a:t>　　</a:t>
            </a:r>
            <a:r>
              <a:rPr lang="en-US" altLang="zh-CN" dirty="0">
                <a:solidFill>
                  <a:schemeClr val="tx1"/>
                </a:solidFill>
                <a:latin typeface="+mn-ea"/>
                <a:cs typeface="Times New Roman" pitchFamily="18" charset="0"/>
              </a:rPr>
              <a:t> </a:t>
            </a:r>
          </a:p>
          <a:p>
            <a:pPr marL="344487" lvl="1" indent="0">
              <a:lnSpc>
                <a:spcPct val="80000"/>
              </a:lnSpc>
              <a:buNone/>
            </a:pPr>
            <a:r>
              <a:rPr lang="zh-CN" altLang="en-US" dirty="0">
                <a:latin typeface="+mn-ea"/>
                <a:cs typeface="Times New Roman" pitchFamily="18" charset="0"/>
              </a:rPr>
              <a:t>功能：将前台作业切换到后台运行</a:t>
            </a:r>
            <a:r>
              <a:rPr lang="en-US" altLang="zh-CN" dirty="0">
                <a:latin typeface="+mn-ea"/>
                <a:cs typeface="Times New Roman" pitchFamily="18" charset="0"/>
              </a:rPr>
              <a:t>,</a:t>
            </a:r>
            <a:r>
              <a:rPr lang="zh-CN" altLang="en-US" dirty="0">
                <a:latin typeface="+mn-ea"/>
                <a:cs typeface="Times New Roman" pitchFamily="18" charset="0"/>
              </a:rPr>
              <a:t>功能上与在</a:t>
            </a:r>
            <a:r>
              <a:rPr lang="en-US" altLang="zh-CN" dirty="0">
                <a:latin typeface="+mn-ea"/>
                <a:cs typeface="Times New Roman" pitchFamily="18" charset="0"/>
              </a:rPr>
              <a:t>Shell</a:t>
            </a:r>
            <a:r>
              <a:rPr lang="zh-CN" altLang="en-US" dirty="0">
                <a:latin typeface="+mn-ea"/>
                <a:cs typeface="Times New Roman" pitchFamily="18" charset="0"/>
              </a:rPr>
              <a:t>命令行的末尾加上“</a:t>
            </a:r>
            <a:r>
              <a:rPr lang="en-US" altLang="zh-CN" dirty="0">
                <a:latin typeface="+mn-ea"/>
                <a:cs typeface="Times New Roman" pitchFamily="18" charset="0"/>
              </a:rPr>
              <a:t>&amp;</a:t>
            </a:r>
            <a:r>
              <a:rPr lang="zh-CN" altLang="en-US" dirty="0">
                <a:latin typeface="+mn-ea"/>
                <a:cs typeface="Times New Roman" pitchFamily="18" charset="0"/>
              </a:rPr>
              <a:t>”符号类似。若未指定作业号，则将当前作业切换到后台。</a:t>
            </a:r>
            <a:endParaRPr lang="en-US" altLang="zh-CN" dirty="0">
              <a:latin typeface="+mn-ea"/>
              <a:cs typeface="Times New Roman" pitchFamily="18" charset="0"/>
            </a:endParaRPr>
          </a:p>
          <a:p>
            <a:pPr marL="0" indent="-4763">
              <a:lnSpc>
                <a:spcPct val="80000"/>
              </a:lnSpc>
              <a:buNone/>
            </a:pPr>
            <a:r>
              <a:rPr lang="zh-CN" altLang="en-US" sz="2600" dirty="0">
                <a:latin typeface="+mn-ea"/>
                <a:cs typeface="Times New Roman" pitchFamily="18" charset="0"/>
              </a:rPr>
              <a:t>例如：使用</a:t>
            </a:r>
            <a:r>
              <a:rPr lang="en-US" altLang="zh-CN" sz="2600" dirty="0">
                <a:latin typeface="+mn-ea"/>
                <a:cs typeface="Times New Roman" pitchFamily="18" charset="0"/>
              </a:rPr>
              <a:t>vim</a:t>
            </a:r>
            <a:r>
              <a:rPr lang="zh-CN" altLang="en-US" sz="2600" dirty="0">
                <a:latin typeface="+mn-ea"/>
                <a:cs typeface="Times New Roman" pitchFamily="18" charset="0"/>
              </a:rPr>
              <a:t>编辑</a:t>
            </a:r>
            <a:r>
              <a:rPr lang="en-US" altLang="zh-CN" sz="2600" dirty="0" err="1">
                <a:latin typeface="+mn-ea"/>
                <a:cs typeface="Times New Roman" pitchFamily="18" charset="0"/>
              </a:rPr>
              <a:t>f1</a:t>
            </a:r>
            <a:r>
              <a:rPr lang="zh-CN" altLang="en-US" sz="2600" dirty="0">
                <a:latin typeface="+mn-ea"/>
                <a:cs typeface="Times New Roman" pitchFamily="18" charset="0"/>
              </a:rPr>
              <a:t>文件，然后使用</a:t>
            </a:r>
            <a:r>
              <a:rPr lang="en-US" altLang="zh-CN" sz="2600" dirty="0">
                <a:solidFill>
                  <a:srgbClr val="0000CC"/>
                </a:solidFill>
                <a:latin typeface="+mn-ea"/>
                <a:cs typeface="Times New Roman" pitchFamily="18" charset="0"/>
              </a:rPr>
              <a:t>[</a:t>
            </a:r>
            <a:r>
              <a:rPr lang="en-US" altLang="zh-CN" sz="2600" dirty="0" err="1">
                <a:solidFill>
                  <a:srgbClr val="0000CC"/>
                </a:solidFill>
                <a:latin typeface="+mn-ea"/>
                <a:cs typeface="Times New Roman" pitchFamily="18" charset="0"/>
              </a:rPr>
              <a:t>Ctrl+Z</a:t>
            </a:r>
            <a:r>
              <a:rPr lang="en-US" altLang="zh-CN" sz="2600" dirty="0">
                <a:solidFill>
                  <a:srgbClr val="0000CC"/>
                </a:solidFill>
                <a:latin typeface="+mn-ea"/>
                <a:cs typeface="Times New Roman" pitchFamily="18" charset="0"/>
              </a:rPr>
              <a:t>]</a:t>
            </a:r>
            <a:r>
              <a:rPr lang="zh-CN" altLang="en-US" sz="2600" dirty="0">
                <a:latin typeface="+mn-ea"/>
                <a:cs typeface="Times New Roman" pitchFamily="18" charset="0"/>
              </a:rPr>
              <a:t>组合键挂起</a:t>
            </a:r>
            <a:r>
              <a:rPr lang="en-US" altLang="zh-CN" sz="2600" dirty="0">
                <a:latin typeface="+mn-ea"/>
                <a:cs typeface="Times New Roman" pitchFamily="18" charset="0"/>
              </a:rPr>
              <a:t>vim,</a:t>
            </a:r>
            <a:r>
              <a:rPr lang="zh-CN" altLang="en-US" sz="2600" dirty="0">
                <a:latin typeface="+mn-ea"/>
                <a:cs typeface="Times New Roman" pitchFamily="18" charset="0"/>
              </a:rPr>
              <a:t>再将其切换到后台。</a:t>
            </a:r>
            <a:endParaRPr lang="en-US" altLang="zh-CN" sz="2600" dirty="0">
              <a:latin typeface="+mn-ea"/>
              <a:cs typeface="Times New Roman" pitchFamily="18" charset="0"/>
            </a:endParaRPr>
          </a:p>
          <a:p>
            <a:pPr marL="0" indent="-4763">
              <a:lnSpc>
                <a:spcPct val="80000"/>
              </a:lnSpc>
              <a:buNone/>
            </a:pPr>
            <a:r>
              <a:rPr lang="zh-CN" altLang="en-US" sz="2400" dirty="0"/>
              <a:t>［</a:t>
            </a:r>
            <a:r>
              <a:rPr lang="en-US" altLang="zh-CN" sz="2400" dirty="0"/>
              <a:t>root@ localhost  ~</a:t>
            </a:r>
            <a:r>
              <a:rPr lang="zh-CN" altLang="en-US" sz="2400" dirty="0"/>
              <a:t>］ </a:t>
            </a:r>
            <a:r>
              <a:rPr lang="en-US" altLang="zh-CN" sz="2400" dirty="0"/>
              <a:t># </a:t>
            </a:r>
            <a:r>
              <a:rPr lang="en-US" altLang="zh-CN" sz="2400" dirty="0">
                <a:solidFill>
                  <a:srgbClr val="0000CC"/>
                </a:solidFill>
              </a:rPr>
              <a:t>vim  f1</a:t>
            </a:r>
          </a:p>
          <a:p>
            <a:pPr marL="0" indent="-4763">
              <a:lnSpc>
                <a:spcPct val="80000"/>
              </a:lnSpc>
              <a:buNone/>
            </a:pPr>
            <a:r>
              <a:rPr lang="en-US" altLang="zh-CN" sz="2400" dirty="0">
                <a:latin typeface="+mn-ea"/>
                <a:cs typeface="Times New Roman" pitchFamily="18" charset="0"/>
              </a:rPr>
              <a:t> ……</a:t>
            </a:r>
          </a:p>
          <a:p>
            <a:pPr marL="0" indent="-4763">
              <a:lnSpc>
                <a:spcPct val="80000"/>
              </a:lnSpc>
              <a:buNone/>
            </a:pPr>
            <a:r>
              <a:rPr lang="en-US" altLang="zh-CN" sz="2400" dirty="0">
                <a:latin typeface="+mn-ea"/>
                <a:cs typeface="Times New Roman" pitchFamily="18" charset="0"/>
              </a:rPr>
              <a:t> [1]+  </a:t>
            </a:r>
            <a:r>
              <a:rPr lang="zh-CN" altLang="en-US" sz="2400" dirty="0">
                <a:latin typeface="+mn-ea"/>
                <a:cs typeface="Times New Roman" pitchFamily="18" charset="0"/>
              </a:rPr>
              <a:t>已停止</a:t>
            </a:r>
            <a:r>
              <a:rPr lang="en-US" altLang="zh-CN" sz="2400" dirty="0">
                <a:latin typeface="+mn-ea"/>
                <a:cs typeface="Times New Roman" pitchFamily="18" charset="0"/>
              </a:rPr>
              <a:t>              vim f1</a:t>
            </a:r>
          </a:p>
          <a:p>
            <a:pPr marL="0" indent="-4763">
              <a:lnSpc>
                <a:spcPct val="80000"/>
              </a:lnSpc>
              <a:buNone/>
            </a:pPr>
            <a:r>
              <a:rPr lang="zh-CN" altLang="en-US" sz="2400" dirty="0"/>
              <a:t>［</a:t>
            </a:r>
            <a:r>
              <a:rPr lang="en-US" altLang="zh-CN" sz="2400" dirty="0"/>
              <a:t>root@ localhost  ~</a:t>
            </a:r>
            <a:r>
              <a:rPr lang="zh-CN" altLang="en-US" sz="2400" dirty="0"/>
              <a:t>］ </a:t>
            </a:r>
            <a:r>
              <a:rPr lang="en-US" altLang="zh-CN" sz="2400" dirty="0"/>
              <a:t># </a:t>
            </a:r>
            <a:r>
              <a:rPr lang="en-US" altLang="zh-CN" sz="2400" dirty="0">
                <a:solidFill>
                  <a:srgbClr val="0000CC"/>
                </a:solidFill>
              </a:rPr>
              <a:t>bg  1 </a:t>
            </a:r>
          </a:p>
          <a:p>
            <a:pPr marL="0" indent="-4763">
              <a:lnSpc>
                <a:spcPct val="80000"/>
              </a:lnSpc>
              <a:buNone/>
            </a:pPr>
            <a:r>
              <a:rPr lang="en-US" altLang="zh-CN" sz="2400" dirty="0">
                <a:latin typeface="+mn-ea"/>
                <a:cs typeface="Times New Roman" pitchFamily="18" charset="0"/>
              </a:rPr>
              <a:t> [1]+  vim f1  &amp;</a:t>
            </a:r>
          </a:p>
          <a:p>
            <a:pPr marL="0" indent="-4763">
              <a:lnSpc>
                <a:spcPct val="80000"/>
              </a:lnSpc>
              <a:buNone/>
            </a:pPr>
            <a:endParaRPr lang="en-US" altLang="zh-CN" sz="2400" dirty="0">
              <a:latin typeface="+mn-ea"/>
              <a:cs typeface="Times New Roman" pitchFamily="18" charset="0"/>
            </a:endParaRPr>
          </a:p>
        </p:txBody>
      </p:sp>
      <p:sp>
        <p:nvSpPr>
          <p:cNvPr id="5" name="Rectangle 2"/>
          <p:cNvSpPr>
            <a:spLocks noGrp="1" noChangeArrowheads="1"/>
          </p:cNvSpPr>
          <p:nvPr>
            <p:ph type="title"/>
          </p:nvPr>
        </p:nvSpPr>
        <p:spPr>
          <a:xfrm>
            <a:off x="2207568" y="454608"/>
            <a:ext cx="7560840" cy="858837"/>
          </a:xfrm>
        </p:spPr>
        <p:txBody>
          <a:bodyPr/>
          <a:lstStyle/>
          <a:p>
            <a:r>
              <a:rPr lang="en-US" altLang="zh-CN" dirty="0"/>
              <a:t>7.2  </a:t>
            </a:r>
            <a:r>
              <a:rPr lang="zh-CN" altLang="en-US" dirty="0"/>
              <a:t>管理进程的</a:t>
            </a:r>
            <a:r>
              <a:rPr lang="en-US" altLang="zh-CN" dirty="0"/>
              <a:t>Shell</a:t>
            </a:r>
            <a:r>
              <a:rPr lang="zh-CN" altLang="en-US" dirty="0"/>
              <a:t>命令</a:t>
            </a:r>
            <a:endParaRPr lang="zh-CN" altLang="en-US" dirty="0">
              <a:latin typeface="+mj-ea"/>
            </a:endParaRP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8</a:t>
            </a:fld>
            <a:endParaRPr lang="en-US" altLang="zh-CN" dirty="0"/>
          </a:p>
        </p:txBody>
      </p:sp>
    </p:spTree>
    <p:extLst>
      <p:ext uri="{BB962C8B-B14F-4D97-AF65-F5344CB8AC3E}">
        <p14:creationId xmlns:p14="http://schemas.microsoft.com/office/powerpoint/2010/main" val="313275323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body" idx="1"/>
          </p:nvPr>
        </p:nvSpPr>
        <p:spPr>
          <a:xfrm>
            <a:off x="1051187" y="1487738"/>
            <a:ext cx="10153128" cy="4411662"/>
          </a:xfrm>
        </p:spPr>
        <p:txBody>
          <a:bodyPr/>
          <a:lstStyle/>
          <a:p>
            <a:pPr>
              <a:lnSpc>
                <a:spcPct val="120000"/>
              </a:lnSpc>
            </a:pPr>
            <a:r>
              <a:rPr lang="en-US" altLang="zh-CN" sz="2600" dirty="0" err="1">
                <a:solidFill>
                  <a:srgbClr val="CC0099"/>
                </a:solidFill>
                <a:latin typeface="+mn-ea"/>
                <a:cs typeface="Times New Roman" pitchFamily="18" charset="0"/>
              </a:rPr>
              <a:t>fg</a:t>
            </a:r>
            <a:r>
              <a:rPr lang="zh-CN" altLang="en-US" sz="2600" dirty="0">
                <a:solidFill>
                  <a:srgbClr val="CC0099"/>
                </a:solidFill>
                <a:latin typeface="+mn-ea"/>
                <a:cs typeface="Times New Roman" pitchFamily="18" charset="0"/>
              </a:rPr>
              <a:t>命令</a:t>
            </a:r>
            <a:endParaRPr lang="en-US" altLang="zh-CN" sz="2600" dirty="0">
              <a:solidFill>
                <a:srgbClr val="CC0099"/>
              </a:solidFill>
              <a:latin typeface="+mn-ea"/>
              <a:cs typeface="Times New Roman" pitchFamily="18" charset="0"/>
            </a:endParaRPr>
          </a:p>
          <a:p>
            <a:pPr marL="344487" lvl="1" indent="0">
              <a:lnSpc>
                <a:spcPct val="120000"/>
              </a:lnSpc>
              <a:buNone/>
            </a:pPr>
            <a:r>
              <a:rPr lang="zh-CN" altLang="en-US" dirty="0">
                <a:latin typeface="+mn-ea"/>
                <a:cs typeface="Times New Roman" pitchFamily="18" charset="0"/>
              </a:rPr>
              <a:t>格式：</a:t>
            </a:r>
            <a:r>
              <a:rPr lang="en-US" altLang="zh-CN" dirty="0" err="1">
                <a:solidFill>
                  <a:srgbClr val="0000CC"/>
                </a:solidFill>
                <a:latin typeface="+mn-ea"/>
                <a:cs typeface="Times New Roman" pitchFamily="18" charset="0"/>
              </a:rPr>
              <a:t>fg</a:t>
            </a:r>
            <a:r>
              <a:rPr lang="en-US" altLang="zh-CN" dirty="0">
                <a:solidFill>
                  <a:srgbClr val="0000CC"/>
                </a:solidFill>
                <a:latin typeface="+mn-ea"/>
                <a:cs typeface="Times New Roman" pitchFamily="18" charset="0"/>
              </a:rPr>
              <a:t> [</a:t>
            </a:r>
            <a:r>
              <a:rPr lang="zh-CN" altLang="en-US" dirty="0">
                <a:solidFill>
                  <a:srgbClr val="0000CC"/>
                </a:solidFill>
                <a:latin typeface="+mn-ea"/>
                <a:cs typeface="Times New Roman" pitchFamily="18" charset="0"/>
              </a:rPr>
              <a:t>作业号</a:t>
            </a:r>
            <a:r>
              <a:rPr lang="en-US" altLang="zh-CN" dirty="0">
                <a:solidFill>
                  <a:srgbClr val="0000CC"/>
                </a:solidFill>
                <a:latin typeface="+mn-ea"/>
                <a:cs typeface="Times New Roman" pitchFamily="18" charset="0"/>
              </a:rPr>
              <a:t>] </a:t>
            </a:r>
            <a:r>
              <a:rPr lang="zh-CN" altLang="en-US" dirty="0">
                <a:latin typeface="+mn-ea"/>
                <a:cs typeface="Times New Roman" pitchFamily="18" charset="0"/>
              </a:rPr>
              <a:t>　　</a:t>
            </a:r>
            <a:r>
              <a:rPr lang="en-US" altLang="zh-CN" dirty="0">
                <a:latin typeface="+mn-ea"/>
                <a:cs typeface="Times New Roman" pitchFamily="18" charset="0"/>
              </a:rPr>
              <a:t> </a:t>
            </a:r>
          </a:p>
          <a:p>
            <a:pPr marL="344487" lvl="1" indent="0">
              <a:lnSpc>
                <a:spcPct val="120000"/>
              </a:lnSpc>
              <a:buNone/>
            </a:pPr>
            <a:r>
              <a:rPr lang="zh-CN" altLang="en-US" dirty="0">
                <a:latin typeface="+mn-ea"/>
                <a:cs typeface="Times New Roman" pitchFamily="18" charset="0"/>
              </a:rPr>
              <a:t>功能：将后台作业切换到前台运行。若未指定作业号，则将后台作业序列中的第一个作业切换到前台。</a:t>
            </a:r>
            <a:endParaRPr lang="en-US" altLang="zh-CN" dirty="0">
              <a:latin typeface="+mn-ea"/>
              <a:cs typeface="Times New Roman" pitchFamily="18" charset="0"/>
            </a:endParaRPr>
          </a:p>
          <a:p>
            <a:pPr marL="0" indent="-4763">
              <a:lnSpc>
                <a:spcPct val="120000"/>
              </a:lnSpc>
              <a:buNone/>
            </a:pPr>
            <a:r>
              <a:rPr lang="zh-CN" altLang="en-US" sz="2600" dirty="0">
                <a:latin typeface="+mn-ea"/>
                <a:cs typeface="Times New Roman" pitchFamily="18" charset="0"/>
              </a:rPr>
              <a:t>例如：将前例中的作业号为</a:t>
            </a:r>
            <a:r>
              <a:rPr lang="en-US" altLang="zh-CN" sz="2600" dirty="0">
                <a:latin typeface="+mn-ea"/>
                <a:cs typeface="Times New Roman" pitchFamily="18" charset="0"/>
              </a:rPr>
              <a:t>1</a:t>
            </a:r>
            <a:r>
              <a:rPr lang="zh-CN" altLang="en-US" sz="2600" dirty="0">
                <a:latin typeface="+mn-ea"/>
                <a:cs typeface="Times New Roman" pitchFamily="18" charset="0"/>
              </a:rPr>
              <a:t>的作业切换到前台继续编辑。</a:t>
            </a:r>
            <a:endParaRPr lang="en-US" altLang="zh-CN" sz="2600" dirty="0">
              <a:latin typeface="+mn-ea"/>
              <a:cs typeface="Times New Roman" pitchFamily="18" charset="0"/>
            </a:endParaRPr>
          </a:p>
          <a:p>
            <a:pPr marL="0" indent="-4763">
              <a:lnSpc>
                <a:spcPct val="120000"/>
              </a:lnSpc>
              <a:buNone/>
            </a:pPr>
            <a:r>
              <a:rPr lang="zh-CN" altLang="en-US" sz="2600" dirty="0"/>
              <a:t>［</a:t>
            </a:r>
            <a:r>
              <a:rPr lang="en-US" altLang="zh-CN" sz="2600" dirty="0"/>
              <a:t>root@ localhost  ~</a:t>
            </a:r>
            <a:r>
              <a:rPr lang="zh-CN" altLang="en-US" sz="2600" dirty="0"/>
              <a:t>］ </a:t>
            </a:r>
            <a:r>
              <a:rPr lang="en-US" altLang="zh-CN" sz="2600" dirty="0"/>
              <a:t>#  </a:t>
            </a:r>
            <a:r>
              <a:rPr lang="en-US" altLang="zh-CN" sz="2600" dirty="0" err="1"/>
              <a:t>fg</a:t>
            </a:r>
            <a:r>
              <a:rPr lang="en-US" altLang="zh-CN" sz="2600" dirty="0"/>
              <a:t>  </a:t>
            </a:r>
            <a:r>
              <a:rPr lang="en-US" altLang="zh-CN" sz="2600" dirty="0">
                <a:solidFill>
                  <a:srgbClr val="0000CC"/>
                </a:solidFill>
              </a:rPr>
              <a:t>1</a:t>
            </a:r>
          </a:p>
          <a:p>
            <a:pPr marL="0" indent="-4763">
              <a:lnSpc>
                <a:spcPct val="120000"/>
              </a:lnSpc>
              <a:buNone/>
            </a:pPr>
            <a:r>
              <a:rPr lang="zh-CN" altLang="en-US" sz="2600" dirty="0"/>
              <a:t>这时系统进入</a:t>
            </a:r>
            <a:r>
              <a:rPr lang="en-US" altLang="zh-CN" sz="2600" dirty="0"/>
              <a:t>vim</a:t>
            </a:r>
            <a:r>
              <a:rPr lang="zh-CN" altLang="en-US" sz="2600" dirty="0"/>
              <a:t>编辑状态，用户可以继续编辑文件</a:t>
            </a:r>
            <a:r>
              <a:rPr lang="en-US" altLang="zh-CN" sz="2600" dirty="0" err="1"/>
              <a:t>f1</a:t>
            </a:r>
            <a:r>
              <a:rPr lang="zh-CN" altLang="en-US" sz="2600" dirty="0"/>
              <a:t>。</a:t>
            </a:r>
            <a:endParaRPr lang="en-US" altLang="zh-CN" sz="2600" dirty="0"/>
          </a:p>
          <a:p>
            <a:pPr marL="0" indent="-4763">
              <a:lnSpc>
                <a:spcPct val="120000"/>
              </a:lnSpc>
              <a:buNone/>
            </a:pPr>
            <a:endParaRPr lang="en-US" altLang="zh-CN" sz="2600" dirty="0">
              <a:latin typeface="+mn-ea"/>
              <a:cs typeface="Times New Roman" pitchFamily="18" charset="0"/>
            </a:endParaRPr>
          </a:p>
          <a:p>
            <a:pPr marL="344487" lvl="1" indent="0">
              <a:buNone/>
            </a:pPr>
            <a:endParaRPr lang="en-US" altLang="zh-CN" sz="2800" dirty="0">
              <a:latin typeface="+mn-ea"/>
              <a:cs typeface="Times New Roman" pitchFamily="18" charset="0"/>
            </a:endParaRPr>
          </a:p>
          <a:p>
            <a:pPr marL="344487" lvl="1" indent="0">
              <a:buNone/>
            </a:pPr>
            <a:endParaRPr lang="en-US" altLang="zh-CN" sz="2400" dirty="0">
              <a:latin typeface="+mn-ea"/>
              <a:cs typeface="Times New Roman" pitchFamily="18" charset="0"/>
            </a:endParaRPr>
          </a:p>
        </p:txBody>
      </p:sp>
      <p:sp>
        <p:nvSpPr>
          <p:cNvPr id="5" name="Rectangle 2"/>
          <p:cNvSpPr>
            <a:spLocks noGrp="1" noChangeArrowheads="1"/>
          </p:cNvSpPr>
          <p:nvPr>
            <p:ph type="title"/>
          </p:nvPr>
        </p:nvSpPr>
        <p:spPr>
          <a:xfrm>
            <a:off x="2207568" y="576848"/>
            <a:ext cx="7543800" cy="858837"/>
          </a:xfrm>
        </p:spPr>
        <p:txBody>
          <a:bodyPr/>
          <a:lstStyle/>
          <a:p>
            <a:r>
              <a:rPr lang="zh-CN" altLang="en-US" dirty="0">
                <a:latin typeface="+mj-ea"/>
              </a:rPr>
              <a:t>前后台切换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9</a:t>
            </a:fld>
            <a:endParaRPr lang="en-US" altLang="zh-CN"/>
          </a:p>
        </p:txBody>
      </p:sp>
    </p:spTree>
    <p:extLst>
      <p:ext uri="{BB962C8B-B14F-4D97-AF65-F5344CB8AC3E}">
        <p14:creationId xmlns:p14="http://schemas.microsoft.com/office/powerpoint/2010/main" val="97751152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body" idx="1"/>
          </p:nvPr>
        </p:nvSpPr>
        <p:spPr>
          <a:xfrm>
            <a:off x="1051187" y="1556792"/>
            <a:ext cx="10153128" cy="4411662"/>
          </a:xfrm>
        </p:spPr>
        <p:txBody>
          <a:bodyPr/>
          <a:lstStyle/>
          <a:p>
            <a:pPr>
              <a:lnSpc>
                <a:spcPct val="120000"/>
              </a:lnSpc>
            </a:pPr>
            <a:r>
              <a:rPr lang="en-US" altLang="zh-CN" sz="2600" dirty="0">
                <a:solidFill>
                  <a:srgbClr val="CC0099"/>
                </a:solidFill>
                <a:latin typeface="+mn-ea"/>
                <a:cs typeface="Times New Roman" pitchFamily="18" charset="0"/>
              </a:rPr>
              <a:t>jobs</a:t>
            </a:r>
            <a:r>
              <a:rPr lang="zh-CN" altLang="en-US" sz="2600" dirty="0">
                <a:solidFill>
                  <a:srgbClr val="CC0099"/>
                </a:solidFill>
                <a:latin typeface="+mn-ea"/>
                <a:cs typeface="Times New Roman" pitchFamily="18" charset="0"/>
              </a:rPr>
              <a:t>命令</a:t>
            </a:r>
            <a:endParaRPr lang="en-US" altLang="zh-CN" sz="2600" dirty="0">
              <a:solidFill>
                <a:srgbClr val="CC0099"/>
              </a:solidFill>
              <a:latin typeface="+mn-ea"/>
              <a:cs typeface="Times New Roman" pitchFamily="18" charset="0"/>
            </a:endParaRPr>
          </a:p>
          <a:p>
            <a:pPr marL="344487" lvl="1" indent="0">
              <a:lnSpc>
                <a:spcPct val="120000"/>
              </a:lnSpc>
              <a:buNone/>
            </a:pPr>
            <a:r>
              <a:rPr lang="zh-CN" altLang="en-US" dirty="0">
                <a:latin typeface="+mn-ea"/>
                <a:cs typeface="Times New Roman" pitchFamily="18" charset="0"/>
              </a:rPr>
              <a:t>格式：</a:t>
            </a:r>
            <a:r>
              <a:rPr lang="en-US" altLang="zh-CN" dirty="0">
                <a:solidFill>
                  <a:srgbClr val="0000CC"/>
                </a:solidFill>
                <a:latin typeface="+mn-ea"/>
                <a:cs typeface="Times New Roman" pitchFamily="18" charset="0"/>
              </a:rPr>
              <a:t>jobs [</a:t>
            </a:r>
            <a:r>
              <a:rPr lang="zh-CN" altLang="en-US" dirty="0">
                <a:solidFill>
                  <a:srgbClr val="0000CC"/>
                </a:solidFill>
                <a:latin typeface="+mn-ea"/>
                <a:cs typeface="Times New Roman" pitchFamily="18" charset="0"/>
              </a:rPr>
              <a:t>选项</a:t>
            </a:r>
            <a:r>
              <a:rPr lang="en-US" altLang="zh-CN" dirty="0">
                <a:solidFill>
                  <a:srgbClr val="0000CC"/>
                </a:solidFill>
                <a:latin typeface="+mn-ea"/>
                <a:cs typeface="Times New Roman" pitchFamily="18" charset="0"/>
              </a:rPr>
              <a:t>] </a:t>
            </a:r>
            <a:r>
              <a:rPr lang="zh-CN" altLang="en-US" dirty="0">
                <a:latin typeface="+mn-ea"/>
                <a:cs typeface="Times New Roman" pitchFamily="18" charset="0"/>
              </a:rPr>
              <a:t>　　</a:t>
            </a:r>
            <a:r>
              <a:rPr lang="en-US" altLang="zh-CN" dirty="0">
                <a:solidFill>
                  <a:schemeClr val="tx1"/>
                </a:solidFill>
                <a:latin typeface="+mn-ea"/>
                <a:cs typeface="Times New Roman" pitchFamily="18" charset="0"/>
              </a:rPr>
              <a:t> </a:t>
            </a:r>
          </a:p>
          <a:p>
            <a:pPr marL="344487" lvl="1" indent="0">
              <a:lnSpc>
                <a:spcPct val="120000"/>
              </a:lnSpc>
              <a:buNone/>
            </a:pPr>
            <a:r>
              <a:rPr lang="zh-CN" altLang="en-US" dirty="0">
                <a:latin typeface="+mn-ea"/>
                <a:cs typeface="Times New Roman" pitchFamily="18" charset="0"/>
              </a:rPr>
              <a:t>功能：显示当前所有作业。</a:t>
            </a:r>
            <a:endParaRPr lang="en-US" altLang="zh-CN" dirty="0">
              <a:latin typeface="+mn-ea"/>
              <a:cs typeface="Times New Roman" pitchFamily="18" charset="0"/>
            </a:endParaRPr>
          </a:p>
          <a:p>
            <a:pPr>
              <a:lnSpc>
                <a:spcPct val="120000"/>
              </a:lnSpc>
            </a:pPr>
            <a:r>
              <a:rPr lang="zh-CN" altLang="en-US" sz="2600" dirty="0">
                <a:latin typeface="+mn-ea"/>
                <a:cs typeface="Times New Roman" pitchFamily="18" charset="0"/>
              </a:rPr>
              <a:t>主要选项说明：　　</a:t>
            </a:r>
            <a:r>
              <a:rPr lang="en-US" altLang="zh-CN" sz="2600" dirty="0">
                <a:latin typeface="+mn-ea"/>
                <a:cs typeface="Times New Roman" pitchFamily="18" charset="0"/>
              </a:rPr>
              <a:t> </a:t>
            </a:r>
          </a:p>
          <a:p>
            <a:pPr marL="344487" lvl="1" indent="0">
              <a:lnSpc>
                <a:spcPct val="120000"/>
              </a:lnSpc>
              <a:buNone/>
            </a:pPr>
            <a:r>
              <a:rPr lang="en-US" altLang="zh-CN" dirty="0">
                <a:latin typeface="+mn-ea"/>
                <a:cs typeface="Times New Roman" pitchFamily="18" charset="0"/>
              </a:rPr>
              <a:t>-p  </a:t>
            </a:r>
            <a:r>
              <a:rPr lang="zh-CN" altLang="en-US" dirty="0">
                <a:latin typeface="+mn-ea"/>
                <a:cs typeface="Times New Roman" pitchFamily="18" charset="0"/>
              </a:rPr>
              <a:t>仅显示进程号</a:t>
            </a:r>
            <a:endParaRPr lang="en-US" altLang="zh-CN" dirty="0">
              <a:latin typeface="+mn-ea"/>
              <a:cs typeface="Times New Roman" pitchFamily="18" charset="0"/>
            </a:endParaRPr>
          </a:p>
          <a:p>
            <a:pPr marL="344487" lvl="1" indent="0">
              <a:lnSpc>
                <a:spcPct val="120000"/>
              </a:lnSpc>
              <a:buNone/>
            </a:pPr>
            <a:r>
              <a:rPr lang="en-US" altLang="zh-CN" dirty="0">
                <a:latin typeface="+mn-ea"/>
                <a:cs typeface="Times New Roman" pitchFamily="18" charset="0"/>
              </a:rPr>
              <a:t>-l  </a:t>
            </a:r>
            <a:r>
              <a:rPr lang="zh-CN" altLang="en-US" dirty="0">
                <a:latin typeface="+mn-ea"/>
                <a:cs typeface="Times New Roman" pitchFamily="18" charset="0"/>
              </a:rPr>
              <a:t>显示进程号和作业号</a:t>
            </a:r>
            <a:endParaRPr lang="en-US" altLang="zh-CN" dirty="0">
              <a:latin typeface="+mn-ea"/>
              <a:cs typeface="Times New Roman" pitchFamily="18" charset="0"/>
            </a:endParaRPr>
          </a:p>
          <a:p>
            <a:pPr marL="344487" lvl="1" indent="0">
              <a:buNone/>
            </a:pPr>
            <a:endParaRPr lang="en-US" altLang="zh-CN" sz="2800" dirty="0">
              <a:latin typeface="+mn-ea"/>
              <a:cs typeface="Times New Roman" pitchFamily="18" charset="0"/>
            </a:endParaRPr>
          </a:p>
          <a:p>
            <a:pPr marL="344487" lvl="1" indent="0">
              <a:buNone/>
            </a:pPr>
            <a:endParaRPr lang="en-US" altLang="zh-CN" sz="2400" dirty="0">
              <a:latin typeface="+mn-ea"/>
              <a:cs typeface="Times New Roman" pitchFamily="18" charset="0"/>
            </a:endParaRPr>
          </a:p>
          <a:p>
            <a:endParaRPr lang="zh-CN" altLang="en-US" sz="2000" b="0" dirty="0">
              <a:latin typeface="华文新魏" pitchFamily="2" charset="-122"/>
              <a:ea typeface="华文新魏" pitchFamily="2" charset="-122"/>
              <a:cs typeface="Times New Roman" pitchFamily="18" charset="0"/>
            </a:endParaRPr>
          </a:p>
        </p:txBody>
      </p:sp>
      <p:sp>
        <p:nvSpPr>
          <p:cNvPr id="5" name="Rectangle 2"/>
          <p:cNvSpPr>
            <a:spLocks noGrp="1" noChangeArrowheads="1"/>
          </p:cNvSpPr>
          <p:nvPr>
            <p:ph type="title"/>
          </p:nvPr>
        </p:nvSpPr>
        <p:spPr>
          <a:xfrm>
            <a:off x="2063552" y="561950"/>
            <a:ext cx="8352928" cy="858837"/>
          </a:xfrm>
        </p:spPr>
        <p:txBody>
          <a:bodyPr/>
          <a:lstStyle/>
          <a:p>
            <a:r>
              <a:rPr lang="zh-CN" altLang="en-US" dirty="0"/>
              <a:t>显示作业号</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10</a:t>
            </a:fld>
            <a:endParaRPr lang="en-US" altLang="zh-CN"/>
          </a:p>
        </p:txBody>
      </p:sp>
    </p:spTree>
    <p:extLst>
      <p:ext uri="{BB962C8B-B14F-4D97-AF65-F5344CB8AC3E}">
        <p14:creationId xmlns:p14="http://schemas.microsoft.com/office/powerpoint/2010/main" val="265594933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7" name="Rectangle 3"/>
          <p:cNvSpPr>
            <a:spLocks noGrp="1" noChangeArrowheads="1"/>
          </p:cNvSpPr>
          <p:nvPr>
            <p:ph type="body" idx="1"/>
          </p:nvPr>
        </p:nvSpPr>
        <p:spPr>
          <a:xfrm>
            <a:off x="1127448" y="1296486"/>
            <a:ext cx="9937104" cy="5390058"/>
          </a:xfrm>
        </p:spPr>
        <p:txBody>
          <a:bodyPr/>
          <a:lstStyle/>
          <a:p>
            <a:pPr>
              <a:lnSpc>
                <a:spcPct val="80000"/>
              </a:lnSpc>
              <a:buFontTx/>
              <a:buNone/>
            </a:pPr>
            <a:r>
              <a:rPr lang="zh-CN" altLang="en-US" sz="2200" dirty="0">
                <a:solidFill>
                  <a:srgbClr val="CC0099"/>
                </a:solidFill>
                <a:latin typeface="+mn-ea"/>
              </a:rPr>
              <a:t>	</a:t>
            </a:r>
            <a:r>
              <a:rPr lang="zh-CN" altLang="zh-CN" sz="2400" dirty="0">
                <a:solidFill>
                  <a:srgbClr val="CC0099"/>
                </a:solidFill>
                <a:latin typeface="+mn-ea"/>
              </a:rPr>
              <a:t>ps</a:t>
            </a:r>
            <a:r>
              <a:rPr lang="zh-CN" altLang="en-US" sz="2400" dirty="0">
                <a:solidFill>
                  <a:srgbClr val="CC0099"/>
                </a:solidFill>
                <a:latin typeface="+mn-ea"/>
              </a:rPr>
              <a:t>命令</a:t>
            </a:r>
          </a:p>
          <a:p>
            <a:pPr>
              <a:lnSpc>
                <a:spcPct val="80000"/>
              </a:lnSpc>
              <a:buFontTx/>
              <a:buNone/>
            </a:pPr>
            <a:r>
              <a:rPr lang="zh-CN" altLang="en-US" sz="2400" dirty="0">
                <a:latin typeface="+mn-ea"/>
              </a:rPr>
              <a:t>	</a:t>
            </a:r>
            <a:r>
              <a:rPr lang="zh-CN" altLang="en-US" sz="2400" dirty="0">
                <a:solidFill>
                  <a:srgbClr val="0000CC"/>
                </a:solidFill>
                <a:latin typeface="+mn-ea"/>
              </a:rPr>
              <a:t>格式：</a:t>
            </a:r>
            <a:r>
              <a:rPr lang="zh-CN" altLang="zh-CN" sz="2400" dirty="0">
                <a:solidFill>
                  <a:srgbClr val="0000CC"/>
                </a:solidFill>
                <a:latin typeface="+mn-ea"/>
              </a:rPr>
              <a:t>ps  [</a:t>
            </a:r>
            <a:r>
              <a:rPr lang="zh-CN" altLang="en-US" sz="2400" dirty="0">
                <a:solidFill>
                  <a:srgbClr val="0000CC"/>
                </a:solidFill>
                <a:latin typeface="+mn-ea"/>
              </a:rPr>
              <a:t>选项</a:t>
            </a:r>
            <a:r>
              <a:rPr lang="zh-CN" altLang="zh-CN" sz="2400" dirty="0">
                <a:solidFill>
                  <a:srgbClr val="0000CC"/>
                </a:solidFill>
                <a:latin typeface="+mn-ea"/>
              </a:rPr>
              <a:t>]</a:t>
            </a:r>
          </a:p>
          <a:p>
            <a:pPr>
              <a:lnSpc>
                <a:spcPct val="80000"/>
              </a:lnSpc>
              <a:buFontTx/>
              <a:buNone/>
            </a:pPr>
            <a:r>
              <a:rPr lang="zh-CN" altLang="zh-CN" sz="2400" dirty="0">
                <a:latin typeface="+mn-ea"/>
              </a:rPr>
              <a:t>	</a:t>
            </a:r>
            <a:r>
              <a:rPr lang="zh-CN" altLang="en-US" sz="2400" dirty="0">
                <a:latin typeface="+mn-ea"/>
              </a:rPr>
              <a:t>功能：显示系统中当前的进程及其状态。</a:t>
            </a:r>
          </a:p>
          <a:p>
            <a:pPr>
              <a:lnSpc>
                <a:spcPct val="80000"/>
              </a:lnSpc>
              <a:buFontTx/>
              <a:buNone/>
            </a:pPr>
            <a:r>
              <a:rPr lang="zh-CN" altLang="en-US" sz="2400" dirty="0">
                <a:latin typeface="+mn-ea"/>
              </a:rPr>
              <a:t>	常用选项：</a:t>
            </a:r>
          </a:p>
          <a:p>
            <a:pPr>
              <a:lnSpc>
                <a:spcPct val="80000"/>
              </a:lnSpc>
              <a:buFontTx/>
              <a:buNone/>
            </a:pPr>
            <a:r>
              <a:rPr lang="en-US" altLang="zh-CN" sz="2400" dirty="0">
                <a:latin typeface="+mn-ea"/>
              </a:rPr>
              <a:t>  </a:t>
            </a:r>
            <a:r>
              <a:rPr lang="zh-CN" altLang="zh-CN" sz="2400" dirty="0">
                <a:latin typeface="+mn-ea"/>
              </a:rPr>
              <a:t>-a  </a:t>
            </a:r>
            <a:r>
              <a:rPr lang="zh-CN" altLang="en-US" sz="2400" dirty="0">
                <a:latin typeface="+mn-ea"/>
              </a:rPr>
              <a:t>显示当前终端上所有用户的进程。</a:t>
            </a:r>
            <a:endParaRPr lang="en-US" altLang="zh-CN" sz="2400" dirty="0">
              <a:latin typeface="+mn-ea"/>
            </a:endParaRPr>
          </a:p>
          <a:p>
            <a:pPr>
              <a:lnSpc>
                <a:spcPct val="80000"/>
              </a:lnSpc>
              <a:buFontTx/>
              <a:buNone/>
            </a:pPr>
            <a:r>
              <a:rPr lang="en-US" altLang="zh-CN" sz="2400" dirty="0">
                <a:latin typeface="+mn-ea"/>
              </a:rPr>
              <a:t>  -e	</a:t>
            </a:r>
            <a:r>
              <a:rPr lang="zh-CN" altLang="en-US" sz="2400" dirty="0">
                <a:latin typeface="+mn-ea"/>
              </a:rPr>
              <a:t>显示所有进程的信息。</a:t>
            </a:r>
            <a:endParaRPr lang="en-US" altLang="zh-CN" sz="2400" dirty="0">
              <a:latin typeface="+mn-ea"/>
            </a:endParaRPr>
          </a:p>
          <a:p>
            <a:pPr>
              <a:lnSpc>
                <a:spcPct val="80000"/>
              </a:lnSpc>
              <a:buFontTx/>
              <a:buNone/>
            </a:pPr>
            <a:r>
              <a:rPr lang="en-US" altLang="zh-CN" sz="2400" b="0" dirty="0"/>
              <a:t>    </a:t>
            </a:r>
            <a:r>
              <a:rPr lang="en-US" altLang="zh-CN" sz="2400" dirty="0">
                <a:latin typeface="+mn-ea"/>
              </a:rPr>
              <a:t>-</a:t>
            </a:r>
            <a:r>
              <a:rPr lang="en-US" altLang="zh-CN" sz="2400" b="0" dirty="0"/>
              <a:t>f</a:t>
            </a:r>
            <a:r>
              <a:rPr lang="zh-CN" altLang="en-US" sz="2400" b="0" dirty="0"/>
              <a:t>　</a:t>
            </a:r>
            <a:r>
              <a:rPr lang="zh-CN" altLang="en-US" sz="2400" dirty="0"/>
              <a:t>完整显示进程间的父子关系。</a:t>
            </a:r>
            <a:endParaRPr lang="zh-CN" altLang="en-US" sz="2400" dirty="0">
              <a:latin typeface="+mn-ea"/>
            </a:endParaRPr>
          </a:p>
          <a:p>
            <a:pPr>
              <a:lnSpc>
                <a:spcPct val="80000"/>
              </a:lnSpc>
              <a:buFontTx/>
              <a:buNone/>
            </a:pPr>
            <a:r>
              <a:rPr lang="zh-CN" altLang="en-US" sz="2400" dirty="0">
                <a:latin typeface="+mn-ea"/>
              </a:rPr>
              <a:t>  </a:t>
            </a:r>
            <a:r>
              <a:rPr lang="zh-CN" altLang="zh-CN" sz="2400" dirty="0">
                <a:latin typeface="+mn-ea"/>
              </a:rPr>
              <a:t>-l </a:t>
            </a:r>
            <a:r>
              <a:rPr lang="en-US" altLang="zh-CN" sz="2400" dirty="0">
                <a:latin typeface="+mn-ea"/>
              </a:rPr>
              <a:t>	</a:t>
            </a:r>
            <a:r>
              <a:rPr lang="zh-CN" altLang="en-US" sz="2400" dirty="0">
                <a:latin typeface="+mn-ea"/>
              </a:rPr>
              <a:t>显示进程的详细信息，包括父进程号、登录的终端 </a:t>
            </a:r>
            <a:endParaRPr lang="en-US" altLang="zh-CN" sz="2400" dirty="0">
              <a:latin typeface="+mn-ea"/>
            </a:endParaRPr>
          </a:p>
          <a:p>
            <a:pPr>
              <a:lnSpc>
                <a:spcPct val="80000"/>
              </a:lnSpc>
              <a:buFontTx/>
              <a:buNone/>
            </a:pPr>
            <a:r>
              <a:rPr lang="en-US" altLang="zh-CN" sz="2400" dirty="0">
                <a:latin typeface="+mn-ea"/>
              </a:rPr>
              <a:t>      </a:t>
            </a:r>
            <a:r>
              <a:rPr lang="zh-CN" altLang="en-US" sz="2400" dirty="0">
                <a:latin typeface="+mn-ea"/>
              </a:rPr>
              <a:t>号、进程优先级等。</a:t>
            </a:r>
            <a:endParaRPr lang="en-US" altLang="zh-CN" sz="2400" dirty="0">
              <a:latin typeface="+mn-ea"/>
            </a:endParaRPr>
          </a:p>
          <a:p>
            <a:pPr>
              <a:lnSpc>
                <a:spcPct val="80000"/>
              </a:lnSpc>
              <a:buFontTx/>
              <a:buNone/>
            </a:pPr>
            <a:r>
              <a:rPr lang="en-US" altLang="zh-CN" sz="2400" dirty="0">
                <a:latin typeface="+mn-ea"/>
              </a:rPr>
              <a:t>  -C  </a:t>
            </a:r>
            <a:r>
              <a:rPr lang="zh-CN" altLang="en-US" sz="2400" dirty="0">
                <a:latin typeface="+mn-ea"/>
              </a:rPr>
              <a:t>用来指定命令名称，显示指定命令所产生的进程的信息</a:t>
            </a:r>
          </a:p>
          <a:p>
            <a:pPr>
              <a:lnSpc>
                <a:spcPct val="80000"/>
              </a:lnSpc>
              <a:buFontTx/>
              <a:buNone/>
            </a:pPr>
            <a:r>
              <a:rPr lang="zh-CN" altLang="en-US" sz="2400" dirty="0">
                <a:latin typeface="+mn-ea"/>
              </a:rPr>
              <a:t>	</a:t>
            </a:r>
            <a:r>
              <a:rPr lang="zh-CN" altLang="zh-CN" sz="2400" dirty="0">
                <a:latin typeface="+mn-ea"/>
              </a:rPr>
              <a:t>-u  </a:t>
            </a:r>
            <a:r>
              <a:rPr lang="zh-CN" altLang="en-US" sz="2400" dirty="0">
                <a:latin typeface="+mn-ea"/>
              </a:rPr>
              <a:t>显示指定用户的所有进程。</a:t>
            </a:r>
            <a:endParaRPr lang="en-US" altLang="zh-CN" sz="2400" dirty="0">
              <a:latin typeface="+mn-ea"/>
            </a:endParaRPr>
          </a:p>
          <a:p>
            <a:pPr>
              <a:lnSpc>
                <a:spcPct val="80000"/>
              </a:lnSpc>
              <a:buFontTx/>
              <a:buNone/>
            </a:pPr>
            <a:r>
              <a:rPr lang="en-US" altLang="zh-CN" sz="2400" dirty="0">
                <a:latin typeface="+mn-ea"/>
              </a:rPr>
              <a:t>  	</a:t>
            </a:r>
            <a:r>
              <a:rPr lang="zh-CN" altLang="zh-CN" sz="2400" dirty="0">
                <a:latin typeface="+mn-ea"/>
              </a:rPr>
              <a:t>-x  </a:t>
            </a:r>
            <a:r>
              <a:rPr lang="zh-CN" altLang="en-US" sz="2400" dirty="0">
                <a:latin typeface="+mn-ea"/>
              </a:rPr>
              <a:t>显示后台进程的信息。</a:t>
            </a:r>
            <a:endParaRPr lang="en-US" altLang="zh-CN" sz="2400" dirty="0">
              <a:latin typeface="+mn-ea"/>
            </a:endParaRPr>
          </a:p>
          <a:p>
            <a:pPr>
              <a:lnSpc>
                <a:spcPct val="80000"/>
              </a:lnSpc>
              <a:buFontTx/>
              <a:buNone/>
            </a:pPr>
            <a:r>
              <a:rPr lang="en-US" altLang="zh-CN" sz="2400" dirty="0">
                <a:latin typeface="+mn-ea"/>
              </a:rPr>
              <a:t>  -t&lt;</a:t>
            </a:r>
            <a:r>
              <a:rPr lang="zh-CN" altLang="en-US" sz="2400" dirty="0">
                <a:latin typeface="+mn-ea"/>
              </a:rPr>
              <a:t>终端号</a:t>
            </a:r>
            <a:r>
              <a:rPr lang="en-US" altLang="zh-CN" sz="2400" dirty="0">
                <a:latin typeface="+mn-ea"/>
              </a:rPr>
              <a:t>&gt;</a:t>
            </a:r>
            <a:r>
              <a:rPr lang="zh-CN" altLang="en-US" sz="2400" dirty="0">
                <a:latin typeface="+mn-ea"/>
              </a:rPr>
              <a:t>  显示指定终端上的进程信息。</a:t>
            </a:r>
            <a:r>
              <a:rPr lang="en-US" altLang="zh-CN" sz="2400" dirty="0">
                <a:latin typeface="+mn-ea"/>
              </a:rPr>
              <a:t>  </a:t>
            </a:r>
          </a:p>
          <a:p>
            <a:pPr>
              <a:buFontTx/>
              <a:buNone/>
            </a:pPr>
            <a:r>
              <a:rPr lang="en-US" altLang="zh-CN" sz="2400" dirty="0">
                <a:latin typeface="+mn-ea"/>
              </a:rPr>
              <a:t>    </a:t>
            </a:r>
            <a:endParaRPr lang="zh-CN" altLang="en-US" sz="2400" dirty="0">
              <a:latin typeface="+mn-ea"/>
            </a:endParaRPr>
          </a:p>
        </p:txBody>
      </p:sp>
      <p:sp>
        <p:nvSpPr>
          <p:cNvPr id="3" name="Rectangle 2"/>
          <p:cNvSpPr txBox="1">
            <a:spLocks noChangeArrowheads="1"/>
          </p:cNvSpPr>
          <p:nvPr/>
        </p:nvSpPr>
        <p:spPr bwMode="auto">
          <a:xfrm>
            <a:off x="1919536" y="437649"/>
            <a:ext cx="8568952"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a:lstStyle>
          <a:p>
            <a:r>
              <a:rPr lang="zh-CN" altLang="en-US" kern="0" dirty="0"/>
              <a:t>查看进程状态</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11</a:t>
            </a:fld>
            <a:endParaRPr lang="en-US" altLang="zh-CN"/>
          </a:p>
        </p:txBody>
      </p:sp>
    </p:spTree>
    <p:extLst>
      <p:ext uri="{BB962C8B-B14F-4D97-AF65-F5344CB8AC3E}">
        <p14:creationId xmlns:p14="http://schemas.microsoft.com/office/powerpoint/2010/main" val="1629078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1" name="Rectangle 3"/>
          <p:cNvSpPr>
            <a:spLocks noGrp="1" noChangeArrowheads="1"/>
          </p:cNvSpPr>
          <p:nvPr>
            <p:ph type="body" idx="1"/>
          </p:nvPr>
        </p:nvSpPr>
        <p:spPr>
          <a:xfrm>
            <a:off x="1343472" y="1196752"/>
            <a:ext cx="9577064" cy="5040560"/>
          </a:xfrm>
        </p:spPr>
        <p:txBody>
          <a:bodyPr/>
          <a:lstStyle/>
          <a:p>
            <a:pPr>
              <a:buFontTx/>
              <a:buNone/>
            </a:pPr>
            <a:r>
              <a:rPr lang="zh-CN" altLang="en-US" sz="2400" dirty="0">
                <a:latin typeface="+mn-ea"/>
              </a:rPr>
              <a:t>例如，查看当前用户在当前控制台上启动的进程：</a:t>
            </a:r>
            <a:endParaRPr lang="en-US" altLang="zh-CN" sz="2400" dirty="0">
              <a:latin typeface="+mn-ea"/>
            </a:endParaRPr>
          </a:p>
          <a:p>
            <a:pPr>
              <a:buFontTx/>
              <a:buNone/>
            </a:pPr>
            <a:r>
              <a:rPr lang="zh-CN" altLang="en-US" sz="2400" dirty="0"/>
              <a:t>［</a:t>
            </a:r>
            <a:r>
              <a:rPr lang="en-US" altLang="zh-CN" sz="2400" dirty="0"/>
              <a:t>root@ localhost  ~</a:t>
            </a:r>
            <a:r>
              <a:rPr lang="zh-CN" altLang="en-US" sz="2400" dirty="0"/>
              <a:t>］ </a:t>
            </a:r>
            <a:r>
              <a:rPr lang="en-US" altLang="zh-CN" sz="2400" dirty="0"/>
              <a:t>#  </a:t>
            </a:r>
            <a:r>
              <a:rPr lang="en-US" altLang="zh-CN" sz="2400" dirty="0" err="1">
                <a:solidFill>
                  <a:srgbClr val="0000CC"/>
                </a:solidFill>
                <a:latin typeface="+mn-ea"/>
              </a:rPr>
              <a:t>ps</a:t>
            </a:r>
            <a:br>
              <a:rPr lang="en-US" altLang="zh-CN" sz="2400" dirty="0">
                <a:latin typeface="+mn-ea"/>
              </a:rPr>
            </a:br>
            <a:r>
              <a:rPr lang="en-US" altLang="zh-CN" sz="2400" dirty="0">
                <a:latin typeface="+mn-ea"/>
              </a:rPr>
              <a:t>PID     TTY    </a:t>
            </a:r>
            <a:r>
              <a:rPr lang="zh-CN" altLang="en-US" sz="2400" dirty="0">
                <a:latin typeface="+mn-ea"/>
              </a:rPr>
              <a:t>　</a:t>
            </a:r>
            <a:r>
              <a:rPr lang="en-US" altLang="zh-CN" sz="2400" dirty="0">
                <a:latin typeface="+mn-ea"/>
              </a:rPr>
              <a:t>TIME</a:t>
            </a:r>
            <a:r>
              <a:rPr lang="zh-CN" altLang="en-US" sz="2400" dirty="0">
                <a:latin typeface="+mn-ea"/>
              </a:rPr>
              <a:t>　 　    </a:t>
            </a:r>
            <a:r>
              <a:rPr lang="en-US" altLang="zh-CN" sz="2400" dirty="0">
                <a:latin typeface="+mn-ea"/>
              </a:rPr>
              <a:t>CMD</a:t>
            </a:r>
            <a:br>
              <a:rPr lang="en-US" altLang="zh-CN" sz="2400" dirty="0">
                <a:latin typeface="+mn-ea"/>
              </a:rPr>
            </a:br>
            <a:r>
              <a:rPr lang="en-US" altLang="zh-CN" sz="2400" dirty="0">
                <a:latin typeface="+mn-ea"/>
              </a:rPr>
              <a:t>2135  </a:t>
            </a:r>
            <a:r>
              <a:rPr lang="zh-CN" altLang="en-US" sz="2400" dirty="0">
                <a:latin typeface="+mn-ea"/>
              </a:rPr>
              <a:t>　</a:t>
            </a:r>
            <a:r>
              <a:rPr lang="en-US" altLang="zh-CN" sz="2400" dirty="0">
                <a:latin typeface="+mn-ea"/>
              </a:rPr>
              <a:t>pts/0 </a:t>
            </a:r>
            <a:r>
              <a:rPr lang="zh-CN" altLang="en-US" sz="2400" dirty="0">
                <a:latin typeface="+mn-ea"/>
              </a:rPr>
              <a:t>　 </a:t>
            </a:r>
            <a:r>
              <a:rPr lang="en-US" altLang="zh-CN" sz="2400" dirty="0">
                <a:latin typeface="+mn-ea"/>
              </a:rPr>
              <a:t>00:00:00</a:t>
            </a:r>
            <a:r>
              <a:rPr lang="zh-CN" altLang="en-US" sz="2400" dirty="0">
                <a:latin typeface="+mn-ea"/>
              </a:rPr>
              <a:t>　　 </a:t>
            </a:r>
            <a:r>
              <a:rPr lang="en-US" altLang="zh-CN" sz="2400" dirty="0">
                <a:latin typeface="+mn-ea"/>
              </a:rPr>
              <a:t>bash</a:t>
            </a:r>
            <a:br>
              <a:rPr lang="en-US" altLang="zh-CN" sz="2400" dirty="0">
                <a:latin typeface="+mn-ea"/>
              </a:rPr>
            </a:br>
            <a:r>
              <a:rPr lang="en-US" altLang="zh-CN" sz="2400" dirty="0">
                <a:latin typeface="+mn-ea"/>
              </a:rPr>
              <a:t>3178  </a:t>
            </a:r>
            <a:r>
              <a:rPr lang="zh-CN" altLang="en-US" sz="2400" dirty="0">
                <a:latin typeface="+mn-ea"/>
              </a:rPr>
              <a:t>　</a:t>
            </a:r>
            <a:r>
              <a:rPr lang="en-US" altLang="zh-CN" sz="2400" dirty="0">
                <a:latin typeface="+mn-ea"/>
              </a:rPr>
              <a:t>pts/0 </a:t>
            </a:r>
            <a:r>
              <a:rPr lang="zh-CN" altLang="en-US" sz="2400" dirty="0">
                <a:latin typeface="+mn-ea"/>
              </a:rPr>
              <a:t>　 </a:t>
            </a:r>
            <a:r>
              <a:rPr lang="en-US" altLang="zh-CN" sz="2400" dirty="0">
                <a:latin typeface="+mn-ea"/>
              </a:rPr>
              <a:t>00:00:00</a:t>
            </a:r>
            <a:r>
              <a:rPr lang="zh-CN" altLang="en-US" sz="2400" dirty="0">
                <a:latin typeface="+mn-ea"/>
              </a:rPr>
              <a:t>　　 </a:t>
            </a:r>
            <a:r>
              <a:rPr lang="en-US" altLang="zh-CN" sz="2400" dirty="0" err="1">
                <a:latin typeface="+mn-ea"/>
              </a:rPr>
              <a:t>ps</a:t>
            </a:r>
            <a:br>
              <a:rPr lang="en-US" altLang="zh-CN" sz="2400" dirty="0">
                <a:latin typeface="+mn-ea"/>
              </a:rPr>
            </a:br>
            <a:endParaRPr lang="en-US" altLang="zh-CN" sz="2400" dirty="0">
              <a:latin typeface="+mn-ea"/>
            </a:endParaRPr>
          </a:p>
          <a:p>
            <a:pPr>
              <a:buFontTx/>
              <a:buNone/>
            </a:pPr>
            <a:r>
              <a:rPr lang="en-US" altLang="zh-CN" sz="2400" dirty="0">
                <a:latin typeface="+mn-ea"/>
              </a:rPr>
              <a:t>  </a:t>
            </a:r>
            <a:r>
              <a:rPr lang="zh-CN" altLang="en-US" sz="2400" dirty="0">
                <a:latin typeface="+mn-ea"/>
              </a:rPr>
              <a:t>显示信息分为</a:t>
            </a:r>
            <a:r>
              <a:rPr lang="en-US" altLang="zh-CN" sz="2400" dirty="0">
                <a:latin typeface="+mn-ea"/>
              </a:rPr>
              <a:t>4</a:t>
            </a:r>
            <a:r>
              <a:rPr lang="zh-CN" altLang="en-US" sz="2400" dirty="0">
                <a:latin typeface="+mn-ea"/>
              </a:rPr>
              <a:t>个字段，其中：</a:t>
            </a:r>
            <a:br>
              <a:rPr lang="zh-CN" altLang="en-US" sz="2400" dirty="0">
                <a:latin typeface="+mn-ea"/>
              </a:rPr>
            </a:br>
            <a:r>
              <a:rPr lang="en-US" altLang="zh-CN" sz="2400" dirty="0" err="1">
                <a:solidFill>
                  <a:srgbClr val="0000CC"/>
                </a:solidFill>
                <a:latin typeface="+mn-ea"/>
              </a:rPr>
              <a:t>PID</a:t>
            </a:r>
            <a:r>
              <a:rPr lang="zh-CN" altLang="en-US" sz="2400" dirty="0">
                <a:latin typeface="+mn-ea"/>
              </a:rPr>
              <a:t>：进程号，系统根据这个编号处理相应的进程</a:t>
            </a:r>
            <a:br>
              <a:rPr lang="zh-CN" altLang="en-US" sz="2400" dirty="0">
                <a:latin typeface="+mn-ea"/>
              </a:rPr>
            </a:br>
            <a:r>
              <a:rPr lang="en-US" altLang="zh-CN" sz="2400" dirty="0">
                <a:solidFill>
                  <a:srgbClr val="0000CC"/>
                </a:solidFill>
                <a:latin typeface="+mn-ea"/>
              </a:rPr>
              <a:t>TTY</a:t>
            </a:r>
            <a:r>
              <a:rPr lang="zh-CN" altLang="en-US" sz="2400" dirty="0">
                <a:latin typeface="+mn-ea"/>
              </a:rPr>
              <a:t>：登录的终端号，桌面环境或远程登录的终端号为</a:t>
            </a:r>
            <a:r>
              <a:rPr lang="en-US" altLang="zh-CN" sz="2400" dirty="0">
                <a:latin typeface="+mn-ea"/>
              </a:rPr>
              <a:t>pts/n(n</a:t>
            </a:r>
            <a:r>
              <a:rPr lang="zh-CN" altLang="en-US" sz="2400" dirty="0">
                <a:latin typeface="+mn-ea"/>
              </a:rPr>
              <a:t>为终端编号，从</a:t>
            </a:r>
            <a:r>
              <a:rPr lang="en-US" altLang="zh-CN" sz="2400" dirty="0">
                <a:latin typeface="+mn-ea"/>
              </a:rPr>
              <a:t>0</a:t>
            </a:r>
            <a:r>
              <a:rPr lang="zh-CN" altLang="en-US" sz="2400" dirty="0">
                <a:latin typeface="+mn-ea"/>
              </a:rPr>
              <a:t>开始依次编号</a:t>
            </a:r>
            <a:r>
              <a:rPr lang="en-US" altLang="zh-CN" sz="2400" dirty="0">
                <a:latin typeface="+mn-ea"/>
              </a:rPr>
              <a:t>)</a:t>
            </a:r>
            <a:r>
              <a:rPr lang="zh-CN" altLang="en-US" sz="2400" dirty="0">
                <a:latin typeface="+mn-ea"/>
              </a:rPr>
              <a:t>，字符界面的终端号表示为</a:t>
            </a:r>
            <a:r>
              <a:rPr lang="en-US" altLang="zh-CN" sz="2400" dirty="0">
                <a:latin typeface="+mn-ea"/>
              </a:rPr>
              <a:t>tty1</a:t>
            </a:r>
            <a:r>
              <a:rPr lang="zh-CN" altLang="en-US" sz="2400" dirty="0">
                <a:latin typeface="+mn-ea"/>
              </a:rPr>
              <a:t>～</a:t>
            </a:r>
            <a:r>
              <a:rPr lang="en-US" altLang="zh-CN" sz="2400" dirty="0">
                <a:latin typeface="+mn-ea"/>
              </a:rPr>
              <a:t>tty6</a:t>
            </a:r>
            <a:r>
              <a:rPr lang="zh-CN" altLang="en-US" sz="2400" dirty="0">
                <a:latin typeface="+mn-ea"/>
              </a:rPr>
              <a:t>，没有控制台的进程显示为“</a:t>
            </a:r>
            <a:r>
              <a:rPr lang="en-US" altLang="zh-CN" sz="2400" dirty="0">
                <a:latin typeface="+mn-ea"/>
              </a:rPr>
              <a:t>?”</a:t>
            </a:r>
            <a:br>
              <a:rPr lang="en-US" altLang="zh-CN" sz="2400" dirty="0">
                <a:latin typeface="+mn-ea"/>
              </a:rPr>
            </a:br>
            <a:r>
              <a:rPr lang="en-US" altLang="zh-CN" sz="2400" dirty="0">
                <a:solidFill>
                  <a:srgbClr val="0000CC"/>
                </a:solidFill>
                <a:latin typeface="+mn-ea"/>
              </a:rPr>
              <a:t>TIME</a:t>
            </a:r>
            <a:r>
              <a:rPr lang="zh-CN" altLang="en-US" sz="2400" dirty="0">
                <a:latin typeface="+mn-ea"/>
              </a:rPr>
              <a:t>：表示该进程使用</a:t>
            </a:r>
            <a:r>
              <a:rPr lang="en-US" altLang="zh-CN" sz="2400" dirty="0">
                <a:latin typeface="+mn-ea"/>
              </a:rPr>
              <a:t>CPU</a:t>
            </a:r>
            <a:r>
              <a:rPr lang="zh-CN" altLang="en-US" sz="2400" dirty="0">
                <a:latin typeface="+mn-ea"/>
              </a:rPr>
              <a:t>的时间</a:t>
            </a:r>
            <a:br>
              <a:rPr lang="zh-CN" altLang="en-US" sz="2400" dirty="0">
                <a:latin typeface="+mn-ea"/>
              </a:rPr>
            </a:br>
            <a:r>
              <a:rPr lang="en-US" altLang="zh-CN" sz="2400" dirty="0">
                <a:solidFill>
                  <a:srgbClr val="0000CC"/>
                </a:solidFill>
                <a:latin typeface="+mn-ea"/>
              </a:rPr>
              <a:t>CMD</a:t>
            </a:r>
            <a:r>
              <a:rPr lang="zh-CN" altLang="en-US" sz="2400" dirty="0">
                <a:latin typeface="+mn-ea"/>
              </a:rPr>
              <a:t>： 表示正在执行的命令名</a:t>
            </a:r>
            <a:br>
              <a:rPr lang="zh-CN" altLang="en-US" sz="2400" dirty="0">
                <a:latin typeface="+mn-ea"/>
              </a:rPr>
            </a:br>
            <a:endParaRPr lang="zh-CN" altLang="en-US" sz="2400" dirty="0">
              <a:latin typeface="+mn-ea"/>
            </a:endParaRPr>
          </a:p>
        </p:txBody>
      </p:sp>
      <p:sp>
        <p:nvSpPr>
          <p:cNvPr id="4" name="Rectangle 2"/>
          <p:cNvSpPr txBox="1">
            <a:spLocks noChangeArrowheads="1"/>
          </p:cNvSpPr>
          <p:nvPr/>
        </p:nvSpPr>
        <p:spPr bwMode="auto">
          <a:xfrm>
            <a:off x="2135560" y="334764"/>
            <a:ext cx="8136904"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a:lstStyle>
          <a:p>
            <a:r>
              <a:rPr lang="zh-CN" altLang="en-US" kern="0" dirty="0"/>
              <a:t>查看进程状态 </a:t>
            </a:r>
          </a:p>
        </p:txBody>
      </p:sp>
      <p:sp>
        <p:nvSpPr>
          <p:cNvPr id="2" name="灯片编号占位符 1">
            <a:extLst>
              <a:ext uri="{FF2B5EF4-FFF2-40B4-BE49-F238E27FC236}">
                <a16:creationId xmlns:a16="http://schemas.microsoft.com/office/drawing/2014/main" id="{2238AE09-A6DF-7D75-9E15-3870963654A6}"/>
              </a:ext>
            </a:extLst>
          </p:cNvPr>
          <p:cNvSpPr>
            <a:spLocks noGrp="1"/>
          </p:cNvSpPr>
          <p:nvPr>
            <p:ph type="sldNum" sz="quarter" idx="11"/>
          </p:nvPr>
        </p:nvSpPr>
        <p:spPr/>
        <p:txBody>
          <a:bodyPr/>
          <a:lstStyle/>
          <a:p>
            <a:pPr>
              <a:defRPr/>
            </a:pPr>
            <a:fld id="{110871B5-850E-4E14-A636-3EC679EBF038}" type="slidenum">
              <a:rPr lang="en-US" altLang="zh-CN" smtClean="0"/>
              <a:pPr>
                <a:defRPr/>
              </a:pPr>
              <a:t>12</a:t>
            </a:fld>
            <a:endParaRPr lang="en-US" altLang="zh-CN"/>
          </a:p>
        </p:txBody>
      </p:sp>
    </p:spTree>
    <p:extLst>
      <p:ext uri="{BB962C8B-B14F-4D97-AF65-F5344CB8AC3E}">
        <p14:creationId xmlns:p14="http://schemas.microsoft.com/office/powerpoint/2010/main" val="3916082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Rectangle 2"/>
          <p:cNvSpPr>
            <a:spLocks noGrp="1" noChangeArrowheads="1"/>
          </p:cNvSpPr>
          <p:nvPr>
            <p:ph type="body" idx="1"/>
          </p:nvPr>
        </p:nvSpPr>
        <p:spPr>
          <a:xfrm>
            <a:off x="1343472" y="451520"/>
            <a:ext cx="9577063" cy="6073824"/>
          </a:xfrm>
        </p:spPr>
        <p:txBody>
          <a:bodyPr/>
          <a:lstStyle/>
          <a:p>
            <a:pPr>
              <a:lnSpc>
                <a:spcPct val="150000"/>
              </a:lnSpc>
              <a:buFontTx/>
              <a:buNone/>
            </a:pPr>
            <a:r>
              <a:rPr lang="zh-CN" altLang="en-US" sz="2200" dirty="0">
                <a:latin typeface="+mn-ea"/>
              </a:rPr>
              <a:t>查看当前控制台上进程的详细信息。</a:t>
            </a:r>
            <a:br>
              <a:rPr lang="zh-CN" altLang="en-US" sz="2800" dirty="0">
                <a:latin typeface="+mn-ea"/>
              </a:rPr>
            </a:br>
            <a:r>
              <a:rPr lang="zh-CN" altLang="en-US" sz="2400" dirty="0"/>
              <a:t>［</a:t>
            </a:r>
            <a:r>
              <a:rPr lang="en-US" altLang="zh-CN" sz="2400" dirty="0"/>
              <a:t>root@ localhost  ~</a:t>
            </a:r>
            <a:r>
              <a:rPr lang="zh-CN" altLang="en-US" sz="2400" dirty="0"/>
              <a:t>］ </a:t>
            </a:r>
            <a:r>
              <a:rPr lang="en-US" altLang="zh-CN" sz="2400" dirty="0"/>
              <a:t># </a:t>
            </a:r>
            <a:r>
              <a:rPr lang="en-US" altLang="zh-CN" sz="2400" dirty="0" err="1">
                <a:solidFill>
                  <a:srgbClr val="0000CC"/>
                </a:solidFill>
                <a:latin typeface="+mn-ea"/>
              </a:rPr>
              <a:t>ps</a:t>
            </a:r>
            <a:r>
              <a:rPr lang="zh-CN" altLang="en-US" sz="2400" dirty="0">
                <a:solidFill>
                  <a:srgbClr val="0000CC"/>
                </a:solidFill>
                <a:latin typeface="+mn-ea"/>
              </a:rPr>
              <a:t>　</a:t>
            </a:r>
            <a:r>
              <a:rPr lang="en-US" altLang="zh-CN" sz="2400" dirty="0">
                <a:solidFill>
                  <a:srgbClr val="0000CC"/>
                </a:solidFill>
                <a:latin typeface="+mn-ea"/>
              </a:rPr>
              <a:t>–l</a:t>
            </a:r>
          </a:p>
          <a:p>
            <a:pPr>
              <a:lnSpc>
                <a:spcPct val="80000"/>
              </a:lnSpc>
              <a:buFontTx/>
              <a:buNone/>
            </a:pPr>
            <a:endParaRPr lang="en-US" altLang="zh-CN" sz="2200" dirty="0">
              <a:latin typeface="+mn-ea"/>
            </a:endParaRPr>
          </a:p>
          <a:p>
            <a:pPr>
              <a:lnSpc>
                <a:spcPct val="70000"/>
              </a:lnSpc>
              <a:buFontTx/>
              <a:buNone/>
            </a:pPr>
            <a:endParaRPr lang="en-US" altLang="zh-CN" sz="2200" dirty="0">
              <a:latin typeface="+mn-ea"/>
            </a:endParaRPr>
          </a:p>
          <a:p>
            <a:pPr>
              <a:lnSpc>
                <a:spcPct val="70000"/>
              </a:lnSpc>
              <a:buFontTx/>
              <a:buNone/>
            </a:pPr>
            <a:r>
              <a:rPr lang="zh-CN" altLang="en-US" sz="2200" dirty="0">
                <a:latin typeface="+mn-ea"/>
              </a:rPr>
              <a:t>除了显示</a:t>
            </a:r>
            <a:r>
              <a:rPr lang="en-US" altLang="zh-CN" sz="2200" dirty="0" err="1">
                <a:latin typeface="+mn-ea"/>
              </a:rPr>
              <a:t>ps</a:t>
            </a:r>
            <a:r>
              <a:rPr lang="zh-CN" altLang="en-US" sz="2200" dirty="0">
                <a:latin typeface="+mn-ea"/>
              </a:rPr>
              <a:t>命令的</a:t>
            </a:r>
            <a:r>
              <a:rPr lang="en-US" altLang="zh-CN" sz="2200" dirty="0">
                <a:latin typeface="+mn-ea"/>
              </a:rPr>
              <a:t>4</a:t>
            </a:r>
            <a:r>
              <a:rPr lang="zh-CN" altLang="en-US" sz="2200" dirty="0">
                <a:latin typeface="+mn-ea"/>
              </a:rPr>
              <a:t>个基本字段外，另外还有</a:t>
            </a:r>
            <a:r>
              <a:rPr lang="en-US" altLang="zh-CN" sz="2200" dirty="0">
                <a:latin typeface="+mn-ea"/>
              </a:rPr>
              <a:t>10</a:t>
            </a:r>
            <a:r>
              <a:rPr lang="zh-CN" altLang="en-US" sz="2200" dirty="0">
                <a:latin typeface="+mn-ea"/>
              </a:rPr>
              <a:t>个附加信息可供查</a:t>
            </a:r>
            <a:endParaRPr lang="en-US" altLang="zh-CN" sz="2200" dirty="0">
              <a:latin typeface="+mn-ea"/>
            </a:endParaRPr>
          </a:p>
          <a:p>
            <a:pPr>
              <a:lnSpc>
                <a:spcPct val="70000"/>
              </a:lnSpc>
              <a:buFontTx/>
              <a:buNone/>
            </a:pPr>
            <a:r>
              <a:rPr lang="zh-CN" altLang="en-US" sz="2200" dirty="0">
                <a:latin typeface="+mn-ea"/>
              </a:rPr>
              <a:t>看。其主要输出项说明如下：</a:t>
            </a:r>
          </a:p>
          <a:p>
            <a:pPr>
              <a:lnSpc>
                <a:spcPct val="70000"/>
              </a:lnSpc>
              <a:buFontTx/>
              <a:buNone/>
            </a:pPr>
            <a:r>
              <a:rPr lang="en-US" altLang="zh-CN" sz="2200" dirty="0">
                <a:latin typeface="+mn-ea"/>
              </a:rPr>
              <a:t>F</a:t>
            </a:r>
            <a:r>
              <a:rPr lang="zh-CN" altLang="en-US" sz="2200" dirty="0">
                <a:latin typeface="+mn-ea"/>
              </a:rPr>
              <a:t>：内核分配给进程的系统标记</a:t>
            </a:r>
          </a:p>
          <a:p>
            <a:pPr>
              <a:lnSpc>
                <a:spcPct val="70000"/>
              </a:lnSpc>
              <a:buFontTx/>
              <a:buNone/>
            </a:pPr>
            <a:r>
              <a:rPr lang="en-US" altLang="zh-CN" sz="2200" dirty="0">
                <a:latin typeface="+mn-ea"/>
              </a:rPr>
              <a:t>S</a:t>
            </a:r>
            <a:r>
              <a:rPr lang="zh-CN" altLang="en-US" sz="2200" dirty="0">
                <a:latin typeface="+mn-ea"/>
              </a:rPr>
              <a:t>：进程状态代码，主要状态有以下几种：</a:t>
            </a:r>
            <a:endParaRPr lang="en-US" altLang="zh-CN" sz="2200" dirty="0">
              <a:latin typeface="+mn-ea"/>
            </a:endParaRPr>
          </a:p>
          <a:p>
            <a:pPr lvl="1">
              <a:lnSpc>
                <a:spcPct val="70000"/>
              </a:lnSpc>
              <a:buFontTx/>
              <a:buNone/>
            </a:pPr>
            <a:r>
              <a:rPr lang="en-US" altLang="zh-CN" sz="1600" dirty="0">
                <a:latin typeface="+mn-ea"/>
              </a:rPr>
              <a:t>D</a:t>
            </a:r>
            <a:r>
              <a:rPr lang="zh-CN" altLang="en-US" sz="1600" dirty="0">
                <a:latin typeface="+mn-ea"/>
              </a:rPr>
              <a:t>：不可中断的休眠状态，常用于设备</a:t>
            </a:r>
            <a:r>
              <a:rPr lang="en-US" altLang="zh-CN" sz="1600" dirty="0">
                <a:latin typeface="+mn-ea"/>
              </a:rPr>
              <a:t>I/O</a:t>
            </a:r>
          </a:p>
          <a:p>
            <a:pPr lvl="1">
              <a:lnSpc>
                <a:spcPct val="70000"/>
              </a:lnSpc>
              <a:buFontTx/>
              <a:buNone/>
            </a:pPr>
            <a:r>
              <a:rPr lang="en-US" altLang="zh-CN" sz="1600" dirty="0">
                <a:latin typeface="+mn-ea"/>
              </a:rPr>
              <a:t>R</a:t>
            </a:r>
            <a:r>
              <a:rPr lang="zh-CN" altLang="en-US" sz="1600" dirty="0">
                <a:latin typeface="+mn-ea"/>
              </a:rPr>
              <a:t>：运行状态</a:t>
            </a:r>
            <a:endParaRPr lang="en-US" altLang="zh-CN" sz="1600" dirty="0">
              <a:latin typeface="+mn-ea"/>
            </a:endParaRPr>
          </a:p>
          <a:p>
            <a:pPr lvl="1">
              <a:lnSpc>
                <a:spcPct val="70000"/>
              </a:lnSpc>
              <a:buFontTx/>
              <a:buNone/>
            </a:pPr>
            <a:r>
              <a:rPr lang="en-US" altLang="zh-CN" sz="1600" dirty="0">
                <a:latin typeface="+mn-ea"/>
              </a:rPr>
              <a:t>S</a:t>
            </a:r>
            <a:r>
              <a:rPr lang="zh-CN" altLang="en-US" sz="1600" dirty="0">
                <a:latin typeface="+mn-ea"/>
              </a:rPr>
              <a:t>：休眠状态</a:t>
            </a:r>
            <a:endParaRPr lang="en-US" altLang="zh-CN" sz="1600" dirty="0">
              <a:latin typeface="+mn-ea"/>
            </a:endParaRPr>
          </a:p>
          <a:p>
            <a:pPr lvl="1">
              <a:lnSpc>
                <a:spcPct val="70000"/>
              </a:lnSpc>
              <a:buFontTx/>
              <a:buNone/>
            </a:pPr>
            <a:r>
              <a:rPr lang="en-US" altLang="zh-CN" sz="1600" dirty="0">
                <a:latin typeface="+mn-ea"/>
              </a:rPr>
              <a:t>T</a:t>
            </a:r>
            <a:r>
              <a:rPr lang="zh-CN" altLang="en-US" sz="1600" dirty="0">
                <a:latin typeface="+mn-ea"/>
              </a:rPr>
              <a:t>：暂停或终止状态</a:t>
            </a:r>
            <a:endParaRPr lang="en-US" altLang="zh-CN" sz="1600" dirty="0">
              <a:latin typeface="+mn-ea"/>
            </a:endParaRPr>
          </a:p>
          <a:p>
            <a:pPr lvl="1">
              <a:lnSpc>
                <a:spcPct val="70000"/>
              </a:lnSpc>
              <a:buFontTx/>
              <a:buNone/>
            </a:pPr>
            <a:r>
              <a:rPr lang="en-US" altLang="zh-CN" sz="1600" dirty="0">
                <a:latin typeface="+mn-ea"/>
              </a:rPr>
              <a:t>Z</a:t>
            </a:r>
            <a:r>
              <a:rPr lang="zh-CN" altLang="en-US" sz="1600" dirty="0">
                <a:latin typeface="+mn-ea"/>
              </a:rPr>
              <a:t>：僵死状态</a:t>
            </a:r>
            <a:endParaRPr lang="en-US" altLang="zh-CN" sz="1600" dirty="0">
              <a:latin typeface="+mn-ea"/>
            </a:endParaRPr>
          </a:p>
          <a:p>
            <a:pPr>
              <a:lnSpc>
                <a:spcPct val="70000"/>
              </a:lnSpc>
              <a:buFontTx/>
              <a:buNone/>
            </a:pPr>
            <a:r>
              <a:rPr lang="en-US" altLang="zh-CN" sz="2200" dirty="0" err="1">
                <a:latin typeface="+mn-ea"/>
              </a:rPr>
              <a:t>UID</a:t>
            </a:r>
            <a:r>
              <a:rPr lang="zh-CN" altLang="en-US" sz="2200" dirty="0">
                <a:latin typeface="+mn-ea"/>
              </a:rPr>
              <a:t>：进程执行者的</a:t>
            </a:r>
            <a:r>
              <a:rPr lang="en-US" altLang="zh-CN" sz="2200" dirty="0">
                <a:latin typeface="+mn-ea"/>
              </a:rPr>
              <a:t>ID</a:t>
            </a:r>
            <a:r>
              <a:rPr lang="zh-CN" altLang="en-US" sz="2200" dirty="0">
                <a:latin typeface="+mn-ea"/>
              </a:rPr>
              <a:t>号</a:t>
            </a:r>
            <a:endParaRPr lang="en-US" altLang="zh-CN" sz="2200" dirty="0">
              <a:latin typeface="+mn-ea"/>
            </a:endParaRPr>
          </a:p>
          <a:p>
            <a:pPr>
              <a:lnSpc>
                <a:spcPct val="70000"/>
              </a:lnSpc>
              <a:buFontTx/>
              <a:buNone/>
            </a:pPr>
            <a:r>
              <a:rPr lang="en-US" altLang="zh-CN" sz="2200" dirty="0" err="1">
                <a:latin typeface="+mn-ea"/>
              </a:rPr>
              <a:t>PPID</a:t>
            </a:r>
            <a:r>
              <a:rPr lang="zh-CN" altLang="en-US" sz="2200" dirty="0">
                <a:latin typeface="+mn-ea"/>
              </a:rPr>
              <a:t>：父进程的标识符</a:t>
            </a:r>
          </a:p>
          <a:p>
            <a:pPr>
              <a:lnSpc>
                <a:spcPct val="70000"/>
              </a:lnSpc>
              <a:buFontTx/>
              <a:buNone/>
            </a:pPr>
            <a:r>
              <a:rPr lang="en-US" altLang="zh-CN" sz="2200" dirty="0">
                <a:latin typeface="+mn-ea"/>
              </a:rPr>
              <a:t>PRI</a:t>
            </a:r>
            <a:r>
              <a:rPr lang="zh-CN" altLang="en-US" sz="2200" dirty="0">
                <a:latin typeface="+mn-ea"/>
              </a:rPr>
              <a:t>：进程执行的动态优先级</a:t>
            </a:r>
          </a:p>
          <a:p>
            <a:pPr>
              <a:lnSpc>
                <a:spcPct val="70000"/>
              </a:lnSpc>
              <a:buFontTx/>
              <a:buNone/>
            </a:pPr>
            <a:r>
              <a:rPr lang="en-US" altLang="zh-CN" sz="2200" dirty="0">
                <a:latin typeface="+mn-ea"/>
              </a:rPr>
              <a:t>NI</a:t>
            </a:r>
            <a:r>
              <a:rPr lang="zh-CN" altLang="en-US" sz="2200" dirty="0">
                <a:latin typeface="+mn-ea"/>
              </a:rPr>
              <a:t>： 进程执行的静态优先级</a:t>
            </a:r>
          </a:p>
          <a:p>
            <a:pPr>
              <a:lnSpc>
                <a:spcPct val="70000"/>
              </a:lnSpc>
              <a:buFontTx/>
              <a:buNone/>
            </a:pPr>
            <a:r>
              <a:rPr lang="en-US" altLang="zh-CN" sz="2200" dirty="0" err="1">
                <a:latin typeface="+mn-ea"/>
              </a:rPr>
              <a:t>WCHAN</a:t>
            </a:r>
            <a:r>
              <a:rPr lang="zh-CN" altLang="en-US" sz="2200" dirty="0">
                <a:latin typeface="+mn-ea"/>
              </a:rPr>
              <a:t>：若该进程在睡眠，则显示睡眠中的系统函数名</a:t>
            </a:r>
            <a:endParaRPr lang="en-US" altLang="zh-CN" sz="2200" dirty="0">
              <a:latin typeface="+mn-ea"/>
            </a:endParaRPr>
          </a:p>
          <a:p>
            <a:pPr>
              <a:lnSpc>
                <a:spcPct val="70000"/>
              </a:lnSpc>
              <a:buNone/>
            </a:pPr>
            <a:r>
              <a:rPr lang="en-US" altLang="zh-CN" sz="2200" dirty="0" err="1">
                <a:latin typeface="+mn-ea"/>
              </a:rPr>
              <a:t>SZ</a:t>
            </a:r>
            <a:r>
              <a:rPr lang="zh-CN" altLang="en-US" sz="2200" dirty="0">
                <a:latin typeface="+mn-ea"/>
              </a:rPr>
              <a:t>：进程占用内存空间的大小，以</a:t>
            </a:r>
            <a:r>
              <a:rPr lang="en-US" altLang="zh-CN" sz="2200" dirty="0">
                <a:latin typeface="+mn-ea"/>
              </a:rPr>
              <a:t>KB</a:t>
            </a:r>
            <a:r>
              <a:rPr lang="zh-CN" altLang="en-US" sz="2200" dirty="0">
                <a:latin typeface="+mn-ea"/>
              </a:rPr>
              <a:t>为单位</a:t>
            </a:r>
            <a:endParaRPr lang="en-US" altLang="zh-CN" sz="2200" dirty="0">
              <a:latin typeface="+mn-ea"/>
            </a:endParaRPr>
          </a:p>
          <a:p>
            <a:pPr>
              <a:lnSpc>
                <a:spcPct val="80000"/>
              </a:lnSpc>
              <a:buFontTx/>
              <a:buNone/>
            </a:pPr>
            <a:endParaRPr lang="en-US" altLang="zh-CN" sz="2200" dirty="0">
              <a:latin typeface="+mn-ea"/>
            </a:endParaRPr>
          </a:p>
        </p:txBody>
      </p:sp>
      <p:pic>
        <p:nvPicPr>
          <p:cNvPr id="4" name="图片 3">
            <a:extLst>
              <a:ext uri="{FF2B5EF4-FFF2-40B4-BE49-F238E27FC236}">
                <a16:creationId xmlns:a16="http://schemas.microsoft.com/office/drawing/2014/main" id="{68467B63-73E2-1770-7845-2A3FDA412460}"/>
              </a:ext>
            </a:extLst>
          </p:cNvPr>
          <p:cNvPicPr>
            <a:picLocks noChangeAspect="1"/>
          </p:cNvPicPr>
          <p:nvPr/>
        </p:nvPicPr>
        <p:blipFill>
          <a:blip r:embed="rId3"/>
          <a:stretch>
            <a:fillRect/>
          </a:stretch>
        </p:blipFill>
        <p:spPr>
          <a:xfrm>
            <a:off x="1487488" y="1052736"/>
            <a:ext cx="7200800" cy="1080119"/>
          </a:xfrm>
          <a:prstGeom prst="rect">
            <a:avLst/>
          </a:prstGeom>
          <a:ln w="3175">
            <a:solidFill>
              <a:schemeClr val="tx1"/>
            </a:solidFill>
          </a:ln>
        </p:spPr>
      </p:pic>
    </p:spTree>
    <p:extLst>
      <p:ext uri="{BB962C8B-B14F-4D97-AF65-F5344CB8AC3E}">
        <p14:creationId xmlns:p14="http://schemas.microsoft.com/office/powerpoint/2010/main" val="883158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body" idx="1"/>
          </p:nvPr>
        </p:nvSpPr>
        <p:spPr>
          <a:xfrm>
            <a:off x="1055440" y="1465610"/>
            <a:ext cx="10081120" cy="4411662"/>
          </a:xfrm>
        </p:spPr>
        <p:txBody>
          <a:bodyPr/>
          <a:lstStyle/>
          <a:p>
            <a:pPr>
              <a:lnSpc>
                <a:spcPct val="120000"/>
              </a:lnSpc>
            </a:pPr>
            <a:r>
              <a:rPr lang="en-US" altLang="zh-CN" sz="2600" dirty="0">
                <a:solidFill>
                  <a:srgbClr val="CC0099"/>
                </a:solidFill>
                <a:latin typeface="+mn-ea"/>
                <a:cs typeface="Times New Roman" pitchFamily="18" charset="0"/>
              </a:rPr>
              <a:t>pstree</a:t>
            </a:r>
            <a:r>
              <a:rPr lang="zh-CN" altLang="en-US" sz="2600" dirty="0">
                <a:solidFill>
                  <a:srgbClr val="CC0099"/>
                </a:solidFill>
                <a:latin typeface="+mn-ea"/>
                <a:cs typeface="Times New Roman" pitchFamily="18" charset="0"/>
              </a:rPr>
              <a:t>命令</a:t>
            </a:r>
            <a:endParaRPr lang="en-US" altLang="zh-CN" sz="2600" dirty="0">
              <a:solidFill>
                <a:srgbClr val="CC0099"/>
              </a:solidFill>
              <a:latin typeface="+mn-ea"/>
              <a:cs typeface="Times New Roman" pitchFamily="18" charset="0"/>
            </a:endParaRPr>
          </a:p>
          <a:p>
            <a:pPr marL="344487" lvl="1" indent="0">
              <a:lnSpc>
                <a:spcPct val="120000"/>
              </a:lnSpc>
              <a:buNone/>
            </a:pPr>
            <a:r>
              <a:rPr lang="zh-CN" altLang="en-US" dirty="0">
                <a:latin typeface="+mn-ea"/>
                <a:cs typeface="Times New Roman" pitchFamily="18" charset="0"/>
              </a:rPr>
              <a:t>格式：</a:t>
            </a:r>
            <a:r>
              <a:rPr lang="en-US" altLang="zh-CN" dirty="0">
                <a:latin typeface="+mn-ea"/>
                <a:cs typeface="Times New Roman" pitchFamily="18" charset="0"/>
              </a:rPr>
              <a:t>pstree</a:t>
            </a:r>
            <a:r>
              <a:rPr lang="en-US" altLang="zh-CN" dirty="0">
                <a:solidFill>
                  <a:srgbClr val="0000CC"/>
                </a:solidFill>
                <a:latin typeface="+mn-ea"/>
                <a:cs typeface="Times New Roman" pitchFamily="18" charset="0"/>
              </a:rPr>
              <a:t> [</a:t>
            </a:r>
            <a:r>
              <a:rPr lang="zh-CN" altLang="en-US" dirty="0">
                <a:solidFill>
                  <a:srgbClr val="0000CC"/>
                </a:solidFill>
                <a:latin typeface="+mn-ea"/>
                <a:cs typeface="Times New Roman" pitchFamily="18" charset="0"/>
              </a:rPr>
              <a:t>选项</a:t>
            </a:r>
            <a:r>
              <a:rPr lang="en-US" altLang="zh-CN" dirty="0">
                <a:solidFill>
                  <a:srgbClr val="0000CC"/>
                </a:solidFill>
                <a:latin typeface="+mn-ea"/>
                <a:cs typeface="Times New Roman" pitchFamily="18" charset="0"/>
              </a:rPr>
              <a:t>] </a:t>
            </a:r>
            <a:r>
              <a:rPr lang="zh-CN" altLang="en-US" dirty="0">
                <a:latin typeface="+mn-ea"/>
                <a:cs typeface="Times New Roman" pitchFamily="18" charset="0"/>
              </a:rPr>
              <a:t>　　</a:t>
            </a:r>
            <a:r>
              <a:rPr lang="en-US" altLang="zh-CN" dirty="0">
                <a:solidFill>
                  <a:schemeClr val="tx1"/>
                </a:solidFill>
                <a:latin typeface="+mn-ea"/>
                <a:cs typeface="Times New Roman" pitchFamily="18" charset="0"/>
              </a:rPr>
              <a:t> </a:t>
            </a:r>
          </a:p>
          <a:p>
            <a:pPr marL="344487" lvl="1" indent="0">
              <a:lnSpc>
                <a:spcPct val="120000"/>
              </a:lnSpc>
              <a:buNone/>
            </a:pPr>
            <a:r>
              <a:rPr lang="zh-CN" altLang="en-US" dirty="0">
                <a:latin typeface="+mn-ea"/>
                <a:cs typeface="Times New Roman" pitchFamily="18" charset="0"/>
              </a:rPr>
              <a:t>功能：以树形图形显示进程之间的相互关系。</a:t>
            </a:r>
            <a:endParaRPr lang="en-US" altLang="zh-CN" dirty="0">
              <a:latin typeface="+mn-ea"/>
              <a:cs typeface="Times New Roman" pitchFamily="18" charset="0"/>
            </a:endParaRPr>
          </a:p>
          <a:p>
            <a:pPr>
              <a:lnSpc>
                <a:spcPct val="120000"/>
              </a:lnSpc>
            </a:pPr>
            <a:r>
              <a:rPr lang="zh-CN" altLang="en-US" sz="2600" dirty="0">
                <a:latin typeface="+mn-ea"/>
                <a:cs typeface="Times New Roman" pitchFamily="18" charset="0"/>
              </a:rPr>
              <a:t>主要选项说明：　　</a:t>
            </a:r>
            <a:r>
              <a:rPr lang="en-US" altLang="zh-CN" sz="2600" dirty="0">
                <a:latin typeface="+mn-ea"/>
                <a:cs typeface="Times New Roman" pitchFamily="18" charset="0"/>
              </a:rPr>
              <a:t> </a:t>
            </a:r>
          </a:p>
          <a:p>
            <a:pPr marL="344487" lvl="1" indent="0">
              <a:lnSpc>
                <a:spcPct val="120000"/>
              </a:lnSpc>
              <a:buNone/>
            </a:pPr>
            <a:r>
              <a:rPr lang="en-US" altLang="zh-CN" dirty="0">
                <a:latin typeface="+mn-ea"/>
                <a:cs typeface="Times New Roman" pitchFamily="18" charset="0"/>
              </a:rPr>
              <a:t>-a  </a:t>
            </a:r>
            <a:r>
              <a:rPr lang="zh-CN" altLang="en-US" dirty="0">
                <a:latin typeface="+mn-ea"/>
                <a:cs typeface="Times New Roman" pitchFamily="18" charset="0"/>
              </a:rPr>
              <a:t>显示启动进程的命令</a:t>
            </a:r>
            <a:endParaRPr lang="en-US" altLang="zh-CN" dirty="0">
              <a:latin typeface="+mn-ea"/>
              <a:cs typeface="Times New Roman" pitchFamily="18" charset="0"/>
            </a:endParaRPr>
          </a:p>
          <a:p>
            <a:pPr marL="344487" lvl="1" indent="0">
              <a:lnSpc>
                <a:spcPct val="120000"/>
              </a:lnSpc>
              <a:buNone/>
            </a:pPr>
            <a:r>
              <a:rPr lang="en-US" altLang="zh-CN" dirty="0">
                <a:latin typeface="+mn-ea"/>
                <a:cs typeface="Times New Roman" pitchFamily="18" charset="0"/>
              </a:rPr>
              <a:t>-n  </a:t>
            </a:r>
            <a:r>
              <a:rPr lang="zh-CN" altLang="en-US" dirty="0">
                <a:latin typeface="+mn-ea"/>
                <a:cs typeface="Times New Roman" pitchFamily="18" charset="0"/>
              </a:rPr>
              <a:t>按照进程号进行排序</a:t>
            </a:r>
            <a:endParaRPr lang="en-US" altLang="zh-CN" dirty="0">
              <a:latin typeface="+mn-ea"/>
              <a:cs typeface="Times New Roman" pitchFamily="18" charset="0"/>
            </a:endParaRPr>
          </a:p>
          <a:p>
            <a:pPr marL="344487" lvl="1" indent="0" algn="just">
              <a:lnSpc>
                <a:spcPct val="120000"/>
              </a:lnSpc>
              <a:buNone/>
            </a:pPr>
            <a:r>
              <a:rPr lang="en-US" altLang="zh-CN" dirty="0">
                <a:latin typeface="+mn-ea"/>
                <a:cs typeface="Times New Roman" pitchFamily="18" charset="0"/>
              </a:rPr>
              <a:t>-p  </a:t>
            </a:r>
            <a:r>
              <a:rPr lang="zh-CN" altLang="en-US" dirty="0"/>
              <a:t>显示进程号</a:t>
            </a:r>
            <a:endParaRPr lang="en-US" altLang="zh-CN" dirty="0">
              <a:latin typeface="+mn-ea"/>
              <a:cs typeface="Times New Roman" pitchFamily="18" charset="0"/>
            </a:endParaRPr>
          </a:p>
          <a:p>
            <a:pPr marL="344487" lvl="1" indent="0">
              <a:buNone/>
            </a:pPr>
            <a:endParaRPr lang="en-US" altLang="zh-CN" sz="2800" dirty="0">
              <a:latin typeface="+mn-ea"/>
              <a:cs typeface="Times New Roman" pitchFamily="18" charset="0"/>
            </a:endParaRPr>
          </a:p>
          <a:p>
            <a:pPr marL="344487" lvl="1" indent="0">
              <a:buNone/>
            </a:pPr>
            <a:endParaRPr lang="en-US" altLang="zh-CN" sz="2400" dirty="0">
              <a:latin typeface="+mn-ea"/>
              <a:cs typeface="Times New Roman" pitchFamily="18" charset="0"/>
            </a:endParaRPr>
          </a:p>
        </p:txBody>
      </p:sp>
      <p:sp>
        <p:nvSpPr>
          <p:cNvPr id="5" name="Rectangle 2"/>
          <p:cNvSpPr>
            <a:spLocks noGrp="1" noChangeArrowheads="1"/>
          </p:cNvSpPr>
          <p:nvPr>
            <p:ph type="title"/>
          </p:nvPr>
        </p:nvSpPr>
        <p:spPr>
          <a:xfrm>
            <a:off x="1991544" y="551309"/>
            <a:ext cx="8136904" cy="858837"/>
          </a:xfrm>
        </p:spPr>
        <p:txBody>
          <a:bodyPr/>
          <a:lstStyle/>
          <a:p>
            <a:r>
              <a:rPr lang="zh-CN" altLang="en-US" kern="0" dirty="0"/>
              <a:t>查看进程状态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14</a:t>
            </a:fld>
            <a:endParaRPr lang="en-US" altLang="zh-CN"/>
          </a:p>
        </p:txBody>
      </p:sp>
    </p:spTree>
    <p:extLst>
      <p:ext uri="{BB962C8B-B14F-4D97-AF65-F5344CB8AC3E}">
        <p14:creationId xmlns:p14="http://schemas.microsoft.com/office/powerpoint/2010/main" val="201870437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body" idx="1"/>
          </p:nvPr>
        </p:nvSpPr>
        <p:spPr>
          <a:xfrm>
            <a:off x="1163452" y="1340768"/>
            <a:ext cx="9865096" cy="4536504"/>
          </a:xfrm>
        </p:spPr>
        <p:txBody>
          <a:bodyPr/>
          <a:lstStyle/>
          <a:p>
            <a:r>
              <a:rPr lang="en-US" altLang="zh-CN" sz="2600" dirty="0">
                <a:solidFill>
                  <a:srgbClr val="CC0099"/>
                </a:solidFill>
                <a:latin typeface="+mn-ea"/>
                <a:cs typeface="Times New Roman" pitchFamily="18" charset="0"/>
              </a:rPr>
              <a:t>free </a:t>
            </a:r>
            <a:r>
              <a:rPr lang="zh-CN" altLang="en-US" sz="2600" dirty="0">
                <a:solidFill>
                  <a:srgbClr val="CC0099"/>
                </a:solidFill>
                <a:latin typeface="+mn-ea"/>
                <a:cs typeface="Times New Roman" pitchFamily="18" charset="0"/>
              </a:rPr>
              <a:t>命令</a:t>
            </a:r>
            <a:endParaRPr lang="en-US" altLang="zh-CN" sz="2600" dirty="0">
              <a:solidFill>
                <a:srgbClr val="CC0099"/>
              </a:solidFill>
              <a:latin typeface="+mn-ea"/>
              <a:cs typeface="Times New Roman" pitchFamily="18" charset="0"/>
            </a:endParaRPr>
          </a:p>
          <a:p>
            <a:pPr marL="344487" lvl="1" indent="0">
              <a:buNone/>
            </a:pPr>
            <a:r>
              <a:rPr lang="zh-CN" altLang="en-US" dirty="0">
                <a:latin typeface="+mn-ea"/>
                <a:cs typeface="Times New Roman" pitchFamily="18" charset="0"/>
              </a:rPr>
              <a:t>格式：</a:t>
            </a:r>
            <a:r>
              <a:rPr lang="en-US" altLang="zh-CN" dirty="0">
                <a:latin typeface="+mn-ea"/>
                <a:cs typeface="Times New Roman" pitchFamily="18" charset="0"/>
              </a:rPr>
              <a:t>free</a:t>
            </a:r>
            <a:r>
              <a:rPr lang="en-US" altLang="zh-CN" dirty="0">
                <a:solidFill>
                  <a:srgbClr val="0000CC"/>
                </a:solidFill>
                <a:latin typeface="+mn-ea"/>
                <a:cs typeface="Times New Roman" pitchFamily="18" charset="0"/>
              </a:rPr>
              <a:t> [</a:t>
            </a:r>
            <a:r>
              <a:rPr lang="zh-CN" altLang="en-US" dirty="0">
                <a:solidFill>
                  <a:srgbClr val="0000CC"/>
                </a:solidFill>
                <a:latin typeface="+mn-ea"/>
                <a:cs typeface="Times New Roman" pitchFamily="18" charset="0"/>
              </a:rPr>
              <a:t>参数</a:t>
            </a:r>
            <a:r>
              <a:rPr lang="en-US" altLang="zh-CN" dirty="0">
                <a:solidFill>
                  <a:srgbClr val="0000CC"/>
                </a:solidFill>
                <a:latin typeface="+mn-ea"/>
                <a:cs typeface="Times New Roman" pitchFamily="18" charset="0"/>
              </a:rPr>
              <a:t>] </a:t>
            </a:r>
            <a:r>
              <a:rPr lang="zh-CN" altLang="en-US" dirty="0">
                <a:latin typeface="+mn-ea"/>
                <a:cs typeface="Times New Roman" pitchFamily="18" charset="0"/>
              </a:rPr>
              <a:t>　　</a:t>
            </a:r>
            <a:r>
              <a:rPr lang="en-US" altLang="zh-CN" dirty="0">
                <a:solidFill>
                  <a:schemeClr val="tx1"/>
                </a:solidFill>
                <a:latin typeface="+mn-ea"/>
                <a:cs typeface="Times New Roman" pitchFamily="18" charset="0"/>
              </a:rPr>
              <a:t> </a:t>
            </a:r>
          </a:p>
          <a:p>
            <a:pPr marL="344487" lvl="1" indent="0">
              <a:buNone/>
            </a:pPr>
            <a:r>
              <a:rPr lang="zh-CN" altLang="en-US" dirty="0">
                <a:latin typeface="+mn-ea"/>
                <a:cs typeface="Times New Roman" pitchFamily="18" charset="0"/>
              </a:rPr>
              <a:t>功能：显示内存状态信息，包括物理内存、虚拟交换区内存、共享内存、缓冲区等。</a:t>
            </a:r>
            <a:endParaRPr lang="en-US" altLang="zh-CN" dirty="0">
              <a:latin typeface="+mn-ea"/>
              <a:cs typeface="Times New Roman" pitchFamily="18" charset="0"/>
            </a:endParaRPr>
          </a:p>
          <a:p>
            <a:r>
              <a:rPr lang="zh-CN" altLang="en-US" sz="2600" dirty="0">
                <a:latin typeface="+mn-ea"/>
                <a:cs typeface="Times New Roman" pitchFamily="18" charset="0"/>
              </a:rPr>
              <a:t>主要选项说明：　　</a:t>
            </a:r>
            <a:r>
              <a:rPr lang="en-US" altLang="zh-CN" sz="2600" dirty="0">
                <a:latin typeface="+mn-ea"/>
                <a:cs typeface="Times New Roman" pitchFamily="18" charset="0"/>
              </a:rPr>
              <a:t> </a:t>
            </a:r>
          </a:p>
          <a:p>
            <a:pPr marL="344487" lvl="1" indent="0">
              <a:buNone/>
            </a:pPr>
            <a:r>
              <a:rPr lang="en-US" altLang="zh-CN" sz="2400" dirty="0">
                <a:latin typeface="+mn-ea"/>
                <a:cs typeface="Times New Roman" pitchFamily="18" charset="0"/>
              </a:rPr>
              <a:t>-b  </a:t>
            </a:r>
            <a:r>
              <a:rPr lang="zh-CN" altLang="en-US" sz="2400" dirty="0">
                <a:latin typeface="+mn-ea"/>
                <a:cs typeface="Times New Roman" pitchFamily="18" charset="0"/>
              </a:rPr>
              <a:t>以</a:t>
            </a:r>
            <a:r>
              <a:rPr lang="en-US" altLang="zh-CN" sz="2400" dirty="0">
                <a:latin typeface="+mn-ea"/>
                <a:cs typeface="Times New Roman" pitchFamily="18" charset="0"/>
              </a:rPr>
              <a:t>Byte</a:t>
            </a:r>
            <a:r>
              <a:rPr lang="zh-CN" altLang="en-US" sz="2400" dirty="0">
                <a:latin typeface="+mn-ea"/>
                <a:cs typeface="Times New Roman" pitchFamily="18" charset="0"/>
              </a:rPr>
              <a:t>为单位显示内存使用情况</a:t>
            </a:r>
            <a:endParaRPr lang="en-US" altLang="zh-CN" sz="2400" dirty="0">
              <a:latin typeface="+mn-ea"/>
              <a:cs typeface="Times New Roman" pitchFamily="18" charset="0"/>
            </a:endParaRPr>
          </a:p>
          <a:p>
            <a:pPr marL="344487" lvl="1" indent="0">
              <a:buNone/>
            </a:pPr>
            <a:r>
              <a:rPr lang="en-US" altLang="zh-CN" sz="2400" dirty="0">
                <a:latin typeface="+mn-ea"/>
                <a:cs typeface="Times New Roman" pitchFamily="18" charset="0"/>
              </a:rPr>
              <a:t>-k  </a:t>
            </a:r>
            <a:r>
              <a:rPr lang="zh-CN" altLang="en-US" sz="2400" dirty="0">
                <a:latin typeface="+mn-ea"/>
                <a:cs typeface="Times New Roman" pitchFamily="18" charset="0"/>
              </a:rPr>
              <a:t>以</a:t>
            </a:r>
            <a:r>
              <a:rPr lang="en-US" altLang="zh-CN" sz="2400" dirty="0">
                <a:latin typeface="+mn-ea"/>
                <a:cs typeface="Times New Roman" pitchFamily="18" charset="0"/>
              </a:rPr>
              <a:t>KB</a:t>
            </a:r>
            <a:r>
              <a:rPr lang="zh-CN" altLang="en-US" sz="2400" dirty="0">
                <a:latin typeface="+mn-ea"/>
                <a:cs typeface="Times New Roman" pitchFamily="18" charset="0"/>
              </a:rPr>
              <a:t>为单位显示内存使用情况</a:t>
            </a:r>
            <a:endParaRPr lang="en-US" altLang="zh-CN" sz="2400" dirty="0">
              <a:latin typeface="+mn-ea"/>
              <a:cs typeface="Times New Roman" pitchFamily="18" charset="0"/>
            </a:endParaRPr>
          </a:p>
          <a:p>
            <a:pPr marL="344487" lvl="1" indent="0" algn="just">
              <a:buNone/>
            </a:pPr>
            <a:r>
              <a:rPr lang="en-US" altLang="zh-CN" sz="2400" dirty="0">
                <a:latin typeface="+mn-ea"/>
                <a:cs typeface="Times New Roman" pitchFamily="18" charset="0"/>
              </a:rPr>
              <a:t>-m  </a:t>
            </a:r>
            <a:r>
              <a:rPr lang="zh-CN" altLang="en-US" sz="2400" dirty="0">
                <a:latin typeface="+mn-ea"/>
                <a:cs typeface="Times New Roman" pitchFamily="18" charset="0"/>
              </a:rPr>
              <a:t>以</a:t>
            </a:r>
            <a:r>
              <a:rPr lang="en-US" altLang="zh-CN" sz="2400" dirty="0">
                <a:latin typeface="+mn-ea"/>
                <a:cs typeface="Times New Roman" pitchFamily="18" charset="0"/>
              </a:rPr>
              <a:t>MB</a:t>
            </a:r>
            <a:r>
              <a:rPr lang="zh-CN" altLang="en-US" sz="2400" dirty="0">
                <a:latin typeface="+mn-ea"/>
                <a:cs typeface="Times New Roman" pitchFamily="18" charset="0"/>
              </a:rPr>
              <a:t>为单位显示内存使用情况</a:t>
            </a:r>
            <a:endParaRPr lang="en-US" altLang="zh-CN" sz="2400" dirty="0">
              <a:latin typeface="+mn-ea"/>
              <a:cs typeface="Times New Roman" pitchFamily="18" charset="0"/>
            </a:endParaRPr>
          </a:p>
          <a:p>
            <a:pPr marL="344487" lvl="1" indent="0">
              <a:buNone/>
            </a:pPr>
            <a:r>
              <a:rPr lang="en-US" altLang="zh-CN" sz="2400" dirty="0">
                <a:latin typeface="+mn-ea"/>
                <a:cs typeface="Times New Roman" pitchFamily="18" charset="0"/>
              </a:rPr>
              <a:t>-g  </a:t>
            </a:r>
            <a:r>
              <a:rPr lang="zh-CN" altLang="en-US" sz="2400" dirty="0">
                <a:latin typeface="+mn-ea"/>
                <a:cs typeface="Times New Roman" pitchFamily="18" charset="0"/>
              </a:rPr>
              <a:t>以</a:t>
            </a:r>
            <a:r>
              <a:rPr lang="en-US" altLang="zh-CN" sz="2400" dirty="0">
                <a:latin typeface="+mn-ea"/>
                <a:cs typeface="Times New Roman" pitchFamily="18" charset="0"/>
              </a:rPr>
              <a:t>GB</a:t>
            </a:r>
            <a:r>
              <a:rPr lang="zh-CN" altLang="en-US" sz="2400" dirty="0">
                <a:latin typeface="+mn-ea"/>
                <a:cs typeface="Times New Roman" pitchFamily="18" charset="0"/>
              </a:rPr>
              <a:t>为单位显示内存使用情况</a:t>
            </a:r>
            <a:endParaRPr lang="en-US" altLang="zh-CN" sz="2400" dirty="0">
              <a:latin typeface="+mn-ea"/>
              <a:cs typeface="Times New Roman" pitchFamily="18" charset="0"/>
            </a:endParaRPr>
          </a:p>
          <a:p>
            <a:pPr marL="344487" lvl="1" indent="0">
              <a:buNone/>
            </a:pPr>
            <a:r>
              <a:rPr lang="en-US" altLang="zh-CN" sz="2400" dirty="0">
                <a:latin typeface="+mn-ea"/>
                <a:cs typeface="Times New Roman" pitchFamily="18" charset="0"/>
              </a:rPr>
              <a:t>-s&lt;</a:t>
            </a:r>
            <a:r>
              <a:rPr lang="zh-CN" altLang="en-US" sz="2400" dirty="0">
                <a:latin typeface="+mn-ea"/>
                <a:cs typeface="Times New Roman" pitchFamily="18" charset="0"/>
              </a:rPr>
              <a:t>间隔秒数</a:t>
            </a:r>
            <a:r>
              <a:rPr lang="en-US" altLang="zh-CN" sz="2400" dirty="0">
                <a:latin typeface="+mn-ea"/>
                <a:cs typeface="Times New Roman" pitchFamily="18" charset="0"/>
              </a:rPr>
              <a:t>&gt;  </a:t>
            </a:r>
            <a:r>
              <a:rPr lang="zh-CN" altLang="en-US" sz="2400" dirty="0">
                <a:latin typeface="+mn-ea"/>
                <a:cs typeface="Times New Roman" pitchFamily="18" charset="0"/>
              </a:rPr>
              <a:t>持续观察内存使用状况</a:t>
            </a:r>
            <a:endParaRPr lang="en-US" altLang="zh-CN" sz="2400" dirty="0">
              <a:latin typeface="+mn-ea"/>
              <a:cs typeface="Times New Roman" pitchFamily="18" charset="0"/>
            </a:endParaRPr>
          </a:p>
          <a:p>
            <a:pPr marL="344487" lvl="1" indent="0">
              <a:buNone/>
            </a:pPr>
            <a:endParaRPr lang="en-US" altLang="zh-CN" sz="2400" dirty="0">
              <a:latin typeface="+mn-ea"/>
              <a:cs typeface="Times New Roman" pitchFamily="18" charset="0"/>
            </a:endParaRPr>
          </a:p>
        </p:txBody>
      </p:sp>
      <p:sp>
        <p:nvSpPr>
          <p:cNvPr id="5" name="Rectangle 2"/>
          <p:cNvSpPr>
            <a:spLocks noGrp="1" noChangeArrowheads="1"/>
          </p:cNvSpPr>
          <p:nvPr>
            <p:ph type="title"/>
          </p:nvPr>
        </p:nvSpPr>
        <p:spPr>
          <a:xfrm>
            <a:off x="1991544" y="454149"/>
            <a:ext cx="8064896" cy="858837"/>
          </a:xfrm>
        </p:spPr>
        <p:txBody>
          <a:bodyPr/>
          <a:lstStyle/>
          <a:p>
            <a:r>
              <a:rPr lang="zh-CN" altLang="en-US" kern="0" dirty="0"/>
              <a:t>查看进程状态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15</a:t>
            </a:fld>
            <a:endParaRPr lang="en-US" altLang="zh-CN"/>
          </a:p>
        </p:txBody>
      </p:sp>
    </p:spTree>
    <p:extLst>
      <p:ext uri="{BB962C8B-B14F-4D97-AF65-F5344CB8AC3E}">
        <p14:creationId xmlns:p14="http://schemas.microsoft.com/office/powerpoint/2010/main" val="415487221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3" name="Rectangle 3"/>
          <p:cNvSpPr>
            <a:spLocks noGrp="1" noChangeArrowheads="1"/>
          </p:cNvSpPr>
          <p:nvPr>
            <p:ph type="body" idx="1"/>
          </p:nvPr>
        </p:nvSpPr>
        <p:spPr>
          <a:xfrm>
            <a:off x="1127448" y="1554709"/>
            <a:ext cx="9937104" cy="4520331"/>
          </a:xfrm>
        </p:spPr>
        <p:txBody>
          <a:bodyPr/>
          <a:lstStyle/>
          <a:p>
            <a:pPr marL="0" indent="0">
              <a:buNone/>
            </a:pPr>
            <a:r>
              <a:rPr lang="en-US" altLang="zh-CN" sz="2600" dirty="0">
                <a:solidFill>
                  <a:srgbClr val="CC0099"/>
                </a:solidFill>
                <a:latin typeface="+mn-ea"/>
                <a:cs typeface="Times New Roman" pitchFamily="18" charset="0"/>
              </a:rPr>
              <a:t>top </a:t>
            </a:r>
            <a:r>
              <a:rPr lang="zh-CN" altLang="en-US" sz="2600" dirty="0">
                <a:solidFill>
                  <a:srgbClr val="CC0099"/>
                </a:solidFill>
                <a:latin typeface="+mn-ea"/>
                <a:cs typeface="Times New Roman" pitchFamily="18" charset="0"/>
              </a:rPr>
              <a:t>命令</a:t>
            </a:r>
            <a:endParaRPr lang="en-US" altLang="zh-CN" sz="2600" dirty="0">
              <a:solidFill>
                <a:srgbClr val="CC0099"/>
              </a:solidFill>
              <a:latin typeface="+mn-ea"/>
              <a:cs typeface="Times New Roman" pitchFamily="18" charset="0"/>
            </a:endParaRPr>
          </a:p>
          <a:p>
            <a:pPr marL="0" indent="0" algn="just">
              <a:buNone/>
            </a:pPr>
            <a:r>
              <a:rPr lang="zh-CN" altLang="en-US" sz="2600" dirty="0">
                <a:solidFill>
                  <a:srgbClr val="0000CC"/>
                </a:solidFill>
                <a:latin typeface="+mn-ea"/>
                <a:cs typeface="Times New Roman" pitchFamily="18" charset="0"/>
              </a:rPr>
              <a:t>格式：</a:t>
            </a:r>
            <a:r>
              <a:rPr lang="en-US" altLang="zh-CN" sz="2600" dirty="0">
                <a:solidFill>
                  <a:srgbClr val="0000CC"/>
                </a:solidFill>
                <a:latin typeface="+mn-ea"/>
                <a:cs typeface="Times New Roman" pitchFamily="18" charset="0"/>
              </a:rPr>
              <a:t>top [-d </a:t>
            </a:r>
            <a:r>
              <a:rPr lang="zh-CN" altLang="en-US" sz="2600" dirty="0">
                <a:solidFill>
                  <a:srgbClr val="0000CC"/>
                </a:solidFill>
                <a:latin typeface="+mn-ea"/>
                <a:cs typeface="Times New Roman" pitchFamily="18" charset="0"/>
              </a:rPr>
              <a:t>秒数</a:t>
            </a:r>
            <a:r>
              <a:rPr lang="en-US" altLang="zh-CN" sz="2600" dirty="0">
                <a:solidFill>
                  <a:srgbClr val="0000CC"/>
                </a:solidFill>
                <a:latin typeface="+mn-ea"/>
                <a:cs typeface="Times New Roman" pitchFamily="18" charset="0"/>
              </a:rPr>
              <a:t>] [ -n </a:t>
            </a:r>
            <a:r>
              <a:rPr lang="zh-CN" altLang="en-US" sz="2600" dirty="0">
                <a:solidFill>
                  <a:srgbClr val="0000CC"/>
                </a:solidFill>
                <a:latin typeface="+mn-ea"/>
                <a:cs typeface="Times New Roman" pitchFamily="18" charset="0"/>
              </a:rPr>
              <a:t>执行次数</a:t>
            </a:r>
            <a:r>
              <a:rPr lang="en-US" altLang="zh-CN" sz="2600" dirty="0">
                <a:solidFill>
                  <a:srgbClr val="0000CC"/>
                </a:solidFill>
                <a:latin typeface="+mn-ea"/>
                <a:cs typeface="Times New Roman" pitchFamily="18" charset="0"/>
              </a:rPr>
              <a:t>]</a:t>
            </a:r>
          </a:p>
          <a:p>
            <a:pPr marL="0" indent="0" algn="just">
              <a:buNone/>
            </a:pPr>
            <a:r>
              <a:rPr lang="zh-CN" altLang="en-US" sz="2600" dirty="0">
                <a:latin typeface="+mn-ea"/>
                <a:cs typeface="Times New Roman" pitchFamily="18" charset="0"/>
              </a:rPr>
              <a:t>功能：动态显示</a:t>
            </a:r>
            <a:r>
              <a:rPr lang="en-US" altLang="zh-CN" sz="2600" dirty="0">
                <a:latin typeface="+mn-ea"/>
                <a:cs typeface="Times New Roman" pitchFamily="18" charset="0"/>
              </a:rPr>
              <a:t>CUP</a:t>
            </a:r>
            <a:r>
              <a:rPr lang="zh-CN" altLang="en-US" sz="2600" dirty="0">
                <a:latin typeface="+mn-ea"/>
                <a:cs typeface="Times New Roman" pitchFamily="18" charset="0"/>
              </a:rPr>
              <a:t>利用率、内存利用率和进程状态等相关信息。</a:t>
            </a:r>
            <a:endParaRPr lang="en-US" altLang="zh-CN" sz="2600" dirty="0">
              <a:latin typeface="+mn-ea"/>
              <a:cs typeface="Times New Roman" pitchFamily="18" charset="0"/>
            </a:endParaRPr>
          </a:p>
          <a:p>
            <a:pPr marL="0" indent="0" algn="just">
              <a:buNone/>
            </a:pPr>
            <a:r>
              <a:rPr lang="zh-CN" altLang="en-US" sz="2600" dirty="0">
                <a:latin typeface="+mn-ea"/>
                <a:cs typeface="Times New Roman" pitchFamily="18" charset="0"/>
              </a:rPr>
              <a:t>主要选项说明：　　</a:t>
            </a:r>
            <a:r>
              <a:rPr lang="en-US" altLang="zh-CN" sz="2600" dirty="0">
                <a:latin typeface="+mn-ea"/>
                <a:cs typeface="Times New Roman" pitchFamily="18" charset="0"/>
              </a:rPr>
              <a:t> </a:t>
            </a:r>
          </a:p>
          <a:p>
            <a:pPr marL="0" indent="0" algn="just">
              <a:buNone/>
            </a:pPr>
            <a:r>
              <a:rPr lang="en-US" altLang="zh-CN" sz="2600" dirty="0">
                <a:latin typeface="+mn-ea"/>
                <a:cs typeface="Times New Roman" pitchFamily="18" charset="0"/>
              </a:rPr>
              <a:t>-d </a:t>
            </a:r>
            <a:r>
              <a:rPr lang="zh-CN" altLang="en-US" sz="2600" dirty="0">
                <a:latin typeface="+mn-ea"/>
                <a:cs typeface="Times New Roman" pitchFamily="18" charset="0"/>
              </a:rPr>
              <a:t> 接秒数，指定更新间隔</a:t>
            </a:r>
            <a:endParaRPr lang="en-US" altLang="zh-CN" sz="2600" dirty="0">
              <a:latin typeface="+mn-ea"/>
              <a:cs typeface="Times New Roman" pitchFamily="18" charset="0"/>
            </a:endParaRPr>
          </a:p>
          <a:p>
            <a:pPr marL="0" indent="0" algn="just">
              <a:buNone/>
            </a:pPr>
            <a:r>
              <a:rPr lang="en-US" altLang="zh-CN" sz="2600" dirty="0">
                <a:latin typeface="+mn-ea"/>
                <a:cs typeface="Times New Roman" pitchFamily="18" charset="0"/>
              </a:rPr>
              <a:t>-n  </a:t>
            </a:r>
            <a:r>
              <a:rPr lang="zh-CN" altLang="en-US" sz="2600" dirty="0">
                <a:latin typeface="+mn-ea"/>
                <a:cs typeface="Times New Roman" pitchFamily="18" charset="0"/>
              </a:rPr>
              <a:t>接执行次数，指定监视信息的更新次数</a:t>
            </a:r>
            <a:endParaRPr lang="en-US" altLang="zh-CN" sz="2600" dirty="0">
              <a:latin typeface="+mn-ea"/>
              <a:cs typeface="Times New Roman" pitchFamily="18" charset="0"/>
            </a:endParaRPr>
          </a:p>
          <a:p>
            <a:pPr marL="0" indent="0" algn="just">
              <a:buNone/>
            </a:pPr>
            <a:r>
              <a:rPr lang="en-US" altLang="zh-CN" sz="2600" dirty="0">
                <a:latin typeface="+mn-ea"/>
                <a:cs typeface="Times New Roman" pitchFamily="18" charset="0"/>
              </a:rPr>
              <a:t>-p  </a:t>
            </a:r>
            <a:r>
              <a:rPr lang="zh-CN" altLang="en-US" sz="2600" dirty="0">
                <a:latin typeface="+mn-ea"/>
                <a:cs typeface="Times New Roman" pitchFamily="18" charset="0"/>
              </a:rPr>
              <a:t>监视指定</a:t>
            </a:r>
            <a:r>
              <a:rPr lang="en-US" altLang="zh-CN" sz="2600" dirty="0">
                <a:latin typeface="+mn-ea"/>
                <a:cs typeface="Times New Roman" pitchFamily="18" charset="0"/>
              </a:rPr>
              <a:t>PID</a:t>
            </a:r>
            <a:r>
              <a:rPr lang="zh-CN" altLang="en-US" sz="2600" dirty="0">
                <a:latin typeface="+mn-ea"/>
                <a:cs typeface="Times New Roman" pitchFamily="18" charset="0"/>
              </a:rPr>
              <a:t>的进程</a:t>
            </a:r>
            <a:endParaRPr lang="en-US" altLang="zh-CN" sz="2600" dirty="0">
              <a:latin typeface="+mn-ea"/>
              <a:cs typeface="Times New Roman" pitchFamily="18" charset="0"/>
            </a:endParaRPr>
          </a:p>
          <a:p>
            <a:pPr marL="0" indent="0" algn="just">
              <a:buNone/>
            </a:pPr>
            <a:r>
              <a:rPr lang="en-US" altLang="zh-CN" sz="2600" dirty="0">
                <a:latin typeface="+mn-ea"/>
                <a:cs typeface="Times New Roman" pitchFamily="18" charset="0"/>
              </a:rPr>
              <a:t>-c </a:t>
            </a:r>
            <a:r>
              <a:rPr lang="zh-CN" altLang="en-US" sz="2600" dirty="0">
                <a:latin typeface="+mn-ea"/>
                <a:cs typeface="Times New Roman" pitchFamily="18" charset="0"/>
              </a:rPr>
              <a:t>显示每个进程完成的命令</a:t>
            </a:r>
            <a:endParaRPr lang="en-US" altLang="zh-CN" sz="2600" dirty="0">
              <a:latin typeface="+mn-ea"/>
              <a:cs typeface="Times New Roman" pitchFamily="18" charset="0"/>
            </a:endParaRPr>
          </a:p>
          <a:p>
            <a:pPr marL="0" indent="0" algn="just">
              <a:buNone/>
            </a:pPr>
            <a:endParaRPr lang="en-US" altLang="zh-CN" sz="2600" dirty="0">
              <a:latin typeface="+mn-ea"/>
              <a:cs typeface="Times New Roman" pitchFamily="18" charset="0"/>
            </a:endParaRPr>
          </a:p>
        </p:txBody>
      </p:sp>
      <p:sp>
        <p:nvSpPr>
          <p:cNvPr id="5" name="Rectangle 2"/>
          <p:cNvSpPr>
            <a:spLocks noGrp="1" noChangeArrowheads="1"/>
          </p:cNvSpPr>
          <p:nvPr>
            <p:ph type="title"/>
          </p:nvPr>
        </p:nvSpPr>
        <p:spPr>
          <a:xfrm>
            <a:off x="2063552" y="523528"/>
            <a:ext cx="8280920" cy="858837"/>
          </a:xfrm>
        </p:spPr>
        <p:txBody>
          <a:bodyPr/>
          <a:lstStyle/>
          <a:p>
            <a:r>
              <a:rPr lang="zh-CN" altLang="en-US" dirty="0">
                <a:latin typeface="+mj-ea"/>
              </a:rPr>
              <a:t>系统监视</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16</a:t>
            </a:fld>
            <a:endParaRPr lang="en-US" altLang="zh-CN"/>
          </a:p>
        </p:txBody>
      </p:sp>
    </p:spTree>
    <p:extLst>
      <p:ext uri="{BB962C8B-B14F-4D97-AF65-F5344CB8AC3E}">
        <p14:creationId xmlns:p14="http://schemas.microsoft.com/office/powerpoint/2010/main" val="290213057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j-ea"/>
              </a:rPr>
              <a:t>系统监视</a:t>
            </a:r>
            <a:endParaRPr lang="zh-CN" altLang="en-US" dirty="0"/>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17</a:t>
            </a:fld>
            <a:endParaRPr lang="en-US" altLang="zh-C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592" y="1648666"/>
            <a:ext cx="6840760" cy="4660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6811159"/>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3" name="Rectangle 3"/>
          <p:cNvSpPr>
            <a:spLocks noGrp="1" noChangeArrowheads="1"/>
          </p:cNvSpPr>
          <p:nvPr>
            <p:ph type="body" idx="1"/>
          </p:nvPr>
        </p:nvSpPr>
        <p:spPr>
          <a:xfrm>
            <a:off x="1127448" y="1384325"/>
            <a:ext cx="10009112" cy="4780979"/>
          </a:xfrm>
        </p:spPr>
        <p:txBody>
          <a:bodyPr/>
          <a:lstStyle/>
          <a:p>
            <a:pPr marL="0" indent="0">
              <a:lnSpc>
                <a:spcPct val="150000"/>
              </a:lnSpc>
              <a:buNone/>
            </a:pPr>
            <a:r>
              <a:rPr lang="en-US" altLang="zh-CN" sz="2400" dirty="0">
                <a:latin typeface="+mn-ea"/>
                <a:cs typeface="Times New Roman" pitchFamily="18" charset="0"/>
              </a:rPr>
              <a:t>top</a:t>
            </a:r>
            <a:r>
              <a:rPr lang="zh-CN" altLang="en-US" sz="2400" dirty="0">
                <a:latin typeface="+mn-ea"/>
                <a:cs typeface="Times New Roman" pitchFamily="18" charset="0"/>
              </a:rPr>
              <a:t>命令显示的信息可分为上下两部分，上半部分显示当前时间、已运行时间，用户数；显示总进程及各种进程状态的进程数；还显示进程、内存和交换分区的使用情况。</a:t>
            </a:r>
            <a:endParaRPr lang="en-US" altLang="zh-CN" sz="2400" dirty="0">
              <a:latin typeface="+mn-ea"/>
              <a:cs typeface="Times New Roman" pitchFamily="18" charset="0"/>
            </a:endParaRPr>
          </a:p>
          <a:p>
            <a:pPr marL="0" indent="0">
              <a:lnSpc>
                <a:spcPct val="150000"/>
              </a:lnSpc>
              <a:buNone/>
            </a:pPr>
            <a:r>
              <a:rPr lang="zh-CN" altLang="en-US" sz="2400" dirty="0">
                <a:latin typeface="+mn-ea"/>
                <a:cs typeface="Times New Roman" pitchFamily="18" charset="0"/>
              </a:rPr>
              <a:t>   下半部分显示各进程的详细信息，默认按照进程的</a:t>
            </a:r>
            <a:r>
              <a:rPr lang="en-US" altLang="zh-CN" sz="2400" dirty="0">
                <a:solidFill>
                  <a:srgbClr val="0000CC"/>
                </a:solidFill>
                <a:latin typeface="+mn-ea"/>
                <a:cs typeface="Times New Roman" pitchFamily="18" charset="0"/>
              </a:rPr>
              <a:t>CPU</a:t>
            </a:r>
            <a:r>
              <a:rPr lang="zh-CN" altLang="en-US" sz="2400" dirty="0">
                <a:solidFill>
                  <a:srgbClr val="0000CC"/>
                </a:solidFill>
                <a:latin typeface="+mn-ea"/>
                <a:cs typeface="Times New Roman" pitchFamily="18" charset="0"/>
              </a:rPr>
              <a:t>使用率排列</a:t>
            </a:r>
            <a:r>
              <a:rPr lang="zh-CN" altLang="en-US" sz="2400" dirty="0">
                <a:latin typeface="+mn-ea"/>
                <a:cs typeface="Times New Roman" pitchFamily="18" charset="0"/>
              </a:rPr>
              <a:t>所有的进程。按</a:t>
            </a:r>
            <a:r>
              <a:rPr lang="en-US" altLang="zh-CN" sz="2400" dirty="0">
                <a:latin typeface="+mn-ea"/>
                <a:cs typeface="Times New Roman" pitchFamily="18" charset="0"/>
              </a:rPr>
              <a:t>[M]</a:t>
            </a:r>
            <a:r>
              <a:rPr lang="zh-CN" altLang="en-US" sz="2400" dirty="0">
                <a:latin typeface="+mn-ea"/>
                <a:cs typeface="Times New Roman" pitchFamily="18" charset="0"/>
              </a:rPr>
              <a:t>键将按照</a:t>
            </a:r>
            <a:r>
              <a:rPr lang="zh-CN" altLang="en-US" sz="2400" dirty="0">
                <a:solidFill>
                  <a:srgbClr val="0000CC"/>
                </a:solidFill>
                <a:latin typeface="+mn-ea"/>
                <a:cs typeface="Times New Roman" pitchFamily="18" charset="0"/>
              </a:rPr>
              <a:t>内存使用率排列</a:t>
            </a:r>
            <a:r>
              <a:rPr lang="zh-CN" altLang="en-US" sz="2400" dirty="0">
                <a:latin typeface="+mn-ea"/>
                <a:cs typeface="Times New Roman" pitchFamily="18" charset="0"/>
              </a:rPr>
              <a:t>所有进程，按</a:t>
            </a:r>
            <a:r>
              <a:rPr lang="en-US" altLang="zh-CN" sz="2400" dirty="0">
                <a:latin typeface="+mn-ea"/>
                <a:cs typeface="Times New Roman" pitchFamily="18" charset="0"/>
              </a:rPr>
              <a:t>[T]</a:t>
            </a:r>
            <a:r>
              <a:rPr lang="zh-CN" altLang="en-US" sz="2400" dirty="0">
                <a:latin typeface="+mn-ea"/>
                <a:cs typeface="Times New Roman" pitchFamily="18" charset="0"/>
              </a:rPr>
              <a:t>键将按照</a:t>
            </a:r>
            <a:r>
              <a:rPr lang="zh-CN" altLang="en-US" sz="2400" dirty="0">
                <a:solidFill>
                  <a:srgbClr val="0000CC"/>
                </a:solidFill>
                <a:latin typeface="+mn-ea"/>
                <a:cs typeface="Times New Roman" pitchFamily="18" charset="0"/>
              </a:rPr>
              <a:t>进程的执行时间排列</a:t>
            </a:r>
            <a:r>
              <a:rPr lang="zh-CN" altLang="en-US" sz="2400" dirty="0">
                <a:latin typeface="+mn-ea"/>
                <a:cs typeface="Times New Roman" pitchFamily="18" charset="0"/>
              </a:rPr>
              <a:t>所有进程，按</a:t>
            </a:r>
            <a:r>
              <a:rPr lang="en-US" altLang="zh-CN" sz="2400" dirty="0">
                <a:latin typeface="+mn-ea"/>
                <a:cs typeface="Times New Roman" pitchFamily="18" charset="0"/>
              </a:rPr>
              <a:t>[P]</a:t>
            </a:r>
            <a:r>
              <a:rPr lang="zh-CN" altLang="en-US" sz="2400" dirty="0">
                <a:latin typeface="+mn-ea"/>
                <a:cs typeface="Times New Roman" pitchFamily="18" charset="0"/>
              </a:rPr>
              <a:t>键将恢复按照</a:t>
            </a:r>
            <a:r>
              <a:rPr lang="en-US" altLang="zh-CN" sz="2400" dirty="0">
                <a:latin typeface="+mn-ea"/>
                <a:cs typeface="Times New Roman" pitchFamily="18" charset="0"/>
              </a:rPr>
              <a:t>CPU</a:t>
            </a:r>
            <a:r>
              <a:rPr lang="zh-CN" altLang="en-US" sz="2400" dirty="0">
                <a:latin typeface="+mn-ea"/>
                <a:cs typeface="Times New Roman" pitchFamily="18" charset="0"/>
              </a:rPr>
              <a:t>使用率排列所有进程，</a:t>
            </a:r>
          </a:p>
          <a:p>
            <a:pPr marL="0" indent="0">
              <a:lnSpc>
                <a:spcPct val="150000"/>
              </a:lnSpc>
              <a:buNone/>
            </a:pPr>
            <a:r>
              <a:rPr lang="zh-CN" altLang="en-US" sz="2400" dirty="0">
                <a:solidFill>
                  <a:srgbClr val="0000CC"/>
                </a:solidFill>
                <a:latin typeface="+mn-ea"/>
              </a:rPr>
              <a:t>按</a:t>
            </a:r>
            <a:r>
              <a:rPr lang="en-US" altLang="zh-CN" sz="2400" dirty="0">
                <a:solidFill>
                  <a:srgbClr val="0000CC"/>
                </a:solidFill>
                <a:latin typeface="+mn-ea"/>
              </a:rPr>
              <a:t>[</a:t>
            </a:r>
            <a:r>
              <a:rPr lang="en-US" altLang="zh-CN" sz="2400" dirty="0" err="1">
                <a:solidFill>
                  <a:srgbClr val="0000CC"/>
                </a:solidFill>
                <a:latin typeface="+mn-ea"/>
              </a:rPr>
              <a:t>Ctrl+C</a:t>
            </a:r>
            <a:r>
              <a:rPr lang="en-US" altLang="zh-CN" sz="2400" dirty="0">
                <a:solidFill>
                  <a:srgbClr val="0000CC"/>
                </a:solidFill>
                <a:latin typeface="+mn-ea"/>
              </a:rPr>
              <a:t>]</a:t>
            </a:r>
            <a:r>
              <a:rPr lang="zh-CN" altLang="en-US" sz="2400" dirty="0">
                <a:solidFill>
                  <a:srgbClr val="0000CC"/>
                </a:solidFill>
                <a:latin typeface="+mn-ea"/>
              </a:rPr>
              <a:t>组合键或</a:t>
            </a:r>
            <a:r>
              <a:rPr lang="en-US" altLang="zh-CN" sz="2400" dirty="0">
                <a:solidFill>
                  <a:srgbClr val="0000CC"/>
                </a:solidFill>
                <a:latin typeface="+mn-ea"/>
              </a:rPr>
              <a:t>[Q]</a:t>
            </a:r>
            <a:r>
              <a:rPr lang="zh-CN" altLang="en-US" sz="2400" dirty="0">
                <a:solidFill>
                  <a:srgbClr val="0000CC"/>
                </a:solidFill>
                <a:latin typeface="+mn-ea"/>
              </a:rPr>
              <a:t>键结束</a:t>
            </a:r>
            <a:r>
              <a:rPr lang="en-US" altLang="zh-CN" sz="2400" dirty="0">
                <a:solidFill>
                  <a:srgbClr val="0000CC"/>
                </a:solidFill>
                <a:latin typeface="+mn-ea"/>
              </a:rPr>
              <a:t>top</a:t>
            </a:r>
            <a:r>
              <a:rPr lang="zh-CN" altLang="en-US" sz="2400" dirty="0">
                <a:solidFill>
                  <a:srgbClr val="0000CC"/>
                </a:solidFill>
                <a:latin typeface="+mn-ea"/>
              </a:rPr>
              <a:t>命令</a:t>
            </a:r>
            <a:r>
              <a:rPr lang="zh-CN" altLang="en-US" sz="2400" dirty="0">
                <a:latin typeface="+mn-ea"/>
              </a:rPr>
              <a:t>。</a:t>
            </a:r>
          </a:p>
        </p:txBody>
      </p:sp>
      <p:sp>
        <p:nvSpPr>
          <p:cNvPr id="5" name="Rectangle 2"/>
          <p:cNvSpPr>
            <a:spLocks noGrp="1" noChangeArrowheads="1"/>
          </p:cNvSpPr>
          <p:nvPr>
            <p:ph type="title"/>
          </p:nvPr>
        </p:nvSpPr>
        <p:spPr>
          <a:xfrm>
            <a:off x="1925560" y="476071"/>
            <a:ext cx="8202887" cy="858837"/>
          </a:xfrm>
        </p:spPr>
        <p:txBody>
          <a:bodyPr/>
          <a:lstStyle/>
          <a:p>
            <a:r>
              <a:rPr lang="zh-CN" altLang="en-US" dirty="0">
                <a:latin typeface="+mj-ea"/>
              </a:rPr>
              <a:t>系统监视</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18</a:t>
            </a:fld>
            <a:endParaRPr lang="en-US" altLang="zh-CN"/>
          </a:p>
        </p:txBody>
      </p:sp>
    </p:spTree>
    <p:extLst>
      <p:ext uri="{BB962C8B-B14F-4D97-AF65-F5344CB8AC3E}">
        <p14:creationId xmlns:p14="http://schemas.microsoft.com/office/powerpoint/2010/main" val="318419645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8E3F67-ED09-4674-91A3-5C2F61369EEE}"/>
              </a:ext>
            </a:extLst>
          </p:cNvPr>
          <p:cNvSpPr>
            <a:spLocks noGrp="1"/>
          </p:cNvSpPr>
          <p:nvPr>
            <p:ph type="title"/>
          </p:nvPr>
        </p:nvSpPr>
        <p:spPr>
          <a:xfrm>
            <a:off x="839416" y="523528"/>
            <a:ext cx="10058400" cy="858837"/>
          </a:xfrm>
        </p:spPr>
        <p:txBody>
          <a:bodyPr/>
          <a:lstStyle/>
          <a:p>
            <a:r>
              <a:rPr lang="zh-CN" altLang="en-US" dirty="0">
                <a:latin typeface="+mj-ea"/>
              </a:rPr>
              <a:t>系统监视</a:t>
            </a:r>
            <a:endParaRPr lang="zh-CN" altLang="en-US" dirty="0"/>
          </a:p>
        </p:txBody>
      </p:sp>
      <p:sp>
        <p:nvSpPr>
          <p:cNvPr id="3" name="内容占位符 2">
            <a:extLst>
              <a:ext uri="{FF2B5EF4-FFF2-40B4-BE49-F238E27FC236}">
                <a16:creationId xmlns:a16="http://schemas.microsoft.com/office/drawing/2014/main" id="{1700DA19-562E-4AE8-842C-6D9C8813DB4F}"/>
              </a:ext>
            </a:extLst>
          </p:cNvPr>
          <p:cNvSpPr>
            <a:spLocks noGrp="1"/>
          </p:cNvSpPr>
          <p:nvPr>
            <p:ph idx="1"/>
          </p:nvPr>
        </p:nvSpPr>
        <p:spPr>
          <a:xfrm>
            <a:off x="839416" y="1481035"/>
            <a:ext cx="10369152" cy="1295797"/>
          </a:xfrm>
        </p:spPr>
        <p:txBody>
          <a:bodyPr/>
          <a:lstStyle/>
          <a:p>
            <a:r>
              <a:rPr lang="zh-CN" altLang="en-US" sz="2400" dirty="0"/>
              <a:t>使用</a:t>
            </a:r>
            <a:r>
              <a:rPr lang="en-US" altLang="zh-CN" sz="2400" dirty="0"/>
              <a:t>gnome-system-monitor</a:t>
            </a:r>
            <a:r>
              <a:rPr lang="zh-CN" altLang="en-US" sz="2400" dirty="0"/>
              <a:t>命令或者通过“应用程序”</a:t>
            </a:r>
            <a:r>
              <a:rPr lang="zh-CN" altLang="en-US" sz="2400" dirty="0">
                <a:sym typeface="Wingdings" panose="05000000000000000000" pitchFamily="2" charset="2"/>
              </a:rPr>
              <a:t>“系统工具” “系统监视器”打开图形化界面的系统监视器。</a:t>
            </a:r>
            <a:endParaRPr lang="zh-CN" altLang="en-US" sz="2400" dirty="0"/>
          </a:p>
        </p:txBody>
      </p:sp>
      <p:sp>
        <p:nvSpPr>
          <p:cNvPr id="4" name="灯片编号占位符 3">
            <a:extLst>
              <a:ext uri="{FF2B5EF4-FFF2-40B4-BE49-F238E27FC236}">
                <a16:creationId xmlns:a16="http://schemas.microsoft.com/office/drawing/2014/main" id="{61D751E7-3837-412B-96AC-9771B9B81FEB}"/>
              </a:ext>
            </a:extLst>
          </p:cNvPr>
          <p:cNvSpPr>
            <a:spLocks noGrp="1"/>
          </p:cNvSpPr>
          <p:nvPr>
            <p:ph type="sldNum" sz="quarter" idx="11"/>
          </p:nvPr>
        </p:nvSpPr>
        <p:spPr/>
        <p:txBody>
          <a:bodyPr/>
          <a:lstStyle/>
          <a:p>
            <a:pPr>
              <a:defRPr/>
            </a:pPr>
            <a:fld id="{110871B5-850E-4E14-A636-3EC679EBF038}" type="slidenum">
              <a:rPr lang="en-US" altLang="zh-CN" smtClean="0"/>
              <a:pPr>
                <a:defRPr/>
              </a:pPr>
              <a:t>19</a:t>
            </a:fld>
            <a:endParaRPr lang="en-US" altLang="zh-CN"/>
          </a:p>
        </p:txBody>
      </p:sp>
      <p:pic>
        <p:nvPicPr>
          <p:cNvPr id="6" name="图片 5">
            <a:extLst>
              <a:ext uri="{FF2B5EF4-FFF2-40B4-BE49-F238E27FC236}">
                <a16:creationId xmlns:a16="http://schemas.microsoft.com/office/drawing/2014/main" id="{4E49C3DB-B43E-46BD-BBDF-F22C0997A869}"/>
              </a:ext>
            </a:extLst>
          </p:cNvPr>
          <p:cNvPicPr>
            <a:picLocks noChangeAspect="1"/>
          </p:cNvPicPr>
          <p:nvPr/>
        </p:nvPicPr>
        <p:blipFill>
          <a:blip r:embed="rId2"/>
          <a:stretch>
            <a:fillRect/>
          </a:stretch>
        </p:blipFill>
        <p:spPr>
          <a:xfrm>
            <a:off x="2639616" y="2376132"/>
            <a:ext cx="6768752" cy="3933914"/>
          </a:xfrm>
          <a:prstGeom prst="rect">
            <a:avLst/>
          </a:prstGeom>
        </p:spPr>
      </p:pic>
    </p:spTree>
    <p:extLst>
      <p:ext uri="{BB962C8B-B14F-4D97-AF65-F5344CB8AC3E}">
        <p14:creationId xmlns:p14="http://schemas.microsoft.com/office/powerpoint/2010/main" val="3181117022"/>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p:cNvSpPr>
            <a:spLocks noGrp="1" noChangeArrowheads="1"/>
          </p:cNvSpPr>
          <p:nvPr>
            <p:ph type="body" idx="1"/>
          </p:nvPr>
        </p:nvSpPr>
        <p:spPr>
          <a:xfrm>
            <a:off x="1127448" y="1484784"/>
            <a:ext cx="9937104" cy="4536504"/>
          </a:xfrm>
        </p:spPr>
        <p:txBody>
          <a:bodyPr/>
          <a:lstStyle/>
          <a:p>
            <a:pPr>
              <a:lnSpc>
                <a:spcPct val="120000"/>
              </a:lnSpc>
            </a:pPr>
            <a:r>
              <a:rPr lang="en-US" altLang="zh-CN" sz="2600" dirty="0">
                <a:solidFill>
                  <a:srgbClr val="CC0099"/>
                </a:solidFill>
                <a:latin typeface="+mn-ea"/>
                <a:cs typeface="Times New Roman" pitchFamily="18" charset="0"/>
              </a:rPr>
              <a:t>nice</a:t>
            </a:r>
            <a:r>
              <a:rPr lang="zh-CN" altLang="en-US" sz="2600" dirty="0">
                <a:solidFill>
                  <a:srgbClr val="CC0099"/>
                </a:solidFill>
                <a:latin typeface="+mn-ea"/>
                <a:cs typeface="Times New Roman" pitchFamily="18" charset="0"/>
              </a:rPr>
              <a:t>命令</a:t>
            </a:r>
            <a:endParaRPr lang="en-US" altLang="zh-CN" sz="2600" dirty="0">
              <a:solidFill>
                <a:srgbClr val="CC0099"/>
              </a:solidFill>
              <a:latin typeface="+mn-ea"/>
              <a:cs typeface="Times New Roman" pitchFamily="18" charset="0"/>
            </a:endParaRPr>
          </a:p>
          <a:p>
            <a:pPr marL="0" indent="0">
              <a:lnSpc>
                <a:spcPct val="120000"/>
              </a:lnSpc>
              <a:buNone/>
            </a:pPr>
            <a:r>
              <a:rPr lang="en-US" altLang="zh-CN" sz="2600" dirty="0">
                <a:solidFill>
                  <a:srgbClr val="CC0099"/>
                </a:solidFill>
                <a:latin typeface="+mn-ea"/>
                <a:cs typeface="Times New Roman" pitchFamily="18" charset="0"/>
              </a:rPr>
              <a:t>  </a:t>
            </a:r>
            <a:r>
              <a:rPr lang="zh-CN" altLang="en-US" sz="2600" dirty="0">
                <a:latin typeface="+mn-ea"/>
                <a:cs typeface="Times New Roman" pitchFamily="18" charset="0"/>
              </a:rPr>
              <a:t>格式：</a:t>
            </a:r>
            <a:r>
              <a:rPr lang="en-US" altLang="zh-CN" sz="2600" dirty="0">
                <a:solidFill>
                  <a:srgbClr val="0000CC"/>
                </a:solidFill>
                <a:latin typeface="+mn-ea"/>
                <a:cs typeface="Times New Roman" pitchFamily="18" charset="0"/>
              </a:rPr>
              <a:t>nice -n </a:t>
            </a:r>
            <a:r>
              <a:rPr lang="zh-CN" altLang="en-US" sz="2600" dirty="0">
                <a:solidFill>
                  <a:srgbClr val="0000CC"/>
                </a:solidFill>
                <a:latin typeface="+mn-ea"/>
                <a:cs typeface="Times New Roman" pitchFamily="18" charset="0"/>
              </a:rPr>
              <a:t>命令</a:t>
            </a:r>
            <a:endParaRPr lang="en-US" altLang="zh-CN" sz="2600" dirty="0">
              <a:solidFill>
                <a:srgbClr val="0000CC"/>
              </a:solidFill>
              <a:latin typeface="+mn-ea"/>
              <a:cs typeface="Times New Roman" pitchFamily="18" charset="0"/>
            </a:endParaRPr>
          </a:p>
          <a:p>
            <a:pPr marL="344487" lvl="1" indent="0">
              <a:lnSpc>
                <a:spcPct val="120000"/>
              </a:lnSpc>
              <a:buNone/>
            </a:pPr>
            <a:r>
              <a:rPr lang="zh-CN" altLang="en-US" dirty="0">
                <a:latin typeface="+mn-ea"/>
                <a:cs typeface="Times New Roman" pitchFamily="18" charset="0"/>
              </a:rPr>
              <a:t>功能：</a:t>
            </a:r>
            <a:r>
              <a:rPr lang="zh-CN" altLang="en-US" dirty="0">
                <a:solidFill>
                  <a:schemeClr val="tx1"/>
                </a:solidFill>
                <a:latin typeface="+mn-ea"/>
                <a:cs typeface="Times New Roman" pitchFamily="18" charset="0"/>
              </a:rPr>
              <a:t>指定程序运行优先级</a:t>
            </a:r>
            <a:r>
              <a:rPr lang="en-US" altLang="zh-CN" dirty="0">
                <a:solidFill>
                  <a:schemeClr val="tx1"/>
                </a:solidFill>
                <a:latin typeface="+mn-ea"/>
                <a:cs typeface="Times New Roman" pitchFamily="18" charset="0"/>
              </a:rPr>
              <a:t>,</a:t>
            </a:r>
            <a:r>
              <a:rPr lang="zh-CN" altLang="en-US" dirty="0">
                <a:solidFill>
                  <a:schemeClr val="tx1"/>
                </a:solidFill>
                <a:latin typeface="+mn-ea"/>
                <a:cs typeface="Times New Roman" pitchFamily="18" charset="0"/>
              </a:rPr>
              <a:t>必须要有管理员权限</a:t>
            </a:r>
            <a:r>
              <a:rPr lang="zh-CN" altLang="en-US" dirty="0">
                <a:latin typeface="+mn-ea"/>
                <a:cs typeface="Times New Roman" pitchFamily="18" charset="0"/>
              </a:rPr>
              <a:t>。</a:t>
            </a:r>
            <a:endParaRPr lang="zh-CN" altLang="en-US" dirty="0">
              <a:solidFill>
                <a:schemeClr val="tx1"/>
              </a:solidFill>
              <a:latin typeface="+mn-ea"/>
              <a:cs typeface="Times New Roman" pitchFamily="18" charset="0"/>
            </a:endParaRPr>
          </a:p>
          <a:p>
            <a:pPr marL="0" indent="0">
              <a:lnSpc>
                <a:spcPct val="120000"/>
              </a:lnSpc>
              <a:buNone/>
            </a:pPr>
            <a:r>
              <a:rPr lang="zh-CN" altLang="en-US" sz="2600" dirty="0">
                <a:latin typeface="+mn-ea"/>
                <a:cs typeface="Times New Roman" pitchFamily="18" charset="0"/>
              </a:rPr>
              <a:t>例如：在后台以</a:t>
            </a:r>
            <a:r>
              <a:rPr lang="en-US" altLang="zh-CN" sz="2600" dirty="0">
                <a:latin typeface="+mn-ea"/>
                <a:cs typeface="Times New Roman" pitchFamily="18" charset="0"/>
              </a:rPr>
              <a:t>-5</a:t>
            </a:r>
            <a:r>
              <a:rPr lang="zh-CN" altLang="en-US" sz="2600" dirty="0">
                <a:latin typeface="+mn-ea"/>
                <a:cs typeface="Times New Roman" pitchFamily="18" charset="0"/>
              </a:rPr>
              <a:t>的优先级运行</a:t>
            </a:r>
            <a:r>
              <a:rPr lang="en-US" altLang="zh-CN" sz="2600" dirty="0" err="1">
                <a:latin typeface="+mn-ea"/>
                <a:cs typeface="Times New Roman" pitchFamily="18" charset="0"/>
              </a:rPr>
              <a:t>myprogram</a:t>
            </a:r>
            <a:br>
              <a:rPr lang="zh-CN" altLang="en-US" sz="2600" dirty="0">
                <a:latin typeface="+mn-ea"/>
              </a:rPr>
            </a:br>
            <a:r>
              <a:rPr lang="zh-CN" altLang="en-US" sz="2600" dirty="0"/>
              <a:t>［</a:t>
            </a:r>
            <a:r>
              <a:rPr lang="en-US" altLang="zh-CN" sz="2600" dirty="0"/>
              <a:t>root@ localhost  ~</a:t>
            </a:r>
            <a:r>
              <a:rPr lang="zh-CN" altLang="en-US" sz="2600" dirty="0"/>
              <a:t>］ </a:t>
            </a:r>
            <a:r>
              <a:rPr lang="en-US" altLang="zh-CN" sz="2600" dirty="0"/>
              <a:t># </a:t>
            </a:r>
            <a:r>
              <a:rPr lang="en-US" altLang="zh-CN" sz="2600" dirty="0">
                <a:latin typeface="+mn-ea"/>
                <a:cs typeface="Times New Roman" pitchFamily="18" charset="0"/>
              </a:rPr>
              <a:t>nice -n -5 myprogram</a:t>
            </a:r>
            <a:r>
              <a:rPr lang="en-US" altLang="zh-CN" sz="2600" dirty="0">
                <a:solidFill>
                  <a:srgbClr val="0000CC"/>
                </a:solidFill>
                <a:latin typeface="+mn-ea"/>
                <a:cs typeface="Times New Roman" pitchFamily="18" charset="0"/>
              </a:rPr>
              <a:t>&amp; </a:t>
            </a:r>
          </a:p>
          <a:p>
            <a:pPr fontAlgn="b">
              <a:lnSpc>
                <a:spcPct val="120000"/>
              </a:lnSpc>
            </a:pPr>
            <a:r>
              <a:rPr lang="en-US" altLang="zh-CN" sz="2600" dirty="0">
                <a:latin typeface="+mn-ea"/>
                <a:cs typeface="Times New Roman" pitchFamily="18" charset="0"/>
              </a:rPr>
              <a:t>-n</a:t>
            </a:r>
            <a:r>
              <a:rPr lang="zh-CN" altLang="en-US" sz="2600" dirty="0">
                <a:latin typeface="+mn-ea"/>
                <a:cs typeface="Times New Roman" pitchFamily="18" charset="0"/>
              </a:rPr>
              <a:t>选项后面跟具体的</a:t>
            </a:r>
            <a:r>
              <a:rPr lang="en-US" altLang="zh-CN" sz="2600" dirty="0">
                <a:latin typeface="+mn-ea"/>
                <a:cs typeface="Times New Roman" pitchFamily="18" charset="0"/>
              </a:rPr>
              <a:t>niceness</a:t>
            </a:r>
            <a:r>
              <a:rPr lang="zh-CN" altLang="en-US" sz="2600" dirty="0">
                <a:latin typeface="+mn-ea"/>
                <a:cs typeface="Times New Roman" pitchFamily="18" charset="0"/>
              </a:rPr>
              <a:t>值，</a:t>
            </a:r>
            <a:r>
              <a:rPr lang="en-US" altLang="zh-CN" sz="2600" dirty="0">
                <a:latin typeface="+mn-ea"/>
                <a:cs typeface="Times New Roman" pitchFamily="18" charset="0"/>
              </a:rPr>
              <a:t>niceness</a:t>
            </a:r>
            <a:r>
              <a:rPr lang="zh-CN" altLang="en-US" sz="2600" dirty="0">
                <a:latin typeface="+mn-ea"/>
                <a:cs typeface="Times New Roman" pitchFamily="18" charset="0"/>
              </a:rPr>
              <a:t>是一个进程“优先级”状态的值，其取值范围是</a:t>
            </a:r>
            <a:r>
              <a:rPr lang="en-US" altLang="zh-CN" sz="2600" dirty="0">
                <a:latin typeface="+mn-ea"/>
                <a:cs typeface="Times New Roman" pitchFamily="18" charset="0"/>
              </a:rPr>
              <a:t>-20</a:t>
            </a:r>
            <a:r>
              <a:rPr lang="zh-CN" altLang="en-US" sz="2600" dirty="0">
                <a:latin typeface="+mn-ea"/>
                <a:cs typeface="Times New Roman" pitchFamily="18" charset="0"/>
              </a:rPr>
              <a:t>至</a:t>
            </a:r>
            <a:r>
              <a:rPr lang="en-US" altLang="zh-CN" sz="2600" dirty="0">
                <a:latin typeface="+mn-ea"/>
                <a:cs typeface="Times New Roman" pitchFamily="18" charset="0"/>
              </a:rPr>
              <a:t>19</a:t>
            </a:r>
            <a:r>
              <a:rPr lang="zh-CN" altLang="en-US" sz="2600" dirty="0">
                <a:latin typeface="+mn-ea"/>
                <a:cs typeface="Times New Roman" pitchFamily="18" charset="0"/>
              </a:rPr>
              <a:t>，一共</a:t>
            </a:r>
            <a:r>
              <a:rPr lang="en-US" altLang="zh-CN" sz="2600" dirty="0">
                <a:latin typeface="+mn-ea"/>
                <a:cs typeface="Times New Roman" pitchFamily="18" charset="0"/>
              </a:rPr>
              <a:t>40</a:t>
            </a:r>
            <a:r>
              <a:rPr lang="zh-CN" altLang="en-US" sz="2600" dirty="0">
                <a:latin typeface="+mn-ea"/>
                <a:cs typeface="Times New Roman" pitchFamily="18" charset="0"/>
              </a:rPr>
              <a:t>个级别。参数</a:t>
            </a:r>
            <a:r>
              <a:rPr lang="en-US" altLang="zh-CN" sz="2600" dirty="0">
                <a:latin typeface="+mn-ea"/>
                <a:cs typeface="Times New Roman" pitchFamily="18" charset="0"/>
              </a:rPr>
              <a:t>n</a:t>
            </a:r>
            <a:r>
              <a:rPr lang="zh-CN" altLang="en-US" sz="2600" dirty="0">
                <a:latin typeface="+mn-ea"/>
                <a:cs typeface="Times New Roman" pitchFamily="18" charset="0"/>
              </a:rPr>
              <a:t>的数值越大，进程的优先级越低，</a:t>
            </a:r>
            <a:r>
              <a:rPr lang="en-US" altLang="zh-CN" sz="2600" dirty="0">
                <a:latin typeface="+mn-ea"/>
                <a:cs typeface="Times New Roman" pitchFamily="18" charset="0"/>
              </a:rPr>
              <a:t>n</a:t>
            </a:r>
            <a:r>
              <a:rPr lang="zh-CN" altLang="en-US" sz="2600" dirty="0">
                <a:latin typeface="+mn-ea"/>
                <a:cs typeface="Times New Roman" pitchFamily="18" charset="0"/>
              </a:rPr>
              <a:t>可以取负值让运行级提高。</a:t>
            </a:r>
          </a:p>
        </p:txBody>
      </p:sp>
      <p:sp>
        <p:nvSpPr>
          <p:cNvPr id="5" name="Rectangle 2"/>
          <p:cNvSpPr>
            <a:spLocks noGrp="1" noChangeArrowheads="1"/>
          </p:cNvSpPr>
          <p:nvPr>
            <p:ph type="title"/>
          </p:nvPr>
        </p:nvSpPr>
        <p:spPr>
          <a:xfrm>
            <a:off x="1981200" y="481931"/>
            <a:ext cx="7543800" cy="858837"/>
          </a:xfrm>
        </p:spPr>
        <p:txBody>
          <a:bodyPr/>
          <a:lstStyle/>
          <a:p>
            <a:r>
              <a:rPr lang="zh-CN" altLang="en-US" dirty="0">
                <a:latin typeface="+mj-ea"/>
              </a:rPr>
              <a:t>指定进程优先级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20</a:t>
            </a:fld>
            <a:endParaRPr lang="en-US" altLang="zh-CN"/>
          </a:p>
        </p:txBody>
      </p:sp>
    </p:spTree>
    <p:extLst>
      <p:ext uri="{BB962C8B-B14F-4D97-AF65-F5344CB8AC3E}">
        <p14:creationId xmlns:p14="http://schemas.microsoft.com/office/powerpoint/2010/main" val="84486173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5ACBBD-EF37-386D-18C1-1CDC775DA4E3}"/>
              </a:ext>
            </a:extLst>
          </p:cNvPr>
          <p:cNvSpPr>
            <a:spLocks noGrp="1"/>
          </p:cNvSpPr>
          <p:nvPr>
            <p:ph type="title"/>
          </p:nvPr>
        </p:nvSpPr>
        <p:spPr/>
        <p:txBody>
          <a:bodyPr/>
          <a:lstStyle/>
          <a:p>
            <a:r>
              <a:rPr lang="zh-CN" altLang="en-US" dirty="0">
                <a:latin typeface="+mj-ea"/>
              </a:rPr>
              <a:t>指定进程优先级 </a:t>
            </a:r>
            <a:endParaRPr lang="zh-CN" altLang="en-US" dirty="0"/>
          </a:p>
        </p:txBody>
      </p:sp>
      <p:sp>
        <p:nvSpPr>
          <p:cNvPr id="3" name="内容占位符 2">
            <a:extLst>
              <a:ext uri="{FF2B5EF4-FFF2-40B4-BE49-F238E27FC236}">
                <a16:creationId xmlns:a16="http://schemas.microsoft.com/office/drawing/2014/main" id="{22F81DD6-4AEE-1389-5368-AB01457FACC1}"/>
              </a:ext>
            </a:extLst>
          </p:cNvPr>
          <p:cNvSpPr>
            <a:spLocks noGrp="1"/>
          </p:cNvSpPr>
          <p:nvPr>
            <p:ph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C2E2237-A89C-C0DB-1B6F-1328BE362593}"/>
              </a:ext>
            </a:extLst>
          </p:cNvPr>
          <p:cNvSpPr>
            <a:spLocks noGrp="1"/>
          </p:cNvSpPr>
          <p:nvPr>
            <p:ph type="sldNum" sz="quarter" idx="11"/>
          </p:nvPr>
        </p:nvSpPr>
        <p:spPr/>
        <p:txBody>
          <a:bodyPr/>
          <a:lstStyle/>
          <a:p>
            <a:pPr>
              <a:defRPr/>
            </a:pPr>
            <a:fld id="{110871B5-850E-4E14-A636-3EC679EBF038}" type="slidenum">
              <a:rPr lang="en-US" altLang="zh-CN" smtClean="0"/>
              <a:pPr>
                <a:defRPr/>
              </a:pPr>
              <a:t>21</a:t>
            </a:fld>
            <a:endParaRPr lang="en-US" altLang="zh-CN"/>
          </a:p>
        </p:txBody>
      </p:sp>
      <p:pic>
        <p:nvPicPr>
          <p:cNvPr id="7" name="图片 6">
            <a:extLst>
              <a:ext uri="{FF2B5EF4-FFF2-40B4-BE49-F238E27FC236}">
                <a16:creationId xmlns:a16="http://schemas.microsoft.com/office/drawing/2014/main" id="{255C0030-2120-95CF-B194-9EB5C68538E5}"/>
              </a:ext>
            </a:extLst>
          </p:cNvPr>
          <p:cNvPicPr>
            <a:picLocks noChangeAspect="1"/>
          </p:cNvPicPr>
          <p:nvPr/>
        </p:nvPicPr>
        <p:blipFill>
          <a:blip r:embed="rId3"/>
          <a:stretch>
            <a:fillRect/>
          </a:stretch>
        </p:blipFill>
        <p:spPr>
          <a:xfrm>
            <a:off x="2567607" y="1585913"/>
            <a:ext cx="6998027" cy="4678364"/>
          </a:xfrm>
          <a:prstGeom prst="rect">
            <a:avLst/>
          </a:prstGeom>
        </p:spPr>
      </p:pic>
    </p:spTree>
    <p:extLst>
      <p:ext uri="{BB962C8B-B14F-4D97-AF65-F5344CB8AC3E}">
        <p14:creationId xmlns:p14="http://schemas.microsoft.com/office/powerpoint/2010/main" val="2373232010"/>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body" idx="1"/>
          </p:nvPr>
        </p:nvSpPr>
        <p:spPr>
          <a:xfrm>
            <a:off x="1127448" y="1412776"/>
            <a:ext cx="10153128" cy="5112568"/>
          </a:xfrm>
        </p:spPr>
        <p:txBody>
          <a:bodyPr/>
          <a:lstStyle/>
          <a:p>
            <a:pPr>
              <a:lnSpc>
                <a:spcPct val="90000"/>
              </a:lnSpc>
            </a:pPr>
            <a:r>
              <a:rPr lang="en-US" altLang="zh-CN" sz="2800" dirty="0">
                <a:solidFill>
                  <a:srgbClr val="CC0099"/>
                </a:solidFill>
                <a:latin typeface="+mn-ea"/>
                <a:cs typeface="Times New Roman" pitchFamily="18" charset="0"/>
              </a:rPr>
              <a:t>renice</a:t>
            </a:r>
            <a:r>
              <a:rPr lang="zh-CN" altLang="en-US" sz="2800" dirty="0">
                <a:solidFill>
                  <a:srgbClr val="CC0099"/>
                </a:solidFill>
                <a:latin typeface="+mn-ea"/>
                <a:cs typeface="Times New Roman" pitchFamily="18" charset="0"/>
              </a:rPr>
              <a:t>命令</a:t>
            </a:r>
            <a:endParaRPr lang="en-US" altLang="zh-CN" sz="2800" dirty="0">
              <a:solidFill>
                <a:srgbClr val="CC0099"/>
              </a:solidFill>
              <a:latin typeface="+mn-ea"/>
              <a:cs typeface="Times New Roman" pitchFamily="18" charset="0"/>
            </a:endParaRPr>
          </a:p>
          <a:p>
            <a:pPr marL="344487" lvl="1" indent="0">
              <a:lnSpc>
                <a:spcPct val="90000"/>
              </a:lnSpc>
              <a:buNone/>
            </a:pPr>
            <a:r>
              <a:rPr lang="zh-CN" altLang="en-US" sz="2800" dirty="0">
                <a:latin typeface="+mn-ea"/>
                <a:cs typeface="Times New Roman" pitchFamily="18" charset="0"/>
              </a:rPr>
              <a:t>格式：</a:t>
            </a:r>
            <a:r>
              <a:rPr lang="en-US" altLang="zh-CN" sz="2800" dirty="0">
                <a:solidFill>
                  <a:srgbClr val="0000CC"/>
                </a:solidFill>
                <a:latin typeface="+mn-ea"/>
                <a:cs typeface="Times New Roman" pitchFamily="18" charset="0"/>
              </a:rPr>
              <a:t>renice –n </a:t>
            </a:r>
            <a:r>
              <a:rPr lang="en-US" altLang="zh-CN" sz="2800" dirty="0" err="1">
                <a:solidFill>
                  <a:srgbClr val="0000CC"/>
                </a:solidFill>
                <a:latin typeface="+mn-ea"/>
                <a:cs typeface="Times New Roman" pitchFamily="18" charset="0"/>
              </a:rPr>
              <a:t>pid</a:t>
            </a:r>
            <a:r>
              <a:rPr lang="zh-CN" altLang="en-US" sz="2800" dirty="0">
                <a:latin typeface="+mn-ea"/>
                <a:cs typeface="Times New Roman" pitchFamily="18" charset="0"/>
              </a:rPr>
              <a:t>　　</a:t>
            </a:r>
            <a:r>
              <a:rPr lang="en-US" altLang="zh-CN" sz="2800" dirty="0">
                <a:latin typeface="+mn-ea"/>
                <a:cs typeface="Times New Roman" pitchFamily="18" charset="0"/>
              </a:rPr>
              <a:t> </a:t>
            </a:r>
          </a:p>
          <a:p>
            <a:pPr marL="344487" lvl="1" indent="0">
              <a:lnSpc>
                <a:spcPct val="90000"/>
              </a:lnSpc>
              <a:buNone/>
            </a:pPr>
            <a:r>
              <a:rPr lang="zh-CN" altLang="en-US" sz="2800" dirty="0">
                <a:latin typeface="+mn-ea"/>
                <a:cs typeface="Times New Roman" pitchFamily="18" charset="0"/>
              </a:rPr>
              <a:t>功能：改变正在运行的进程的优先级</a:t>
            </a:r>
          </a:p>
          <a:p>
            <a:pPr lvl="1">
              <a:lnSpc>
                <a:spcPct val="90000"/>
              </a:lnSpc>
              <a:buFontTx/>
              <a:buNone/>
            </a:pPr>
            <a:r>
              <a:rPr lang="zh-CN" altLang="en-US" dirty="0">
                <a:solidFill>
                  <a:schemeClr val="tx1"/>
                </a:solidFill>
                <a:latin typeface="+mn-ea"/>
                <a:cs typeface="Times New Roman" pitchFamily="18" charset="0"/>
              </a:rPr>
              <a:t>例如：</a:t>
            </a:r>
            <a:endParaRPr lang="en-US" altLang="zh-CN" dirty="0">
              <a:solidFill>
                <a:schemeClr val="tx1"/>
              </a:solidFill>
              <a:latin typeface="+mn-ea"/>
              <a:cs typeface="Times New Roman" pitchFamily="18" charset="0"/>
            </a:endParaRPr>
          </a:p>
          <a:p>
            <a:pPr lvl="1" algn="just">
              <a:lnSpc>
                <a:spcPct val="90000"/>
              </a:lnSpc>
              <a:buFontTx/>
              <a:buNone/>
            </a:pPr>
            <a:endParaRPr lang="en-US" altLang="zh-CN" dirty="0">
              <a:solidFill>
                <a:schemeClr val="tx1"/>
              </a:solidFill>
              <a:latin typeface="+mn-ea"/>
              <a:cs typeface="Times New Roman" pitchFamily="18" charset="0"/>
            </a:endParaRPr>
          </a:p>
          <a:p>
            <a:pPr lvl="1" algn="just">
              <a:lnSpc>
                <a:spcPct val="90000"/>
              </a:lnSpc>
              <a:buFontTx/>
              <a:buNone/>
            </a:pPr>
            <a:endParaRPr lang="en-US" altLang="zh-CN" dirty="0">
              <a:solidFill>
                <a:schemeClr val="tx1"/>
              </a:solidFill>
              <a:latin typeface="+mn-ea"/>
              <a:cs typeface="Times New Roman" pitchFamily="18" charset="0"/>
            </a:endParaRPr>
          </a:p>
          <a:p>
            <a:pPr lvl="1" algn="just">
              <a:lnSpc>
                <a:spcPct val="90000"/>
              </a:lnSpc>
              <a:buFontTx/>
              <a:buNone/>
            </a:pPr>
            <a:endParaRPr lang="en-US" altLang="zh-CN" dirty="0">
              <a:latin typeface="+mn-ea"/>
              <a:cs typeface="Times New Roman" pitchFamily="18" charset="0"/>
            </a:endParaRPr>
          </a:p>
          <a:p>
            <a:pPr lvl="1" algn="just">
              <a:lnSpc>
                <a:spcPct val="90000"/>
              </a:lnSpc>
              <a:buFontTx/>
              <a:buNone/>
            </a:pPr>
            <a:endParaRPr lang="en-US" altLang="zh-CN" dirty="0">
              <a:solidFill>
                <a:schemeClr val="tx1"/>
              </a:solidFill>
              <a:latin typeface="+mn-ea"/>
              <a:cs typeface="Times New Roman" pitchFamily="18" charset="0"/>
            </a:endParaRPr>
          </a:p>
          <a:p>
            <a:pPr lvl="1" algn="just">
              <a:lnSpc>
                <a:spcPct val="90000"/>
              </a:lnSpc>
              <a:buFontTx/>
              <a:buNone/>
            </a:pPr>
            <a:r>
              <a:rPr lang="zh-CN" altLang="en-US" dirty="0">
                <a:solidFill>
                  <a:schemeClr val="tx1"/>
                </a:solidFill>
                <a:latin typeface="+mn-ea"/>
                <a:cs typeface="Times New Roman" pitchFamily="18" charset="0"/>
              </a:rPr>
              <a:t>将正在运行的</a:t>
            </a:r>
            <a:r>
              <a:rPr lang="en-US" altLang="zh-CN" dirty="0">
                <a:solidFill>
                  <a:schemeClr val="tx1"/>
                </a:solidFill>
                <a:latin typeface="+mn-ea"/>
                <a:cs typeface="Times New Roman" pitchFamily="18" charset="0"/>
              </a:rPr>
              <a:t>PID</a:t>
            </a:r>
            <a:r>
              <a:rPr lang="zh-CN" altLang="en-US" dirty="0">
                <a:solidFill>
                  <a:schemeClr val="tx1"/>
                </a:solidFill>
                <a:latin typeface="+mn-ea"/>
                <a:cs typeface="Times New Roman" pitchFamily="18" charset="0"/>
              </a:rPr>
              <a:t>为</a:t>
            </a:r>
            <a:r>
              <a:rPr lang="en-US" altLang="zh-CN" dirty="0">
                <a:latin typeface="+mn-ea"/>
                <a:cs typeface="Times New Roman" pitchFamily="18" charset="0"/>
              </a:rPr>
              <a:t>7852</a:t>
            </a:r>
            <a:r>
              <a:rPr lang="zh-CN" altLang="en-US" dirty="0">
                <a:solidFill>
                  <a:schemeClr val="tx1"/>
                </a:solidFill>
                <a:latin typeface="+mn-ea"/>
                <a:cs typeface="Times New Roman" pitchFamily="18" charset="0"/>
              </a:rPr>
              <a:t>的进程优先级改为</a:t>
            </a:r>
            <a:r>
              <a:rPr lang="en-US" altLang="zh-CN" dirty="0">
                <a:solidFill>
                  <a:schemeClr val="tx1"/>
                </a:solidFill>
                <a:latin typeface="+mn-ea"/>
                <a:cs typeface="Times New Roman" pitchFamily="18" charset="0"/>
              </a:rPr>
              <a:t>-10</a:t>
            </a:r>
            <a:r>
              <a:rPr lang="zh-CN" altLang="en-US" dirty="0">
                <a:solidFill>
                  <a:schemeClr val="tx1"/>
                </a:solidFill>
                <a:latin typeface="+mn-ea"/>
                <a:cs typeface="Times New Roman" pitchFamily="18" charset="0"/>
              </a:rPr>
              <a:t>。</a:t>
            </a:r>
            <a:endParaRPr lang="en-US" altLang="zh-CN" dirty="0">
              <a:solidFill>
                <a:schemeClr val="tx1"/>
              </a:solidFill>
              <a:latin typeface="+mn-ea"/>
              <a:cs typeface="Times New Roman" pitchFamily="18" charset="0"/>
            </a:endParaRPr>
          </a:p>
          <a:p>
            <a:pPr algn="just">
              <a:lnSpc>
                <a:spcPct val="90000"/>
              </a:lnSpc>
              <a:buSzPct val="80000"/>
            </a:pPr>
            <a:r>
              <a:rPr lang="zh-CN" altLang="en-US" sz="2600" dirty="0">
                <a:latin typeface="+mn-ea"/>
                <a:cs typeface="Times New Roman" pitchFamily="18" charset="0"/>
              </a:rPr>
              <a:t>启动进程的普通用户通常只能降低进程优先级，超级用户不但可以降低优先级，也可以提高优先级。 </a:t>
            </a:r>
          </a:p>
          <a:p>
            <a:pPr lvl="1" algn="just">
              <a:lnSpc>
                <a:spcPct val="120000"/>
              </a:lnSpc>
              <a:buFontTx/>
              <a:buNone/>
            </a:pPr>
            <a:endParaRPr lang="en-US" altLang="zh-CN" sz="2400" dirty="0">
              <a:latin typeface="+mn-ea"/>
              <a:cs typeface="Times New Roman" pitchFamily="18" charset="0"/>
            </a:endParaRPr>
          </a:p>
          <a:p>
            <a:endParaRPr lang="zh-CN" altLang="en-US" sz="2000" b="0" dirty="0">
              <a:latin typeface="华文新魏" pitchFamily="2" charset="-122"/>
              <a:ea typeface="华文新魏" pitchFamily="2" charset="-122"/>
              <a:cs typeface="Times New Roman" pitchFamily="18" charset="0"/>
            </a:endParaRPr>
          </a:p>
        </p:txBody>
      </p:sp>
      <p:sp>
        <p:nvSpPr>
          <p:cNvPr id="5" name="Rectangle 2"/>
          <p:cNvSpPr>
            <a:spLocks noGrp="1" noChangeArrowheads="1"/>
          </p:cNvSpPr>
          <p:nvPr>
            <p:ph type="title"/>
          </p:nvPr>
        </p:nvSpPr>
        <p:spPr>
          <a:xfrm>
            <a:off x="1991544" y="553939"/>
            <a:ext cx="7992888" cy="858837"/>
          </a:xfrm>
        </p:spPr>
        <p:txBody>
          <a:bodyPr/>
          <a:lstStyle/>
          <a:p>
            <a:r>
              <a:rPr lang="zh-CN" altLang="en-US" dirty="0">
                <a:latin typeface="+mj-ea"/>
              </a:rPr>
              <a:t>指定进程优先级 </a:t>
            </a:r>
          </a:p>
        </p:txBody>
      </p:sp>
      <p:pic>
        <p:nvPicPr>
          <p:cNvPr id="6" name="图片 5">
            <a:extLst>
              <a:ext uri="{FF2B5EF4-FFF2-40B4-BE49-F238E27FC236}">
                <a16:creationId xmlns:a16="http://schemas.microsoft.com/office/drawing/2014/main" id="{A1318942-8125-F4A6-5CB1-973968AD2E2D}"/>
              </a:ext>
            </a:extLst>
          </p:cNvPr>
          <p:cNvPicPr>
            <a:picLocks noChangeAspect="1"/>
          </p:cNvPicPr>
          <p:nvPr/>
        </p:nvPicPr>
        <p:blipFill>
          <a:blip r:embed="rId2"/>
          <a:stretch>
            <a:fillRect/>
          </a:stretch>
        </p:blipFill>
        <p:spPr>
          <a:xfrm>
            <a:off x="2567608" y="3066737"/>
            <a:ext cx="5184576" cy="1660630"/>
          </a:xfrm>
          <a:prstGeom prst="rect">
            <a:avLst/>
          </a:prstGeom>
          <a:ln>
            <a:solidFill>
              <a:schemeClr val="bg2"/>
            </a:solidFill>
          </a:ln>
        </p:spPr>
      </p:pic>
    </p:spTree>
    <p:extLst>
      <p:ext uri="{BB962C8B-B14F-4D97-AF65-F5344CB8AC3E}">
        <p14:creationId xmlns:p14="http://schemas.microsoft.com/office/powerpoint/2010/main" val="188135271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6BB381-AE25-4A03-A26A-7DE50D62D781}"/>
              </a:ext>
            </a:extLst>
          </p:cNvPr>
          <p:cNvSpPr>
            <a:spLocks noGrp="1"/>
          </p:cNvSpPr>
          <p:nvPr>
            <p:ph type="title"/>
          </p:nvPr>
        </p:nvSpPr>
        <p:spPr>
          <a:xfrm>
            <a:off x="862136" y="625947"/>
            <a:ext cx="10058400" cy="858837"/>
          </a:xfrm>
        </p:spPr>
        <p:txBody>
          <a:bodyPr/>
          <a:lstStyle/>
          <a:p>
            <a:r>
              <a:rPr lang="en-US" altLang="zh-CN" dirty="0"/>
              <a:t>sleep</a:t>
            </a:r>
            <a:r>
              <a:rPr lang="zh-CN" altLang="en-US" dirty="0"/>
              <a:t>命令</a:t>
            </a:r>
          </a:p>
        </p:txBody>
      </p:sp>
      <p:sp>
        <p:nvSpPr>
          <p:cNvPr id="3" name="内容占位符 2">
            <a:extLst>
              <a:ext uri="{FF2B5EF4-FFF2-40B4-BE49-F238E27FC236}">
                <a16:creationId xmlns:a16="http://schemas.microsoft.com/office/drawing/2014/main" id="{E2D8B1B6-A8A4-4B8E-AF5B-C5A223904C1E}"/>
              </a:ext>
            </a:extLst>
          </p:cNvPr>
          <p:cNvSpPr>
            <a:spLocks noGrp="1"/>
          </p:cNvSpPr>
          <p:nvPr>
            <p:ph idx="1"/>
          </p:nvPr>
        </p:nvSpPr>
        <p:spPr>
          <a:xfrm>
            <a:off x="1559496" y="1196752"/>
            <a:ext cx="9217024" cy="5184576"/>
          </a:xfrm>
        </p:spPr>
        <p:txBody>
          <a:bodyPr/>
          <a:lstStyle/>
          <a:p>
            <a:r>
              <a:rPr lang="en-US" altLang="zh-CN" sz="2800" dirty="0">
                <a:solidFill>
                  <a:srgbClr val="CC0099"/>
                </a:solidFill>
                <a:latin typeface="+mn-ea"/>
                <a:cs typeface="Times New Roman" pitchFamily="18" charset="0"/>
              </a:rPr>
              <a:t>sleep</a:t>
            </a:r>
            <a:r>
              <a:rPr lang="zh-CN" altLang="en-US" sz="2800" dirty="0">
                <a:solidFill>
                  <a:srgbClr val="CC0099"/>
                </a:solidFill>
                <a:latin typeface="+mn-ea"/>
                <a:cs typeface="Times New Roman" pitchFamily="18" charset="0"/>
              </a:rPr>
              <a:t>命令</a:t>
            </a:r>
            <a:endParaRPr lang="en-US" altLang="zh-CN" sz="2800" dirty="0">
              <a:solidFill>
                <a:srgbClr val="CC0099"/>
              </a:solidFill>
              <a:latin typeface="+mn-ea"/>
              <a:cs typeface="Times New Roman" pitchFamily="18" charset="0"/>
            </a:endParaRPr>
          </a:p>
          <a:p>
            <a:pPr marL="344487" lvl="1" indent="0">
              <a:buNone/>
            </a:pPr>
            <a:r>
              <a:rPr lang="zh-CN" altLang="en-US" sz="2800" dirty="0">
                <a:latin typeface="+mn-ea"/>
                <a:cs typeface="Times New Roman" pitchFamily="18" charset="0"/>
              </a:rPr>
              <a:t>格式：</a:t>
            </a:r>
            <a:r>
              <a:rPr lang="en-US" altLang="zh-CN" sz="2800" dirty="0">
                <a:solidFill>
                  <a:srgbClr val="0000CC"/>
                </a:solidFill>
                <a:latin typeface="+mn-ea"/>
                <a:cs typeface="Times New Roman" pitchFamily="18" charset="0"/>
              </a:rPr>
              <a:t>sleep n</a:t>
            </a:r>
            <a:r>
              <a:rPr lang="zh-CN" altLang="en-US" sz="2800" dirty="0">
                <a:latin typeface="+mn-ea"/>
                <a:cs typeface="Times New Roman" pitchFamily="18" charset="0"/>
              </a:rPr>
              <a:t>　　</a:t>
            </a:r>
            <a:r>
              <a:rPr lang="en-US" altLang="zh-CN" sz="2800" dirty="0">
                <a:latin typeface="+mn-ea"/>
                <a:cs typeface="Times New Roman" pitchFamily="18" charset="0"/>
              </a:rPr>
              <a:t> </a:t>
            </a:r>
          </a:p>
          <a:p>
            <a:pPr marL="344487" lvl="1" indent="0">
              <a:buNone/>
            </a:pPr>
            <a:r>
              <a:rPr lang="zh-CN" altLang="en-US" sz="2800" dirty="0">
                <a:latin typeface="+mn-ea"/>
                <a:cs typeface="Times New Roman" pitchFamily="18" charset="0"/>
              </a:rPr>
              <a:t>功能：使进程休眠，其中</a:t>
            </a:r>
            <a:r>
              <a:rPr lang="en-US" altLang="zh-CN" sz="2800" dirty="0">
                <a:latin typeface="+mn-ea"/>
                <a:cs typeface="Times New Roman" pitchFamily="18" charset="0"/>
              </a:rPr>
              <a:t>n</a:t>
            </a:r>
            <a:r>
              <a:rPr lang="zh-CN" altLang="en-US" sz="2800" dirty="0">
                <a:latin typeface="+mn-ea"/>
                <a:cs typeface="Times New Roman" pitchFamily="18" charset="0"/>
              </a:rPr>
              <a:t>为时间： </a:t>
            </a:r>
            <a:r>
              <a:rPr lang="en-US" altLang="zh-CN" sz="2800" dirty="0">
                <a:latin typeface="+mn-ea"/>
                <a:cs typeface="Times New Roman" pitchFamily="18" charset="0"/>
              </a:rPr>
              <a:t>s</a:t>
            </a:r>
            <a:r>
              <a:rPr lang="zh-CN" altLang="en-US" sz="2800" dirty="0">
                <a:latin typeface="+mn-ea"/>
                <a:cs typeface="Times New Roman" pitchFamily="18" charset="0"/>
              </a:rPr>
              <a:t>为秒、</a:t>
            </a:r>
            <a:r>
              <a:rPr lang="en-US" altLang="zh-CN" sz="2800" dirty="0">
                <a:latin typeface="+mn-ea"/>
                <a:cs typeface="Times New Roman" pitchFamily="18" charset="0"/>
              </a:rPr>
              <a:t>m </a:t>
            </a:r>
            <a:r>
              <a:rPr lang="zh-CN" altLang="en-US" sz="2800" dirty="0">
                <a:latin typeface="+mn-ea"/>
                <a:cs typeface="Times New Roman" pitchFamily="18" charset="0"/>
              </a:rPr>
              <a:t>为分钟、</a:t>
            </a:r>
            <a:r>
              <a:rPr lang="en-US" altLang="zh-CN" sz="2800" dirty="0">
                <a:latin typeface="+mn-ea"/>
                <a:cs typeface="Times New Roman" pitchFamily="18" charset="0"/>
              </a:rPr>
              <a:t>h</a:t>
            </a:r>
            <a:r>
              <a:rPr lang="zh-CN" altLang="en-US" sz="2800" dirty="0">
                <a:latin typeface="+mn-ea"/>
                <a:cs typeface="Times New Roman" pitchFamily="18" charset="0"/>
              </a:rPr>
              <a:t>为小时、</a:t>
            </a:r>
            <a:r>
              <a:rPr lang="en-US" altLang="zh-CN" sz="2800" dirty="0">
                <a:latin typeface="+mn-ea"/>
                <a:cs typeface="Times New Roman" pitchFamily="18" charset="0"/>
              </a:rPr>
              <a:t>d</a:t>
            </a:r>
            <a:r>
              <a:rPr lang="zh-CN" altLang="en-US" sz="2800" dirty="0">
                <a:latin typeface="+mn-ea"/>
                <a:cs typeface="Times New Roman" pitchFamily="18" charset="0"/>
              </a:rPr>
              <a:t>为天数。</a:t>
            </a:r>
          </a:p>
          <a:p>
            <a:pPr lvl="1">
              <a:buFontTx/>
              <a:buNone/>
            </a:pPr>
            <a:r>
              <a:rPr lang="zh-CN" altLang="en-US" dirty="0">
                <a:solidFill>
                  <a:schemeClr val="tx1"/>
                </a:solidFill>
                <a:latin typeface="+mn-ea"/>
                <a:cs typeface="Times New Roman" pitchFamily="18" charset="0"/>
              </a:rPr>
              <a:t>例如：</a:t>
            </a:r>
            <a:endParaRPr lang="en-US" altLang="zh-CN" dirty="0">
              <a:solidFill>
                <a:schemeClr val="tx1"/>
              </a:solidFill>
              <a:latin typeface="+mn-ea"/>
              <a:cs typeface="Times New Roman" pitchFamily="18" charset="0"/>
            </a:endParaRPr>
          </a:p>
          <a:p>
            <a:pPr>
              <a:buNone/>
            </a:pPr>
            <a:r>
              <a:rPr lang="zh-CN" altLang="en-US" sz="2600" dirty="0"/>
              <a:t>［</a:t>
            </a:r>
            <a:r>
              <a:rPr lang="en-US" altLang="zh-CN" sz="2600" dirty="0"/>
              <a:t>root@ localhost  ~</a:t>
            </a:r>
            <a:r>
              <a:rPr lang="zh-CN" altLang="en-US" sz="2600" dirty="0"/>
              <a:t>］ </a:t>
            </a:r>
            <a:r>
              <a:rPr lang="en-US" altLang="zh-CN" sz="2600" dirty="0"/>
              <a:t>sleep  5s</a:t>
            </a:r>
          </a:p>
          <a:p>
            <a:pPr>
              <a:buNone/>
            </a:pPr>
            <a:r>
              <a:rPr lang="zh-CN" altLang="en-US" sz="2600" dirty="0"/>
              <a:t>让</a:t>
            </a:r>
            <a:r>
              <a:rPr lang="en-US" altLang="zh-CN" sz="2600" dirty="0"/>
              <a:t>date</a:t>
            </a:r>
            <a:r>
              <a:rPr lang="zh-CN" altLang="en-US" sz="2600" dirty="0"/>
              <a:t>命令来监查</a:t>
            </a:r>
            <a:r>
              <a:rPr lang="en-US" altLang="zh-CN" sz="2600" dirty="0"/>
              <a:t>, </a:t>
            </a:r>
            <a:r>
              <a:rPr lang="zh-CN" altLang="en-US" sz="2600" dirty="0"/>
              <a:t>看看是不是真的睡了</a:t>
            </a:r>
            <a:r>
              <a:rPr lang="en-US" altLang="zh-CN" sz="2600" dirty="0"/>
              <a:t>5</a:t>
            </a:r>
            <a:r>
              <a:rPr lang="zh-CN" altLang="en-US" sz="2600" dirty="0"/>
              <a:t>秒：</a:t>
            </a:r>
            <a:endParaRPr lang="en-US" altLang="zh-CN" sz="2600" dirty="0"/>
          </a:p>
          <a:p>
            <a:pPr>
              <a:buNone/>
            </a:pPr>
            <a:endParaRPr lang="en-US" altLang="zh-CN" sz="2600" dirty="0"/>
          </a:p>
          <a:p>
            <a:pPr>
              <a:buNone/>
            </a:pPr>
            <a:r>
              <a:rPr lang="en-US" altLang="zh-CN" sz="2600" dirty="0">
                <a:latin typeface="+mn-ea"/>
                <a:cs typeface="Times New Roman" pitchFamily="18" charset="0"/>
              </a:rPr>
              <a:t> </a:t>
            </a:r>
            <a:r>
              <a:rPr lang="zh-CN" altLang="en-US" sz="2600" dirty="0">
                <a:latin typeface="+mn-ea"/>
                <a:cs typeface="Times New Roman" pitchFamily="18" charset="0"/>
              </a:rPr>
              <a:t> </a:t>
            </a:r>
          </a:p>
          <a:p>
            <a:endParaRPr lang="zh-CN" altLang="en-US" dirty="0"/>
          </a:p>
        </p:txBody>
      </p:sp>
      <p:pic>
        <p:nvPicPr>
          <p:cNvPr id="6" name="图片 5">
            <a:extLst>
              <a:ext uri="{FF2B5EF4-FFF2-40B4-BE49-F238E27FC236}">
                <a16:creationId xmlns:a16="http://schemas.microsoft.com/office/drawing/2014/main" id="{6C67CFA2-D9C4-C4B5-427C-055F336925DD}"/>
              </a:ext>
            </a:extLst>
          </p:cNvPr>
          <p:cNvPicPr>
            <a:picLocks noChangeAspect="1"/>
          </p:cNvPicPr>
          <p:nvPr/>
        </p:nvPicPr>
        <p:blipFill>
          <a:blip r:embed="rId3"/>
          <a:stretch>
            <a:fillRect/>
          </a:stretch>
        </p:blipFill>
        <p:spPr>
          <a:xfrm>
            <a:off x="1847528" y="4671473"/>
            <a:ext cx="7012359" cy="1454734"/>
          </a:xfrm>
          <a:prstGeom prst="rect">
            <a:avLst/>
          </a:prstGeom>
          <a:ln w="3175">
            <a:solidFill>
              <a:schemeClr val="tx1"/>
            </a:solidFill>
          </a:ln>
        </p:spPr>
      </p:pic>
    </p:spTree>
    <p:extLst>
      <p:ext uri="{BB962C8B-B14F-4D97-AF65-F5344CB8AC3E}">
        <p14:creationId xmlns:p14="http://schemas.microsoft.com/office/powerpoint/2010/main" val="2537389734"/>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6BB381-AE25-4A03-A26A-7DE50D62D781}"/>
              </a:ext>
            </a:extLst>
          </p:cNvPr>
          <p:cNvSpPr>
            <a:spLocks noGrp="1"/>
          </p:cNvSpPr>
          <p:nvPr>
            <p:ph type="title"/>
          </p:nvPr>
        </p:nvSpPr>
        <p:spPr/>
        <p:txBody>
          <a:bodyPr/>
          <a:lstStyle/>
          <a:p>
            <a:r>
              <a:rPr lang="en-US" altLang="zh-CN" dirty="0"/>
              <a:t>wait</a:t>
            </a:r>
            <a:r>
              <a:rPr lang="zh-CN" altLang="en-US" dirty="0"/>
              <a:t>命令</a:t>
            </a:r>
          </a:p>
        </p:txBody>
      </p:sp>
      <p:sp>
        <p:nvSpPr>
          <p:cNvPr id="3" name="内容占位符 2">
            <a:extLst>
              <a:ext uri="{FF2B5EF4-FFF2-40B4-BE49-F238E27FC236}">
                <a16:creationId xmlns:a16="http://schemas.microsoft.com/office/drawing/2014/main" id="{E2D8B1B6-A8A4-4B8E-AF5B-C5A223904C1E}"/>
              </a:ext>
            </a:extLst>
          </p:cNvPr>
          <p:cNvSpPr>
            <a:spLocks noGrp="1"/>
          </p:cNvSpPr>
          <p:nvPr>
            <p:ph idx="1"/>
          </p:nvPr>
        </p:nvSpPr>
        <p:spPr>
          <a:xfrm>
            <a:off x="1775520" y="1268760"/>
            <a:ext cx="8640960" cy="4411662"/>
          </a:xfrm>
        </p:spPr>
        <p:txBody>
          <a:bodyPr/>
          <a:lstStyle/>
          <a:p>
            <a:pPr>
              <a:lnSpc>
                <a:spcPct val="120000"/>
              </a:lnSpc>
            </a:pPr>
            <a:r>
              <a:rPr lang="en-US" altLang="zh-CN" sz="2800" dirty="0">
                <a:solidFill>
                  <a:srgbClr val="CC0099"/>
                </a:solidFill>
                <a:latin typeface="+mn-ea"/>
                <a:cs typeface="Times New Roman" pitchFamily="18" charset="0"/>
              </a:rPr>
              <a:t>wait</a:t>
            </a:r>
            <a:r>
              <a:rPr lang="zh-CN" altLang="en-US" sz="2800" dirty="0">
                <a:solidFill>
                  <a:srgbClr val="CC0099"/>
                </a:solidFill>
                <a:latin typeface="+mn-ea"/>
                <a:cs typeface="Times New Roman" pitchFamily="18" charset="0"/>
              </a:rPr>
              <a:t>命令</a:t>
            </a:r>
            <a:endParaRPr lang="en-US" altLang="zh-CN" sz="2800" dirty="0">
              <a:solidFill>
                <a:srgbClr val="CC0099"/>
              </a:solidFill>
              <a:latin typeface="+mn-ea"/>
              <a:cs typeface="Times New Roman" pitchFamily="18" charset="0"/>
            </a:endParaRPr>
          </a:p>
          <a:p>
            <a:pPr marL="344487" lvl="1" indent="0">
              <a:lnSpc>
                <a:spcPct val="120000"/>
              </a:lnSpc>
              <a:buNone/>
            </a:pPr>
            <a:r>
              <a:rPr lang="zh-CN" altLang="en-US" sz="2800" dirty="0">
                <a:latin typeface="+mn-ea"/>
                <a:cs typeface="Times New Roman" pitchFamily="18" charset="0"/>
              </a:rPr>
              <a:t>格式：</a:t>
            </a:r>
            <a:r>
              <a:rPr lang="en-US" altLang="zh-CN" sz="2800" dirty="0">
                <a:solidFill>
                  <a:srgbClr val="0000CC"/>
                </a:solidFill>
                <a:latin typeface="+mn-ea"/>
                <a:cs typeface="Times New Roman" pitchFamily="18" charset="0"/>
              </a:rPr>
              <a:t>wait [</a:t>
            </a:r>
            <a:r>
              <a:rPr lang="zh-CN" altLang="en-US" sz="2800" dirty="0">
                <a:solidFill>
                  <a:srgbClr val="0000CC"/>
                </a:solidFill>
                <a:latin typeface="+mn-ea"/>
                <a:cs typeface="Times New Roman" pitchFamily="18" charset="0"/>
              </a:rPr>
              <a:t>进程号或作业号</a:t>
            </a:r>
            <a:r>
              <a:rPr lang="en-US" altLang="zh-CN" sz="2800" dirty="0">
                <a:solidFill>
                  <a:srgbClr val="0000CC"/>
                </a:solidFill>
                <a:latin typeface="+mn-ea"/>
                <a:cs typeface="Times New Roman" pitchFamily="18" charset="0"/>
              </a:rPr>
              <a:t>] </a:t>
            </a:r>
            <a:r>
              <a:rPr lang="zh-CN" altLang="en-US" sz="2800" dirty="0">
                <a:latin typeface="+mn-ea"/>
                <a:cs typeface="Times New Roman" pitchFamily="18" charset="0"/>
              </a:rPr>
              <a:t>　　</a:t>
            </a:r>
            <a:r>
              <a:rPr lang="en-US" altLang="zh-CN" sz="2800" dirty="0">
                <a:latin typeface="+mn-ea"/>
                <a:cs typeface="Times New Roman" pitchFamily="18" charset="0"/>
              </a:rPr>
              <a:t> </a:t>
            </a:r>
          </a:p>
          <a:p>
            <a:pPr marL="344487" lvl="1" indent="0">
              <a:lnSpc>
                <a:spcPct val="120000"/>
              </a:lnSpc>
              <a:buNone/>
            </a:pPr>
            <a:r>
              <a:rPr lang="zh-CN" altLang="en-US" sz="2800" dirty="0">
                <a:latin typeface="+mn-ea"/>
                <a:cs typeface="Times New Roman" pitchFamily="18" charset="0"/>
              </a:rPr>
              <a:t>功能：等待进程的结束，如果没有指定进程，则等待</a:t>
            </a:r>
            <a:r>
              <a:rPr lang="en-US" altLang="zh-CN" sz="2800" dirty="0">
                <a:latin typeface="+mn-ea"/>
                <a:cs typeface="Times New Roman" pitchFamily="18" charset="0"/>
              </a:rPr>
              <a:t>shell</a:t>
            </a:r>
            <a:r>
              <a:rPr lang="zh-CN" altLang="en-US" sz="2800" dirty="0">
                <a:latin typeface="+mn-ea"/>
                <a:cs typeface="Times New Roman" pitchFamily="18" charset="0"/>
              </a:rPr>
              <a:t>中所有进程。</a:t>
            </a:r>
          </a:p>
          <a:p>
            <a:pPr lvl="1">
              <a:lnSpc>
                <a:spcPct val="120000"/>
              </a:lnSpc>
              <a:buFontTx/>
              <a:buNone/>
            </a:pPr>
            <a:r>
              <a:rPr lang="zh-CN" altLang="en-US" dirty="0">
                <a:solidFill>
                  <a:schemeClr val="tx1"/>
                </a:solidFill>
                <a:latin typeface="+mn-ea"/>
                <a:cs typeface="Times New Roman" pitchFamily="18" charset="0"/>
              </a:rPr>
              <a:t>例如：</a:t>
            </a:r>
            <a:endParaRPr lang="en-US" altLang="zh-CN" dirty="0">
              <a:solidFill>
                <a:schemeClr val="tx1"/>
              </a:solidFill>
              <a:latin typeface="+mn-ea"/>
              <a:cs typeface="Times New Roman" pitchFamily="18" charset="0"/>
            </a:endParaRPr>
          </a:p>
          <a:p>
            <a:pPr>
              <a:lnSpc>
                <a:spcPct val="120000"/>
              </a:lnSpc>
              <a:buNone/>
            </a:pPr>
            <a:r>
              <a:rPr lang="zh-CN" altLang="en-US" sz="2600" dirty="0"/>
              <a:t>［</a:t>
            </a:r>
            <a:r>
              <a:rPr lang="en-US" altLang="zh-CN" sz="2600" dirty="0"/>
              <a:t>root@ localhost  ~</a:t>
            </a:r>
            <a:r>
              <a:rPr lang="zh-CN" altLang="en-US" sz="2600" dirty="0"/>
              <a:t>］</a:t>
            </a:r>
            <a:r>
              <a:rPr lang="en-US" altLang="zh-CN" sz="2600" dirty="0"/>
              <a:t>$</a:t>
            </a:r>
            <a:r>
              <a:rPr lang="zh-CN" altLang="en-US" sz="2600" dirty="0"/>
              <a:t>  </a:t>
            </a:r>
            <a:r>
              <a:rPr lang="en-US" altLang="zh-CN" sz="2600" dirty="0"/>
              <a:t>wait   1578</a:t>
            </a:r>
          </a:p>
          <a:p>
            <a:pPr>
              <a:lnSpc>
                <a:spcPct val="120000"/>
              </a:lnSpc>
              <a:buNone/>
            </a:pPr>
            <a:r>
              <a:rPr lang="en-US" altLang="zh-CN" sz="2600" dirty="0">
                <a:latin typeface="+mn-ea"/>
                <a:cs typeface="Times New Roman" pitchFamily="18" charset="0"/>
              </a:rPr>
              <a:t> </a:t>
            </a:r>
            <a:r>
              <a:rPr lang="zh-CN" altLang="en-US" sz="2600" dirty="0">
                <a:latin typeface="+mn-ea"/>
                <a:cs typeface="Times New Roman" pitchFamily="18" charset="0"/>
              </a:rPr>
              <a:t> </a:t>
            </a:r>
          </a:p>
          <a:p>
            <a:endParaRPr lang="zh-CN" altLang="en-US" dirty="0"/>
          </a:p>
        </p:txBody>
      </p:sp>
      <p:sp>
        <p:nvSpPr>
          <p:cNvPr id="4" name="灯片编号占位符 3">
            <a:extLst>
              <a:ext uri="{FF2B5EF4-FFF2-40B4-BE49-F238E27FC236}">
                <a16:creationId xmlns:a16="http://schemas.microsoft.com/office/drawing/2014/main" id="{D59B6220-2DC6-4D1D-B426-2AB15C8C36AE}"/>
              </a:ext>
            </a:extLst>
          </p:cNvPr>
          <p:cNvSpPr>
            <a:spLocks noGrp="1"/>
          </p:cNvSpPr>
          <p:nvPr>
            <p:ph type="sldNum" sz="quarter" idx="11"/>
          </p:nvPr>
        </p:nvSpPr>
        <p:spPr/>
        <p:txBody>
          <a:bodyPr/>
          <a:lstStyle/>
          <a:p>
            <a:pPr>
              <a:defRPr/>
            </a:pPr>
            <a:fld id="{110871B5-850E-4E14-A636-3EC679EBF038}" type="slidenum">
              <a:rPr lang="en-US" altLang="zh-CN" smtClean="0"/>
              <a:pPr>
                <a:defRPr/>
              </a:pPr>
              <a:t>24</a:t>
            </a:fld>
            <a:endParaRPr lang="en-US" altLang="zh-CN"/>
          </a:p>
        </p:txBody>
      </p:sp>
    </p:spTree>
    <p:extLst>
      <p:ext uri="{BB962C8B-B14F-4D97-AF65-F5344CB8AC3E}">
        <p14:creationId xmlns:p14="http://schemas.microsoft.com/office/powerpoint/2010/main" val="812419818"/>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6BB381-AE25-4A03-A26A-7DE50D62D781}"/>
              </a:ext>
            </a:extLst>
          </p:cNvPr>
          <p:cNvSpPr>
            <a:spLocks noGrp="1"/>
          </p:cNvSpPr>
          <p:nvPr>
            <p:ph type="title"/>
          </p:nvPr>
        </p:nvSpPr>
        <p:spPr/>
        <p:txBody>
          <a:bodyPr/>
          <a:lstStyle/>
          <a:p>
            <a:r>
              <a:rPr lang="en-US" altLang="zh-CN" dirty="0"/>
              <a:t>wait</a:t>
            </a:r>
            <a:r>
              <a:rPr lang="zh-CN" altLang="en-US" dirty="0"/>
              <a:t>命令</a:t>
            </a:r>
          </a:p>
        </p:txBody>
      </p:sp>
      <p:sp>
        <p:nvSpPr>
          <p:cNvPr id="3" name="内容占位符 2">
            <a:extLst>
              <a:ext uri="{FF2B5EF4-FFF2-40B4-BE49-F238E27FC236}">
                <a16:creationId xmlns:a16="http://schemas.microsoft.com/office/drawing/2014/main" id="{E2D8B1B6-A8A4-4B8E-AF5B-C5A223904C1E}"/>
              </a:ext>
            </a:extLst>
          </p:cNvPr>
          <p:cNvSpPr>
            <a:spLocks noGrp="1"/>
          </p:cNvSpPr>
          <p:nvPr>
            <p:ph idx="1"/>
          </p:nvPr>
        </p:nvSpPr>
        <p:spPr>
          <a:xfrm>
            <a:off x="1775520" y="1268760"/>
            <a:ext cx="8640960" cy="4411662"/>
          </a:xfrm>
        </p:spPr>
        <p:txBody>
          <a:bodyPr/>
          <a:lstStyle/>
          <a:p>
            <a:pPr>
              <a:lnSpc>
                <a:spcPct val="120000"/>
              </a:lnSpc>
              <a:buNone/>
            </a:pPr>
            <a:r>
              <a:rPr lang="en-US" altLang="zh-CN" sz="2600" dirty="0">
                <a:latin typeface="+mn-ea"/>
                <a:cs typeface="Times New Roman" pitchFamily="18" charset="0"/>
              </a:rPr>
              <a:t> </a:t>
            </a:r>
            <a:r>
              <a:rPr lang="zh-CN" altLang="en-US" sz="2600" dirty="0">
                <a:latin typeface="+mn-ea"/>
                <a:cs typeface="Times New Roman" pitchFamily="18" charset="0"/>
              </a:rPr>
              <a:t> </a:t>
            </a:r>
          </a:p>
          <a:p>
            <a:endParaRPr lang="zh-CN" altLang="en-US" dirty="0"/>
          </a:p>
        </p:txBody>
      </p:sp>
      <p:sp>
        <p:nvSpPr>
          <p:cNvPr id="4" name="灯片编号占位符 3">
            <a:extLst>
              <a:ext uri="{FF2B5EF4-FFF2-40B4-BE49-F238E27FC236}">
                <a16:creationId xmlns:a16="http://schemas.microsoft.com/office/drawing/2014/main" id="{82173EF4-BE26-2FBF-6E48-EFB20D7C790B}"/>
              </a:ext>
            </a:extLst>
          </p:cNvPr>
          <p:cNvSpPr>
            <a:spLocks noGrp="1"/>
          </p:cNvSpPr>
          <p:nvPr>
            <p:ph type="sldNum" sz="quarter" idx="11"/>
          </p:nvPr>
        </p:nvSpPr>
        <p:spPr/>
        <p:txBody>
          <a:bodyPr/>
          <a:lstStyle/>
          <a:p>
            <a:pPr>
              <a:defRPr/>
            </a:pPr>
            <a:fld id="{110871B5-850E-4E14-A636-3EC679EBF038}" type="slidenum">
              <a:rPr lang="en-US" altLang="zh-CN" smtClean="0"/>
              <a:pPr>
                <a:defRPr/>
              </a:pPr>
              <a:t>25</a:t>
            </a:fld>
            <a:endParaRPr lang="en-US" altLang="zh-CN"/>
          </a:p>
        </p:txBody>
      </p:sp>
      <p:pic>
        <p:nvPicPr>
          <p:cNvPr id="8" name="图片 7">
            <a:extLst>
              <a:ext uri="{FF2B5EF4-FFF2-40B4-BE49-F238E27FC236}">
                <a16:creationId xmlns:a16="http://schemas.microsoft.com/office/drawing/2014/main" id="{FCBD67F6-FEA4-D19E-B122-968E91C3CB9D}"/>
              </a:ext>
            </a:extLst>
          </p:cNvPr>
          <p:cNvPicPr>
            <a:picLocks noChangeAspect="1"/>
          </p:cNvPicPr>
          <p:nvPr/>
        </p:nvPicPr>
        <p:blipFill>
          <a:blip r:embed="rId3"/>
          <a:stretch>
            <a:fillRect/>
          </a:stretch>
        </p:blipFill>
        <p:spPr>
          <a:xfrm>
            <a:off x="2855640" y="1737641"/>
            <a:ext cx="7056784" cy="4477115"/>
          </a:xfrm>
          <a:prstGeom prst="rect">
            <a:avLst/>
          </a:prstGeom>
        </p:spPr>
      </p:pic>
    </p:spTree>
    <p:extLst>
      <p:ext uri="{BB962C8B-B14F-4D97-AF65-F5344CB8AC3E}">
        <p14:creationId xmlns:p14="http://schemas.microsoft.com/office/powerpoint/2010/main" val="710441291"/>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3" name="Rectangle 3"/>
          <p:cNvSpPr>
            <a:spLocks noGrp="1" noChangeArrowheads="1"/>
          </p:cNvSpPr>
          <p:nvPr>
            <p:ph type="body" idx="1"/>
          </p:nvPr>
        </p:nvSpPr>
        <p:spPr>
          <a:xfrm>
            <a:off x="1343472" y="1124744"/>
            <a:ext cx="9721080" cy="2376264"/>
          </a:xfrm>
        </p:spPr>
        <p:txBody>
          <a:bodyPr/>
          <a:lstStyle/>
          <a:p>
            <a:pPr marL="0" indent="0">
              <a:lnSpc>
                <a:spcPct val="80000"/>
              </a:lnSpc>
              <a:buNone/>
            </a:pPr>
            <a:r>
              <a:rPr lang="en-US" altLang="zh-CN" sz="2600" dirty="0">
                <a:solidFill>
                  <a:srgbClr val="CC0099"/>
                </a:solidFill>
                <a:latin typeface="+mn-ea"/>
                <a:cs typeface="Times New Roman" pitchFamily="18" charset="0"/>
              </a:rPr>
              <a:t>kill</a:t>
            </a:r>
            <a:r>
              <a:rPr lang="zh-CN" altLang="en-US" sz="2600" dirty="0">
                <a:solidFill>
                  <a:srgbClr val="CC0099"/>
                </a:solidFill>
                <a:latin typeface="+mn-ea"/>
                <a:cs typeface="Times New Roman" pitchFamily="18" charset="0"/>
              </a:rPr>
              <a:t>命令</a:t>
            </a:r>
            <a:endParaRPr lang="zh-CN" altLang="en-US" sz="2600" dirty="0">
              <a:latin typeface="+mn-ea"/>
              <a:cs typeface="Times New Roman" pitchFamily="18" charset="0"/>
            </a:endParaRPr>
          </a:p>
          <a:p>
            <a:pPr marL="0" indent="0" algn="just">
              <a:lnSpc>
                <a:spcPct val="80000"/>
              </a:lnSpc>
              <a:buNone/>
            </a:pPr>
            <a:r>
              <a:rPr lang="zh-CN" altLang="en-US" sz="2600" dirty="0">
                <a:solidFill>
                  <a:srgbClr val="0000CC"/>
                </a:solidFill>
                <a:latin typeface="+mn-ea"/>
                <a:cs typeface="Times New Roman" pitchFamily="18" charset="0"/>
              </a:rPr>
              <a:t>格式：</a:t>
            </a:r>
            <a:r>
              <a:rPr lang="en-US" altLang="zh-CN" sz="2600" dirty="0">
                <a:solidFill>
                  <a:srgbClr val="0000CC"/>
                </a:solidFill>
                <a:latin typeface="+mn-ea"/>
                <a:cs typeface="Times New Roman" pitchFamily="18" charset="0"/>
              </a:rPr>
              <a:t>kill [</a:t>
            </a:r>
            <a:r>
              <a:rPr lang="zh-CN" altLang="en-US" sz="2600" dirty="0">
                <a:solidFill>
                  <a:srgbClr val="0000CC"/>
                </a:solidFill>
                <a:latin typeface="+mn-ea"/>
                <a:cs typeface="Times New Roman" pitchFamily="18" charset="0"/>
              </a:rPr>
              <a:t>参数</a:t>
            </a:r>
            <a:r>
              <a:rPr lang="en-US" altLang="zh-CN" sz="2600" dirty="0">
                <a:solidFill>
                  <a:srgbClr val="0000CC"/>
                </a:solidFill>
                <a:latin typeface="+mn-ea"/>
                <a:cs typeface="Times New Roman" pitchFamily="18" charset="0"/>
              </a:rPr>
              <a:t>]  </a:t>
            </a:r>
            <a:r>
              <a:rPr lang="zh-CN" altLang="en-US" sz="2600" dirty="0">
                <a:solidFill>
                  <a:srgbClr val="0000CC"/>
                </a:solidFill>
                <a:latin typeface="+mn-ea"/>
                <a:cs typeface="Times New Roman" pitchFamily="18" charset="0"/>
              </a:rPr>
              <a:t>进程号</a:t>
            </a:r>
            <a:endParaRPr lang="en-US" altLang="zh-CN" sz="2600" dirty="0">
              <a:solidFill>
                <a:srgbClr val="0000CC"/>
              </a:solidFill>
              <a:latin typeface="+mn-ea"/>
              <a:cs typeface="Times New Roman" pitchFamily="18" charset="0"/>
            </a:endParaRPr>
          </a:p>
          <a:p>
            <a:pPr marL="0" indent="0">
              <a:lnSpc>
                <a:spcPct val="80000"/>
              </a:lnSpc>
              <a:buNone/>
            </a:pPr>
            <a:r>
              <a:rPr lang="zh-CN" altLang="en-US" sz="2600" dirty="0">
                <a:solidFill>
                  <a:srgbClr val="C00000"/>
                </a:solidFill>
                <a:latin typeface="+mn-ea"/>
                <a:cs typeface="Times New Roman" pitchFamily="18" charset="0"/>
              </a:rPr>
              <a:t>功能：</a:t>
            </a:r>
            <a:r>
              <a:rPr lang="zh-CN" altLang="en-US" sz="2600" dirty="0">
                <a:latin typeface="+mn-ea"/>
                <a:cs typeface="Times New Roman" pitchFamily="18" charset="0"/>
              </a:rPr>
              <a:t>终止进程的运行。超级用户可终止所有的进程，普通用户只能终止自己启动的进程。</a:t>
            </a:r>
            <a:endParaRPr lang="en-US" altLang="zh-CN" sz="2600" dirty="0">
              <a:latin typeface="+mn-ea"/>
              <a:cs typeface="Times New Roman" pitchFamily="18" charset="0"/>
            </a:endParaRPr>
          </a:p>
          <a:p>
            <a:pPr marL="0" indent="0">
              <a:lnSpc>
                <a:spcPct val="80000"/>
              </a:lnSpc>
              <a:buNone/>
            </a:pPr>
            <a:r>
              <a:rPr lang="en-US" altLang="zh-CN" sz="2600" dirty="0">
                <a:latin typeface="+mn-ea"/>
                <a:cs typeface="Times New Roman" pitchFamily="18" charset="0"/>
              </a:rPr>
              <a:t>kill</a:t>
            </a:r>
            <a:r>
              <a:rPr lang="zh-CN" altLang="en-US" sz="2600" dirty="0">
                <a:latin typeface="+mn-ea"/>
                <a:cs typeface="Times New Roman" pitchFamily="18" charset="0"/>
              </a:rPr>
              <a:t>命令有许多选项。在终止进程前需要知道进程的</a:t>
            </a:r>
            <a:r>
              <a:rPr lang="en-US" altLang="zh-CN" sz="2600" dirty="0" err="1">
                <a:latin typeface="+mn-ea"/>
                <a:cs typeface="Times New Roman" pitchFamily="18" charset="0"/>
              </a:rPr>
              <a:t>pid</a:t>
            </a:r>
            <a:r>
              <a:rPr lang="zh-CN" altLang="en-US" sz="2600" dirty="0">
                <a:latin typeface="+mn-ea"/>
                <a:cs typeface="Times New Roman" pitchFamily="18" charset="0"/>
              </a:rPr>
              <a:t>，使用命令</a:t>
            </a:r>
            <a:r>
              <a:rPr lang="en-US" altLang="zh-CN" sz="2600" dirty="0" err="1">
                <a:latin typeface="+mn-ea"/>
                <a:cs typeface="Times New Roman" pitchFamily="18" charset="0"/>
              </a:rPr>
              <a:t>ps</a:t>
            </a:r>
            <a:r>
              <a:rPr lang="en-US" altLang="zh-CN" sz="2600" dirty="0">
                <a:latin typeface="+mn-ea"/>
                <a:cs typeface="Times New Roman" pitchFamily="18" charset="0"/>
              </a:rPr>
              <a:t> –e</a:t>
            </a:r>
            <a:r>
              <a:rPr lang="zh-CN" altLang="en-US" sz="2600" dirty="0">
                <a:latin typeface="+mn-ea"/>
                <a:cs typeface="Times New Roman" pitchFamily="18" charset="0"/>
              </a:rPr>
              <a:t>可以得到所要终止的进程的</a:t>
            </a:r>
            <a:r>
              <a:rPr lang="en-US" altLang="zh-CN" sz="2600" dirty="0" err="1">
                <a:latin typeface="+mn-ea"/>
                <a:cs typeface="Times New Roman" pitchFamily="18" charset="0"/>
              </a:rPr>
              <a:t>pid</a:t>
            </a:r>
            <a:r>
              <a:rPr lang="zh-CN" altLang="en-US" sz="2600" dirty="0">
                <a:latin typeface="+mn-ea"/>
                <a:cs typeface="Times New Roman" pitchFamily="18" charset="0"/>
              </a:rPr>
              <a:t>。</a:t>
            </a:r>
            <a:endParaRPr lang="en-US" altLang="zh-CN" sz="2600" dirty="0">
              <a:latin typeface="+mn-ea"/>
              <a:cs typeface="Times New Roman" pitchFamily="18" charset="0"/>
            </a:endParaRPr>
          </a:p>
          <a:p>
            <a:pPr marL="0" indent="0">
              <a:lnSpc>
                <a:spcPct val="80000"/>
              </a:lnSpc>
              <a:buNone/>
            </a:pPr>
            <a:r>
              <a:rPr lang="en-US" altLang="zh-CN" sz="2400" dirty="0">
                <a:solidFill>
                  <a:srgbClr val="0000CC"/>
                </a:solidFill>
              </a:rPr>
              <a:t> </a:t>
            </a:r>
            <a:endParaRPr lang="zh-CN" altLang="en-US" sz="2400" dirty="0">
              <a:latin typeface="+mn-ea"/>
              <a:cs typeface="Times New Roman" pitchFamily="18" charset="0"/>
            </a:endParaRPr>
          </a:p>
        </p:txBody>
      </p:sp>
      <p:sp>
        <p:nvSpPr>
          <p:cNvPr id="5" name="Rectangle 2"/>
          <p:cNvSpPr>
            <a:spLocks noGrp="1" noChangeArrowheads="1"/>
          </p:cNvSpPr>
          <p:nvPr>
            <p:ph type="title"/>
          </p:nvPr>
        </p:nvSpPr>
        <p:spPr>
          <a:xfrm>
            <a:off x="1981200" y="404664"/>
            <a:ext cx="8363272" cy="858837"/>
          </a:xfrm>
        </p:spPr>
        <p:txBody>
          <a:bodyPr/>
          <a:lstStyle/>
          <a:p>
            <a:r>
              <a:rPr lang="zh-CN" altLang="en-US" dirty="0">
                <a:latin typeface="+mj-ea"/>
              </a:rPr>
              <a:t>终止进程 </a:t>
            </a:r>
          </a:p>
        </p:txBody>
      </p:sp>
      <p:sp>
        <p:nvSpPr>
          <p:cNvPr id="2" name="灯片编号占位符 1">
            <a:extLst>
              <a:ext uri="{FF2B5EF4-FFF2-40B4-BE49-F238E27FC236}">
                <a16:creationId xmlns:a16="http://schemas.microsoft.com/office/drawing/2014/main" id="{AE41A8AB-EF46-BF72-9882-52AF72ADEDC6}"/>
              </a:ext>
            </a:extLst>
          </p:cNvPr>
          <p:cNvSpPr>
            <a:spLocks noGrp="1"/>
          </p:cNvSpPr>
          <p:nvPr>
            <p:ph type="sldNum" sz="quarter" idx="11"/>
          </p:nvPr>
        </p:nvSpPr>
        <p:spPr/>
        <p:txBody>
          <a:bodyPr/>
          <a:lstStyle/>
          <a:p>
            <a:pPr>
              <a:defRPr/>
            </a:pPr>
            <a:fld id="{110871B5-850E-4E14-A636-3EC679EBF038}" type="slidenum">
              <a:rPr lang="en-US" altLang="zh-CN" smtClean="0"/>
              <a:pPr>
                <a:defRPr/>
              </a:pPr>
              <a:t>26</a:t>
            </a:fld>
            <a:endParaRPr lang="en-US" altLang="zh-CN"/>
          </a:p>
        </p:txBody>
      </p:sp>
      <p:pic>
        <p:nvPicPr>
          <p:cNvPr id="4" name="图片 3">
            <a:extLst>
              <a:ext uri="{FF2B5EF4-FFF2-40B4-BE49-F238E27FC236}">
                <a16:creationId xmlns:a16="http://schemas.microsoft.com/office/drawing/2014/main" id="{CEF5DA32-3391-9A46-E1B9-E3834ED4869F}"/>
              </a:ext>
            </a:extLst>
          </p:cNvPr>
          <p:cNvPicPr>
            <a:picLocks noChangeAspect="1"/>
          </p:cNvPicPr>
          <p:nvPr/>
        </p:nvPicPr>
        <p:blipFill>
          <a:blip r:embed="rId2"/>
          <a:stretch>
            <a:fillRect/>
          </a:stretch>
        </p:blipFill>
        <p:spPr>
          <a:xfrm>
            <a:off x="2529018" y="3538819"/>
            <a:ext cx="7133964" cy="2793657"/>
          </a:xfrm>
          <a:prstGeom prst="rect">
            <a:avLst/>
          </a:prstGeom>
          <a:ln>
            <a:solidFill>
              <a:schemeClr val="tx1"/>
            </a:solidFill>
          </a:ln>
        </p:spPr>
      </p:pic>
    </p:spTree>
    <p:extLst>
      <p:ext uri="{BB962C8B-B14F-4D97-AF65-F5344CB8AC3E}">
        <p14:creationId xmlns:p14="http://schemas.microsoft.com/office/powerpoint/2010/main" val="43865914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a:lstStyle/>
          <a:p>
            <a:r>
              <a:rPr lang="zh-CN" altLang="en-US" dirty="0">
                <a:latin typeface="+mj-ea"/>
              </a:rPr>
              <a:t>进程的挂起和恢复 </a:t>
            </a:r>
          </a:p>
        </p:txBody>
      </p:sp>
      <p:sp>
        <p:nvSpPr>
          <p:cNvPr id="701443" name="Rectangle 3"/>
          <p:cNvSpPr>
            <a:spLocks noGrp="1" noChangeArrowheads="1"/>
          </p:cNvSpPr>
          <p:nvPr>
            <p:ph type="body" idx="1"/>
          </p:nvPr>
        </p:nvSpPr>
        <p:spPr>
          <a:xfrm>
            <a:off x="2042864" y="1556792"/>
            <a:ext cx="8229600" cy="4751858"/>
          </a:xfrm>
        </p:spPr>
        <p:txBody>
          <a:bodyPr/>
          <a:lstStyle/>
          <a:p>
            <a:pPr>
              <a:lnSpc>
                <a:spcPct val="150000"/>
              </a:lnSpc>
            </a:pPr>
            <a:r>
              <a:rPr lang="zh-CN" altLang="en-US" sz="2600" dirty="0">
                <a:latin typeface="+mn-ea"/>
                <a:cs typeface="Times New Roman" pitchFamily="18" charset="0"/>
              </a:rPr>
              <a:t>进程的中止（挂起）和终止</a:t>
            </a:r>
          </a:p>
          <a:p>
            <a:pPr lvl="1">
              <a:lnSpc>
                <a:spcPct val="150000"/>
              </a:lnSpc>
            </a:pPr>
            <a:r>
              <a:rPr lang="zh-CN" altLang="en-US" dirty="0">
                <a:solidFill>
                  <a:schemeClr val="tx1"/>
                </a:solidFill>
                <a:latin typeface="+mn-ea"/>
                <a:cs typeface="Times New Roman" pitchFamily="18" charset="0"/>
              </a:rPr>
              <a:t>挂起（</a:t>
            </a:r>
            <a:r>
              <a:rPr lang="en-US" altLang="zh-CN" dirty="0" err="1">
                <a:solidFill>
                  <a:schemeClr val="tx1"/>
                </a:solidFill>
                <a:latin typeface="+mn-ea"/>
                <a:cs typeface="Times New Roman" pitchFamily="18" charset="0"/>
              </a:rPr>
              <a:t>Ctrl+Z</a:t>
            </a:r>
            <a:r>
              <a:rPr lang="zh-CN" altLang="en-US" dirty="0">
                <a:solidFill>
                  <a:schemeClr val="tx1"/>
                </a:solidFill>
                <a:latin typeface="+mn-ea"/>
                <a:cs typeface="Times New Roman" pitchFamily="18" charset="0"/>
              </a:rPr>
              <a:t>）</a:t>
            </a:r>
          </a:p>
          <a:p>
            <a:pPr lvl="1">
              <a:lnSpc>
                <a:spcPct val="150000"/>
              </a:lnSpc>
            </a:pPr>
            <a:r>
              <a:rPr lang="zh-CN" altLang="en-US" dirty="0">
                <a:solidFill>
                  <a:schemeClr val="tx1"/>
                </a:solidFill>
                <a:latin typeface="+mn-ea"/>
                <a:cs typeface="Times New Roman" pitchFamily="18" charset="0"/>
              </a:rPr>
              <a:t>终止（</a:t>
            </a:r>
            <a:r>
              <a:rPr lang="en-US" altLang="zh-CN" dirty="0" err="1">
                <a:solidFill>
                  <a:schemeClr val="tx1"/>
                </a:solidFill>
                <a:latin typeface="+mn-ea"/>
                <a:cs typeface="Times New Roman" pitchFamily="18" charset="0"/>
              </a:rPr>
              <a:t>Ctrl+C</a:t>
            </a:r>
            <a:r>
              <a:rPr lang="zh-CN" altLang="en-US" dirty="0">
                <a:solidFill>
                  <a:schemeClr val="tx1"/>
                </a:solidFill>
                <a:latin typeface="+mn-ea"/>
                <a:cs typeface="Times New Roman" pitchFamily="18" charset="0"/>
              </a:rPr>
              <a:t>）</a:t>
            </a:r>
            <a:endParaRPr lang="zh-CN" altLang="en-US" dirty="0">
              <a:latin typeface="+mn-ea"/>
              <a:cs typeface="Times New Roman" pitchFamily="18" charset="0"/>
            </a:endParaRPr>
          </a:p>
          <a:p>
            <a:pPr marL="344487" lvl="1" indent="0">
              <a:lnSpc>
                <a:spcPct val="90000"/>
              </a:lnSpc>
              <a:buNone/>
            </a:pPr>
            <a:endParaRPr lang="zh-CN" altLang="en-US" sz="2800" dirty="0">
              <a:latin typeface="+mn-ea"/>
              <a:cs typeface="Times New Roman" pitchFamily="18" charset="0"/>
            </a:endParaRP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27</a:t>
            </a:fld>
            <a:endParaRPr lang="en-US" altLang="zh-CN"/>
          </a:p>
        </p:txBody>
      </p:sp>
    </p:spTree>
    <p:extLst>
      <p:ext uri="{BB962C8B-B14F-4D97-AF65-F5344CB8AC3E}">
        <p14:creationId xmlns:p14="http://schemas.microsoft.com/office/powerpoint/2010/main" val="213726352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839416" y="548680"/>
            <a:ext cx="10441160" cy="858837"/>
          </a:xfrm>
        </p:spPr>
        <p:txBody>
          <a:bodyPr/>
          <a:lstStyle/>
          <a:p>
            <a:pPr algn="ctr"/>
            <a:r>
              <a:rPr lang="en-US" altLang="zh-CN" dirty="0"/>
              <a:t> 7.3  </a:t>
            </a:r>
            <a:r>
              <a:rPr lang="zh-CN" altLang="en-US" dirty="0"/>
              <a:t>进程的调度启动</a:t>
            </a:r>
          </a:p>
        </p:txBody>
      </p:sp>
      <p:sp>
        <p:nvSpPr>
          <p:cNvPr id="58371" name="Text Box 3"/>
          <p:cNvSpPr txBox="1">
            <a:spLocks noChangeArrowheads="1"/>
          </p:cNvSpPr>
          <p:nvPr/>
        </p:nvSpPr>
        <p:spPr bwMode="auto">
          <a:xfrm>
            <a:off x="1222176" y="1412776"/>
            <a:ext cx="10058400" cy="4895956"/>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68686"/>
                  </a:outerShdw>
                </a:effectLst>
              </a14:hiddenEffects>
            </a:ext>
          </a:extLst>
        </p:spPr>
        <p:txBody>
          <a:bodyPr wrap="square">
            <a:spAutoFit/>
          </a:bodyPr>
          <a:lstStyle/>
          <a:p>
            <a:pPr marL="285750" indent="-285750" algn="l">
              <a:lnSpc>
                <a:spcPct val="110000"/>
              </a:lnSpc>
              <a:buSzPct val="80000"/>
              <a:buFont typeface="Wingdings" panose="05000000000000000000" pitchFamily="2" charset="2"/>
              <a:buChar char="l"/>
            </a:pPr>
            <a:r>
              <a:rPr lang="zh-CN" altLang="en-US" sz="2600" dirty="0">
                <a:latin typeface="+mn-ea"/>
                <a:ea typeface="+mn-ea"/>
              </a:rPr>
              <a:t>在系统中，键入需要运行的程序的名称，执行一个程序，其实就启动了一个进程。启动一个进程有两个主要途径：</a:t>
            </a:r>
            <a:r>
              <a:rPr lang="zh-CN" altLang="en-US" sz="2600" dirty="0">
                <a:solidFill>
                  <a:srgbClr val="CC0099"/>
                </a:solidFill>
                <a:latin typeface="+mn-ea"/>
                <a:ea typeface="+mn-ea"/>
              </a:rPr>
              <a:t>手工启动</a:t>
            </a:r>
            <a:r>
              <a:rPr lang="zh-CN" altLang="en-US" sz="2600" dirty="0">
                <a:latin typeface="+mn-ea"/>
                <a:ea typeface="+mn-ea"/>
              </a:rPr>
              <a:t>和</a:t>
            </a:r>
            <a:r>
              <a:rPr lang="zh-CN" altLang="en-US" sz="2600" dirty="0">
                <a:solidFill>
                  <a:srgbClr val="CC0099"/>
                </a:solidFill>
                <a:latin typeface="+mn-ea"/>
                <a:ea typeface="+mn-ea"/>
              </a:rPr>
              <a:t>系统调度启动</a:t>
            </a:r>
            <a:r>
              <a:rPr lang="zh-CN" altLang="en-US" sz="2600" dirty="0">
                <a:latin typeface="+mn-ea"/>
                <a:ea typeface="+mn-ea"/>
              </a:rPr>
              <a:t>。</a:t>
            </a:r>
            <a:endParaRPr lang="en-US" altLang="zh-CN" sz="2600" dirty="0">
              <a:latin typeface="+mn-ea"/>
              <a:ea typeface="+mn-ea"/>
            </a:endParaRPr>
          </a:p>
          <a:p>
            <a:pPr marL="457200" indent="-457200" algn="l">
              <a:lnSpc>
                <a:spcPct val="110000"/>
              </a:lnSpc>
              <a:buClr>
                <a:schemeClr val="tx1"/>
              </a:buClr>
              <a:buSzPct val="80000"/>
              <a:buFont typeface="Wingdings" panose="05000000000000000000" pitchFamily="2" charset="2"/>
              <a:buChar char="l"/>
            </a:pPr>
            <a:r>
              <a:rPr lang="zh-CN" altLang="en-US" sz="2600" dirty="0">
                <a:solidFill>
                  <a:srgbClr val="0000CC"/>
                </a:solidFill>
                <a:latin typeface="+mn-ea"/>
                <a:ea typeface="+mn-ea"/>
              </a:rPr>
              <a:t>手工启动</a:t>
            </a:r>
            <a:r>
              <a:rPr lang="zh-CN" altLang="en-US" sz="2600" dirty="0">
                <a:latin typeface="+mn-ea"/>
                <a:ea typeface="+mn-ea"/>
              </a:rPr>
              <a:t>是指由用户输入</a:t>
            </a:r>
            <a:r>
              <a:rPr lang="en-US" altLang="zh-CN" sz="2600" dirty="0">
                <a:latin typeface="+mn-ea"/>
                <a:ea typeface="+mn-ea"/>
              </a:rPr>
              <a:t>Shell</a:t>
            </a:r>
            <a:r>
              <a:rPr lang="zh-CN" altLang="en-US" sz="2600" dirty="0">
                <a:latin typeface="+mn-ea"/>
                <a:ea typeface="+mn-ea"/>
              </a:rPr>
              <a:t>命令后直接启动，可以分为前台启动和后台启动。</a:t>
            </a:r>
            <a:endParaRPr lang="en-US" altLang="zh-CN" sz="2600" dirty="0">
              <a:latin typeface="+mn-ea"/>
              <a:ea typeface="+mn-ea"/>
            </a:endParaRPr>
          </a:p>
          <a:p>
            <a:pPr marL="914400" lvl="1" indent="-457200" algn="l">
              <a:lnSpc>
                <a:spcPct val="110000"/>
              </a:lnSpc>
              <a:buClr>
                <a:schemeClr val="accent6"/>
              </a:buClr>
              <a:buSzPct val="70000"/>
              <a:buFont typeface="Wingdings" panose="05000000000000000000" pitchFamily="2" charset="2"/>
              <a:buChar char="l"/>
            </a:pPr>
            <a:r>
              <a:rPr lang="zh-CN" altLang="en-US" sz="2600" dirty="0">
                <a:latin typeface="+mn-ea"/>
                <a:ea typeface="+mn-ea"/>
              </a:rPr>
              <a:t>用户输入</a:t>
            </a:r>
            <a:r>
              <a:rPr lang="en-US" altLang="zh-CN" sz="2600" dirty="0">
                <a:latin typeface="+mn-ea"/>
                <a:ea typeface="+mn-ea"/>
              </a:rPr>
              <a:t>Shell</a:t>
            </a:r>
            <a:r>
              <a:rPr lang="zh-CN" altLang="en-US" sz="2600" dirty="0">
                <a:latin typeface="+mn-ea"/>
                <a:ea typeface="+mn-ea"/>
              </a:rPr>
              <a:t>命令行后按回车键就启动了一个前台作业。这个作业可能同时启动多个前台进程。</a:t>
            </a:r>
            <a:endParaRPr lang="en-US" altLang="zh-CN" sz="2600" dirty="0">
              <a:latin typeface="+mn-ea"/>
              <a:ea typeface="+mn-ea"/>
            </a:endParaRPr>
          </a:p>
          <a:p>
            <a:pPr marL="914400" lvl="1" indent="-457200" algn="l">
              <a:lnSpc>
                <a:spcPct val="110000"/>
              </a:lnSpc>
              <a:buClr>
                <a:schemeClr val="accent6"/>
              </a:buClr>
              <a:buSzPct val="70000"/>
              <a:buFont typeface="Wingdings" panose="05000000000000000000" pitchFamily="2" charset="2"/>
              <a:buChar char="l"/>
            </a:pPr>
            <a:r>
              <a:rPr lang="zh-CN" altLang="en-US" sz="2600" dirty="0">
                <a:latin typeface="+mn-ea"/>
                <a:ea typeface="+mn-ea"/>
              </a:rPr>
              <a:t>而在</a:t>
            </a:r>
            <a:r>
              <a:rPr lang="en-US" altLang="zh-CN" sz="2600" dirty="0">
                <a:latin typeface="+mn-ea"/>
                <a:ea typeface="+mn-ea"/>
              </a:rPr>
              <a:t>Shell</a:t>
            </a:r>
            <a:r>
              <a:rPr lang="zh-CN" altLang="en-US" sz="2600" dirty="0">
                <a:latin typeface="+mn-ea"/>
                <a:ea typeface="+mn-ea"/>
              </a:rPr>
              <a:t>命令行的末尾</a:t>
            </a:r>
            <a:r>
              <a:rPr lang="zh-CN" altLang="en-US" sz="2600" dirty="0">
                <a:solidFill>
                  <a:srgbClr val="CC0099"/>
                </a:solidFill>
                <a:latin typeface="+mn-ea"/>
                <a:ea typeface="+mn-ea"/>
              </a:rPr>
              <a:t>加上“</a:t>
            </a:r>
            <a:r>
              <a:rPr lang="en-US" altLang="zh-CN" sz="2600" dirty="0">
                <a:solidFill>
                  <a:srgbClr val="CC0099"/>
                </a:solidFill>
                <a:latin typeface="+mn-ea"/>
                <a:ea typeface="+mn-ea"/>
              </a:rPr>
              <a:t>&amp;</a:t>
            </a:r>
            <a:r>
              <a:rPr lang="zh-CN" altLang="en-US" sz="2600" dirty="0">
                <a:solidFill>
                  <a:srgbClr val="CC0099"/>
                </a:solidFill>
                <a:latin typeface="+mn-ea"/>
                <a:ea typeface="+mn-ea"/>
              </a:rPr>
              <a:t>”符号</a:t>
            </a:r>
            <a:r>
              <a:rPr lang="zh-CN" altLang="en-US" sz="2600" dirty="0">
                <a:latin typeface="+mn-ea"/>
                <a:ea typeface="+mn-ea"/>
              </a:rPr>
              <a:t>，再按回车键，就启动一个</a:t>
            </a:r>
            <a:r>
              <a:rPr lang="zh-CN" altLang="en-US" sz="2600" dirty="0">
                <a:solidFill>
                  <a:srgbClr val="CC0099"/>
                </a:solidFill>
                <a:latin typeface="+mn-ea"/>
                <a:ea typeface="+mn-ea"/>
              </a:rPr>
              <a:t>后台作业</a:t>
            </a:r>
            <a:r>
              <a:rPr lang="zh-CN" altLang="en-US" sz="2600" dirty="0">
                <a:latin typeface="+mn-ea"/>
                <a:ea typeface="+mn-ea"/>
              </a:rPr>
              <a:t>。</a:t>
            </a:r>
            <a:endParaRPr lang="en-US" altLang="zh-CN" sz="2600" dirty="0">
              <a:latin typeface="+mn-ea"/>
              <a:ea typeface="+mn-ea"/>
            </a:endParaRPr>
          </a:p>
          <a:p>
            <a:pPr marL="457200" indent="-457200" algn="l">
              <a:lnSpc>
                <a:spcPct val="110000"/>
              </a:lnSpc>
              <a:buClr>
                <a:srgbClr val="002060"/>
              </a:buClr>
              <a:buSzPct val="80000"/>
              <a:buFont typeface="Wingdings" panose="05000000000000000000" pitchFamily="2" charset="2"/>
              <a:buChar char="l"/>
            </a:pPr>
            <a:r>
              <a:rPr lang="zh-CN" altLang="en-US" sz="2600" dirty="0">
                <a:solidFill>
                  <a:srgbClr val="0000CC"/>
                </a:solidFill>
                <a:latin typeface="+mn-ea"/>
                <a:ea typeface="+mn-ea"/>
              </a:rPr>
              <a:t>调度启动</a:t>
            </a:r>
            <a:r>
              <a:rPr lang="zh-CN" altLang="en-US" sz="2600" dirty="0">
                <a:latin typeface="+mn-ea"/>
                <a:ea typeface="+mn-ea"/>
              </a:rPr>
              <a:t>是系统按照用户要求的时间或方式执行特定的进程，可分为</a:t>
            </a:r>
            <a:r>
              <a:rPr lang="en-US" altLang="zh-CN" sz="2600" dirty="0">
                <a:latin typeface="+mn-ea"/>
                <a:ea typeface="+mn-ea"/>
              </a:rPr>
              <a:t>at</a:t>
            </a:r>
            <a:r>
              <a:rPr lang="zh-CN" altLang="en-US" sz="2600" dirty="0">
                <a:latin typeface="+mn-ea"/>
                <a:ea typeface="+mn-ea"/>
              </a:rPr>
              <a:t>调度、</a:t>
            </a:r>
            <a:r>
              <a:rPr lang="en-US" altLang="zh-CN" sz="2600" dirty="0">
                <a:latin typeface="+mn-ea"/>
                <a:ea typeface="+mn-ea"/>
              </a:rPr>
              <a:t>batch</a:t>
            </a:r>
            <a:r>
              <a:rPr lang="zh-CN" altLang="en-US" sz="2600" dirty="0">
                <a:latin typeface="+mn-ea"/>
                <a:ea typeface="+mn-ea"/>
              </a:rPr>
              <a:t>调度、</a:t>
            </a:r>
            <a:r>
              <a:rPr lang="en-US" altLang="zh-CN" sz="2600" dirty="0">
                <a:latin typeface="+mn-ea"/>
                <a:ea typeface="+mn-ea"/>
              </a:rPr>
              <a:t>cron</a:t>
            </a:r>
            <a:r>
              <a:rPr lang="zh-CN" altLang="en-US" sz="2600" dirty="0">
                <a:latin typeface="+mn-ea"/>
                <a:ea typeface="+mn-ea"/>
              </a:rPr>
              <a:t>调度。</a:t>
            </a:r>
            <a:endParaRPr lang="zh-CN" altLang="en-US" sz="2400" dirty="0"/>
          </a:p>
        </p:txBody>
      </p:sp>
    </p:spTree>
    <p:extLst>
      <p:ext uri="{BB962C8B-B14F-4D97-AF65-F5344CB8AC3E}">
        <p14:creationId xmlns:p14="http://schemas.microsoft.com/office/powerpoint/2010/main" val="684341577"/>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algn="ctr"/>
            <a:r>
              <a:rPr lang="en-US" altLang="zh-CN" dirty="0"/>
              <a:t>at </a:t>
            </a:r>
            <a:r>
              <a:rPr lang="zh-CN" altLang="en-US" dirty="0"/>
              <a:t>调度</a:t>
            </a:r>
          </a:p>
        </p:txBody>
      </p:sp>
      <p:sp>
        <p:nvSpPr>
          <p:cNvPr id="80899" name="Text Box 3"/>
          <p:cNvSpPr txBox="1">
            <a:spLocks noChangeArrowheads="1"/>
          </p:cNvSpPr>
          <p:nvPr/>
        </p:nvSpPr>
        <p:spPr bwMode="auto">
          <a:xfrm>
            <a:off x="1127448" y="1628800"/>
            <a:ext cx="10297144" cy="3119380"/>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68686"/>
                  </a:outerShdw>
                </a:effectLst>
              </a14:hiddenEffects>
            </a:ext>
          </a:extLst>
        </p:spPr>
        <p:txBody>
          <a:bodyPr wrap="square">
            <a:spAutoFit/>
          </a:bodyPr>
          <a:lstStyle/>
          <a:p>
            <a:pPr marL="457200" indent="-457200" algn="l">
              <a:lnSpc>
                <a:spcPct val="110000"/>
              </a:lnSpc>
              <a:buSzPct val="70000"/>
              <a:buFont typeface="Wingdings" panose="05000000000000000000" pitchFamily="2" charset="2"/>
              <a:buChar char="l"/>
            </a:pPr>
            <a:r>
              <a:rPr lang="en-US" altLang="zh-CN" sz="2600" dirty="0">
                <a:latin typeface="+mn-ea"/>
                <a:ea typeface="+mn-ea"/>
              </a:rPr>
              <a:t>at</a:t>
            </a:r>
            <a:r>
              <a:rPr lang="zh-CN" altLang="en-US" sz="2600" dirty="0">
                <a:latin typeface="+mn-ea"/>
                <a:ea typeface="+mn-ea"/>
              </a:rPr>
              <a:t>调度</a:t>
            </a:r>
            <a:r>
              <a:rPr lang="zh-CN" altLang="en-US" sz="2600" dirty="0">
                <a:solidFill>
                  <a:srgbClr val="0000CC"/>
                </a:solidFill>
                <a:latin typeface="+mn-ea"/>
                <a:ea typeface="+mn-ea"/>
              </a:rPr>
              <a:t>：</a:t>
            </a:r>
            <a:r>
              <a:rPr lang="zh-CN" altLang="en-US" sz="2600" dirty="0">
                <a:latin typeface="+mn-ea"/>
                <a:ea typeface="+mn-ea"/>
              </a:rPr>
              <a:t>在</a:t>
            </a:r>
            <a:r>
              <a:rPr lang="zh-CN" altLang="en-US" sz="2600" dirty="0">
                <a:solidFill>
                  <a:srgbClr val="CC0099"/>
                </a:solidFill>
                <a:latin typeface="+mn-ea"/>
                <a:ea typeface="+mn-ea"/>
              </a:rPr>
              <a:t>指定时刻执行指定的命令序列</a:t>
            </a:r>
            <a:r>
              <a:rPr lang="zh-CN" altLang="en-US" sz="2600" dirty="0">
                <a:latin typeface="+mn-ea"/>
                <a:ea typeface="+mn-ea"/>
              </a:rPr>
              <a:t>。</a:t>
            </a:r>
          </a:p>
          <a:p>
            <a:pPr marL="800100" lvl="1" indent="-342900" algn="l">
              <a:lnSpc>
                <a:spcPct val="110000"/>
              </a:lnSpc>
              <a:buClr>
                <a:schemeClr val="accent6"/>
              </a:buClr>
              <a:buSzPct val="80000"/>
              <a:buFont typeface="Wingdings" panose="05000000000000000000" pitchFamily="2" charset="2"/>
              <a:buChar char="l"/>
            </a:pPr>
            <a:r>
              <a:rPr lang="zh-CN" altLang="en-US" sz="2600" dirty="0">
                <a:latin typeface="+mn-ea"/>
                <a:ea typeface="+mn-ea"/>
              </a:rPr>
              <a:t>有时候需要进行一些比较费时且占用资源的维护工作，例如网站数据库备份等，这些工作适合在深夜进行，这时用户就可以事先进行调度安排，指定任务运行的时间和场合，到时候系统会自动完成这一切工作。</a:t>
            </a:r>
            <a:endParaRPr lang="en-US" altLang="zh-CN" sz="2600" dirty="0">
              <a:latin typeface="+mn-ea"/>
              <a:ea typeface="+mn-ea"/>
            </a:endParaRPr>
          </a:p>
          <a:p>
            <a:pPr marL="800100" lvl="1" indent="-342900" algn="l">
              <a:lnSpc>
                <a:spcPct val="110000"/>
              </a:lnSpc>
              <a:buClr>
                <a:schemeClr val="accent6"/>
              </a:buClr>
              <a:buSzPct val="80000"/>
              <a:buFont typeface="Wingdings" panose="05000000000000000000" pitchFamily="2" charset="2"/>
              <a:buChar char="l"/>
            </a:pPr>
            <a:r>
              <a:rPr lang="zh-CN" altLang="en-US" sz="2600" dirty="0">
                <a:latin typeface="+mn-ea"/>
                <a:ea typeface="+mn-ea"/>
              </a:rPr>
              <a:t>用户用</a:t>
            </a:r>
            <a:r>
              <a:rPr lang="en-US" altLang="zh-CN" sz="2600" dirty="0">
                <a:solidFill>
                  <a:srgbClr val="CC0099"/>
                </a:solidFill>
                <a:latin typeface="+mn-ea"/>
                <a:ea typeface="+mn-ea"/>
              </a:rPr>
              <a:t>at</a:t>
            </a:r>
            <a:r>
              <a:rPr lang="zh-CN" altLang="en-US" sz="2600" dirty="0">
                <a:solidFill>
                  <a:srgbClr val="CC0099"/>
                </a:solidFill>
                <a:latin typeface="+mn-ea"/>
                <a:ea typeface="+mn-ea"/>
              </a:rPr>
              <a:t>命令</a:t>
            </a:r>
            <a:r>
              <a:rPr lang="zh-CN" altLang="en-US" sz="2600" dirty="0">
                <a:latin typeface="+mn-ea"/>
                <a:ea typeface="+mn-ea"/>
              </a:rPr>
              <a:t>在指定时刻运行指定的命令序列。</a:t>
            </a:r>
            <a:r>
              <a:rPr lang="en-US" altLang="zh-CN" sz="2600" dirty="0">
                <a:latin typeface="+mn-ea"/>
                <a:ea typeface="+mn-ea"/>
              </a:rPr>
              <a:t>at</a:t>
            </a:r>
            <a:r>
              <a:rPr lang="zh-CN" altLang="en-US" sz="2600" dirty="0">
                <a:latin typeface="+mn-ea"/>
                <a:ea typeface="+mn-ea"/>
              </a:rPr>
              <a:t>命令可以只指定时间，也可以时间和日期一起指定。</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29</a:t>
            </a:fld>
            <a:endParaRPr lang="en-US" altLang="zh-CN"/>
          </a:p>
        </p:txBody>
      </p:sp>
    </p:spTree>
    <p:extLst>
      <p:ext uri="{BB962C8B-B14F-4D97-AF65-F5344CB8AC3E}">
        <p14:creationId xmlns:p14="http://schemas.microsoft.com/office/powerpoint/2010/main" val="800550696"/>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1271464" y="1412776"/>
            <a:ext cx="9937104" cy="4411662"/>
          </a:xfrm>
        </p:spPr>
        <p:txBody>
          <a:bodyPr/>
          <a:lstStyle/>
          <a:p>
            <a:pPr algn="just">
              <a:buFontTx/>
              <a:buNone/>
            </a:pPr>
            <a:r>
              <a:rPr lang="en-US" altLang="zh-CN" dirty="0">
                <a:solidFill>
                  <a:srgbClr val="CC0099"/>
                </a:solidFill>
                <a:latin typeface="+mn-ea"/>
              </a:rPr>
              <a:t>at</a:t>
            </a:r>
            <a:r>
              <a:rPr lang="zh-CN" altLang="en-US" dirty="0">
                <a:solidFill>
                  <a:srgbClr val="CC0099"/>
                </a:solidFill>
                <a:latin typeface="+mn-ea"/>
              </a:rPr>
              <a:t>调度 </a:t>
            </a:r>
          </a:p>
          <a:p>
            <a:pPr algn="just">
              <a:buFontTx/>
              <a:buNone/>
            </a:pPr>
            <a:r>
              <a:rPr lang="zh-CN" altLang="en-US" sz="2400" dirty="0">
                <a:solidFill>
                  <a:srgbClr val="0000CC"/>
                </a:solidFill>
              </a:rPr>
              <a:t>格式：</a:t>
            </a:r>
            <a:r>
              <a:rPr lang="en-US" altLang="zh-CN" sz="2400" dirty="0">
                <a:solidFill>
                  <a:srgbClr val="0000CC"/>
                </a:solidFill>
              </a:rPr>
              <a:t>at  [</a:t>
            </a:r>
            <a:r>
              <a:rPr lang="zh-CN" altLang="en-US" sz="2400" dirty="0">
                <a:solidFill>
                  <a:srgbClr val="0000CC"/>
                </a:solidFill>
              </a:rPr>
              <a:t>选项</a:t>
            </a:r>
            <a:r>
              <a:rPr lang="en-US" altLang="zh-CN" sz="2400" dirty="0">
                <a:solidFill>
                  <a:srgbClr val="0000CC"/>
                </a:solidFill>
              </a:rPr>
              <a:t>]  [</a:t>
            </a:r>
            <a:r>
              <a:rPr lang="zh-CN" altLang="en-US" sz="2400" dirty="0">
                <a:solidFill>
                  <a:srgbClr val="0000CC"/>
                </a:solidFill>
              </a:rPr>
              <a:t>时间</a:t>
            </a:r>
            <a:r>
              <a:rPr lang="en-US" altLang="zh-CN" sz="2400" dirty="0">
                <a:solidFill>
                  <a:srgbClr val="0000CC"/>
                </a:solidFill>
              </a:rPr>
              <a:t>]</a:t>
            </a:r>
          </a:p>
          <a:p>
            <a:pPr algn="just">
              <a:buFontTx/>
              <a:buNone/>
            </a:pPr>
            <a:r>
              <a:rPr lang="zh-CN" altLang="en-US" sz="2400" dirty="0">
                <a:solidFill>
                  <a:srgbClr val="000000"/>
                </a:solidFill>
              </a:rPr>
              <a:t>功能：设置在指定时间执行指定的命令，且只执行一次。</a:t>
            </a:r>
            <a:endParaRPr lang="zh-CN" altLang="en-US" sz="2400" dirty="0"/>
          </a:p>
          <a:p>
            <a:pPr algn="just">
              <a:buFontTx/>
              <a:buNone/>
            </a:pPr>
            <a:r>
              <a:rPr lang="zh-CN" altLang="en-US" sz="2400" dirty="0">
                <a:solidFill>
                  <a:srgbClr val="000000"/>
                </a:solidFill>
              </a:rPr>
              <a:t>主要选项说明：</a:t>
            </a:r>
            <a:endParaRPr lang="zh-CN" altLang="en-US" sz="2400" dirty="0"/>
          </a:p>
          <a:p>
            <a:pPr lvl="1">
              <a:buFontTx/>
              <a:buNone/>
            </a:pPr>
            <a:r>
              <a:rPr lang="en-US" altLang="zh-CN" sz="2400" dirty="0">
                <a:solidFill>
                  <a:srgbClr val="000000"/>
                </a:solidFill>
              </a:rPr>
              <a:t>-l</a:t>
            </a:r>
            <a:r>
              <a:rPr lang="zh-CN" altLang="en-US" sz="2400" dirty="0">
                <a:solidFill>
                  <a:srgbClr val="000000"/>
                </a:solidFill>
                <a:latin typeface="宋体" pitchFamily="2" charset="-122"/>
              </a:rPr>
              <a:t>    显示等待执行的调度作业 </a:t>
            </a:r>
            <a:endParaRPr lang="en-US" altLang="zh-CN" sz="2400" dirty="0">
              <a:solidFill>
                <a:srgbClr val="000000"/>
              </a:solidFill>
              <a:latin typeface="宋体" pitchFamily="2" charset="-122"/>
            </a:endParaRPr>
          </a:p>
          <a:p>
            <a:pPr lvl="1">
              <a:buFontTx/>
              <a:buNone/>
            </a:pPr>
            <a:r>
              <a:rPr lang="en-US" altLang="zh-CN" sz="2400" dirty="0">
                <a:solidFill>
                  <a:srgbClr val="000000"/>
                </a:solidFill>
              </a:rPr>
              <a:t>-d     </a:t>
            </a:r>
            <a:r>
              <a:rPr lang="zh-CN" altLang="en-US" sz="2400" dirty="0">
                <a:solidFill>
                  <a:srgbClr val="000000"/>
                </a:solidFill>
                <a:latin typeface="宋体" pitchFamily="2" charset="-122"/>
              </a:rPr>
              <a:t> 删除指定的调度作业</a:t>
            </a:r>
            <a:endParaRPr lang="en-US" altLang="zh-CN" sz="2400" dirty="0">
              <a:solidFill>
                <a:srgbClr val="000000"/>
              </a:solidFill>
              <a:latin typeface="宋体" pitchFamily="2" charset="-122"/>
            </a:endParaRPr>
          </a:p>
          <a:p>
            <a:pPr lvl="1">
              <a:buFontTx/>
              <a:buNone/>
            </a:pPr>
            <a:r>
              <a:rPr lang="en-US" altLang="zh-CN" sz="2400" dirty="0">
                <a:solidFill>
                  <a:srgbClr val="000000"/>
                </a:solidFill>
              </a:rPr>
              <a:t>-v       </a:t>
            </a:r>
            <a:r>
              <a:rPr lang="zh-CN" altLang="en-US" sz="2400" dirty="0">
                <a:solidFill>
                  <a:srgbClr val="000000"/>
                </a:solidFill>
              </a:rPr>
              <a:t>显示作业执行的时间</a:t>
            </a:r>
            <a:endParaRPr lang="en-US" altLang="zh-CN" sz="2400" dirty="0">
              <a:solidFill>
                <a:srgbClr val="000000"/>
              </a:solidFill>
            </a:endParaRPr>
          </a:p>
          <a:p>
            <a:pPr lvl="1">
              <a:buFontTx/>
              <a:buNone/>
            </a:pPr>
            <a:r>
              <a:rPr lang="en-US" altLang="zh-CN" sz="2400" dirty="0">
                <a:solidFill>
                  <a:srgbClr val="000000"/>
                </a:solidFill>
              </a:rPr>
              <a:t>-m      </a:t>
            </a:r>
            <a:r>
              <a:rPr lang="zh-CN" altLang="en-US" sz="2400" dirty="0">
                <a:solidFill>
                  <a:srgbClr val="000000"/>
                </a:solidFill>
              </a:rPr>
              <a:t>作业结束后发送邮件给执行的</a:t>
            </a:r>
            <a:r>
              <a:rPr lang="en-US" altLang="zh-CN" sz="2400" dirty="0">
                <a:solidFill>
                  <a:srgbClr val="000000"/>
                </a:solidFill>
              </a:rPr>
              <a:t>at</a:t>
            </a:r>
            <a:r>
              <a:rPr lang="zh-CN" altLang="en-US" sz="2400" dirty="0">
                <a:solidFill>
                  <a:srgbClr val="000000"/>
                </a:solidFill>
              </a:rPr>
              <a:t>命令的用户</a:t>
            </a:r>
            <a:endParaRPr lang="en-US" altLang="zh-CN" sz="2400" dirty="0">
              <a:solidFill>
                <a:srgbClr val="000000"/>
              </a:solidFill>
            </a:endParaRPr>
          </a:p>
          <a:p>
            <a:pPr lvl="1">
              <a:buFontTx/>
              <a:buNone/>
            </a:pPr>
            <a:endParaRPr lang="zh-CN" altLang="en-US" sz="2400" dirty="0">
              <a:solidFill>
                <a:srgbClr val="000000"/>
              </a:solidFill>
            </a:endParaRPr>
          </a:p>
        </p:txBody>
      </p:sp>
      <p:sp>
        <p:nvSpPr>
          <p:cNvPr id="6" name="Rectangle 2"/>
          <p:cNvSpPr txBox="1">
            <a:spLocks noChangeArrowheads="1"/>
          </p:cNvSpPr>
          <p:nvPr/>
        </p:nvSpPr>
        <p:spPr bwMode="auto">
          <a:xfrm>
            <a:off x="1775520" y="501105"/>
            <a:ext cx="9073008"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a:lstStyle>
          <a:p>
            <a:r>
              <a:rPr lang="en-US" altLang="zh-CN" kern="0" dirty="0"/>
              <a:t>at</a:t>
            </a:r>
            <a:r>
              <a:rPr lang="zh-CN" altLang="en-US" kern="0" dirty="0"/>
              <a:t>调度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30</a:t>
            </a:fld>
            <a:endParaRPr lang="en-US" altLang="zh-CN"/>
          </a:p>
        </p:txBody>
      </p:sp>
    </p:spTree>
    <p:extLst>
      <p:ext uri="{BB962C8B-B14F-4D97-AF65-F5344CB8AC3E}">
        <p14:creationId xmlns:p14="http://schemas.microsoft.com/office/powerpoint/2010/main" val="28480215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1127448" y="1340768"/>
            <a:ext cx="10225136" cy="4752528"/>
          </a:xfrm>
        </p:spPr>
        <p:txBody>
          <a:bodyPr/>
          <a:lstStyle/>
          <a:p>
            <a:pPr algn="just">
              <a:buFontTx/>
              <a:buNone/>
            </a:pPr>
            <a:r>
              <a:rPr lang="zh-CN" altLang="en-US" sz="2400" dirty="0">
                <a:solidFill>
                  <a:srgbClr val="000000"/>
                </a:solidFill>
              </a:rPr>
              <a:t>进程的执行时间可采用以下方法表示：</a:t>
            </a:r>
            <a:endParaRPr lang="en-US" altLang="zh-CN" sz="2400" dirty="0">
              <a:solidFill>
                <a:srgbClr val="000000"/>
              </a:solidFill>
            </a:endParaRPr>
          </a:p>
          <a:p>
            <a:pPr algn="just">
              <a:buFontTx/>
              <a:buNone/>
            </a:pPr>
            <a:r>
              <a:rPr lang="zh-CN" altLang="en-US" sz="2400" dirty="0">
                <a:solidFill>
                  <a:srgbClr val="CC0099"/>
                </a:solidFill>
                <a:latin typeface="宋体" pitchFamily="2" charset="-122"/>
              </a:rPr>
              <a:t>（</a:t>
            </a:r>
            <a:r>
              <a:rPr lang="en-US" altLang="zh-CN" sz="2400" dirty="0">
                <a:solidFill>
                  <a:srgbClr val="CC0099"/>
                </a:solidFill>
                <a:latin typeface="宋体" pitchFamily="2" charset="-122"/>
              </a:rPr>
              <a:t>1</a:t>
            </a:r>
            <a:r>
              <a:rPr lang="zh-CN" altLang="en-US" sz="2400" dirty="0">
                <a:solidFill>
                  <a:srgbClr val="CC0099"/>
                </a:solidFill>
                <a:latin typeface="宋体" pitchFamily="2" charset="-122"/>
              </a:rPr>
              <a:t>）绝对计时法</a:t>
            </a:r>
            <a:endParaRPr lang="en-US" altLang="zh-CN" sz="2400" dirty="0">
              <a:solidFill>
                <a:srgbClr val="CC0099"/>
              </a:solidFill>
              <a:latin typeface="宋体" pitchFamily="2" charset="-122"/>
            </a:endParaRPr>
          </a:p>
          <a:p>
            <a:pPr algn="just">
              <a:buFontTx/>
              <a:buNone/>
            </a:pPr>
            <a:r>
              <a:rPr lang="en-US" altLang="zh-CN" sz="2400" dirty="0">
                <a:solidFill>
                  <a:srgbClr val="000000"/>
                </a:solidFill>
                <a:latin typeface="宋体" pitchFamily="2" charset="-122"/>
              </a:rPr>
              <a:t>  </a:t>
            </a:r>
            <a:r>
              <a:rPr lang="en-US" altLang="zh-CN" sz="2400" dirty="0">
                <a:solidFill>
                  <a:srgbClr val="0000CC"/>
                </a:solidFill>
                <a:latin typeface="宋体" pitchFamily="2" charset="-122"/>
              </a:rPr>
              <a:t>HH:MM</a:t>
            </a:r>
            <a:r>
              <a:rPr lang="en-US" altLang="zh-CN" sz="2400" dirty="0">
                <a:solidFill>
                  <a:srgbClr val="000000"/>
                </a:solidFill>
                <a:latin typeface="宋体" pitchFamily="2" charset="-122"/>
              </a:rPr>
              <a:t>   </a:t>
            </a:r>
            <a:r>
              <a:rPr lang="zh-CN" altLang="en-US" sz="2400" dirty="0">
                <a:solidFill>
                  <a:srgbClr val="000000"/>
                </a:solidFill>
                <a:latin typeface="宋体" pitchFamily="2" charset="-122"/>
              </a:rPr>
              <a:t>指定具体的时间，默认采用</a:t>
            </a:r>
            <a:r>
              <a:rPr lang="en-US" altLang="zh-CN" sz="2400" dirty="0">
                <a:solidFill>
                  <a:srgbClr val="000000"/>
                </a:solidFill>
                <a:latin typeface="宋体" pitchFamily="2" charset="-122"/>
              </a:rPr>
              <a:t>24</a:t>
            </a:r>
            <a:r>
              <a:rPr lang="zh-CN" altLang="en-US" sz="2400" dirty="0">
                <a:solidFill>
                  <a:srgbClr val="000000"/>
                </a:solidFill>
                <a:latin typeface="宋体" pitchFamily="2" charset="-122"/>
              </a:rPr>
              <a:t>小时计时制。若采用</a:t>
            </a:r>
            <a:r>
              <a:rPr lang="en-US" altLang="zh-CN" sz="2400" dirty="0">
                <a:solidFill>
                  <a:srgbClr val="000000"/>
                </a:solidFill>
                <a:latin typeface="宋体" pitchFamily="2" charset="-122"/>
              </a:rPr>
              <a:t>12</a:t>
            </a:r>
            <a:r>
              <a:rPr lang="zh-CN" altLang="en-US" sz="2400" dirty="0">
                <a:solidFill>
                  <a:srgbClr val="000000"/>
                </a:solidFill>
                <a:latin typeface="宋体" pitchFamily="2" charset="-122"/>
              </a:rPr>
              <a:t>小时计时制，则时间后面需加上</a:t>
            </a:r>
            <a:r>
              <a:rPr lang="en-US" altLang="zh-CN" sz="2400" dirty="0">
                <a:solidFill>
                  <a:srgbClr val="000000"/>
                </a:solidFill>
                <a:latin typeface="宋体" pitchFamily="2" charset="-122"/>
              </a:rPr>
              <a:t>AM</a:t>
            </a:r>
            <a:r>
              <a:rPr lang="zh-CN" altLang="en-US" sz="2400" dirty="0">
                <a:solidFill>
                  <a:srgbClr val="000000"/>
                </a:solidFill>
                <a:latin typeface="宋体" pitchFamily="2" charset="-122"/>
              </a:rPr>
              <a:t>或</a:t>
            </a:r>
            <a:r>
              <a:rPr lang="en-US" altLang="zh-CN" sz="2400" dirty="0">
                <a:solidFill>
                  <a:srgbClr val="000000"/>
                </a:solidFill>
                <a:latin typeface="宋体" pitchFamily="2" charset="-122"/>
              </a:rPr>
              <a:t>PM.</a:t>
            </a:r>
          </a:p>
          <a:p>
            <a:pPr algn="just">
              <a:buFontTx/>
              <a:buNone/>
            </a:pPr>
            <a:r>
              <a:rPr lang="en-US" altLang="zh-CN" sz="2400" dirty="0">
                <a:solidFill>
                  <a:srgbClr val="000000"/>
                </a:solidFill>
                <a:latin typeface="宋体" pitchFamily="2" charset="-122"/>
              </a:rPr>
              <a:t>  </a:t>
            </a:r>
            <a:r>
              <a:rPr lang="en-US" altLang="zh-CN" sz="2400" dirty="0">
                <a:solidFill>
                  <a:srgbClr val="0000CC"/>
                </a:solidFill>
                <a:latin typeface="宋体" pitchFamily="2" charset="-122"/>
              </a:rPr>
              <a:t>MMDDYY</a:t>
            </a:r>
            <a:r>
              <a:rPr lang="zh-CN" altLang="en-US" sz="2400" dirty="0">
                <a:solidFill>
                  <a:srgbClr val="0000CC"/>
                </a:solidFill>
                <a:latin typeface="宋体" pitchFamily="2" charset="-122"/>
              </a:rPr>
              <a:t>、</a:t>
            </a:r>
            <a:r>
              <a:rPr lang="en-US" altLang="zh-CN" sz="2400" dirty="0">
                <a:solidFill>
                  <a:srgbClr val="0000CC"/>
                </a:solidFill>
                <a:latin typeface="宋体" pitchFamily="2" charset="-122"/>
              </a:rPr>
              <a:t>MM/DD/</a:t>
            </a:r>
            <a:r>
              <a:rPr lang="en-US" altLang="zh-CN" sz="2400" dirty="0" err="1">
                <a:solidFill>
                  <a:srgbClr val="0000CC"/>
                </a:solidFill>
                <a:latin typeface="宋体" pitchFamily="2" charset="-122"/>
              </a:rPr>
              <a:t>YY</a:t>
            </a:r>
            <a:r>
              <a:rPr lang="zh-CN" altLang="en-US" sz="2400" dirty="0">
                <a:solidFill>
                  <a:srgbClr val="0000CC"/>
                </a:solidFill>
                <a:latin typeface="宋体" pitchFamily="2" charset="-122"/>
              </a:rPr>
              <a:t>、</a:t>
            </a:r>
            <a:r>
              <a:rPr lang="en-US" altLang="zh-CN" sz="2400" dirty="0">
                <a:solidFill>
                  <a:srgbClr val="0000CC"/>
                </a:solidFill>
                <a:latin typeface="宋体" pitchFamily="2" charset="-122"/>
              </a:rPr>
              <a:t>DD.MM.YY</a:t>
            </a:r>
            <a:r>
              <a:rPr lang="zh-CN" altLang="en-US" sz="2400" dirty="0">
                <a:solidFill>
                  <a:srgbClr val="000000"/>
                </a:solidFill>
                <a:latin typeface="宋体" pitchFamily="2" charset="-122"/>
              </a:rPr>
              <a:t>   指定具体的日期，必须写在具体时间之后。年份可用两位数字表示，也可用四位数字表示。</a:t>
            </a:r>
            <a:endParaRPr lang="en-US" altLang="zh-CN" sz="2400" dirty="0">
              <a:solidFill>
                <a:srgbClr val="000000"/>
              </a:solidFill>
              <a:latin typeface="宋体" pitchFamily="2" charset="-122"/>
            </a:endParaRPr>
          </a:p>
          <a:p>
            <a:pPr algn="just">
              <a:buFontTx/>
              <a:buNone/>
            </a:pPr>
            <a:r>
              <a:rPr lang="zh-CN" altLang="en-US" sz="2400" dirty="0"/>
              <a:t> </a:t>
            </a:r>
            <a:r>
              <a:rPr lang="zh-CN" altLang="en-US" sz="2400" dirty="0">
                <a:solidFill>
                  <a:srgbClr val="CC0099"/>
                </a:solidFill>
              </a:rPr>
              <a:t>（</a:t>
            </a:r>
            <a:r>
              <a:rPr lang="en-US" altLang="zh-CN" sz="2400" dirty="0">
                <a:solidFill>
                  <a:srgbClr val="CC0099"/>
                </a:solidFill>
              </a:rPr>
              <a:t>2</a:t>
            </a:r>
            <a:r>
              <a:rPr lang="zh-CN" altLang="en-US" sz="2400" dirty="0">
                <a:solidFill>
                  <a:srgbClr val="CC0099"/>
                </a:solidFill>
              </a:rPr>
              <a:t>）</a:t>
            </a:r>
            <a:r>
              <a:rPr lang="zh-CN" altLang="en-US" sz="2400" dirty="0">
                <a:solidFill>
                  <a:srgbClr val="CC0099"/>
                </a:solidFill>
                <a:latin typeface="宋体" pitchFamily="2" charset="-122"/>
              </a:rPr>
              <a:t>相对计时法</a:t>
            </a:r>
            <a:endParaRPr lang="en-US" altLang="zh-CN" sz="2400" dirty="0">
              <a:solidFill>
                <a:srgbClr val="CC0099"/>
              </a:solidFill>
              <a:latin typeface="宋体" pitchFamily="2" charset="-122"/>
            </a:endParaRPr>
          </a:p>
          <a:p>
            <a:pPr algn="just">
              <a:buFontTx/>
              <a:buNone/>
            </a:pPr>
            <a:r>
              <a:rPr lang="en-US" altLang="zh-CN" sz="2400" dirty="0">
                <a:solidFill>
                  <a:srgbClr val="000000"/>
                </a:solidFill>
                <a:latin typeface="宋体" pitchFamily="2" charset="-122"/>
              </a:rPr>
              <a:t>   </a:t>
            </a:r>
            <a:r>
              <a:rPr lang="en-US" altLang="zh-CN" sz="2400" dirty="0">
                <a:solidFill>
                  <a:srgbClr val="0000CC"/>
                </a:solidFill>
                <a:latin typeface="宋体" pitchFamily="2" charset="-122"/>
              </a:rPr>
              <a:t>now+</a:t>
            </a:r>
            <a:r>
              <a:rPr lang="zh-CN" altLang="en-US" sz="2400" dirty="0">
                <a:solidFill>
                  <a:srgbClr val="0000CC"/>
                </a:solidFill>
                <a:latin typeface="宋体" pitchFamily="2" charset="-122"/>
              </a:rPr>
              <a:t>时间间隔</a:t>
            </a:r>
            <a:r>
              <a:rPr lang="zh-CN" altLang="en-US" sz="2400" dirty="0">
                <a:solidFill>
                  <a:srgbClr val="000000"/>
                </a:solidFill>
                <a:latin typeface="宋体" pitchFamily="2" charset="-122"/>
              </a:rPr>
              <a:t>    时间单位为</a:t>
            </a:r>
            <a:r>
              <a:rPr lang="en-US" altLang="zh-CN" sz="2400" dirty="0">
                <a:solidFill>
                  <a:srgbClr val="000000"/>
                </a:solidFill>
                <a:latin typeface="宋体" pitchFamily="2" charset="-122"/>
              </a:rPr>
              <a:t>minutes(</a:t>
            </a:r>
            <a:r>
              <a:rPr lang="zh-CN" altLang="en-US" sz="2400" dirty="0">
                <a:solidFill>
                  <a:srgbClr val="000000"/>
                </a:solidFill>
                <a:latin typeface="宋体" pitchFamily="2" charset="-122"/>
              </a:rPr>
              <a:t>分钟）、</a:t>
            </a:r>
            <a:r>
              <a:rPr lang="en-US" altLang="zh-CN" sz="2400" dirty="0">
                <a:solidFill>
                  <a:srgbClr val="000000"/>
                </a:solidFill>
                <a:latin typeface="宋体" pitchFamily="2" charset="-122"/>
              </a:rPr>
              <a:t>hours(</a:t>
            </a:r>
            <a:r>
              <a:rPr lang="zh-CN" altLang="en-US" sz="2400" dirty="0">
                <a:solidFill>
                  <a:srgbClr val="000000"/>
                </a:solidFill>
                <a:latin typeface="宋体" pitchFamily="2" charset="-122"/>
              </a:rPr>
              <a:t>小时）、</a:t>
            </a:r>
            <a:r>
              <a:rPr lang="en-US" altLang="zh-CN" sz="2400" dirty="0">
                <a:solidFill>
                  <a:srgbClr val="000000"/>
                </a:solidFill>
                <a:latin typeface="宋体" pitchFamily="2" charset="-122"/>
              </a:rPr>
              <a:t>days(</a:t>
            </a:r>
            <a:r>
              <a:rPr lang="zh-CN" altLang="en-US" sz="2400" dirty="0">
                <a:solidFill>
                  <a:srgbClr val="000000"/>
                </a:solidFill>
                <a:latin typeface="宋体" pitchFamily="2" charset="-122"/>
              </a:rPr>
              <a:t>天）、</a:t>
            </a:r>
            <a:r>
              <a:rPr lang="en-US" altLang="zh-CN" sz="2400" dirty="0">
                <a:solidFill>
                  <a:srgbClr val="000000"/>
                </a:solidFill>
                <a:latin typeface="宋体" pitchFamily="2" charset="-122"/>
              </a:rPr>
              <a:t>weeks(</a:t>
            </a:r>
            <a:r>
              <a:rPr lang="zh-CN" altLang="en-US" sz="2400" dirty="0">
                <a:solidFill>
                  <a:srgbClr val="000000"/>
                </a:solidFill>
                <a:latin typeface="宋体" pitchFamily="2" charset="-122"/>
              </a:rPr>
              <a:t>星期）。</a:t>
            </a:r>
            <a:endParaRPr lang="en-US" altLang="zh-CN" sz="2400" dirty="0">
              <a:solidFill>
                <a:srgbClr val="000000"/>
              </a:solidFill>
              <a:latin typeface="宋体" pitchFamily="2" charset="-122"/>
            </a:endParaRPr>
          </a:p>
          <a:p>
            <a:pPr algn="just">
              <a:buFontTx/>
              <a:buNone/>
            </a:pPr>
            <a:r>
              <a:rPr lang="zh-CN" altLang="en-US" sz="2400" dirty="0"/>
              <a:t> </a:t>
            </a:r>
            <a:r>
              <a:rPr lang="zh-CN" altLang="en-US" sz="2400" dirty="0">
                <a:solidFill>
                  <a:srgbClr val="CC0099"/>
                </a:solidFill>
              </a:rPr>
              <a:t>（</a:t>
            </a:r>
            <a:r>
              <a:rPr lang="en-US" altLang="zh-CN" sz="2400" dirty="0">
                <a:solidFill>
                  <a:srgbClr val="CC0099"/>
                </a:solidFill>
              </a:rPr>
              <a:t>3</a:t>
            </a:r>
            <a:r>
              <a:rPr lang="zh-CN" altLang="en-US" sz="2400" dirty="0">
                <a:solidFill>
                  <a:srgbClr val="CC0099"/>
                </a:solidFill>
              </a:rPr>
              <a:t>）</a:t>
            </a:r>
            <a:r>
              <a:rPr lang="zh-CN" altLang="en-US" sz="2400" dirty="0">
                <a:solidFill>
                  <a:srgbClr val="CC0099"/>
                </a:solidFill>
                <a:latin typeface="宋体" pitchFamily="2" charset="-122"/>
              </a:rPr>
              <a:t>直接计时法</a:t>
            </a:r>
            <a:endParaRPr lang="en-US" altLang="zh-CN" sz="2400" dirty="0">
              <a:solidFill>
                <a:srgbClr val="CC0099"/>
              </a:solidFill>
              <a:latin typeface="宋体" pitchFamily="2" charset="-122"/>
            </a:endParaRPr>
          </a:p>
          <a:p>
            <a:pPr algn="just">
              <a:buFontTx/>
              <a:buNone/>
            </a:pPr>
            <a:r>
              <a:rPr lang="en-US" altLang="zh-CN" sz="2400" dirty="0">
                <a:solidFill>
                  <a:srgbClr val="000000"/>
                </a:solidFill>
                <a:latin typeface="宋体" pitchFamily="2" charset="-122"/>
              </a:rPr>
              <a:t>   today</a:t>
            </a:r>
            <a:r>
              <a:rPr lang="zh-CN" altLang="en-US" sz="2400" dirty="0">
                <a:solidFill>
                  <a:srgbClr val="000000"/>
                </a:solidFill>
                <a:latin typeface="宋体" pitchFamily="2" charset="-122"/>
              </a:rPr>
              <a:t>（今天）、</a:t>
            </a:r>
            <a:r>
              <a:rPr lang="en-US" altLang="zh-CN" sz="2400" dirty="0">
                <a:solidFill>
                  <a:srgbClr val="000000"/>
                </a:solidFill>
                <a:latin typeface="宋体" pitchFamily="2" charset="-122"/>
              </a:rPr>
              <a:t>tomorrow</a:t>
            </a:r>
            <a:r>
              <a:rPr lang="zh-CN" altLang="en-US" sz="2400" dirty="0">
                <a:solidFill>
                  <a:srgbClr val="000000"/>
                </a:solidFill>
                <a:latin typeface="宋体" pitchFamily="2" charset="-122"/>
              </a:rPr>
              <a:t>（明天）、</a:t>
            </a:r>
            <a:r>
              <a:rPr lang="en-US" altLang="zh-CN" sz="2400" dirty="0">
                <a:solidFill>
                  <a:srgbClr val="000000"/>
                </a:solidFill>
                <a:latin typeface="宋体" pitchFamily="2" charset="-122"/>
              </a:rPr>
              <a:t>midnight</a:t>
            </a:r>
            <a:r>
              <a:rPr lang="zh-CN" altLang="en-US" sz="2400" dirty="0">
                <a:solidFill>
                  <a:srgbClr val="000000"/>
                </a:solidFill>
                <a:latin typeface="宋体" pitchFamily="2" charset="-122"/>
              </a:rPr>
              <a:t>（深夜）、</a:t>
            </a:r>
            <a:r>
              <a:rPr lang="en-US" altLang="zh-CN" sz="2400" dirty="0">
                <a:solidFill>
                  <a:srgbClr val="000000"/>
                </a:solidFill>
                <a:latin typeface="宋体" pitchFamily="2" charset="-122"/>
              </a:rPr>
              <a:t>noon</a:t>
            </a:r>
            <a:r>
              <a:rPr lang="zh-CN" altLang="en-US" sz="2400" dirty="0">
                <a:solidFill>
                  <a:srgbClr val="000000"/>
                </a:solidFill>
                <a:latin typeface="宋体" pitchFamily="2" charset="-122"/>
              </a:rPr>
              <a:t>（中午）、</a:t>
            </a:r>
            <a:r>
              <a:rPr lang="en-US" altLang="zh-CN" sz="2400" dirty="0">
                <a:solidFill>
                  <a:srgbClr val="000000"/>
                </a:solidFill>
                <a:latin typeface="宋体" pitchFamily="2" charset="-122"/>
              </a:rPr>
              <a:t>teatime</a:t>
            </a:r>
            <a:r>
              <a:rPr lang="zh-CN" altLang="en-US" sz="2400" dirty="0">
                <a:solidFill>
                  <a:srgbClr val="000000"/>
                </a:solidFill>
                <a:latin typeface="宋体" pitchFamily="2" charset="-122"/>
              </a:rPr>
              <a:t>（下午四点）</a:t>
            </a:r>
            <a:r>
              <a:rPr lang="zh-CN" altLang="en-US" sz="2400" dirty="0"/>
              <a:t>  </a:t>
            </a:r>
          </a:p>
          <a:p>
            <a:pPr algn="just">
              <a:buFontTx/>
              <a:buNone/>
            </a:pPr>
            <a:endParaRPr lang="en-US" altLang="zh-CN" dirty="0"/>
          </a:p>
        </p:txBody>
      </p:sp>
      <p:sp>
        <p:nvSpPr>
          <p:cNvPr id="6" name="Rectangle 2"/>
          <p:cNvSpPr txBox="1">
            <a:spLocks noChangeArrowheads="1"/>
          </p:cNvSpPr>
          <p:nvPr/>
        </p:nvSpPr>
        <p:spPr bwMode="auto">
          <a:xfrm>
            <a:off x="1775520" y="481931"/>
            <a:ext cx="9001000"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a:lstStyle>
          <a:p>
            <a:r>
              <a:rPr lang="en-US" altLang="zh-CN" kern="0" dirty="0"/>
              <a:t>at</a:t>
            </a:r>
            <a:r>
              <a:rPr lang="zh-CN" altLang="en-US" kern="0" dirty="0"/>
              <a:t>调度 </a:t>
            </a:r>
          </a:p>
        </p:txBody>
      </p:sp>
    </p:spTree>
    <p:extLst>
      <p:ext uri="{BB962C8B-B14F-4D97-AF65-F5344CB8AC3E}">
        <p14:creationId xmlns:p14="http://schemas.microsoft.com/office/powerpoint/2010/main" val="2984162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a:t>
            </a:r>
            <a:r>
              <a:rPr lang="zh-CN" altLang="en-US" dirty="0"/>
              <a:t>调度 </a:t>
            </a:r>
          </a:p>
        </p:txBody>
      </p:sp>
      <p:sp>
        <p:nvSpPr>
          <p:cNvPr id="3" name="内容占位符 2"/>
          <p:cNvSpPr>
            <a:spLocks noGrp="1"/>
          </p:cNvSpPr>
          <p:nvPr>
            <p:ph idx="1"/>
          </p:nvPr>
        </p:nvSpPr>
        <p:spPr>
          <a:xfrm>
            <a:off x="1055440" y="1640472"/>
            <a:ext cx="10297144" cy="4608512"/>
          </a:xfrm>
        </p:spPr>
        <p:txBody>
          <a:bodyPr/>
          <a:lstStyle/>
          <a:p>
            <a:pPr marL="0" indent="0">
              <a:buNone/>
            </a:pPr>
            <a:r>
              <a:rPr lang="zh-CN" altLang="en-US" sz="2600" dirty="0">
                <a:solidFill>
                  <a:srgbClr val="0000CC"/>
                </a:solidFill>
              </a:rPr>
              <a:t>例如</a:t>
            </a:r>
            <a:r>
              <a:rPr lang="zh-CN" altLang="en-US" sz="2600" dirty="0"/>
              <a:t>：设置</a:t>
            </a:r>
            <a:r>
              <a:rPr lang="en-US" altLang="zh-CN" sz="2600" dirty="0"/>
              <a:t>at</a:t>
            </a:r>
            <a:r>
              <a:rPr lang="zh-CN" altLang="en-US" sz="2600" dirty="0"/>
              <a:t>调度，要求在</a:t>
            </a:r>
            <a:r>
              <a:rPr lang="en-US" altLang="zh-CN" sz="2600" dirty="0"/>
              <a:t>2024</a:t>
            </a:r>
            <a:r>
              <a:rPr lang="zh-CN" altLang="en-US" sz="2600" dirty="0"/>
              <a:t>年</a:t>
            </a:r>
            <a:r>
              <a:rPr lang="en-US" altLang="zh-CN" sz="2600" dirty="0"/>
              <a:t>12</a:t>
            </a:r>
            <a:r>
              <a:rPr lang="zh-CN" altLang="en-US" sz="2600" dirty="0"/>
              <a:t>月</a:t>
            </a:r>
            <a:r>
              <a:rPr lang="en-US" altLang="zh-CN" sz="2600" dirty="0"/>
              <a:t>31</a:t>
            </a:r>
            <a:r>
              <a:rPr lang="zh-CN" altLang="en-US" sz="2600" dirty="0"/>
              <a:t>日</a:t>
            </a:r>
            <a:r>
              <a:rPr lang="en-US" altLang="zh-CN" sz="2600" dirty="0"/>
              <a:t>23</a:t>
            </a:r>
            <a:r>
              <a:rPr lang="zh-CN" altLang="en-US" sz="2600" dirty="0"/>
              <a:t>时</a:t>
            </a:r>
            <a:r>
              <a:rPr lang="en-US" altLang="zh-CN" sz="2600" dirty="0"/>
              <a:t>59</a:t>
            </a:r>
            <a:r>
              <a:rPr lang="zh-CN" altLang="en-US" sz="2600" dirty="0"/>
              <a:t>分</a:t>
            </a:r>
            <a:r>
              <a:rPr lang="en-US" altLang="zh-CN" sz="2600" dirty="0"/>
              <a:t>59</a:t>
            </a:r>
            <a:r>
              <a:rPr lang="zh-CN" altLang="en-US" sz="2600" dirty="0"/>
              <a:t>秒向登录在系统上的所有用户发送</a:t>
            </a:r>
            <a:r>
              <a:rPr lang="en-US" altLang="zh-CN" sz="2600" dirty="0"/>
              <a:t>Happy New Year</a:t>
            </a:r>
            <a:r>
              <a:rPr lang="zh-CN" altLang="en-US" sz="2600" dirty="0"/>
              <a:t>信息。</a:t>
            </a:r>
            <a:endParaRPr lang="en-US" altLang="zh-CN" sz="2600" dirty="0"/>
          </a:p>
          <a:p>
            <a:pPr marL="0" indent="0">
              <a:buNone/>
            </a:pPr>
            <a:r>
              <a:rPr lang="zh-CN" altLang="en-US" sz="2600" dirty="0"/>
              <a:t>［</a:t>
            </a:r>
            <a:r>
              <a:rPr lang="en-US" altLang="zh-CN" sz="2600" dirty="0"/>
              <a:t>root@ localhost  ~</a:t>
            </a:r>
            <a:r>
              <a:rPr lang="zh-CN" altLang="en-US" sz="2600" dirty="0"/>
              <a:t>］ </a:t>
            </a:r>
            <a:r>
              <a:rPr lang="en-US" altLang="zh-CN" sz="2600" dirty="0"/>
              <a:t>#  </a:t>
            </a:r>
            <a:r>
              <a:rPr lang="en-US" altLang="zh-CN" sz="2600" dirty="0">
                <a:solidFill>
                  <a:srgbClr val="0000CC"/>
                </a:solidFill>
              </a:rPr>
              <a:t>at 23:59 12312024</a:t>
            </a:r>
          </a:p>
          <a:p>
            <a:pPr marL="0" indent="0">
              <a:buNone/>
            </a:pPr>
            <a:r>
              <a:rPr lang="en-US" altLang="zh-CN" sz="2600" dirty="0"/>
              <a:t>  at&gt; wall  Happy New Year!</a:t>
            </a:r>
          </a:p>
          <a:p>
            <a:pPr marL="0" indent="0">
              <a:buNone/>
            </a:pPr>
            <a:r>
              <a:rPr lang="en-US" altLang="zh-CN" sz="2600" dirty="0"/>
              <a:t>  at&gt; &lt;</a:t>
            </a:r>
            <a:r>
              <a:rPr lang="en-US" altLang="zh-CN" sz="2600" dirty="0" err="1"/>
              <a:t>EOT</a:t>
            </a:r>
            <a:r>
              <a:rPr lang="en-US" altLang="zh-CN" sz="2600" dirty="0"/>
              <a:t>&gt;</a:t>
            </a:r>
          </a:p>
          <a:p>
            <a:pPr marL="0" indent="0">
              <a:buNone/>
            </a:pPr>
            <a:r>
              <a:rPr lang="en-US" altLang="zh-CN" sz="2600" dirty="0"/>
              <a:t>  job 1 at  Sun  Dec  31  23:59:00  2024</a:t>
            </a:r>
          </a:p>
          <a:p>
            <a:r>
              <a:rPr lang="zh-CN" altLang="en-US" sz="2600" dirty="0"/>
              <a:t>输入</a:t>
            </a:r>
            <a:r>
              <a:rPr lang="en-US" altLang="zh-CN" sz="2600" dirty="0"/>
              <a:t>at</a:t>
            </a:r>
            <a:r>
              <a:rPr lang="zh-CN" altLang="en-US" sz="2600" dirty="0"/>
              <a:t>命令后出现“</a:t>
            </a:r>
            <a:r>
              <a:rPr lang="en-US" altLang="zh-CN" sz="2600" dirty="0"/>
              <a:t>at&gt;”</a:t>
            </a:r>
            <a:r>
              <a:rPr lang="zh-CN" altLang="en-US" sz="2600" dirty="0"/>
              <a:t>提示符，等待用户输入将执行的命令。输入完成后按“</a:t>
            </a:r>
            <a:r>
              <a:rPr lang="en-US" altLang="zh-CN" sz="2600" dirty="0" err="1">
                <a:solidFill>
                  <a:srgbClr val="0000CC"/>
                </a:solidFill>
              </a:rPr>
              <a:t>Ctrl+D</a:t>
            </a:r>
            <a:r>
              <a:rPr lang="en-US" altLang="zh-CN" sz="2600" dirty="0"/>
              <a:t>”</a:t>
            </a:r>
            <a:r>
              <a:rPr lang="zh-CN" altLang="en-US" sz="2600" dirty="0"/>
              <a:t>组合键结束，屏幕将显示该</a:t>
            </a:r>
            <a:r>
              <a:rPr lang="en-US" altLang="zh-CN" sz="2600" dirty="0"/>
              <a:t>at</a:t>
            </a:r>
            <a:r>
              <a:rPr lang="zh-CN" altLang="en-US" sz="2600" dirty="0"/>
              <a:t>调度的执行时间。</a:t>
            </a:r>
            <a:endParaRPr lang="en-US" altLang="zh-CN" sz="2600" dirty="0"/>
          </a:p>
          <a:p>
            <a:pPr marL="0" indent="0">
              <a:buNone/>
            </a:pPr>
            <a:r>
              <a:rPr lang="zh-CN" altLang="en-US" sz="2400" dirty="0"/>
              <a:t> </a:t>
            </a:r>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32</a:t>
            </a:fld>
            <a:endParaRPr lang="en-US" altLang="zh-CN"/>
          </a:p>
        </p:txBody>
      </p:sp>
    </p:spTree>
    <p:extLst>
      <p:ext uri="{BB962C8B-B14F-4D97-AF65-F5344CB8AC3E}">
        <p14:creationId xmlns:p14="http://schemas.microsoft.com/office/powerpoint/2010/main" val="2143655043"/>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a:t>
            </a:r>
            <a:r>
              <a:rPr lang="zh-CN" altLang="en-US" dirty="0"/>
              <a:t>调度 </a:t>
            </a:r>
          </a:p>
        </p:txBody>
      </p:sp>
      <p:sp>
        <p:nvSpPr>
          <p:cNvPr id="3" name="内容占位符 2"/>
          <p:cNvSpPr>
            <a:spLocks noGrp="1"/>
          </p:cNvSpPr>
          <p:nvPr>
            <p:ph idx="1"/>
          </p:nvPr>
        </p:nvSpPr>
        <p:spPr>
          <a:xfrm>
            <a:off x="1199456" y="1340768"/>
            <a:ext cx="10058400" cy="4411662"/>
          </a:xfrm>
        </p:spPr>
        <p:txBody>
          <a:bodyPr/>
          <a:lstStyle/>
          <a:p>
            <a:pPr marL="0" indent="0">
              <a:lnSpc>
                <a:spcPct val="150000"/>
              </a:lnSpc>
              <a:buNone/>
            </a:pPr>
            <a:r>
              <a:rPr lang="zh-CN" altLang="en-US" sz="2600" dirty="0">
                <a:solidFill>
                  <a:srgbClr val="0000CC"/>
                </a:solidFill>
              </a:rPr>
              <a:t>例如</a:t>
            </a:r>
            <a:r>
              <a:rPr lang="zh-CN" altLang="en-US" sz="2600" dirty="0"/>
              <a:t>：查看</a:t>
            </a:r>
            <a:r>
              <a:rPr lang="en-US" altLang="zh-CN" sz="2600" dirty="0"/>
              <a:t>at</a:t>
            </a:r>
            <a:r>
              <a:rPr lang="zh-CN" altLang="en-US" sz="2600" dirty="0"/>
              <a:t>调度。</a:t>
            </a:r>
            <a:endParaRPr lang="en-US" altLang="zh-CN" sz="2600" dirty="0"/>
          </a:p>
          <a:p>
            <a:pPr marL="0" indent="0">
              <a:lnSpc>
                <a:spcPct val="150000"/>
              </a:lnSpc>
              <a:buNone/>
            </a:pPr>
            <a:r>
              <a:rPr lang="zh-CN" altLang="en-US" sz="2600" dirty="0"/>
              <a:t>［</a:t>
            </a:r>
            <a:r>
              <a:rPr lang="en-US" altLang="zh-CN" sz="2600" dirty="0"/>
              <a:t>root@ localhost  ~</a:t>
            </a:r>
            <a:r>
              <a:rPr lang="zh-CN" altLang="en-US" sz="2600" dirty="0"/>
              <a:t>］ </a:t>
            </a:r>
            <a:r>
              <a:rPr lang="en-US" altLang="zh-CN" sz="2600" dirty="0"/>
              <a:t># </a:t>
            </a:r>
            <a:r>
              <a:rPr lang="en-US" altLang="zh-CN" sz="2600" dirty="0">
                <a:solidFill>
                  <a:srgbClr val="0000CC"/>
                </a:solidFill>
              </a:rPr>
              <a:t>at  -l</a:t>
            </a:r>
          </a:p>
          <a:p>
            <a:pPr marL="0" indent="0">
              <a:lnSpc>
                <a:spcPct val="150000"/>
              </a:lnSpc>
              <a:buNone/>
            </a:pPr>
            <a:r>
              <a:rPr lang="en-US" altLang="zh-CN" sz="2600" dirty="0"/>
              <a:t>   1  	Sun  Dec  31  23:59:00   2024  a  root</a:t>
            </a:r>
          </a:p>
          <a:p>
            <a:pPr marL="0" indent="0">
              <a:buNone/>
            </a:pPr>
            <a:r>
              <a:rPr lang="zh-CN" altLang="en-US" sz="2600" dirty="0">
                <a:solidFill>
                  <a:srgbClr val="0000CC"/>
                </a:solidFill>
              </a:rPr>
              <a:t>例如</a:t>
            </a:r>
            <a:r>
              <a:rPr lang="zh-CN" altLang="en-US" sz="2600" dirty="0"/>
              <a:t>：删除</a:t>
            </a:r>
            <a:r>
              <a:rPr lang="en-US" altLang="zh-CN" sz="2600" dirty="0"/>
              <a:t>at</a:t>
            </a:r>
            <a:r>
              <a:rPr lang="zh-CN" altLang="en-US" sz="2600" dirty="0"/>
              <a:t>调度。</a:t>
            </a:r>
            <a:endParaRPr lang="en-US" altLang="zh-CN" sz="2600" dirty="0"/>
          </a:p>
          <a:p>
            <a:pPr marL="0" indent="0">
              <a:buNone/>
            </a:pPr>
            <a:r>
              <a:rPr lang="zh-CN" altLang="en-US" sz="2600" dirty="0"/>
              <a:t>［</a:t>
            </a:r>
            <a:r>
              <a:rPr lang="en-US" altLang="zh-CN" sz="2600" dirty="0"/>
              <a:t>root@ localhost  ~</a:t>
            </a:r>
            <a:r>
              <a:rPr lang="zh-CN" altLang="en-US" sz="2600" dirty="0"/>
              <a:t>］ </a:t>
            </a:r>
            <a:r>
              <a:rPr lang="en-US" altLang="zh-CN" sz="2600" dirty="0"/>
              <a:t>#   </a:t>
            </a:r>
            <a:r>
              <a:rPr lang="en-US" altLang="zh-CN" sz="2600" dirty="0">
                <a:solidFill>
                  <a:srgbClr val="0000CC"/>
                </a:solidFill>
              </a:rPr>
              <a:t>at  -d  1</a:t>
            </a:r>
          </a:p>
          <a:p>
            <a:pPr marL="0" indent="0">
              <a:buNone/>
            </a:pPr>
            <a:r>
              <a:rPr lang="zh-CN" altLang="en-US" sz="2600" dirty="0"/>
              <a:t>［</a:t>
            </a:r>
            <a:r>
              <a:rPr lang="en-US" altLang="zh-CN" sz="2600" dirty="0"/>
              <a:t>root@ localhost  ~</a:t>
            </a:r>
            <a:r>
              <a:rPr lang="zh-CN" altLang="en-US" sz="2600" dirty="0"/>
              <a:t>］ </a:t>
            </a:r>
            <a:r>
              <a:rPr lang="en-US" altLang="zh-CN" sz="2600" dirty="0"/>
              <a:t>#   at  -l</a:t>
            </a:r>
          </a:p>
          <a:p>
            <a:pPr marL="0" indent="0">
              <a:buNone/>
            </a:pPr>
            <a:r>
              <a:rPr lang="zh-CN" altLang="en-US" sz="2600" dirty="0"/>
              <a:t>［</a:t>
            </a:r>
            <a:r>
              <a:rPr lang="en-US" altLang="zh-CN" sz="2600" dirty="0"/>
              <a:t>root@ localhost  ~</a:t>
            </a:r>
            <a:r>
              <a:rPr lang="zh-CN" altLang="en-US" sz="2600" dirty="0"/>
              <a:t>］ </a:t>
            </a:r>
            <a:r>
              <a:rPr lang="en-US" altLang="zh-CN" sz="2600" dirty="0"/>
              <a:t># </a:t>
            </a:r>
          </a:p>
          <a:p>
            <a:pPr marL="0" indent="0">
              <a:buNone/>
            </a:pPr>
            <a:endParaRPr lang="en-US" altLang="zh-CN" sz="2600" dirty="0"/>
          </a:p>
          <a:p>
            <a:pPr marL="0" indent="0">
              <a:buNone/>
            </a:pPr>
            <a:endParaRPr lang="en-US" altLang="zh-CN" sz="2600" dirty="0"/>
          </a:p>
          <a:p>
            <a:pPr marL="0" indent="0">
              <a:buNone/>
            </a:pPr>
            <a:endParaRPr lang="zh-CN" altLang="en-US" sz="2600" dirty="0"/>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33</a:t>
            </a:fld>
            <a:endParaRPr lang="en-US" altLang="zh-CN"/>
          </a:p>
        </p:txBody>
      </p:sp>
    </p:spTree>
    <p:extLst>
      <p:ext uri="{BB962C8B-B14F-4D97-AF65-F5344CB8AC3E}">
        <p14:creationId xmlns:p14="http://schemas.microsoft.com/office/powerpoint/2010/main" val="2764802227"/>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1055440" y="1402135"/>
            <a:ext cx="10225136" cy="4619153"/>
          </a:xfrm>
        </p:spPr>
        <p:txBody>
          <a:bodyPr/>
          <a:lstStyle/>
          <a:p>
            <a:pPr algn="just">
              <a:lnSpc>
                <a:spcPct val="120000"/>
              </a:lnSpc>
              <a:buFontTx/>
              <a:buNone/>
            </a:pPr>
            <a:r>
              <a:rPr lang="en-US" altLang="zh-CN" sz="2600" dirty="0">
                <a:solidFill>
                  <a:srgbClr val="CC0099"/>
                </a:solidFill>
                <a:latin typeface="+mn-ea"/>
              </a:rPr>
              <a:t>batch</a:t>
            </a:r>
            <a:r>
              <a:rPr lang="zh-CN" altLang="en-US" sz="2600" dirty="0">
                <a:solidFill>
                  <a:srgbClr val="CC0099"/>
                </a:solidFill>
                <a:latin typeface="+mn-ea"/>
              </a:rPr>
              <a:t>调度 </a:t>
            </a:r>
          </a:p>
          <a:p>
            <a:pPr algn="just">
              <a:lnSpc>
                <a:spcPct val="120000"/>
              </a:lnSpc>
              <a:buFontTx/>
              <a:buNone/>
            </a:pPr>
            <a:r>
              <a:rPr lang="zh-CN" altLang="en-US" sz="2600" dirty="0">
                <a:solidFill>
                  <a:srgbClr val="0000CC"/>
                </a:solidFill>
              </a:rPr>
              <a:t>格式：</a:t>
            </a:r>
            <a:r>
              <a:rPr lang="en-US" altLang="zh-CN" sz="2600" dirty="0">
                <a:solidFill>
                  <a:srgbClr val="0000CC"/>
                </a:solidFill>
              </a:rPr>
              <a:t>batch  [</a:t>
            </a:r>
            <a:r>
              <a:rPr lang="zh-CN" altLang="en-US" sz="2600" dirty="0">
                <a:solidFill>
                  <a:srgbClr val="0000CC"/>
                </a:solidFill>
              </a:rPr>
              <a:t>选项</a:t>
            </a:r>
            <a:r>
              <a:rPr lang="en-US" altLang="zh-CN" sz="2600" dirty="0">
                <a:solidFill>
                  <a:srgbClr val="0000CC"/>
                </a:solidFill>
              </a:rPr>
              <a:t>]  [</a:t>
            </a:r>
            <a:r>
              <a:rPr lang="zh-CN" altLang="en-US" sz="2600" dirty="0">
                <a:solidFill>
                  <a:srgbClr val="0000CC"/>
                </a:solidFill>
              </a:rPr>
              <a:t>时间</a:t>
            </a:r>
            <a:r>
              <a:rPr lang="en-US" altLang="zh-CN" sz="2600" dirty="0">
                <a:solidFill>
                  <a:srgbClr val="0000CC"/>
                </a:solidFill>
              </a:rPr>
              <a:t>]</a:t>
            </a:r>
          </a:p>
          <a:p>
            <a:pPr algn="just">
              <a:lnSpc>
                <a:spcPct val="120000"/>
              </a:lnSpc>
              <a:buFontTx/>
              <a:buNone/>
            </a:pPr>
            <a:r>
              <a:rPr lang="zh-CN" altLang="en-US" sz="2600" dirty="0">
                <a:solidFill>
                  <a:srgbClr val="000000"/>
                </a:solidFill>
              </a:rPr>
              <a:t>功能：与</a:t>
            </a:r>
            <a:r>
              <a:rPr lang="en-US" altLang="zh-CN" sz="2600" dirty="0">
                <a:solidFill>
                  <a:srgbClr val="000000"/>
                </a:solidFill>
              </a:rPr>
              <a:t>at</a:t>
            </a:r>
            <a:r>
              <a:rPr lang="zh-CN" altLang="en-US" sz="2600" dirty="0">
                <a:solidFill>
                  <a:srgbClr val="000000"/>
                </a:solidFill>
              </a:rPr>
              <a:t>命令几乎一样，唯一的</a:t>
            </a:r>
            <a:r>
              <a:rPr lang="zh-CN" altLang="en-US" sz="2600" dirty="0">
                <a:solidFill>
                  <a:srgbClr val="0000CC"/>
                </a:solidFill>
              </a:rPr>
              <a:t>区别是</a:t>
            </a:r>
            <a:r>
              <a:rPr lang="en-US" altLang="zh-CN" sz="2600" dirty="0">
                <a:solidFill>
                  <a:srgbClr val="0000CC"/>
                </a:solidFill>
              </a:rPr>
              <a:t>at</a:t>
            </a:r>
            <a:r>
              <a:rPr lang="zh-CN" altLang="en-US" sz="2600" dirty="0">
                <a:solidFill>
                  <a:srgbClr val="0000CC"/>
                </a:solidFill>
              </a:rPr>
              <a:t>命令是在指定时间内很精确地执行指定命令，而</a:t>
            </a:r>
            <a:r>
              <a:rPr lang="en-US" altLang="zh-CN" sz="2600" dirty="0">
                <a:solidFill>
                  <a:srgbClr val="0000CC"/>
                </a:solidFill>
              </a:rPr>
              <a:t>batch</a:t>
            </a:r>
            <a:r>
              <a:rPr lang="zh-CN" altLang="en-US" sz="2600" dirty="0">
                <a:solidFill>
                  <a:srgbClr val="0000CC"/>
                </a:solidFill>
              </a:rPr>
              <a:t>命令，如果不指定运行时间，进程将在系统较空闲时运行。</a:t>
            </a:r>
            <a:endParaRPr lang="en-US" altLang="zh-CN" sz="2600" dirty="0">
              <a:solidFill>
                <a:srgbClr val="0000CC"/>
              </a:solidFill>
            </a:endParaRPr>
          </a:p>
          <a:p>
            <a:pPr algn="just">
              <a:lnSpc>
                <a:spcPct val="120000"/>
              </a:lnSpc>
            </a:pPr>
            <a:r>
              <a:rPr lang="en-US" altLang="zh-CN" sz="2600" dirty="0">
                <a:solidFill>
                  <a:srgbClr val="000000"/>
                </a:solidFill>
              </a:rPr>
              <a:t>batch</a:t>
            </a:r>
            <a:r>
              <a:rPr lang="zh-CN" altLang="en-US" sz="2600" dirty="0">
                <a:solidFill>
                  <a:srgbClr val="000000"/>
                </a:solidFill>
              </a:rPr>
              <a:t>调度适合于时间上要求不高，但运行时占用系统资源较多的工作。</a:t>
            </a:r>
            <a:r>
              <a:rPr lang="en-US" altLang="zh-CN" sz="2600" dirty="0">
                <a:solidFill>
                  <a:srgbClr val="000000"/>
                </a:solidFill>
              </a:rPr>
              <a:t>batch</a:t>
            </a:r>
            <a:r>
              <a:rPr lang="zh-CN" altLang="en-US" sz="2600" dirty="0">
                <a:solidFill>
                  <a:srgbClr val="000000"/>
                </a:solidFill>
              </a:rPr>
              <a:t>命令的选项与</a:t>
            </a:r>
            <a:r>
              <a:rPr lang="en-US" altLang="zh-CN" sz="2600" dirty="0">
                <a:solidFill>
                  <a:srgbClr val="000000"/>
                </a:solidFill>
              </a:rPr>
              <a:t>at</a:t>
            </a:r>
            <a:r>
              <a:rPr lang="zh-CN" altLang="en-US" sz="2600" dirty="0">
                <a:solidFill>
                  <a:srgbClr val="000000"/>
                </a:solidFill>
              </a:rPr>
              <a:t>命令相同。通常不为</a:t>
            </a:r>
            <a:r>
              <a:rPr lang="en-US" altLang="zh-CN" sz="2600" dirty="0">
                <a:solidFill>
                  <a:srgbClr val="000000"/>
                </a:solidFill>
              </a:rPr>
              <a:t>batch</a:t>
            </a:r>
            <a:r>
              <a:rPr lang="zh-CN" altLang="en-US" sz="2600" dirty="0">
                <a:solidFill>
                  <a:srgbClr val="000000"/>
                </a:solidFill>
              </a:rPr>
              <a:t>命令指定时间参数，因为</a:t>
            </a:r>
            <a:r>
              <a:rPr lang="en-US" altLang="zh-CN" sz="2600" dirty="0">
                <a:solidFill>
                  <a:srgbClr val="000000"/>
                </a:solidFill>
              </a:rPr>
              <a:t>batch</a:t>
            </a:r>
            <a:r>
              <a:rPr lang="zh-CN" altLang="en-US" sz="2600" dirty="0">
                <a:solidFill>
                  <a:srgbClr val="000000"/>
                </a:solidFill>
              </a:rPr>
              <a:t>命令的特点就是由系统决定执行任务的时间。</a:t>
            </a:r>
            <a:endParaRPr lang="en-US" altLang="zh-CN" sz="2600" dirty="0"/>
          </a:p>
        </p:txBody>
      </p:sp>
      <p:sp>
        <p:nvSpPr>
          <p:cNvPr id="5" name="Rectangle 2"/>
          <p:cNvSpPr txBox="1">
            <a:spLocks noChangeArrowheads="1"/>
          </p:cNvSpPr>
          <p:nvPr/>
        </p:nvSpPr>
        <p:spPr bwMode="auto">
          <a:xfrm>
            <a:off x="1775520" y="523528"/>
            <a:ext cx="9145016"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a:lstStyle>
          <a:p>
            <a:r>
              <a:rPr lang="en-US" altLang="zh-CN" kern="0" dirty="0"/>
              <a:t>batch</a:t>
            </a:r>
            <a:r>
              <a:rPr lang="zh-CN" altLang="en-US" kern="0" dirty="0"/>
              <a:t>调度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34</a:t>
            </a:fld>
            <a:endParaRPr lang="en-US" altLang="zh-CN"/>
          </a:p>
        </p:txBody>
      </p:sp>
    </p:spTree>
    <p:extLst>
      <p:ext uri="{BB962C8B-B14F-4D97-AF65-F5344CB8AC3E}">
        <p14:creationId xmlns:p14="http://schemas.microsoft.com/office/powerpoint/2010/main" val="31063832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416" y="548680"/>
            <a:ext cx="10225136" cy="858837"/>
          </a:xfrm>
        </p:spPr>
        <p:txBody>
          <a:bodyPr/>
          <a:lstStyle/>
          <a:p>
            <a:r>
              <a:rPr lang="en-US" altLang="zh-CN" dirty="0"/>
              <a:t>batch</a:t>
            </a:r>
            <a:r>
              <a:rPr lang="zh-CN" altLang="en-US" dirty="0"/>
              <a:t>调度 </a:t>
            </a:r>
          </a:p>
        </p:txBody>
      </p:sp>
      <p:sp>
        <p:nvSpPr>
          <p:cNvPr id="3" name="内容占位符 2"/>
          <p:cNvSpPr>
            <a:spLocks noGrp="1"/>
          </p:cNvSpPr>
          <p:nvPr>
            <p:ph idx="1"/>
          </p:nvPr>
        </p:nvSpPr>
        <p:spPr>
          <a:xfrm>
            <a:off x="1127448" y="1628800"/>
            <a:ext cx="10058400" cy="4411662"/>
          </a:xfrm>
        </p:spPr>
        <p:txBody>
          <a:bodyPr/>
          <a:lstStyle/>
          <a:p>
            <a:pPr marL="0" indent="0">
              <a:buNone/>
            </a:pPr>
            <a:r>
              <a:rPr lang="zh-CN" altLang="en-US" sz="2600" dirty="0"/>
              <a:t>例如：使用</a:t>
            </a:r>
            <a:r>
              <a:rPr lang="en-US" altLang="zh-CN" sz="2600" dirty="0"/>
              <a:t>batch</a:t>
            </a:r>
            <a:r>
              <a:rPr lang="zh-CN" altLang="en-US" sz="2600" dirty="0"/>
              <a:t>命令执行根目录下查询文本文件的功能。</a:t>
            </a:r>
            <a:endParaRPr lang="en-US" altLang="zh-CN" sz="2600" dirty="0"/>
          </a:p>
          <a:p>
            <a:pPr marL="0" indent="0">
              <a:buNone/>
            </a:pPr>
            <a:r>
              <a:rPr lang="zh-CN" altLang="en-US" sz="2600" dirty="0"/>
              <a:t>［</a:t>
            </a:r>
            <a:r>
              <a:rPr lang="en-US" altLang="zh-CN" sz="2600" dirty="0"/>
              <a:t>root@ localhost  ~</a:t>
            </a:r>
            <a:r>
              <a:rPr lang="zh-CN" altLang="en-US" sz="2600" dirty="0"/>
              <a:t>］ </a:t>
            </a:r>
            <a:r>
              <a:rPr lang="en-US" altLang="zh-CN" sz="2600" dirty="0"/>
              <a:t>#  batch</a:t>
            </a:r>
          </a:p>
          <a:p>
            <a:pPr marL="0" indent="0">
              <a:buNone/>
            </a:pPr>
            <a:r>
              <a:rPr lang="en-US" altLang="zh-CN" sz="2600" dirty="0"/>
              <a:t>   at&gt; find  /  -name  *.txt</a:t>
            </a:r>
          </a:p>
          <a:p>
            <a:pPr marL="0" indent="0">
              <a:buNone/>
            </a:pPr>
            <a:r>
              <a:rPr lang="en-US" altLang="zh-CN" sz="2600" dirty="0"/>
              <a:t>   at&gt; &lt;</a:t>
            </a:r>
            <a:r>
              <a:rPr lang="en-US" altLang="zh-CN" sz="2600" dirty="0" err="1"/>
              <a:t>EOT</a:t>
            </a:r>
            <a:r>
              <a:rPr lang="en-US" altLang="zh-CN" sz="2600" dirty="0"/>
              <a:t>&gt;</a:t>
            </a:r>
          </a:p>
          <a:p>
            <a:pPr marL="0" indent="0">
              <a:buNone/>
            </a:pPr>
            <a:r>
              <a:rPr lang="en-US" altLang="zh-CN" sz="2600" dirty="0"/>
              <a:t>   job 2 at  Sat   Apr   6    13:08:00  2024</a:t>
            </a:r>
            <a:endParaRPr lang="zh-CN" altLang="en-US" sz="2600" dirty="0"/>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35</a:t>
            </a:fld>
            <a:endParaRPr lang="en-US" altLang="zh-CN"/>
          </a:p>
        </p:txBody>
      </p:sp>
    </p:spTree>
    <p:extLst>
      <p:ext uri="{BB962C8B-B14F-4D97-AF65-F5344CB8AC3E}">
        <p14:creationId xmlns:p14="http://schemas.microsoft.com/office/powerpoint/2010/main" val="1161099072"/>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947428" y="1467254"/>
            <a:ext cx="10297144" cy="4896544"/>
          </a:xfrm>
        </p:spPr>
        <p:txBody>
          <a:bodyPr/>
          <a:lstStyle/>
          <a:p>
            <a:pPr algn="just">
              <a:buFontTx/>
              <a:buNone/>
            </a:pPr>
            <a:r>
              <a:rPr lang="en-US" altLang="zh-CN" sz="2600" dirty="0">
                <a:solidFill>
                  <a:srgbClr val="CC0099"/>
                </a:solidFill>
                <a:latin typeface="+mj-ea"/>
                <a:ea typeface="+mj-ea"/>
              </a:rPr>
              <a:t>cron</a:t>
            </a:r>
            <a:r>
              <a:rPr lang="zh-CN" altLang="en-US" sz="2600" dirty="0">
                <a:solidFill>
                  <a:srgbClr val="CC0099"/>
                </a:solidFill>
                <a:latin typeface="+mj-ea"/>
                <a:ea typeface="+mj-ea"/>
              </a:rPr>
              <a:t>调度</a:t>
            </a:r>
          </a:p>
          <a:p>
            <a:pPr algn="just"/>
            <a:r>
              <a:rPr lang="en-US" altLang="zh-CN" sz="2600" dirty="0"/>
              <a:t>at</a:t>
            </a:r>
            <a:r>
              <a:rPr lang="zh-CN" altLang="en-US" sz="2600" dirty="0"/>
              <a:t>调度和</a:t>
            </a:r>
            <a:r>
              <a:rPr lang="en-US" altLang="zh-CN" sz="2600" dirty="0"/>
              <a:t>batch</a:t>
            </a:r>
            <a:r>
              <a:rPr lang="zh-CN" altLang="en-US" sz="2600" dirty="0"/>
              <a:t>调度中指定的命令只能执行一次。但在实际的系统管理中有些命令需要在指定的日期和时间</a:t>
            </a:r>
            <a:r>
              <a:rPr lang="zh-CN" altLang="en-US" sz="2600" dirty="0">
                <a:solidFill>
                  <a:srgbClr val="0000CC"/>
                </a:solidFill>
              </a:rPr>
              <a:t>重复执行</a:t>
            </a:r>
            <a:r>
              <a:rPr lang="zh-CN" altLang="en-US" sz="2600" dirty="0"/>
              <a:t>，例如每天例行要做的数据备份。</a:t>
            </a:r>
            <a:r>
              <a:rPr lang="en-US" altLang="zh-CN" sz="2600" dirty="0">
                <a:solidFill>
                  <a:srgbClr val="CC0099"/>
                </a:solidFill>
              </a:rPr>
              <a:t>cron</a:t>
            </a:r>
            <a:r>
              <a:rPr lang="zh-CN" altLang="en-US" sz="2600" dirty="0">
                <a:solidFill>
                  <a:srgbClr val="CC0099"/>
                </a:solidFill>
              </a:rPr>
              <a:t>调度</a:t>
            </a:r>
            <a:r>
              <a:rPr lang="zh-CN" altLang="en-US" sz="2600" dirty="0">
                <a:solidFill>
                  <a:srgbClr val="000000"/>
                </a:solidFill>
              </a:rPr>
              <a:t>可以满足这种需求</a:t>
            </a:r>
            <a:endParaRPr lang="en-US" altLang="zh-CN" sz="2600" dirty="0"/>
          </a:p>
          <a:p>
            <a:pPr algn="just"/>
            <a:r>
              <a:rPr lang="en-US" altLang="zh-CN" sz="2600" dirty="0">
                <a:solidFill>
                  <a:srgbClr val="000000"/>
                </a:solidFill>
              </a:rPr>
              <a:t>cron</a:t>
            </a:r>
            <a:r>
              <a:rPr lang="zh-CN" altLang="en-US" sz="2600" dirty="0">
                <a:solidFill>
                  <a:srgbClr val="000000"/>
                </a:solidFill>
              </a:rPr>
              <a:t>命令运行时会搜索“</a:t>
            </a:r>
            <a:r>
              <a:rPr lang="en-US" altLang="zh-CN" sz="2600" dirty="0">
                <a:solidFill>
                  <a:srgbClr val="000000"/>
                </a:solidFill>
              </a:rPr>
              <a:t>/var/spool/cron</a:t>
            </a:r>
            <a:r>
              <a:rPr lang="zh-CN" altLang="en-US" sz="2600" dirty="0">
                <a:solidFill>
                  <a:srgbClr val="000000"/>
                </a:solidFill>
              </a:rPr>
              <a:t>”目录，寻找以</a:t>
            </a:r>
            <a:r>
              <a:rPr lang="zh-CN" altLang="en-US" sz="2600" dirty="0">
                <a:solidFill>
                  <a:srgbClr val="0000CC"/>
                </a:solidFill>
              </a:rPr>
              <a:t>用户名命名</a:t>
            </a:r>
            <a:r>
              <a:rPr lang="zh-CN" altLang="en-US" sz="2600" dirty="0">
                <a:solidFill>
                  <a:srgbClr val="000000"/>
                </a:solidFill>
              </a:rPr>
              <a:t>的</a:t>
            </a:r>
            <a:r>
              <a:rPr lang="en-US" altLang="zh-CN" sz="2600" dirty="0" err="1">
                <a:solidFill>
                  <a:srgbClr val="000000"/>
                </a:solidFill>
              </a:rPr>
              <a:t>crontab</a:t>
            </a:r>
            <a:r>
              <a:rPr lang="zh-CN" altLang="en-US" sz="2600" dirty="0">
                <a:solidFill>
                  <a:srgbClr val="000000"/>
                </a:solidFill>
              </a:rPr>
              <a:t>文件，检查是否有用户设置了</a:t>
            </a:r>
            <a:r>
              <a:rPr lang="en-US" altLang="zh-CN" sz="2600" dirty="0">
                <a:solidFill>
                  <a:srgbClr val="000000"/>
                </a:solidFill>
              </a:rPr>
              <a:t>crontab</a:t>
            </a:r>
            <a:r>
              <a:rPr lang="zh-CN" altLang="en-US" sz="2600" dirty="0">
                <a:solidFill>
                  <a:srgbClr val="000000"/>
                </a:solidFill>
              </a:rPr>
              <a:t>文件，找到就载入内存。如果没找到，就转入“休眠”状态，释放系统资源，因此，该后台进程占用资源极少。它每分钟“醒”来一次，查看当前是否有需要运行的命令。</a:t>
            </a:r>
            <a:endParaRPr lang="en-US" altLang="zh-CN" sz="2600" dirty="0">
              <a:solidFill>
                <a:srgbClr val="000000"/>
              </a:solidFill>
            </a:endParaRPr>
          </a:p>
          <a:p>
            <a:pPr algn="just">
              <a:lnSpc>
                <a:spcPct val="120000"/>
              </a:lnSpc>
            </a:pPr>
            <a:endParaRPr lang="en-US" altLang="zh-CN" sz="2600" dirty="0">
              <a:solidFill>
                <a:srgbClr val="000000"/>
              </a:solidFill>
            </a:endParaRPr>
          </a:p>
          <a:p>
            <a:pPr marL="0" indent="0" algn="just">
              <a:lnSpc>
                <a:spcPct val="120000"/>
              </a:lnSpc>
              <a:buNone/>
            </a:pPr>
            <a:endParaRPr lang="en-US" altLang="zh-CN" sz="2600" dirty="0">
              <a:solidFill>
                <a:srgbClr val="000000"/>
              </a:solidFill>
            </a:endParaRPr>
          </a:p>
        </p:txBody>
      </p:sp>
      <p:sp>
        <p:nvSpPr>
          <p:cNvPr id="5" name="Rectangle 2"/>
          <p:cNvSpPr txBox="1">
            <a:spLocks noChangeArrowheads="1"/>
          </p:cNvSpPr>
          <p:nvPr/>
        </p:nvSpPr>
        <p:spPr bwMode="auto">
          <a:xfrm>
            <a:off x="2207568" y="494202"/>
            <a:ext cx="8568952"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a:lstStyle>
          <a:p>
            <a:r>
              <a:rPr lang="en-US" altLang="zh-CN" kern="0" dirty="0"/>
              <a:t>cron</a:t>
            </a:r>
            <a:r>
              <a:rPr lang="zh-CN" altLang="en-US" kern="0" dirty="0"/>
              <a:t>调度</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36</a:t>
            </a:fld>
            <a:endParaRPr lang="en-US" altLang="zh-CN" dirty="0"/>
          </a:p>
        </p:txBody>
      </p:sp>
    </p:spTree>
    <p:extLst>
      <p:ext uri="{BB962C8B-B14F-4D97-AF65-F5344CB8AC3E}">
        <p14:creationId xmlns:p14="http://schemas.microsoft.com/office/powerpoint/2010/main" val="11456239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cron</a:t>
            </a:r>
            <a:r>
              <a:rPr lang="zh-CN" altLang="en-US" dirty="0"/>
              <a:t>调度</a:t>
            </a:r>
          </a:p>
        </p:txBody>
      </p:sp>
      <p:sp>
        <p:nvSpPr>
          <p:cNvPr id="3" name="内容占位符 2"/>
          <p:cNvSpPr>
            <a:spLocks noGrp="1"/>
          </p:cNvSpPr>
          <p:nvPr>
            <p:ph idx="1"/>
          </p:nvPr>
        </p:nvSpPr>
        <p:spPr>
          <a:xfrm>
            <a:off x="1435043" y="1340768"/>
            <a:ext cx="9937104" cy="4680520"/>
          </a:xfrm>
        </p:spPr>
        <p:txBody>
          <a:bodyPr/>
          <a:lstStyle/>
          <a:p>
            <a:pPr marL="0" indent="0">
              <a:lnSpc>
                <a:spcPct val="90000"/>
              </a:lnSpc>
              <a:buNone/>
            </a:pPr>
            <a:r>
              <a:rPr lang="zh-CN" altLang="en-US" sz="2600" dirty="0">
                <a:solidFill>
                  <a:srgbClr val="0000CC"/>
                </a:solidFill>
              </a:rPr>
              <a:t>格式：</a:t>
            </a:r>
            <a:r>
              <a:rPr lang="en-US" altLang="zh-CN" sz="2600" dirty="0" err="1">
                <a:solidFill>
                  <a:srgbClr val="0000CC"/>
                </a:solidFill>
              </a:rPr>
              <a:t>crontab</a:t>
            </a:r>
            <a:r>
              <a:rPr lang="en-US" altLang="zh-CN" sz="2600" dirty="0">
                <a:solidFill>
                  <a:srgbClr val="0000CC"/>
                </a:solidFill>
              </a:rPr>
              <a:t>  [</a:t>
            </a:r>
            <a:r>
              <a:rPr lang="zh-CN" altLang="en-US" sz="2600" dirty="0">
                <a:solidFill>
                  <a:srgbClr val="0000CC"/>
                </a:solidFill>
              </a:rPr>
              <a:t>选项</a:t>
            </a:r>
            <a:r>
              <a:rPr lang="en-US" altLang="zh-CN" sz="2600" dirty="0">
                <a:solidFill>
                  <a:srgbClr val="0000CC"/>
                </a:solidFill>
              </a:rPr>
              <a:t>]</a:t>
            </a:r>
          </a:p>
          <a:p>
            <a:pPr marL="0" indent="0">
              <a:lnSpc>
                <a:spcPct val="90000"/>
              </a:lnSpc>
              <a:buNone/>
            </a:pPr>
            <a:r>
              <a:rPr lang="zh-CN" altLang="en-US" sz="2600" dirty="0"/>
              <a:t>功能：提交和管理用户的需要周期性执行的任务。</a:t>
            </a:r>
            <a:endParaRPr lang="en-US" altLang="zh-CN" sz="2600" dirty="0"/>
          </a:p>
          <a:p>
            <a:pPr marL="0" indent="0">
              <a:lnSpc>
                <a:spcPct val="90000"/>
              </a:lnSpc>
              <a:buNone/>
            </a:pPr>
            <a:r>
              <a:rPr lang="zh-CN" altLang="en-US" sz="2600" dirty="0"/>
              <a:t>主要选项说明：</a:t>
            </a:r>
            <a:endParaRPr lang="en-US" altLang="zh-CN" sz="2600" dirty="0"/>
          </a:p>
          <a:p>
            <a:pPr marL="0" indent="0">
              <a:lnSpc>
                <a:spcPct val="90000"/>
              </a:lnSpc>
              <a:buNone/>
            </a:pPr>
            <a:r>
              <a:rPr lang="en-US" altLang="zh-CN" sz="2400" dirty="0"/>
              <a:t>-e</a:t>
            </a:r>
            <a:r>
              <a:rPr lang="zh-CN" altLang="en-US" sz="2400" dirty="0"/>
              <a:t>：创建并编辑</a:t>
            </a:r>
            <a:r>
              <a:rPr lang="en-US" altLang="zh-CN" sz="2400" dirty="0"/>
              <a:t>crontab</a:t>
            </a:r>
            <a:r>
              <a:rPr lang="zh-CN" altLang="en-US" sz="2400" dirty="0"/>
              <a:t>配置文件，如果不指定用户，则表示</a:t>
            </a:r>
            <a:endParaRPr lang="en-US" altLang="zh-CN" sz="2400" dirty="0"/>
          </a:p>
          <a:p>
            <a:pPr marL="0" indent="0">
              <a:lnSpc>
                <a:spcPct val="90000"/>
              </a:lnSpc>
              <a:buNone/>
            </a:pPr>
            <a:r>
              <a:rPr lang="en-US" altLang="zh-CN" sz="2400" dirty="0"/>
              <a:t>       </a:t>
            </a:r>
            <a:r>
              <a:rPr lang="zh-CN" altLang="en-US" sz="2400" dirty="0"/>
              <a:t>编辑当前用户的</a:t>
            </a:r>
            <a:r>
              <a:rPr lang="en-US" altLang="zh-CN" sz="2400" dirty="0"/>
              <a:t>crontab</a:t>
            </a:r>
            <a:r>
              <a:rPr lang="zh-CN" altLang="en-US" sz="2400" dirty="0"/>
              <a:t>文件。</a:t>
            </a:r>
            <a:endParaRPr lang="en-US" altLang="zh-CN" sz="2400" dirty="0"/>
          </a:p>
          <a:p>
            <a:pPr marL="0" indent="0">
              <a:lnSpc>
                <a:spcPct val="90000"/>
              </a:lnSpc>
              <a:buNone/>
            </a:pPr>
            <a:r>
              <a:rPr lang="en-US" altLang="zh-CN" sz="2400" dirty="0"/>
              <a:t>-u&lt;</a:t>
            </a:r>
            <a:r>
              <a:rPr lang="zh-CN" altLang="en-US" sz="2400" dirty="0"/>
              <a:t>用户名称</a:t>
            </a:r>
            <a:r>
              <a:rPr lang="en-US" altLang="zh-CN" sz="2400" dirty="0"/>
              <a:t>&gt; </a:t>
            </a:r>
            <a:r>
              <a:rPr lang="zh-CN" altLang="en-US" sz="2400" dirty="0"/>
              <a:t>：指定设置任务的用户名称。</a:t>
            </a:r>
          </a:p>
          <a:p>
            <a:pPr marL="0" indent="0">
              <a:lnSpc>
                <a:spcPct val="90000"/>
              </a:lnSpc>
              <a:buNone/>
            </a:pPr>
            <a:r>
              <a:rPr lang="en-US" altLang="zh-CN" sz="2400" dirty="0"/>
              <a:t>-l</a:t>
            </a:r>
            <a:r>
              <a:rPr lang="zh-CN" altLang="en-US" sz="2400" dirty="0"/>
              <a:t>：显示</a:t>
            </a:r>
            <a:r>
              <a:rPr lang="en-US" altLang="zh-CN" sz="2400" dirty="0"/>
              <a:t>crontab</a:t>
            </a:r>
            <a:r>
              <a:rPr lang="zh-CN" altLang="en-US" sz="2400" dirty="0"/>
              <a:t>文件内容，如果不指定用户，则表示显示当</a:t>
            </a:r>
            <a:endParaRPr lang="en-US" altLang="zh-CN" sz="2400" dirty="0"/>
          </a:p>
          <a:p>
            <a:pPr marL="0" indent="0">
              <a:lnSpc>
                <a:spcPct val="90000"/>
              </a:lnSpc>
              <a:buNone/>
            </a:pPr>
            <a:r>
              <a:rPr lang="en-US" altLang="zh-CN" sz="2400" dirty="0"/>
              <a:t>      </a:t>
            </a:r>
            <a:r>
              <a:rPr lang="zh-CN" altLang="en-US" sz="2400" dirty="0"/>
              <a:t>前用户的</a:t>
            </a:r>
            <a:r>
              <a:rPr lang="en-US" altLang="zh-CN" sz="2400" dirty="0"/>
              <a:t>crontab</a:t>
            </a:r>
            <a:r>
              <a:rPr lang="zh-CN" altLang="en-US" sz="2400" dirty="0"/>
              <a:t>文件内容。</a:t>
            </a:r>
          </a:p>
          <a:p>
            <a:pPr marL="0" indent="0">
              <a:lnSpc>
                <a:spcPct val="90000"/>
              </a:lnSpc>
              <a:buNone/>
            </a:pPr>
            <a:r>
              <a:rPr lang="en-US" altLang="zh-CN" sz="2400" dirty="0"/>
              <a:t>-r</a:t>
            </a:r>
            <a:r>
              <a:rPr lang="zh-CN" altLang="en-US" sz="2400" dirty="0"/>
              <a:t>：从</a:t>
            </a:r>
            <a:r>
              <a:rPr lang="en-US" altLang="zh-CN" sz="2400" dirty="0"/>
              <a:t>/var/spool/cron</a:t>
            </a:r>
            <a:r>
              <a:rPr lang="zh-CN" altLang="en-US" sz="2400" dirty="0"/>
              <a:t>目录中删除某个用户的</a:t>
            </a:r>
            <a:r>
              <a:rPr lang="en-US" altLang="zh-CN" sz="2400" dirty="0"/>
              <a:t>crontab</a:t>
            </a:r>
            <a:r>
              <a:rPr lang="zh-CN" altLang="en-US" sz="2400" dirty="0"/>
              <a:t>文件，</a:t>
            </a:r>
            <a:endParaRPr lang="en-US" altLang="zh-CN" sz="2400" dirty="0"/>
          </a:p>
          <a:p>
            <a:pPr marL="0" indent="0">
              <a:lnSpc>
                <a:spcPct val="90000"/>
              </a:lnSpc>
              <a:buNone/>
            </a:pPr>
            <a:r>
              <a:rPr lang="en-US" altLang="zh-CN" sz="2400" dirty="0"/>
              <a:t>      </a:t>
            </a:r>
            <a:r>
              <a:rPr lang="zh-CN" altLang="en-US" sz="2400" dirty="0"/>
              <a:t>如果不指定用户，则默认删除当前用户的</a:t>
            </a:r>
            <a:r>
              <a:rPr lang="en-US" altLang="zh-CN" sz="2400" dirty="0"/>
              <a:t>crontab</a:t>
            </a:r>
            <a:r>
              <a:rPr lang="zh-CN" altLang="en-US" sz="2400" dirty="0"/>
              <a:t>文件。</a:t>
            </a:r>
          </a:p>
          <a:p>
            <a:pPr marL="0" indent="0">
              <a:lnSpc>
                <a:spcPct val="90000"/>
              </a:lnSpc>
              <a:buNone/>
            </a:pPr>
            <a:r>
              <a:rPr lang="en-US" altLang="zh-CN" sz="2400" dirty="0"/>
              <a:t>-</a:t>
            </a:r>
            <a:r>
              <a:rPr lang="en-US" altLang="zh-CN" sz="2400" dirty="0" err="1"/>
              <a:t>i</a:t>
            </a:r>
            <a:r>
              <a:rPr lang="zh-CN" altLang="en-US" sz="2400" dirty="0"/>
              <a:t>：在删除用户的</a:t>
            </a:r>
            <a:r>
              <a:rPr lang="en-US" altLang="zh-CN" sz="2400" dirty="0" err="1"/>
              <a:t>crontab</a:t>
            </a:r>
            <a:r>
              <a:rPr lang="zh-CN" altLang="en-US" sz="2400" dirty="0"/>
              <a:t>文件时给确认提示。</a:t>
            </a:r>
            <a:endParaRPr lang="en-US" altLang="zh-CN" sz="2400" dirty="0"/>
          </a:p>
          <a:p>
            <a:pPr marL="0" indent="0">
              <a:lnSpc>
                <a:spcPct val="90000"/>
              </a:lnSpc>
              <a:buNone/>
            </a:pPr>
            <a:endParaRPr lang="zh-CN" altLang="en-US" sz="2600" dirty="0"/>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37</a:t>
            </a:fld>
            <a:endParaRPr lang="en-US" altLang="zh-CN"/>
          </a:p>
        </p:txBody>
      </p:sp>
    </p:spTree>
    <p:extLst>
      <p:ext uri="{BB962C8B-B14F-4D97-AF65-F5344CB8AC3E}">
        <p14:creationId xmlns:p14="http://schemas.microsoft.com/office/powerpoint/2010/main" val="4162184495"/>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1127448" y="1556792"/>
            <a:ext cx="10081120" cy="4411662"/>
          </a:xfrm>
        </p:spPr>
        <p:txBody>
          <a:bodyPr/>
          <a:lstStyle/>
          <a:p>
            <a:pPr>
              <a:lnSpc>
                <a:spcPct val="110000"/>
              </a:lnSpc>
            </a:pPr>
            <a:r>
              <a:rPr lang="zh-CN" altLang="en-US" sz="2600" dirty="0">
                <a:solidFill>
                  <a:srgbClr val="000000"/>
                </a:solidFill>
              </a:rPr>
              <a:t>用户的</a:t>
            </a:r>
            <a:r>
              <a:rPr lang="en-US" altLang="zh-CN" sz="2600" dirty="0" err="1">
                <a:solidFill>
                  <a:srgbClr val="000000"/>
                </a:solidFill>
              </a:rPr>
              <a:t>crontab</a:t>
            </a:r>
            <a:r>
              <a:rPr lang="zh-CN" altLang="en-US" sz="2600" dirty="0">
                <a:solidFill>
                  <a:srgbClr val="000000"/>
                </a:solidFill>
              </a:rPr>
              <a:t>配置文件保存于</a:t>
            </a:r>
            <a:r>
              <a:rPr lang="en-US" altLang="zh-CN" sz="2600" dirty="0">
                <a:solidFill>
                  <a:srgbClr val="000000"/>
                </a:solidFill>
              </a:rPr>
              <a:t>/var/spool/cron</a:t>
            </a:r>
            <a:r>
              <a:rPr lang="zh-CN" altLang="en-US" sz="2600" dirty="0">
                <a:solidFill>
                  <a:srgbClr val="000000"/>
                </a:solidFill>
              </a:rPr>
              <a:t>目录中，其文件名与用户名相同，比如，</a:t>
            </a:r>
            <a:r>
              <a:rPr lang="en-US" altLang="zh-CN" sz="2600" dirty="0" err="1">
                <a:solidFill>
                  <a:srgbClr val="000000"/>
                </a:solidFill>
              </a:rPr>
              <a:t>helen</a:t>
            </a:r>
            <a:r>
              <a:rPr lang="zh-CN" altLang="en-US" sz="2600" dirty="0">
                <a:solidFill>
                  <a:srgbClr val="000000"/>
                </a:solidFill>
              </a:rPr>
              <a:t>用户的</a:t>
            </a:r>
            <a:r>
              <a:rPr lang="en-US" altLang="zh-CN" sz="2600" dirty="0" err="1">
                <a:solidFill>
                  <a:srgbClr val="000000"/>
                </a:solidFill>
              </a:rPr>
              <a:t>crontab</a:t>
            </a:r>
            <a:r>
              <a:rPr lang="zh-CN" altLang="en-US" sz="2600" dirty="0">
                <a:solidFill>
                  <a:srgbClr val="000000"/>
                </a:solidFill>
              </a:rPr>
              <a:t>配置文件为</a:t>
            </a:r>
            <a:r>
              <a:rPr lang="en-US" altLang="zh-CN" sz="2600" dirty="0">
                <a:solidFill>
                  <a:srgbClr val="000000"/>
                </a:solidFill>
              </a:rPr>
              <a:t>/var/spool/cron/helen</a:t>
            </a:r>
            <a:r>
              <a:rPr lang="zh-CN" altLang="en-US" sz="2600" dirty="0">
                <a:solidFill>
                  <a:srgbClr val="000000"/>
                </a:solidFill>
              </a:rPr>
              <a:t>。</a:t>
            </a:r>
            <a:endParaRPr lang="zh-CN" altLang="en-US" sz="2600" dirty="0">
              <a:solidFill>
                <a:srgbClr val="000000"/>
              </a:solidFill>
              <a:latin typeface="宋体" pitchFamily="2" charset="-122"/>
            </a:endParaRPr>
          </a:p>
          <a:p>
            <a:pPr>
              <a:lnSpc>
                <a:spcPct val="110000"/>
              </a:lnSpc>
            </a:pPr>
            <a:r>
              <a:rPr lang="en-US" altLang="zh-CN" sz="2600" dirty="0" err="1">
                <a:solidFill>
                  <a:srgbClr val="000000"/>
                </a:solidFill>
              </a:rPr>
              <a:t>crontab</a:t>
            </a:r>
            <a:r>
              <a:rPr lang="zh-CN" altLang="en-US" sz="2600" dirty="0">
                <a:solidFill>
                  <a:srgbClr val="000000"/>
                </a:solidFill>
                <a:latin typeface="宋体" pitchFamily="2" charset="-122"/>
              </a:rPr>
              <a:t>配置文件保留</a:t>
            </a:r>
            <a:r>
              <a:rPr lang="en-US" altLang="zh-CN" sz="2600" dirty="0">
                <a:solidFill>
                  <a:srgbClr val="000000"/>
                </a:solidFill>
              </a:rPr>
              <a:t>cron</a:t>
            </a:r>
            <a:r>
              <a:rPr lang="zh-CN" altLang="en-US" sz="2600" dirty="0">
                <a:solidFill>
                  <a:srgbClr val="000000"/>
                </a:solidFill>
                <a:latin typeface="宋体" pitchFamily="2" charset="-122"/>
              </a:rPr>
              <a:t>调度的内容，每一行表示一个调度任务。每个调度任务包括</a:t>
            </a:r>
            <a:r>
              <a:rPr lang="en-US" altLang="zh-CN" sz="2600" dirty="0">
                <a:solidFill>
                  <a:srgbClr val="0000CC"/>
                </a:solidFill>
              </a:rPr>
              <a:t>6</a:t>
            </a:r>
            <a:r>
              <a:rPr lang="zh-CN" altLang="en-US" sz="2600" dirty="0">
                <a:solidFill>
                  <a:srgbClr val="0000CC"/>
                </a:solidFill>
                <a:latin typeface="宋体" pitchFamily="2" charset="-122"/>
              </a:rPr>
              <a:t>个字段</a:t>
            </a:r>
            <a:r>
              <a:rPr lang="zh-CN" altLang="en-US" sz="2600" dirty="0">
                <a:solidFill>
                  <a:srgbClr val="000000"/>
                </a:solidFill>
                <a:latin typeface="宋体" pitchFamily="2" charset="-122"/>
              </a:rPr>
              <a:t>，所有字段不能为空，</a:t>
            </a:r>
            <a:r>
              <a:rPr lang="zh-CN" altLang="en-US" sz="2600" dirty="0">
                <a:solidFill>
                  <a:srgbClr val="0000CC"/>
                </a:solidFill>
                <a:latin typeface="宋体" pitchFamily="2" charset="-122"/>
              </a:rPr>
              <a:t>字段之间用空格分开</a:t>
            </a:r>
            <a:r>
              <a:rPr lang="zh-CN" altLang="en-US" sz="2600" dirty="0">
                <a:solidFill>
                  <a:srgbClr val="000000"/>
                </a:solidFill>
                <a:latin typeface="宋体" pitchFamily="2" charset="-122"/>
              </a:rPr>
              <a:t>：</a:t>
            </a:r>
            <a:endParaRPr lang="en-US" altLang="zh-CN" sz="2600" dirty="0">
              <a:solidFill>
                <a:srgbClr val="000000"/>
              </a:solidFill>
              <a:latin typeface="宋体" pitchFamily="2" charset="-122"/>
            </a:endParaRPr>
          </a:p>
          <a:p>
            <a:pPr marL="0" indent="0">
              <a:lnSpc>
                <a:spcPct val="110000"/>
              </a:lnSpc>
              <a:buNone/>
            </a:pPr>
            <a:r>
              <a:rPr lang="en-US" altLang="zh-CN" sz="2600" dirty="0">
                <a:latin typeface="宋体" pitchFamily="2" charset="-122"/>
              </a:rPr>
              <a:t>   </a:t>
            </a:r>
            <a:r>
              <a:rPr lang="en-US" altLang="zh-CN" sz="2600" dirty="0" err="1">
                <a:solidFill>
                  <a:srgbClr val="0000CC"/>
                </a:solidFill>
              </a:rPr>
              <a:t>f1</a:t>
            </a:r>
            <a:r>
              <a:rPr lang="zh-CN" altLang="en-US" sz="2600" dirty="0">
                <a:solidFill>
                  <a:srgbClr val="0000CC"/>
                </a:solidFill>
              </a:rPr>
              <a:t>　      </a:t>
            </a:r>
            <a:r>
              <a:rPr lang="en-US" altLang="zh-CN" sz="2600" dirty="0" err="1">
                <a:solidFill>
                  <a:srgbClr val="0000CC"/>
                </a:solidFill>
              </a:rPr>
              <a:t>f2</a:t>
            </a:r>
            <a:r>
              <a:rPr lang="en-US" altLang="zh-CN" sz="2600" dirty="0">
                <a:solidFill>
                  <a:srgbClr val="0000CC"/>
                </a:solidFill>
              </a:rPr>
              <a:t> </a:t>
            </a:r>
            <a:r>
              <a:rPr lang="zh-CN" altLang="en-US" sz="2600" dirty="0">
                <a:solidFill>
                  <a:srgbClr val="0000CC"/>
                </a:solidFill>
              </a:rPr>
              <a:t>　　   </a:t>
            </a:r>
            <a:r>
              <a:rPr lang="en-US" altLang="zh-CN" sz="2600" dirty="0" err="1">
                <a:solidFill>
                  <a:srgbClr val="0000CC"/>
                </a:solidFill>
              </a:rPr>
              <a:t>f3</a:t>
            </a:r>
            <a:r>
              <a:rPr lang="zh-CN" altLang="en-US" sz="2600" dirty="0">
                <a:solidFill>
                  <a:srgbClr val="0000CC"/>
                </a:solidFill>
              </a:rPr>
              <a:t>　      </a:t>
            </a:r>
            <a:r>
              <a:rPr lang="en-US" altLang="zh-CN" sz="2600" dirty="0">
                <a:solidFill>
                  <a:srgbClr val="0000CC"/>
                </a:solidFill>
              </a:rPr>
              <a:t>f4 </a:t>
            </a:r>
            <a:r>
              <a:rPr lang="zh-CN" altLang="en-US" sz="2600" dirty="0">
                <a:solidFill>
                  <a:srgbClr val="0000CC"/>
                </a:solidFill>
              </a:rPr>
              <a:t>　　 </a:t>
            </a:r>
            <a:r>
              <a:rPr lang="en-US" altLang="zh-CN" sz="2600" dirty="0">
                <a:solidFill>
                  <a:srgbClr val="0000CC"/>
                </a:solidFill>
              </a:rPr>
              <a:t>f5</a:t>
            </a:r>
            <a:r>
              <a:rPr lang="zh-CN" altLang="en-US" sz="2600" dirty="0">
                <a:solidFill>
                  <a:srgbClr val="0000CC"/>
                </a:solidFill>
              </a:rPr>
              <a:t>　　</a:t>
            </a:r>
            <a:r>
              <a:rPr lang="en-US" altLang="zh-CN" sz="2600" dirty="0">
                <a:solidFill>
                  <a:srgbClr val="0000CC"/>
                </a:solidFill>
              </a:rPr>
              <a:t>command</a:t>
            </a:r>
          </a:p>
          <a:p>
            <a:pPr marL="0" indent="0">
              <a:lnSpc>
                <a:spcPct val="110000"/>
              </a:lnSpc>
              <a:buNone/>
            </a:pPr>
            <a:r>
              <a:rPr lang="zh-CN" altLang="en-US" sz="2600" dirty="0">
                <a:solidFill>
                  <a:srgbClr val="0000CC"/>
                </a:solidFill>
                <a:latin typeface="宋体" pitchFamily="2" charset="-122"/>
              </a:rPr>
              <a:t>   分　   时      日 　  月　　 周　　  命令</a:t>
            </a:r>
            <a:endParaRPr lang="en-US" altLang="zh-CN" sz="2600" dirty="0">
              <a:solidFill>
                <a:srgbClr val="0000CC"/>
              </a:solidFill>
              <a:latin typeface="宋体" pitchFamily="2" charset="-122"/>
            </a:endParaRPr>
          </a:p>
          <a:p>
            <a:pPr marL="0" indent="0">
              <a:buNone/>
            </a:pPr>
            <a:endParaRPr lang="zh-CN" altLang="en-US" sz="2600" dirty="0">
              <a:solidFill>
                <a:srgbClr val="0000CC"/>
              </a:solidFill>
            </a:endParaRPr>
          </a:p>
          <a:p>
            <a:pPr marL="0" indent="0">
              <a:lnSpc>
                <a:spcPct val="90000"/>
              </a:lnSpc>
              <a:buNone/>
            </a:pPr>
            <a:endParaRPr lang="zh-CN" altLang="en-US" sz="2800" dirty="0"/>
          </a:p>
        </p:txBody>
      </p:sp>
      <p:sp>
        <p:nvSpPr>
          <p:cNvPr id="5" name="Rectangle 2"/>
          <p:cNvSpPr txBox="1">
            <a:spLocks noChangeArrowheads="1"/>
          </p:cNvSpPr>
          <p:nvPr/>
        </p:nvSpPr>
        <p:spPr bwMode="auto">
          <a:xfrm>
            <a:off x="1703512" y="523528"/>
            <a:ext cx="8928992"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a:lstStyle>
          <a:p>
            <a:r>
              <a:rPr lang="en-US" altLang="zh-CN" dirty="0"/>
              <a:t>crontab</a:t>
            </a:r>
            <a:r>
              <a:rPr lang="zh-CN" altLang="en-US" dirty="0"/>
              <a:t>文件格式</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38</a:t>
            </a:fld>
            <a:endParaRPr lang="en-US" altLang="zh-CN" dirty="0"/>
          </a:p>
        </p:txBody>
      </p:sp>
    </p:spTree>
    <p:extLst>
      <p:ext uri="{BB962C8B-B14F-4D97-AF65-F5344CB8AC3E}">
        <p14:creationId xmlns:p14="http://schemas.microsoft.com/office/powerpoint/2010/main" val="35322235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416" y="548680"/>
            <a:ext cx="10369152" cy="858837"/>
          </a:xfrm>
        </p:spPr>
        <p:txBody>
          <a:bodyPr/>
          <a:lstStyle/>
          <a:p>
            <a:r>
              <a:rPr lang="en-US" altLang="zh-CN" dirty="0" err="1"/>
              <a:t>crontab</a:t>
            </a:r>
            <a:r>
              <a:rPr lang="zh-CN" altLang="en-US" dirty="0"/>
              <a:t>配置文件</a:t>
            </a:r>
          </a:p>
        </p:txBody>
      </p:sp>
      <p:sp>
        <p:nvSpPr>
          <p:cNvPr id="3" name="内容占位符 2"/>
          <p:cNvSpPr>
            <a:spLocks noGrp="1"/>
          </p:cNvSpPr>
          <p:nvPr>
            <p:ph idx="1"/>
          </p:nvPr>
        </p:nvSpPr>
        <p:spPr>
          <a:xfrm>
            <a:off x="839416" y="1491560"/>
            <a:ext cx="10801200" cy="4662065"/>
          </a:xfrm>
        </p:spPr>
        <p:txBody>
          <a:bodyPr/>
          <a:lstStyle/>
          <a:p>
            <a:pPr>
              <a:lnSpc>
                <a:spcPct val="120000"/>
              </a:lnSpc>
            </a:pPr>
            <a:r>
              <a:rPr lang="zh-CN" altLang="en-US" sz="2600" dirty="0"/>
              <a:t>第一列</a:t>
            </a:r>
            <a:r>
              <a:rPr lang="en-US" altLang="zh-CN" sz="2600" dirty="0" err="1"/>
              <a:t>f1</a:t>
            </a:r>
            <a:r>
              <a:rPr lang="zh-CN" altLang="en-US" sz="2600" dirty="0"/>
              <a:t>代表分钟</a:t>
            </a:r>
            <a:r>
              <a:rPr lang="en-US" altLang="zh-CN" sz="2600" dirty="0"/>
              <a:t>1~59</a:t>
            </a:r>
            <a:r>
              <a:rPr lang="zh-CN" altLang="en-US" sz="2600" dirty="0"/>
              <a:t>：当</a:t>
            </a:r>
            <a:r>
              <a:rPr lang="en-US" altLang="zh-CN" sz="2600" dirty="0" err="1"/>
              <a:t>f1</a:t>
            </a:r>
            <a:r>
              <a:rPr lang="zh-CN" altLang="en-US" sz="2600" dirty="0"/>
              <a:t>为</a:t>
            </a:r>
            <a:r>
              <a:rPr lang="zh-CN" altLang="en-US" sz="2600" dirty="0">
                <a:solidFill>
                  <a:srgbClr val="CC0099"/>
                </a:solidFill>
              </a:rPr>
              <a:t>*</a:t>
            </a:r>
            <a:r>
              <a:rPr lang="zh-CN" altLang="en-US" sz="2600" dirty="0"/>
              <a:t>表示每分钟都要执行；</a:t>
            </a:r>
            <a:endParaRPr lang="en-US" altLang="zh-CN" sz="2600" dirty="0"/>
          </a:p>
          <a:p>
            <a:pPr marL="0" indent="0">
              <a:lnSpc>
                <a:spcPct val="120000"/>
              </a:lnSpc>
              <a:buNone/>
            </a:pPr>
            <a:r>
              <a:rPr lang="en-US" altLang="zh-CN" sz="2600" dirty="0"/>
              <a:t>     </a:t>
            </a:r>
            <a:r>
              <a:rPr lang="zh-CN" altLang="en-US" sz="2600" dirty="0"/>
              <a:t>为</a:t>
            </a:r>
            <a:r>
              <a:rPr lang="zh-CN" altLang="en-US" sz="2600" dirty="0">
                <a:solidFill>
                  <a:srgbClr val="CC0099"/>
                </a:solidFill>
              </a:rPr>
              <a:t>*</a:t>
            </a:r>
            <a:r>
              <a:rPr lang="en-US" altLang="zh-CN" sz="2600" dirty="0">
                <a:solidFill>
                  <a:srgbClr val="CC0099"/>
                </a:solidFill>
              </a:rPr>
              <a:t>/n</a:t>
            </a:r>
            <a:r>
              <a:rPr lang="zh-CN" altLang="en-US" sz="2600" dirty="0"/>
              <a:t>表示每</a:t>
            </a:r>
            <a:r>
              <a:rPr lang="en-US" altLang="zh-CN" sz="2600" dirty="0"/>
              <a:t>n</a:t>
            </a:r>
            <a:r>
              <a:rPr lang="zh-CN" altLang="en-US" sz="2600" dirty="0"/>
              <a:t>分钟执行一次；</a:t>
            </a:r>
            <a:endParaRPr lang="en-US" altLang="zh-CN" sz="2600" dirty="0"/>
          </a:p>
          <a:p>
            <a:pPr marL="0" indent="0">
              <a:lnSpc>
                <a:spcPct val="120000"/>
              </a:lnSpc>
              <a:buNone/>
            </a:pPr>
            <a:r>
              <a:rPr lang="en-US" altLang="zh-CN" sz="2600" dirty="0"/>
              <a:t>     </a:t>
            </a:r>
            <a:r>
              <a:rPr lang="zh-CN" altLang="en-US" sz="2600" dirty="0"/>
              <a:t>为</a:t>
            </a:r>
            <a:r>
              <a:rPr lang="en-US" altLang="zh-CN" sz="2600" dirty="0">
                <a:solidFill>
                  <a:srgbClr val="CC0099"/>
                </a:solidFill>
              </a:rPr>
              <a:t>a-b</a:t>
            </a:r>
            <a:r>
              <a:rPr lang="zh-CN" altLang="en-US" sz="2600" dirty="0"/>
              <a:t>表示从第</a:t>
            </a:r>
            <a:r>
              <a:rPr lang="en-US" altLang="zh-CN" sz="2600" dirty="0"/>
              <a:t>a</a:t>
            </a:r>
            <a:r>
              <a:rPr lang="zh-CN" altLang="en-US" sz="2600" dirty="0"/>
              <a:t>分钟到第</a:t>
            </a:r>
            <a:r>
              <a:rPr lang="en-US" altLang="zh-CN" sz="2600" dirty="0"/>
              <a:t>b</a:t>
            </a:r>
            <a:r>
              <a:rPr lang="zh-CN" altLang="en-US" sz="2600" dirty="0"/>
              <a:t>分钟这段时间要执行；</a:t>
            </a:r>
            <a:endParaRPr lang="en-US" altLang="zh-CN" sz="2600" dirty="0"/>
          </a:p>
          <a:p>
            <a:pPr marL="0" indent="0">
              <a:lnSpc>
                <a:spcPct val="120000"/>
              </a:lnSpc>
              <a:buNone/>
            </a:pPr>
            <a:r>
              <a:rPr lang="en-US" altLang="zh-CN" sz="2600" dirty="0"/>
              <a:t>     </a:t>
            </a:r>
            <a:r>
              <a:rPr lang="zh-CN" altLang="en-US" sz="2600" dirty="0"/>
              <a:t>为</a:t>
            </a:r>
            <a:r>
              <a:rPr lang="en-US" altLang="zh-CN" sz="2600" dirty="0" err="1">
                <a:solidFill>
                  <a:srgbClr val="CC0099"/>
                </a:solidFill>
              </a:rPr>
              <a:t>a,b,c</a:t>
            </a:r>
            <a:r>
              <a:rPr lang="en-US" altLang="zh-CN" sz="2600" dirty="0"/>
              <a:t>,...</a:t>
            </a:r>
            <a:r>
              <a:rPr lang="zh-CN" altLang="en-US" sz="2600" dirty="0"/>
              <a:t>表示第</a:t>
            </a:r>
            <a:r>
              <a:rPr lang="en-US" altLang="zh-CN" sz="2600" dirty="0" err="1"/>
              <a:t>a,b,c</a:t>
            </a:r>
            <a:r>
              <a:rPr lang="zh-CN" altLang="en-US" sz="2600" dirty="0"/>
              <a:t>分钟要执行。</a:t>
            </a:r>
          </a:p>
          <a:p>
            <a:pPr>
              <a:lnSpc>
                <a:spcPct val="120000"/>
              </a:lnSpc>
            </a:pPr>
            <a:r>
              <a:rPr lang="zh-CN" altLang="en-US" sz="2600" dirty="0"/>
              <a:t>第二列</a:t>
            </a:r>
            <a:r>
              <a:rPr lang="en-US" altLang="zh-CN" sz="2600" dirty="0" err="1"/>
              <a:t>f2</a:t>
            </a:r>
            <a:r>
              <a:rPr lang="zh-CN" altLang="en-US" sz="2600" dirty="0"/>
              <a:t>代表小时</a:t>
            </a:r>
            <a:r>
              <a:rPr lang="en-US" altLang="zh-CN" sz="2600" dirty="0"/>
              <a:t>0~23</a:t>
            </a:r>
            <a:r>
              <a:rPr lang="zh-CN" altLang="en-US" sz="2600" dirty="0"/>
              <a:t>（</a:t>
            </a:r>
            <a:r>
              <a:rPr lang="en-US" altLang="zh-CN" sz="2600" dirty="0"/>
              <a:t>0</a:t>
            </a:r>
            <a:r>
              <a:rPr lang="zh-CN" altLang="en-US" sz="2600" dirty="0"/>
              <a:t>表示凌晨）：当</a:t>
            </a:r>
            <a:r>
              <a:rPr lang="en-US" altLang="zh-CN" sz="2600" dirty="0" err="1"/>
              <a:t>f2</a:t>
            </a:r>
            <a:r>
              <a:rPr lang="zh-CN" altLang="en-US" sz="2600" dirty="0"/>
              <a:t>为</a:t>
            </a:r>
            <a:r>
              <a:rPr lang="zh-CN" altLang="en-US" sz="2600" dirty="0">
                <a:solidFill>
                  <a:srgbClr val="CC0099"/>
                </a:solidFill>
              </a:rPr>
              <a:t>*</a:t>
            </a:r>
            <a:r>
              <a:rPr lang="zh-CN" altLang="en-US" sz="2600" dirty="0"/>
              <a:t>表示每小时都要执行；</a:t>
            </a:r>
            <a:endParaRPr lang="en-US" altLang="zh-CN" sz="2600" dirty="0"/>
          </a:p>
          <a:p>
            <a:pPr marL="0" indent="0">
              <a:lnSpc>
                <a:spcPct val="120000"/>
              </a:lnSpc>
              <a:buNone/>
            </a:pPr>
            <a:r>
              <a:rPr lang="en-US" altLang="zh-CN" sz="2600" dirty="0"/>
              <a:t>     </a:t>
            </a:r>
            <a:r>
              <a:rPr lang="zh-CN" altLang="en-US" sz="2600" dirty="0"/>
              <a:t>为</a:t>
            </a:r>
            <a:r>
              <a:rPr lang="zh-CN" altLang="en-US" sz="2600" dirty="0">
                <a:solidFill>
                  <a:srgbClr val="CC0099"/>
                </a:solidFill>
              </a:rPr>
              <a:t>*</a:t>
            </a:r>
            <a:r>
              <a:rPr lang="en-US" altLang="zh-CN" sz="2600" dirty="0">
                <a:solidFill>
                  <a:srgbClr val="CC0099"/>
                </a:solidFill>
              </a:rPr>
              <a:t>/n</a:t>
            </a:r>
            <a:r>
              <a:rPr lang="zh-CN" altLang="en-US" sz="2600" dirty="0"/>
              <a:t>表示每</a:t>
            </a:r>
            <a:r>
              <a:rPr lang="en-US" altLang="zh-CN" sz="2600" dirty="0"/>
              <a:t>n</a:t>
            </a:r>
            <a:r>
              <a:rPr lang="zh-CN" altLang="en-US" sz="2600" dirty="0"/>
              <a:t>小数执行一次；</a:t>
            </a:r>
            <a:endParaRPr lang="en-US" altLang="zh-CN" sz="2600" dirty="0"/>
          </a:p>
          <a:p>
            <a:pPr marL="0" indent="0">
              <a:lnSpc>
                <a:spcPct val="120000"/>
              </a:lnSpc>
              <a:buNone/>
            </a:pPr>
            <a:r>
              <a:rPr lang="en-US" altLang="zh-CN" sz="2600" dirty="0"/>
              <a:t>     </a:t>
            </a:r>
            <a:r>
              <a:rPr lang="zh-CN" altLang="en-US" sz="2600" dirty="0"/>
              <a:t>为</a:t>
            </a:r>
            <a:r>
              <a:rPr lang="en-US" altLang="zh-CN" sz="2600" dirty="0">
                <a:solidFill>
                  <a:srgbClr val="CC0099"/>
                </a:solidFill>
              </a:rPr>
              <a:t>a-b</a:t>
            </a:r>
            <a:r>
              <a:rPr lang="zh-CN" altLang="en-US" sz="2600" dirty="0"/>
              <a:t>表示从第</a:t>
            </a:r>
            <a:r>
              <a:rPr lang="en-US" altLang="zh-CN" sz="2600" dirty="0"/>
              <a:t>a</a:t>
            </a:r>
            <a:r>
              <a:rPr lang="zh-CN" altLang="en-US" sz="2600" dirty="0"/>
              <a:t>小时到第</a:t>
            </a:r>
            <a:r>
              <a:rPr lang="en-US" altLang="zh-CN" sz="2600" dirty="0"/>
              <a:t>b</a:t>
            </a:r>
            <a:r>
              <a:rPr lang="zh-CN" altLang="en-US" sz="2600" dirty="0"/>
              <a:t>小时这段时间要执行；</a:t>
            </a:r>
            <a:endParaRPr lang="en-US" altLang="zh-CN" sz="2600" dirty="0"/>
          </a:p>
          <a:p>
            <a:pPr marL="0" indent="0">
              <a:lnSpc>
                <a:spcPct val="120000"/>
              </a:lnSpc>
              <a:buNone/>
            </a:pPr>
            <a:r>
              <a:rPr lang="en-US" altLang="zh-CN" sz="2600" dirty="0"/>
              <a:t>     </a:t>
            </a:r>
            <a:r>
              <a:rPr lang="zh-CN" altLang="en-US" sz="2600" dirty="0"/>
              <a:t>为</a:t>
            </a:r>
            <a:r>
              <a:rPr lang="en-US" altLang="zh-CN" sz="2600" dirty="0" err="1">
                <a:solidFill>
                  <a:srgbClr val="CC0099"/>
                </a:solidFill>
              </a:rPr>
              <a:t>a,b,c</a:t>
            </a:r>
            <a:r>
              <a:rPr lang="en-US" altLang="zh-CN" sz="2600" dirty="0">
                <a:solidFill>
                  <a:srgbClr val="CC0099"/>
                </a:solidFill>
              </a:rPr>
              <a:t>,...</a:t>
            </a:r>
            <a:r>
              <a:rPr lang="zh-CN" altLang="en-US" sz="2600" dirty="0"/>
              <a:t>表示第</a:t>
            </a:r>
            <a:r>
              <a:rPr lang="en-US" altLang="zh-CN" sz="2600" dirty="0" err="1"/>
              <a:t>a,b,c</a:t>
            </a:r>
            <a:r>
              <a:rPr lang="zh-CN" altLang="en-US" sz="2600" dirty="0"/>
              <a:t>小时要执行。</a:t>
            </a:r>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39</a:t>
            </a:fld>
            <a:endParaRPr lang="en-US" altLang="zh-CN"/>
          </a:p>
        </p:txBody>
      </p:sp>
    </p:spTree>
    <p:extLst>
      <p:ext uri="{BB962C8B-B14F-4D97-AF65-F5344CB8AC3E}">
        <p14:creationId xmlns:p14="http://schemas.microsoft.com/office/powerpoint/2010/main" val="3684940893"/>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416" y="548680"/>
            <a:ext cx="10441160" cy="858837"/>
          </a:xfrm>
        </p:spPr>
        <p:txBody>
          <a:bodyPr/>
          <a:lstStyle/>
          <a:p>
            <a:r>
              <a:rPr lang="en-US" altLang="zh-CN" dirty="0" err="1"/>
              <a:t>crontab</a:t>
            </a:r>
            <a:r>
              <a:rPr lang="zh-CN" altLang="en-US" dirty="0"/>
              <a:t>配置文件</a:t>
            </a:r>
          </a:p>
        </p:txBody>
      </p:sp>
      <p:sp>
        <p:nvSpPr>
          <p:cNvPr id="3" name="内容占位符 2"/>
          <p:cNvSpPr>
            <a:spLocks noGrp="1"/>
          </p:cNvSpPr>
          <p:nvPr>
            <p:ph idx="1"/>
          </p:nvPr>
        </p:nvSpPr>
        <p:spPr>
          <a:xfrm>
            <a:off x="1055440" y="1651973"/>
            <a:ext cx="10585176" cy="4662065"/>
          </a:xfrm>
        </p:spPr>
        <p:txBody>
          <a:bodyPr/>
          <a:lstStyle/>
          <a:p>
            <a:pPr>
              <a:lnSpc>
                <a:spcPct val="120000"/>
              </a:lnSpc>
            </a:pPr>
            <a:r>
              <a:rPr lang="zh-CN" altLang="en-US" sz="2600" dirty="0"/>
              <a:t>第三列</a:t>
            </a:r>
            <a:r>
              <a:rPr lang="en-US" altLang="zh-CN" sz="2600" dirty="0" err="1"/>
              <a:t>f3</a:t>
            </a:r>
            <a:r>
              <a:rPr lang="zh-CN" altLang="en-US" sz="2600" dirty="0"/>
              <a:t>代表日</a:t>
            </a:r>
            <a:r>
              <a:rPr lang="en-US" altLang="zh-CN" sz="2600" dirty="0"/>
              <a:t>1~31</a:t>
            </a:r>
            <a:r>
              <a:rPr lang="zh-CN" altLang="en-US" sz="2600" dirty="0"/>
              <a:t>：含义如上所示，以此类推；</a:t>
            </a:r>
          </a:p>
          <a:p>
            <a:pPr>
              <a:lnSpc>
                <a:spcPct val="120000"/>
              </a:lnSpc>
            </a:pPr>
            <a:r>
              <a:rPr lang="zh-CN" altLang="en-US" sz="2600" dirty="0"/>
              <a:t>第四列</a:t>
            </a:r>
            <a:r>
              <a:rPr lang="en-US" altLang="zh-CN" sz="2600" dirty="0" err="1"/>
              <a:t>f4</a:t>
            </a:r>
            <a:r>
              <a:rPr lang="zh-CN" altLang="en-US" sz="2600" dirty="0"/>
              <a:t>代表月</a:t>
            </a:r>
            <a:r>
              <a:rPr lang="en-US" altLang="zh-CN" sz="2600" dirty="0"/>
              <a:t>1~12</a:t>
            </a:r>
            <a:r>
              <a:rPr lang="zh-CN" altLang="en-US" sz="2600" dirty="0"/>
              <a:t>：含义如上所示，以此类推；</a:t>
            </a:r>
          </a:p>
          <a:p>
            <a:pPr>
              <a:lnSpc>
                <a:spcPct val="120000"/>
              </a:lnSpc>
            </a:pPr>
            <a:r>
              <a:rPr lang="zh-CN" altLang="en-US" sz="2600" dirty="0"/>
              <a:t>第五列</a:t>
            </a:r>
            <a:r>
              <a:rPr lang="en-US" altLang="zh-CN" sz="2600" dirty="0" err="1"/>
              <a:t>f5</a:t>
            </a:r>
            <a:r>
              <a:rPr lang="zh-CN" altLang="en-US" sz="2600" dirty="0"/>
              <a:t>代表星期</a:t>
            </a:r>
            <a:r>
              <a:rPr lang="en-US" altLang="zh-CN" sz="2600" dirty="0"/>
              <a:t>0~6</a:t>
            </a:r>
            <a:r>
              <a:rPr lang="zh-CN" altLang="en-US" sz="2600" dirty="0"/>
              <a:t>（</a:t>
            </a:r>
            <a:r>
              <a:rPr lang="en-US" altLang="zh-CN" sz="2600" dirty="0">
                <a:solidFill>
                  <a:srgbClr val="CC0099"/>
                </a:solidFill>
              </a:rPr>
              <a:t>0</a:t>
            </a:r>
            <a:r>
              <a:rPr lang="zh-CN" altLang="en-US" sz="2600" dirty="0">
                <a:solidFill>
                  <a:srgbClr val="CC0099"/>
                </a:solidFill>
              </a:rPr>
              <a:t>表示星期天</a:t>
            </a:r>
            <a:r>
              <a:rPr lang="zh-CN" altLang="en-US" sz="2600" dirty="0"/>
              <a:t>）：含义如上所示，以此类推；</a:t>
            </a:r>
          </a:p>
          <a:p>
            <a:pPr>
              <a:lnSpc>
                <a:spcPct val="120000"/>
              </a:lnSpc>
            </a:pPr>
            <a:r>
              <a:rPr lang="zh-CN" altLang="en-US" sz="2600" dirty="0"/>
              <a:t>第六列</a:t>
            </a:r>
            <a:r>
              <a:rPr lang="en-US" altLang="zh-CN" sz="2600" dirty="0"/>
              <a:t>command</a:t>
            </a:r>
            <a:r>
              <a:rPr lang="zh-CN" altLang="en-US" sz="2600" dirty="0"/>
              <a:t>代表要运行的命令。</a:t>
            </a:r>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40</a:t>
            </a:fld>
            <a:endParaRPr lang="en-US" altLang="zh-CN"/>
          </a:p>
        </p:txBody>
      </p:sp>
    </p:spTree>
    <p:extLst>
      <p:ext uri="{BB962C8B-B14F-4D97-AF65-F5344CB8AC3E}">
        <p14:creationId xmlns:p14="http://schemas.microsoft.com/office/powerpoint/2010/main" val="3749358575"/>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cron</a:t>
            </a:r>
            <a:r>
              <a:rPr lang="zh-CN" altLang="en-US" dirty="0"/>
              <a:t>调度</a:t>
            </a:r>
          </a:p>
        </p:txBody>
      </p:sp>
      <p:sp>
        <p:nvSpPr>
          <p:cNvPr id="3" name="内容占位符 2"/>
          <p:cNvSpPr>
            <a:spLocks noGrp="1"/>
          </p:cNvSpPr>
          <p:nvPr>
            <p:ph idx="1"/>
          </p:nvPr>
        </p:nvSpPr>
        <p:spPr>
          <a:xfrm>
            <a:off x="983432" y="1340768"/>
            <a:ext cx="10369152" cy="5048398"/>
          </a:xfrm>
        </p:spPr>
        <p:txBody>
          <a:bodyPr/>
          <a:lstStyle/>
          <a:p>
            <a:pPr marL="0" indent="0">
              <a:lnSpc>
                <a:spcPct val="150000"/>
              </a:lnSpc>
              <a:buNone/>
            </a:pPr>
            <a:r>
              <a:rPr lang="zh-CN" altLang="en-US" sz="2600" dirty="0"/>
              <a:t>例如：</a:t>
            </a:r>
            <a:r>
              <a:rPr lang="en-US" altLang="zh-CN" sz="2600" dirty="0" err="1"/>
              <a:t>helen</a:t>
            </a:r>
            <a:r>
              <a:rPr lang="zh-CN" altLang="en-US" sz="2600" dirty="0"/>
              <a:t>用户设置</a:t>
            </a:r>
            <a:r>
              <a:rPr lang="en-US" altLang="zh-CN" sz="2600" dirty="0"/>
              <a:t>cron</a:t>
            </a:r>
            <a:r>
              <a:rPr lang="zh-CN" altLang="en-US" sz="2600" dirty="0"/>
              <a:t>调度，要求每周五的</a:t>
            </a:r>
            <a:r>
              <a:rPr lang="en-US" altLang="zh-CN" sz="2600" dirty="0"/>
              <a:t>17</a:t>
            </a:r>
            <a:r>
              <a:rPr lang="zh-CN" altLang="en-US" sz="2600" dirty="0"/>
              <a:t>时</a:t>
            </a:r>
            <a:r>
              <a:rPr lang="en-US" altLang="zh-CN" sz="2600" dirty="0"/>
              <a:t>00</a:t>
            </a:r>
            <a:r>
              <a:rPr lang="zh-CN" altLang="en-US" sz="2600" dirty="0"/>
              <a:t>分将</a:t>
            </a:r>
            <a:r>
              <a:rPr lang="en-US" altLang="zh-CN" sz="2600" dirty="0"/>
              <a:t>/home/</a:t>
            </a:r>
            <a:r>
              <a:rPr lang="en-US" altLang="zh-CN" sz="2600" dirty="0" err="1"/>
              <a:t>helen</a:t>
            </a:r>
            <a:r>
              <a:rPr lang="en-US" altLang="zh-CN" sz="2600" dirty="0"/>
              <a:t>/data</a:t>
            </a:r>
            <a:r>
              <a:rPr lang="zh-CN" altLang="en-US" sz="2600" dirty="0"/>
              <a:t>目录中的所有文件归档压缩为</a:t>
            </a:r>
            <a:r>
              <a:rPr lang="en-US" altLang="zh-CN" sz="2600" dirty="0"/>
              <a:t>/backup</a:t>
            </a:r>
            <a:r>
              <a:rPr lang="zh-CN" altLang="en-US" sz="2600" dirty="0"/>
              <a:t>目录中的</a:t>
            </a:r>
            <a:r>
              <a:rPr lang="en-US" altLang="zh-CN" sz="2600" dirty="0" err="1"/>
              <a:t>helen-data.tar.gz</a:t>
            </a:r>
            <a:r>
              <a:rPr lang="zh-CN" altLang="en-US" sz="2600" dirty="0"/>
              <a:t>文件。</a:t>
            </a:r>
            <a:endParaRPr lang="en-US" altLang="zh-CN" sz="2600" dirty="0"/>
          </a:p>
          <a:p>
            <a:pPr marL="0" indent="0">
              <a:lnSpc>
                <a:spcPct val="150000"/>
              </a:lnSpc>
              <a:buNone/>
            </a:pPr>
            <a:r>
              <a:rPr lang="zh-CN" altLang="en-US" sz="2600" dirty="0"/>
              <a:t>［</a:t>
            </a:r>
            <a:r>
              <a:rPr lang="en-US" altLang="zh-CN" sz="2600" dirty="0" err="1">
                <a:solidFill>
                  <a:srgbClr val="0000CC"/>
                </a:solidFill>
              </a:rPr>
              <a:t>helen</a:t>
            </a:r>
            <a:r>
              <a:rPr lang="en-US" altLang="zh-CN" sz="2600" dirty="0">
                <a:solidFill>
                  <a:srgbClr val="0000CC"/>
                </a:solidFill>
              </a:rPr>
              <a:t>@  localhost  ~</a:t>
            </a:r>
            <a:r>
              <a:rPr lang="zh-CN" altLang="en-US" sz="2600" dirty="0"/>
              <a:t>］</a:t>
            </a:r>
            <a:r>
              <a:rPr lang="en-US" altLang="zh-CN" sz="2600" dirty="0"/>
              <a:t>$  </a:t>
            </a:r>
            <a:r>
              <a:rPr lang="en-US" altLang="zh-CN" sz="2600" dirty="0">
                <a:solidFill>
                  <a:srgbClr val="0000CC"/>
                </a:solidFill>
              </a:rPr>
              <a:t>crontab -e</a:t>
            </a:r>
          </a:p>
          <a:p>
            <a:pPr marL="0" indent="0">
              <a:lnSpc>
                <a:spcPct val="150000"/>
              </a:lnSpc>
              <a:buNone/>
            </a:pPr>
            <a:r>
              <a:rPr lang="zh-CN" altLang="en-US" sz="2600" dirty="0"/>
              <a:t>输入</a:t>
            </a:r>
            <a:r>
              <a:rPr lang="en-US" altLang="zh-CN" sz="2600" dirty="0"/>
              <a:t>crontab -e </a:t>
            </a:r>
            <a:r>
              <a:rPr lang="zh-CN" altLang="en-US" sz="2600" dirty="0"/>
              <a:t>命令后，系统自动启动</a:t>
            </a:r>
            <a:r>
              <a:rPr lang="en-US" altLang="zh-CN" sz="2600" dirty="0"/>
              <a:t>vim</a:t>
            </a:r>
            <a:r>
              <a:rPr lang="zh-CN" altLang="en-US" sz="2600" dirty="0"/>
              <a:t>编辑器，输入以下配置文件的内容后保存退出。</a:t>
            </a:r>
            <a:endParaRPr lang="en-US" altLang="zh-CN" sz="2600" dirty="0"/>
          </a:p>
          <a:p>
            <a:pPr marL="0" indent="0">
              <a:lnSpc>
                <a:spcPct val="150000"/>
              </a:lnSpc>
              <a:buNone/>
            </a:pPr>
            <a:r>
              <a:rPr lang="en-US" altLang="zh-CN" sz="2100" dirty="0">
                <a:solidFill>
                  <a:srgbClr val="0000CC"/>
                </a:solidFill>
              </a:rPr>
              <a:t>00 17 * *  5 tar -</a:t>
            </a:r>
            <a:r>
              <a:rPr lang="en-US" altLang="zh-CN" sz="2100" dirty="0" err="1">
                <a:solidFill>
                  <a:srgbClr val="0000CC"/>
                </a:solidFill>
              </a:rPr>
              <a:t>czf</a:t>
            </a:r>
            <a:r>
              <a:rPr lang="en-US" altLang="zh-CN" sz="2100" dirty="0">
                <a:solidFill>
                  <a:srgbClr val="0000CC"/>
                </a:solidFill>
              </a:rPr>
              <a:t>  /backup/helen-data.tar.gz    /home/helen/data </a:t>
            </a:r>
          </a:p>
          <a:p>
            <a:pPr marL="0" indent="0">
              <a:lnSpc>
                <a:spcPct val="150000"/>
              </a:lnSpc>
              <a:buNone/>
            </a:pPr>
            <a:r>
              <a:rPr lang="zh-CN" altLang="en-US" sz="2600" dirty="0">
                <a:solidFill>
                  <a:srgbClr val="0000CC"/>
                </a:solidFill>
              </a:rPr>
              <a:t>注意</a:t>
            </a:r>
            <a:r>
              <a:rPr lang="zh-CN" altLang="en-US" sz="2600" dirty="0"/>
              <a:t>：在</a:t>
            </a:r>
            <a:r>
              <a:rPr lang="en-US" altLang="zh-CN" sz="2600" dirty="0"/>
              <a:t>crontab</a:t>
            </a:r>
            <a:r>
              <a:rPr lang="zh-CN" altLang="en-US" sz="2600" dirty="0"/>
              <a:t>命令中一定要使用绝对路径。</a:t>
            </a:r>
          </a:p>
          <a:p>
            <a:pPr marL="0" indent="0">
              <a:lnSpc>
                <a:spcPct val="150000"/>
              </a:lnSpc>
              <a:buNone/>
            </a:pPr>
            <a:endParaRPr lang="en-US" altLang="zh-CN" sz="2600" dirty="0"/>
          </a:p>
          <a:p>
            <a:pPr marL="0" indent="0">
              <a:buNone/>
            </a:pPr>
            <a:endParaRPr lang="en-US" altLang="zh-CN" sz="2400" dirty="0"/>
          </a:p>
          <a:p>
            <a:pPr marL="0" indent="0">
              <a:buNone/>
            </a:pPr>
            <a:endParaRPr lang="zh-CN" altLang="en-US" sz="2100" dirty="0">
              <a:solidFill>
                <a:srgbClr val="0000CC"/>
              </a:solidFill>
            </a:endParaRPr>
          </a:p>
        </p:txBody>
      </p:sp>
      <p:sp>
        <p:nvSpPr>
          <p:cNvPr id="4" name="灯片编号占位符 3">
            <a:extLst>
              <a:ext uri="{FF2B5EF4-FFF2-40B4-BE49-F238E27FC236}">
                <a16:creationId xmlns:a16="http://schemas.microsoft.com/office/drawing/2014/main" id="{12AFC70F-F415-11DB-F7A5-B0377BE6A156}"/>
              </a:ext>
            </a:extLst>
          </p:cNvPr>
          <p:cNvSpPr>
            <a:spLocks noGrp="1"/>
          </p:cNvSpPr>
          <p:nvPr>
            <p:ph type="sldNum" sz="quarter" idx="11"/>
          </p:nvPr>
        </p:nvSpPr>
        <p:spPr/>
        <p:txBody>
          <a:bodyPr/>
          <a:lstStyle/>
          <a:p>
            <a:pPr>
              <a:defRPr/>
            </a:pPr>
            <a:fld id="{110871B5-850E-4E14-A636-3EC679EBF038}" type="slidenum">
              <a:rPr lang="en-US" altLang="zh-CN" smtClean="0"/>
              <a:pPr>
                <a:defRPr/>
              </a:pPr>
              <a:t>41</a:t>
            </a:fld>
            <a:endParaRPr lang="en-US" altLang="zh-CN"/>
          </a:p>
        </p:txBody>
      </p:sp>
    </p:spTree>
    <p:extLst>
      <p:ext uri="{BB962C8B-B14F-4D97-AF65-F5344CB8AC3E}">
        <p14:creationId xmlns:p14="http://schemas.microsoft.com/office/powerpoint/2010/main" val="1092990741"/>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cron</a:t>
            </a:r>
            <a:r>
              <a:rPr lang="zh-CN" altLang="en-US" dirty="0"/>
              <a:t>调度</a:t>
            </a:r>
          </a:p>
        </p:txBody>
      </p:sp>
      <p:sp>
        <p:nvSpPr>
          <p:cNvPr id="3" name="内容占位符 2"/>
          <p:cNvSpPr>
            <a:spLocks noGrp="1"/>
          </p:cNvSpPr>
          <p:nvPr>
            <p:ph idx="1"/>
          </p:nvPr>
        </p:nvSpPr>
        <p:spPr>
          <a:xfrm>
            <a:off x="1116541" y="1465610"/>
            <a:ext cx="10058400" cy="4411662"/>
          </a:xfrm>
        </p:spPr>
        <p:txBody>
          <a:bodyPr/>
          <a:lstStyle/>
          <a:p>
            <a:pPr marL="0" indent="0">
              <a:lnSpc>
                <a:spcPct val="150000"/>
              </a:lnSpc>
              <a:buNone/>
            </a:pPr>
            <a:r>
              <a:rPr lang="zh-CN" altLang="en-US" sz="2600" dirty="0"/>
              <a:t>例如：</a:t>
            </a:r>
            <a:r>
              <a:rPr lang="en-US" altLang="zh-CN" sz="2600" dirty="0" err="1"/>
              <a:t>helen</a:t>
            </a:r>
            <a:r>
              <a:rPr lang="zh-CN" altLang="en-US" sz="2600" dirty="0"/>
              <a:t>用户查看</a:t>
            </a:r>
            <a:r>
              <a:rPr lang="en-US" altLang="zh-CN" sz="2600" dirty="0"/>
              <a:t>cron</a:t>
            </a:r>
            <a:r>
              <a:rPr lang="zh-CN" altLang="en-US" sz="2600" dirty="0"/>
              <a:t>调度的内容。</a:t>
            </a:r>
            <a:endParaRPr lang="en-US" altLang="zh-CN" sz="2600" dirty="0"/>
          </a:p>
          <a:p>
            <a:pPr marL="0" indent="0">
              <a:lnSpc>
                <a:spcPct val="150000"/>
              </a:lnSpc>
              <a:buNone/>
            </a:pPr>
            <a:r>
              <a:rPr lang="zh-CN" altLang="en-US" sz="2600" dirty="0"/>
              <a:t>［</a:t>
            </a:r>
            <a:r>
              <a:rPr lang="en-US" altLang="zh-CN" sz="2600" dirty="0" err="1">
                <a:solidFill>
                  <a:srgbClr val="0000CC"/>
                </a:solidFill>
              </a:rPr>
              <a:t>helen</a:t>
            </a:r>
            <a:r>
              <a:rPr lang="en-US" altLang="zh-CN" sz="2600" dirty="0">
                <a:solidFill>
                  <a:srgbClr val="0000CC"/>
                </a:solidFill>
              </a:rPr>
              <a:t>@  localhost  ~</a:t>
            </a:r>
            <a:r>
              <a:rPr lang="zh-CN" altLang="en-US" sz="2600" dirty="0"/>
              <a:t>］ </a:t>
            </a:r>
            <a:r>
              <a:rPr lang="en-US" altLang="zh-CN" sz="2600" dirty="0"/>
              <a:t>$  </a:t>
            </a:r>
            <a:r>
              <a:rPr lang="en-US" altLang="zh-CN" sz="2600" dirty="0">
                <a:solidFill>
                  <a:srgbClr val="0000CC"/>
                </a:solidFill>
              </a:rPr>
              <a:t>crontab  -l</a:t>
            </a:r>
          </a:p>
          <a:p>
            <a:pPr marL="0" indent="0">
              <a:lnSpc>
                <a:spcPct val="150000"/>
              </a:lnSpc>
              <a:buNone/>
            </a:pPr>
            <a:r>
              <a:rPr lang="en-US" altLang="zh-CN" sz="2200" dirty="0"/>
              <a:t>00  17  * *  5 tar -</a:t>
            </a:r>
            <a:r>
              <a:rPr lang="en-US" altLang="zh-CN" sz="2200" dirty="0" err="1"/>
              <a:t>czf</a:t>
            </a:r>
            <a:r>
              <a:rPr lang="en-US" altLang="zh-CN" sz="2200" dirty="0"/>
              <a:t> /backup/helen-data.tar.gz   /home/helen/data </a:t>
            </a:r>
            <a:endParaRPr lang="zh-CN" altLang="en-US" sz="2200" dirty="0"/>
          </a:p>
          <a:p>
            <a:pPr marL="0" indent="0">
              <a:lnSpc>
                <a:spcPct val="150000"/>
              </a:lnSpc>
              <a:buNone/>
            </a:pPr>
            <a:r>
              <a:rPr lang="zh-CN" altLang="en-US" sz="2500" dirty="0"/>
              <a:t>管理员</a:t>
            </a:r>
            <a:r>
              <a:rPr lang="en-US" altLang="zh-CN" sz="2500" dirty="0"/>
              <a:t>root</a:t>
            </a:r>
            <a:r>
              <a:rPr lang="zh-CN" altLang="en-US" sz="2500" dirty="0"/>
              <a:t>可以查看</a:t>
            </a:r>
            <a:r>
              <a:rPr lang="en-US" altLang="zh-CN" sz="2500" dirty="0"/>
              <a:t>/var/spool/cron</a:t>
            </a:r>
            <a:r>
              <a:rPr lang="zh-CN" altLang="en-US" sz="2500" dirty="0"/>
              <a:t>目录下的</a:t>
            </a:r>
            <a:r>
              <a:rPr lang="en-US" altLang="zh-CN" sz="2500" dirty="0"/>
              <a:t>crontab</a:t>
            </a:r>
            <a:r>
              <a:rPr lang="zh-CN" altLang="en-US" sz="2500" dirty="0"/>
              <a:t>文件：</a:t>
            </a:r>
            <a:endParaRPr lang="en-US" altLang="zh-CN" sz="2500" dirty="0"/>
          </a:p>
          <a:p>
            <a:pPr marL="0" indent="0">
              <a:lnSpc>
                <a:spcPct val="150000"/>
              </a:lnSpc>
              <a:buNone/>
            </a:pPr>
            <a:r>
              <a:rPr lang="zh-CN" altLang="en-US" sz="2500" dirty="0"/>
              <a:t>［</a:t>
            </a:r>
            <a:r>
              <a:rPr lang="en-US" altLang="zh-CN" sz="2500" dirty="0"/>
              <a:t>root@ localhost  ~</a:t>
            </a:r>
            <a:r>
              <a:rPr lang="zh-CN" altLang="en-US" sz="2500" dirty="0"/>
              <a:t>］ </a:t>
            </a:r>
            <a:r>
              <a:rPr lang="en-US" altLang="zh-CN" sz="2500" dirty="0"/>
              <a:t>#   </a:t>
            </a:r>
            <a:r>
              <a:rPr lang="sv-SE" altLang="zh-CN" sz="2500" dirty="0"/>
              <a:t>cat  /var/spool/cron/helen</a:t>
            </a:r>
            <a:endParaRPr lang="en-US" altLang="zh-CN" sz="2500" dirty="0"/>
          </a:p>
          <a:p>
            <a:pPr marL="0" indent="0">
              <a:lnSpc>
                <a:spcPct val="150000"/>
              </a:lnSpc>
              <a:buNone/>
            </a:pPr>
            <a:r>
              <a:rPr lang="en-US" altLang="zh-CN" sz="2200" dirty="0"/>
              <a:t>00  17  * *  5 tar -</a:t>
            </a:r>
            <a:r>
              <a:rPr lang="en-US" altLang="zh-CN" sz="2200" dirty="0" err="1"/>
              <a:t>czf</a:t>
            </a:r>
            <a:r>
              <a:rPr lang="en-US" altLang="zh-CN" sz="2200" dirty="0"/>
              <a:t> /backup/helen-data.tar.gz   /home/helen/data </a:t>
            </a:r>
            <a:endParaRPr lang="zh-CN" altLang="en-US" sz="2200" dirty="0"/>
          </a:p>
          <a:p>
            <a:pPr marL="0" indent="0">
              <a:buNone/>
            </a:pPr>
            <a:r>
              <a:rPr lang="zh-CN" altLang="en-US" sz="2600" dirty="0"/>
              <a:t> </a:t>
            </a:r>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42</a:t>
            </a:fld>
            <a:endParaRPr lang="en-US" altLang="zh-CN"/>
          </a:p>
        </p:txBody>
      </p:sp>
    </p:spTree>
    <p:extLst>
      <p:ext uri="{BB962C8B-B14F-4D97-AF65-F5344CB8AC3E}">
        <p14:creationId xmlns:p14="http://schemas.microsoft.com/office/powerpoint/2010/main" val="3222392498"/>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cron</a:t>
            </a:r>
            <a:r>
              <a:rPr lang="zh-CN" altLang="en-US" dirty="0"/>
              <a:t>调度</a:t>
            </a:r>
          </a:p>
        </p:txBody>
      </p:sp>
      <p:sp>
        <p:nvSpPr>
          <p:cNvPr id="3" name="内容占位符 2"/>
          <p:cNvSpPr>
            <a:spLocks noGrp="1"/>
          </p:cNvSpPr>
          <p:nvPr>
            <p:ph idx="1"/>
          </p:nvPr>
        </p:nvSpPr>
        <p:spPr>
          <a:xfrm>
            <a:off x="1199456" y="1556792"/>
            <a:ext cx="10153128" cy="4411662"/>
          </a:xfrm>
        </p:spPr>
        <p:txBody>
          <a:bodyPr/>
          <a:lstStyle/>
          <a:p>
            <a:pPr marL="0" indent="0">
              <a:lnSpc>
                <a:spcPct val="150000"/>
              </a:lnSpc>
              <a:buNone/>
            </a:pPr>
            <a:r>
              <a:rPr lang="zh-CN" altLang="en-US" sz="2600" dirty="0"/>
              <a:t>例如：</a:t>
            </a:r>
            <a:r>
              <a:rPr lang="en-US" altLang="zh-CN" sz="2600" dirty="0" err="1"/>
              <a:t>helen</a:t>
            </a:r>
            <a:r>
              <a:rPr lang="zh-CN" altLang="en-US" sz="2600" dirty="0"/>
              <a:t>用户删除</a:t>
            </a:r>
            <a:r>
              <a:rPr lang="en-US" altLang="zh-CN" sz="2600" dirty="0"/>
              <a:t>cron</a:t>
            </a:r>
            <a:r>
              <a:rPr lang="zh-CN" altLang="en-US" sz="2600" dirty="0"/>
              <a:t>调度。</a:t>
            </a:r>
            <a:endParaRPr lang="en-US" altLang="zh-CN" sz="2600" dirty="0"/>
          </a:p>
          <a:p>
            <a:pPr marL="0" indent="0">
              <a:lnSpc>
                <a:spcPct val="150000"/>
              </a:lnSpc>
              <a:buNone/>
            </a:pPr>
            <a:r>
              <a:rPr lang="zh-CN" altLang="en-US" sz="2600" dirty="0"/>
              <a:t>［</a:t>
            </a:r>
            <a:r>
              <a:rPr lang="en-US" altLang="zh-CN" sz="2600" dirty="0" err="1">
                <a:solidFill>
                  <a:srgbClr val="0000CC"/>
                </a:solidFill>
              </a:rPr>
              <a:t>helen</a:t>
            </a:r>
            <a:r>
              <a:rPr lang="en-US" altLang="zh-CN" sz="2600" dirty="0">
                <a:solidFill>
                  <a:srgbClr val="0000CC"/>
                </a:solidFill>
              </a:rPr>
              <a:t>@  localhost  ~</a:t>
            </a:r>
            <a:r>
              <a:rPr lang="zh-CN" altLang="en-US" sz="2600" dirty="0"/>
              <a:t>］ </a:t>
            </a:r>
            <a:r>
              <a:rPr lang="en-US" altLang="zh-CN" sz="2600" dirty="0"/>
              <a:t>$  </a:t>
            </a:r>
            <a:r>
              <a:rPr lang="en-US" altLang="zh-CN" sz="2600" dirty="0">
                <a:solidFill>
                  <a:srgbClr val="0000CC"/>
                </a:solidFill>
              </a:rPr>
              <a:t>crontab  -r</a:t>
            </a:r>
          </a:p>
          <a:p>
            <a:pPr marL="0" indent="0">
              <a:lnSpc>
                <a:spcPct val="150000"/>
              </a:lnSpc>
              <a:buNone/>
            </a:pPr>
            <a:r>
              <a:rPr lang="zh-CN" altLang="en-US" sz="2600" dirty="0"/>
              <a:t>［</a:t>
            </a:r>
            <a:r>
              <a:rPr lang="en-US" altLang="zh-CN" sz="2600" dirty="0" err="1">
                <a:solidFill>
                  <a:srgbClr val="0000CC"/>
                </a:solidFill>
              </a:rPr>
              <a:t>helen</a:t>
            </a:r>
            <a:r>
              <a:rPr lang="en-US" altLang="zh-CN" sz="2600" dirty="0">
                <a:solidFill>
                  <a:srgbClr val="0000CC"/>
                </a:solidFill>
              </a:rPr>
              <a:t>@  localhost  ~</a:t>
            </a:r>
            <a:r>
              <a:rPr lang="zh-CN" altLang="en-US" sz="2600" dirty="0"/>
              <a:t>］ </a:t>
            </a:r>
            <a:r>
              <a:rPr lang="en-US" altLang="zh-CN" sz="2600" dirty="0"/>
              <a:t>$  crontab  -l</a:t>
            </a:r>
          </a:p>
          <a:p>
            <a:pPr marL="0" indent="0">
              <a:lnSpc>
                <a:spcPct val="150000"/>
              </a:lnSpc>
              <a:buNone/>
            </a:pPr>
            <a:r>
              <a:rPr lang="en-US" altLang="zh-CN" sz="2600" dirty="0"/>
              <a:t>  no crontab for helen</a:t>
            </a:r>
            <a:endParaRPr lang="zh-CN" altLang="en-US" sz="2600" dirty="0"/>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43</a:t>
            </a:fld>
            <a:endParaRPr lang="en-US" altLang="zh-CN"/>
          </a:p>
        </p:txBody>
      </p:sp>
    </p:spTree>
    <p:extLst>
      <p:ext uri="{BB962C8B-B14F-4D97-AF65-F5344CB8AC3E}">
        <p14:creationId xmlns:p14="http://schemas.microsoft.com/office/powerpoint/2010/main" val="824400795"/>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1" name="Rectangle 3"/>
          <p:cNvSpPr>
            <a:spLocks noGrp="1" noChangeArrowheads="1"/>
          </p:cNvSpPr>
          <p:nvPr>
            <p:ph type="body" idx="1"/>
          </p:nvPr>
        </p:nvSpPr>
        <p:spPr>
          <a:xfrm>
            <a:off x="1019436" y="1480584"/>
            <a:ext cx="10153128" cy="4627686"/>
          </a:xfrm>
        </p:spPr>
        <p:txBody>
          <a:bodyPr/>
          <a:lstStyle/>
          <a:p>
            <a:pPr>
              <a:lnSpc>
                <a:spcPct val="120000"/>
              </a:lnSpc>
            </a:pPr>
            <a:r>
              <a:rPr lang="en-US" altLang="zh-CN" sz="2600" dirty="0">
                <a:latin typeface="+mn-ea"/>
              </a:rPr>
              <a:t>Linux</a:t>
            </a:r>
            <a:r>
              <a:rPr lang="zh-CN" altLang="en-US" sz="2600" dirty="0">
                <a:latin typeface="+mn-ea"/>
              </a:rPr>
              <a:t>是一个多用户、多任务的操作系统，在同一时间允许多个用户向操作系统发出各种操作命令。每当运行一个命令时，系统就会同时启动一个进程。</a:t>
            </a:r>
            <a:r>
              <a:rPr lang="en-US" altLang="zh-CN" sz="2600" dirty="0">
                <a:latin typeface="+mn-ea"/>
              </a:rPr>
              <a:t>Linux</a:t>
            </a:r>
            <a:r>
              <a:rPr lang="zh-CN" altLang="en-US" sz="2600" dirty="0">
                <a:latin typeface="+mn-ea"/>
              </a:rPr>
              <a:t>操作系统是多进程并发环境，进程之间呈现为多级结构。</a:t>
            </a:r>
          </a:p>
          <a:p>
            <a:pPr>
              <a:lnSpc>
                <a:spcPct val="120000"/>
              </a:lnSpc>
            </a:pPr>
            <a:r>
              <a:rPr lang="en-US" altLang="zh-CN" sz="2600" dirty="0">
                <a:latin typeface="+mn-ea"/>
              </a:rPr>
              <a:t>Linux</a:t>
            </a:r>
            <a:r>
              <a:rPr lang="zh-CN" altLang="en-US" sz="2600" dirty="0">
                <a:latin typeface="+mn-ea"/>
              </a:rPr>
              <a:t>系统在刚刚启动时，运行于内核方式，此时只有一个初始化进程在运行，该进程首先对系统进行初始化，然后执行初始化程序，初始化进程是系统的第一个进程（</a:t>
            </a:r>
            <a:r>
              <a:rPr lang="en-US" altLang="zh-CN" sz="2600" dirty="0" err="1">
                <a:latin typeface="+mn-ea"/>
              </a:rPr>
              <a:t>init</a:t>
            </a:r>
            <a:r>
              <a:rPr lang="zh-CN" altLang="en-US" sz="2600" dirty="0">
                <a:latin typeface="+mn-ea"/>
              </a:rPr>
              <a:t>进程，</a:t>
            </a:r>
            <a:r>
              <a:rPr lang="en-US" altLang="zh-CN" sz="2600" dirty="0">
                <a:latin typeface="+mn-ea"/>
              </a:rPr>
              <a:t>1</a:t>
            </a:r>
            <a:r>
              <a:rPr lang="zh-CN" altLang="en-US" sz="2600" dirty="0">
                <a:latin typeface="+mn-ea"/>
              </a:rPr>
              <a:t>进程），以后的所有进程都是初始化进程的子进程。</a:t>
            </a:r>
          </a:p>
        </p:txBody>
      </p:sp>
      <p:sp>
        <p:nvSpPr>
          <p:cNvPr id="4" name="Rectangle 2"/>
          <p:cNvSpPr>
            <a:spLocks noGrp="1" noRot="1" noChangeArrowheads="1"/>
          </p:cNvSpPr>
          <p:nvPr>
            <p:ph type="title"/>
          </p:nvPr>
        </p:nvSpPr>
        <p:spPr>
          <a:xfrm>
            <a:off x="1847528" y="505635"/>
            <a:ext cx="8856984" cy="868363"/>
          </a:xfrm>
        </p:spPr>
        <p:txBody>
          <a:bodyPr/>
          <a:lstStyle/>
          <a:p>
            <a:r>
              <a:rPr lang="en-US" altLang="zh-CN" dirty="0"/>
              <a:t>7.4  </a:t>
            </a:r>
            <a:r>
              <a:rPr lang="zh-CN" altLang="en-US" dirty="0"/>
              <a:t>进程的创建</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44</a:t>
            </a:fld>
            <a:endParaRPr lang="en-US" altLang="zh-CN"/>
          </a:p>
        </p:txBody>
      </p:sp>
    </p:spTree>
    <p:extLst>
      <p:ext uri="{BB962C8B-B14F-4D97-AF65-F5344CB8AC3E}">
        <p14:creationId xmlns:p14="http://schemas.microsoft.com/office/powerpoint/2010/main" val="23236448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a:extLst>
              <a:ext uri="{FF2B5EF4-FFF2-40B4-BE49-F238E27FC236}">
                <a16:creationId xmlns:a16="http://schemas.microsoft.com/office/drawing/2014/main" id="{AD28543D-48ED-169D-FB34-BCF8DAA36140}"/>
              </a:ext>
            </a:extLst>
          </p:cNvPr>
          <p:cNvSpPr>
            <a:spLocks noGrp="1"/>
          </p:cNvSpPr>
          <p:nvPr>
            <p:ph type="title"/>
          </p:nvPr>
        </p:nvSpPr>
        <p:spPr/>
        <p:txBody>
          <a:bodyPr/>
          <a:lstStyle/>
          <a:p>
            <a:r>
              <a:rPr lang="zh-CN" altLang="en-US" dirty="0"/>
              <a:t>进程层次</a:t>
            </a:r>
          </a:p>
        </p:txBody>
      </p:sp>
      <p:sp>
        <p:nvSpPr>
          <p:cNvPr id="303107" name="Rectangle 3">
            <a:extLst>
              <a:ext uri="{FF2B5EF4-FFF2-40B4-BE49-F238E27FC236}">
                <a16:creationId xmlns:a16="http://schemas.microsoft.com/office/drawing/2014/main" id="{5A4F143F-0F33-9BDC-9135-37927348ED7E}"/>
              </a:ext>
            </a:extLst>
          </p:cNvPr>
          <p:cNvSpPr>
            <a:spLocks noGrp="1"/>
          </p:cNvSpPr>
          <p:nvPr>
            <p:ph type="body" idx="1"/>
          </p:nvPr>
        </p:nvSpPr>
        <p:spPr>
          <a:xfrm>
            <a:off x="1044956" y="1413874"/>
            <a:ext cx="10153128" cy="4411662"/>
          </a:xfrm>
        </p:spPr>
        <p:txBody>
          <a:bodyPr/>
          <a:lstStyle/>
          <a:p>
            <a:r>
              <a:rPr lang="zh-CN" altLang="en-US" sz="2600" dirty="0"/>
              <a:t>进程</a:t>
            </a:r>
            <a:r>
              <a:rPr lang="en-US" altLang="zh-CN" sz="2600" dirty="0" err="1"/>
              <a:t>init</a:t>
            </a:r>
            <a:r>
              <a:rPr lang="zh-CN" altLang="en-US" sz="2600" dirty="0"/>
              <a:t>为每个终端进程创建管理进程，等待用户登录，用户登录后再为每个用户启动一个</a:t>
            </a:r>
            <a:r>
              <a:rPr lang="en-US" altLang="zh-CN" sz="2600" dirty="0"/>
              <a:t>shell</a:t>
            </a:r>
            <a:r>
              <a:rPr lang="zh-CN" altLang="en-US" sz="2600" dirty="0"/>
              <a:t>进程，接收用户命令。初始化进程通过函数调用</a:t>
            </a:r>
            <a:r>
              <a:rPr lang="en-US" altLang="zh-CN" sz="2600" dirty="0"/>
              <a:t>fork()</a:t>
            </a:r>
            <a:r>
              <a:rPr lang="zh-CN" altLang="en-US" sz="2600" dirty="0"/>
              <a:t>创建一系列的系统进程。</a:t>
            </a:r>
          </a:p>
        </p:txBody>
      </p:sp>
      <p:grpSp>
        <p:nvGrpSpPr>
          <p:cNvPr id="303119" name="Group 15">
            <a:extLst>
              <a:ext uri="{FF2B5EF4-FFF2-40B4-BE49-F238E27FC236}">
                <a16:creationId xmlns:a16="http://schemas.microsoft.com/office/drawing/2014/main" id="{89578103-9FF0-9C90-DEAB-C789D0B71EFA}"/>
              </a:ext>
            </a:extLst>
          </p:cNvPr>
          <p:cNvGrpSpPr>
            <a:grpSpLocks/>
          </p:cNvGrpSpPr>
          <p:nvPr/>
        </p:nvGrpSpPr>
        <p:grpSpPr bwMode="auto">
          <a:xfrm>
            <a:off x="3359696" y="3068960"/>
            <a:ext cx="5329262" cy="3024336"/>
            <a:chOff x="1383" y="1843"/>
            <a:chExt cx="2769" cy="1587"/>
          </a:xfrm>
        </p:grpSpPr>
        <p:sp>
          <p:nvSpPr>
            <p:cNvPr id="303108" name="Oval 4">
              <a:extLst>
                <a:ext uri="{FF2B5EF4-FFF2-40B4-BE49-F238E27FC236}">
                  <a16:creationId xmlns:a16="http://schemas.microsoft.com/office/drawing/2014/main" id="{C5FC1154-414B-2174-BA34-8FE131214569}"/>
                </a:ext>
              </a:extLst>
            </p:cNvPr>
            <p:cNvSpPr>
              <a:spLocks noChangeArrowheads="1"/>
            </p:cNvSpPr>
            <p:nvPr/>
          </p:nvSpPr>
          <p:spPr bwMode="auto">
            <a:xfrm>
              <a:off x="2517" y="1843"/>
              <a:ext cx="602" cy="578"/>
            </a:xfrm>
            <a:prstGeom prst="ellipse">
              <a:avLst/>
            </a:prstGeom>
            <a:solidFill>
              <a:schemeClr val="accent2"/>
            </a:solidFill>
            <a:ln w="9525">
              <a:solidFill>
                <a:srgbClr val="000000"/>
              </a:solidFill>
              <a:round/>
              <a:headEnd/>
              <a:tailEnd/>
            </a:ln>
          </p:spPr>
          <p:txBody>
            <a:bodyPr/>
            <a:lstStyle/>
            <a:p>
              <a:pPr algn="just" eaLnBrk="0" hangingPunct="0"/>
              <a:r>
                <a:rPr lang="en-US" altLang="zh-CN" sz="2400" dirty="0" err="1">
                  <a:solidFill>
                    <a:schemeClr val="bg1"/>
                  </a:solidFill>
                  <a:latin typeface="Times New Roman" panose="02020603050405020304" pitchFamily="18" charset="0"/>
                </a:rPr>
                <a:t>init</a:t>
              </a:r>
              <a:endParaRPr lang="en-US" altLang="zh-CN" sz="2400" dirty="0">
                <a:solidFill>
                  <a:schemeClr val="bg1"/>
                </a:solidFill>
                <a:latin typeface="Times New Roman" panose="02020603050405020304" pitchFamily="18" charset="0"/>
              </a:endParaRPr>
            </a:p>
          </p:txBody>
        </p:sp>
        <p:sp>
          <p:nvSpPr>
            <p:cNvPr id="303109" name="Oval 5">
              <a:extLst>
                <a:ext uri="{FF2B5EF4-FFF2-40B4-BE49-F238E27FC236}">
                  <a16:creationId xmlns:a16="http://schemas.microsoft.com/office/drawing/2014/main" id="{22E3E16B-47E6-FE81-4CC8-FE3D8D8E658B}"/>
                </a:ext>
              </a:extLst>
            </p:cNvPr>
            <p:cNvSpPr>
              <a:spLocks noChangeArrowheads="1"/>
            </p:cNvSpPr>
            <p:nvPr/>
          </p:nvSpPr>
          <p:spPr bwMode="auto">
            <a:xfrm>
              <a:off x="1984" y="2452"/>
              <a:ext cx="482" cy="417"/>
            </a:xfrm>
            <a:prstGeom prst="ellipse">
              <a:avLst/>
            </a:prstGeom>
            <a:solidFill>
              <a:schemeClr val="accent2"/>
            </a:solidFill>
            <a:ln w="9525">
              <a:solidFill>
                <a:schemeClr val="bg2"/>
              </a:solidFill>
              <a:round/>
              <a:headEnd/>
              <a:tailEnd/>
            </a:ln>
          </p:spPr>
          <p:txBody>
            <a:bodyPr/>
            <a:lstStyle/>
            <a:p>
              <a:pPr algn="just" eaLnBrk="0" hangingPunct="0"/>
              <a:r>
                <a:rPr lang="en-US" altLang="zh-CN" sz="2400" dirty="0">
                  <a:solidFill>
                    <a:schemeClr val="bg1"/>
                  </a:solidFill>
                  <a:latin typeface="Times New Roman" panose="02020603050405020304" pitchFamily="18" charset="0"/>
                </a:rPr>
                <a:t>A</a:t>
              </a:r>
            </a:p>
          </p:txBody>
        </p:sp>
        <p:sp>
          <p:nvSpPr>
            <p:cNvPr id="303110" name="Oval 6">
              <a:extLst>
                <a:ext uri="{FF2B5EF4-FFF2-40B4-BE49-F238E27FC236}">
                  <a16:creationId xmlns:a16="http://schemas.microsoft.com/office/drawing/2014/main" id="{DACA79F8-FB5C-5B8A-B666-AFCCF5347797}"/>
                </a:ext>
              </a:extLst>
            </p:cNvPr>
            <p:cNvSpPr>
              <a:spLocks noChangeArrowheads="1"/>
            </p:cNvSpPr>
            <p:nvPr/>
          </p:nvSpPr>
          <p:spPr bwMode="auto">
            <a:xfrm>
              <a:off x="3308" y="2452"/>
              <a:ext cx="481" cy="417"/>
            </a:xfrm>
            <a:prstGeom prst="ellipse">
              <a:avLst/>
            </a:prstGeom>
            <a:solidFill>
              <a:schemeClr val="accent2"/>
            </a:solidFill>
            <a:ln w="9525">
              <a:solidFill>
                <a:srgbClr val="000000"/>
              </a:solidFill>
              <a:round/>
              <a:headEnd/>
              <a:tailEnd/>
            </a:ln>
          </p:spPr>
          <p:txBody>
            <a:bodyPr/>
            <a:lstStyle/>
            <a:p>
              <a:pPr algn="just" eaLnBrk="0" hangingPunct="0"/>
              <a:r>
                <a:rPr lang="en-US" altLang="zh-CN" sz="2400">
                  <a:solidFill>
                    <a:schemeClr val="bg1"/>
                  </a:solidFill>
                  <a:latin typeface="Times New Roman" panose="02020603050405020304" pitchFamily="18" charset="0"/>
                </a:rPr>
                <a:t>B</a:t>
              </a:r>
            </a:p>
          </p:txBody>
        </p:sp>
        <p:sp>
          <p:nvSpPr>
            <p:cNvPr id="303111" name="Line 7">
              <a:extLst>
                <a:ext uri="{FF2B5EF4-FFF2-40B4-BE49-F238E27FC236}">
                  <a16:creationId xmlns:a16="http://schemas.microsoft.com/office/drawing/2014/main" id="{1B13EDB2-0F90-146E-8B5D-9472C41ECEC8}"/>
                </a:ext>
              </a:extLst>
            </p:cNvPr>
            <p:cNvSpPr>
              <a:spLocks noChangeShapeType="1"/>
            </p:cNvSpPr>
            <p:nvPr/>
          </p:nvSpPr>
          <p:spPr bwMode="auto">
            <a:xfrm flipH="1">
              <a:off x="2345" y="2348"/>
              <a:ext cx="241" cy="2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3112" name="Line 8">
              <a:extLst>
                <a:ext uri="{FF2B5EF4-FFF2-40B4-BE49-F238E27FC236}">
                  <a16:creationId xmlns:a16="http://schemas.microsoft.com/office/drawing/2014/main" id="{A465333A-F0D2-5231-7C4D-62B7F75BB044}"/>
                </a:ext>
              </a:extLst>
            </p:cNvPr>
            <p:cNvSpPr>
              <a:spLocks noChangeShapeType="1"/>
            </p:cNvSpPr>
            <p:nvPr/>
          </p:nvSpPr>
          <p:spPr bwMode="auto">
            <a:xfrm>
              <a:off x="3067" y="2348"/>
              <a:ext cx="241" cy="2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3113" name="Oval 9">
              <a:extLst>
                <a:ext uri="{FF2B5EF4-FFF2-40B4-BE49-F238E27FC236}">
                  <a16:creationId xmlns:a16="http://schemas.microsoft.com/office/drawing/2014/main" id="{46FA39BE-1BB0-BB2C-CB91-963AB67F5C9A}"/>
                </a:ext>
              </a:extLst>
            </p:cNvPr>
            <p:cNvSpPr>
              <a:spLocks noChangeArrowheads="1"/>
            </p:cNvSpPr>
            <p:nvPr/>
          </p:nvSpPr>
          <p:spPr bwMode="auto">
            <a:xfrm>
              <a:off x="1383" y="2974"/>
              <a:ext cx="481" cy="417"/>
            </a:xfrm>
            <a:prstGeom prst="ellipse">
              <a:avLst/>
            </a:prstGeom>
            <a:solidFill>
              <a:schemeClr val="accent2"/>
            </a:solidFill>
            <a:ln w="9525">
              <a:solidFill>
                <a:srgbClr val="000000"/>
              </a:solidFill>
              <a:round/>
              <a:headEnd/>
              <a:tailEnd/>
            </a:ln>
          </p:spPr>
          <p:txBody>
            <a:bodyPr/>
            <a:lstStyle/>
            <a:p>
              <a:pPr algn="just" eaLnBrk="0" hangingPunct="0"/>
              <a:r>
                <a:rPr lang="en-US" altLang="zh-CN" sz="2400">
                  <a:solidFill>
                    <a:schemeClr val="bg1"/>
                  </a:solidFill>
                  <a:latin typeface="Times New Roman" panose="02020603050405020304" pitchFamily="18" charset="0"/>
                </a:rPr>
                <a:t>C</a:t>
              </a:r>
            </a:p>
          </p:txBody>
        </p:sp>
        <p:sp>
          <p:nvSpPr>
            <p:cNvPr id="303114" name="Oval 10">
              <a:extLst>
                <a:ext uri="{FF2B5EF4-FFF2-40B4-BE49-F238E27FC236}">
                  <a16:creationId xmlns:a16="http://schemas.microsoft.com/office/drawing/2014/main" id="{986F229D-35D6-13AA-A05C-1B4335EBE0EB}"/>
                </a:ext>
              </a:extLst>
            </p:cNvPr>
            <p:cNvSpPr>
              <a:spLocks noChangeArrowheads="1"/>
            </p:cNvSpPr>
            <p:nvPr/>
          </p:nvSpPr>
          <p:spPr bwMode="auto">
            <a:xfrm>
              <a:off x="2472" y="2974"/>
              <a:ext cx="481" cy="417"/>
            </a:xfrm>
            <a:prstGeom prst="ellipse">
              <a:avLst/>
            </a:prstGeom>
            <a:solidFill>
              <a:schemeClr val="accent2"/>
            </a:solidFill>
            <a:ln w="9525">
              <a:solidFill>
                <a:srgbClr val="000000"/>
              </a:solidFill>
              <a:round/>
              <a:headEnd/>
              <a:tailEnd/>
            </a:ln>
          </p:spPr>
          <p:txBody>
            <a:bodyPr/>
            <a:lstStyle/>
            <a:p>
              <a:pPr algn="just" eaLnBrk="0" hangingPunct="0"/>
              <a:r>
                <a:rPr lang="en-US" altLang="zh-CN" sz="2400" dirty="0">
                  <a:solidFill>
                    <a:schemeClr val="bg1"/>
                  </a:solidFill>
                  <a:latin typeface="Times New Roman" panose="02020603050405020304" pitchFamily="18" charset="0"/>
                </a:rPr>
                <a:t>D</a:t>
              </a:r>
            </a:p>
          </p:txBody>
        </p:sp>
        <p:sp>
          <p:nvSpPr>
            <p:cNvPr id="303115" name="Line 11">
              <a:extLst>
                <a:ext uri="{FF2B5EF4-FFF2-40B4-BE49-F238E27FC236}">
                  <a16:creationId xmlns:a16="http://schemas.microsoft.com/office/drawing/2014/main" id="{47F0867A-DFAB-92A7-36DB-56CAA061DB4B}"/>
                </a:ext>
              </a:extLst>
            </p:cNvPr>
            <p:cNvSpPr>
              <a:spLocks noChangeShapeType="1"/>
            </p:cNvSpPr>
            <p:nvPr/>
          </p:nvSpPr>
          <p:spPr bwMode="auto">
            <a:xfrm flipH="1">
              <a:off x="1744" y="2765"/>
              <a:ext cx="240" cy="2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3116" name="Line 12">
              <a:extLst>
                <a:ext uri="{FF2B5EF4-FFF2-40B4-BE49-F238E27FC236}">
                  <a16:creationId xmlns:a16="http://schemas.microsoft.com/office/drawing/2014/main" id="{5B1110BE-CA68-11E2-892E-7EFE7B03579C}"/>
                </a:ext>
              </a:extLst>
            </p:cNvPr>
            <p:cNvSpPr>
              <a:spLocks noChangeShapeType="1"/>
            </p:cNvSpPr>
            <p:nvPr/>
          </p:nvSpPr>
          <p:spPr bwMode="auto">
            <a:xfrm>
              <a:off x="2466" y="2709"/>
              <a:ext cx="120" cy="26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3117" name="Oval 13">
              <a:extLst>
                <a:ext uri="{FF2B5EF4-FFF2-40B4-BE49-F238E27FC236}">
                  <a16:creationId xmlns:a16="http://schemas.microsoft.com/office/drawing/2014/main" id="{1B1115C8-8830-F977-4133-590657DFA4DC}"/>
                </a:ext>
              </a:extLst>
            </p:cNvPr>
            <p:cNvSpPr>
              <a:spLocks noChangeArrowheads="1"/>
            </p:cNvSpPr>
            <p:nvPr/>
          </p:nvSpPr>
          <p:spPr bwMode="auto">
            <a:xfrm>
              <a:off x="3671" y="3013"/>
              <a:ext cx="481" cy="417"/>
            </a:xfrm>
            <a:prstGeom prst="ellipse">
              <a:avLst/>
            </a:prstGeom>
            <a:solidFill>
              <a:schemeClr val="accent2"/>
            </a:solidFill>
            <a:ln w="9525">
              <a:solidFill>
                <a:srgbClr val="000000"/>
              </a:solidFill>
              <a:round/>
              <a:headEnd/>
              <a:tailEnd/>
            </a:ln>
          </p:spPr>
          <p:txBody>
            <a:bodyPr/>
            <a:lstStyle/>
            <a:p>
              <a:pPr algn="just" eaLnBrk="0" hangingPunct="0"/>
              <a:r>
                <a:rPr lang="en-US" altLang="zh-CN" sz="2400">
                  <a:solidFill>
                    <a:schemeClr val="bg1"/>
                  </a:solidFill>
                  <a:latin typeface="Times New Roman" panose="02020603050405020304" pitchFamily="18" charset="0"/>
                </a:rPr>
                <a:t>E</a:t>
              </a:r>
            </a:p>
          </p:txBody>
        </p:sp>
        <p:sp>
          <p:nvSpPr>
            <p:cNvPr id="303118" name="Line 14">
              <a:extLst>
                <a:ext uri="{FF2B5EF4-FFF2-40B4-BE49-F238E27FC236}">
                  <a16:creationId xmlns:a16="http://schemas.microsoft.com/office/drawing/2014/main" id="{71A1A391-1DDD-2F59-ECD7-0095C2BB41AA}"/>
                </a:ext>
              </a:extLst>
            </p:cNvPr>
            <p:cNvSpPr>
              <a:spLocks noChangeShapeType="1"/>
            </p:cNvSpPr>
            <p:nvPr/>
          </p:nvSpPr>
          <p:spPr bwMode="auto">
            <a:xfrm>
              <a:off x="3669" y="2813"/>
              <a:ext cx="240" cy="2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进程的创建</a:t>
            </a:r>
          </a:p>
        </p:txBody>
      </p:sp>
      <p:sp>
        <p:nvSpPr>
          <p:cNvPr id="3" name="内容占位符 2"/>
          <p:cNvSpPr>
            <a:spLocks noGrp="1"/>
          </p:cNvSpPr>
          <p:nvPr>
            <p:ph idx="1"/>
          </p:nvPr>
        </p:nvSpPr>
        <p:spPr>
          <a:xfrm>
            <a:off x="1199456" y="1503239"/>
            <a:ext cx="10058399" cy="4734073"/>
          </a:xfrm>
        </p:spPr>
        <p:txBody>
          <a:bodyPr/>
          <a:lstStyle/>
          <a:p>
            <a:r>
              <a:rPr lang="zh-CN" altLang="en-US" sz="2600" dirty="0"/>
              <a:t>调用系统调用 </a:t>
            </a:r>
            <a:r>
              <a:rPr lang="en-US" altLang="zh-CN" sz="2600" dirty="0"/>
              <a:t>fork</a:t>
            </a:r>
            <a:r>
              <a:rPr lang="zh-CN" altLang="en-US" sz="2600" dirty="0"/>
              <a:t>（）的进程是</a:t>
            </a:r>
            <a:r>
              <a:rPr lang="zh-CN" altLang="en-US" sz="2600" dirty="0">
                <a:solidFill>
                  <a:srgbClr val="0000CC"/>
                </a:solidFill>
              </a:rPr>
              <a:t>父进程</a:t>
            </a:r>
            <a:r>
              <a:rPr lang="zh-CN" altLang="en-US" sz="2600" dirty="0"/>
              <a:t>，所创建的新进程为</a:t>
            </a:r>
            <a:r>
              <a:rPr lang="zh-CN" altLang="en-US" sz="2600" dirty="0">
                <a:solidFill>
                  <a:srgbClr val="0000CC"/>
                </a:solidFill>
              </a:rPr>
              <a:t>子进程</a:t>
            </a:r>
            <a:r>
              <a:rPr lang="zh-CN" altLang="en-US" sz="2600" dirty="0"/>
              <a:t>。</a:t>
            </a:r>
            <a:endParaRPr lang="en-US" altLang="zh-CN" sz="2600" dirty="0"/>
          </a:p>
          <a:p>
            <a:r>
              <a:rPr lang="zh-CN" altLang="en-US" sz="2600" dirty="0"/>
              <a:t>系统调用 </a:t>
            </a:r>
            <a:r>
              <a:rPr lang="en-US" altLang="zh-CN" sz="2600" dirty="0"/>
              <a:t>fork</a:t>
            </a:r>
            <a:r>
              <a:rPr lang="zh-CN" altLang="en-US" sz="2600" dirty="0"/>
              <a:t>（）的实现过程：</a:t>
            </a:r>
            <a:r>
              <a:rPr lang="zh-CN" altLang="en-US" sz="2600" dirty="0">
                <a:solidFill>
                  <a:srgbClr val="CC0099"/>
                </a:solidFill>
              </a:rPr>
              <a:t>首先</a:t>
            </a:r>
            <a:r>
              <a:rPr lang="zh-CN" altLang="en-US" sz="2600" dirty="0"/>
              <a:t>是由内核为新进程在进程表中</a:t>
            </a:r>
            <a:r>
              <a:rPr lang="zh-CN" altLang="en-US" sz="2600" dirty="0">
                <a:solidFill>
                  <a:srgbClr val="0000CC"/>
                </a:solidFill>
              </a:rPr>
              <a:t>分配</a:t>
            </a:r>
            <a:r>
              <a:rPr lang="zh-CN" altLang="en-US" sz="2600" dirty="0"/>
              <a:t>一个表项，并给新进程</a:t>
            </a:r>
            <a:r>
              <a:rPr lang="zh-CN" altLang="en-US" sz="2600" dirty="0">
                <a:solidFill>
                  <a:srgbClr val="0000CC"/>
                </a:solidFill>
              </a:rPr>
              <a:t>一个唯一的进程标识符</a:t>
            </a:r>
            <a:r>
              <a:rPr lang="en-US" altLang="zh-CN" sz="2600" dirty="0">
                <a:solidFill>
                  <a:srgbClr val="0000CC"/>
                </a:solidFill>
              </a:rPr>
              <a:t>PID</a:t>
            </a:r>
            <a:r>
              <a:rPr lang="zh-CN" altLang="en-US" sz="2600" dirty="0"/>
              <a:t>；</a:t>
            </a:r>
            <a:r>
              <a:rPr lang="zh-CN" altLang="en-US" sz="2600" dirty="0">
                <a:solidFill>
                  <a:srgbClr val="CC0099"/>
                </a:solidFill>
              </a:rPr>
              <a:t>然后</a:t>
            </a:r>
            <a:r>
              <a:rPr lang="zh-CN" altLang="en-US" sz="2600" dirty="0"/>
              <a:t>通过拷贝父进程的进程映象来创建一个新进程；</a:t>
            </a:r>
            <a:r>
              <a:rPr lang="zh-CN" altLang="en-US" sz="2600" dirty="0">
                <a:solidFill>
                  <a:srgbClr val="CC0099"/>
                </a:solidFill>
              </a:rPr>
              <a:t>最后</a:t>
            </a:r>
            <a:r>
              <a:rPr lang="zh-CN" altLang="en-US" sz="2600" dirty="0"/>
              <a:t>增加与该进程相关联的文件表和索引节点表的引用数，并将</a:t>
            </a:r>
            <a:r>
              <a:rPr lang="zh-CN" altLang="en-US" sz="2600" dirty="0">
                <a:solidFill>
                  <a:srgbClr val="0000CC"/>
                </a:solidFill>
              </a:rPr>
              <a:t>子进程的进程标志</a:t>
            </a:r>
            <a:r>
              <a:rPr lang="zh-CN" altLang="en-US" sz="2600" dirty="0"/>
              <a:t>返回给父进程，收到父进程返回信号，则标志新进程创建完毕。</a:t>
            </a:r>
            <a:endParaRPr lang="en-US" altLang="zh-CN" sz="2600" dirty="0"/>
          </a:p>
          <a:p>
            <a:r>
              <a:rPr lang="zh-CN" altLang="en-US" sz="2600" dirty="0"/>
              <a:t>因此，</a:t>
            </a:r>
            <a:r>
              <a:rPr lang="en-US" altLang="zh-CN" sz="2600" dirty="0"/>
              <a:t>Linux</a:t>
            </a:r>
            <a:r>
              <a:rPr lang="zh-CN" altLang="en-US" sz="2600" dirty="0"/>
              <a:t>则采用先复制再来创建进程，即先按照父进程创建一个子进程，再更换进程映像开始执行。</a:t>
            </a:r>
          </a:p>
          <a:p>
            <a:endParaRPr lang="zh-CN" altLang="en-US" sz="2400" dirty="0"/>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46</a:t>
            </a:fld>
            <a:endParaRPr lang="en-US" altLang="zh-CN" dirty="0"/>
          </a:p>
        </p:txBody>
      </p:sp>
    </p:spTree>
    <p:extLst>
      <p:ext uri="{BB962C8B-B14F-4D97-AF65-F5344CB8AC3E}">
        <p14:creationId xmlns:p14="http://schemas.microsoft.com/office/powerpoint/2010/main" val="3875646604"/>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进程的创建</a:t>
            </a:r>
          </a:p>
        </p:txBody>
      </p:sp>
      <p:sp>
        <p:nvSpPr>
          <p:cNvPr id="3" name="内容占位符 2"/>
          <p:cNvSpPr>
            <a:spLocks noGrp="1"/>
          </p:cNvSpPr>
          <p:nvPr>
            <p:ph idx="1"/>
          </p:nvPr>
        </p:nvSpPr>
        <p:spPr>
          <a:xfrm>
            <a:off x="1066800" y="1628800"/>
            <a:ext cx="10058400" cy="5040560"/>
          </a:xfrm>
        </p:spPr>
        <p:txBody>
          <a:bodyPr/>
          <a:lstStyle/>
          <a:p>
            <a:pPr>
              <a:lnSpc>
                <a:spcPct val="90000"/>
              </a:lnSpc>
            </a:pPr>
            <a:r>
              <a:rPr lang="en-US" altLang="zh-CN" sz="2600" dirty="0"/>
              <a:t>fork</a:t>
            </a:r>
            <a:r>
              <a:rPr lang="zh-CN" altLang="en-US" sz="2600" dirty="0"/>
              <a:t>（）函数调用格式如下：</a:t>
            </a:r>
            <a:endParaRPr lang="en-US" altLang="zh-CN" sz="2600" dirty="0"/>
          </a:p>
          <a:p>
            <a:pPr marL="0" indent="0" algn="ctr">
              <a:lnSpc>
                <a:spcPct val="90000"/>
              </a:lnSpc>
              <a:buNone/>
            </a:pPr>
            <a:r>
              <a:rPr lang="en-US" altLang="zh-CN" sz="2600" dirty="0"/>
              <a:t>pid=fork</a:t>
            </a:r>
            <a:r>
              <a:rPr lang="zh-CN" altLang="en-US" sz="2600" dirty="0"/>
              <a:t>（）</a:t>
            </a:r>
            <a:endParaRPr lang="en-US" altLang="zh-CN" sz="2600" dirty="0"/>
          </a:p>
          <a:p>
            <a:pPr marL="0" indent="0">
              <a:lnSpc>
                <a:spcPct val="90000"/>
              </a:lnSpc>
              <a:buNone/>
            </a:pPr>
            <a:r>
              <a:rPr lang="en-US" altLang="zh-CN" sz="2600" dirty="0"/>
              <a:t>    </a:t>
            </a:r>
            <a:r>
              <a:rPr lang="en-US" altLang="zh-CN" sz="2600" dirty="0">
                <a:solidFill>
                  <a:srgbClr val="0000CC"/>
                </a:solidFill>
              </a:rPr>
              <a:t>pid</a:t>
            </a:r>
            <a:r>
              <a:rPr lang="zh-CN" altLang="en-US" sz="2600" dirty="0">
                <a:solidFill>
                  <a:srgbClr val="0000CC"/>
                </a:solidFill>
              </a:rPr>
              <a:t>是新创建进程的标识符</a:t>
            </a:r>
            <a:endParaRPr lang="en-US" altLang="zh-CN" sz="2600" dirty="0"/>
          </a:p>
          <a:p>
            <a:pPr>
              <a:lnSpc>
                <a:spcPct val="90000"/>
              </a:lnSpc>
            </a:pPr>
            <a:r>
              <a:rPr lang="zh-CN" altLang="en-US" sz="2600" dirty="0"/>
              <a:t>如果该函数调用成功，</a:t>
            </a:r>
            <a:r>
              <a:rPr lang="zh-CN" altLang="en-US" sz="2600" dirty="0">
                <a:solidFill>
                  <a:srgbClr val="0000CC"/>
                </a:solidFill>
              </a:rPr>
              <a:t>返回值有两个</a:t>
            </a:r>
            <a:r>
              <a:rPr lang="zh-CN" altLang="en-US" sz="2600" dirty="0"/>
              <a:t>：</a:t>
            </a:r>
            <a:r>
              <a:rPr lang="en-US" altLang="zh-CN" sz="2600" dirty="0">
                <a:solidFill>
                  <a:srgbClr val="CC0099"/>
                </a:solidFill>
              </a:rPr>
              <a:t>pid=0</a:t>
            </a:r>
            <a:r>
              <a:rPr lang="zh-CN" altLang="en-US" sz="2600" dirty="0"/>
              <a:t>的返回值为执行子进程的代码；</a:t>
            </a:r>
            <a:r>
              <a:rPr lang="en-US" altLang="zh-CN" sz="2600" dirty="0">
                <a:solidFill>
                  <a:srgbClr val="CC0099"/>
                </a:solidFill>
              </a:rPr>
              <a:t>pid&gt;0</a:t>
            </a:r>
            <a:r>
              <a:rPr lang="zh-CN" altLang="en-US" sz="2600" dirty="0"/>
              <a:t>的返回值为执行父进程的代码。</a:t>
            </a:r>
            <a:endParaRPr lang="en-US" altLang="zh-CN" sz="2600" dirty="0"/>
          </a:p>
          <a:p>
            <a:pPr>
              <a:lnSpc>
                <a:spcPct val="90000"/>
              </a:lnSpc>
            </a:pPr>
            <a:r>
              <a:rPr lang="zh-CN" altLang="en-US" sz="2600" dirty="0"/>
              <a:t>如果系统调用失败，返回值为</a:t>
            </a:r>
            <a:r>
              <a:rPr lang="en-US" altLang="zh-CN" sz="2600" dirty="0"/>
              <a:t>-1</a:t>
            </a:r>
            <a:r>
              <a:rPr lang="zh-CN" altLang="en-US" sz="2600" dirty="0"/>
              <a:t>。通常情况如下：</a:t>
            </a:r>
            <a:endParaRPr lang="en-US" altLang="zh-CN" sz="2600" dirty="0"/>
          </a:p>
          <a:p>
            <a:pPr marL="1712913" lvl="5" indent="0">
              <a:lnSpc>
                <a:spcPct val="90000"/>
              </a:lnSpc>
              <a:buNone/>
            </a:pPr>
            <a:r>
              <a:rPr lang="en-US" altLang="zh-CN" sz="2600" dirty="0"/>
              <a:t>if(pid==0)</a:t>
            </a:r>
          </a:p>
          <a:p>
            <a:pPr marL="1712913" lvl="5" indent="0">
              <a:lnSpc>
                <a:spcPct val="90000"/>
              </a:lnSpc>
              <a:buNone/>
            </a:pPr>
            <a:r>
              <a:rPr lang="en-US" altLang="zh-CN" sz="2600" dirty="0"/>
              <a:t>call subprocess_program;</a:t>
            </a:r>
          </a:p>
          <a:p>
            <a:pPr marL="1712913" lvl="5" indent="0">
              <a:lnSpc>
                <a:spcPct val="90000"/>
              </a:lnSpc>
              <a:buNone/>
            </a:pPr>
            <a:r>
              <a:rPr lang="en-US" altLang="zh-CN" sz="2600" dirty="0"/>
              <a:t>else if(pid&gt;0)</a:t>
            </a:r>
          </a:p>
          <a:p>
            <a:pPr marL="1712913" lvl="5" indent="0">
              <a:lnSpc>
                <a:spcPct val="90000"/>
              </a:lnSpc>
              <a:buNone/>
            </a:pPr>
            <a:r>
              <a:rPr lang="en-US" altLang="zh-CN" sz="2600" dirty="0"/>
              <a:t>complete parent_process_program;</a:t>
            </a:r>
          </a:p>
          <a:p>
            <a:pPr marL="0" indent="0">
              <a:buNone/>
            </a:pPr>
            <a:endParaRPr lang="en-US" altLang="zh-CN" sz="2400" dirty="0"/>
          </a:p>
        </p:txBody>
      </p:sp>
    </p:spTree>
    <p:extLst>
      <p:ext uri="{BB962C8B-B14F-4D97-AF65-F5344CB8AC3E}">
        <p14:creationId xmlns:p14="http://schemas.microsoft.com/office/powerpoint/2010/main" val="1403014895"/>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6800" y="292548"/>
            <a:ext cx="10058400" cy="858837"/>
          </a:xfrm>
        </p:spPr>
        <p:txBody>
          <a:bodyPr/>
          <a:lstStyle/>
          <a:p>
            <a:r>
              <a:rPr lang="zh-CN" altLang="en-US" dirty="0">
                <a:latin typeface="+mn-ea"/>
              </a:rPr>
              <a:t>进程示例</a:t>
            </a:r>
            <a:endParaRPr lang="zh-CN" altLang="en-US" dirty="0"/>
          </a:p>
        </p:txBody>
      </p:sp>
      <p:sp>
        <p:nvSpPr>
          <p:cNvPr id="5" name="Rectangle 3"/>
          <p:cNvSpPr>
            <a:spLocks noGrp="1" noChangeArrowheads="1"/>
          </p:cNvSpPr>
          <p:nvPr>
            <p:ph idx="1"/>
          </p:nvPr>
        </p:nvSpPr>
        <p:spPr>
          <a:xfrm>
            <a:off x="1970856" y="1556792"/>
            <a:ext cx="8661648" cy="4824536"/>
          </a:xfrm>
          <a:solidFill>
            <a:schemeClr val="accent3">
              <a:lumMod val="85000"/>
            </a:schemeClr>
          </a:solidFill>
        </p:spPr>
        <p:txBody>
          <a:bodyPr/>
          <a:lstStyle/>
          <a:p>
            <a:pPr>
              <a:lnSpc>
                <a:spcPct val="90000"/>
              </a:lnSpc>
              <a:buFontTx/>
              <a:buNone/>
            </a:pPr>
            <a:r>
              <a:rPr lang="en-US" altLang="zh-CN" sz="2000" dirty="0"/>
              <a:t> main()</a:t>
            </a:r>
          </a:p>
          <a:p>
            <a:pPr>
              <a:lnSpc>
                <a:spcPct val="90000"/>
              </a:lnSpc>
              <a:buFontTx/>
              <a:buNone/>
            </a:pPr>
            <a:r>
              <a:rPr lang="en-US" altLang="zh-CN" sz="2000" dirty="0"/>
              <a:t>{ </a:t>
            </a:r>
            <a:r>
              <a:rPr lang="en-US" altLang="zh-CN" sz="2000" dirty="0" err="1"/>
              <a:t>int</a:t>
            </a:r>
            <a:r>
              <a:rPr lang="en-US" altLang="zh-CN" sz="2000" dirty="0"/>
              <a:t> </a:t>
            </a:r>
            <a:r>
              <a:rPr lang="en-US" altLang="zh-CN" sz="2000" dirty="0" err="1"/>
              <a:t>pid</a:t>
            </a:r>
            <a:r>
              <a:rPr lang="en-US" altLang="zh-CN" sz="2000" dirty="0"/>
              <a:t>;</a:t>
            </a:r>
          </a:p>
          <a:p>
            <a:pPr>
              <a:lnSpc>
                <a:spcPct val="90000"/>
              </a:lnSpc>
              <a:buFontTx/>
              <a:buNone/>
            </a:pPr>
            <a:r>
              <a:rPr lang="en-US" altLang="zh-CN" sz="2000" dirty="0"/>
              <a:t> </a:t>
            </a:r>
            <a:r>
              <a:rPr lang="en-US" altLang="zh-CN" sz="2000" dirty="0" err="1"/>
              <a:t>printf</a:t>
            </a:r>
            <a:r>
              <a:rPr lang="en-US" altLang="zh-CN" sz="2000" dirty="0"/>
              <a:t>(“Now this is process1.\n”);</a:t>
            </a:r>
          </a:p>
          <a:p>
            <a:pPr>
              <a:lnSpc>
                <a:spcPct val="90000"/>
              </a:lnSpc>
              <a:buFontTx/>
              <a:buNone/>
            </a:pPr>
            <a:r>
              <a:rPr lang="en-US" altLang="zh-CN" sz="2000" dirty="0"/>
              <a:t> </a:t>
            </a:r>
            <a:r>
              <a:rPr lang="en-US" altLang="zh-CN" sz="2000" dirty="0" err="1"/>
              <a:t>printf</a:t>
            </a:r>
            <a:r>
              <a:rPr lang="en-US" altLang="zh-CN" sz="2000" dirty="0"/>
              <a:t>(“System calling fork() will start.\n”); </a:t>
            </a:r>
          </a:p>
          <a:p>
            <a:pPr>
              <a:lnSpc>
                <a:spcPct val="90000"/>
              </a:lnSpc>
              <a:buFontTx/>
              <a:buNone/>
            </a:pPr>
            <a:r>
              <a:rPr lang="en-US" altLang="zh-CN" sz="2000" dirty="0"/>
              <a:t> </a:t>
            </a:r>
            <a:r>
              <a:rPr lang="en-US" altLang="zh-CN" sz="2000" dirty="0" err="1"/>
              <a:t>pid</a:t>
            </a:r>
            <a:r>
              <a:rPr lang="en-US" altLang="zh-CN" sz="2000" dirty="0"/>
              <a:t> = fork();</a:t>
            </a:r>
          </a:p>
          <a:p>
            <a:pPr>
              <a:lnSpc>
                <a:spcPct val="90000"/>
              </a:lnSpc>
              <a:buFontTx/>
              <a:buNone/>
            </a:pPr>
            <a:r>
              <a:rPr lang="en-US" altLang="zh-CN" sz="2000" dirty="0"/>
              <a:t> if (</a:t>
            </a:r>
            <a:r>
              <a:rPr lang="en-US" altLang="zh-CN" sz="2000" dirty="0" err="1"/>
              <a:t>pid</a:t>
            </a:r>
            <a:r>
              <a:rPr lang="en-US" altLang="zh-CN" sz="2000" dirty="0"/>
              <a:t> ==0)</a:t>
            </a:r>
          </a:p>
          <a:p>
            <a:pPr>
              <a:lnSpc>
                <a:spcPct val="90000"/>
              </a:lnSpc>
              <a:buFontTx/>
              <a:buNone/>
            </a:pPr>
            <a:r>
              <a:rPr lang="en-US" altLang="zh-CN" sz="2000" dirty="0"/>
              <a:t> </a:t>
            </a:r>
            <a:r>
              <a:rPr lang="en-US" altLang="zh-CN" sz="2000" dirty="0" err="1"/>
              <a:t>printf</a:t>
            </a:r>
            <a:r>
              <a:rPr lang="en-US" altLang="zh-CN" sz="2000" dirty="0"/>
              <a:t>(“This is child process.\n”);</a:t>
            </a:r>
          </a:p>
          <a:p>
            <a:pPr>
              <a:lnSpc>
                <a:spcPct val="90000"/>
              </a:lnSpc>
              <a:buFontTx/>
              <a:buNone/>
            </a:pPr>
            <a:r>
              <a:rPr lang="en-US" altLang="zh-CN" sz="2000" dirty="0"/>
              <a:t> else  if(</a:t>
            </a:r>
            <a:r>
              <a:rPr lang="en-US" altLang="zh-CN" sz="2000" dirty="0" err="1"/>
              <a:t>pid</a:t>
            </a:r>
            <a:r>
              <a:rPr lang="en-US" altLang="zh-CN" sz="2000" dirty="0"/>
              <a:t>&gt;0)</a:t>
            </a:r>
          </a:p>
          <a:p>
            <a:pPr>
              <a:lnSpc>
                <a:spcPct val="90000"/>
              </a:lnSpc>
              <a:buFontTx/>
              <a:buNone/>
            </a:pPr>
            <a:r>
              <a:rPr lang="en-US" altLang="zh-CN" sz="2000" dirty="0"/>
              <a:t> </a:t>
            </a:r>
            <a:r>
              <a:rPr lang="en-US" altLang="zh-CN" sz="2000" dirty="0" err="1"/>
              <a:t>printf</a:t>
            </a:r>
            <a:r>
              <a:rPr lang="en-US" altLang="zh-CN" sz="2000" dirty="0"/>
              <a:t>(“This is </a:t>
            </a:r>
            <a:r>
              <a:rPr lang="en-US" altLang="zh-CN" sz="2000" dirty="0" err="1"/>
              <a:t>process1</a:t>
            </a:r>
            <a:r>
              <a:rPr lang="en-US" altLang="zh-CN" sz="2000" dirty="0"/>
              <a:t>(parent process).\n”);</a:t>
            </a:r>
          </a:p>
          <a:p>
            <a:pPr>
              <a:lnSpc>
                <a:spcPct val="90000"/>
              </a:lnSpc>
              <a:buFontTx/>
              <a:buNone/>
            </a:pPr>
            <a:r>
              <a:rPr lang="en-US" altLang="zh-CN" sz="2000" dirty="0"/>
              <a:t>  else </a:t>
            </a:r>
          </a:p>
          <a:p>
            <a:pPr>
              <a:lnSpc>
                <a:spcPct val="90000"/>
              </a:lnSpc>
              <a:buFontTx/>
              <a:buNone/>
            </a:pPr>
            <a:r>
              <a:rPr lang="en-US" altLang="zh-CN" sz="2000" dirty="0"/>
              <a:t> </a:t>
            </a:r>
            <a:r>
              <a:rPr lang="en-US" altLang="zh-CN" sz="2000" dirty="0" err="1"/>
              <a:t>printf</a:t>
            </a:r>
            <a:r>
              <a:rPr lang="en-US" altLang="zh-CN" sz="2000" dirty="0"/>
              <a:t>(“fork </a:t>
            </a:r>
            <a:r>
              <a:rPr lang="en-US" altLang="zh-CN" sz="2000" dirty="0" err="1"/>
              <a:t>faild</a:t>
            </a:r>
            <a:r>
              <a:rPr lang="en-US" altLang="zh-CN" sz="2000" dirty="0"/>
              <a:t>.\n”);</a:t>
            </a:r>
          </a:p>
          <a:p>
            <a:pPr>
              <a:lnSpc>
                <a:spcPct val="90000"/>
              </a:lnSpc>
              <a:buFontTx/>
              <a:buNone/>
            </a:pPr>
            <a:r>
              <a:rPr lang="en-US" altLang="zh-CN" sz="2000" dirty="0"/>
              <a:t> </a:t>
            </a:r>
            <a:r>
              <a:rPr lang="en-US" altLang="zh-CN" sz="2000" dirty="0" err="1"/>
              <a:t>printf</a:t>
            </a:r>
            <a:r>
              <a:rPr lang="en-US" altLang="zh-CN" sz="2000" dirty="0"/>
              <a:t>(“The program end.\n”);</a:t>
            </a:r>
          </a:p>
          <a:p>
            <a:pPr>
              <a:lnSpc>
                <a:spcPct val="90000"/>
              </a:lnSpc>
              <a:buFontTx/>
              <a:buNone/>
            </a:pPr>
            <a:r>
              <a:rPr lang="en-US" altLang="zh-CN" sz="2000" dirty="0"/>
              <a:t> exit(0);</a:t>
            </a:r>
          </a:p>
          <a:p>
            <a:pPr>
              <a:lnSpc>
                <a:spcPct val="90000"/>
              </a:lnSpc>
              <a:buFontTx/>
              <a:buNone/>
            </a:pPr>
            <a:r>
              <a:rPr lang="en-US" altLang="zh-CN" sz="2000" dirty="0"/>
              <a:t>}</a:t>
            </a:r>
          </a:p>
        </p:txBody>
      </p:sp>
      <p:sp>
        <p:nvSpPr>
          <p:cNvPr id="6" name="Rectangle 4"/>
          <p:cNvSpPr>
            <a:spLocks noChangeArrowheads="1"/>
          </p:cNvSpPr>
          <p:nvPr/>
        </p:nvSpPr>
        <p:spPr bwMode="auto">
          <a:xfrm>
            <a:off x="7392144" y="1724794"/>
            <a:ext cx="2808312" cy="1200150"/>
          </a:xfrm>
          <a:prstGeom prst="rect">
            <a:avLst/>
          </a:prstGeom>
          <a:solidFill>
            <a:schemeClr val="accent3">
              <a:lumMod val="85000"/>
            </a:schemeClr>
          </a:solidFill>
          <a:ln w="9525">
            <a:solidFill>
              <a:schemeClr val="tx1"/>
            </a:solidFill>
            <a:miter lim="800000"/>
            <a:headEnd/>
            <a:tailEnd/>
          </a:ln>
          <a:effectLst/>
        </p:spPr>
        <p:txBody>
          <a:bodyPr wrap="square">
            <a:spAutoFit/>
          </a:bodyPr>
          <a:lstStyle/>
          <a:p>
            <a:pPr algn="l"/>
            <a:r>
              <a:rPr lang="en-US" altLang="zh-CN" b="1" dirty="0"/>
              <a:t>#include &lt;sys/</a:t>
            </a:r>
            <a:r>
              <a:rPr lang="en-US" altLang="zh-CN" b="1" dirty="0" err="1"/>
              <a:t>types.h</a:t>
            </a:r>
            <a:r>
              <a:rPr lang="en-US" altLang="zh-CN" b="1" dirty="0"/>
              <a:t>&gt;</a:t>
            </a:r>
          </a:p>
          <a:p>
            <a:pPr algn="l"/>
            <a:r>
              <a:rPr lang="en-US" altLang="zh-CN" b="1" dirty="0"/>
              <a:t>#include &lt;</a:t>
            </a:r>
            <a:r>
              <a:rPr lang="en-US" altLang="zh-CN" b="1" dirty="0" err="1"/>
              <a:t>unistd.h</a:t>
            </a:r>
            <a:r>
              <a:rPr lang="en-US" altLang="zh-CN" b="1" dirty="0"/>
              <a:t>&gt;</a:t>
            </a:r>
          </a:p>
          <a:p>
            <a:pPr algn="l"/>
            <a:r>
              <a:rPr lang="en-US" altLang="zh-CN" b="1" dirty="0"/>
              <a:t>#include &lt;</a:t>
            </a:r>
            <a:r>
              <a:rPr lang="en-US" altLang="zh-CN" b="1" dirty="0" err="1"/>
              <a:t>stdio.h</a:t>
            </a:r>
            <a:r>
              <a:rPr lang="en-US" altLang="zh-CN" b="1" dirty="0"/>
              <a:t>&gt;</a:t>
            </a:r>
          </a:p>
          <a:p>
            <a:pPr algn="l"/>
            <a:r>
              <a:rPr lang="en-US" altLang="zh-CN" b="1" dirty="0"/>
              <a:t>#include &lt;</a:t>
            </a:r>
            <a:r>
              <a:rPr lang="en-US" altLang="zh-CN" b="1" dirty="0" err="1"/>
              <a:t>stdlib.h</a:t>
            </a:r>
            <a:r>
              <a:rPr lang="en-US" altLang="zh-CN" b="1" dirty="0"/>
              <a:t>&gt;</a:t>
            </a:r>
            <a:endParaRPr lang="zh-CN" altLang="en-US" b="1" dirty="0"/>
          </a:p>
        </p:txBody>
      </p:sp>
      <p:sp>
        <p:nvSpPr>
          <p:cNvPr id="3" name="TextBox 2"/>
          <p:cNvSpPr txBox="1"/>
          <p:nvPr/>
        </p:nvSpPr>
        <p:spPr>
          <a:xfrm>
            <a:off x="1903368" y="1023120"/>
            <a:ext cx="3544560" cy="492443"/>
          </a:xfrm>
          <a:prstGeom prst="rect">
            <a:avLst/>
          </a:prstGeom>
          <a:noFill/>
        </p:spPr>
        <p:txBody>
          <a:bodyPr wrap="none" rtlCol="0">
            <a:spAutoFit/>
          </a:bodyPr>
          <a:lstStyle/>
          <a:p>
            <a:r>
              <a:rPr kumimoji="1" lang="zh-CN" altLang="en-US" sz="2600" dirty="0">
                <a:latin typeface="+mn-ea"/>
                <a:ea typeface="+mn-ea"/>
              </a:rPr>
              <a:t>程序文件</a:t>
            </a:r>
            <a:r>
              <a:rPr kumimoji="1" lang="en-US" altLang="zh-CN" sz="2600" dirty="0">
                <a:solidFill>
                  <a:srgbClr val="000000"/>
                </a:solidFill>
                <a:latin typeface="+mn-ea"/>
                <a:ea typeface="+mn-ea"/>
                <a:cs typeface="Times New Roman" pitchFamily="18" charset="0"/>
              </a:rPr>
              <a:t>fork_test1.c</a:t>
            </a:r>
            <a:endParaRPr lang="zh-CN" altLang="en-US" sz="2600" dirty="0">
              <a:latin typeface="+mn-ea"/>
              <a:ea typeface="+mn-ea"/>
            </a:endParaRPr>
          </a:p>
        </p:txBody>
      </p:sp>
      <p:sp>
        <p:nvSpPr>
          <p:cNvPr id="4" name="灯片编号占位符 3">
            <a:extLst>
              <a:ext uri="{FF2B5EF4-FFF2-40B4-BE49-F238E27FC236}">
                <a16:creationId xmlns:a16="http://schemas.microsoft.com/office/drawing/2014/main" id="{4DC16501-39DF-9100-893E-4D62EB5ACA28}"/>
              </a:ext>
            </a:extLst>
          </p:cNvPr>
          <p:cNvSpPr>
            <a:spLocks noGrp="1"/>
          </p:cNvSpPr>
          <p:nvPr>
            <p:ph type="sldNum" sz="quarter" idx="11"/>
          </p:nvPr>
        </p:nvSpPr>
        <p:spPr/>
        <p:txBody>
          <a:bodyPr/>
          <a:lstStyle/>
          <a:p>
            <a:pPr>
              <a:defRPr/>
            </a:pPr>
            <a:fld id="{110871B5-850E-4E14-A636-3EC679EBF038}" type="slidenum">
              <a:rPr lang="en-US" altLang="zh-CN" smtClean="0"/>
              <a:pPr>
                <a:defRPr/>
              </a:pPr>
              <a:t>48</a:t>
            </a:fld>
            <a:endParaRPr lang="en-US" altLang="zh-CN"/>
          </a:p>
        </p:txBody>
      </p:sp>
    </p:spTree>
    <p:extLst>
      <p:ext uri="{BB962C8B-B14F-4D97-AF65-F5344CB8AC3E}">
        <p14:creationId xmlns:p14="http://schemas.microsoft.com/office/powerpoint/2010/main" val="4117019350"/>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Text Box 2"/>
          <p:cNvSpPr txBox="1">
            <a:spLocks noChangeArrowheads="1"/>
          </p:cNvSpPr>
          <p:nvPr/>
        </p:nvSpPr>
        <p:spPr bwMode="auto">
          <a:xfrm>
            <a:off x="6270625" y="59531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endParaRPr kumimoji="1" lang="zh-CN" altLang="en-US" sz="2400">
              <a:latin typeface="Times New Roman" pitchFamily="18" charset="0"/>
            </a:endParaRPr>
          </a:p>
        </p:txBody>
      </p:sp>
      <p:sp>
        <p:nvSpPr>
          <p:cNvPr id="325637" name="Rectangle 5"/>
          <p:cNvSpPr>
            <a:spLocks noChangeArrowheads="1"/>
          </p:cNvSpPr>
          <p:nvPr/>
        </p:nvSpPr>
        <p:spPr bwMode="auto">
          <a:xfrm>
            <a:off x="1703512" y="1275837"/>
            <a:ext cx="8784975" cy="5040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eaLnBrk="0" hangingPunct="0">
              <a:defRPr>
                <a:solidFill>
                  <a:schemeClr val="tx1"/>
                </a:solidFill>
                <a:latin typeface="Arial" pitchFamily="34" charset="0"/>
                <a:ea typeface="宋体" pitchFamily="2" charset="-122"/>
              </a:defRPr>
            </a:lvl1pPr>
            <a:lvl2pPr marL="742950" indent="-285750" algn="l" eaLnBrk="0" hangingPunct="0">
              <a:defRPr>
                <a:solidFill>
                  <a:schemeClr val="tx1"/>
                </a:solidFill>
                <a:latin typeface="Arial" pitchFamily="34" charset="0"/>
                <a:ea typeface="宋体" pitchFamily="2" charset="-122"/>
              </a:defRPr>
            </a:lvl2pPr>
            <a:lvl3pPr marL="1143000" indent="-228600" algn="l" eaLnBrk="0" hangingPunct="0">
              <a:defRPr>
                <a:solidFill>
                  <a:schemeClr val="tx1"/>
                </a:solidFill>
                <a:latin typeface="Arial" pitchFamily="34" charset="0"/>
                <a:ea typeface="宋体" pitchFamily="2" charset="-122"/>
              </a:defRPr>
            </a:lvl3pPr>
            <a:lvl4pPr marL="1600200" indent="-228600" algn="l" eaLnBrk="0" hangingPunct="0">
              <a:defRPr>
                <a:solidFill>
                  <a:schemeClr val="tx1"/>
                </a:solidFill>
                <a:latin typeface="Arial" pitchFamily="34" charset="0"/>
                <a:ea typeface="宋体" pitchFamily="2" charset="-122"/>
              </a:defRPr>
            </a:lvl4pPr>
            <a:lvl5pPr marL="2057400" indent="-228600" algn="l"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lvl="1" algn="just" eaLnBrk="1" hangingPunct="1">
              <a:spcBef>
                <a:spcPct val="20000"/>
              </a:spcBef>
              <a:buClr>
                <a:srgbClr val="339933"/>
              </a:buClr>
              <a:buFont typeface="Wingdings" pitchFamily="2" charset="2"/>
              <a:buNone/>
            </a:pPr>
            <a:r>
              <a:rPr kumimoji="1" lang="zh-CN" altLang="en-US" sz="2600" dirty="0">
                <a:latin typeface="+mn-ea"/>
                <a:ea typeface="+mn-ea"/>
              </a:rPr>
              <a:t>编译并运行这个程序：</a:t>
            </a:r>
          </a:p>
          <a:p>
            <a:pPr lvl="1" eaLnBrk="1" hangingPunct="1">
              <a:spcBef>
                <a:spcPct val="20000"/>
              </a:spcBef>
              <a:buClr>
                <a:srgbClr val="339933"/>
              </a:buClr>
              <a:buFont typeface="Wingdings" pitchFamily="2" charset="2"/>
              <a:buNone/>
            </a:pPr>
            <a:r>
              <a:rPr kumimoji="1" lang="en-US" altLang="zh-CN" sz="2600" dirty="0">
                <a:solidFill>
                  <a:srgbClr val="000000"/>
                </a:solidFill>
                <a:latin typeface="+mn-ea"/>
                <a:ea typeface="+mn-ea"/>
                <a:cs typeface="Times New Roman" pitchFamily="18" charset="0"/>
              </a:rPr>
              <a:t>$gcc fork_test1.c -o fork_test1</a:t>
            </a:r>
          </a:p>
          <a:p>
            <a:pPr lvl="1" eaLnBrk="1" hangingPunct="1">
              <a:spcBef>
                <a:spcPct val="20000"/>
              </a:spcBef>
              <a:buClr>
                <a:srgbClr val="339933"/>
              </a:buClr>
              <a:buFont typeface="Wingdings" pitchFamily="2" charset="2"/>
              <a:buNone/>
            </a:pPr>
            <a:r>
              <a:rPr kumimoji="1" lang="zh-CN" altLang="en-US" sz="2600" dirty="0">
                <a:solidFill>
                  <a:srgbClr val="000000"/>
                </a:solidFill>
                <a:latin typeface="+mn-ea"/>
                <a:ea typeface="+mn-ea"/>
                <a:cs typeface="Times New Roman" pitchFamily="18" charset="0"/>
              </a:rPr>
              <a:t>执行：</a:t>
            </a:r>
          </a:p>
          <a:p>
            <a:pPr lvl="1" eaLnBrk="1" hangingPunct="1">
              <a:spcBef>
                <a:spcPct val="20000"/>
              </a:spcBef>
              <a:buClr>
                <a:srgbClr val="339933"/>
              </a:buClr>
              <a:buFont typeface="Wingdings" pitchFamily="2" charset="2"/>
              <a:buNone/>
            </a:pPr>
            <a:endParaRPr kumimoji="1" lang="zh-CN" altLang="en-US" sz="2800" dirty="0">
              <a:solidFill>
                <a:schemeClr val="accent1"/>
              </a:solidFill>
            </a:endParaRPr>
          </a:p>
        </p:txBody>
      </p:sp>
      <p:sp>
        <p:nvSpPr>
          <p:cNvPr id="2" name="标题 1"/>
          <p:cNvSpPr>
            <a:spLocks noGrp="1"/>
          </p:cNvSpPr>
          <p:nvPr>
            <p:ph type="title"/>
          </p:nvPr>
        </p:nvSpPr>
        <p:spPr>
          <a:xfrm>
            <a:off x="1847528" y="553939"/>
            <a:ext cx="8496944" cy="858837"/>
          </a:xfrm>
        </p:spPr>
        <p:txBody>
          <a:bodyPr/>
          <a:lstStyle/>
          <a:p>
            <a:r>
              <a:rPr lang="zh-CN" altLang="en-US" dirty="0">
                <a:latin typeface="+mn-ea"/>
              </a:rPr>
              <a:t>进程示例</a:t>
            </a:r>
            <a:endParaRPr lang="zh-CN" altLang="en-US" dirty="0"/>
          </a:p>
        </p:txBody>
      </p:sp>
      <p:sp>
        <p:nvSpPr>
          <p:cNvPr id="5" name="灯片编号占位符 5"/>
          <p:cNvSpPr>
            <a:spLocks noGrp="1"/>
          </p:cNvSpPr>
          <p:nvPr>
            <p:ph type="sldNum" sz="quarter" idx="11"/>
          </p:nvPr>
        </p:nvSpPr>
        <p:spPr>
          <a:prstGeom prst="rect">
            <a:avLst/>
          </a:prstGeom>
        </p:spPr>
        <p:txBody>
          <a:bodyPr/>
          <a:lstStyle/>
          <a:p>
            <a:fld id="{8B65A0CA-DAE2-4088-BB58-45073E9B1BD3}" type="slidenum">
              <a:rPr lang="zh-CN" altLang="en-US"/>
              <a:pPr/>
              <a:t>49</a:t>
            </a:fld>
            <a:endParaRPr lang="en-US" altLang="zh-CN" dirty="0"/>
          </a:p>
        </p:txBody>
      </p:sp>
      <p:pic>
        <p:nvPicPr>
          <p:cNvPr id="6" name="图片 5">
            <a:extLst>
              <a:ext uri="{FF2B5EF4-FFF2-40B4-BE49-F238E27FC236}">
                <a16:creationId xmlns:a16="http://schemas.microsoft.com/office/drawing/2014/main" id="{13BE6460-C048-53DF-3E32-A44AEB89FF60}"/>
              </a:ext>
            </a:extLst>
          </p:cNvPr>
          <p:cNvPicPr>
            <a:picLocks noChangeAspect="1"/>
          </p:cNvPicPr>
          <p:nvPr/>
        </p:nvPicPr>
        <p:blipFill>
          <a:blip r:embed="rId3"/>
          <a:stretch>
            <a:fillRect/>
          </a:stretch>
        </p:blipFill>
        <p:spPr>
          <a:xfrm>
            <a:off x="2121533" y="2836700"/>
            <a:ext cx="7502860" cy="3256596"/>
          </a:xfrm>
          <a:prstGeom prst="rect">
            <a:avLst/>
          </a:prstGeom>
          <a:ln>
            <a:solidFill>
              <a:schemeClr val="bg2"/>
            </a:solidFill>
          </a:ln>
        </p:spPr>
      </p:pic>
    </p:spTree>
    <p:extLst>
      <p:ext uri="{BB962C8B-B14F-4D97-AF65-F5344CB8AC3E}">
        <p14:creationId xmlns:p14="http://schemas.microsoft.com/office/powerpoint/2010/main" val="321712665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416" y="548680"/>
            <a:ext cx="10202416" cy="858837"/>
          </a:xfrm>
        </p:spPr>
        <p:txBody>
          <a:bodyPr/>
          <a:lstStyle/>
          <a:p>
            <a:r>
              <a:rPr lang="zh-CN" altLang="en-US" dirty="0"/>
              <a:t>创建进程</a:t>
            </a:r>
          </a:p>
        </p:txBody>
      </p:sp>
      <p:sp>
        <p:nvSpPr>
          <p:cNvPr id="3" name="内容占位符 2"/>
          <p:cNvSpPr>
            <a:spLocks noGrp="1"/>
          </p:cNvSpPr>
          <p:nvPr>
            <p:ph idx="1"/>
          </p:nvPr>
        </p:nvSpPr>
        <p:spPr>
          <a:xfrm>
            <a:off x="994792" y="1467065"/>
            <a:ext cx="10202416" cy="4411662"/>
          </a:xfrm>
        </p:spPr>
        <p:txBody>
          <a:bodyPr/>
          <a:lstStyle/>
          <a:p>
            <a:r>
              <a:rPr lang="zh-CN" altLang="en-US" sz="2600" dirty="0"/>
              <a:t>进程创建时，新进程共享了父进程的代码段，复制了父进程的数据段。在新进程创建成功后，父子进程并发执行，各自独立的被调度运行。</a:t>
            </a:r>
          </a:p>
        </p:txBody>
      </p:sp>
      <p:grpSp>
        <p:nvGrpSpPr>
          <p:cNvPr id="14" name="组合 13"/>
          <p:cNvGrpSpPr/>
          <p:nvPr/>
        </p:nvGrpSpPr>
        <p:grpSpPr>
          <a:xfrm>
            <a:off x="3287689" y="2678453"/>
            <a:ext cx="5759827" cy="2823320"/>
            <a:chOff x="3059832" y="3140968"/>
            <a:chExt cx="3438154" cy="2700034"/>
          </a:xfrm>
        </p:grpSpPr>
        <p:sp>
          <p:nvSpPr>
            <p:cNvPr id="5" name="矩形 4"/>
            <p:cNvSpPr/>
            <p:nvPr/>
          </p:nvSpPr>
          <p:spPr bwMode="auto">
            <a:xfrm>
              <a:off x="3059832" y="4221088"/>
              <a:ext cx="2160240" cy="576064"/>
            </a:xfrm>
            <a:prstGeom prst="rect">
              <a:avLst/>
            </a:prstGeom>
            <a:solidFill>
              <a:schemeClr val="accent3">
                <a:lumMod val="85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en-US" altLang="zh-CN" dirty="0"/>
                <a:t>fork</a:t>
              </a:r>
              <a:r>
                <a:rPr lang="zh-CN" altLang="en-US" dirty="0"/>
                <a:t>系统调用</a:t>
              </a:r>
            </a:p>
          </p:txBody>
        </p:sp>
        <p:cxnSp>
          <p:nvCxnSpPr>
            <p:cNvPr id="7" name="直接箭头连接符 6"/>
            <p:cNvCxnSpPr>
              <a:endCxn id="5" idx="0"/>
            </p:cNvCxnSpPr>
            <p:nvPr/>
          </p:nvCxnSpPr>
          <p:spPr bwMode="auto">
            <a:xfrm>
              <a:off x="4139952" y="3140968"/>
              <a:ext cx="0" cy="108012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9" name="直接箭头连接符 8"/>
            <p:cNvCxnSpPr>
              <a:stCxn id="5" idx="2"/>
            </p:cNvCxnSpPr>
            <p:nvPr/>
          </p:nvCxnSpPr>
          <p:spPr bwMode="auto">
            <a:xfrm>
              <a:off x="4139952" y="4797152"/>
              <a:ext cx="0" cy="1008112"/>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11" name="直接箭头连接符 10"/>
            <p:cNvCxnSpPr>
              <a:stCxn id="5" idx="2"/>
            </p:cNvCxnSpPr>
            <p:nvPr/>
          </p:nvCxnSpPr>
          <p:spPr bwMode="auto">
            <a:xfrm>
              <a:off x="4139952" y="4797152"/>
              <a:ext cx="1728192" cy="1008112"/>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12" name="TextBox 11"/>
            <p:cNvSpPr txBox="1"/>
            <p:nvPr/>
          </p:nvSpPr>
          <p:spPr>
            <a:xfrm>
              <a:off x="4361265" y="5517232"/>
              <a:ext cx="480537" cy="323770"/>
            </a:xfrm>
            <a:prstGeom prst="rect">
              <a:avLst/>
            </a:prstGeom>
            <a:noFill/>
          </p:spPr>
          <p:txBody>
            <a:bodyPr wrap="none" rtlCol="0">
              <a:spAutoFit/>
            </a:bodyPr>
            <a:lstStyle/>
            <a:p>
              <a:r>
                <a:rPr lang="zh-CN" altLang="en-US" sz="1600" dirty="0"/>
                <a:t>父进程</a:t>
              </a:r>
            </a:p>
          </p:txBody>
        </p:sp>
        <p:sp>
          <p:nvSpPr>
            <p:cNvPr id="13" name="TextBox 12"/>
            <p:cNvSpPr txBox="1"/>
            <p:nvPr/>
          </p:nvSpPr>
          <p:spPr>
            <a:xfrm>
              <a:off x="6017449" y="5517232"/>
              <a:ext cx="480537" cy="323770"/>
            </a:xfrm>
            <a:prstGeom prst="rect">
              <a:avLst/>
            </a:prstGeom>
            <a:noFill/>
          </p:spPr>
          <p:txBody>
            <a:bodyPr wrap="none" rtlCol="0">
              <a:spAutoFit/>
            </a:bodyPr>
            <a:lstStyle/>
            <a:p>
              <a:r>
                <a:rPr lang="zh-CN" altLang="en-US" sz="1600" dirty="0"/>
                <a:t>子进程</a:t>
              </a:r>
            </a:p>
          </p:txBody>
        </p:sp>
      </p:grpSp>
      <p:sp>
        <p:nvSpPr>
          <p:cNvPr id="15" name="TextBox 14"/>
          <p:cNvSpPr txBox="1"/>
          <p:nvPr/>
        </p:nvSpPr>
        <p:spPr>
          <a:xfrm>
            <a:off x="4414080" y="5733257"/>
            <a:ext cx="3159840" cy="492443"/>
          </a:xfrm>
          <a:prstGeom prst="rect">
            <a:avLst/>
          </a:prstGeom>
          <a:noFill/>
        </p:spPr>
        <p:txBody>
          <a:bodyPr wrap="none" rtlCol="0">
            <a:spAutoFit/>
          </a:bodyPr>
          <a:lstStyle/>
          <a:p>
            <a:r>
              <a:rPr lang="en-US" altLang="zh-CN" sz="2600" dirty="0"/>
              <a:t>fork</a:t>
            </a:r>
            <a:r>
              <a:rPr lang="zh-CN" altLang="en-US" sz="2600" dirty="0"/>
              <a:t>系统函数调用图</a:t>
            </a:r>
          </a:p>
        </p:txBody>
      </p:sp>
      <p:sp>
        <p:nvSpPr>
          <p:cNvPr id="16" name="灯片编号占位符 5"/>
          <p:cNvSpPr>
            <a:spLocks noGrp="1"/>
          </p:cNvSpPr>
          <p:nvPr>
            <p:ph type="sldNum" sz="quarter" idx="11"/>
          </p:nvPr>
        </p:nvSpPr>
        <p:spPr>
          <a:xfrm>
            <a:off x="5053013" y="6240463"/>
            <a:ext cx="2133600" cy="457200"/>
          </a:xfrm>
          <a:prstGeom prst="rect">
            <a:avLst/>
          </a:prstGeom>
        </p:spPr>
        <p:txBody>
          <a:bodyPr/>
          <a:lstStyle/>
          <a:p>
            <a:fld id="{8B65A0CA-DAE2-4088-BB58-45073E9B1BD3}" type="slidenum">
              <a:rPr lang="zh-CN" altLang="en-US"/>
              <a:pPr/>
              <a:t>50</a:t>
            </a:fld>
            <a:endParaRPr lang="en-US" altLang="zh-CN" dirty="0"/>
          </a:p>
        </p:txBody>
      </p:sp>
    </p:spTree>
    <p:extLst>
      <p:ext uri="{BB962C8B-B14F-4D97-AF65-F5344CB8AC3E}">
        <p14:creationId xmlns:p14="http://schemas.microsoft.com/office/powerpoint/2010/main" val="416737448"/>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416" y="548680"/>
            <a:ext cx="10346432" cy="858837"/>
          </a:xfrm>
        </p:spPr>
        <p:txBody>
          <a:bodyPr/>
          <a:lstStyle/>
          <a:p>
            <a:r>
              <a:rPr lang="zh-CN" altLang="en-US" dirty="0"/>
              <a:t>创建进程</a:t>
            </a:r>
          </a:p>
        </p:txBody>
      </p:sp>
      <p:sp>
        <p:nvSpPr>
          <p:cNvPr id="3" name="内容占位符 2"/>
          <p:cNvSpPr>
            <a:spLocks noGrp="1"/>
          </p:cNvSpPr>
          <p:nvPr>
            <p:ph idx="1"/>
          </p:nvPr>
        </p:nvSpPr>
        <p:spPr>
          <a:xfrm>
            <a:off x="1127448" y="1628800"/>
            <a:ext cx="10058400" cy="4320480"/>
          </a:xfrm>
        </p:spPr>
        <p:txBody>
          <a:bodyPr/>
          <a:lstStyle/>
          <a:p>
            <a:r>
              <a:rPr lang="zh-CN" altLang="en-US" sz="2600" dirty="0"/>
              <a:t>从概念上讲，</a:t>
            </a:r>
            <a:r>
              <a:rPr lang="en-US" altLang="zh-CN" sz="2600" dirty="0">
                <a:solidFill>
                  <a:srgbClr val="CC0099"/>
                </a:solidFill>
              </a:rPr>
              <a:t>fork()</a:t>
            </a:r>
            <a:r>
              <a:rPr lang="zh-CN" altLang="en-US" sz="2600" dirty="0"/>
              <a:t>就像细胞的裂变，调用</a:t>
            </a:r>
            <a:r>
              <a:rPr lang="en-US" altLang="zh-CN" sz="2600" dirty="0"/>
              <a:t>fork()</a:t>
            </a:r>
            <a:r>
              <a:rPr lang="zh-CN" altLang="en-US" sz="2600" dirty="0"/>
              <a:t>的进程是父进程，而新裂变出的进程就子进程。调用</a:t>
            </a:r>
            <a:r>
              <a:rPr lang="en-US" altLang="zh-CN" sz="2600" dirty="0"/>
              <a:t>fork()</a:t>
            </a:r>
            <a:r>
              <a:rPr lang="zh-CN" altLang="en-US" sz="2600" dirty="0"/>
              <a:t>后，子进程被创建，此时父进程和子进程都从这个系统调用内部继续运行。</a:t>
            </a:r>
            <a:endParaRPr lang="en-US" altLang="zh-CN" sz="2600" dirty="0"/>
          </a:p>
          <a:p>
            <a:r>
              <a:rPr lang="en-US" altLang="zh-CN" sz="2600" dirty="0"/>
              <a:t>fork</a:t>
            </a:r>
            <a:r>
              <a:rPr lang="zh-CN" altLang="en-US" sz="2600" dirty="0"/>
              <a:t>函数的特点就是“</a:t>
            </a:r>
            <a:r>
              <a:rPr lang="zh-CN" altLang="en-US" sz="2600" dirty="0">
                <a:solidFill>
                  <a:srgbClr val="0000CC"/>
                </a:solidFill>
              </a:rPr>
              <a:t>调用一次，返回两次</a:t>
            </a:r>
            <a:r>
              <a:rPr lang="zh-CN" altLang="en-US" sz="2600" dirty="0"/>
              <a:t>”，在父进程中调用一次，在父进程和子进程中各返回一次。</a:t>
            </a:r>
          </a:p>
          <a:p>
            <a:r>
              <a:rPr lang="zh-CN" altLang="en-US" sz="2600" dirty="0"/>
              <a:t>在</a:t>
            </a:r>
            <a:r>
              <a:rPr lang="en-US" altLang="zh-CN" sz="2600" dirty="0"/>
              <a:t>Linux</a:t>
            </a:r>
            <a:r>
              <a:rPr lang="zh-CN" altLang="en-US" sz="2600" dirty="0"/>
              <a:t>运行的每个进程的</a:t>
            </a:r>
            <a:r>
              <a:rPr lang="zh-CN" altLang="en-US" sz="2600" dirty="0">
                <a:solidFill>
                  <a:srgbClr val="CC0099"/>
                </a:solidFill>
              </a:rPr>
              <a:t>进程标识符</a:t>
            </a:r>
            <a:r>
              <a:rPr lang="en-US" altLang="zh-CN" sz="2600" dirty="0"/>
              <a:t>PID</a:t>
            </a:r>
            <a:r>
              <a:rPr lang="zh-CN" altLang="en-US" sz="2600" dirty="0"/>
              <a:t>，就是进程的身份证号码，每个人的身份证号码不同，每个进程的进程</a:t>
            </a:r>
            <a:r>
              <a:rPr lang="en-US" altLang="zh-CN" sz="2600" dirty="0"/>
              <a:t>ID</a:t>
            </a:r>
            <a:r>
              <a:rPr lang="zh-CN" altLang="en-US" sz="2600" dirty="0"/>
              <a:t>也不相同。</a:t>
            </a:r>
            <a:endParaRPr lang="en-US" altLang="zh-CN" sz="2600" dirty="0"/>
          </a:p>
          <a:p>
            <a:r>
              <a:rPr lang="zh-CN" altLang="en-US" sz="2600" dirty="0">
                <a:solidFill>
                  <a:srgbClr val="0000CC"/>
                </a:solidFill>
              </a:rPr>
              <a:t>系统调用</a:t>
            </a:r>
            <a:r>
              <a:rPr lang="en-US" altLang="zh-CN" sz="2600" dirty="0" err="1">
                <a:solidFill>
                  <a:srgbClr val="0000CC"/>
                </a:solidFill>
              </a:rPr>
              <a:t>getpid</a:t>
            </a:r>
            <a:r>
              <a:rPr lang="en-US" altLang="zh-CN" sz="2600" dirty="0">
                <a:solidFill>
                  <a:srgbClr val="0000CC"/>
                </a:solidFill>
              </a:rPr>
              <a:t>()</a:t>
            </a:r>
            <a:r>
              <a:rPr lang="zh-CN" altLang="en-US" sz="2600" dirty="0">
                <a:solidFill>
                  <a:srgbClr val="0000CC"/>
                </a:solidFill>
              </a:rPr>
              <a:t>就是用来获得进程标识符的</a:t>
            </a:r>
            <a:r>
              <a:rPr lang="zh-CN" altLang="en-US" sz="2600" dirty="0"/>
              <a:t>。</a:t>
            </a:r>
            <a:r>
              <a:rPr lang="zh-CN" altLang="en-US" sz="2400" dirty="0"/>
              <a:t> </a:t>
            </a:r>
          </a:p>
          <a:p>
            <a:pPr marL="0" indent="0">
              <a:buNone/>
            </a:pPr>
            <a:endParaRPr lang="zh-CN" altLang="en-US" sz="2400" dirty="0"/>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51</a:t>
            </a:fld>
            <a:endParaRPr lang="en-US" altLang="zh-CN"/>
          </a:p>
        </p:txBody>
      </p:sp>
    </p:spTree>
    <p:extLst>
      <p:ext uri="{BB962C8B-B14F-4D97-AF65-F5344CB8AC3E}">
        <p14:creationId xmlns:p14="http://schemas.microsoft.com/office/powerpoint/2010/main" val="1603068131"/>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Text Box 2"/>
          <p:cNvSpPr txBox="1">
            <a:spLocks noChangeArrowheads="1"/>
          </p:cNvSpPr>
          <p:nvPr/>
        </p:nvSpPr>
        <p:spPr bwMode="auto">
          <a:xfrm>
            <a:off x="6270625" y="59531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endParaRPr kumimoji="1" lang="zh-CN" altLang="en-US" sz="2400">
              <a:latin typeface="Times New Roman" pitchFamily="18" charset="0"/>
            </a:endParaRPr>
          </a:p>
        </p:txBody>
      </p:sp>
      <p:sp>
        <p:nvSpPr>
          <p:cNvPr id="323589" name="Rectangle 5"/>
          <p:cNvSpPr>
            <a:spLocks noChangeArrowheads="1"/>
          </p:cNvSpPr>
          <p:nvPr/>
        </p:nvSpPr>
        <p:spPr bwMode="auto">
          <a:xfrm>
            <a:off x="1939407" y="1250781"/>
            <a:ext cx="8028880" cy="5111985"/>
          </a:xfrm>
          <a:prstGeom prst="rect">
            <a:avLst/>
          </a:prstGeom>
          <a:solidFill>
            <a:schemeClr val="bg2">
              <a:lumMod val="20000"/>
              <a:lumOff val="80000"/>
            </a:schemeClr>
          </a:solidFill>
          <a:ln>
            <a:noFill/>
          </a:ln>
        </p:spPr>
        <p:txBody>
          <a:bodyPr/>
          <a:lstStyle>
            <a:lvl1pPr marL="342900" indent="-342900" algn="l" eaLnBrk="0" hangingPunct="0">
              <a:defRPr>
                <a:solidFill>
                  <a:schemeClr val="tx1"/>
                </a:solidFill>
                <a:latin typeface="Arial" pitchFamily="34" charset="0"/>
                <a:ea typeface="宋体" pitchFamily="2" charset="-122"/>
              </a:defRPr>
            </a:lvl1pPr>
            <a:lvl2pPr marL="742950" indent="-285750" algn="l" eaLnBrk="0" hangingPunct="0">
              <a:defRPr>
                <a:solidFill>
                  <a:schemeClr val="tx1"/>
                </a:solidFill>
                <a:latin typeface="Arial" pitchFamily="34" charset="0"/>
                <a:ea typeface="宋体" pitchFamily="2" charset="-122"/>
              </a:defRPr>
            </a:lvl2pPr>
            <a:lvl3pPr marL="1143000" indent="-228600" algn="l" eaLnBrk="0" hangingPunct="0">
              <a:defRPr>
                <a:solidFill>
                  <a:schemeClr val="tx1"/>
                </a:solidFill>
                <a:latin typeface="Arial" pitchFamily="34" charset="0"/>
                <a:ea typeface="宋体" pitchFamily="2" charset="-122"/>
              </a:defRPr>
            </a:lvl3pPr>
            <a:lvl4pPr marL="1600200" indent="-228600" algn="l" eaLnBrk="0" hangingPunct="0">
              <a:defRPr>
                <a:solidFill>
                  <a:schemeClr val="tx1"/>
                </a:solidFill>
                <a:latin typeface="Arial" pitchFamily="34" charset="0"/>
                <a:ea typeface="宋体" pitchFamily="2" charset="-122"/>
              </a:defRPr>
            </a:lvl4pPr>
            <a:lvl5pPr marL="2057400" indent="-228600" algn="l"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#include&lt;stdio.h&gt;</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 </a:t>
            </a:r>
            <a:r>
              <a:rPr kumimoji="1" lang="en-US" altLang="zh-CN" sz="2000" dirty="0"/>
              <a:t>include&lt;sys/</a:t>
            </a:r>
            <a:r>
              <a:rPr kumimoji="1" lang="en-US" altLang="zh-CN" sz="2000" dirty="0" err="1"/>
              <a:t>types.h</a:t>
            </a:r>
            <a:r>
              <a:rPr kumimoji="1" lang="en-US" altLang="zh-CN" sz="2000" dirty="0"/>
              <a:t>&gt; </a:t>
            </a:r>
          </a:p>
          <a:p>
            <a:pPr algn="just"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 </a:t>
            </a:r>
            <a:r>
              <a:rPr kumimoji="1" lang="en-US" altLang="zh-CN" sz="2000" dirty="0">
                <a:solidFill>
                  <a:srgbClr val="0000CC"/>
                </a:solidFill>
                <a:cs typeface="Times New Roman" pitchFamily="18" charset="0"/>
              </a:rPr>
              <a:t>include&lt;</a:t>
            </a:r>
            <a:r>
              <a:rPr kumimoji="1" lang="en-US" altLang="zh-CN" sz="2000" dirty="0" err="1">
                <a:solidFill>
                  <a:srgbClr val="0000CC"/>
                </a:solidFill>
                <a:cs typeface="Times New Roman" pitchFamily="18" charset="0"/>
              </a:rPr>
              <a:t>unistd.h</a:t>
            </a:r>
            <a:r>
              <a:rPr kumimoji="1" lang="en-US" altLang="zh-CN" sz="2000" dirty="0">
                <a:solidFill>
                  <a:srgbClr val="0000CC"/>
                </a:solidFill>
                <a:cs typeface="Times New Roman" pitchFamily="18" charset="0"/>
              </a:rPr>
              <a:t>&gt;</a:t>
            </a:r>
            <a:endParaRPr kumimoji="1" lang="en-US" altLang="zh-CN" sz="2000" dirty="0">
              <a:latin typeface="隶书" pitchFamily="49" charset="-122"/>
              <a:ea typeface="隶书" pitchFamily="49" charset="-122"/>
            </a:endParaRPr>
          </a:p>
          <a:p>
            <a:pPr algn="just" eaLnBrk="1" hangingPunct="1">
              <a:lnSpc>
                <a:spcPct val="90000"/>
              </a:lnSpc>
              <a:spcBef>
                <a:spcPct val="20000"/>
              </a:spcBef>
              <a:buClr>
                <a:srgbClr val="339933"/>
              </a:buClr>
              <a:buFont typeface="Wingdings" pitchFamily="2" charset="2"/>
              <a:buNone/>
            </a:pPr>
            <a:r>
              <a:rPr kumimoji="1" lang="en-US" altLang="zh-CN" sz="2000" dirty="0"/>
              <a:t>main()</a:t>
            </a:r>
          </a:p>
          <a:p>
            <a:pPr algn="just" eaLnBrk="1" hangingPunct="1">
              <a:lnSpc>
                <a:spcPct val="90000"/>
              </a:lnSpc>
              <a:spcBef>
                <a:spcPct val="20000"/>
              </a:spcBef>
              <a:buClr>
                <a:srgbClr val="339933"/>
              </a:buClr>
              <a:buFont typeface="Wingdings" pitchFamily="2" charset="2"/>
              <a:buNone/>
            </a:pPr>
            <a:r>
              <a:rPr kumimoji="1" lang="en-US" altLang="zh-CN" sz="2000" dirty="0">
                <a:solidFill>
                  <a:srgbClr val="000000"/>
                </a:solidFill>
                <a:latin typeface="Arial Unicode MS" pitchFamily="34" charset="-122"/>
                <a:ea typeface="黑体" pitchFamily="49" charset="-122"/>
              </a:rPr>
              <a:t>{</a:t>
            </a:r>
          </a:p>
          <a:p>
            <a:pPr algn="just" eaLnBrk="1" hangingPunct="1">
              <a:lnSpc>
                <a:spcPct val="90000"/>
              </a:lnSpc>
              <a:spcBef>
                <a:spcPct val="20000"/>
              </a:spcBef>
              <a:buClr>
                <a:srgbClr val="339933"/>
              </a:buClr>
              <a:buFont typeface="Wingdings" pitchFamily="2" charset="2"/>
              <a:buNone/>
            </a:pPr>
            <a:r>
              <a:rPr kumimoji="1" lang="en-US" altLang="zh-CN" sz="2000" dirty="0">
                <a:solidFill>
                  <a:srgbClr val="000000"/>
                </a:solidFill>
                <a:latin typeface="Arial Unicode MS" pitchFamily="34" charset="-122"/>
                <a:ea typeface="黑体" pitchFamily="49" charset="-122"/>
              </a:rPr>
              <a:t>       </a:t>
            </a:r>
            <a:r>
              <a:rPr kumimoji="1" lang="en-US" altLang="zh-CN" sz="2000" dirty="0">
                <a:solidFill>
                  <a:srgbClr val="000000"/>
                </a:solidFill>
                <a:latin typeface="Times New Roman" pitchFamily="18" charset="0"/>
                <a:ea typeface="黑体" pitchFamily="49" charset="-122"/>
                <a:cs typeface="Times New Roman" pitchFamily="18" charset="0"/>
              </a:rPr>
              <a:t>int </a:t>
            </a:r>
            <a:r>
              <a:rPr kumimoji="1" lang="en-US" altLang="zh-CN" sz="2000" dirty="0">
                <a:solidFill>
                  <a:srgbClr val="000000"/>
                </a:solidFill>
                <a:latin typeface="Times New Roman" pitchFamily="18" charset="0"/>
                <a:cs typeface="Times New Roman" pitchFamily="18" charset="0"/>
              </a:rPr>
              <a:t> </a:t>
            </a:r>
            <a:r>
              <a:rPr kumimoji="1" lang="en-US" altLang="zh-CN" sz="2000" dirty="0" err="1">
                <a:solidFill>
                  <a:srgbClr val="000000"/>
                </a:solidFill>
                <a:latin typeface="Times New Roman" pitchFamily="18" charset="0"/>
                <a:cs typeface="Times New Roman" pitchFamily="18" charset="0"/>
              </a:rPr>
              <a:t>pid</a:t>
            </a:r>
            <a:r>
              <a:rPr kumimoji="1" lang="en-US" altLang="zh-CN" sz="2000" dirty="0">
                <a:solidFill>
                  <a:srgbClr val="000000"/>
                </a:solidFill>
                <a:latin typeface="Times New Roman" pitchFamily="18" charset="0"/>
                <a:cs typeface="Times New Roman" pitchFamily="18" charset="0"/>
              </a:rPr>
              <a:t>;</a:t>
            </a:r>
            <a:r>
              <a:rPr kumimoji="1" lang="en-US" altLang="zh-CN" sz="2000" dirty="0">
                <a:solidFill>
                  <a:srgbClr val="000000"/>
                </a:solidFill>
                <a:latin typeface="Arial Unicode MS" pitchFamily="34" charset="-122"/>
                <a:ea typeface="黑体" pitchFamily="49" charset="-122"/>
              </a:rPr>
              <a:t>	      </a:t>
            </a:r>
            <a:r>
              <a:rPr kumimoji="1" lang="en-US" altLang="zh-CN" sz="2000" dirty="0">
                <a:solidFill>
                  <a:srgbClr val="000000"/>
                </a:solidFill>
                <a:latin typeface="宋体" pitchFamily="2" charset="-122"/>
              </a:rPr>
              <a:t>/*</a:t>
            </a:r>
            <a:r>
              <a:rPr kumimoji="1" lang="zh-CN" altLang="en-US" sz="2000" dirty="0">
                <a:solidFill>
                  <a:srgbClr val="000000"/>
                </a:solidFill>
                <a:latin typeface="宋体" pitchFamily="2" charset="-122"/>
              </a:rPr>
              <a:t>此时仅有一个进程*</a:t>
            </a:r>
            <a:r>
              <a:rPr kumimoji="1" lang="en-US" altLang="zh-CN" sz="2000" dirty="0">
                <a:solidFill>
                  <a:srgbClr val="000000"/>
                </a:solidFill>
                <a:latin typeface="宋体" pitchFamily="2" charset="-122"/>
              </a:rPr>
              <a:t>/</a:t>
            </a:r>
            <a:r>
              <a:rPr kumimoji="1" lang="en-US" altLang="zh-CN" sz="2000" dirty="0">
                <a:latin typeface="隶书" pitchFamily="49" charset="-122"/>
                <a:ea typeface="隶书" pitchFamily="49" charset="-122"/>
              </a:rPr>
              <a:t> </a:t>
            </a:r>
            <a:r>
              <a:rPr kumimoji="1" lang="en-US" altLang="zh-CN" sz="2000" dirty="0"/>
              <a:t>  </a:t>
            </a:r>
          </a:p>
          <a:p>
            <a:pPr algn="just" eaLnBrk="1" hangingPunct="1">
              <a:lnSpc>
                <a:spcPct val="90000"/>
              </a:lnSpc>
              <a:spcBef>
                <a:spcPct val="20000"/>
              </a:spcBef>
              <a:buClr>
                <a:srgbClr val="339933"/>
              </a:buClr>
              <a:buFont typeface="Wingdings" pitchFamily="2" charset="2"/>
              <a:buNone/>
            </a:pPr>
            <a:r>
              <a:rPr kumimoji="1" lang="en-US" altLang="zh-CN" sz="2000" dirty="0"/>
              <a:t>       </a:t>
            </a:r>
            <a:r>
              <a:rPr kumimoji="1" lang="en-US" altLang="zh-CN" sz="2000" dirty="0" err="1"/>
              <a:t>printf</a:t>
            </a:r>
            <a:r>
              <a:rPr kumimoji="1" lang="en-US" altLang="zh-CN" sz="2000" dirty="0"/>
              <a:t>(</a:t>
            </a:r>
            <a:r>
              <a:rPr kumimoji="1" lang="en-US" altLang="zh-CN" sz="2000" dirty="0">
                <a:latin typeface="Times New Roman"/>
              </a:rPr>
              <a:t>“</a:t>
            </a:r>
            <a:r>
              <a:rPr kumimoji="1" lang="en-US" altLang="zh-CN" sz="2000" dirty="0"/>
              <a:t>PID before fork():%d\n</a:t>
            </a:r>
            <a:r>
              <a:rPr kumimoji="1" lang="en-US" altLang="zh-CN" sz="2000" dirty="0">
                <a:latin typeface="Times New Roman"/>
              </a:rPr>
              <a:t>”</a:t>
            </a:r>
            <a:r>
              <a:rPr kumimoji="1" lang="en-US" altLang="zh-CN" sz="2000" dirty="0"/>
              <a:t>, (int)</a:t>
            </a:r>
            <a:r>
              <a:rPr kumimoji="1" lang="en-US" altLang="zh-CN" sz="2000" dirty="0" err="1"/>
              <a:t>getpid</a:t>
            </a:r>
            <a:r>
              <a:rPr kumimoji="1" lang="en-US" altLang="zh-CN" sz="2000" dirty="0"/>
              <a:t>() );</a:t>
            </a:r>
          </a:p>
          <a:p>
            <a:pPr eaLnBrk="1" hangingPunct="1">
              <a:lnSpc>
                <a:spcPct val="90000"/>
              </a:lnSpc>
              <a:spcBef>
                <a:spcPct val="20000"/>
              </a:spcBef>
              <a:buClr>
                <a:srgbClr val="339933"/>
              </a:buClr>
              <a:buFont typeface="Wingdings" pitchFamily="2" charset="2"/>
              <a:buNone/>
            </a:pPr>
            <a:r>
              <a:rPr kumimoji="1" lang="en-US" altLang="zh-CN" sz="2000" dirty="0">
                <a:latin typeface="Times New Roman" pitchFamily="18" charset="0"/>
                <a:cs typeface="Times New Roman" pitchFamily="18" charset="0"/>
              </a:rPr>
              <a:t>       </a:t>
            </a:r>
            <a:r>
              <a:rPr kumimoji="1" lang="en-US" altLang="zh-CN" sz="2000" dirty="0" err="1">
                <a:latin typeface="Times New Roman" pitchFamily="18" charset="0"/>
                <a:cs typeface="Times New Roman" pitchFamily="18" charset="0"/>
              </a:rPr>
              <a:t>pid</a:t>
            </a:r>
            <a:r>
              <a:rPr kumimoji="1" lang="en-US" altLang="zh-CN" sz="2000" dirty="0">
                <a:latin typeface="Times New Roman" pitchFamily="18" charset="0"/>
                <a:cs typeface="Times New Roman" pitchFamily="18" charset="0"/>
              </a:rPr>
              <a:t>=fork();</a:t>
            </a:r>
            <a:r>
              <a:rPr kumimoji="1" lang="en-US" altLang="zh-CN" sz="2000" dirty="0">
                <a:latin typeface="隶书" pitchFamily="49" charset="-122"/>
                <a:ea typeface="隶书" pitchFamily="49" charset="-122"/>
              </a:rPr>
              <a:t>       </a:t>
            </a:r>
            <a:r>
              <a:rPr kumimoji="1" lang="en-US" altLang="zh-CN" sz="2000" dirty="0">
                <a:latin typeface="宋体" pitchFamily="2" charset="-122"/>
              </a:rPr>
              <a:t>/*</a:t>
            </a:r>
            <a:r>
              <a:rPr kumimoji="1" lang="zh-CN" altLang="en-US" sz="2000" dirty="0">
                <a:latin typeface="宋体" pitchFamily="2" charset="-122"/>
              </a:rPr>
              <a:t>此时已经有两个进程在同时运行*</a:t>
            </a:r>
            <a:r>
              <a:rPr kumimoji="1" lang="en-US" altLang="zh-CN" sz="2000" dirty="0">
                <a:latin typeface="宋体" pitchFamily="2" charset="-122"/>
              </a:rPr>
              <a:t>/</a:t>
            </a:r>
            <a:r>
              <a:rPr kumimoji="1" lang="en-US" altLang="zh-CN" sz="2000" dirty="0">
                <a:latin typeface="Arial Unicode MS" pitchFamily="34" charset="-122"/>
                <a:ea typeface="黑体" pitchFamily="49" charset="-122"/>
              </a:rPr>
              <a:t>    </a:t>
            </a:r>
          </a:p>
          <a:p>
            <a:pPr eaLnBrk="1" hangingPunct="1">
              <a:lnSpc>
                <a:spcPct val="90000"/>
              </a:lnSpc>
              <a:spcBef>
                <a:spcPct val="20000"/>
              </a:spcBef>
              <a:buClr>
                <a:srgbClr val="339933"/>
              </a:buClr>
              <a:buFont typeface="Wingdings" pitchFamily="2" charset="2"/>
              <a:buNone/>
            </a:pPr>
            <a:r>
              <a:rPr kumimoji="1" lang="en-US" altLang="zh-CN" sz="2000" dirty="0">
                <a:solidFill>
                  <a:srgbClr val="000000"/>
                </a:solidFill>
                <a:latin typeface="Arial Unicode MS" pitchFamily="34" charset="-122"/>
                <a:ea typeface="黑体" pitchFamily="49" charset="-122"/>
              </a:rPr>
              <a:t>      </a:t>
            </a:r>
            <a:r>
              <a:rPr kumimoji="1" lang="en-US" altLang="zh-CN" sz="2000" dirty="0">
                <a:solidFill>
                  <a:srgbClr val="000000"/>
                </a:solidFill>
                <a:latin typeface="Times New Roman" pitchFamily="18" charset="0"/>
                <a:cs typeface="Times New Roman" pitchFamily="18" charset="0"/>
              </a:rPr>
              <a:t>if(pid&lt;0)	printf("error in fork!");	</a:t>
            </a:r>
          </a:p>
          <a:p>
            <a:pPr eaLnBrk="1" hangingPunct="1">
              <a:lnSpc>
                <a:spcPct val="90000"/>
              </a:lnSpc>
              <a:spcBef>
                <a:spcPct val="20000"/>
              </a:spcBef>
              <a:buClr>
                <a:srgbClr val="339933"/>
              </a:buClr>
              <a:buFont typeface="Wingdings" pitchFamily="2" charset="2"/>
              <a:buNone/>
            </a:pPr>
            <a:r>
              <a:rPr kumimoji="1" lang="en-US" altLang="zh-CN" sz="2000" dirty="0">
                <a:solidFill>
                  <a:srgbClr val="000000"/>
                </a:solidFill>
                <a:latin typeface="Times New Roman" pitchFamily="18" charset="0"/>
                <a:cs typeface="Times New Roman" pitchFamily="18" charset="0"/>
              </a:rPr>
              <a:t>       else if(pid==0)		</a:t>
            </a:r>
          </a:p>
          <a:p>
            <a:pPr eaLnBrk="1" hangingPunct="1">
              <a:lnSpc>
                <a:spcPct val="90000"/>
              </a:lnSpc>
              <a:spcBef>
                <a:spcPct val="20000"/>
              </a:spcBef>
              <a:buClr>
                <a:srgbClr val="339933"/>
              </a:buClr>
              <a:buFont typeface="Wingdings" pitchFamily="2" charset="2"/>
              <a:buNone/>
            </a:pPr>
            <a:r>
              <a:rPr kumimoji="1" lang="en-US" altLang="zh-CN" sz="2000" dirty="0">
                <a:solidFill>
                  <a:srgbClr val="000000"/>
                </a:solidFill>
                <a:latin typeface="Times New Roman" pitchFamily="18" charset="0"/>
                <a:cs typeface="Times New Roman" pitchFamily="18" charset="0"/>
              </a:rPr>
              <a:t>            </a:t>
            </a:r>
            <a:r>
              <a:rPr kumimoji="1" lang="en-US" altLang="zh-CN" sz="2000" dirty="0" err="1">
                <a:solidFill>
                  <a:srgbClr val="000000"/>
                </a:solidFill>
                <a:latin typeface="Times New Roman" pitchFamily="18" charset="0"/>
                <a:cs typeface="Times New Roman" pitchFamily="18" charset="0"/>
              </a:rPr>
              <a:t>printf</a:t>
            </a:r>
            <a:r>
              <a:rPr kumimoji="1" lang="en-US" altLang="zh-CN" sz="2000" dirty="0">
                <a:solidFill>
                  <a:srgbClr val="000000"/>
                </a:solidFill>
                <a:latin typeface="Times New Roman" pitchFamily="18" charset="0"/>
                <a:cs typeface="Times New Roman" pitchFamily="18" charset="0"/>
              </a:rPr>
              <a:t>("I am the child process, my process ID is %d\n",</a:t>
            </a:r>
            <a:r>
              <a:rPr kumimoji="1" lang="en-US" altLang="zh-CN" sz="2000" dirty="0" err="1">
                <a:solidFill>
                  <a:srgbClr val="000000"/>
                </a:solidFill>
                <a:latin typeface="Times New Roman" pitchFamily="18" charset="0"/>
                <a:cs typeface="Times New Roman" pitchFamily="18" charset="0"/>
              </a:rPr>
              <a:t>getpid</a:t>
            </a:r>
            <a:r>
              <a:rPr kumimoji="1" lang="en-US" altLang="zh-CN" sz="2000" dirty="0">
                <a:solidFill>
                  <a:srgbClr val="000000"/>
                </a:solidFill>
                <a:latin typeface="Times New Roman" pitchFamily="18" charset="0"/>
                <a:cs typeface="Times New Roman" pitchFamily="18" charset="0"/>
              </a:rPr>
              <a:t>());</a:t>
            </a:r>
          </a:p>
          <a:p>
            <a:pPr eaLnBrk="1" hangingPunct="1">
              <a:lnSpc>
                <a:spcPct val="90000"/>
              </a:lnSpc>
              <a:spcBef>
                <a:spcPct val="20000"/>
              </a:spcBef>
              <a:buClr>
                <a:srgbClr val="339933"/>
              </a:buClr>
              <a:buFont typeface="Wingdings" pitchFamily="2" charset="2"/>
              <a:buNone/>
            </a:pPr>
            <a:r>
              <a:rPr kumimoji="1" lang="en-US" altLang="zh-CN" sz="2000" dirty="0">
                <a:solidFill>
                  <a:srgbClr val="000000"/>
                </a:solidFill>
                <a:latin typeface="Times New Roman" pitchFamily="18" charset="0"/>
                <a:cs typeface="Times New Roman" pitchFamily="18" charset="0"/>
              </a:rPr>
              <a:t>      else		</a:t>
            </a:r>
          </a:p>
          <a:p>
            <a:pPr eaLnBrk="1" hangingPunct="1">
              <a:lnSpc>
                <a:spcPct val="90000"/>
              </a:lnSpc>
              <a:spcBef>
                <a:spcPct val="20000"/>
              </a:spcBef>
              <a:buClr>
                <a:srgbClr val="339933"/>
              </a:buClr>
              <a:buFont typeface="Wingdings" pitchFamily="2" charset="2"/>
              <a:buNone/>
            </a:pPr>
            <a:r>
              <a:rPr kumimoji="1" lang="en-US" altLang="zh-CN" sz="2000" dirty="0">
                <a:solidFill>
                  <a:srgbClr val="000000"/>
                </a:solidFill>
                <a:latin typeface="Times New Roman" pitchFamily="18" charset="0"/>
                <a:cs typeface="Times New Roman" pitchFamily="18" charset="0"/>
              </a:rPr>
              <a:t>            </a:t>
            </a:r>
            <a:r>
              <a:rPr kumimoji="1" lang="en-US" altLang="zh-CN" sz="2000" dirty="0" err="1">
                <a:solidFill>
                  <a:srgbClr val="000000"/>
                </a:solidFill>
                <a:latin typeface="Times New Roman" pitchFamily="18" charset="0"/>
                <a:cs typeface="Times New Roman" pitchFamily="18" charset="0"/>
              </a:rPr>
              <a:t>printf</a:t>
            </a:r>
            <a:r>
              <a:rPr kumimoji="1" lang="en-US" altLang="zh-CN" sz="2000" dirty="0">
                <a:solidFill>
                  <a:srgbClr val="000000"/>
                </a:solidFill>
                <a:latin typeface="Times New Roman" pitchFamily="18" charset="0"/>
                <a:cs typeface="Times New Roman" pitchFamily="18" charset="0"/>
              </a:rPr>
              <a:t>("I am the parent process, my process ID is %d\n",</a:t>
            </a:r>
            <a:r>
              <a:rPr kumimoji="1" lang="en-US" altLang="zh-CN" sz="2000" dirty="0" err="1">
                <a:solidFill>
                  <a:srgbClr val="000000"/>
                </a:solidFill>
                <a:latin typeface="Times New Roman" pitchFamily="18" charset="0"/>
                <a:cs typeface="Times New Roman" pitchFamily="18" charset="0"/>
              </a:rPr>
              <a:t>getpid</a:t>
            </a:r>
            <a:r>
              <a:rPr kumimoji="1" lang="en-US" altLang="zh-CN" sz="2000" dirty="0">
                <a:solidFill>
                  <a:srgbClr val="000000"/>
                </a:solidFill>
                <a:latin typeface="Times New Roman" pitchFamily="18" charset="0"/>
                <a:cs typeface="Times New Roman" pitchFamily="18" charset="0"/>
              </a:rPr>
              <a:t>());</a:t>
            </a:r>
          </a:p>
          <a:p>
            <a:pPr eaLnBrk="1" hangingPunct="1">
              <a:lnSpc>
                <a:spcPct val="90000"/>
              </a:lnSpc>
              <a:spcBef>
                <a:spcPct val="20000"/>
              </a:spcBef>
              <a:buClr>
                <a:srgbClr val="339933"/>
              </a:buClr>
              <a:buFont typeface="Wingdings" pitchFamily="2" charset="2"/>
              <a:buNone/>
            </a:pPr>
            <a:r>
              <a:rPr kumimoji="1" lang="en-US" altLang="zh-CN" sz="2000" dirty="0">
                <a:solidFill>
                  <a:srgbClr val="000000"/>
                </a:solidFill>
                <a:latin typeface="Times New Roman" pitchFamily="18" charset="0"/>
                <a:cs typeface="Times New Roman" pitchFamily="18" charset="0"/>
              </a:rPr>
              <a:t>}</a:t>
            </a:r>
            <a:r>
              <a:rPr kumimoji="1" lang="en-US" altLang="zh-CN" sz="2000" dirty="0">
                <a:latin typeface="隶书" pitchFamily="49" charset="-122"/>
                <a:ea typeface="隶书" pitchFamily="49" charset="-122"/>
              </a:rPr>
              <a:t> </a:t>
            </a:r>
          </a:p>
        </p:txBody>
      </p:sp>
      <p:sp>
        <p:nvSpPr>
          <p:cNvPr id="6" name="TextBox 5"/>
          <p:cNvSpPr txBox="1"/>
          <p:nvPr/>
        </p:nvSpPr>
        <p:spPr>
          <a:xfrm>
            <a:off x="1939407" y="692696"/>
            <a:ext cx="3544560" cy="492443"/>
          </a:xfrm>
          <a:prstGeom prst="rect">
            <a:avLst/>
          </a:prstGeom>
          <a:noFill/>
        </p:spPr>
        <p:txBody>
          <a:bodyPr wrap="none" rtlCol="0">
            <a:spAutoFit/>
          </a:bodyPr>
          <a:lstStyle/>
          <a:p>
            <a:r>
              <a:rPr kumimoji="1" lang="zh-CN" altLang="en-US" sz="2600" dirty="0">
                <a:latin typeface="+mn-ea"/>
                <a:ea typeface="+mn-ea"/>
              </a:rPr>
              <a:t>程序文件</a:t>
            </a:r>
            <a:r>
              <a:rPr kumimoji="1" lang="en-US" altLang="zh-CN" sz="2600" dirty="0">
                <a:solidFill>
                  <a:srgbClr val="000000"/>
                </a:solidFill>
                <a:latin typeface="+mn-ea"/>
                <a:ea typeface="+mn-ea"/>
                <a:cs typeface="Times New Roman" pitchFamily="18" charset="0"/>
              </a:rPr>
              <a:t>fork_test2.c</a:t>
            </a:r>
            <a:endParaRPr lang="zh-CN" altLang="en-US" sz="2600" dirty="0">
              <a:latin typeface="+mn-ea"/>
              <a:ea typeface="+mn-ea"/>
            </a:endParaRPr>
          </a:p>
        </p:txBody>
      </p:sp>
      <p:sp>
        <p:nvSpPr>
          <p:cNvPr id="7" name="灯片编号占位符 3"/>
          <p:cNvSpPr>
            <a:spLocks noGrp="1"/>
          </p:cNvSpPr>
          <p:nvPr>
            <p:ph type="sldNum" sz="quarter" idx="11"/>
          </p:nvPr>
        </p:nvSpPr>
        <p:spPr>
          <a:xfrm>
            <a:off x="5053013" y="6356176"/>
            <a:ext cx="2133600" cy="457200"/>
          </a:xfrm>
        </p:spPr>
        <p:txBody>
          <a:bodyPr/>
          <a:lstStyle/>
          <a:p>
            <a:pPr>
              <a:defRPr/>
            </a:pPr>
            <a:fld id="{110871B5-850E-4E14-A636-3EC679EBF038}" type="slidenum">
              <a:rPr lang="en-US" altLang="zh-CN" smtClean="0"/>
              <a:pPr>
                <a:defRPr/>
              </a:pPr>
              <a:t>52</a:t>
            </a:fld>
            <a:endParaRPr lang="en-US" altLang="zh-CN"/>
          </a:p>
        </p:txBody>
      </p:sp>
    </p:spTree>
    <p:extLst>
      <p:ext uri="{BB962C8B-B14F-4D97-AF65-F5344CB8AC3E}">
        <p14:creationId xmlns:p14="http://schemas.microsoft.com/office/powerpoint/2010/main" val="2089946933"/>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Text Box 2"/>
          <p:cNvSpPr txBox="1">
            <a:spLocks noChangeArrowheads="1"/>
          </p:cNvSpPr>
          <p:nvPr/>
        </p:nvSpPr>
        <p:spPr bwMode="auto">
          <a:xfrm>
            <a:off x="6270625" y="59531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endParaRPr kumimoji="1" lang="zh-CN" altLang="en-US" sz="2400">
              <a:latin typeface="Times New Roman" pitchFamily="18" charset="0"/>
            </a:endParaRPr>
          </a:p>
        </p:txBody>
      </p:sp>
      <p:sp>
        <p:nvSpPr>
          <p:cNvPr id="325637" name="Rectangle 5"/>
          <p:cNvSpPr>
            <a:spLocks noChangeArrowheads="1"/>
          </p:cNvSpPr>
          <p:nvPr/>
        </p:nvSpPr>
        <p:spPr bwMode="auto">
          <a:xfrm>
            <a:off x="1559496" y="1583375"/>
            <a:ext cx="8496944" cy="4464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eaLnBrk="0" hangingPunct="0">
              <a:defRPr>
                <a:solidFill>
                  <a:schemeClr val="tx1"/>
                </a:solidFill>
                <a:latin typeface="Arial" pitchFamily="34" charset="0"/>
                <a:ea typeface="宋体" pitchFamily="2" charset="-122"/>
              </a:defRPr>
            </a:lvl1pPr>
            <a:lvl2pPr marL="742950" indent="-285750" algn="l" eaLnBrk="0" hangingPunct="0">
              <a:defRPr>
                <a:solidFill>
                  <a:schemeClr val="tx1"/>
                </a:solidFill>
                <a:latin typeface="Arial" pitchFamily="34" charset="0"/>
                <a:ea typeface="宋体" pitchFamily="2" charset="-122"/>
              </a:defRPr>
            </a:lvl2pPr>
            <a:lvl3pPr marL="1143000" indent="-228600" algn="l" eaLnBrk="0" hangingPunct="0">
              <a:defRPr>
                <a:solidFill>
                  <a:schemeClr val="tx1"/>
                </a:solidFill>
                <a:latin typeface="Arial" pitchFamily="34" charset="0"/>
                <a:ea typeface="宋体" pitchFamily="2" charset="-122"/>
              </a:defRPr>
            </a:lvl3pPr>
            <a:lvl4pPr marL="1600200" indent="-228600" algn="l" eaLnBrk="0" hangingPunct="0">
              <a:defRPr>
                <a:solidFill>
                  <a:schemeClr val="tx1"/>
                </a:solidFill>
                <a:latin typeface="Arial" pitchFamily="34" charset="0"/>
                <a:ea typeface="宋体" pitchFamily="2" charset="-122"/>
              </a:defRPr>
            </a:lvl4pPr>
            <a:lvl5pPr marL="2057400" indent="-228600" algn="l"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lvl="1" algn="just" eaLnBrk="1" hangingPunct="1">
              <a:spcBef>
                <a:spcPct val="20000"/>
              </a:spcBef>
              <a:buClr>
                <a:srgbClr val="339933"/>
              </a:buClr>
              <a:buFont typeface="Wingdings" pitchFamily="2" charset="2"/>
              <a:buNone/>
            </a:pPr>
            <a:r>
              <a:rPr kumimoji="1" lang="zh-CN" altLang="en-US" sz="2600" dirty="0">
                <a:latin typeface="+mn-ea"/>
                <a:ea typeface="+mn-ea"/>
              </a:rPr>
              <a:t>编译并运行这个程序：</a:t>
            </a:r>
          </a:p>
          <a:p>
            <a:pPr lvl="1" eaLnBrk="1" hangingPunct="1">
              <a:spcBef>
                <a:spcPct val="20000"/>
              </a:spcBef>
              <a:buClr>
                <a:srgbClr val="339933"/>
              </a:buClr>
              <a:buFont typeface="Wingdings" pitchFamily="2" charset="2"/>
              <a:buNone/>
            </a:pPr>
            <a:r>
              <a:rPr kumimoji="1" lang="en-US" altLang="zh-CN" sz="2600" dirty="0">
                <a:solidFill>
                  <a:srgbClr val="000000"/>
                </a:solidFill>
                <a:latin typeface="+mn-ea"/>
                <a:ea typeface="+mn-ea"/>
                <a:cs typeface="Times New Roman" pitchFamily="18" charset="0"/>
              </a:rPr>
              <a:t>$gcc fork_test2.c -o fork_test2</a:t>
            </a:r>
          </a:p>
          <a:p>
            <a:pPr lvl="1" eaLnBrk="1" hangingPunct="1">
              <a:spcBef>
                <a:spcPct val="20000"/>
              </a:spcBef>
              <a:buClr>
                <a:srgbClr val="339933"/>
              </a:buClr>
              <a:buFont typeface="Wingdings" pitchFamily="2" charset="2"/>
              <a:buNone/>
            </a:pPr>
            <a:r>
              <a:rPr kumimoji="1" lang="zh-CN" altLang="en-US" sz="2600" dirty="0">
                <a:solidFill>
                  <a:srgbClr val="000000"/>
                </a:solidFill>
                <a:latin typeface="+mn-ea"/>
                <a:ea typeface="+mn-ea"/>
                <a:cs typeface="Times New Roman" pitchFamily="18" charset="0"/>
              </a:rPr>
              <a:t>执行：</a:t>
            </a:r>
          </a:p>
          <a:p>
            <a:pPr lvl="1" eaLnBrk="1" hangingPunct="1">
              <a:spcBef>
                <a:spcPct val="20000"/>
              </a:spcBef>
              <a:buClr>
                <a:srgbClr val="339933"/>
              </a:buClr>
            </a:pPr>
            <a:endParaRPr kumimoji="1" lang="en-US" altLang="zh-CN" sz="2500" dirty="0">
              <a:solidFill>
                <a:srgbClr val="000000"/>
              </a:solidFill>
              <a:latin typeface="+mn-ea"/>
              <a:ea typeface="+mn-ea"/>
              <a:cs typeface="Times New Roman" pitchFamily="18" charset="0"/>
            </a:endParaRPr>
          </a:p>
        </p:txBody>
      </p:sp>
      <p:sp>
        <p:nvSpPr>
          <p:cNvPr id="2" name="标题 1"/>
          <p:cNvSpPr>
            <a:spLocks noGrp="1"/>
          </p:cNvSpPr>
          <p:nvPr>
            <p:ph type="title"/>
          </p:nvPr>
        </p:nvSpPr>
        <p:spPr>
          <a:xfrm>
            <a:off x="983432" y="427035"/>
            <a:ext cx="10058400" cy="858837"/>
          </a:xfrm>
        </p:spPr>
        <p:txBody>
          <a:bodyPr/>
          <a:lstStyle/>
          <a:p>
            <a:r>
              <a:rPr lang="zh-CN" altLang="en-US" dirty="0">
                <a:latin typeface="+mn-ea"/>
              </a:rPr>
              <a:t>进程示例</a:t>
            </a:r>
            <a:endParaRPr lang="zh-CN" altLang="en-US" dirty="0"/>
          </a:p>
        </p:txBody>
      </p:sp>
      <p:sp>
        <p:nvSpPr>
          <p:cNvPr id="5" name="灯片编号占位符 5"/>
          <p:cNvSpPr>
            <a:spLocks noGrp="1"/>
          </p:cNvSpPr>
          <p:nvPr>
            <p:ph type="sldNum" sz="quarter" idx="11"/>
          </p:nvPr>
        </p:nvSpPr>
        <p:spPr>
          <a:prstGeom prst="rect">
            <a:avLst/>
          </a:prstGeom>
        </p:spPr>
        <p:txBody>
          <a:bodyPr/>
          <a:lstStyle/>
          <a:p>
            <a:fld id="{8B65A0CA-DAE2-4088-BB58-45073E9B1BD3}" type="slidenum">
              <a:rPr lang="zh-CN" altLang="en-US"/>
              <a:pPr/>
              <a:t>53</a:t>
            </a:fld>
            <a:endParaRPr lang="en-US" altLang="zh-CN" dirty="0"/>
          </a:p>
        </p:txBody>
      </p:sp>
      <p:pic>
        <p:nvPicPr>
          <p:cNvPr id="4" name="图片 3">
            <a:extLst>
              <a:ext uri="{FF2B5EF4-FFF2-40B4-BE49-F238E27FC236}">
                <a16:creationId xmlns:a16="http://schemas.microsoft.com/office/drawing/2014/main" id="{359F9205-D303-68CD-DD7F-10E4564A5EDB}"/>
              </a:ext>
            </a:extLst>
          </p:cNvPr>
          <p:cNvPicPr>
            <a:picLocks noChangeAspect="1"/>
          </p:cNvPicPr>
          <p:nvPr/>
        </p:nvPicPr>
        <p:blipFill>
          <a:blip r:embed="rId3"/>
          <a:stretch>
            <a:fillRect/>
          </a:stretch>
        </p:blipFill>
        <p:spPr>
          <a:xfrm>
            <a:off x="2023852" y="3229765"/>
            <a:ext cx="7888572" cy="2630350"/>
          </a:xfrm>
          <a:prstGeom prst="rect">
            <a:avLst/>
          </a:prstGeom>
          <a:ln>
            <a:solidFill>
              <a:schemeClr val="bg2"/>
            </a:solidFill>
          </a:ln>
        </p:spPr>
      </p:pic>
    </p:spTree>
    <p:extLst>
      <p:ext uri="{BB962C8B-B14F-4D97-AF65-F5344CB8AC3E}">
        <p14:creationId xmlns:p14="http://schemas.microsoft.com/office/powerpoint/2010/main" val="38912331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5" name="Rectangle 3"/>
          <p:cNvSpPr>
            <a:spLocks noGrp="1" noChangeArrowheads="1"/>
          </p:cNvSpPr>
          <p:nvPr>
            <p:ph type="body" sz="half" idx="1"/>
          </p:nvPr>
        </p:nvSpPr>
        <p:spPr>
          <a:xfrm>
            <a:off x="2135561" y="1124991"/>
            <a:ext cx="7920879" cy="5256337"/>
          </a:xfrm>
          <a:solidFill>
            <a:srgbClr val="FFFFCC"/>
          </a:solidFill>
          <a:ln>
            <a:solidFill>
              <a:schemeClr val="tx1"/>
            </a:solidFill>
          </a:ln>
        </p:spPr>
        <p:txBody>
          <a:bodyPr/>
          <a:lstStyle/>
          <a:p>
            <a:pPr>
              <a:lnSpc>
                <a:spcPct val="80000"/>
              </a:lnSpc>
              <a:buFontTx/>
              <a:buNone/>
            </a:pPr>
            <a:r>
              <a:rPr lang="en-US" altLang="zh-CN" sz="1800" dirty="0"/>
              <a:t>int main()</a:t>
            </a:r>
          </a:p>
          <a:p>
            <a:pPr>
              <a:lnSpc>
                <a:spcPct val="80000"/>
              </a:lnSpc>
              <a:buFontTx/>
              <a:buNone/>
            </a:pPr>
            <a:r>
              <a:rPr lang="en-US" altLang="zh-CN" sz="1800" dirty="0"/>
              <a:t>{ int  pid;</a:t>
            </a:r>
          </a:p>
          <a:p>
            <a:pPr>
              <a:lnSpc>
                <a:spcPct val="80000"/>
              </a:lnSpc>
              <a:buFontTx/>
              <a:buNone/>
            </a:pPr>
            <a:r>
              <a:rPr lang="en-US" altLang="zh-CN" sz="1800" dirty="0"/>
              <a:t>  int  count =0;</a:t>
            </a:r>
          </a:p>
          <a:p>
            <a:pPr>
              <a:lnSpc>
                <a:spcPct val="80000"/>
              </a:lnSpc>
              <a:buFontTx/>
              <a:buNone/>
            </a:pPr>
            <a:r>
              <a:rPr lang="en-US" altLang="zh-CN" sz="1800" dirty="0"/>
              <a:t>  pid = fork();</a:t>
            </a:r>
          </a:p>
          <a:p>
            <a:pPr>
              <a:lnSpc>
                <a:spcPct val="80000"/>
              </a:lnSpc>
              <a:buFontTx/>
              <a:buNone/>
            </a:pPr>
            <a:r>
              <a:rPr lang="en-US" altLang="zh-CN" sz="1800" dirty="0"/>
              <a:t>  if (pid &lt; 0)</a:t>
            </a:r>
          </a:p>
          <a:p>
            <a:pPr lvl="1">
              <a:lnSpc>
                <a:spcPct val="80000"/>
              </a:lnSpc>
              <a:buFontTx/>
              <a:buNone/>
            </a:pPr>
            <a:r>
              <a:rPr lang="en-US" altLang="zh-CN" sz="1800" dirty="0"/>
              <a:t> printf(“fork failed !");</a:t>
            </a:r>
          </a:p>
          <a:p>
            <a:pPr>
              <a:lnSpc>
                <a:spcPct val="80000"/>
              </a:lnSpc>
              <a:buFontTx/>
              <a:buNone/>
            </a:pPr>
            <a:r>
              <a:rPr lang="en-US" altLang="zh-CN" sz="1800" dirty="0"/>
              <a:t>  else if (pid == 0)</a:t>
            </a:r>
          </a:p>
          <a:p>
            <a:pPr>
              <a:lnSpc>
                <a:spcPct val="80000"/>
              </a:lnSpc>
              <a:buFontTx/>
              <a:buNone/>
            </a:pPr>
            <a:r>
              <a:rPr lang="en-US" altLang="zh-CN" sz="1800" dirty="0"/>
              <a:t>     { </a:t>
            </a:r>
          </a:p>
          <a:p>
            <a:pPr lvl="1">
              <a:lnSpc>
                <a:spcPct val="80000"/>
              </a:lnSpc>
              <a:buFontTx/>
              <a:buNone/>
            </a:pPr>
            <a:r>
              <a:rPr lang="en-US" altLang="zh-CN" sz="1800" dirty="0"/>
              <a:t>  printf(“I am the child process, my id is %d\n”,getpid());</a:t>
            </a:r>
          </a:p>
          <a:p>
            <a:pPr lvl="1">
              <a:lnSpc>
                <a:spcPct val="80000"/>
              </a:lnSpc>
              <a:buFontTx/>
              <a:buNone/>
            </a:pPr>
            <a:r>
              <a:rPr lang="en-US" altLang="zh-CN" sz="1800" dirty="0"/>
              <a:t>  printf(“</a:t>
            </a:r>
            <a:r>
              <a:rPr lang="zh-CN" altLang="en-US" sz="1800" dirty="0"/>
              <a:t>我是父亲的孩儿</a:t>
            </a:r>
            <a:r>
              <a:rPr lang="en-US" altLang="zh-CN" sz="1800" dirty="0"/>
              <a:t>\n”);</a:t>
            </a:r>
          </a:p>
          <a:p>
            <a:pPr lvl="1">
              <a:lnSpc>
                <a:spcPct val="80000"/>
              </a:lnSpc>
              <a:buFontTx/>
              <a:buNone/>
            </a:pPr>
            <a:r>
              <a:rPr lang="en-US" altLang="zh-CN" sz="1800" dirty="0"/>
              <a:t>  count++; </a:t>
            </a:r>
          </a:p>
          <a:p>
            <a:pPr>
              <a:lnSpc>
                <a:spcPct val="80000"/>
              </a:lnSpc>
              <a:buFontTx/>
              <a:buNone/>
            </a:pPr>
            <a:r>
              <a:rPr lang="en-US" altLang="zh-CN" sz="1800" dirty="0"/>
              <a:t>      }</a:t>
            </a:r>
          </a:p>
          <a:p>
            <a:pPr>
              <a:lnSpc>
                <a:spcPct val="80000"/>
              </a:lnSpc>
              <a:buFontTx/>
              <a:buNone/>
            </a:pPr>
            <a:r>
              <a:rPr lang="en-US" altLang="zh-CN" sz="1800" dirty="0"/>
              <a:t>   else </a:t>
            </a:r>
          </a:p>
          <a:p>
            <a:pPr lvl="1">
              <a:lnSpc>
                <a:spcPct val="80000"/>
              </a:lnSpc>
              <a:buFontTx/>
              <a:buNone/>
            </a:pPr>
            <a:r>
              <a:rPr lang="en-US" altLang="zh-CN" sz="1800" dirty="0"/>
              <a:t>{ printf(“I am the parent </a:t>
            </a:r>
            <a:r>
              <a:rPr lang="en-US" altLang="zh-CN" sz="1800" dirty="0" err="1"/>
              <a:t>process,my</a:t>
            </a:r>
            <a:r>
              <a:rPr lang="en-US" altLang="zh-CN" sz="1800" dirty="0"/>
              <a:t> id is %d\n”,getpid());</a:t>
            </a:r>
          </a:p>
          <a:p>
            <a:pPr lvl="1">
              <a:lnSpc>
                <a:spcPct val="80000"/>
              </a:lnSpc>
              <a:buFontTx/>
              <a:buNone/>
            </a:pPr>
            <a:r>
              <a:rPr lang="en-US" altLang="zh-CN" sz="1800" dirty="0"/>
              <a:t>   </a:t>
            </a:r>
            <a:r>
              <a:rPr lang="en-US" altLang="zh-CN" sz="1800" dirty="0" err="1"/>
              <a:t>printf</a:t>
            </a:r>
            <a:r>
              <a:rPr lang="en-US" altLang="zh-CN" sz="1800" dirty="0"/>
              <a:t>(“</a:t>
            </a:r>
            <a:r>
              <a:rPr lang="zh-CN" altLang="en-US" sz="1800" dirty="0"/>
              <a:t>我是孩儿他爹</a:t>
            </a:r>
            <a:r>
              <a:rPr lang="en-US" altLang="zh-CN" sz="1800" dirty="0"/>
              <a:t>\n”);</a:t>
            </a:r>
          </a:p>
          <a:p>
            <a:pPr lvl="1">
              <a:lnSpc>
                <a:spcPct val="80000"/>
              </a:lnSpc>
              <a:buFontTx/>
              <a:buNone/>
            </a:pPr>
            <a:r>
              <a:rPr lang="en-US" altLang="zh-CN" sz="1800" dirty="0"/>
              <a:t>   count++; }</a:t>
            </a:r>
          </a:p>
          <a:p>
            <a:pPr>
              <a:lnSpc>
                <a:spcPct val="80000"/>
              </a:lnSpc>
              <a:buFontTx/>
              <a:buNone/>
            </a:pPr>
            <a:r>
              <a:rPr lang="en-US" altLang="zh-CN" sz="1800" dirty="0"/>
              <a:t>  </a:t>
            </a:r>
            <a:r>
              <a:rPr lang="en-US" altLang="zh-CN" sz="1800" dirty="0" err="1"/>
              <a:t>printf</a:t>
            </a:r>
            <a:r>
              <a:rPr lang="en-US" altLang="zh-CN" sz="1800" dirty="0"/>
              <a:t>(“</a:t>
            </a:r>
            <a:r>
              <a:rPr lang="zh-CN" altLang="en-US" sz="1800" dirty="0"/>
              <a:t>统计结果是：</a:t>
            </a:r>
            <a:r>
              <a:rPr lang="en-US" altLang="zh-CN" sz="1800" dirty="0"/>
              <a:t>%d\</a:t>
            </a:r>
            <a:r>
              <a:rPr lang="en-US" altLang="zh-CN" sz="1800" dirty="0" err="1"/>
              <a:t>n”,count</a:t>
            </a:r>
            <a:r>
              <a:rPr lang="en-US" altLang="zh-CN" sz="1800" dirty="0"/>
              <a:t>);</a:t>
            </a:r>
          </a:p>
          <a:p>
            <a:pPr>
              <a:lnSpc>
                <a:spcPct val="80000"/>
              </a:lnSpc>
              <a:buFontTx/>
              <a:buNone/>
            </a:pPr>
            <a:r>
              <a:rPr lang="en-US" altLang="zh-CN" sz="1800" dirty="0"/>
              <a:t>  return 0;</a:t>
            </a:r>
          </a:p>
          <a:p>
            <a:pPr>
              <a:lnSpc>
                <a:spcPct val="80000"/>
              </a:lnSpc>
              <a:buFontTx/>
              <a:buNone/>
            </a:pPr>
            <a:r>
              <a:rPr lang="en-US" altLang="zh-CN" sz="1800" dirty="0"/>
              <a:t>}</a:t>
            </a:r>
            <a:endParaRPr lang="en-US" altLang="zh-CN" sz="2000" dirty="0"/>
          </a:p>
        </p:txBody>
      </p:sp>
      <p:sp>
        <p:nvSpPr>
          <p:cNvPr id="269316" name="Rectangle 4"/>
          <p:cNvSpPr>
            <a:spLocks noChangeArrowheads="1"/>
          </p:cNvSpPr>
          <p:nvPr/>
        </p:nvSpPr>
        <p:spPr bwMode="auto">
          <a:xfrm>
            <a:off x="6744644" y="1508770"/>
            <a:ext cx="3023765" cy="1200150"/>
          </a:xfrm>
          <a:prstGeom prst="rect">
            <a:avLst/>
          </a:prstGeom>
          <a:solidFill>
            <a:srgbClr val="FFFFCC"/>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b="1" dirty="0"/>
              <a:t>#include &lt;sys/</a:t>
            </a:r>
            <a:r>
              <a:rPr lang="en-US" altLang="zh-CN" b="1" dirty="0" err="1"/>
              <a:t>types.h</a:t>
            </a:r>
            <a:r>
              <a:rPr lang="en-US" altLang="zh-CN" b="1" dirty="0"/>
              <a:t>&gt;</a:t>
            </a:r>
          </a:p>
          <a:p>
            <a:pPr algn="l"/>
            <a:r>
              <a:rPr lang="en-US" altLang="zh-CN" b="1" dirty="0"/>
              <a:t>#include &lt;</a:t>
            </a:r>
            <a:r>
              <a:rPr lang="en-US" altLang="zh-CN" b="1" dirty="0" err="1"/>
              <a:t>unistd.h</a:t>
            </a:r>
            <a:r>
              <a:rPr lang="en-US" altLang="zh-CN" b="1" dirty="0"/>
              <a:t>&gt;</a:t>
            </a:r>
          </a:p>
          <a:p>
            <a:pPr algn="l"/>
            <a:r>
              <a:rPr lang="en-US" altLang="zh-CN" b="1" dirty="0"/>
              <a:t>#include &lt;</a:t>
            </a:r>
            <a:r>
              <a:rPr lang="en-US" altLang="zh-CN" b="1" dirty="0" err="1"/>
              <a:t>stdio.h</a:t>
            </a:r>
            <a:r>
              <a:rPr lang="en-US" altLang="zh-CN" b="1" dirty="0"/>
              <a:t>&gt;</a:t>
            </a:r>
          </a:p>
          <a:p>
            <a:pPr algn="l"/>
            <a:r>
              <a:rPr lang="en-US" altLang="zh-CN" b="1" dirty="0"/>
              <a:t>#include &lt;</a:t>
            </a:r>
            <a:r>
              <a:rPr lang="en-US" altLang="zh-CN" b="1" dirty="0" err="1"/>
              <a:t>stdlib.h</a:t>
            </a:r>
            <a:r>
              <a:rPr lang="en-US" altLang="zh-CN" b="1" dirty="0"/>
              <a:t>&gt;</a:t>
            </a:r>
            <a:endParaRPr lang="zh-CN" altLang="en-US" b="1" dirty="0"/>
          </a:p>
        </p:txBody>
      </p:sp>
      <p:sp>
        <p:nvSpPr>
          <p:cNvPr id="5" name="TextBox 4"/>
          <p:cNvSpPr txBox="1"/>
          <p:nvPr/>
        </p:nvSpPr>
        <p:spPr>
          <a:xfrm>
            <a:off x="1852261" y="535786"/>
            <a:ext cx="7310013" cy="461665"/>
          </a:xfrm>
          <a:prstGeom prst="rect">
            <a:avLst/>
          </a:prstGeom>
          <a:noFill/>
        </p:spPr>
        <p:txBody>
          <a:bodyPr wrap="none" rtlCol="0">
            <a:spAutoFit/>
          </a:bodyPr>
          <a:lstStyle/>
          <a:p>
            <a:r>
              <a:rPr kumimoji="1" lang="zh-CN" altLang="en-US" sz="2400" dirty="0">
                <a:latin typeface="+mn-ea"/>
                <a:ea typeface="+mn-ea"/>
              </a:rPr>
              <a:t>程序文件</a:t>
            </a:r>
            <a:r>
              <a:rPr kumimoji="1" lang="en-US" altLang="zh-CN" sz="2400" dirty="0">
                <a:solidFill>
                  <a:srgbClr val="000000"/>
                </a:solidFill>
                <a:latin typeface="+mn-ea"/>
                <a:ea typeface="+mn-ea"/>
                <a:cs typeface="Times New Roman" pitchFamily="18" charset="0"/>
              </a:rPr>
              <a:t>fork_test3.c</a:t>
            </a:r>
            <a:r>
              <a:rPr kumimoji="1" lang="zh-CN" altLang="en-US" sz="2400" dirty="0">
                <a:solidFill>
                  <a:srgbClr val="000000"/>
                </a:solidFill>
                <a:latin typeface="+mn-ea"/>
                <a:ea typeface="+mn-ea"/>
                <a:cs typeface="Times New Roman" pitchFamily="18" charset="0"/>
              </a:rPr>
              <a:t>，分析下面的程序的运行结果</a:t>
            </a:r>
            <a:endParaRPr lang="zh-CN" altLang="en-US" sz="2400" dirty="0">
              <a:latin typeface="+mn-ea"/>
              <a:ea typeface="+mn-ea"/>
            </a:endParaRPr>
          </a:p>
        </p:txBody>
      </p:sp>
      <p:sp>
        <p:nvSpPr>
          <p:cNvPr id="6" name="灯片编号占位符 5"/>
          <p:cNvSpPr>
            <a:spLocks noGrp="1"/>
          </p:cNvSpPr>
          <p:nvPr>
            <p:ph type="sldNum" sz="quarter" idx="11"/>
          </p:nvPr>
        </p:nvSpPr>
        <p:spPr>
          <a:xfrm>
            <a:off x="5053013" y="6525344"/>
            <a:ext cx="2133600" cy="457200"/>
          </a:xfrm>
          <a:prstGeom prst="rect">
            <a:avLst/>
          </a:prstGeom>
        </p:spPr>
        <p:txBody>
          <a:bodyPr/>
          <a:lstStyle/>
          <a:p>
            <a:fld id="{8B65A0CA-DAE2-4088-BB58-45073E9B1BD3}" type="slidenum">
              <a:rPr lang="zh-CN" altLang="en-US"/>
              <a:pPr/>
              <a:t>54</a:t>
            </a:fld>
            <a:endParaRPr lang="en-US" altLang="zh-CN" dirty="0"/>
          </a:p>
        </p:txBody>
      </p:sp>
    </p:spTree>
    <p:extLst>
      <p:ext uri="{BB962C8B-B14F-4D97-AF65-F5344CB8AC3E}">
        <p14:creationId xmlns:p14="http://schemas.microsoft.com/office/powerpoint/2010/main" val="513145918"/>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7F81EA-BA10-3223-EEBE-5E787C477F49}"/>
              </a:ext>
            </a:extLst>
          </p:cNvPr>
          <p:cNvSpPr>
            <a:spLocks noGrp="1"/>
          </p:cNvSpPr>
          <p:nvPr>
            <p:ph type="title"/>
          </p:nvPr>
        </p:nvSpPr>
        <p:spPr>
          <a:xfrm>
            <a:off x="1006152" y="553939"/>
            <a:ext cx="10058400" cy="858837"/>
          </a:xfrm>
        </p:spPr>
        <p:txBody>
          <a:bodyPr/>
          <a:lstStyle/>
          <a:p>
            <a:r>
              <a:rPr lang="zh-CN" altLang="en-US" dirty="0">
                <a:latin typeface="+mn-ea"/>
              </a:rPr>
              <a:t>进程示例</a:t>
            </a:r>
            <a:endParaRPr lang="zh-CN" altLang="en-US" dirty="0"/>
          </a:p>
        </p:txBody>
      </p:sp>
      <p:sp>
        <p:nvSpPr>
          <p:cNvPr id="3" name="内容占位符 2">
            <a:extLst>
              <a:ext uri="{FF2B5EF4-FFF2-40B4-BE49-F238E27FC236}">
                <a16:creationId xmlns:a16="http://schemas.microsoft.com/office/drawing/2014/main" id="{7FEC0CC3-43A1-23CA-1792-67A13EB87170}"/>
              </a:ext>
            </a:extLst>
          </p:cNvPr>
          <p:cNvSpPr>
            <a:spLocks noGrp="1"/>
          </p:cNvSpPr>
          <p:nvPr>
            <p:ph idx="1"/>
          </p:nvPr>
        </p:nvSpPr>
        <p:spPr>
          <a:xfrm>
            <a:off x="1683892" y="1465610"/>
            <a:ext cx="8435280" cy="4411662"/>
          </a:xfrm>
        </p:spPr>
        <p:txBody>
          <a:bodyPr/>
          <a:lstStyle/>
          <a:p>
            <a:pPr marL="742950" lvl="1" indent="-285750" eaLnBrk="1" hangingPunct="1">
              <a:buClr>
                <a:srgbClr val="339933"/>
              </a:buClr>
              <a:buNone/>
            </a:pPr>
            <a:r>
              <a:rPr kumimoji="1" lang="zh-CN" altLang="en-US" kern="1200" dirty="0">
                <a:solidFill>
                  <a:srgbClr val="000000"/>
                </a:solidFill>
                <a:latin typeface="+mn-ea"/>
                <a:cs typeface="Times New Roman" pitchFamily="18" charset="0"/>
              </a:rPr>
              <a:t>编译并运行这个程序：</a:t>
            </a:r>
          </a:p>
          <a:p>
            <a:pPr marL="742950" lvl="1" indent="-285750" eaLnBrk="1" hangingPunct="1">
              <a:buClr>
                <a:srgbClr val="339933"/>
              </a:buClr>
              <a:buNone/>
            </a:pPr>
            <a:r>
              <a:rPr kumimoji="1" lang="en-US" altLang="zh-CN" kern="1200" dirty="0">
                <a:solidFill>
                  <a:srgbClr val="000000"/>
                </a:solidFill>
                <a:latin typeface="+mn-ea"/>
                <a:cs typeface="Times New Roman" pitchFamily="18" charset="0"/>
              </a:rPr>
              <a:t>$ gcc fork_test3.c -o fork_test3</a:t>
            </a:r>
          </a:p>
          <a:p>
            <a:pPr marL="742950" lvl="1" indent="-285750" eaLnBrk="1" hangingPunct="1">
              <a:buClr>
                <a:srgbClr val="339933"/>
              </a:buClr>
              <a:buNone/>
            </a:pPr>
            <a:r>
              <a:rPr kumimoji="1" lang="zh-CN" altLang="en-US" kern="1200" dirty="0">
                <a:solidFill>
                  <a:srgbClr val="000000"/>
                </a:solidFill>
                <a:latin typeface="+mn-ea"/>
                <a:cs typeface="Times New Roman" pitchFamily="18" charset="0"/>
              </a:rPr>
              <a:t>执行</a:t>
            </a:r>
            <a:r>
              <a:rPr kumimoji="1" lang="en-US" altLang="zh-CN" kern="1200" dirty="0">
                <a:solidFill>
                  <a:srgbClr val="000000"/>
                </a:solidFill>
                <a:latin typeface="+mn-ea"/>
                <a:cs typeface="Times New Roman" pitchFamily="18" charset="0"/>
              </a:rPr>
              <a:t>:</a:t>
            </a:r>
            <a:endParaRPr kumimoji="1" lang="zh-CN" altLang="en-US" kern="1200" dirty="0">
              <a:solidFill>
                <a:srgbClr val="000000"/>
              </a:solidFill>
              <a:latin typeface="+mn-ea"/>
              <a:cs typeface="Times New Roman" pitchFamily="18" charset="0"/>
            </a:endParaRPr>
          </a:p>
          <a:p>
            <a:pPr marL="0" indent="0">
              <a:buNone/>
            </a:pPr>
            <a:endParaRPr lang="zh-CN" altLang="en-US" dirty="0"/>
          </a:p>
        </p:txBody>
      </p:sp>
      <p:sp>
        <p:nvSpPr>
          <p:cNvPr id="4" name="灯片编号占位符 3">
            <a:extLst>
              <a:ext uri="{FF2B5EF4-FFF2-40B4-BE49-F238E27FC236}">
                <a16:creationId xmlns:a16="http://schemas.microsoft.com/office/drawing/2014/main" id="{EA82011E-DF9E-FAA7-0CDD-16CE46C5C955}"/>
              </a:ext>
            </a:extLst>
          </p:cNvPr>
          <p:cNvSpPr>
            <a:spLocks noGrp="1"/>
          </p:cNvSpPr>
          <p:nvPr>
            <p:ph type="sldNum" sz="quarter" idx="11"/>
          </p:nvPr>
        </p:nvSpPr>
        <p:spPr/>
        <p:txBody>
          <a:bodyPr/>
          <a:lstStyle/>
          <a:p>
            <a:pPr>
              <a:defRPr/>
            </a:pPr>
            <a:fld id="{110871B5-850E-4E14-A636-3EC679EBF038}" type="slidenum">
              <a:rPr lang="en-US" altLang="zh-CN" smtClean="0"/>
              <a:pPr>
                <a:defRPr/>
              </a:pPr>
              <a:t>55</a:t>
            </a:fld>
            <a:endParaRPr lang="en-US" altLang="zh-CN"/>
          </a:p>
        </p:txBody>
      </p:sp>
      <p:pic>
        <p:nvPicPr>
          <p:cNvPr id="8" name="图片 7">
            <a:extLst>
              <a:ext uri="{FF2B5EF4-FFF2-40B4-BE49-F238E27FC236}">
                <a16:creationId xmlns:a16="http://schemas.microsoft.com/office/drawing/2014/main" id="{297D31F5-0FE3-66DB-9474-9CFE863E24B2}"/>
              </a:ext>
            </a:extLst>
          </p:cNvPr>
          <p:cNvPicPr>
            <a:picLocks noChangeAspect="1"/>
          </p:cNvPicPr>
          <p:nvPr/>
        </p:nvPicPr>
        <p:blipFill>
          <a:blip r:embed="rId2"/>
          <a:stretch>
            <a:fillRect/>
          </a:stretch>
        </p:blipFill>
        <p:spPr>
          <a:xfrm>
            <a:off x="2061377" y="3212976"/>
            <a:ext cx="7479556" cy="2893468"/>
          </a:xfrm>
          <a:prstGeom prst="rect">
            <a:avLst/>
          </a:prstGeom>
          <a:ln>
            <a:solidFill>
              <a:schemeClr val="bg2"/>
            </a:solidFill>
          </a:ln>
        </p:spPr>
      </p:pic>
    </p:spTree>
    <p:extLst>
      <p:ext uri="{BB962C8B-B14F-4D97-AF65-F5344CB8AC3E}">
        <p14:creationId xmlns:p14="http://schemas.microsoft.com/office/powerpoint/2010/main" val="420310012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AC2932-9C1B-4916-BBED-58BB4E6244CA}"/>
              </a:ext>
            </a:extLst>
          </p:cNvPr>
          <p:cNvSpPr>
            <a:spLocks noGrp="1"/>
          </p:cNvSpPr>
          <p:nvPr>
            <p:ph type="title"/>
          </p:nvPr>
        </p:nvSpPr>
        <p:spPr/>
        <p:txBody>
          <a:bodyPr/>
          <a:lstStyle/>
          <a:p>
            <a:r>
              <a:rPr lang="zh-CN" altLang="en-US" dirty="0"/>
              <a:t>创建进程</a:t>
            </a:r>
          </a:p>
        </p:txBody>
      </p:sp>
      <p:sp>
        <p:nvSpPr>
          <p:cNvPr id="3" name="内容占位符 2">
            <a:extLst>
              <a:ext uri="{FF2B5EF4-FFF2-40B4-BE49-F238E27FC236}">
                <a16:creationId xmlns:a16="http://schemas.microsoft.com/office/drawing/2014/main" id="{D7F7023C-C47E-4386-9DE3-DD2DB8E80C9D}"/>
              </a:ext>
            </a:extLst>
          </p:cNvPr>
          <p:cNvSpPr>
            <a:spLocks noGrp="1"/>
          </p:cNvSpPr>
          <p:nvPr>
            <p:ph idx="1"/>
          </p:nvPr>
        </p:nvSpPr>
        <p:spPr>
          <a:xfrm>
            <a:off x="1127448" y="1584765"/>
            <a:ext cx="9937104" cy="4718149"/>
          </a:xfrm>
        </p:spPr>
        <p:txBody>
          <a:bodyPr/>
          <a:lstStyle/>
          <a:p>
            <a:r>
              <a:rPr lang="en-US" altLang="zh-CN" dirty="0">
                <a:solidFill>
                  <a:srgbClr val="0000CC"/>
                </a:solidFill>
              </a:rPr>
              <a:t>exec</a:t>
            </a:r>
            <a:r>
              <a:rPr lang="zh-CN" altLang="en-US" dirty="0">
                <a:solidFill>
                  <a:srgbClr val="0000CC"/>
                </a:solidFill>
              </a:rPr>
              <a:t>系统调用</a:t>
            </a:r>
            <a:endParaRPr lang="en-US" altLang="zh-CN" dirty="0">
              <a:solidFill>
                <a:srgbClr val="0000CC"/>
              </a:solidFill>
            </a:endParaRPr>
          </a:p>
          <a:p>
            <a:pPr marL="0" indent="0">
              <a:buNone/>
            </a:pPr>
            <a:r>
              <a:rPr lang="zh-CN" altLang="en-US" sz="2400" dirty="0"/>
              <a:t>    </a:t>
            </a:r>
            <a:r>
              <a:rPr lang="zh-CN" altLang="en-US" sz="2600" dirty="0"/>
              <a:t>用来改变调用进程的执行代码，从而形成新进程。如果</a:t>
            </a:r>
            <a:r>
              <a:rPr lang="en-US" altLang="zh-CN" sz="2600" dirty="0"/>
              <a:t>exec</a:t>
            </a:r>
            <a:r>
              <a:rPr lang="zh-CN" altLang="en-US" sz="2600" dirty="0"/>
              <a:t>调用成功，调用进程将被覆盖，然后从新程序的入口开始执行，这样就产生了一个新的进程，但是它的进程标识符与调用进程相同，这就是说，</a:t>
            </a:r>
            <a:r>
              <a:rPr lang="en-US" altLang="zh-CN" sz="2600" dirty="0"/>
              <a:t>exec</a:t>
            </a:r>
            <a:r>
              <a:rPr lang="zh-CN" altLang="en-US" sz="2600" dirty="0"/>
              <a:t>用新进程取代了原来的进程。</a:t>
            </a:r>
            <a:endParaRPr lang="en-US" altLang="zh-CN" sz="2600" dirty="0"/>
          </a:p>
          <a:p>
            <a:pPr marL="0" indent="457200">
              <a:buNone/>
            </a:pPr>
            <a:r>
              <a:rPr lang="en-US" altLang="zh-CN" sz="2600" dirty="0">
                <a:solidFill>
                  <a:srgbClr val="CC0099"/>
                </a:solidFill>
              </a:rPr>
              <a:t>exec</a:t>
            </a:r>
            <a:r>
              <a:rPr lang="zh-CN" altLang="en-US" sz="2600" dirty="0">
                <a:solidFill>
                  <a:srgbClr val="CC0099"/>
                </a:solidFill>
              </a:rPr>
              <a:t>函数族</a:t>
            </a:r>
            <a:r>
              <a:rPr lang="en-US" altLang="zh-CN" sz="2600" dirty="0"/>
              <a:t>(</a:t>
            </a:r>
            <a:r>
              <a:rPr lang="en-US" altLang="zh-CN" sz="2600" dirty="0" err="1"/>
              <a:t>execl</a:t>
            </a:r>
            <a:r>
              <a:rPr lang="zh-CN" altLang="en-US" sz="2600" dirty="0"/>
              <a:t>、</a:t>
            </a:r>
            <a:r>
              <a:rPr lang="en-US" altLang="zh-CN" sz="2600" dirty="0" err="1"/>
              <a:t>execlp</a:t>
            </a:r>
            <a:r>
              <a:rPr lang="zh-CN" altLang="en-US" sz="2600" dirty="0"/>
              <a:t>、</a:t>
            </a:r>
            <a:r>
              <a:rPr lang="en-US" altLang="zh-CN" sz="2600" dirty="0" err="1"/>
              <a:t>execle</a:t>
            </a:r>
            <a:r>
              <a:rPr lang="zh-CN" altLang="en-US" sz="2600" dirty="0"/>
              <a:t>、</a:t>
            </a:r>
            <a:r>
              <a:rPr lang="en-US" altLang="zh-CN" sz="2600" dirty="0" err="1"/>
              <a:t>execv</a:t>
            </a:r>
            <a:r>
              <a:rPr lang="zh-CN" altLang="en-US" sz="2600" dirty="0"/>
              <a:t>、</a:t>
            </a:r>
            <a:r>
              <a:rPr lang="en-US" altLang="zh-CN" sz="2600" dirty="0" err="1"/>
              <a:t>execvp</a:t>
            </a:r>
            <a:r>
              <a:rPr lang="en-US" altLang="zh-CN" sz="2600" dirty="0"/>
              <a:t>)</a:t>
            </a:r>
            <a:r>
              <a:rPr lang="zh-CN" altLang="en-US" sz="2600" dirty="0"/>
              <a:t>的作用实际是在调用进程内部执行一个可执行文件，这里的可执行文件可以是二进制文件，也可以是</a:t>
            </a:r>
            <a:r>
              <a:rPr lang="en-US" altLang="zh-CN" sz="2600" dirty="0"/>
              <a:t>Linux</a:t>
            </a:r>
            <a:r>
              <a:rPr lang="zh-CN" altLang="en-US" sz="2600" dirty="0"/>
              <a:t>下的任何可执行的脚本文件。</a:t>
            </a:r>
            <a:endParaRPr lang="en-US" altLang="zh-CN" sz="2600" dirty="0"/>
          </a:p>
          <a:p>
            <a:pPr marL="0" indent="457200">
              <a:buNone/>
            </a:pPr>
            <a:r>
              <a:rPr lang="zh-CN" altLang="en-US" sz="2600" dirty="0"/>
              <a:t>在</a:t>
            </a:r>
            <a:r>
              <a:rPr lang="en-US" altLang="zh-CN" sz="2600" dirty="0"/>
              <a:t>exec</a:t>
            </a:r>
            <a:r>
              <a:rPr lang="zh-CN" altLang="en-US" sz="2600" dirty="0"/>
              <a:t>调用成功后，没有数据返回，调用失败，返回</a:t>
            </a:r>
            <a:r>
              <a:rPr lang="en-US" altLang="zh-CN" sz="2600" dirty="0"/>
              <a:t>-1</a:t>
            </a:r>
            <a:r>
              <a:rPr lang="zh-CN" altLang="en-US" sz="2600" dirty="0"/>
              <a:t>。</a:t>
            </a:r>
            <a:r>
              <a:rPr lang="en-US" altLang="zh-CN" sz="2600" dirty="0"/>
              <a:t> </a:t>
            </a:r>
            <a:endParaRPr lang="zh-CN" altLang="en-US" sz="2600" dirty="0"/>
          </a:p>
        </p:txBody>
      </p:sp>
      <p:sp>
        <p:nvSpPr>
          <p:cNvPr id="4" name="灯片编号占位符 3">
            <a:extLst>
              <a:ext uri="{FF2B5EF4-FFF2-40B4-BE49-F238E27FC236}">
                <a16:creationId xmlns:a16="http://schemas.microsoft.com/office/drawing/2014/main" id="{5D737BE6-D6EE-4C75-BB0B-800D761D7AAE}"/>
              </a:ext>
            </a:extLst>
          </p:cNvPr>
          <p:cNvSpPr>
            <a:spLocks noGrp="1"/>
          </p:cNvSpPr>
          <p:nvPr>
            <p:ph type="sldNum" sz="quarter" idx="11"/>
          </p:nvPr>
        </p:nvSpPr>
        <p:spPr/>
        <p:txBody>
          <a:bodyPr/>
          <a:lstStyle/>
          <a:p>
            <a:pPr>
              <a:defRPr/>
            </a:pPr>
            <a:fld id="{110871B5-850E-4E14-A636-3EC679EBF038}" type="slidenum">
              <a:rPr lang="en-US" altLang="zh-CN" smtClean="0"/>
              <a:pPr>
                <a:defRPr/>
              </a:pPr>
              <a:t>56</a:t>
            </a:fld>
            <a:endParaRPr lang="en-US" altLang="zh-CN"/>
          </a:p>
        </p:txBody>
      </p:sp>
    </p:spTree>
    <p:extLst>
      <p:ext uri="{BB962C8B-B14F-4D97-AF65-F5344CB8AC3E}">
        <p14:creationId xmlns:p14="http://schemas.microsoft.com/office/powerpoint/2010/main" val="4120559243"/>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Text Box 2"/>
          <p:cNvSpPr txBox="1">
            <a:spLocks noChangeArrowheads="1"/>
          </p:cNvSpPr>
          <p:nvPr/>
        </p:nvSpPr>
        <p:spPr bwMode="auto">
          <a:xfrm>
            <a:off x="6270625" y="59531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endParaRPr kumimoji="1" lang="zh-CN" altLang="en-US" sz="2400">
              <a:latin typeface="Times New Roman" pitchFamily="18" charset="0"/>
            </a:endParaRPr>
          </a:p>
        </p:txBody>
      </p:sp>
      <p:sp>
        <p:nvSpPr>
          <p:cNvPr id="323588" name="Text Box 4"/>
          <p:cNvSpPr txBox="1">
            <a:spLocks noChangeArrowheads="1"/>
          </p:cNvSpPr>
          <p:nvPr/>
        </p:nvSpPr>
        <p:spPr bwMode="auto">
          <a:xfrm>
            <a:off x="1955552" y="416858"/>
            <a:ext cx="845978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zh-CN" altLang="en-US" sz="4000" dirty="0">
                <a:latin typeface="+mn-ea"/>
                <a:ea typeface="+mn-ea"/>
              </a:rPr>
              <a:t>进程示例</a:t>
            </a:r>
          </a:p>
        </p:txBody>
      </p:sp>
      <p:sp>
        <p:nvSpPr>
          <p:cNvPr id="323589" name="Rectangle 5"/>
          <p:cNvSpPr>
            <a:spLocks noChangeArrowheads="1"/>
          </p:cNvSpPr>
          <p:nvPr/>
        </p:nvSpPr>
        <p:spPr bwMode="auto">
          <a:xfrm>
            <a:off x="1955552" y="1556792"/>
            <a:ext cx="8316912" cy="4792961"/>
          </a:xfrm>
          <a:prstGeom prst="rect">
            <a:avLst/>
          </a:prstGeom>
          <a:solidFill>
            <a:schemeClr val="bg2">
              <a:lumMod val="20000"/>
              <a:lumOff val="80000"/>
            </a:schemeClr>
          </a:solidFill>
          <a:ln>
            <a:noFill/>
          </a:ln>
        </p:spPr>
        <p:txBody>
          <a:bodyPr/>
          <a:lstStyle>
            <a:lvl1pPr marL="342900" indent="-342900" algn="l" eaLnBrk="0" hangingPunct="0">
              <a:defRPr>
                <a:solidFill>
                  <a:schemeClr val="tx1"/>
                </a:solidFill>
                <a:latin typeface="Arial" pitchFamily="34" charset="0"/>
                <a:ea typeface="宋体" pitchFamily="2" charset="-122"/>
              </a:defRPr>
            </a:lvl1pPr>
            <a:lvl2pPr marL="742950" indent="-285750" algn="l" eaLnBrk="0" hangingPunct="0">
              <a:defRPr>
                <a:solidFill>
                  <a:schemeClr val="tx1"/>
                </a:solidFill>
                <a:latin typeface="Arial" pitchFamily="34" charset="0"/>
                <a:ea typeface="宋体" pitchFamily="2" charset="-122"/>
              </a:defRPr>
            </a:lvl2pPr>
            <a:lvl3pPr marL="1143000" indent="-228600" algn="l" eaLnBrk="0" hangingPunct="0">
              <a:defRPr>
                <a:solidFill>
                  <a:schemeClr val="tx1"/>
                </a:solidFill>
                <a:latin typeface="Arial" pitchFamily="34" charset="0"/>
                <a:ea typeface="宋体" pitchFamily="2" charset="-122"/>
              </a:defRPr>
            </a:lvl3pPr>
            <a:lvl4pPr marL="1600200" indent="-228600" algn="l" eaLnBrk="0" hangingPunct="0">
              <a:defRPr>
                <a:solidFill>
                  <a:schemeClr val="tx1"/>
                </a:solidFill>
                <a:latin typeface="Arial" pitchFamily="34" charset="0"/>
                <a:ea typeface="宋体" pitchFamily="2" charset="-122"/>
              </a:defRPr>
            </a:lvl4pPr>
            <a:lvl5pPr marL="2057400" indent="-228600" algn="l"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#include &lt;</a:t>
            </a:r>
            <a:r>
              <a:rPr kumimoji="1" lang="en-US" altLang="zh-CN" sz="2000" dirty="0" err="1">
                <a:cs typeface="Times New Roman" pitchFamily="18" charset="0"/>
              </a:rPr>
              <a:t>stdio.h</a:t>
            </a:r>
            <a:r>
              <a:rPr kumimoji="1" lang="en-US" altLang="zh-CN" sz="2000" dirty="0">
                <a:cs typeface="Times New Roman" pitchFamily="18" charset="0"/>
              </a:rPr>
              <a:t>&gt;</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#include &lt;</a:t>
            </a:r>
            <a:r>
              <a:rPr kumimoji="1" lang="en-US" altLang="zh-CN" sz="2000" dirty="0" err="1">
                <a:cs typeface="Times New Roman" pitchFamily="18" charset="0"/>
              </a:rPr>
              <a:t>unistd.h</a:t>
            </a:r>
            <a:r>
              <a:rPr kumimoji="1" lang="en-US" altLang="zh-CN" sz="2000" dirty="0">
                <a:cs typeface="Times New Roman" pitchFamily="18" charset="0"/>
              </a:rPr>
              <a:t>&gt;</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main()</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  int rid;</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  rid=fork();</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  if(rid&gt;0)</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  </a:t>
            </a:r>
            <a:r>
              <a:rPr kumimoji="1" lang="en-US" altLang="zh-CN" sz="2000" dirty="0" err="1">
                <a:cs typeface="Times New Roman" pitchFamily="18" charset="0"/>
              </a:rPr>
              <a:t>printf</a:t>
            </a:r>
            <a:r>
              <a:rPr kumimoji="1" lang="en-US" altLang="zh-CN" sz="2000" dirty="0">
                <a:cs typeface="Times New Roman" pitchFamily="18" charset="0"/>
              </a:rPr>
              <a:t>("I am parent\n");</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  else</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 {</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  </a:t>
            </a:r>
            <a:r>
              <a:rPr kumimoji="1" lang="en-US" altLang="zh-CN" sz="2000" dirty="0" err="1">
                <a:cs typeface="Times New Roman" pitchFamily="18" charset="0"/>
              </a:rPr>
              <a:t>printf</a:t>
            </a:r>
            <a:r>
              <a:rPr kumimoji="1" lang="en-US" altLang="zh-CN" sz="2000" dirty="0">
                <a:cs typeface="Times New Roman" pitchFamily="18" charset="0"/>
              </a:rPr>
              <a:t>("I am </a:t>
            </a:r>
            <a:r>
              <a:rPr kumimoji="1" lang="en-US" altLang="zh-CN" sz="2000" dirty="0" err="1">
                <a:cs typeface="Times New Roman" pitchFamily="18" charset="0"/>
              </a:rPr>
              <a:t>child,I'll</a:t>
            </a:r>
            <a:r>
              <a:rPr kumimoji="1" lang="en-US" altLang="zh-CN" sz="2000" dirty="0">
                <a:cs typeface="Times New Roman" pitchFamily="18" charset="0"/>
              </a:rPr>
              <a:t> change to echo!\n");</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    </a:t>
            </a:r>
            <a:r>
              <a:rPr kumimoji="1" lang="en-US" altLang="zh-CN" sz="2000" dirty="0" err="1">
                <a:cs typeface="Times New Roman" pitchFamily="18" charset="0"/>
              </a:rPr>
              <a:t>execl</a:t>
            </a:r>
            <a:r>
              <a:rPr kumimoji="1" lang="en-US" altLang="zh-CN" sz="2000" dirty="0">
                <a:cs typeface="Times New Roman" pitchFamily="18" charset="0"/>
              </a:rPr>
              <a:t>("/bin/</a:t>
            </a:r>
            <a:r>
              <a:rPr kumimoji="1" lang="en-US" altLang="zh-CN" sz="2000" dirty="0" err="1">
                <a:cs typeface="Times New Roman" pitchFamily="18" charset="0"/>
              </a:rPr>
              <a:t>echo","echo</a:t>
            </a:r>
            <a:r>
              <a:rPr kumimoji="1" lang="en-US" altLang="zh-CN" sz="2000" dirty="0">
                <a:cs typeface="Times New Roman" pitchFamily="18" charset="0"/>
              </a:rPr>
              <a:t> ","Hello </a:t>
            </a:r>
            <a:r>
              <a:rPr kumimoji="1" lang="en-US" altLang="zh-CN" sz="2000" dirty="0" err="1">
                <a:cs typeface="Times New Roman" pitchFamily="18" charset="0"/>
              </a:rPr>
              <a:t>World!",NULL</a:t>
            </a:r>
            <a:r>
              <a:rPr kumimoji="1" lang="en-US" altLang="zh-CN" sz="2000" dirty="0">
                <a:cs typeface="Times New Roman" pitchFamily="18" charset="0"/>
              </a:rPr>
              <a:t>);</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 }</a:t>
            </a:r>
          </a:p>
          <a:p>
            <a:pPr eaLnBrk="1" hangingPunct="1">
              <a:lnSpc>
                <a:spcPct val="90000"/>
              </a:lnSpc>
              <a:spcBef>
                <a:spcPct val="20000"/>
              </a:spcBef>
              <a:buClr>
                <a:srgbClr val="339933"/>
              </a:buClr>
              <a:buFont typeface="Wingdings" pitchFamily="2" charset="2"/>
              <a:buNone/>
            </a:pPr>
            <a:r>
              <a:rPr kumimoji="1" lang="en-US" altLang="zh-CN" sz="2000" dirty="0">
                <a:cs typeface="Times New Roman" pitchFamily="18" charset="0"/>
              </a:rPr>
              <a:t>}</a:t>
            </a:r>
          </a:p>
        </p:txBody>
      </p:sp>
      <p:sp>
        <p:nvSpPr>
          <p:cNvPr id="6" name="TextBox 5"/>
          <p:cNvSpPr txBox="1"/>
          <p:nvPr/>
        </p:nvSpPr>
        <p:spPr>
          <a:xfrm>
            <a:off x="1878178" y="1064349"/>
            <a:ext cx="4217822" cy="492443"/>
          </a:xfrm>
          <a:prstGeom prst="rect">
            <a:avLst/>
          </a:prstGeom>
          <a:noFill/>
        </p:spPr>
        <p:txBody>
          <a:bodyPr wrap="none" rtlCol="0">
            <a:spAutoFit/>
          </a:bodyPr>
          <a:lstStyle/>
          <a:p>
            <a:r>
              <a:rPr kumimoji="1" lang="zh-CN" altLang="en-US" sz="2600" dirty="0">
                <a:latin typeface="+mn-ea"/>
                <a:ea typeface="+mn-ea"/>
              </a:rPr>
              <a:t>程序文件</a:t>
            </a:r>
            <a:r>
              <a:rPr kumimoji="1" lang="en-US" altLang="zh-CN" sz="2600" dirty="0" err="1">
                <a:solidFill>
                  <a:srgbClr val="000000"/>
                </a:solidFill>
                <a:latin typeface="+mn-ea"/>
                <a:ea typeface="+mn-ea"/>
                <a:cs typeface="Times New Roman" pitchFamily="18" charset="0"/>
              </a:rPr>
              <a:t>fork_exec_test.c</a:t>
            </a:r>
            <a:endParaRPr lang="zh-CN" altLang="en-US" sz="2600" dirty="0">
              <a:latin typeface="+mn-ea"/>
              <a:ea typeface="+mn-ea"/>
            </a:endParaRPr>
          </a:p>
        </p:txBody>
      </p:sp>
      <p:sp>
        <p:nvSpPr>
          <p:cNvPr id="7" name="灯片编号占位符 3"/>
          <p:cNvSpPr>
            <a:spLocks noGrp="1"/>
          </p:cNvSpPr>
          <p:nvPr>
            <p:ph type="sldNum" sz="quarter" idx="11"/>
          </p:nvPr>
        </p:nvSpPr>
        <p:spPr>
          <a:xfrm>
            <a:off x="5053013" y="6356176"/>
            <a:ext cx="2133600" cy="457200"/>
          </a:xfrm>
        </p:spPr>
        <p:txBody>
          <a:bodyPr/>
          <a:lstStyle/>
          <a:p>
            <a:pPr>
              <a:defRPr/>
            </a:pPr>
            <a:fld id="{110871B5-850E-4E14-A636-3EC679EBF038}" type="slidenum">
              <a:rPr lang="en-US" altLang="zh-CN" smtClean="0"/>
              <a:pPr>
                <a:defRPr/>
              </a:pPr>
              <a:t>57</a:t>
            </a:fld>
            <a:endParaRPr lang="en-US" altLang="zh-CN"/>
          </a:p>
        </p:txBody>
      </p:sp>
    </p:spTree>
    <p:extLst>
      <p:ext uri="{BB962C8B-B14F-4D97-AF65-F5344CB8AC3E}">
        <p14:creationId xmlns:p14="http://schemas.microsoft.com/office/powerpoint/2010/main" val="2137354297"/>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Text Box 2"/>
          <p:cNvSpPr txBox="1">
            <a:spLocks noChangeArrowheads="1"/>
          </p:cNvSpPr>
          <p:nvPr/>
        </p:nvSpPr>
        <p:spPr bwMode="auto">
          <a:xfrm>
            <a:off x="6270625" y="59531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endParaRPr kumimoji="1" lang="zh-CN" altLang="en-US" sz="2400">
              <a:latin typeface="Times New Roman" pitchFamily="18" charset="0"/>
            </a:endParaRPr>
          </a:p>
        </p:txBody>
      </p:sp>
      <p:sp>
        <p:nvSpPr>
          <p:cNvPr id="325637" name="Rectangle 5"/>
          <p:cNvSpPr>
            <a:spLocks noChangeArrowheads="1"/>
          </p:cNvSpPr>
          <p:nvPr/>
        </p:nvSpPr>
        <p:spPr bwMode="auto">
          <a:xfrm>
            <a:off x="1415480" y="1556792"/>
            <a:ext cx="8391971" cy="4464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eaLnBrk="0" hangingPunct="0">
              <a:defRPr>
                <a:solidFill>
                  <a:schemeClr val="tx1"/>
                </a:solidFill>
                <a:latin typeface="Arial" pitchFamily="34" charset="0"/>
                <a:ea typeface="宋体" pitchFamily="2" charset="-122"/>
              </a:defRPr>
            </a:lvl1pPr>
            <a:lvl2pPr marL="742950" indent="-285750" algn="l" eaLnBrk="0" hangingPunct="0">
              <a:defRPr>
                <a:solidFill>
                  <a:schemeClr val="tx1"/>
                </a:solidFill>
                <a:latin typeface="Arial" pitchFamily="34" charset="0"/>
                <a:ea typeface="宋体" pitchFamily="2" charset="-122"/>
              </a:defRPr>
            </a:lvl2pPr>
            <a:lvl3pPr marL="1143000" indent="-228600" algn="l" eaLnBrk="0" hangingPunct="0">
              <a:defRPr>
                <a:solidFill>
                  <a:schemeClr val="tx1"/>
                </a:solidFill>
                <a:latin typeface="Arial" pitchFamily="34" charset="0"/>
                <a:ea typeface="宋体" pitchFamily="2" charset="-122"/>
              </a:defRPr>
            </a:lvl3pPr>
            <a:lvl4pPr marL="1600200" indent="-228600" algn="l" eaLnBrk="0" hangingPunct="0">
              <a:defRPr>
                <a:solidFill>
                  <a:schemeClr val="tx1"/>
                </a:solidFill>
                <a:latin typeface="Arial" pitchFamily="34" charset="0"/>
                <a:ea typeface="宋体" pitchFamily="2" charset="-122"/>
              </a:defRPr>
            </a:lvl4pPr>
            <a:lvl5pPr marL="2057400" indent="-228600" algn="l"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lvl="1" algn="just" eaLnBrk="1" hangingPunct="1">
              <a:spcBef>
                <a:spcPct val="20000"/>
              </a:spcBef>
              <a:buClr>
                <a:srgbClr val="339933"/>
              </a:buClr>
              <a:buFont typeface="Wingdings" pitchFamily="2" charset="2"/>
              <a:buNone/>
            </a:pPr>
            <a:r>
              <a:rPr kumimoji="1" lang="zh-CN" altLang="en-US" sz="2600" dirty="0">
                <a:latin typeface="+mn-ea"/>
                <a:ea typeface="+mn-ea"/>
              </a:rPr>
              <a:t>编译并运行这个程序：</a:t>
            </a:r>
          </a:p>
          <a:p>
            <a:pPr lvl="1" eaLnBrk="1" hangingPunct="1">
              <a:spcBef>
                <a:spcPct val="20000"/>
              </a:spcBef>
              <a:buClr>
                <a:srgbClr val="339933"/>
              </a:buClr>
              <a:buFont typeface="Wingdings" pitchFamily="2" charset="2"/>
              <a:buNone/>
            </a:pPr>
            <a:r>
              <a:rPr kumimoji="1" lang="en-US" altLang="zh-CN" sz="2600" dirty="0">
                <a:solidFill>
                  <a:srgbClr val="000000"/>
                </a:solidFill>
                <a:latin typeface="+mn-ea"/>
                <a:ea typeface="+mn-ea"/>
                <a:cs typeface="Times New Roman" pitchFamily="18" charset="0"/>
              </a:rPr>
              <a:t>$</a:t>
            </a:r>
            <a:r>
              <a:rPr kumimoji="1" lang="en-US" altLang="zh-CN" sz="2600" dirty="0" err="1">
                <a:solidFill>
                  <a:srgbClr val="000000"/>
                </a:solidFill>
                <a:latin typeface="+mn-ea"/>
                <a:ea typeface="+mn-ea"/>
                <a:cs typeface="Times New Roman" pitchFamily="18" charset="0"/>
              </a:rPr>
              <a:t>gcc</a:t>
            </a:r>
            <a:r>
              <a:rPr kumimoji="1" lang="en-US" altLang="zh-CN" sz="2600" dirty="0">
                <a:solidFill>
                  <a:srgbClr val="000000"/>
                </a:solidFill>
                <a:latin typeface="+mn-ea"/>
                <a:ea typeface="+mn-ea"/>
                <a:cs typeface="Times New Roman" pitchFamily="18" charset="0"/>
              </a:rPr>
              <a:t> </a:t>
            </a:r>
            <a:r>
              <a:rPr kumimoji="1" lang="en-US" altLang="zh-CN" sz="2600" dirty="0" err="1">
                <a:solidFill>
                  <a:srgbClr val="000000"/>
                </a:solidFill>
                <a:latin typeface="+mn-ea"/>
                <a:ea typeface="+mn-ea"/>
                <a:cs typeface="Times New Roman" pitchFamily="18" charset="0"/>
              </a:rPr>
              <a:t>fork_exec_test.c</a:t>
            </a:r>
            <a:r>
              <a:rPr kumimoji="1" lang="en-US" altLang="zh-CN" sz="2600" dirty="0">
                <a:solidFill>
                  <a:srgbClr val="000000"/>
                </a:solidFill>
                <a:latin typeface="+mn-ea"/>
                <a:ea typeface="+mn-ea"/>
                <a:cs typeface="Times New Roman" pitchFamily="18" charset="0"/>
              </a:rPr>
              <a:t>  -o </a:t>
            </a:r>
            <a:r>
              <a:rPr kumimoji="1" lang="en-US" altLang="zh-CN" sz="2600" dirty="0" err="1">
                <a:solidFill>
                  <a:srgbClr val="000000"/>
                </a:solidFill>
                <a:latin typeface="+mn-ea"/>
                <a:ea typeface="+mn-ea"/>
                <a:cs typeface="Times New Roman" pitchFamily="18" charset="0"/>
              </a:rPr>
              <a:t>fork_exec_test</a:t>
            </a:r>
            <a:endParaRPr kumimoji="1" lang="en-US" altLang="zh-CN" sz="2600" dirty="0">
              <a:solidFill>
                <a:srgbClr val="000000"/>
              </a:solidFill>
              <a:latin typeface="+mn-ea"/>
              <a:ea typeface="+mn-ea"/>
              <a:cs typeface="Times New Roman" pitchFamily="18" charset="0"/>
            </a:endParaRPr>
          </a:p>
          <a:p>
            <a:pPr lvl="1" eaLnBrk="1" hangingPunct="1">
              <a:spcBef>
                <a:spcPct val="20000"/>
              </a:spcBef>
              <a:buClr>
                <a:srgbClr val="339933"/>
              </a:buClr>
              <a:buFont typeface="Wingdings" pitchFamily="2" charset="2"/>
              <a:buNone/>
            </a:pPr>
            <a:r>
              <a:rPr kumimoji="1" lang="zh-CN" altLang="en-US" sz="2600" dirty="0">
                <a:solidFill>
                  <a:srgbClr val="000000"/>
                </a:solidFill>
                <a:latin typeface="+mn-ea"/>
                <a:ea typeface="+mn-ea"/>
                <a:cs typeface="Times New Roman" pitchFamily="18" charset="0"/>
              </a:rPr>
              <a:t>执行：</a:t>
            </a:r>
          </a:p>
          <a:p>
            <a:pPr lvl="1" eaLnBrk="1" hangingPunct="1">
              <a:spcBef>
                <a:spcPct val="20000"/>
              </a:spcBef>
              <a:buClr>
                <a:srgbClr val="339933"/>
              </a:buClr>
            </a:pPr>
            <a:endParaRPr kumimoji="1" lang="en-US" altLang="zh-CN" sz="2500" dirty="0">
              <a:solidFill>
                <a:srgbClr val="000000"/>
              </a:solidFill>
              <a:latin typeface="+mn-ea"/>
              <a:ea typeface="+mn-ea"/>
              <a:cs typeface="Times New Roman" pitchFamily="18" charset="0"/>
            </a:endParaRPr>
          </a:p>
          <a:p>
            <a:pPr lvl="1" eaLnBrk="1" hangingPunct="1">
              <a:spcBef>
                <a:spcPct val="20000"/>
              </a:spcBef>
              <a:buClr>
                <a:srgbClr val="339933"/>
              </a:buClr>
              <a:buFont typeface="Wingdings" pitchFamily="2" charset="2"/>
              <a:buNone/>
            </a:pPr>
            <a:endParaRPr kumimoji="1" lang="en-US" altLang="zh-CN" sz="2800" dirty="0"/>
          </a:p>
          <a:p>
            <a:pPr lvl="1" eaLnBrk="1" hangingPunct="1">
              <a:spcBef>
                <a:spcPct val="20000"/>
              </a:spcBef>
              <a:buClr>
                <a:srgbClr val="339933"/>
              </a:buClr>
              <a:buFont typeface="Wingdings" pitchFamily="2" charset="2"/>
              <a:buNone/>
            </a:pPr>
            <a:endParaRPr kumimoji="1" lang="zh-CN" altLang="en-US" sz="2800" dirty="0">
              <a:solidFill>
                <a:schemeClr val="accent1"/>
              </a:solidFill>
            </a:endParaRPr>
          </a:p>
        </p:txBody>
      </p:sp>
      <p:sp>
        <p:nvSpPr>
          <p:cNvPr id="2" name="标题 1"/>
          <p:cNvSpPr>
            <a:spLocks noGrp="1"/>
          </p:cNvSpPr>
          <p:nvPr>
            <p:ph type="title"/>
          </p:nvPr>
        </p:nvSpPr>
        <p:spPr>
          <a:xfrm>
            <a:off x="839416" y="548680"/>
            <a:ext cx="10225136" cy="858837"/>
          </a:xfrm>
        </p:spPr>
        <p:txBody>
          <a:bodyPr/>
          <a:lstStyle/>
          <a:p>
            <a:r>
              <a:rPr lang="zh-CN" altLang="en-US" dirty="0">
                <a:latin typeface="+mn-ea"/>
              </a:rPr>
              <a:t>进程示例</a:t>
            </a:r>
            <a:endParaRPr lang="zh-CN" altLang="en-US" dirty="0"/>
          </a:p>
        </p:txBody>
      </p:sp>
      <p:sp>
        <p:nvSpPr>
          <p:cNvPr id="5" name="灯片编号占位符 5"/>
          <p:cNvSpPr>
            <a:spLocks noGrp="1"/>
          </p:cNvSpPr>
          <p:nvPr>
            <p:ph type="sldNum" sz="quarter" idx="11"/>
          </p:nvPr>
        </p:nvSpPr>
        <p:spPr>
          <a:prstGeom prst="rect">
            <a:avLst/>
          </a:prstGeom>
        </p:spPr>
        <p:txBody>
          <a:bodyPr/>
          <a:lstStyle/>
          <a:p>
            <a:fld id="{8B65A0CA-DAE2-4088-BB58-45073E9B1BD3}" type="slidenum">
              <a:rPr lang="zh-CN" altLang="en-US"/>
              <a:pPr/>
              <a:t>58</a:t>
            </a:fld>
            <a:endParaRPr lang="en-US" altLang="zh-CN" dirty="0"/>
          </a:p>
        </p:txBody>
      </p:sp>
      <p:pic>
        <p:nvPicPr>
          <p:cNvPr id="11" name="图片 10">
            <a:extLst>
              <a:ext uri="{FF2B5EF4-FFF2-40B4-BE49-F238E27FC236}">
                <a16:creationId xmlns:a16="http://schemas.microsoft.com/office/drawing/2014/main" id="{AC043A52-27EF-909A-6D06-0CCD4B86F7A2}"/>
              </a:ext>
            </a:extLst>
          </p:cNvPr>
          <p:cNvPicPr>
            <a:picLocks noChangeAspect="1"/>
          </p:cNvPicPr>
          <p:nvPr/>
        </p:nvPicPr>
        <p:blipFill>
          <a:blip r:embed="rId3"/>
          <a:stretch>
            <a:fillRect/>
          </a:stretch>
        </p:blipFill>
        <p:spPr>
          <a:xfrm>
            <a:off x="1883533" y="3138608"/>
            <a:ext cx="8028892" cy="2342348"/>
          </a:xfrm>
          <a:prstGeom prst="rect">
            <a:avLst/>
          </a:prstGeom>
          <a:ln>
            <a:solidFill>
              <a:schemeClr val="bg2"/>
            </a:solidFill>
          </a:ln>
        </p:spPr>
      </p:pic>
    </p:spTree>
    <p:extLst>
      <p:ext uri="{BB962C8B-B14F-4D97-AF65-F5344CB8AC3E}">
        <p14:creationId xmlns:p14="http://schemas.microsoft.com/office/powerpoint/2010/main" val="25975227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3"/>
          <p:cNvSpPr>
            <a:spLocks noGrp="1" noChangeArrowheads="1"/>
          </p:cNvSpPr>
          <p:nvPr>
            <p:ph type="body" idx="1"/>
          </p:nvPr>
        </p:nvSpPr>
        <p:spPr>
          <a:xfrm>
            <a:off x="983432" y="1340768"/>
            <a:ext cx="10333148" cy="4896544"/>
          </a:xfrm>
        </p:spPr>
        <p:txBody>
          <a:bodyPr/>
          <a:lstStyle/>
          <a:p>
            <a:pPr marL="0" indent="0" eaLnBrk="1" hangingPunct="1">
              <a:buNone/>
            </a:pPr>
            <a:r>
              <a:rPr lang="zh-CN" altLang="en-US" sz="2400" dirty="0">
                <a:solidFill>
                  <a:srgbClr val="C00000"/>
                </a:solidFill>
              </a:rPr>
              <a:t>进程间通信</a:t>
            </a:r>
            <a:r>
              <a:rPr lang="zh-CN" altLang="en-US" sz="2400" dirty="0"/>
              <a:t>是多用户、多任务操作系统基本功能。遇到下列情况之一时，进程之间必须通过通信才能保证正常工作</a:t>
            </a:r>
            <a:r>
              <a:rPr lang="zh-CN" altLang="en-US" sz="2400" dirty="0">
                <a:solidFill>
                  <a:srgbClr val="080808"/>
                </a:solidFill>
              </a:rPr>
              <a:t>：</a:t>
            </a:r>
          </a:p>
          <a:p>
            <a:pPr marL="352425" indent="-352425" eaLnBrk="1" hangingPunct="1"/>
            <a:r>
              <a:rPr lang="zh-CN" altLang="en-US" sz="2400" dirty="0">
                <a:solidFill>
                  <a:srgbClr val="0000CC"/>
                </a:solidFill>
              </a:rPr>
              <a:t>数据传输</a:t>
            </a:r>
            <a:r>
              <a:rPr lang="zh-CN" altLang="en-US" sz="2400" dirty="0">
                <a:solidFill>
                  <a:srgbClr val="080808"/>
                </a:solidFill>
              </a:rPr>
              <a:t>：一个进程需要将它的数据发送给另一个进程；</a:t>
            </a:r>
          </a:p>
          <a:p>
            <a:pPr marL="352425" indent="-352425" eaLnBrk="1" hangingPunct="1"/>
            <a:r>
              <a:rPr lang="zh-CN" altLang="en-US" sz="2400" dirty="0">
                <a:solidFill>
                  <a:srgbClr val="0000CC"/>
                </a:solidFill>
              </a:rPr>
              <a:t>共享数据</a:t>
            </a:r>
            <a:r>
              <a:rPr lang="zh-CN" altLang="en-US" sz="2400" dirty="0">
                <a:solidFill>
                  <a:srgbClr val="080808"/>
                </a:solidFill>
              </a:rPr>
              <a:t>：多个进程想要操作共享数据，一个进程对共享数据的修改，别的进程应该立刻看到；</a:t>
            </a:r>
          </a:p>
          <a:p>
            <a:pPr marL="352425" indent="-352425" eaLnBrk="1" hangingPunct="1"/>
            <a:r>
              <a:rPr lang="zh-CN" altLang="en-US" sz="2400" dirty="0">
                <a:solidFill>
                  <a:srgbClr val="0000CC"/>
                </a:solidFill>
              </a:rPr>
              <a:t>通知事件</a:t>
            </a:r>
            <a:r>
              <a:rPr lang="zh-CN" altLang="en-US" sz="2400" dirty="0">
                <a:solidFill>
                  <a:srgbClr val="080808"/>
                </a:solidFill>
              </a:rPr>
              <a:t>：一个进程需要向另一个或一组进程发消息，通知它（它们）发生了某种事件（如进程终止时要通知父进程）；</a:t>
            </a:r>
          </a:p>
          <a:p>
            <a:pPr marL="352425" indent="-352425" eaLnBrk="1" hangingPunct="1"/>
            <a:r>
              <a:rPr lang="zh-CN" altLang="en-US" sz="2400" dirty="0">
                <a:solidFill>
                  <a:srgbClr val="0000CC"/>
                </a:solidFill>
              </a:rPr>
              <a:t>资源共享</a:t>
            </a:r>
            <a:r>
              <a:rPr lang="zh-CN" altLang="en-US" sz="2400" dirty="0">
                <a:solidFill>
                  <a:srgbClr val="080808"/>
                </a:solidFill>
              </a:rPr>
              <a:t>：多个进程之间共享同样的资源，为了做到这一点，需要内核提供锁机制和同步机制；</a:t>
            </a:r>
          </a:p>
          <a:p>
            <a:pPr marL="352425" indent="-352425" eaLnBrk="1" hangingPunct="1"/>
            <a:r>
              <a:rPr lang="zh-CN" altLang="en-US" sz="2400" dirty="0">
                <a:solidFill>
                  <a:srgbClr val="0000CC"/>
                </a:solidFill>
              </a:rPr>
              <a:t>进程控制</a:t>
            </a:r>
            <a:r>
              <a:rPr lang="zh-CN" altLang="en-US" sz="2400" dirty="0">
                <a:solidFill>
                  <a:srgbClr val="080808"/>
                </a:solidFill>
              </a:rPr>
              <a:t>：有些进程希望完全控制另一个进程的执行（如</a:t>
            </a:r>
            <a:r>
              <a:rPr lang="en-US" altLang="zh-CN" sz="2400" dirty="0">
                <a:solidFill>
                  <a:srgbClr val="080808"/>
                </a:solidFill>
              </a:rPr>
              <a:t>Debug</a:t>
            </a:r>
            <a:r>
              <a:rPr lang="zh-CN" altLang="en-US" sz="2400" dirty="0">
                <a:solidFill>
                  <a:srgbClr val="080808"/>
                </a:solidFill>
              </a:rPr>
              <a:t>进程），此时控制进程希望能够拦截另一个进程的所有陷入和异常，并能够及时知道它的状态改变。</a:t>
            </a:r>
          </a:p>
        </p:txBody>
      </p:sp>
      <p:sp>
        <p:nvSpPr>
          <p:cNvPr id="5" name="Rectangle 4"/>
          <p:cNvSpPr>
            <a:spLocks noChangeArrowheads="1"/>
          </p:cNvSpPr>
          <p:nvPr/>
        </p:nvSpPr>
        <p:spPr bwMode="auto">
          <a:xfrm>
            <a:off x="1775619" y="518680"/>
            <a:ext cx="8640762"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4000" dirty="0">
                <a:latin typeface="+mn-lt"/>
                <a:ea typeface="+mn-ea"/>
                <a:cs typeface="Times New Roman" panose="02020603050405020304" pitchFamily="18" charset="0"/>
              </a:rPr>
              <a:t>7.4</a:t>
            </a:r>
            <a:r>
              <a:rPr lang="en-US" altLang="zh-CN" sz="4000" dirty="0">
                <a:latin typeface="Times New Roman" panose="02020603050405020304" pitchFamily="18" charset="0"/>
                <a:ea typeface="+mn-ea"/>
                <a:cs typeface="Times New Roman" panose="02020603050405020304" pitchFamily="18" charset="0"/>
              </a:rPr>
              <a:t> </a:t>
            </a:r>
            <a:r>
              <a:rPr lang="zh-CN" altLang="en-US" sz="4000" dirty="0">
                <a:latin typeface="+mn-ea"/>
                <a:ea typeface="+mn-ea"/>
              </a:rPr>
              <a:t>进程通信</a:t>
            </a:r>
            <a:endParaRPr lang="zh-CN" altLang="en-US" sz="3600" dirty="0">
              <a:latin typeface="+mn-ea"/>
              <a:ea typeface="+mn-ea"/>
            </a:endParaRPr>
          </a:p>
        </p:txBody>
      </p:sp>
    </p:spTree>
    <p:extLst>
      <p:ext uri="{BB962C8B-B14F-4D97-AF65-F5344CB8AC3E}">
        <p14:creationId xmlns:p14="http://schemas.microsoft.com/office/powerpoint/2010/main" val="15403329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灯片编号占位符 4"/>
          <p:cNvSpPr>
            <a:spLocks noGrp="1"/>
          </p:cNvSpPr>
          <p:nvPr>
            <p:ph type="sldNum" sz="quarter" idx="11"/>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256824-674A-4ED4-B487-021FC019A8CA}" type="slidenum">
              <a:rPr lang="en-US" altLang="zh-CN">
                <a:latin typeface="Arial Black" pitchFamily="34" charset="0"/>
              </a:rPr>
              <a:pPr eaLnBrk="1" hangingPunct="1"/>
              <a:t>60</a:t>
            </a:fld>
            <a:endParaRPr lang="en-US" altLang="zh-CN">
              <a:latin typeface="Arial Black" pitchFamily="34" charset="0"/>
            </a:endParaRPr>
          </a:p>
        </p:txBody>
      </p:sp>
      <p:sp>
        <p:nvSpPr>
          <p:cNvPr id="10245" name="Rectangle 2"/>
          <p:cNvSpPr>
            <a:spLocks noGrp="1" noChangeArrowheads="1"/>
          </p:cNvSpPr>
          <p:nvPr>
            <p:ph type="body" idx="1"/>
          </p:nvPr>
        </p:nvSpPr>
        <p:spPr>
          <a:xfrm>
            <a:off x="1847466" y="1628800"/>
            <a:ext cx="8352606" cy="4895800"/>
          </a:xfrm>
        </p:spPr>
        <p:txBody>
          <a:bodyPr/>
          <a:lstStyle/>
          <a:p>
            <a:pPr eaLnBrk="1" hangingPunct="1">
              <a:lnSpc>
                <a:spcPct val="130000"/>
              </a:lnSpc>
            </a:pPr>
            <a:r>
              <a:rPr lang="en-US" altLang="zh-CN" sz="2600" dirty="0"/>
              <a:t>Linux</a:t>
            </a:r>
            <a:r>
              <a:rPr lang="zh-CN" altLang="en-US" sz="2600" dirty="0"/>
              <a:t>系统主要支持以下几种</a:t>
            </a:r>
            <a:r>
              <a:rPr lang="en-US" altLang="zh-CN" sz="2600" dirty="0"/>
              <a:t>IPC</a:t>
            </a:r>
            <a:r>
              <a:rPr lang="zh-CN" altLang="en-US" sz="2600" dirty="0"/>
              <a:t>机制：</a:t>
            </a:r>
          </a:p>
          <a:p>
            <a:pPr marL="398462" lvl="1" indent="0" eaLnBrk="1" hangingPunct="1">
              <a:lnSpc>
                <a:spcPct val="130000"/>
              </a:lnSpc>
              <a:buNone/>
            </a:pPr>
            <a:r>
              <a:rPr lang="zh-CN" altLang="en-US" dirty="0"/>
              <a:t>（</a:t>
            </a:r>
            <a:r>
              <a:rPr lang="en-US" altLang="zh-CN" dirty="0"/>
              <a:t>1</a:t>
            </a:r>
            <a:r>
              <a:rPr lang="zh-CN" altLang="en-US" dirty="0"/>
              <a:t>）信号</a:t>
            </a:r>
            <a:endParaRPr lang="en-US" altLang="zh-CN" dirty="0"/>
          </a:p>
          <a:p>
            <a:pPr marL="398462" lvl="1" indent="0" eaLnBrk="1" hangingPunct="1">
              <a:lnSpc>
                <a:spcPct val="130000"/>
              </a:lnSpc>
              <a:buNone/>
            </a:pPr>
            <a:r>
              <a:rPr lang="zh-CN" altLang="en-US" dirty="0"/>
              <a:t>（</a:t>
            </a:r>
            <a:r>
              <a:rPr lang="en-US" altLang="zh-CN" dirty="0"/>
              <a:t>2</a:t>
            </a:r>
            <a:r>
              <a:rPr lang="zh-CN" altLang="en-US" dirty="0"/>
              <a:t>）管道</a:t>
            </a:r>
            <a:endParaRPr lang="en-US" altLang="zh-CN" dirty="0"/>
          </a:p>
          <a:p>
            <a:pPr marL="398462" lvl="1" indent="0" eaLnBrk="1" hangingPunct="1">
              <a:lnSpc>
                <a:spcPct val="130000"/>
              </a:lnSpc>
              <a:buNone/>
            </a:pPr>
            <a:r>
              <a:rPr lang="zh-CN" altLang="en-US" dirty="0"/>
              <a:t>（</a:t>
            </a:r>
            <a:r>
              <a:rPr lang="en-US" altLang="zh-CN" dirty="0"/>
              <a:t>3</a:t>
            </a:r>
            <a:r>
              <a:rPr lang="zh-CN" altLang="en-US" dirty="0"/>
              <a:t>）消息队列</a:t>
            </a:r>
            <a:endParaRPr lang="en-US" altLang="zh-CN" dirty="0"/>
          </a:p>
          <a:p>
            <a:pPr marL="398462" lvl="1" indent="0" eaLnBrk="1" hangingPunct="1">
              <a:lnSpc>
                <a:spcPct val="130000"/>
              </a:lnSpc>
              <a:buNone/>
            </a:pPr>
            <a:r>
              <a:rPr lang="zh-CN" altLang="en-US" dirty="0"/>
              <a:t>（</a:t>
            </a:r>
            <a:r>
              <a:rPr lang="en-US" altLang="zh-CN" dirty="0"/>
              <a:t>4</a:t>
            </a:r>
            <a:r>
              <a:rPr lang="zh-CN" altLang="en-US" dirty="0"/>
              <a:t>）共享内存</a:t>
            </a:r>
            <a:endParaRPr lang="en-US" altLang="zh-CN" dirty="0"/>
          </a:p>
          <a:p>
            <a:pPr marL="398462" lvl="1" indent="0" eaLnBrk="1" hangingPunct="1">
              <a:lnSpc>
                <a:spcPct val="130000"/>
              </a:lnSpc>
              <a:buNone/>
            </a:pPr>
            <a:r>
              <a:rPr lang="zh-CN" altLang="en-US" dirty="0"/>
              <a:t>（</a:t>
            </a:r>
            <a:r>
              <a:rPr lang="en-US" altLang="zh-CN" dirty="0"/>
              <a:t>5</a:t>
            </a:r>
            <a:r>
              <a:rPr lang="zh-CN" altLang="en-US" dirty="0"/>
              <a:t>）信号量</a:t>
            </a:r>
            <a:endParaRPr lang="en-US" altLang="zh-CN" dirty="0"/>
          </a:p>
        </p:txBody>
      </p:sp>
      <p:sp>
        <p:nvSpPr>
          <p:cNvPr id="4" name="Rectangle 4"/>
          <p:cNvSpPr>
            <a:spLocks noChangeArrowheads="1"/>
          </p:cNvSpPr>
          <p:nvPr/>
        </p:nvSpPr>
        <p:spPr bwMode="auto">
          <a:xfrm>
            <a:off x="1703388" y="523528"/>
            <a:ext cx="9001124"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4000" dirty="0">
                <a:latin typeface="+mn-ea"/>
                <a:ea typeface="+mn-ea"/>
              </a:rPr>
              <a:t>进程通信方式</a:t>
            </a:r>
            <a:endParaRPr lang="zh-CN" altLang="en-US" sz="3600" dirty="0">
              <a:latin typeface="+mn-ea"/>
              <a:ea typeface="+mn-ea"/>
            </a:endParaRPr>
          </a:p>
        </p:txBody>
      </p:sp>
    </p:spTree>
    <p:extLst>
      <p:ext uri="{BB962C8B-B14F-4D97-AF65-F5344CB8AC3E}">
        <p14:creationId xmlns:p14="http://schemas.microsoft.com/office/powerpoint/2010/main" val="23353997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灯片编号占位符 4"/>
          <p:cNvSpPr>
            <a:spLocks noGrp="1"/>
          </p:cNvSpPr>
          <p:nvPr>
            <p:ph type="sldNum" sz="quarter" idx="11"/>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256824-674A-4ED4-B487-021FC019A8CA}" type="slidenum">
              <a:rPr lang="en-US" altLang="zh-CN">
                <a:latin typeface="Arial Black" pitchFamily="34" charset="0"/>
              </a:rPr>
              <a:pPr eaLnBrk="1" hangingPunct="1"/>
              <a:t>61</a:t>
            </a:fld>
            <a:endParaRPr lang="en-US" altLang="zh-CN">
              <a:latin typeface="Arial Black" pitchFamily="34" charset="0"/>
            </a:endParaRPr>
          </a:p>
        </p:txBody>
      </p:sp>
      <p:sp>
        <p:nvSpPr>
          <p:cNvPr id="10245" name="Rectangle 2"/>
          <p:cNvSpPr>
            <a:spLocks noGrp="1" noChangeArrowheads="1"/>
          </p:cNvSpPr>
          <p:nvPr>
            <p:ph type="body" idx="1"/>
          </p:nvPr>
        </p:nvSpPr>
        <p:spPr>
          <a:xfrm>
            <a:off x="1127448" y="1498104"/>
            <a:ext cx="10009112" cy="4607768"/>
          </a:xfrm>
        </p:spPr>
        <p:txBody>
          <a:bodyPr/>
          <a:lstStyle/>
          <a:p>
            <a:pPr marL="506412" indent="-457200" eaLnBrk="1" hangingPunct="1"/>
            <a:r>
              <a:rPr lang="zh-CN" altLang="en-US" sz="2600" dirty="0">
                <a:solidFill>
                  <a:srgbClr val="0000CC"/>
                </a:solidFill>
              </a:rPr>
              <a:t>信号</a:t>
            </a:r>
            <a:r>
              <a:rPr lang="en-US" altLang="zh-CN" sz="2600" dirty="0">
                <a:solidFill>
                  <a:srgbClr val="0000CC"/>
                </a:solidFill>
              </a:rPr>
              <a:t>(Signal)</a:t>
            </a:r>
            <a:r>
              <a:rPr lang="zh-CN" altLang="en-US" sz="2600" dirty="0"/>
              <a:t>：信号是进程间可相互发送控制信息，一般只有几个字节的数据，传递的信量小。信号是在软件层次上对中断机制的一种模拟，用于通知接受进程有某事件发生，一个进程收到一个信号与处理器收到一个中断请求效果上是一样的。例如，当用户按下</a:t>
            </a:r>
            <a:r>
              <a:rPr lang="en-US" altLang="zh-CN" sz="2600" dirty="0" err="1"/>
              <a:t>Ctrl+c</a:t>
            </a:r>
            <a:r>
              <a:rPr lang="zh-CN" altLang="en-US" sz="2600" dirty="0"/>
              <a:t>键时，当前进程就会收到一个信号，通知它结束运行。</a:t>
            </a:r>
            <a:endParaRPr lang="en-US" altLang="zh-CN" sz="2600" dirty="0"/>
          </a:p>
          <a:p>
            <a:pPr marL="506412" indent="-457200" eaLnBrk="1" hangingPunct="1"/>
            <a:r>
              <a:rPr lang="zh-CN" altLang="en-US" sz="2600" dirty="0"/>
              <a:t>用</a:t>
            </a:r>
            <a:r>
              <a:rPr lang="en-US" altLang="zh-CN" sz="2600" dirty="0">
                <a:solidFill>
                  <a:srgbClr val="0000CC"/>
                </a:solidFill>
              </a:rPr>
              <a:t>kill -l</a:t>
            </a:r>
            <a:r>
              <a:rPr lang="zh-CN" altLang="en-US" sz="2600" dirty="0"/>
              <a:t>命令可以列出系统的全部可用信号。</a:t>
            </a:r>
          </a:p>
        </p:txBody>
      </p:sp>
      <p:sp>
        <p:nvSpPr>
          <p:cNvPr id="4" name="Rectangle 4"/>
          <p:cNvSpPr>
            <a:spLocks noChangeArrowheads="1"/>
          </p:cNvSpPr>
          <p:nvPr/>
        </p:nvSpPr>
        <p:spPr bwMode="auto">
          <a:xfrm>
            <a:off x="1775619" y="471661"/>
            <a:ext cx="8640762"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4000" dirty="0">
                <a:latin typeface="+mn-ea"/>
                <a:ea typeface="+mn-ea"/>
              </a:rPr>
              <a:t>进程通信方式</a:t>
            </a:r>
            <a:endParaRPr lang="zh-CN" altLang="en-US" sz="3600" dirty="0">
              <a:latin typeface="+mn-ea"/>
              <a:ea typeface="+mn-ea"/>
            </a:endParaRPr>
          </a:p>
        </p:txBody>
      </p:sp>
    </p:spTree>
    <p:extLst>
      <p:ext uri="{BB962C8B-B14F-4D97-AF65-F5344CB8AC3E}">
        <p14:creationId xmlns:p14="http://schemas.microsoft.com/office/powerpoint/2010/main" val="22528831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a:xfrm>
            <a:off x="1919536" y="548680"/>
            <a:ext cx="8352928" cy="811213"/>
          </a:xfrm>
        </p:spPr>
        <p:txBody>
          <a:bodyPr/>
          <a:lstStyle/>
          <a:p>
            <a:pPr eaLnBrk="1" hangingPunct="1"/>
            <a:r>
              <a:rPr lang="en-US" altLang="zh-CN" dirty="0"/>
              <a:t>Linux </a:t>
            </a:r>
            <a:r>
              <a:rPr lang="zh-CN" altLang="en-US" dirty="0"/>
              <a:t>中的信号</a:t>
            </a:r>
          </a:p>
        </p:txBody>
      </p:sp>
      <p:sp>
        <p:nvSpPr>
          <p:cNvPr id="7" name="灯片编号占位符 4"/>
          <p:cNvSpPr>
            <a:spLocks noGrp="1"/>
          </p:cNvSpPr>
          <p:nvPr>
            <p:ph type="sldNum" sz="quarter" idx="11"/>
          </p:nvPr>
        </p:nvSpPr>
        <p:spPr>
          <a:xfrm>
            <a:off x="5053013" y="6240463"/>
            <a:ext cx="2133600" cy="457200"/>
          </a:xfrm>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256824-674A-4ED4-B487-021FC019A8CA}" type="slidenum">
              <a:rPr lang="en-US" altLang="zh-CN">
                <a:latin typeface="Arial Black" pitchFamily="34" charset="0"/>
              </a:rPr>
              <a:pPr eaLnBrk="1" hangingPunct="1"/>
              <a:t>62</a:t>
            </a:fld>
            <a:endParaRPr lang="en-US" altLang="zh-CN" dirty="0">
              <a:latin typeface="Arial Black" pitchFamily="34" charset="0"/>
            </a:endParaRPr>
          </a:p>
        </p:txBody>
      </p:sp>
      <p:pic>
        <p:nvPicPr>
          <p:cNvPr id="4" name="图片 3">
            <a:extLst>
              <a:ext uri="{FF2B5EF4-FFF2-40B4-BE49-F238E27FC236}">
                <a16:creationId xmlns:a16="http://schemas.microsoft.com/office/drawing/2014/main" id="{46A162C2-B25C-AC05-95BE-6A7933F00207}"/>
              </a:ext>
            </a:extLst>
          </p:cNvPr>
          <p:cNvPicPr>
            <a:picLocks noChangeAspect="1"/>
          </p:cNvPicPr>
          <p:nvPr/>
        </p:nvPicPr>
        <p:blipFill>
          <a:blip r:embed="rId3"/>
          <a:stretch>
            <a:fillRect/>
          </a:stretch>
        </p:blipFill>
        <p:spPr>
          <a:xfrm>
            <a:off x="1717206" y="1700808"/>
            <a:ext cx="8805213" cy="4392488"/>
          </a:xfrm>
          <a:prstGeom prst="rect">
            <a:avLst/>
          </a:prstGeom>
        </p:spPr>
      </p:pic>
    </p:spTree>
    <p:extLst>
      <p:ext uri="{BB962C8B-B14F-4D97-AF65-F5344CB8AC3E}">
        <p14:creationId xmlns:p14="http://schemas.microsoft.com/office/powerpoint/2010/main" val="17529574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body" idx="1"/>
          </p:nvPr>
        </p:nvSpPr>
        <p:spPr>
          <a:xfrm>
            <a:off x="2209801" y="765175"/>
            <a:ext cx="8207375" cy="5932488"/>
          </a:xfrm>
        </p:spPr>
        <p:txBody>
          <a:bodyPr/>
          <a:lstStyle/>
          <a:p>
            <a:pPr marL="0" indent="0" eaLnBrk="1" hangingPunct="1">
              <a:buNone/>
            </a:pPr>
            <a:r>
              <a:rPr lang="zh-CN" altLang="en-US" sz="2600" dirty="0">
                <a:solidFill>
                  <a:srgbClr val="080808"/>
                </a:solidFill>
              </a:rPr>
              <a:t>下面是几个常见的信号：</a:t>
            </a:r>
            <a:endParaRPr lang="en-US" altLang="zh-CN" sz="2600" dirty="0">
              <a:solidFill>
                <a:srgbClr val="080808"/>
              </a:solidFill>
            </a:endParaRPr>
          </a:p>
          <a:p>
            <a:pPr marL="0" indent="0" eaLnBrk="1" hangingPunct="1">
              <a:buNone/>
            </a:pPr>
            <a:r>
              <a:rPr lang="zh-CN" altLang="en-US" sz="2200" dirty="0">
                <a:solidFill>
                  <a:srgbClr val="080808"/>
                </a:solidFill>
              </a:rPr>
              <a:t>信号值       信号名                  用途</a:t>
            </a:r>
          </a:p>
          <a:p>
            <a:pPr marL="0" indent="0" eaLnBrk="1" hangingPunct="1">
              <a:buNone/>
            </a:pPr>
            <a:r>
              <a:rPr lang="en-US" altLang="zh-CN" sz="2200" dirty="0">
                <a:solidFill>
                  <a:srgbClr val="080808"/>
                </a:solidFill>
              </a:rPr>
              <a:t>  1             SIGHUP  </a:t>
            </a:r>
            <a:r>
              <a:rPr lang="zh-CN" altLang="en-US" sz="2200" dirty="0">
                <a:solidFill>
                  <a:srgbClr val="080808"/>
                </a:solidFill>
              </a:rPr>
              <a:t>     从终端上发出的结束信号；</a:t>
            </a:r>
          </a:p>
          <a:p>
            <a:pPr marL="0" indent="0" eaLnBrk="1" hangingPunct="1">
              <a:buNone/>
            </a:pPr>
            <a:r>
              <a:rPr lang="en-US" altLang="zh-CN" sz="2200" dirty="0">
                <a:solidFill>
                  <a:srgbClr val="080808"/>
                </a:solidFill>
              </a:rPr>
              <a:t>  2             SIGINT </a:t>
            </a:r>
            <a:r>
              <a:rPr lang="zh-CN" altLang="en-US" sz="2200" dirty="0">
                <a:solidFill>
                  <a:srgbClr val="080808"/>
                </a:solidFill>
              </a:rPr>
              <a:t>        来自键盘的中断信号（</a:t>
            </a:r>
            <a:r>
              <a:rPr lang="en-US" altLang="zh-CN" sz="2200" dirty="0" err="1">
                <a:solidFill>
                  <a:srgbClr val="080808"/>
                </a:solidFill>
              </a:rPr>
              <a:t>Ctrl+c</a:t>
            </a:r>
            <a:r>
              <a:rPr lang="zh-CN" altLang="en-US" sz="2200" dirty="0">
                <a:solidFill>
                  <a:srgbClr val="080808"/>
                </a:solidFill>
              </a:rPr>
              <a:t>）；</a:t>
            </a:r>
          </a:p>
          <a:p>
            <a:pPr marL="0" indent="0" eaLnBrk="1" hangingPunct="1">
              <a:buNone/>
            </a:pPr>
            <a:r>
              <a:rPr lang="en-US" altLang="zh-CN" sz="2200" dirty="0">
                <a:solidFill>
                  <a:srgbClr val="080808"/>
                </a:solidFill>
              </a:rPr>
              <a:t>  3             SIGQUIT      </a:t>
            </a:r>
            <a:r>
              <a:rPr lang="zh-CN" altLang="en-US" sz="2200" dirty="0">
                <a:solidFill>
                  <a:srgbClr val="080808"/>
                </a:solidFill>
              </a:rPr>
              <a:t>来自键盘的退出信号（</a:t>
            </a:r>
            <a:r>
              <a:rPr lang="en-US" altLang="zh-CN" sz="2200" dirty="0">
                <a:solidFill>
                  <a:srgbClr val="080808"/>
                </a:solidFill>
              </a:rPr>
              <a:t>Ctrl+\</a:t>
            </a:r>
            <a:r>
              <a:rPr lang="zh-CN" altLang="en-US" sz="2200" dirty="0">
                <a:solidFill>
                  <a:srgbClr val="080808"/>
                </a:solidFill>
              </a:rPr>
              <a:t>）；</a:t>
            </a:r>
          </a:p>
          <a:p>
            <a:pPr marL="0" indent="0" eaLnBrk="1" hangingPunct="1">
              <a:buNone/>
            </a:pPr>
            <a:r>
              <a:rPr lang="en-US" altLang="zh-CN" sz="2200" dirty="0">
                <a:solidFill>
                  <a:srgbClr val="080808"/>
                </a:solidFill>
              </a:rPr>
              <a:t>  8             SIGFPE      </a:t>
            </a:r>
            <a:r>
              <a:rPr lang="zh-CN" altLang="en-US" sz="2200" dirty="0">
                <a:solidFill>
                  <a:srgbClr val="080808"/>
                </a:solidFill>
              </a:rPr>
              <a:t>  浮点异常信号（例如浮点运算溢出）；</a:t>
            </a:r>
          </a:p>
          <a:p>
            <a:pPr marL="0" indent="0" eaLnBrk="1" hangingPunct="1">
              <a:buNone/>
            </a:pPr>
            <a:r>
              <a:rPr lang="en-US" altLang="zh-CN" sz="2200" dirty="0">
                <a:solidFill>
                  <a:srgbClr val="080808"/>
                </a:solidFill>
              </a:rPr>
              <a:t>  9             SIGKILL</a:t>
            </a:r>
            <a:r>
              <a:rPr lang="zh-CN" altLang="en-US" sz="2200" dirty="0">
                <a:solidFill>
                  <a:srgbClr val="080808"/>
                </a:solidFill>
              </a:rPr>
              <a:t>       立即结束运行，杀死进程；</a:t>
            </a:r>
          </a:p>
          <a:p>
            <a:pPr marL="0" indent="0" eaLnBrk="1" hangingPunct="1">
              <a:buNone/>
            </a:pPr>
            <a:r>
              <a:rPr lang="en-US" altLang="zh-CN" sz="2200" dirty="0">
                <a:solidFill>
                  <a:srgbClr val="080808"/>
                </a:solidFill>
              </a:rPr>
              <a:t> 14            SIGALRM     </a:t>
            </a:r>
            <a:r>
              <a:rPr lang="zh-CN" altLang="en-US" sz="2200" dirty="0">
                <a:solidFill>
                  <a:srgbClr val="080808"/>
                </a:solidFill>
              </a:rPr>
              <a:t>时钟定时信号，定时器到期时发送信号；</a:t>
            </a:r>
          </a:p>
          <a:p>
            <a:pPr marL="0" indent="0" eaLnBrk="1" hangingPunct="1">
              <a:buNone/>
            </a:pPr>
            <a:r>
              <a:rPr lang="en-US" altLang="zh-CN" sz="2200" dirty="0">
                <a:solidFill>
                  <a:srgbClr val="080808"/>
                </a:solidFill>
              </a:rPr>
              <a:t> 15            SIGTERM     </a:t>
            </a:r>
            <a:r>
              <a:rPr lang="zh-CN" altLang="en-US" sz="2200" dirty="0">
                <a:solidFill>
                  <a:srgbClr val="080808"/>
                </a:solidFill>
              </a:rPr>
              <a:t>结束运行信号，命令进程主动终止；</a:t>
            </a:r>
          </a:p>
          <a:p>
            <a:pPr marL="0" indent="0" eaLnBrk="1" hangingPunct="1">
              <a:buNone/>
            </a:pPr>
            <a:r>
              <a:rPr lang="en-US" altLang="zh-CN" sz="2200" dirty="0">
                <a:solidFill>
                  <a:srgbClr val="080808"/>
                </a:solidFill>
              </a:rPr>
              <a:t> 17            SIGCHLD     </a:t>
            </a:r>
            <a:r>
              <a:rPr lang="zh-CN" altLang="en-US" sz="2200" dirty="0">
                <a:solidFill>
                  <a:srgbClr val="080808"/>
                </a:solidFill>
              </a:rPr>
              <a:t>子进程停止或结束的信号；</a:t>
            </a:r>
            <a:endParaRPr lang="en-US" altLang="zh-CN" sz="2200" dirty="0">
              <a:solidFill>
                <a:srgbClr val="080808"/>
              </a:solidFill>
            </a:endParaRPr>
          </a:p>
          <a:p>
            <a:pPr marL="0" indent="0" eaLnBrk="1" hangingPunct="1">
              <a:buNone/>
            </a:pPr>
            <a:r>
              <a:rPr lang="en-US" altLang="zh-CN" sz="2200" dirty="0">
                <a:solidFill>
                  <a:srgbClr val="080808"/>
                </a:solidFill>
              </a:rPr>
              <a:t> 18            SIGCONT      </a:t>
            </a:r>
            <a:r>
              <a:rPr lang="zh-CN" altLang="en-US" sz="2200" dirty="0">
                <a:solidFill>
                  <a:srgbClr val="080808"/>
                </a:solidFill>
              </a:rPr>
              <a:t>恢复运行信号，使暂停的进程继续运行；</a:t>
            </a:r>
          </a:p>
          <a:p>
            <a:pPr marL="0" indent="0" eaLnBrk="1" hangingPunct="1">
              <a:buNone/>
            </a:pPr>
            <a:r>
              <a:rPr lang="en-US" altLang="zh-CN" sz="2200" dirty="0">
                <a:solidFill>
                  <a:srgbClr val="080808"/>
                </a:solidFill>
              </a:rPr>
              <a:t> 19            SIGSTOP     </a:t>
            </a:r>
            <a:r>
              <a:rPr lang="zh-CN" altLang="en-US" sz="2200" dirty="0">
                <a:solidFill>
                  <a:srgbClr val="080808"/>
                </a:solidFill>
              </a:rPr>
              <a:t> 暂停执行信号，通常用来调试程序；</a:t>
            </a:r>
            <a:endParaRPr lang="en-US" altLang="zh-CN" sz="2200" dirty="0">
              <a:solidFill>
                <a:srgbClr val="080808"/>
              </a:solidFill>
            </a:endParaRPr>
          </a:p>
          <a:p>
            <a:pPr marL="0" indent="0" eaLnBrk="1" hangingPunct="1">
              <a:buNone/>
            </a:pPr>
            <a:r>
              <a:rPr lang="en-US" altLang="zh-CN" sz="2200" dirty="0">
                <a:solidFill>
                  <a:srgbClr val="080808"/>
                </a:solidFill>
              </a:rPr>
              <a:t> 20            SIGTSTP       </a:t>
            </a:r>
            <a:r>
              <a:rPr lang="zh-CN" altLang="en-US" sz="2200" dirty="0">
                <a:solidFill>
                  <a:srgbClr val="080808"/>
                </a:solidFill>
              </a:rPr>
              <a:t>来自键盘（</a:t>
            </a:r>
            <a:r>
              <a:rPr lang="en-US" altLang="zh-CN" sz="2200" dirty="0" err="1">
                <a:solidFill>
                  <a:srgbClr val="080808"/>
                </a:solidFill>
              </a:rPr>
              <a:t>Ctrl+z</a:t>
            </a:r>
            <a:r>
              <a:rPr lang="zh-CN" altLang="en-US" sz="2200" dirty="0">
                <a:solidFill>
                  <a:srgbClr val="080808"/>
                </a:solidFill>
              </a:rPr>
              <a:t>）暂停信号。</a:t>
            </a:r>
          </a:p>
          <a:p>
            <a:pPr marL="0" indent="0" eaLnBrk="1" hangingPunct="1">
              <a:buNone/>
            </a:pPr>
            <a:r>
              <a:rPr lang="en-US" altLang="zh-CN" sz="2200" dirty="0">
                <a:solidFill>
                  <a:srgbClr val="080808"/>
                </a:solidFill>
              </a:rPr>
              <a:t>…………</a:t>
            </a:r>
          </a:p>
        </p:txBody>
      </p:sp>
      <p:sp>
        <p:nvSpPr>
          <p:cNvPr id="2" name="灯片编号占位符 1">
            <a:extLst>
              <a:ext uri="{FF2B5EF4-FFF2-40B4-BE49-F238E27FC236}">
                <a16:creationId xmlns:a16="http://schemas.microsoft.com/office/drawing/2014/main" id="{86987867-DD33-C488-1B0A-6934B59CD771}"/>
              </a:ext>
            </a:extLst>
          </p:cNvPr>
          <p:cNvSpPr>
            <a:spLocks noGrp="1"/>
          </p:cNvSpPr>
          <p:nvPr>
            <p:ph type="sldNum" sz="quarter" idx="11"/>
          </p:nvPr>
        </p:nvSpPr>
        <p:spPr/>
        <p:txBody>
          <a:bodyPr/>
          <a:lstStyle/>
          <a:p>
            <a:pPr>
              <a:defRPr/>
            </a:pPr>
            <a:fld id="{110871B5-850E-4E14-A636-3EC679EBF038}" type="slidenum">
              <a:rPr lang="en-US" altLang="zh-CN" smtClean="0"/>
              <a:pPr>
                <a:defRPr/>
              </a:pPr>
              <a:t>63</a:t>
            </a:fld>
            <a:endParaRPr lang="en-US" altLang="zh-CN"/>
          </a:p>
        </p:txBody>
      </p:sp>
    </p:spTree>
    <p:extLst>
      <p:ext uri="{BB962C8B-B14F-4D97-AF65-F5344CB8AC3E}">
        <p14:creationId xmlns:p14="http://schemas.microsoft.com/office/powerpoint/2010/main" val="35861328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信号的产生与发送</a:t>
            </a:r>
          </a:p>
        </p:txBody>
      </p:sp>
      <p:sp>
        <p:nvSpPr>
          <p:cNvPr id="3" name="内容占位符 2"/>
          <p:cNvSpPr>
            <a:spLocks noGrp="1"/>
          </p:cNvSpPr>
          <p:nvPr>
            <p:ph idx="1"/>
          </p:nvPr>
        </p:nvSpPr>
        <p:spPr>
          <a:xfrm>
            <a:off x="994792" y="1667243"/>
            <a:ext cx="10202416" cy="4411662"/>
          </a:xfrm>
        </p:spPr>
        <p:txBody>
          <a:bodyPr/>
          <a:lstStyle/>
          <a:p>
            <a:r>
              <a:rPr lang="zh-CN" altLang="en-US" sz="2600" dirty="0"/>
              <a:t>信号可以是由</a:t>
            </a:r>
            <a:r>
              <a:rPr lang="zh-CN" altLang="en-US" sz="2600" dirty="0">
                <a:solidFill>
                  <a:srgbClr val="0000CC"/>
                </a:solidFill>
              </a:rPr>
              <a:t>某个进程发送</a:t>
            </a:r>
            <a:r>
              <a:rPr lang="zh-CN" altLang="en-US" sz="2600" dirty="0"/>
              <a:t>，也可以从</a:t>
            </a:r>
            <a:r>
              <a:rPr lang="zh-CN" altLang="en-US" sz="2600" dirty="0">
                <a:solidFill>
                  <a:srgbClr val="0000CC"/>
                </a:solidFill>
              </a:rPr>
              <a:t>键盘中断</a:t>
            </a:r>
            <a:r>
              <a:rPr lang="zh-CN" altLang="en-US" sz="2600" dirty="0"/>
              <a:t>中产生，还可以由</a:t>
            </a:r>
            <a:r>
              <a:rPr lang="en-US" altLang="zh-CN" sz="2600" dirty="0">
                <a:solidFill>
                  <a:srgbClr val="0000CC"/>
                </a:solidFill>
              </a:rPr>
              <a:t>kill</a:t>
            </a:r>
            <a:r>
              <a:rPr lang="zh-CN" altLang="en-US" sz="2600" dirty="0">
                <a:solidFill>
                  <a:srgbClr val="0000CC"/>
                </a:solidFill>
              </a:rPr>
              <a:t>命令</a:t>
            </a:r>
            <a:r>
              <a:rPr lang="zh-CN" altLang="en-US" sz="2600" dirty="0"/>
              <a:t>发出。内核在某些</a:t>
            </a:r>
            <a:r>
              <a:rPr lang="zh-CN" altLang="en-US" sz="2600" dirty="0">
                <a:solidFill>
                  <a:srgbClr val="0000CC"/>
                </a:solidFill>
              </a:rPr>
              <a:t>系统故障</a:t>
            </a:r>
            <a:r>
              <a:rPr lang="zh-CN" altLang="en-US" sz="2600" dirty="0"/>
              <a:t>或</a:t>
            </a:r>
            <a:r>
              <a:rPr lang="zh-CN" altLang="en-US" sz="2600" dirty="0">
                <a:solidFill>
                  <a:srgbClr val="0000CC"/>
                </a:solidFill>
              </a:rPr>
              <a:t>软件错误</a:t>
            </a:r>
            <a:r>
              <a:rPr lang="zh-CN" altLang="en-US" sz="2600" dirty="0"/>
              <a:t>的情况下也会有信号产生。</a:t>
            </a:r>
            <a:endParaRPr lang="en-US" altLang="zh-CN" sz="2600" dirty="0"/>
          </a:p>
          <a:p>
            <a:r>
              <a:rPr lang="zh-CN" altLang="en-US" sz="2600" dirty="0"/>
              <a:t>信号可以发送给一</a:t>
            </a:r>
            <a:r>
              <a:rPr lang="zh-CN" altLang="en-US" sz="2600" dirty="0">
                <a:solidFill>
                  <a:srgbClr val="0000CC"/>
                </a:solidFill>
              </a:rPr>
              <a:t>个进程或一组进程</a:t>
            </a:r>
            <a:r>
              <a:rPr lang="zh-CN" altLang="en-US" sz="2600" dirty="0"/>
              <a:t>。如果进程当前没有运行，发给它的信号将被挂起，放入进程的</a:t>
            </a:r>
            <a:r>
              <a:rPr lang="zh-CN" altLang="en-US" sz="2600" dirty="0">
                <a:solidFill>
                  <a:srgbClr val="FF9900"/>
                </a:solidFill>
              </a:rPr>
              <a:t>信号队列</a:t>
            </a:r>
            <a:r>
              <a:rPr lang="zh-CN" altLang="en-US" sz="2600" dirty="0"/>
              <a:t>中。进程</a:t>
            </a:r>
            <a:r>
              <a:rPr lang="en-US" altLang="zh-CN" sz="2600" dirty="0"/>
              <a:t>PCB</a:t>
            </a:r>
            <a:r>
              <a:rPr lang="zh-CN" altLang="en-US" sz="2600" dirty="0"/>
              <a:t>中有几个用于信号通信的字段，其中</a:t>
            </a:r>
            <a:r>
              <a:rPr lang="en-US" altLang="zh-CN" sz="2600" dirty="0"/>
              <a:t>pending</a:t>
            </a:r>
            <a:r>
              <a:rPr lang="zh-CN" altLang="en-US" sz="2600" dirty="0"/>
              <a:t>是指向进程私有信号队列的指针，</a:t>
            </a:r>
            <a:r>
              <a:rPr lang="en-US" altLang="zh-CN" sz="2600" dirty="0"/>
              <a:t>signal</a:t>
            </a:r>
            <a:r>
              <a:rPr lang="zh-CN" altLang="en-US" sz="2600" dirty="0"/>
              <a:t>是指向进程共享信号队列的指针。</a:t>
            </a:r>
            <a:endParaRPr lang="en-US" altLang="zh-CN" sz="2600" dirty="0"/>
          </a:p>
          <a:p>
            <a:r>
              <a:rPr lang="zh-CN" altLang="en-US" sz="2600" dirty="0"/>
              <a:t>有信号产生时，内核为该信号生成一个节点，记录它的信号值和其他信息，然后挂到目标进程的信号队列中。</a:t>
            </a:r>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64</a:t>
            </a:fld>
            <a:endParaRPr lang="en-US" altLang="zh-CN"/>
          </a:p>
        </p:txBody>
      </p:sp>
    </p:spTree>
    <p:extLst>
      <p:ext uri="{BB962C8B-B14F-4D97-AF65-F5344CB8AC3E}">
        <p14:creationId xmlns:p14="http://schemas.microsoft.com/office/powerpoint/2010/main" val="1880901177"/>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信号的检测与处理</a:t>
            </a:r>
          </a:p>
        </p:txBody>
      </p:sp>
      <p:sp>
        <p:nvSpPr>
          <p:cNvPr id="3" name="内容占位符 2"/>
          <p:cNvSpPr>
            <a:spLocks noGrp="1"/>
          </p:cNvSpPr>
          <p:nvPr>
            <p:ph idx="1"/>
          </p:nvPr>
        </p:nvSpPr>
        <p:spPr>
          <a:xfrm>
            <a:off x="1066800" y="1556792"/>
            <a:ext cx="10058400" cy="4411662"/>
          </a:xfrm>
        </p:spPr>
        <p:txBody>
          <a:bodyPr/>
          <a:lstStyle/>
          <a:p>
            <a:pPr>
              <a:lnSpc>
                <a:spcPct val="110000"/>
              </a:lnSpc>
            </a:pPr>
            <a:r>
              <a:rPr lang="zh-CN" altLang="en-US" sz="2600" dirty="0"/>
              <a:t>正在</a:t>
            </a:r>
            <a:r>
              <a:rPr lang="zh-CN" altLang="en-US" sz="2600" dirty="0">
                <a:solidFill>
                  <a:srgbClr val="0000CC"/>
                </a:solidFill>
              </a:rPr>
              <a:t>运行</a:t>
            </a:r>
            <a:r>
              <a:rPr lang="zh-CN" altLang="en-US" sz="2600" dirty="0"/>
              <a:t>的进程会</a:t>
            </a:r>
            <a:r>
              <a:rPr lang="zh-CN" altLang="en-US" sz="2600" dirty="0">
                <a:solidFill>
                  <a:srgbClr val="0000CC"/>
                </a:solidFill>
              </a:rPr>
              <a:t>随时处理</a:t>
            </a:r>
            <a:r>
              <a:rPr lang="zh-CN" altLang="en-US" sz="2600" dirty="0"/>
              <a:t>收到的信号。当一个进程即将从核心态返回用户态时，内核都要检查是否有信号到达。若进程的信号队列中</a:t>
            </a:r>
            <a:r>
              <a:rPr lang="zh-CN" altLang="en-US" sz="2600" dirty="0">
                <a:solidFill>
                  <a:srgbClr val="0000CC"/>
                </a:solidFill>
              </a:rPr>
              <a:t>有信号</a:t>
            </a:r>
            <a:r>
              <a:rPr lang="zh-CN" altLang="en-US" sz="2600" dirty="0"/>
              <a:t>，则</a:t>
            </a:r>
            <a:r>
              <a:rPr lang="zh-CN" altLang="en-US" sz="2600" dirty="0">
                <a:solidFill>
                  <a:srgbClr val="0000CC"/>
                </a:solidFill>
              </a:rPr>
              <a:t>转去执行</a:t>
            </a:r>
            <a:r>
              <a:rPr lang="zh-CN" altLang="en-US" sz="2600" dirty="0"/>
              <a:t>与信号相对应的处理程序。只有当所有信号处理完毕后，进程才会返回用户态。</a:t>
            </a:r>
            <a:endParaRPr lang="en-US" altLang="zh-CN" sz="2600" dirty="0"/>
          </a:p>
          <a:p>
            <a:pPr>
              <a:lnSpc>
                <a:spcPct val="110000"/>
              </a:lnSpc>
            </a:pPr>
            <a:r>
              <a:rPr lang="zh-CN" altLang="en-US" sz="2600" dirty="0"/>
              <a:t>处于</a:t>
            </a:r>
            <a:r>
              <a:rPr lang="zh-CN" altLang="en-US" sz="2600" dirty="0">
                <a:solidFill>
                  <a:srgbClr val="0000CC"/>
                </a:solidFill>
              </a:rPr>
              <a:t>可中断睡眠</a:t>
            </a:r>
            <a:r>
              <a:rPr lang="zh-CN" altLang="en-US" sz="2600" dirty="0"/>
              <a:t>的进程可以被内核唤醒处理信号，</a:t>
            </a:r>
            <a:r>
              <a:rPr lang="zh-CN" altLang="en-US" sz="2600" dirty="0">
                <a:solidFill>
                  <a:srgbClr val="0000CC"/>
                </a:solidFill>
              </a:rPr>
              <a:t>不可中断睡眠</a:t>
            </a:r>
            <a:r>
              <a:rPr lang="zh-CN" altLang="en-US" sz="2600" dirty="0"/>
              <a:t>的进程将不会响应信号。</a:t>
            </a:r>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65</a:t>
            </a:fld>
            <a:endParaRPr lang="en-US" altLang="zh-CN"/>
          </a:p>
        </p:txBody>
      </p:sp>
    </p:spTree>
    <p:extLst>
      <p:ext uri="{BB962C8B-B14F-4D97-AF65-F5344CB8AC3E}">
        <p14:creationId xmlns:p14="http://schemas.microsoft.com/office/powerpoint/2010/main" val="1960725325"/>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信号的检测与处理</a:t>
            </a:r>
          </a:p>
        </p:txBody>
      </p:sp>
      <p:sp>
        <p:nvSpPr>
          <p:cNvPr id="3" name="内容占位符 2"/>
          <p:cNvSpPr>
            <a:spLocks noGrp="1"/>
          </p:cNvSpPr>
          <p:nvPr>
            <p:ph idx="1"/>
          </p:nvPr>
        </p:nvSpPr>
        <p:spPr>
          <a:xfrm>
            <a:off x="1078160" y="1449473"/>
            <a:ext cx="10058400" cy="4411662"/>
          </a:xfrm>
        </p:spPr>
        <p:txBody>
          <a:bodyPr/>
          <a:lstStyle/>
          <a:p>
            <a:pPr marL="0" indent="0">
              <a:lnSpc>
                <a:spcPct val="90000"/>
              </a:lnSpc>
              <a:buNone/>
            </a:pPr>
            <a:r>
              <a:rPr lang="zh-CN" altLang="en-US" sz="2600" dirty="0"/>
              <a:t>用户进程对信号的响应有</a:t>
            </a:r>
            <a:r>
              <a:rPr lang="en-US" altLang="zh-CN" sz="2600" dirty="0"/>
              <a:t>4</a:t>
            </a:r>
            <a:r>
              <a:rPr lang="zh-CN" altLang="en-US" sz="2600" dirty="0"/>
              <a:t>种方式</a:t>
            </a:r>
          </a:p>
          <a:p>
            <a:pPr>
              <a:lnSpc>
                <a:spcPct val="90000"/>
              </a:lnSpc>
            </a:pPr>
            <a:r>
              <a:rPr lang="zh-CN" altLang="en-US" sz="2600" dirty="0">
                <a:solidFill>
                  <a:srgbClr val="CC0099"/>
                </a:solidFill>
              </a:rPr>
              <a:t>忽略信号</a:t>
            </a:r>
            <a:r>
              <a:rPr lang="zh-CN" altLang="en-US" sz="2600" dirty="0"/>
              <a:t>：即对信号不作任何处理，但有两个信号不能忽略，即</a:t>
            </a:r>
            <a:r>
              <a:rPr lang="en-US" altLang="zh-CN" sz="2600" dirty="0"/>
              <a:t>SIGKILL</a:t>
            </a:r>
            <a:r>
              <a:rPr lang="zh-CN" altLang="en-US" sz="2600" dirty="0"/>
              <a:t>及</a:t>
            </a:r>
            <a:r>
              <a:rPr lang="en-US" altLang="zh-CN" sz="2600" dirty="0"/>
              <a:t>SIGSTOP</a:t>
            </a:r>
            <a:r>
              <a:rPr lang="zh-CN" altLang="en-US" sz="2600" dirty="0"/>
              <a:t>。</a:t>
            </a:r>
            <a:endParaRPr lang="en-US" altLang="zh-CN" sz="2600" dirty="0"/>
          </a:p>
          <a:p>
            <a:pPr>
              <a:lnSpc>
                <a:spcPct val="90000"/>
              </a:lnSpc>
            </a:pPr>
            <a:r>
              <a:rPr lang="zh-CN" altLang="en-US" sz="2600" dirty="0">
                <a:solidFill>
                  <a:srgbClr val="CC0099"/>
                </a:solidFill>
              </a:rPr>
              <a:t>阻塞信号</a:t>
            </a:r>
            <a:r>
              <a:rPr lang="zh-CN" altLang="en-US" sz="2600" dirty="0"/>
              <a:t>：设置信号掩码，将信号阻塞，不做处理，直到阻塞解除；</a:t>
            </a:r>
          </a:p>
          <a:p>
            <a:pPr>
              <a:lnSpc>
                <a:spcPct val="90000"/>
              </a:lnSpc>
            </a:pPr>
            <a:r>
              <a:rPr lang="zh-CN" altLang="en-US" sz="2600" dirty="0">
                <a:solidFill>
                  <a:srgbClr val="CC0099"/>
                </a:solidFill>
              </a:rPr>
              <a:t>捕捉信号</a:t>
            </a:r>
            <a:r>
              <a:rPr lang="zh-CN" altLang="en-US" sz="2600" dirty="0"/>
              <a:t>：定义信号处理函数，当信号发生时，执行定义的信号处理函数；</a:t>
            </a:r>
          </a:p>
          <a:p>
            <a:pPr>
              <a:lnSpc>
                <a:spcPct val="90000"/>
              </a:lnSpc>
            </a:pPr>
            <a:r>
              <a:rPr lang="zh-CN" altLang="en-US" sz="2600" dirty="0">
                <a:solidFill>
                  <a:srgbClr val="CC0099"/>
                </a:solidFill>
              </a:rPr>
              <a:t>默认处理</a:t>
            </a:r>
            <a:r>
              <a:rPr lang="zh-CN" altLang="en-US" sz="2600" dirty="0"/>
              <a:t>：执行缺省操作，调用内核默认的处理函数来处理信号，</a:t>
            </a:r>
            <a:r>
              <a:rPr lang="en-US" altLang="zh-CN" sz="2600" dirty="0"/>
              <a:t>Linux</a:t>
            </a:r>
            <a:r>
              <a:rPr lang="zh-CN" altLang="en-US" sz="2600" dirty="0"/>
              <a:t>对每种信号都规定了默认操作。</a:t>
            </a:r>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66</a:t>
            </a:fld>
            <a:endParaRPr lang="en-US" altLang="zh-CN"/>
          </a:p>
        </p:txBody>
      </p:sp>
    </p:spTree>
    <p:extLst>
      <p:ext uri="{BB962C8B-B14F-4D97-AF65-F5344CB8AC3E}">
        <p14:creationId xmlns:p14="http://schemas.microsoft.com/office/powerpoint/2010/main" val="4072133152"/>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1D941B4A-F0EA-1C8E-7C31-2304FBFD641F}"/>
              </a:ext>
            </a:extLst>
          </p:cNvPr>
          <p:cNvPicPr>
            <a:picLocks noChangeAspect="1"/>
          </p:cNvPicPr>
          <p:nvPr/>
        </p:nvPicPr>
        <p:blipFill>
          <a:blip r:embed="rId3"/>
          <a:stretch>
            <a:fillRect/>
          </a:stretch>
        </p:blipFill>
        <p:spPr>
          <a:xfrm>
            <a:off x="1946357" y="1611306"/>
            <a:ext cx="7823513" cy="4698137"/>
          </a:xfrm>
          <a:prstGeom prst="rect">
            <a:avLst/>
          </a:prstGeom>
        </p:spPr>
      </p:pic>
      <p:sp>
        <p:nvSpPr>
          <p:cNvPr id="2" name="标题 1"/>
          <p:cNvSpPr>
            <a:spLocks noGrp="1"/>
          </p:cNvSpPr>
          <p:nvPr>
            <p:ph type="title"/>
          </p:nvPr>
        </p:nvSpPr>
        <p:spPr>
          <a:xfrm>
            <a:off x="2602324" y="290574"/>
            <a:ext cx="7543800" cy="858837"/>
          </a:xfrm>
        </p:spPr>
        <p:txBody>
          <a:bodyPr/>
          <a:lstStyle/>
          <a:p>
            <a:r>
              <a:rPr lang="zh-CN" altLang="en-US" dirty="0"/>
              <a:t>信号的应用</a:t>
            </a:r>
          </a:p>
        </p:txBody>
      </p:sp>
      <p:sp>
        <p:nvSpPr>
          <p:cNvPr id="3" name="内容占位符 2"/>
          <p:cNvSpPr>
            <a:spLocks noGrp="1"/>
          </p:cNvSpPr>
          <p:nvPr>
            <p:ph idx="1"/>
          </p:nvPr>
        </p:nvSpPr>
        <p:spPr>
          <a:xfrm>
            <a:off x="1944894" y="1010065"/>
            <a:ext cx="7461212" cy="690743"/>
          </a:xfrm>
        </p:spPr>
        <p:txBody>
          <a:bodyPr/>
          <a:lstStyle/>
          <a:p>
            <a:pPr marL="0" indent="0">
              <a:lnSpc>
                <a:spcPct val="90000"/>
              </a:lnSpc>
              <a:buNone/>
            </a:pPr>
            <a:r>
              <a:rPr lang="en-US" altLang="zh-CN" sz="2600" dirty="0"/>
              <a:t>Kill</a:t>
            </a:r>
            <a:r>
              <a:rPr lang="zh-CN" altLang="en-US" sz="2600" dirty="0"/>
              <a:t>命令用法举例：</a:t>
            </a:r>
          </a:p>
        </p:txBody>
      </p:sp>
      <p:sp>
        <p:nvSpPr>
          <p:cNvPr id="5" name="圆角矩形标注 4"/>
          <p:cNvSpPr/>
          <p:nvPr/>
        </p:nvSpPr>
        <p:spPr bwMode="auto">
          <a:xfrm>
            <a:off x="7932204" y="1592795"/>
            <a:ext cx="2520280" cy="360040"/>
          </a:xfrm>
          <a:prstGeom prst="wedgeRoundRectCallout">
            <a:avLst>
              <a:gd name="adj1" fmla="val -153000"/>
              <a:gd name="adj2" fmla="val 103149"/>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编写一个简单的</a:t>
            </a:r>
            <a:r>
              <a:rPr lang="en-US" altLang="zh-CN" sz="1400" b="0" dirty="0"/>
              <a:t>recur.c</a:t>
            </a:r>
            <a:r>
              <a:rPr lang="zh-CN" altLang="en-US" sz="1400" b="0" dirty="0"/>
              <a:t>程序</a:t>
            </a:r>
          </a:p>
        </p:txBody>
      </p:sp>
      <p:sp>
        <p:nvSpPr>
          <p:cNvPr id="9" name="圆角矩形标注 8"/>
          <p:cNvSpPr/>
          <p:nvPr/>
        </p:nvSpPr>
        <p:spPr bwMode="auto">
          <a:xfrm>
            <a:off x="7884195" y="2204864"/>
            <a:ext cx="2330391" cy="360041"/>
          </a:xfrm>
          <a:prstGeom prst="wedgeRoundRectCallout">
            <a:avLst>
              <a:gd name="adj1" fmla="val -182692"/>
              <a:gd name="adj2" fmla="val 102132"/>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后台运行</a:t>
            </a:r>
            <a:r>
              <a:rPr lang="en-US" altLang="zh-CN" sz="1400" b="0" dirty="0"/>
              <a:t>recur</a:t>
            </a:r>
            <a:endParaRPr lang="zh-CN" altLang="en-US" sz="1400" b="0" dirty="0"/>
          </a:p>
        </p:txBody>
      </p:sp>
      <p:sp>
        <p:nvSpPr>
          <p:cNvPr id="10" name="圆角矩形标注 9"/>
          <p:cNvSpPr/>
          <p:nvPr/>
        </p:nvSpPr>
        <p:spPr bwMode="auto">
          <a:xfrm>
            <a:off x="7940962" y="2754948"/>
            <a:ext cx="2222111" cy="360041"/>
          </a:xfrm>
          <a:prstGeom prst="wedgeRoundRectCallout">
            <a:avLst>
              <a:gd name="adj1" fmla="val -187382"/>
              <a:gd name="adj2" fmla="val 50650"/>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第</a:t>
            </a:r>
            <a:r>
              <a:rPr lang="en-US" altLang="zh-CN" sz="1400" b="0" dirty="0"/>
              <a:t>2</a:t>
            </a:r>
            <a:r>
              <a:rPr lang="zh-CN" altLang="en-US" sz="1400" b="0" dirty="0"/>
              <a:t>次执行</a:t>
            </a:r>
            <a:r>
              <a:rPr lang="en-US" altLang="zh-CN" sz="1400" b="0" dirty="0"/>
              <a:t>recur</a:t>
            </a:r>
            <a:endParaRPr lang="zh-CN" altLang="en-US" sz="1400" b="0" dirty="0"/>
          </a:p>
        </p:txBody>
      </p:sp>
      <p:sp>
        <p:nvSpPr>
          <p:cNvPr id="11" name="圆角矩形标注 10"/>
          <p:cNvSpPr/>
          <p:nvPr/>
        </p:nvSpPr>
        <p:spPr bwMode="auto">
          <a:xfrm>
            <a:off x="7884195" y="3234311"/>
            <a:ext cx="2330391" cy="360041"/>
          </a:xfrm>
          <a:prstGeom prst="wedgeRoundRectCallout">
            <a:avLst>
              <a:gd name="adj1" fmla="val -180695"/>
              <a:gd name="adj2" fmla="val 35558"/>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第</a:t>
            </a:r>
            <a:r>
              <a:rPr lang="en-US" altLang="zh-CN" sz="1400" b="0" dirty="0"/>
              <a:t>3</a:t>
            </a:r>
            <a:r>
              <a:rPr lang="zh-CN" altLang="en-US" sz="1400" b="0" dirty="0"/>
              <a:t>次执行</a:t>
            </a:r>
            <a:r>
              <a:rPr lang="en-US" altLang="zh-CN" sz="1400" b="0" dirty="0"/>
              <a:t>recur</a:t>
            </a:r>
            <a:endParaRPr lang="zh-CN" altLang="en-US" sz="1400" b="0" dirty="0"/>
          </a:p>
        </p:txBody>
      </p:sp>
      <p:sp>
        <p:nvSpPr>
          <p:cNvPr id="12" name="圆角矩形标注 11"/>
          <p:cNvSpPr/>
          <p:nvPr/>
        </p:nvSpPr>
        <p:spPr bwMode="auto">
          <a:xfrm>
            <a:off x="7992161" y="3784395"/>
            <a:ext cx="2304256" cy="360041"/>
          </a:xfrm>
          <a:prstGeom prst="wedgeRoundRectCallout">
            <a:avLst>
              <a:gd name="adj1" fmla="val -175290"/>
              <a:gd name="adj2" fmla="val -11464"/>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查看</a:t>
            </a:r>
            <a:r>
              <a:rPr lang="en-US" altLang="zh-CN" sz="1400" b="0" dirty="0"/>
              <a:t>recur</a:t>
            </a:r>
            <a:r>
              <a:rPr lang="zh-CN" altLang="en-US" sz="1400" b="0" dirty="0"/>
              <a:t>进程的信息</a:t>
            </a:r>
          </a:p>
        </p:txBody>
      </p:sp>
      <p:sp>
        <p:nvSpPr>
          <p:cNvPr id="13" name="圆角矩形标注 12"/>
          <p:cNvSpPr/>
          <p:nvPr/>
        </p:nvSpPr>
        <p:spPr bwMode="auto">
          <a:xfrm>
            <a:off x="7968208" y="4766527"/>
            <a:ext cx="2304256" cy="360041"/>
          </a:xfrm>
          <a:prstGeom prst="wedgeRoundRectCallout">
            <a:avLst>
              <a:gd name="adj1" fmla="val -169652"/>
              <a:gd name="adj2" fmla="val -15737"/>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命令</a:t>
            </a:r>
            <a:r>
              <a:rPr lang="en-US" altLang="zh-CN" sz="1400" b="0" dirty="0"/>
              <a:t>11588</a:t>
            </a:r>
            <a:r>
              <a:rPr lang="zh-CN" altLang="en-US" sz="1400" b="0" dirty="0"/>
              <a:t>号进程终止</a:t>
            </a:r>
          </a:p>
        </p:txBody>
      </p:sp>
      <p:sp>
        <p:nvSpPr>
          <p:cNvPr id="14" name="圆角矩形标注 13"/>
          <p:cNvSpPr/>
          <p:nvPr/>
        </p:nvSpPr>
        <p:spPr bwMode="auto">
          <a:xfrm>
            <a:off x="8184232" y="5949280"/>
            <a:ext cx="2151856" cy="360041"/>
          </a:xfrm>
          <a:prstGeom prst="wedgeRoundRectCallout">
            <a:avLst>
              <a:gd name="adj1" fmla="val -190751"/>
              <a:gd name="adj2" fmla="val -73715"/>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en-US" altLang="zh-CN" sz="1400" b="0" dirty="0"/>
              <a:t>11588</a:t>
            </a:r>
            <a:r>
              <a:rPr lang="zh-CN" altLang="en-US" sz="1400" b="0" dirty="0"/>
              <a:t>号进程已终止</a:t>
            </a:r>
          </a:p>
        </p:txBody>
      </p:sp>
      <p:sp>
        <p:nvSpPr>
          <p:cNvPr id="4" name="灯片编号占位符 3">
            <a:extLst>
              <a:ext uri="{FF2B5EF4-FFF2-40B4-BE49-F238E27FC236}">
                <a16:creationId xmlns:a16="http://schemas.microsoft.com/office/drawing/2014/main" id="{A510FBBD-5B82-F455-BD00-6A49A58363A2}"/>
              </a:ext>
            </a:extLst>
          </p:cNvPr>
          <p:cNvSpPr>
            <a:spLocks noGrp="1"/>
          </p:cNvSpPr>
          <p:nvPr>
            <p:ph type="sldNum" sz="quarter" idx="11"/>
          </p:nvPr>
        </p:nvSpPr>
        <p:spPr/>
        <p:txBody>
          <a:bodyPr/>
          <a:lstStyle/>
          <a:p>
            <a:pPr>
              <a:defRPr/>
            </a:pPr>
            <a:fld id="{110871B5-850E-4E14-A636-3EC679EBF038}" type="slidenum">
              <a:rPr lang="en-US" altLang="zh-CN" smtClean="0"/>
              <a:pPr>
                <a:defRPr/>
              </a:pPr>
              <a:t>67</a:t>
            </a:fld>
            <a:endParaRPr lang="en-US" altLang="zh-CN"/>
          </a:p>
        </p:txBody>
      </p:sp>
    </p:spTree>
    <p:extLst>
      <p:ext uri="{BB962C8B-B14F-4D97-AF65-F5344CB8AC3E}">
        <p14:creationId xmlns:p14="http://schemas.microsoft.com/office/powerpoint/2010/main" val="393689685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D9D9736-C99C-4D85-0AEA-9C287E472C31}"/>
              </a:ext>
            </a:extLst>
          </p:cNvPr>
          <p:cNvSpPr/>
          <p:nvPr/>
        </p:nvSpPr>
        <p:spPr>
          <a:xfrm>
            <a:off x="0" y="44624"/>
            <a:ext cx="12192000" cy="6741368"/>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4" name="图片 3">
            <a:extLst>
              <a:ext uri="{FF2B5EF4-FFF2-40B4-BE49-F238E27FC236}">
                <a16:creationId xmlns:a16="http://schemas.microsoft.com/office/drawing/2014/main" id="{23A8DB4A-5E2D-E386-3F0D-4004E58DE199}"/>
              </a:ext>
            </a:extLst>
          </p:cNvPr>
          <p:cNvPicPr>
            <a:picLocks noChangeAspect="1"/>
          </p:cNvPicPr>
          <p:nvPr/>
        </p:nvPicPr>
        <p:blipFill>
          <a:blip r:embed="rId3"/>
          <a:stretch>
            <a:fillRect/>
          </a:stretch>
        </p:blipFill>
        <p:spPr>
          <a:xfrm>
            <a:off x="1919536" y="108973"/>
            <a:ext cx="8676456" cy="6695624"/>
          </a:xfrm>
          <a:prstGeom prst="rect">
            <a:avLst/>
          </a:prstGeom>
        </p:spPr>
      </p:pic>
      <p:sp>
        <p:nvSpPr>
          <p:cNvPr id="11" name="圆角矩形标注 10"/>
          <p:cNvSpPr/>
          <p:nvPr/>
        </p:nvSpPr>
        <p:spPr bwMode="auto">
          <a:xfrm>
            <a:off x="7176120" y="602963"/>
            <a:ext cx="3230486" cy="360041"/>
          </a:xfrm>
          <a:prstGeom prst="wedgeRoundRectCallout">
            <a:avLst>
              <a:gd name="adj1" fmla="val -50133"/>
              <a:gd name="adj2" fmla="val -157327"/>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命令</a:t>
            </a:r>
            <a:r>
              <a:rPr lang="en-US" altLang="zh-CN" sz="1400" b="0" dirty="0"/>
              <a:t>11592</a:t>
            </a:r>
            <a:r>
              <a:rPr lang="zh-CN" altLang="en-US" sz="1400" b="0" dirty="0"/>
              <a:t>和</a:t>
            </a:r>
            <a:r>
              <a:rPr lang="en-US" altLang="zh-CN" sz="1400" b="0" dirty="0"/>
              <a:t>11596</a:t>
            </a:r>
            <a:r>
              <a:rPr lang="zh-CN" altLang="en-US" sz="1400" b="0" dirty="0"/>
              <a:t>号进程停止执行</a:t>
            </a:r>
          </a:p>
        </p:txBody>
      </p:sp>
      <p:sp>
        <p:nvSpPr>
          <p:cNvPr id="12" name="圆角矩形标注 11"/>
          <p:cNvSpPr/>
          <p:nvPr/>
        </p:nvSpPr>
        <p:spPr bwMode="auto">
          <a:xfrm>
            <a:off x="7968208" y="2060849"/>
            <a:ext cx="2304256" cy="360041"/>
          </a:xfrm>
          <a:prstGeom prst="wedgeRoundRectCallout">
            <a:avLst>
              <a:gd name="adj1" fmla="val -157642"/>
              <a:gd name="adj2" fmla="val -5423"/>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命令</a:t>
            </a:r>
            <a:r>
              <a:rPr lang="en-US" altLang="zh-CN" sz="1400" b="0" dirty="0"/>
              <a:t>11592</a:t>
            </a:r>
            <a:r>
              <a:rPr lang="zh-CN" altLang="en-US" sz="1400" b="0" dirty="0"/>
              <a:t>号进程终止</a:t>
            </a:r>
          </a:p>
        </p:txBody>
      </p:sp>
      <p:sp>
        <p:nvSpPr>
          <p:cNvPr id="13" name="圆角矩形标注 12"/>
          <p:cNvSpPr/>
          <p:nvPr/>
        </p:nvSpPr>
        <p:spPr bwMode="auto">
          <a:xfrm>
            <a:off x="8363744" y="2780928"/>
            <a:ext cx="1908720" cy="432050"/>
          </a:xfrm>
          <a:prstGeom prst="wedgeRoundRectCallout">
            <a:avLst>
              <a:gd name="adj1" fmla="val -178465"/>
              <a:gd name="adj2" fmla="val -43751"/>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终止信号被阻塞</a:t>
            </a:r>
          </a:p>
        </p:txBody>
      </p:sp>
      <p:sp>
        <p:nvSpPr>
          <p:cNvPr id="14" name="圆角矩形标注 13"/>
          <p:cNvSpPr/>
          <p:nvPr/>
        </p:nvSpPr>
        <p:spPr bwMode="auto">
          <a:xfrm>
            <a:off x="8256240" y="3428999"/>
            <a:ext cx="2016224" cy="288034"/>
          </a:xfrm>
          <a:prstGeom prst="wedgeRoundRectCallout">
            <a:avLst>
              <a:gd name="adj1" fmla="val -136282"/>
              <a:gd name="adj2" fmla="val -107790"/>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恢复</a:t>
            </a:r>
            <a:r>
              <a:rPr lang="en-US" altLang="zh-CN" sz="1400" b="0" dirty="0"/>
              <a:t>11592</a:t>
            </a:r>
            <a:r>
              <a:rPr lang="zh-CN" altLang="en-US" sz="1400" b="0" dirty="0"/>
              <a:t>号进程运行</a:t>
            </a:r>
          </a:p>
        </p:txBody>
      </p:sp>
      <p:sp>
        <p:nvSpPr>
          <p:cNvPr id="15" name="圆角矩形标注 14"/>
          <p:cNvSpPr/>
          <p:nvPr/>
        </p:nvSpPr>
        <p:spPr bwMode="auto">
          <a:xfrm>
            <a:off x="7392144" y="4077071"/>
            <a:ext cx="2880320" cy="288034"/>
          </a:xfrm>
          <a:prstGeom prst="wedgeRoundRectCallout">
            <a:avLst>
              <a:gd name="adj1" fmla="val -103897"/>
              <a:gd name="adj2" fmla="val -241876"/>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en-US" altLang="zh-CN" sz="1400" b="0" dirty="0"/>
              <a:t>11592</a:t>
            </a:r>
            <a:r>
              <a:rPr lang="zh-CN" altLang="en-US" sz="1400" b="0" dirty="0"/>
              <a:t>号进程恢复运行，随后终止</a:t>
            </a:r>
          </a:p>
        </p:txBody>
      </p:sp>
      <p:sp>
        <p:nvSpPr>
          <p:cNvPr id="16" name="圆角矩形标注 15"/>
          <p:cNvSpPr/>
          <p:nvPr/>
        </p:nvSpPr>
        <p:spPr bwMode="auto">
          <a:xfrm>
            <a:off x="7859688" y="4589910"/>
            <a:ext cx="2412776" cy="423265"/>
          </a:xfrm>
          <a:prstGeom prst="wedgeRoundRectCallout">
            <a:avLst>
              <a:gd name="adj1" fmla="val -129685"/>
              <a:gd name="adj2" fmla="val -106747"/>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命令</a:t>
            </a:r>
            <a:r>
              <a:rPr lang="en-US" altLang="zh-CN" sz="1400" b="0" dirty="0"/>
              <a:t>11596</a:t>
            </a:r>
            <a:r>
              <a:rPr lang="zh-CN" altLang="en-US" sz="1400" b="0" dirty="0"/>
              <a:t>号进程停止执行</a:t>
            </a:r>
          </a:p>
        </p:txBody>
      </p:sp>
      <p:sp>
        <p:nvSpPr>
          <p:cNvPr id="17" name="圆角矩形标注 16"/>
          <p:cNvSpPr/>
          <p:nvPr/>
        </p:nvSpPr>
        <p:spPr bwMode="auto">
          <a:xfrm>
            <a:off x="8021960" y="5517233"/>
            <a:ext cx="2412776" cy="360041"/>
          </a:xfrm>
          <a:prstGeom prst="wedgeRoundRectCallout">
            <a:avLst>
              <a:gd name="adj1" fmla="val -136339"/>
              <a:gd name="adj2" fmla="val 47538"/>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杀掉</a:t>
            </a:r>
            <a:r>
              <a:rPr lang="en-US" altLang="zh-CN" sz="1400" b="0" dirty="0"/>
              <a:t>11596</a:t>
            </a:r>
            <a:r>
              <a:rPr lang="zh-CN" altLang="en-US" sz="1400" b="0" dirty="0"/>
              <a:t>号进程</a:t>
            </a:r>
          </a:p>
        </p:txBody>
      </p:sp>
      <p:sp>
        <p:nvSpPr>
          <p:cNvPr id="18" name="圆角矩形标注 17"/>
          <p:cNvSpPr/>
          <p:nvPr/>
        </p:nvSpPr>
        <p:spPr bwMode="auto">
          <a:xfrm>
            <a:off x="8142646" y="6237313"/>
            <a:ext cx="2201826" cy="360041"/>
          </a:xfrm>
          <a:prstGeom prst="wedgeRoundRectCallout">
            <a:avLst>
              <a:gd name="adj1" fmla="val -150699"/>
              <a:gd name="adj2" fmla="val 52017"/>
              <a:gd name="adj3" fmla="val 16667"/>
            </a:avLst>
          </a:prstGeom>
          <a:solidFill>
            <a:schemeClr val="bg1"/>
          </a:solidFill>
          <a:ln w="28575" cap="flat" cmpd="sng" algn="ctr">
            <a:solidFill>
              <a:schemeClr val="accent2">
                <a:lumMod val="40000"/>
                <a:lumOff val="60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zh-CN" altLang="en-US" sz="1400" b="0" dirty="0"/>
              <a:t>该进程已被杀死</a:t>
            </a:r>
          </a:p>
        </p:txBody>
      </p:sp>
    </p:spTree>
    <p:extLst>
      <p:ext uri="{BB962C8B-B14F-4D97-AF65-F5344CB8AC3E}">
        <p14:creationId xmlns:p14="http://schemas.microsoft.com/office/powerpoint/2010/main" val="337659887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灯片编号占位符 4"/>
          <p:cNvSpPr>
            <a:spLocks noGrp="1"/>
          </p:cNvSpPr>
          <p:nvPr>
            <p:ph type="sldNum" sz="quarter" idx="11"/>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256824-674A-4ED4-B487-021FC019A8CA}" type="slidenum">
              <a:rPr lang="en-US" altLang="zh-CN">
                <a:latin typeface="Arial Black" pitchFamily="34" charset="0"/>
              </a:rPr>
              <a:pPr eaLnBrk="1" hangingPunct="1"/>
              <a:t>69</a:t>
            </a:fld>
            <a:endParaRPr lang="en-US" altLang="zh-CN">
              <a:latin typeface="Arial Black" pitchFamily="34" charset="0"/>
            </a:endParaRPr>
          </a:p>
        </p:txBody>
      </p:sp>
      <p:sp>
        <p:nvSpPr>
          <p:cNvPr id="10245" name="Rectangle 2"/>
          <p:cNvSpPr>
            <a:spLocks noGrp="1" noChangeArrowheads="1"/>
          </p:cNvSpPr>
          <p:nvPr>
            <p:ph type="body" idx="1"/>
          </p:nvPr>
        </p:nvSpPr>
        <p:spPr>
          <a:xfrm>
            <a:off x="1055440" y="1485528"/>
            <a:ext cx="10009112" cy="4535760"/>
          </a:xfrm>
        </p:spPr>
        <p:txBody>
          <a:bodyPr/>
          <a:lstStyle/>
          <a:p>
            <a:pPr marL="506412" indent="-457200" eaLnBrk="1" hangingPunct="1">
              <a:lnSpc>
                <a:spcPct val="130000"/>
              </a:lnSpc>
            </a:pPr>
            <a:r>
              <a:rPr lang="zh-CN" altLang="en-US" sz="2600" dirty="0">
                <a:solidFill>
                  <a:srgbClr val="0000CC"/>
                </a:solidFill>
              </a:rPr>
              <a:t>管道方式</a:t>
            </a:r>
            <a:r>
              <a:rPr lang="zh-CN" altLang="en-US" sz="2600" dirty="0"/>
              <a:t>：管道是连接两个进程的一个数据传输通路，一个进程向管道的尾端写数据，另一个进程从管道首端读出数据，实现两进程之间同步传递字节流。管道的信息传输量大、速度快，内置同步机制，使用简单。</a:t>
            </a:r>
            <a:endParaRPr lang="en-US" altLang="zh-CN" sz="2600" dirty="0"/>
          </a:p>
          <a:p>
            <a:pPr marL="506412" indent="-457200" eaLnBrk="1" hangingPunct="1">
              <a:lnSpc>
                <a:spcPct val="130000"/>
              </a:lnSpc>
            </a:pPr>
            <a:r>
              <a:rPr lang="zh-CN" altLang="en-US" sz="2600" dirty="0"/>
              <a:t>管道包括</a:t>
            </a:r>
            <a:r>
              <a:rPr lang="zh-CN" altLang="en-US" sz="2600" dirty="0">
                <a:solidFill>
                  <a:srgbClr val="0000CC"/>
                </a:solidFill>
              </a:rPr>
              <a:t>无名管道</a:t>
            </a:r>
            <a:r>
              <a:rPr lang="zh-CN" altLang="en-US" sz="2600" dirty="0"/>
              <a:t>和</a:t>
            </a:r>
            <a:r>
              <a:rPr lang="zh-CN" altLang="en-US" sz="2600" dirty="0">
                <a:solidFill>
                  <a:srgbClr val="0000CC"/>
                </a:solidFill>
              </a:rPr>
              <a:t>有名管道</a:t>
            </a:r>
            <a:r>
              <a:rPr lang="zh-CN" altLang="en-US" sz="2600" dirty="0"/>
              <a:t>两种</a:t>
            </a:r>
            <a:r>
              <a:rPr lang="en-US" altLang="zh-CN" sz="2600" dirty="0"/>
              <a:t>,</a:t>
            </a:r>
            <a:r>
              <a:rPr lang="zh-CN" altLang="en-US" sz="2600" dirty="0"/>
              <a:t>前者用于父进程和子进程间的通信，后者可用于运行于同一系统中的任意两个进程间的通信。</a:t>
            </a:r>
          </a:p>
          <a:p>
            <a:pPr marL="398462" lvl="1" indent="0" eaLnBrk="1" hangingPunct="1">
              <a:lnSpc>
                <a:spcPct val="130000"/>
              </a:lnSpc>
              <a:buNone/>
            </a:pPr>
            <a:endParaRPr lang="zh-CN" altLang="en-US" dirty="0"/>
          </a:p>
        </p:txBody>
      </p:sp>
      <p:sp>
        <p:nvSpPr>
          <p:cNvPr id="4" name="Rectangle 4"/>
          <p:cNvSpPr>
            <a:spLocks noChangeArrowheads="1"/>
          </p:cNvSpPr>
          <p:nvPr/>
        </p:nvSpPr>
        <p:spPr bwMode="auto">
          <a:xfrm>
            <a:off x="1739614" y="523528"/>
            <a:ext cx="8892889"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4000" dirty="0">
                <a:latin typeface="+mn-ea"/>
                <a:ea typeface="+mn-ea"/>
              </a:rPr>
              <a:t>进程通信方式</a:t>
            </a:r>
            <a:endParaRPr lang="zh-CN" altLang="en-US" sz="3600" dirty="0">
              <a:latin typeface="+mn-ea"/>
              <a:ea typeface="+mn-ea"/>
            </a:endParaRPr>
          </a:p>
        </p:txBody>
      </p:sp>
    </p:spTree>
    <p:extLst>
      <p:ext uri="{BB962C8B-B14F-4D97-AF65-F5344CB8AC3E}">
        <p14:creationId xmlns:p14="http://schemas.microsoft.com/office/powerpoint/2010/main" val="32325136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a:xfrm>
            <a:off x="839416" y="548680"/>
            <a:ext cx="10369152" cy="858837"/>
          </a:xfrm>
        </p:spPr>
        <p:txBody>
          <a:bodyPr/>
          <a:lstStyle/>
          <a:p>
            <a:r>
              <a:rPr lang="zh-CN" altLang="en-US" dirty="0"/>
              <a:t>管道通信</a:t>
            </a:r>
          </a:p>
        </p:txBody>
      </p:sp>
      <p:sp>
        <p:nvSpPr>
          <p:cNvPr id="622595" name="Rectangle 3"/>
          <p:cNvSpPr>
            <a:spLocks noGrp="1" noChangeArrowheads="1"/>
          </p:cNvSpPr>
          <p:nvPr>
            <p:ph type="body" idx="1"/>
          </p:nvPr>
        </p:nvSpPr>
        <p:spPr>
          <a:xfrm>
            <a:off x="935237" y="1700808"/>
            <a:ext cx="10369152" cy="3889375"/>
          </a:xfrm>
        </p:spPr>
        <p:txBody>
          <a:bodyPr/>
          <a:lstStyle/>
          <a:p>
            <a:pPr indent="442913">
              <a:lnSpc>
                <a:spcPct val="125000"/>
              </a:lnSpc>
            </a:pPr>
            <a:r>
              <a:rPr lang="zh-CN" altLang="en-US" sz="2600" dirty="0"/>
              <a:t>管道是</a:t>
            </a:r>
            <a:r>
              <a:rPr lang="zh-CN" altLang="en-US" sz="2600" dirty="0">
                <a:solidFill>
                  <a:srgbClr val="0000CC"/>
                </a:solidFill>
              </a:rPr>
              <a:t>单向的、先进先出</a:t>
            </a:r>
            <a:r>
              <a:rPr lang="zh-CN" altLang="en-US" sz="2600" dirty="0"/>
              <a:t>的，需要双向传输时要建立两个管道。</a:t>
            </a:r>
            <a:endParaRPr lang="en-US" altLang="zh-CN" sz="2600" dirty="0"/>
          </a:p>
          <a:p>
            <a:pPr indent="442913">
              <a:lnSpc>
                <a:spcPct val="125000"/>
              </a:lnSpc>
            </a:pPr>
            <a:r>
              <a:rPr lang="zh-CN" altLang="en-US" sz="2600" dirty="0"/>
              <a:t>数据被一个进程读出后，将从管道中删除，其它读进程将不能再读到这些数据。进程试图读空管道时，在有数据写入管道前，进程将一直阻塞。同样，管道已经满时，进程再试图写管道，在其它进程从管道中移走数据之前，写进程将一直阻塞。</a:t>
            </a:r>
          </a:p>
          <a:p>
            <a:pPr indent="0">
              <a:lnSpc>
                <a:spcPct val="125000"/>
              </a:lnSpc>
              <a:buNone/>
            </a:pPr>
            <a:endParaRPr lang="zh-CN" altLang="en-US" sz="2400" dirty="0">
              <a:latin typeface="楷体_GB2312" pitchFamily="49" charset="-122"/>
              <a:ea typeface="楷体_GB2312" pitchFamily="49" charset="-122"/>
            </a:endParaRPr>
          </a:p>
        </p:txBody>
      </p:sp>
      <p:sp>
        <p:nvSpPr>
          <p:cNvPr id="4" name="灯片编号占位符 4"/>
          <p:cNvSpPr>
            <a:spLocks noGrp="1"/>
          </p:cNvSpPr>
          <p:nvPr>
            <p:ph type="sldNum" sz="quarter" idx="11"/>
          </p:nvPr>
        </p:nvSpPr>
        <p:spPr>
          <a:xfrm>
            <a:off x="5159896" y="5852120"/>
            <a:ext cx="2133600" cy="457200"/>
          </a:xfrm>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256824-674A-4ED4-B487-021FC019A8CA}" type="slidenum">
              <a:rPr lang="en-US" altLang="zh-CN">
                <a:latin typeface="Arial Black" pitchFamily="34" charset="0"/>
              </a:rPr>
              <a:pPr eaLnBrk="1" hangingPunct="1"/>
              <a:t>70</a:t>
            </a:fld>
            <a:endParaRPr lang="en-US" altLang="zh-CN" dirty="0">
              <a:latin typeface="Arial Black" pitchFamily="34" charset="0"/>
            </a:endParaRPr>
          </a:p>
        </p:txBody>
      </p:sp>
    </p:spTree>
    <p:extLst>
      <p:ext uri="{BB962C8B-B14F-4D97-AF65-F5344CB8AC3E}">
        <p14:creationId xmlns:p14="http://schemas.microsoft.com/office/powerpoint/2010/main" val="22775515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a:xfrm>
            <a:off x="839416" y="332656"/>
            <a:ext cx="10441160" cy="858837"/>
          </a:xfrm>
        </p:spPr>
        <p:txBody>
          <a:bodyPr/>
          <a:lstStyle/>
          <a:p>
            <a:r>
              <a:rPr lang="zh-CN" altLang="en-US" dirty="0"/>
              <a:t>管道通信</a:t>
            </a:r>
          </a:p>
        </p:txBody>
      </p:sp>
      <p:sp>
        <p:nvSpPr>
          <p:cNvPr id="622595" name="Rectangle 3"/>
          <p:cNvSpPr>
            <a:spLocks noGrp="1" noChangeArrowheads="1"/>
          </p:cNvSpPr>
          <p:nvPr>
            <p:ph type="body" idx="1"/>
          </p:nvPr>
        </p:nvSpPr>
        <p:spPr>
          <a:xfrm>
            <a:off x="1055440" y="1124744"/>
            <a:ext cx="10225136" cy="5400600"/>
          </a:xfrm>
        </p:spPr>
        <p:txBody>
          <a:bodyPr/>
          <a:lstStyle/>
          <a:p>
            <a:pPr marL="800100" indent="-457200">
              <a:lnSpc>
                <a:spcPct val="90000"/>
              </a:lnSpc>
            </a:pPr>
            <a:r>
              <a:rPr lang="zh-CN" altLang="en-US" sz="2600" dirty="0">
                <a:solidFill>
                  <a:srgbClr val="0000CC"/>
                </a:solidFill>
              </a:rPr>
              <a:t>无名管道</a:t>
            </a:r>
            <a:r>
              <a:rPr lang="zh-CN" altLang="en-US" sz="2600" dirty="0"/>
              <a:t>由</a:t>
            </a:r>
            <a:r>
              <a:rPr lang="en-US" altLang="zh-CN" sz="2600" dirty="0"/>
              <a:t>pipe()</a:t>
            </a:r>
            <a:r>
              <a:rPr lang="zh-CN" altLang="en-US" sz="2600" dirty="0"/>
              <a:t>函数创建：</a:t>
            </a:r>
            <a:endParaRPr lang="en-US" altLang="zh-CN" sz="2600" dirty="0"/>
          </a:p>
          <a:p>
            <a:pPr marL="800100" indent="-457200">
              <a:lnSpc>
                <a:spcPct val="90000"/>
              </a:lnSpc>
            </a:pPr>
            <a:endParaRPr lang="en-US" altLang="zh-CN" sz="2600" dirty="0"/>
          </a:p>
          <a:p>
            <a:pPr marL="800100" indent="-457200">
              <a:lnSpc>
                <a:spcPct val="90000"/>
              </a:lnSpc>
            </a:pPr>
            <a:endParaRPr lang="en-US" altLang="zh-CN" sz="2600" dirty="0"/>
          </a:p>
          <a:p>
            <a:pPr marL="800100" indent="-457200">
              <a:lnSpc>
                <a:spcPct val="90000"/>
              </a:lnSpc>
            </a:pPr>
            <a:endParaRPr lang="en-US" altLang="zh-CN" sz="2600" dirty="0"/>
          </a:p>
          <a:p>
            <a:pPr marL="800100" indent="-457200">
              <a:lnSpc>
                <a:spcPct val="90000"/>
              </a:lnSpc>
            </a:pPr>
            <a:endParaRPr lang="en-US" altLang="zh-CN" sz="2600" dirty="0"/>
          </a:p>
          <a:p>
            <a:pPr marL="800100" indent="-457200">
              <a:lnSpc>
                <a:spcPct val="90000"/>
              </a:lnSpc>
            </a:pPr>
            <a:endParaRPr lang="en-US" altLang="zh-CN" sz="2600" dirty="0"/>
          </a:p>
          <a:p>
            <a:pPr marL="800100" indent="-457200">
              <a:lnSpc>
                <a:spcPct val="90000"/>
              </a:lnSpc>
            </a:pPr>
            <a:endParaRPr lang="en-US" altLang="zh-CN" sz="2600" dirty="0"/>
          </a:p>
          <a:p>
            <a:pPr marL="800100" indent="-457200">
              <a:lnSpc>
                <a:spcPct val="90000"/>
              </a:lnSpc>
            </a:pPr>
            <a:endParaRPr lang="zh-CN" altLang="en-US" sz="2600" dirty="0"/>
          </a:p>
          <a:p>
            <a:pPr indent="0">
              <a:lnSpc>
                <a:spcPct val="90000"/>
              </a:lnSpc>
              <a:buNone/>
            </a:pPr>
            <a:endParaRPr lang="en-US" altLang="zh-CN" sz="2600" dirty="0"/>
          </a:p>
          <a:p>
            <a:pPr indent="0">
              <a:lnSpc>
                <a:spcPct val="90000"/>
              </a:lnSpc>
              <a:buNone/>
            </a:pPr>
            <a:endParaRPr lang="en-US" altLang="zh-CN" sz="2600" i="1" dirty="0"/>
          </a:p>
          <a:p>
            <a:pPr indent="442913">
              <a:lnSpc>
                <a:spcPct val="90000"/>
              </a:lnSpc>
            </a:pPr>
            <a:r>
              <a:rPr lang="zh-CN" altLang="en-US" sz="2400" dirty="0"/>
              <a:t>无名管道按照</a:t>
            </a:r>
            <a:r>
              <a:rPr lang="en-US" altLang="zh-CN" sz="2400" dirty="0"/>
              <a:t>FIFO</a:t>
            </a:r>
            <a:r>
              <a:rPr lang="zh-CN" altLang="en-US" sz="2400" dirty="0"/>
              <a:t>方式交换信息，关闭管道只需要将这两个文件描述符关闭即可，可以使用普通的</a:t>
            </a:r>
            <a:r>
              <a:rPr lang="en-US" altLang="zh-CN" sz="2400" dirty="0"/>
              <a:t>close</a:t>
            </a:r>
            <a:r>
              <a:rPr lang="zh-CN" altLang="en-US" sz="2400" dirty="0"/>
              <a:t>函数逐个关闭。</a:t>
            </a:r>
            <a:endParaRPr lang="en-US" altLang="zh-CN" sz="2400" dirty="0"/>
          </a:p>
          <a:p>
            <a:pPr indent="0">
              <a:lnSpc>
                <a:spcPct val="125000"/>
              </a:lnSpc>
              <a:buNone/>
            </a:pPr>
            <a:endParaRPr lang="en-US" altLang="zh-CN" sz="2600" dirty="0"/>
          </a:p>
          <a:p>
            <a:pPr indent="0">
              <a:lnSpc>
                <a:spcPct val="125000"/>
              </a:lnSpc>
              <a:buNone/>
            </a:pPr>
            <a:endParaRPr lang="zh-CN" altLang="en-US" sz="2400" dirty="0">
              <a:latin typeface="楷体_GB2312" pitchFamily="49" charset="-122"/>
              <a:ea typeface="楷体_GB2312" pitchFamily="49" charset="-122"/>
            </a:endParaRPr>
          </a:p>
          <a:p>
            <a:pPr indent="442913"/>
            <a:endParaRPr lang="zh-CN" altLang="en-US" sz="3600" dirty="0">
              <a:latin typeface="楷体_GB2312" pitchFamily="49" charset="-122"/>
              <a:ea typeface="楷体_GB2312" pitchFamily="49" charset="-122"/>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553" y="4420488"/>
            <a:ext cx="7560839" cy="1024736"/>
          </a:xfrm>
          <a:prstGeom prst="rect">
            <a:avLst/>
          </a:prstGeom>
          <a:noFill/>
          <a:ln w="12700" cap="flat" cmpd="sng">
            <a:solidFill>
              <a:schemeClr val="tx1"/>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Group 3">
            <a:extLst>
              <a:ext uri="{FF2B5EF4-FFF2-40B4-BE49-F238E27FC236}">
                <a16:creationId xmlns:a16="http://schemas.microsoft.com/office/drawing/2014/main" id="{2D4F6B42-12FC-12D4-2E8C-0B84D1BF4A43}"/>
              </a:ext>
            </a:extLst>
          </p:cNvPr>
          <p:cNvGraphicFramePr>
            <a:graphicFrameLocks noGrp="1"/>
          </p:cNvGraphicFramePr>
          <p:nvPr>
            <p:extLst>
              <p:ext uri="{D42A27DB-BD31-4B8C-83A1-F6EECF244321}">
                <p14:modId xmlns:p14="http://schemas.microsoft.com/office/powerpoint/2010/main" val="2172923529"/>
              </p:ext>
            </p:extLst>
          </p:nvPr>
        </p:nvGraphicFramePr>
        <p:xfrm>
          <a:off x="2039971" y="1628799"/>
          <a:ext cx="7584421" cy="2621160"/>
        </p:xfrm>
        <a:graphic>
          <a:graphicData uri="http://schemas.openxmlformats.org/drawingml/2006/table">
            <a:tbl>
              <a:tblPr/>
              <a:tblGrid>
                <a:gridCol w="1503327">
                  <a:extLst>
                    <a:ext uri="{9D8B030D-6E8A-4147-A177-3AD203B41FA5}">
                      <a16:colId xmlns:a16="http://schemas.microsoft.com/office/drawing/2014/main" val="20000"/>
                    </a:ext>
                  </a:extLst>
                </a:gridCol>
                <a:gridCol w="6081094">
                  <a:extLst>
                    <a:ext uri="{9D8B030D-6E8A-4147-A177-3AD203B41FA5}">
                      <a16:colId xmlns:a16="http://schemas.microsoft.com/office/drawing/2014/main" val="20001"/>
                    </a:ext>
                  </a:extLst>
                </a:gridCol>
              </a:tblGrid>
              <a:tr h="34258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所需头文件</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#include &lt;unistd.h&gt;</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58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函数原型</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int pipe(int fd[2])</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6126">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函数传入值</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fd[2]:</a:t>
                      </a:r>
                      <a:r>
                        <a:rPr kumimoji="0" lang="zh-CN" altLang="en-US" sz="2000" b="0" i="0" u="none" strike="noStrike" cap="none" normalizeH="0" baseline="0" dirty="0">
                          <a:ln>
                            <a:noFill/>
                          </a:ln>
                          <a:solidFill>
                            <a:schemeClr val="tx1"/>
                          </a:solidFill>
                          <a:effectLst/>
                          <a:latin typeface="Arial" charset="0"/>
                          <a:ea typeface="宋体" pitchFamily="2" charset="-122"/>
                        </a:rPr>
                        <a:t>管道的两个文件描述符，之后就可以直接操作这两个文件描述符。</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5948">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函数返回值</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成功：</a:t>
                      </a: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9141">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dirty="0">
                          <a:ln>
                            <a:noFill/>
                          </a:ln>
                          <a:solidFill>
                            <a:schemeClr val="tx1"/>
                          </a:solidFill>
                          <a:effectLst/>
                          <a:latin typeface="Arial" charset="0"/>
                          <a:ea typeface="宋体" pitchFamily="2" charset="-122"/>
                        </a:rPr>
                        <a:t>出错：</a:t>
                      </a: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805965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a:extLst>
              <a:ext uri="{FF2B5EF4-FFF2-40B4-BE49-F238E27FC236}">
                <a16:creationId xmlns:a16="http://schemas.microsoft.com/office/drawing/2014/main" id="{47E14D05-9541-F54B-DF29-A1142498425A}"/>
              </a:ext>
            </a:extLst>
          </p:cNvPr>
          <p:cNvSpPr>
            <a:spLocks noGrp="1" noChangeArrowheads="1"/>
          </p:cNvSpPr>
          <p:nvPr>
            <p:ph type="body" idx="1"/>
          </p:nvPr>
        </p:nvSpPr>
        <p:spPr>
          <a:xfrm>
            <a:off x="875420" y="621707"/>
            <a:ext cx="10441160" cy="1152123"/>
          </a:xfrm>
        </p:spPr>
        <p:txBody>
          <a:bodyPr/>
          <a:lstStyle/>
          <a:p>
            <a:pPr eaLnBrk="1" hangingPunct="1"/>
            <a:r>
              <a:rPr lang="zh-CN" altLang="en-US" sz="2400" dirty="0"/>
              <a:t>无名管道用于父子进程间的通信，先创建一个管道，再通过</a:t>
            </a:r>
            <a:r>
              <a:rPr lang="en-US" altLang="zh-CN" sz="2400" dirty="0"/>
              <a:t>fork()</a:t>
            </a:r>
            <a:r>
              <a:rPr lang="zh-CN" altLang="en-US" sz="2400" dirty="0"/>
              <a:t>函数创建子进程，该子进程会继承父进程所创建的管道。此时的父子进程管道的文件描述符对应关系如下图：</a:t>
            </a:r>
          </a:p>
          <a:p>
            <a:pPr lvl="3" eaLnBrk="1" hangingPunct="1"/>
            <a:endParaRPr lang="zh-CN" altLang="en-US" sz="2600" dirty="0"/>
          </a:p>
          <a:p>
            <a:pPr lvl="3" eaLnBrk="1" hangingPunct="1"/>
            <a:endParaRPr lang="zh-CN" altLang="en-US" dirty="0"/>
          </a:p>
          <a:p>
            <a:pPr lvl="3" eaLnBrk="1" hangingPunct="1"/>
            <a:endParaRPr lang="zh-CN" altLang="en-US" dirty="0"/>
          </a:p>
          <a:p>
            <a:pPr lvl="3" eaLnBrk="1" hangingPunct="1"/>
            <a:endParaRPr lang="zh-CN" altLang="en-US" dirty="0"/>
          </a:p>
          <a:p>
            <a:pPr lvl="3" eaLnBrk="1" hangingPunct="1"/>
            <a:endParaRPr lang="zh-CN" altLang="en-US" dirty="0"/>
          </a:p>
          <a:p>
            <a:pPr lvl="3" eaLnBrk="1" hangingPunct="1"/>
            <a:endParaRPr lang="zh-CN" altLang="en-US" dirty="0"/>
          </a:p>
          <a:p>
            <a:pPr lvl="3" eaLnBrk="1" hangingPunct="1"/>
            <a:endParaRPr lang="zh-CN" altLang="en-US" dirty="0"/>
          </a:p>
          <a:p>
            <a:pPr lvl="3" eaLnBrk="1" hangingPunct="1"/>
            <a:endParaRPr lang="zh-CN" altLang="en-US" dirty="0"/>
          </a:p>
          <a:p>
            <a:pPr lvl="3" eaLnBrk="1" hangingPunct="1"/>
            <a:endParaRPr lang="zh-CN" altLang="en-US" dirty="0"/>
          </a:p>
          <a:p>
            <a:pPr lvl="3" eaLnBrk="1" hangingPunct="1"/>
            <a:endParaRPr lang="zh-CN" altLang="en-US" dirty="0"/>
          </a:p>
          <a:p>
            <a:pPr lvl="3" eaLnBrk="1" hangingPunct="1"/>
            <a:endParaRPr lang="zh-CN" altLang="en-US" dirty="0"/>
          </a:p>
        </p:txBody>
      </p:sp>
      <p:sp>
        <p:nvSpPr>
          <p:cNvPr id="15366" name="Rectangle 3">
            <a:extLst>
              <a:ext uri="{FF2B5EF4-FFF2-40B4-BE49-F238E27FC236}">
                <a16:creationId xmlns:a16="http://schemas.microsoft.com/office/drawing/2014/main" id="{7BBBA232-8F20-6A50-BC79-3A09BA7840F8}"/>
              </a:ext>
            </a:extLst>
          </p:cNvPr>
          <p:cNvSpPr>
            <a:spLocks noChangeArrowheads="1"/>
          </p:cNvSpPr>
          <p:nvPr/>
        </p:nvSpPr>
        <p:spPr bwMode="auto">
          <a:xfrm>
            <a:off x="4819651" y="4507707"/>
            <a:ext cx="3167063" cy="158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5367" name="Rectangle 4">
            <a:extLst>
              <a:ext uri="{FF2B5EF4-FFF2-40B4-BE49-F238E27FC236}">
                <a16:creationId xmlns:a16="http://schemas.microsoft.com/office/drawing/2014/main" id="{A41B311A-6114-C59A-030A-A2E4DFBECE16}"/>
              </a:ext>
            </a:extLst>
          </p:cNvPr>
          <p:cNvSpPr>
            <a:spLocks noChangeArrowheads="1"/>
          </p:cNvSpPr>
          <p:nvPr/>
        </p:nvSpPr>
        <p:spPr bwMode="auto">
          <a:xfrm>
            <a:off x="5394326" y="5012531"/>
            <a:ext cx="2016125" cy="647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5368" name="Rectangle 5">
            <a:extLst>
              <a:ext uri="{FF2B5EF4-FFF2-40B4-BE49-F238E27FC236}">
                <a16:creationId xmlns:a16="http://schemas.microsoft.com/office/drawing/2014/main" id="{81B6A603-2727-FCAB-801F-452CA9E2A033}"/>
              </a:ext>
            </a:extLst>
          </p:cNvPr>
          <p:cNvSpPr>
            <a:spLocks noChangeArrowheads="1"/>
          </p:cNvSpPr>
          <p:nvPr/>
        </p:nvSpPr>
        <p:spPr bwMode="auto">
          <a:xfrm>
            <a:off x="2393468" y="2536030"/>
            <a:ext cx="2087562" cy="863600"/>
          </a:xfrm>
          <a:prstGeom prst="rect">
            <a:avLst/>
          </a:prstGeom>
          <a:solidFill>
            <a:schemeClr val="accent2">
              <a:lumMod val="60000"/>
              <a:lumOff val="40000"/>
            </a:schemeClr>
          </a:solidFill>
          <a:ln w="9525">
            <a:solidFill>
              <a:schemeClr val="tx1"/>
            </a:solidFill>
            <a:miter lim="800000"/>
            <a:headEnd/>
            <a:tailE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5369" name="Line 6">
            <a:extLst>
              <a:ext uri="{FF2B5EF4-FFF2-40B4-BE49-F238E27FC236}">
                <a16:creationId xmlns:a16="http://schemas.microsoft.com/office/drawing/2014/main" id="{FCCBB20D-E91D-D007-486D-9C6B1685C7FC}"/>
              </a:ext>
            </a:extLst>
          </p:cNvPr>
          <p:cNvSpPr>
            <a:spLocks noChangeShapeType="1"/>
          </p:cNvSpPr>
          <p:nvPr/>
        </p:nvSpPr>
        <p:spPr bwMode="auto">
          <a:xfrm flipH="1">
            <a:off x="2730501" y="5444331"/>
            <a:ext cx="2663825"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0" name="Line 7">
            <a:extLst>
              <a:ext uri="{FF2B5EF4-FFF2-40B4-BE49-F238E27FC236}">
                <a16:creationId xmlns:a16="http://schemas.microsoft.com/office/drawing/2014/main" id="{0C40D16F-DCD9-0AFB-C00C-CCCDEFA96D21}"/>
              </a:ext>
            </a:extLst>
          </p:cNvPr>
          <p:cNvSpPr>
            <a:spLocks noChangeShapeType="1"/>
          </p:cNvSpPr>
          <p:nvPr/>
        </p:nvSpPr>
        <p:spPr bwMode="auto">
          <a:xfrm>
            <a:off x="7391400" y="4364038"/>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1" name="Line 8">
            <a:extLst>
              <a:ext uri="{FF2B5EF4-FFF2-40B4-BE49-F238E27FC236}">
                <a16:creationId xmlns:a16="http://schemas.microsoft.com/office/drawing/2014/main" id="{727B462C-2851-FDEF-24B3-47A8DFF5C440}"/>
              </a:ext>
            </a:extLst>
          </p:cNvPr>
          <p:cNvSpPr>
            <a:spLocks noChangeShapeType="1"/>
          </p:cNvSpPr>
          <p:nvPr/>
        </p:nvSpPr>
        <p:spPr bwMode="auto">
          <a:xfrm flipV="1">
            <a:off x="9644063" y="3355181"/>
            <a:ext cx="0" cy="208915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2" name="WordArt 9">
            <a:extLst>
              <a:ext uri="{FF2B5EF4-FFF2-40B4-BE49-F238E27FC236}">
                <a16:creationId xmlns:a16="http://schemas.microsoft.com/office/drawing/2014/main" id="{521A588C-FE69-7E65-72F2-4CF695405CA2}"/>
              </a:ext>
            </a:extLst>
          </p:cNvPr>
          <p:cNvSpPr>
            <a:spLocks noChangeArrowheads="1" noChangeShapeType="1" noTextEdit="1"/>
          </p:cNvSpPr>
          <p:nvPr/>
        </p:nvSpPr>
        <p:spPr bwMode="auto">
          <a:xfrm>
            <a:off x="6173787" y="4691856"/>
            <a:ext cx="457200" cy="228600"/>
          </a:xfrm>
          <a:prstGeom prst="rect">
            <a:avLst/>
          </a:prstGeom>
        </p:spPr>
        <p:txBody>
          <a:bodyPr wrap="none" fromWordArt="1">
            <a:prstTxWarp prst="textPlain">
              <a:avLst>
                <a:gd name="adj" fmla="val 50000"/>
              </a:avLst>
            </a:prstTxWarp>
          </a:bodyPr>
          <a:lstStyle/>
          <a:p>
            <a:pPr algn="ctr"/>
            <a:r>
              <a:rPr lang="zh-CN" altLang="en-US" kern="10" dirty="0">
                <a:ln w="9525">
                  <a:solidFill>
                    <a:srgbClr val="000000"/>
                  </a:solidFill>
                  <a:round/>
                  <a:headEnd/>
                  <a:tailEnd/>
                </a:ln>
                <a:solidFill>
                  <a:srgbClr val="FFFFFF"/>
                </a:solidFill>
                <a:latin typeface="宋体" panose="02010600030101010101" pitchFamily="2" charset="-122"/>
              </a:rPr>
              <a:t>内核</a:t>
            </a:r>
          </a:p>
        </p:txBody>
      </p:sp>
      <p:sp>
        <p:nvSpPr>
          <p:cNvPr id="15373" name="WordArt 10">
            <a:extLst>
              <a:ext uri="{FF2B5EF4-FFF2-40B4-BE49-F238E27FC236}">
                <a16:creationId xmlns:a16="http://schemas.microsoft.com/office/drawing/2014/main" id="{6196686B-A29A-7EA0-98A9-F267D4227DFB}"/>
              </a:ext>
            </a:extLst>
          </p:cNvPr>
          <p:cNvSpPr>
            <a:spLocks noChangeArrowheads="1" noChangeShapeType="1" noTextEdit="1"/>
          </p:cNvSpPr>
          <p:nvPr/>
        </p:nvSpPr>
        <p:spPr bwMode="auto">
          <a:xfrm>
            <a:off x="6151562" y="5247481"/>
            <a:ext cx="457200" cy="228600"/>
          </a:xfrm>
          <a:prstGeom prst="rect">
            <a:avLst/>
          </a:prstGeom>
        </p:spPr>
        <p:txBody>
          <a:bodyPr wrap="none" fromWordArt="1">
            <a:prstTxWarp prst="textPlain">
              <a:avLst>
                <a:gd name="adj" fmla="val 50000"/>
              </a:avLst>
            </a:prstTxWarp>
          </a:bodyPr>
          <a:lstStyle/>
          <a:p>
            <a:pPr algn="ctr"/>
            <a:r>
              <a:rPr lang="zh-CN" altLang="en-US" kern="10" dirty="0">
                <a:ln w="9525">
                  <a:solidFill>
                    <a:srgbClr val="000000"/>
                  </a:solidFill>
                  <a:round/>
                  <a:headEnd/>
                  <a:tailEnd/>
                </a:ln>
                <a:solidFill>
                  <a:srgbClr val="FFFFFF"/>
                </a:solidFill>
                <a:latin typeface="宋体" panose="02010600030101010101" pitchFamily="2" charset="-122"/>
              </a:rPr>
              <a:t>管道</a:t>
            </a:r>
          </a:p>
        </p:txBody>
      </p:sp>
      <p:sp>
        <p:nvSpPr>
          <p:cNvPr id="15374" name="WordArt 11">
            <a:extLst>
              <a:ext uri="{FF2B5EF4-FFF2-40B4-BE49-F238E27FC236}">
                <a16:creationId xmlns:a16="http://schemas.microsoft.com/office/drawing/2014/main" id="{C5719E60-73A4-1445-8080-4D88B455B339}"/>
              </a:ext>
            </a:extLst>
          </p:cNvPr>
          <p:cNvSpPr>
            <a:spLocks noChangeArrowheads="1" noChangeShapeType="1" noTextEdit="1"/>
          </p:cNvSpPr>
          <p:nvPr/>
        </p:nvSpPr>
        <p:spPr bwMode="auto">
          <a:xfrm>
            <a:off x="2980049" y="2789631"/>
            <a:ext cx="914400" cy="228600"/>
          </a:xfrm>
          <a:prstGeom prst="rect">
            <a:avLst/>
          </a:prstGeom>
        </p:spPr>
        <p:txBody>
          <a:bodyPr wrap="none" fromWordArt="1">
            <a:prstTxWarp prst="textPlain">
              <a:avLst>
                <a:gd name="adj" fmla="val 50000"/>
              </a:avLst>
            </a:prstTxWarp>
          </a:bodyPr>
          <a:lstStyle/>
          <a:p>
            <a:pPr algn="ctr"/>
            <a:r>
              <a:rPr lang="zh-CN" altLang="en-US" kern="10" dirty="0">
                <a:ln w="9525">
                  <a:solidFill>
                    <a:srgbClr val="000000"/>
                  </a:solidFill>
                  <a:round/>
                  <a:headEnd/>
                  <a:tailEnd/>
                </a:ln>
                <a:solidFill>
                  <a:srgbClr val="FFFFFF"/>
                </a:solidFill>
                <a:latin typeface="宋体" panose="02010600030101010101" pitchFamily="2" charset="-122"/>
              </a:rPr>
              <a:t>父进程</a:t>
            </a:r>
          </a:p>
        </p:txBody>
      </p:sp>
      <p:sp>
        <p:nvSpPr>
          <p:cNvPr id="15375" name="WordArt 12">
            <a:extLst>
              <a:ext uri="{FF2B5EF4-FFF2-40B4-BE49-F238E27FC236}">
                <a16:creationId xmlns:a16="http://schemas.microsoft.com/office/drawing/2014/main" id="{A9DB50AE-EB9E-30F9-48C8-04E1C27F12C2}"/>
              </a:ext>
            </a:extLst>
          </p:cNvPr>
          <p:cNvSpPr>
            <a:spLocks noChangeArrowheads="1" noChangeShapeType="1" noTextEdit="1"/>
          </p:cNvSpPr>
          <p:nvPr/>
        </p:nvSpPr>
        <p:spPr bwMode="auto">
          <a:xfrm>
            <a:off x="2539034" y="3140865"/>
            <a:ext cx="523875" cy="200025"/>
          </a:xfrm>
          <a:prstGeom prst="rect">
            <a:avLst/>
          </a:prstGeom>
        </p:spPr>
        <p:txBody>
          <a:bodyPr wrap="none" fromWordArt="1">
            <a:prstTxWarp prst="textPlain">
              <a:avLst>
                <a:gd name="adj" fmla="val 50000"/>
              </a:avLst>
            </a:prstTxWarp>
          </a:bodyPr>
          <a:lstStyle/>
          <a:p>
            <a:pPr algn="ctr"/>
            <a:r>
              <a:rPr lang="en-US" altLang="zh-CN" sz="1600" kern="10" dirty="0">
                <a:ln w="9525">
                  <a:solidFill>
                    <a:srgbClr val="000000"/>
                  </a:solidFill>
                  <a:round/>
                  <a:headEnd/>
                  <a:tailEnd/>
                </a:ln>
                <a:solidFill>
                  <a:srgbClr val="FFFFFF"/>
                </a:solidFill>
                <a:latin typeface="宋体" panose="02010600030101010101" pitchFamily="2" charset="-122"/>
              </a:rPr>
              <a:t>fd[0]</a:t>
            </a:r>
            <a:endParaRPr lang="zh-CN" altLang="en-US" sz="1600" kern="10" dirty="0">
              <a:ln w="9525">
                <a:solidFill>
                  <a:srgbClr val="000000"/>
                </a:solidFill>
                <a:round/>
                <a:headEnd/>
                <a:tailEnd/>
              </a:ln>
              <a:solidFill>
                <a:srgbClr val="FFFFFF"/>
              </a:solidFill>
              <a:latin typeface="宋体" panose="02010600030101010101" pitchFamily="2" charset="-122"/>
            </a:endParaRPr>
          </a:p>
        </p:txBody>
      </p:sp>
      <p:sp>
        <p:nvSpPr>
          <p:cNvPr id="15376" name="WordArt 13">
            <a:extLst>
              <a:ext uri="{FF2B5EF4-FFF2-40B4-BE49-F238E27FC236}">
                <a16:creationId xmlns:a16="http://schemas.microsoft.com/office/drawing/2014/main" id="{15E02B98-8C9A-070D-1158-6949906F232D}"/>
              </a:ext>
            </a:extLst>
          </p:cNvPr>
          <p:cNvSpPr>
            <a:spLocks noChangeArrowheads="1" noChangeShapeType="1" noTextEdit="1"/>
          </p:cNvSpPr>
          <p:nvPr/>
        </p:nvSpPr>
        <p:spPr bwMode="auto">
          <a:xfrm>
            <a:off x="3824910" y="3154757"/>
            <a:ext cx="523875" cy="200025"/>
          </a:xfrm>
          <a:prstGeom prst="rect">
            <a:avLst/>
          </a:prstGeom>
        </p:spPr>
        <p:txBody>
          <a:bodyPr wrap="none" fromWordArt="1">
            <a:prstTxWarp prst="textPlain">
              <a:avLst>
                <a:gd name="adj" fmla="val 50000"/>
              </a:avLst>
            </a:prstTxWarp>
          </a:bodyPr>
          <a:lstStyle/>
          <a:p>
            <a:pPr algn="ctr"/>
            <a:r>
              <a:rPr lang="en-US" altLang="zh-CN" sz="1600" kern="10" dirty="0">
                <a:ln w="9525">
                  <a:solidFill>
                    <a:srgbClr val="000000"/>
                  </a:solidFill>
                  <a:round/>
                  <a:headEnd/>
                  <a:tailEnd/>
                </a:ln>
                <a:solidFill>
                  <a:srgbClr val="FFFFFF"/>
                </a:solidFill>
                <a:latin typeface="宋体" panose="02010600030101010101" pitchFamily="2" charset="-122"/>
              </a:rPr>
              <a:t>fd[1]</a:t>
            </a:r>
            <a:endParaRPr lang="zh-CN" altLang="en-US" sz="1600" kern="10" dirty="0">
              <a:ln w="9525">
                <a:solidFill>
                  <a:srgbClr val="000000"/>
                </a:solidFill>
                <a:round/>
                <a:headEnd/>
                <a:tailEnd/>
              </a:ln>
              <a:solidFill>
                <a:srgbClr val="FFFFFF"/>
              </a:solidFill>
              <a:latin typeface="宋体" panose="02010600030101010101" pitchFamily="2" charset="-122"/>
            </a:endParaRPr>
          </a:p>
        </p:txBody>
      </p:sp>
      <p:sp>
        <p:nvSpPr>
          <p:cNvPr id="15377" name="Line 14">
            <a:extLst>
              <a:ext uri="{FF2B5EF4-FFF2-40B4-BE49-F238E27FC236}">
                <a16:creationId xmlns:a16="http://schemas.microsoft.com/office/drawing/2014/main" id="{2E36F7F8-6591-F70E-D81C-E11646FACA94}"/>
              </a:ext>
            </a:extLst>
          </p:cNvPr>
          <p:cNvSpPr>
            <a:spLocks noChangeShapeType="1"/>
          </p:cNvSpPr>
          <p:nvPr/>
        </p:nvSpPr>
        <p:spPr bwMode="auto">
          <a:xfrm flipH="1">
            <a:off x="7410451" y="5444331"/>
            <a:ext cx="2233613"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8" name="Rectangle 15">
            <a:extLst>
              <a:ext uri="{FF2B5EF4-FFF2-40B4-BE49-F238E27FC236}">
                <a16:creationId xmlns:a16="http://schemas.microsoft.com/office/drawing/2014/main" id="{FFEB68F9-4735-0F7D-1CFD-1FC7F82FF393}"/>
              </a:ext>
            </a:extLst>
          </p:cNvPr>
          <p:cNvSpPr>
            <a:spLocks noChangeArrowheads="1"/>
          </p:cNvSpPr>
          <p:nvPr/>
        </p:nvSpPr>
        <p:spPr bwMode="auto">
          <a:xfrm>
            <a:off x="7986713" y="2564606"/>
            <a:ext cx="2087562" cy="863600"/>
          </a:xfrm>
          <a:prstGeom prst="rect">
            <a:avLst/>
          </a:prstGeom>
          <a:solidFill>
            <a:schemeClr val="accent2">
              <a:lumMod val="60000"/>
              <a:lumOff val="40000"/>
            </a:schemeClr>
          </a:solidFill>
          <a:ln w="9525">
            <a:solidFill>
              <a:schemeClr val="tx1"/>
            </a:solidFill>
            <a:miter lim="800000"/>
            <a:headEnd/>
            <a:tailE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5379" name="WordArt 16">
            <a:extLst>
              <a:ext uri="{FF2B5EF4-FFF2-40B4-BE49-F238E27FC236}">
                <a16:creationId xmlns:a16="http://schemas.microsoft.com/office/drawing/2014/main" id="{90CDF594-2526-193F-2EE4-036A38E3C220}"/>
              </a:ext>
            </a:extLst>
          </p:cNvPr>
          <p:cNvSpPr>
            <a:spLocks noChangeArrowheads="1" noChangeShapeType="1" noTextEdit="1"/>
          </p:cNvSpPr>
          <p:nvPr/>
        </p:nvSpPr>
        <p:spPr bwMode="auto">
          <a:xfrm>
            <a:off x="8562975" y="2767410"/>
            <a:ext cx="914400" cy="228600"/>
          </a:xfrm>
          <a:prstGeom prst="rect">
            <a:avLst/>
          </a:prstGeom>
        </p:spPr>
        <p:txBody>
          <a:bodyPr wrap="none" fromWordArt="1">
            <a:prstTxWarp prst="textPlain">
              <a:avLst>
                <a:gd name="adj" fmla="val 50000"/>
              </a:avLst>
            </a:prstTxWarp>
          </a:bodyPr>
          <a:lstStyle/>
          <a:p>
            <a:pPr algn="ctr"/>
            <a:r>
              <a:rPr lang="zh-CN" altLang="en-US" kern="10" dirty="0">
                <a:ln w="9525">
                  <a:solidFill>
                    <a:srgbClr val="000000"/>
                  </a:solidFill>
                  <a:round/>
                  <a:headEnd/>
                  <a:tailEnd/>
                </a:ln>
                <a:solidFill>
                  <a:srgbClr val="FFFFFF"/>
                </a:solidFill>
                <a:latin typeface="宋体" panose="02010600030101010101" pitchFamily="2" charset="-122"/>
              </a:rPr>
              <a:t>子进程</a:t>
            </a:r>
          </a:p>
        </p:txBody>
      </p:sp>
      <p:sp>
        <p:nvSpPr>
          <p:cNvPr id="15380" name="WordArt 17">
            <a:extLst>
              <a:ext uri="{FF2B5EF4-FFF2-40B4-BE49-F238E27FC236}">
                <a16:creationId xmlns:a16="http://schemas.microsoft.com/office/drawing/2014/main" id="{23E0352C-B271-7906-D33D-AA4464C55534}"/>
              </a:ext>
            </a:extLst>
          </p:cNvPr>
          <p:cNvSpPr>
            <a:spLocks noChangeArrowheads="1" noChangeShapeType="1" noTextEdit="1"/>
          </p:cNvSpPr>
          <p:nvPr/>
        </p:nvSpPr>
        <p:spPr bwMode="auto">
          <a:xfrm>
            <a:off x="8094663" y="3154756"/>
            <a:ext cx="523875" cy="200025"/>
          </a:xfrm>
          <a:prstGeom prst="rect">
            <a:avLst/>
          </a:prstGeom>
        </p:spPr>
        <p:txBody>
          <a:bodyPr wrap="none" fromWordArt="1">
            <a:prstTxWarp prst="textPlain">
              <a:avLst>
                <a:gd name="adj" fmla="val 50000"/>
              </a:avLst>
            </a:prstTxWarp>
          </a:bodyPr>
          <a:lstStyle/>
          <a:p>
            <a:pPr algn="ctr"/>
            <a:r>
              <a:rPr lang="en-US" altLang="zh-CN" sz="1600" kern="10" dirty="0">
                <a:ln w="9525">
                  <a:solidFill>
                    <a:srgbClr val="000000"/>
                  </a:solidFill>
                  <a:round/>
                  <a:headEnd/>
                  <a:tailEnd/>
                </a:ln>
                <a:solidFill>
                  <a:srgbClr val="FFFFFF"/>
                </a:solidFill>
                <a:latin typeface="宋体" panose="02010600030101010101" pitchFamily="2" charset="-122"/>
              </a:rPr>
              <a:t>fd[0]</a:t>
            </a:r>
            <a:endParaRPr lang="zh-CN" altLang="en-US" sz="1600" kern="10" dirty="0">
              <a:ln w="9525">
                <a:solidFill>
                  <a:srgbClr val="000000"/>
                </a:solidFill>
                <a:round/>
                <a:headEnd/>
                <a:tailEnd/>
              </a:ln>
              <a:solidFill>
                <a:srgbClr val="FFFFFF"/>
              </a:solidFill>
              <a:latin typeface="宋体" panose="02010600030101010101" pitchFamily="2" charset="-122"/>
            </a:endParaRPr>
          </a:p>
        </p:txBody>
      </p:sp>
      <p:sp>
        <p:nvSpPr>
          <p:cNvPr id="15381" name="WordArt 18">
            <a:extLst>
              <a:ext uri="{FF2B5EF4-FFF2-40B4-BE49-F238E27FC236}">
                <a16:creationId xmlns:a16="http://schemas.microsoft.com/office/drawing/2014/main" id="{E39DDDC7-64C9-580D-6859-F7E35AB3C994}"/>
              </a:ext>
            </a:extLst>
          </p:cNvPr>
          <p:cNvSpPr>
            <a:spLocks noChangeArrowheads="1" noChangeShapeType="1" noTextEdit="1"/>
          </p:cNvSpPr>
          <p:nvPr/>
        </p:nvSpPr>
        <p:spPr bwMode="auto">
          <a:xfrm>
            <a:off x="9411495" y="3140473"/>
            <a:ext cx="523875" cy="200025"/>
          </a:xfrm>
          <a:prstGeom prst="rect">
            <a:avLst/>
          </a:prstGeom>
        </p:spPr>
        <p:txBody>
          <a:bodyPr wrap="none" fromWordArt="1">
            <a:prstTxWarp prst="textPlain">
              <a:avLst>
                <a:gd name="adj" fmla="val 50000"/>
              </a:avLst>
            </a:prstTxWarp>
          </a:bodyPr>
          <a:lstStyle/>
          <a:p>
            <a:pPr algn="ctr"/>
            <a:r>
              <a:rPr lang="en-US" altLang="zh-CN" sz="1600" kern="10" dirty="0">
                <a:ln w="9525">
                  <a:solidFill>
                    <a:srgbClr val="000000"/>
                  </a:solidFill>
                  <a:round/>
                  <a:headEnd/>
                  <a:tailEnd/>
                </a:ln>
                <a:solidFill>
                  <a:srgbClr val="FFFFFF"/>
                </a:solidFill>
                <a:latin typeface="宋体" panose="02010600030101010101" pitchFamily="2" charset="-122"/>
              </a:rPr>
              <a:t>fd[1]</a:t>
            </a:r>
            <a:endParaRPr lang="zh-CN" altLang="en-US" sz="1600" kern="10" dirty="0">
              <a:ln w="9525">
                <a:solidFill>
                  <a:srgbClr val="000000"/>
                </a:solidFill>
                <a:round/>
                <a:headEnd/>
                <a:tailEnd/>
              </a:ln>
              <a:solidFill>
                <a:srgbClr val="FFFFFF"/>
              </a:solidFill>
              <a:latin typeface="宋体" panose="02010600030101010101" pitchFamily="2" charset="-122"/>
            </a:endParaRPr>
          </a:p>
        </p:txBody>
      </p:sp>
      <p:sp>
        <p:nvSpPr>
          <p:cNvPr id="15382" name="Line 19">
            <a:extLst>
              <a:ext uri="{FF2B5EF4-FFF2-40B4-BE49-F238E27FC236}">
                <a16:creationId xmlns:a16="http://schemas.microsoft.com/office/drawing/2014/main" id="{30A73943-E538-B32F-3F1F-6106FE84FE9B}"/>
              </a:ext>
            </a:extLst>
          </p:cNvPr>
          <p:cNvSpPr>
            <a:spLocks noChangeShapeType="1"/>
          </p:cNvSpPr>
          <p:nvPr/>
        </p:nvSpPr>
        <p:spPr bwMode="auto">
          <a:xfrm flipV="1">
            <a:off x="2730500" y="3428207"/>
            <a:ext cx="0" cy="2016125"/>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9652" name="Group 20">
            <a:extLst>
              <a:ext uri="{FF2B5EF4-FFF2-40B4-BE49-F238E27FC236}">
                <a16:creationId xmlns:a16="http://schemas.microsoft.com/office/drawing/2014/main" id="{CCD1034D-ED9E-9CCF-0D0B-2BE1FBB1E122}"/>
              </a:ext>
            </a:extLst>
          </p:cNvPr>
          <p:cNvGrpSpPr>
            <a:grpSpLocks/>
          </p:cNvGrpSpPr>
          <p:nvPr/>
        </p:nvGrpSpPr>
        <p:grpSpPr bwMode="auto">
          <a:xfrm>
            <a:off x="4027489" y="3428206"/>
            <a:ext cx="4535487" cy="1727200"/>
            <a:chOff x="1565" y="1661"/>
            <a:chExt cx="2857" cy="1088"/>
          </a:xfrm>
        </p:grpSpPr>
        <p:sp>
          <p:nvSpPr>
            <p:cNvPr id="15386" name="Line 21">
              <a:extLst>
                <a:ext uri="{FF2B5EF4-FFF2-40B4-BE49-F238E27FC236}">
                  <a16:creationId xmlns:a16="http://schemas.microsoft.com/office/drawing/2014/main" id="{34FD4B76-8B16-8E28-6AF6-79600AD28886}"/>
                </a:ext>
              </a:extLst>
            </p:cNvPr>
            <p:cNvSpPr>
              <a:spLocks noChangeShapeType="1"/>
            </p:cNvSpPr>
            <p:nvPr/>
          </p:nvSpPr>
          <p:spPr bwMode="auto">
            <a:xfrm flipH="1">
              <a:off x="1701" y="2749"/>
              <a:ext cx="7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7" name="Line 22">
              <a:extLst>
                <a:ext uri="{FF2B5EF4-FFF2-40B4-BE49-F238E27FC236}">
                  <a16:creationId xmlns:a16="http://schemas.microsoft.com/office/drawing/2014/main" id="{E0CD0204-71D3-4BFB-74E5-E1466F62518D}"/>
                </a:ext>
              </a:extLst>
            </p:cNvPr>
            <p:cNvSpPr>
              <a:spLocks noChangeShapeType="1"/>
            </p:cNvSpPr>
            <p:nvPr/>
          </p:nvSpPr>
          <p:spPr bwMode="auto">
            <a:xfrm flipV="1">
              <a:off x="1701" y="1661"/>
              <a:ext cx="2585" cy="10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8" name="Line 23">
              <a:extLst>
                <a:ext uri="{FF2B5EF4-FFF2-40B4-BE49-F238E27FC236}">
                  <a16:creationId xmlns:a16="http://schemas.microsoft.com/office/drawing/2014/main" id="{3C3B2A4F-5B9C-F68F-CD03-86E43E318274}"/>
                </a:ext>
              </a:extLst>
            </p:cNvPr>
            <p:cNvSpPr>
              <a:spLocks noChangeShapeType="1"/>
            </p:cNvSpPr>
            <p:nvPr/>
          </p:nvSpPr>
          <p:spPr bwMode="auto">
            <a:xfrm flipH="1">
              <a:off x="3696" y="2749"/>
              <a:ext cx="72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9" name="Line 24">
              <a:extLst>
                <a:ext uri="{FF2B5EF4-FFF2-40B4-BE49-F238E27FC236}">
                  <a16:creationId xmlns:a16="http://schemas.microsoft.com/office/drawing/2014/main" id="{F17B84FA-F615-6CE1-B770-8FEB902711F7}"/>
                </a:ext>
              </a:extLst>
            </p:cNvPr>
            <p:cNvSpPr>
              <a:spLocks noChangeShapeType="1"/>
            </p:cNvSpPr>
            <p:nvPr/>
          </p:nvSpPr>
          <p:spPr bwMode="auto">
            <a:xfrm flipH="1" flipV="1">
              <a:off x="1565" y="1661"/>
              <a:ext cx="2857" cy="10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84" name="Text Box 25">
            <a:extLst>
              <a:ext uri="{FF2B5EF4-FFF2-40B4-BE49-F238E27FC236}">
                <a16:creationId xmlns:a16="http://schemas.microsoft.com/office/drawing/2014/main" id="{B4D153CC-6BC9-466F-D2AC-DCD12FFC9F0B}"/>
              </a:ext>
            </a:extLst>
          </p:cNvPr>
          <p:cNvSpPr txBox="1">
            <a:spLocks noChangeArrowheads="1"/>
          </p:cNvSpPr>
          <p:nvPr/>
        </p:nvSpPr>
        <p:spPr bwMode="auto">
          <a:xfrm>
            <a:off x="4337859" y="6021288"/>
            <a:ext cx="39036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latin typeface="黑体" panose="02010609060101010101" pitchFamily="49" charset="-122"/>
                <a:ea typeface="黑体" panose="02010609060101010101" pitchFamily="49" charset="-122"/>
              </a:rPr>
              <a:t>父子进程管道的文件描述符对应关系</a:t>
            </a:r>
          </a:p>
        </p:txBody>
      </p:sp>
      <p:sp>
        <p:nvSpPr>
          <p:cNvPr id="709658" name="AutoShape 26">
            <a:extLst>
              <a:ext uri="{FF2B5EF4-FFF2-40B4-BE49-F238E27FC236}">
                <a16:creationId xmlns:a16="http://schemas.microsoft.com/office/drawing/2014/main" id="{DF97EAF4-4637-BBE9-AFDF-848593C68222}"/>
              </a:ext>
            </a:extLst>
          </p:cNvPr>
          <p:cNvSpPr>
            <a:spLocks noChangeArrowheads="1"/>
          </p:cNvSpPr>
          <p:nvPr/>
        </p:nvSpPr>
        <p:spPr bwMode="auto">
          <a:xfrm>
            <a:off x="1614488" y="3769518"/>
            <a:ext cx="3095625" cy="1008063"/>
          </a:xfrm>
          <a:prstGeom prst="wedgeRoundRectCallout">
            <a:avLst>
              <a:gd name="adj1" fmla="val 41486"/>
              <a:gd name="adj2" fmla="val 73620"/>
              <a:gd name="adj3" fmla="val 16667"/>
            </a:avLst>
          </a:prstGeom>
          <a:solidFill>
            <a:schemeClr val="bg2">
              <a:lumMod val="40000"/>
              <a:lumOff val="60000"/>
            </a:schemeClr>
          </a:solidFill>
          <a:ln w="9525">
            <a:solidFill>
              <a:schemeClr val="tx1"/>
            </a:solidFill>
            <a:miter lim="800000"/>
            <a:headEnd/>
            <a:tailEnd/>
          </a:ln>
          <a:effec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dirty="0"/>
              <a:t>为实现父子进程之间的读写，只需把无关的读端和写端的文件描述符关闭。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09658"/>
                                        </p:tgtEl>
                                        <p:attrNameLst>
                                          <p:attrName>style.visibility</p:attrName>
                                        </p:attrNameLst>
                                      </p:cBhvr>
                                      <p:to>
                                        <p:strVal val="visible"/>
                                      </p:to>
                                    </p:set>
                                    <p:animEffect transition="in" filter="blinds(horizontal)">
                                      <p:cBhvr>
                                        <p:cTn id="7" dur="500"/>
                                        <p:tgtEl>
                                          <p:spTgt spid="709658"/>
                                        </p:tgtEl>
                                      </p:cBhvr>
                                    </p:animEffect>
                                  </p:childTnLst>
                                </p:cTn>
                              </p:par>
                            </p:childTnLst>
                          </p:cTn>
                        </p:par>
                        <p:par>
                          <p:cTn id="8" fill="hold" nodeType="afterGroup">
                            <p:stCondLst>
                              <p:cond delay="500"/>
                            </p:stCondLst>
                            <p:childTnLst>
                              <p:par>
                                <p:cTn id="9" presetID="4" presetClass="exit" presetSubtype="16" fill="hold" nodeType="afterEffect">
                                  <p:stCondLst>
                                    <p:cond delay="0"/>
                                  </p:stCondLst>
                                  <p:childTnLst>
                                    <p:animEffect transition="out" filter="box(in)">
                                      <p:cBhvr>
                                        <p:cTn id="10" dur="500"/>
                                        <p:tgtEl>
                                          <p:spTgt spid="709652"/>
                                        </p:tgtEl>
                                      </p:cBhvr>
                                    </p:animEffect>
                                    <p:set>
                                      <p:cBhvr>
                                        <p:cTn id="11" dur="1" fill="hold">
                                          <p:stCondLst>
                                            <p:cond delay="499"/>
                                          </p:stCondLst>
                                        </p:cTn>
                                        <p:tgtEl>
                                          <p:spTgt spid="709652"/>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xit" presetSubtype="16" fill="hold" nodeType="clickEffect">
                                  <p:stCondLst>
                                    <p:cond delay="0"/>
                                  </p:stCondLst>
                                  <p:childTnLst>
                                    <p:animEffect transition="out" filter="box(in)">
                                      <p:cBhvr>
                                        <p:cTn id="15" dur="500"/>
                                        <p:tgtEl>
                                          <p:spTgt spid="709658"/>
                                        </p:tgtEl>
                                      </p:cBhvr>
                                    </p:animEffect>
                                    <p:set>
                                      <p:cBhvr>
                                        <p:cTn id="16" dur="1" fill="hold">
                                          <p:stCondLst>
                                            <p:cond delay="499"/>
                                          </p:stCondLst>
                                        </p:cTn>
                                        <p:tgtEl>
                                          <p:spTgt spid="7096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58" grpId="0" animBg="1"/>
      <p:bldP spid="709658"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EF86DB0-5446-E2FC-59F0-CD965BDCF577}"/>
              </a:ext>
            </a:extLst>
          </p:cNvPr>
          <p:cNvSpPr/>
          <p:nvPr/>
        </p:nvSpPr>
        <p:spPr>
          <a:xfrm>
            <a:off x="0" y="44624"/>
            <a:ext cx="12192000" cy="6741368"/>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25666" name="Text Box 2"/>
          <p:cNvSpPr txBox="1">
            <a:spLocks noChangeArrowheads="1"/>
          </p:cNvSpPr>
          <p:nvPr/>
        </p:nvSpPr>
        <p:spPr bwMode="auto">
          <a:xfrm>
            <a:off x="2100263" y="764704"/>
            <a:ext cx="7991475" cy="5576911"/>
          </a:xfrm>
          <a:prstGeom prst="rect">
            <a:avLst/>
          </a:prstGeom>
          <a:solidFill>
            <a:schemeClr val="bg2">
              <a:lumMod val="20000"/>
              <a:lumOff val="80000"/>
            </a:schemeClr>
          </a:solidFill>
          <a:ln>
            <a:noFill/>
          </a:ln>
          <a:effectLst/>
        </p:spPr>
        <p:txBody>
          <a:bodyPr>
            <a:spAutoFit/>
          </a:bodyPr>
          <a:lstStyle/>
          <a:p>
            <a:pPr algn="l">
              <a:lnSpc>
                <a:spcPct val="90000"/>
              </a:lnSpc>
            </a:pPr>
            <a:r>
              <a:rPr lang="en-US" altLang="zh-CN" sz="2200" dirty="0"/>
              <a:t>#include &lt;unistd.h&gt;</a:t>
            </a:r>
          </a:p>
          <a:p>
            <a:pPr algn="l">
              <a:lnSpc>
                <a:spcPct val="90000"/>
              </a:lnSpc>
            </a:pPr>
            <a:r>
              <a:rPr lang="en-US" altLang="zh-CN" sz="2200" dirty="0"/>
              <a:t>#include &lt;</a:t>
            </a:r>
            <a:r>
              <a:rPr lang="en-US" altLang="zh-CN" sz="2200" dirty="0" err="1"/>
              <a:t>errno.h</a:t>
            </a:r>
            <a:r>
              <a:rPr lang="en-US" altLang="zh-CN" sz="2200" dirty="0"/>
              <a:t>&gt;</a:t>
            </a:r>
          </a:p>
          <a:p>
            <a:pPr algn="l">
              <a:lnSpc>
                <a:spcPct val="90000"/>
              </a:lnSpc>
            </a:pPr>
            <a:r>
              <a:rPr lang="en-US" altLang="zh-CN" sz="2200" dirty="0"/>
              <a:t>#include &lt;</a:t>
            </a:r>
            <a:r>
              <a:rPr lang="en-US" altLang="zh-CN" sz="2200" dirty="0" err="1"/>
              <a:t>stdio.h</a:t>
            </a:r>
            <a:r>
              <a:rPr lang="en-US" altLang="zh-CN" sz="2200" dirty="0"/>
              <a:t>&gt;</a:t>
            </a:r>
          </a:p>
          <a:p>
            <a:pPr algn="l">
              <a:lnSpc>
                <a:spcPct val="90000"/>
              </a:lnSpc>
            </a:pPr>
            <a:r>
              <a:rPr lang="en-US" altLang="zh-CN" sz="2200" dirty="0"/>
              <a:t>#include &lt;</a:t>
            </a:r>
            <a:r>
              <a:rPr lang="en-US" altLang="zh-CN" sz="2200" dirty="0" err="1"/>
              <a:t>stdlib.h</a:t>
            </a:r>
            <a:r>
              <a:rPr lang="en-US" altLang="zh-CN" sz="2200" dirty="0"/>
              <a:t>&gt;</a:t>
            </a:r>
          </a:p>
          <a:p>
            <a:pPr algn="l">
              <a:lnSpc>
                <a:spcPct val="90000"/>
              </a:lnSpc>
            </a:pPr>
            <a:endParaRPr lang="en-US" altLang="zh-CN" sz="2200" dirty="0"/>
          </a:p>
          <a:p>
            <a:pPr algn="l">
              <a:lnSpc>
                <a:spcPct val="90000"/>
              </a:lnSpc>
            </a:pPr>
            <a:r>
              <a:rPr lang="en-US" altLang="zh-CN" sz="2200" dirty="0"/>
              <a:t>int main()</a:t>
            </a:r>
          </a:p>
          <a:p>
            <a:pPr algn="l">
              <a:lnSpc>
                <a:spcPct val="90000"/>
              </a:lnSpc>
            </a:pPr>
            <a:r>
              <a:rPr lang="en-US" altLang="zh-CN" sz="2200" dirty="0"/>
              <a:t>{</a:t>
            </a:r>
          </a:p>
          <a:p>
            <a:pPr algn="l">
              <a:lnSpc>
                <a:spcPct val="90000"/>
              </a:lnSpc>
            </a:pPr>
            <a:r>
              <a:rPr lang="en-US" altLang="zh-CN" sz="2200" dirty="0"/>
              <a:t>        int </a:t>
            </a:r>
            <a:r>
              <a:rPr lang="en-US" altLang="zh-CN" sz="2200" dirty="0" err="1"/>
              <a:t>pipe_fd</a:t>
            </a:r>
            <a:r>
              <a:rPr lang="en-US" altLang="zh-CN" sz="2200" dirty="0"/>
              <a:t>[2];</a:t>
            </a:r>
          </a:p>
          <a:p>
            <a:pPr algn="l">
              <a:lnSpc>
                <a:spcPct val="90000"/>
              </a:lnSpc>
            </a:pPr>
            <a:r>
              <a:rPr lang="en-US" altLang="zh-CN" sz="2200" dirty="0"/>
              <a:t>        if(pipe(</a:t>
            </a:r>
            <a:r>
              <a:rPr lang="en-US" altLang="zh-CN" sz="2200" dirty="0" err="1"/>
              <a:t>pipe_fd</a:t>
            </a:r>
            <a:r>
              <a:rPr lang="en-US" altLang="zh-CN" sz="2200" dirty="0"/>
              <a:t>)&lt;0)  /*</a:t>
            </a:r>
            <a:r>
              <a:rPr lang="zh-CN" altLang="en-US" sz="2200" dirty="0"/>
              <a:t>创建无名管道*</a:t>
            </a:r>
            <a:r>
              <a:rPr lang="en-US" altLang="zh-CN" sz="2200" dirty="0"/>
              <a:t>/</a:t>
            </a:r>
          </a:p>
          <a:p>
            <a:pPr algn="l">
              <a:lnSpc>
                <a:spcPct val="90000"/>
              </a:lnSpc>
            </a:pPr>
            <a:r>
              <a:rPr lang="en-US" altLang="zh-CN" sz="2200" dirty="0"/>
              <a:t>        {</a:t>
            </a:r>
          </a:p>
          <a:p>
            <a:pPr algn="l">
              <a:lnSpc>
                <a:spcPct val="90000"/>
              </a:lnSpc>
            </a:pPr>
            <a:r>
              <a:rPr lang="en-US" altLang="zh-CN" sz="2200" dirty="0"/>
              <a:t>        </a:t>
            </a:r>
            <a:r>
              <a:rPr lang="en-US" altLang="zh-CN" sz="2200" dirty="0" err="1"/>
              <a:t>printf</a:t>
            </a:r>
            <a:r>
              <a:rPr lang="en-US" altLang="zh-CN" sz="2200" dirty="0"/>
              <a:t>("pipe create error\n");</a:t>
            </a:r>
          </a:p>
          <a:p>
            <a:pPr algn="l">
              <a:lnSpc>
                <a:spcPct val="90000"/>
              </a:lnSpc>
            </a:pPr>
            <a:r>
              <a:rPr lang="en-US" altLang="zh-CN" sz="2200" dirty="0"/>
              <a:t>        return -1;</a:t>
            </a:r>
          </a:p>
          <a:p>
            <a:pPr algn="l">
              <a:lnSpc>
                <a:spcPct val="90000"/>
              </a:lnSpc>
            </a:pPr>
            <a:r>
              <a:rPr lang="en-US" altLang="zh-CN" sz="2200" dirty="0"/>
              <a:t>        }</a:t>
            </a:r>
          </a:p>
          <a:p>
            <a:pPr algn="l">
              <a:lnSpc>
                <a:spcPct val="90000"/>
              </a:lnSpc>
            </a:pPr>
            <a:r>
              <a:rPr lang="en-US" altLang="zh-CN" sz="2200" dirty="0"/>
              <a:t>        else</a:t>
            </a:r>
          </a:p>
          <a:p>
            <a:pPr algn="l">
              <a:lnSpc>
                <a:spcPct val="90000"/>
              </a:lnSpc>
            </a:pPr>
            <a:r>
              <a:rPr lang="en-US" altLang="zh-CN" sz="2200" dirty="0"/>
              <a:t>        </a:t>
            </a:r>
            <a:r>
              <a:rPr lang="en-US" altLang="zh-CN" sz="2200" dirty="0" err="1"/>
              <a:t>printf</a:t>
            </a:r>
            <a:r>
              <a:rPr lang="en-US" altLang="zh-CN" sz="2200" dirty="0"/>
              <a:t>("pipe create success\n");</a:t>
            </a:r>
          </a:p>
          <a:p>
            <a:pPr algn="l">
              <a:lnSpc>
                <a:spcPct val="90000"/>
              </a:lnSpc>
            </a:pPr>
            <a:r>
              <a:rPr lang="en-US" altLang="zh-CN" sz="2200" dirty="0"/>
              <a:t>        close(</a:t>
            </a:r>
            <a:r>
              <a:rPr lang="en-US" altLang="zh-CN" sz="2200" dirty="0" err="1"/>
              <a:t>pipe_fd</a:t>
            </a:r>
            <a:r>
              <a:rPr lang="en-US" altLang="zh-CN" sz="2200" dirty="0"/>
              <a:t>[0]);  /*</a:t>
            </a:r>
            <a:r>
              <a:rPr lang="zh-CN" altLang="en-US" sz="2200" dirty="0"/>
              <a:t>关闭管道描述符*</a:t>
            </a:r>
            <a:r>
              <a:rPr lang="en-US" altLang="zh-CN" sz="2200" dirty="0"/>
              <a:t>/</a:t>
            </a:r>
          </a:p>
          <a:p>
            <a:pPr algn="l">
              <a:lnSpc>
                <a:spcPct val="90000"/>
              </a:lnSpc>
            </a:pPr>
            <a:r>
              <a:rPr lang="en-US" altLang="zh-CN" sz="2200" dirty="0"/>
              <a:t>        close(</a:t>
            </a:r>
            <a:r>
              <a:rPr lang="en-US" altLang="zh-CN" sz="2200" dirty="0" err="1"/>
              <a:t>pipe_fd</a:t>
            </a:r>
            <a:r>
              <a:rPr lang="en-US" altLang="zh-CN" sz="2200" dirty="0"/>
              <a:t>[1]);</a:t>
            </a:r>
          </a:p>
          <a:p>
            <a:pPr algn="l">
              <a:lnSpc>
                <a:spcPct val="90000"/>
              </a:lnSpc>
            </a:pPr>
            <a:r>
              <a:rPr lang="en-US" altLang="zh-CN" sz="2200" dirty="0"/>
              <a:t>}</a:t>
            </a:r>
          </a:p>
        </p:txBody>
      </p:sp>
      <p:sp>
        <p:nvSpPr>
          <p:cNvPr id="2" name="TextBox 5">
            <a:extLst>
              <a:ext uri="{FF2B5EF4-FFF2-40B4-BE49-F238E27FC236}">
                <a16:creationId xmlns:a16="http://schemas.microsoft.com/office/drawing/2014/main" id="{D6F776D1-0878-57E8-B191-1A758AE4BC56}"/>
              </a:ext>
            </a:extLst>
          </p:cNvPr>
          <p:cNvSpPr txBox="1"/>
          <p:nvPr/>
        </p:nvSpPr>
        <p:spPr>
          <a:xfrm>
            <a:off x="1919536" y="303220"/>
            <a:ext cx="3712876" cy="492443"/>
          </a:xfrm>
          <a:prstGeom prst="rect">
            <a:avLst/>
          </a:prstGeom>
          <a:noFill/>
        </p:spPr>
        <p:txBody>
          <a:bodyPr wrap="none" rtlCol="0">
            <a:spAutoFit/>
          </a:bodyPr>
          <a:lstStyle/>
          <a:p>
            <a:r>
              <a:rPr kumimoji="1" lang="zh-CN" altLang="en-US" sz="2600" dirty="0">
                <a:latin typeface="+mn-ea"/>
                <a:ea typeface="+mn-ea"/>
              </a:rPr>
              <a:t>程序文件 </a:t>
            </a:r>
            <a:r>
              <a:rPr kumimoji="1" lang="en-US" altLang="zh-CN" sz="2600" dirty="0">
                <a:solidFill>
                  <a:srgbClr val="000000"/>
                </a:solidFill>
                <a:latin typeface="+mn-ea"/>
                <a:ea typeface="+mn-ea"/>
                <a:cs typeface="Times New Roman" pitchFamily="18" charset="0"/>
              </a:rPr>
              <a:t>pipe_test1.c</a:t>
            </a:r>
            <a:endParaRPr lang="zh-CN" altLang="en-US" sz="2600" dirty="0">
              <a:latin typeface="+mn-ea"/>
              <a:ea typeface="+mn-ea"/>
            </a:endParaRPr>
          </a:p>
        </p:txBody>
      </p:sp>
      <p:sp>
        <p:nvSpPr>
          <p:cNvPr id="3" name="灯片编号占位符 2">
            <a:extLst>
              <a:ext uri="{FF2B5EF4-FFF2-40B4-BE49-F238E27FC236}">
                <a16:creationId xmlns:a16="http://schemas.microsoft.com/office/drawing/2014/main" id="{94A0DAEA-A2B3-734F-79CD-470A6F2AFA1C}"/>
              </a:ext>
            </a:extLst>
          </p:cNvPr>
          <p:cNvSpPr>
            <a:spLocks noGrp="1"/>
          </p:cNvSpPr>
          <p:nvPr>
            <p:ph type="sldNum" sz="quarter" idx="11"/>
          </p:nvPr>
        </p:nvSpPr>
        <p:spPr/>
        <p:txBody>
          <a:bodyPr/>
          <a:lstStyle/>
          <a:p>
            <a:pPr>
              <a:defRPr/>
            </a:pPr>
            <a:fld id="{110871B5-850E-4E14-A636-3EC679EBF038}" type="slidenum">
              <a:rPr lang="en-US" altLang="zh-CN" smtClean="0"/>
              <a:pPr>
                <a:defRPr/>
              </a:pPr>
              <a:t>73</a:t>
            </a:fld>
            <a:endParaRPr lang="en-US" altLang="zh-CN"/>
          </a:p>
        </p:txBody>
      </p:sp>
    </p:spTree>
    <p:extLst>
      <p:ext uri="{BB962C8B-B14F-4D97-AF65-F5344CB8AC3E}">
        <p14:creationId xmlns:p14="http://schemas.microsoft.com/office/powerpoint/2010/main" val="925342663"/>
      </p:ext>
    </p:extLst>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Text Box 2"/>
          <p:cNvSpPr txBox="1">
            <a:spLocks noChangeArrowheads="1"/>
          </p:cNvSpPr>
          <p:nvPr/>
        </p:nvSpPr>
        <p:spPr bwMode="auto">
          <a:xfrm>
            <a:off x="6270625" y="59531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endParaRPr kumimoji="1" lang="zh-CN" altLang="en-US" sz="2400">
              <a:latin typeface="Times New Roman" pitchFamily="18" charset="0"/>
            </a:endParaRPr>
          </a:p>
        </p:txBody>
      </p:sp>
      <p:sp>
        <p:nvSpPr>
          <p:cNvPr id="325637" name="Rectangle 5"/>
          <p:cNvSpPr>
            <a:spLocks noChangeArrowheads="1"/>
          </p:cNvSpPr>
          <p:nvPr/>
        </p:nvSpPr>
        <p:spPr bwMode="auto">
          <a:xfrm>
            <a:off x="1487488" y="1488629"/>
            <a:ext cx="8496944" cy="4464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eaLnBrk="0" hangingPunct="0">
              <a:defRPr>
                <a:solidFill>
                  <a:schemeClr val="tx1"/>
                </a:solidFill>
                <a:latin typeface="Arial" pitchFamily="34" charset="0"/>
                <a:ea typeface="宋体" pitchFamily="2" charset="-122"/>
              </a:defRPr>
            </a:lvl1pPr>
            <a:lvl2pPr marL="742950" indent="-285750" algn="l" eaLnBrk="0" hangingPunct="0">
              <a:defRPr>
                <a:solidFill>
                  <a:schemeClr val="tx1"/>
                </a:solidFill>
                <a:latin typeface="Arial" pitchFamily="34" charset="0"/>
                <a:ea typeface="宋体" pitchFamily="2" charset="-122"/>
              </a:defRPr>
            </a:lvl2pPr>
            <a:lvl3pPr marL="1143000" indent="-228600" algn="l" eaLnBrk="0" hangingPunct="0">
              <a:defRPr>
                <a:solidFill>
                  <a:schemeClr val="tx1"/>
                </a:solidFill>
                <a:latin typeface="Arial" pitchFamily="34" charset="0"/>
                <a:ea typeface="宋体" pitchFamily="2" charset="-122"/>
              </a:defRPr>
            </a:lvl3pPr>
            <a:lvl4pPr marL="1600200" indent="-228600" algn="l" eaLnBrk="0" hangingPunct="0">
              <a:defRPr>
                <a:solidFill>
                  <a:schemeClr val="tx1"/>
                </a:solidFill>
                <a:latin typeface="Arial" pitchFamily="34" charset="0"/>
                <a:ea typeface="宋体" pitchFamily="2" charset="-122"/>
              </a:defRPr>
            </a:lvl4pPr>
            <a:lvl5pPr marL="2057400" indent="-228600" algn="l"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lvl="1" algn="just" eaLnBrk="1" hangingPunct="1">
              <a:spcBef>
                <a:spcPct val="20000"/>
              </a:spcBef>
              <a:buClr>
                <a:srgbClr val="339933"/>
              </a:buClr>
              <a:buFont typeface="Wingdings" pitchFamily="2" charset="2"/>
              <a:buNone/>
            </a:pPr>
            <a:r>
              <a:rPr kumimoji="1" lang="zh-CN" altLang="en-US" sz="2600" dirty="0">
                <a:latin typeface="+mn-ea"/>
                <a:ea typeface="+mn-ea"/>
              </a:rPr>
              <a:t>编译并运行这个程序：</a:t>
            </a:r>
          </a:p>
          <a:p>
            <a:pPr lvl="1" eaLnBrk="1" hangingPunct="1">
              <a:spcBef>
                <a:spcPct val="20000"/>
              </a:spcBef>
              <a:buClr>
                <a:srgbClr val="339933"/>
              </a:buClr>
              <a:buFont typeface="Wingdings" pitchFamily="2" charset="2"/>
              <a:buNone/>
            </a:pPr>
            <a:r>
              <a:rPr kumimoji="1" lang="en-US" altLang="zh-CN" sz="2600" dirty="0">
                <a:solidFill>
                  <a:srgbClr val="000000"/>
                </a:solidFill>
                <a:latin typeface="+mn-ea"/>
                <a:ea typeface="+mn-ea"/>
                <a:cs typeface="Times New Roman" pitchFamily="18" charset="0"/>
              </a:rPr>
              <a:t>$gcc pipe_test1.c -o pipe_test1</a:t>
            </a:r>
          </a:p>
          <a:p>
            <a:pPr lvl="1" eaLnBrk="1" hangingPunct="1">
              <a:spcBef>
                <a:spcPct val="20000"/>
              </a:spcBef>
              <a:buClr>
                <a:srgbClr val="339933"/>
              </a:buClr>
              <a:buFont typeface="Wingdings" pitchFamily="2" charset="2"/>
              <a:buNone/>
            </a:pPr>
            <a:r>
              <a:rPr kumimoji="1" lang="zh-CN" altLang="en-US" sz="2600" dirty="0">
                <a:solidFill>
                  <a:srgbClr val="000000"/>
                </a:solidFill>
                <a:latin typeface="+mn-ea"/>
                <a:ea typeface="+mn-ea"/>
                <a:cs typeface="Times New Roman" pitchFamily="18" charset="0"/>
              </a:rPr>
              <a:t>执行：</a:t>
            </a:r>
          </a:p>
          <a:p>
            <a:pPr lvl="1" eaLnBrk="1" hangingPunct="1">
              <a:spcBef>
                <a:spcPct val="20000"/>
              </a:spcBef>
              <a:buClr>
                <a:srgbClr val="339933"/>
              </a:buClr>
            </a:pPr>
            <a:endParaRPr kumimoji="1" lang="en-US" altLang="zh-CN" sz="2500" dirty="0">
              <a:solidFill>
                <a:srgbClr val="000000"/>
              </a:solidFill>
              <a:latin typeface="+mn-ea"/>
              <a:ea typeface="+mn-ea"/>
              <a:cs typeface="Times New Roman" pitchFamily="18" charset="0"/>
            </a:endParaRPr>
          </a:p>
        </p:txBody>
      </p:sp>
      <p:sp>
        <p:nvSpPr>
          <p:cNvPr id="2" name="标题 1"/>
          <p:cNvSpPr>
            <a:spLocks noGrp="1"/>
          </p:cNvSpPr>
          <p:nvPr>
            <p:ph type="title"/>
          </p:nvPr>
        </p:nvSpPr>
        <p:spPr>
          <a:xfrm>
            <a:off x="839416" y="629792"/>
            <a:ext cx="10369152" cy="858837"/>
          </a:xfrm>
        </p:spPr>
        <p:txBody>
          <a:bodyPr/>
          <a:lstStyle/>
          <a:p>
            <a:r>
              <a:rPr lang="zh-CN" altLang="en-US" dirty="0">
                <a:latin typeface="+mn-ea"/>
              </a:rPr>
              <a:t>示例程序</a:t>
            </a:r>
            <a:endParaRPr lang="zh-CN" altLang="en-US" dirty="0"/>
          </a:p>
        </p:txBody>
      </p:sp>
      <p:sp>
        <p:nvSpPr>
          <p:cNvPr id="5" name="灯片编号占位符 5"/>
          <p:cNvSpPr>
            <a:spLocks noGrp="1"/>
          </p:cNvSpPr>
          <p:nvPr>
            <p:ph type="sldNum" sz="quarter" idx="11"/>
          </p:nvPr>
        </p:nvSpPr>
        <p:spPr>
          <a:prstGeom prst="rect">
            <a:avLst/>
          </a:prstGeom>
        </p:spPr>
        <p:txBody>
          <a:bodyPr/>
          <a:lstStyle/>
          <a:p>
            <a:fld id="{8B65A0CA-DAE2-4088-BB58-45073E9B1BD3}" type="slidenum">
              <a:rPr lang="zh-CN" altLang="en-US"/>
              <a:pPr/>
              <a:t>74</a:t>
            </a:fld>
            <a:endParaRPr lang="en-US" altLang="zh-CN" dirty="0"/>
          </a:p>
        </p:txBody>
      </p:sp>
      <p:pic>
        <p:nvPicPr>
          <p:cNvPr id="6" name="图片 5">
            <a:extLst>
              <a:ext uri="{FF2B5EF4-FFF2-40B4-BE49-F238E27FC236}">
                <a16:creationId xmlns:a16="http://schemas.microsoft.com/office/drawing/2014/main" id="{747F9621-682F-31F2-AD7C-FF3CB291FE56}"/>
              </a:ext>
            </a:extLst>
          </p:cNvPr>
          <p:cNvPicPr>
            <a:picLocks noChangeAspect="1"/>
          </p:cNvPicPr>
          <p:nvPr/>
        </p:nvPicPr>
        <p:blipFill>
          <a:blip r:embed="rId3"/>
          <a:stretch>
            <a:fillRect/>
          </a:stretch>
        </p:blipFill>
        <p:spPr>
          <a:xfrm>
            <a:off x="1953776" y="3224713"/>
            <a:ext cx="7829680" cy="2157778"/>
          </a:xfrm>
          <a:prstGeom prst="rect">
            <a:avLst/>
          </a:prstGeom>
          <a:ln>
            <a:solidFill>
              <a:schemeClr val="bg2"/>
            </a:solidFill>
          </a:ln>
        </p:spPr>
      </p:pic>
    </p:spTree>
    <p:extLst>
      <p:ext uri="{BB962C8B-B14F-4D97-AF65-F5344CB8AC3E}">
        <p14:creationId xmlns:p14="http://schemas.microsoft.com/office/powerpoint/2010/main" val="314912207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D341341-5C84-B404-7917-15360518E768}"/>
              </a:ext>
            </a:extLst>
          </p:cNvPr>
          <p:cNvSpPr/>
          <p:nvPr/>
        </p:nvSpPr>
        <p:spPr>
          <a:xfrm>
            <a:off x="0" y="44624"/>
            <a:ext cx="12192000" cy="6741368"/>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2946" name="Rectangle 2"/>
          <p:cNvSpPr>
            <a:spLocks noGrp="1" noChangeArrowheads="1"/>
          </p:cNvSpPr>
          <p:nvPr>
            <p:ph type="title"/>
          </p:nvPr>
        </p:nvSpPr>
        <p:spPr>
          <a:xfrm>
            <a:off x="1864568" y="-171400"/>
            <a:ext cx="9416008" cy="858837"/>
          </a:xfrm>
        </p:spPr>
        <p:txBody>
          <a:bodyPr/>
          <a:lstStyle/>
          <a:p>
            <a:pPr algn="l"/>
            <a:r>
              <a:rPr lang="zh-CN" altLang="en-US" sz="2400" kern="1200" dirty="0">
                <a:effectLst>
                  <a:outerShdw blurRad="38100" dist="38100" dir="2700000" algn="tl">
                    <a:srgbClr val="C0C0C0"/>
                  </a:outerShdw>
                </a:effectLst>
                <a:latin typeface="+mn-ea"/>
                <a:ea typeface="+mn-ea"/>
                <a:cs typeface="+mn-cs"/>
              </a:rPr>
              <a:t>程序文件 </a:t>
            </a:r>
            <a:r>
              <a:rPr lang="en-US" altLang="zh-CN" sz="2400" kern="1200" dirty="0">
                <a:effectLst>
                  <a:outerShdw blurRad="38100" dist="38100" dir="2700000" algn="tl">
                    <a:srgbClr val="C0C0C0"/>
                  </a:outerShdw>
                </a:effectLst>
                <a:latin typeface="+mn-ea"/>
                <a:ea typeface="+mn-ea"/>
                <a:cs typeface="+mn-cs"/>
              </a:rPr>
              <a:t>pipe_test2.c</a:t>
            </a:r>
            <a:r>
              <a:rPr lang="zh-CN" altLang="en-US" sz="2400" kern="1200" dirty="0">
                <a:effectLst>
                  <a:outerShdw blurRad="38100" dist="38100" dir="2700000" algn="tl">
                    <a:srgbClr val="C0C0C0"/>
                  </a:outerShdw>
                </a:effectLst>
                <a:latin typeface="+mn-ea"/>
                <a:ea typeface="+mn-ea"/>
                <a:cs typeface="+mn-cs"/>
              </a:rPr>
              <a:t>：父子进程间用管道方式通信</a:t>
            </a:r>
            <a:r>
              <a:rPr lang="zh-CN" altLang="en-US" sz="2400" dirty="0">
                <a:latin typeface="+mn-ea"/>
                <a:ea typeface="+mn-ea"/>
              </a:rPr>
              <a:t> </a:t>
            </a:r>
          </a:p>
        </p:txBody>
      </p:sp>
      <p:sp>
        <p:nvSpPr>
          <p:cNvPr id="82947" name="Rectangle 3"/>
          <p:cNvSpPr>
            <a:spLocks noGrp="1" noChangeArrowheads="1"/>
          </p:cNvSpPr>
          <p:nvPr>
            <p:ph type="body" idx="1"/>
          </p:nvPr>
        </p:nvSpPr>
        <p:spPr>
          <a:xfrm>
            <a:off x="1811524" y="836712"/>
            <a:ext cx="8568952" cy="5832648"/>
          </a:xfrm>
          <a:solidFill>
            <a:schemeClr val="bg2">
              <a:lumMod val="20000"/>
              <a:lumOff val="80000"/>
            </a:schemeClr>
          </a:solidFill>
          <a:ln>
            <a:solidFill>
              <a:schemeClr val="tx1"/>
            </a:solidFill>
          </a:ln>
        </p:spPr>
        <p:txBody>
          <a:bodyPr/>
          <a:lstStyle/>
          <a:p>
            <a:pPr algn="just">
              <a:lnSpc>
                <a:spcPct val="80000"/>
              </a:lnSpc>
              <a:buNone/>
            </a:pPr>
            <a:r>
              <a:rPr lang="en-US" altLang="zh-CN" sz="2000" dirty="0">
                <a:cs typeface="Times New Roman" pitchFamily="18" charset="0"/>
              </a:rPr>
              <a:t>#include &lt;</a:t>
            </a:r>
            <a:r>
              <a:rPr lang="en-US" altLang="zh-CN" sz="2000" dirty="0" err="1">
                <a:cs typeface="Times New Roman" pitchFamily="18" charset="0"/>
              </a:rPr>
              <a:t>stdio.h</a:t>
            </a:r>
            <a:r>
              <a:rPr lang="en-US" altLang="zh-CN" sz="2000" dirty="0">
                <a:cs typeface="Times New Roman" pitchFamily="18" charset="0"/>
              </a:rPr>
              <a:t>&gt;</a:t>
            </a:r>
          </a:p>
          <a:p>
            <a:pPr algn="just">
              <a:lnSpc>
                <a:spcPct val="80000"/>
              </a:lnSpc>
              <a:buNone/>
            </a:pPr>
            <a:r>
              <a:rPr lang="en-US" altLang="zh-CN" sz="2000" dirty="0">
                <a:cs typeface="Times New Roman" pitchFamily="18" charset="0"/>
              </a:rPr>
              <a:t>#include &lt;</a:t>
            </a:r>
            <a:r>
              <a:rPr lang="en-US" altLang="zh-CN" sz="2000" dirty="0" err="1">
                <a:cs typeface="Times New Roman" pitchFamily="18" charset="0"/>
              </a:rPr>
              <a:t>stdlib.h</a:t>
            </a:r>
            <a:r>
              <a:rPr lang="en-US" altLang="zh-CN" sz="2000" dirty="0">
                <a:cs typeface="Times New Roman" pitchFamily="18" charset="0"/>
              </a:rPr>
              <a:t>&gt;</a:t>
            </a:r>
          </a:p>
          <a:p>
            <a:pPr algn="just">
              <a:lnSpc>
                <a:spcPct val="80000"/>
              </a:lnSpc>
              <a:buNone/>
            </a:pPr>
            <a:r>
              <a:rPr lang="en-US" altLang="zh-CN" sz="2000" dirty="0">
                <a:cs typeface="Times New Roman" pitchFamily="18" charset="0"/>
              </a:rPr>
              <a:t>main()</a:t>
            </a:r>
          </a:p>
          <a:p>
            <a:pPr algn="just">
              <a:lnSpc>
                <a:spcPct val="80000"/>
              </a:lnSpc>
              <a:buNone/>
            </a:pPr>
            <a:r>
              <a:rPr lang="en-US" altLang="zh-CN" sz="2000" dirty="0">
                <a:cs typeface="Times New Roman" pitchFamily="18" charset="0"/>
              </a:rPr>
              <a:t>{</a:t>
            </a:r>
          </a:p>
          <a:p>
            <a:pPr algn="just">
              <a:lnSpc>
                <a:spcPct val="80000"/>
              </a:lnSpc>
              <a:buNone/>
            </a:pPr>
            <a:r>
              <a:rPr lang="en-US" altLang="zh-CN" sz="2000" dirty="0">
                <a:cs typeface="Times New Roman" pitchFamily="18" charset="0"/>
              </a:rPr>
              <a:t>  int  </a:t>
            </a:r>
            <a:r>
              <a:rPr lang="en-US" altLang="zh-CN" sz="2000" dirty="0" err="1">
                <a:cs typeface="Times New Roman" pitchFamily="18" charset="0"/>
              </a:rPr>
              <a:t>pid,fd</a:t>
            </a:r>
            <a:r>
              <a:rPr lang="en-US" altLang="zh-CN" sz="2000" dirty="0">
                <a:cs typeface="Times New Roman" pitchFamily="18" charset="0"/>
              </a:rPr>
              <a:t>[2];</a:t>
            </a:r>
          </a:p>
          <a:p>
            <a:pPr algn="just">
              <a:lnSpc>
                <a:spcPct val="80000"/>
              </a:lnSpc>
              <a:buNone/>
            </a:pPr>
            <a:r>
              <a:rPr lang="en-US" altLang="zh-CN" sz="2000" dirty="0">
                <a:cs typeface="Times New Roman" pitchFamily="18" charset="0"/>
              </a:rPr>
              <a:t>  char </a:t>
            </a:r>
            <a:r>
              <a:rPr lang="en-US" altLang="zh-CN" sz="2000" dirty="0" err="1">
                <a:cs typeface="Times New Roman" pitchFamily="18" charset="0"/>
              </a:rPr>
              <a:t>buf</a:t>
            </a:r>
            <a:r>
              <a:rPr lang="en-US" altLang="zh-CN" sz="2000" dirty="0">
                <a:cs typeface="Times New Roman" pitchFamily="18" charset="0"/>
              </a:rPr>
              <a:t>[30],s[30];</a:t>
            </a:r>
          </a:p>
          <a:p>
            <a:pPr algn="just">
              <a:lnSpc>
                <a:spcPct val="80000"/>
              </a:lnSpc>
              <a:buNone/>
            </a:pPr>
            <a:r>
              <a:rPr lang="en-US" altLang="zh-CN" sz="2000" dirty="0">
                <a:cs typeface="Times New Roman" pitchFamily="18" charset="0"/>
              </a:rPr>
              <a:t>  pipe(fd);</a:t>
            </a:r>
          </a:p>
          <a:p>
            <a:pPr algn="just">
              <a:lnSpc>
                <a:spcPct val="80000"/>
              </a:lnSpc>
              <a:buNone/>
            </a:pPr>
            <a:r>
              <a:rPr lang="en-US" altLang="zh-CN" sz="2000" dirty="0">
                <a:cs typeface="Times New Roman" pitchFamily="18" charset="0"/>
              </a:rPr>
              <a:t>  </a:t>
            </a:r>
            <a:r>
              <a:rPr lang="en-US" altLang="zh-CN" sz="2000" dirty="0" err="1">
                <a:cs typeface="Times New Roman" pitchFamily="18" charset="0"/>
              </a:rPr>
              <a:t>pid</a:t>
            </a:r>
            <a:r>
              <a:rPr lang="en-US" altLang="zh-CN" sz="2000" dirty="0">
                <a:cs typeface="Times New Roman" pitchFamily="18" charset="0"/>
              </a:rPr>
              <a:t>=fork();</a:t>
            </a:r>
          </a:p>
          <a:p>
            <a:pPr algn="just">
              <a:lnSpc>
                <a:spcPct val="80000"/>
              </a:lnSpc>
              <a:buNone/>
            </a:pPr>
            <a:r>
              <a:rPr lang="en-US" altLang="zh-CN" sz="2000" dirty="0">
                <a:cs typeface="Times New Roman" pitchFamily="18" charset="0"/>
              </a:rPr>
              <a:t>  switch(</a:t>
            </a:r>
            <a:r>
              <a:rPr lang="en-US" altLang="zh-CN" sz="2000" dirty="0" err="1">
                <a:cs typeface="Times New Roman" pitchFamily="18" charset="0"/>
              </a:rPr>
              <a:t>pid</a:t>
            </a:r>
            <a:r>
              <a:rPr lang="en-US" altLang="zh-CN" sz="2000" dirty="0">
                <a:cs typeface="Times New Roman" pitchFamily="18" charset="0"/>
              </a:rPr>
              <a:t>)</a:t>
            </a:r>
          </a:p>
          <a:p>
            <a:pPr algn="just">
              <a:lnSpc>
                <a:spcPct val="80000"/>
              </a:lnSpc>
              <a:buNone/>
            </a:pPr>
            <a:r>
              <a:rPr lang="en-US" altLang="zh-CN" sz="2000" dirty="0">
                <a:cs typeface="Times New Roman" pitchFamily="18" charset="0"/>
              </a:rPr>
              <a:t>  {</a:t>
            </a:r>
          </a:p>
          <a:p>
            <a:pPr algn="just">
              <a:lnSpc>
                <a:spcPct val="80000"/>
              </a:lnSpc>
              <a:buNone/>
            </a:pPr>
            <a:r>
              <a:rPr lang="en-US" altLang="zh-CN" sz="2000" dirty="0">
                <a:cs typeface="Times New Roman" pitchFamily="18" charset="0"/>
              </a:rPr>
              <a:t>    case -1 : </a:t>
            </a:r>
            <a:r>
              <a:rPr lang="en-US" altLang="zh-CN" sz="2000" dirty="0" err="1">
                <a:cs typeface="Times New Roman" pitchFamily="18" charset="0"/>
              </a:rPr>
              <a:t>perror</a:t>
            </a:r>
            <a:r>
              <a:rPr lang="en-US" altLang="zh-CN" sz="2000" dirty="0">
                <a:cs typeface="Times New Roman" pitchFamily="18" charset="0"/>
              </a:rPr>
              <a:t>("fork failed");exit(1);</a:t>
            </a:r>
          </a:p>
          <a:p>
            <a:pPr algn="just">
              <a:lnSpc>
                <a:spcPct val="80000"/>
              </a:lnSpc>
              <a:buNone/>
            </a:pPr>
            <a:r>
              <a:rPr lang="en-US" altLang="zh-CN" sz="2000" dirty="0">
                <a:cs typeface="Times New Roman" pitchFamily="18" charset="0"/>
              </a:rPr>
              <a:t>    case  0 : </a:t>
            </a:r>
            <a:r>
              <a:rPr lang="en-US" altLang="zh-CN" sz="2000" dirty="0" err="1">
                <a:cs typeface="Times New Roman" pitchFamily="18" charset="0"/>
              </a:rPr>
              <a:t>sprintf</a:t>
            </a:r>
            <a:r>
              <a:rPr lang="en-US" altLang="zh-CN" sz="2000" dirty="0">
                <a:cs typeface="Times New Roman" pitchFamily="18" charset="0"/>
              </a:rPr>
              <a:t>(</a:t>
            </a:r>
            <a:r>
              <a:rPr lang="en-US" altLang="zh-CN" sz="2000" dirty="0" err="1">
                <a:cs typeface="Times New Roman" pitchFamily="18" charset="0"/>
              </a:rPr>
              <a:t>buf</a:t>
            </a:r>
            <a:r>
              <a:rPr lang="en-US" altLang="zh-CN" sz="2000" dirty="0">
                <a:cs typeface="Times New Roman" pitchFamily="18" charset="0"/>
              </a:rPr>
              <a:t>,"This is an example\n");</a:t>
            </a:r>
          </a:p>
          <a:p>
            <a:pPr algn="just">
              <a:lnSpc>
                <a:spcPct val="80000"/>
              </a:lnSpc>
              <a:buNone/>
            </a:pPr>
            <a:r>
              <a:rPr lang="en-US" altLang="zh-CN" sz="2000" dirty="0">
                <a:cs typeface="Times New Roman" pitchFamily="18" charset="0"/>
              </a:rPr>
              <a:t>    write(fd[1],buf,30);</a:t>
            </a:r>
          </a:p>
          <a:p>
            <a:pPr algn="just">
              <a:lnSpc>
                <a:spcPct val="80000"/>
              </a:lnSpc>
              <a:buNone/>
            </a:pPr>
            <a:r>
              <a:rPr lang="en-US" altLang="zh-CN" sz="2000" dirty="0">
                <a:cs typeface="Times New Roman" pitchFamily="18" charset="0"/>
              </a:rPr>
              <a:t>    exit(0);</a:t>
            </a:r>
          </a:p>
          <a:p>
            <a:pPr algn="just">
              <a:lnSpc>
                <a:spcPct val="80000"/>
              </a:lnSpc>
              <a:buNone/>
            </a:pPr>
            <a:r>
              <a:rPr lang="en-US" altLang="zh-CN" sz="2000" dirty="0">
                <a:cs typeface="Times New Roman" pitchFamily="18" charset="0"/>
              </a:rPr>
              <a:t>    default : wait(NULL);</a:t>
            </a:r>
          </a:p>
          <a:p>
            <a:pPr algn="just">
              <a:lnSpc>
                <a:spcPct val="80000"/>
              </a:lnSpc>
              <a:buNone/>
            </a:pPr>
            <a:r>
              <a:rPr lang="en-US" altLang="zh-CN" sz="2000" dirty="0">
                <a:cs typeface="Times New Roman" pitchFamily="18" charset="0"/>
              </a:rPr>
              <a:t>    read(fd[0],s,30);</a:t>
            </a:r>
          </a:p>
          <a:p>
            <a:pPr algn="just">
              <a:lnSpc>
                <a:spcPct val="80000"/>
              </a:lnSpc>
              <a:buNone/>
            </a:pPr>
            <a:r>
              <a:rPr lang="en-US" altLang="zh-CN" sz="2000" dirty="0">
                <a:cs typeface="Times New Roman" pitchFamily="18" charset="0"/>
              </a:rPr>
              <a:t>    </a:t>
            </a:r>
            <a:r>
              <a:rPr lang="en-US" altLang="zh-CN" sz="2000" dirty="0" err="1">
                <a:cs typeface="Times New Roman" pitchFamily="18" charset="0"/>
              </a:rPr>
              <a:t>printf</a:t>
            </a:r>
            <a:r>
              <a:rPr lang="en-US" altLang="zh-CN" sz="2000" dirty="0">
                <a:cs typeface="Times New Roman" pitchFamily="18" charset="0"/>
              </a:rPr>
              <a:t>("%</a:t>
            </a:r>
            <a:r>
              <a:rPr lang="en-US" altLang="zh-CN" sz="2000" dirty="0" err="1">
                <a:cs typeface="Times New Roman" pitchFamily="18" charset="0"/>
              </a:rPr>
              <a:t>s",s</a:t>
            </a:r>
            <a:r>
              <a:rPr lang="en-US" altLang="zh-CN" sz="2000" dirty="0">
                <a:cs typeface="Times New Roman" pitchFamily="18" charset="0"/>
              </a:rPr>
              <a:t>);</a:t>
            </a:r>
          </a:p>
          <a:p>
            <a:pPr algn="just">
              <a:lnSpc>
                <a:spcPct val="80000"/>
              </a:lnSpc>
              <a:buNone/>
            </a:pPr>
            <a:r>
              <a:rPr lang="en-US" altLang="zh-CN" sz="2000" dirty="0">
                <a:cs typeface="Times New Roman" pitchFamily="18" charset="0"/>
              </a:rPr>
              <a:t>  }</a:t>
            </a:r>
          </a:p>
          <a:p>
            <a:pPr algn="just">
              <a:lnSpc>
                <a:spcPct val="80000"/>
              </a:lnSpc>
              <a:buNone/>
            </a:pPr>
            <a:r>
              <a:rPr lang="en-US" altLang="zh-CN" sz="2000" dirty="0">
                <a:cs typeface="Times New Roman" pitchFamily="18" charset="0"/>
              </a:rPr>
              <a:t>}</a:t>
            </a:r>
          </a:p>
          <a:p>
            <a:pPr>
              <a:lnSpc>
                <a:spcPct val="80000"/>
              </a:lnSpc>
              <a:buFont typeface="Wingdings" pitchFamily="2" charset="2"/>
              <a:buNone/>
            </a:pPr>
            <a:endParaRPr lang="en-US" altLang="zh-CN" sz="2000" dirty="0"/>
          </a:p>
        </p:txBody>
      </p:sp>
      <p:sp>
        <p:nvSpPr>
          <p:cNvPr id="2" name="灯片编号占位符 1">
            <a:extLst>
              <a:ext uri="{FF2B5EF4-FFF2-40B4-BE49-F238E27FC236}">
                <a16:creationId xmlns:a16="http://schemas.microsoft.com/office/drawing/2014/main" id="{E059CD2F-6BBA-1650-AC14-80407029E58F}"/>
              </a:ext>
            </a:extLst>
          </p:cNvPr>
          <p:cNvSpPr>
            <a:spLocks noGrp="1"/>
          </p:cNvSpPr>
          <p:nvPr>
            <p:ph type="sldNum" sz="quarter" idx="11"/>
          </p:nvPr>
        </p:nvSpPr>
        <p:spPr/>
        <p:txBody>
          <a:bodyPr/>
          <a:lstStyle/>
          <a:p>
            <a:pPr>
              <a:defRPr/>
            </a:pPr>
            <a:fld id="{110871B5-850E-4E14-A636-3EC679EBF038}" type="slidenum">
              <a:rPr lang="en-US" altLang="zh-CN" smtClean="0"/>
              <a:pPr>
                <a:defRPr/>
              </a:pPr>
              <a:t>75</a:t>
            </a:fld>
            <a:endParaRPr lang="en-US" altLang="zh-CN"/>
          </a:p>
        </p:txBody>
      </p:sp>
    </p:spTree>
    <p:extLst>
      <p:ext uri="{BB962C8B-B14F-4D97-AF65-F5344CB8AC3E}">
        <p14:creationId xmlns:p14="http://schemas.microsoft.com/office/powerpoint/2010/main" val="1924358790"/>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Text Box 2"/>
          <p:cNvSpPr txBox="1">
            <a:spLocks noChangeArrowheads="1"/>
          </p:cNvSpPr>
          <p:nvPr/>
        </p:nvSpPr>
        <p:spPr bwMode="auto">
          <a:xfrm>
            <a:off x="6270625" y="59531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endParaRPr kumimoji="1" lang="zh-CN" altLang="en-US" sz="2400">
              <a:latin typeface="Times New Roman" pitchFamily="18" charset="0"/>
            </a:endParaRPr>
          </a:p>
        </p:txBody>
      </p:sp>
      <p:sp>
        <p:nvSpPr>
          <p:cNvPr id="325637" name="Rectangle 5"/>
          <p:cNvSpPr>
            <a:spLocks noChangeArrowheads="1"/>
          </p:cNvSpPr>
          <p:nvPr/>
        </p:nvSpPr>
        <p:spPr bwMode="auto">
          <a:xfrm>
            <a:off x="1415480" y="1641376"/>
            <a:ext cx="8496944" cy="4464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eaLnBrk="0" hangingPunct="0">
              <a:defRPr>
                <a:solidFill>
                  <a:schemeClr val="tx1"/>
                </a:solidFill>
                <a:latin typeface="Arial" pitchFamily="34" charset="0"/>
                <a:ea typeface="宋体" pitchFamily="2" charset="-122"/>
              </a:defRPr>
            </a:lvl1pPr>
            <a:lvl2pPr marL="742950" indent="-285750" algn="l" eaLnBrk="0" hangingPunct="0">
              <a:defRPr>
                <a:solidFill>
                  <a:schemeClr val="tx1"/>
                </a:solidFill>
                <a:latin typeface="Arial" pitchFamily="34" charset="0"/>
                <a:ea typeface="宋体" pitchFamily="2" charset="-122"/>
              </a:defRPr>
            </a:lvl2pPr>
            <a:lvl3pPr marL="1143000" indent="-228600" algn="l" eaLnBrk="0" hangingPunct="0">
              <a:defRPr>
                <a:solidFill>
                  <a:schemeClr val="tx1"/>
                </a:solidFill>
                <a:latin typeface="Arial" pitchFamily="34" charset="0"/>
                <a:ea typeface="宋体" pitchFamily="2" charset="-122"/>
              </a:defRPr>
            </a:lvl3pPr>
            <a:lvl4pPr marL="1600200" indent="-228600" algn="l" eaLnBrk="0" hangingPunct="0">
              <a:defRPr>
                <a:solidFill>
                  <a:schemeClr val="tx1"/>
                </a:solidFill>
                <a:latin typeface="Arial" pitchFamily="34" charset="0"/>
                <a:ea typeface="宋体" pitchFamily="2" charset="-122"/>
              </a:defRPr>
            </a:lvl4pPr>
            <a:lvl5pPr marL="2057400" indent="-228600" algn="l"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lvl="1" algn="just" eaLnBrk="1" hangingPunct="1">
              <a:spcBef>
                <a:spcPct val="20000"/>
              </a:spcBef>
              <a:buClr>
                <a:srgbClr val="339933"/>
              </a:buClr>
              <a:buFont typeface="Wingdings" pitchFamily="2" charset="2"/>
              <a:buNone/>
            </a:pPr>
            <a:r>
              <a:rPr kumimoji="1" lang="zh-CN" altLang="en-US" sz="2600" dirty="0">
                <a:latin typeface="+mn-ea"/>
                <a:ea typeface="+mn-ea"/>
              </a:rPr>
              <a:t>编译并运行这个程序：</a:t>
            </a:r>
          </a:p>
          <a:p>
            <a:pPr lvl="1" eaLnBrk="1" hangingPunct="1">
              <a:spcBef>
                <a:spcPct val="20000"/>
              </a:spcBef>
              <a:buClr>
                <a:srgbClr val="339933"/>
              </a:buClr>
              <a:buFont typeface="Wingdings" pitchFamily="2" charset="2"/>
              <a:buNone/>
            </a:pPr>
            <a:r>
              <a:rPr kumimoji="1" lang="en-US" altLang="zh-CN" sz="2600" dirty="0">
                <a:solidFill>
                  <a:srgbClr val="000000"/>
                </a:solidFill>
                <a:latin typeface="+mn-ea"/>
                <a:ea typeface="+mn-ea"/>
                <a:cs typeface="Times New Roman" pitchFamily="18" charset="0"/>
              </a:rPr>
              <a:t>$gcc pipe_test2.c -o pipe_test2</a:t>
            </a:r>
          </a:p>
          <a:p>
            <a:pPr lvl="1" eaLnBrk="1" hangingPunct="1">
              <a:spcBef>
                <a:spcPct val="20000"/>
              </a:spcBef>
              <a:buClr>
                <a:srgbClr val="339933"/>
              </a:buClr>
              <a:buFont typeface="Wingdings" pitchFamily="2" charset="2"/>
              <a:buNone/>
            </a:pPr>
            <a:r>
              <a:rPr kumimoji="1" lang="zh-CN" altLang="en-US" sz="2600" dirty="0">
                <a:solidFill>
                  <a:srgbClr val="000000"/>
                </a:solidFill>
                <a:latin typeface="+mn-ea"/>
                <a:ea typeface="+mn-ea"/>
                <a:cs typeface="Times New Roman" pitchFamily="18" charset="0"/>
              </a:rPr>
              <a:t>执行：</a:t>
            </a:r>
          </a:p>
          <a:p>
            <a:pPr lvl="1" eaLnBrk="1" hangingPunct="1">
              <a:spcBef>
                <a:spcPct val="20000"/>
              </a:spcBef>
              <a:buClr>
                <a:srgbClr val="339933"/>
              </a:buClr>
            </a:pPr>
            <a:endParaRPr kumimoji="1" lang="en-US" altLang="zh-CN" sz="2500" dirty="0">
              <a:solidFill>
                <a:srgbClr val="000000"/>
              </a:solidFill>
              <a:latin typeface="+mn-ea"/>
              <a:ea typeface="+mn-ea"/>
              <a:cs typeface="Times New Roman" pitchFamily="18" charset="0"/>
            </a:endParaRPr>
          </a:p>
        </p:txBody>
      </p:sp>
      <p:sp>
        <p:nvSpPr>
          <p:cNvPr id="2" name="标题 1"/>
          <p:cNvSpPr>
            <a:spLocks noGrp="1"/>
          </p:cNvSpPr>
          <p:nvPr>
            <p:ph type="title"/>
          </p:nvPr>
        </p:nvSpPr>
        <p:spPr/>
        <p:txBody>
          <a:bodyPr/>
          <a:lstStyle/>
          <a:p>
            <a:r>
              <a:rPr lang="zh-CN" altLang="en-US" dirty="0">
                <a:latin typeface="+mn-ea"/>
              </a:rPr>
              <a:t>示例程序</a:t>
            </a:r>
            <a:endParaRPr lang="zh-CN" altLang="en-US" dirty="0"/>
          </a:p>
        </p:txBody>
      </p:sp>
      <p:sp>
        <p:nvSpPr>
          <p:cNvPr id="5" name="灯片编号占位符 5"/>
          <p:cNvSpPr>
            <a:spLocks noGrp="1"/>
          </p:cNvSpPr>
          <p:nvPr>
            <p:ph type="sldNum" sz="quarter" idx="11"/>
          </p:nvPr>
        </p:nvSpPr>
        <p:spPr>
          <a:prstGeom prst="rect">
            <a:avLst/>
          </a:prstGeom>
        </p:spPr>
        <p:txBody>
          <a:bodyPr/>
          <a:lstStyle/>
          <a:p>
            <a:fld id="{8B65A0CA-DAE2-4088-BB58-45073E9B1BD3}" type="slidenum">
              <a:rPr lang="zh-CN" altLang="en-US"/>
              <a:pPr/>
              <a:t>76</a:t>
            </a:fld>
            <a:endParaRPr lang="en-US" altLang="zh-CN" dirty="0"/>
          </a:p>
        </p:txBody>
      </p:sp>
      <p:pic>
        <p:nvPicPr>
          <p:cNvPr id="4" name="图片 3">
            <a:extLst>
              <a:ext uri="{FF2B5EF4-FFF2-40B4-BE49-F238E27FC236}">
                <a16:creationId xmlns:a16="http://schemas.microsoft.com/office/drawing/2014/main" id="{14797120-B92F-2EBE-F0B9-EC63AFC6A54C}"/>
              </a:ext>
            </a:extLst>
          </p:cNvPr>
          <p:cNvPicPr>
            <a:picLocks noChangeAspect="1"/>
          </p:cNvPicPr>
          <p:nvPr/>
        </p:nvPicPr>
        <p:blipFill>
          <a:blip r:embed="rId3"/>
          <a:stretch>
            <a:fillRect/>
          </a:stretch>
        </p:blipFill>
        <p:spPr>
          <a:xfrm>
            <a:off x="1847528" y="3196426"/>
            <a:ext cx="8496944" cy="2392814"/>
          </a:xfrm>
          <a:prstGeom prst="rect">
            <a:avLst/>
          </a:prstGeom>
          <a:ln>
            <a:solidFill>
              <a:schemeClr val="bg2"/>
            </a:solidFill>
          </a:ln>
        </p:spPr>
      </p:pic>
    </p:spTree>
    <p:extLst>
      <p:ext uri="{BB962C8B-B14F-4D97-AF65-F5344CB8AC3E}">
        <p14:creationId xmlns:p14="http://schemas.microsoft.com/office/powerpoint/2010/main" val="2051245781"/>
      </p:ext>
    </p:extLst>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E3A6123-313C-4E62-C0F1-08AA2181E194}"/>
              </a:ext>
            </a:extLst>
          </p:cNvPr>
          <p:cNvSpPr/>
          <p:nvPr/>
        </p:nvSpPr>
        <p:spPr>
          <a:xfrm>
            <a:off x="0" y="44624"/>
            <a:ext cx="12192000" cy="6741368"/>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3970" name="Rectangle 2"/>
          <p:cNvSpPr>
            <a:spLocks noGrp="1" noChangeArrowheads="1"/>
          </p:cNvSpPr>
          <p:nvPr>
            <p:ph type="title"/>
          </p:nvPr>
        </p:nvSpPr>
        <p:spPr>
          <a:xfrm>
            <a:off x="1775520" y="44625"/>
            <a:ext cx="8640960" cy="858837"/>
          </a:xfrm>
        </p:spPr>
        <p:txBody>
          <a:bodyPr/>
          <a:lstStyle/>
          <a:p>
            <a:pPr algn="l"/>
            <a:r>
              <a:rPr lang="zh-CN" altLang="en-US" sz="2200" dirty="0">
                <a:latin typeface="+mn-ea"/>
                <a:ea typeface="+mn-ea"/>
              </a:rPr>
              <a:t>程序文件 </a:t>
            </a:r>
            <a:r>
              <a:rPr lang="en-US" altLang="zh-CN" sz="2200" dirty="0">
                <a:latin typeface="+mn-ea"/>
                <a:ea typeface="+mn-ea"/>
              </a:rPr>
              <a:t>pipe_test3.c</a:t>
            </a:r>
            <a:r>
              <a:rPr lang="zh-CN" altLang="en-US" sz="2200" dirty="0">
                <a:latin typeface="+mn-ea"/>
                <a:ea typeface="+mn-ea"/>
              </a:rPr>
              <a:t>：父进程生成</a:t>
            </a:r>
            <a:r>
              <a:rPr lang="en-US" altLang="zh-CN" sz="2200" dirty="0">
                <a:latin typeface="+mn-ea"/>
                <a:ea typeface="+mn-ea"/>
              </a:rPr>
              <a:t>P1,P2</a:t>
            </a:r>
            <a:r>
              <a:rPr lang="zh-CN" altLang="en-US" sz="2200" dirty="0">
                <a:latin typeface="+mn-ea"/>
                <a:ea typeface="+mn-ea"/>
              </a:rPr>
              <a:t>两子进程，这两个进程分别向管道写入各自的字符串，父进程读出它们。 </a:t>
            </a:r>
          </a:p>
        </p:txBody>
      </p:sp>
      <p:sp>
        <p:nvSpPr>
          <p:cNvPr id="83971" name="Rectangle 3"/>
          <p:cNvSpPr>
            <a:spLocks noGrp="1" noChangeArrowheads="1"/>
          </p:cNvSpPr>
          <p:nvPr>
            <p:ph type="body" sz="half" idx="1"/>
          </p:nvPr>
        </p:nvSpPr>
        <p:spPr>
          <a:xfrm>
            <a:off x="1663824" y="980728"/>
            <a:ext cx="4432176" cy="5181600"/>
          </a:xfrm>
        </p:spPr>
        <p:txBody>
          <a:bodyPr/>
          <a:lstStyle/>
          <a:p>
            <a:pPr marL="0" indent="0">
              <a:lnSpc>
                <a:spcPct val="80000"/>
              </a:lnSpc>
              <a:buNone/>
            </a:pPr>
            <a:r>
              <a:rPr lang="en-US" altLang="zh-CN" sz="1800" dirty="0">
                <a:cs typeface="Times New Roman" pitchFamily="18" charset="0"/>
              </a:rPr>
              <a:t>#include "</a:t>
            </a:r>
            <a:r>
              <a:rPr lang="en-US" altLang="zh-CN" sz="1800" dirty="0" err="1">
                <a:cs typeface="Times New Roman" pitchFamily="18" charset="0"/>
              </a:rPr>
              <a:t>stdio.h</a:t>
            </a:r>
            <a:r>
              <a:rPr lang="en-US" altLang="zh-CN" sz="1800" dirty="0">
                <a:cs typeface="Times New Roman" pitchFamily="18" charset="0"/>
              </a:rPr>
              <a:t>"</a:t>
            </a:r>
          </a:p>
          <a:p>
            <a:pPr marL="0" indent="0">
              <a:lnSpc>
                <a:spcPct val="80000"/>
              </a:lnSpc>
              <a:buNone/>
            </a:pPr>
            <a:r>
              <a:rPr lang="en-US" altLang="zh-CN" sz="1800" dirty="0">
                <a:cs typeface="Times New Roman" pitchFamily="18" charset="0"/>
              </a:rPr>
              <a:t>#include "</a:t>
            </a:r>
            <a:r>
              <a:rPr lang="en-US" altLang="zh-CN" sz="1800" dirty="0" err="1">
                <a:cs typeface="Times New Roman" pitchFamily="18" charset="0"/>
              </a:rPr>
              <a:t>unistd.h</a:t>
            </a:r>
            <a:r>
              <a:rPr lang="en-US" altLang="zh-CN" sz="1800" dirty="0">
                <a:cs typeface="Times New Roman" pitchFamily="18" charset="0"/>
              </a:rPr>
              <a:t>"</a:t>
            </a:r>
          </a:p>
          <a:p>
            <a:pPr marL="0" indent="0">
              <a:lnSpc>
                <a:spcPct val="80000"/>
              </a:lnSpc>
              <a:buNone/>
            </a:pPr>
            <a:r>
              <a:rPr lang="en-US" altLang="zh-CN" sz="1800" dirty="0">
                <a:cs typeface="Times New Roman" pitchFamily="18" charset="0"/>
              </a:rPr>
              <a:t>#include "</a:t>
            </a:r>
            <a:r>
              <a:rPr lang="en-US" altLang="zh-CN" sz="1800" dirty="0" err="1">
                <a:cs typeface="Times New Roman" pitchFamily="18" charset="0"/>
              </a:rPr>
              <a:t>stdlib.h</a:t>
            </a:r>
            <a:r>
              <a:rPr lang="en-US" altLang="zh-CN" sz="1800" dirty="0">
                <a:cs typeface="Times New Roman" pitchFamily="18" charset="0"/>
              </a:rPr>
              <a:t>"</a:t>
            </a:r>
          </a:p>
          <a:p>
            <a:pPr marL="0" indent="0">
              <a:lnSpc>
                <a:spcPct val="80000"/>
              </a:lnSpc>
              <a:buNone/>
            </a:pPr>
            <a:r>
              <a:rPr lang="en-US" altLang="zh-CN" sz="1800" dirty="0">
                <a:cs typeface="Times New Roman" pitchFamily="18" charset="0"/>
              </a:rPr>
              <a:t>main()</a:t>
            </a:r>
          </a:p>
          <a:p>
            <a:pPr marL="0" indent="0">
              <a:lnSpc>
                <a:spcPct val="80000"/>
              </a:lnSpc>
              <a:buNone/>
            </a:pPr>
            <a:r>
              <a:rPr lang="en-US" altLang="zh-CN" sz="1800" dirty="0">
                <a:cs typeface="Times New Roman" pitchFamily="18" charset="0"/>
              </a:rPr>
              <a:t>{</a:t>
            </a:r>
          </a:p>
          <a:p>
            <a:pPr marL="0" indent="0">
              <a:lnSpc>
                <a:spcPct val="80000"/>
              </a:lnSpc>
              <a:buNone/>
            </a:pPr>
            <a:r>
              <a:rPr lang="en-US" altLang="zh-CN" sz="1800" dirty="0">
                <a:cs typeface="Times New Roman" pitchFamily="18" charset="0"/>
              </a:rPr>
              <a:t>int pid1,pid2,fd[2];</a:t>
            </a:r>
          </a:p>
          <a:p>
            <a:pPr marL="0" indent="0">
              <a:lnSpc>
                <a:spcPct val="80000"/>
              </a:lnSpc>
              <a:buNone/>
            </a:pPr>
            <a:r>
              <a:rPr lang="en-US" altLang="zh-CN" sz="1800" dirty="0">
                <a:cs typeface="Times New Roman" pitchFamily="18" charset="0"/>
              </a:rPr>
              <a:t>char </a:t>
            </a:r>
            <a:r>
              <a:rPr lang="en-US" altLang="zh-CN" sz="1800" dirty="0" err="1">
                <a:cs typeface="Times New Roman" pitchFamily="18" charset="0"/>
              </a:rPr>
              <a:t>buf</a:t>
            </a:r>
            <a:r>
              <a:rPr lang="en-US" altLang="zh-CN" sz="1800" dirty="0">
                <a:cs typeface="Times New Roman" pitchFamily="18" charset="0"/>
              </a:rPr>
              <a:t>[50],s[50];</a:t>
            </a:r>
          </a:p>
          <a:p>
            <a:pPr marL="0" indent="0">
              <a:lnSpc>
                <a:spcPct val="80000"/>
              </a:lnSpc>
              <a:buNone/>
            </a:pPr>
            <a:r>
              <a:rPr lang="en-US" altLang="zh-CN" sz="1800" dirty="0">
                <a:cs typeface="Times New Roman" pitchFamily="18" charset="0"/>
              </a:rPr>
              <a:t>pipe(fd);</a:t>
            </a:r>
          </a:p>
          <a:p>
            <a:pPr marL="0" indent="0">
              <a:lnSpc>
                <a:spcPct val="80000"/>
              </a:lnSpc>
              <a:buNone/>
            </a:pPr>
            <a:r>
              <a:rPr lang="en-US" altLang="zh-CN" sz="1800" dirty="0">
                <a:cs typeface="Times New Roman" pitchFamily="18" charset="0"/>
              </a:rPr>
              <a:t>pid1=fork();</a:t>
            </a:r>
          </a:p>
          <a:p>
            <a:pPr marL="0" indent="0">
              <a:lnSpc>
                <a:spcPct val="80000"/>
              </a:lnSpc>
              <a:buNone/>
            </a:pPr>
            <a:r>
              <a:rPr lang="en-US" altLang="zh-CN" sz="1800" dirty="0">
                <a:cs typeface="Times New Roman" pitchFamily="18" charset="0"/>
              </a:rPr>
              <a:t>switch(pid1){</a:t>
            </a:r>
          </a:p>
          <a:p>
            <a:pPr marL="0" indent="0">
              <a:lnSpc>
                <a:spcPct val="80000"/>
              </a:lnSpc>
              <a:buNone/>
            </a:pPr>
            <a:r>
              <a:rPr lang="en-US" altLang="zh-CN" sz="1800" dirty="0">
                <a:cs typeface="Times New Roman" pitchFamily="18" charset="0"/>
              </a:rPr>
              <a:t>case -1 : </a:t>
            </a:r>
            <a:r>
              <a:rPr lang="en-US" altLang="zh-CN" sz="1800" dirty="0" err="1">
                <a:cs typeface="Times New Roman" pitchFamily="18" charset="0"/>
              </a:rPr>
              <a:t>perror</a:t>
            </a:r>
            <a:r>
              <a:rPr lang="en-US" altLang="zh-CN" sz="1800" dirty="0">
                <a:cs typeface="Times New Roman" pitchFamily="18" charset="0"/>
              </a:rPr>
              <a:t>("fork failed");</a:t>
            </a:r>
          </a:p>
          <a:p>
            <a:pPr marL="0" indent="0">
              <a:lnSpc>
                <a:spcPct val="80000"/>
              </a:lnSpc>
              <a:buNone/>
            </a:pPr>
            <a:r>
              <a:rPr lang="en-US" altLang="zh-CN" sz="1800" dirty="0">
                <a:cs typeface="Times New Roman" pitchFamily="18" charset="0"/>
              </a:rPr>
              <a:t>exit(1);</a:t>
            </a:r>
          </a:p>
          <a:p>
            <a:pPr marL="0" indent="0">
              <a:lnSpc>
                <a:spcPct val="80000"/>
              </a:lnSpc>
              <a:buNone/>
            </a:pPr>
            <a:r>
              <a:rPr lang="en-US" altLang="zh-CN" sz="1800" dirty="0">
                <a:cs typeface="Times New Roman" pitchFamily="18" charset="0"/>
              </a:rPr>
              <a:t>case 0:lockf(fd[1],1,0);  //</a:t>
            </a:r>
            <a:r>
              <a:rPr lang="zh-CN" altLang="en-US" sz="1800" dirty="0">
                <a:cs typeface="Times New Roman" pitchFamily="18" charset="0"/>
              </a:rPr>
              <a:t>锁定写入端</a:t>
            </a:r>
          </a:p>
          <a:p>
            <a:pPr marL="0" indent="0">
              <a:lnSpc>
                <a:spcPct val="80000"/>
              </a:lnSpc>
              <a:buNone/>
            </a:pPr>
            <a:r>
              <a:rPr lang="en-US" altLang="zh-CN" sz="1800" dirty="0" err="1">
                <a:cs typeface="Times New Roman" pitchFamily="18" charset="0"/>
              </a:rPr>
              <a:t>sprintf</a:t>
            </a:r>
            <a:r>
              <a:rPr lang="en-US" altLang="zh-CN" sz="1800" dirty="0">
                <a:cs typeface="Times New Roman" pitchFamily="18" charset="0"/>
              </a:rPr>
              <a:t>(</a:t>
            </a:r>
            <a:r>
              <a:rPr lang="en-US" altLang="zh-CN" sz="1800" dirty="0" err="1">
                <a:cs typeface="Times New Roman" pitchFamily="18" charset="0"/>
              </a:rPr>
              <a:t>buf</a:t>
            </a:r>
            <a:r>
              <a:rPr lang="en-US" altLang="zh-CN" sz="1800" dirty="0">
                <a:cs typeface="Times New Roman" pitchFamily="18" charset="0"/>
              </a:rPr>
              <a:t>,"child p1 is sending messages</a:t>
            </a:r>
            <a:r>
              <a:rPr lang="zh-CN" altLang="en-US" sz="1800" dirty="0">
                <a:cs typeface="Times New Roman" pitchFamily="18" charset="0"/>
              </a:rPr>
              <a:t>！</a:t>
            </a:r>
            <a:r>
              <a:rPr lang="en-US" altLang="zh-CN" sz="1800" dirty="0">
                <a:cs typeface="Times New Roman" pitchFamily="18" charset="0"/>
              </a:rPr>
              <a:t>\n");</a:t>
            </a:r>
          </a:p>
          <a:p>
            <a:pPr marL="0" indent="0">
              <a:lnSpc>
                <a:spcPct val="80000"/>
              </a:lnSpc>
              <a:buNone/>
            </a:pPr>
            <a:r>
              <a:rPr lang="en-US" altLang="zh-CN" sz="1800" dirty="0">
                <a:cs typeface="Times New Roman" pitchFamily="18" charset="0"/>
              </a:rPr>
              <a:t>write(fd[1],buf,50);</a:t>
            </a:r>
          </a:p>
          <a:p>
            <a:pPr marL="0" indent="0">
              <a:lnSpc>
                <a:spcPct val="80000"/>
              </a:lnSpc>
              <a:buNone/>
            </a:pPr>
            <a:r>
              <a:rPr lang="en-US" altLang="zh-CN" sz="1800" dirty="0">
                <a:cs typeface="Times New Roman" pitchFamily="18" charset="0"/>
              </a:rPr>
              <a:t>sleep(2);</a:t>
            </a:r>
          </a:p>
          <a:p>
            <a:pPr marL="0" indent="0">
              <a:lnSpc>
                <a:spcPct val="80000"/>
              </a:lnSpc>
              <a:buNone/>
            </a:pPr>
            <a:r>
              <a:rPr lang="en-US" altLang="zh-CN" sz="1800" dirty="0" err="1">
                <a:cs typeface="Times New Roman" pitchFamily="18" charset="0"/>
              </a:rPr>
              <a:t>lockf</a:t>
            </a:r>
            <a:r>
              <a:rPr lang="en-US" altLang="zh-CN" sz="1800" dirty="0">
                <a:cs typeface="Times New Roman" pitchFamily="18" charset="0"/>
              </a:rPr>
              <a:t>(fd[1],0,0);   //</a:t>
            </a:r>
            <a:r>
              <a:rPr lang="zh-CN" altLang="en-US" sz="1800" dirty="0">
                <a:cs typeface="Times New Roman" pitchFamily="18" charset="0"/>
              </a:rPr>
              <a:t>释放写入端</a:t>
            </a:r>
          </a:p>
          <a:p>
            <a:pPr marL="0" indent="0">
              <a:lnSpc>
                <a:spcPct val="80000"/>
              </a:lnSpc>
              <a:buNone/>
            </a:pPr>
            <a:r>
              <a:rPr lang="en-US" altLang="zh-CN" sz="1800" dirty="0">
                <a:cs typeface="Times New Roman" pitchFamily="18" charset="0"/>
              </a:rPr>
              <a:t>exit(0);</a:t>
            </a:r>
          </a:p>
          <a:p>
            <a:pPr marL="0" indent="0">
              <a:lnSpc>
                <a:spcPct val="80000"/>
              </a:lnSpc>
              <a:buNone/>
            </a:pPr>
            <a:r>
              <a:rPr lang="en-US" altLang="zh-CN" sz="1800" dirty="0">
                <a:cs typeface="Times New Roman" pitchFamily="18" charset="0"/>
              </a:rPr>
              <a:t>default:pid2=fork();</a:t>
            </a:r>
          </a:p>
          <a:p>
            <a:pPr marL="0" indent="0">
              <a:lnSpc>
                <a:spcPct val="80000"/>
              </a:lnSpc>
              <a:buNone/>
            </a:pPr>
            <a:r>
              <a:rPr lang="en-US" altLang="zh-CN" sz="1800" dirty="0">
                <a:cs typeface="Times New Roman" pitchFamily="18" charset="0"/>
              </a:rPr>
              <a:t>}</a:t>
            </a:r>
            <a:endParaRPr lang="zh-CN" altLang="en-US" sz="1800" dirty="0"/>
          </a:p>
        </p:txBody>
      </p:sp>
      <p:sp>
        <p:nvSpPr>
          <p:cNvPr id="83972" name="Rectangle 4"/>
          <p:cNvSpPr>
            <a:spLocks noGrp="1" noChangeArrowheads="1"/>
          </p:cNvSpPr>
          <p:nvPr>
            <p:ph type="body" sz="half" idx="2"/>
          </p:nvPr>
        </p:nvSpPr>
        <p:spPr>
          <a:xfrm>
            <a:off x="6248400" y="980728"/>
            <a:ext cx="4312096" cy="5257800"/>
          </a:xfrm>
        </p:spPr>
        <p:txBody>
          <a:bodyPr/>
          <a:lstStyle/>
          <a:p>
            <a:pPr marL="0" indent="0">
              <a:lnSpc>
                <a:spcPct val="80000"/>
              </a:lnSpc>
              <a:buNone/>
            </a:pPr>
            <a:r>
              <a:rPr lang="en-US" altLang="zh-CN" sz="1800" dirty="0">
                <a:cs typeface="Times New Roman" pitchFamily="18" charset="0"/>
              </a:rPr>
              <a:t>switch(pid2){</a:t>
            </a:r>
          </a:p>
          <a:p>
            <a:pPr marL="0" indent="0">
              <a:lnSpc>
                <a:spcPct val="80000"/>
              </a:lnSpc>
              <a:buNone/>
            </a:pPr>
            <a:r>
              <a:rPr lang="en-US" altLang="zh-CN" sz="1800" dirty="0">
                <a:cs typeface="Times New Roman" pitchFamily="18" charset="0"/>
              </a:rPr>
              <a:t>case -1 : </a:t>
            </a:r>
            <a:r>
              <a:rPr lang="en-US" altLang="zh-CN" sz="1800" dirty="0" err="1">
                <a:cs typeface="Times New Roman" pitchFamily="18" charset="0"/>
              </a:rPr>
              <a:t>perror</a:t>
            </a:r>
            <a:r>
              <a:rPr lang="en-US" altLang="zh-CN" sz="1800" dirty="0">
                <a:cs typeface="Times New Roman" pitchFamily="18" charset="0"/>
              </a:rPr>
              <a:t>("fork failed");</a:t>
            </a:r>
          </a:p>
          <a:p>
            <a:pPr marL="0" indent="0">
              <a:lnSpc>
                <a:spcPct val="80000"/>
              </a:lnSpc>
              <a:buNone/>
            </a:pPr>
            <a:r>
              <a:rPr lang="en-US" altLang="zh-CN" sz="1800" dirty="0">
                <a:cs typeface="Times New Roman" pitchFamily="18" charset="0"/>
              </a:rPr>
              <a:t>exit(1);</a:t>
            </a:r>
          </a:p>
          <a:p>
            <a:pPr marL="0" indent="0">
              <a:lnSpc>
                <a:spcPct val="80000"/>
              </a:lnSpc>
              <a:buNone/>
            </a:pPr>
            <a:r>
              <a:rPr lang="en-US" altLang="zh-CN" sz="1800" dirty="0">
                <a:cs typeface="Times New Roman" pitchFamily="18" charset="0"/>
              </a:rPr>
              <a:t>case 0: </a:t>
            </a:r>
            <a:r>
              <a:rPr lang="en-US" altLang="zh-CN" sz="1800" dirty="0" err="1">
                <a:cs typeface="Times New Roman" pitchFamily="18" charset="0"/>
              </a:rPr>
              <a:t>lockf</a:t>
            </a:r>
            <a:r>
              <a:rPr lang="en-US" altLang="zh-CN" sz="1800" dirty="0">
                <a:cs typeface="Times New Roman" pitchFamily="18" charset="0"/>
              </a:rPr>
              <a:t>(fd[1],1,0); //</a:t>
            </a:r>
            <a:r>
              <a:rPr lang="zh-CN" altLang="en-US" sz="1800" dirty="0">
                <a:cs typeface="Times New Roman" pitchFamily="18" charset="0"/>
              </a:rPr>
              <a:t>锁定写入端</a:t>
            </a:r>
          </a:p>
          <a:p>
            <a:pPr marL="0" indent="0">
              <a:lnSpc>
                <a:spcPct val="80000"/>
              </a:lnSpc>
              <a:buNone/>
            </a:pPr>
            <a:r>
              <a:rPr lang="en-US" altLang="zh-CN" sz="1800" dirty="0" err="1">
                <a:cs typeface="Times New Roman" pitchFamily="18" charset="0"/>
              </a:rPr>
              <a:t>sprintf</a:t>
            </a:r>
            <a:r>
              <a:rPr lang="en-US" altLang="zh-CN" sz="1800" dirty="0">
                <a:cs typeface="Times New Roman" pitchFamily="18" charset="0"/>
              </a:rPr>
              <a:t>(</a:t>
            </a:r>
            <a:r>
              <a:rPr lang="en-US" altLang="zh-CN" sz="1800" dirty="0" err="1">
                <a:cs typeface="Times New Roman" pitchFamily="18" charset="0"/>
              </a:rPr>
              <a:t>buf</a:t>
            </a:r>
            <a:r>
              <a:rPr lang="en-US" altLang="zh-CN" sz="1800" dirty="0">
                <a:cs typeface="Times New Roman" pitchFamily="18" charset="0"/>
              </a:rPr>
              <a:t>,"child p2 is sending messages</a:t>
            </a:r>
            <a:r>
              <a:rPr lang="zh-CN" altLang="en-US" sz="1800" dirty="0">
                <a:cs typeface="Times New Roman" pitchFamily="18" charset="0"/>
              </a:rPr>
              <a:t>！</a:t>
            </a:r>
            <a:r>
              <a:rPr lang="en-US" altLang="zh-CN" sz="1800" dirty="0">
                <a:cs typeface="Times New Roman" pitchFamily="18" charset="0"/>
              </a:rPr>
              <a:t>\n");</a:t>
            </a:r>
          </a:p>
          <a:p>
            <a:pPr marL="0" indent="0">
              <a:lnSpc>
                <a:spcPct val="80000"/>
              </a:lnSpc>
              <a:buNone/>
            </a:pPr>
            <a:r>
              <a:rPr lang="en-US" altLang="zh-CN" sz="1800" dirty="0">
                <a:cs typeface="Times New Roman" pitchFamily="18" charset="0"/>
              </a:rPr>
              <a:t>write(fd[1],buf,50);</a:t>
            </a:r>
          </a:p>
          <a:p>
            <a:pPr marL="0" indent="0">
              <a:lnSpc>
                <a:spcPct val="80000"/>
              </a:lnSpc>
              <a:buNone/>
            </a:pPr>
            <a:r>
              <a:rPr lang="en-US" altLang="zh-CN" sz="1800" dirty="0">
                <a:cs typeface="Times New Roman" pitchFamily="18" charset="0"/>
              </a:rPr>
              <a:t>sleep(2);</a:t>
            </a:r>
          </a:p>
          <a:p>
            <a:pPr marL="0" indent="0">
              <a:lnSpc>
                <a:spcPct val="80000"/>
              </a:lnSpc>
              <a:buNone/>
            </a:pPr>
            <a:r>
              <a:rPr lang="en-US" altLang="zh-CN" sz="1800" dirty="0" err="1">
                <a:cs typeface="Times New Roman" pitchFamily="18" charset="0"/>
              </a:rPr>
              <a:t>lockf</a:t>
            </a:r>
            <a:r>
              <a:rPr lang="en-US" altLang="zh-CN" sz="1800" dirty="0">
                <a:cs typeface="Times New Roman" pitchFamily="18" charset="0"/>
              </a:rPr>
              <a:t>(fd[1],0,0);    //</a:t>
            </a:r>
            <a:r>
              <a:rPr lang="zh-CN" altLang="en-US" sz="1800" dirty="0">
                <a:cs typeface="Times New Roman" pitchFamily="18" charset="0"/>
              </a:rPr>
              <a:t>释放写入端</a:t>
            </a:r>
          </a:p>
          <a:p>
            <a:pPr marL="0" indent="0">
              <a:lnSpc>
                <a:spcPct val="80000"/>
              </a:lnSpc>
              <a:buNone/>
            </a:pPr>
            <a:r>
              <a:rPr lang="en-US" altLang="zh-CN" sz="1800" dirty="0">
                <a:cs typeface="Times New Roman" pitchFamily="18" charset="0"/>
              </a:rPr>
              <a:t>exit(0);</a:t>
            </a:r>
          </a:p>
          <a:p>
            <a:pPr marL="0" indent="0">
              <a:lnSpc>
                <a:spcPct val="80000"/>
              </a:lnSpc>
              <a:buNone/>
            </a:pPr>
            <a:r>
              <a:rPr lang="en-US" altLang="zh-CN" sz="1800" dirty="0" err="1">
                <a:cs typeface="Times New Roman" pitchFamily="18" charset="0"/>
              </a:rPr>
              <a:t>default:wait</a:t>
            </a:r>
            <a:r>
              <a:rPr lang="en-US" altLang="zh-CN" sz="1800" dirty="0">
                <a:cs typeface="Times New Roman" pitchFamily="18" charset="0"/>
              </a:rPr>
              <a:t>(NULL);</a:t>
            </a:r>
          </a:p>
          <a:p>
            <a:pPr marL="0" indent="0">
              <a:lnSpc>
                <a:spcPct val="80000"/>
              </a:lnSpc>
              <a:buNone/>
            </a:pPr>
            <a:r>
              <a:rPr lang="en-US" altLang="zh-CN" sz="1800" dirty="0">
                <a:cs typeface="Times New Roman" pitchFamily="18" charset="0"/>
              </a:rPr>
              <a:t>read(fd[0],s,50);</a:t>
            </a:r>
          </a:p>
          <a:p>
            <a:pPr marL="0" indent="0">
              <a:lnSpc>
                <a:spcPct val="80000"/>
              </a:lnSpc>
              <a:buNone/>
            </a:pPr>
            <a:r>
              <a:rPr lang="en-US" altLang="zh-CN" sz="1800" dirty="0" err="1">
                <a:cs typeface="Times New Roman" pitchFamily="18" charset="0"/>
              </a:rPr>
              <a:t>printf</a:t>
            </a:r>
            <a:r>
              <a:rPr lang="en-US" altLang="zh-CN" sz="1800" dirty="0">
                <a:cs typeface="Times New Roman" pitchFamily="18" charset="0"/>
              </a:rPr>
              <a:t>("%</a:t>
            </a:r>
            <a:r>
              <a:rPr lang="en-US" altLang="zh-CN" sz="1800" dirty="0" err="1">
                <a:cs typeface="Times New Roman" pitchFamily="18" charset="0"/>
              </a:rPr>
              <a:t>s",s</a:t>
            </a:r>
            <a:r>
              <a:rPr lang="en-US" altLang="zh-CN" sz="1800" dirty="0">
                <a:cs typeface="Times New Roman" pitchFamily="18" charset="0"/>
              </a:rPr>
              <a:t>);</a:t>
            </a:r>
          </a:p>
          <a:p>
            <a:pPr marL="0" indent="0">
              <a:lnSpc>
                <a:spcPct val="80000"/>
              </a:lnSpc>
              <a:buNone/>
            </a:pPr>
            <a:r>
              <a:rPr lang="en-US" altLang="zh-CN" sz="1800" dirty="0">
                <a:cs typeface="Times New Roman" pitchFamily="18" charset="0"/>
              </a:rPr>
              <a:t>wait(NULL);</a:t>
            </a:r>
          </a:p>
          <a:p>
            <a:pPr marL="0" indent="0">
              <a:lnSpc>
                <a:spcPct val="80000"/>
              </a:lnSpc>
              <a:buNone/>
            </a:pPr>
            <a:r>
              <a:rPr lang="en-US" altLang="zh-CN" sz="1800" dirty="0">
                <a:cs typeface="Times New Roman" pitchFamily="18" charset="0"/>
              </a:rPr>
              <a:t>read(fd[0],s,50);</a:t>
            </a:r>
          </a:p>
          <a:p>
            <a:pPr marL="0" indent="0">
              <a:lnSpc>
                <a:spcPct val="80000"/>
              </a:lnSpc>
              <a:buNone/>
            </a:pPr>
            <a:r>
              <a:rPr lang="en-US" altLang="zh-CN" sz="1800" dirty="0" err="1">
                <a:cs typeface="Times New Roman" pitchFamily="18" charset="0"/>
              </a:rPr>
              <a:t>printf</a:t>
            </a:r>
            <a:r>
              <a:rPr lang="en-US" altLang="zh-CN" sz="1800" dirty="0">
                <a:cs typeface="Times New Roman" pitchFamily="18" charset="0"/>
              </a:rPr>
              <a:t>("%</a:t>
            </a:r>
            <a:r>
              <a:rPr lang="en-US" altLang="zh-CN" sz="1800" dirty="0" err="1">
                <a:cs typeface="Times New Roman" pitchFamily="18" charset="0"/>
              </a:rPr>
              <a:t>s",s</a:t>
            </a:r>
            <a:r>
              <a:rPr lang="en-US" altLang="zh-CN" sz="1800" dirty="0">
                <a:cs typeface="Times New Roman" pitchFamily="18" charset="0"/>
              </a:rPr>
              <a:t>);</a:t>
            </a:r>
          </a:p>
          <a:p>
            <a:pPr marL="0" indent="0">
              <a:lnSpc>
                <a:spcPct val="80000"/>
              </a:lnSpc>
              <a:buNone/>
            </a:pPr>
            <a:r>
              <a:rPr lang="en-US" altLang="zh-CN" sz="1800" dirty="0">
                <a:cs typeface="Times New Roman" pitchFamily="18" charset="0"/>
              </a:rPr>
              <a:t>exit(0);</a:t>
            </a:r>
          </a:p>
          <a:p>
            <a:pPr marL="0" indent="0">
              <a:lnSpc>
                <a:spcPct val="80000"/>
              </a:lnSpc>
              <a:buNone/>
            </a:pPr>
            <a:r>
              <a:rPr lang="en-US" altLang="zh-CN" sz="1800" dirty="0">
                <a:cs typeface="Times New Roman" pitchFamily="18" charset="0"/>
              </a:rPr>
              <a:t>}</a:t>
            </a:r>
          </a:p>
          <a:p>
            <a:pPr marL="0" indent="0">
              <a:lnSpc>
                <a:spcPct val="80000"/>
              </a:lnSpc>
              <a:buNone/>
            </a:pPr>
            <a:r>
              <a:rPr lang="en-US" altLang="zh-CN" sz="1800" dirty="0">
                <a:cs typeface="Times New Roman" pitchFamily="18" charset="0"/>
              </a:rPr>
              <a:t>}</a:t>
            </a:r>
          </a:p>
        </p:txBody>
      </p:sp>
      <p:sp>
        <p:nvSpPr>
          <p:cNvPr id="5" name="灯片编号占位符 4"/>
          <p:cNvSpPr>
            <a:spLocks noGrp="1"/>
          </p:cNvSpPr>
          <p:nvPr>
            <p:ph type="sldNum" sz="quarter" idx="11"/>
          </p:nvPr>
        </p:nvSpPr>
        <p:spPr>
          <a:xfrm>
            <a:off x="4727848" y="6525344"/>
            <a:ext cx="2133600" cy="457200"/>
          </a:xfrm>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256824-674A-4ED4-B487-021FC019A8CA}" type="slidenum">
              <a:rPr lang="en-US" altLang="zh-CN">
                <a:latin typeface="Arial Black" pitchFamily="34" charset="0"/>
              </a:rPr>
              <a:pPr eaLnBrk="1" hangingPunct="1"/>
              <a:t>77</a:t>
            </a:fld>
            <a:endParaRPr lang="en-US" altLang="zh-CN">
              <a:latin typeface="Arial Black" pitchFamily="34" charset="0"/>
            </a:endParaRPr>
          </a:p>
        </p:txBody>
      </p:sp>
    </p:spTree>
    <p:extLst>
      <p:ext uri="{BB962C8B-B14F-4D97-AF65-F5344CB8AC3E}">
        <p14:creationId xmlns:p14="http://schemas.microsoft.com/office/powerpoint/2010/main" val="3399329537"/>
      </p:ext>
    </p:extLst>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Text Box 2"/>
          <p:cNvSpPr txBox="1">
            <a:spLocks noChangeArrowheads="1"/>
          </p:cNvSpPr>
          <p:nvPr/>
        </p:nvSpPr>
        <p:spPr bwMode="auto">
          <a:xfrm>
            <a:off x="6270625" y="59531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endParaRPr kumimoji="1" lang="zh-CN" altLang="en-US" sz="2400">
              <a:latin typeface="Times New Roman" pitchFamily="18" charset="0"/>
            </a:endParaRPr>
          </a:p>
        </p:txBody>
      </p:sp>
      <p:sp>
        <p:nvSpPr>
          <p:cNvPr id="325637" name="Rectangle 5"/>
          <p:cNvSpPr>
            <a:spLocks noChangeArrowheads="1"/>
          </p:cNvSpPr>
          <p:nvPr/>
        </p:nvSpPr>
        <p:spPr bwMode="auto">
          <a:xfrm>
            <a:off x="1343472" y="1488629"/>
            <a:ext cx="8784976" cy="4464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eaLnBrk="0" hangingPunct="0">
              <a:defRPr>
                <a:solidFill>
                  <a:schemeClr val="tx1"/>
                </a:solidFill>
                <a:latin typeface="Arial" pitchFamily="34" charset="0"/>
                <a:ea typeface="宋体" pitchFamily="2" charset="-122"/>
              </a:defRPr>
            </a:lvl1pPr>
            <a:lvl2pPr marL="742950" indent="-285750" algn="l" eaLnBrk="0" hangingPunct="0">
              <a:defRPr>
                <a:solidFill>
                  <a:schemeClr val="tx1"/>
                </a:solidFill>
                <a:latin typeface="Arial" pitchFamily="34" charset="0"/>
                <a:ea typeface="宋体" pitchFamily="2" charset="-122"/>
              </a:defRPr>
            </a:lvl2pPr>
            <a:lvl3pPr marL="1143000" indent="-228600" algn="l" eaLnBrk="0" hangingPunct="0">
              <a:defRPr>
                <a:solidFill>
                  <a:schemeClr val="tx1"/>
                </a:solidFill>
                <a:latin typeface="Arial" pitchFamily="34" charset="0"/>
                <a:ea typeface="宋体" pitchFamily="2" charset="-122"/>
              </a:defRPr>
            </a:lvl3pPr>
            <a:lvl4pPr marL="1600200" indent="-228600" algn="l" eaLnBrk="0" hangingPunct="0">
              <a:defRPr>
                <a:solidFill>
                  <a:schemeClr val="tx1"/>
                </a:solidFill>
                <a:latin typeface="Arial" pitchFamily="34" charset="0"/>
                <a:ea typeface="宋体" pitchFamily="2" charset="-122"/>
              </a:defRPr>
            </a:lvl4pPr>
            <a:lvl5pPr marL="2057400" indent="-228600" algn="l"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lvl="1" algn="just" eaLnBrk="1" hangingPunct="1">
              <a:spcBef>
                <a:spcPct val="20000"/>
              </a:spcBef>
              <a:buClr>
                <a:srgbClr val="339933"/>
              </a:buClr>
              <a:buFont typeface="Wingdings" pitchFamily="2" charset="2"/>
              <a:buNone/>
            </a:pPr>
            <a:r>
              <a:rPr kumimoji="1" lang="zh-CN" altLang="en-US" sz="2600" dirty="0">
                <a:latin typeface="+mn-ea"/>
                <a:ea typeface="+mn-ea"/>
              </a:rPr>
              <a:t>编译并运行这个程序：</a:t>
            </a:r>
          </a:p>
          <a:p>
            <a:pPr lvl="1" eaLnBrk="1" hangingPunct="1">
              <a:spcBef>
                <a:spcPct val="20000"/>
              </a:spcBef>
              <a:buClr>
                <a:srgbClr val="339933"/>
              </a:buClr>
              <a:buFont typeface="Wingdings" pitchFamily="2" charset="2"/>
              <a:buNone/>
            </a:pPr>
            <a:r>
              <a:rPr kumimoji="1" lang="en-US" altLang="zh-CN" sz="2600" dirty="0">
                <a:solidFill>
                  <a:srgbClr val="000000"/>
                </a:solidFill>
                <a:latin typeface="+mn-ea"/>
                <a:ea typeface="+mn-ea"/>
                <a:cs typeface="Times New Roman" pitchFamily="18" charset="0"/>
              </a:rPr>
              <a:t>$gcc pipe_test3.c -o pipe_test3</a:t>
            </a:r>
          </a:p>
          <a:p>
            <a:pPr lvl="1" eaLnBrk="1" hangingPunct="1">
              <a:spcBef>
                <a:spcPct val="20000"/>
              </a:spcBef>
              <a:buClr>
                <a:srgbClr val="339933"/>
              </a:buClr>
              <a:buFont typeface="Wingdings" pitchFamily="2" charset="2"/>
              <a:buNone/>
            </a:pPr>
            <a:r>
              <a:rPr kumimoji="1" lang="zh-CN" altLang="en-US" sz="2600" dirty="0">
                <a:solidFill>
                  <a:srgbClr val="000000"/>
                </a:solidFill>
                <a:latin typeface="+mn-ea"/>
                <a:ea typeface="+mn-ea"/>
                <a:cs typeface="Times New Roman" pitchFamily="18" charset="0"/>
              </a:rPr>
              <a:t>执行：</a:t>
            </a:r>
          </a:p>
          <a:p>
            <a:pPr lvl="1" eaLnBrk="1" hangingPunct="1">
              <a:spcBef>
                <a:spcPct val="20000"/>
              </a:spcBef>
              <a:buClr>
                <a:srgbClr val="339933"/>
              </a:buClr>
            </a:pPr>
            <a:endParaRPr kumimoji="1" lang="en-US" altLang="zh-CN" sz="2500" dirty="0">
              <a:solidFill>
                <a:srgbClr val="000000"/>
              </a:solidFill>
              <a:latin typeface="+mn-ea"/>
              <a:ea typeface="+mn-ea"/>
              <a:cs typeface="Times New Roman" pitchFamily="18" charset="0"/>
            </a:endParaRPr>
          </a:p>
        </p:txBody>
      </p:sp>
      <p:sp>
        <p:nvSpPr>
          <p:cNvPr id="2" name="标题 1"/>
          <p:cNvSpPr>
            <a:spLocks noGrp="1"/>
          </p:cNvSpPr>
          <p:nvPr>
            <p:ph type="title"/>
          </p:nvPr>
        </p:nvSpPr>
        <p:spPr/>
        <p:txBody>
          <a:bodyPr/>
          <a:lstStyle/>
          <a:p>
            <a:r>
              <a:rPr lang="zh-CN" altLang="en-US" dirty="0">
                <a:latin typeface="+mn-ea"/>
              </a:rPr>
              <a:t>示例程序</a:t>
            </a:r>
            <a:endParaRPr lang="zh-CN" altLang="en-US" dirty="0"/>
          </a:p>
        </p:txBody>
      </p:sp>
      <p:sp>
        <p:nvSpPr>
          <p:cNvPr id="5" name="灯片编号占位符 5"/>
          <p:cNvSpPr>
            <a:spLocks noGrp="1"/>
          </p:cNvSpPr>
          <p:nvPr>
            <p:ph type="sldNum" sz="quarter" idx="11"/>
          </p:nvPr>
        </p:nvSpPr>
        <p:spPr>
          <a:prstGeom prst="rect">
            <a:avLst/>
          </a:prstGeom>
        </p:spPr>
        <p:txBody>
          <a:bodyPr/>
          <a:lstStyle/>
          <a:p>
            <a:fld id="{8B65A0CA-DAE2-4088-BB58-45073E9B1BD3}" type="slidenum">
              <a:rPr lang="zh-CN" altLang="en-US"/>
              <a:pPr/>
              <a:t>78</a:t>
            </a:fld>
            <a:endParaRPr lang="en-US" altLang="zh-CN" dirty="0"/>
          </a:p>
        </p:txBody>
      </p:sp>
      <p:pic>
        <p:nvPicPr>
          <p:cNvPr id="6" name="图片 5">
            <a:extLst>
              <a:ext uri="{FF2B5EF4-FFF2-40B4-BE49-F238E27FC236}">
                <a16:creationId xmlns:a16="http://schemas.microsoft.com/office/drawing/2014/main" id="{45FEDF57-E639-0671-2CC2-ACEAAD7E9C14}"/>
              </a:ext>
            </a:extLst>
          </p:cNvPr>
          <p:cNvPicPr>
            <a:picLocks noChangeAspect="1"/>
          </p:cNvPicPr>
          <p:nvPr/>
        </p:nvPicPr>
        <p:blipFill>
          <a:blip r:embed="rId3"/>
          <a:stretch>
            <a:fillRect/>
          </a:stretch>
        </p:blipFill>
        <p:spPr>
          <a:xfrm>
            <a:off x="1933624" y="3177971"/>
            <a:ext cx="8194824" cy="2333834"/>
          </a:xfrm>
          <a:prstGeom prst="rect">
            <a:avLst/>
          </a:prstGeom>
          <a:ln>
            <a:solidFill>
              <a:schemeClr val="bg2"/>
            </a:solidFill>
          </a:ln>
        </p:spPr>
      </p:pic>
    </p:spTree>
    <p:extLst>
      <p:ext uri="{BB962C8B-B14F-4D97-AF65-F5344CB8AC3E}">
        <p14:creationId xmlns:p14="http://schemas.microsoft.com/office/powerpoint/2010/main" val="2366754487"/>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A3EA646-EDCA-843B-70A7-9E395D6A63DE}"/>
              </a:ext>
            </a:extLst>
          </p:cNvPr>
          <p:cNvSpPr/>
          <p:nvPr/>
        </p:nvSpPr>
        <p:spPr>
          <a:xfrm>
            <a:off x="0" y="44624"/>
            <a:ext cx="12192000" cy="6741368"/>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22594" name="Rectangle 2"/>
          <p:cNvSpPr>
            <a:spLocks noGrp="1" noChangeArrowheads="1"/>
          </p:cNvSpPr>
          <p:nvPr>
            <p:ph type="title"/>
          </p:nvPr>
        </p:nvSpPr>
        <p:spPr>
          <a:xfrm>
            <a:off x="1775520" y="-27384"/>
            <a:ext cx="7543800" cy="858837"/>
          </a:xfrm>
        </p:spPr>
        <p:txBody>
          <a:bodyPr/>
          <a:lstStyle/>
          <a:p>
            <a:r>
              <a:rPr lang="zh-CN" altLang="en-US" dirty="0"/>
              <a:t>管道通信</a:t>
            </a:r>
          </a:p>
        </p:txBody>
      </p:sp>
      <p:sp>
        <p:nvSpPr>
          <p:cNvPr id="622595" name="Rectangle 3"/>
          <p:cNvSpPr>
            <a:spLocks noGrp="1" noChangeArrowheads="1"/>
          </p:cNvSpPr>
          <p:nvPr>
            <p:ph type="body" idx="1"/>
          </p:nvPr>
        </p:nvSpPr>
        <p:spPr>
          <a:xfrm>
            <a:off x="1559496" y="836712"/>
            <a:ext cx="8856984" cy="457200"/>
          </a:xfrm>
        </p:spPr>
        <p:txBody>
          <a:bodyPr/>
          <a:lstStyle/>
          <a:p>
            <a:pPr marL="800100" indent="-457200">
              <a:lnSpc>
                <a:spcPct val="90000"/>
              </a:lnSpc>
            </a:pPr>
            <a:r>
              <a:rPr lang="zh-CN" altLang="en-US" sz="2600" dirty="0">
                <a:solidFill>
                  <a:srgbClr val="0000CC"/>
                </a:solidFill>
              </a:rPr>
              <a:t>命名管道</a:t>
            </a:r>
            <a:r>
              <a:rPr lang="zh-CN" altLang="en-US" sz="2600" dirty="0"/>
              <a:t>由</a:t>
            </a:r>
            <a:r>
              <a:rPr lang="en-US" altLang="zh-CN" sz="2600" dirty="0"/>
              <a:t>mkfifo()</a:t>
            </a:r>
            <a:r>
              <a:rPr lang="zh-CN" altLang="en-US" sz="2600" dirty="0"/>
              <a:t>函数创建：</a:t>
            </a:r>
          </a:p>
          <a:p>
            <a:pPr indent="0">
              <a:lnSpc>
                <a:spcPct val="90000"/>
              </a:lnSpc>
              <a:buNone/>
            </a:pPr>
            <a:endParaRPr lang="en-US" altLang="zh-CN" sz="2600" dirty="0"/>
          </a:p>
          <a:p>
            <a:pPr indent="0">
              <a:lnSpc>
                <a:spcPct val="125000"/>
              </a:lnSpc>
              <a:buNone/>
            </a:pPr>
            <a:endParaRPr lang="en-US" altLang="zh-CN" sz="2600" dirty="0"/>
          </a:p>
          <a:p>
            <a:pPr indent="0">
              <a:lnSpc>
                <a:spcPct val="125000"/>
              </a:lnSpc>
              <a:buNone/>
            </a:pPr>
            <a:endParaRPr lang="zh-CN" altLang="en-US" sz="2400" dirty="0">
              <a:latin typeface="楷体_GB2312" pitchFamily="49" charset="-122"/>
              <a:ea typeface="楷体_GB2312" pitchFamily="49" charset="-122"/>
            </a:endParaRPr>
          </a:p>
          <a:p>
            <a:pPr indent="442913"/>
            <a:endParaRPr lang="zh-CN" altLang="en-US" sz="3600" dirty="0">
              <a:latin typeface="楷体_GB2312" pitchFamily="49" charset="-122"/>
              <a:ea typeface="楷体_GB2312" pitchFamily="49" charset="-122"/>
            </a:endParaRPr>
          </a:p>
        </p:txBody>
      </p:sp>
      <p:graphicFrame>
        <p:nvGraphicFramePr>
          <p:cNvPr id="4" name="Group 3">
            <a:extLst>
              <a:ext uri="{FF2B5EF4-FFF2-40B4-BE49-F238E27FC236}">
                <a16:creationId xmlns:a16="http://schemas.microsoft.com/office/drawing/2014/main" id="{4188E407-0FC4-02DA-C05E-E4B74972049E}"/>
              </a:ext>
            </a:extLst>
          </p:cNvPr>
          <p:cNvGraphicFramePr>
            <a:graphicFrameLocks noGrp="1"/>
          </p:cNvGraphicFramePr>
          <p:nvPr>
            <p:extLst>
              <p:ext uri="{D42A27DB-BD31-4B8C-83A1-F6EECF244321}">
                <p14:modId xmlns:p14="http://schemas.microsoft.com/office/powerpoint/2010/main" val="641166075"/>
              </p:ext>
            </p:extLst>
          </p:nvPr>
        </p:nvGraphicFramePr>
        <p:xfrm>
          <a:off x="1991545" y="1410774"/>
          <a:ext cx="8209855" cy="5333824"/>
        </p:xfrm>
        <a:graphic>
          <a:graphicData uri="http://schemas.openxmlformats.org/drawingml/2006/table">
            <a:tbl>
              <a:tblPr/>
              <a:tblGrid>
                <a:gridCol w="1530625">
                  <a:extLst>
                    <a:ext uri="{9D8B030D-6E8A-4147-A177-3AD203B41FA5}">
                      <a16:colId xmlns:a16="http://schemas.microsoft.com/office/drawing/2014/main" val="20000"/>
                    </a:ext>
                  </a:extLst>
                </a:gridCol>
                <a:gridCol w="904879">
                  <a:extLst>
                    <a:ext uri="{9D8B030D-6E8A-4147-A177-3AD203B41FA5}">
                      <a16:colId xmlns:a16="http://schemas.microsoft.com/office/drawing/2014/main" val="20001"/>
                    </a:ext>
                  </a:extLst>
                </a:gridCol>
                <a:gridCol w="5774351">
                  <a:extLst>
                    <a:ext uri="{9D8B030D-6E8A-4147-A177-3AD203B41FA5}">
                      <a16:colId xmlns:a16="http://schemas.microsoft.com/office/drawing/2014/main" val="20002"/>
                    </a:ext>
                  </a:extLst>
                </a:gridCol>
              </a:tblGrid>
              <a:tr h="730837">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所需头文件</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#include &lt;sys/types.h&gt;</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#include &lt;sys/state.h&gt;</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8002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函数原型</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int mkfifo (const char *filename, </a:t>
                      </a:r>
                      <a:r>
                        <a:rPr kumimoji="0" lang="en-US" altLang="zh-CN" sz="2000" b="0" i="0" u="none" strike="noStrike" cap="none" normalizeH="0" baseline="0" dirty="0" err="1">
                          <a:ln>
                            <a:noFill/>
                          </a:ln>
                          <a:solidFill>
                            <a:schemeClr val="tx1"/>
                          </a:solidFill>
                          <a:effectLst/>
                          <a:latin typeface="Arial" charset="0"/>
                          <a:ea typeface="宋体" pitchFamily="2" charset="-122"/>
                        </a:rPr>
                        <a:t>mode_t</a:t>
                      </a:r>
                      <a:r>
                        <a:rPr kumimoji="0" lang="en-US" altLang="zh-CN" sz="2000" b="0" i="0" u="none" strike="noStrike" cap="none" normalizeH="0" baseline="0" dirty="0">
                          <a:ln>
                            <a:noFill/>
                          </a:ln>
                          <a:solidFill>
                            <a:schemeClr val="tx1"/>
                          </a:solidFill>
                          <a:effectLst/>
                          <a:latin typeface="Arial" charset="0"/>
                          <a:ea typeface="宋体" pitchFamily="2" charset="-122"/>
                        </a:rPr>
                        <a:t> mode)</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1"/>
                  </a:ext>
                </a:extLst>
              </a:tr>
              <a:tr h="380028">
                <a:tc rowSpan="7">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函数传入值</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filename:</a:t>
                      </a:r>
                      <a:r>
                        <a:rPr kumimoji="0" lang="zh-CN" altLang="en-US" sz="2000" b="0" i="0" u="none" strike="noStrike" cap="none" normalizeH="0" baseline="0" dirty="0">
                          <a:ln>
                            <a:noFill/>
                          </a:ln>
                          <a:solidFill>
                            <a:schemeClr val="tx1"/>
                          </a:solidFill>
                          <a:effectLst/>
                          <a:latin typeface="Arial" charset="0"/>
                          <a:ea typeface="宋体" pitchFamily="2" charset="-122"/>
                        </a:rPr>
                        <a:t>要创建的管道</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2"/>
                  </a:ext>
                </a:extLst>
              </a:tr>
              <a:tr h="380028">
                <a:tc vMerge="1">
                  <a:txBody>
                    <a:bodyPr/>
                    <a:lstStyle/>
                    <a:p>
                      <a:endParaRPr lang="zh-CN" altLang="en-US"/>
                    </a:p>
                  </a:txBody>
                  <a:tcPr/>
                </a:tc>
                <a:tc rowSpan="6">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mode:</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0" i="0" u="none" strike="noStrike" cap="none" normalizeH="0" baseline="0">
                        <a:ln>
                          <a:noFill/>
                        </a:ln>
                        <a:solidFill>
                          <a:schemeClr val="tx1"/>
                        </a:solidFill>
                        <a:effectLst/>
                        <a:latin typeface="Arial"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O_RDONLY:</a:t>
                      </a:r>
                      <a:r>
                        <a:rPr kumimoji="0" lang="zh-CN" altLang="en-US" sz="2000" b="0" i="0" u="none" strike="noStrike" cap="none" normalizeH="0" baseline="0">
                          <a:ln>
                            <a:noFill/>
                          </a:ln>
                          <a:solidFill>
                            <a:schemeClr val="tx1"/>
                          </a:solidFill>
                          <a:effectLst/>
                          <a:latin typeface="Arial" charset="0"/>
                          <a:ea typeface="宋体" pitchFamily="2" charset="-122"/>
                        </a:rPr>
                        <a:t>读管道</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0028">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O_WRONLY:</a:t>
                      </a:r>
                      <a:r>
                        <a:rPr kumimoji="0" lang="zh-CN" altLang="en-US" sz="2000" b="0" i="0" u="none" strike="noStrike" cap="none" normalizeH="0" baseline="0">
                          <a:ln>
                            <a:noFill/>
                          </a:ln>
                          <a:solidFill>
                            <a:schemeClr val="tx1"/>
                          </a:solidFill>
                          <a:effectLst/>
                          <a:latin typeface="Arial" charset="0"/>
                          <a:ea typeface="宋体" pitchFamily="2" charset="-122"/>
                        </a:rPr>
                        <a:t>写管道</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0028">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O_RDWR:</a:t>
                      </a:r>
                      <a:r>
                        <a:rPr kumimoji="0" lang="zh-CN" altLang="en-US" sz="2000" b="0" i="0" u="none" strike="noStrike" cap="none" normalizeH="0" baseline="0">
                          <a:ln>
                            <a:noFill/>
                          </a:ln>
                          <a:solidFill>
                            <a:schemeClr val="tx1"/>
                          </a:solidFill>
                          <a:effectLst/>
                          <a:latin typeface="Arial" charset="0"/>
                          <a:ea typeface="宋体" pitchFamily="2" charset="-122"/>
                        </a:rPr>
                        <a:t>读写管道</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0028">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O_NONBLOCK:</a:t>
                      </a:r>
                      <a:r>
                        <a:rPr kumimoji="0" lang="zh-CN" altLang="en-US" sz="2000" b="0" i="0" u="none" strike="noStrike" cap="none" normalizeH="0" baseline="0" dirty="0">
                          <a:ln>
                            <a:noFill/>
                          </a:ln>
                          <a:solidFill>
                            <a:schemeClr val="tx1"/>
                          </a:solidFill>
                          <a:effectLst/>
                          <a:latin typeface="Arial" charset="0"/>
                          <a:ea typeface="宋体" pitchFamily="2" charset="-122"/>
                        </a:rPr>
                        <a:t>非阻塞</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72369">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O_CREAT:</a:t>
                      </a:r>
                      <a:r>
                        <a:rPr kumimoji="0" lang="zh-CN" altLang="en-US" sz="2000" b="0" i="0" u="none" strike="noStrike" cap="none" normalizeH="0" baseline="0" dirty="0">
                          <a:ln>
                            <a:noFill/>
                          </a:ln>
                          <a:solidFill>
                            <a:schemeClr val="tx1"/>
                          </a:solidFill>
                          <a:effectLst/>
                          <a:latin typeface="Arial" charset="0"/>
                          <a:ea typeface="宋体" pitchFamily="2" charset="-122"/>
                        </a:rPr>
                        <a:t>如果该文件不存在，那么就创建一个新的文件，并用第三参数为其设置权限。</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72369">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O_EXCL:</a:t>
                      </a:r>
                      <a:r>
                        <a:rPr kumimoji="0" lang="zh-CN" altLang="en-US" sz="2000" b="0" i="0" u="none" strike="noStrike" cap="none" normalizeH="0" baseline="0" dirty="0">
                          <a:ln>
                            <a:noFill/>
                          </a:ln>
                          <a:solidFill>
                            <a:schemeClr val="tx1"/>
                          </a:solidFill>
                          <a:effectLst/>
                          <a:latin typeface="Arial" charset="0"/>
                          <a:ea typeface="宋体" pitchFamily="2" charset="-122"/>
                        </a:rPr>
                        <a:t>如果使用</a:t>
                      </a:r>
                      <a:r>
                        <a:rPr kumimoji="0" lang="en-US" altLang="zh-CN" sz="2000" b="0" i="0" u="none" strike="noStrike" cap="none" normalizeH="0" baseline="0" dirty="0">
                          <a:ln>
                            <a:noFill/>
                          </a:ln>
                          <a:solidFill>
                            <a:schemeClr val="tx1"/>
                          </a:solidFill>
                          <a:effectLst/>
                          <a:latin typeface="Arial" charset="0"/>
                          <a:ea typeface="宋体" pitchFamily="2" charset="-122"/>
                        </a:rPr>
                        <a:t>O_CREAT</a:t>
                      </a:r>
                      <a:r>
                        <a:rPr kumimoji="0" lang="zh-CN" altLang="en-US" sz="2000" b="0" i="0" u="none" strike="noStrike" cap="none" normalizeH="0" baseline="0" dirty="0">
                          <a:ln>
                            <a:noFill/>
                          </a:ln>
                          <a:solidFill>
                            <a:schemeClr val="tx1"/>
                          </a:solidFill>
                          <a:effectLst/>
                          <a:latin typeface="Arial" charset="0"/>
                          <a:ea typeface="宋体" pitchFamily="2" charset="-122"/>
                        </a:rPr>
                        <a:t>时文件存在，那么可返回错误消息，这一参数可测试文件是否存在。</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0028">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函数返回值</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成功：</a:t>
                      </a: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9"/>
                  </a:ext>
                </a:extLst>
              </a:tr>
              <a:tr h="380028">
                <a:tc v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0" i="0" u="none" strike="noStrike" cap="none" normalizeH="0" baseline="0" dirty="0">
                          <a:ln>
                            <a:noFill/>
                          </a:ln>
                          <a:solidFill>
                            <a:schemeClr val="tx1"/>
                          </a:solidFill>
                          <a:effectLst/>
                          <a:latin typeface="Arial" charset="0"/>
                          <a:ea typeface="宋体" pitchFamily="2" charset="-122"/>
                        </a:rPr>
                        <a:t>出错：</a:t>
                      </a:r>
                      <a:r>
                        <a:rPr kumimoji="0" lang="en-US" altLang="zh-CN" sz="2000" b="0" i="0" u="none" strike="noStrike" cap="none" normalizeH="0" baseline="0" dirty="0">
                          <a:ln>
                            <a:noFill/>
                          </a:ln>
                          <a:solidFill>
                            <a:schemeClr val="tx1"/>
                          </a:solidFill>
                          <a:effectLst/>
                          <a:latin typeface="Arial" charset="0"/>
                          <a:ea typeface="宋体" pitchFamily="2" charset="-122"/>
                        </a:rPr>
                        <a:t>-1</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438310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body" idx="1"/>
          </p:nvPr>
        </p:nvSpPr>
        <p:spPr>
          <a:xfrm>
            <a:off x="1199456" y="1350030"/>
            <a:ext cx="10081120" cy="4890434"/>
          </a:xfrm>
        </p:spPr>
        <p:txBody>
          <a:bodyPr/>
          <a:lstStyle/>
          <a:p>
            <a:pPr marL="506412" indent="-457200" eaLnBrk="1" hangingPunct="1"/>
            <a:r>
              <a:rPr lang="zh-CN" altLang="en-US" sz="2600" dirty="0">
                <a:solidFill>
                  <a:srgbClr val="0000CC"/>
                </a:solidFill>
              </a:rPr>
              <a:t>命名管道：</a:t>
            </a:r>
            <a:r>
              <a:rPr lang="zh-CN" altLang="en-US" sz="2600" dirty="0"/>
              <a:t>命名（有名）管道可以使互不相关的两个进程实现彼此通信。该管道可以通过路径名来指出，并在文件系统中是可见的，建立管道之后，两个进程可把它作为普通文件一样进行读写操作。</a:t>
            </a:r>
          </a:p>
          <a:p>
            <a:pPr marL="506412" indent="-457200" eaLnBrk="1" hangingPunct="1"/>
            <a:r>
              <a:rPr lang="zh-CN" altLang="en-US" sz="2600" dirty="0"/>
              <a:t>对于读进程</a:t>
            </a:r>
          </a:p>
          <a:p>
            <a:pPr lvl="1" eaLnBrk="1" hangingPunct="1"/>
            <a:r>
              <a:rPr lang="zh-CN" altLang="en-US" sz="2300" dirty="0"/>
              <a:t>若该管道是阻塞打开，且当前</a:t>
            </a:r>
            <a:r>
              <a:rPr lang="en-US" altLang="zh-CN" sz="2300" dirty="0"/>
              <a:t>FIFO</a:t>
            </a:r>
            <a:r>
              <a:rPr lang="zh-CN" altLang="en-US" sz="2300" dirty="0"/>
              <a:t>内没有数据，则读进程将一直阻塞直到有数据写入。若该管道是非阻塞打开，则不论</a:t>
            </a:r>
            <a:r>
              <a:rPr lang="en-US" altLang="zh-CN" sz="2300" dirty="0"/>
              <a:t>FIFO</a:t>
            </a:r>
            <a:r>
              <a:rPr lang="zh-CN" altLang="en-US" sz="2300" dirty="0"/>
              <a:t>内是否有数据，读进程都会立即执行读操作。</a:t>
            </a:r>
          </a:p>
          <a:p>
            <a:pPr marL="506412" indent="-457200" eaLnBrk="1" hangingPunct="1"/>
            <a:r>
              <a:rPr lang="zh-CN" altLang="en-US" sz="2600" dirty="0"/>
              <a:t>对于写进程</a:t>
            </a:r>
          </a:p>
          <a:p>
            <a:pPr marL="855662" lvl="1" indent="-457200" eaLnBrk="1" hangingPunct="1"/>
            <a:r>
              <a:rPr lang="zh-CN" altLang="en-US" sz="2300" dirty="0"/>
              <a:t>若该管道是阻塞打开，则写进程将一直阻塞直到读进程读出数据。若该管道是非阻塞打开，则不管当前</a:t>
            </a:r>
            <a:r>
              <a:rPr lang="en-US" altLang="zh-CN" sz="2300" dirty="0"/>
              <a:t>FIFO</a:t>
            </a:r>
            <a:r>
              <a:rPr lang="zh-CN" altLang="en-US" sz="2300" dirty="0"/>
              <a:t>中有没有读操作，写进程会立即执行写操作。</a:t>
            </a:r>
          </a:p>
          <a:p>
            <a:pPr marL="49212" indent="0" eaLnBrk="1" hangingPunct="1">
              <a:buNone/>
            </a:pPr>
            <a:endParaRPr lang="en-US" altLang="zh-CN" sz="2600" dirty="0"/>
          </a:p>
        </p:txBody>
      </p:sp>
      <p:sp>
        <p:nvSpPr>
          <p:cNvPr id="4" name="Rectangle 4"/>
          <p:cNvSpPr>
            <a:spLocks noChangeArrowheads="1"/>
          </p:cNvSpPr>
          <p:nvPr/>
        </p:nvSpPr>
        <p:spPr bwMode="auto">
          <a:xfrm>
            <a:off x="1703512" y="496749"/>
            <a:ext cx="9145016"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4000" dirty="0">
                <a:latin typeface="+mn-ea"/>
                <a:ea typeface="+mn-ea"/>
              </a:rPr>
              <a:t>管道通信</a:t>
            </a:r>
            <a:endParaRPr lang="zh-CN" altLang="en-US" sz="3600" dirty="0">
              <a:latin typeface="+mn-ea"/>
              <a:ea typeface="+mn-ea"/>
            </a:endParaRPr>
          </a:p>
        </p:txBody>
      </p:sp>
    </p:spTree>
    <p:extLst>
      <p:ext uri="{BB962C8B-B14F-4D97-AF65-F5344CB8AC3E}">
        <p14:creationId xmlns:p14="http://schemas.microsoft.com/office/powerpoint/2010/main" val="5206576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DE1B296-F60E-2498-4B3C-3A51E646BBE0}"/>
              </a:ext>
            </a:extLst>
          </p:cNvPr>
          <p:cNvSpPr/>
          <p:nvPr/>
        </p:nvSpPr>
        <p:spPr>
          <a:xfrm>
            <a:off x="0" y="44624"/>
            <a:ext cx="12192000" cy="6741368"/>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3970" name="Rectangle 2"/>
          <p:cNvSpPr>
            <a:spLocks noGrp="1" noChangeArrowheads="1"/>
          </p:cNvSpPr>
          <p:nvPr>
            <p:ph type="title"/>
          </p:nvPr>
        </p:nvSpPr>
        <p:spPr>
          <a:xfrm>
            <a:off x="1919536" y="44625"/>
            <a:ext cx="8496944" cy="858837"/>
          </a:xfrm>
        </p:spPr>
        <p:txBody>
          <a:bodyPr/>
          <a:lstStyle/>
          <a:p>
            <a:pPr algn="l"/>
            <a:r>
              <a:rPr lang="zh-CN" altLang="en-US" sz="2200" dirty="0">
                <a:latin typeface="+mn-ea"/>
                <a:ea typeface="+mn-ea"/>
              </a:rPr>
              <a:t>例：命名管道实现将文件</a:t>
            </a:r>
            <a:r>
              <a:rPr lang="en-US" altLang="zh-CN" sz="2200" dirty="0" err="1">
                <a:latin typeface="+mn-ea"/>
                <a:ea typeface="+mn-ea"/>
              </a:rPr>
              <a:t>abc</a:t>
            </a:r>
            <a:r>
              <a:rPr lang="zh-CN" altLang="en-US" sz="2200" dirty="0">
                <a:latin typeface="+mn-ea"/>
                <a:ea typeface="+mn-ea"/>
              </a:rPr>
              <a:t>中内容拷贝至</a:t>
            </a:r>
            <a:r>
              <a:rPr lang="en-US" altLang="zh-CN" sz="2200" dirty="0" err="1">
                <a:latin typeface="+mn-ea"/>
                <a:ea typeface="+mn-ea"/>
              </a:rPr>
              <a:t>abc.bak</a:t>
            </a:r>
            <a:r>
              <a:rPr lang="zh-CN" altLang="en-US" sz="2200" dirty="0">
                <a:latin typeface="+mn-ea"/>
                <a:ea typeface="+mn-ea"/>
              </a:rPr>
              <a:t>中，读取“</a:t>
            </a:r>
            <a:r>
              <a:rPr lang="en-US" altLang="zh-CN" sz="2200" dirty="0" err="1">
                <a:latin typeface="+mn-ea"/>
                <a:ea typeface="+mn-ea"/>
              </a:rPr>
              <a:t>abc</a:t>
            </a:r>
            <a:r>
              <a:rPr lang="en-US" altLang="zh-CN" sz="2200" dirty="0">
                <a:latin typeface="+mn-ea"/>
                <a:ea typeface="+mn-ea"/>
              </a:rPr>
              <a:t>”</a:t>
            </a:r>
            <a:r>
              <a:rPr lang="zh-CN" altLang="en-US" sz="2200" dirty="0">
                <a:latin typeface="+mn-ea"/>
                <a:ea typeface="+mn-ea"/>
              </a:rPr>
              <a:t>中的内容写入管道</a:t>
            </a:r>
            <a:r>
              <a:rPr lang="en-US" altLang="zh-CN" sz="2200" dirty="0" err="1">
                <a:latin typeface="+mn-ea"/>
                <a:ea typeface="+mn-ea"/>
              </a:rPr>
              <a:t>tp</a:t>
            </a:r>
            <a:r>
              <a:rPr lang="zh-CN" altLang="en-US" sz="2200" dirty="0">
                <a:latin typeface="+mn-ea"/>
                <a:ea typeface="+mn-ea"/>
              </a:rPr>
              <a:t>中，程序</a:t>
            </a:r>
            <a:r>
              <a:rPr lang="en-US" altLang="zh-CN" sz="2200" dirty="0">
                <a:latin typeface="+mn-ea"/>
                <a:ea typeface="+mn-ea"/>
              </a:rPr>
              <a:t>fifo1.c</a:t>
            </a:r>
            <a:r>
              <a:rPr lang="zh-CN" altLang="en-US" sz="2200" dirty="0">
                <a:latin typeface="+mn-ea"/>
                <a:ea typeface="+mn-ea"/>
              </a:rPr>
              <a:t>如下：</a:t>
            </a:r>
          </a:p>
        </p:txBody>
      </p:sp>
      <p:sp>
        <p:nvSpPr>
          <p:cNvPr id="83971" name="Rectangle 3"/>
          <p:cNvSpPr>
            <a:spLocks noGrp="1" noChangeArrowheads="1"/>
          </p:cNvSpPr>
          <p:nvPr>
            <p:ph type="body" sz="half" idx="1"/>
          </p:nvPr>
        </p:nvSpPr>
        <p:spPr>
          <a:xfrm>
            <a:off x="1663824" y="980728"/>
            <a:ext cx="4432176" cy="5400600"/>
          </a:xfrm>
          <a:ln>
            <a:solidFill>
              <a:schemeClr val="bg2"/>
            </a:solidFill>
          </a:ln>
        </p:spPr>
        <p:txBody>
          <a:bodyPr/>
          <a:lstStyle/>
          <a:p>
            <a:pPr marL="0" indent="0">
              <a:lnSpc>
                <a:spcPct val="80000"/>
              </a:lnSpc>
              <a:buNone/>
            </a:pPr>
            <a:r>
              <a:rPr lang="en-US" altLang="zh-CN" sz="2000" dirty="0">
                <a:cs typeface="Times New Roman" pitchFamily="18" charset="0"/>
              </a:rPr>
              <a:t>#include &lt;unistd.h&gt;</a:t>
            </a:r>
          </a:p>
          <a:p>
            <a:pPr marL="0" indent="0">
              <a:lnSpc>
                <a:spcPct val="80000"/>
              </a:lnSpc>
              <a:buNone/>
            </a:pPr>
            <a:r>
              <a:rPr lang="en-US" altLang="zh-CN" sz="2000" dirty="0">
                <a:cs typeface="Times New Roman" pitchFamily="18" charset="0"/>
              </a:rPr>
              <a:t>#include &lt;stdlib.h&gt;</a:t>
            </a:r>
          </a:p>
          <a:p>
            <a:pPr marL="0" indent="0">
              <a:lnSpc>
                <a:spcPct val="80000"/>
              </a:lnSpc>
              <a:buNone/>
            </a:pPr>
            <a:r>
              <a:rPr lang="en-US" altLang="zh-CN" sz="2000" dirty="0">
                <a:cs typeface="Times New Roman" pitchFamily="18" charset="0"/>
              </a:rPr>
              <a:t>#include &lt;stdio.h&gt;</a:t>
            </a:r>
          </a:p>
          <a:p>
            <a:pPr marL="0" indent="0">
              <a:lnSpc>
                <a:spcPct val="80000"/>
              </a:lnSpc>
              <a:buNone/>
            </a:pPr>
            <a:r>
              <a:rPr lang="en-US" altLang="zh-CN" sz="2000" dirty="0">
                <a:cs typeface="Times New Roman" pitchFamily="18" charset="0"/>
              </a:rPr>
              <a:t>#include &lt;</a:t>
            </a:r>
            <a:r>
              <a:rPr lang="en-US" altLang="zh-CN" sz="2000" dirty="0" err="1">
                <a:cs typeface="Times New Roman" pitchFamily="18" charset="0"/>
              </a:rPr>
              <a:t>errno.h</a:t>
            </a:r>
            <a:r>
              <a:rPr lang="en-US" altLang="zh-CN" sz="2000" dirty="0">
                <a:cs typeface="Times New Roman" pitchFamily="18" charset="0"/>
              </a:rPr>
              <a:t>&gt;</a:t>
            </a:r>
          </a:p>
          <a:p>
            <a:pPr marL="0" indent="0">
              <a:lnSpc>
                <a:spcPct val="80000"/>
              </a:lnSpc>
              <a:buNone/>
            </a:pPr>
            <a:r>
              <a:rPr lang="en-US" altLang="zh-CN" sz="2000" dirty="0">
                <a:cs typeface="Times New Roman" pitchFamily="18" charset="0"/>
              </a:rPr>
              <a:t>#include &lt;</a:t>
            </a:r>
            <a:r>
              <a:rPr lang="en-US" altLang="zh-CN" sz="2000" dirty="0" err="1">
                <a:cs typeface="Times New Roman" pitchFamily="18" charset="0"/>
              </a:rPr>
              <a:t>string.h</a:t>
            </a:r>
            <a:r>
              <a:rPr lang="en-US" altLang="zh-CN" sz="2000" dirty="0">
                <a:cs typeface="Times New Roman" pitchFamily="18" charset="0"/>
              </a:rPr>
              <a:t>&gt;</a:t>
            </a:r>
          </a:p>
          <a:p>
            <a:pPr marL="0" indent="0">
              <a:lnSpc>
                <a:spcPct val="80000"/>
              </a:lnSpc>
              <a:buNone/>
            </a:pPr>
            <a:r>
              <a:rPr lang="en-US" altLang="zh-CN" sz="2000" dirty="0">
                <a:cs typeface="Times New Roman" pitchFamily="18" charset="0"/>
              </a:rPr>
              <a:t>#include &lt;</a:t>
            </a:r>
            <a:r>
              <a:rPr lang="en-US" altLang="zh-CN" sz="2000" dirty="0" err="1">
                <a:cs typeface="Times New Roman" pitchFamily="18" charset="0"/>
              </a:rPr>
              <a:t>fcntl.h</a:t>
            </a:r>
            <a:r>
              <a:rPr lang="en-US" altLang="zh-CN" sz="2000" dirty="0">
                <a:cs typeface="Times New Roman" pitchFamily="18" charset="0"/>
              </a:rPr>
              <a:t>&gt;</a:t>
            </a:r>
          </a:p>
          <a:p>
            <a:pPr marL="0" indent="0">
              <a:lnSpc>
                <a:spcPct val="80000"/>
              </a:lnSpc>
              <a:buNone/>
            </a:pPr>
            <a:endParaRPr lang="en-US" altLang="zh-CN" sz="2000" dirty="0">
              <a:cs typeface="Times New Roman" pitchFamily="18" charset="0"/>
            </a:endParaRPr>
          </a:p>
          <a:p>
            <a:pPr marL="0" indent="0">
              <a:lnSpc>
                <a:spcPct val="80000"/>
              </a:lnSpc>
              <a:buNone/>
            </a:pPr>
            <a:r>
              <a:rPr lang="en-US" altLang="zh-CN" sz="2000" dirty="0">
                <a:cs typeface="Times New Roman" pitchFamily="18" charset="0"/>
              </a:rPr>
              <a:t>#define ERR_EXIT(m)</a:t>
            </a:r>
          </a:p>
          <a:p>
            <a:pPr marL="0" indent="0">
              <a:lnSpc>
                <a:spcPct val="80000"/>
              </a:lnSpc>
              <a:buNone/>
            </a:pPr>
            <a:endParaRPr lang="en-US" altLang="zh-CN" sz="2000" dirty="0">
              <a:cs typeface="Times New Roman" pitchFamily="18" charset="0"/>
            </a:endParaRPr>
          </a:p>
          <a:p>
            <a:pPr marL="0" indent="0">
              <a:lnSpc>
                <a:spcPct val="80000"/>
              </a:lnSpc>
              <a:buNone/>
            </a:pPr>
            <a:r>
              <a:rPr lang="en-US" altLang="zh-CN" sz="2000" dirty="0">
                <a:cs typeface="Times New Roman" pitchFamily="18" charset="0"/>
              </a:rPr>
              <a:t>int main()</a:t>
            </a:r>
          </a:p>
          <a:p>
            <a:pPr marL="0" indent="0">
              <a:lnSpc>
                <a:spcPct val="80000"/>
              </a:lnSpc>
              <a:buNone/>
            </a:pPr>
            <a:r>
              <a:rPr lang="en-US" altLang="zh-CN" sz="2000" dirty="0">
                <a:cs typeface="Times New Roman" pitchFamily="18" charset="0"/>
              </a:rPr>
              <a:t>{</a:t>
            </a:r>
          </a:p>
          <a:p>
            <a:pPr marL="0" indent="0">
              <a:lnSpc>
                <a:spcPct val="80000"/>
              </a:lnSpc>
              <a:buNone/>
            </a:pPr>
            <a:r>
              <a:rPr lang="en-US" altLang="zh-CN" sz="2000" dirty="0">
                <a:cs typeface="Times New Roman" pitchFamily="18" charset="0"/>
              </a:rPr>
              <a:t>mkfifo("tp",0644);   //</a:t>
            </a:r>
            <a:r>
              <a:rPr lang="zh-CN" altLang="en-US" sz="2000" dirty="0">
                <a:cs typeface="Times New Roman" pitchFamily="18" charset="0"/>
              </a:rPr>
              <a:t>创建管道</a:t>
            </a:r>
          </a:p>
          <a:p>
            <a:pPr marL="0" indent="0">
              <a:lnSpc>
                <a:spcPct val="80000"/>
              </a:lnSpc>
              <a:buNone/>
            </a:pPr>
            <a:r>
              <a:rPr lang="en-US" altLang="zh-CN" sz="2000" dirty="0">
                <a:cs typeface="Times New Roman" pitchFamily="18" charset="0"/>
              </a:rPr>
              <a:t>int </a:t>
            </a:r>
            <a:r>
              <a:rPr lang="en-US" altLang="zh-CN" sz="2000" dirty="0" err="1">
                <a:cs typeface="Times New Roman" pitchFamily="18" charset="0"/>
              </a:rPr>
              <a:t>infd,outfd</a:t>
            </a:r>
            <a:r>
              <a:rPr lang="en-US" altLang="zh-CN" sz="2000" dirty="0">
                <a:cs typeface="Times New Roman" pitchFamily="18" charset="0"/>
              </a:rPr>
              <a:t>;</a:t>
            </a:r>
          </a:p>
          <a:p>
            <a:pPr marL="0" indent="0">
              <a:lnSpc>
                <a:spcPct val="80000"/>
              </a:lnSpc>
              <a:buNone/>
            </a:pPr>
            <a:r>
              <a:rPr lang="en-US" altLang="zh-CN" sz="2000" dirty="0" err="1">
                <a:cs typeface="Times New Roman" pitchFamily="18" charset="0"/>
              </a:rPr>
              <a:t>infd</a:t>
            </a:r>
            <a:r>
              <a:rPr lang="en-US" altLang="zh-CN" sz="2000" dirty="0">
                <a:cs typeface="Times New Roman" pitchFamily="18" charset="0"/>
              </a:rPr>
              <a:t>=open("</a:t>
            </a:r>
            <a:r>
              <a:rPr lang="en-US" altLang="zh-CN" sz="2000" dirty="0" err="1">
                <a:cs typeface="Times New Roman" pitchFamily="18" charset="0"/>
              </a:rPr>
              <a:t>abc</a:t>
            </a:r>
            <a:r>
              <a:rPr lang="en-US" altLang="zh-CN" sz="2000" dirty="0">
                <a:cs typeface="Times New Roman" pitchFamily="18" charset="0"/>
              </a:rPr>
              <a:t>",O_RDONLY);</a:t>
            </a:r>
          </a:p>
          <a:p>
            <a:pPr marL="0" indent="0">
              <a:lnSpc>
                <a:spcPct val="80000"/>
              </a:lnSpc>
              <a:buNone/>
            </a:pPr>
            <a:r>
              <a:rPr lang="en-US" altLang="zh-CN" sz="2000" dirty="0">
                <a:cs typeface="Times New Roman" pitchFamily="18" charset="0"/>
              </a:rPr>
              <a:t>if(</a:t>
            </a:r>
            <a:r>
              <a:rPr lang="en-US" altLang="zh-CN" sz="2000" dirty="0" err="1">
                <a:cs typeface="Times New Roman" pitchFamily="18" charset="0"/>
              </a:rPr>
              <a:t>infd</a:t>
            </a:r>
            <a:r>
              <a:rPr lang="en-US" altLang="zh-CN" sz="2000" dirty="0">
                <a:cs typeface="Times New Roman" pitchFamily="18" charset="0"/>
              </a:rPr>
              <a:t>==-1)    ERR_EXIT("open");</a:t>
            </a:r>
          </a:p>
          <a:p>
            <a:pPr marL="0" indent="0">
              <a:lnSpc>
                <a:spcPct val="80000"/>
              </a:lnSpc>
              <a:buNone/>
            </a:pPr>
            <a:r>
              <a:rPr lang="en-US" altLang="zh-CN" sz="2000" dirty="0" err="1">
                <a:cs typeface="Times New Roman" pitchFamily="18" charset="0"/>
              </a:rPr>
              <a:t>outfd</a:t>
            </a:r>
            <a:r>
              <a:rPr lang="en-US" altLang="zh-CN" sz="2000" dirty="0">
                <a:cs typeface="Times New Roman" pitchFamily="18" charset="0"/>
              </a:rPr>
              <a:t>=open("</a:t>
            </a:r>
            <a:r>
              <a:rPr lang="en-US" altLang="zh-CN" sz="2000" dirty="0" err="1">
                <a:cs typeface="Times New Roman" pitchFamily="18" charset="0"/>
              </a:rPr>
              <a:t>tp</a:t>
            </a:r>
            <a:r>
              <a:rPr lang="en-US" altLang="zh-CN" sz="2000" dirty="0">
                <a:cs typeface="Times New Roman" pitchFamily="18" charset="0"/>
              </a:rPr>
              <a:t>",O_WRONLY);</a:t>
            </a:r>
          </a:p>
          <a:p>
            <a:pPr marL="0" indent="0">
              <a:lnSpc>
                <a:spcPct val="80000"/>
              </a:lnSpc>
              <a:buNone/>
            </a:pPr>
            <a:r>
              <a:rPr lang="en-US" altLang="zh-CN" sz="2000" dirty="0">
                <a:cs typeface="Times New Roman" pitchFamily="18" charset="0"/>
              </a:rPr>
              <a:t>if(</a:t>
            </a:r>
            <a:r>
              <a:rPr lang="en-US" altLang="zh-CN" sz="2000" dirty="0" err="1">
                <a:cs typeface="Times New Roman" pitchFamily="18" charset="0"/>
              </a:rPr>
              <a:t>outfd</a:t>
            </a:r>
            <a:r>
              <a:rPr lang="en-US" altLang="zh-CN" sz="2000" dirty="0">
                <a:cs typeface="Times New Roman" pitchFamily="18" charset="0"/>
              </a:rPr>
              <a:t>==-1)   ERR_EXIT("open");</a:t>
            </a:r>
          </a:p>
          <a:p>
            <a:pPr marL="0" indent="0">
              <a:lnSpc>
                <a:spcPct val="80000"/>
              </a:lnSpc>
              <a:buNone/>
            </a:pPr>
            <a:endParaRPr lang="en-US" altLang="zh-CN" sz="1800" dirty="0">
              <a:cs typeface="Times New Roman" pitchFamily="18" charset="0"/>
            </a:endParaRPr>
          </a:p>
          <a:p>
            <a:pPr marL="0" indent="0">
              <a:lnSpc>
                <a:spcPct val="80000"/>
              </a:lnSpc>
              <a:buNone/>
            </a:pPr>
            <a:endParaRPr lang="en-US" altLang="zh-CN" sz="1800" dirty="0">
              <a:cs typeface="Times New Roman" pitchFamily="18" charset="0"/>
            </a:endParaRPr>
          </a:p>
          <a:p>
            <a:pPr marL="0" indent="0">
              <a:lnSpc>
                <a:spcPct val="80000"/>
              </a:lnSpc>
              <a:buNone/>
            </a:pPr>
            <a:endParaRPr lang="zh-CN" altLang="en-US" sz="1800" dirty="0">
              <a:cs typeface="Times New Roman" pitchFamily="18" charset="0"/>
            </a:endParaRPr>
          </a:p>
          <a:p>
            <a:pPr marL="0" indent="0">
              <a:lnSpc>
                <a:spcPct val="80000"/>
              </a:lnSpc>
              <a:buNone/>
            </a:pPr>
            <a:endParaRPr lang="zh-CN" altLang="en-US" sz="1800" dirty="0"/>
          </a:p>
        </p:txBody>
      </p:sp>
      <p:sp>
        <p:nvSpPr>
          <p:cNvPr id="83972" name="Rectangle 4"/>
          <p:cNvSpPr>
            <a:spLocks noGrp="1" noChangeArrowheads="1"/>
          </p:cNvSpPr>
          <p:nvPr>
            <p:ph type="body" sz="half" idx="2"/>
          </p:nvPr>
        </p:nvSpPr>
        <p:spPr>
          <a:xfrm>
            <a:off x="6248400" y="980728"/>
            <a:ext cx="4312096" cy="5400600"/>
          </a:xfrm>
          <a:ln>
            <a:solidFill>
              <a:schemeClr val="bg2"/>
            </a:solidFill>
          </a:ln>
        </p:spPr>
        <p:txBody>
          <a:bodyPr/>
          <a:lstStyle/>
          <a:p>
            <a:pPr marL="0" indent="0">
              <a:lnSpc>
                <a:spcPct val="80000"/>
              </a:lnSpc>
              <a:buNone/>
            </a:pPr>
            <a:endParaRPr lang="en-US" altLang="zh-CN" sz="2000" dirty="0"/>
          </a:p>
          <a:p>
            <a:pPr marL="0" indent="0">
              <a:lnSpc>
                <a:spcPct val="80000"/>
              </a:lnSpc>
              <a:buNone/>
            </a:pPr>
            <a:r>
              <a:rPr lang="en-US" altLang="zh-CN" sz="2000" dirty="0"/>
              <a:t>char </a:t>
            </a:r>
            <a:r>
              <a:rPr lang="en-US" altLang="zh-CN" sz="2000" dirty="0" err="1"/>
              <a:t>buf</a:t>
            </a:r>
            <a:r>
              <a:rPr lang="en-US" altLang="zh-CN" sz="2000" dirty="0"/>
              <a:t>[1024];</a:t>
            </a:r>
          </a:p>
          <a:p>
            <a:pPr marL="0" indent="0">
              <a:lnSpc>
                <a:spcPct val="80000"/>
              </a:lnSpc>
              <a:buNone/>
            </a:pPr>
            <a:r>
              <a:rPr lang="en-US" altLang="zh-CN" sz="2000" dirty="0"/>
              <a:t>int n;</a:t>
            </a:r>
          </a:p>
          <a:p>
            <a:pPr marL="0" indent="0">
              <a:lnSpc>
                <a:spcPct val="80000"/>
              </a:lnSpc>
              <a:buNone/>
            </a:pPr>
            <a:r>
              <a:rPr lang="en-US" altLang="zh-CN" sz="2000" dirty="0"/>
              <a:t>while((n=read(infd,buf,1024))&gt;0)</a:t>
            </a:r>
          </a:p>
          <a:p>
            <a:pPr marL="0" indent="0">
              <a:lnSpc>
                <a:spcPct val="80000"/>
              </a:lnSpc>
              <a:buNone/>
            </a:pPr>
            <a:r>
              <a:rPr lang="en-US" altLang="zh-CN" sz="2000" dirty="0"/>
              <a:t>write(</a:t>
            </a:r>
            <a:r>
              <a:rPr lang="en-US" altLang="zh-CN" sz="2000" dirty="0" err="1"/>
              <a:t>outfd,buf,n</a:t>
            </a:r>
            <a:r>
              <a:rPr lang="en-US" altLang="zh-CN" sz="2000" dirty="0"/>
              <a:t>);</a:t>
            </a:r>
          </a:p>
          <a:p>
            <a:pPr marL="0" indent="0">
              <a:lnSpc>
                <a:spcPct val="80000"/>
              </a:lnSpc>
              <a:buNone/>
            </a:pPr>
            <a:r>
              <a:rPr lang="en-US" altLang="zh-CN" sz="2000" dirty="0"/>
              <a:t>close(</a:t>
            </a:r>
            <a:r>
              <a:rPr lang="en-US" altLang="zh-CN" sz="2000" dirty="0" err="1"/>
              <a:t>infd</a:t>
            </a:r>
            <a:r>
              <a:rPr lang="en-US" altLang="zh-CN" sz="2000" dirty="0"/>
              <a:t>);</a:t>
            </a:r>
          </a:p>
          <a:p>
            <a:pPr marL="0" indent="0">
              <a:lnSpc>
                <a:spcPct val="80000"/>
              </a:lnSpc>
              <a:buNone/>
            </a:pPr>
            <a:r>
              <a:rPr lang="en-US" altLang="zh-CN" sz="2000" dirty="0"/>
              <a:t>close(</a:t>
            </a:r>
            <a:r>
              <a:rPr lang="en-US" altLang="zh-CN" sz="2000" dirty="0" err="1"/>
              <a:t>outfd</a:t>
            </a:r>
            <a:r>
              <a:rPr lang="en-US" altLang="zh-CN" sz="2000" dirty="0"/>
              <a:t>);</a:t>
            </a:r>
          </a:p>
          <a:p>
            <a:pPr marL="0" indent="0">
              <a:lnSpc>
                <a:spcPct val="80000"/>
              </a:lnSpc>
              <a:buNone/>
            </a:pPr>
            <a:r>
              <a:rPr lang="en-US" altLang="zh-CN" sz="2000" dirty="0"/>
              <a:t>return 0;</a:t>
            </a:r>
          </a:p>
          <a:p>
            <a:pPr marL="0" indent="0">
              <a:lnSpc>
                <a:spcPct val="80000"/>
              </a:lnSpc>
              <a:buNone/>
            </a:pPr>
            <a:r>
              <a:rPr lang="en-US" altLang="zh-CN" sz="2000" dirty="0"/>
              <a:t>}</a:t>
            </a:r>
          </a:p>
          <a:p>
            <a:pPr marL="0" indent="0">
              <a:lnSpc>
                <a:spcPct val="90000"/>
              </a:lnSpc>
              <a:buNone/>
            </a:pPr>
            <a:endParaRPr lang="zh-CN" altLang="en-US" sz="1800" dirty="0"/>
          </a:p>
        </p:txBody>
      </p:sp>
    </p:spTree>
    <p:extLst>
      <p:ext uri="{BB962C8B-B14F-4D97-AF65-F5344CB8AC3E}">
        <p14:creationId xmlns:p14="http://schemas.microsoft.com/office/powerpoint/2010/main" val="528236625"/>
      </p:ext>
    </p:extLst>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31EA7FF-9EE1-B980-F572-BCCB6C612A15}"/>
              </a:ext>
            </a:extLst>
          </p:cNvPr>
          <p:cNvSpPr/>
          <p:nvPr/>
        </p:nvSpPr>
        <p:spPr>
          <a:xfrm>
            <a:off x="0" y="44624"/>
            <a:ext cx="12192000" cy="6741368"/>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3970" name="Rectangle 2"/>
          <p:cNvSpPr>
            <a:spLocks noGrp="1" noChangeArrowheads="1"/>
          </p:cNvSpPr>
          <p:nvPr>
            <p:ph type="title"/>
          </p:nvPr>
        </p:nvSpPr>
        <p:spPr>
          <a:xfrm>
            <a:off x="1847528" y="123281"/>
            <a:ext cx="8496944" cy="642813"/>
          </a:xfrm>
        </p:spPr>
        <p:txBody>
          <a:bodyPr/>
          <a:lstStyle/>
          <a:p>
            <a:pPr algn="l"/>
            <a:r>
              <a:rPr lang="zh-CN" altLang="en-US" sz="2200" dirty="0">
                <a:latin typeface="+mn-ea"/>
                <a:ea typeface="+mn-ea"/>
              </a:rPr>
              <a:t>读取管道</a:t>
            </a:r>
            <a:r>
              <a:rPr lang="en-US" altLang="zh-CN" sz="2200" dirty="0" err="1">
                <a:latin typeface="+mn-ea"/>
                <a:ea typeface="+mn-ea"/>
              </a:rPr>
              <a:t>tp</a:t>
            </a:r>
            <a:r>
              <a:rPr lang="zh-CN" altLang="en-US" sz="2200" dirty="0">
                <a:latin typeface="+mn-ea"/>
                <a:ea typeface="+mn-ea"/>
              </a:rPr>
              <a:t>写入目标文件</a:t>
            </a:r>
            <a:r>
              <a:rPr lang="en-US" altLang="zh-CN" sz="2200" dirty="0">
                <a:latin typeface="+mn-ea"/>
                <a:ea typeface="+mn-ea"/>
              </a:rPr>
              <a:t>“</a:t>
            </a:r>
            <a:r>
              <a:rPr lang="en-US" altLang="zh-CN" sz="2200" dirty="0" err="1">
                <a:latin typeface="+mn-ea"/>
                <a:ea typeface="+mn-ea"/>
              </a:rPr>
              <a:t>abc.bak</a:t>
            </a:r>
            <a:r>
              <a:rPr lang="en-US" altLang="zh-CN" sz="2200" dirty="0">
                <a:latin typeface="+mn-ea"/>
                <a:ea typeface="+mn-ea"/>
              </a:rPr>
              <a:t>”</a:t>
            </a:r>
            <a:r>
              <a:rPr lang="zh-CN" altLang="en-US" sz="2200" dirty="0">
                <a:latin typeface="+mn-ea"/>
                <a:ea typeface="+mn-ea"/>
              </a:rPr>
              <a:t>中，程序</a:t>
            </a:r>
            <a:r>
              <a:rPr lang="en-US" altLang="zh-CN" sz="2200" dirty="0">
                <a:latin typeface="+mn-ea"/>
                <a:ea typeface="+mn-ea"/>
              </a:rPr>
              <a:t>fifo2.c</a:t>
            </a:r>
            <a:r>
              <a:rPr lang="zh-CN" altLang="en-US" sz="2200" dirty="0">
                <a:latin typeface="+mn-ea"/>
                <a:ea typeface="+mn-ea"/>
              </a:rPr>
              <a:t>如下：</a:t>
            </a:r>
          </a:p>
        </p:txBody>
      </p:sp>
      <p:sp>
        <p:nvSpPr>
          <p:cNvPr id="83971" name="Rectangle 3"/>
          <p:cNvSpPr>
            <a:spLocks noGrp="1" noChangeArrowheads="1"/>
          </p:cNvSpPr>
          <p:nvPr>
            <p:ph type="body" sz="half" idx="1"/>
          </p:nvPr>
        </p:nvSpPr>
        <p:spPr>
          <a:xfrm>
            <a:off x="1663824" y="980728"/>
            <a:ext cx="4432176" cy="5400600"/>
          </a:xfrm>
          <a:ln>
            <a:solidFill>
              <a:schemeClr val="bg2"/>
            </a:solidFill>
          </a:ln>
        </p:spPr>
        <p:txBody>
          <a:bodyPr/>
          <a:lstStyle/>
          <a:p>
            <a:pPr marL="0" indent="0">
              <a:lnSpc>
                <a:spcPct val="80000"/>
              </a:lnSpc>
              <a:buNone/>
            </a:pPr>
            <a:r>
              <a:rPr lang="en-US" altLang="zh-CN" sz="2000" dirty="0">
                <a:cs typeface="Times New Roman" pitchFamily="18" charset="0"/>
              </a:rPr>
              <a:t>#include &lt;unistd.h&gt;</a:t>
            </a:r>
          </a:p>
          <a:p>
            <a:pPr marL="0" indent="0">
              <a:lnSpc>
                <a:spcPct val="80000"/>
              </a:lnSpc>
              <a:buNone/>
            </a:pPr>
            <a:r>
              <a:rPr lang="en-US" altLang="zh-CN" sz="2000" dirty="0">
                <a:cs typeface="Times New Roman" pitchFamily="18" charset="0"/>
              </a:rPr>
              <a:t>#include &lt;stdlib.h&gt;</a:t>
            </a:r>
          </a:p>
          <a:p>
            <a:pPr marL="0" indent="0">
              <a:lnSpc>
                <a:spcPct val="80000"/>
              </a:lnSpc>
              <a:buNone/>
            </a:pPr>
            <a:r>
              <a:rPr lang="en-US" altLang="zh-CN" sz="2000" dirty="0">
                <a:cs typeface="Times New Roman" pitchFamily="18" charset="0"/>
              </a:rPr>
              <a:t>#include &lt;stdio.h&gt;</a:t>
            </a:r>
          </a:p>
          <a:p>
            <a:pPr marL="0" indent="0">
              <a:lnSpc>
                <a:spcPct val="80000"/>
              </a:lnSpc>
              <a:buNone/>
            </a:pPr>
            <a:r>
              <a:rPr lang="en-US" altLang="zh-CN" sz="2000" dirty="0">
                <a:cs typeface="Times New Roman" pitchFamily="18" charset="0"/>
              </a:rPr>
              <a:t>#include &lt;</a:t>
            </a:r>
            <a:r>
              <a:rPr lang="en-US" altLang="zh-CN" sz="2000" dirty="0" err="1">
                <a:cs typeface="Times New Roman" pitchFamily="18" charset="0"/>
              </a:rPr>
              <a:t>errno.h</a:t>
            </a:r>
            <a:r>
              <a:rPr lang="en-US" altLang="zh-CN" sz="2000" dirty="0">
                <a:cs typeface="Times New Roman" pitchFamily="18" charset="0"/>
              </a:rPr>
              <a:t>&gt;</a:t>
            </a:r>
          </a:p>
          <a:p>
            <a:pPr marL="0" indent="0">
              <a:lnSpc>
                <a:spcPct val="80000"/>
              </a:lnSpc>
              <a:buNone/>
            </a:pPr>
            <a:r>
              <a:rPr lang="en-US" altLang="zh-CN" sz="2000" dirty="0">
                <a:cs typeface="Times New Roman" pitchFamily="18" charset="0"/>
              </a:rPr>
              <a:t>#include &lt;</a:t>
            </a:r>
            <a:r>
              <a:rPr lang="en-US" altLang="zh-CN" sz="2000" dirty="0" err="1">
                <a:cs typeface="Times New Roman" pitchFamily="18" charset="0"/>
              </a:rPr>
              <a:t>string.h</a:t>
            </a:r>
            <a:r>
              <a:rPr lang="en-US" altLang="zh-CN" sz="2000" dirty="0">
                <a:cs typeface="Times New Roman" pitchFamily="18" charset="0"/>
              </a:rPr>
              <a:t>&gt;</a:t>
            </a:r>
          </a:p>
          <a:p>
            <a:pPr marL="0" indent="0">
              <a:lnSpc>
                <a:spcPct val="80000"/>
              </a:lnSpc>
              <a:buNone/>
            </a:pPr>
            <a:r>
              <a:rPr lang="en-US" altLang="zh-CN" sz="2000" dirty="0">
                <a:cs typeface="Times New Roman" pitchFamily="18" charset="0"/>
              </a:rPr>
              <a:t>#include &lt;</a:t>
            </a:r>
            <a:r>
              <a:rPr lang="en-US" altLang="zh-CN" sz="2000" dirty="0" err="1">
                <a:cs typeface="Times New Roman" pitchFamily="18" charset="0"/>
              </a:rPr>
              <a:t>fcntl.h</a:t>
            </a:r>
            <a:r>
              <a:rPr lang="en-US" altLang="zh-CN" sz="2000" dirty="0">
                <a:cs typeface="Times New Roman" pitchFamily="18" charset="0"/>
              </a:rPr>
              <a:t>&gt;</a:t>
            </a:r>
          </a:p>
          <a:p>
            <a:pPr marL="0" indent="0">
              <a:lnSpc>
                <a:spcPct val="80000"/>
              </a:lnSpc>
              <a:buNone/>
            </a:pPr>
            <a:r>
              <a:rPr lang="en-US" altLang="zh-CN" sz="2000" dirty="0">
                <a:cs typeface="Times New Roman" pitchFamily="18" charset="0"/>
              </a:rPr>
              <a:t>#define ERR_EXIT(m)</a:t>
            </a:r>
          </a:p>
          <a:p>
            <a:pPr marL="0" indent="0">
              <a:lnSpc>
                <a:spcPct val="80000"/>
              </a:lnSpc>
              <a:buNone/>
            </a:pPr>
            <a:endParaRPr lang="en-US" altLang="zh-CN" sz="2000" dirty="0">
              <a:cs typeface="Times New Roman" pitchFamily="18" charset="0"/>
            </a:endParaRPr>
          </a:p>
          <a:p>
            <a:pPr marL="0" indent="0">
              <a:lnSpc>
                <a:spcPct val="80000"/>
              </a:lnSpc>
              <a:buNone/>
            </a:pPr>
            <a:r>
              <a:rPr lang="en-US" altLang="zh-CN" sz="2000" dirty="0">
                <a:cs typeface="Times New Roman" pitchFamily="18" charset="0"/>
              </a:rPr>
              <a:t>int main()</a:t>
            </a:r>
          </a:p>
          <a:p>
            <a:pPr marL="0" indent="0">
              <a:lnSpc>
                <a:spcPct val="80000"/>
              </a:lnSpc>
              <a:buNone/>
            </a:pPr>
            <a:r>
              <a:rPr lang="en-US" altLang="zh-CN" sz="2000" dirty="0">
                <a:cs typeface="Times New Roman" pitchFamily="18" charset="0"/>
              </a:rPr>
              <a:t>{</a:t>
            </a:r>
          </a:p>
          <a:p>
            <a:pPr marL="0" indent="0">
              <a:lnSpc>
                <a:spcPct val="80000"/>
              </a:lnSpc>
              <a:buNone/>
            </a:pPr>
            <a:r>
              <a:rPr lang="en-US" altLang="zh-CN" sz="2000" dirty="0">
                <a:cs typeface="Times New Roman" pitchFamily="18" charset="0"/>
              </a:rPr>
              <a:t>int </a:t>
            </a:r>
            <a:r>
              <a:rPr lang="en-US" altLang="zh-CN" sz="2000" dirty="0" err="1">
                <a:cs typeface="Times New Roman" pitchFamily="18" charset="0"/>
              </a:rPr>
              <a:t>infd</a:t>
            </a:r>
            <a:r>
              <a:rPr lang="en-US" altLang="zh-CN" sz="2000" dirty="0">
                <a:cs typeface="Times New Roman" pitchFamily="18" charset="0"/>
              </a:rPr>
              <a:t>, </a:t>
            </a:r>
            <a:r>
              <a:rPr lang="en-US" altLang="zh-CN" sz="2000" dirty="0" err="1">
                <a:cs typeface="Times New Roman" pitchFamily="18" charset="0"/>
              </a:rPr>
              <a:t>outfd</a:t>
            </a:r>
            <a:r>
              <a:rPr lang="en-US" altLang="zh-CN" sz="2000" dirty="0">
                <a:cs typeface="Times New Roman" pitchFamily="18" charset="0"/>
              </a:rPr>
              <a:t>;</a:t>
            </a:r>
          </a:p>
          <a:p>
            <a:pPr marL="0" indent="0">
              <a:lnSpc>
                <a:spcPct val="80000"/>
              </a:lnSpc>
              <a:buNone/>
            </a:pPr>
            <a:r>
              <a:rPr lang="en-US" altLang="zh-CN" sz="2000" dirty="0" err="1">
                <a:cs typeface="Times New Roman" pitchFamily="18" charset="0"/>
              </a:rPr>
              <a:t>outfd</a:t>
            </a:r>
            <a:r>
              <a:rPr lang="en-US" altLang="zh-CN" sz="2000" dirty="0">
                <a:cs typeface="Times New Roman" pitchFamily="18" charset="0"/>
              </a:rPr>
              <a:t>=open("abc.</a:t>
            </a:r>
            <a:r>
              <a:rPr lang="en-US" altLang="zh-CN" sz="2000" dirty="0" err="1">
                <a:cs typeface="Times New Roman" pitchFamily="18" charset="0"/>
              </a:rPr>
              <a:t>bak</a:t>
            </a:r>
            <a:r>
              <a:rPr lang="en-US" altLang="zh-CN" sz="2000" dirty="0">
                <a:cs typeface="Times New Roman" pitchFamily="18" charset="0"/>
              </a:rPr>
              <a:t>",O_WRONLY|O_CREAT);</a:t>
            </a:r>
          </a:p>
          <a:p>
            <a:pPr marL="0" indent="0">
              <a:lnSpc>
                <a:spcPct val="80000"/>
              </a:lnSpc>
              <a:buNone/>
            </a:pPr>
            <a:r>
              <a:rPr lang="en-US" altLang="zh-CN" sz="2000" dirty="0">
                <a:cs typeface="Times New Roman" pitchFamily="18" charset="0"/>
              </a:rPr>
              <a:t>if(</a:t>
            </a:r>
            <a:r>
              <a:rPr lang="en-US" altLang="zh-CN" sz="2000" dirty="0" err="1">
                <a:cs typeface="Times New Roman" pitchFamily="18" charset="0"/>
              </a:rPr>
              <a:t>outfd</a:t>
            </a:r>
            <a:r>
              <a:rPr lang="en-US" altLang="zh-CN" sz="2000" dirty="0">
                <a:cs typeface="Times New Roman" pitchFamily="18" charset="0"/>
              </a:rPr>
              <a:t>==-1)  ERR_EXIT("open");</a:t>
            </a:r>
          </a:p>
          <a:p>
            <a:pPr marL="0" indent="0">
              <a:lnSpc>
                <a:spcPct val="80000"/>
              </a:lnSpc>
              <a:buNone/>
            </a:pPr>
            <a:endParaRPr lang="zh-CN" altLang="en-US" sz="1800" dirty="0">
              <a:cs typeface="Times New Roman" pitchFamily="18" charset="0"/>
            </a:endParaRPr>
          </a:p>
          <a:p>
            <a:pPr marL="0" indent="0">
              <a:lnSpc>
                <a:spcPct val="80000"/>
              </a:lnSpc>
              <a:buNone/>
            </a:pPr>
            <a:r>
              <a:rPr lang="en-US" altLang="zh-CN" sz="2000" dirty="0" err="1">
                <a:cs typeface="Times New Roman" pitchFamily="18" charset="0"/>
              </a:rPr>
              <a:t>infd</a:t>
            </a:r>
            <a:r>
              <a:rPr lang="en-US" altLang="zh-CN" sz="2000" dirty="0">
                <a:cs typeface="Times New Roman" pitchFamily="18" charset="0"/>
              </a:rPr>
              <a:t>=open("</a:t>
            </a:r>
            <a:r>
              <a:rPr lang="en-US" altLang="zh-CN" sz="2000" dirty="0" err="1">
                <a:cs typeface="Times New Roman" pitchFamily="18" charset="0"/>
              </a:rPr>
              <a:t>tp</a:t>
            </a:r>
            <a:r>
              <a:rPr lang="en-US" altLang="zh-CN" sz="2000" dirty="0">
                <a:cs typeface="Times New Roman" pitchFamily="18" charset="0"/>
              </a:rPr>
              <a:t>",O_RDONLY);</a:t>
            </a:r>
          </a:p>
          <a:p>
            <a:pPr marL="0" indent="0">
              <a:lnSpc>
                <a:spcPct val="80000"/>
              </a:lnSpc>
              <a:buNone/>
            </a:pPr>
            <a:r>
              <a:rPr lang="en-US" altLang="zh-CN" sz="2000" dirty="0">
                <a:cs typeface="Times New Roman" pitchFamily="18" charset="0"/>
              </a:rPr>
              <a:t>if(</a:t>
            </a:r>
            <a:r>
              <a:rPr lang="en-US" altLang="zh-CN" sz="2000" dirty="0" err="1">
                <a:cs typeface="Times New Roman" pitchFamily="18" charset="0"/>
              </a:rPr>
              <a:t>infd</a:t>
            </a:r>
            <a:r>
              <a:rPr lang="en-US" altLang="zh-CN" sz="2000" dirty="0">
                <a:cs typeface="Times New Roman" pitchFamily="18" charset="0"/>
              </a:rPr>
              <a:t>==-1)    ERR_EXIT("open");</a:t>
            </a:r>
          </a:p>
          <a:p>
            <a:pPr marL="0" indent="0">
              <a:lnSpc>
                <a:spcPct val="80000"/>
              </a:lnSpc>
              <a:buNone/>
            </a:pPr>
            <a:endParaRPr lang="zh-CN" altLang="en-US" sz="1800" dirty="0"/>
          </a:p>
        </p:txBody>
      </p:sp>
      <p:sp>
        <p:nvSpPr>
          <p:cNvPr id="83972" name="Rectangle 4"/>
          <p:cNvSpPr>
            <a:spLocks noGrp="1" noChangeArrowheads="1"/>
          </p:cNvSpPr>
          <p:nvPr>
            <p:ph type="body" sz="half" idx="2"/>
          </p:nvPr>
        </p:nvSpPr>
        <p:spPr>
          <a:xfrm>
            <a:off x="6248400" y="980728"/>
            <a:ext cx="4312096" cy="5400600"/>
          </a:xfrm>
          <a:ln>
            <a:solidFill>
              <a:schemeClr val="bg2"/>
            </a:solidFill>
          </a:ln>
        </p:spPr>
        <p:txBody>
          <a:bodyPr/>
          <a:lstStyle/>
          <a:p>
            <a:pPr marL="0" indent="0">
              <a:lnSpc>
                <a:spcPct val="80000"/>
              </a:lnSpc>
              <a:buNone/>
            </a:pPr>
            <a:endParaRPr lang="en-US" altLang="zh-CN" sz="2000" dirty="0"/>
          </a:p>
          <a:p>
            <a:pPr marL="0" indent="0">
              <a:lnSpc>
                <a:spcPct val="80000"/>
              </a:lnSpc>
              <a:buNone/>
            </a:pPr>
            <a:r>
              <a:rPr lang="en-US" altLang="zh-CN" sz="2000" dirty="0"/>
              <a:t>char </a:t>
            </a:r>
            <a:r>
              <a:rPr lang="en-US" altLang="zh-CN" sz="2000" dirty="0" err="1"/>
              <a:t>buf</a:t>
            </a:r>
            <a:r>
              <a:rPr lang="en-US" altLang="zh-CN" sz="2000" dirty="0"/>
              <a:t>[1024];</a:t>
            </a:r>
          </a:p>
          <a:p>
            <a:pPr marL="0" indent="0">
              <a:lnSpc>
                <a:spcPct val="80000"/>
              </a:lnSpc>
              <a:buNone/>
            </a:pPr>
            <a:r>
              <a:rPr lang="en-US" altLang="zh-CN" sz="2000" dirty="0"/>
              <a:t>int n;</a:t>
            </a:r>
          </a:p>
          <a:p>
            <a:pPr marL="0" indent="0">
              <a:lnSpc>
                <a:spcPct val="80000"/>
              </a:lnSpc>
              <a:buNone/>
            </a:pPr>
            <a:r>
              <a:rPr lang="en-US" altLang="zh-CN" sz="2000" dirty="0"/>
              <a:t>while((n=read(infd,buf,1024))&gt;0)</a:t>
            </a:r>
          </a:p>
          <a:p>
            <a:pPr marL="0" indent="0">
              <a:lnSpc>
                <a:spcPct val="80000"/>
              </a:lnSpc>
              <a:buNone/>
            </a:pPr>
            <a:r>
              <a:rPr lang="en-US" altLang="zh-CN" sz="2000" dirty="0"/>
              <a:t>write(</a:t>
            </a:r>
            <a:r>
              <a:rPr lang="en-US" altLang="zh-CN" sz="2000" dirty="0" err="1"/>
              <a:t>outfd,buf,n</a:t>
            </a:r>
            <a:r>
              <a:rPr lang="en-US" altLang="zh-CN" sz="2000" dirty="0"/>
              <a:t>);</a:t>
            </a:r>
          </a:p>
          <a:p>
            <a:pPr marL="0" indent="0">
              <a:lnSpc>
                <a:spcPct val="80000"/>
              </a:lnSpc>
              <a:buNone/>
            </a:pPr>
            <a:endParaRPr lang="en-US" altLang="zh-CN" sz="2000" dirty="0"/>
          </a:p>
          <a:p>
            <a:pPr marL="0" indent="0">
              <a:lnSpc>
                <a:spcPct val="80000"/>
              </a:lnSpc>
              <a:buNone/>
            </a:pPr>
            <a:r>
              <a:rPr lang="en-US" altLang="zh-CN" sz="2000" dirty="0"/>
              <a:t>close(</a:t>
            </a:r>
            <a:r>
              <a:rPr lang="en-US" altLang="zh-CN" sz="2000" dirty="0" err="1"/>
              <a:t>infd</a:t>
            </a:r>
            <a:r>
              <a:rPr lang="en-US" altLang="zh-CN" sz="2000" dirty="0"/>
              <a:t>);</a:t>
            </a:r>
          </a:p>
          <a:p>
            <a:pPr marL="0" indent="0">
              <a:lnSpc>
                <a:spcPct val="80000"/>
              </a:lnSpc>
              <a:buNone/>
            </a:pPr>
            <a:r>
              <a:rPr lang="en-US" altLang="zh-CN" sz="2000" dirty="0"/>
              <a:t>close(</a:t>
            </a:r>
            <a:r>
              <a:rPr lang="en-US" altLang="zh-CN" sz="2000" dirty="0" err="1"/>
              <a:t>outfd</a:t>
            </a:r>
            <a:r>
              <a:rPr lang="en-US" altLang="zh-CN" sz="2000" dirty="0"/>
              <a:t>);</a:t>
            </a:r>
          </a:p>
          <a:p>
            <a:pPr marL="0" indent="0">
              <a:lnSpc>
                <a:spcPct val="80000"/>
              </a:lnSpc>
              <a:buNone/>
            </a:pPr>
            <a:r>
              <a:rPr lang="en-US" altLang="zh-CN" sz="2000" dirty="0"/>
              <a:t>unlink("</a:t>
            </a:r>
            <a:r>
              <a:rPr lang="en-US" altLang="zh-CN" sz="2000" dirty="0" err="1"/>
              <a:t>tp</a:t>
            </a:r>
            <a:r>
              <a:rPr lang="en-US" altLang="zh-CN" sz="2000" dirty="0"/>
              <a:t>");</a:t>
            </a:r>
          </a:p>
          <a:p>
            <a:pPr marL="0" indent="0">
              <a:lnSpc>
                <a:spcPct val="80000"/>
              </a:lnSpc>
              <a:buNone/>
            </a:pPr>
            <a:r>
              <a:rPr lang="en-US" altLang="zh-CN" sz="2000" dirty="0"/>
              <a:t>return 0;</a:t>
            </a:r>
          </a:p>
          <a:p>
            <a:pPr marL="0" indent="0">
              <a:lnSpc>
                <a:spcPct val="90000"/>
              </a:lnSpc>
              <a:buNone/>
            </a:pPr>
            <a:endParaRPr lang="zh-CN" altLang="en-US" sz="1800" dirty="0"/>
          </a:p>
        </p:txBody>
      </p:sp>
    </p:spTree>
    <p:extLst>
      <p:ext uri="{BB962C8B-B14F-4D97-AF65-F5344CB8AC3E}">
        <p14:creationId xmlns:p14="http://schemas.microsoft.com/office/powerpoint/2010/main" val="4165658727"/>
      </p:ext>
    </p:extLst>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A729BF-76CA-C997-BB3D-8991BC534859}"/>
              </a:ext>
            </a:extLst>
          </p:cNvPr>
          <p:cNvSpPr>
            <a:spLocks noGrp="1"/>
          </p:cNvSpPr>
          <p:nvPr>
            <p:ph type="title"/>
          </p:nvPr>
        </p:nvSpPr>
        <p:spPr/>
        <p:txBody>
          <a:bodyPr/>
          <a:lstStyle/>
          <a:p>
            <a:r>
              <a:rPr lang="zh-CN" altLang="en-US" dirty="0">
                <a:latin typeface="+mn-ea"/>
                <a:ea typeface="+mn-ea"/>
              </a:rPr>
              <a:t>命名管道</a:t>
            </a:r>
            <a:endParaRPr lang="zh-CN" altLang="en-US" dirty="0"/>
          </a:p>
        </p:txBody>
      </p:sp>
      <p:sp>
        <p:nvSpPr>
          <p:cNvPr id="3" name="灯片编号占位符 2">
            <a:extLst>
              <a:ext uri="{FF2B5EF4-FFF2-40B4-BE49-F238E27FC236}">
                <a16:creationId xmlns:a16="http://schemas.microsoft.com/office/drawing/2014/main" id="{C63AA5FF-7B64-AD45-0271-F829CFEC0679}"/>
              </a:ext>
            </a:extLst>
          </p:cNvPr>
          <p:cNvSpPr>
            <a:spLocks noGrp="1"/>
          </p:cNvSpPr>
          <p:nvPr>
            <p:ph type="sldNum" sz="quarter" idx="11"/>
          </p:nvPr>
        </p:nvSpPr>
        <p:spPr/>
        <p:txBody>
          <a:bodyPr/>
          <a:lstStyle/>
          <a:p>
            <a:pPr>
              <a:defRPr/>
            </a:pPr>
            <a:fld id="{110871B5-850E-4E14-A636-3EC679EBF038}" type="slidenum">
              <a:rPr lang="en-US" altLang="zh-CN" smtClean="0"/>
              <a:pPr>
                <a:defRPr/>
              </a:pPr>
              <a:t>83</a:t>
            </a:fld>
            <a:endParaRPr lang="en-US" altLang="zh-CN" dirty="0"/>
          </a:p>
        </p:txBody>
      </p:sp>
      <p:sp>
        <p:nvSpPr>
          <p:cNvPr id="4" name="Rectangle 2">
            <a:extLst>
              <a:ext uri="{FF2B5EF4-FFF2-40B4-BE49-F238E27FC236}">
                <a16:creationId xmlns:a16="http://schemas.microsoft.com/office/drawing/2014/main" id="{9943C3AC-C3A5-9A98-0C4D-B15350B81E75}"/>
              </a:ext>
            </a:extLst>
          </p:cNvPr>
          <p:cNvSpPr txBox="1">
            <a:spLocks noChangeArrowheads="1"/>
          </p:cNvSpPr>
          <p:nvPr/>
        </p:nvSpPr>
        <p:spPr bwMode="auto">
          <a:xfrm>
            <a:off x="1871341" y="1202012"/>
            <a:ext cx="8496944" cy="426789"/>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a:lstStyle>
          <a:p>
            <a:pPr algn="l"/>
            <a:r>
              <a:rPr lang="zh-CN" altLang="en-US" sz="2600" kern="0" dirty="0">
                <a:latin typeface="+mn-ea"/>
                <a:ea typeface="+mn-ea"/>
              </a:rPr>
              <a:t>运行</a:t>
            </a:r>
            <a:r>
              <a:rPr lang="zh-CN" altLang="en-US" sz="2200" kern="0" dirty="0">
                <a:latin typeface="+mn-ea"/>
                <a:ea typeface="+mn-ea"/>
              </a:rPr>
              <a:t>：</a:t>
            </a:r>
          </a:p>
        </p:txBody>
      </p:sp>
      <p:pic>
        <p:nvPicPr>
          <p:cNvPr id="6" name="图片 5">
            <a:extLst>
              <a:ext uri="{FF2B5EF4-FFF2-40B4-BE49-F238E27FC236}">
                <a16:creationId xmlns:a16="http://schemas.microsoft.com/office/drawing/2014/main" id="{A96681D1-55A7-052E-D1F2-D92AB57CA415}"/>
              </a:ext>
            </a:extLst>
          </p:cNvPr>
          <p:cNvPicPr>
            <a:picLocks noChangeAspect="1"/>
          </p:cNvPicPr>
          <p:nvPr/>
        </p:nvPicPr>
        <p:blipFill>
          <a:blip r:embed="rId3"/>
          <a:stretch>
            <a:fillRect/>
          </a:stretch>
        </p:blipFill>
        <p:spPr>
          <a:xfrm>
            <a:off x="1762310" y="1849736"/>
            <a:ext cx="8667381" cy="4243560"/>
          </a:xfrm>
          <a:prstGeom prst="rect">
            <a:avLst/>
          </a:prstGeom>
          <a:ln>
            <a:solidFill>
              <a:schemeClr val="bg2"/>
            </a:solidFill>
          </a:ln>
        </p:spPr>
      </p:pic>
    </p:spTree>
    <p:extLst>
      <p:ext uri="{BB962C8B-B14F-4D97-AF65-F5344CB8AC3E}">
        <p14:creationId xmlns:p14="http://schemas.microsoft.com/office/powerpoint/2010/main" val="264828733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6837394-F0A2-F3B2-E040-2E0F7AE37AA9}"/>
              </a:ext>
            </a:extLst>
          </p:cNvPr>
          <p:cNvSpPr/>
          <p:nvPr/>
        </p:nvSpPr>
        <p:spPr>
          <a:xfrm>
            <a:off x="0" y="44624"/>
            <a:ext cx="12192000" cy="6741368"/>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3970" name="Rectangle 2"/>
          <p:cNvSpPr>
            <a:spLocks noGrp="1" noChangeArrowheads="1"/>
          </p:cNvSpPr>
          <p:nvPr>
            <p:ph type="title"/>
          </p:nvPr>
        </p:nvSpPr>
        <p:spPr>
          <a:xfrm>
            <a:off x="1775520" y="44625"/>
            <a:ext cx="8640960" cy="858837"/>
          </a:xfrm>
        </p:spPr>
        <p:txBody>
          <a:bodyPr/>
          <a:lstStyle/>
          <a:p>
            <a:pPr algn="l"/>
            <a:r>
              <a:rPr lang="zh-CN" altLang="en-US" sz="2200" dirty="0">
                <a:latin typeface="+mn-ea"/>
                <a:ea typeface="+mn-ea"/>
              </a:rPr>
              <a:t>例：通过创建命名管道，由一个进程（写端）向管道中写内容，另一个进程（读端）从管道中读内容实现通信。</a:t>
            </a:r>
            <a:r>
              <a:rPr lang="zh-CN" altLang="en-US" sz="2200" dirty="0">
                <a:solidFill>
                  <a:srgbClr val="0000CC"/>
                </a:solidFill>
                <a:latin typeface="+mn-ea"/>
                <a:ea typeface="+mn-ea"/>
              </a:rPr>
              <a:t>读端</a:t>
            </a:r>
            <a:r>
              <a:rPr lang="zh-CN" altLang="en-US" sz="2200" dirty="0">
                <a:latin typeface="+mn-ea"/>
                <a:ea typeface="+mn-ea"/>
              </a:rPr>
              <a:t>程序</a:t>
            </a:r>
            <a:r>
              <a:rPr lang="en-US" altLang="zh-CN" sz="2200" dirty="0" err="1">
                <a:latin typeface="+mn-ea"/>
                <a:ea typeface="+mn-ea"/>
              </a:rPr>
              <a:t>fifoa.c</a:t>
            </a:r>
            <a:r>
              <a:rPr lang="zh-CN" altLang="en-US" sz="2200" dirty="0">
                <a:latin typeface="+mn-ea"/>
                <a:ea typeface="+mn-ea"/>
              </a:rPr>
              <a:t>如下： </a:t>
            </a:r>
          </a:p>
        </p:txBody>
      </p:sp>
      <p:sp>
        <p:nvSpPr>
          <p:cNvPr id="83971" name="Rectangle 3"/>
          <p:cNvSpPr>
            <a:spLocks noGrp="1" noChangeArrowheads="1"/>
          </p:cNvSpPr>
          <p:nvPr>
            <p:ph type="body" sz="half" idx="1"/>
          </p:nvPr>
        </p:nvSpPr>
        <p:spPr>
          <a:xfrm>
            <a:off x="1663824" y="980728"/>
            <a:ext cx="4432176" cy="5760640"/>
          </a:xfrm>
          <a:ln>
            <a:solidFill>
              <a:schemeClr val="bg2"/>
            </a:solidFill>
          </a:ln>
        </p:spPr>
        <p:txBody>
          <a:bodyPr/>
          <a:lstStyle/>
          <a:p>
            <a:pPr marL="0" indent="0">
              <a:lnSpc>
                <a:spcPct val="80000"/>
              </a:lnSpc>
              <a:buNone/>
            </a:pPr>
            <a:r>
              <a:rPr lang="en-US" altLang="zh-CN" sz="1800" dirty="0">
                <a:cs typeface="Times New Roman" pitchFamily="18" charset="0"/>
              </a:rPr>
              <a:t>#include &lt;unistd.h&gt;</a:t>
            </a:r>
          </a:p>
          <a:p>
            <a:pPr marL="0" indent="0">
              <a:lnSpc>
                <a:spcPct val="80000"/>
              </a:lnSpc>
              <a:buNone/>
            </a:pPr>
            <a:r>
              <a:rPr lang="en-US" altLang="zh-CN" sz="1800" dirty="0">
                <a:cs typeface="Times New Roman" pitchFamily="18" charset="0"/>
              </a:rPr>
              <a:t>#include &lt;stdio.h&gt;</a:t>
            </a:r>
          </a:p>
          <a:p>
            <a:pPr marL="0" indent="0">
              <a:lnSpc>
                <a:spcPct val="80000"/>
              </a:lnSpc>
              <a:buNone/>
            </a:pPr>
            <a:r>
              <a:rPr lang="en-US" altLang="zh-CN" sz="1800" dirty="0">
                <a:cs typeface="Times New Roman" pitchFamily="18" charset="0"/>
              </a:rPr>
              <a:t>#include &lt;sys/</a:t>
            </a:r>
            <a:r>
              <a:rPr lang="en-US" altLang="zh-CN" sz="1800" dirty="0" err="1">
                <a:cs typeface="Times New Roman" pitchFamily="18" charset="0"/>
              </a:rPr>
              <a:t>types.h</a:t>
            </a:r>
            <a:r>
              <a:rPr lang="en-US" altLang="zh-CN" sz="1800" dirty="0">
                <a:cs typeface="Times New Roman" pitchFamily="18" charset="0"/>
              </a:rPr>
              <a:t>&gt;</a:t>
            </a:r>
          </a:p>
          <a:p>
            <a:pPr marL="0" indent="0">
              <a:lnSpc>
                <a:spcPct val="80000"/>
              </a:lnSpc>
              <a:buNone/>
            </a:pPr>
            <a:r>
              <a:rPr lang="en-US" altLang="zh-CN" sz="1800" dirty="0">
                <a:cs typeface="Times New Roman" pitchFamily="18" charset="0"/>
              </a:rPr>
              <a:t>#include &lt;sys/</a:t>
            </a:r>
            <a:r>
              <a:rPr lang="en-US" altLang="zh-CN" sz="1800" dirty="0" err="1">
                <a:cs typeface="Times New Roman" pitchFamily="18" charset="0"/>
              </a:rPr>
              <a:t>stat.h</a:t>
            </a:r>
            <a:r>
              <a:rPr lang="en-US" altLang="zh-CN" sz="1800" dirty="0">
                <a:cs typeface="Times New Roman" pitchFamily="18" charset="0"/>
              </a:rPr>
              <a:t>&gt;</a:t>
            </a:r>
          </a:p>
          <a:p>
            <a:pPr marL="0" indent="0">
              <a:lnSpc>
                <a:spcPct val="80000"/>
              </a:lnSpc>
              <a:buNone/>
            </a:pPr>
            <a:r>
              <a:rPr lang="en-US" altLang="zh-CN" sz="1800" dirty="0">
                <a:cs typeface="Times New Roman" pitchFamily="18" charset="0"/>
              </a:rPr>
              <a:t>#include &lt;</a:t>
            </a:r>
            <a:r>
              <a:rPr lang="en-US" altLang="zh-CN" sz="1800" dirty="0" err="1">
                <a:cs typeface="Times New Roman" pitchFamily="18" charset="0"/>
              </a:rPr>
              <a:t>fcntl.h</a:t>
            </a:r>
            <a:r>
              <a:rPr lang="en-US" altLang="zh-CN" sz="1800" dirty="0">
                <a:cs typeface="Times New Roman" pitchFamily="18" charset="0"/>
              </a:rPr>
              <a:t>&gt;</a:t>
            </a:r>
          </a:p>
          <a:p>
            <a:pPr marL="0" indent="0">
              <a:lnSpc>
                <a:spcPct val="80000"/>
              </a:lnSpc>
              <a:buNone/>
            </a:pPr>
            <a:r>
              <a:rPr lang="en-US" altLang="zh-CN" sz="1800" dirty="0">
                <a:cs typeface="Times New Roman" pitchFamily="18" charset="0"/>
              </a:rPr>
              <a:t>#include &lt;stdlib.h&gt;</a:t>
            </a:r>
          </a:p>
          <a:p>
            <a:pPr marL="0" indent="0">
              <a:lnSpc>
                <a:spcPct val="80000"/>
              </a:lnSpc>
              <a:buNone/>
            </a:pPr>
            <a:r>
              <a:rPr lang="en-US" altLang="zh-CN" sz="1800" dirty="0">
                <a:cs typeface="Times New Roman" pitchFamily="18" charset="0"/>
              </a:rPr>
              <a:t>#define ERR_EXIT(m)</a:t>
            </a:r>
          </a:p>
          <a:p>
            <a:pPr marL="0" indent="0">
              <a:lnSpc>
                <a:spcPct val="80000"/>
              </a:lnSpc>
              <a:buNone/>
            </a:pPr>
            <a:endParaRPr lang="en-US" altLang="zh-CN" sz="1800" dirty="0">
              <a:cs typeface="Times New Roman" pitchFamily="18" charset="0"/>
            </a:endParaRPr>
          </a:p>
          <a:p>
            <a:pPr marL="0" indent="0">
              <a:lnSpc>
                <a:spcPct val="80000"/>
              </a:lnSpc>
              <a:buNone/>
            </a:pPr>
            <a:r>
              <a:rPr lang="en-US" altLang="zh-CN" sz="1800" dirty="0">
                <a:cs typeface="Times New Roman" pitchFamily="18" charset="0"/>
              </a:rPr>
              <a:t>int main()</a:t>
            </a:r>
          </a:p>
          <a:p>
            <a:pPr marL="0" indent="0">
              <a:lnSpc>
                <a:spcPct val="80000"/>
              </a:lnSpc>
              <a:buNone/>
            </a:pPr>
            <a:r>
              <a:rPr lang="en-US" altLang="zh-CN" sz="1800" dirty="0">
                <a:cs typeface="Times New Roman" pitchFamily="18" charset="0"/>
              </a:rPr>
              <a:t>{</a:t>
            </a:r>
          </a:p>
          <a:p>
            <a:pPr marL="0" indent="0">
              <a:lnSpc>
                <a:spcPct val="80000"/>
              </a:lnSpc>
              <a:buNone/>
            </a:pPr>
            <a:r>
              <a:rPr lang="en-US" altLang="zh-CN" sz="1800" dirty="0" err="1">
                <a:cs typeface="Times New Roman" pitchFamily="18" charset="0"/>
              </a:rPr>
              <a:t>umask</a:t>
            </a:r>
            <a:r>
              <a:rPr lang="en-US" altLang="zh-CN" sz="1800" dirty="0">
                <a:cs typeface="Times New Roman" pitchFamily="18" charset="0"/>
              </a:rPr>
              <a:t>(0);</a:t>
            </a:r>
          </a:p>
          <a:p>
            <a:pPr marL="0" indent="0">
              <a:lnSpc>
                <a:spcPct val="80000"/>
              </a:lnSpc>
              <a:buNone/>
            </a:pPr>
            <a:r>
              <a:rPr lang="en-US" altLang="zh-CN" sz="1800" dirty="0">
                <a:cs typeface="Times New Roman" pitchFamily="18" charset="0"/>
              </a:rPr>
              <a:t>if(mkfifo("myfifo",0644)&lt;0)  //</a:t>
            </a:r>
            <a:r>
              <a:rPr lang="zh-CN" altLang="en-US" sz="1800" dirty="0">
                <a:cs typeface="Times New Roman" pitchFamily="18" charset="0"/>
              </a:rPr>
              <a:t>创建管道</a:t>
            </a:r>
          </a:p>
          <a:p>
            <a:pPr marL="0" indent="0">
              <a:lnSpc>
                <a:spcPct val="80000"/>
              </a:lnSpc>
              <a:buNone/>
            </a:pPr>
            <a:r>
              <a:rPr lang="en-US" altLang="zh-CN" sz="1800" dirty="0">
                <a:cs typeface="Times New Roman" pitchFamily="18" charset="0"/>
              </a:rPr>
              <a:t>ERR_EXIT("mkfifo\n");</a:t>
            </a:r>
          </a:p>
          <a:p>
            <a:pPr marL="0" indent="0">
              <a:lnSpc>
                <a:spcPct val="80000"/>
              </a:lnSpc>
              <a:buNone/>
            </a:pPr>
            <a:r>
              <a:rPr lang="en-US" altLang="zh-CN" sz="1800" dirty="0">
                <a:cs typeface="Times New Roman" pitchFamily="18" charset="0"/>
              </a:rPr>
              <a:t>int </a:t>
            </a:r>
            <a:r>
              <a:rPr lang="en-US" altLang="zh-CN" sz="1800" dirty="0" err="1">
                <a:cs typeface="Times New Roman" pitchFamily="18" charset="0"/>
              </a:rPr>
              <a:t>rfd</a:t>
            </a:r>
            <a:r>
              <a:rPr lang="en-US" altLang="zh-CN" sz="1800" dirty="0">
                <a:cs typeface="Times New Roman" pitchFamily="18" charset="0"/>
              </a:rPr>
              <a:t>=open("</a:t>
            </a:r>
            <a:r>
              <a:rPr lang="en-US" altLang="zh-CN" sz="1800" dirty="0" err="1">
                <a:cs typeface="Times New Roman" pitchFamily="18" charset="0"/>
              </a:rPr>
              <a:t>myfifo</a:t>
            </a:r>
            <a:r>
              <a:rPr lang="en-US" altLang="zh-CN" sz="1800" dirty="0">
                <a:cs typeface="Times New Roman" pitchFamily="18" charset="0"/>
              </a:rPr>
              <a:t>",O_RDONLY); //</a:t>
            </a:r>
            <a:r>
              <a:rPr lang="zh-CN" altLang="en-US" sz="1800" dirty="0">
                <a:cs typeface="Times New Roman" pitchFamily="18" charset="0"/>
              </a:rPr>
              <a:t>只读方式打开管道</a:t>
            </a:r>
            <a:endParaRPr lang="en-US" altLang="zh-CN" sz="1800" dirty="0">
              <a:cs typeface="Times New Roman" pitchFamily="18" charset="0"/>
            </a:endParaRPr>
          </a:p>
          <a:p>
            <a:pPr marL="0" indent="0">
              <a:lnSpc>
                <a:spcPct val="80000"/>
              </a:lnSpc>
              <a:buNone/>
            </a:pPr>
            <a:r>
              <a:rPr lang="en-US" altLang="zh-CN" sz="1800" dirty="0">
                <a:cs typeface="Times New Roman" pitchFamily="18" charset="0"/>
              </a:rPr>
              <a:t>if(</a:t>
            </a:r>
            <a:r>
              <a:rPr lang="en-US" altLang="zh-CN" sz="1800" dirty="0" err="1">
                <a:cs typeface="Times New Roman" pitchFamily="18" charset="0"/>
              </a:rPr>
              <a:t>rfd</a:t>
            </a:r>
            <a:r>
              <a:rPr lang="en-US" altLang="zh-CN" sz="1800" dirty="0">
                <a:cs typeface="Times New Roman" pitchFamily="18" charset="0"/>
              </a:rPr>
              <a:t>&lt;0)</a:t>
            </a:r>
          </a:p>
          <a:p>
            <a:pPr marL="0" indent="0">
              <a:lnSpc>
                <a:spcPct val="80000"/>
              </a:lnSpc>
              <a:buNone/>
            </a:pPr>
            <a:r>
              <a:rPr lang="en-US" altLang="zh-CN" sz="1800" dirty="0">
                <a:cs typeface="Times New Roman" pitchFamily="18" charset="0"/>
              </a:rPr>
              <a:t>ERR_EXIT("open\n");</a:t>
            </a:r>
          </a:p>
          <a:p>
            <a:pPr marL="0" indent="0">
              <a:lnSpc>
                <a:spcPct val="80000"/>
              </a:lnSpc>
              <a:buNone/>
            </a:pPr>
            <a:r>
              <a:rPr lang="en-US" altLang="zh-CN" sz="1800" dirty="0">
                <a:cs typeface="Times New Roman" pitchFamily="18" charset="0"/>
              </a:rPr>
              <a:t>char </a:t>
            </a:r>
            <a:r>
              <a:rPr lang="en-US" altLang="zh-CN" sz="1800" dirty="0" err="1">
                <a:cs typeface="Times New Roman" pitchFamily="18" charset="0"/>
              </a:rPr>
              <a:t>buf</a:t>
            </a:r>
            <a:r>
              <a:rPr lang="en-US" altLang="zh-CN" sz="1800" dirty="0">
                <a:cs typeface="Times New Roman" pitchFamily="18" charset="0"/>
              </a:rPr>
              <a:t>[1024];</a:t>
            </a:r>
          </a:p>
          <a:p>
            <a:pPr marL="0" indent="0">
              <a:lnSpc>
                <a:spcPct val="80000"/>
              </a:lnSpc>
              <a:buNone/>
            </a:pPr>
            <a:endParaRPr lang="en-US" altLang="zh-CN" sz="1800" dirty="0">
              <a:cs typeface="Times New Roman" pitchFamily="18" charset="0"/>
            </a:endParaRPr>
          </a:p>
          <a:p>
            <a:pPr marL="0" indent="0">
              <a:lnSpc>
                <a:spcPct val="80000"/>
              </a:lnSpc>
              <a:buNone/>
            </a:pPr>
            <a:endParaRPr lang="zh-CN" altLang="en-US" sz="1800" dirty="0">
              <a:cs typeface="Times New Roman" pitchFamily="18" charset="0"/>
            </a:endParaRPr>
          </a:p>
          <a:p>
            <a:pPr marL="0" indent="0">
              <a:lnSpc>
                <a:spcPct val="80000"/>
              </a:lnSpc>
              <a:buNone/>
            </a:pPr>
            <a:endParaRPr lang="zh-CN" altLang="en-US" sz="1800" dirty="0"/>
          </a:p>
        </p:txBody>
      </p:sp>
      <p:sp>
        <p:nvSpPr>
          <p:cNvPr id="83972" name="Rectangle 4"/>
          <p:cNvSpPr>
            <a:spLocks noGrp="1" noChangeArrowheads="1"/>
          </p:cNvSpPr>
          <p:nvPr>
            <p:ph type="body" sz="half" idx="2"/>
          </p:nvPr>
        </p:nvSpPr>
        <p:spPr>
          <a:xfrm>
            <a:off x="6248400" y="980728"/>
            <a:ext cx="4312096" cy="5760640"/>
          </a:xfrm>
          <a:ln>
            <a:solidFill>
              <a:schemeClr val="bg2"/>
            </a:solidFill>
          </a:ln>
        </p:spPr>
        <p:txBody>
          <a:bodyPr/>
          <a:lstStyle/>
          <a:p>
            <a:pPr marL="0" indent="0">
              <a:lnSpc>
                <a:spcPct val="80000"/>
              </a:lnSpc>
              <a:buNone/>
            </a:pPr>
            <a:r>
              <a:rPr lang="en-US" altLang="zh-CN" sz="1800" dirty="0"/>
              <a:t>while(1)</a:t>
            </a:r>
          </a:p>
          <a:p>
            <a:pPr marL="0" indent="0">
              <a:lnSpc>
                <a:spcPct val="80000"/>
              </a:lnSpc>
              <a:buNone/>
            </a:pPr>
            <a:r>
              <a:rPr lang="en-US" altLang="zh-CN" sz="1800" dirty="0"/>
              <a:t>{</a:t>
            </a:r>
          </a:p>
          <a:p>
            <a:pPr marL="0" indent="0">
              <a:lnSpc>
                <a:spcPct val="80000"/>
              </a:lnSpc>
              <a:buNone/>
            </a:pPr>
            <a:r>
              <a:rPr lang="en-US" altLang="zh-CN" sz="1800" dirty="0" err="1"/>
              <a:t>buf</a:t>
            </a:r>
            <a:r>
              <a:rPr lang="en-US" altLang="zh-CN" sz="1800" dirty="0"/>
              <a:t>[0]=0;</a:t>
            </a:r>
          </a:p>
          <a:p>
            <a:pPr marL="0" indent="0">
              <a:lnSpc>
                <a:spcPct val="80000"/>
              </a:lnSpc>
              <a:buNone/>
            </a:pPr>
            <a:r>
              <a:rPr lang="en-US" altLang="zh-CN" sz="1800" dirty="0"/>
              <a:t>printf("Please wait...\n");</a:t>
            </a:r>
          </a:p>
          <a:p>
            <a:pPr marL="0" indent="0">
              <a:lnSpc>
                <a:spcPct val="80000"/>
              </a:lnSpc>
              <a:buNone/>
            </a:pPr>
            <a:r>
              <a:rPr lang="en-US" altLang="zh-CN" sz="1800" dirty="0"/>
              <a:t>ssize_t s=read(</a:t>
            </a:r>
            <a:r>
              <a:rPr lang="en-US" altLang="zh-CN" sz="1800" dirty="0" err="1"/>
              <a:t>rfd,buf,sizeof</a:t>
            </a:r>
            <a:r>
              <a:rPr lang="en-US" altLang="zh-CN" sz="1800" dirty="0"/>
              <a:t>(</a:t>
            </a:r>
            <a:r>
              <a:rPr lang="en-US" altLang="zh-CN" sz="1800" dirty="0" err="1"/>
              <a:t>buf</a:t>
            </a:r>
            <a:r>
              <a:rPr lang="en-US" altLang="zh-CN" sz="1800" dirty="0"/>
              <a:t>)-1);</a:t>
            </a:r>
          </a:p>
          <a:p>
            <a:pPr marL="0" indent="0">
              <a:lnSpc>
                <a:spcPct val="80000"/>
              </a:lnSpc>
              <a:buNone/>
            </a:pPr>
            <a:r>
              <a:rPr lang="en-US" altLang="zh-CN" sz="1800" dirty="0"/>
              <a:t>if(s&gt;0)   //</a:t>
            </a:r>
            <a:r>
              <a:rPr lang="zh-CN" altLang="en-US" sz="1800" dirty="0"/>
              <a:t>读取成功</a:t>
            </a:r>
          </a:p>
          <a:p>
            <a:pPr marL="0" indent="0">
              <a:lnSpc>
                <a:spcPct val="80000"/>
              </a:lnSpc>
              <a:buNone/>
            </a:pPr>
            <a:r>
              <a:rPr lang="en-US" altLang="zh-CN" sz="1800" dirty="0"/>
              <a:t>{</a:t>
            </a:r>
          </a:p>
          <a:p>
            <a:pPr marL="0" indent="0">
              <a:lnSpc>
                <a:spcPct val="80000"/>
              </a:lnSpc>
              <a:buNone/>
            </a:pPr>
            <a:r>
              <a:rPr lang="en-US" altLang="zh-CN" sz="1800" dirty="0" err="1"/>
              <a:t>buf</a:t>
            </a:r>
            <a:r>
              <a:rPr lang="en-US" altLang="zh-CN" sz="1800" dirty="0"/>
              <a:t>[s-1]=0;  //</a:t>
            </a:r>
            <a:r>
              <a:rPr lang="zh-CN" altLang="en-US" sz="1800" dirty="0"/>
              <a:t>忽略写端最后输入的回车</a:t>
            </a:r>
            <a:endParaRPr lang="en-US" altLang="zh-CN" sz="1800" dirty="0"/>
          </a:p>
          <a:p>
            <a:pPr marL="0" indent="0">
              <a:lnSpc>
                <a:spcPct val="80000"/>
              </a:lnSpc>
              <a:buNone/>
            </a:pPr>
            <a:r>
              <a:rPr lang="en-US" altLang="zh-CN" sz="1800" dirty="0"/>
              <a:t>printf("client say#:%s\n",</a:t>
            </a:r>
            <a:r>
              <a:rPr lang="en-US" altLang="zh-CN" sz="1800" dirty="0" err="1"/>
              <a:t>buf</a:t>
            </a:r>
            <a:r>
              <a:rPr lang="en-US" altLang="zh-CN" sz="1800" dirty="0"/>
              <a:t>);</a:t>
            </a:r>
          </a:p>
          <a:p>
            <a:pPr marL="0" indent="0">
              <a:lnSpc>
                <a:spcPct val="80000"/>
              </a:lnSpc>
              <a:buNone/>
            </a:pPr>
            <a:r>
              <a:rPr lang="en-US" altLang="zh-CN" sz="1800" dirty="0"/>
              <a:t>}</a:t>
            </a:r>
          </a:p>
          <a:p>
            <a:pPr marL="0" indent="0">
              <a:lnSpc>
                <a:spcPct val="80000"/>
              </a:lnSpc>
              <a:buNone/>
            </a:pPr>
            <a:r>
              <a:rPr lang="en-US" altLang="zh-CN" sz="1800" dirty="0"/>
              <a:t>else if(s==0)  //</a:t>
            </a:r>
            <a:r>
              <a:rPr lang="zh-CN" altLang="en-US" sz="1800" dirty="0"/>
              <a:t>所读文件已经关闭</a:t>
            </a:r>
          </a:p>
          <a:p>
            <a:pPr marL="0" indent="0">
              <a:lnSpc>
                <a:spcPct val="80000"/>
              </a:lnSpc>
              <a:buNone/>
            </a:pPr>
            <a:r>
              <a:rPr lang="en-US" altLang="zh-CN" sz="1800" dirty="0"/>
              <a:t>{</a:t>
            </a:r>
          </a:p>
          <a:p>
            <a:pPr marL="0" indent="0">
              <a:lnSpc>
                <a:spcPct val="80000"/>
              </a:lnSpc>
              <a:buNone/>
            </a:pPr>
            <a:r>
              <a:rPr lang="en-US" altLang="zh-CN" sz="1800" dirty="0"/>
              <a:t>printf("client </a:t>
            </a:r>
            <a:r>
              <a:rPr lang="en-US" altLang="zh-CN" sz="1800" dirty="0" err="1"/>
              <a:t>quit,exit</a:t>
            </a:r>
            <a:r>
              <a:rPr lang="en-US" altLang="zh-CN" sz="1800" dirty="0"/>
              <a:t> now!\n");</a:t>
            </a:r>
          </a:p>
          <a:p>
            <a:pPr marL="0" indent="0">
              <a:lnSpc>
                <a:spcPct val="80000"/>
              </a:lnSpc>
              <a:buNone/>
            </a:pPr>
            <a:r>
              <a:rPr lang="en-US" altLang="zh-CN" sz="1800" dirty="0"/>
              <a:t>exit(EXIT_SUCCESS);</a:t>
            </a:r>
          </a:p>
          <a:p>
            <a:pPr marL="0" indent="0">
              <a:lnSpc>
                <a:spcPct val="80000"/>
              </a:lnSpc>
              <a:buNone/>
            </a:pPr>
            <a:r>
              <a:rPr lang="en-US" altLang="zh-CN" sz="1800" dirty="0"/>
              <a:t>}</a:t>
            </a:r>
          </a:p>
          <a:p>
            <a:pPr marL="0" indent="0">
              <a:lnSpc>
                <a:spcPct val="80000"/>
              </a:lnSpc>
              <a:buNone/>
            </a:pPr>
            <a:r>
              <a:rPr lang="en-US" altLang="zh-CN" sz="1800" dirty="0"/>
              <a:t> else  //</a:t>
            </a:r>
            <a:r>
              <a:rPr lang="zh-CN" altLang="en-US" sz="1800" dirty="0"/>
              <a:t>读取文件失败</a:t>
            </a:r>
          </a:p>
          <a:p>
            <a:pPr marL="0" indent="0">
              <a:lnSpc>
                <a:spcPct val="80000"/>
              </a:lnSpc>
              <a:buNone/>
            </a:pPr>
            <a:r>
              <a:rPr lang="zh-CN" altLang="en-US" sz="1800" dirty="0"/>
              <a:t> </a:t>
            </a:r>
            <a:r>
              <a:rPr lang="en-US" altLang="zh-CN" sz="1800" dirty="0"/>
              <a:t>ERR_EXIT("read error\n");</a:t>
            </a:r>
          </a:p>
          <a:p>
            <a:pPr marL="0" indent="0">
              <a:lnSpc>
                <a:spcPct val="80000"/>
              </a:lnSpc>
              <a:buNone/>
            </a:pPr>
            <a:r>
              <a:rPr lang="en-US" altLang="zh-CN" sz="1800" dirty="0"/>
              <a:t>        }</a:t>
            </a:r>
          </a:p>
          <a:p>
            <a:pPr marL="0" indent="0">
              <a:lnSpc>
                <a:spcPct val="80000"/>
              </a:lnSpc>
              <a:buNone/>
            </a:pPr>
            <a:r>
              <a:rPr lang="en-US" altLang="zh-CN" sz="1800" dirty="0"/>
              <a:t>        close(</a:t>
            </a:r>
            <a:r>
              <a:rPr lang="en-US" altLang="zh-CN" sz="1800" dirty="0" err="1"/>
              <a:t>rfd</a:t>
            </a:r>
            <a:r>
              <a:rPr lang="en-US" altLang="zh-CN" sz="1800" dirty="0"/>
              <a:t>);</a:t>
            </a:r>
          </a:p>
          <a:p>
            <a:pPr marL="0" indent="0">
              <a:lnSpc>
                <a:spcPct val="80000"/>
              </a:lnSpc>
              <a:buNone/>
            </a:pPr>
            <a:r>
              <a:rPr lang="en-US" altLang="zh-CN" sz="1800" dirty="0"/>
              <a:t>        return 0;</a:t>
            </a:r>
          </a:p>
          <a:p>
            <a:pPr marL="0" indent="0">
              <a:lnSpc>
                <a:spcPct val="80000"/>
              </a:lnSpc>
              <a:buNone/>
            </a:pPr>
            <a:r>
              <a:rPr lang="en-US" altLang="zh-CN" sz="1800" dirty="0"/>
              <a:t>}</a:t>
            </a:r>
          </a:p>
          <a:p>
            <a:pPr marL="0" indent="0">
              <a:lnSpc>
                <a:spcPct val="90000"/>
              </a:lnSpc>
              <a:buNone/>
            </a:pPr>
            <a:endParaRPr lang="zh-CN" altLang="en-US" sz="1800" dirty="0"/>
          </a:p>
        </p:txBody>
      </p:sp>
    </p:spTree>
    <p:extLst>
      <p:ext uri="{BB962C8B-B14F-4D97-AF65-F5344CB8AC3E}">
        <p14:creationId xmlns:p14="http://schemas.microsoft.com/office/powerpoint/2010/main" val="4054401273"/>
      </p:ext>
    </p:extLst>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44D89C8-963D-7713-6A46-526AD491A1AE}"/>
              </a:ext>
            </a:extLst>
          </p:cNvPr>
          <p:cNvSpPr/>
          <p:nvPr/>
        </p:nvSpPr>
        <p:spPr>
          <a:xfrm>
            <a:off x="0" y="44624"/>
            <a:ext cx="12192000" cy="6741368"/>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3970" name="Rectangle 2"/>
          <p:cNvSpPr>
            <a:spLocks noGrp="1" noChangeArrowheads="1"/>
          </p:cNvSpPr>
          <p:nvPr>
            <p:ph type="title"/>
          </p:nvPr>
        </p:nvSpPr>
        <p:spPr>
          <a:xfrm>
            <a:off x="1919536" y="260649"/>
            <a:ext cx="8496944" cy="426789"/>
          </a:xfrm>
        </p:spPr>
        <p:txBody>
          <a:bodyPr/>
          <a:lstStyle/>
          <a:p>
            <a:pPr algn="l"/>
            <a:r>
              <a:rPr lang="zh-CN" altLang="en-US" sz="2200" dirty="0">
                <a:solidFill>
                  <a:srgbClr val="0000CC"/>
                </a:solidFill>
                <a:latin typeface="+mn-ea"/>
                <a:ea typeface="+mn-ea"/>
              </a:rPr>
              <a:t>写端</a:t>
            </a:r>
            <a:r>
              <a:rPr lang="zh-CN" altLang="en-US" sz="2200" dirty="0">
                <a:latin typeface="+mn-ea"/>
                <a:ea typeface="+mn-ea"/>
              </a:rPr>
              <a:t>程序</a:t>
            </a:r>
            <a:r>
              <a:rPr lang="en-US" altLang="zh-CN" sz="2200" dirty="0" err="1">
                <a:latin typeface="+mn-ea"/>
                <a:ea typeface="+mn-ea"/>
              </a:rPr>
              <a:t>fifob.c</a:t>
            </a:r>
            <a:r>
              <a:rPr lang="zh-CN" altLang="en-US" sz="2200" dirty="0">
                <a:latin typeface="+mn-ea"/>
                <a:ea typeface="+mn-ea"/>
              </a:rPr>
              <a:t>如下：</a:t>
            </a:r>
          </a:p>
        </p:txBody>
      </p:sp>
      <p:sp>
        <p:nvSpPr>
          <p:cNvPr id="83971" name="Rectangle 3"/>
          <p:cNvSpPr>
            <a:spLocks noGrp="1" noChangeArrowheads="1"/>
          </p:cNvSpPr>
          <p:nvPr>
            <p:ph type="body" sz="half" idx="1"/>
          </p:nvPr>
        </p:nvSpPr>
        <p:spPr>
          <a:xfrm>
            <a:off x="1663824" y="980728"/>
            <a:ext cx="4432176" cy="5544616"/>
          </a:xfrm>
          <a:ln>
            <a:solidFill>
              <a:schemeClr val="bg2"/>
            </a:solidFill>
          </a:ln>
        </p:spPr>
        <p:txBody>
          <a:bodyPr/>
          <a:lstStyle/>
          <a:p>
            <a:pPr marL="0" indent="0">
              <a:lnSpc>
                <a:spcPct val="80000"/>
              </a:lnSpc>
              <a:buNone/>
            </a:pPr>
            <a:r>
              <a:rPr lang="en-US" altLang="zh-CN" sz="2000" dirty="0">
                <a:cs typeface="Times New Roman" pitchFamily="18" charset="0"/>
              </a:rPr>
              <a:t>#include &lt;</a:t>
            </a:r>
            <a:r>
              <a:rPr lang="en-US" altLang="zh-CN" sz="2000" dirty="0" err="1">
                <a:cs typeface="Times New Roman" pitchFamily="18" charset="0"/>
              </a:rPr>
              <a:t>string.h</a:t>
            </a:r>
            <a:r>
              <a:rPr lang="en-US" altLang="zh-CN" sz="2000" dirty="0">
                <a:cs typeface="Times New Roman" pitchFamily="18" charset="0"/>
              </a:rPr>
              <a:t>&gt;</a:t>
            </a:r>
          </a:p>
          <a:p>
            <a:pPr marL="0" indent="0">
              <a:lnSpc>
                <a:spcPct val="80000"/>
              </a:lnSpc>
              <a:buNone/>
            </a:pPr>
            <a:r>
              <a:rPr lang="en-US" altLang="zh-CN" sz="2000" dirty="0">
                <a:cs typeface="Times New Roman" pitchFamily="18" charset="0"/>
              </a:rPr>
              <a:t>#include &lt;unistd.h&gt;</a:t>
            </a:r>
          </a:p>
          <a:p>
            <a:pPr marL="0" indent="0">
              <a:lnSpc>
                <a:spcPct val="80000"/>
              </a:lnSpc>
              <a:buNone/>
            </a:pPr>
            <a:r>
              <a:rPr lang="en-US" altLang="zh-CN" sz="2000" dirty="0">
                <a:cs typeface="Times New Roman" pitchFamily="18" charset="0"/>
              </a:rPr>
              <a:t>#include &lt;stdio.h&gt;</a:t>
            </a:r>
          </a:p>
          <a:p>
            <a:pPr marL="0" indent="0">
              <a:lnSpc>
                <a:spcPct val="80000"/>
              </a:lnSpc>
              <a:buNone/>
            </a:pPr>
            <a:r>
              <a:rPr lang="en-US" altLang="zh-CN" sz="2000" dirty="0">
                <a:cs typeface="Times New Roman" pitchFamily="18" charset="0"/>
              </a:rPr>
              <a:t>#include &lt;sys/</a:t>
            </a:r>
            <a:r>
              <a:rPr lang="en-US" altLang="zh-CN" sz="2000" dirty="0" err="1">
                <a:cs typeface="Times New Roman" pitchFamily="18" charset="0"/>
              </a:rPr>
              <a:t>types.h</a:t>
            </a:r>
            <a:r>
              <a:rPr lang="en-US" altLang="zh-CN" sz="2000" dirty="0">
                <a:cs typeface="Times New Roman" pitchFamily="18" charset="0"/>
              </a:rPr>
              <a:t>&gt;</a:t>
            </a:r>
          </a:p>
          <a:p>
            <a:pPr marL="0" indent="0">
              <a:lnSpc>
                <a:spcPct val="80000"/>
              </a:lnSpc>
              <a:buNone/>
            </a:pPr>
            <a:r>
              <a:rPr lang="en-US" altLang="zh-CN" sz="2000" dirty="0">
                <a:cs typeface="Times New Roman" pitchFamily="18" charset="0"/>
              </a:rPr>
              <a:t>#include &lt;sys/</a:t>
            </a:r>
            <a:r>
              <a:rPr lang="en-US" altLang="zh-CN" sz="2000" dirty="0" err="1">
                <a:cs typeface="Times New Roman" pitchFamily="18" charset="0"/>
              </a:rPr>
              <a:t>stat.h</a:t>
            </a:r>
            <a:r>
              <a:rPr lang="en-US" altLang="zh-CN" sz="2000" dirty="0">
                <a:cs typeface="Times New Roman" pitchFamily="18" charset="0"/>
              </a:rPr>
              <a:t>&gt;</a:t>
            </a:r>
          </a:p>
          <a:p>
            <a:pPr marL="0" indent="0">
              <a:lnSpc>
                <a:spcPct val="80000"/>
              </a:lnSpc>
              <a:buNone/>
            </a:pPr>
            <a:r>
              <a:rPr lang="en-US" altLang="zh-CN" sz="2000" dirty="0">
                <a:cs typeface="Times New Roman" pitchFamily="18" charset="0"/>
              </a:rPr>
              <a:t>#include &lt;</a:t>
            </a:r>
            <a:r>
              <a:rPr lang="en-US" altLang="zh-CN" sz="2000" dirty="0" err="1">
                <a:cs typeface="Times New Roman" pitchFamily="18" charset="0"/>
              </a:rPr>
              <a:t>fcntl.h</a:t>
            </a:r>
            <a:r>
              <a:rPr lang="en-US" altLang="zh-CN" sz="2000" dirty="0">
                <a:cs typeface="Times New Roman" pitchFamily="18" charset="0"/>
              </a:rPr>
              <a:t>&gt;</a:t>
            </a:r>
          </a:p>
          <a:p>
            <a:pPr marL="0" indent="0">
              <a:lnSpc>
                <a:spcPct val="80000"/>
              </a:lnSpc>
              <a:buNone/>
            </a:pPr>
            <a:r>
              <a:rPr lang="en-US" altLang="zh-CN" sz="2000" dirty="0">
                <a:cs typeface="Times New Roman" pitchFamily="18" charset="0"/>
              </a:rPr>
              <a:t>#include &lt;stdlib.h&gt;</a:t>
            </a:r>
          </a:p>
          <a:p>
            <a:pPr marL="0" indent="0">
              <a:lnSpc>
                <a:spcPct val="80000"/>
              </a:lnSpc>
              <a:buNone/>
            </a:pPr>
            <a:r>
              <a:rPr lang="en-US" altLang="zh-CN" sz="2000" dirty="0">
                <a:cs typeface="Times New Roman" pitchFamily="18" charset="0"/>
              </a:rPr>
              <a:t>#define ERR_EXIT(m)</a:t>
            </a:r>
          </a:p>
          <a:p>
            <a:pPr marL="0" indent="0">
              <a:lnSpc>
                <a:spcPct val="80000"/>
              </a:lnSpc>
              <a:buNone/>
            </a:pPr>
            <a:endParaRPr lang="en-US" altLang="zh-CN" sz="2000" dirty="0">
              <a:cs typeface="Times New Roman" pitchFamily="18" charset="0"/>
            </a:endParaRPr>
          </a:p>
          <a:p>
            <a:pPr marL="0" indent="0">
              <a:lnSpc>
                <a:spcPct val="80000"/>
              </a:lnSpc>
              <a:buNone/>
            </a:pPr>
            <a:r>
              <a:rPr lang="en-US" altLang="zh-CN" sz="2000" dirty="0">
                <a:cs typeface="Times New Roman" pitchFamily="18" charset="0"/>
              </a:rPr>
              <a:t>int main()</a:t>
            </a:r>
          </a:p>
          <a:p>
            <a:pPr marL="0" indent="0">
              <a:lnSpc>
                <a:spcPct val="80000"/>
              </a:lnSpc>
              <a:buNone/>
            </a:pPr>
            <a:r>
              <a:rPr lang="en-US" altLang="zh-CN" sz="2000" dirty="0">
                <a:cs typeface="Times New Roman" pitchFamily="18" charset="0"/>
              </a:rPr>
              <a:t>{</a:t>
            </a:r>
          </a:p>
          <a:p>
            <a:pPr marL="0" indent="0">
              <a:lnSpc>
                <a:spcPct val="80000"/>
              </a:lnSpc>
              <a:buNone/>
            </a:pPr>
            <a:r>
              <a:rPr lang="en-US" altLang="zh-CN" sz="2000" dirty="0" err="1">
                <a:cs typeface="Times New Roman" pitchFamily="18" charset="0"/>
              </a:rPr>
              <a:t>umask</a:t>
            </a:r>
            <a:r>
              <a:rPr lang="en-US" altLang="zh-CN" sz="2000" dirty="0">
                <a:cs typeface="Times New Roman" pitchFamily="18" charset="0"/>
              </a:rPr>
              <a:t>(0);</a:t>
            </a:r>
          </a:p>
          <a:p>
            <a:pPr marL="0" indent="0">
              <a:lnSpc>
                <a:spcPct val="80000"/>
              </a:lnSpc>
              <a:buNone/>
            </a:pPr>
            <a:r>
              <a:rPr lang="en-US" altLang="zh-CN" sz="2000" dirty="0">
                <a:cs typeface="Times New Roman" pitchFamily="18" charset="0"/>
              </a:rPr>
              <a:t>int </a:t>
            </a:r>
            <a:r>
              <a:rPr lang="en-US" altLang="zh-CN" sz="2000" dirty="0" err="1">
                <a:cs typeface="Times New Roman" pitchFamily="18" charset="0"/>
              </a:rPr>
              <a:t>wfd</a:t>
            </a:r>
            <a:r>
              <a:rPr lang="en-US" altLang="zh-CN" sz="2000" dirty="0">
                <a:cs typeface="Times New Roman" pitchFamily="18" charset="0"/>
              </a:rPr>
              <a:t>=open("</a:t>
            </a:r>
            <a:r>
              <a:rPr lang="en-US" altLang="zh-CN" sz="2000" dirty="0" err="1">
                <a:cs typeface="Times New Roman" pitchFamily="18" charset="0"/>
              </a:rPr>
              <a:t>myfifo</a:t>
            </a:r>
            <a:r>
              <a:rPr lang="en-US" altLang="zh-CN" sz="2000" dirty="0">
                <a:cs typeface="Times New Roman" pitchFamily="18" charset="0"/>
              </a:rPr>
              <a:t>",O_WRONLY);</a:t>
            </a:r>
          </a:p>
          <a:p>
            <a:pPr marL="0" indent="0">
              <a:lnSpc>
                <a:spcPct val="80000"/>
              </a:lnSpc>
              <a:buNone/>
            </a:pPr>
            <a:r>
              <a:rPr lang="en-US" altLang="zh-CN" sz="2000" dirty="0">
                <a:cs typeface="Times New Roman" pitchFamily="18" charset="0"/>
              </a:rPr>
              <a:t> //</a:t>
            </a:r>
            <a:r>
              <a:rPr lang="zh-CN" altLang="en-US" sz="2000" dirty="0">
                <a:cs typeface="Times New Roman" pitchFamily="18" charset="0"/>
              </a:rPr>
              <a:t>只写方式打开管道</a:t>
            </a:r>
          </a:p>
          <a:p>
            <a:pPr marL="0" indent="0">
              <a:lnSpc>
                <a:spcPct val="80000"/>
              </a:lnSpc>
              <a:buNone/>
            </a:pPr>
            <a:r>
              <a:rPr lang="en-US" altLang="zh-CN" sz="2000" dirty="0">
                <a:cs typeface="Times New Roman" pitchFamily="18" charset="0"/>
              </a:rPr>
              <a:t>if(</a:t>
            </a:r>
            <a:r>
              <a:rPr lang="en-US" altLang="zh-CN" sz="2000" dirty="0" err="1">
                <a:cs typeface="Times New Roman" pitchFamily="18" charset="0"/>
              </a:rPr>
              <a:t>wfd</a:t>
            </a:r>
            <a:r>
              <a:rPr lang="en-US" altLang="zh-CN" sz="2000" dirty="0">
                <a:cs typeface="Times New Roman" pitchFamily="18" charset="0"/>
              </a:rPr>
              <a:t>&lt;0)</a:t>
            </a:r>
          </a:p>
          <a:p>
            <a:pPr marL="0" indent="0">
              <a:lnSpc>
                <a:spcPct val="80000"/>
              </a:lnSpc>
              <a:buNone/>
            </a:pPr>
            <a:r>
              <a:rPr lang="en-US" altLang="zh-CN" sz="2000" dirty="0">
                <a:cs typeface="Times New Roman" pitchFamily="18" charset="0"/>
              </a:rPr>
              <a:t>ERR_EXIT("open\n");</a:t>
            </a:r>
          </a:p>
          <a:p>
            <a:pPr marL="0" indent="0">
              <a:lnSpc>
                <a:spcPct val="80000"/>
              </a:lnSpc>
              <a:buNone/>
            </a:pPr>
            <a:r>
              <a:rPr lang="en-US" altLang="zh-CN" sz="2000" dirty="0">
                <a:cs typeface="Times New Roman" pitchFamily="18" charset="0"/>
              </a:rPr>
              <a:t>char </a:t>
            </a:r>
            <a:r>
              <a:rPr lang="en-US" altLang="zh-CN" sz="2000" dirty="0" err="1">
                <a:cs typeface="Times New Roman" pitchFamily="18" charset="0"/>
              </a:rPr>
              <a:t>buf</a:t>
            </a:r>
            <a:r>
              <a:rPr lang="en-US" altLang="zh-CN" sz="2000" dirty="0">
                <a:cs typeface="Times New Roman" pitchFamily="18" charset="0"/>
              </a:rPr>
              <a:t>[1024];</a:t>
            </a:r>
          </a:p>
          <a:p>
            <a:pPr marL="0" indent="0">
              <a:lnSpc>
                <a:spcPct val="80000"/>
              </a:lnSpc>
              <a:buNone/>
            </a:pPr>
            <a:endParaRPr lang="en-US" altLang="zh-CN" sz="1800" dirty="0">
              <a:cs typeface="Times New Roman" pitchFamily="18" charset="0"/>
            </a:endParaRPr>
          </a:p>
          <a:p>
            <a:pPr marL="0" indent="0">
              <a:lnSpc>
                <a:spcPct val="80000"/>
              </a:lnSpc>
              <a:buNone/>
            </a:pPr>
            <a:endParaRPr lang="zh-CN" altLang="en-US" sz="1800" dirty="0">
              <a:cs typeface="Times New Roman" pitchFamily="18" charset="0"/>
            </a:endParaRPr>
          </a:p>
          <a:p>
            <a:pPr marL="0" indent="0">
              <a:lnSpc>
                <a:spcPct val="80000"/>
              </a:lnSpc>
              <a:buNone/>
            </a:pPr>
            <a:endParaRPr lang="zh-CN" altLang="en-US" sz="1800" dirty="0"/>
          </a:p>
        </p:txBody>
      </p:sp>
      <p:sp>
        <p:nvSpPr>
          <p:cNvPr id="83972" name="Rectangle 4"/>
          <p:cNvSpPr>
            <a:spLocks noGrp="1" noChangeArrowheads="1"/>
          </p:cNvSpPr>
          <p:nvPr>
            <p:ph type="body" sz="half" idx="2"/>
          </p:nvPr>
        </p:nvSpPr>
        <p:spPr>
          <a:xfrm>
            <a:off x="6248400" y="980728"/>
            <a:ext cx="4312096" cy="5544616"/>
          </a:xfrm>
          <a:ln>
            <a:solidFill>
              <a:schemeClr val="bg2"/>
            </a:solidFill>
          </a:ln>
        </p:spPr>
        <p:txBody>
          <a:bodyPr/>
          <a:lstStyle/>
          <a:p>
            <a:pPr marL="0" indent="0">
              <a:lnSpc>
                <a:spcPct val="80000"/>
              </a:lnSpc>
              <a:buNone/>
            </a:pPr>
            <a:r>
              <a:rPr lang="en-US" altLang="zh-CN" sz="2000" dirty="0"/>
              <a:t>while(1)</a:t>
            </a:r>
          </a:p>
          <a:p>
            <a:pPr marL="0" indent="0">
              <a:lnSpc>
                <a:spcPct val="80000"/>
              </a:lnSpc>
              <a:buNone/>
            </a:pPr>
            <a:r>
              <a:rPr lang="en-US" altLang="zh-CN" sz="2000" dirty="0"/>
              <a:t>{</a:t>
            </a:r>
          </a:p>
          <a:p>
            <a:pPr marL="0" indent="0">
              <a:lnSpc>
                <a:spcPct val="80000"/>
              </a:lnSpc>
              <a:buNone/>
            </a:pPr>
            <a:r>
              <a:rPr lang="en-US" altLang="zh-CN" sz="2000" dirty="0" err="1"/>
              <a:t>buf</a:t>
            </a:r>
            <a:r>
              <a:rPr lang="en-US" altLang="zh-CN" sz="2000" dirty="0"/>
              <a:t>[0]=0;</a:t>
            </a:r>
          </a:p>
          <a:p>
            <a:pPr marL="0" indent="0">
              <a:lnSpc>
                <a:spcPct val="80000"/>
              </a:lnSpc>
              <a:buNone/>
            </a:pPr>
            <a:r>
              <a:rPr lang="en-US" altLang="zh-CN" sz="2000" dirty="0"/>
              <a:t>printf("Please Enter#:");</a:t>
            </a:r>
          </a:p>
          <a:p>
            <a:pPr marL="0" indent="0">
              <a:lnSpc>
                <a:spcPct val="80000"/>
              </a:lnSpc>
              <a:buNone/>
            </a:pPr>
            <a:r>
              <a:rPr lang="en-US" altLang="zh-CN" sz="2000" dirty="0" err="1"/>
              <a:t>fflush</a:t>
            </a:r>
            <a:r>
              <a:rPr lang="en-US" altLang="zh-CN" sz="2000" dirty="0"/>
              <a:t>(</a:t>
            </a:r>
            <a:r>
              <a:rPr lang="en-US" altLang="zh-CN" sz="2000" dirty="0" err="1"/>
              <a:t>stdout</a:t>
            </a:r>
            <a:r>
              <a:rPr lang="en-US" altLang="zh-CN" sz="2000" dirty="0"/>
              <a:t>);</a:t>
            </a:r>
          </a:p>
          <a:p>
            <a:pPr marL="0" indent="0">
              <a:lnSpc>
                <a:spcPct val="80000"/>
              </a:lnSpc>
              <a:buNone/>
            </a:pPr>
            <a:r>
              <a:rPr lang="en-US" altLang="zh-CN" sz="2000" dirty="0" err="1"/>
              <a:t>ssize_t</a:t>
            </a:r>
            <a:r>
              <a:rPr lang="en-US" altLang="zh-CN" sz="2000" dirty="0"/>
              <a:t> s=read(0,buf,sizeof(</a:t>
            </a:r>
            <a:r>
              <a:rPr lang="en-US" altLang="zh-CN" sz="2000" dirty="0" err="1"/>
              <a:t>buf</a:t>
            </a:r>
            <a:r>
              <a:rPr lang="en-US" altLang="zh-CN" sz="2000" dirty="0"/>
              <a:t>)-1);</a:t>
            </a:r>
          </a:p>
          <a:p>
            <a:pPr marL="0" indent="0">
              <a:lnSpc>
                <a:spcPct val="80000"/>
              </a:lnSpc>
              <a:buNone/>
            </a:pPr>
            <a:r>
              <a:rPr lang="en-US" altLang="zh-CN" sz="2000" dirty="0"/>
              <a:t>if(s&gt;0)   //</a:t>
            </a:r>
            <a:r>
              <a:rPr lang="zh-CN" altLang="en-US" sz="2000" dirty="0"/>
              <a:t>读取成功</a:t>
            </a:r>
          </a:p>
          <a:p>
            <a:pPr marL="0" indent="0">
              <a:lnSpc>
                <a:spcPct val="80000"/>
              </a:lnSpc>
              <a:buNone/>
            </a:pPr>
            <a:r>
              <a:rPr lang="en-US" altLang="zh-CN" sz="2000" dirty="0"/>
              <a:t>{</a:t>
            </a:r>
          </a:p>
          <a:p>
            <a:pPr marL="0" indent="0">
              <a:lnSpc>
                <a:spcPct val="80000"/>
              </a:lnSpc>
              <a:buNone/>
            </a:pPr>
            <a:r>
              <a:rPr lang="en-US" altLang="zh-CN" sz="2000" dirty="0" err="1"/>
              <a:t>buf</a:t>
            </a:r>
            <a:r>
              <a:rPr lang="en-US" altLang="zh-CN" sz="2000" dirty="0"/>
              <a:t>[s]=0;  //</a:t>
            </a:r>
            <a:r>
              <a:rPr lang="zh-CN" altLang="en-US" sz="2000" dirty="0"/>
              <a:t>给字符串最后补充 </a:t>
            </a:r>
            <a:r>
              <a:rPr lang="en-US" altLang="zh-CN" sz="2000" dirty="0"/>
              <a:t>\0</a:t>
            </a:r>
          </a:p>
          <a:p>
            <a:pPr marL="0" indent="0">
              <a:lnSpc>
                <a:spcPct val="80000"/>
              </a:lnSpc>
              <a:buNone/>
            </a:pPr>
            <a:r>
              <a:rPr lang="en-US" altLang="zh-CN" sz="2000" dirty="0"/>
              <a:t>write(</a:t>
            </a:r>
            <a:r>
              <a:rPr lang="en-US" altLang="zh-CN" sz="2000" dirty="0" err="1"/>
              <a:t>wfd,buf,strlen</a:t>
            </a:r>
            <a:r>
              <a:rPr lang="en-US" altLang="zh-CN" sz="2000" dirty="0"/>
              <a:t>(</a:t>
            </a:r>
            <a:r>
              <a:rPr lang="en-US" altLang="zh-CN" sz="2000" dirty="0" err="1"/>
              <a:t>buf</a:t>
            </a:r>
            <a:r>
              <a:rPr lang="en-US" altLang="zh-CN" sz="2000" dirty="0"/>
              <a:t>));</a:t>
            </a:r>
          </a:p>
          <a:p>
            <a:pPr marL="0" indent="0">
              <a:lnSpc>
                <a:spcPct val="80000"/>
              </a:lnSpc>
              <a:buNone/>
            </a:pPr>
            <a:r>
              <a:rPr lang="en-US" altLang="zh-CN" sz="2000" dirty="0"/>
              <a:t>}</a:t>
            </a:r>
          </a:p>
          <a:p>
            <a:pPr marL="0" indent="0">
              <a:lnSpc>
                <a:spcPct val="80000"/>
              </a:lnSpc>
              <a:buNone/>
            </a:pPr>
            <a:r>
              <a:rPr lang="en-US" altLang="zh-CN" sz="2000" dirty="0"/>
              <a:t>else  //</a:t>
            </a:r>
            <a:r>
              <a:rPr lang="zh-CN" altLang="en-US" sz="2000" dirty="0"/>
              <a:t>读取文件失败</a:t>
            </a:r>
          </a:p>
          <a:p>
            <a:pPr marL="0" indent="0">
              <a:lnSpc>
                <a:spcPct val="80000"/>
              </a:lnSpc>
              <a:buNone/>
            </a:pPr>
            <a:r>
              <a:rPr lang="en-US" altLang="zh-CN" sz="2000" dirty="0"/>
              <a:t>ERR_EXIT("read error\n");</a:t>
            </a:r>
          </a:p>
          <a:p>
            <a:pPr marL="0" indent="0">
              <a:lnSpc>
                <a:spcPct val="80000"/>
              </a:lnSpc>
              <a:buNone/>
            </a:pPr>
            <a:r>
              <a:rPr lang="en-US" altLang="zh-CN" sz="2000" dirty="0"/>
              <a:t>}</a:t>
            </a:r>
          </a:p>
          <a:p>
            <a:pPr marL="0" indent="0">
              <a:lnSpc>
                <a:spcPct val="80000"/>
              </a:lnSpc>
              <a:buNone/>
            </a:pPr>
            <a:r>
              <a:rPr lang="en-US" altLang="zh-CN" sz="2000" dirty="0"/>
              <a:t>close(</a:t>
            </a:r>
            <a:r>
              <a:rPr lang="en-US" altLang="zh-CN" sz="2000" dirty="0" err="1"/>
              <a:t>wfd</a:t>
            </a:r>
            <a:r>
              <a:rPr lang="en-US" altLang="zh-CN" sz="2000" dirty="0"/>
              <a:t>);</a:t>
            </a:r>
          </a:p>
          <a:p>
            <a:pPr marL="0" indent="0">
              <a:lnSpc>
                <a:spcPct val="80000"/>
              </a:lnSpc>
              <a:buNone/>
            </a:pPr>
            <a:r>
              <a:rPr lang="en-US" altLang="zh-CN" sz="2000" dirty="0"/>
              <a:t>return 0;</a:t>
            </a:r>
          </a:p>
          <a:p>
            <a:pPr marL="0" indent="0">
              <a:lnSpc>
                <a:spcPct val="80000"/>
              </a:lnSpc>
              <a:buNone/>
            </a:pPr>
            <a:r>
              <a:rPr lang="en-US" altLang="zh-CN" sz="2000" dirty="0"/>
              <a:t>}</a:t>
            </a:r>
          </a:p>
          <a:p>
            <a:pPr marL="0" indent="0">
              <a:lnSpc>
                <a:spcPct val="90000"/>
              </a:lnSpc>
              <a:buNone/>
            </a:pPr>
            <a:endParaRPr lang="zh-CN" altLang="en-US" sz="1800" dirty="0"/>
          </a:p>
        </p:txBody>
      </p:sp>
    </p:spTree>
    <p:extLst>
      <p:ext uri="{BB962C8B-B14F-4D97-AF65-F5344CB8AC3E}">
        <p14:creationId xmlns:p14="http://schemas.microsoft.com/office/powerpoint/2010/main" val="1898917967"/>
      </p:ext>
    </p:extLst>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E9236-CA2D-71A3-A1A5-BABD38655186}"/>
              </a:ext>
            </a:extLst>
          </p:cNvPr>
          <p:cNvSpPr>
            <a:spLocks noGrp="1"/>
          </p:cNvSpPr>
          <p:nvPr>
            <p:ph type="title"/>
          </p:nvPr>
        </p:nvSpPr>
        <p:spPr/>
        <p:txBody>
          <a:bodyPr/>
          <a:lstStyle/>
          <a:p>
            <a:r>
              <a:rPr lang="zh-CN" altLang="en-US" dirty="0"/>
              <a:t>命名管道</a:t>
            </a:r>
          </a:p>
        </p:txBody>
      </p:sp>
      <p:sp>
        <p:nvSpPr>
          <p:cNvPr id="3" name="灯片编号占位符 2">
            <a:extLst>
              <a:ext uri="{FF2B5EF4-FFF2-40B4-BE49-F238E27FC236}">
                <a16:creationId xmlns:a16="http://schemas.microsoft.com/office/drawing/2014/main" id="{F0847D4C-A90B-0C86-3547-A1E983B6DBDF}"/>
              </a:ext>
            </a:extLst>
          </p:cNvPr>
          <p:cNvSpPr>
            <a:spLocks noGrp="1"/>
          </p:cNvSpPr>
          <p:nvPr>
            <p:ph type="sldNum" sz="quarter" idx="11"/>
          </p:nvPr>
        </p:nvSpPr>
        <p:spPr/>
        <p:txBody>
          <a:bodyPr/>
          <a:lstStyle/>
          <a:p>
            <a:pPr>
              <a:defRPr/>
            </a:pPr>
            <a:fld id="{110871B5-850E-4E14-A636-3EC679EBF038}" type="slidenum">
              <a:rPr lang="en-US" altLang="zh-CN" smtClean="0"/>
              <a:pPr>
                <a:defRPr/>
              </a:pPr>
              <a:t>86</a:t>
            </a:fld>
            <a:endParaRPr lang="en-US" altLang="zh-CN"/>
          </a:p>
        </p:txBody>
      </p:sp>
      <p:pic>
        <p:nvPicPr>
          <p:cNvPr id="5" name="图片 4">
            <a:extLst>
              <a:ext uri="{FF2B5EF4-FFF2-40B4-BE49-F238E27FC236}">
                <a16:creationId xmlns:a16="http://schemas.microsoft.com/office/drawing/2014/main" id="{89B96416-DAA7-DBF6-9ED1-50CABE04CB1B}"/>
              </a:ext>
            </a:extLst>
          </p:cNvPr>
          <p:cNvPicPr>
            <a:picLocks noChangeAspect="1"/>
          </p:cNvPicPr>
          <p:nvPr/>
        </p:nvPicPr>
        <p:blipFill>
          <a:blip r:embed="rId3"/>
          <a:stretch>
            <a:fillRect/>
          </a:stretch>
        </p:blipFill>
        <p:spPr>
          <a:xfrm>
            <a:off x="1703508" y="1772817"/>
            <a:ext cx="8784985" cy="3528391"/>
          </a:xfrm>
          <a:prstGeom prst="rect">
            <a:avLst/>
          </a:prstGeom>
          <a:ln>
            <a:solidFill>
              <a:schemeClr val="bg2"/>
            </a:solidFill>
          </a:ln>
        </p:spPr>
      </p:pic>
      <p:sp>
        <p:nvSpPr>
          <p:cNvPr id="6" name="Rectangle 2">
            <a:extLst>
              <a:ext uri="{FF2B5EF4-FFF2-40B4-BE49-F238E27FC236}">
                <a16:creationId xmlns:a16="http://schemas.microsoft.com/office/drawing/2014/main" id="{FBA7BC7E-A27C-50CF-7704-EC5BDEC94A2B}"/>
              </a:ext>
            </a:extLst>
          </p:cNvPr>
          <p:cNvSpPr txBox="1">
            <a:spLocks noChangeArrowheads="1"/>
          </p:cNvSpPr>
          <p:nvPr/>
        </p:nvSpPr>
        <p:spPr bwMode="auto">
          <a:xfrm>
            <a:off x="1871341" y="1202012"/>
            <a:ext cx="8496944" cy="426789"/>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a:lstStyle>
          <a:p>
            <a:pPr algn="l"/>
            <a:r>
              <a:rPr lang="zh-CN" altLang="en-US" sz="2600" kern="0" dirty="0">
                <a:latin typeface="+mn-ea"/>
                <a:ea typeface="+mn-ea"/>
              </a:rPr>
              <a:t>运行</a:t>
            </a:r>
            <a:r>
              <a:rPr lang="zh-CN" altLang="en-US" sz="2200" kern="0" dirty="0">
                <a:latin typeface="+mn-ea"/>
                <a:ea typeface="+mn-ea"/>
              </a:rPr>
              <a:t>：</a:t>
            </a:r>
          </a:p>
        </p:txBody>
      </p:sp>
    </p:spTree>
    <p:extLst>
      <p:ext uri="{BB962C8B-B14F-4D97-AF65-F5344CB8AC3E}">
        <p14:creationId xmlns:p14="http://schemas.microsoft.com/office/powerpoint/2010/main" val="15871052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4"/>
          <p:cNvSpPr>
            <a:spLocks noGrp="1"/>
          </p:cNvSpPr>
          <p:nvPr>
            <p:ph type="sldNum" sz="quarter" idx="11"/>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66B22DD-AF01-4B62-AA38-F09A830784A3}" type="slidenum">
              <a:rPr lang="en-US" altLang="zh-CN">
                <a:latin typeface="Arial Black" pitchFamily="34" charset="0"/>
              </a:rPr>
              <a:pPr eaLnBrk="1" hangingPunct="1"/>
              <a:t>87</a:t>
            </a:fld>
            <a:endParaRPr lang="en-US" altLang="zh-CN">
              <a:latin typeface="Arial Black" pitchFamily="34" charset="0"/>
            </a:endParaRPr>
          </a:p>
        </p:txBody>
      </p:sp>
      <p:sp>
        <p:nvSpPr>
          <p:cNvPr id="11269" name="Rectangle 2"/>
          <p:cNvSpPr>
            <a:spLocks noGrp="1" noChangeArrowheads="1"/>
          </p:cNvSpPr>
          <p:nvPr>
            <p:ph type="body" idx="1"/>
          </p:nvPr>
        </p:nvSpPr>
        <p:spPr>
          <a:xfrm>
            <a:off x="1229506" y="1485205"/>
            <a:ext cx="10081120" cy="4392067"/>
          </a:xfrm>
        </p:spPr>
        <p:txBody>
          <a:bodyPr/>
          <a:lstStyle/>
          <a:p>
            <a:pPr marL="506412" indent="-457200" eaLnBrk="1" hangingPunct="1"/>
            <a:r>
              <a:rPr lang="zh-CN" altLang="en-US" sz="2600" dirty="0">
                <a:solidFill>
                  <a:srgbClr val="0000CC"/>
                </a:solidFill>
              </a:rPr>
              <a:t>信号量方式：</a:t>
            </a:r>
            <a:r>
              <a:rPr lang="zh-CN" altLang="en-US" sz="2600" dirty="0"/>
              <a:t>主要作为进程间以及同一进程不同线程之间的同步手段。</a:t>
            </a:r>
            <a:endParaRPr lang="en-US" altLang="zh-CN" sz="2600" dirty="0"/>
          </a:p>
          <a:p>
            <a:pPr marL="506412" indent="-457200" eaLnBrk="1" hangingPunct="1"/>
            <a:r>
              <a:rPr lang="zh-CN" altLang="en-US" sz="2600" dirty="0"/>
              <a:t>信号量是一组原子操作，分别用</a:t>
            </a:r>
            <a:r>
              <a:rPr lang="en-US" altLang="zh-CN" sz="2600" dirty="0" err="1"/>
              <a:t>P,V</a:t>
            </a:r>
            <a:r>
              <a:rPr lang="zh-CN" altLang="en-US" sz="2600" dirty="0"/>
              <a:t>表示。</a:t>
            </a:r>
            <a:r>
              <a:rPr lang="en-US" altLang="zh-CN" sz="2600" dirty="0"/>
              <a:t>P</a:t>
            </a:r>
            <a:r>
              <a:rPr lang="zh-CN" altLang="en-US" sz="2600" dirty="0"/>
              <a:t>操作表示减少一个信号量的值，</a:t>
            </a:r>
            <a:r>
              <a:rPr lang="en-US" altLang="zh-CN" sz="2600" dirty="0"/>
              <a:t>V</a:t>
            </a:r>
            <a:r>
              <a:rPr lang="zh-CN" altLang="en-US" sz="2600" dirty="0"/>
              <a:t>操作表示增加一个信号量的值。</a:t>
            </a:r>
            <a:endParaRPr lang="en-US" altLang="zh-CN" sz="2600" dirty="0"/>
          </a:p>
          <a:p>
            <a:pPr marL="506412" indent="-457200" eaLnBrk="1" hangingPunct="1"/>
            <a:r>
              <a:rPr lang="en-US" altLang="zh-CN" sz="2600" dirty="0"/>
              <a:t>P</a:t>
            </a:r>
            <a:r>
              <a:rPr lang="zh-CN" altLang="en-US" sz="2600" dirty="0"/>
              <a:t>、</a:t>
            </a:r>
            <a:r>
              <a:rPr lang="en-US" altLang="zh-CN" sz="2600" dirty="0"/>
              <a:t>V</a:t>
            </a:r>
            <a:r>
              <a:rPr lang="zh-CN" altLang="en-US" sz="2600" dirty="0"/>
              <a:t>操作的目的就是避免在执行临界区操作时会有其它的进程也进入临界区，即实现并发进程间的互斥操作。</a:t>
            </a:r>
          </a:p>
          <a:p>
            <a:pPr marL="506412" indent="-457200" eaLnBrk="1" hangingPunct="1"/>
            <a:r>
              <a:rPr lang="zh-CN" altLang="en-US" sz="2600" dirty="0"/>
              <a:t>在进入一个关键代码段之前，进程或线程必须获取一个信号量；一旦该关键代码段完成了，那么该进程或线程必须释放信号量。其它想进入该关键代码段的线程必须等待直到第一个进程或线程释放信号量。</a:t>
            </a:r>
            <a:endParaRPr lang="en-US" altLang="zh-CN" sz="2600" dirty="0"/>
          </a:p>
        </p:txBody>
      </p:sp>
      <p:sp>
        <p:nvSpPr>
          <p:cNvPr id="4" name="Rectangle 4"/>
          <p:cNvSpPr>
            <a:spLocks noChangeArrowheads="1"/>
          </p:cNvSpPr>
          <p:nvPr/>
        </p:nvSpPr>
        <p:spPr bwMode="auto">
          <a:xfrm>
            <a:off x="1691606" y="511940"/>
            <a:ext cx="9156921"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4000" dirty="0">
                <a:latin typeface="+mn-ea"/>
                <a:ea typeface="+mn-ea"/>
              </a:rPr>
              <a:t>进程通信方式</a:t>
            </a:r>
            <a:endParaRPr lang="zh-CN" altLang="en-US" sz="3600" dirty="0">
              <a:latin typeface="+mn-ea"/>
              <a:ea typeface="+mn-ea"/>
            </a:endParaRPr>
          </a:p>
        </p:txBody>
      </p:sp>
    </p:spTree>
    <p:extLst>
      <p:ext uri="{BB962C8B-B14F-4D97-AF65-F5344CB8AC3E}">
        <p14:creationId xmlns:p14="http://schemas.microsoft.com/office/powerpoint/2010/main" val="21031448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D53308F-FFD4-09EC-08BE-4E5DD11971D7}"/>
              </a:ext>
            </a:extLst>
          </p:cNvPr>
          <p:cNvSpPr/>
          <p:nvPr/>
        </p:nvSpPr>
        <p:spPr>
          <a:xfrm>
            <a:off x="0" y="44624"/>
            <a:ext cx="12192000" cy="6741368"/>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3490" name="Text Box 2"/>
          <p:cNvSpPr txBox="1">
            <a:spLocks noChangeArrowheads="1"/>
          </p:cNvSpPr>
          <p:nvPr/>
        </p:nvSpPr>
        <p:spPr bwMode="auto">
          <a:xfrm>
            <a:off x="2279576" y="692697"/>
            <a:ext cx="4013200" cy="2428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spcBef>
                <a:spcPct val="20000"/>
              </a:spcBef>
            </a:pPr>
            <a:r>
              <a:rPr kumimoji="1" lang="en-US" altLang="zh-CN" sz="2200" dirty="0">
                <a:effectLst>
                  <a:outerShdw blurRad="38100" dist="38100" dir="2700000" algn="tl">
                    <a:srgbClr val="C0C0C0"/>
                  </a:outerShdw>
                </a:effectLst>
                <a:latin typeface="+mn-ea"/>
                <a:ea typeface="+mn-ea"/>
              </a:rPr>
              <a:t>P(S)</a:t>
            </a:r>
            <a:r>
              <a:rPr kumimoji="1" lang="zh-CN" altLang="en-US" sz="2200" dirty="0">
                <a:effectLst>
                  <a:outerShdw blurRad="38100" dist="38100" dir="2700000" algn="tl">
                    <a:srgbClr val="C0C0C0"/>
                  </a:outerShdw>
                </a:effectLst>
                <a:latin typeface="+mn-ea"/>
                <a:ea typeface="+mn-ea"/>
              </a:rPr>
              <a:t>： </a:t>
            </a:r>
          </a:p>
          <a:p>
            <a:pPr algn="just">
              <a:lnSpc>
                <a:spcPct val="90000"/>
              </a:lnSpc>
              <a:spcBef>
                <a:spcPct val="20000"/>
              </a:spcBef>
              <a:buSzPct val="80000"/>
              <a:buFont typeface="Wingdings" pitchFamily="2" charset="2"/>
              <a:buNone/>
            </a:pPr>
            <a:r>
              <a:rPr kumimoji="1" lang="zh-CN" altLang="en-US" sz="2200" dirty="0">
                <a:effectLst>
                  <a:outerShdw blurRad="38100" dist="38100" dir="2700000" algn="tl">
                    <a:srgbClr val="C0C0C0"/>
                  </a:outerShdw>
                </a:effectLst>
                <a:latin typeface="+mn-ea"/>
                <a:ea typeface="+mn-ea"/>
              </a:rPr>
              <a:t>① </a:t>
            </a:r>
            <a:r>
              <a:rPr kumimoji="1" lang="en-US" altLang="zh-CN" sz="2200" dirty="0">
                <a:effectLst>
                  <a:outerShdw blurRad="38100" dist="38100" dir="2700000" algn="tl">
                    <a:srgbClr val="C0C0C0"/>
                  </a:outerShdw>
                </a:effectLst>
                <a:latin typeface="+mn-ea"/>
                <a:ea typeface="+mn-ea"/>
              </a:rPr>
              <a:t>S∶=S-1;</a:t>
            </a:r>
          </a:p>
          <a:p>
            <a:pPr algn="just">
              <a:lnSpc>
                <a:spcPct val="90000"/>
              </a:lnSpc>
              <a:spcBef>
                <a:spcPct val="20000"/>
              </a:spcBef>
              <a:buSzPct val="80000"/>
              <a:buFont typeface="Wingdings" pitchFamily="2" charset="2"/>
              <a:buNone/>
            </a:pPr>
            <a:r>
              <a:rPr kumimoji="1" lang="en-US" altLang="zh-CN" sz="2200" dirty="0">
                <a:effectLst>
                  <a:outerShdw blurRad="38100" dist="38100" dir="2700000" algn="tl">
                    <a:srgbClr val="C0C0C0"/>
                  </a:outerShdw>
                </a:effectLst>
                <a:latin typeface="+mn-ea"/>
                <a:ea typeface="+mn-ea"/>
              </a:rPr>
              <a:t>② </a:t>
            </a:r>
            <a:r>
              <a:rPr kumimoji="1" lang="zh-CN" altLang="en-US" sz="2200" dirty="0">
                <a:effectLst>
                  <a:outerShdw blurRad="38100" dist="38100" dir="2700000" algn="tl">
                    <a:srgbClr val="C0C0C0"/>
                  </a:outerShdw>
                </a:effectLst>
                <a:latin typeface="+mn-ea"/>
                <a:ea typeface="+mn-ea"/>
              </a:rPr>
              <a:t>若</a:t>
            </a:r>
            <a:r>
              <a:rPr kumimoji="1" lang="en-US" altLang="zh-CN" sz="2200" dirty="0" err="1">
                <a:effectLst>
                  <a:outerShdw blurRad="38100" dist="38100" dir="2700000" algn="tl">
                    <a:srgbClr val="C0C0C0"/>
                  </a:outerShdw>
                </a:effectLst>
                <a:latin typeface="+mn-ea"/>
                <a:ea typeface="+mn-ea"/>
              </a:rPr>
              <a:t>S≥0</a:t>
            </a:r>
            <a:r>
              <a:rPr kumimoji="1" lang="zh-CN" altLang="en-US" sz="2200" dirty="0">
                <a:effectLst>
                  <a:outerShdw blurRad="38100" dist="38100" dir="2700000" algn="tl">
                    <a:srgbClr val="C0C0C0"/>
                  </a:outerShdw>
                </a:effectLst>
                <a:latin typeface="+mn-ea"/>
                <a:ea typeface="+mn-ea"/>
              </a:rPr>
              <a:t>，则调用</a:t>
            </a:r>
            <a:r>
              <a:rPr kumimoji="1" lang="en-US" altLang="zh-CN" sz="2200" dirty="0">
                <a:effectLst>
                  <a:outerShdw blurRad="38100" dist="38100" dir="2700000" algn="tl">
                    <a:srgbClr val="C0C0C0"/>
                  </a:outerShdw>
                </a:effectLst>
                <a:latin typeface="+mn-ea"/>
                <a:ea typeface="+mn-ea"/>
              </a:rPr>
              <a:t>P(S)</a:t>
            </a:r>
            <a:r>
              <a:rPr kumimoji="1" lang="zh-CN" altLang="en-US" sz="2200" dirty="0">
                <a:effectLst>
                  <a:outerShdw blurRad="38100" dist="38100" dir="2700000" algn="tl">
                    <a:srgbClr val="C0C0C0"/>
                  </a:outerShdw>
                </a:effectLst>
                <a:latin typeface="+mn-ea"/>
                <a:ea typeface="+mn-ea"/>
              </a:rPr>
              <a:t>的进程继续运行；</a:t>
            </a:r>
          </a:p>
          <a:p>
            <a:pPr algn="just">
              <a:lnSpc>
                <a:spcPct val="90000"/>
              </a:lnSpc>
              <a:spcBef>
                <a:spcPct val="20000"/>
              </a:spcBef>
              <a:buSzPct val="80000"/>
              <a:buFont typeface="Wingdings" pitchFamily="2" charset="2"/>
              <a:buNone/>
            </a:pPr>
            <a:r>
              <a:rPr kumimoji="1" lang="zh-CN" altLang="en-US" sz="2200" dirty="0">
                <a:effectLst>
                  <a:outerShdw blurRad="38100" dist="38100" dir="2700000" algn="tl">
                    <a:srgbClr val="C0C0C0"/>
                  </a:outerShdw>
                </a:effectLst>
                <a:latin typeface="+mn-ea"/>
                <a:ea typeface="+mn-ea"/>
              </a:rPr>
              <a:t>③ 若</a:t>
            </a:r>
            <a:r>
              <a:rPr kumimoji="1" lang="en-US" altLang="zh-CN" sz="2200" dirty="0">
                <a:effectLst>
                  <a:outerShdw blurRad="38100" dist="38100" dir="2700000" algn="tl">
                    <a:srgbClr val="C0C0C0"/>
                  </a:outerShdw>
                </a:effectLst>
                <a:latin typeface="+mn-ea"/>
                <a:ea typeface="+mn-ea"/>
              </a:rPr>
              <a:t>S&lt;0</a:t>
            </a:r>
            <a:r>
              <a:rPr kumimoji="1" lang="zh-CN" altLang="en-US" sz="2200" dirty="0">
                <a:effectLst>
                  <a:outerShdw blurRad="38100" dist="38100" dir="2700000" algn="tl">
                    <a:srgbClr val="C0C0C0"/>
                  </a:outerShdw>
                </a:effectLst>
                <a:latin typeface="+mn-ea"/>
                <a:ea typeface="+mn-ea"/>
              </a:rPr>
              <a:t>，则调用</a:t>
            </a:r>
            <a:r>
              <a:rPr kumimoji="1" lang="en-US" altLang="zh-CN" sz="2200" dirty="0">
                <a:effectLst>
                  <a:outerShdw blurRad="38100" dist="38100" dir="2700000" algn="tl">
                    <a:srgbClr val="C0C0C0"/>
                  </a:outerShdw>
                </a:effectLst>
                <a:latin typeface="+mn-ea"/>
                <a:ea typeface="+mn-ea"/>
              </a:rPr>
              <a:t>P(S)</a:t>
            </a:r>
            <a:r>
              <a:rPr kumimoji="1" lang="zh-CN" altLang="en-US" sz="2200" dirty="0">
                <a:effectLst>
                  <a:outerShdw blurRad="38100" dist="38100" dir="2700000" algn="tl">
                    <a:srgbClr val="C0C0C0"/>
                  </a:outerShdw>
                </a:effectLst>
                <a:latin typeface="+mn-ea"/>
                <a:ea typeface="+mn-ea"/>
              </a:rPr>
              <a:t>的进程被阻塞，并把它插入到等待信号量</a:t>
            </a:r>
            <a:r>
              <a:rPr kumimoji="1" lang="en-US" altLang="zh-CN" sz="2200" dirty="0">
                <a:effectLst>
                  <a:outerShdw blurRad="38100" dist="38100" dir="2700000" algn="tl">
                    <a:srgbClr val="C0C0C0"/>
                  </a:outerShdw>
                </a:effectLst>
                <a:latin typeface="+mn-ea"/>
                <a:ea typeface="+mn-ea"/>
              </a:rPr>
              <a:t>S</a:t>
            </a:r>
            <a:r>
              <a:rPr kumimoji="1" lang="zh-CN" altLang="en-US" sz="2200" dirty="0">
                <a:effectLst>
                  <a:outerShdw blurRad="38100" dist="38100" dir="2700000" algn="tl">
                    <a:srgbClr val="C0C0C0"/>
                  </a:outerShdw>
                </a:effectLst>
                <a:latin typeface="+mn-ea"/>
                <a:ea typeface="+mn-ea"/>
              </a:rPr>
              <a:t>的阻塞队列中</a:t>
            </a:r>
            <a:r>
              <a:rPr kumimoji="1" lang="zh-CN" altLang="en-US" sz="2200" dirty="0">
                <a:latin typeface="+mn-ea"/>
                <a:ea typeface="+mn-ea"/>
              </a:rPr>
              <a:t>。</a:t>
            </a:r>
            <a:endParaRPr kumimoji="1" lang="en-US" altLang="zh-CN" sz="2200" dirty="0">
              <a:latin typeface="+mn-ea"/>
              <a:ea typeface="+mn-ea"/>
            </a:endParaRPr>
          </a:p>
        </p:txBody>
      </p:sp>
      <p:sp>
        <p:nvSpPr>
          <p:cNvPr id="63491" name="Rectangle 3"/>
          <p:cNvSpPr>
            <a:spLocks noChangeArrowheads="1"/>
          </p:cNvSpPr>
          <p:nvPr/>
        </p:nvSpPr>
        <p:spPr bwMode="auto">
          <a:xfrm>
            <a:off x="1919537" y="-171400"/>
            <a:ext cx="3602037"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en-US" altLang="en-US" sz="2500" dirty="0" err="1">
                <a:solidFill>
                  <a:srgbClr val="0000CC"/>
                </a:solidFill>
                <a:latin typeface="+mn-ea"/>
                <a:ea typeface="+mn-ea"/>
              </a:rPr>
              <a:t>P操作原语</a:t>
            </a:r>
            <a:endParaRPr lang="zh-CN" altLang="en-US" sz="2500" dirty="0">
              <a:solidFill>
                <a:srgbClr val="0000CC"/>
              </a:solidFill>
              <a:latin typeface="+mn-ea"/>
              <a:ea typeface="+mn-ea"/>
            </a:endParaRPr>
          </a:p>
        </p:txBody>
      </p:sp>
      <p:grpSp>
        <p:nvGrpSpPr>
          <p:cNvPr id="63492" name="Group 4"/>
          <p:cNvGrpSpPr>
            <a:grpSpLocks/>
          </p:cNvGrpSpPr>
          <p:nvPr/>
        </p:nvGrpSpPr>
        <p:grpSpPr bwMode="auto">
          <a:xfrm>
            <a:off x="6888163" y="188640"/>
            <a:ext cx="3352800" cy="3024336"/>
            <a:chOff x="3408" y="864"/>
            <a:chExt cx="2112" cy="3264"/>
          </a:xfrm>
        </p:grpSpPr>
        <p:sp>
          <p:nvSpPr>
            <p:cNvPr id="63493" name="Rectangle 5"/>
            <p:cNvSpPr>
              <a:spLocks noChangeArrowheads="1"/>
            </p:cNvSpPr>
            <p:nvPr/>
          </p:nvSpPr>
          <p:spPr bwMode="auto">
            <a:xfrm>
              <a:off x="3408" y="864"/>
              <a:ext cx="2016" cy="3264"/>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3175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4" name="AutoShape 6"/>
            <p:cNvSpPr>
              <a:spLocks noChangeArrowheads="1"/>
            </p:cNvSpPr>
            <p:nvPr/>
          </p:nvSpPr>
          <p:spPr bwMode="auto">
            <a:xfrm>
              <a:off x="3984" y="960"/>
              <a:ext cx="768" cy="336"/>
            </a:xfrm>
            <a:prstGeom prst="flowChartAlternateProcess">
              <a:avLst/>
            </a:prstGeom>
            <a:noFill/>
            <a:ln w="31750" cap="sq">
              <a:solidFill>
                <a:schemeClr val="tx1"/>
              </a:solidFill>
              <a:miter lim="800000"/>
              <a:headEnd type="none" w="sm" len="sm"/>
              <a:tailEnd type="none" w="sm" len="sm"/>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200">
                  <a:latin typeface="Times New Roman" pitchFamily="18" charset="0"/>
                </a:rPr>
                <a:t>P(sem)</a:t>
              </a:r>
            </a:p>
          </p:txBody>
        </p:sp>
        <p:sp>
          <p:nvSpPr>
            <p:cNvPr id="63495" name="Rectangle 7"/>
            <p:cNvSpPr>
              <a:spLocks noChangeArrowheads="1"/>
            </p:cNvSpPr>
            <p:nvPr/>
          </p:nvSpPr>
          <p:spPr bwMode="auto">
            <a:xfrm>
              <a:off x="3696" y="1632"/>
              <a:ext cx="1296" cy="288"/>
            </a:xfrm>
            <a:prstGeom prst="rect">
              <a:avLst/>
            </a:prstGeom>
            <a:noFill/>
            <a:ln w="31750" cap="sq">
              <a:solidFill>
                <a:schemeClr val="tx1"/>
              </a:solidFill>
              <a:miter lim="800000"/>
              <a:headEnd type="none" w="sm" len="sm"/>
              <a:tailEnd type="none" w="sm" len="sm"/>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err="1">
                  <a:latin typeface="Times New Roman" pitchFamily="18" charset="0"/>
                </a:rPr>
                <a:t>sem</a:t>
              </a:r>
              <a:r>
                <a:rPr kumimoji="1" lang="en-US" altLang="zh-CN" sz="2000" dirty="0">
                  <a:latin typeface="宋体" pitchFamily="2" charset="-122"/>
                  <a:sym typeface="Symbol" pitchFamily="18" charset="2"/>
                </a:rPr>
                <a:t></a:t>
              </a:r>
              <a:r>
                <a:rPr kumimoji="1" lang="en-US" altLang="zh-CN" sz="2000" dirty="0">
                  <a:latin typeface="Times New Roman" pitchFamily="18" charset="0"/>
                </a:rPr>
                <a:t> sem-1</a:t>
              </a:r>
            </a:p>
          </p:txBody>
        </p:sp>
        <p:sp>
          <p:nvSpPr>
            <p:cNvPr id="63496" name="AutoShape 8"/>
            <p:cNvSpPr>
              <a:spLocks noChangeArrowheads="1"/>
            </p:cNvSpPr>
            <p:nvPr/>
          </p:nvSpPr>
          <p:spPr bwMode="auto">
            <a:xfrm>
              <a:off x="3600" y="2208"/>
              <a:ext cx="1488" cy="432"/>
            </a:xfrm>
            <a:prstGeom prst="flowChartDecision">
              <a:avLst/>
            </a:prstGeom>
            <a:noFill/>
            <a:ln w="31750" cap="sq">
              <a:solidFill>
                <a:schemeClr val="tx1"/>
              </a:solidFill>
              <a:miter lim="800000"/>
              <a:headEnd type="none" w="sm" len="sm"/>
              <a:tailEnd type="none" w="sm" len="sm"/>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Times New Roman" pitchFamily="18" charset="0"/>
                </a:rPr>
                <a:t>sem ≥ 0?</a:t>
              </a:r>
            </a:p>
          </p:txBody>
        </p:sp>
        <p:sp>
          <p:nvSpPr>
            <p:cNvPr id="63497" name="AutoShape 9"/>
            <p:cNvSpPr>
              <a:spLocks noChangeArrowheads="1"/>
            </p:cNvSpPr>
            <p:nvPr/>
          </p:nvSpPr>
          <p:spPr bwMode="auto">
            <a:xfrm>
              <a:off x="3504" y="2976"/>
              <a:ext cx="1872" cy="288"/>
            </a:xfrm>
            <a:prstGeom prst="flowChartProcess">
              <a:avLst/>
            </a:prstGeom>
            <a:noFill/>
            <a:ln w="31750" cap="sq">
              <a:solidFill>
                <a:schemeClr val="tx1"/>
              </a:solidFill>
              <a:miter lim="800000"/>
              <a:headEnd type="none" w="sm" len="sm"/>
              <a:tailEnd type="none" w="sm" len="sm"/>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dirty="0">
                  <a:latin typeface="Times New Roman" pitchFamily="18" charset="0"/>
                </a:rPr>
                <a:t>睡眠，进程进入等待队列</a:t>
              </a:r>
            </a:p>
          </p:txBody>
        </p:sp>
        <p:sp>
          <p:nvSpPr>
            <p:cNvPr id="63498" name="AutoShape 10"/>
            <p:cNvSpPr>
              <a:spLocks noChangeArrowheads="1"/>
            </p:cNvSpPr>
            <p:nvPr/>
          </p:nvSpPr>
          <p:spPr bwMode="auto">
            <a:xfrm>
              <a:off x="3552" y="3504"/>
              <a:ext cx="1584" cy="336"/>
            </a:xfrm>
            <a:prstGeom prst="flowChartProcess">
              <a:avLst/>
            </a:prstGeom>
            <a:noFill/>
            <a:ln w="31750" cap="sq">
              <a:solidFill>
                <a:schemeClr val="tx1"/>
              </a:solidFill>
              <a:miter lim="800000"/>
              <a:headEnd type="none" w="sm" len="sm"/>
              <a:tailEnd type="none" w="sm" len="sm"/>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Times New Roman" pitchFamily="18" charset="0"/>
                </a:rPr>
                <a:t>CPU</a:t>
              </a:r>
              <a:r>
                <a:rPr kumimoji="1" lang="zh-CN" altLang="en-US" sz="2000">
                  <a:latin typeface="Times New Roman" pitchFamily="18" charset="0"/>
                </a:rPr>
                <a:t>执行进程调度</a:t>
              </a:r>
            </a:p>
          </p:txBody>
        </p:sp>
        <p:sp>
          <p:nvSpPr>
            <p:cNvPr id="63499" name="Line 11"/>
            <p:cNvSpPr>
              <a:spLocks noChangeShapeType="1"/>
            </p:cNvSpPr>
            <p:nvPr/>
          </p:nvSpPr>
          <p:spPr bwMode="auto">
            <a:xfrm>
              <a:off x="4368" y="1296"/>
              <a:ext cx="0" cy="336"/>
            </a:xfrm>
            <a:prstGeom prst="line">
              <a:avLst/>
            </a:prstGeom>
            <a:noFill/>
            <a:ln w="3175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500" name="Line 12"/>
            <p:cNvSpPr>
              <a:spLocks noChangeShapeType="1"/>
            </p:cNvSpPr>
            <p:nvPr/>
          </p:nvSpPr>
          <p:spPr bwMode="auto">
            <a:xfrm>
              <a:off x="4320" y="1920"/>
              <a:ext cx="0" cy="288"/>
            </a:xfrm>
            <a:prstGeom prst="line">
              <a:avLst/>
            </a:prstGeom>
            <a:noFill/>
            <a:ln w="3175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501" name="Line 13"/>
            <p:cNvSpPr>
              <a:spLocks noChangeShapeType="1"/>
            </p:cNvSpPr>
            <p:nvPr/>
          </p:nvSpPr>
          <p:spPr bwMode="auto">
            <a:xfrm>
              <a:off x="4320" y="2640"/>
              <a:ext cx="0" cy="336"/>
            </a:xfrm>
            <a:prstGeom prst="line">
              <a:avLst/>
            </a:prstGeom>
            <a:noFill/>
            <a:ln w="3175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502" name="Line 14"/>
            <p:cNvSpPr>
              <a:spLocks noChangeShapeType="1"/>
            </p:cNvSpPr>
            <p:nvPr/>
          </p:nvSpPr>
          <p:spPr bwMode="auto">
            <a:xfrm>
              <a:off x="4320" y="3264"/>
              <a:ext cx="0" cy="240"/>
            </a:xfrm>
            <a:prstGeom prst="line">
              <a:avLst/>
            </a:prstGeom>
            <a:noFill/>
            <a:ln w="3175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503" name="Line 15"/>
            <p:cNvSpPr>
              <a:spLocks noChangeShapeType="1"/>
            </p:cNvSpPr>
            <p:nvPr/>
          </p:nvSpPr>
          <p:spPr bwMode="auto">
            <a:xfrm>
              <a:off x="5040" y="2400"/>
              <a:ext cx="240" cy="0"/>
            </a:xfrm>
            <a:prstGeom prst="line">
              <a:avLst/>
            </a:prstGeom>
            <a:noFill/>
            <a:ln w="317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504" name="Line 16"/>
            <p:cNvSpPr>
              <a:spLocks noChangeShapeType="1"/>
            </p:cNvSpPr>
            <p:nvPr/>
          </p:nvSpPr>
          <p:spPr bwMode="auto">
            <a:xfrm flipV="1">
              <a:off x="5280" y="2400"/>
              <a:ext cx="0" cy="192"/>
            </a:xfrm>
            <a:prstGeom prst="line">
              <a:avLst/>
            </a:prstGeom>
            <a:noFill/>
            <a:ln w="31750" cap="sq">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505" name="Rectangle 17"/>
            <p:cNvSpPr>
              <a:spLocks noChangeArrowheads="1"/>
            </p:cNvSpPr>
            <p:nvPr/>
          </p:nvSpPr>
          <p:spPr bwMode="auto">
            <a:xfrm>
              <a:off x="4848" y="2592"/>
              <a:ext cx="672" cy="288"/>
            </a:xfrm>
            <a:prstGeom prst="rect">
              <a:avLst/>
            </a:prstGeom>
            <a:noFill/>
            <a:ln w="31750" cap="sq">
              <a:solidFill>
                <a:schemeClr val="tx1"/>
              </a:solidFill>
              <a:miter lim="800000"/>
              <a:headEnd type="none" w="sm" len="sm"/>
              <a:tailEnd type="none" w="sm" len="sm"/>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latin typeface="Times New Roman" pitchFamily="18" charset="0"/>
                </a:rPr>
                <a:t>进临界区</a:t>
              </a:r>
            </a:p>
          </p:txBody>
        </p:sp>
        <p:sp>
          <p:nvSpPr>
            <p:cNvPr id="63506" name="Text Box 18"/>
            <p:cNvSpPr txBox="1">
              <a:spLocks noChangeArrowheads="1"/>
            </p:cNvSpPr>
            <p:nvPr/>
          </p:nvSpPr>
          <p:spPr bwMode="auto">
            <a:xfrm>
              <a:off x="5088" y="2160"/>
              <a:ext cx="192" cy="399"/>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3175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b="1">
                  <a:latin typeface="Times New Roman" pitchFamily="18" charset="0"/>
                </a:rPr>
                <a:t>Y</a:t>
              </a:r>
            </a:p>
          </p:txBody>
        </p:sp>
        <p:sp>
          <p:nvSpPr>
            <p:cNvPr id="63507" name="Text Box 19"/>
            <p:cNvSpPr txBox="1">
              <a:spLocks noChangeArrowheads="1"/>
            </p:cNvSpPr>
            <p:nvPr/>
          </p:nvSpPr>
          <p:spPr bwMode="auto">
            <a:xfrm>
              <a:off x="4080" y="2688"/>
              <a:ext cx="192" cy="399"/>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3175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b="1">
                  <a:latin typeface="Times New Roman" pitchFamily="18" charset="0"/>
                </a:rPr>
                <a:t>N</a:t>
              </a:r>
            </a:p>
          </p:txBody>
        </p:sp>
      </p:grpSp>
      <p:sp>
        <p:nvSpPr>
          <p:cNvPr id="21" name="Rectangle 3"/>
          <p:cNvSpPr>
            <a:spLocks noChangeArrowheads="1"/>
          </p:cNvSpPr>
          <p:nvPr/>
        </p:nvSpPr>
        <p:spPr bwMode="auto">
          <a:xfrm>
            <a:off x="1847529" y="3212977"/>
            <a:ext cx="4005263" cy="630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en-US" altLang="zh-CN" sz="2500">
                <a:solidFill>
                  <a:srgbClr val="0000CC"/>
                </a:solidFill>
                <a:latin typeface="+mn-ea"/>
                <a:ea typeface="+mn-ea"/>
              </a:rPr>
              <a:t>V</a:t>
            </a:r>
            <a:r>
              <a:rPr lang="en-US" altLang="en-US" sz="2500">
                <a:solidFill>
                  <a:srgbClr val="0000CC"/>
                </a:solidFill>
                <a:latin typeface="+mn-ea"/>
                <a:ea typeface="+mn-ea"/>
              </a:rPr>
              <a:t>操作原语</a:t>
            </a:r>
            <a:endParaRPr lang="zh-CN" altLang="en-US" sz="2500">
              <a:solidFill>
                <a:srgbClr val="0000CC"/>
              </a:solidFill>
              <a:latin typeface="+mn-ea"/>
              <a:ea typeface="+mn-ea"/>
            </a:endParaRPr>
          </a:p>
        </p:txBody>
      </p:sp>
      <p:sp>
        <p:nvSpPr>
          <p:cNvPr id="22" name="Text Box 2"/>
          <p:cNvSpPr txBox="1">
            <a:spLocks noChangeArrowheads="1"/>
          </p:cNvSpPr>
          <p:nvPr/>
        </p:nvSpPr>
        <p:spPr bwMode="auto">
          <a:xfrm>
            <a:off x="2302000" y="3933057"/>
            <a:ext cx="4010025" cy="2428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spcBef>
                <a:spcPct val="20000"/>
              </a:spcBef>
            </a:pPr>
            <a:r>
              <a:rPr kumimoji="1" lang="en-US" altLang="zh-CN" sz="2200" dirty="0">
                <a:effectLst>
                  <a:outerShdw blurRad="38100" dist="38100" dir="2700000" algn="tl">
                    <a:srgbClr val="C0C0C0"/>
                  </a:outerShdw>
                </a:effectLst>
                <a:latin typeface="+mn-ea"/>
                <a:ea typeface="+mn-ea"/>
              </a:rPr>
              <a:t>V(S)</a:t>
            </a:r>
            <a:r>
              <a:rPr kumimoji="1" lang="zh-CN" altLang="en-US" sz="2200" dirty="0">
                <a:effectLst>
                  <a:outerShdw blurRad="38100" dist="38100" dir="2700000" algn="tl">
                    <a:srgbClr val="C0C0C0"/>
                  </a:outerShdw>
                </a:effectLst>
                <a:latin typeface="+mn-ea"/>
                <a:ea typeface="+mn-ea"/>
              </a:rPr>
              <a:t>：</a:t>
            </a:r>
          </a:p>
          <a:p>
            <a:pPr algn="just">
              <a:lnSpc>
                <a:spcPct val="90000"/>
              </a:lnSpc>
              <a:spcBef>
                <a:spcPct val="20000"/>
              </a:spcBef>
              <a:buSzPct val="80000"/>
              <a:buFont typeface="Wingdings" pitchFamily="2" charset="2"/>
              <a:buNone/>
            </a:pPr>
            <a:r>
              <a:rPr kumimoji="1" lang="zh-CN" altLang="en-US" sz="2200" dirty="0">
                <a:effectLst>
                  <a:outerShdw blurRad="38100" dist="38100" dir="2700000" algn="tl">
                    <a:srgbClr val="C0C0C0"/>
                  </a:outerShdw>
                </a:effectLst>
                <a:latin typeface="+mn-ea"/>
                <a:ea typeface="+mn-ea"/>
              </a:rPr>
              <a:t>① </a:t>
            </a:r>
            <a:r>
              <a:rPr kumimoji="1" lang="en-US" altLang="zh-CN" sz="2200" dirty="0">
                <a:effectLst>
                  <a:outerShdw blurRad="38100" dist="38100" dir="2700000" algn="tl">
                    <a:srgbClr val="C0C0C0"/>
                  </a:outerShdw>
                </a:effectLst>
                <a:latin typeface="+mn-ea"/>
                <a:ea typeface="+mn-ea"/>
              </a:rPr>
              <a:t>S∶=</a:t>
            </a:r>
            <a:r>
              <a:rPr kumimoji="1" lang="en-US" altLang="zh-CN" sz="2200" dirty="0" err="1">
                <a:effectLst>
                  <a:outerShdw blurRad="38100" dist="38100" dir="2700000" algn="tl">
                    <a:srgbClr val="C0C0C0"/>
                  </a:outerShdw>
                </a:effectLst>
                <a:latin typeface="+mn-ea"/>
                <a:ea typeface="+mn-ea"/>
              </a:rPr>
              <a:t>S+1</a:t>
            </a:r>
            <a:r>
              <a:rPr kumimoji="1" lang="en-US" altLang="zh-CN" sz="2200" dirty="0">
                <a:effectLst>
                  <a:outerShdw blurRad="38100" dist="38100" dir="2700000" algn="tl">
                    <a:srgbClr val="C0C0C0"/>
                  </a:outerShdw>
                </a:effectLst>
                <a:latin typeface="+mn-ea"/>
                <a:ea typeface="+mn-ea"/>
              </a:rPr>
              <a:t>;</a:t>
            </a:r>
          </a:p>
          <a:p>
            <a:pPr algn="just">
              <a:lnSpc>
                <a:spcPct val="90000"/>
              </a:lnSpc>
              <a:spcBef>
                <a:spcPct val="20000"/>
              </a:spcBef>
              <a:buSzPct val="80000"/>
              <a:buFont typeface="Wingdings" pitchFamily="2" charset="2"/>
              <a:buNone/>
            </a:pPr>
            <a:r>
              <a:rPr kumimoji="1" lang="en-US" altLang="zh-CN" sz="2200" dirty="0">
                <a:effectLst>
                  <a:outerShdw blurRad="38100" dist="38100" dir="2700000" algn="tl">
                    <a:srgbClr val="C0C0C0"/>
                  </a:outerShdw>
                </a:effectLst>
                <a:latin typeface="+mn-ea"/>
                <a:ea typeface="+mn-ea"/>
              </a:rPr>
              <a:t>②</a:t>
            </a:r>
            <a:r>
              <a:rPr kumimoji="1" lang="zh-CN" altLang="en-US" sz="2200" dirty="0">
                <a:effectLst>
                  <a:outerShdw blurRad="38100" dist="38100" dir="2700000" algn="tl">
                    <a:srgbClr val="C0C0C0"/>
                  </a:outerShdw>
                </a:effectLst>
                <a:latin typeface="+mn-ea"/>
                <a:ea typeface="+mn-ea"/>
              </a:rPr>
              <a:t>若</a:t>
            </a:r>
            <a:r>
              <a:rPr kumimoji="1" lang="en-US" altLang="zh-CN" sz="2200" dirty="0">
                <a:effectLst>
                  <a:outerShdw blurRad="38100" dist="38100" dir="2700000" algn="tl">
                    <a:srgbClr val="C0C0C0"/>
                  </a:outerShdw>
                </a:effectLst>
                <a:latin typeface="+mn-ea"/>
                <a:ea typeface="+mn-ea"/>
              </a:rPr>
              <a:t>S&gt;0</a:t>
            </a:r>
            <a:r>
              <a:rPr kumimoji="1" lang="zh-CN" altLang="en-US" sz="2200" dirty="0">
                <a:effectLst>
                  <a:outerShdw blurRad="38100" dist="38100" dir="2700000" algn="tl">
                    <a:srgbClr val="C0C0C0"/>
                  </a:outerShdw>
                </a:effectLst>
                <a:latin typeface="+mn-ea"/>
                <a:ea typeface="+mn-ea"/>
              </a:rPr>
              <a:t>，则调用</a:t>
            </a:r>
            <a:r>
              <a:rPr kumimoji="1" lang="en-US" altLang="zh-CN" sz="2200" dirty="0">
                <a:effectLst>
                  <a:outerShdw blurRad="38100" dist="38100" dir="2700000" algn="tl">
                    <a:srgbClr val="C0C0C0"/>
                  </a:outerShdw>
                </a:effectLst>
                <a:latin typeface="+mn-ea"/>
                <a:ea typeface="+mn-ea"/>
              </a:rPr>
              <a:t>V(S)</a:t>
            </a:r>
            <a:r>
              <a:rPr kumimoji="1" lang="zh-CN" altLang="en-US" sz="2200" dirty="0">
                <a:effectLst>
                  <a:outerShdw blurRad="38100" dist="38100" dir="2700000" algn="tl">
                    <a:srgbClr val="C0C0C0"/>
                  </a:outerShdw>
                </a:effectLst>
                <a:latin typeface="+mn-ea"/>
                <a:ea typeface="+mn-ea"/>
              </a:rPr>
              <a:t>的进程继续运行；</a:t>
            </a:r>
          </a:p>
          <a:p>
            <a:pPr algn="just">
              <a:lnSpc>
                <a:spcPct val="90000"/>
              </a:lnSpc>
              <a:spcBef>
                <a:spcPct val="20000"/>
              </a:spcBef>
              <a:buSzPct val="80000"/>
              <a:buFont typeface="Wingdings" pitchFamily="2" charset="2"/>
              <a:buNone/>
            </a:pPr>
            <a:r>
              <a:rPr kumimoji="1" lang="zh-CN" altLang="en-US" sz="2200" dirty="0">
                <a:effectLst>
                  <a:outerShdw blurRad="38100" dist="38100" dir="2700000" algn="tl">
                    <a:srgbClr val="C0C0C0"/>
                  </a:outerShdw>
                </a:effectLst>
                <a:latin typeface="+mn-ea"/>
                <a:ea typeface="+mn-ea"/>
              </a:rPr>
              <a:t>③若</a:t>
            </a:r>
            <a:r>
              <a:rPr kumimoji="1" lang="en-US" altLang="zh-CN" sz="2200" dirty="0" err="1">
                <a:effectLst>
                  <a:outerShdw blurRad="38100" dist="38100" dir="2700000" algn="tl">
                    <a:srgbClr val="C0C0C0"/>
                  </a:outerShdw>
                </a:effectLst>
                <a:latin typeface="+mn-ea"/>
                <a:ea typeface="+mn-ea"/>
              </a:rPr>
              <a:t>S≤0</a:t>
            </a:r>
            <a:r>
              <a:rPr kumimoji="1" lang="zh-CN" altLang="en-US" sz="2200" dirty="0">
                <a:effectLst>
                  <a:outerShdw blurRad="38100" dist="38100" dir="2700000" algn="tl">
                    <a:srgbClr val="C0C0C0"/>
                  </a:outerShdw>
                </a:effectLst>
                <a:latin typeface="+mn-ea"/>
                <a:ea typeface="+mn-ea"/>
              </a:rPr>
              <a:t>，从等待信号量</a:t>
            </a:r>
            <a:r>
              <a:rPr kumimoji="1" lang="en-US" altLang="zh-CN" sz="2200" dirty="0">
                <a:effectLst>
                  <a:outerShdw blurRad="38100" dist="38100" dir="2700000" algn="tl">
                    <a:srgbClr val="C0C0C0"/>
                  </a:outerShdw>
                </a:effectLst>
                <a:latin typeface="+mn-ea"/>
                <a:ea typeface="+mn-ea"/>
              </a:rPr>
              <a:t>S</a:t>
            </a:r>
            <a:r>
              <a:rPr kumimoji="1" lang="zh-CN" altLang="en-US" sz="2200" dirty="0">
                <a:effectLst>
                  <a:outerShdw blurRad="38100" dist="38100" dir="2700000" algn="tl">
                    <a:srgbClr val="C0C0C0"/>
                  </a:outerShdw>
                </a:effectLst>
                <a:latin typeface="+mn-ea"/>
                <a:ea typeface="+mn-ea"/>
              </a:rPr>
              <a:t>的阻塞队列中唤醒头一个进程，然后调用</a:t>
            </a:r>
            <a:r>
              <a:rPr kumimoji="1" lang="en-US" altLang="zh-CN" sz="2200" dirty="0">
                <a:effectLst>
                  <a:outerShdw blurRad="38100" dist="38100" dir="2700000" algn="tl">
                    <a:srgbClr val="C0C0C0"/>
                  </a:outerShdw>
                </a:effectLst>
                <a:latin typeface="+mn-ea"/>
                <a:ea typeface="+mn-ea"/>
              </a:rPr>
              <a:t>V(S)</a:t>
            </a:r>
            <a:r>
              <a:rPr kumimoji="1" lang="zh-CN" altLang="en-US" sz="2200" dirty="0">
                <a:effectLst>
                  <a:outerShdw blurRad="38100" dist="38100" dir="2700000" algn="tl">
                    <a:srgbClr val="C0C0C0"/>
                  </a:outerShdw>
                </a:effectLst>
                <a:latin typeface="+mn-ea"/>
                <a:ea typeface="+mn-ea"/>
              </a:rPr>
              <a:t>的进程继续运行。</a:t>
            </a:r>
            <a:r>
              <a:rPr kumimoji="1" lang="zh-CN" altLang="en-US" sz="2200" dirty="0">
                <a:latin typeface="+mn-ea"/>
                <a:ea typeface="+mn-ea"/>
              </a:rPr>
              <a:t> </a:t>
            </a:r>
          </a:p>
        </p:txBody>
      </p:sp>
      <p:grpSp>
        <p:nvGrpSpPr>
          <p:cNvPr id="23" name="Group 4"/>
          <p:cNvGrpSpPr>
            <a:grpSpLocks/>
          </p:cNvGrpSpPr>
          <p:nvPr/>
        </p:nvGrpSpPr>
        <p:grpSpPr bwMode="auto">
          <a:xfrm>
            <a:off x="6865356" y="3519346"/>
            <a:ext cx="3600450" cy="3150015"/>
            <a:chOff x="3408" y="1056"/>
            <a:chExt cx="2160" cy="3264"/>
          </a:xfrm>
        </p:grpSpPr>
        <p:sp>
          <p:nvSpPr>
            <p:cNvPr id="24" name="Rectangle 5"/>
            <p:cNvSpPr>
              <a:spLocks noChangeArrowheads="1"/>
            </p:cNvSpPr>
            <p:nvPr/>
          </p:nvSpPr>
          <p:spPr bwMode="auto">
            <a:xfrm>
              <a:off x="3408" y="1056"/>
              <a:ext cx="2016" cy="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AutoShape 6"/>
            <p:cNvSpPr>
              <a:spLocks noChangeArrowheads="1"/>
            </p:cNvSpPr>
            <p:nvPr/>
          </p:nvSpPr>
          <p:spPr bwMode="auto">
            <a:xfrm>
              <a:off x="3984" y="1152"/>
              <a:ext cx="768" cy="336"/>
            </a:xfrm>
            <a:prstGeom prst="flowChartAlternateProcess">
              <a:avLst/>
            </a:prstGeom>
            <a:noFill/>
            <a:ln w="317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Times New Roman" pitchFamily="18" charset="0"/>
                </a:rPr>
                <a:t>V(sem)</a:t>
              </a:r>
            </a:p>
          </p:txBody>
        </p:sp>
        <p:sp>
          <p:nvSpPr>
            <p:cNvPr id="26" name="Rectangle 7"/>
            <p:cNvSpPr>
              <a:spLocks noChangeArrowheads="1"/>
            </p:cNvSpPr>
            <p:nvPr/>
          </p:nvSpPr>
          <p:spPr bwMode="auto">
            <a:xfrm>
              <a:off x="3696" y="1824"/>
              <a:ext cx="1296" cy="288"/>
            </a:xfrm>
            <a:prstGeom prst="rect">
              <a:avLst/>
            </a:prstGeom>
            <a:noFill/>
            <a:ln w="317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Times New Roman" pitchFamily="18" charset="0"/>
                </a:rPr>
                <a:t>sem</a:t>
              </a:r>
              <a:r>
                <a:rPr kumimoji="1" lang="en-US" altLang="zh-CN" sz="2000">
                  <a:latin typeface="宋体" pitchFamily="2" charset="-122"/>
                  <a:sym typeface="Symbol" pitchFamily="18" charset="2"/>
                </a:rPr>
                <a:t></a:t>
              </a:r>
              <a:r>
                <a:rPr kumimoji="1" lang="en-US" altLang="zh-CN" sz="2000">
                  <a:latin typeface="Times New Roman" pitchFamily="18" charset="0"/>
                </a:rPr>
                <a:t> sem+1</a:t>
              </a:r>
            </a:p>
          </p:txBody>
        </p:sp>
        <p:sp>
          <p:nvSpPr>
            <p:cNvPr id="27" name="AutoShape 8"/>
            <p:cNvSpPr>
              <a:spLocks noChangeArrowheads="1"/>
            </p:cNvSpPr>
            <p:nvPr/>
          </p:nvSpPr>
          <p:spPr bwMode="auto">
            <a:xfrm>
              <a:off x="3600" y="2400"/>
              <a:ext cx="1488" cy="432"/>
            </a:xfrm>
            <a:prstGeom prst="flowChartDecision">
              <a:avLst/>
            </a:prstGeom>
            <a:noFill/>
            <a:ln w="317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Times New Roman" pitchFamily="18" charset="0"/>
                </a:rPr>
                <a:t>sem ≤ 0?</a:t>
              </a:r>
            </a:p>
          </p:txBody>
        </p:sp>
        <p:sp>
          <p:nvSpPr>
            <p:cNvPr id="28" name="AutoShape 9"/>
            <p:cNvSpPr>
              <a:spLocks noChangeArrowheads="1"/>
            </p:cNvSpPr>
            <p:nvPr/>
          </p:nvSpPr>
          <p:spPr bwMode="auto">
            <a:xfrm>
              <a:off x="3408" y="3168"/>
              <a:ext cx="2064" cy="336"/>
            </a:xfrm>
            <a:prstGeom prst="flowChartProcess">
              <a:avLst/>
            </a:prstGeom>
            <a:noFill/>
            <a:ln w="317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latin typeface="Times New Roman" pitchFamily="18" charset="0"/>
                </a:rPr>
                <a:t>唤醒等待队列中的一个进程</a:t>
              </a:r>
            </a:p>
          </p:txBody>
        </p:sp>
        <p:sp>
          <p:nvSpPr>
            <p:cNvPr id="29" name="AutoShape 10"/>
            <p:cNvSpPr>
              <a:spLocks noChangeArrowheads="1"/>
            </p:cNvSpPr>
            <p:nvPr/>
          </p:nvSpPr>
          <p:spPr bwMode="auto">
            <a:xfrm>
              <a:off x="3552" y="3744"/>
              <a:ext cx="1536" cy="288"/>
            </a:xfrm>
            <a:prstGeom prst="flowChartProcess">
              <a:avLst/>
            </a:prstGeom>
            <a:noFill/>
            <a:ln w="317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latin typeface="Times New Roman" pitchFamily="18" charset="0"/>
                </a:rPr>
                <a:t>继续自己的程序执行</a:t>
              </a:r>
            </a:p>
          </p:txBody>
        </p:sp>
        <p:sp>
          <p:nvSpPr>
            <p:cNvPr id="30" name="Line 11"/>
            <p:cNvSpPr>
              <a:spLocks noChangeShapeType="1"/>
            </p:cNvSpPr>
            <p:nvPr/>
          </p:nvSpPr>
          <p:spPr bwMode="auto">
            <a:xfrm>
              <a:off x="4368" y="1488"/>
              <a:ext cx="0" cy="336"/>
            </a:xfrm>
            <a:prstGeom prst="line">
              <a:avLst/>
            </a:prstGeom>
            <a:noFill/>
            <a:ln w="3175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12"/>
            <p:cNvSpPr>
              <a:spLocks noChangeShapeType="1"/>
            </p:cNvSpPr>
            <p:nvPr/>
          </p:nvSpPr>
          <p:spPr bwMode="auto">
            <a:xfrm>
              <a:off x="4320" y="2112"/>
              <a:ext cx="0" cy="288"/>
            </a:xfrm>
            <a:prstGeom prst="line">
              <a:avLst/>
            </a:prstGeom>
            <a:noFill/>
            <a:ln w="3175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13"/>
            <p:cNvSpPr>
              <a:spLocks noChangeShapeType="1"/>
            </p:cNvSpPr>
            <p:nvPr/>
          </p:nvSpPr>
          <p:spPr bwMode="auto">
            <a:xfrm>
              <a:off x="4320" y="2832"/>
              <a:ext cx="0" cy="336"/>
            </a:xfrm>
            <a:prstGeom prst="line">
              <a:avLst/>
            </a:prstGeom>
            <a:noFill/>
            <a:ln w="3175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14"/>
            <p:cNvSpPr>
              <a:spLocks noChangeShapeType="1"/>
            </p:cNvSpPr>
            <p:nvPr/>
          </p:nvSpPr>
          <p:spPr bwMode="auto">
            <a:xfrm>
              <a:off x="4320" y="3504"/>
              <a:ext cx="0" cy="240"/>
            </a:xfrm>
            <a:prstGeom prst="line">
              <a:avLst/>
            </a:prstGeom>
            <a:noFill/>
            <a:ln w="3175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15"/>
            <p:cNvSpPr>
              <a:spLocks noChangeShapeType="1"/>
            </p:cNvSpPr>
            <p:nvPr/>
          </p:nvSpPr>
          <p:spPr bwMode="auto">
            <a:xfrm>
              <a:off x="5040" y="2640"/>
              <a:ext cx="528" cy="0"/>
            </a:xfrm>
            <a:prstGeom prst="line">
              <a:avLst/>
            </a:prstGeom>
            <a:noFill/>
            <a:ln w="317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16"/>
            <p:cNvSpPr>
              <a:spLocks noChangeShapeType="1"/>
            </p:cNvSpPr>
            <p:nvPr/>
          </p:nvSpPr>
          <p:spPr bwMode="auto">
            <a:xfrm flipV="1">
              <a:off x="5568" y="2640"/>
              <a:ext cx="0" cy="1200"/>
            </a:xfrm>
            <a:prstGeom prst="line">
              <a:avLst/>
            </a:prstGeom>
            <a:noFill/>
            <a:ln w="317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Text Box 17"/>
            <p:cNvSpPr txBox="1">
              <a:spLocks noChangeArrowheads="1"/>
            </p:cNvSpPr>
            <p:nvPr/>
          </p:nvSpPr>
          <p:spPr bwMode="auto">
            <a:xfrm>
              <a:off x="5088" y="2352"/>
              <a:ext cx="192"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b="1">
                  <a:latin typeface="Times New Roman" pitchFamily="18" charset="0"/>
                </a:rPr>
                <a:t>N</a:t>
              </a:r>
            </a:p>
          </p:txBody>
        </p:sp>
        <p:sp>
          <p:nvSpPr>
            <p:cNvPr id="37" name="Text Box 18"/>
            <p:cNvSpPr txBox="1">
              <a:spLocks noChangeArrowheads="1"/>
            </p:cNvSpPr>
            <p:nvPr/>
          </p:nvSpPr>
          <p:spPr bwMode="auto">
            <a:xfrm>
              <a:off x="4080" y="2880"/>
              <a:ext cx="192"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b="1">
                  <a:latin typeface="Times New Roman" pitchFamily="18" charset="0"/>
                </a:rPr>
                <a:t>Y</a:t>
              </a:r>
            </a:p>
          </p:txBody>
        </p:sp>
        <p:sp>
          <p:nvSpPr>
            <p:cNvPr id="38" name="Line 19"/>
            <p:cNvSpPr>
              <a:spLocks noChangeShapeType="1"/>
            </p:cNvSpPr>
            <p:nvPr/>
          </p:nvSpPr>
          <p:spPr bwMode="auto">
            <a:xfrm flipH="1">
              <a:off x="5088" y="3840"/>
              <a:ext cx="480" cy="0"/>
            </a:xfrm>
            <a:prstGeom prst="line">
              <a:avLst/>
            </a:prstGeom>
            <a:noFill/>
            <a:ln w="3175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55054727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3490"/>
                                        </p:tgtEl>
                                        <p:attrNameLst>
                                          <p:attrName>style.visibility</p:attrName>
                                        </p:attrNameLst>
                                      </p:cBhvr>
                                      <p:to>
                                        <p:strVal val="visible"/>
                                      </p:to>
                                    </p:set>
                                    <p:anim calcmode="lin" valueType="num">
                                      <p:cBhvr additive="base">
                                        <p:cTn id="7" dur="500" fill="hold"/>
                                        <p:tgtEl>
                                          <p:spTgt spid="63490"/>
                                        </p:tgtEl>
                                        <p:attrNameLst>
                                          <p:attrName>ppt_x</p:attrName>
                                        </p:attrNameLst>
                                      </p:cBhvr>
                                      <p:tavLst>
                                        <p:tav tm="0">
                                          <p:val>
                                            <p:strVal val="0-#ppt_w/2"/>
                                          </p:val>
                                        </p:tav>
                                        <p:tav tm="100000">
                                          <p:val>
                                            <p:strVal val="#ppt_x"/>
                                          </p:val>
                                        </p:tav>
                                      </p:tavLst>
                                    </p:anim>
                                    <p:anim calcmode="lin" valueType="num">
                                      <p:cBhvr additive="base">
                                        <p:cTn id="8" dur="500" fill="hold"/>
                                        <p:tgtEl>
                                          <p:spTgt spid="6349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1000"/>
                                  </p:stCondLst>
                                  <p:childTnLst>
                                    <p:set>
                                      <p:cBhvr>
                                        <p:cTn id="11" dur="1" fill="hold">
                                          <p:stCondLst>
                                            <p:cond delay="0"/>
                                          </p:stCondLst>
                                        </p:cTn>
                                        <p:tgtEl>
                                          <p:spTgt spid="63492"/>
                                        </p:tgtEl>
                                        <p:attrNameLst>
                                          <p:attrName>style.visibility</p:attrName>
                                        </p:attrNameLst>
                                      </p:cBhvr>
                                      <p:to>
                                        <p:strVal val="visible"/>
                                      </p:to>
                                    </p:set>
                                    <p:anim calcmode="lin" valueType="num">
                                      <p:cBhvr additive="base">
                                        <p:cTn id="12" dur="500" fill="hold"/>
                                        <p:tgtEl>
                                          <p:spTgt spid="63492"/>
                                        </p:tgtEl>
                                        <p:attrNameLst>
                                          <p:attrName>ppt_x</p:attrName>
                                        </p:attrNameLst>
                                      </p:cBhvr>
                                      <p:tavLst>
                                        <p:tav tm="0">
                                          <p:val>
                                            <p:strVal val="1+#ppt_w/2"/>
                                          </p:val>
                                        </p:tav>
                                        <p:tav tm="100000">
                                          <p:val>
                                            <p:strVal val="#ppt_x"/>
                                          </p:val>
                                        </p:tav>
                                      </p:tavLst>
                                    </p:anim>
                                    <p:anim calcmode="lin" valueType="num">
                                      <p:cBhvr additive="base">
                                        <p:cTn id="13" dur="500" fill="hold"/>
                                        <p:tgtEl>
                                          <p:spTgt spid="63492"/>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8"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additive="base">
                                        <p:cTn id="17" dur="500" fill="hold"/>
                                        <p:tgtEl>
                                          <p:spTgt spid="22"/>
                                        </p:tgtEl>
                                        <p:attrNameLst>
                                          <p:attrName>ppt_x</p:attrName>
                                        </p:attrNameLst>
                                      </p:cBhvr>
                                      <p:tavLst>
                                        <p:tav tm="0">
                                          <p:val>
                                            <p:strVal val="0-#ppt_w/2"/>
                                          </p:val>
                                        </p:tav>
                                        <p:tav tm="100000">
                                          <p:val>
                                            <p:strVal val="#ppt_x"/>
                                          </p:val>
                                        </p:tav>
                                      </p:tavLst>
                                    </p:anim>
                                    <p:anim calcmode="lin" valueType="num">
                                      <p:cBhvr additive="base">
                                        <p:cTn id="18" dur="500" fill="hold"/>
                                        <p:tgtEl>
                                          <p:spTgt spid="22"/>
                                        </p:tgtEl>
                                        <p:attrNameLst>
                                          <p:attrName>ppt_y</p:attrName>
                                        </p:attrNameLst>
                                      </p:cBhvr>
                                      <p:tavLst>
                                        <p:tav tm="0">
                                          <p:val>
                                            <p:strVal val="#ppt_y"/>
                                          </p:val>
                                        </p:tav>
                                        <p:tav tm="100000">
                                          <p:val>
                                            <p:strVal val="#ppt_y"/>
                                          </p:val>
                                        </p:tav>
                                      </p:tavLst>
                                    </p:anim>
                                  </p:childTnLst>
                                </p:cTn>
                              </p:par>
                            </p:childTnLst>
                          </p:cTn>
                        </p:par>
                        <p:par>
                          <p:cTn id="19" fill="hold">
                            <p:stCondLst>
                              <p:cond delay="2500"/>
                            </p:stCondLst>
                            <p:childTnLst>
                              <p:par>
                                <p:cTn id="20" presetID="2" presetClass="entr" presetSubtype="2" fill="hold" nodeType="afterEffect">
                                  <p:stCondLst>
                                    <p:cond delay="1000"/>
                                  </p:stCondLst>
                                  <p:childTnLst>
                                    <p:set>
                                      <p:cBhvr>
                                        <p:cTn id="21" dur="1" fill="hold">
                                          <p:stCondLst>
                                            <p:cond delay="0"/>
                                          </p:stCondLst>
                                        </p:cTn>
                                        <p:tgtEl>
                                          <p:spTgt spid="23"/>
                                        </p:tgtEl>
                                        <p:attrNameLst>
                                          <p:attrName>style.visibility</p:attrName>
                                        </p:attrNameLst>
                                      </p:cBhvr>
                                      <p:to>
                                        <p:strVal val="visible"/>
                                      </p:to>
                                    </p:set>
                                    <p:anim calcmode="lin" valueType="num">
                                      <p:cBhvr additive="base">
                                        <p:cTn id="22" dur="500" fill="hold"/>
                                        <p:tgtEl>
                                          <p:spTgt spid="23"/>
                                        </p:tgtEl>
                                        <p:attrNameLst>
                                          <p:attrName>ppt_x</p:attrName>
                                        </p:attrNameLst>
                                      </p:cBhvr>
                                      <p:tavLst>
                                        <p:tav tm="0">
                                          <p:val>
                                            <p:strVal val="1+#ppt_w/2"/>
                                          </p:val>
                                        </p:tav>
                                        <p:tav tm="100000">
                                          <p:val>
                                            <p:strVal val="#ppt_x"/>
                                          </p:val>
                                        </p:tav>
                                      </p:tavLst>
                                    </p:anim>
                                    <p:anim calcmode="lin" valueType="num">
                                      <p:cBhvr additive="base">
                                        <p:cTn id="23"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utoUpdateAnimBg="0"/>
      <p:bldP spid="22"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ChangeArrowheads="1"/>
          </p:cNvSpPr>
          <p:nvPr/>
        </p:nvSpPr>
        <p:spPr bwMode="auto">
          <a:xfrm>
            <a:off x="2057400" y="327062"/>
            <a:ext cx="8647112" cy="83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kumimoji="1" lang="zh-CN" altLang="en-US" sz="4000" dirty="0">
                <a:solidFill>
                  <a:schemeClr val="tx2"/>
                </a:solidFill>
                <a:latin typeface="华文新魏" pitchFamily="2" charset="-122"/>
                <a:ea typeface="华文新魏" pitchFamily="2" charset="-122"/>
              </a:rPr>
              <a:t>用信号量解决进程间互斥问题</a:t>
            </a:r>
          </a:p>
        </p:txBody>
      </p:sp>
      <p:sp>
        <p:nvSpPr>
          <p:cNvPr id="165891" name="Rectangle 3"/>
          <p:cNvSpPr>
            <a:spLocks noChangeArrowheads="1"/>
          </p:cNvSpPr>
          <p:nvPr/>
        </p:nvSpPr>
        <p:spPr bwMode="auto">
          <a:xfrm>
            <a:off x="899233" y="1352738"/>
            <a:ext cx="10441160" cy="148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spcBef>
                <a:spcPct val="20000"/>
              </a:spcBef>
              <a:buClr>
                <a:schemeClr val="folHlink"/>
              </a:buClr>
              <a:buSzPct val="60000"/>
            </a:pPr>
            <a:r>
              <a:rPr kumimoji="1" lang="en-US" altLang="zh-CN" sz="2600" dirty="0">
                <a:latin typeface="+mn-ea"/>
                <a:ea typeface="+mn-ea"/>
              </a:rPr>
              <a:t>P</a:t>
            </a:r>
            <a:r>
              <a:rPr kumimoji="1" lang="zh-CN" altLang="en-US" sz="2600" dirty="0">
                <a:latin typeface="+mn-ea"/>
                <a:ea typeface="+mn-ea"/>
              </a:rPr>
              <a:t>、</a:t>
            </a:r>
            <a:r>
              <a:rPr kumimoji="1" lang="en-US" altLang="zh-CN" sz="2600" dirty="0">
                <a:latin typeface="+mn-ea"/>
                <a:ea typeface="+mn-ea"/>
              </a:rPr>
              <a:t>V</a:t>
            </a:r>
            <a:r>
              <a:rPr kumimoji="1" lang="zh-CN" altLang="en-US" sz="2600" dirty="0">
                <a:latin typeface="+mn-ea"/>
                <a:ea typeface="+mn-ea"/>
              </a:rPr>
              <a:t>操作都是采用原语操作，可以用来保证两个或多个关键代码段不被并发调用，即实现并发进程间的互斥操作。</a:t>
            </a:r>
          </a:p>
        </p:txBody>
      </p:sp>
      <p:sp>
        <p:nvSpPr>
          <p:cNvPr id="165892" name="Rectangle 4"/>
          <p:cNvSpPr>
            <a:spLocks noChangeArrowheads="1"/>
          </p:cNvSpPr>
          <p:nvPr/>
        </p:nvSpPr>
        <p:spPr bwMode="auto">
          <a:xfrm>
            <a:off x="2057400" y="3354388"/>
            <a:ext cx="3352800" cy="2743200"/>
          </a:xfrm>
          <a:prstGeom prst="rect">
            <a:avLst/>
          </a:prstGeom>
          <a:solidFill>
            <a:srgbClr val="D1E0FF"/>
          </a:solidFill>
          <a:ln w="12700" cap="sq">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000">
                <a:latin typeface="Times New Roman" pitchFamily="18" charset="0"/>
              </a:rPr>
              <a:t>Procedure  T1(x)</a:t>
            </a:r>
          </a:p>
          <a:p>
            <a:r>
              <a:rPr kumimoji="1" lang="en-US" altLang="zh-CN" sz="2000">
                <a:latin typeface="Times New Roman" pitchFamily="18" charset="0"/>
              </a:rPr>
              <a:t>    int  x;</a:t>
            </a:r>
          </a:p>
          <a:p>
            <a:r>
              <a:rPr kumimoji="1" lang="en-US" altLang="zh-CN" sz="2000">
                <a:latin typeface="Times New Roman" pitchFamily="18" charset="0"/>
              </a:rPr>
              <a:t>    Begin</a:t>
            </a:r>
          </a:p>
          <a:p>
            <a:r>
              <a:rPr kumimoji="1" lang="en-US" altLang="zh-CN" sz="2000">
                <a:latin typeface="Times New Roman" pitchFamily="18" charset="0"/>
              </a:rPr>
              <a:t>            </a:t>
            </a:r>
            <a:r>
              <a:rPr kumimoji="1" lang="en-US" altLang="zh-CN" sz="2000">
                <a:solidFill>
                  <a:schemeClr val="hlink"/>
                </a:solidFill>
                <a:latin typeface="Times New Roman" pitchFamily="18" charset="0"/>
              </a:rPr>
              <a:t>P(s)</a:t>
            </a:r>
          </a:p>
          <a:p>
            <a:r>
              <a:rPr kumimoji="1" lang="en-US" altLang="zh-CN" sz="2000">
                <a:latin typeface="Times New Roman" pitchFamily="18" charset="0"/>
              </a:rPr>
              <a:t>            read(x);</a:t>
            </a:r>
          </a:p>
          <a:p>
            <a:r>
              <a:rPr kumimoji="1" lang="en-US" altLang="zh-CN" sz="2000">
                <a:latin typeface="Times New Roman" pitchFamily="18" charset="0"/>
              </a:rPr>
              <a:t>            if  x&gt;=1  then  x:=x-1;</a:t>
            </a:r>
          </a:p>
          <a:p>
            <a:r>
              <a:rPr kumimoji="1" lang="en-US" altLang="zh-CN" sz="2000">
                <a:latin typeface="Times New Roman" pitchFamily="18" charset="0"/>
              </a:rPr>
              <a:t>            print(x); </a:t>
            </a:r>
          </a:p>
          <a:p>
            <a:r>
              <a:rPr kumimoji="1" lang="en-US" altLang="zh-CN" sz="2000">
                <a:solidFill>
                  <a:srgbClr val="FD2B15"/>
                </a:solidFill>
                <a:latin typeface="Times New Roman" pitchFamily="18" charset="0"/>
              </a:rPr>
              <a:t>            </a:t>
            </a:r>
            <a:r>
              <a:rPr kumimoji="1" lang="en-US" altLang="zh-CN" sz="2000">
                <a:solidFill>
                  <a:schemeClr val="hlink"/>
                </a:solidFill>
                <a:latin typeface="Times New Roman" pitchFamily="18" charset="0"/>
              </a:rPr>
              <a:t>V(s)</a:t>
            </a:r>
            <a:r>
              <a:rPr kumimoji="1" lang="en-US" altLang="zh-CN" sz="2000">
                <a:solidFill>
                  <a:schemeClr val="accent1"/>
                </a:solidFill>
                <a:latin typeface="Times New Roman" pitchFamily="18" charset="0"/>
              </a:rPr>
              <a:t> </a:t>
            </a:r>
          </a:p>
          <a:p>
            <a:r>
              <a:rPr kumimoji="1" lang="en-US" altLang="zh-CN" sz="2000">
                <a:latin typeface="Times New Roman" pitchFamily="18" charset="0"/>
              </a:rPr>
              <a:t>End(T1)</a:t>
            </a:r>
          </a:p>
        </p:txBody>
      </p:sp>
      <p:sp>
        <p:nvSpPr>
          <p:cNvPr id="165893" name="Rectangle 5"/>
          <p:cNvSpPr>
            <a:spLocks noChangeArrowheads="1"/>
          </p:cNvSpPr>
          <p:nvPr/>
        </p:nvSpPr>
        <p:spPr bwMode="auto">
          <a:xfrm>
            <a:off x="6248400" y="3354388"/>
            <a:ext cx="3352800" cy="2743200"/>
          </a:xfrm>
          <a:prstGeom prst="rect">
            <a:avLst/>
          </a:prstGeom>
          <a:solidFill>
            <a:srgbClr val="D1E0FF"/>
          </a:solidFill>
          <a:ln w="12700" cap="sq">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000">
                <a:latin typeface="Times New Roman" pitchFamily="18" charset="0"/>
              </a:rPr>
              <a:t>Procedure  T2(x)</a:t>
            </a:r>
          </a:p>
          <a:p>
            <a:r>
              <a:rPr kumimoji="1" lang="en-US" altLang="zh-CN" sz="2000">
                <a:latin typeface="Times New Roman" pitchFamily="18" charset="0"/>
              </a:rPr>
              <a:t>    int  x;</a:t>
            </a:r>
          </a:p>
          <a:p>
            <a:r>
              <a:rPr kumimoji="1" lang="en-US" altLang="zh-CN" sz="2000">
                <a:latin typeface="Times New Roman" pitchFamily="18" charset="0"/>
              </a:rPr>
              <a:t>    Begin</a:t>
            </a:r>
          </a:p>
          <a:p>
            <a:r>
              <a:rPr kumimoji="1" lang="en-US" altLang="zh-CN" sz="2000">
                <a:latin typeface="Times New Roman" pitchFamily="18" charset="0"/>
              </a:rPr>
              <a:t>            </a:t>
            </a:r>
            <a:r>
              <a:rPr kumimoji="1" lang="en-US" altLang="zh-CN" sz="2000">
                <a:solidFill>
                  <a:schemeClr val="hlink"/>
                </a:solidFill>
                <a:latin typeface="Times New Roman" pitchFamily="18" charset="0"/>
              </a:rPr>
              <a:t>P(s)</a:t>
            </a:r>
          </a:p>
          <a:p>
            <a:r>
              <a:rPr kumimoji="1" lang="en-US" altLang="zh-CN" sz="2000">
                <a:latin typeface="Times New Roman" pitchFamily="18" charset="0"/>
              </a:rPr>
              <a:t>            read(x);</a:t>
            </a:r>
          </a:p>
          <a:p>
            <a:r>
              <a:rPr kumimoji="1" lang="en-US" altLang="zh-CN" sz="2000">
                <a:latin typeface="Times New Roman" pitchFamily="18" charset="0"/>
              </a:rPr>
              <a:t>            if  x&gt;=1  then  x:=x-1;</a:t>
            </a:r>
          </a:p>
          <a:p>
            <a:r>
              <a:rPr kumimoji="1" lang="en-US" altLang="zh-CN" sz="2000">
                <a:latin typeface="Times New Roman" pitchFamily="18" charset="0"/>
              </a:rPr>
              <a:t>            print(x);</a:t>
            </a:r>
          </a:p>
          <a:p>
            <a:r>
              <a:rPr kumimoji="1" lang="en-US" altLang="zh-CN" sz="2000">
                <a:solidFill>
                  <a:srgbClr val="FD2B15"/>
                </a:solidFill>
                <a:latin typeface="Times New Roman" pitchFamily="18" charset="0"/>
              </a:rPr>
              <a:t>            </a:t>
            </a:r>
            <a:r>
              <a:rPr kumimoji="1" lang="en-US" altLang="zh-CN" sz="2000">
                <a:solidFill>
                  <a:schemeClr val="hlink"/>
                </a:solidFill>
                <a:latin typeface="Times New Roman" pitchFamily="18" charset="0"/>
              </a:rPr>
              <a:t>V(s)</a:t>
            </a:r>
          </a:p>
          <a:p>
            <a:r>
              <a:rPr kumimoji="1" lang="en-US" altLang="zh-CN" sz="2000">
                <a:latin typeface="Times New Roman" pitchFamily="18" charset="0"/>
              </a:rPr>
              <a:t>End(T2)</a:t>
            </a:r>
          </a:p>
        </p:txBody>
      </p:sp>
      <p:sp>
        <p:nvSpPr>
          <p:cNvPr id="165894" name="Text Box 6"/>
          <p:cNvSpPr txBox="1">
            <a:spLocks noChangeArrowheads="1"/>
          </p:cNvSpPr>
          <p:nvPr/>
        </p:nvSpPr>
        <p:spPr bwMode="auto">
          <a:xfrm>
            <a:off x="1608809" y="2348881"/>
            <a:ext cx="890660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600" dirty="0">
                <a:latin typeface="+mn-ea"/>
                <a:ea typeface="+mn-ea"/>
              </a:rPr>
              <a:t>设</a:t>
            </a:r>
            <a:r>
              <a:rPr kumimoji="1" lang="en-US" altLang="zh-CN" sz="2600" dirty="0">
                <a:solidFill>
                  <a:srgbClr val="FF0066"/>
                </a:solidFill>
                <a:latin typeface="+mn-ea"/>
                <a:ea typeface="+mn-ea"/>
              </a:rPr>
              <a:t>s</a:t>
            </a:r>
            <a:r>
              <a:rPr kumimoji="1" lang="en-US" altLang="zh-CN" sz="2600" dirty="0">
                <a:latin typeface="+mn-ea"/>
                <a:ea typeface="+mn-ea"/>
              </a:rPr>
              <a:t>(semaphore)</a:t>
            </a:r>
            <a:r>
              <a:rPr kumimoji="1" lang="zh-CN" altLang="en-US" sz="2600" dirty="0">
                <a:latin typeface="+mn-ea"/>
                <a:ea typeface="+mn-ea"/>
              </a:rPr>
              <a:t>代表一个可共享的存储单元，</a:t>
            </a:r>
            <a:r>
              <a:rPr kumimoji="1" lang="en-US" altLang="zh-CN" sz="2600" dirty="0">
                <a:solidFill>
                  <a:srgbClr val="FF0066"/>
                </a:solidFill>
                <a:latin typeface="+mn-ea"/>
                <a:ea typeface="+mn-ea"/>
              </a:rPr>
              <a:t>s</a:t>
            </a:r>
            <a:r>
              <a:rPr kumimoji="1" lang="zh-CN" altLang="en-US" sz="2600" dirty="0">
                <a:latin typeface="+mn-ea"/>
                <a:ea typeface="+mn-ea"/>
              </a:rPr>
              <a:t>的初始值为</a:t>
            </a:r>
            <a:r>
              <a:rPr kumimoji="1" lang="en-US" altLang="zh-CN" sz="2600" dirty="0">
                <a:latin typeface="+mn-ea"/>
                <a:ea typeface="+mn-ea"/>
              </a:rPr>
              <a:t>1</a:t>
            </a:r>
          </a:p>
        </p:txBody>
      </p:sp>
      <p:sp>
        <p:nvSpPr>
          <p:cNvPr id="165895" name="Rectangle 7"/>
          <p:cNvSpPr>
            <a:spLocks noChangeArrowheads="1"/>
          </p:cNvSpPr>
          <p:nvPr/>
        </p:nvSpPr>
        <p:spPr bwMode="auto">
          <a:xfrm>
            <a:off x="2424114" y="4864378"/>
            <a:ext cx="7056437" cy="369332"/>
          </a:xfrm>
          <a:prstGeom prst="rect">
            <a:avLst/>
          </a:prstGeom>
          <a:noFill/>
          <a:ln w="28575" cap="sq" algn="ctr">
            <a:solidFill>
              <a:schemeClr val="hlink"/>
            </a:solidFill>
            <a:miter lim="800000"/>
            <a:headEnd/>
            <a:tailEnd/>
          </a:ln>
          <a:effectLst/>
          <a:extLst>
            <a:ext uri="{909E8E84-426E-40DD-AFC4-6F175D3DCCD1}">
              <a14:hiddenFill xmlns:a14="http://schemas.microsoft.com/office/drawing/2010/main">
                <a:solidFill>
                  <a:srgbClr val="E3E3F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896" name="AutoShape 8"/>
          <p:cNvSpPr>
            <a:spLocks noChangeArrowheads="1"/>
          </p:cNvSpPr>
          <p:nvPr/>
        </p:nvSpPr>
        <p:spPr bwMode="auto">
          <a:xfrm flipH="1">
            <a:off x="4800601" y="3213101"/>
            <a:ext cx="1655763" cy="1223963"/>
          </a:xfrm>
          <a:prstGeom prst="wedgeRoundRectCallout">
            <a:avLst>
              <a:gd name="adj1" fmla="val 2060"/>
              <a:gd name="adj2" fmla="val 96949"/>
              <a:gd name="adj3" fmla="val 16667"/>
            </a:avLst>
          </a:prstGeom>
          <a:solidFill>
            <a:srgbClr val="FAD2FA"/>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kumimoji="1" lang="en-US" altLang="zh-CN" sz="2000">
                <a:solidFill>
                  <a:schemeClr val="bg2"/>
                </a:solidFill>
                <a:latin typeface="Times New Roman" pitchFamily="18" charset="0"/>
              </a:rPr>
              <a:t> P(s)</a:t>
            </a:r>
          </a:p>
          <a:p>
            <a:r>
              <a:rPr kumimoji="1" lang="en-US" altLang="zh-CN" sz="2000">
                <a:solidFill>
                  <a:schemeClr val="bg2"/>
                </a:solidFill>
                <a:latin typeface="Times New Roman" pitchFamily="18" charset="0"/>
              </a:rPr>
              <a:t>     </a:t>
            </a:r>
            <a:r>
              <a:rPr kumimoji="1" lang="en-US" altLang="zh-CN" sz="2000">
                <a:solidFill>
                  <a:schemeClr val="hlink"/>
                </a:solidFill>
                <a:latin typeface="Times New Roman" pitchFamily="18" charset="0"/>
              </a:rPr>
              <a:t>[</a:t>
            </a:r>
            <a:r>
              <a:rPr kumimoji="1" lang="zh-CN" altLang="en-US" sz="2000">
                <a:solidFill>
                  <a:schemeClr val="hlink"/>
                </a:solidFill>
                <a:latin typeface="Times New Roman" pitchFamily="18" charset="0"/>
              </a:rPr>
              <a:t>临界区</a:t>
            </a:r>
            <a:r>
              <a:rPr kumimoji="1" lang="en-US" altLang="zh-CN" sz="2000">
                <a:solidFill>
                  <a:schemeClr val="hlink"/>
                </a:solidFill>
                <a:latin typeface="Times New Roman" pitchFamily="18" charset="0"/>
              </a:rPr>
              <a:t>]</a:t>
            </a:r>
          </a:p>
          <a:p>
            <a:r>
              <a:rPr kumimoji="1" lang="en-US" altLang="zh-CN" sz="2000">
                <a:solidFill>
                  <a:schemeClr val="bg2"/>
                </a:solidFill>
                <a:latin typeface="Times New Roman" pitchFamily="18" charset="0"/>
              </a:rPr>
              <a:t> V(s)</a:t>
            </a:r>
          </a:p>
        </p:txBody>
      </p:sp>
    </p:spTree>
    <p:extLst>
      <p:ext uri="{BB962C8B-B14F-4D97-AF65-F5344CB8AC3E}">
        <p14:creationId xmlns:p14="http://schemas.microsoft.com/office/powerpoint/2010/main" val="26600756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5895"/>
                                        </p:tgtEl>
                                        <p:attrNameLst>
                                          <p:attrName>style.visibility</p:attrName>
                                        </p:attrNameLst>
                                      </p:cBhvr>
                                      <p:to>
                                        <p:strVal val="visible"/>
                                      </p:to>
                                    </p:set>
                                    <p:animEffect transition="in" filter="box(in)">
                                      <p:cBhvr>
                                        <p:cTn id="7" dur="500"/>
                                        <p:tgtEl>
                                          <p:spTgt spid="1658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5" fill="hold" grpId="0" nodeType="clickEffect">
                                  <p:stCondLst>
                                    <p:cond delay="0"/>
                                  </p:stCondLst>
                                  <p:childTnLst>
                                    <p:set>
                                      <p:cBhvr>
                                        <p:cTn id="11" dur="1" fill="hold">
                                          <p:stCondLst>
                                            <p:cond delay="0"/>
                                          </p:stCondLst>
                                        </p:cTn>
                                        <p:tgtEl>
                                          <p:spTgt spid="165896"/>
                                        </p:tgtEl>
                                        <p:attrNameLst>
                                          <p:attrName>style.visibility</p:attrName>
                                        </p:attrNameLst>
                                      </p:cBhvr>
                                      <p:to>
                                        <p:strVal val="visible"/>
                                      </p:to>
                                    </p:set>
                                    <p:animEffect transition="in" filter="checkerboard(down)">
                                      <p:cBhvr>
                                        <p:cTn id="12" dur="500"/>
                                        <p:tgtEl>
                                          <p:spTgt spid="165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5" grpId="0" animBg="1"/>
      <p:bldP spid="165896" grpId="0" animBg="1"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灯片编号占位符 4"/>
          <p:cNvSpPr>
            <a:spLocks noGrp="1"/>
          </p:cNvSpPr>
          <p:nvPr>
            <p:ph type="sldNum" sz="quarter" idx="11"/>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256824-674A-4ED4-B487-021FC019A8CA}" type="slidenum">
              <a:rPr lang="en-US" altLang="zh-CN">
                <a:latin typeface="Arial Black" pitchFamily="34" charset="0"/>
              </a:rPr>
              <a:pPr eaLnBrk="1" hangingPunct="1"/>
              <a:t>90</a:t>
            </a:fld>
            <a:endParaRPr lang="en-US" altLang="zh-CN">
              <a:latin typeface="Arial Black" pitchFamily="34" charset="0"/>
            </a:endParaRPr>
          </a:p>
        </p:txBody>
      </p:sp>
      <p:sp>
        <p:nvSpPr>
          <p:cNvPr id="10245" name="Rectangle 2"/>
          <p:cNvSpPr>
            <a:spLocks noGrp="1" noChangeArrowheads="1"/>
          </p:cNvSpPr>
          <p:nvPr>
            <p:ph type="body" idx="1"/>
          </p:nvPr>
        </p:nvSpPr>
        <p:spPr>
          <a:xfrm>
            <a:off x="1199456" y="1412777"/>
            <a:ext cx="10009112" cy="4464495"/>
          </a:xfrm>
        </p:spPr>
        <p:txBody>
          <a:bodyPr/>
          <a:lstStyle/>
          <a:p>
            <a:pPr marL="506412" indent="-457200" eaLnBrk="1" hangingPunct="1">
              <a:lnSpc>
                <a:spcPct val="120000"/>
              </a:lnSpc>
            </a:pPr>
            <a:r>
              <a:rPr lang="zh-CN" altLang="en-US" sz="2600" dirty="0">
                <a:solidFill>
                  <a:srgbClr val="0000CC"/>
                </a:solidFill>
              </a:rPr>
              <a:t>共享内存</a:t>
            </a:r>
            <a:r>
              <a:rPr lang="zh-CN" altLang="en-US" sz="2600" dirty="0"/>
              <a:t>：</a:t>
            </a:r>
            <a:r>
              <a:rPr lang="en-US" altLang="zh-CN" sz="2600" dirty="0"/>
              <a:t>Linux</a:t>
            </a:r>
            <a:r>
              <a:rPr lang="zh-CN" altLang="en-US" sz="2600" dirty="0"/>
              <a:t>系统中进程通信速度最快的通信方式。在内存中开辟一段存储区，将这个区映射到多个进程的地址空间，使得多个进程访问同一块内存空间，即可达到数据共享的目的。进程可以直接读写内存，不需要任何数据的拷贝。</a:t>
            </a:r>
            <a:endParaRPr lang="en-US" altLang="zh-CN" sz="2600" dirty="0"/>
          </a:p>
          <a:p>
            <a:pPr marL="506412" indent="-457200" eaLnBrk="1" hangingPunct="1">
              <a:lnSpc>
                <a:spcPct val="120000"/>
              </a:lnSpc>
            </a:pPr>
            <a:r>
              <a:rPr lang="zh-CN" altLang="en-US" sz="2600" dirty="0"/>
              <a:t>共享内存的通信方式适合传递大量的、实时的数据。但它没有内置同步机制，需要配合信号量或互斥锁等实现进程的同步。</a:t>
            </a:r>
          </a:p>
          <a:p>
            <a:pPr marL="398462" lvl="1" indent="0" eaLnBrk="1" hangingPunct="1">
              <a:lnSpc>
                <a:spcPct val="130000"/>
              </a:lnSpc>
              <a:buNone/>
            </a:pPr>
            <a:endParaRPr lang="zh-CN" altLang="en-US" dirty="0"/>
          </a:p>
        </p:txBody>
      </p:sp>
      <p:sp>
        <p:nvSpPr>
          <p:cNvPr id="4" name="Rectangle 4"/>
          <p:cNvSpPr>
            <a:spLocks noChangeArrowheads="1"/>
          </p:cNvSpPr>
          <p:nvPr/>
        </p:nvSpPr>
        <p:spPr bwMode="auto">
          <a:xfrm>
            <a:off x="1775619" y="523528"/>
            <a:ext cx="8640762"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4000" dirty="0">
                <a:latin typeface="+mn-ea"/>
                <a:ea typeface="+mn-ea"/>
              </a:rPr>
              <a:t>共享内存通信</a:t>
            </a:r>
            <a:endParaRPr lang="zh-CN" altLang="en-US" sz="3600" dirty="0">
              <a:latin typeface="+mn-ea"/>
              <a:ea typeface="+mn-ea"/>
            </a:endParaRPr>
          </a:p>
        </p:txBody>
      </p:sp>
    </p:spTree>
    <p:extLst>
      <p:ext uri="{BB962C8B-B14F-4D97-AF65-F5344CB8AC3E}">
        <p14:creationId xmlns:p14="http://schemas.microsoft.com/office/powerpoint/2010/main" val="65972170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p:cNvSpPr>
            <a:spLocks noGrp="1" noChangeArrowheads="1"/>
          </p:cNvSpPr>
          <p:nvPr>
            <p:ph type="body" idx="1"/>
          </p:nvPr>
        </p:nvSpPr>
        <p:spPr>
          <a:xfrm>
            <a:off x="983432" y="1372642"/>
            <a:ext cx="10081120" cy="5212135"/>
          </a:xfrm>
        </p:spPr>
        <p:txBody>
          <a:bodyPr/>
          <a:lstStyle/>
          <a:p>
            <a:pPr marL="506412" indent="-457200" eaLnBrk="1" hangingPunct="1">
              <a:lnSpc>
                <a:spcPct val="90000"/>
              </a:lnSpc>
            </a:pPr>
            <a:r>
              <a:rPr lang="zh-CN" altLang="en-US" sz="2600" dirty="0"/>
              <a:t>在共享内存区通信中，首先需要用系统调用</a:t>
            </a:r>
            <a:r>
              <a:rPr lang="en-US" altLang="zh-CN" sz="2600" dirty="0" err="1"/>
              <a:t>shmget</a:t>
            </a:r>
            <a:r>
              <a:rPr lang="en-US" altLang="zh-CN" sz="2600" dirty="0"/>
              <a:t>()</a:t>
            </a:r>
            <a:r>
              <a:rPr lang="zh-CN" altLang="en-US" sz="2600" dirty="0"/>
              <a:t>获得一个共享存储区，得到该区域的标识符；然后用系统调用</a:t>
            </a:r>
            <a:r>
              <a:rPr lang="en-US" altLang="zh-CN" sz="2600" dirty="0" err="1"/>
              <a:t>shmdt</a:t>
            </a:r>
            <a:r>
              <a:rPr lang="en-US" altLang="zh-CN" sz="2600" dirty="0"/>
              <a:t>()</a:t>
            </a:r>
            <a:r>
              <a:rPr lang="zh-CN" altLang="en-US" sz="2600" dirty="0"/>
              <a:t>将共享存储区映射到通信进程的虚地址空间，让共享的存储区逻辑上成为进程虚拟地址空间的一部分；通信进程像读写普通内存一样的读写共享存储区。撤销映射用</a:t>
            </a:r>
            <a:r>
              <a:rPr lang="en-US" altLang="zh-CN" sz="2600" dirty="0" err="1"/>
              <a:t>shmdt</a:t>
            </a:r>
            <a:r>
              <a:rPr lang="en-US" altLang="zh-CN" sz="2600" dirty="0"/>
              <a:t>()</a:t>
            </a:r>
            <a:r>
              <a:rPr lang="zh-CN" altLang="en-US" sz="2600" dirty="0"/>
              <a:t>系统调用。</a:t>
            </a:r>
            <a:endParaRPr lang="zh-CN" altLang="en-US" dirty="0"/>
          </a:p>
        </p:txBody>
      </p:sp>
      <p:sp>
        <p:nvSpPr>
          <p:cNvPr id="4" name="Rectangle 4"/>
          <p:cNvSpPr>
            <a:spLocks noChangeArrowheads="1"/>
          </p:cNvSpPr>
          <p:nvPr/>
        </p:nvSpPr>
        <p:spPr bwMode="auto">
          <a:xfrm>
            <a:off x="1703611" y="381932"/>
            <a:ext cx="8640762"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4000" dirty="0">
                <a:latin typeface="+mn-ea"/>
                <a:ea typeface="+mn-ea"/>
              </a:rPr>
              <a:t>进程通信方式</a:t>
            </a:r>
            <a:endParaRPr lang="zh-CN" altLang="en-US" sz="3600" dirty="0">
              <a:latin typeface="+mn-ea"/>
              <a:ea typeface="+mn-ea"/>
            </a:endParaRPr>
          </a:p>
        </p:txBody>
      </p:sp>
      <p:pic>
        <p:nvPicPr>
          <p:cNvPr id="2" name="图片 1">
            <a:extLst>
              <a:ext uri="{FF2B5EF4-FFF2-40B4-BE49-F238E27FC236}">
                <a16:creationId xmlns:a16="http://schemas.microsoft.com/office/drawing/2014/main" id="{9FDB974B-8BE9-FF68-9F46-F2490FF5EEDD}"/>
              </a:ext>
            </a:extLst>
          </p:cNvPr>
          <p:cNvPicPr>
            <a:picLocks noChangeAspect="1"/>
          </p:cNvPicPr>
          <p:nvPr/>
        </p:nvPicPr>
        <p:blipFill>
          <a:blip r:embed="rId3"/>
          <a:stretch>
            <a:fillRect/>
          </a:stretch>
        </p:blipFill>
        <p:spPr>
          <a:xfrm>
            <a:off x="3431705" y="3694412"/>
            <a:ext cx="5531055" cy="2542901"/>
          </a:xfrm>
          <a:prstGeom prst="rect">
            <a:avLst/>
          </a:prstGeom>
        </p:spPr>
      </p:pic>
      <p:sp>
        <p:nvSpPr>
          <p:cNvPr id="3" name="灯片编号占位符 4">
            <a:extLst>
              <a:ext uri="{FF2B5EF4-FFF2-40B4-BE49-F238E27FC236}">
                <a16:creationId xmlns:a16="http://schemas.microsoft.com/office/drawing/2014/main" id="{8D341B06-F225-78B1-03E7-C5469D4C071E}"/>
              </a:ext>
            </a:extLst>
          </p:cNvPr>
          <p:cNvSpPr>
            <a:spLocks noGrp="1"/>
          </p:cNvSpPr>
          <p:nvPr>
            <p:ph type="sldNum" sz="quarter" idx="11"/>
          </p:nvPr>
        </p:nvSpPr>
        <p:spPr>
          <a:xfrm>
            <a:off x="5053013" y="6356176"/>
            <a:ext cx="2133600" cy="457200"/>
          </a:xfrm>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256824-674A-4ED4-B487-021FC019A8CA}" type="slidenum">
              <a:rPr lang="en-US" altLang="zh-CN">
                <a:latin typeface="Arial Black" pitchFamily="34" charset="0"/>
              </a:rPr>
              <a:pPr eaLnBrk="1" hangingPunct="1"/>
              <a:t>91</a:t>
            </a:fld>
            <a:endParaRPr lang="en-US" altLang="zh-CN" dirty="0">
              <a:latin typeface="Arial Black" pitchFamily="34" charset="0"/>
            </a:endParaRPr>
          </a:p>
        </p:txBody>
      </p:sp>
    </p:spTree>
    <p:extLst>
      <p:ext uri="{BB962C8B-B14F-4D97-AF65-F5344CB8AC3E}">
        <p14:creationId xmlns:p14="http://schemas.microsoft.com/office/powerpoint/2010/main" val="27969949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灯片编号占位符 4"/>
          <p:cNvSpPr>
            <a:spLocks noGrp="1"/>
          </p:cNvSpPr>
          <p:nvPr>
            <p:ph type="sldNum" sz="quarter" idx="11"/>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256824-674A-4ED4-B487-021FC019A8CA}" type="slidenum">
              <a:rPr lang="en-US" altLang="zh-CN">
                <a:latin typeface="Arial Black" pitchFamily="34" charset="0"/>
              </a:rPr>
              <a:pPr eaLnBrk="1" hangingPunct="1"/>
              <a:t>92</a:t>
            </a:fld>
            <a:endParaRPr lang="en-US" altLang="zh-CN" dirty="0">
              <a:latin typeface="Arial Black" pitchFamily="34" charset="0"/>
            </a:endParaRPr>
          </a:p>
        </p:txBody>
      </p:sp>
      <p:sp>
        <p:nvSpPr>
          <p:cNvPr id="10245" name="Rectangle 2"/>
          <p:cNvSpPr>
            <a:spLocks noGrp="1" noChangeArrowheads="1"/>
          </p:cNvSpPr>
          <p:nvPr>
            <p:ph type="body" idx="1"/>
          </p:nvPr>
        </p:nvSpPr>
        <p:spPr>
          <a:xfrm>
            <a:off x="1199456" y="1485528"/>
            <a:ext cx="9865096" cy="4535760"/>
          </a:xfrm>
        </p:spPr>
        <p:txBody>
          <a:bodyPr/>
          <a:lstStyle/>
          <a:p>
            <a:pPr marL="506412" indent="-457200" eaLnBrk="1" hangingPunct="1"/>
            <a:r>
              <a:rPr lang="zh-CN" altLang="en-US" sz="2600" dirty="0">
                <a:solidFill>
                  <a:srgbClr val="0000CC"/>
                </a:solidFill>
              </a:rPr>
              <a:t>消息队列</a:t>
            </a:r>
            <a:r>
              <a:rPr lang="zh-CN" altLang="en-US" sz="2600" dirty="0"/>
              <a:t>：具有写权限的进程可以向消息队列中按照一定的规则添加新消息；对消息队列有读权限的进程则可以从消息队列中读取消息。</a:t>
            </a:r>
            <a:endParaRPr lang="en-US" altLang="zh-CN" sz="2600" dirty="0"/>
          </a:p>
          <a:p>
            <a:pPr marL="506412" indent="-457200" eaLnBrk="1" hangingPunct="1"/>
            <a:r>
              <a:rPr lang="zh-CN" altLang="en-US" sz="2600" dirty="0"/>
              <a:t>系统负责管理公用消息缓冲区以及消息的传递。进程使用消息缓冲区，一个进程可以给若干个进程发送消息，反之，一个进程可以接收不同进程发来的消息。进程中关于消息队列的操作是临界区。</a:t>
            </a:r>
            <a:endParaRPr lang="en-US" altLang="zh-CN" sz="2600" dirty="0"/>
          </a:p>
          <a:p>
            <a:pPr marL="506412" indent="-457200" eaLnBrk="1" hangingPunct="1"/>
            <a:r>
              <a:rPr lang="zh-CN" altLang="en-US" sz="2600" dirty="0"/>
              <a:t>消息队列的实现包括创建和打开消息队列（</a:t>
            </a:r>
            <a:r>
              <a:rPr lang="en-US" altLang="zh-CN" sz="2600" dirty="0" err="1"/>
              <a:t>msgget</a:t>
            </a:r>
            <a:r>
              <a:rPr lang="zh-CN" altLang="en-US" sz="2600" dirty="0"/>
              <a:t>函数）、添加消息（</a:t>
            </a:r>
            <a:r>
              <a:rPr lang="en-US" altLang="zh-CN" sz="2600" dirty="0" err="1"/>
              <a:t>msgsnd</a:t>
            </a:r>
            <a:r>
              <a:rPr lang="zh-CN" altLang="en-US" sz="2600" dirty="0"/>
              <a:t>函数）、读取消息（</a:t>
            </a:r>
            <a:r>
              <a:rPr lang="en-US" altLang="zh-CN" sz="2600" dirty="0"/>
              <a:t>msgrcv</a:t>
            </a:r>
            <a:r>
              <a:rPr lang="zh-CN" altLang="en-US" sz="2600" dirty="0"/>
              <a:t>函数）和控制消息队列（</a:t>
            </a:r>
            <a:r>
              <a:rPr lang="en-US" altLang="zh-CN" sz="2600" dirty="0" err="1"/>
              <a:t>msgctl</a:t>
            </a:r>
            <a:r>
              <a:rPr lang="zh-CN" altLang="en-US" sz="2600" dirty="0"/>
              <a:t>）。</a:t>
            </a:r>
          </a:p>
          <a:p>
            <a:pPr marL="49212" indent="0" eaLnBrk="1" hangingPunct="1">
              <a:lnSpc>
                <a:spcPct val="130000"/>
              </a:lnSpc>
              <a:buNone/>
            </a:pPr>
            <a:endParaRPr lang="zh-CN" altLang="en-US" sz="2600" dirty="0"/>
          </a:p>
        </p:txBody>
      </p:sp>
      <p:sp>
        <p:nvSpPr>
          <p:cNvPr id="4" name="Rectangle 4"/>
          <p:cNvSpPr>
            <a:spLocks noChangeArrowheads="1"/>
          </p:cNvSpPr>
          <p:nvPr/>
        </p:nvSpPr>
        <p:spPr bwMode="auto">
          <a:xfrm>
            <a:off x="1631826" y="693365"/>
            <a:ext cx="8928348"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4000" dirty="0">
                <a:latin typeface="+mn-ea"/>
                <a:ea typeface="+mn-ea"/>
              </a:rPr>
              <a:t>进程通信方式</a:t>
            </a:r>
            <a:endParaRPr lang="zh-CN" altLang="en-US" sz="3600" dirty="0">
              <a:latin typeface="+mn-ea"/>
              <a:ea typeface="+mn-ea"/>
            </a:endParaRPr>
          </a:p>
        </p:txBody>
      </p:sp>
    </p:spTree>
    <p:extLst>
      <p:ext uri="{BB962C8B-B14F-4D97-AF65-F5344CB8AC3E}">
        <p14:creationId xmlns:p14="http://schemas.microsoft.com/office/powerpoint/2010/main" val="35596723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BFD6758-B9D2-B75C-EC8C-3808D31ACF3B}"/>
              </a:ext>
            </a:extLst>
          </p:cNvPr>
          <p:cNvSpPr>
            <a:spLocks noChangeArrowheads="1"/>
          </p:cNvSpPr>
          <p:nvPr/>
        </p:nvSpPr>
        <p:spPr bwMode="auto">
          <a:xfrm>
            <a:off x="3276600" y="2362200"/>
            <a:ext cx="838200" cy="5334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nvGrpSpPr>
          <p:cNvPr id="48131" name="Group 3">
            <a:extLst>
              <a:ext uri="{FF2B5EF4-FFF2-40B4-BE49-F238E27FC236}">
                <a16:creationId xmlns:a16="http://schemas.microsoft.com/office/drawing/2014/main" id="{4BB77811-E6F5-E34A-C8FE-FF81B0283878}"/>
              </a:ext>
            </a:extLst>
          </p:cNvPr>
          <p:cNvGrpSpPr>
            <a:grpSpLocks/>
          </p:cNvGrpSpPr>
          <p:nvPr/>
        </p:nvGrpSpPr>
        <p:grpSpPr bwMode="auto">
          <a:xfrm>
            <a:off x="4114800" y="2362200"/>
            <a:ext cx="4191000" cy="533400"/>
            <a:chOff x="1632" y="1488"/>
            <a:chExt cx="2640" cy="336"/>
          </a:xfrm>
        </p:grpSpPr>
        <p:sp>
          <p:nvSpPr>
            <p:cNvPr id="48160" name="Rectangle 4">
              <a:extLst>
                <a:ext uri="{FF2B5EF4-FFF2-40B4-BE49-F238E27FC236}">
                  <a16:creationId xmlns:a16="http://schemas.microsoft.com/office/drawing/2014/main" id="{F814D939-AEC2-5A2E-558D-D9D6EA83075F}"/>
                </a:ext>
              </a:extLst>
            </p:cNvPr>
            <p:cNvSpPr>
              <a:spLocks noChangeArrowheads="1"/>
            </p:cNvSpPr>
            <p:nvPr/>
          </p:nvSpPr>
          <p:spPr bwMode="auto">
            <a:xfrm>
              <a:off x="1632" y="1488"/>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8161" name="Rectangle 5">
              <a:extLst>
                <a:ext uri="{FF2B5EF4-FFF2-40B4-BE49-F238E27FC236}">
                  <a16:creationId xmlns:a16="http://schemas.microsoft.com/office/drawing/2014/main" id="{19CEB595-54DE-292A-F1AB-12399D2C1BBA}"/>
                </a:ext>
              </a:extLst>
            </p:cNvPr>
            <p:cNvSpPr>
              <a:spLocks noChangeArrowheads="1"/>
            </p:cNvSpPr>
            <p:nvPr/>
          </p:nvSpPr>
          <p:spPr bwMode="auto">
            <a:xfrm>
              <a:off x="2160" y="1488"/>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8162" name="Rectangle 6">
              <a:extLst>
                <a:ext uri="{FF2B5EF4-FFF2-40B4-BE49-F238E27FC236}">
                  <a16:creationId xmlns:a16="http://schemas.microsoft.com/office/drawing/2014/main" id="{71F2A1F0-1954-5274-8C6F-B269CB2DFB32}"/>
                </a:ext>
              </a:extLst>
            </p:cNvPr>
            <p:cNvSpPr>
              <a:spLocks noChangeArrowheads="1"/>
            </p:cNvSpPr>
            <p:nvPr/>
          </p:nvSpPr>
          <p:spPr bwMode="auto">
            <a:xfrm>
              <a:off x="2688" y="1488"/>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8163" name="Rectangle 7">
              <a:extLst>
                <a:ext uri="{FF2B5EF4-FFF2-40B4-BE49-F238E27FC236}">
                  <a16:creationId xmlns:a16="http://schemas.microsoft.com/office/drawing/2014/main" id="{ED9E16E2-50CA-61EE-7A53-712657547B06}"/>
                </a:ext>
              </a:extLst>
            </p:cNvPr>
            <p:cNvSpPr>
              <a:spLocks noChangeArrowheads="1"/>
            </p:cNvSpPr>
            <p:nvPr/>
          </p:nvSpPr>
          <p:spPr bwMode="auto">
            <a:xfrm>
              <a:off x="3216" y="1488"/>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8164" name="Rectangle 8">
              <a:extLst>
                <a:ext uri="{FF2B5EF4-FFF2-40B4-BE49-F238E27FC236}">
                  <a16:creationId xmlns:a16="http://schemas.microsoft.com/office/drawing/2014/main" id="{F1816C6A-CCBB-EB10-EC8A-E6461106BDE1}"/>
                </a:ext>
              </a:extLst>
            </p:cNvPr>
            <p:cNvSpPr>
              <a:spLocks noChangeArrowheads="1"/>
            </p:cNvSpPr>
            <p:nvPr/>
          </p:nvSpPr>
          <p:spPr bwMode="auto">
            <a:xfrm>
              <a:off x="3744" y="1488"/>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48132" name="Text Box 9">
            <a:extLst>
              <a:ext uri="{FF2B5EF4-FFF2-40B4-BE49-F238E27FC236}">
                <a16:creationId xmlns:a16="http://schemas.microsoft.com/office/drawing/2014/main" id="{A45F9ADE-F8CF-88A5-9F3D-C31A57B1E6DF}"/>
              </a:ext>
            </a:extLst>
          </p:cNvPr>
          <p:cNvSpPr txBox="1">
            <a:spLocks noChangeArrowheads="1"/>
          </p:cNvSpPr>
          <p:nvPr/>
        </p:nvSpPr>
        <p:spPr bwMode="auto">
          <a:xfrm>
            <a:off x="2879726" y="1628800"/>
            <a:ext cx="232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dirty="0">
                <a:latin typeface="黑体" panose="02010609060101010101" pitchFamily="49" charset="-122"/>
                <a:ea typeface="黑体" panose="02010609060101010101" pitchFamily="49" charset="-122"/>
              </a:rPr>
              <a:t>公用缓冲区队列</a:t>
            </a:r>
          </a:p>
        </p:txBody>
      </p:sp>
      <p:sp>
        <p:nvSpPr>
          <p:cNvPr id="48133" name="Text Box 10">
            <a:extLst>
              <a:ext uri="{FF2B5EF4-FFF2-40B4-BE49-F238E27FC236}">
                <a16:creationId xmlns:a16="http://schemas.microsoft.com/office/drawing/2014/main" id="{2507766A-F2CC-4537-2EFB-D654E5176657}"/>
              </a:ext>
            </a:extLst>
          </p:cNvPr>
          <p:cNvSpPr txBox="1">
            <a:spLocks noChangeArrowheads="1"/>
          </p:cNvSpPr>
          <p:nvPr/>
        </p:nvSpPr>
        <p:spPr bwMode="auto">
          <a:xfrm>
            <a:off x="1774825" y="4581526"/>
            <a:ext cx="1104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800"/>
              <a:t>发送进程</a:t>
            </a:r>
          </a:p>
        </p:txBody>
      </p:sp>
      <p:sp>
        <p:nvSpPr>
          <p:cNvPr id="48134" name="Text Box 11">
            <a:extLst>
              <a:ext uri="{FF2B5EF4-FFF2-40B4-BE49-F238E27FC236}">
                <a16:creationId xmlns:a16="http://schemas.microsoft.com/office/drawing/2014/main" id="{55D7C7DC-D08A-3855-CB69-FFA70AB87F96}"/>
              </a:ext>
            </a:extLst>
          </p:cNvPr>
          <p:cNvSpPr txBox="1">
            <a:spLocks noChangeArrowheads="1"/>
          </p:cNvSpPr>
          <p:nvPr/>
        </p:nvSpPr>
        <p:spPr bwMode="auto">
          <a:xfrm>
            <a:off x="8915400" y="3352800"/>
            <a:ext cx="1143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800"/>
              <a:t>接收进程消息队列</a:t>
            </a:r>
          </a:p>
        </p:txBody>
      </p:sp>
      <p:sp>
        <p:nvSpPr>
          <p:cNvPr id="48135" name="Rectangle 12">
            <a:extLst>
              <a:ext uri="{FF2B5EF4-FFF2-40B4-BE49-F238E27FC236}">
                <a16:creationId xmlns:a16="http://schemas.microsoft.com/office/drawing/2014/main" id="{B0B8C049-78A3-8DCE-3692-9CE027D101C2}"/>
              </a:ext>
            </a:extLst>
          </p:cNvPr>
          <p:cNvSpPr>
            <a:spLocks noChangeArrowheads="1"/>
          </p:cNvSpPr>
          <p:nvPr/>
        </p:nvSpPr>
        <p:spPr bwMode="auto">
          <a:xfrm>
            <a:off x="9144000" y="4038600"/>
            <a:ext cx="838200" cy="5334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nvGrpSpPr>
          <p:cNvPr id="3" name="Group 13">
            <a:extLst>
              <a:ext uri="{FF2B5EF4-FFF2-40B4-BE49-F238E27FC236}">
                <a16:creationId xmlns:a16="http://schemas.microsoft.com/office/drawing/2014/main" id="{36AD7C35-833F-2F61-B964-3BFC7F186867}"/>
              </a:ext>
            </a:extLst>
          </p:cNvPr>
          <p:cNvGrpSpPr>
            <a:grpSpLocks/>
          </p:cNvGrpSpPr>
          <p:nvPr/>
        </p:nvGrpSpPr>
        <p:grpSpPr bwMode="auto">
          <a:xfrm>
            <a:off x="2209801" y="2743201"/>
            <a:ext cx="1660525" cy="2798763"/>
            <a:chOff x="432" y="1728"/>
            <a:chExt cx="1046" cy="1763"/>
          </a:xfrm>
        </p:grpSpPr>
        <p:sp>
          <p:nvSpPr>
            <p:cNvPr id="48158" name="Rectangle 14">
              <a:extLst>
                <a:ext uri="{FF2B5EF4-FFF2-40B4-BE49-F238E27FC236}">
                  <a16:creationId xmlns:a16="http://schemas.microsoft.com/office/drawing/2014/main" id="{DBEECFF9-050A-150A-5795-F18148C88EE0}"/>
                </a:ext>
              </a:extLst>
            </p:cNvPr>
            <p:cNvSpPr>
              <a:spLocks noChangeArrowheads="1"/>
            </p:cNvSpPr>
            <p:nvPr/>
          </p:nvSpPr>
          <p:spPr bwMode="auto">
            <a:xfrm>
              <a:off x="432" y="3155"/>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8159" name="Line 15">
              <a:extLst>
                <a:ext uri="{FF2B5EF4-FFF2-40B4-BE49-F238E27FC236}">
                  <a16:creationId xmlns:a16="http://schemas.microsoft.com/office/drawing/2014/main" id="{3A1AE864-D080-664F-65D4-8831300D7928}"/>
                </a:ext>
              </a:extLst>
            </p:cNvPr>
            <p:cNvSpPr>
              <a:spLocks noChangeShapeType="1"/>
            </p:cNvSpPr>
            <p:nvPr/>
          </p:nvSpPr>
          <p:spPr bwMode="auto">
            <a:xfrm flipH="1">
              <a:off x="950" y="1728"/>
              <a:ext cx="528" cy="1536"/>
            </a:xfrm>
            <a:prstGeom prst="line">
              <a:avLst/>
            </a:prstGeom>
            <a:noFill/>
            <a:ln w="9525">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16">
            <a:extLst>
              <a:ext uri="{FF2B5EF4-FFF2-40B4-BE49-F238E27FC236}">
                <a16:creationId xmlns:a16="http://schemas.microsoft.com/office/drawing/2014/main" id="{BE1B60C6-D85D-285E-1202-E4A54947022A}"/>
              </a:ext>
            </a:extLst>
          </p:cNvPr>
          <p:cNvGrpSpPr>
            <a:grpSpLocks/>
          </p:cNvGrpSpPr>
          <p:nvPr/>
        </p:nvGrpSpPr>
        <p:grpSpPr bwMode="auto">
          <a:xfrm>
            <a:off x="2971800" y="4572000"/>
            <a:ext cx="7010400" cy="762000"/>
            <a:chOff x="912" y="2880"/>
            <a:chExt cx="4416" cy="480"/>
          </a:xfrm>
        </p:grpSpPr>
        <p:sp>
          <p:nvSpPr>
            <p:cNvPr id="48156" name="Rectangle 17">
              <a:extLst>
                <a:ext uri="{FF2B5EF4-FFF2-40B4-BE49-F238E27FC236}">
                  <a16:creationId xmlns:a16="http://schemas.microsoft.com/office/drawing/2014/main" id="{4F4F5A1A-611C-41E7-BCAC-E522FD86B42E}"/>
                </a:ext>
              </a:extLst>
            </p:cNvPr>
            <p:cNvSpPr>
              <a:spLocks noChangeArrowheads="1"/>
            </p:cNvSpPr>
            <p:nvPr/>
          </p:nvSpPr>
          <p:spPr bwMode="auto">
            <a:xfrm>
              <a:off x="4800" y="2880"/>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48157" name="Line 18">
              <a:extLst>
                <a:ext uri="{FF2B5EF4-FFF2-40B4-BE49-F238E27FC236}">
                  <a16:creationId xmlns:a16="http://schemas.microsoft.com/office/drawing/2014/main" id="{6748196E-F05C-17DF-AB00-90694D2E7F75}"/>
                </a:ext>
              </a:extLst>
            </p:cNvPr>
            <p:cNvSpPr>
              <a:spLocks noChangeShapeType="1"/>
            </p:cNvSpPr>
            <p:nvPr/>
          </p:nvSpPr>
          <p:spPr bwMode="auto">
            <a:xfrm flipV="1">
              <a:off x="912" y="3024"/>
              <a:ext cx="3888" cy="336"/>
            </a:xfrm>
            <a:prstGeom prst="line">
              <a:avLst/>
            </a:prstGeom>
            <a:noFill/>
            <a:ln w="9525">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Group 19">
            <a:extLst>
              <a:ext uri="{FF2B5EF4-FFF2-40B4-BE49-F238E27FC236}">
                <a16:creationId xmlns:a16="http://schemas.microsoft.com/office/drawing/2014/main" id="{9159FE1B-71BF-07E5-8DB4-BA2F70860F5B}"/>
              </a:ext>
            </a:extLst>
          </p:cNvPr>
          <p:cNvGrpSpPr>
            <a:grpSpLocks/>
          </p:cNvGrpSpPr>
          <p:nvPr/>
        </p:nvGrpSpPr>
        <p:grpSpPr bwMode="auto">
          <a:xfrm>
            <a:off x="3276600" y="2362200"/>
            <a:ext cx="5029200" cy="533400"/>
            <a:chOff x="1056" y="2112"/>
            <a:chExt cx="3168" cy="336"/>
          </a:xfrm>
        </p:grpSpPr>
        <p:grpSp>
          <p:nvGrpSpPr>
            <p:cNvPr id="48149" name="Group 20">
              <a:extLst>
                <a:ext uri="{FF2B5EF4-FFF2-40B4-BE49-F238E27FC236}">
                  <a16:creationId xmlns:a16="http://schemas.microsoft.com/office/drawing/2014/main" id="{56D96EB3-614C-6A19-CD27-09681F702CB0}"/>
                </a:ext>
              </a:extLst>
            </p:cNvPr>
            <p:cNvGrpSpPr>
              <a:grpSpLocks/>
            </p:cNvGrpSpPr>
            <p:nvPr/>
          </p:nvGrpSpPr>
          <p:grpSpPr bwMode="auto">
            <a:xfrm>
              <a:off x="1584" y="2112"/>
              <a:ext cx="2640" cy="336"/>
              <a:chOff x="1632" y="1488"/>
              <a:chExt cx="2640" cy="336"/>
            </a:xfrm>
          </p:grpSpPr>
          <p:sp>
            <p:nvSpPr>
              <p:cNvPr id="48151" name="Rectangle 21">
                <a:extLst>
                  <a:ext uri="{FF2B5EF4-FFF2-40B4-BE49-F238E27FC236}">
                    <a16:creationId xmlns:a16="http://schemas.microsoft.com/office/drawing/2014/main" id="{2B5D066F-F448-F7CF-C6C1-06DDA6957B33}"/>
                  </a:ext>
                </a:extLst>
              </p:cNvPr>
              <p:cNvSpPr>
                <a:spLocks noChangeArrowheads="1"/>
              </p:cNvSpPr>
              <p:nvPr/>
            </p:nvSpPr>
            <p:spPr bwMode="auto">
              <a:xfrm>
                <a:off x="1632" y="1488"/>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dirty="0"/>
              </a:p>
            </p:txBody>
          </p:sp>
          <p:sp>
            <p:nvSpPr>
              <p:cNvPr id="48152" name="Rectangle 22">
                <a:extLst>
                  <a:ext uri="{FF2B5EF4-FFF2-40B4-BE49-F238E27FC236}">
                    <a16:creationId xmlns:a16="http://schemas.microsoft.com/office/drawing/2014/main" id="{715C65F7-0756-5B13-0FFC-3C28DA35E736}"/>
                  </a:ext>
                </a:extLst>
              </p:cNvPr>
              <p:cNvSpPr>
                <a:spLocks noChangeArrowheads="1"/>
              </p:cNvSpPr>
              <p:nvPr/>
            </p:nvSpPr>
            <p:spPr bwMode="auto">
              <a:xfrm>
                <a:off x="2160" y="1488"/>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8153" name="Rectangle 23">
                <a:extLst>
                  <a:ext uri="{FF2B5EF4-FFF2-40B4-BE49-F238E27FC236}">
                    <a16:creationId xmlns:a16="http://schemas.microsoft.com/office/drawing/2014/main" id="{36B2709B-0483-F644-21C7-CB55D41CAD93}"/>
                  </a:ext>
                </a:extLst>
              </p:cNvPr>
              <p:cNvSpPr>
                <a:spLocks noChangeArrowheads="1"/>
              </p:cNvSpPr>
              <p:nvPr/>
            </p:nvSpPr>
            <p:spPr bwMode="auto">
              <a:xfrm>
                <a:off x="2688" y="1488"/>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8154" name="Rectangle 24">
                <a:extLst>
                  <a:ext uri="{FF2B5EF4-FFF2-40B4-BE49-F238E27FC236}">
                    <a16:creationId xmlns:a16="http://schemas.microsoft.com/office/drawing/2014/main" id="{7E78A0D0-AFAA-A6A8-82B2-6681557C18A4}"/>
                  </a:ext>
                </a:extLst>
              </p:cNvPr>
              <p:cNvSpPr>
                <a:spLocks noChangeArrowheads="1"/>
              </p:cNvSpPr>
              <p:nvPr/>
            </p:nvSpPr>
            <p:spPr bwMode="auto">
              <a:xfrm>
                <a:off x="3216" y="1488"/>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8155" name="Rectangle 25">
                <a:extLst>
                  <a:ext uri="{FF2B5EF4-FFF2-40B4-BE49-F238E27FC236}">
                    <a16:creationId xmlns:a16="http://schemas.microsoft.com/office/drawing/2014/main" id="{852D10A3-E000-5A87-AF2D-D9850518AF23}"/>
                  </a:ext>
                </a:extLst>
              </p:cNvPr>
              <p:cNvSpPr>
                <a:spLocks noChangeArrowheads="1"/>
              </p:cNvSpPr>
              <p:nvPr/>
            </p:nvSpPr>
            <p:spPr bwMode="auto">
              <a:xfrm>
                <a:off x="3744" y="1488"/>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48150" name="Rectangle 26">
              <a:extLst>
                <a:ext uri="{FF2B5EF4-FFF2-40B4-BE49-F238E27FC236}">
                  <a16:creationId xmlns:a16="http://schemas.microsoft.com/office/drawing/2014/main" id="{30D154A1-B2BB-ED9B-1E9B-6E8B7155C1A9}"/>
                </a:ext>
              </a:extLst>
            </p:cNvPr>
            <p:cNvSpPr>
              <a:spLocks noChangeArrowheads="1"/>
            </p:cNvSpPr>
            <p:nvPr/>
          </p:nvSpPr>
          <p:spPr bwMode="auto">
            <a:xfrm>
              <a:off x="1056" y="2112"/>
              <a:ext cx="528" cy="336"/>
            </a:xfrm>
            <a:prstGeom prst="rect">
              <a:avLst/>
            </a:prstGeom>
            <a:solidFill>
              <a:schemeClr val="bg1"/>
            </a:solidFill>
            <a:ln w="9525">
              <a:solidFill>
                <a:schemeClr val="bg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7" name="Group 27">
            <a:extLst>
              <a:ext uri="{FF2B5EF4-FFF2-40B4-BE49-F238E27FC236}">
                <a16:creationId xmlns:a16="http://schemas.microsoft.com/office/drawing/2014/main" id="{84713062-DC47-752C-8B97-72708A940063}"/>
              </a:ext>
            </a:extLst>
          </p:cNvPr>
          <p:cNvGrpSpPr>
            <a:grpSpLocks/>
          </p:cNvGrpSpPr>
          <p:nvPr/>
        </p:nvGrpSpPr>
        <p:grpSpPr bwMode="auto">
          <a:xfrm>
            <a:off x="8305800" y="2362200"/>
            <a:ext cx="1676400" cy="2209800"/>
            <a:chOff x="4272" y="1488"/>
            <a:chExt cx="1056" cy="1392"/>
          </a:xfrm>
        </p:grpSpPr>
        <p:sp>
          <p:nvSpPr>
            <p:cNvPr id="48146" name="Rectangle 28">
              <a:extLst>
                <a:ext uri="{FF2B5EF4-FFF2-40B4-BE49-F238E27FC236}">
                  <a16:creationId xmlns:a16="http://schemas.microsoft.com/office/drawing/2014/main" id="{C7FF2F50-459D-F289-63CD-B1411CC0A5DF}"/>
                </a:ext>
              </a:extLst>
            </p:cNvPr>
            <p:cNvSpPr>
              <a:spLocks noChangeArrowheads="1"/>
            </p:cNvSpPr>
            <p:nvPr/>
          </p:nvSpPr>
          <p:spPr bwMode="auto">
            <a:xfrm>
              <a:off x="4800" y="2544"/>
              <a:ext cx="528" cy="336"/>
            </a:xfrm>
            <a:prstGeom prst="rect">
              <a:avLst/>
            </a:prstGeom>
            <a:solidFill>
              <a:schemeClr val="bg1"/>
            </a:solidFill>
            <a:ln w="9525">
              <a:solidFill>
                <a:schemeClr val="bg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8147" name="Line 29">
              <a:extLst>
                <a:ext uri="{FF2B5EF4-FFF2-40B4-BE49-F238E27FC236}">
                  <a16:creationId xmlns:a16="http://schemas.microsoft.com/office/drawing/2014/main" id="{EBB2D4DD-9C40-BBEE-389B-861E0D25E123}"/>
                </a:ext>
              </a:extLst>
            </p:cNvPr>
            <p:cNvSpPr>
              <a:spLocks noChangeShapeType="1"/>
            </p:cNvSpPr>
            <p:nvPr/>
          </p:nvSpPr>
          <p:spPr bwMode="auto">
            <a:xfrm flipH="1" flipV="1">
              <a:off x="4560" y="1824"/>
              <a:ext cx="192" cy="816"/>
            </a:xfrm>
            <a:prstGeom prst="line">
              <a:avLst/>
            </a:prstGeom>
            <a:noFill/>
            <a:ln w="9525">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8148" name="Rectangle 30">
              <a:extLst>
                <a:ext uri="{FF2B5EF4-FFF2-40B4-BE49-F238E27FC236}">
                  <a16:creationId xmlns:a16="http://schemas.microsoft.com/office/drawing/2014/main" id="{0F67851A-BC15-B025-5605-7178781F543B}"/>
                </a:ext>
              </a:extLst>
            </p:cNvPr>
            <p:cNvSpPr>
              <a:spLocks noChangeArrowheads="1"/>
            </p:cNvSpPr>
            <p:nvPr/>
          </p:nvSpPr>
          <p:spPr bwMode="auto">
            <a:xfrm>
              <a:off x="4272" y="1488"/>
              <a:ext cx="528" cy="336"/>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48140" name="Rectangle 31">
            <a:extLst>
              <a:ext uri="{FF2B5EF4-FFF2-40B4-BE49-F238E27FC236}">
                <a16:creationId xmlns:a16="http://schemas.microsoft.com/office/drawing/2014/main" id="{673E9610-6BF8-EE90-4DD7-87A4F5EE1441}"/>
              </a:ext>
            </a:extLst>
          </p:cNvPr>
          <p:cNvSpPr>
            <a:spLocks noGrp="1" noChangeArrowheads="1"/>
          </p:cNvSpPr>
          <p:nvPr>
            <p:ph type="title" idx="4294967295"/>
          </p:nvPr>
        </p:nvSpPr>
        <p:spPr/>
        <p:txBody>
          <a:bodyPr/>
          <a:lstStyle/>
          <a:p>
            <a:pPr algn="ctr" eaLnBrk="1" hangingPunct="1"/>
            <a:r>
              <a:rPr lang="zh-CN" altLang="en-US" b="1" dirty="0"/>
              <a:t>消息缓冲通讯</a:t>
            </a:r>
          </a:p>
        </p:txBody>
      </p:sp>
      <p:sp>
        <p:nvSpPr>
          <p:cNvPr id="48141" name="Rectangle 32">
            <a:extLst>
              <a:ext uri="{FF2B5EF4-FFF2-40B4-BE49-F238E27FC236}">
                <a16:creationId xmlns:a16="http://schemas.microsoft.com/office/drawing/2014/main" id="{D655D4E4-952A-C5C1-A296-9FEDC5A663C0}"/>
              </a:ext>
            </a:extLst>
          </p:cNvPr>
          <p:cNvSpPr>
            <a:spLocks noChangeArrowheads="1"/>
          </p:cNvSpPr>
          <p:nvPr/>
        </p:nvSpPr>
        <p:spPr bwMode="auto">
          <a:xfrm>
            <a:off x="2782889" y="4652964"/>
            <a:ext cx="288925" cy="288925"/>
          </a:xfrm>
          <a:prstGeom prst="rect">
            <a:avLst/>
          </a:prstGeom>
          <a:solidFill>
            <a:srgbClr val="3366FF">
              <a:alpha val="18823"/>
            </a:srgbClr>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3366FF"/>
            </a:extrusionClr>
            <a:contourClr>
              <a:srgbClr val="3366FF"/>
            </a:contourClr>
          </a:sp3d>
        </p:spPr>
        <p:txBody>
          <a:bodyPr wrap="none" anchor="ctr">
            <a:flatTx/>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8142" name="Line 33">
            <a:extLst>
              <a:ext uri="{FF2B5EF4-FFF2-40B4-BE49-F238E27FC236}">
                <a16:creationId xmlns:a16="http://schemas.microsoft.com/office/drawing/2014/main" id="{93E14C65-A7EA-6DCD-CAC3-AF002E69284C}"/>
              </a:ext>
            </a:extLst>
          </p:cNvPr>
          <p:cNvSpPr>
            <a:spLocks noChangeShapeType="1"/>
          </p:cNvSpPr>
          <p:nvPr/>
        </p:nvSpPr>
        <p:spPr bwMode="auto">
          <a:xfrm>
            <a:off x="2927350" y="4868863"/>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3" name="Rectangle 34">
            <a:extLst>
              <a:ext uri="{FF2B5EF4-FFF2-40B4-BE49-F238E27FC236}">
                <a16:creationId xmlns:a16="http://schemas.microsoft.com/office/drawing/2014/main" id="{0F0C7988-9A1E-FE56-63C8-F711EFFA230B}"/>
              </a:ext>
            </a:extLst>
          </p:cNvPr>
          <p:cNvSpPr>
            <a:spLocks noChangeArrowheads="1"/>
          </p:cNvSpPr>
          <p:nvPr/>
        </p:nvSpPr>
        <p:spPr bwMode="auto">
          <a:xfrm>
            <a:off x="9983789" y="3573464"/>
            <a:ext cx="288925" cy="288925"/>
          </a:xfrm>
          <a:prstGeom prst="rect">
            <a:avLst/>
          </a:prstGeom>
          <a:solidFill>
            <a:srgbClr val="FF9900">
              <a:alpha val="18823"/>
            </a:srgbClr>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9900"/>
            </a:extrusionClr>
            <a:contourClr>
              <a:srgbClr val="FF9900"/>
            </a:contourClr>
          </a:sp3d>
        </p:spPr>
        <p:txBody>
          <a:bodyPr wrap="none" anchor="ctr">
            <a:flatTx/>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8144" name="Line 35">
            <a:extLst>
              <a:ext uri="{FF2B5EF4-FFF2-40B4-BE49-F238E27FC236}">
                <a16:creationId xmlns:a16="http://schemas.microsoft.com/office/drawing/2014/main" id="{87C7BCFE-1865-A2A8-29AB-81B3AA714D58}"/>
              </a:ext>
            </a:extLst>
          </p:cNvPr>
          <p:cNvSpPr>
            <a:spLocks noChangeShapeType="1"/>
          </p:cNvSpPr>
          <p:nvPr/>
        </p:nvSpPr>
        <p:spPr bwMode="auto">
          <a:xfrm>
            <a:off x="10272713" y="3860800"/>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5" name="Line 36">
            <a:extLst>
              <a:ext uri="{FF2B5EF4-FFF2-40B4-BE49-F238E27FC236}">
                <a16:creationId xmlns:a16="http://schemas.microsoft.com/office/drawing/2014/main" id="{22EF37EB-41D9-F411-7823-E636621CC52C}"/>
              </a:ext>
            </a:extLst>
          </p:cNvPr>
          <p:cNvSpPr>
            <a:spLocks noChangeShapeType="1"/>
          </p:cNvSpPr>
          <p:nvPr/>
        </p:nvSpPr>
        <p:spPr bwMode="auto">
          <a:xfrm flipH="1">
            <a:off x="9983789" y="4292600"/>
            <a:ext cx="2889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4">
            <a:extLst>
              <a:ext uri="{FF2B5EF4-FFF2-40B4-BE49-F238E27FC236}">
                <a16:creationId xmlns:a16="http://schemas.microsoft.com/office/drawing/2014/main" id="{95FCD182-CD73-12D6-2A3F-8238A919470A}"/>
              </a:ext>
            </a:extLst>
          </p:cNvPr>
          <p:cNvSpPr>
            <a:spLocks noGrp="1"/>
          </p:cNvSpPr>
          <p:nvPr>
            <p:ph type="sldNum" sz="quarter" idx="11"/>
          </p:nvPr>
        </p:nvSpPr>
        <p:spPr>
          <a:xfrm>
            <a:off x="5143500" y="5943600"/>
            <a:ext cx="2133600" cy="457200"/>
          </a:xfrm>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256824-674A-4ED4-B487-021FC019A8CA}" type="slidenum">
              <a:rPr lang="en-US" altLang="zh-CN">
                <a:latin typeface="Arial Black" pitchFamily="34" charset="0"/>
              </a:rPr>
              <a:pPr eaLnBrk="1" hangingPunct="1"/>
              <a:t>93</a:t>
            </a:fld>
            <a:endParaRPr lang="en-US" altLang="zh-CN" dirty="0">
              <a:latin typeface="Arial Blac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Horizontal)">
                                      <p:cBhvr>
                                        <p:cTn id="7" dur="500"/>
                                        <p:tgtEl>
                                          <p:spTgt spid="5"/>
                                        </p:tgtEl>
                                      </p:cBhvr>
                                    </p:animEffect>
                                  </p:childTnLst>
                                </p:cTn>
                              </p:par>
                            </p:childTnLst>
                          </p:cTn>
                        </p:par>
                        <p:par>
                          <p:cTn id="8" fill="hold" nodeType="afterGroup">
                            <p:stCondLst>
                              <p:cond delay="500"/>
                            </p:stCondLst>
                            <p:childTnLst>
                              <p:par>
                                <p:cTn id="9" presetID="12" presetClass="entr" presetSubtype="1" fill="hold" nodeType="afterEffect">
                                  <p:stCondLst>
                                    <p:cond delay="1000"/>
                                  </p:stCondLst>
                                  <p:childTnLst>
                                    <p:set>
                                      <p:cBhvr>
                                        <p:cTn id="10" dur="1" fill="hold">
                                          <p:stCondLst>
                                            <p:cond delay="0"/>
                                          </p:stCondLst>
                                        </p:cTn>
                                        <p:tgtEl>
                                          <p:spTgt spid="3"/>
                                        </p:tgtEl>
                                        <p:attrNameLst>
                                          <p:attrName>style.visibility</p:attrName>
                                        </p:attrNameLst>
                                      </p:cBhvr>
                                      <p:to>
                                        <p:strVal val="visible"/>
                                      </p:to>
                                    </p:set>
                                    <p:animEffect transition="in" filter="slide(fromTop)">
                                      <p:cBhvr>
                                        <p:cTn id="11"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slide(fromLeft)">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slide(fromBottom)">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p:cNvSpPr>
            <a:spLocks noGrp="1"/>
          </p:cNvSpPr>
          <p:nvPr>
            <p:ph idx="1"/>
          </p:nvPr>
        </p:nvSpPr>
        <p:spPr>
          <a:xfrm>
            <a:off x="1199456" y="1556792"/>
            <a:ext cx="9865096" cy="4411662"/>
          </a:xfrm>
        </p:spPr>
        <p:txBody>
          <a:bodyPr/>
          <a:lstStyle/>
          <a:p>
            <a:pPr marL="0" indent="0">
              <a:buNone/>
            </a:pPr>
            <a:r>
              <a:rPr lang="zh-CN" altLang="en-US" sz="2600" dirty="0">
                <a:solidFill>
                  <a:srgbClr val="0000CC"/>
                </a:solidFill>
              </a:rPr>
              <a:t>练习</a:t>
            </a:r>
            <a:r>
              <a:rPr lang="zh-CN" altLang="en-US" sz="2600" dirty="0"/>
              <a:t>：某系统管理员需每天需要重复下列工作，请按要求编制一个解决方案：</a:t>
            </a:r>
          </a:p>
          <a:p>
            <a:pPr marL="0" indent="0">
              <a:buNone/>
            </a:pPr>
            <a:r>
              <a:rPr lang="en-US" altLang="zh-CN" sz="2600" dirty="0"/>
              <a:t>1. </a:t>
            </a:r>
            <a:r>
              <a:rPr lang="zh-CN" altLang="en-US" sz="2600" dirty="0"/>
              <a:t>在下午</a:t>
            </a:r>
            <a:r>
              <a:rPr lang="en-US" altLang="zh-CN" sz="2600" dirty="0"/>
              <a:t>5:30</a:t>
            </a:r>
            <a:r>
              <a:rPr lang="zh-CN" altLang="en-US" sz="2600" dirty="0"/>
              <a:t>删除</a:t>
            </a:r>
            <a:r>
              <a:rPr lang="en-US" altLang="zh-CN" sz="2600" dirty="0"/>
              <a:t>/</a:t>
            </a:r>
            <a:r>
              <a:rPr lang="en-US" altLang="zh-CN" sz="2600" dirty="0" err="1"/>
              <a:t>abc</a:t>
            </a:r>
            <a:r>
              <a:rPr lang="zh-CN" altLang="en-US" sz="2600" dirty="0"/>
              <a:t>目录下的全部子目录和全部文件；</a:t>
            </a:r>
          </a:p>
          <a:p>
            <a:pPr marL="0" indent="0">
              <a:buNone/>
            </a:pPr>
            <a:r>
              <a:rPr lang="en-US" altLang="zh-CN" sz="2600" dirty="0"/>
              <a:t>2. </a:t>
            </a:r>
            <a:r>
              <a:rPr lang="zh-CN" altLang="en-US" sz="2600" dirty="0"/>
              <a:t>从上午</a:t>
            </a:r>
            <a:r>
              <a:rPr lang="en-US" altLang="zh-CN" sz="2600" dirty="0"/>
              <a:t>9:00</a:t>
            </a:r>
            <a:r>
              <a:rPr lang="zh-CN" altLang="en-US" sz="2600" dirty="0"/>
              <a:t>～下午</a:t>
            </a:r>
            <a:r>
              <a:rPr lang="en-US" altLang="zh-CN" sz="2600" dirty="0"/>
              <a:t>6:00</a:t>
            </a:r>
            <a:r>
              <a:rPr lang="zh-CN" altLang="en-US" sz="2600" dirty="0"/>
              <a:t>每小时读取</a:t>
            </a:r>
            <a:r>
              <a:rPr lang="en-US" altLang="zh-CN" sz="2600" dirty="0"/>
              <a:t>/xyz</a:t>
            </a:r>
            <a:r>
              <a:rPr lang="zh-CN" altLang="en-US" sz="2600" dirty="0"/>
              <a:t>目录下</a:t>
            </a:r>
            <a:r>
              <a:rPr lang="en-US" altLang="zh-CN" sz="2600" dirty="0"/>
              <a:t>test</a:t>
            </a:r>
            <a:r>
              <a:rPr lang="zh-CN" altLang="en-US" sz="2600" dirty="0"/>
              <a:t>文件中后</a:t>
            </a:r>
            <a:r>
              <a:rPr lang="en-US" altLang="zh-CN" sz="2600" dirty="0"/>
              <a:t>5</a:t>
            </a:r>
            <a:r>
              <a:rPr lang="zh-CN" altLang="en-US" sz="2600" dirty="0"/>
              <a:t>行全部数据追加到</a:t>
            </a:r>
            <a:r>
              <a:rPr lang="en-US" altLang="zh-CN" sz="2600" dirty="0"/>
              <a:t>/backup</a:t>
            </a:r>
            <a:r>
              <a:rPr lang="zh-CN" altLang="en-US" sz="2600" dirty="0"/>
              <a:t>目录下的</a:t>
            </a:r>
            <a:r>
              <a:rPr lang="en-US" altLang="zh-CN" sz="2600" dirty="0" err="1"/>
              <a:t>bake1.txt</a:t>
            </a:r>
            <a:r>
              <a:rPr lang="zh-CN" altLang="en-US" sz="2600" dirty="0"/>
              <a:t>文件内；</a:t>
            </a:r>
            <a:endParaRPr lang="en-US" altLang="zh-CN" sz="2600" dirty="0"/>
          </a:p>
          <a:p>
            <a:pPr marL="0" indent="0">
              <a:buNone/>
            </a:pPr>
            <a:r>
              <a:rPr lang="en-US" altLang="zh-CN" sz="2600" dirty="0"/>
              <a:t>3.  </a:t>
            </a:r>
            <a:r>
              <a:rPr lang="zh-CN" altLang="en-US" sz="2600" dirty="0"/>
              <a:t>每周一下午</a:t>
            </a:r>
            <a:r>
              <a:rPr lang="en-US" altLang="zh-CN" sz="2600" dirty="0"/>
              <a:t>5</a:t>
            </a:r>
            <a:r>
              <a:rPr lang="zh-CN" altLang="en-US" sz="2600" dirty="0"/>
              <a:t>：</a:t>
            </a:r>
            <a:r>
              <a:rPr lang="en-US" altLang="zh-CN" sz="2600" dirty="0"/>
              <a:t>50</a:t>
            </a:r>
            <a:r>
              <a:rPr lang="zh-CN" altLang="en-US" sz="2600" dirty="0"/>
              <a:t>分将</a:t>
            </a:r>
            <a:r>
              <a:rPr lang="en-US" altLang="zh-CN" sz="2600" dirty="0"/>
              <a:t>/data</a:t>
            </a:r>
            <a:r>
              <a:rPr lang="zh-CN" altLang="en-US" sz="2600" dirty="0"/>
              <a:t>目录下的所有目录和文件归档并压缩为文件</a:t>
            </a:r>
            <a:r>
              <a:rPr lang="en-US" altLang="zh-CN" sz="2600" dirty="0" err="1"/>
              <a:t>backup.tar.gz</a:t>
            </a:r>
            <a:r>
              <a:rPr lang="zh-CN" altLang="en-US" sz="2600" dirty="0"/>
              <a:t>。</a:t>
            </a:r>
            <a:endParaRPr lang="en-US" altLang="zh-CN" sz="2600" dirty="0"/>
          </a:p>
          <a:p>
            <a:pPr marL="0" indent="0">
              <a:buNone/>
            </a:pPr>
            <a:endParaRPr lang="zh-CN" altLang="en-US" sz="2800"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94</a:t>
            </a:fld>
            <a:endParaRPr lang="en-US" altLang="zh-CN"/>
          </a:p>
        </p:txBody>
      </p:sp>
    </p:spTree>
    <p:extLst>
      <p:ext uri="{BB962C8B-B14F-4D97-AF65-F5344CB8AC3E}">
        <p14:creationId xmlns:p14="http://schemas.microsoft.com/office/powerpoint/2010/main" val="593637209"/>
      </p:ext>
    </p:extLst>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2" name="Rectangle 2"/>
          <p:cNvSpPr>
            <a:spLocks noChangeArrowheads="1"/>
          </p:cNvSpPr>
          <p:nvPr/>
        </p:nvSpPr>
        <p:spPr bwMode="auto">
          <a:xfrm>
            <a:off x="2208213" y="836613"/>
            <a:ext cx="75438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en-US" altLang="zh-CN" sz="4200">
                <a:solidFill>
                  <a:srgbClr val="CC00CC"/>
                </a:solidFill>
                <a:ea typeface="黑体" pitchFamily="49" charset="-122"/>
              </a:rPr>
              <a:t>Thanks!</a:t>
            </a:r>
          </a:p>
        </p:txBody>
      </p:sp>
      <p:pic>
        <p:nvPicPr>
          <p:cNvPr id="74445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50" y="2308225"/>
            <a:ext cx="159385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1"/>
          <p:cNvSpPr>
            <a:spLocks noGrp="1"/>
          </p:cNvSpPr>
          <p:nvPr>
            <p:ph type="sldNum" sz="quarter" idx="11"/>
          </p:nvPr>
        </p:nvSpPr>
        <p:spPr>
          <a:xfrm>
            <a:off x="5159896" y="5990428"/>
            <a:ext cx="2133600" cy="457200"/>
          </a:xfrm>
        </p:spPr>
        <p:txBody>
          <a:bodyPr/>
          <a:lstStyle/>
          <a:p>
            <a:pPr>
              <a:defRPr/>
            </a:pPr>
            <a:fld id="{110871B5-850E-4E14-A636-3EC679EBF038}" type="slidenum">
              <a:rPr lang="en-US" altLang="zh-CN" smtClean="0"/>
              <a:pPr>
                <a:defRPr/>
              </a:pPr>
              <a:t>95</a:t>
            </a:fld>
            <a:endParaRPr lang="en-US" altLang="zh-CN"/>
          </a:p>
        </p:txBody>
      </p:sp>
    </p:spTree>
    <p:extLst>
      <p:ext uri="{BB962C8B-B14F-4D97-AF65-F5344CB8AC3E}">
        <p14:creationId xmlns:p14="http://schemas.microsoft.com/office/powerpoint/2010/main" val="4011669374"/>
      </p:ext>
    </p:extLst>
  </p:cSld>
  <p:clrMapOvr>
    <a:masterClrMapping/>
  </p:clrMapOvr>
  <p:transition/>
</p:sld>
</file>

<file path=ppt/theme/theme1.xml><?xml version="1.0" encoding="utf-8"?>
<a:theme xmlns:a="http://schemas.openxmlformats.org/drawingml/2006/main" name="Network">
  <a:themeElements>
    <a:clrScheme name="Network 13">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0000FF"/>
      </a:hlink>
      <a:folHlink>
        <a:srgbClr val="0000FF"/>
      </a:folHlink>
    </a:clrScheme>
    <a:fontScheme name="Network">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rgbClr val="FF00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rgbClr val="FF00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
      <a:clrScheme name="Network 11">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66CCFF"/>
        </a:folHlink>
      </a:clrScheme>
      <a:clrMap bg1="lt1" tx1="dk1" bg2="lt2" tx2="dk2" accent1="accent1" accent2="accent2" accent3="accent3" accent4="accent4" accent5="accent5" accent6="accent6" hlink="hlink" folHlink="folHlink"/>
    </a:extraClrScheme>
    <a:extraClrScheme>
      <a:clrScheme name="Network 12">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0000FF"/>
        </a:folHlink>
      </a:clrScheme>
      <a:clrMap bg1="lt1" tx1="dk1" bg2="lt2" tx2="dk2" accent1="accent1" accent2="accent2" accent3="accent3" accent4="accent4" accent5="accent5" accent6="accent6" hlink="hlink" folHlink="folHlink"/>
    </a:extraClrScheme>
    <a:extraClrScheme>
      <a:clrScheme name="Network 13">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0000FF"/>
        </a:hlink>
        <a:folHlink>
          <a:srgbClr val="0000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Network">
  <a:themeElements>
    <a:clrScheme name="2_Network 13">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0000FF"/>
      </a:hlink>
      <a:folHlink>
        <a:srgbClr val="0000FF"/>
      </a:folHlink>
    </a:clrScheme>
    <a:fontScheme name="2_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2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2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2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2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2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2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2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2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2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
      <a:clrScheme name="2_Network 11">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66CCFF"/>
        </a:folHlink>
      </a:clrScheme>
      <a:clrMap bg1="lt1" tx1="dk1" bg2="lt2" tx2="dk2" accent1="accent1" accent2="accent2" accent3="accent3" accent4="accent4" accent5="accent5" accent6="accent6" hlink="hlink" folHlink="folHlink"/>
    </a:extraClrScheme>
    <a:extraClrScheme>
      <a:clrScheme name="2_Network 12">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0000FF"/>
        </a:folHlink>
      </a:clrScheme>
      <a:clrMap bg1="lt1" tx1="dk1" bg2="lt2" tx2="dk2" accent1="accent1" accent2="accent2" accent3="accent3" accent4="accent4" accent5="accent5" accent6="accent6" hlink="hlink" folHlink="folHlink"/>
    </a:extraClrScheme>
    <a:extraClrScheme>
      <a:clrScheme name="2_Network 13">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0000FF"/>
        </a:hlink>
        <a:folHlink>
          <a:srgbClr val="0000F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30793</TotalTime>
  <Words>11088</Words>
  <Application>Microsoft Office PowerPoint</Application>
  <PresentationFormat>宽屏</PresentationFormat>
  <Paragraphs>1088</Paragraphs>
  <Slides>95</Slides>
  <Notes>56</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95</vt:i4>
      </vt:variant>
    </vt:vector>
  </HeadingPairs>
  <TitlesOfParts>
    <vt:vector size="107" baseType="lpstr">
      <vt:lpstr>Arial Unicode MS</vt:lpstr>
      <vt:lpstr>黑体</vt:lpstr>
      <vt:lpstr>华文新魏</vt:lpstr>
      <vt:lpstr>楷体_GB2312</vt:lpstr>
      <vt:lpstr>隶书</vt:lpstr>
      <vt:lpstr>宋体</vt:lpstr>
      <vt:lpstr>Arial</vt:lpstr>
      <vt:lpstr>Arial Black</vt:lpstr>
      <vt:lpstr>Times New Roman</vt:lpstr>
      <vt:lpstr>Wingdings</vt:lpstr>
      <vt:lpstr>Network</vt:lpstr>
      <vt:lpstr>2_Network</vt:lpstr>
      <vt:lpstr>       第7章       </vt:lpstr>
      <vt:lpstr>本章内容</vt:lpstr>
      <vt:lpstr>7.1 Linux进程概述</vt:lpstr>
      <vt:lpstr>linux进程状态 </vt:lpstr>
      <vt:lpstr>进程状态细化 </vt:lpstr>
      <vt:lpstr>进程的分类 </vt:lpstr>
      <vt:lpstr>进程的属性 </vt:lpstr>
      <vt:lpstr>7.2  管理进程的Shell命令</vt:lpstr>
      <vt:lpstr>前后台切换 </vt:lpstr>
      <vt:lpstr>显示作业号</vt:lpstr>
      <vt:lpstr>PowerPoint 演示文稿</vt:lpstr>
      <vt:lpstr>PowerPoint 演示文稿</vt:lpstr>
      <vt:lpstr>PowerPoint 演示文稿</vt:lpstr>
      <vt:lpstr>查看进程状态 </vt:lpstr>
      <vt:lpstr>查看进程状态 </vt:lpstr>
      <vt:lpstr>系统监视</vt:lpstr>
      <vt:lpstr>系统监视</vt:lpstr>
      <vt:lpstr>系统监视</vt:lpstr>
      <vt:lpstr>系统监视</vt:lpstr>
      <vt:lpstr>指定进程优先级 </vt:lpstr>
      <vt:lpstr>指定进程优先级 </vt:lpstr>
      <vt:lpstr>指定进程优先级 </vt:lpstr>
      <vt:lpstr>sleep命令</vt:lpstr>
      <vt:lpstr>wait命令</vt:lpstr>
      <vt:lpstr>wait命令</vt:lpstr>
      <vt:lpstr>终止进程 </vt:lpstr>
      <vt:lpstr>进程的挂起和恢复 </vt:lpstr>
      <vt:lpstr> 7.3  进程的调度启动</vt:lpstr>
      <vt:lpstr>at 调度</vt:lpstr>
      <vt:lpstr>PowerPoint 演示文稿</vt:lpstr>
      <vt:lpstr>PowerPoint 演示文稿</vt:lpstr>
      <vt:lpstr>at调度 </vt:lpstr>
      <vt:lpstr>at调度 </vt:lpstr>
      <vt:lpstr>PowerPoint 演示文稿</vt:lpstr>
      <vt:lpstr>batch调度 </vt:lpstr>
      <vt:lpstr>PowerPoint 演示文稿</vt:lpstr>
      <vt:lpstr>cron调度</vt:lpstr>
      <vt:lpstr>PowerPoint 演示文稿</vt:lpstr>
      <vt:lpstr>crontab配置文件</vt:lpstr>
      <vt:lpstr>crontab配置文件</vt:lpstr>
      <vt:lpstr>cron调度</vt:lpstr>
      <vt:lpstr>cron调度</vt:lpstr>
      <vt:lpstr>cron调度</vt:lpstr>
      <vt:lpstr>7.4  进程的创建</vt:lpstr>
      <vt:lpstr>进程层次</vt:lpstr>
      <vt:lpstr>进程的创建</vt:lpstr>
      <vt:lpstr>Linux进程的创建</vt:lpstr>
      <vt:lpstr>进程示例</vt:lpstr>
      <vt:lpstr>进程示例</vt:lpstr>
      <vt:lpstr>创建进程</vt:lpstr>
      <vt:lpstr>创建进程</vt:lpstr>
      <vt:lpstr>PowerPoint 演示文稿</vt:lpstr>
      <vt:lpstr>进程示例</vt:lpstr>
      <vt:lpstr>PowerPoint 演示文稿</vt:lpstr>
      <vt:lpstr>进程示例</vt:lpstr>
      <vt:lpstr>创建进程</vt:lpstr>
      <vt:lpstr>PowerPoint 演示文稿</vt:lpstr>
      <vt:lpstr>进程示例</vt:lpstr>
      <vt:lpstr>PowerPoint 演示文稿</vt:lpstr>
      <vt:lpstr>PowerPoint 演示文稿</vt:lpstr>
      <vt:lpstr>PowerPoint 演示文稿</vt:lpstr>
      <vt:lpstr>Linux 中的信号</vt:lpstr>
      <vt:lpstr>PowerPoint 演示文稿</vt:lpstr>
      <vt:lpstr>信号的产生与发送</vt:lpstr>
      <vt:lpstr>信号的检测与处理</vt:lpstr>
      <vt:lpstr>信号的检测与处理</vt:lpstr>
      <vt:lpstr>信号的应用</vt:lpstr>
      <vt:lpstr>PowerPoint 演示文稿</vt:lpstr>
      <vt:lpstr>PowerPoint 演示文稿</vt:lpstr>
      <vt:lpstr>管道通信</vt:lpstr>
      <vt:lpstr>管道通信</vt:lpstr>
      <vt:lpstr>PowerPoint 演示文稿</vt:lpstr>
      <vt:lpstr>PowerPoint 演示文稿</vt:lpstr>
      <vt:lpstr>示例程序</vt:lpstr>
      <vt:lpstr>程序文件 pipe_test2.c：父子进程间用管道方式通信 </vt:lpstr>
      <vt:lpstr>示例程序</vt:lpstr>
      <vt:lpstr>程序文件 pipe_test3.c：父进程生成P1,P2两子进程，这两个进程分别向管道写入各自的字符串，父进程读出它们。 </vt:lpstr>
      <vt:lpstr>示例程序</vt:lpstr>
      <vt:lpstr>管道通信</vt:lpstr>
      <vt:lpstr>PowerPoint 演示文稿</vt:lpstr>
      <vt:lpstr>例：命名管道实现将文件abc中内容拷贝至abc.bak中，读取“abc”中的内容写入管道tp中，程序fifo1.c如下：</vt:lpstr>
      <vt:lpstr>读取管道tp写入目标文件“abc.bak”中，程序fifo2.c如下：</vt:lpstr>
      <vt:lpstr>命名管道</vt:lpstr>
      <vt:lpstr>例：通过创建命名管道，由一个进程（写端）向管道中写内容，另一个进程（读端）从管道中读内容实现通信。读端程序fifoa.c如下： </vt:lpstr>
      <vt:lpstr>写端程序fifob.c如下：</vt:lpstr>
      <vt:lpstr>命名管道</vt:lpstr>
      <vt:lpstr>PowerPoint 演示文稿</vt:lpstr>
      <vt:lpstr>PowerPoint 演示文稿</vt:lpstr>
      <vt:lpstr>PowerPoint 演示文稿</vt:lpstr>
      <vt:lpstr>PowerPoint 演示文稿</vt:lpstr>
      <vt:lpstr>PowerPoint 演示文稿</vt:lpstr>
      <vt:lpstr>PowerPoint 演示文稿</vt:lpstr>
      <vt:lpstr>消息缓冲通讯</vt:lpstr>
      <vt:lpstr>练习</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计算机应用技术基础</dc:title>
  <dc:creator>李群</dc:creator>
  <cp:lastModifiedBy>liqun</cp:lastModifiedBy>
  <cp:revision>2889</cp:revision>
  <dcterms:created xsi:type="dcterms:W3CDTF">2007-09-10T04:44:13Z</dcterms:created>
  <dcterms:modified xsi:type="dcterms:W3CDTF">2024-10-21T14:47:53Z</dcterms:modified>
</cp:coreProperties>
</file>