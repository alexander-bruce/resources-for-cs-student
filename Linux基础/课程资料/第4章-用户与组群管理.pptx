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4" r:id="rId1"/>
  </p:sldMasterIdLst>
  <p:notesMasterIdLst>
    <p:notesMasterId r:id="rId62"/>
  </p:notesMasterIdLst>
  <p:handoutMasterIdLst>
    <p:handoutMasterId r:id="rId63"/>
  </p:handoutMasterIdLst>
  <p:sldIdLst>
    <p:sldId id="256" r:id="rId2"/>
    <p:sldId id="484" r:id="rId3"/>
    <p:sldId id="492" r:id="rId4"/>
    <p:sldId id="494" r:id="rId5"/>
    <p:sldId id="541" r:id="rId6"/>
    <p:sldId id="505" r:id="rId7"/>
    <p:sldId id="608" r:id="rId8"/>
    <p:sldId id="595" r:id="rId9"/>
    <p:sldId id="495" r:id="rId10"/>
    <p:sldId id="496" r:id="rId11"/>
    <p:sldId id="542" r:id="rId12"/>
    <p:sldId id="543" r:id="rId13"/>
    <p:sldId id="544" r:id="rId14"/>
    <p:sldId id="547" r:id="rId15"/>
    <p:sldId id="551" r:id="rId16"/>
    <p:sldId id="552" r:id="rId17"/>
    <p:sldId id="506" r:id="rId18"/>
    <p:sldId id="499" r:id="rId19"/>
    <p:sldId id="500" r:id="rId20"/>
    <p:sldId id="553" r:id="rId21"/>
    <p:sldId id="596" r:id="rId22"/>
    <p:sldId id="554" r:id="rId23"/>
    <p:sldId id="508" r:id="rId24"/>
    <p:sldId id="559" r:id="rId25"/>
    <p:sldId id="599" r:id="rId26"/>
    <p:sldId id="557" r:id="rId27"/>
    <p:sldId id="610" r:id="rId28"/>
    <p:sldId id="560" r:id="rId29"/>
    <p:sldId id="561" r:id="rId30"/>
    <p:sldId id="611" r:id="rId31"/>
    <p:sldId id="563" r:id="rId32"/>
    <p:sldId id="564" r:id="rId33"/>
    <p:sldId id="601" r:id="rId34"/>
    <p:sldId id="571" r:id="rId35"/>
    <p:sldId id="723" r:id="rId36"/>
    <p:sldId id="613" r:id="rId37"/>
    <p:sldId id="614" r:id="rId38"/>
    <p:sldId id="612" r:id="rId39"/>
    <p:sldId id="727" r:id="rId40"/>
    <p:sldId id="565" r:id="rId41"/>
    <p:sldId id="566" r:id="rId42"/>
    <p:sldId id="567" r:id="rId43"/>
    <p:sldId id="568" r:id="rId44"/>
    <p:sldId id="569" r:id="rId45"/>
    <p:sldId id="722" r:id="rId46"/>
    <p:sldId id="726" r:id="rId47"/>
    <p:sldId id="731" r:id="rId48"/>
    <p:sldId id="729" r:id="rId49"/>
    <p:sldId id="725" r:id="rId50"/>
    <p:sldId id="570" r:id="rId51"/>
    <p:sldId id="600" r:id="rId52"/>
    <p:sldId id="572" r:id="rId53"/>
    <p:sldId id="573" r:id="rId54"/>
    <p:sldId id="721" r:id="rId55"/>
    <p:sldId id="730" r:id="rId56"/>
    <p:sldId id="602" r:id="rId57"/>
    <p:sldId id="609" r:id="rId58"/>
    <p:sldId id="606" r:id="rId59"/>
    <p:sldId id="588" r:id="rId60"/>
    <p:sldId id="607" r:id="rId61"/>
  </p:sldIdLst>
  <p:sldSz cx="12192000" cy="6858000"/>
  <p:notesSz cx="6858000" cy="9144000"/>
  <p:defaultTextStyle>
    <a:defPPr>
      <a:defRPr lang="zh-CN"/>
    </a:defPPr>
    <a:lvl1pPr algn="ctr" rtl="0" fontAlgn="base">
      <a:spcBef>
        <a:spcPct val="0"/>
      </a:spcBef>
      <a:spcAft>
        <a:spcPct val="0"/>
      </a:spcAft>
      <a:defRPr b="1" kern="1200">
        <a:solidFill>
          <a:schemeClr val="tx1"/>
        </a:solidFill>
        <a:latin typeface="Arial" charset="0"/>
        <a:ea typeface="宋体" pitchFamily="2" charset="-122"/>
        <a:cs typeface="+mn-cs"/>
      </a:defRPr>
    </a:lvl1pPr>
    <a:lvl2pPr marL="457200" algn="ctr" rtl="0" fontAlgn="base">
      <a:spcBef>
        <a:spcPct val="0"/>
      </a:spcBef>
      <a:spcAft>
        <a:spcPct val="0"/>
      </a:spcAft>
      <a:defRPr b="1" kern="1200">
        <a:solidFill>
          <a:schemeClr val="tx1"/>
        </a:solidFill>
        <a:latin typeface="Arial" charset="0"/>
        <a:ea typeface="宋体" pitchFamily="2" charset="-122"/>
        <a:cs typeface="+mn-cs"/>
      </a:defRPr>
    </a:lvl2pPr>
    <a:lvl3pPr marL="914400" algn="ctr" rtl="0" fontAlgn="base">
      <a:spcBef>
        <a:spcPct val="0"/>
      </a:spcBef>
      <a:spcAft>
        <a:spcPct val="0"/>
      </a:spcAft>
      <a:defRPr b="1" kern="1200">
        <a:solidFill>
          <a:schemeClr val="tx1"/>
        </a:solidFill>
        <a:latin typeface="Arial" charset="0"/>
        <a:ea typeface="宋体" pitchFamily="2" charset="-122"/>
        <a:cs typeface="+mn-cs"/>
      </a:defRPr>
    </a:lvl3pPr>
    <a:lvl4pPr marL="1371600" algn="ctr" rtl="0" fontAlgn="base">
      <a:spcBef>
        <a:spcPct val="0"/>
      </a:spcBef>
      <a:spcAft>
        <a:spcPct val="0"/>
      </a:spcAft>
      <a:defRPr b="1" kern="1200">
        <a:solidFill>
          <a:schemeClr val="tx1"/>
        </a:solidFill>
        <a:latin typeface="Arial" charset="0"/>
        <a:ea typeface="宋体" pitchFamily="2" charset="-122"/>
        <a:cs typeface="+mn-cs"/>
      </a:defRPr>
    </a:lvl4pPr>
    <a:lvl5pPr marL="1828800" algn="ctr" rtl="0" fontAlgn="base">
      <a:spcBef>
        <a:spcPct val="0"/>
      </a:spcBef>
      <a:spcAft>
        <a:spcPct val="0"/>
      </a:spcAft>
      <a:defRPr b="1" kern="1200">
        <a:solidFill>
          <a:schemeClr val="tx1"/>
        </a:solidFill>
        <a:latin typeface="Arial" charset="0"/>
        <a:ea typeface="宋体" pitchFamily="2" charset="-122"/>
        <a:cs typeface="+mn-cs"/>
      </a:defRPr>
    </a:lvl5pPr>
    <a:lvl6pPr marL="2286000" algn="l" defTabSz="914400" rtl="0" eaLnBrk="1" latinLnBrk="0" hangingPunct="1">
      <a:defRPr b="1" kern="1200">
        <a:solidFill>
          <a:schemeClr val="tx1"/>
        </a:solidFill>
        <a:latin typeface="Arial" charset="0"/>
        <a:ea typeface="宋体" pitchFamily="2" charset="-122"/>
        <a:cs typeface="+mn-cs"/>
      </a:defRPr>
    </a:lvl6pPr>
    <a:lvl7pPr marL="2743200" algn="l" defTabSz="914400" rtl="0" eaLnBrk="1" latinLnBrk="0" hangingPunct="1">
      <a:defRPr b="1" kern="1200">
        <a:solidFill>
          <a:schemeClr val="tx1"/>
        </a:solidFill>
        <a:latin typeface="Arial" charset="0"/>
        <a:ea typeface="宋体" pitchFamily="2" charset="-122"/>
        <a:cs typeface="+mn-cs"/>
      </a:defRPr>
    </a:lvl7pPr>
    <a:lvl8pPr marL="3200400" algn="l" defTabSz="914400" rtl="0" eaLnBrk="1" latinLnBrk="0" hangingPunct="1">
      <a:defRPr b="1" kern="1200">
        <a:solidFill>
          <a:schemeClr val="tx1"/>
        </a:solidFill>
        <a:latin typeface="Arial" charset="0"/>
        <a:ea typeface="宋体" pitchFamily="2" charset="-122"/>
        <a:cs typeface="+mn-cs"/>
      </a:defRPr>
    </a:lvl8pPr>
    <a:lvl9pPr marL="3657600" algn="l" defTabSz="914400" rtl="0" eaLnBrk="1" latinLnBrk="0" hangingPunct="1">
      <a:defRPr b="1"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CC0099"/>
    <a:srgbClr val="0000CC"/>
    <a:srgbClr val="FF9900"/>
    <a:srgbClr val="CCECFF"/>
    <a:srgbClr val="FF3300"/>
    <a:srgbClr val="6699FF"/>
    <a:srgbClr val="00FFFF"/>
    <a:srgbClr val="33CC33"/>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360" autoAdjust="0"/>
    <p:restoredTop sz="81342" autoAdjust="0"/>
  </p:normalViewPr>
  <p:slideViewPr>
    <p:cSldViewPr>
      <p:cViewPr varScale="1">
        <p:scale>
          <a:sx n="54" d="100"/>
          <a:sy n="54" d="100"/>
        </p:scale>
        <p:origin x="1016" y="56"/>
      </p:cViewPr>
      <p:guideLst>
        <p:guide orient="horz" pos="2160"/>
        <p:guide pos="3840"/>
      </p:guideLst>
    </p:cSldViewPr>
  </p:slideViewPr>
  <p:outlineViewPr>
    <p:cViewPr>
      <p:scale>
        <a:sx n="33" d="100"/>
        <a:sy n="33" d="100"/>
      </p:scale>
      <p:origin x="0" y="39552"/>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4" d="100"/>
          <a:sy n="54" d="100"/>
        </p:scale>
        <p:origin x="-1902"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7B4B9BB-6DE8-4551-91B0-1D212BA0667C}" type="datetimeFigureOut">
              <a:rPr lang="zh-CN" altLang="en-US" smtClean="0"/>
              <a:pPr/>
              <a:t>2024/9/24</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7379E54-6977-419B-BC40-D913703F14B0}" type="slidenum">
              <a:rPr lang="zh-CN" altLang="en-US" smtClean="0"/>
              <a:pPr/>
              <a:t>‹#›</a:t>
            </a:fld>
            <a:endParaRPr lang="zh-CN" altLang="en-US"/>
          </a:p>
        </p:txBody>
      </p:sp>
    </p:spTree>
    <p:extLst>
      <p:ext uri="{BB962C8B-B14F-4D97-AF65-F5344CB8AC3E}">
        <p14:creationId xmlns:p14="http://schemas.microsoft.com/office/powerpoint/2010/main" val="2811045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957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b="0"/>
            </a:lvl1pPr>
          </a:lstStyle>
          <a:p>
            <a:pPr>
              <a:defRPr/>
            </a:pPr>
            <a:endParaRPr lang="en-US" altLang="zh-CN"/>
          </a:p>
        </p:txBody>
      </p:sp>
      <p:sp>
        <p:nvSpPr>
          <p:cNvPr id="10957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lvl1pPr>
          </a:lstStyle>
          <a:p>
            <a:pPr>
              <a:defRPr/>
            </a:pPr>
            <a:endParaRPr lang="en-US" altLang="zh-CN"/>
          </a:p>
        </p:txBody>
      </p:sp>
      <p:sp>
        <p:nvSpPr>
          <p:cNvPr id="97284"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p:spPr>
      </p:sp>
      <p:sp>
        <p:nvSpPr>
          <p:cNvPr id="10957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0957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b="0"/>
            </a:lvl1pPr>
          </a:lstStyle>
          <a:p>
            <a:pPr>
              <a:defRPr/>
            </a:pPr>
            <a:endParaRPr lang="en-US" altLang="zh-CN"/>
          </a:p>
        </p:txBody>
      </p:sp>
      <p:sp>
        <p:nvSpPr>
          <p:cNvPr id="10957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lvl1pPr>
          </a:lstStyle>
          <a:p>
            <a:pPr>
              <a:defRPr/>
            </a:pPr>
            <a:fld id="{7470E5E1-4843-4932-A191-9860DB39C7B3}" type="slidenum">
              <a:rPr lang="en-US" altLang="zh-CN"/>
              <a:pPr>
                <a:defRPr/>
              </a:pPr>
              <a:t>‹#›</a:t>
            </a:fld>
            <a:endParaRPr lang="en-US" altLang="zh-CN"/>
          </a:p>
        </p:txBody>
      </p:sp>
    </p:spTree>
    <p:extLst>
      <p:ext uri="{BB962C8B-B14F-4D97-AF65-F5344CB8AC3E}">
        <p14:creationId xmlns:p14="http://schemas.microsoft.com/office/powerpoint/2010/main" val="91379704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a:t>安全则略</a:t>
            </a:r>
          </a:p>
        </p:txBody>
      </p:sp>
      <p:sp>
        <p:nvSpPr>
          <p:cNvPr id="4" name="灯片编号占位符 3"/>
          <p:cNvSpPr>
            <a:spLocks noGrp="1"/>
          </p:cNvSpPr>
          <p:nvPr>
            <p:ph type="sldNum" sz="quarter" idx="10"/>
          </p:nvPr>
        </p:nvSpPr>
        <p:spPr/>
        <p:txBody>
          <a:bodyPr/>
          <a:lstStyle/>
          <a:p>
            <a:pPr>
              <a:defRPr/>
            </a:pPr>
            <a:fld id="{7470E5E1-4843-4932-A191-9860DB39C7B3}" type="slidenum">
              <a:rPr lang="en-US" altLang="zh-CN" smtClean="0"/>
              <a:pPr>
                <a:defRPr/>
              </a:pPr>
              <a:t>3</a:t>
            </a:fld>
            <a:endParaRPr lang="en-US" altLang="zh-CN"/>
          </a:p>
        </p:txBody>
      </p:sp>
    </p:spTree>
    <p:extLst>
      <p:ext uri="{BB962C8B-B14F-4D97-AF65-F5344CB8AC3E}">
        <p14:creationId xmlns:p14="http://schemas.microsoft.com/office/powerpoint/2010/main" val="17425554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zh-CN" dirty="0">
                <a:solidFill>
                  <a:srgbClr val="0000CC"/>
                </a:solidFill>
              </a:rPr>
              <a:t>系统用户</a:t>
            </a:r>
            <a:r>
              <a:rPr lang="zh-CN" altLang="en-US" dirty="0">
                <a:solidFill>
                  <a:srgbClr val="0000CC"/>
                </a:solidFill>
              </a:rPr>
              <a:t>通常是来提供系统服务的程序。</a:t>
            </a:r>
            <a:endParaRPr lang="zh-CN" altLang="en-US" dirty="0"/>
          </a:p>
        </p:txBody>
      </p:sp>
      <p:sp>
        <p:nvSpPr>
          <p:cNvPr id="4" name="灯片编号占位符 3"/>
          <p:cNvSpPr>
            <a:spLocks noGrp="1"/>
          </p:cNvSpPr>
          <p:nvPr>
            <p:ph type="sldNum" sz="quarter" idx="5"/>
          </p:nvPr>
        </p:nvSpPr>
        <p:spPr/>
        <p:txBody>
          <a:bodyPr/>
          <a:lstStyle/>
          <a:p>
            <a:pPr>
              <a:defRPr/>
            </a:pPr>
            <a:fld id="{7470E5E1-4843-4932-A191-9860DB39C7B3}" type="slidenum">
              <a:rPr lang="en-US" altLang="zh-CN" smtClean="0"/>
              <a:pPr>
                <a:defRPr/>
              </a:pPr>
              <a:t>7</a:t>
            </a:fld>
            <a:endParaRPr lang="en-US" altLang="zh-CN"/>
          </a:p>
        </p:txBody>
      </p:sp>
    </p:spTree>
    <p:extLst>
      <p:ext uri="{BB962C8B-B14F-4D97-AF65-F5344CB8AC3E}">
        <p14:creationId xmlns:p14="http://schemas.microsoft.com/office/powerpoint/2010/main" val="14683544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err="1"/>
              <a:t>linux</a:t>
            </a:r>
            <a:r>
              <a:rPr lang="zh-CN" altLang="en-US" dirty="0"/>
              <a:t>下</a:t>
            </a:r>
            <a:r>
              <a:rPr lang="en-US" altLang="zh-CN" dirty="0"/>
              <a:t>/</a:t>
            </a:r>
            <a:r>
              <a:rPr lang="en-US" altLang="zh-CN" dirty="0" err="1"/>
              <a:t>etc</a:t>
            </a:r>
            <a:r>
              <a:rPr lang="zh-CN" altLang="en-US" dirty="0"/>
              <a:t>为系统配置文件目录，该目录包含系统启动脚本、启动配置文件、用户登陆配置文件、网络配置文件、</a:t>
            </a:r>
            <a:r>
              <a:rPr lang="en-US" altLang="zh-CN" dirty="0"/>
              <a:t>httpd </a:t>
            </a:r>
            <a:r>
              <a:rPr lang="zh-CN" altLang="en-US" dirty="0"/>
              <a:t>配置文件、</a:t>
            </a:r>
            <a:r>
              <a:rPr lang="en-US" altLang="zh-CN" dirty="0" err="1"/>
              <a:t>IPSec</a:t>
            </a:r>
            <a:r>
              <a:rPr lang="en-US" altLang="zh-CN" dirty="0"/>
              <a:t> </a:t>
            </a:r>
            <a:r>
              <a:rPr lang="zh-CN" altLang="en-US" dirty="0"/>
              <a:t>配置文件和其他文件等。</a:t>
            </a:r>
          </a:p>
          <a:p>
            <a:endParaRPr lang="zh-CN" altLang="en-US" dirty="0"/>
          </a:p>
        </p:txBody>
      </p:sp>
      <p:sp>
        <p:nvSpPr>
          <p:cNvPr id="4" name="灯片编号占位符 3"/>
          <p:cNvSpPr>
            <a:spLocks noGrp="1"/>
          </p:cNvSpPr>
          <p:nvPr>
            <p:ph type="sldNum" sz="quarter" idx="5"/>
          </p:nvPr>
        </p:nvSpPr>
        <p:spPr/>
        <p:txBody>
          <a:bodyPr/>
          <a:lstStyle/>
          <a:p>
            <a:pPr>
              <a:defRPr/>
            </a:pPr>
            <a:fld id="{7470E5E1-4843-4932-A191-9860DB39C7B3}" type="slidenum">
              <a:rPr lang="en-US" altLang="zh-CN" smtClean="0"/>
              <a:pPr>
                <a:defRPr/>
              </a:pPr>
              <a:t>8</a:t>
            </a:fld>
            <a:endParaRPr lang="en-US" altLang="zh-CN"/>
          </a:p>
        </p:txBody>
      </p:sp>
    </p:spTree>
    <p:extLst>
      <p:ext uri="{BB962C8B-B14F-4D97-AF65-F5344CB8AC3E}">
        <p14:creationId xmlns:p14="http://schemas.microsoft.com/office/powerpoint/2010/main" val="10449873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a:t>Linux</a:t>
            </a:r>
            <a:r>
              <a:rPr lang="zh-CN" altLang="en-US" dirty="0"/>
              <a:t>系统的灵活、方便体现在完全开源的配置文件上。</a:t>
            </a:r>
          </a:p>
        </p:txBody>
      </p:sp>
      <p:sp>
        <p:nvSpPr>
          <p:cNvPr id="4" name="灯片编号占位符 3"/>
          <p:cNvSpPr>
            <a:spLocks noGrp="1"/>
          </p:cNvSpPr>
          <p:nvPr>
            <p:ph type="sldNum" sz="quarter" idx="10"/>
          </p:nvPr>
        </p:nvSpPr>
        <p:spPr/>
        <p:txBody>
          <a:bodyPr/>
          <a:lstStyle/>
          <a:p>
            <a:pPr>
              <a:defRPr/>
            </a:pPr>
            <a:fld id="{7470E5E1-4843-4932-A191-9860DB39C7B3}" type="slidenum">
              <a:rPr lang="en-US" altLang="zh-CN" smtClean="0"/>
              <a:pPr>
                <a:defRPr/>
              </a:pPr>
              <a:t>9</a:t>
            </a:fld>
            <a:endParaRPr lang="en-US" altLang="zh-CN"/>
          </a:p>
        </p:txBody>
      </p:sp>
    </p:spTree>
    <p:extLst>
      <p:ext uri="{BB962C8B-B14F-4D97-AF65-F5344CB8AC3E}">
        <p14:creationId xmlns:p14="http://schemas.microsoft.com/office/powerpoint/2010/main" val="24185747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a:t>/</a:t>
            </a:r>
            <a:r>
              <a:rPr lang="en-US" altLang="zh-CN" dirty="0" err="1"/>
              <a:t>etc</a:t>
            </a:r>
            <a:r>
              <a:rPr lang="en-US" altLang="zh-CN" dirty="0"/>
              <a:t>/shadow </a:t>
            </a:r>
            <a:r>
              <a:rPr lang="zh-CN" altLang="en-US" dirty="0"/>
              <a:t>文件中的第二字段的“*”代表该帐号是停用的</a:t>
            </a:r>
          </a:p>
        </p:txBody>
      </p:sp>
      <p:sp>
        <p:nvSpPr>
          <p:cNvPr id="4" name="灯片编号占位符 3"/>
          <p:cNvSpPr>
            <a:spLocks noGrp="1"/>
          </p:cNvSpPr>
          <p:nvPr>
            <p:ph type="sldNum" sz="quarter" idx="5"/>
          </p:nvPr>
        </p:nvSpPr>
        <p:spPr/>
        <p:txBody>
          <a:bodyPr/>
          <a:lstStyle/>
          <a:p>
            <a:pPr>
              <a:defRPr/>
            </a:pPr>
            <a:fld id="{7470E5E1-4843-4932-A191-9860DB39C7B3}" type="slidenum">
              <a:rPr lang="en-US" altLang="zh-CN" smtClean="0"/>
              <a:pPr>
                <a:defRPr/>
              </a:pPr>
              <a:t>12</a:t>
            </a:fld>
            <a:endParaRPr lang="en-US" altLang="zh-CN"/>
          </a:p>
        </p:txBody>
      </p:sp>
    </p:spTree>
    <p:extLst>
      <p:ext uri="{BB962C8B-B14F-4D97-AF65-F5344CB8AC3E}">
        <p14:creationId xmlns:p14="http://schemas.microsoft.com/office/powerpoint/2010/main" val="1917325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a:t>date  -d </a:t>
            </a:r>
            <a:r>
              <a:rPr lang="zh-CN" altLang="en-US" dirty="0"/>
              <a:t>命令可以将从</a:t>
            </a:r>
            <a:r>
              <a:rPr lang="en-US" altLang="zh-CN" dirty="0"/>
              <a:t>1970-10-01</a:t>
            </a:r>
            <a:r>
              <a:rPr lang="zh-CN" altLang="en-US" dirty="0"/>
              <a:t>开始的数字转化为实际日期：</a:t>
            </a:r>
            <a:endParaRPr lang="en-US" altLang="zh-CN" dirty="0"/>
          </a:p>
          <a:p>
            <a:r>
              <a:rPr lang="en-US" altLang="zh-CN" dirty="0"/>
              <a:t>date -d  '1970-01-01 13025 days'</a:t>
            </a:r>
          </a:p>
          <a:p>
            <a:r>
              <a:rPr lang="en-US" altLang="zh-CN" dirty="0"/>
              <a:t>2005</a:t>
            </a:r>
            <a:r>
              <a:rPr lang="zh-CN" altLang="en-US" dirty="0"/>
              <a:t>年 </a:t>
            </a:r>
            <a:r>
              <a:rPr lang="en-US" altLang="zh-CN" dirty="0"/>
              <a:t>08</a:t>
            </a:r>
            <a:r>
              <a:rPr lang="zh-CN" altLang="en-US" dirty="0"/>
              <a:t>月 </a:t>
            </a:r>
            <a:r>
              <a:rPr lang="en-US" altLang="zh-CN" dirty="0"/>
              <a:t>30</a:t>
            </a:r>
            <a:r>
              <a:rPr lang="zh-CN" altLang="en-US" dirty="0"/>
              <a:t>日 星期二 </a:t>
            </a:r>
            <a:r>
              <a:rPr lang="en-US" altLang="zh-CN" dirty="0"/>
              <a:t>00:00:00 CST</a:t>
            </a:r>
            <a:endParaRPr lang="zh-CN" altLang="en-US" dirty="0"/>
          </a:p>
        </p:txBody>
      </p:sp>
      <p:sp>
        <p:nvSpPr>
          <p:cNvPr id="4" name="灯片编号占位符 3"/>
          <p:cNvSpPr>
            <a:spLocks noGrp="1"/>
          </p:cNvSpPr>
          <p:nvPr>
            <p:ph type="sldNum" sz="quarter" idx="5"/>
          </p:nvPr>
        </p:nvSpPr>
        <p:spPr/>
        <p:txBody>
          <a:bodyPr/>
          <a:lstStyle/>
          <a:p>
            <a:pPr>
              <a:defRPr/>
            </a:pPr>
            <a:fld id="{7470E5E1-4843-4932-A191-9860DB39C7B3}" type="slidenum">
              <a:rPr lang="en-US" altLang="zh-CN" smtClean="0"/>
              <a:pPr>
                <a:defRPr/>
              </a:pPr>
              <a:t>13</a:t>
            </a:fld>
            <a:endParaRPr lang="en-US" altLang="zh-CN"/>
          </a:p>
        </p:txBody>
      </p:sp>
    </p:spTree>
    <p:extLst>
      <p:ext uri="{BB962C8B-B14F-4D97-AF65-F5344CB8AC3E}">
        <p14:creationId xmlns:p14="http://schemas.microsoft.com/office/powerpoint/2010/main" val="657267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a:t>date  -d </a:t>
            </a:r>
            <a:r>
              <a:rPr lang="zh-CN" altLang="en-US" dirty="0"/>
              <a:t>命令可以将从</a:t>
            </a:r>
            <a:r>
              <a:rPr lang="en-US" altLang="zh-CN" dirty="0"/>
              <a:t>1970-10-01</a:t>
            </a:r>
            <a:r>
              <a:rPr lang="zh-CN" altLang="en-US" dirty="0"/>
              <a:t>开始的数字转化为实际日期：</a:t>
            </a:r>
          </a:p>
          <a:p>
            <a:r>
              <a:rPr lang="en-US" altLang="zh-CN" dirty="0"/>
              <a:t>date -d  '1970-01-01 19585 days’</a:t>
            </a:r>
          </a:p>
          <a:p>
            <a:r>
              <a:rPr lang="en-US" altLang="zh-CN" dirty="0"/>
              <a:t>2023</a:t>
            </a:r>
            <a:r>
              <a:rPr lang="zh-CN" altLang="en-US" dirty="0"/>
              <a:t>年  </a:t>
            </a:r>
            <a:r>
              <a:rPr lang="en-US" altLang="zh-CN" dirty="0"/>
              <a:t>08</a:t>
            </a:r>
            <a:r>
              <a:rPr lang="zh-CN" altLang="en-US" dirty="0"/>
              <a:t>月 </a:t>
            </a:r>
            <a:r>
              <a:rPr lang="en-US" altLang="zh-CN" dirty="0"/>
              <a:t>16</a:t>
            </a:r>
            <a:r>
              <a:rPr lang="zh-CN" altLang="en-US" dirty="0"/>
              <a:t>日 星期三  </a:t>
            </a:r>
            <a:r>
              <a:rPr lang="en-US" altLang="zh-CN" dirty="0"/>
              <a:t>00:00:00 CST</a:t>
            </a:r>
          </a:p>
          <a:p>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date -d  '1970-01-01 19685 days’</a:t>
            </a:r>
          </a:p>
          <a:p>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7470E5E1-4843-4932-A191-9860DB39C7B3}" type="slidenum">
              <a:rPr lang="en-US" altLang="zh-CN" smtClean="0"/>
              <a:pPr>
                <a:defRPr/>
              </a:pPr>
              <a:t>16</a:t>
            </a:fld>
            <a:endParaRPr lang="en-US" altLang="zh-CN"/>
          </a:p>
        </p:txBody>
      </p:sp>
    </p:spTree>
    <p:extLst>
      <p:ext uri="{BB962C8B-B14F-4D97-AF65-F5344CB8AC3E}">
        <p14:creationId xmlns:p14="http://schemas.microsoft.com/office/powerpoint/2010/main" val="14655725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只有超级用户才能查看</a:t>
            </a:r>
            <a:r>
              <a:rPr lang="en-US" altLang="zh-CN" sz="1200" dirty="0">
                <a:latin typeface="+mn-ea"/>
                <a:cs typeface="Tahoma" pitchFamily="34" charset="0"/>
              </a:rPr>
              <a:t>/</a:t>
            </a:r>
            <a:r>
              <a:rPr lang="en-US" altLang="zh-CN" sz="1200" dirty="0" err="1">
                <a:latin typeface="+mn-ea"/>
                <a:cs typeface="Tahoma" pitchFamily="34" charset="0"/>
              </a:rPr>
              <a:t>etc</a:t>
            </a:r>
            <a:r>
              <a:rPr lang="en-US" altLang="zh-CN" sz="1200" dirty="0">
                <a:latin typeface="+mn-ea"/>
                <a:cs typeface="Tahoma" pitchFamily="34" charset="0"/>
              </a:rPr>
              <a:t>/</a:t>
            </a:r>
            <a:r>
              <a:rPr lang="en-US" altLang="zh-CN" sz="1200" dirty="0" err="1">
                <a:latin typeface="+mn-ea"/>
                <a:cs typeface="Tahoma" pitchFamily="34" charset="0"/>
              </a:rPr>
              <a:t>gshadow</a:t>
            </a:r>
            <a:r>
              <a:rPr lang="zh-CN" altLang="en-US" sz="1200" dirty="0">
                <a:latin typeface="+mn-ea"/>
                <a:cs typeface="Tahoma" pitchFamily="34" charset="0"/>
              </a:rPr>
              <a:t>的</a:t>
            </a:r>
            <a:r>
              <a:rPr lang="zh-CN" altLang="en-US" dirty="0"/>
              <a:t>内容</a:t>
            </a:r>
          </a:p>
        </p:txBody>
      </p:sp>
      <p:sp>
        <p:nvSpPr>
          <p:cNvPr id="4" name="灯片编号占位符 3"/>
          <p:cNvSpPr>
            <a:spLocks noGrp="1"/>
          </p:cNvSpPr>
          <p:nvPr>
            <p:ph type="sldNum" sz="quarter" idx="5"/>
          </p:nvPr>
        </p:nvSpPr>
        <p:spPr/>
        <p:txBody>
          <a:bodyPr/>
          <a:lstStyle/>
          <a:p>
            <a:pPr>
              <a:defRPr/>
            </a:pPr>
            <a:fld id="{7470E5E1-4843-4932-A191-9860DB39C7B3}" type="slidenum">
              <a:rPr lang="en-US" altLang="zh-CN" smtClean="0"/>
              <a:pPr>
                <a:defRPr/>
              </a:pPr>
              <a:t>21</a:t>
            </a:fld>
            <a:endParaRPr lang="en-US" altLang="zh-CN"/>
          </a:p>
        </p:txBody>
      </p:sp>
    </p:spTree>
    <p:extLst>
      <p:ext uri="{BB962C8B-B14F-4D97-AF65-F5344CB8AC3E}">
        <p14:creationId xmlns:p14="http://schemas.microsoft.com/office/powerpoint/2010/main" val="9708320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7470E5E1-4843-4932-A191-9860DB39C7B3}" type="slidenum">
              <a:rPr lang="en-US" altLang="zh-CN" smtClean="0"/>
              <a:pPr>
                <a:defRPr/>
              </a:pPr>
              <a:t>25</a:t>
            </a:fld>
            <a:endParaRPr lang="en-US" altLang="zh-CN"/>
          </a:p>
        </p:txBody>
      </p:sp>
    </p:spTree>
    <p:extLst>
      <p:ext uri="{BB962C8B-B14F-4D97-AF65-F5344CB8AC3E}">
        <p14:creationId xmlns:p14="http://schemas.microsoft.com/office/powerpoint/2010/main" val="1804938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使用</a:t>
            </a:r>
            <a:r>
              <a:rPr lang="en-US" altLang="zh-CN" dirty="0"/>
              <a:t>useradd</a:t>
            </a:r>
            <a:r>
              <a:rPr lang="zh-CN" altLang="en-US" dirty="0"/>
              <a:t>命令新建用户后，暂时还无法登录，因为还没有为用户设置口令，需要用</a:t>
            </a:r>
            <a:r>
              <a:rPr lang="en-US" altLang="zh-CN" dirty="0"/>
              <a:t>passwd</a:t>
            </a:r>
            <a:r>
              <a:rPr lang="zh-CN" altLang="en-US" dirty="0"/>
              <a:t>命令为其设置口令才能登录。</a:t>
            </a:r>
          </a:p>
        </p:txBody>
      </p:sp>
      <p:sp>
        <p:nvSpPr>
          <p:cNvPr id="4" name="灯片编号占位符 3"/>
          <p:cNvSpPr>
            <a:spLocks noGrp="1"/>
          </p:cNvSpPr>
          <p:nvPr>
            <p:ph type="sldNum" sz="quarter" idx="10"/>
          </p:nvPr>
        </p:nvSpPr>
        <p:spPr/>
        <p:txBody>
          <a:bodyPr/>
          <a:lstStyle/>
          <a:p>
            <a:pPr>
              <a:defRPr/>
            </a:pPr>
            <a:fld id="{7470E5E1-4843-4932-A191-9860DB39C7B3}" type="slidenum">
              <a:rPr lang="en-US" altLang="zh-CN" smtClean="0"/>
              <a:pPr>
                <a:defRPr/>
              </a:pPr>
              <a:t>26</a:t>
            </a:fld>
            <a:endParaRPr lang="en-US" altLang="zh-CN"/>
          </a:p>
        </p:txBody>
      </p:sp>
    </p:spTree>
    <p:extLst>
      <p:ext uri="{BB962C8B-B14F-4D97-AF65-F5344CB8AC3E}">
        <p14:creationId xmlns:p14="http://schemas.microsoft.com/office/powerpoint/2010/main" val="41241831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470E5E1-4843-4932-A191-9860DB39C7B3}" type="slidenum">
              <a:rPr lang="en-US" altLang="zh-CN" smtClean="0"/>
              <a:pPr>
                <a:defRPr/>
              </a:pPr>
              <a:t>27</a:t>
            </a:fld>
            <a:endParaRPr lang="en-US" altLang="zh-CN"/>
          </a:p>
        </p:txBody>
      </p:sp>
    </p:spTree>
    <p:extLst>
      <p:ext uri="{BB962C8B-B14F-4D97-AF65-F5344CB8AC3E}">
        <p14:creationId xmlns:p14="http://schemas.microsoft.com/office/powerpoint/2010/main" val="9878422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7470E5E1-4843-4932-A191-9860DB39C7B3}" type="slidenum">
              <a:rPr lang="en-US" altLang="zh-CN" smtClean="0"/>
              <a:pPr>
                <a:defRPr/>
              </a:pPr>
              <a:t>37</a:t>
            </a:fld>
            <a:endParaRPr lang="en-US" altLang="zh-CN"/>
          </a:p>
        </p:txBody>
      </p:sp>
    </p:spTree>
    <p:extLst>
      <p:ext uri="{BB962C8B-B14F-4D97-AF65-F5344CB8AC3E}">
        <p14:creationId xmlns:p14="http://schemas.microsoft.com/office/powerpoint/2010/main" val="1974002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470E5E1-4843-4932-A191-9860DB39C7B3}" type="slidenum">
              <a:rPr lang="en-US" altLang="zh-CN" smtClean="0"/>
              <a:pPr>
                <a:defRPr/>
              </a:pPr>
              <a:t>38</a:t>
            </a:fld>
            <a:endParaRPr lang="en-US" altLang="zh-CN"/>
          </a:p>
        </p:txBody>
      </p:sp>
    </p:spTree>
    <p:extLst>
      <p:ext uri="{BB962C8B-B14F-4D97-AF65-F5344CB8AC3E}">
        <p14:creationId xmlns:p14="http://schemas.microsoft.com/office/powerpoint/2010/main" val="10781182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470E5E1-4843-4932-A191-9860DB39C7B3}" type="slidenum">
              <a:rPr lang="en-US" altLang="zh-CN" smtClean="0"/>
              <a:pPr>
                <a:defRPr/>
              </a:pPr>
              <a:t>39</a:t>
            </a:fld>
            <a:endParaRPr lang="en-US" altLang="zh-CN"/>
          </a:p>
        </p:txBody>
      </p:sp>
    </p:spTree>
    <p:extLst>
      <p:ext uri="{BB962C8B-B14F-4D97-AF65-F5344CB8AC3E}">
        <p14:creationId xmlns:p14="http://schemas.microsoft.com/office/powerpoint/2010/main" val="11343350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a:t>su(switch user)</a:t>
            </a:r>
            <a:endParaRPr lang="zh-CN" altLang="en-US" dirty="0"/>
          </a:p>
        </p:txBody>
      </p:sp>
      <p:sp>
        <p:nvSpPr>
          <p:cNvPr id="4" name="灯片编号占位符 3"/>
          <p:cNvSpPr>
            <a:spLocks noGrp="1"/>
          </p:cNvSpPr>
          <p:nvPr>
            <p:ph type="sldNum" sz="quarter" idx="5"/>
          </p:nvPr>
        </p:nvSpPr>
        <p:spPr/>
        <p:txBody>
          <a:bodyPr/>
          <a:lstStyle/>
          <a:p>
            <a:pPr>
              <a:defRPr/>
            </a:pPr>
            <a:fld id="{7470E5E1-4843-4932-A191-9860DB39C7B3}" type="slidenum">
              <a:rPr lang="en-US" altLang="zh-CN" smtClean="0"/>
              <a:pPr>
                <a:defRPr/>
              </a:pPr>
              <a:t>42</a:t>
            </a:fld>
            <a:endParaRPr lang="en-US" altLang="zh-CN"/>
          </a:p>
        </p:txBody>
      </p:sp>
    </p:spTree>
    <p:extLst>
      <p:ext uri="{BB962C8B-B14F-4D97-AF65-F5344CB8AC3E}">
        <p14:creationId xmlns:p14="http://schemas.microsoft.com/office/powerpoint/2010/main" val="42522109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a:t>superuser do</a:t>
            </a:r>
          </a:p>
          <a:p>
            <a:r>
              <a:rPr lang="zh-CN" altLang="en-US" dirty="0"/>
              <a:t>使用</a:t>
            </a:r>
            <a:r>
              <a:rPr lang="en-US" altLang="zh-CN" dirty="0" err="1"/>
              <a:t>su</a:t>
            </a:r>
            <a:r>
              <a:rPr lang="zh-CN" altLang="en-US" dirty="0"/>
              <a:t>命令可以由普通用户切换到超级用户，需要知道超级用户的密码，但是很多情况下，拿到</a:t>
            </a:r>
            <a:r>
              <a:rPr lang="en-US" altLang="zh-CN" dirty="0"/>
              <a:t>root</a:t>
            </a:r>
            <a:r>
              <a:rPr lang="zh-CN" altLang="en-US" dirty="0"/>
              <a:t>的密码几乎是不可能的。</a:t>
            </a:r>
            <a:endParaRPr lang="en-US" altLang="zh-CN" dirty="0"/>
          </a:p>
          <a:p>
            <a:r>
              <a:rPr lang="en-US" altLang="zh-CN" dirty="0"/>
              <a:t>sudo</a:t>
            </a:r>
            <a:r>
              <a:rPr lang="zh-CN" altLang="en-US" dirty="0"/>
              <a:t>命令用来完成普通账号在不需要知道</a:t>
            </a:r>
            <a:r>
              <a:rPr lang="en-US" altLang="zh-CN" dirty="0"/>
              <a:t>root</a:t>
            </a:r>
            <a:r>
              <a:rPr lang="zh-CN" altLang="en-US" dirty="0"/>
              <a:t>密码的情况下，在</a:t>
            </a:r>
            <a:r>
              <a:rPr lang="en-US" altLang="zh-CN" dirty="0"/>
              <a:t>root</a:t>
            </a:r>
            <a:r>
              <a:rPr lang="zh-CN" altLang="en-US" dirty="0"/>
              <a:t>授权的前提下，执行</a:t>
            </a:r>
            <a:r>
              <a:rPr lang="en-US" altLang="zh-CN" dirty="0"/>
              <a:t>root</a:t>
            </a:r>
            <a:r>
              <a:rPr lang="zh-CN" altLang="en-US" dirty="0"/>
              <a:t>权限才能执行的操作。</a:t>
            </a:r>
            <a:endParaRPr lang="en-US" altLang="zh-CN" dirty="0"/>
          </a:p>
        </p:txBody>
      </p:sp>
      <p:sp>
        <p:nvSpPr>
          <p:cNvPr id="4" name="灯片编号占位符 3"/>
          <p:cNvSpPr>
            <a:spLocks noGrp="1"/>
          </p:cNvSpPr>
          <p:nvPr>
            <p:ph type="sldNum" sz="quarter" idx="5"/>
          </p:nvPr>
        </p:nvSpPr>
        <p:spPr/>
        <p:txBody>
          <a:bodyPr/>
          <a:lstStyle/>
          <a:p>
            <a:pPr>
              <a:defRPr/>
            </a:pPr>
            <a:fld id="{7470E5E1-4843-4932-A191-9860DB39C7B3}" type="slidenum">
              <a:rPr lang="en-US" altLang="zh-CN" smtClean="0"/>
              <a:pPr>
                <a:defRPr/>
              </a:pPr>
              <a:t>45</a:t>
            </a:fld>
            <a:endParaRPr lang="en-US" altLang="zh-CN"/>
          </a:p>
        </p:txBody>
      </p:sp>
    </p:spTree>
    <p:extLst>
      <p:ext uri="{BB962C8B-B14F-4D97-AF65-F5344CB8AC3E}">
        <p14:creationId xmlns:p14="http://schemas.microsoft.com/office/powerpoint/2010/main" val="37481880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使用</a:t>
            </a:r>
            <a:r>
              <a:rPr lang="en-US" altLang="zh-CN" dirty="0"/>
              <a:t>sudo</a:t>
            </a:r>
            <a:r>
              <a:rPr lang="zh-CN" altLang="en-US" dirty="0"/>
              <a:t>命令有两个大前提，一是你要知道当前登录用户的密码，二是当前用户必须在 </a:t>
            </a:r>
            <a:r>
              <a:rPr lang="en-US" altLang="zh-CN" dirty="0"/>
              <a:t>sudo </a:t>
            </a:r>
            <a:r>
              <a:rPr lang="zh-CN" altLang="en-US" dirty="0"/>
              <a:t>用户组。</a:t>
            </a:r>
          </a:p>
          <a:p>
            <a:endParaRPr lang="zh-CN" altLang="en-US" dirty="0"/>
          </a:p>
        </p:txBody>
      </p:sp>
      <p:sp>
        <p:nvSpPr>
          <p:cNvPr id="4" name="灯片编号占位符 3"/>
          <p:cNvSpPr>
            <a:spLocks noGrp="1"/>
          </p:cNvSpPr>
          <p:nvPr>
            <p:ph type="sldNum" sz="quarter" idx="5"/>
          </p:nvPr>
        </p:nvSpPr>
        <p:spPr/>
        <p:txBody>
          <a:bodyPr/>
          <a:lstStyle/>
          <a:p>
            <a:pPr>
              <a:defRPr/>
            </a:pPr>
            <a:fld id="{7470E5E1-4843-4932-A191-9860DB39C7B3}" type="slidenum">
              <a:rPr lang="en-US" altLang="zh-CN" smtClean="0"/>
              <a:pPr>
                <a:defRPr/>
              </a:pPr>
              <a:t>46</a:t>
            </a:fld>
            <a:endParaRPr lang="en-US" altLang="zh-CN"/>
          </a:p>
        </p:txBody>
      </p:sp>
    </p:spTree>
    <p:extLst>
      <p:ext uri="{BB962C8B-B14F-4D97-AF65-F5344CB8AC3E}">
        <p14:creationId xmlns:p14="http://schemas.microsoft.com/office/powerpoint/2010/main" val="4519237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使用</a:t>
            </a:r>
            <a:r>
              <a:rPr lang="en-US" altLang="zh-CN" dirty="0"/>
              <a:t>sudo</a:t>
            </a:r>
            <a:r>
              <a:rPr lang="zh-CN" altLang="en-US" dirty="0"/>
              <a:t>命令有两个大前提，一是你要知道当前登录用户的密码，二是当前用户必须在 </a:t>
            </a:r>
            <a:r>
              <a:rPr lang="en-US" altLang="zh-CN" dirty="0"/>
              <a:t>sudo </a:t>
            </a:r>
            <a:r>
              <a:rPr lang="zh-CN" altLang="en-US" dirty="0"/>
              <a:t>用户组。</a:t>
            </a:r>
          </a:p>
          <a:p>
            <a:endParaRPr lang="zh-CN" altLang="en-US" dirty="0"/>
          </a:p>
        </p:txBody>
      </p:sp>
      <p:sp>
        <p:nvSpPr>
          <p:cNvPr id="4" name="灯片编号占位符 3"/>
          <p:cNvSpPr>
            <a:spLocks noGrp="1"/>
          </p:cNvSpPr>
          <p:nvPr>
            <p:ph type="sldNum" sz="quarter" idx="5"/>
          </p:nvPr>
        </p:nvSpPr>
        <p:spPr/>
        <p:txBody>
          <a:bodyPr/>
          <a:lstStyle/>
          <a:p>
            <a:pPr>
              <a:defRPr/>
            </a:pPr>
            <a:fld id="{7470E5E1-4843-4932-A191-9860DB39C7B3}" type="slidenum">
              <a:rPr lang="en-US" altLang="zh-CN" smtClean="0"/>
              <a:pPr>
                <a:defRPr/>
              </a:pPr>
              <a:t>47</a:t>
            </a:fld>
            <a:endParaRPr lang="en-US" altLang="zh-CN"/>
          </a:p>
        </p:txBody>
      </p:sp>
    </p:spTree>
    <p:extLst>
      <p:ext uri="{BB962C8B-B14F-4D97-AF65-F5344CB8AC3E}">
        <p14:creationId xmlns:p14="http://schemas.microsoft.com/office/powerpoint/2010/main" val="26464047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使用</a:t>
            </a:r>
            <a:r>
              <a:rPr lang="en-US" altLang="zh-CN" dirty="0"/>
              <a:t>sudo</a:t>
            </a:r>
            <a:r>
              <a:rPr lang="zh-CN" altLang="en-US" dirty="0"/>
              <a:t>命令有两个大前提，一是你要知道当前登录用户的密码，二是当前用户必须在 </a:t>
            </a:r>
            <a:r>
              <a:rPr lang="en-US" altLang="zh-CN" dirty="0"/>
              <a:t>sudo </a:t>
            </a:r>
            <a:r>
              <a:rPr lang="zh-CN" altLang="en-US" dirty="0"/>
              <a:t>用户组。</a:t>
            </a:r>
          </a:p>
          <a:p>
            <a:endParaRPr lang="zh-CN" altLang="en-US" dirty="0"/>
          </a:p>
        </p:txBody>
      </p:sp>
      <p:sp>
        <p:nvSpPr>
          <p:cNvPr id="4" name="灯片编号占位符 3"/>
          <p:cNvSpPr>
            <a:spLocks noGrp="1"/>
          </p:cNvSpPr>
          <p:nvPr>
            <p:ph type="sldNum" sz="quarter" idx="5"/>
          </p:nvPr>
        </p:nvSpPr>
        <p:spPr/>
        <p:txBody>
          <a:bodyPr/>
          <a:lstStyle/>
          <a:p>
            <a:pPr>
              <a:defRPr/>
            </a:pPr>
            <a:fld id="{7470E5E1-4843-4932-A191-9860DB39C7B3}" type="slidenum">
              <a:rPr lang="en-US" altLang="zh-CN" smtClean="0"/>
              <a:pPr>
                <a:defRPr/>
              </a:pPr>
              <a:t>48</a:t>
            </a:fld>
            <a:endParaRPr lang="en-US" altLang="zh-CN"/>
          </a:p>
        </p:txBody>
      </p:sp>
    </p:spTree>
    <p:extLst>
      <p:ext uri="{BB962C8B-B14F-4D97-AF65-F5344CB8AC3E}">
        <p14:creationId xmlns:p14="http://schemas.microsoft.com/office/powerpoint/2010/main" val="988364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a:t>GID</a:t>
            </a:r>
            <a:r>
              <a:rPr lang="zh-CN" altLang="en-US"/>
              <a:t>的值，除非使用</a:t>
            </a:r>
            <a:r>
              <a:rPr lang="en-US" altLang="zh-CN"/>
              <a:t>-o</a:t>
            </a:r>
            <a:r>
              <a:rPr lang="zh-CN" altLang="en-US"/>
              <a:t>参数，否则必须唯一。</a:t>
            </a:r>
          </a:p>
        </p:txBody>
      </p:sp>
      <p:sp>
        <p:nvSpPr>
          <p:cNvPr id="4" name="灯片编号占位符 3"/>
          <p:cNvSpPr>
            <a:spLocks noGrp="1"/>
          </p:cNvSpPr>
          <p:nvPr>
            <p:ph type="sldNum" sz="quarter" idx="10"/>
          </p:nvPr>
        </p:nvSpPr>
        <p:spPr/>
        <p:txBody>
          <a:bodyPr/>
          <a:lstStyle/>
          <a:p>
            <a:pPr>
              <a:defRPr/>
            </a:pPr>
            <a:fld id="{7470E5E1-4843-4932-A191-9860DB39C7B3}" type="slidenum">
              <a:rPr lang="en-US" altLang="zh-CN" smtClean="0"/>
              <a:pPr>
                <a:defRPr/>
              </a:pPr>
              <a:t>50</a:t>
            </a:fld>
            <a:endParaRPr lang="en-US" altLang="zh-CN"/>
          </a:p>
        </p:txBody>
      </p:sp>
    </p:spTree>
    <p:extLst>
      <p:ext uri="{BB962C8B-B14F-4D97-AF65-F5344CB8AC3E}">
        <p14:creationId xmlns:p14="http://schemas.microsoft.com/office/powerpoint/2010/main" val="32902681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7470E5E1-4843-4932-A191-9860DB39C7B3}" type="slidenum">
              <a:rPr lang="en-US" altLang="zh-CN" smtClean="0"/>
              <a:pPr>
                <a:defRPr/>
              </a:pPr>
              <a:t>52</a:t>
            </a:fld>
            <a:endParaRPr lang="en-US" altLang="zh-CN"/>
          </a:p>
        </p:txBody>
      </p:sp>
    </p:spTree>
    <p:extLst>
      <p:ext uri="{BB962C8B-B14F-4D97-AF65-F5344CB8AC3E}">
        <p14:creationId xmlns:p14="http://schemas.microsoft.com/office/powerpoint/2010/main" val="16799624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本命令使用人： </a:t>
            </a:r>
            <a:r>
              <a:rPr lang="en-US" altLang="zh-CN" dirty="0"/>
              <a:t>root </a:t>
            </a:r>
          </a:p>
          <a:p>
            <a:r>
              <a:rPr lang="en-US" altLang="zh-CN" dirty="0"/>
              <a:t>change  group</a:t>
            </a:r>
          </a:p>
          <a:p>
            <a:r>
              <a:rPr lang="en-US" altLang="zh-CN" dirty="0" err="1"/>
              <a:t>chown</a:t>
            </a:r>
            <a:r>
              <a:rPr lang="en-US" altLang="zh-CN" dirty="0"/>
              <a:t> </a:t>
            </a:r>
            <a:r>
              <a:rPr lang="zh-CN" altLang="en-US" dirty="0"/>
              <a:t>命令功能：改变文件的拥有者。</a:t>
            </a:r>
          </a:p>
          <a:p>
            <a:endParaRPr lang="en-US" altLang="zh-CN" dirty="0"/>
          </a:p>
        </p:txBody>
      </p:sp>
      <p:sp>
        <p:nvSpPr>
          <p:cNvPr id="4" name="灯片编号占位符 3"/>
          <p:cNvSpPr>
            <a:spLocks noGrp="1"/>
          </p:cNvSpPr>
          <p:nvPr>
            <p:ph type="sldNum" sz="quarter" idx="10"/>
          </p:nvPr>
        </p:nvSpPr>
        <p:spPr/>
        <p:txBody>
          <a:bodyPr/>
          <a:lstStyle/>
          <a:p>
            <a:pPr>
              <a:defRPr/>
            </a:pPr>
            <a:fld id="{7470E5E1-4843-4932-A191-9860DB39C7B3}" type="slidenum">
              <a:rPr lang="en-US" altLang="zh-CN" smtClean="0"/>
              <a:pPr>
                <a:defRPr/>
              </a:pPr>
              <a:t>54</a:t>
            </a:fld>
            <a:endParaRPr lang="en-US" altLang="zh-CN"/>
          </a:p>
        </p:txBody>
      </p:sp>
    </p:spTree>
    <p:extLst>
      <p:ext uri="{BB962C8B-B14F-4D97-AF65-F5344CB8AC3E}">
        <p14:creationId xmlns:p14="http://schemas.microsoft.com/office/powerpoint/2010/main" val="42441841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本命令使用人： </a:t>
            </a:r>
            <a:r>
              <a:rPr lang="en-US" altLang="zh-CN" dirty="0"/>
              <a:t>root </a:t>
            </a:r>
          </a:p>
          <a:p>
            <a:r>
              <a:rPr lang="en-US" altLang="zh-CN" dirty="0"/>
              <a:t>change  group</a:t>
            </a:r>
          </a:p>
          <a:p>
            <a:endParaRPr lang="en-US" altLang="zh-CN" dirty="0"/>
          </a:p>
        </p:txBody>
      </p:sp>
      <p:sp>
        <p:nvSpPr>
          <p:cNvPr id="4" name="灯片编号占位符 3"/>
          <p:cNvSpPr>
            <a:spLocks noGrp="1"/>
          </p:cNvSpPr>
          <p:nvPr>
            <p:ph type="sldNum" sz="quarter" idx="10"/>
          </p:nvPr>
        </p:nvSpPr>
        <p:spPr/>
        <p:txBody>
          <a:bodyPr/>
          <a:lstStyle/>
          <a:p>
            <a:pPr>
              <a:defRPr/>
            </a:pPr>
            <a:fld id="{7470E5E1-4843-4932-A191-9860DB39C7B3}" type="slidenum">
              <a:rPr lang="en-US" altLang="zh-CN" smtClean="0"/>
              <a:pPr>
                <a:defRPr/>
              </a:pPr>
              <a:t>55</a:t>
            </a:fld>
            <a:endParaRPr lang="en-US" altLang="zh-CN"/>
          </a:p>
        </p:txBody>
      </p:sp>
    </p:spTree>
    <p:extLst>
      <p:ext uri="{BB962C8B-B14F-4D97-AF65-F5344CB8AC3E}">
        <p14:creationId xmlns:p14="http://schemas.microsoft.com/office/powerpoint/2010/main" val="26034877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a:t>w</a:t>
            </a:r>
            <a:r>
              <a:rPr lang="zh-CN" altLang="en-US" dirty="0"/>
              <a:t>（</a:t>
            </a:r>
            <a:r>
              <a:rPr lang="en-US" altLang="zh-CN" dirty="0"/>
              <a:t>who</a:t>
            </a:r>
            <a:r>
              <a:rPr lang="zh-CN" altLang="en-US" dirty="0"/>
              <a:t>）</a:t>
            </a:r>
          </a:p>
        </p:txBody>
      </p:sp>
      <p:sp>
        <p:nvSpPr>
          <p:cNvPr id="4" name="灯片编号占位符 3"/>
          <p:cNvSpPr>
            <a:spLocks noGrp="1"/>
          </p:cNvSpPr>
          <p:nvPr>
            <p:ph type="sldNum" sz="quarter" idx="5"/>
          </p:nvPr>
        </p:nvSpPr>
        <p:spPr/>
        <p:txBody>
          <a:bodyPr/>
          <a:lstStyle/>
          <a:p>
            <a:pPr>
              <a:defRPr/>
            </a:pPr>
            <a:fld id="{7470E5E1-4843-4932-A191-9860DB39C7B3}" type="slidenum">
              <a:rPr lang="en-US" altLang="zh-CN" smtClean="0"/>
              <a:pPr>
                <a:defRPr/>
              </a:pPr>
              <a:t>56</a:t>
            </a:fld>
            <a:endParaRPr lang="en-US" altLang="zh-CN"/>
          </a:p>
        </p:txBody>
      </p:sp>
    </p:spTree>
    <p:extLst>
      <p:ext uri="{BB962C8B-B14F-4D97-AF65-F5344CB8AC3E}">
        <p14:creationId xmlns:p14="http://schemas.microsoft.com/office/powerpoint/2010/main" val="5371933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a:t>w</a:t>
            </a:r>
            <a:r>
              <a:rPr lang="zh-CN" altLang="en-US" dirty="0"/>
              <a:t>（</a:t>
            </a:r>
            <a:r>
              <a:rPr lang="en-US" altLang="zh-CN" dirty="0"/>
              <a:t>who</a:t>
            </a:r>
            <a:r>
              <a:rPr lang="zh-CN" altLang="en-US" dirty="0"/>
              <a:t>）</a:t>
            </a:r>
          </a:p>
        </p:txBody>
      </p:sp>
      <p:sp>
        <p:nvSpPr>
          <p:cNvPr id="4" name="灯片编号占位符 3"/>
          <p:cNvSpPr>
            <a:spLocks noGrp="1"/>
          </p:cNvSpPr>
          <p:nvPr>
            <p:ph type="sldNum" sz="quarter" idx="5"/>
          </p:nvPr>
        </p:nvSpPr>
        <p:spPr/>
        <p:txBody>
          <a:bodyPr/>
          <a:lstStyle/>
          <a:p>
            <a:pPr>
              <a:defRPr/>
            </a:pPr>
            <a:fld id="{7470E5E1-4843-4932-A191-9860DB39C7B3}" type="slidenum">
              <a:rPr lang="en-US" altLang="zh-CN" smtClean="0"/>
              <a:pPr>
                <a:defRPr/>
              </a:pPr>
              <a:t>57</a:t>
            </a:fld>
            <a:endParaRPr lang="en-US" altLang="zh-CN"/>
          </a:p>
        </p:txBody>
      </p:sp>
    </p:spTree>
    <p:extLst>
      <p:ext uri="{BB962C8B-B14F-4D97-AF65-F5344CB8AC3E}">
        <p14:creationId xmlns:p14="http://schemas.microsoft.com/office/powerpoint/2010/main" val="235576288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a:t>whoami</a:t>
            </a:r>
            <a:r>
              <a:rPr lang="zh-CN" altLang="en-US" dirty="0"/>
              <a:t>；显示的是当前用户下的用户名</a:t>
            </a:r>
          </a:p>
          <a:p>
            <a:r>
              <a:rPr lang="en-US" altLang="zh-CN" dirty="0"/>
              <a:t>who am </a:t>
            </a:r>
            <a:r>
              <a:rPr lang="en-US" altLang="zh-CN" dirty="0" err="1"/>
              <a:t>i</a:t>
            </a:r>
            <a:r>
              <a:rPr lang="zh-CN" altLang="en-US" dirty="0"/>
              <a:t>：显示的是登录时的用户名</a:t>
            </a:r>
          </a:p>
          <a:p>
            <a:r>
              <a:rPr lang="en-US" altLang="zh-CN" dirty="0"/>
              <a:t>who</a:t>
            </a:r>
            <a:r>
              <a:rPr lang="zh-CN" altLang="en-US" dirty="0"/>
              <a:t>：显示当前真正登录系统中的用户（不会显示那些用</a:t>
            </a:r>
            <a:r>
              <a:rPr lang="en-US" altLang="zh-CN" dirty="0"/>
              <a:t>su</a:t>
            </a:r>
            <a:r>
              <a:rPr lang="zh-CN" altLang="en-US" dirty="0"/>
              <a:t>命令切换用户的登录者）</a:t>
            </a:r>
          </a:p>
        </p:txBody>
      </p:sp>
      <p:sp>
        <p:nvSpPr>
          <p:cNvPr id="4" name="灯片编号占位符 3"/>
          <p:cNvSpPr>
            <a:spLocks noGrp="1"/>
          </p:cNvSpPr>
          <p:nvPr>
            <p:ph type="sldNum" sz="quarter" idx="10"/>
          </p:nvPr>
        </p:nvSpPr>
        <p:spPr/>
        <p:txBody>
          <a:bodyPr/>
          <a:lstStyle/>
          <a:p>
            <a:pPr>
              <a:defRPr/>
            </a:pPr>
            <a:fld id="{7470E5E1-4843-4932-A191-9860DB39C7B3}" type="slidenum">
              <a:rPr lang="en-US" altLang="zh-CN" smtClean="0"/>
              <a:pPr>
                <a:defRPr/>
              </a:pPr>
              <a:t>58</a:t>
            </a:fld>
            <a:endParaRPr lang="en-US" altLang="zh-CN"/>
          </a:p>
        </p:txBody>
      </p:sp>
    </p:spTree>
    <p:extLst>
      <p:ext uri="{BB962C8B-B14F-4D97-AF65-F5344CB8AC3E}">
        <p14:creationId xmlns:p14="http://schemas.microsoft.com/office/powerpoint/2010/main" val="246469265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err="1"/>
              <a:t>whoami</a:t>
            </a:r>
            <a:r>
              <a:rPr lang="zh-CN" altLang="en-US" dirty="0"/>
              <a:t>；显示的是当前用户下的用户名</a:t>
            </a:r>
          </a:p>
          <a:p>
            <a:r>
              <a:rPr lang="en-US" altLang="zh-CN" dirty="0"/>
              <a:t>who am </a:t>
            </a:r>
            <a:r>
              <a:rPr lang="en-US" altLang="zh-CN" dirty="0" err="1"/>
              <a:t>i</a:t>
            </a:r>
            <a:r>
              <a:rPr lang="zh-CN" altLang="en-US" dirty="0"/>
              <a:t>：显示的是登录时的用户名</a:t>
            </a:r>
          </a:p>
          <a:p>
            <a:r>
              <a:rPr lang="en-US" altLang="zh-CN" dirty="0"/>
              <a:t>who</a:t>
            </a:r>
            <a:r>
              <a:rPr lang="zh-CN" altLang="en-US" dirty="0"/>
              <a:t>：显示当前真正登录系统中的用户（不会显示那些用</a:t>
            </a:r>
            <a:r>
              <a:rPr lang="en-US" altLang="zh-CN" dirty="0" err="1"/>
              <a:t>su</a:t>
            </a:r>
            <a:r>
              <a:rPr lang="zh-CN" altLang="en-US" dirty="0"/>
              <a:t>命令切换用户的登录者）</a:t>
            </a:r>
          </a:p>
          <a:p>
            <a:endParaRPr lang="zh-CN" altLang="en-US" dirty="0"/>
          </a:p>
        </p:txBody>
      </p:sp>
      <p:sp>
        <p:nvSpPr>
          <p:cNvPr id="4" name="灯片编号占位符 3"/>
          <p:cNvSpPr>
            <a:spLocks noGrp="1"/>
          </p:cNvSpPr>
          <p:nvPr>
            <p:ph type="sldNum" sz="quarter" idx="10"/>
          </p:nvPr>
        </p:nvSpPr>
        <p:spPr/>
        <p:txBody>
          <a:bodyPr/>
          <a:lstStyle/>
          <a:p>
            <a:pPr>
              <a:defRPr/>
            </a:pPr>
            <a:fld id="{7470E5E1-4843-4932-A191-9860DB39C7B3}" type="slidenum">
              <a:rPr lang="en-US" altLang="zh-CN" smtClean="0"/>
              <a:pPr>
                <a:defRPr/>
              </a:pPr>
              <a:t>59</a:t>
            </a:fld>
            <a:endParaRPr lang="en-US" altLang="zh-CN"/>
          </a:p>
        </p:txBody>
      </p:sp>
    </p:spTree>
    <p:extLst>
      <p:ext uri="{BB962C8B-B14F-4D97-AF65-F5344CB8AC3E}">
        <p14:creationId xmlns:p14="http://schemas.microsoft.com/office/powerpoint/2010/main" val="24646926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Line 2"/>
          <p:cNvSpPr>
            <a:spLocks noChangeShapeType="1"/>
          </p:cNvSpPr>
          <p:nvPr/>
        </p:nvSpPr>
        <p:spPr bwMode="auto">
          <a:xfrm>
            <a:off x="9753600" y="1066800"/>
            <a:ext cx="0" cy="4495800"/>
          </a:xfrm>
          <a:prstGeom prst="line">
            <a:avLst/>
          </a:prstGeom>
          <a:noFill/>
          <a:ln w="9525">
            <a:solidFill>
              <a:schemeClr val="tx1"/>
            </a:solidFill>
            <a:round/>
            <a:headEnd/>
            <a:tailEnd/>
          </a:ln>
          <a:effectLst/>
        </p:spPr>
        <p:txBody>
          <a:bodyPr/>
          <a:lstStyle/>
          <a:p>
            <a:pPr>
              <a:defRPr/>
            </a:pPr>
            <a:endParaRPr lang="zh-CN" altLang="en-US" b="0"/>
          </a:p>
        </p:txBody>
      </p:sp>
      <p:sp>
        <p:nvSpPr>
          <p:cNvPr id="5" name="Line 40"/>
          <p:cNvSpPr>
            <a:spLocks noChangeShapeType="1"/>
          </p:cNvSpPr>
          <p:nvPr/>
        </p:nvSpPr>
        <p:spPr bwMode="auto">
          <a:xfrm>
            <a:off x="406400" y="2819400"/>
            <a:ext cx="10972800" cy="0"/>
          </a:xfrm>
          <a:prstGeom prst="line">
            <a:avLst/>
          </a:prstGeom>
          <a:noFill/>
          <a:ln w="6350">
            <a:solidFill>
              <a:schemeClr val="tx1"/>
            </a:solidFill>
            <a:round/>
            <a:headEnd/>
            <a:tailEnd/>
          </a:ln>
          <a:effectLst/>
        </p:spPr>
        <p:txBody>
          <a:bodyPr/>
          <a:lstStyle/>
          <a:p>
            <a:pPr>
              <a:defRPr/>
            </a:pPr>
            <a:endParaRPr lang="zh-CN" altLang="en-US" b="0"/>
          </a:p>
        </p:txBody>
      </p:sp>
      <p:sp>
        <p:nvSpPr>
          <p:cNvPr id="28675" name="Rectangle 3"/>
          <p:cNvSpPr>
            <a:spLocks noGrp="1" noChangeArrowheads="1"/>
          </p:cNvSpPr>
          <p:nvPr>
            <p:ph type="ctrTitle"/>
          </p:nvPr>
        </p:nvSpPr>
        <p:spPr>
          <a:xfrm>
            <a:off x="421217" y="466725"/>
            <a:ext cx="9042400" cy="2133600"/>
          </a:xfrm>
        </p:spPr>
        <p:txBody>
          <a:bodyPr/>
          <a:lstStyle>
            <a:lvl1pPr algn="r">
              <a:defRPr sz="5200"/>
            </a:lvl1pPr>
          </a:lstStyle>
          <a:p>
            <a:r>
              <a:rPr lang="zh-CN" altLang="en-US"/>
              <a:t>单击此处编辑母版标题样式</a:t>
            </a:r>
          </a:p>
        </p:txBody>
      </p:sp>
      <p:sp>
        <p:nvSpPr>
          <p:cNvPr id="28676" name="Rectangle 4"/>
          <p:cNvSpPr>
            <a:spLocks noGrp="1" noChangeArrowheads="1"/>
          </p:cNvSpPr>
          <p:nvPr>
            <p:ph type="subTitle" idx="1"/>
          </p:nvPr>
        </p:nvSpPr>
        <p:spPr>
          <a:xfrm>
            <a:off x="1132417" y="3049588"/>
            <a:ext cx="8331200" cy="2362200"/>
          </a:xfrm>
        </p:spPr>
        <p:txBody>
          <a:bodyPr/>
          <a:lstStyle>
            <a:lvl1pPr marL="0" indent="0" algn="r">
              <a:buFont typeface="Wingdings" pitchFamily="2" charset="2"/>
              <a:buNone/>
              <a:defRPr sz="3200"/>
            </a:lvl1pPr>
          </a:lstStyle>
          <a:p>
            <a:r>
              <a:rPr lang="zh-CN" altLang="en-US"/>
              <a:t>单击此处编辑母版副标题样式</a:t>
            </a:r>
          </a:p>
        </p:txBody>
      </p:sp>
      <p:sp>
        <p:nvSpPr>
          <p:cNvPr id="38" name="Rectangle 5"/>
          <p:cNvSpPr>
            <a:spLocks noGrp="1" noChangeArrowheads="1"/>
          </p:cNvSpPr>
          <p:nvPr>
            <p:ph type="dt" sz="half" idx="10"/>
          </p:nvPr>
        </p:nvSpPr>
        <p:spPr bwMode="auto">
          <a:xfrm>
            <a:off x="609600" y="6248400"/>
            <a:ext cx="2844800" cy="4572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l">
              <a:defRPr sz="1000" b="0"/>
            </a:lvl1pPr>
          </a:lstStyle>
          <a:p>
            <a:pPr>
              <a:defRPr/>
            </a:pPr>
            <a:endParaRPr lang="en-US" altLang="zh-CN"/>
          </a:p>
        </p:txBody>
      </p:sp>
      <p:sp>
        <p:nvSpPr>
          <p:cNvPr id="39" name="Rectangle 6"/>
          <p:cNvSpPr>
            <a:spLocks noGrp="1" noChangeArrowheads="1"/>
          </p:cNvSpPr>
          <p:nvPr>
            <p:ph type="ftr" sz="quarter" idx="11"/>
          </p:nvPr>
        </p:nvSpPr>
        <p:spPr>
          <a:xfrm>
            <a:off x="239184" y="188913"/>
            <a:ext cx="3860800" cy="457200"/>
          </a:xfrm>
        </p:spPr>
        <p:txBody>
          <a:bodyPr/>
          <a:lstStyle>
            <a:lvl1pPr>
              <a:defRPr/>
            </a:lvl1pPr>
          </a:lstStyle>
          <a:p>
            <a:pPr>
              <a:defRPr/>
            </a:pPr>
            <a:endParaRPr lang="en-US" altLang="zh-CN"/>
          </a:p>
        </p:txBody>
      </p:sp>
    </p:spTree>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lgn="ctr">
              <a:defRPr sz="4000"/>
            </a:lvl1pPr>
          </a:lstStyle>
          <a:p>
            <a:r>
              <a:rPr lang="zh-CN" altLang="en-US" dirty="0"/>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ftr" sz="quarter" idx="10"/>
          </p:nvPr>
        </p:nvSpPr>
        <p:spPr/>
        <p:txBody>
          <a:bodyPr/>
          <a:lstStyle>
            <a:lvl1pPr>
              <a:defRPr/>
            </a:lvl1pPr>
          </a:lstStyle>
          <a:p>
            <a:pPr>
              <a:defRPr/>
            </a:pPr>
            <a:endParaRPr lang="en-US" altLang="zh-CN"/>
          </a:p>
        </p:txBody>
      </p:sp>
      <p:sp>
        <p:nvSpPr>
          <p:cNvPr id="5" name="Rectangle 7"/>
          <p:cNvSpPr>
            <a:spLocks noGrp="1" noChangeArrowheads="1"/>
          </p:cNvSpPr>
          <p:nvPr>
            <p:ph type="sldNum" sz="quarter" idx="11"/>
          </p:nvPr>
        </p:nvSpPr>
        <p:spPr>
          <a:xfrm>
            <a:off x="10416479" y="6392011"/>
            <a:ext cx="488467" cy="457200"/>
          </a:xfrm>
        </p:spPr>
        <p:txBody>
          <a:bodyPr/>
          <a:lstStyle>
            <a:lvl1pPr>
              <a:defRPr/>
            </a:lvl1pPr>
          </a:lstStyle>
          <a:p>
            <a:pPr>
              <a:defRPr/>
            </a:pPr>
            <a:fld id="{110871B5-850E-4E14-A636-3EC679EBF038}" type="slidenum">
              <a:rPr lang="en-US" altLang="zh-CN"/>
              <a:pPr>
                <a:defRPr/>
              </a:pPr>
              <a:t>‹#›</a:t>
            </a:fld>
            <a:endParaRPr lang="en-US" altLang="zh-CN"/>
          </a:p>
        </p:txBody>
      </p:sp>
    </p:spTree>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ftr" sz="quarter" idx="10"/>
          </p:nvPr>
        </p:nvSpPr>
        <p:spPr/>
        <p:txBody>
          <a:bodyPr/>
          <a:lstStyle>
            <a:lvl1pPr>
              <a:defRPr/>
            </a:lvl1pPr>
          </a:lstStyle>
          <a:p>
            <a:pPr>
              <a:defRPr/>
            </a:pPr>
            <a:endParaRPr lang="en-US" altLang="zh-CN"/>
          </a:p>
        </p:txBody>
      </p:sp>
      <p:sp>
        <p:nvSpPr>
          <p:cNvPr id="3" name="Rectangle 7"/>
          <p:cNvSpPr>
            <a:spLocks noGrp="1" noChangeArrowheads="1"/>
          </p:cNvSpPr>
          <p:nvPr>
            <p:ph type="sldNum" sz="quarter" idx="11"/>
          </p:nvPr>
        </p:nvSpPr>
        <p:spPr/>
        <p:txBody>
          <a:bodyPr/>
          <a:lstStyle>
            <a:lvl1pPr>
              <a:defRPr/>
            </a:lvl1pPr>
          </a:lstStyle>
          <a:p>
            <a:pPr>
              <a:defRPr/>
            </a:pPr>
            <a:fld id="{700C099A-6552-4724-AD39-B0EE2F003FA2}" type="slidenum">
              <a:rPr lang="en-US" altLang="zh-CN"/>
              <a:pPr>
                <a:defRPr/>
              </a:pPr>
              <a:t>‹#›</a:t>
            </a:fld>
            <a:endParaRPr lang="en-US" altLang="zh-CN"/>
          </a:p>
        </p:txBody>
      </p:sp>
    </p:spTree>
  </p:cSld>
  <p:clrMapOvr>
    <a:masterClrMapping/>
  </p:clrMapOvr>
  <p:transition spd="slow"/>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5">
            <a:lum/>
          </a:blip>
          <a:srcRect/>
          <a:stretch>
            <a:fillRect l="-1000" r="-1000"/>
          </a:stretch>
        </a:blipFill>
        <a:effectLst/>
      </p:bgPr>
    </p:bg>
    <p:spTree>
      <p:nvGrpSpPr>
        <p:cNvPr id="1" name=""/>
        <p:cNvGrpSpPr/>
        <p:nvPr/>
      </p:nvGrpSpPr>
      <p:grpSpPr>
        <a:xfrm>
          <a:off x="0" y="0"/>
          <a:ext cx="0" cy="0"/>
          <a:chOff x="0" y="0"/>
          <a:chExt cx="0" cy="0"/>
        </a:xfrm>
      </p:grpSpPr>
      <p:sp>
        <p:nvSpPr>
          <p:cNvPr id="2050" name="Rectangle 3"/>
          <p:cNvSpPr>
            <a:spLocks noGrp="1" noChangeArrowheads="1"/>
          </p:cNvSpPr>
          <p:nvPr>
            <p:ph type="title"/>
          </p:nvPr>
        </p:nvSpPr>
        <p:spPr bwMode="auto">
          <a:xfrm>
            <a:off x="335360" y="122239"/>
            <a:ext cx="9985109" cy="858837"/>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2051" name="Rectangle 4"/>
          <p:cNvSpPr>
            <a:spLocks noGrp="1" noChangeArrowheads="1"/>
          </p:cNvSpPr>
          <p:nvPr>
            <p:ph type="body" idx="1"/>
          </p:nvPr>
        </p:nvSpPr>
        <p:spPr bwMode="auto">
          <a:xfrm>
            <a:off x="609600" y="1719263"/>
            <a:ext cx="10972800" cy="44116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7654" name="Rectangle 6"/>
          <p:cNvSpPr>
            <a:spLocks noGrp="1" noChangeArrowheads="1"/>
          </p:cNvSpPr>
          <p:nvPr>
            <p:ph type="ftr" sz="quarter" idx="3"/>
          </p:nvPr>
        </p:nvSpPr>
        <p:spPr bwMode="auto">
          <a:xfrm>
            <a:off x="304800" y="6180138"/>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2000" b="0">
                <a:ea typeface="+mn-ea"/>
              </a:defRPr>
            </a:lvl1pPr>
          </a:lstStyle>
          <a:p>
            <a:pPr>
              <a:defRPr/>
            </a:pPr>
            <a:endParaRPr lang="en-US" altLang="zh-CN"/>
          </a:p>
        </p:txBody>
      </p:sp>
      <p:sp>
        <p:nvSpPr>
          <p:cNvPr id="27655" name="Rectangle 7"/>
          <p:cNvSpPr>
            <a:spLocks noGrp="1" noChangeArrowheads="1"/>
          </p:cNvSpPr>
          <p:nvPr>
            <p:ph type="sldNum" sz="quarter" idx="4"/>
          </p:nvPr>
        </p:nvSpPr>
        <p:spPr bwMode="auto">
          <a:xfrm>
            <a:off x="7859712" y="6163926"/>
            <a:ext cx="2844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600" b="1"/>
            </a:lvl1pPr>
          </a:lstStyle>
          <a:p>
            <a:pPr>
              <a:defRPr/>
            </a:pPr>
            <a:fld id="{F1DF145E-C5AF-4A14-B9F0-BF7FA6800514}" type="slidenum">
              <a:rPr lang="en-US" altLang="zh-CN" smtClean="0"/>
              <a:pPr>
                <a:defRPr/>
              </a:pPr>
              <a:t>‹#›</a:t>
            </a:fld>
            <a:endParaRPr lang="en-US" altLang="zh-CN" dirty="0"/>
          </a:p>
        </p:txBody>
      </p:sp>
    </p:spTree>
  </p:cSld>
  <p:clrMap bg1="lt1" tx1="dk1" bg2="lt2" tx2="dk2" accent1="accent1" accent2="accent2" accent3="accent3" accent4="accent4" accent5="accent5" accent6="accent6" hlink="hlink" folHlink="folHlink"/>
  <p:sldLayoutIdLst>
    <p:sldLayoutId id="2147483746" r:id="rId1"/>
    <p:sldLayoutId id="2147483747" r:id="rId2"/>
    <p:sldLayoutId id="2147483752" r:id="rId3"/>
  </p:sldLayoutIdLst>
  <p:transition/>
  <p:hf hdr="0" ftr="0" dt="0"/>
  <p:txStyles>
    <p:titleStyle>
      <a:lvl1pPr algn="l" rtl="0" eaLnBrk="0" fontAlgn="base" hangingPunct="0">
        <a:spcBef>
          <a:spcPct val="0"/>
        </a:spcBef>
        <a:spcAft>
          <a:spcPct val="0"/>
        </a:spcAft>
        <a:defRPr sz="4200" b="1">
          <a:solidFill>
            <a:schemeClr val="tx1"/>
          </a:solidFill>
          <a:latin typeface="+mj-lt"/>
          <a:ea typeface="+mj-ea"/>
          <a:cs typeface="+mj-cs"/>
        </a:defRPr>
      </a:lvl1pPr>
      <a:lvl2pPr algn="l" rtl="0" eaLnBrk="0" fontAlgn="base" hangingPunct="0">
        <a:spcBef>
          <a:spcPct val="0"/>
        </a:spcBef>
        <a:spcAft>
          <a:spcPct val="0"/>
        </a:spcAft>
        <a:defRPr sz="4200" b="1">
          <a:solidFill>
            <a:schemeClr val="tx1"/>
          </a:solidFill>
          <a:latin typeface="Arial" charset="0"/>
          <a:ea typeface="黑体" pitchFamily="2" charset="-122"/>
        </a:defRPr>
      </a:lvl2pPr>
      <a:lvl3pPr algn="l" rtl="0" eaLnBrk="0" fontAlgn="base" hangingPunct="0">
        <a:spcBef>
          <a:spcPct val="0"/>
        </a:spcBef>
        <a:spcAft>
          <a:spcPct val="0"/>
        </a:spcAft>
        <a:defRPr sz="4200" b="1">
          <a:solidFill>
            <a:schemeClr val="tx1"/>
          </a:solidFill>
          <a:latin typeface="Arial" charset="0"/>
          <a:ea typeface="黑体" pitchFamily="2" charset="-122"/>
        </a:defRPr>
      </a:lvl3pPr>
      <a:lvl4pPr algn="l" rtl="0" eaLnBrk="0" fontAlgn="base" hangingPunct="0">
        <a:spcBef>
          <a:spcPct val="0"/>
        </a:spcBef>
        <a:spcAft>
          <a:spcPct val="0"/>
        </a:spcAft>
        <a:defRPr sz="4200" b="1">
          <a:solidFill>
            <a:schemeClr val="tx1"/>
          </a:solidFill>
          <a:latin typeface="Arial" charset="0"/>
          <a:ea typeface="黑体" pitchFamily="2" charset="-122"/>
        </a:defRPr>
      </a:lvl4pPr>
      <a:lvl5pPr algn="l" rtl="0" eaLnBrk="0" fontAlgn="base" hangingPunct="0">
        <a:spcBef>
          <a:spcPct val="0"/>
        </a:spcBef>
        <a:spcAft>
          <a:spcPct val="0"/>
        </a:spcAft>
        <a:defRPr sz="4200" b="1">
          <a:solidFill>
            <a:schemeClr val="tx1"/>
          </a:solidFill>
          <a:latin typeface="Arial" charset="0"/>
          <a:ea typeface="黑体" pitchFamily="2" charset="-122"/>
        </a:defRPr>
      </a:lvl5pPr>
      <a:lvl6pPr marL="457200" algn="l" rtl="0" fontAlgn="base">
        <a:spcBef>
          <a:spcPct val="0"/>
        </a:spcBef>
        <a:spcAft>
          <a:spcPct val="0"/>
        </a:spcAft>
        <a:defRPr sz="4200" b="1">
          <a:solidFill>
            <a:schemeClr val="tx1"/>
          </a:solidFill>
          <a:latin typeface="Arial" charset="0"/>
          <a:ea typeface="黑体" pitchFamily="2" charset="-122"/>
        </a:defRPr>
      </a:lvl6pPr>
      <a:lvl7pPr marL="914400" algn="l" rtl="0" fontAlgn="base">
        <a:spcBef>
          <a:spcPct val="0"/>
        </a:spcBef>
        <a:spcAft>
          <a:spcPct val="0"/>
        </a:spcAft>
        <a:defRPr sz="4200" b="1">
          <a:solidFill>
            <a:schemeClr val="tx1"/>
          </a:solidFill>
          <a:latin typeface="Arial" charset="0"/>
          <a:ea typeface="黑体" pitchFamily="2" charset="-122"/>
        </a:defRPr>
      </a:lvl7pPr>
      <a:lvl8pPr marL="1371600" algn="l" rtl="0" fontAlgn="base">
        <a:spcBef>
          <a:spcPct val="0"/>
        </a:spcBef>
        <a:spcAft>
          <a:spcPct val="0"/>
        </a:spcAft>
        <a:defRPr sz="4200" b="1">
          <a:solidFill>
            <a:schemeClr val="tx1"/>
          </a:solidFill>
          <a:latin typeface="Arial" charset="0"/>
          <a:ea typeface="黑体" pitchFamily="2" charset="-122"/>
        </a:defRPr>
      </a:lvl8pPr>
      <a:lvl9pPr marL="1828800" algn="l" rtl="0" fontAlgn="base">
        <a:spcBef>
          <a:spcPct val="0"/>
        </a:spcBef>
        <a:spcAft>
          <a:spcPct val="0"/>
        </a:spcAft>
        <a:defRPr sz="4200" b="1">
          <a:solidFill>
            <a:schemeClr val="tx1"/>
          </a:solidFill>
          <a:latin typeface="Arial" charset="0"/>
          <a:ea typeface="黑体" pitchFamily="2" charset="-122"/>
        </a:defRPr>
      </a:lvl9pPr>
    </p:titleStyle>
    <p:bodyStyle>
      <a:lvl1pPr marL="342900" indent="-342900" algn="l" rtl="0" eaLnBrk="0" fontAlgn="base" hangingPunct="0">
        <a:spcBef>
          <a:spcPct val="20000"/>
        </a:spcBef>
        <a:spcAft>
          <a:spcPct val="0"/>
        </a:spcAft>
        <a:buClr>
          <a:schemeClr val="tx2"/>
        </a:buClr>
        <a:buSzPct val="70000"/>
        <a:buFont typeface="Wingdings" pitchFamily="2" charset="2"/>
        <a:buChar char="l"/>
        <a:defRPr sz="3000" b="1">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itchFamily="2" charset="2"/>
        <a:buChar char="l"/>
        <a:defRPr sz="2600" b="1">
          <a:solidFill>
            <a:schemeClr val="tx1"/>
          </a:solidFill>
          <a:latin typeface="+mn-lt"/>
          <a:ea typeface="+mn-ea"/>
        </a:defRPr>
      </a:lvl2pPr>
      <a:lvl3pPr marL="987425" indent="-293688" algn="l" rtl="0" eaLnBrk="0" fontAlgn="base" hangingPunct="0">
        <a:spcBef>
          <a:spcPct val="20000"/>
        </a:spcBef>
        <a:spcAft>
          <a:spcPct val="0"/>
        </a:spcAft>
        <a:buClr>
          <a:schemeClr val="accent1"/>
        </a:buClr>
        <a:buSzPct val="70000"/>
        <a:buFont typeface="Wingdings" pitchFamily="2" charset="2"/>
        <a:buChar char="l"/>
        <a:defRPr sz="2300" b="1">
          <a:solidFill>
            <a:schemeClr val="tx1"/>
          </a:solidFill>
          <a:latin typeface="+mn-lt"/>
          <a:ea typeface="+mn-ea"/>
        </a:defRPr>
      </a:lvl3pPr>
      <a:lvl4pPr marL="1281113" indent="-292100" algn="l" rtl="0" eaLnBrk="0" fontAlgn="base" hangingPunct="0">
        <a:spcBef>
          <a:spcPct val="20000"/>
        </a:spcBef>
        <a:spcAft>
          <a:spcPct val="0"/>
        </a:spcAft>
        <a:buClr>
          <a:schemeClr val="tx2"/>
        </a:buClr>
        <a:buSzPct val="75000"/>
        <a:buFont typeface="Wingdings" pitchFamily="2" charset="2"/>
        <a:buChar char="§"/>
        <a:defRPr sz="2000" b="1">
          <a:solidFill>
            <a:schemeClr val="tx1"/>
          </a:solidFill>
          <a:latin typeface="+mn-lt"/>
          <a:ea typeface="+mn-ea"/>
        </a:defRPr>
      </a:lvl4pPr>
      <a:lvl5pPr marL="1598613" indent="-315913" algn="l" rtl="0" eaLnBrk="0" fontAlgn="base" hangingPunct="0">
        <a:spcBef>
          <a:spcPct val="20000"/>
        </a:spcBef>
        <a:spcAft>
          <a:spcPct val="0"/>
        </a:spcAft>
        <a:buClr>
          <a:schemeClr val="folHlink"/>
        </a:buClr>
        <a:buSzPct val="80000"/>
        <a:buFont typeface="Wingdings" pitchFamily="2" charset="2"/>
        <a:buChar char="§"/>
        <a:defRPr sz="2000" b="1">
          <a:solidFill>
            <a:schemeClr val="tx1"/>
          </a:solidFill>
          <a:latin typeface="+mn-lt"/>
          <a:ea typeface="+mn-ea"/>
        </a:defRPr>
      </a:lvl5pPr>
      <a:lvl6pPr marL="2055813" indent="-315913" algn="l" rtl="0" fontAlgn="base">
        <a:spcBef>
          <a:spcPct val="20000"/>
        </a:spcBef>
        <a:spcAft>
          <a:spcPct val="0"/>
        </a:spcAft>
        <a:buClr>
          <a:schemeClr val="folHlink"/>
        </a:buClr>
        <a:buSzPct val="80000"/>
        <a:buFont typeface="Wingdings" pitchFamily="2" charset="2"/>
        <a:buChar char="§"/>
        <a:defRPr sz="2000" b="1">
          <a:solidFill>
            <a:schemeClr val="tx1"/>
          </a:solidFill>
          <a:latin typeface="+mn-lt"/>
          <a:ea typeface="+mn-ea"/>
        </a:defRPr>
      </a:lvl6pPr>
      <a:lvl7pPr marL="2513013" indent="-315913" algn="l" rtl="0" fontAlgn="base">
        <a:spcBef>
          <a:spcPct val="20000"/>
        </a:spcBef>
        <a:spcAft>
          <a:spcPct val="0"/>
        </a:spcAft>
        <a:buClr>
          <a:schemeClr val="folHlink"/>
        </a:buClr>
        <a:buSzPct val="80000"/>
        <a:buFont typeface="Wingdings" pitchFamily="2" charset="2"/>
        <a:buChar char="§"/>
        <a:defRPr sz="2000" b="1">
          <a:solidFill>
            <a:schemeClr val="tx1"/>
          </a:solidFill>
          <a:latin typeface="+mn-lt"/>
          <a:ea typeface="+mn-ea"/>
        </a:defRPr>
      </a:lvl7pPr>
      <a:lvl8pPr marL="2970213" indent="-315913" algn="l" rtl="0" fontAlgn="base">
        <a:spcBef>
          <a:spcPct val="20000"/>
        </a:spcBef>
        <a:spcAft>
          <a:spcPct val="0"/>
        </a:spcAft>
        <a:buClr>
          <a:schemeClr val="folHlink"/>
        </a:buClr>
        <a:buSzPct val="80000"/>
        <a:buFont typeface="Wingdings" pitchFamily="2" charset="2"/>
        <a:buChar char="§"/>
        <a:defRPr sz="2000" b="1">
          <a:solidFill>
            <a:schemeClr val="tx1"/>
          </a:solidFill>
          <a:latin typeface="+mn-lt"/>
          <a:ea typeface="+mn-ea"/>
        </a:defRPr>
      </a:lvl8pPr>
      <a:lvl9pPr marL="3427413" indent="-315913" algn="l" rtl="0" fontAlgn="base">
        <a:spcBef>
          <a:spcPct val="20000"/>
        </a:spcBef>
        <a:spcAft>
          <a:spcPct val="0"/>
        </a:spcAft>
        <a:buClr>
          <a:schemeClr val="folHlink"/>
        </a:buClr>
        <a:buSzPct val="80000"/>
        <a:buFont typeface="Wingdings" pitchFamily="2" charset="2"/>
        <a:buChar char="§"/>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ctrTitle"/>
          </p:nvPr>
        </p:nvSpPr>
        <p:spPr>
          <a:xfrm>
            <a:off x="1343026" y="1438722"/>
            <a:ext cx="6911975" cy="1846262"/>
          </a:xfrm>
        </p:spPr>
        <p:txBody>
          <a:bodyPr/>
          <a:lstStyle/>
          <a:p>
            <a:pPr algn="ctr" eaLnBrk="1" hangingPunct="1"/>
            <a:r>
              <a:rPr lang="en-US" altLang="zh-CN" sz="5000" dirty="0"/>
              <a:t>       </a:t>
            </a:r>
            <a:r>
              <a:rPr lang="zh-CN" altLang="en-US" sz="5400" dirty="0"/>
              <a:t>第 </a:t>
            </a:r>
            <a:r>
              <a:rPr lang="en-US" altLang="zh-CN" sz="5400" dirty="0"/>
              <a:t>4 </a:t>
            </a:r>
            <a:r>
              <a:rPr lang="zh-CN" altLang="en-US" sz="5400" dirty="0"/>
              <a:t>章</a:t>
            </a:r>
            <a:br>
              <a:rPr lang="en-US" altLang="zh-CN" sz="5400" dirty="0"/>
            </a:br>
            <a:r>
              <a:rPr lang="en-US" altLang="zh-CN" sz="5400" dirty="0"/>
              <a:t>      </a:t>
            </a:r>
            <a:endParaRPr lang="zh-CN" altLang="en-US" sz="4200" dirty="0"/>
          </a:p>
        </p:txBody>
      </p:sp>
      <p:sp>
        <p:nvSpPr>
          <p:cNvPr id="18436" name="Rectangle 3"/>
          <p:cNvSpPr>
            <a:spLocks noGrp="1" noChangeArrowheads="1"/>
          </p:cNvSpPr>
          <p:nvPr>
            <p:ph type="subTitle" idx="1"/>
          </p:nvPr>
        </p:nvSpPr>
        <p:spPr>
          <a:xfrm>
            <a:off x="2506663" y="2919413"/>
            <a:ext cx="6248400" cy="2449512"/>
          </a:xfrm>
        </p:spPr>
        <p:txBody>
          <a:bodyPr/>
          <a:lstStyle/>
          <a:p>
            <a:pPr algn="ctr" eaLnBrk="1" hangingPunct="1"/>
            <a:r>
              <a:rPr lang="zh-CN" altLang="en-US" sz="5400" dirty="0">
                <a:latin typeface="黑体" pitchFamily="2" charset="-122"/>
              </a:rPr>
              <a:t>用户与组群管理</a:t>
            </a:r>
            <a:endParaRPr lang="en-US" altLang="zh-CN" sz="1000" dirty="0">
              <a:latin typeface="Times New Roman"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B3AEAFC0-34AF-3EFC-10BE-FCB931CAE1A7}"/>
              </a:ext>
            </a:extLst>
          </p:cNvPr>
          <p:cNvSpPr/>
          <p:nvPr/>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098" name="Rectangle 2"/>
          <p:cNvSpPr>
            <a:spLocks noGrp="1" noChangeArrowheads="1"/>
          </p:cNvSpPr>
          <p:nvPr>
            <p:ph type="title"/>
          </p:nvPr>
        </p:nvSpPr>
        <p:spPr>
          <a:xfrm>
            <a:off x="983432" y="597947"/>
            <a:ext cx="9985109" cy="858837"/>
          </a:xfrm>
        </p:spPr>
        <p:txBody>
          <a:bodyPr/>
          <a:lstStyle/>
          <a:p>
            <a:pPr algn="ctr" eaLnBrk="1" hangingPunct="1"/>
            <a:r>
              <a:rPr lang="zh-CN" altLang="en-US" dirty="0">
                <a:latin typeface="Tahoma" pitchFamily="34" charset="0"/>
                <a:ea typeface="黑体" pitchFamily="49" charset="-122"/>
                <a:cs typeface="Tahoma" pitchFamily="34" charset="0"/>
              </a:rPr>
              <a:t>本章内容</a:t>
            </a:r>
          </a:p>
        </p:txBody>
      </p:sp>
      <p:sp>
        <p:nvSpPr>
          <p:cNvPr id="4099" name="Rectangle 3"/>
          <p:cNvSpPr>
            <a:spLocks noGrp="1" noChangeArrowheads="1"/>
          </p:cNvSpPr>
          <p:nvPr>
            <p:ph idx="1"/>
          </p:nvPr>
        </p:nvSpPr>
        <p:spPr>
          <a:xfrm>
            <a:off x="1264568" y="1662001"/>
            <a:ext cx="9662864" cy="4411662"/>
          </a:xfrm>
        </p:spPr>
        <p:txBody>
          <a:bodyPr/>
          <a:lstStyle/>
          <a:p>
            <a:pPr eaLnBrk="1" hangingPunct="1">
              <a:lnSpc>
                <a:spcPct val="200000"/>
              </a:lnSpc>
            </a:pPr>
            <a:r>
              <a:rPr lang="zh-CN" altLang="en-US" dirty="0">
                <a:latin typeface="Tahoma" pitchFamily="34" charset="0"/>
                <a:cs typeface="Tahoma" pitchFamily="34" charset="0"/>
              </a:rPr>
              <a:t>用户与组群</a:t>
            </a:r>
          </a:p>
          <a:p>
            <a:pPr eaLnBrk="1" hangingPunct="1">
              <a:lnSpc>
                <a:spcPct val="200000"/>
              </a:lnSpc>
            </a:pPr>
            <a:r>
              <a:rPr lang="zh-CN" altLang="en-US" dirty="0">
                <a:latin typeface="Tahoma" pitchFamily="34" charset="0"/>
                <a:cs typeface="Tahoma" pitchFamily="34" charset="0"/>
              </a:rPr>
              <a:t>管理用户的</a:t>
            </a:r>
            <a:r>
              <a:rPr lang="en-US" altLang="zh-CN" dirty="0">
                <a:latin typeface="Tahoma" pitchFamily="34" charset="0"/>
                <a:cs typeface="Tahoma" pitchFamily="34" charset="0"/>
              </a:rPr>
              <a:t>Shell</a:t>
            </a:r>
            <a:r>
              <a:rPr lang="zh-CN" altLang="en-US" dirty="0">
                <a:latin typeface="Tahoma" pitchFamily="34" charset="0"/>
                <a:cs typeface="Tahoma" pitchFamily="34" charset="0"/>
              </a:rPr>
              <a:t>命令</a:t>
            </a:r>
            <a:endParaRPr lang="en-US" altLang="zh-CN" dirty="0">
              <a:latin typeface="Tahoma" pitchFamily="34" charset="0"/>
              <a:cs typeface="Tahoma" pitchFamily="34" charset="0"/>
            </a:endParaRPr>
          </a:p>
          <a:p>
            <a:pPr eaLnBrk="1" hangingPunct="1">
              <a:lnSpc>
                <a:spcPct val="200000"/>
              </a:lnSpc>
            </a:pPr>
            <a:r>
              <a:rPr lang="zh-CN" altLang="en-US" dirty="0">
                <a:latin typeface="Tahoma" pitchFamily="34" charset="0"/>
                <a:cs typeface="Tahoma" pitchFamily="34" charset="0"/>
              </a:rPr>
              <a:t>管理组群的</a:t>
            </a:r>
            <a:r>
              <a:rPr lang="en-US" altLang="zh-CN" dirty="0">
                <a:latin typeface="Tahoma" pitchFamily="34" charset="0"/>
                <a:cs typeface="Tahoma" pitchFamily="34" charset="0"/>
              </a:rPr>
              <a:t>Shell</a:t>
            </a:r>
            <a:r>
              <a:rPr lang="zh-CN" altLang="en-US" dirty="0">
                <a:latin typeface="Tahoma" pitchFamily="34" charset="0"/>
                <a:cs typeface="Tahoma" pitchFamily="34" charset="0"/>
              </a:rPr>
              <a:t>命令</a:t>
            </a:r>
            <a:endParaRPr lang="en-US" altLang="zh-CN" dirty="0">
              <a:latin typeface="Tahoma" pitchFamily="34" charset="0"/>
              <a:cs typeface="Tahoma" pitchFamily="34" charset="0"/>
            </a:endParaRPr>
          </a:p>
          <a:p>
            <a:pPr eaLnBrk="1" hangingPunct="1">
              <a:lnSpc>
                <a:spcPct val="150000"/>
              </a:lnSpc>
            </a:pPr>
            <a:endParaRPr lang="en-US" altLang="zh-CN" sz="3200" dirty="0">
              <a:latin typeface="Tahoma" pitchFamily="34" charset="0"/>
              <a:cs typeface="Tahoma" pitchFamily="34" charset="0"/>
            </a:endParaRPr>
          </a:p>
          <a:p>
            <a:pPr eaLnBrk="1" hangingPunct="1">
              <a:lnSpc>
                <a:spcPct val="150000"/>
              </a:lnSpc>
            </a:pPr>
            <a:endParaRPr lang="zh-CN" altLang="en-US" sz="3200" dirty="0">
              <a:latin typeface="Tahoma" pitchFamily="34" charset="0"/>
              <a:cs typeface="Tahoma" pitchFamily="34" charset="0"/>
            </a:endParaRPr>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2</a:t>
            </a:fld>
            <a:endParaRPr lang="en-US" altLang="zh-CN"/>
          </a:p>
        </p:txBody>
      </p:sp>
    </p:spTree>
    <p:extLst>
      <p:ext uri="{BB962C8B-B14F-4D97-AF65-F5344CB8AC3E}">
        <p14:creationId xmlns:p14="http://schemas.microsoft.com/office/powerpoint/2010/main" val="84529696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1ABBD732-0576-6FA4-41F6-1E23C5600CA2}"/>
              </a:ext>
            </a:extLst>
          </p:cNvPr>
          <p:cNvSpPr/>
          <p:nvPr/>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290" name="Rectangle 2"/>
          <p:cNvSpPr>
            <a:spLocks noGrp="1" noChangeArrowheads="1"/>
          </p:cNvSpPr>
          <p:nvPr>
            <p:ph type="title"/>
          </p:nvPr>
        </p:nvSpPr>
        <p:spPr>
          <a:xfrm>
            <a:off x="533400" y="579120"/>
            <a:ext cx="11125200" cy="858837"/>
          </a:xfrm>
        </p:spPr>
        <p:txBody>
          <a:bodyPr/>
          <a:lstStyle/>
          <a:p>
            <a:pPr algn="ctr" eaLnBrk="1" hangingPunct="1"/>
            <a:r>
              <a:rPr lang="en-US" altLang="zh-CN" dirty="0">
                <a:latin typeface="+mn-lt"/>
                <a:cs typeface="Tahoma" pitchFamily="34" charset="0"/>
              </a:rPr>
              <a:t>4.1</a:t>
            </a:r>
            <a:r>
              <a:rPr lang="en-US" altLang="zh-CN" dirty="0">
                <a:latin typeface="+mj-ea"/>
                <a:cs typeface="Tahoma" pitchFamily="34" charset="0"/>
              </a:rPr>
              <a:t> </a:t>
            </a:r>
            <a:r>
              <a:rPr lang="zh-CN" altLang="en-US" dirty="0">
                <a:latin typeface="+mj-ea"/>
                <a:cs typeface="Tahoma" pitchFamily="34" charset="0"/>
              </a:rPr>
              <a:t>用户与组群</a:t>
            </a:r>
          </a:p>
        </p:txBody>
      </p:sp>
      <p:sp>
        <p:nvSpPr>
          <p:cNvPr id="12291" name="Rectangle 3"/>
          <p:cNvSpPr>
            <a:spLocks noGrp="1" noChangeArrowheads="1"/>
          </p:cNvSpPr>
          <p:nvPr>
            <p:ph idx="1"/>
          </p:nvPr>
        </p:nvSpPr>
        <p:spPr>
          <a:xfrm>
            <a:off x="1271464" y="1609626"/>
            <a:ext cx="9793088" cy="4411662"/>
          </a:xfrm>
        </p:spPr>
        <p:txBody>
          <a:bodyPr/>
          <a:lstStyle/>
          <a:p>
            <a:pPr eaLnBrk="1" hangingPunct="1">
              <a:lnSpc>
                <a:spcPct val="130000"/>
              </a:lnSpc>
            </a:pPr>
            <a:r>
              <a:rPr lang="en-US" altLang="zh-CN" sz="2600" dirty="0">
                <a:latin typeface="Tahoma" pitchFamily="34" charset="0"/>
                <a:cs typeface="Tahoma" pitchFamily="34" charset="0"/>
              </a:rPr>
              <a:t>Linux</a:t>
            </a:r>
            <a:r>
              <a:rPr lang="zh-CN" altLang="en-US" sz="2600" dirty="0">
                <a:latin typeface="Tahoma" pitchFamily="34" charset="0"/>
                <a:cs typeface="Tahoma" pitchFamily="34" charset="0"/>
              </a:rPr>
              <a:t>系统是一个多用户多任务的分时操作系统，多用户系统的多个用户可以从本机或远程登录到同一计算机，同时访问同一外围设备。</a:t>
            </a:r>
            <a:endParaRPr lang="en-US" altLang="zh-CN" sz="2600" dirty="0">
              <a:latin typeface="Tahoma" pitchFamily="34" charset="0"/>
              <a:cs typeface="Tahoma" pitchFamily="34" charset="0"/>
            </a:endParaRPr>
          </a:p>
          <a:p>
            <a:pPr eaLnBrk="1" hangingPunct="1">
              <a:lnSpc>
                <a:spcPct val="130000"/>
              </a:lnSpc>
            </a:pPr>
            <a:r>
              <a:rPr lang="zh-CN" altLang="en-US" sz="2600" dirty="0">
                <a:solidFill>
                  <a:srgbClr val="0000CC"/>
                </a:solidFill>
                <a:latin typeface="Tahoma" pitchFamily="34" charset="0"/>
                <a:cs typeface="Tahoma" pitchFamily="34" charset="0"/>
              </a:rPr>
              <a:t>不同的用户对于相同的资源拥有不同的使用权限</a:t>
            </a:r>
            <a:r>
              <a:rPr lang="zh-CN" altLang="en-US" sz="2600" dirty="0">
                <a:latin typeface="Tahoma" pitchFamily="34" charset="0"/>
                <a:cs typeface="Tahoma" pitchFamily="34" charset="0"/>
              </a:rPr>
              <a:t>。</a:t>
            </a:r>
            <a:r>
              <a:rPr lang="en-US" altLang="zh-CN" sz="2600" dirty="0">
                <a:latin typeface="Tahoma" pitchFamily="34" charset="0"/>
                <a:cs typeface="Tahoma" pitchFamily="34" charset="0"/>
              </a:rPr>
              <a:t>Linux</a:t>
            </a:r>
            <a:r>
              <a:rPr lang="zh-CN" altLang="en-US" sz="2600" dirty="0">
                <a:latin typeface="Tahoma" pitchFamily="34" charset="0"/>
                <a:cs typeface="Tahoma" pitchFamily="34" charset="0"/>
              </a:rPr>
              <a:t>将</a:t>
            </a:r>
            <a:r>
              <a:rPr lang="zh-CN" altLang="en-US" sz="2600" dirty="0">
                <a:solidFill>
                  <a:srgbClr val="0000CC"/>
                </a:solidFill>
                <a:latin typeface="Tahoma" pitchFamily="34" charset="0"/>
                <a:cs typeface="Tahoma" pitchFamily="34" charset="0"/>
              </a:rPr>
              <a:t>同一类型的用户归于一个组群</a:t>
            </a:r>
            <a:r>
              <a:rPr lang="zh-CN" altLang="en-US" sz="2600" dirty="0">
                <a:latin typeface="Tahoma" pitchFamily="34" charset="0"/>
                <a:cs typeface="Tahoma" pitchFamily="34" charset="0"/>
              </a:rPr>
              <a:t>，可利用组群权限来控制组群成员用户的权限。</a:t>
            </a:r>
            <a:endParaRPr lang="en-US" altLang="zh-CN" sz="2600" dirty="0">
              <a:latin typeface="Tahoma" pitchFamily="34" charset="0"/>
              <a:cs typeface="Tahoma" pitchFamily="34" charset="0"/>
            </a:endParaRPr>
          </a:p>
          <a:p>
            <a:pPr eaLnBrk="1" hangingPunct="1">
              <a:lnSpc>
                <a:spcPct val="130000"/>
              </a:lnSpc>
            </a:pPr>
            <a:r>
              <a:rPr lang="en-US" altLang="zh-CN" sz="2600" dirty="0">
                <a:latin typeface="Tahoma" pitchFamily="34" charset="0"/>
                <a:cs typeface="Tahoma" pitchFamily="34" charset="0"/>
              </a:rPr>
              <a:t>Linux</a:t>
            </a:r>
            <a:r>
              <a:rPr lang="zh-CN" altLang="en-US" sz="2600" dirty="0">
                <a:latin typeface="Tahoma" pitchFamily="34" charset="0"/>
                <a:cs typeface="Tahoma" pitchFamily="34" charset="0"/>
              </a:rPr>
              <a:t>系统进行</a:t>
            </a:r>
            <a:r>
              <a:rPr lang="zh-CN" altLang="en-US" sz="2600" dirty="0">
                <a:solidFill>
                  <a:srgbClr val="CC0099"/>
                </a:solidFill>
                <a:latin typeface="Tahoma" pitchFamily="34" charset="0"/>
                <a:cs typeface="Tahoma" pitchFamily="34" charset="0"/>
              </a:rPr>
              <a:t>用户和组群管理的目的</a:t>
            </a:r>
            <a:r>
              <a:rPr lang="zh-CN" altLang="en-US" sz="2600" dirty="0">
                <a:latin typeface="Tahoma" pitchFamily="34" charset="0"/>
                <a:cs typeface="Tahoma" pitchFamily="34" charset="0"/>
              </a:rPr>
              <a:t>在于保证系统中数据与进程的安全。</a:t>
            </a:r>
          </a:p>
        </p:txBody>
      </p:sp>
      <p:sp>
        <p:nvSpPr>
          <p:cNvPr id="5" name="灯片编号占位符 4"/>
          <p:cNvSpPr>
            <a:spLocks noGrp="1"/>
          </p:cNvSpPr>
          <p:nvPr>
            <p:ph type="sldNum" sz="quarter" idx="11"/>
          </p:nvPr>
        </p:nvSpPr>
        <p:spPr>
          <a:xfrm>
            <a:off x="8112224" y="6400800"/>
            <a:ext cx="2844800" cy="457200"/>
          </a:xfrm>
        </p:spPr>
        <p:txBody>
          <a:bodyPr/>
          <a:lstStyle/>
          <a:p>
            <a:pPr>
              <a:defRPr/>
            </a:pPr>
            <a:fld id="{110871B5-850E-4E14-A636-3EC679EBF038}" type="slidenum">
              <a:rPr lang="en-US" altLang="zh-CN" smtClean="0"/>
              <a:pPr>
                <a:defRPr/>
              </a:pPr>
              <a:t>3</a:t>
            </a:fld>
            <a:endParaRPr lang="en-US" altLang="zh-CN" dirty="0"/>
          </a:p>
        </p:txBody>
      </p:sp>
    </p:spTree>
    <p:extLst>
      <p:ext uri="{BB962C8B-B14F-4D97-AF65-F5344CB8AC3E}">
        <p14:creationId xmlns:p14="http://schemas.microsoft.com/office/powerpoint/2010/main" val="366003569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707B083F-8805-D698-F065-2B5DB6A8B5E4}"/>
              </a:ext>
            </a:extLst>
          </p:cNvPr>
          <p:cNvSpPr/>
          <p:nvPr/>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4338" name="Rectangle 2"/>
          <p:cNvSpPr>
            <a:spLocks noGrp="1" noChangeArrowheads="1"/>
          </p:cNvSpPr>
          <p:nvPr>
            <p:ph type="title"/>
          </p:nvPr>
        </p:nvSpPr>
        <p:spPr>
          <a:xfrm>
            <a:off x="1271464" y="518519"/>
            <a:ext cx="9505056" cy="858837"/>
          </a:xfrm>
        </p:spPr>
        <p:txBody>
          <a:bodyPr/>
          <a:lstStyle/>
          <a:p>
            <a:pPr algn="ctr" eaLnBrk="1" hangingPunct="1"/>
            <a:r>
              <a:rPr lang="zh-CN" altLang="en-US" dirty="0">
                <a:latin typeface="Tahoma" pitchFamily="34" charset="0"/>
                <a:cs typeface="Tahoma" pitchFamily="34" charset="0"/>
              </a:rPr>
              <a:t>用户和组</a:t>
            </a:r>
          </a:p>
        </p:txBody>
      </p:sp>
      <p:sp>
        <p:nvSpPr>
          <p:cNvPr id="14339" name="Rectangle 3"/>
          <p:cNvSpPr>
            <a:spLocks noGrp="1" noChangeArrowheads="1"/>
          </p:cNvSpPr>
          <p:nvPr>
            <p:ph idx="1"/>
          </p:nvPr>
        </p:nvSpPr>
        <p:spPr>
          <a:xfrm>
            <a:off x="1271464" y="1340768"/>
            <a:ext cx="9505056" cy="4411662"/>
          </a:xfrm>
        </p:spPr>
        <p:txBody>
          <a:bodyPr/>
          <a:lstStyle/>
          <a:p>
            <a:pPr eaLnBrk="1" hangingPunct="1">
              <a:lnSpc>
                <a:spcPct val="120000"/>
              </a:lnSpc>
              <a:buFontTx/>
              <a:buNone/>
            </a:pPr>
            <a:r>
              <a:rPr lang="en-US" altLang="zh-CN" sz="2600" dirty="0"/>
              <a:t>	</a:t>
            </a:r>
            <a:r>
              <a:rPr lang="en-US" altLang="zh-CN" sz="2600" dirty="0">
                <a:latin typeface="Tahoma" pitchFamily="34" charset="0"/>
                <a:cs typeface="Tahoma" pitchFamily="34" charset="0"/>
              </a:rPr>
              <a:t>1. </a:t>
            </a:r>
            <a:r>
              <a:rPr lang="zh-CN" altLang="en-US" sz="2600" dirty="0">
                <a:latin typeface="Tahoma" pitchFamily="34" charset="0"/>
                <a:cs typeface="Tahoma" pitchFamily="34" charset="0"/>
              </a:rPr>
              <a:t>用户管理</a:t>
            </a:r>
          </a:p>
          <a:p>
            <a:pPr eaLnBrk="1" hangingPunct="1">
              <a:lnSpc>
                <a:spcPct val="120000"/>
              </a:lnSpc>
            </a:pPr>
            <a:r>
              <a:rPr lang="en-US" altLang="zh-CN" sz="2600" dirty="0">
                <a:latin typeface="Tahoma" pitchFamily="34" charset="0"/>
                <a:cs typeface="Tahoma" pitchFamily="34" charset="0"/>
              </a:rPr>
              <a:t>Linux</a:t>
            </a:r>
            <a:r>
              <a:rPr lang="zh-CN" altLang="en-US" sz="2600" dirty="0">
                <a:latin typeface="Tahoma" pitchFamily="34" charset="0"/>
                <a:cs typeface="Tahoma" pitchFamily="34" charset="0"/>
              </a:rPr>
              <a:t>的每一个用户都有自己的用户账号</a:t>
            </a:r>
            <a:r>
              <a:rPr lang="en-US" altLang="zh-CN" sz="2600" dirty="0">
                <a:latin typeface="Tahoma" pitchFamily="34" charset="0"/>
                <a:cs typeface="Tahoma" pitchFamily="34" charset="0"/>
              </a:rPr>
              <a:t>(</a:t>
            </a:r>
            <a:r>
              <a:rPr lang="zh-CN" altLang="en-US" sz="2600" dirty="0">
                <a:latin typeface="Tahoma" pitchFamily="34" charset="0"/>
                <a:cs typeface="Tahoma" pitchFamily="34" charset="0"/>
              </a:rPr>
              <a:t>用户名</a:t>
            </a:r>
            <a:r>
              <a:rPr lang="en-US" altLang="zh-CN" sz="2600" dirty="0">
                <a:latin typeface="Tahoma" pitchFamily="34" charset="0"/>
                <a:cs typeface="Tahoma" pitchFamily="34" charset="0"/>
              </a:rPr>
              <a:t>)</a:t>
            </a:r>
            <a:r>
              <a:rPr lang="zh-CN" altLang="en-US" sz="2600" dirty="0">
                <a:latin typeface="Tahoma" pitchFamily="34" charset="0"/>
                <a:cs typeface="Tahoma" pitchFamily="34" charset="0"/>
              </a:rPr>
              <a:t>、用户</a:t>
            </a:r>
            <a:r>
              <a:rPr lang="en-US" altLang="zh-CN" sz="2600" dirty="0" err="1">
                <a:latin typeface="Tahoma" pitchFamily="34" charset="0"/>
                <a:cs typeface="Tahoma" pitchFamily="34" charset="0"/>
              </a:rPr>
              <a:t>UID</a:t>
            </a:r>
            <a:r>
              <a:rPr lang="zh-CN" altLang="en-US" sz="2600" dirty="0">
                <a:latin typeface="Tahoma" pitchFamily="34" charset="0"/>
                <a:cs typeface="Tahoma" pitchFamily="34" charset="0"/>
              </a:rPr>
              <a:t>及口令。只有用户名是已经登记在案，且口令符合者才能进入系统。</a:t>
            </a:r>
            <a:r>
              <a:rPr lang="en-US" altLang="zh-CN" sz="2600" dirty="0">
                <a:latin typeface="Tahoma" pitchFamily="34" charset="0"/>
                <a:cs typeface="Tahoma" pitchFamily="34" charset="0"/>
              </a:rPr>
              <a:t>Linux</a:t>
            </a:r>
            <a:r>
              <a:rPr lang="zh-CN" altLang="en-US" sz="2600" dirty="0">
                <a:latin typeface="Tahoma" pitchFamily="34" charset="0"/>
                <a:cs typeface="Tahoma" pitchFamily="34" charset="0"/>
              </a:rPr>
              <a:t>主机并不会直接认识“账号名称”，它仅认识</a:t>
            </a:r>
            <a:r>
              <a:rPr lang="en-US" altLang="zh-CN" sz="2600" dirty="0">
                <a:latin typeface="Tahoma" pitchFamily="34" charset="0"/>
                <a:cs typeface="Tahoma" pitchFamily="34" charset="0"/>
              </a:rPr>
              <a:t>ID</a:t>
            </a:r>
            <a:r>
              <a:rPr lang="zh-CN" altLang="en-US" sz="2600" dirty="0">
                <a:latin typeface="Tahoma" pitchFamily="34" charset="0"/>
                <a:cs typeface="Tahoma" pitchFamily="34" charset="0"/>
              </a:rPr>
              <a:t>，</a:t>
            </a:r>
            <a:r>
              <a:rPr lang="en-US" altLang="zh-CN" sz="2600" dirty="0">
                <a:latin typeface="Tahoma" pitchFamily="34" charset="0"/>
                <a:cs typeface="Tahoma" pitchFamily="34" charset="0"/>
              </a:rPr>
              <a:t>ID</a:t>
            </a:r>
            <a:r>
              <a:rPr lang="zh-CN" altLang="en-US" sz="2600" dirty="0">
                <a:latin typeface="Tahoma" pitchFamily="34" charset="0"/>
                <a:cs typeface="Tahoma" pitchFamily="34" charset="0"/>
              </a:rPr>
              <a:t>就是一组号码。主机识别的是数字，账号只是为了让人们容易记忆而已。</a:t>
            </a:r>
            <a:endParaRPr lang="en-US" altLang="zh-CN" sz="2600" dirty="0">
              <a:latin typeface="Tahoma" pitchFamily="34" charset="0"/>
              <a:cs typeface="Tahoma" pitchFamily="34" charset="0"/>
            </a:endParaRPr>
          </a:p>
          <a:p>
            <a:pPr eaLnBrk="1" hangingPunct="1">
              <a:lnSpc>
                <a:spcPct val="120000"/>
              </a:lnSpc>
            </a:pPr>
            <a:r>
              <a:rPr lang="zh-CN" altLang="en-US" sz="2600" dirty="0"/>
              <a:t>每个用户登录至少会取得两个</a:t>
            </a:r>
            <a:r>
              <a:rPr lang="en-US" altLang="zh-CN" sz="2600" dirty="0"/>
              <a:t>ID</a:t>
            </a:r>
            <a:r>
              <a:rPr lang="zh-CN" altLang="en-US" sz="2600" dirty="0"/>
              <a:t>，一个是</a:t>
            </a:r>
            <a:r>
              <a:rPr lang="zh-CN" altLang="en-US" sz="2600" dirty="0">
                <a:solidFill>
                  <a:srgbClr val="CC0099"/>
                </a:solidFill>
              </a:rPr>
              <a:t>用户</a:t>
            </a:r>
            <a:r>
              <a:rPr lang="en-US" altLang="zh-CN" sz="2600" dirty="0">
                <a:solidFill>
                  <a:srgbClr val="CC0099"/>
                </a:solidFill>
              </a:rPr>
              <a:t>ID</a:t>
            </a:r>
            <a:r>
              <a:rPr lang="zh-CN" altLang="en-US" sz="2600" dirty="0"/>
              <a:t>，称为</a:t>
            </a:r>
            <a:r>
              <a:rPr lang="en-US" altLang="zh-CN" sz="2600" dirty="0">
                <a:solidFill>
                  <a:srgbClr val="CC0099"/>
                </a:solidFill>
              </a:rPr>
              <a:t>UID</a:t>
            </a:r>
            <a:r>
              <a:rPr lang="zh-CN" altLang="en-US" sz="2600" dirty="0"/>
              <a:t>；一个是</a:t>
            </a:r>
            <a:r>
              <a:rPr lang="zh-CN" altLang="en-US" sz="2600" dirty="0">
                <a:solidFill>
                  <a:srgbClr val="0000CC"/>
                </a:solidFill>
              </a:rPr>
              <a:t>用户组</a:t>
            </a:r>
            <a:r>
              <a:rPr lang="en-US" altLang="zh-CN" sz="2600" dirty="0">
                <a:solidFill>
                  <a:srgbClr val="0000CC"/>
                </a:solidFill>
              </a:rPr>
              <a:t>ID</a:t>
            </a:r>
            <a:r>
              <a:rPr lang="zh-CN" altLang="en-US" sz="2600" dirty="0"/>
              <a:t>，称为</a:t>
            </a:r>
            <a:r>
              <a:rPr lang="en-US" altLang="zh-CN" sz="2600" dirty="0">
                <a:solidFill>
                  <a:srgbClr val="0000CC"/>
                </a:solidFill>
              </a:rPr>
              <a:t>GID</a:t>
            </a:r>
            <a:r>
              <a:rPr lang="zh-CN" altLang="en-US" sz="2600" dirty="0"/>
              <a:t>。</a:t>
            </a:r>
            <a:r>
              <a:rPr lang="en-US" altLang="zh-CN" sz="2600" dirty="0"/>
              <a:t>ID</a:t>
            </a:r>
            <a:r>
              <a:rPr lang="zh-CN" altLang="en-US" sz="2600" dirty="0"/>
              <a:t>与账号的对应关系就在</a:t>
            </a:r>
            <a:r>
              <a:rPr lang="en-US" altLang="zh-CN" sz="2600" dirty="0"/>
              <a:t>/</a:t>
            </a:r>
            <a:r>
              <a:rPr lang="en-US" altLang="zh-CN" sz="2600" dirty="0" err="1"/>
              <a:t>etc</a:t>
            </a:r>
            <a:r>
              <a:rPr lang="en-US" altLang="zh-CN" sz="2600" dirty="0"/>
              <a:t>/passwd</a:t>
            </a:r>
            <a:r>
              <a:rPr lang="zh-CN" altLang="en-US" sz="2600" dirty="0"/>
              <a:t>。</a:t>
            </a:r>
            <a:endParaRPr lang="en-US" altLang="zh-CN" sz="2600" dirty="0">
              <a:latin typeface="Tahoma" pitchFamily="34" charset="0"/>
              <a:cs typeface="Tahoma" pitchFamily="34" charset="0"/>
            </a:endParaRPr>
          </a:p>
          <a:p>
            <a:pPr marL="0" indent="0" eaLnBrk="1" hangingPunct="1">
              <a:lnSpc>
                <a:spcPct val="120000"/>
              </a:lnSpc>
              <a:buNone/>
            </a:pPr>
            <a:endParaRPr lang="zh-CN" altLang="en-US" sz="2600" dirty="0">
              <a:latin typeface="Tahoma" pitchFamily="34" charset="0"/>
              <a:cs typeface="Tahoma" pitchFamily="34" charset="0"/>
            </a:endParaRPr>
          </a:p>
        </p:txBody>
      </p:sp>
      <p:sp>
        <p:nvSpPr>
          <p:cNvPr id="5" name="灯片编号占位符 4"/>
          <p:cNvSpPr>
            <a:spLocks noGrp="1"/>
          </p:cNvSpPr>
          <p:nvPr>
            <p:ph type="sldNum" sz="quarter" idx="11"/>
          </p:nvPr>
        </p:nvSpPr>
        <p:spPr/>
        <p:txBody>
          <a:bodyPr/>
          <a:lstStyle/>
          <a:p>
            <a:pPr>
              <a:defRPr/>
            </a:pPr>
            <a:fld id="{110871B5-850E-4E14-A636-3EC679EBF038}" type="slidenum">
              <a:rPr lang="en-US" altLang="zh-CN" smtClean="0"/>
              <a:pPr>
                <a:defRPr/>
              </a:pPr>
              <a:t>4</a:t>
            </a:fld>
            <a:endParaRPr lang="en-US" altLang="zh-CN"/>
          </a:p>
        </p:txBody>
      </p:sp>
    </p:spTree>
    <p:extLst>
      <p:ext uri="{BB962C8B-B14F-4D97-AF65-F5344CB8AC3E}">
        <p14:creationId xmlns:p14="http://schemas.microsoft.com/office/powerpoint/2010/main" val="80778833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9A36E40C-ECC1-5687-36A5-DF8ECC7F3A88}"/>
              </a:ext>
            </a:extLst>
          </p:cNvPr>
          <p:cNvSpPr/>
          <p:nvPr/>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146" name="Rectangle 2"/>
          <p:cNvSpPr>
            <a:spLocks noGrp="1" noRot="1" noChangeArrowheads="1"/>
          </p:cNvSpPr>
          <p:nvPr>
            <p:ph type="title"/>
          </p:nvPr>
        </p:nvSpPr>
        <p:spPr>
          <a:xfrm>
            <a:off x="1079443" y="528915"/>
            <a:ext cx="9985109" cy="858837"/>
          </a:xfrm>
        </p:spPr>
        <p:txBody>
          <a:bodyPr/>
          <a:lstStyle/>
          <a:p>
            <a:pPr algn="ctr"/>
            <a:r>
              <a:rPr lang="zh-CN" altLang="en-US" dirty="0">
                <a:latin typeface="Tahoma" pitchFamily="34" charset="0"/>
                <a:cs typeface="Tahoma" pitchFamily="34" charset="0"/>
              </a:rPr>
              <a:t>用户和组</a:t>
            </a:r>
            <a:endParaRPr lang="en-US" altLang="zh-CN" dirty="0"/>
          </a:p>
        </p:txBody>
      </p:sp>
      <p:sp>
        <p:nvSpPr>
          <p:cNvPr id="6147" name="Rectangle 3"/>
          <p:cNvSpPr>
            <a:spLocks noGrp="1" noRot="1" noChangeArrowheads="1"/>
          </p:cNvSpPr>
          <p:nvPr>
            <p:ph type="body" idx="1"/>
          </p:nvPr>
        </p:nvSpPr>
        <p:spPr>
          <a:xfrm>
            <a:off x="1415480" y="1412776"/>
            <a:ext cx="9217024" cy="4411662"/>
          </a:xfrm>
        </p:spPr>
        <p:txBody>
          <a:bodyPr/>
          <a:lstStyle/>
          <a:p>
            <a:pPr>
              <a:lnSpc>
                <a:spcPct val="200000"/>
              </a:lnSpc>
            </a:pPr>
            <a:r>
              <a:rPr lang="zh-CN" altLang="en-US" sz="2600" dirty="0">
                <a:latin typeface="Tahoma" pitchFamily="34" charset="0"/>
                <a:cs typeface="Tahoma" pitchFamily="34" charset="0"/>
              </a:rPr>
              <a:t>用户</a:t>
            </a:r>
            <a:r>
              <a:rPr lang="zh-CN" altLang="en-US" sz="2600" dirty="0">
                <a:solidFill>
                  <a:srgbClr val="0000CC"/>
                </a:solidFill>
                <a:latin typeface="Tahoma" pitchFamily="34" charset="0"/>
                <a:cs typeface="Tahoma" pitchFamily="34" charset="0"/>
              </a:rPr>
              <a:t>登录成功后，系统会为该用户建立一个工作环境</a:t>
            </a:r>
            <a:r>
              <a:rPr lang="en-US" altLang="zh-CN" sz="2600" dirty="0">
                <a:latin typeface="Tahoma" pitchFamily="34" charset="0"/>
                <a:cs typeface="Tahoma" pitchFamily="34" charset="0"/>
              </a:rPr>
              <a:t>(</a:t>
            </a:r>
            <a:r>
              <a:rPr lang="zh-CN" altLang="en-US" sz="2600" dirty="0">
                <a:latin typeface="Tahoma" pitchFamily="34" charset="0"/>
                <a:cs typeface="Tahoma" pitchFamily="34" charset="0"/>
              </a:rPr>
              <a:t>如默认的工作目录、</a:t>
            </a:r>
            <a:r>
              <a:rPr lang="en-US" altLang="zh-CN" sz="2600" dirty="0">
                <a:latin typeface="Tahoma" pitchFamily="34" charset="0"/>
                <a:cs typeface="Tahoma" pitchFamily="34" charset="0"/>
              </a:rPr>
              <a:t>Shell</a:t>
            </a:r>
            <a:r>
              <a:rPr lang="zh-CN" altLang="en-US" sz="2600" dirty="0">
                <a:latin typeface="Tahoma" pitchFamily="34" charset="0"/>
                <a:cs typeface="Tahoma" pitchFamily="34" charset="0"/>
              </a:rPr>
              <a:t>环境等</a:t>
            </a:r>
            <a:r>
              <a:rPr lang="en-US" altLang="zh-CN" sz="2600" dirty="0">
                <a:latin typeface="Tahoma" pitchFamily="34" charset="0"/>
                <a:cs typeface="Tahoma" pitchFamily="34" charset="0"/>
              </a:rPr>
              <a:t>)</a:t>
            </a:r>
            <a:r>
              <a:rPr lang="zh-CN" altLang="en-US" sz="2600" dirty="0">
                <a:latin typeface="Tahoma" pitchFamily="34" charset="0"/>
                <a:cs typeface="Tahoma" pitchFamily="34" charset="0"/>
              </a:rPr>
              <a:t>。在使用中记录该用户对系统的使用情况</a:t>
            </a:r>
            <a:r>
              <a:rPr lang="en-US" altLang="zh-CN" sz="2600" dirty="0">
                <a:latin typeface="Tahoma" pitchFamily="34" charset="0"/>
                <a:cs typeface="Tahoma" pitchFamily="34" charset="0"/>
              </a:rPr>
              <a:t>(</a:t>
            </a:r>
            <a:r>
              <a:rPr lang="zh-CN" altLang="en-US" sz="2600" dirty="0">
                <a:latin typeface="Tahoma" pitchFamily="34" charset="0"/>
                <a:cs typeface="Tahoma" pitchFamily="34" charset="0"/>
              </a:rPr>
              <a:t>日志</a:t>
            </a:r>
            <a:r>
              <a:rPr lang="en-US" altLang="zh-CN" sz="2600" dirty="0">
                <a:latin typeface="Tahoma" pitchFamily="34" charset="0"/>
                <a:cs typeface="Tahoma" pitchFamily="34" charset="0"/>
              </a:rPr>
              <a:t>)</a:t>
            </a:r>
            <a:r>
              <a:rPr lang="zh-CN" altLang="en-US" sz="2600" dirty="0">
                <a:latin typeface="Tahoma" pitchFamily="34" charset="0"/>
                <a:cs typeface="Tahoma" pitchFamily="34" charset="0"/>
              </a:rPr>
              <a:t>，控制该用户对文件的存取权限与系统资源使用权限。</a:t>
            </a:r>
          </a:p>
          <a:p>
            <a:pPr>
              <a:lnSpc>
                <a:spcPct val="130000"/>
              </a:lnSpc>
            </a:pPr>
            <a:endParaRPr lang="en-US" altLang="zh-CN" sz="2800" dirty="0"/>
          </a:p>
          <a:p>
            <a:pPr marL="0" indent="0">
              <a:buNone/>
            </a:pPr>
            <a:endParaRPr lang="zh-CN" altLang="en-US" dirty="0"/>
          </a:p>
          <a:p>
            <a:pPr marL="0" indent="0">
              <a:buNone/>
            </a:pPr>
            <a:endParaRPr lang="zh-CN" altLang="en-US" dirty="0"/>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5</a:t>
            </a:fld>
            <a:endParaRPr lang="en-US" altLang="zh-CN" dirty="0"/>
          </a:p>
        </p:txBody>
      </p:sp>
    </p:spTree>
    <p:extLst>
      <p:ext uri="{BB962C8B-B14F-4D97-AF65-F5344CB8AC3E}">
        <p14:creationId xmlns:p14="http://schemas.microsoft.com/office/powerpoint/2010/main" val="367344238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C9A53CBF-7766-6310-1EEB-920F55EF3F83}"/>
              </a:ext>
            </a:extLst>
          </p:cNvPr>
          <p:cNvSpPr/>
          <p:nvPr/>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458" name="标题 1"/>
          <p:cNvSpPr>
            <a:spLocks noGrp="1"/>
          </p:cNvSpPr>
          <p:nvPr>
            <p:ph type="title"/>
          </p:nvPr>
        </p:nvSpPr>
        <p:spPr>
          <a:xfrm>
            <a:off x="2855640" y="692695"/>
            <a:ext cx="6230937" cy="576262"/>
          </a:xfrm>
        </p:spPr>
        <p:txBody>
          <a:bodyPr/>
          <a:lstStyle/>
          <a:p>
            <a:pPr algn="ctr"/>
            <a:r>
              <a:rPr lang="zh-CN" altLang="en-US" dirty="0"/>
              <a:t>用户分类</a:t>
            </a:r>
          </a:p>
        </p:txBody>
      </p:sp>
      <p:sp>
        <p:nvSpPr>
          <p:cNvPr id="19459" name="内容占位符 2"/>
          <p:cNvSpPr>
            <a:spLocks noGrp="1"/>
          </p:cNvSpPr>
          <p:nvPr>
            <p:ph idx="1"/>
          </p:nvPr>
        </p:nvSpPr>
        <p:spPr>
          <a:xfrm>
            <a:off x="1343472" y="1456582"/>
            <a:ext cx="9505056" cy="4708723"/>
          </a:xfrm>
        </p:spPr>
        <p:txBody>
          <a:bodyPr/>
          <a:lstStyle/>
          <a:p>
            <a:pPr>
              <a:lnSpc>
                <a:spcPct val="130000"/>
              </a:lnSpc>
            </a:pPr>
            <a:r>
              <a:rPr lang="en-US" altLang="zh-CN" sz="2600" dirty="0"/>
              <a:t>Linux</a:t>
            </a:r>
            <a:r>
              <a:rPr lang="zh-CN" altLang="zh-CN" sz="2600" dirty="0"/>
              <a:t>下的用户可以分为</a:t>
            </a:r>
            <a:r>
              <a:rPr lang="zh-CN" altLang="zh-CN" sz="2600" dirty="0">
                <a:solidFill>
                  <a:srgbClr val="0000CC"/>
                </a:solidFill>
              </a:rPr>
              <a:t>三</a:t>
            </a:r>
            <a:r>
              <a:rPr lang="zh-CN" altLang="en-US" sz="2600" dirty="0">
                <a:solidFill>
                  <a:srgbClr val="0000CC"/>
                </a:solidFill>
              </a:rPr>
              <a:t>大</a:t>
            </a:r>
            <a:r>
              <a:rPr lang="zh-CN" altLang="zh-CN" sz="2600" dirty="0">
                <a:solidFill>
                  <a:srgbClr val="0000CC"/>
                </a:solidFill>
              </a:rPr>
              <a:t>类</a:t>
            </a:r>
            <a:r>
              <a:rPr lang="zh-CN" altLang="en-US" sz="2600" dirty="0">
                <a:solidFill>
                  <a:srgbClr val="0000CC"/>
                </a:solidFill>
              </a:rPr>
              <a:t>型</a:t>
            </a:r>
            <a:r>
              <a:rPr lang="zh-CN" altLang="zh-CN" sz="2600" dirty="0"/>
              <a:t>：</a:t>
            </a:r>
            <a:r>
              <a:rPr lang="zh-CN" altLang="zh-CN" sz="2600" dirty="0">
                <a:solidFill>
                  <a:srgbClr val="FF9900"/>
                </a:solidFill>
              </a:rPr>
              <a:t>超级用户</a:t>
            </a:r>
            <a:r>
              <a:rPr lang="zh-CN" altLang="zh-CN" sz="2600" dirty="0"/>
              <a:t>、</a:t>
            </a:r>
            <a:r>
              <a:rPr lang="zh-CN" altLang="zh-CN" sz="2600" dirty="0">
                <a:solidFill>
                  <a:srgbClr val="FF9900"/>
                </a:solidFill>
              </a:rPr>
              <a:t>系统用户</a:t>
            </a:r>
            <a:r>
              <a:rPr lang="zh-CN" altLang="zh-CN" sz="2600" dirty="0"/>
              <a:t>和</a:t>
            </a:r>
            <a:r>
              <a:rPr lang="zh-CN" altLang="zh-CN" sz="2600" dirty="0">
                <a:solidFill>
                  <a:srgbClr val="FF9900"/>
                </a:solidFill>
              </a:rPr>
              <a:t>普通用户</a:t>
            </a:r>
            <a:r>
              <a:rPr lang="zh-CN" altLang="zh-CN" sz="2600" dirty="0"/>
              <a:t>。</a:t>
            </a:r>
          </a:p>
          <a:p>
            <a:pPr lvl="1">
              <a:lnSpc>
                <a:spcPct val="130000"/>
              </a:lnSpc>
            </a:pPr>
            <a:r>
              <a:rPr lang="zh-CN" altLang="zh-CN" dirty="0">
                <a:solidFill>
                  <a:srgbClr val="0000CC"/>
                </a:solidFill>
              </a:rPr>
              <a:t>超级用户</a:t>
            </a:r>
            <a:r>
              <a:rPr lang="zh-CN" altLang="en-US" dirty="0"/>
              <a:t>：</a:t>
            </a:r>
            <a:r>
              <a:rPr lang="en-US" altLang="zh-CN" dirty="0"/>
              <a:t>root</a:t>
            </a:r>
            <a:r>
              <a:rPr lang="zh-CN" altLang="zh-CN" dirty="0"/>
              <a:t>用户是超级用户</a:t>
            </a:r>
            <a:r>
              <a:rPr lang="zh-CN" altLang="en-US" dirty="0"/>
              <a:t>（或根用户）</a:t>
            </a:r>
            <a:r>
              <a:rPr lang="en-US" altLang="zh-CN" dirty="0"/>
              <a:t>root</a:t>
            </a:r>
            <a:r>
              <a:rPr lang="zh-CN" altLang="en-US" dirty="0"/>
              <a:t>用户可以控制所有程序</a:t>
            </a:r>
            <a:r>
              <a:rPr lang="zh-CN" altLang="zh-CN" dirty="0"/>
              <a:t>，</a:t>
            </a:r>
            <a:r>
              <a:rPr lang="zh-CN" altLang="en-US" dirty="0"/>
              <a:t>访问所有文件，使用系统上的所有功能。</a:t>
            </a:r>
            <a:endParaRPr lang="en-US" altLang="zh-CN" dirty="0"/>
          </a:p>
          <a:p>
            <a:pPr lvl="1">
              <a:lnSpc>
                <a:spcPct val="130000"/>
              </a:lnSpc>
            </a:pPr>
            <a:r>
              <a:rPr lang="zh-CN" altLang="en-US" dirty="0"/>
              <a:t>用户在没有特殊情况下，不要用</a:t>
            </a:r>
            <a:r>
              <a:rPr lang="en-US" altLang="zh-CN" dirty="0"/>
              <a:t>root</a:t>
            </a:r>
            <a:r>
              <a:rPr lang="zh-CN" altLang="en-US" dirty="0"/>
              <a:t>身份来处理日常事务。</a:t>
            </a:r>
            <a:r>
              <a:rPr lang="en-US" altLang="zh-CN" dirty="0"/>
              <a:t>root</a:t>
            </a:r>
            <a:r>
              <a:rPr lang="zh-CN" altLang="zh-CN" dirty="0"/>
              <a:t>用户的</a:t>
            </a:r>
            <a:r>
              <a:rPr lang="en-US" altLang="zh-CN" dirty="0" err="1"/>
              <a:t>UID</a:t>
            </a:r>
            <a:r>
              <a:rPr lang="zh-CN" altLang="zh-CN" dirty="0"/>
              <a:t>和</a:t>
            </a:r>
            <a:r>
              <a:rPr lang="en-US" altLang="zh-CN" dirty="0" err="1"/>
              <a:t>GID</a:t>
            </a:r>
            <a:r>
              <a:rPr lang="zh-CN" altLang="zh-CN" dirty="0"/>
              <a:t>都为</a:t>
            </a:r>
            <a:r>
              <a:rPr lang="en-US" altLang="zh-CN" dirty="0"/>
              <a:t>0</a:t>
            </a:r>
            <a:r>
              <a:rPr lang="zh-CN" altLang="en-US" dirty="0"/>
              <a:t>。</a:t>
            </a:r>
            <a:endParaRPr lang="zh-CN" altLang="zh-CN" dirty="0"/>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6</a:t>
            </a:fld>
            <a:endParaRPr lang="en-US" altLang="zh-CN"/>
          </a:p>
        </p:txBody>
      </p:sp>
    </p:spTree>
    <p:extLst>
      <p:ext uri="{BB962C8B-B14F-4D97-AF65-F5344CB8AC3E}">
        <p14:creationId xmlns:p14="http://schemas.microsoft.com/office/powerpoint/2010/main" val="278972235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DFF7A1B8-4CAA-5DDC-237C-8370ACFB6B47}"/>
              </a:ext>
            </a:extLst>
          </p:cNvPr>
          <p:cNvSpPr/>
          <p:nvPr/>
        </p:nvSpPr>
        <p:spPr>
          <a:xfrm>
            <a:off x="533400" y="579119"/>
            <a:ext cx="11125200" cy="5812891"/>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458" name="标题 1"/>
          <p:cNvSpPr>
            <a:spLocks noGrp="1"/>
          </p:cNvSpPr>
          <p:nvPr>
            <p:ph type="title"/>
          </p:nvPr>
        </p:nvSpPr>
        <p:spPr>
          <a:xfrm>
            <a:off x="2980531" y="692696"/>
            <a:ext cx="6230937" cy="576262"/>
          </a:xfrm>
        </p:spPr>
        <p:txBody>
          <a:bodyPr/>
          <a:lstStyle/>
          <a:p>
            <a:pPr algn="ctr"/>
            <a:r>
              <a:rPr lang="zh-CN" altLang="en-US" dirty="0"/>
              <a:t>用户分类</a:t>
            </a:r>
          </a:p>
        </p:txBody>
      </p:sp>
      <p:sp>
        <p:nvSpPr>
          <p:cNvPr id="19459" name="内容占位符 2"/>
          <p:cNvSpPr>
            <a:spLocks noGrp="1"/>
          </p:cNvSpPr>
          <p:nvPr>
            <p:ph idx="1"/>
          </p:nvPr>
        </p:nvSpPr>
        <p:spPr>
          <a:xfrm>
            <a:off x="1127448" y="1484785"/>
            <a:ext cx="9649072" cy="4636715"/>
          </a:xfrm>
        </p:spPr>
        <p:txBody>
          <a:bodyPr/>
          <a:lstStyle/>
          <a:p>
            <a:pPr lvl="1">
              <a:lnSpc>
                <a:spcPct val="130000"/>
              </a:lnSpc>
            </a:pPr>
            <a:r>
              <a:rPr lang="zh-CN" altLang="zh-CN" dirty="0">
                <a:solidFill>
                  <a:srgbClr val="0000CC"/>
                </a:solidFill>
              </a:rPr>
              <a:t>系统用户</a:t>
            </a:r>
            <a:r>
              <a:rPr lang="zh-CN" altLang="en-US" dirty="0"/>
              <a:t>：也称为虚拟用户，它不具备登录系统的能力，但也是系统运行不可缺少的用户，如</a:t>
            </a:r>
            <a:r>
              <a:rPr lang="en-US" altLang="zh-CN" dirty="0"/>
              <a:t>bin</a:t>
            </a:r>
            <a:r>
              <a:rPr lang="zh-CN" altLang="en-US" dirty="0"/>
              <a:t>、</a:t>
            </a:r>
            <a:r>
              <a:rPr lang="en-US" altLang="zh-CN" dirty="0"/>
              <a:t>halt</a:t>
            </a:r>
            <a:r>
              <a:rPr lang="zh-CN" altLang="en-US" dirty="0"/>
              <a:t>、</a:t>
            </a:r>
            <a:r>
              <a:rPr lang="en-US" altLang="zh-CN" dirty="0"/>
              <a:t>daemon</a:t>
            </a:r>
            <a:r>
              <a:rPr lang="zh-CN" altLang="en-US" dirty="0"/>
              <a:t>、</a:t>
            </a:r>
            <a:r>
              <a:rPr lang="en-US" altLang="zh-CN" dirty="0" err="1"/>
              <a:t>adm</a:t>
            </a:r>
            <a:r>
              <a:rPr lang="zh-CN" altLang="en-US" dirty="0"/>
              <a:t>、</a:t>
            </a:r>
            <a:r>
              <a:rPr lang="en-US" altLang="zh-CN" dirty="0"/>
              <a:t>mail</a:t>
            </a:r>
            <a:r>
              <a:rPr lang="zh-CN" altLang="en-US" dirty="0"/>
              <a:t>等。这些账户是</a:t>
            </a:r>
            <a:r>
              <a:rPr lang="en-US" altLang="zh-CN" dirty="0"/>
              <a:t>Linux</a:t>
            </a:r>
            <a:r>
              <a:rPr lang="zh-CN" altLang="en-US" dirty="0"/>
              <a:t>系统的内置用户，</a:t>
            </a:r>
            <a:r>
              <a:rPr lang="zh-CN" altLang="zh-CN" dirty="0">
                <a:solidFill>
                  <a:srgbClr val="FF9900"/>
                </a:solidFill>
              </a:rPr>
              <a:t>与系统服务相关</a:t>
            </a:r>
            <a:r>
              <a:rPr lang="zh-CN" altLang="zh-CN" dirty="0"/>
              <a:t>，通常时在安装相关的软件包自动创建，一般不需要改其默认配置。</a:t>
            </a:r>
          </a:p>
          <a:p>
            <a:pPr lvl="1">
              <a:lnSpc>
                <a:spcPct val="130000"/>
              </a:lnSpc>
            </a:pPr>
            <a:r>
              <a:rPr lang="zh-CN" altLang="zh-CN" dirty="0">
                <a:solidFill>
                  <a:srgbClr val="0000CC"/>
                </a:solidFill>
              </a:rPr>
              <a:t>普通用户</a:t>
            </a:r>
            <a:r>
              <a:rPr lang="zh-CN" altLang="en-US" dirty="0"/>
              <a:t>：</a:t>
            </a:r>
            <a:r>
              <a:rPr lang="zh-CN" altLang="zh-CN" dirty="0"/>
              <a:t>由超级用户创建，</a:t>
            </a:r>
            <a:r>
              <a:rPr lang="zh-CN" altLang="en-US" dirty="0"/>
              <a:t>普通用户</a:t>
            </a:r>
            <a:r>
              <a:rPr lang="zh-CN" altLang="zh-CN" dirty="0"/>
              <a:t>权限有限</a:t>
            </a:r>
            <a:r>
              <a:rPr lang="zh-CN" altLang="en-US" dirty="0"/>
              <a:t>，只能操作其拥有的文件。</a:t>
            </a:r>
            <a:endParaRPr lang="en-US" altLang="zh-CN" dirty="0"/>
          </a:p>
          <a:p>
            <a:endParaRPr lang="zh-CN" altLang="en-US" sz="2400" dirty="0"/>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7</a:t>
            </a:fld>
            <a:endParaRPr lang="en-US" altLang="zh-CN"/>
          </a:p>
        </p:txBody>
      </p:sp>
    </p:spTree>
    <p:extLst>
      <p:ext uri="{BB962C8B-B14F-4D97-AF65-F5344CB8AC3E}">
        <p14:creationId xmlns:p14="http://schemas.microsoft.com/office/powerpoint/2010/main" val="26135793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716260D2-0BE3-BBCD-8686-CBCE7074F934}"/>
              </a:ext>
            </a:extLst>
          </p:cNvPr>
          <p:cNvSpPr/>
          <p:nvPr/>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458" name="标题 1"/>
          <p:cNvSpPr>
            <a:spLocks noGrp="1"/>
          </p:cNvSpPr>
          <p:nvPr>
            <p:ph type="title"/>
          </p:nvPr>
        </p:nvSpPr>
        <p:spPr>
          <a:xfrm>
            <a:off x="2783632" y="690405"/>
            <a:ext cx="6230937" cy="576262"/>
          </a:xfrm>
        </p:spPr>
        <p:txBody>
          <a:bodyPr/>
          <a:lstStyle/>
          <a:p>
            <a:pPr algn="ctr"/>
            <a:r>
              <a:rPr lang="zh-CN" altLang="en-US" dirty="0"/>
              <a:t>账户系统文件</a:t>
            </a:r>
          </a:p>
        </p:txBody>
      </p:sp>
      <p:sp>
        <p:nvSpPr>
          <p:cNvPr id="19459" name="内容占位符 2"/>
          <p:cNvSpPr>
            <a:spLocks noGrp="1"/>
          </p:cNvSpPr>
          <p:nvPr>
            <p:ph idx="1"/>
          </p:nvPr>
        </p:nvSpPr>
        <p:spPr>
          <a:xfrm>
            <a:off x="1703512" y="1528591"/>
            <a:ext cx="8136904" cy="4060650"/>
          </a:xfrm>
        </p:spPr>
        <p:txBody>
          <a:bodyPr/>
          <a:lstStyle/>
          <a:p>
            <a:pPr lvl="1">
              <a:lnSpc>
                <a:spcPct val="150000"/>
              </a:lnSpc>
            </a:pPr>
            <a:r>
              <a:rPr lang="en-US" altLang="zh-CN" sz="2800" dirty="0"/>
              <a:t>Linux</a:t>
            </a:r>
            <a:r>
              <a:rPr lang="zh-CN" altLang="en-US" sz="2800" dirty="0"/>
              <a:t>下的</a:t>
            </a:r>
            <a:r>
              <a:rPr lang="zh-CN" altLang="en-US" sz="2800" dirty="0">
                <a:solidFill>
                  <a:srgbClr val="0000CC"/>
                </a:solidFill>
              </a:rPr>
              <a:t>账户</a:t>
            </a:r>
            <a:r>
              <a:rPr lang="zh-CN" altLang="zh-CN" sz="2800" dirty="0">
                <a:solidFill>
                  <a:srgbClr val="0000CC"/>
                </a:solidFill>
              </a:rPr>
              <a:t>系统</a:t>
            </a:r>
            <a:r>
              <a:rPr lang="zh-CN" altLang="en-US" sz="2800" dirty="0">
                <a:solidFill>
                  <a:srgbClr val="0000CC"/>
                </a:solidFill>
              </a:rPr>
              <a:t>文件</a:t>
            </a:r>
            <a:r>
              <a:rPr lang="zh-CN" altLang="en-US" sz="2800" dirty="0"/>
              <a:t>主要有：</a:t>
            </a:r>
            <a:endParaRPr lang="en-US" altLang="zh-CN" sz="2800" dirty="0"/>
          </a:p>
          <a:p>
            <a:pPr lvl="2">
              <a:lnSpc>
                <a:spcPct val="150000"/>
              </a:lnSpc>
            </a:pPr>
            <a:r>
              <a:rPr lang="en-US" altLang="zh-CN" sz="2800" dirty="0"/>
              <a:t>/</a:t>
            </a:r>
            <a:r>
              <a:rPr lang="en-US" altLang="zh-CN" sz="2800" dirty="0" err="1"/>
              <a:t>etc</a:t>
            </a:r>
            <a:r>
              <a:rPr lang="en-US" altLang="zh-CN" sz="2800" dirty="0"/>
              <a:t>/passwd</a:t>
            </a:r>
          </a:p>
          <a:p>
            <a:pPr lvl="2">
              <a:lnSpc>
                <a:spcPct val="150000"/>
              </a:lnSpc>
            </a:pPr>
            <a:r>
              <a:rPr lang="en-US" altLang="zh-CN" sz="2800" dirty="0"/>
              <a:t>/</a:t>
            </a:r>
            <a:r>
              <a:rPr lang="en-US" altLang="zh-CN" sz="2800" dirty="0" err="1"/>
              <a:t>etc</a:t>
            </a:r>
            <a:r>
              <a:rPr lang="en-US" altLang="zh-CN" sz="2800" dirty="0"/>
              <a:t>/shadow</a:t>
            </a:r>
          </a:p>
          <a:p>
            <a:pPr lvl="2">
              <a:lnSpc>
                <a:spcPct val="150000"/>
              </a:lnSpc>
            </a:pPr>
            <a:r>
              <a:rPr lang="en-US" altLang="zh-CN" sz="2800" dirty="0"/>
              <a:t>/</a:t>
            </a:r>
            <a:r>
              <a:rPr lang="en-US" altLang="zh-CN" sz="2800" dirty="0" err="1"/>
              <a:t>etc</a:t>
            </a:r>
            <a:r>
              <a:rPr lang="en-US" altLang="zh-CN" sz="2800" dirty="0"/>
              <a:t>/group</a:t>
            </a:r>
          </a:p>
          <a:p>
            <a:pPr lvl="2">
              <a:lnSpc>
                <a:spcPct val="150000"/>
              </a:lnSpc>
            </a:pPr>
            <a:r>
              <a:rPr lang="en-US" altLang="zh-CN" sz="2800" dirty="0"/>
              <a:t>/</a:t>
            </a:r>
            <a:r>
              <a:rPr lang="en-US" altLang="zh-CN" sz="2800" dirty="0" err="1"/>
              <a:t>etc</a:t>
            </a:r>
            <a:r>
              <a:rPr lang="en-US" altLang="zh-CN" sz="2800" dirty="0"/>
              <a:t>/</a:t>
            </a:r>
            <a:r>
              <a:rPr lang="en-US" altLang="zh-CN" sz="2800" dirty="0" err="1"/>
              <a:t>gshadow</a:t>
            </a:r>
            <a:endParaRPr lang="en-US" altLang="zh-CN" sz="2800" dirty="0"/>
          </a:p>
          <a:p>
            <a:endParaRPr lang="zh-CN" altLang="en-US" sz="2400" dirty="0"/>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8</a:t>
            </a:fld>
            <a:endParaRPr lang="en-US" altLang="zh-CN"/>
          </a:p>
        </p:txBody>
      </p:sp>
    </p:spTree>
    <p:extLst>
      <p:ext uri="{BB962C8B-B14F-4D97-AF65-F5344CB8AC3E}">
        <p14:creationId xmlns:p14="http://schemas.microsoft.com/office/powerpoint/2010/main" val="329964887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7E0B17A-5E4B-E5AC-65EA-CEFF43948A98}"/>
              </a:ext>
            </a:extLst>
          </p:cNvPr>
          <p:cNvSpPr/>
          <p:nvPr/>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灯片编号占位符 4"/>
          <p:cNvSpPr>
            <a:spLocks noGrp="1"/>
          </p:cNvSpPr>
          <p:nvPr>
            <p:ph type="sldNum" sz="quarter" idx="11"/>
          </p:nvPr>
        </p:nvSpPr>
        <p:spPr/>
        <p:txBody>
          <a:bodyPr/>
          <a:lstStyle/>
          <a:p>
            <a:pPr>
              <a:defRPr/>
            </a:pPr>
            <a:fld id="{110871B5-850E-4E14-A636-3EC679EBF038}" type="slidenum">
              <a:rPr lang="en-US" altLang="zh-CN" smtClean="0"/>
              <a:pPr>
                <a:defRPr/>
              </a:pPr>
              <a:t>9</a:t>
            </a:fld>
            <a:endParaRPr lang="en-US" altLang="zh-CN"/>
          </a:p>
        </p:txBody>
      </p:sp>
      <p:sp>
        <p:nvSpPr>
          <p:cNvPr id="6" name="矩形 5"/>
          <p:cNvSpPr/>
          <p:nvPr/>
        </p:nvSpPr>
        <p:spPr>
          <a:xfrm>
            <a:off x="911424" y="548681"/>
            <a:ext cx="10081120" cy="830997"/>
          </a:xfrm>
          <a:prstGeom prst="rect">
            <a:avLst/>
          </a:prstGeom>
        </p:spPr>
        <p:txBody>
          <a:bodyPr wrap="square">
            <a:spAutoFit/>
          </a:bodyPr>
          <a:lstStyle/>
          <a:p>
            <a:pPr marL="342900" indent="-342900" algn="l">
              <a:buSzPct val="80000"/>
              <a:buFont typeface="Wingdings" panose="05000000000000000000" pitchFamily="2" charset="2"/>
              <a:buChar char="l"/>
            </a:pPr>
            <a:r>
              <a:rPr lang="zh-CN" altLang="en-US" sz="2400" dirty="0">
                <a:latin typeface="+mn-ea"/>
                <a:ea typeface="+mn-ea"/>
              </a:rPr>
              <a:t>在</a:t>
            </a:r>
            <a:r>
              <a:rPr lang="en-US" altLang="zh-CN" sz="2400" dirty="0">
                <a:latin typeface="+mn-ea"/>
                <a:ea typeface="+mn-ea"/>
              </a:rPr>
              <a:t>Linux</a:t>
            </a:r>
            <a:r>
              <a:rPr lang="zh-CN" altLang="en-US" sz="2400" dirty="0">
                <a:latin typeface="+mn-ea"/>
                <a:ea typeface="+mn-ea"/>
              </a:rPr>
              <a:t>操作系统中，所有用户的有关信息，都存放在文件</a:t>
            </a:r>
            <a:r>
              <a:rPr lang="en-US" altLang="zh-CN" sz="2400" dirty="0">
                <a:latin typeface="+mn-ea"/>
                <a:ea typeface="+mn-ea"/>
              </a:rPr>
              <a:t>/</a:t>
            </a:r>
            <a:r>
              <a:rPr lang="en-US" altLang="zh-CN" sz="2400" dirty="0" err="1">
                <a:latin typeface="+mn-ea"/>
                <a:ea typeface="+mn-ea"/>
              </a:rPr>
              <a:t>etc</a:t>
            </a:r>
            <a:r>
              <a:rPr lang="en-US" altLang="zh-CN" sz="2400" dirty="0">
                <a:latin typeface="+mn-ea"/>
                <a:ea typeface="+mn-ea"/>
              </a:rPr>
              <a:t>/</a:t>
            </a:r>
            <a:r>
              <a:rPr lang="en-US" altLang="zh-CN" sz="2400" dirty="0" err="1">
                <a:latin typeface="+mn-ea"/>
                <a:ea typeface="+mn-ea"/>
              </a:rPr>
              <a:t>passwd</a:t>
            </a:r>
            <a:r>
              <a:rPr lang="zh-CN" altLang="en-US" sz="2400" dirty="0">
                <a:latin typeface="+mn-ea"/>
                <a:ea typeface="+mn-ea"/>
              </a:rPr>
              <a:t>中。（可以在图形化界面下打开此文件）</a:t>
            </a:r>
          </a:p>
        </p:txBody>
      </p:sp>
      <p:pic>
        <p:nvPicPr>
          <p:cNvPr id="3" name="图片 2">
            <a:extLst>
              <a:ext uri="{FF2B5EF4-FFF2-40B4-BE49-F238E27FC236}">
                <a16:creationId xmlns:a16="http://schemas.microsoft.com/office/drawing/2014/main" id="{DEB12E78-7B06-4799-BCB3-2BA3C530689D}"/>
              </a:ext>
            </a:extLst>
          </p:cNvPr>
          <p:cNvPicPr>
            <a:picLocks noChangeAspect="1"/>
          </p:cNvPicPr>
          <p:nvPr/>
        </p:nvPicPr>
        <p:blipFill>
          <a:blip r:embed="rId3"/>
          <a:stretch>
            <a:fillRect/>
          </a:stretch>
        </p:blipFill>
        <p:spPr>
          <a:xfrm>
            <a:off x="2135560" y="1492809"/>
            <a:ext cx="7656503" cy="4636597"/>
          </a:xfrm>
          <a:prstGeom prst="rect">
            <a:avLst/>
          </a:prstGeom>
        </p:spPr>
      </p:pic>
    </p:spTree>
    <p:extLst>
      <p:ext uri="{BB962C8B-B14F-4D97-AF65-F5344CB8AC3E}">
        <p14:creationId xmlns:p14="http://schemas.microsoft.com/office/powerpoint/2010/main" val="44465271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077FB79A-D6E7-1A5A-F73F-36CE59FA25A8}"/>
              </a:ext>
            </a:extLst>
          </p:cNvPr>
          <p:cNvSpPr/>
          <p:nvPr/>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386" name="标题 1"/>
          <p:cNvSpPr>
            <a:spLocks noGrp="1"/>
          </p:cNvSpPr>
          <p:nvPr>
            <p:ph type="title"/>
          </p:nvPr>
        </p:nvSpPr>
        <p:spPr>
          <a:xfrm>
            <a:off x="1981200" y="403557"/>
            <a:ext cx="8229600" cy="922337"/>
          </a:xfrm>
        </p:spPr>
        <p:txBody>
          <a:bodyPr/>
          <a:lstStyle/>
          <a:p>
            <a:pPr algn="ctr"/>
            <a:r>
              <a:rPr lang="en-US" altLang="zh-CN" dirty="0"/>
              <a:t>/</a:t>
            </a:r>
            <a:r>
              <a:rPr lang="en-US" altLang="zh-CN" dirty="0" err="1"/>
              <a:t>etc</a:t>
            </a:r>
            <a:r>
              <a:rPr lang="en-US" altLang="zh-CN" dirty="0"/>
              <a:t>/</a:t>
            </a:r>
            <a:r>
              <a:rPr lang="en-US" altLang="zh-CN" dirty="0" err="1"/>
              <a:t>passwd</a:t>
            </a:r>
            <a:r>
              <a:rPr lang="en-US" altLang="zh-CN" dirty="0"/>
              <a:t> </a:t>
            </a:r>
            <a:r>
              <a:rPr lang="zh-CN" altLang="en-US" dirty="0"/>
              <a:t>文件内容</a:t>
            </a:r>
          </a:p>
        </p:txBody>
      </p:sp>
      <p:sp>
        <p:nvSpPr>
          <p:cNvPr id="16387" name="内容占位符 2"/>
          <p:cNvSpPr>
            <a:spLocks noGrp="1"/>
          </p:cNvSpPr>
          <p:nvPr>
            <p:ph idx="1"/>
          </p:nvPr>
        </p:nvSpPr>
        <p:spPr>
          <a:xfrm>
            <a:off x="1055440" y="1412776"/>
            <a:ext cx="10081120" cy="4896544"/>
          </a:xfrm>
        </p:spPr>
        <p:txBody>
          <a:bodyPr/>
          <a:lstStyle/>
          <a:p>
            <a:pPr marL="0" indent="0">
              <a:lnSpc>
                <a:spcPct val="110000"/>
              </a:lnSpc>
              <a:buNone/>
              <a:defRPr/>
            </a:pPr>
            <a:r>
              <a:rPr lang="en-US" altLang="zh-CN" sz="2600" dirty="0"/>
              <a:t>/</a:t>
            </a:r>
            <a:r>
              <a:rPr lang="en-US" altLang="zh-CN" sz="2600" dirty="0" err="1"/>
              <a:t>etc</a:t>
            </a:r>
            <a:r>
              <a:rPr lang="en-US" altLang="zh-CN" sz="2600" dirty="0"/>
              <a:t>/</a:t>
            </a:r>
            <a:r>
              <a:rPr lang="en-US" altLang="zh-CN" sz="2600" dirty="0" err="1"/>
              <a:t>passwd</a:t>
            </a:r>
            <a:r>
              <a:rPr lang="zh-CN" altLang="en-US" sz="2600" dirty="0"/>
              <a:t>中</a:t>
            </a:r>
            <a:r>
              <a:rPr lang="zh-CN" altLang="en-US" sz="2600" dirty="0">
                <a:solidFill>
                  <a:srgbClr val="0000CC"/>
                </a:solidFill>
              </a:rPr>
              <a:t>一行记录对应着一个用户</a:t>
            </a:r>
            <a:r>
              <a:rPr lang="zh-CN" altLang="en-US" sz="2600" dirty="0"/>
              <a:t>，每行记录又被冒号</a:t>
            </a:r>
            <a:r>
              <a:rPr lang="en-US" altLang="zh-CN" sz="2600" dirty="0"/>
              <a:t>(:)</a:t>
            </a:r>
            <a:r>
              <a:rPr lang="zh-CN" altLang="en-US" sz="2600" dirty="0">
                <a:solidFill>
                  <a:srgbClr val="0000CC"/>
                </a:solidFill>
              </a:rPr>
              <a:t>分隔为</a:t>
            </a:r>
            <a:r>
              <a:rPr lang="en-US" altLang="zh-CN" sz="2600" dirty="0">
                <a:solidFill>
                  <a:srgbClr val="0000CC"/>
                </a:solidFill>
              </a:rPr>
              <a:t>7</a:t>
            </a:r>
            <a:r>
              <a:rPr lang="zh-CN" altLang="en-US" sz="2600" dirty="0">
                <a:solidFill>
                  <a:srgbClr val="0000CC"/>
                </a:solidFill>
              </a:rPr>
              <a:t>个字段</a:t>
            </a:r>
            <a:r>
              <a:rPr lang="zh-CN" altLang="en-US" sz="2600" dirty="0"/>
              <a:t>，其格式和具体含义如下：</a:t>
            </a:r>
          </a:p>
          <a:p>
            <a:pPr marL="0" indent="0">
              <a:lnSpc>
                <a:spcPct val="110000"/>
              </a:lnSpc>
              <a:buNone/>
              <a:defRPr/>
            </a:pPr>
            <a:r>
              <a:rPr lang="zh-CN" altLang="en-US" sz="2400" dirty="0"/>
              <a:t>（</a:t>
            </a:r>
            <a:r>
              <a:rPr lang="en-US" altLang="zh-CN" sz="2400" dirty="0"/>
              <a:t>1</a:t>
            </a:r>
            <a:r>
              <a:rPr lang="zh-CN" altLang="en-US" sz="2400" dirty="0"/>
              <a:t>）</a:t>
            </a:r>
            <a:r>
              <a:rPr lang="zh-CN" altLang="en-US" sz="2400" dirty="0">
                <a:solidFill>
                  <a:srgbClr val="CC0099"/>
                </a:solidFill>
              </a:rPr>
              <a:t>用户名</a:t>
            </a:r>
            <a:r>
              <a:rPr lang="zh-CN" altLang="en-US" sz="2400" dirty="0"/>
              <a:t>：用户账号的字符串，必须唯一。用户名由大小写字母和</a:t>
            </a:r>
            <a:r>
              <a:rPr lang="en-US" altLang="zh-CN" sz="2400" dirty="0"/>
              <a:t>/</a:t>
            </a:r>
            <a:r>
              <a:rPr lang="zh-CN" altLang="en-US" sz="2400" dirty="0"/>
              <a:t>或数字组成，用户名中不能有冒号</a:t>
            </a:r>
            <a:r>
              <a:rPr lang="en-US" altLang="zh-CN" sz="2400" dirty="0"/>
              <a:t>(:)</a:t>
            </a:r>
            <a:r>
              <a:rPr lang="zh-CN" altLang="en-US" sz="2400" dirty="0"/>
              <a:t>，因为冒号在这里是分隔符。为了兼容起见，用户名中最好不要包含点字符</a:t>
            </a:r>
            <a:r>
              <a:rPr lang="en-US" altLang="zh-CN" sz="2400" dirty="0"/>
              <a:t>(.)</a:t>
            </a:r>
            <a:r>
              <a:rPr lang="zh-CN" altLang="en-US" sz="2400" dirty="0"/>
              <a:t>，并且不使用连字符</a:t>
            </a:r>
            <a:r>
              <a:rPr lang="en-US" altLang="zh-CN" sz="2400" dirty="0"/>
              <a:t>(-)</a:t>
            </a:r>
            <a:r>
              <a:rPr lang="zh-CN" altLang="en-US" sz="2400" dirty="0"/>
              <a:t>和加号</a:t>
            </a:r>
            <a:r>
              <a:rPr lang="en-US" altLang="zh-CN" sz="2400" dirty="0"/>
              <a:t>(+)</a:t>
            </a:r>
            <a:r>
              <a:rPr lang="zh-CN" altLang="en-US" sz="2400" dirty="0"/>
              <a:t>打头。</a:t>
            </a:r>
          </a:p>
          <a:p>
            <a:pPr marL="0" indent="0">
              <a:lnSpc>
                <a:spcPct val="110000"/>
              </a:lnSpc>
              <a:buNone/>
              <a:defRPr/>
            </a:pPr>
            <a:r>
              <a:rPr lang="zh-CN" altLang="en-US" sz="2400" dirty="0"/>
              <a:t>（</a:t>
            </a:r>
            <a:r>
              <a:rPr lang="en-US" altLang="zh-CN" sz="2400" dirty="0"/>
              <a:t>2</a:t>
            </a:r>
            <a:r>
              <a:rPr lang="zh-CN" altLang="en-US" sz="2400" dirty="0"/>
              <a:t>）</a:t>
            </a:r>
            <a:r>
              <a:rPr lang="zh-CN" altLang="en-US" sz="2400" dirty="0">
                <a:solidFill>
                  <a:srgbClr val="CC0099"/>
                </a:solidFill>
              </a:rPr>
              <a:t>口令</a:t>
            </a:r>
            <a:r>
              <a:rPr lang="zh-CN" altLang="en-US" sz="2400" dirty="0"/>
              <a:t>：用于身份验证。在操作中可以看到口令全部被</a:t>
            </a:r>
            <a:r>
              <a:rPr lang="en-US" altLang="zh-CN" sz="2400" dirty="0"/>
              <a:t>x</a:t>
            </a:r>
            <a:r>
              <a:rPr lang="zh-CN" altLang="en-US" sz="2400" dirty="0"/>
              <a:t>表示。真正的密码保存在</a:t>
            </a:r>
            <a:r>
              <a:rPr lang="en-US" altLang="zh-CN" sz="2400" dirty="0"/>
              <a:t>/</a:t>
            </a:r>
            <a:r>
              <a:rPr lang="en-US" altLang="zh-CN" sz="2400" dirty="0" err="1"/>
              <a:t>etc</a:t>
            </a:r>
            <a:r>
              <a:rPr lang="en-US" altLang="zh-CN" sz="2400" dirty="0"/>
              <a:t>/shadow</a:t>
            </a:r>
            <a:r>
              <a:rPr lang="zh-CN" altLang="en-US" sz="2400" dirty="0"/>
              <a:t>文件中。</a:t>
            </a:r>
            <a:endParaRPr lang="en-US" altLang="zh-CN" sz="2400" dirty="0"/>
          </a:p>
          <a:p>
            <a:pPr marL="0" indent="0">
              <a:lnSpc>
                <a:spcPct val="110000"/>
              </a:lnSpc>
              <a:buNone/>
              <a:defRPr/>
            </a:pPr>
            <a:r>
              <a:rPr lang="zh-CN" altLang="en-US" sz="2400" dirty="0"/>
              <a:t>（</a:t>
            </a:r>
            <a:r>
              <a:rPr lang="en-US" altLang="zh-CN" sz="2400" dirty="0"/>
              <a:t>3</a:t>
            </a:r>
            <a:r>
              <a:rPr lang="zh-CN" altLang="en-US" sz="2400" dirty="0"/>
              <a:t>）</a:t>
            </a:r>
            <a:r>
              <a:rPr lang="zh-CN" altLang="en-US" sz="2400" dirty="0">
                <a:solidFill>
                  <a:srgbClr val="CC0099"/>
                </a:solidFill>
              </a:rPr>
              <a:t>用户</a:t>
            </a:r>
            <a:r>
              <a:rPr lang="en-US" altLang="zh-CN" sz="2400" dirty="0">
                <a:solidFill>
                  <a:srgbClr val="CC0099"/>
                </a:solidFill>
              </a:rPr>
              <a:t>ID</a:t>
            </a:r>
            <a:r>
              <a:rPr lang="en-US" altLang="zh-CN" sz="2400" dirty="0"/>
              <a:t>:</a:t>
            </a:r>
            <a:r>
              <a:rPr lang="zh-CN" altLang="en-US" sz="2400" dirty="0"/>
              <a:t>是一个整数，系统内部用它来标识用户，如同每个人都拥有的身份证号。通常用户</a:t>
            </a:r>
            <a:r>
              <a:rPr lang="en-US" altLang="zh-CN" sz="2400" dirty="0"/>
              <a:t>ID</a:t>
            </a:r>
            <a:r>
              <a:rPr lang="zh-CN" altLang="en-US" sz="2400" dirty="0"/>
              <a:t>的取值范围是</a:t>
            </a:r>
            <a:r>
              <a:rPr lang="en-US" altLang="zh-CN" sz="2400" dirty="0"/>
              <a:t>0</a:t>
            </a:r>
            <a:r>
              <a:rPr lang="zh-CN" altLang="en-US" sz="2400" dirty="0"/>
              <a:t>～</a:t>
            </a:r>
            <a:r>
              <a:rPr lang="en-US" altLang="zh-CN" sz="2400" dirty="0"/>
              <a:t>65535</a:t>
            </a:r>
            <a:r>
              <a:rPr lang="zh-CN" altLang="en-US" sz="2400" dirty="0"/>
              <a:t>。</a:t>
            </a:r>
            <a:r>
              <a:rPr lang="en-US" altLang="zh-CN" sz="2400" dirty="0"/>
              <a:t>0</a:t>
            </a:r>
            <a:r>
              <a:rPr lang="zh-CN" altLang="en-US" sz="2400" dirty="0"/>
              <a:t>是超级用户</a:t>
            </a:r>
            <a:r>
              <a:rPr lang="en-US" altLang="zh-CN" sz="2400" dirty="0"/>
              <a:t>root</a:t>
            </a:r>
            <a:r>
              <a:rPr lang="zh-CN" altLang="en-US" sz="2400" dirty="0"/>
              <a:t>的标识号，</a:t>
            </a:r>
            <a:r>
              <a:rPr lang="en-US" altLang="zh-CN" sz="2400" dirty="0"/>
              <a:t>1</a:t>
            </a:r>
            <a:r>
              <a:rPr lang="zh-CN" altLang="en-US" sz="2400" dirty="0"/>
              <a:t>～</a:t>
            </a:r>
            <a:r>
              <a:rPr lang="en-US" altLang="zh-CN" sz="2400" dirty="0"/>
              <a:t>499</a:t>
            </a:r>
            <a:r>
              <a:rPr lang="zh-CN" altLang="en-US" sz="2400" dirty="0"/>
              <a:t>系统保留，作为管理账号，普通用户的标识号从</a:t>
            </a:r>
            <a:r>
              <a:rPr lang="en-US" altLang="zh-CN" sz="2400" dirty="0"/>
              <a:t>500</a:t>
            </a:r>
            <a:r>
              <a:rPr lang="zh-CN" altLang="en-US" sz="2400" dirty="0"/>
              <a:t>开始。</a:t>
            </a:r>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10</a:t>
            </a:fld>
            <a:endParaRPr lang="en-US" altLang="zh-CN"/>
          </a:p>
        </p:txBody>
      </p:sp>
    </p:spTree>
    <p:extLst>
      <p:ext uri="{BB962C8B-B14F-4D97-AF65-F5344CB8AC3E}">
        <p14:creationId xmlns:p14="http://schemas.microsoft.com/office/powerpoint/2010/main" val="149941583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826C0992-E653-AE3B-3A6B-2F473B0C669A}"/>
              </a:ext>
            </a:extLst>
          </p:cNvPr>
          <p:cNvSpPr/>
          <p:nvPr/>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386" name="标题 1"/>
          <p:cNvSpPr>
            <a:spLocks noGrp="1"/>
          </p:cNvSpPr>
          <p:nvPr>
            <p:ph type="title"/>
          </p:nvPr>
        </p:nvSpPr>
        <p:spPr>
          <a:xfrm>
            <a:off x="1981200" y="404664"/>
            <a:ext cx="8229600" cy="922337"/>
          </a:xfrm>
        </p:spPr>
        <p:txBody>
          <a:bodyPr/>
          <a:lstStyle/>
          <a:p>
            <a:pPr algn="ctr"/>
            <a:r>
              <a:rPr lang="en-US" altLang="zh-CN" dirty="0"/>
              <a:t>/</a:t>
            </a:r>
            <a:r>
              <a:rPr lang="en-US" altLang="zh-CN" dirty="0" err="1"/>
              <a:t>etc</a:t>
            </a:r>
            <a:r>
              <a:rPr lang="en-US" altLang="zh-CN" dirty="0"/>
              <a:t>/</a:t>
            </a:r>
            <a:r>
              <a:rPr lang="en-US" altLang="zh-CN" dirty="0" err="1"/>
              <a:t>passwd</a:t>
            </a:r>
            <a:r>
              <a:rPr lang="en-US" altLang="zh-CN" dirty="0"/>
              <a:t> </a:t>
            </a:r>
            <a:r>
              <a:rPr lang="zh-CN" altLang="en-US" dirty="0"/>
              <a:t>文件内容</a:t>
            </a:r>
          </a:p>
        </p:txBody>
      </p:sp>
      <p:sp>
        <p:nvSpPr>
          <p:cNvPr id="16387" name="内容占位符 2"/>
          <p:cNvSpPr>
            <a:spLocks noGrp="1"/>
          </p:cNvSpPr>
          <p:nvPr>
            <p:ph idx="1"/>
          </p:nvPr>
        </p:nvSpPr>
        <p:spPr>
          <a:xfrm>
            <a:off x="983431" y="1579142"/>
            <a:ext cx="9793089" cy="3938089"/>
          </a:xfrm>
        </p:spPr>
        <p:txBody>
          <a:bodyPr/>
          <a:lstStyle/>
          <a:p>
            <a:pPr marL="0" indent="0">
              <a:buNone/>
              <a:defRPr/>
            </a:pPr>
            <a:r>
              <a:rPr lang="zh-CN" altLang="en-US" sz="2400" dirty="0"/>
              <a:t>（</a:t>
            </a:r>
            <a:r>
              <a:rPr lang="en-US" altLang="zh-CN" sz="2400" dirty="0"/>
              <a:t>4</a:t>
            </a:r>
            <a:r>
              <a:rPr lang="zh-CN" altLang="en-US" sz="2400" dirty="0"/>
              <a:t>）</a:t>
            </a:r>
            <a:r>
              <a:rPr lang="zh-CN" altLang="en-US" sz="2400" dirty="0">
                <a:solidFill>
                  <a:srgbClr val="CC0099"/>
                </a:solidFill>
              </a:rPr>
              <a:t>组</a:t>
            </a:r>
            <a:r>
              <a:rPr lang="en-US" altLang="zh-CN" sz="2400" dirty="0">
                <a:solidFill>
                  <a:srgbClr val="CC0099"/>
                </a:solidFill>
              </a:rPr>
              <a:t>ID</a:t>
            </a:r>
            <a:r>
              <a:rPr lang="zh-CN" altLang="en-US" sz="2400" dirty="0"/>
              <a:t>：每个用户至少所属一个组群，每个组群都拥有的唯一识别号，它对应</a:t>
            </a:r>
            <a:r>
              <a:rPr lang="en-US" altLang="zh-CN" sz="2400" dirty="0"/>
              <a:t>/</a:t>
            </a:r>
            <a:r>
              <a:rPr lang="en-US" altLang="zh-CN" sz="2400" dirty="0" err="1"/>
              <a:t>etc</a:t>
            </a:r>
            <a:r>
              <a:rPr lang="en-US" altLang="zh-CN" sz="2400" dirty="0"/>
              <a:t>/group</a:t>
            </a:r>
            <a:r>
              <a:rPr lang="zh-CN" altLang="en-US" sz="2400" dirty="0"/>
              <a:t>文件中的一条记录。超级用户所属组群的</a:t>
            </a:r>
            <a:r>
              <a:rPr lang="en-US" altLang="zh-CN" sz="2400" dirty="0"/>
              <a:t>ID</a:t>
            </a:r>
            <a:r>
              <a:rPr lang="zh-CN" altLang="en-US" sz="2400" dirty="0"/>
              <a:t>默认为</a:t>
            </a:r>
            <a:r>
              <a:rPr lang="en-US" altLang="zh-CN" sz="2400" dirty="0"/>
              <a:t>0</a:t>
            </a:r>
            <a:r>
              <a:rPr lang="zh-CN" altLang="en-US" sz="2400" dirty="0"/>
              <a:t>，</a:t>
            </a:r>
            <a:r>
              <a:rPr lang="en-US" altLang="zh-CN" sz="2400" dirty="0"/>
              <a:t>1</a:t>
            </a:r>
            <a:r>
              <a:rPr lang="zh-CN" altLang="en-US" sz="2400" dirty="0"/>
              <a:t>～</a:t>
            </a:r>
            <a:r>
              <a:rPr lang="en-US" altLang="zh-CN" sz="2400" dirty="0"/>
              <a:t>499</a:t>
            </a:r>
            <a:r>
              <a:rPr lang="zh-CN" altLang="en-US" sz="2400" dirty="0"/>
              <a:t>默认为系统组群专用。</a:t>
            </a:r>
            <a:endParaRPr lang="en-US" altLang="zh-CN" sz="2400" dirty="0"/>
          </a:p>
          <a:p>
            <a:pPr marL="0" indent="0">
              <a:buNone/>
            </a:pPr>
            <a:r>
              <a:rPr lang="zh-CN" altLang="en-US" sz="2400" dirty="0"/>
              <a:t>（</a:t>
            </a:r>
            <a:r>
              <a:rPr lang="en-US" altLang="zh-CN" sz="2400" dirty="0"/>
              <a:t>5</a:t>
            </a:r>
            <a:r>
              <a:rPr lang="zh-CN" altLang="en-US" sz="2400" dirty="0"/>
              <a:t>）</a:t>
            </a:r>
            <a:r>
              <a:rPr lang="zh-CN" altLang="en-US" sz="2400" dirty="0">
                <a:solidFill>
                  <a:srgbClr val="CC0099"/>
                </a:solidFill>
              </a:rPr>
              <a:t>用户信息</a:t>
            </a:r>
            <a:r>
              <a:rPr lang="zh-CN" altLang="en-US" sz="2400" dirty="0"/>
              <a:t>：用户信息说明栏，存放用户信息的附加信息，如用户真实姓名、办公地址，联系电话等，可以为空。</a:t>
            </a:r>
            <a:endParaRPr lang="en-US" altLang="zh-CN" sz="2400" dirty="0">
              <a:solidFill>
                <a:srgbClr val="0000CC"/>
              </a:solidFill>
            </a:endParaRPr>
          </a:p>
          <a:p>
            <a:pPr marL="0" indent="0">
              <a:buNone/>
            </a:pPr>
            <a:r>
              <a:rPr lang="zh-CN" altLang="en-US" sz="2400" dirty="0"/>
              <a:t>（</a:t>
            </a:r>
            <a:r>
              <a:rPr lang="en-US" altLang="zh-CN" sz="2400" dirty="0"/>
              <a:t>6</a:t>
            </a:r>
            <a:r>
              <a:rPr lang="zh-CN" altLang="en-US" sz="2400" dirty="0"/>
              <a:t>）</a:t>
            </a:r>
            <a:r>
              <a:rPr lang="zh-CN" altLang="en-US" sz="2400" dirty="0">
                <a:solidFill>
                  <a:srgbClr val="CC0099"/>
                </a:solidFill>
              </a:rPr>
              <a:t>用户主目录</a:t>
            </a:r>
            <a:r>
              <a:rPr lang="zh-CN" altLang="en-US" sz="2400" dirty="0"/>
              <a:t>：是用户的起始工作目录，用于保存用户的自用文件。用户登录</a:t>
            </a:r>
            <a:r>
              <a:rPr lang="en-US" altLang="zh-CN" sz="2400" dirty="0"/>
              <a:t>Linux</a:t>
            </a:r>
            <a:r>
              <a:rPr lang="zh-CN" altLang="en-US" sz="2400" dirty="0"/>
              <a:t>后默认进入此目录，且对此目录具有完全控制权限。</a:t>
            </a:r>
            <a:endParaRPr lang="en-US" altLang="zh-CN" sz="2400" dirty="0"/>
          </a:p>
          <a:p>
            <a:pPr marL="0" indent="0">
              <a:buNone/>
            </a:pPr>
            <a:r>
              <a:rPr lang="zh-CN" altLang="en-US" sz="2400" dirty="0"/>
              <a:t>（</a:t>
            </a:r>
            <a:r>
              <a:rPr lang="en-US" altLang="zh-CN" sz="2400" dirty="0"/>
              <a:t>7</a:t>
            </a:r>
            <a:r>
              <a:rPr lang="zh-CN" altLang="en-US" sz="2400" dirty="0"/>
              <a:t>）</a:t>
            </a:r>
            <a:r>
              <a:rPr lang="zh-CN" altLang="en-US" sz="2400" dirty="0">
                <a:solidFill>
                  <a:srgbClr val="CC0099"/>
                </a:solidFill>
              </a:rPr>
              <a:t>命令解释器</a:t>
            </a:r>
            <a:r>
              <a:rPr lang="zh-CN" altLang="en-US" sz="2400" dirty="0"/>
              <a:t>：用户登录后，要启动一个进程，负责将用户的操作传给内核，这个进程是用户登录到系统后运行的命令解释器，即</a:t>
            </a:r>
            <a:r>
              <a:rPr lang="en-US" altLang="zh-CN" sz="2400" dirty="0"/>
              <a:t>Shell</a:t>
            </a:r>
            <a:r>
              <a:rPr lang="zh-CN" altLang="en-US" sz="2400" dirty="0"/>
              <a:t>。</a:t>
            </a:r>
            <a:endParaRPr lang="en-US" altLang="zh-CN" sz="2400" dirty="0"/>
          </a:p>
          <a:p>
            <a:pPr marL="0" indent="0">
              <a:buNone/>
              <a:defRPr/>
            </a:pPr>
            <a:endParaRPr lang="zh-CN" altLang="en-US" sz="2800" dirty="0"/>
          </a:p>
          <a:p>
            <a:pPr marL="0" indent="0">
              <a:buNone/>
              <a:defRPr/>
            </a:pPr>
            <a:endParaRPr lang="zh-CN" altLang="en-US" sz="2400" dirty="0"/>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11</a:t>
            </a:fld>
            <a:endParaRPr lang="en-US" altLang="zh-CN"/>
          </a:p>
        </p:txBody>
      </p:sp>
    </p:spTree>
    <p:extLst>
      <p:ext uri="{BB962C8B-B14F-4D97-AF65-F5344CB8AC3E}">
        <p14:creationId xmlns:p14="http://schemas.microsoft.com/office/powerpoint/2010/main" val="231444459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40CE69C-784A-D766-7132-9CAD502BC84B}"/>
              </a:ext>
            </a:extLst>
          </p:cNvPr>
          <p:cNvSpPr/>
          <p:nvPr/>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灯片编号占位符 4"/>
          <p:cNvSpPr>
            <a:spLocks noGrp="1"/>
          </p:cNvSpPr>
          <p:nvPr>
            <p:ph type="sldNum" sz="quarter" idx="11"/>
          </p:nvPr>
        </p:nvSpPr>
        <p:spPr/>
        <p:txBody>
          <a:bodyPr/>
          <a:lstStyle/>
          <a:p>
            <a:pPr>
              <a:defRPr/>
            </a:pPr>
            <a:fld id="{110871B5-850E-4E14-A636-3EC679EBF038}" type="slidenum">
              <a:rPr lang="en-US" altLang="zh-CN" smtClean="0"/>
              <a:pPr>
                <a:defRPr/>
              </a:pPr>
              <a:t>12</a:t>
            </a:fld>
            <a:endParaRPr lang="en-US" altLang="zh-CN"/>
          </a:p>
        </p:txBody>
      </p:sp>
      <p:sp>
        <p:nvSpPr>
          <p:cNvPr id="6" name="矩形 5"/>
          <p:cNvSpPr/>
          <p:nvPr/>
        </p:nvSpPr>
        <p:spPr>
          <a:xfrm>
            <a:off x="1343472" y="578794"/>
            <a:ext cx="9505055" cy="892552"/>
          </a:xfrm>
          <a:prstGeom prst="rect">
            <a:avLst/>
          </a:prstGeom>
        </p:spPr>
        <p:txBody>
          <a:bodyPr wrap="square">
            <a:spAutoFit/>
          </a:bodyPr>
          <a:lstStyle/>
          <a:p>
            <a:pPr marL="342900" indent="-342900" algn="l">
              <a:buSzPct val="80000"/>
              <a:buFont typeface="Wingdings" panose="05000000000000000000" pitchFamily="2" charset="2"/>
              <a:buChar char="l"/>
            </a:pPr>
            <a:r>
              <a:rPr lang="zh-CN" altLang="en-US" sz="2600" dirty="0">
                <a:latin typeface="+mn-ea"/>
                <a:ea typeface="+mn-ea"/>
              </a:rPr>
              <a:t>用户密码信息文件</a:t>
            </a:r>
            <a:r>
              <a:rPr lang="en-US" altLang="zh-CN" sz="2600" dirty="0">
                <a:latin typeface="+mn-ea"/>
                <a:ea typeface="+mn-ea"/>
              </a:rPr>
              <a:t>/</a:t>
            </a:r>
            <a:r>
              <a:rPr lang="en-US" altLang="zh-CN" sz="2600" dirty="0" err="1">
                <a:latin typeface="+mn-ea"/>
                <a:ea typeface="+mn-ea"/>
              </a:rPr>
              <a:t>etc</a:t>
            </a:r>
            <a:r>
              <a:rPr lang="en-US" altLang="zh-CN" sz="2600" dirty="0">
                <a:latin typeface="+mn-ea"/>
                <a:ea typeface="+mn-ea"/>
              </a:rPr>
              <a:t>/shadow</a:t>
            </a:r>
            <a:r>
              <a:rPr lang="zh-CN" altLang="en-US" sz="2600" dirty="0">
                <a:latin typeface="+mn-ea"/>
                <a:ea typeface="+mn-ea"/>
              </a:rPr>
              <a:t>，只有</a:t>
            </a:r>
            <a:r>
              <a:rPr lang="zh-CN" altLang="en-US" sz="2600" dirty="0">
                <a:solidFill>
                  <a:srgbClr val="0000CC"/>
                </a:solidFill>
                <a:latin typeface="+mn-ea"/>
                <a:ea typeface="+mn-ea"/>
              </a:rPr>
              <a:t>超级用户才能查看</a:t>
            </a:r>
            <a:r>
              <a:rPr lang="zh-CN" altLang="en-US" sz="2600" dirty="0">
                <a:latin typeface="+mn-ea"/>
                <a:ea typeface="+mn-ea"/>
              </a:rPr>
              <a:t>其内容。</a:t>
            </a:r>
          </a:p>
        </p:txBody>
      </p:sp>
      <p:pic>
        <p:nvPicPr>
          <p:cNvPr id="3" name="图片 2">
            <a:extLst>
              <a:ext uri="{FF2B5EF4-FFF2-40B4-BE49-F238E27FC236}">
                <a16:creationId xmlns:a16="http://schemas.microsoft.com/office/drawing/2014/main" id="{96B18B56-EA0B-4C24-B8FD-6CA6E9A3823F}"/>
              </a:ext>
            </a:extLst>
          </p:cNvPr>
          <p:cNvPicPr>
            <a:picLocks noChangeAspect="1"/>
          </p:cNvPicPr>
          <p:nvPr/>
        </p:nvPicPr>
        <p:blipFill>
          <a:blip r:embed="rId3"/>
          <a:stretch>
            <a:fillRect/>
          </a:stretch>
        </p:blipFill>
        <p:spPr>
          <a:xfrm>
            <a:off x="2423592" y="1237347"/>
            <a:ext cx="7992888" cy="5041533"/>
          </a:xfrm>
          <a:prstGeom prst="rect">
            <a:avLst/>
          </a:prstGeom>
        </p:spPr>
      </p:pic>
    </p:spTree>
    <p:extLst>
      <p:ext uri="{BB962C8B-B14F-4D97-AF65-F5344CB8AC3E}">
        <p14:creationId xmlns:p14="http://schemas.microsoft.com/office/powerpoint/2010/main" val="181892927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87965474-E32D-A397-F2CF-DE5B55DF6047}"/>
              </a:ext>
            </a:extLst>
          </p:cNvPr>
          <p:cNvSpPr/>
          <p:nvPr/>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387" name="Rectangle 3"/>
          <p:cNvSpPr>
            <a:spLocks noGrp="1" noRot="1" noChangeArrowheads="1"/>
          </p:cNvSpPr>
          <p:nvPr>
            <p:ph type="body" idx="1"/>
          </p:nvPr>
        </p:nvSpPr>
        <p:spPr>
          <a:xfrm>
            <a:off x="1199456" y="1412776"/>
            <a:ext cx="9577064" cy="4536504"/>
          </a:xfrm>
        </p:spPr>
        <p:txBody>
          <a:bodyPr/>
          <a:lstStyle/>
          <a:p>
            <a:pPr>
              <a:lnSpc>
                <a:spcPct val="120000"/>
              </a:lnSpc>
            </a:pPr>
            <a:r>
              <a:rPr lang="zh-CN" altLang="zh-CN" sz="2600" dirty="0"/>
              <a:t>/etc/shadow也是以冒号（:）作为分隔符，共分</a:t>
            </a:r>
            <a:r>
              <a:rPr lang="zh-CN" altLang="zh-CN" sz="2600" dirty="0">
                <a:solidFill>
                  <a:srgbClr val="0000CC"/>
                </a:solidFill>
              </a:rPr>
              <a:t>9个字段</a:t>
            </a:r>
            <a:r>
              <a:rPr lang="zh-CN" altLang="zh-CN" sz="2600" dirty="0"/>
              <a:t>（列）。</a:t>
            </a:r>
          </a:p>
          <a:p>
            <a:pPr marL="0" indent="0">
              <a:lnSpc>
                <a:spcPct val="120000"/>
              </a:lnSpc>
              <a:buNone/>
            </a:pPr>
            <a:r>
              <a:rPr lang="zh-CN" altLang="en-US" sz="2600" dirty="0"/>
              <a:t>（</a:t>
            </a:r>
            <a:r>
              <a:rPr lang="en-US" altLang="zh-CN" sz="2600" dirty="0"/>
              <a:t>1</a:t>
            </a:r>
            <a:r>
              <a:rPr lang="zh-CN" altLang="en-US" sz="2600" dirty="0"/>
              <a:t>）</a:t>
            </a:r>
            <a:r>
              <a:rPr lang="zh-CN" altLang="en-US" sz="2600" dirty="0">
                <a:solidFill>
                  <a:srgbClr val="CC0099"/>
                </a:solidFill>
              </a:rPr>
              <a:t>用户名</a:t>
            </a:r>
            <a:r>
              <a:rPr lang="zh-CN" altLang="en-US" sz="2600" dirty="0"/>
              <a:t>：</a:t>
            </a:r>
            <a:r>
              <a:rPr lang="zh-CN" altLang="zh-CN" sz="2600" dirty="0"/>
              <a:t>与/etc/passwd相同。</a:t>
            </a:r>
          </a:p>
          <a:p>
            <a:pPr marL="0" indent="0">
              <a:lnSpc>
                <a:spcPct val="120000"/>
              </a:lnSpc>
              <a:buNone/>
            </a:pPr>
            <a:r>
              <a:rPr lang="zh-CN" altLang="en-US" sz="2600" dirty="0"/>
              <a:t>（</a:t>
            </a:r>
            <a:r>
              <a:rPr lang="en-US" altLang="zh-CN" sz="2600" dirty="0"/>
              <a:t>2</a:t>
            </a:r>
            <a:r>
              <a:rPr lang="zh-CN" altLang="en-US" sz="2600" dirty="0"/>
              <a:t>）</a:t>
            </a:r>
            <a:r>
              <a:rPr lang="zh-CN" altLang="en-US" sz="2600" dirty="0">
                <a:solidFill>
                  <a:srgbClr val="CC0099"/>
                </a:solidFill>
              </a:rPr>
              <a:t>口令</a:t>
            </a:r>
            <a:r>
              <a:rPr lang="zh-CN" altLang="en-US" sz="2600" dirty="0"/>
              <a:t>：加密</a:t>
            </a:r>
            <a:r>
              <a:rPr lang="zh-CN" altLang="zh-CN" sz="2600" dirty="0"/>
              <a:t>后的密码</a:t>
            </a:r>
            <a:r>
              <a:rPr lang="zh-CN" altLang="en-US" sz="2600" dirty="0"/>
              <a:t>，如果是“！</a:t>
            </a:r>
            <a:r>
              <a:rPr lang="en-US" altLang="zh-CN" sz="2600" dirty="0"/>
              <a:t>!”,</a:t>
            </a:r>
            <a:r>
              <a:rPr lang="zh-CN" altLang="en-US" sz="2600" dirty="0"/>
              <a:t>则表示这个账号无密码，不能登录。部分系统账号无密码</a:t>
            </a:r>
            <a:endParaRPr lang="en-US" altLang="zh-CN" sz="2600" dirty="0"/>
          </a:p>
          <a:p>
            <a:pPr marL="0" indent="0">
              <a:lnSpc>
                <a:spcPct val="120000"/>
              </a:lnSpc>
              <a:buNone/>
            </a:pPr>
            <a:r>
              <a:rPr lang="zh-CN" altLang="en-US" sz="2600" dirty="0"/>
              <a:t>（</a:t>
            </a:r>
            <a:r>
              <a:rPr lang="en-US" altLang="zh-CN" sz="2600" dirty="0"/>
              <a:t>3</a:t>
            </a:r>
            <a:r>
              <a:rPr lang="zh-CN" altLang="en-US" sz="2600" dirty="0"/>
              <a:t>）</a:t>
            </a:r>
            <a:r>
              <a:rPr lang="zh-CN" altLang="en-US" sz="2600" dirty="0">
                <a:solidFill>
                  <a:srgbClr val="CC0099"/>
                </a:solidFill>
              </a:rPr>
              <a:t>最后一次修改密码的时间</a:t>
            </a:r>
            <a:r>
              <a:rPr lang="zh-CN" altLang="en-US" sz="2600" dirty="0"/>
              <a:t>：记录从</a:t>
            </a:r>
            <a:r>
              <a:rPr lang="en-US" altLang="zh-CN" sz="2600" dirty="0"/>
              <a:t>1970</a:t>
            </a:r>
            <a:r>
              <a:rPr lang="zh-CN" altLang="en-US" sz="2600" dirty="0"/>
              <a:t>年</a:t>
            </a:r>
            <a:r>
              <a:rPr lang="en-US" altLang="zh-CN" sz="2600" dirty="0"/>
              <a:t>1</a:t>
            </a:r>
            <a:r>
              <a:rPr lang="zh-CN" altLang="en-US" sz="2600" dirty="0"/>
              <a:t>月</a:t>
            </a:r>
            <a:r>
              <a:rPr lang="en-US" altLang="zh-CN" sz="2600" dirty="0"/>
              <a:t>1</a:t>
            </a:r>
            <a:r>
              <a:rPr lang="zh-CN" altLang="en-US" sz="2600" dirty="0"/>
              <a:t>日起，到用户最后一次更改密码的天数。对于无密码的账号而言，是从</a:t>
            </a:r>
            <a:r>
              <a:rPr lang="en-US" altLang="zh-CN" sz="2600" dirty="0"/>
              <a:t>1970</a:t>
            </a:r>
            <a:r>
              <a:rPr lang="zh-CN" altLang="en-US" sz="2600" dirty="0"/>
              <a:t>年</a:t>
            </a:r>
            <a:r>
              <a:rPr lang="en-US" altLang="zh-CN" sz="2600" dirty="0"/>
              <a:t>1</a:t>
            </a:r>
            <a:r>
              <a:rPr lang="zh-CN" altLang="en-US" sz="2600" dirty="0"/>
              <a:t>月</a:t>
            </a:r>
            <a:r>
              <a:rPr lang="en-US" altLang="zh-CN" sz="2600" dirty="0"/>
              <a:t>1</a:t>
            </a:r>
            <a:r>
              <a:rPr lang="zh-CN" altLang="en-US" sz="2600" dirty="0"/>
              <a:t>日起到创建该用户帐号的间隔的天数。</a:t>
            </a:r>
            <a:endParaRPr lang="en-US" altLang="zh-CN" sz="2600" dirty="0"/>
          </a:p>
          <a:p>
            <a:pPr marL="0" indent="0">
              <a:buNone/>
            </a:pPr>
            <a:endParaRPr lang="zh-CN" altLang="en-US" sz="2600" dirty="0"/>
          </a:p>
          <a:p>
            <a:pPr marL="0" indent="0">
              <a:buNone/>
            </a:pPr>
            <a:endParaRPr lang="zh-CN" altLang="zh-CN" dirty="0"/>
          </a:p>
        </p:txBody>
      </p:sp>
      <p:sp>
        <p:nvSpPr>
          <p:cNvPr id="4" name="标题 1"/>
          <p:cNvSpPr>
            <a:spLocks noGrp="1"/>
          </p:cNvSpPr>
          <p:nvPr>
            <p:ph type="title"/>
          </p:nvPr>
        </p:nvSpPr>
        <p:spPr>
          <a:xfrm>
            <a:off x="1981200" y="493489"/>
            <a:ext cx="8229600" cy="850900"/>
          </a:xfrm>
        </p:spPr>
        <p:txBody>
          <a:bodyPr/>
          <a:lstStyle/>
          <a:p>
            <a:pPr algn="ctr"/>
            <a:r>
              <a:rPr lang="en-US" altLang="zh-CN" dirty="0"/>
              <a:t>/</a:t>
            </a:r>
            <a:r>
              <a:rPr lang="en-US" altLang="zh-CN" dirty="0" err="1"/>
              <a:t>etc</a:t>
            </a:r>
            <a:r>
              <a:rPr lang="en-US" altLang="zh-CN" dirty="0"/>
              <a:t>/shadow </a:t>
            </a:r>
            <a:r>
              <a:rPr lang="zh-CN" altLang="en-US" dirty="0"/>
              <a:t>文件内容</a:t>
            </a:r>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13</a:t>
            </a:fld>
            <a:endParaRPr lang="en-US" altLang="zh-CN"/>
          </a:p>
        </p:txBody>
      </p:sp>
    </p:spTree>
    <p:extLst>
      <p:ext uri="{BB962C8B-B14F-4D97-AF65-F5344CB8AC3E}">
        <p14:creationId xmlns:p14="http://schemas.microsoft.com/office/powerpoint/2010/main" val="113801407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E1196A01-1EA6-CBBF-7175-0865A2E99DC1}"/>
              </a:ext>
            </a:extLst>
          </p:cNvPr>
          <p:cNvSpPr/>
          <p:nvPr/>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459" name="Rectangle 3"/>
          <p:cNvSpPr>
            <a:spLocks noGrp="1" noRot="1" noChangeArrowheads="1"/>
          </p:cNvSpPr>
          <p:nvPr>
            <p:ph type="body" idx="1"/>
          </p:nvPr>
        </p:nvSpPr>
        <p:spPr>
          <a:xfrm>
            <a:off x="1186733" y="1402629"/>
            <a:ext cx="9705490" cy="4411662"/>
          </a:xfrm>
        </p:spPr>
        <p:txBody>
          <a:bodyPr/>
          <a:lstStyle/>
          <a:p>
            <a:pPr marL="0" indent="0">
              <a:lnSpc>
                <a:spcPct val="110000"/>
              </a:lnSpc>
              <a:buNone/>
            </a:pPr>
            <a:r>
              <a:rPr lang="zh-CN" altLang="en-US" sz="2600" dirty="0"/>
              <a:t>（</a:t>
            </a:r>
            <a:r>
              <a:rPr lang="en-US" altLang="zh-CN" sz="2600" dirty="0"/>
              <a:t>4</a:t>
            </a:r>
            <a:r>
              <a:rPr lang="zh-CN" altLang="en-US" sz="2600" dirty="0"/>
              <a:t>）</a:t>
            </a:r>
            <a:r>
              <a:rPr lang="zh-CN" altLang="zh-CN" sz="2600" dirty="0">
                <a:solidFill>
                  <a:srgbClr val="CC0099"/>
                </a:solidFill>
              </a:rPr>
              <a:t>密码不可更改的天数</a:t>
            </a:r>
            <a:r>
              <a:rPr lang="zh-CN" altLang="en-US" sz="2600" dirty="0"/>
              <a:t>：</a:t>
            </a:r>
            <a:r>
              <a:rPr lang="zh-CN" altLang="zh-CN" sz="2600" dirty="0"/>
              <a:t>记录了该账号需要过多少天才可以更改。如果是0的话，表示密码随时可以更改。假设为20时，并设置了密码，表示20天内都无法更改这个密码。</a:t>
            </a:r>
            <a:endParaRPr lang="en-US" altLang="zh-CN" sz="2600" dirty="0"/>
          </a:p>
          <a:p>
            <a:pPr marL="0" indent="0">
              <a:lnSpc>
                <a:spcPct val="110000"/>
              </a:lnSpc>
              <a:buNone/>
            </a:pPr>
            <a:r>
              <a:rPr lang="zh-CN" altLang="en-US" sz="2600" dirty="0"/>
              <a:t>（</a:t>
            </a:r>
            <a:r>
              <a:rPr lang="en-US" altLang="zh-CN" sz="2600" dirty="0"/>
              <a:t>5</a:t>
            </a:r>
            <a:r>
              <a:rPr lang="zh-CN" altLang="en-US" sz="2600" dirty="0"/>
              <a:t>）</a:t>
            </a:r>
            <a:r>
              <a:rPr lang="zh-CN" altLang="en-US" sz="2600" dirty="0">
                <a:solidFill>
                  <a:srgbClr val="CC0099"/>
                </a:solidFill>
              </a:rPr>
              <a:t>密码需要更改的天数</a:t>
            </a:r>
            <a:r>
              <a:rPr lang="zh-CN" altLang="en-US" sz="2600" dirty="0"/>
              <a:t>：必须在这个时间内进行密码更新，否则这个账号会失效。但如果标为</a:t>
            </a:r>
            <a:r>
              <a:rPr lang="en-US" altLang="zh-CN" sz="2600" dirty="0"/>
              <a:t>99999</a:t>
            </a:r>
            <a:r>
              <a:rPr lang="zh-CN" altLang="en-US" sz="2600" dirty="0"/>
              <a:t>的话，表示密码不需要更改。</a:t>
            </a:r>
            <a:endParaRPr lang="en-US" altLang="zh-CN" sz="2600" dirty="0"/>
          </a:p>
          <a:p>
            <a:pPr marL="0" indent="0">
              <a:lnSpc>
                <a:spcPct val="110000"/>
              </a:lnSpc>
              <a:buNone/>
            </a:pPr>
            <a:r>
              <a:rPr lang="zh-CN" altLang="en-US" sz="2600" dirty="0"/>
              <a:t>（</a:t>
            </a:r>
            <a:r>
              <a:rPr lang="en-US" altLang="zh-CN" sz="2600" dirty="0"/>
              <a:t>6</a:t>
            </a:r>
            <a:r>
              <a:rPr lang="zh-CN" altLang="en-US" sz="2600" dirty="0"/>
              <a:t>）</a:t>
            </a:r>
            <a:r>
              <a:rPr lang="zh-CN" altLang="zh-CN" sz="2600" dirty="0">
                <a:solidFill>
                  <a:srgbClr val="CC0099"/>
                </a:solidFill>
              </a:rPr>
              <a:t>警告</a:t>
            </a:r>
            <a:r>
              <a:rPr lang="zh-CN" altLang="en-US" sz="2600" dirty="0">
                <a:solidFill>
                  <a:srgbClr val="CC0099"/>
                </a:solidFill>
              </a:rPr>
              <a:t>时间</a:t>
            </a:r>
            <a:r>
              <a:rPr lang="zh-CN" altLang="en-US" sz="2600" dirty="0"/>
              <a:t>：在用户密码过期之前，提醒用户更新密码。</a:t>
            </a:r>
            <a:r>
              <a:rPr lang="zh-CN" altLang="zh-CN" sz="2600" dirty="0"/>
              <a:t>字样：</a:t>
            </a:r>
            <a:r>
              <a:rPr lang="zh-CN" altLang="zh-CN" sz="2600" dirty="0">
                <a:solidFill>
                  <a:schemeClr val="hlink"/>
                </a:solidFill>
              </a:rPr>
              <a:t>再过n天您的密码就要失效了，请尽快重新设置密码</a:t>
            </a:r>
            <a:r>
              <a:rPr lang="zh-CN" altLang="zh-CN" sz="2600" dirty="0"/>
              <a:t>。</a:t>
            </a:r>
            <a:r>
              <a:rPr lang="zh-CN" altLang="en-US" sz="2600" dirty="0"/>
              <a:t>默认为</a:t>
            </a:r>
            <a:r>
              <a:rPr lang="en-US" altLang="zh-CN" sz="2600" dirty="0"/>
              <a:t>7</a:t>
            </a:r>
            <a:r>
              <a:rPr lang="zh-CN" altLang="en-US" sz="2600" dirty="0"/>
              <a:t>天。</a:t>
            </a:r>
            <a:endParaRPr lang="en-US" altLang="zh-CN" sz="2600" dirty="0"/>
          </a:p>
          <a:p>
            <a:pPr marL="0" indent="0">
              <a:lnSpc>
                <a:spcPct val="130000"/>
              </a:lnSpc>
              <a:buNone/>
            </a:pPr>
            <a:endParaRPr lang="en-US" altLang="zh-CN" sz="2400" dirty="0"/>
          </a:p>
          <a:p>
            <a:pPr marL="0" indent="0">
              <a:lnSpc>
                <a:spcPct val="130000"/>
              </a:lnSpc>
              <a:buNone/>
            </a:pPr>
            <a:endParaRPr lang="zh-CN" altLang="en-US" sz="2400" dirty="0"/>
          </a:p>
          <a:p>
            <a:pPr marL="0" indent="0">
              <a:buNone/>
            </a:pPr>
            <a:endParaRPr lang="en-US" altLang="zh-CN" dirty="0"/>
          </a:p>
          <a:p>
            <a:endParaRPr lang="zh-CN" altLang="zh-CN" dirty="0"/>
          </a:p>
        </p:txBody>
      </p:sp>
      <p:sp>
        <p:nvSpPr>
          <p:cNvPr id="4" name="标题 1"/>
          <p:cNvSpPr>
            <a:spLocks noGrp="1"/>
          </p:cNvSpPr>
          <p:nvPr>
            <p:ph type="title"/>
          </p:nvPr>
        </p:nvSpPr>
        <p:spPr>
          <a:xfrm>
            <a:off x="1971643" y="551729"/>
            <a:ext cx="8229600" cy="850900"/>
          </a:xfrm>
        </p:spPr>
        <p:txBody>
          <a:bodyPr/>
          <a:lstStyle/>
          <a:p>
            <a:pPr algn="ctr"/>
            <a:r>
              <a:rPr lang="en-US" altLang="zh-CN" dirty="0"/>
              <a:t>/</a:t>
            </a:r>
            <a:r>
              <a:rPr lang="en-US" altLang="zh-CN" dirty="0" err="1"/>
              <a:t>etc</a:t>
            </a:r>
            <a:r>
              <a:rPr lang="en-US" altLang="zh-CN" dirty="0"/>
              <a:t>/shadow </a:t>
            </a:r>
            <a:r>
              <a:rPr lang="zh-CN" altLang="en-US" dirty="0"/>
              <a:t>文件内容</a:t>
            </a:r>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14</a:t>
            </a:fld>
            <a:endParaRPr lang="en-US" altLang="zh-CN"/>
          </a:p>
        </p:txBody>
      </p:sp>
    </p:spTree>
    <p:extLst>
      <p:ext uri="{BB962C8B-B14F-4D97-AF65-F5344CB8AC3E}">
        <p14:creationId xmlns:p14="http://schemas.microsoft.com/office/powerpoint/2010/main" val="244100518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9F1CD3CE-F278-6B73-DE18-C2639ED92E8A}"/>
              </a:ext>
            </a:extLst>
          </p:cNvPr>
          <p:cNvSpPr/>
          <p:nvPr/>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3554" name="Rectangle 2"/>
          <p:cNvSpPr>
            <a:spLocks noGrp="1" noRot="1" noChangeArrowheads="1"/>
          </p:cNvSpPr>
          <p:nvPr>
            <p:ph type="title"/>
          </p:nvPr>
        </p:nvSpPr>
        <p:spPr>
          <a:xfrm>
            <a:off x="1031437" y="458426"/>
            <a:ext cx="9985109" cy="858837"/>
          </a:xfrm>
        </p:spPr>
        <p:txBody>
          <a:bodyPr/>
          <a:lstStyle/>
          <a:p>
            <a:pPr algn="ctr"/>
            <a:r>
              <a:rPr lang="en-US" altLang="zh-CN" dirty="0"/>
              <a:t>/</a:t>
            </a:r>
            <a:r>
              <a:rPr lang="en-US" altLang="zh-CN" dirty="0" err="1"/>
              <a:t>etc</a:t>
            </a:r>
            <a:r>
              <a:rPr lang="en-US" altLang="zh-CN" dirty="0"/>
              <a:t>/shadow </a:t>
            </a:r>
            <a:r>
              <a:rPr lang="zh-CN" altLang="en-US" dirty="0"/>
              <a:t>文件内容</a:t>
            </a:r>
          </a:p>
        </p:txBody>
      </p:sp>
      <p:sp>
        <p:nvSpPr>
          <p:cNvPr id="23555" name="Rectangle 3"/>
          <p:cNvSpPr>
            <a:spLocks noGrp="1" noRot="1" noChangeArrowheads="1"/>
          </p:cNvSpPr>
          <p:nvPr>
            <p:ph type="body" idx="1"/>
          </p:nvPr>
        </p:nvSpPr>
        <p:spPr>
          <a:xfrm>
            <a:off x="1271464" y="1537618"/>
            <a:ext cx="9745082" cy="4411662"/>
          </a:xfrm>
        </p:spPr>
        <p:txBody>
          <a:bodyPr/>
          <a:lstStyle/>
          <a:p>
            <a:pPr marL="0" indent="0">
              <a:lnSpc>
                <a:spcPct val="150000"/>
              </a:lnSpc>
              <a:buNone/>
            </a:pPr>
            <a:r>
              <a:rPr lang="zh-CN" altLang="en-US" sz="2600" dirty="0"/>
              <a:t>（</a:t>
            </a:r>
            <a:r>
              <a:rPr lang="en-US" altLang="zh-CN" sz="2600" dirty="0"/>
              <a:t>7</a:t>
            </a:r>
            <a:r>
              <a:rPr lang="zh-CN" altLang="en-US" sz="2600" dirty="0"/>
              <a:t>）</a:t>
            </a:r>
            <a:r>
              <a:rPr lang="zh-CN" altLang="en-US" sz="2600" dirty="0">
                <a:solidFill>
                  <a:srgbClr val="CC0099"/>
                </a:solidFill>
              </a:rPr>
              <a:t>密码过期宽限的时间</a:t>
            </a:r>
            <a:r>
              <a:rPr lang="zh-CN" altLang="en-US" sz="2600" dirty="0"/>
              <a:t>：在用户密码过期之后到禁用账户的天数。如果在这个天数内还是没有更改密码，那该账号就会失效。</a:t>
            </a:r>
            <a:endParaRPr lang="en-US" altLang="zh-CN" sz="2600" dirty="0"/>
          </a:p>
          <a:p>
            <a:pPr marL="0" indent="0">
              <a:lnSpc>
                <a:spcPct val="150000"/>
              </a:lnSpc>
              <a:buNone/>
            </a:pPr>
            <a:r>
              <a:rPr lang="zh-CN" altLang="en-US" sz="2600" dirty="0"/>
              <a:t>（</a:t>
            </a:r>
            <a:r>
              <a:rPr lang="en-US" altLang="zh-CN" sz="2600" dirty="0"/>
              <a:t>8</a:t>
            </a:r>
            <a:r>
              <a:rPr lang="zh-CN" altLang="en-US" sz="2600" dirty="0"/>
              <a:t>）</a:t>
            </a:r>
            <a:r>
              <a:rPr lang="zh-CN" altLang="zh-CN" sz="2600" dirty="0">
                <a:solidFill>
                  <a:srgbClr val="CC0099"/>
                </a:solidFill>
              </a:rPr>
              <a:t>账号失效日期</a:t>
            </a:r>
            <a:r>
              <a:rPr lang="zh-CN" altLang="en-US" sz="2600" dirty="0"/>
              <a:t>：系统从</a:t>
            </a:r>
            <a:r>
              <a:rPr lang="en-US" altLang="zh-CN" sz="2600" dirty="0"/>
              <a:t>1970</a:t>
            </a:r>
            <a:r>
              <a:rPr lang="zh-CN" altLang="en-US" sz="2600" dirty="0"/>
              <a:t>年</a:t>
            </a:r>
            <a:r>
              <a:rPr lang="en-US" altLang="zh-CN" sz="2600" dirty="0"/>
              <a:t>1</a:t>
            </a:r>
            <a:r>
              <a:rPr lang="zh-CN" altLang="en-US" sz="2600" dirty="0"/>
              <a:t>月</a:t>
            </a:r>
            <a:r>
              <a:rPr lang="en-US" altLang="zh-CN" sz="2600" dirty="0"/>
              <a:t>1</a:t>
            </a:r>
            <a:r>
              <a:rPr lang="zh-CN" altLang="en-US" sz="2600" dirty="0"/>
              <a:t>日起到账户失效日期之间的天数来表示这个日期。如果该字段为空，表示账号永久有效。</a:t>
            </a:r>
            <a:endParaRPr lang="zh-CN" altLang="zh-CN" sz="2600" dirty="0"/>
          </a:p>
          <a:p>
            <a:pPr marL="0" indent="0">
              <a:lnSpc>
                <a:spcPct val="150000"/>
              </a:lnSpc>
              <a:buNone/>
            </a:pPr>
            <a:r>
              <a:rPr lang="zh-CN" altLang="en-US" sz="2600" dirty="0"/>
              <a:t>（</a:t>
            </a:r>
            <a:r>
              <a:rPr lang="en-US" altLang="zh-CN" sz="2600" dirty="0"/>
              <a:t>9</a:t>
            </a:r>
            <a:r>
              <a:rPr lang="zh-CN" altLang="en-US" sz="2600" dirty="0"/>
              <a:t>）</a:t>
            </a:r>
            <a:r>
              <a:rPr lang="zh-CN" altLang="zh-CN" sz="2600" dirty="0">
                <a:solidFill>
                  <a:srgbClr val="CC0099"/>
                </a:solidFill>
              </a:rPr>
              <a:t>为保留字段</a:t>
            </a:r>
            <a:r>
              <a:rPr lang="zh-CN" altLang="en-US" sz="2600" dirty="0">
                <a:solidFill>
                  <a:srgbClr val="CC0099"/>
                </a:solidFill>
              </a:rPr>
              <a:t>：</a:t>
            </a:r>
            <a:r>
              <a:rPr lang="zh-CN" altLang="zh-CN" sz="2600" dirty="0"/>
              <a:t>以备以后有新的功能加入。</a:t>
            </a:r>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15</a:t>
            </a:fld>
            <a:endParaRPr lang="en-US" altLang="zh-CN"/>
          </a:p>
        </p:txBody>
      </p:sp>
    </p:spTree>
    <p:extLst>
      <p:ext uri="{BB962C8B-B14F-4D97-AF65-F5344CB8AC3E}">
        <p14:creationId xmlns:p14="http://schemas.microsoft.com/office/powerpoint/2010/main" val="299383064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0D7DE1E9-ABE7-8C03-8FA7-B5B857F1AB31}"/>
              </a:ext>
            </a:extLst>
          </p:cNvPr>
          <p:cNvSpPr/>
          <p:nvPr/>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4579" name="Rectangle 3"/>
          <p:cNvSpPr>
            <a:spLocks noGrp="1" noRot="1" noChangeArrowheads="1"/>
          </p:cNvSpPr>
          <p:nvPr>
            <p:ph type="body" idx="1"/>
          </p:nvPr>
        </p:nvSpPr>
        <p:spPr>
          <a:xfrm>
            <a:off x="983432" y="764704"/>
            <a:ext cx="10225136" cy="5328592"/>
          </a:xfrm>
        </p:spPr>
        <p:txBody>
          <a:bodyPr/>
          <a:lstStyle/>
          <a:p>
            <a:pPr marL="0" indent="0">
              <a:buNone/>
            </a:pPr>
            <a:r>
              <a:rPr lang="zh-CN" altLang="en-US" sz="2400" dirty="0"/>
              <a:t>例如：</a:t>
            </a:r>
            <a:endParaRPr lang="en-US" altLang="zh-CN" sz="2400" dirty="0"/>
          </a:p>
          <a:p>
            <a:r>
              <a:rPr lang="zh-CN" altLang="zh-CN" sz="2400" dirty="0"/>
              <a:t>lhb</a:t>
            </a:r>
            <a:r>
              <a:rPr lang="zh-CN" altLang="zh-CN" sz="2400" dirty="0">
                <a:solidFill>
                  <a:srgbClr val="FF0000"/>
                </a:solidFill>
              </a:rPr>
              <a:t>:</a:t>
            </a:r>
            <a:r>
              <a:rPr lang="zh-CN" altLang="zh-CN" sz="2400" dirty="0"/>
              <a:t>$1$ns4QMsJ4$AuhkKGdvoDbVg0jGJ.q4p/</a:t>
            </a:r>
            <a:r>
              <a:rPr lang="zh-CN" altLang="zh-CN" sz="2400" dirty="0">
                <a:solidFill>
                  <a:srgbClr val="FF0000"/>
                </a:solidFill>
              </a:rPr>
              <a:t>:</a:t>
            </a:r>
            <a:endParaRPr lang="en-US" altLang="zh-CN" sz="2400" dirty="0">
              <a:solidFill>
                <a:srgbClr val="FF0000"/>
              </a:solidFill>
            </a:endParaRPr>
          </a:p>
          <a:p>
            <a:pPr marL="0" indent="0">
              <a:buNone/>
            </a:pPr>
            <a:r>
              <a:rPr lang="en-US" altLang="zh-CN" sz="2400" dirty="0">
                <a:solidFill>
                  <a:srgbClr val="FF0000"/>
                </a:solidFill>
              </a:rPr>
              <a:t>    </a:t>
            </a:r>
            <a:r>
              <a:rPr lang="zh-CN" altLang="zh-CN" sz="2400" dirty="0"/>
              <a:t>1</a:t>
            </a:r>
            <a:r>
              <a:rPr lang="en-US" altLang="zh-CN" sz="2400" dirty="0"/>
              <a:t>958</a:t>
            </a:r>
            <a:r>
              <a:rPr lang="zh-CN" altLang="zh-CN" sz="2400" dirty="0"/>
              <a:t>5</a:t>
            </a:r>
            <a:r>
              <a:rPr lang="zh-CN" altLang="zh-CN" sz="2400" dirty="0">
                <a:solidFill>
                  <a:srgbClr val="FF0000"/>
                </a:solidFill>
              </a:rPr>
              <a:t>:</a:t>
            </a:r>
            <a:r>
              <a:rPr lang="zh-CN" altLang="zh-CN" sz="2400" dirty="0"/>
              <a:t>5</a:t>
            </a:r>
            <a:r>
              <a:rPr lang="zh-CN" altLang="zh-CN" sz="2400" dirty="0">
                <a:solidFill>
                  <a:srgbClr val="FF0000"/>
                </a:solidFill>
              </a:rPr>
              <a:t>:</a:t>
            </a:r>
            <a:r>
              <a:rPr lang="en-US" altLang="zh-CN" sz="2400" dirty="0"/>
              <a:t>30</a:t>
            </a:r>
            <a:r>
              <a:rPr lang="zh-CN" altLang="zh-CN" sz="2400" dirty="0">
                <a:solidFill>
                  <a:srgbClr val="FF0000"/>
                </a:solidFill>
              </a:rPr>
              <a:t>:</a:t>
            </a:r>
            <a:r>
              <a:rPr lang="zh-CN" altLang="zh-CN" sz="2400" dirty="0"/>
              <a:t>7</a:t>
            </a:r>
            <a:r>
              <a:rPr lang="zh-CN" altLang="zh-CN" sz="2400" dirty="0">
                <a:solidFill>
                  <a:srgbClr val="FF0000"/>
                </a:solidFill>
              </a:rPr>
              <a:t>:</a:t>
            </a:r>
            <a:r>
              <a:rPr lang="zh-CN" altLang="zh-CN" sz="2400" dirty="0"/>
              <a:t>2</a:t>
            </a:r>
            <a:r>
              <a:rPr lang="zh-CN" altLang="zh-CN" sz="2400" dirty="0">
                <a:solidFill>
                  <a:srgbClr val="FF0000"/>
                </a:solidFill>
              </a:rPr>
              <a:t>:</a:t>
            </a:r>
            <a:r>
              <a:rPr lang="en-US" altLang="zh-CN" sz="2400" dirty="0"/>
              <a:t>20088</a:t>
            </a:r>
            <a:r>
              <a:rPr lang="zh-CN" altLang="zh-CN" sz="2400" dirty="0">
                <a:solidFill>
                  <a:srgbClr val="FF0000"/>
                </a:solidFill>
              </a:rPr>
              <a:t>:</a:t>
            </a:r>
          </a:p>
          <a:p>
            <a:r>
              <a:rPr lang="zh-CN" altLang="zh-CN" sz="2400" dirty="0">
                <a:solidFill>
                  <a:srgbClr val="CC0099"/>
                </a:solidFill>
              </a:rPr>
              <a:t>1</a:t>
            </a:r>
            <a:r>
              <a:rPr lang="en-US" altLang="zh-CN" sz="2400" dirty="0">
                <a:solidFill>
                  <a:srgbClr val="CC0099"/>
                </a:solidFill>
              </a:rPr>
              <a:t>958</a:t>
            </a:r>
            <a:r>
              <a:rPr lang="zh-CN" altLang="zh-CN" sz="2400" dirty="0">
                <a:solidFill>
                  <a:srgbClr val="CC0099"/>
                </a:solidFill>
              </a:rPr>
              <a:t>5</a:t>
            </a:r>
            <a:r>
              <a:rPr lang="zh-CN" altLang="zh-CN" sz="2400" dirty="0"/>
              <a:t>表示</a:t>
            </a:r>
            <a:r>
              <a:rPr lang="zh-CN" altLang="en-US" sz="2400" dirty="0"/>
              <a:t>最后一次修改密码的时间是</a:t>
            </a:r>
            <a:r>
              <a:rPr lang="zh-CN" altLang="zh-CN" sz="2400" dirty="0"/>
              <a:t>20</a:t>
            </a:r>
            <a:r>
              <a:rPr lang="en-US" altLang="zh-CN" sz="2400" dirty="0"/>
              <a:t>23</a:t>
            </a:r>
            <a:r>
              <a:rPr lang="zh-CN" altLang="zh-CN" sz="2400" dirty="0"/>
              <a:t>年8月</a:t>
            </a:r>
            <a:r>
              <a:rPr lang="en-US" altLang="zh-CN" sz="2400" dirty="0"/>
              <a:t>16</a:t>
            </a:r>
            <a:r>
              <a:rPr lang="zh-CN" altLang="zh-CN" sz="2400" dirty="0"/>
              <a:t>日</a:t>
            </a:r>
            <a:r>
              <a:rPr lang="zh-CN" altLang="en-US" sz="2400" dirty="0"/>
              <a:t>。</a:t>
            </a:r>
            <a:endParaRPr lang="zh-CN" altLang="zh-CN" sz="2400" dirty="0"/>
          </a:p>
          <a:p>
            <a:r>
              <a:rPr lang="zh-CN" altLang="zh-CN" sz="2400" dirty="0">
                <a:solidFill>
                  <a:srgbClr val="CC0099"/>
                </a:solidFill>
              </a:rPr>
              <a:t>5</a:t>
            </a:r>
            <a:r>
              <a:rPr lang="zh-CN" altLang="zh-CN" sz="2400" dirty="0"/>
              <a:t>表示能够修改密码的时间是5天后</a:t>
            </a:r>
            <a:r>
              <a:rPr lang="zh-CN" altLang="en-US" sz="2400" dirty="0"/>
              <a:t>。</a:t>
            </a:r>
            <a:endParaRPr lang="zh-CN" altLang="zh-CN" sz="2400" dirty="0"/>
          </a:p>
          <a:p>
            <a:r>
              <a:rPr lang="en-US" altLang="zh-CN" sz="2400" dirty="0">
                <a:solidFill>
                  <a:srgbClr val="CC0099"/>
                </a:solidFill>
              </a:rPr>
              <a:t>3</a:t>
            </a:r>
            <a:r>
              <a:rPr lang="zh-CN" altLang="zh-CN" sz="2400" dirty="0">
                <a:solidFill>
                  <a:srgbClr val="CC0099"/>
                </a:solidFill>
              </a:rPr>
              <a:t>0</a:t>
            </a:r>
            <a:r>
              <a:rPr lang="zh-CN" altLang="zh-CN" sz="2400" dirty="0"/>
              <a:t>表示用户必须在20</a:t>
            </a:r>
            <a:r>
              <a:rPr lang="en-US" altLang="zh-CN" sz="2400" dirty="0"/>
              <a:t>23</a:t>
            </a:r>
            <a:r>
              <a:rPr lang="zh-CN" altLang="zh-CN" sz="2400" dirty="0"/>
              <a:t>年</a:t>
            </a:r>
            <a:r>
              <a:rPr lang="en-US" altLang="zh-CN" sz="2400" dirty="0"/>
              <a:t>8</a:t>
            </a:r>
            <a:r>
              <a:rPr lang="zh-CN" altLang="zh-CN" sz="2400" dirty="0"/>
              <a:t>月</a:t>
            </a:r>
            <a:r>
              <a:rPr lang="en-US" altLang="zh-CN" sz="2400" dirty="0"/>
              <a:t>21</a:t>
            </a:r>
            <a:r>
              <a:rPr lang="zh-CN" altLang="zh-CN" sz="2400" dirty="0"/>
              <a:t>日至20</a:t>
            </a:r>
            <a:r>
              <a:rPr lang="en-US" altLang="zh-CN" sz="2400" dirty="0"/>
              <a:t>23</a:t>
            </a:r>
            <a:r>
              <a:rPr lang="zh-CN" altLang="zh-CN" sz="2400" dirty="0"/>
              <a:t>年</a:t>
            </a:r>
            <a:r>
              <a:rPr lang="en-US" altLang="zh-CN" sz="2400" dirty="0"/>
              <a:t>9</a:t>
            </a:r>
            <a:r>
              <a:rPr lang="zh-CN" altLang="zh-CN" sz="2400" dirty="0"/>
              <a:t>月</a:t>
            </a:r>
            <a:r>
              <a:rPr lang="en-US" altLang="zh-CN" sz="2400" dirty="0"/>
              <a:t>20</a:t>
            </a:r>
            <a:r>
              <a:rPr lang="zh-CN" altLang="zh-CN" sz="2400" dirty="0"/>
              <a:t>日之间的</a:t>
            </a:r>
            <a:r>
              <a:rPr lang="en-US" altLang="zh-CN" sz="2400" dirty="0"/>
              <a:t>3</a:t>
            </a:r>
            <a:r>
              <a:rPr lang="zh-CN" altLang="zh-CN" sz="2400" dirty="0"/>
              <a:t>0天限制内修改密码，若20</a:t>
            </a:r>
            <a:r>
              <a:rPr lang="en-US" altLang="zh-CN" sz="2400" dirty="0"/>
              <a:t>23</a:t>
            </a:r>
            <a:r>
              <a:rPr lang="zh-CN" altLang="zh-CN" sz="2400" dirty="0"/>
              <a:t>年</a:t>
            </a:r>
            <a:r>
              <a:rPr lang="en-US" altLang="zh-CN" sz="2400" dirty="0"/>
              <a:t>9</a:t>
            </a:r>
            <a:r>
              <a:rPr lang="zh-CN" altLang="zh-CN" sz="2400" dirty="0"/>
              <a:t>月</a:t>
            </a:r>
            <a:r>
              <a:rPr lang="en-US" altLang="zh-CN" sz="2400" dirty="0"/>
              <a:t>20</a:t>
            </a:r>
            <a:r>
              <a:rPr lang="zh-CN" altLang="zh-CN" sz="2400" dirty="0"/>
              <a:t>日之后还是没有修改，该账号会</a:t>
            </a:r>
            <a:r>
              <a:rPr lang="zh-CN" altLang="en-US" sz="2400" dirty="0">
                <a:solidFill>
                  <a:srgbClr val="CC0099"/>
                </a:solidFill>
              </a:rPr>
              <a:t>暂时</a:t>
            </a:r>
            <a:r>
              <a:rPr lang="zh-CN" altLang="zh-CN" sz="2400" dirty="0"/>
              <a:t>失效。</a:t>
            </a:r>
            <a:endParaRPr lang="en-US" altLang="zh-CN" sz="2400" dirty="0"/>
          </a:p>
          <a:p>
            <a:r>
              <a:rPr lang="en-US" altLang="zh-CN" sz="2400" dirty="0">
                <a:solidFill>
                  <a:srgbClr val="CC0099"/>
                </a:solidFill>
              </a:rPr>
              <a:t>7</a:t>
            </a:r>
            <a:r>
              <a:rPr lang="zh-CN" altLang="en-US" sz="2400" dirty="0"/>
              <a:t>表示在</a:t>
            </a:r>
            <a:r>
              <a:rPr lang="en-US" altLang="zh-CN" sz="2400" dirty="0"/>
              <a:t>2023</a:t>
            </a:r>
            <a:r>
              <a:rPr lang="zh-CN" altLang="en-US" sz="2400" dirty="0"/>
              <a:t>年</a:t>
            </a:r>
            <a:r>
              <a:rPr lang="en-US" altLang="zh-CN" sz="2400" dirty="0"/>
              <a:t>9</a:t>
            </a:r>
            <a:r>
              <a:rPr lang="zh-CN" altLang="en-US" sz="2400" dirty="0"/>
              <a:t>月</a:t>
            </a:r>
            <a:r>
              <a:rPr lang="en-US" altLang="zh-CN" sz="2400" dirty="0"/>
              <a:t>20</a:t>
            </a:r>
            <a:r>
              <a:rPr lang="zh-CN" altLang="en-US" sz="2400" dirty="0"/>
              <a:t>日之前的</a:t>
            </a:r>
            <a:r>
              <a:rPr lang="en-US" altLang="zh-CN" sz="2400" dirty="0"/>
              <a:t>7</a:t>
            </a:r>
            <a:r>
              <a:rPr lang="zh-CN" altLang="en-US" sz="2400" dirty="0"/>
              <a:t>天内，系统警告修改密码。</a:t>
            </a:r>
          </a:p>
          <a:p>
            <a:r>
              <a:rPr lang="en-US" altLang="zh-CN" sz="2400" dirty="0">
                <a:solidFill>
                  <a:srgbClr val="CC0099"/>
                </a:solidFill>
              </a:rPr>
              <a:t>2</a:t>
            </a:r>
            <a:r>
              <a:rPr lang="zh-CN" altLang="en-US" sz="2400" dirty="0"/>
              <a:t>表示如果在</a:t>
            </a:r>
            <a:r>
              <a:rPr lang="en-US" altLang="zh-CN" sz="2400" dirty="0"/>
              <a:t>2023</a:t>
            </a:r>
            <a:r>
              <a:rPr lang="zh-CN" altLang="en-US" sz="2400" dirty="0"/>
              <a:t>年</a:t>
            </a:r>
            <a:r>
              <a:rPr lang="en-US" altLang="zh-CN" sz="2400" dirty="0"/>
              <a:t>9</a:t>
            </a:r>
            <a:r>
              <a:rPr lang="zh-CN" altLang="en-US" sz="2400" dirty="0"/>
              <a:t>月</a:t>
            </a:r>
            <a:r>
              <a:rPr lang="en-US" altLang="zh-CN" sz="2400" dirty="0"/>
              <a:t>20</a:t>
            </a:r>
            <a:r>
              <a:rPr lang="zh-CN" altLang="en-US" sz="2400" dirty="0"/>
              <a:t>日都没有更改密码，由于还有两天的宽限时间，因此，还是可以在</a:t>
            </a:r>
            <a:r>
              <a:rPr lang="en-US" altLang="zh-CN" sz="2400" dirty="0"/>
              <a:t>2023</a:t>
            </a:r>
            <a:r>
              <a:rPr lang="zh-CN" altLang="en-US" sz="2400" dirty="0"/>
              <a:t>年</a:t>
            </a:r>
            <a:r>
              <a:rPr lang="en-US" altLang="zh-CN" sz="2400" dirty="0"/>
              <a:t>9</a:t>
            </a:r>
            <a:r>
              <a:rPr lang="zh-CN" altLang="en-US" sz="2400" dirty="0"/>
              <a:t>月</a:t>
            </a:r>
            <a:r>
              <a:rPr lang="en-US" altLang="zh-CN" sz="2400" dirty="0"/>
              <a:t>22</a:t>
            </a:r>
            <a:r>
              <a:rPr lang="zh-CN" altLang="en-US" sz="2400" dirty="0"/>
              <a:t>日以前继续登录。</a:t>
            </a:r>
          </a:p>
          <a:p>
            <a:r>
              <a:rPr lang="en-US" altLang="zh-CN" sz="2400" dirty="0">
                <a:solidFill>
                  <a:srgbClr val="CC0099"/>
                </a:solidFill>
              </a:rPr>
              <a:t>20088</a:t>
            </a:r>
            <a:r>
              <a:rPr lang="zh-CN" altLang="en-US" sz="2400" dirty="0"/>
              <a:t>表示在</a:t>
            </a:r>
            <a:r>
              <a:rPr lang="en-US" altLang="zh-CN" sz="2400" dirty="0"/>
              <a:t>2024</a:t>
            </a:r>
            <a:r>
              <a:rPr lang="zh-CN" altLang="en-US" sz="2400" dirty="0"/>
              <a:t>年</a:t>
            </a:r>
            <a:r>
              <a:rPr lang="en-US" altLang="zh-CN" sz="2400" dirty="0"/>
              <a:t>12</a:t>
            </a:r>
            <a:r>
              <a:rPr lang="zh-CN" altLang="en-US" sz="2400" dirty="0"/>
              <a:t>月</a:t>
            </a:r>
            <a:r>
              <a:rPr lang="en-US" altLang="zh-CN" sz="2400" dirty="0"/>
              <a:t>31</a:t>
            </a:r>
            <a:r>
              <a:rPr lang="zh-CN" altLang="en-US" sz="2400" dirty="0"/>
              <a:t>日，该账号就失效了。</a:t>
            </a:r>
          </a:p>
          <a:p>
            <a:pPr>
              <a:lnSpc>
                <a:spcPct val="90000"/>
              </a:lnSpc>
            </a:pPr>
            <a:endParaRPr lang="zh-CN" altLang="zh-CN" sz="2400" dirty="0"/>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16</a:t>
            </a:fld>
            <a:endParaRPr lang="en-US" altLang="zh-CN"/>
          </a:p>
        </p:txBody>
      </p:sp>
    </p:spTree>
    <p:extLst>
      <p:ext uri="{BB962C8B-B14F-4D97-AF65-F5344CB8AC3E}">
        <p14:creationId xmlns:p14="http://schemas.microsoft.com/office/powerpoint/2010/main" val="40461514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EADD5D6C-F348-ACE7-8ED7-30EDB5ACA83E}"/>
              </a:ext>
            </a:extLst>
          </p:cNvPr>
          <p:cNvSpPr/>
          <p:nvPr/>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506" name="标题 1"/>
          <p:cNvSpPr>
            <a:spLocks noGrp="1"/>
          </p:cNvSpPr>
          <p:nvPr>
            <p:ph type="title"/>
          </p:nvPr>
        </p:nvSpPr>
        <p:spPr>
          <a:xfrm>
            <a:off x="2864724" y="664393"/>
            <a:ext cx="6230937" cy="576262"/>
          </a:xfrm>
        </p:spPr>
        <p:txBody>
          <a:bodyPr/>
          <a:lstStyle/>
          <a:p>
            <a:pPr algn="ctr"/>
            <a:r>
              <a:rPr lang="zh-CN" altLang="zh-CN" dirty="0"/>
              <a:t>组群概念</a:t>
            </a:r>
            <a:endParaRPr lang="zh-CN" altLang="en-US" dirty="0"/>
          </a:p>
        </p:txBody>
      </p:sp>
      <p:sp>
        <p:nvSpPr>
          <p:cNvPr id="21507" name="内容占位符 2"/>
          <p:cNvSpPr>
            <a:spLocks noGrp="1"/>
          </p:cNvSpPr>
          <p:nvPr>
            <p:ph idx="1"/>
          </p:nvPr>
        </p:nvSpPr>
        <p:spPr>
          <a:xfrm>
            <a:off x="1055440" y="1412777"/>
            <a:ext cx="9849506" cy="4492699"/>
          </a:xfrm>
        </p:spPr>
        <p:txBody>
          <a:bodyPr/>
          <a:lstStyle/>
          <a:p>
            <a:r>
              <a:rPr lang="zh-CN" altLang="en-US" sz="2600" dirty="0"/>
              <a:t>组群是逻辑地组织用户帐号集合的方便途径，组群简化了用户的管理，</a:t>
            </a:r>
            <a:r>
              <a:rPr lang="zh-CN" altLang="en-US" sz="2600" dirty="0">
                <a:solidFill>
                  <a:srgbClr val="CC0099"/>
                </a:solidFill>
              </a:rPr>
              <a:t>方便用户之间的文件与数据共享</a:t>
            </a:r>
            <a:r>
              <a:rPr lang="zh-CN" altLang="en-US" sz="2600" dirty="0"/>
              <a:t>。</a:t>
            </a:r>
            <a:endParaRPr lang="en-US" altLang="zh-CN" sz="2600" dirty="0"/>
          </a:p>
          <a:p>
            <a:r>
              <a:rPr lang="en-US" altLang="zh-CN" sz="2600" dirty="0"/>
              <a:t>Linux</a:t>
            </a:r>
            <a:r>
              <a:rPr lang="zh-CN" altLang="zh-CN" sz="2600" dirty="0"/>
              <a:t>将具有相同特性的用户划为一个组</a:t>
            </a:r>
            <a:r>
              <a:rPr lang="zh-CN" altLang="en-US" sz="2600" dirty="0"/>
              <a:t>。任何</a:t>
            </a:r>
            <a:r>
              <a:rPr lang="zh-CN" altLang="en-US" sz="2600" dirty="0">
                <a:solidFill>
                  <a:srgbClr val="0000CC"/>
                </a:solidFill>
              </a:rPr>
              <a:t>一个用户至少属于一个组群</a:t>
            </a:r>
            <a:r>
              <a:rPr lang="zh-CN" altLang="en-US" sz="2600" dirty="0"/>
              <a:t>，这个组称为</a:t>
            </a:r>
            <a:r>
              <a:rPr lang="zh-CN" altLang="en-US" sz="2600" dirty="0">
                <a:solidFill>
                  <a:srgbClr val="CC0099"/>
                </a:solidFill>
              </a:rPr>
              <a:t>基本组（主组）</a:t>
            </a:r>
            <a:r>
              <a:rPr lang="zh-CN" altLang="en-US" sz="2600" dirty="0"/>
              <a:t>。</a:t>
            </a:r>
            <a:endParaRPr lang="en-US" altLang="zh-CN" sz="2600" dirty="0"/>
          </a:p>
          <a:p>
            <a:r>
              <a:rPr lang="en-US" altLang="zh-CN" sz="2600" dirty="0"/>
              <a:t>Linux</a:t>
            </a:r>
            <a:r>
              <a:rPr lang="zh-CN" altLang="en-US" sz="2600" dirty="0">
                <a:solidFill>
                  <a:srgbClr val="0000CC"/>
                </a:solidFill>
              </a:rPr>
              <a:t>允许一个用户同时拥有几个用户组的权限</a:t>
            </a:r>
            <a:r>
              <a:rPr lang="zh-CN" altLang="en-US" sz="2600" dirty="0"/>
              <a:t>，即它可以同时属于几个用户组，除了基本组外，其他组称为</a:t>
            </a:r>
            <a:r>
              <a:rPr lang="zh-CN" altLang="en-US" sz="2600" dirty="0">
                <a:solidFill>
                  <a:srgbClr val="CC0099"/>
                </a:solidFill>
              </a:rPr>
              <a:t>附加组</a:t>
            </a:r>
            <a:r>
              <a:rPr lang="zh-CN" altLang="en-US" sz="2600" dirty="0"/>
              <a:t>。</a:t>
            </a:r>
            <a:endParaRPr lang="en-US" altLang="zh-CN" sz="2600" dirty="0"/>
          </a:p>
          <a:p>
            <a:r>
              <a:rPr lang="zh-CN" altLang="en-US" sz="2600" dirty="0"/>
              <a:t>组群作用：</a:t>
            </a:r>
          </a:p>
          <a:p>
            <a:pPr lvl="1"/>
            <a:r>
              <a:rPr lang="zh-CN" altLang="en-US" dirty="0"/>
              <a:t>避免手工逐个调整用户权限。</a:t>
            </a:r>
          </a:p>
          <a:p>
            <a:pPr lvl="1"/>
            <a:r>
              <a:rPr lang="zh-CN" altLang="en-US" dirty="0"/>
              <a:t>在同组用户中，实现资源共享，增加灵活性。</a:t>
            </a:r>
          </a:p>
          <a:p>
            <a:pPr lvl="1"/>
            <a:endParaRPr lang="zh-CN" altLang="en-US" dirty="0"/>
          </a:p>
          <a:p>
            <a:pPr marL="0" indent="0">
              <a:buNone/>
            </a:pPr>
            <a:endParaRPr lang="en-US" altLang="zh-CN" sz="2600" dirty="0"/>
          </a:p>
          <a:p>
            <a:pPr marL="0" indent="0">
              <a:buNone/>
            </a:pPr>
            <a:endParaRPr lang="zh-CN" altLang="zh-CN" dirty="0"/>
          </a:p>
          <a:p>
            <a:endParaRPr lang="zh-CN" altLang="en-US" dirty="0"/>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17</a:t>
            </a:fld>
            <a:endParaRPr lang="en-US" altLang="zh-CN"/>
          </a:p>
        </p:txBody>
      </p:sp>
    </p:spTree>
    <p:extLst>
      <p:ext uri="{BB962C8B-B14F-4D97-AF65-F5344CB8AC3E}">
        <p14:creationId xmlns:p14="http://schemas.microsoft.com/office/powerpoint/2010/main" val="233877483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15816331-8574-CCD1-72EF-F8120CB5AAB9}"/>
              </a:ext>
            </a:extLst>
          </p:cNvPr>
          <p:cNvSpPr/>
          <p:nvPr/>
        </p:nvSpPr>
        <p:spPr>
          <a:xfrm>
            <a:off x="375522" y="662271"/>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458" name="Rectangle 2"/>
          <p:cNvSpPr>
            <a:spLocks noGrp="1" noChangeArrowheads="1"/>
          </p:cNvSpPr>
          <p:nvPr>
            <p:ph type="title"/>
          </p:nvPr>
        </p:nvSpPr>
        <p:spPr>
          <a:xfrm>
            <a:off x="644306" y="465989"/>
            <a:ext cx="9985109" cy="858837"/>
          </a:xfrm>
        </p:spPr>
        <p:txBody>
          <a:bodyPr/>
          <a:lstStyle/>
          <a:p>
            <a:pPr algn="ctr" eaLnBrk="1" hangingPunct="1"/>
            <a:r>
              <a:rPr lang="zh-CN" altLang="en-US" dirty="0">
                <a:latin typeface="Tahoma" pitchFamily="34" charset="0"/>
                <a:cs typeface="Tahoma" pitchFamily="34" charset="0"/>
              </a:rPr>
              <a:t>用户组</a:t>
            </a:r>
          </a:p>
        </p:txBody>
      </p:sp>
      <p:sp>
        <p:nvSpPr>
          <p:cNvPr id="19459" name="Rectangle 3"/>
          <p:cNvSpPr>
            <a:spLocks noGrp="1" noChangeArrowheads="1"/>
          </p:cNvSpPr>
          <p:nvPr>
            <p:ph idx="1"/>
          </p:nvPr>
        </p:nvSpPr>
        <p:spPr>
          <a:xfrm>
            <a:off x="911424" y="1556792"/>
            <a:ext cx="10369152" cy="3744416"/>
          </a:xfrm>
        </p:spPr>
        <p:txBody>
          <a:bodyPr/>
          <a:lstStyle/>
          <a:p>
            <a:pPr eaLnBrk="1" hangingPunct="1">
              <a:lnSpc>
                <a:spcPct val="150000"/>
              </a:lnSpc>
            </a:pPr>
            <a:r>
              <a:rPr lang="zh-CN" altLang="en-US" sz="2600" dirty="0">
                <a:latin typeface="Tahoma" pitchFamily="34" charset="0"/>
                <a:cs typeface="Tahoma" pitchFamily="34" charset="0"/>
              </a:rPr>
              <a:t>当用户登陆进入系统后，总是属于某一基本组的，在</a:t>
            </a:r>
            <a:r>
              <a:rPr lang="en-US" altLang="zh-CN" sz="2600" dirty="0">
                <a:latin typeface="Tahoma" pitchFamily="34" charset="0"/>
                <a:cs typeface="Tahoma" pitchFamily="34" charset="0"/>
              </a:rPr>
              <a:t>/</a:t>
            </a:r>
            <a:r>
              <a:rPr lang="en-US" altLang="zh-CN" sz="2600" dirty="0" err="1">
                <a:latin typeface="Tahoma" pitchFamily="34" charset="0"/>
                <a:cs typeface="Tahoma" pitchFamily="34" charset="0"/>
              </a:rPr>
              <a:t>etc</a:t>
            </a:r>
            <a:r>
              <a:rPr lang="en-US" altLang="zh-CN" sz="2600" dirty="0">
                <a:latin typeface="Tahoma" pitchFamily="34" charset="0"/>
                <a:cs typeface="Tahoma" pitchFamily="34" charset="0"/>
              </a:rPr>
              <a:t>/passwd </a:t>
            </a:r>
            <a:r>
              <a:rPr lang="zh-CN" altLang="en-US" sz="2600" dirty="0">
                <a:latin typeface="Tahoma" pitchFamily="34" charset="0"/>
                <a:cs typeface="Tahoma" pitchFamily="34" charset="0"/>
              </a:rPr>
              <a:t>文件中记录的</a:t>
            </a:r>
            <a:r>
              <a:rPr lang="en-US" altLang="zh-CN" sz="2600" dirty="0" err="1">
                <a:latin typeface="Tahoma" pitchFamily="34" charset="0"/>
                <a:cs typeface="Tahoma" pitchFamily="34" charset="0"/>
              </a:rPr>
              <a:t>GID</a:t>
            </a:r>
            <a:r>
              <a:rPr lang="zh-CN" altLang="en-US" sz="2600" dirty="0">
                <a:latin typeface="Tahoma" pitchFamily="34" charset="0"/>
                <a:cs typeface="Tahoma" pitchFamily="34" charset="0"/>
              </a:rPr>
              <a:t>是基本组的</a:t>
            </a:r>
            <a:r>
              <a:rPr lang="en-US" altLang="zh-CN" sz="2600" dirty="0">
                <a:latin typeface="Tahoma" pitchFamily="34" charset="0"/>
                <a:cs typeface="Tahoma" pitchFamily="34" charset="0"/>
              </a:rPr>
              <a:t>ID</a:t>
            </a:r>
            <a:r>
              <a:rPr lang="zh-CN" altLang="en-US" sz="2600" dirty="0">
                <a:latin typeface="Tahoma" pitchFamily="34" charset="0"/>
                <a:cs typeface="Tahoma" pitchFamily="34" charset="0"/>
              </a:rPr>
              <a:t>。</a:t>
            </a:r>
          </a:p>
          <a:p>
            <a:pPr eaLnBrk="1" hangingPunct="1">
              <a:lnSpc>
                <a:spcPct val="150000"/>
              </a:lnSpc>
            </a:pPr>
            <a:r>
              <a:rPr lang="zh-CN" altLang="en-US" sz="2600" dirty="0">
                <a:latin typeface="Tahoma" pitchFamily="34" charset="0"/>
                <a:cs typeface="Tahoma" pitchFamily="34" charset="0"/>
              </a:rPr>
              <a:t> 用户</a:t>
            </a:r>
            <a:r>
              <a:rPr lang="zh-CN" altLang="en-US" sz="2600" dirty="0">
                <a:solidFill>
                  <a:srgbClr val="0000CC"/>
                </a:solidFill>
                <a:latin typeface="Tahoma" pitchFamily="34" charset="0"/>
                <a:cs typeface="Tahoma" pitchFamily="34" charset="0"/>
              </a:rPr>
              <a:t>组的信息保存在</a:t>
            </a:r>
            <a:r>
              <a:rPr lang="en-US" altLang="zh-CN" sz="2600" dirty="0">
                <a:solidFill>
                  <a:srgbClr val="0000CC"/>
                </a:solidFill>
                <a:latin typeface="Tahoma" pitchFamily="34" charset="0"/>
                <a:cs typeface="Tahoma" pitchFamily="34" charset="0"/>
              </a:rPr>
              <a:t>/</a:t>
            </a:r>
            <a:r>
              <a:rPr lang="en-US" altLang="zh-CN" sz="2600" dirty="0" err="1">
                <a:solidFill>
                  <a:srgbClr val="0000CC"/>
                </a:solidFill>
                <a:latin typeface="Tahoma" pitchFamily="34" charset="0"/>
                <a:cs typeface="Tahoma" pitchFamily="34" charset="0"/>
              </a:rPr>
              <a:t>etc</a:t>
            </a:r>
            <a:r>
              <a:rPr lang="en-US" altLang="zh-CN" sz="2600" dirty="0">
                <a:solidFill>
                  <a:srgbClr val="0000CC"/>
                </a:solidFill>
                <a:latin typeface="Tahoma" pitchFamily="34" charset="0"/>
                <a:cs typeface="Tahoma" pitchFamily="34" charset="0"/>
              </a:rPr>
              <a:t>/group</a:t>
            </a:r>
            <a:r>
              <a:rPr lang="zh-CN" altLang="en-US" sz="2600" dirty="0">
                <a:latin typeface="Tahoma" pitchFamily="34" charset="0"/>
                <a:cs typeface="Tahoma" pitchFamily="34" charset="0"/>
              </a:rPr>
              <a:t>文件中，与</a:t>
            </a:r>
            <a:r>
              <a:rPr lang="en-US" altLang="zh-CN" sz="2600" dirty="0">
                <a:latin typeface="Tahoma" pitchFamily="34" charset="0"/>
                <a:cs typeface="Tahoma" pitchFamily="34" charset="0"/>
              </a:rPr>
              <a:t>/</a:t>
            </a:r>
            <a:r>
              <a:rPr lang="en-US" altLang="zh-CN" sz="2600" dirty="0" err="1">
                <a:latin typeface="Tahoma" pitchFamily="34" charset="0"/>
                <a:cs typeface="Tahoma" pitchFamily="34" charset="0"/>
              </a:rPr>
              <a:t>etc</a:t>
            </a:r>
            <a:r>
              <a:rPr lang="en-US" altLang="zh-CN" sz="2600" dirty="0">
                <a:latin typeface="Tahoma" pitchFamily="34" charset="0"/>
                <a:cs typeface="Tahoma" pitchFamily="34" charset="0"/>
              </a:rPr>
              <a:t>/password</a:t>
            </a:r>
            <a:r>
              <a:rPr lang="zh-CN" altLang="en-US" sz="2600" dirty="0">
                <a:latin typeface="Tahoma" pitchFamily="34" charset="0"/>
                <a:cs typeface="Tahoma" pitchFamily="34" charset="0"/>
              </a:rPr>
              <a:t>文件类似，它的每一行代表一个组的信息。</a:t>
            </a:r>
            <a:endParaRPr lang="en-US" altLang="zh-CN" sz="2600" dirty="0">
              <a:latin typeface="Tahoma" pitchFamily="34" charset="0"/>
              <a:cs typeface="Tahoma" pitchFamily="34" charset="0"/>
            </a:endParaRPr>
          </a:p>
          <a:p>
            <a:pPr eaLnBrk="1" hangingPunct="1">
              <a:lnSpc>
                <a:spcPct val="150000"/>
              </a:lnSpc>
            </a:pPr>
            <a:r>
              <a:rPr lang="zh-CN" altLang="en-US" sz="2600" dirty="0">
                <a:latin typeface="Tahoma" pitchFamily="34" charset="0"/>
                <a:cs typeface="Tahoma" pitchFamily="34" charset="0"/>
              </a:rPr>
              <a:t>组群</a:t>
            </a:r>
            <a:r>
              <a:rPr lang="zh-CN" altLang="en-US" sz="2600" dirty="0">
                <a:solidFill>
                  <a:srgbClr val="CC0099"/>
                </a:solidFill>
                <a:latin typeface="Tahoma" pitchFamily="34" charset="0"/>
                <a:cs typeface="Tahoma" pitchFamily="34" charset="0"/>
              </a:rPr>
              <a:t>口令信息保存在文件</a:t>
            </a:r>
            <a:r>
              <a:rPr lang="en-US" altLang="zh-CN" sz="2600" dirty="0">
                <a:solidFill>
                  <a:srgbClr val="CC0099"/>
                </a:solidFill>
                <a:latin typeface="Tahoma" pitchFamily="34" charset="0"/>
                <a:cs typeface="Tahoma" pitchFamily="34" charset="0"/>
              </a:rPr>
              <a:t>/</a:t>
            </a:r>
            <a:r>
              <a:rPr lang="en-US" altLang="zh-CN" sz="2600" dirty="0" err="1">
                <a:solidFill>
                  <a:srgbClr val="CC0099"/>
                </a:solidFill>
                <a:latin typeface="Tahoma" pitchFamily="34" charset="0"/>
                <a:cs typeface="Tahoma" pitchFamily="34" charset="0"/>
              </a:rPr>
              <a:t>etc</a:t>
            </a:r>
            <a:r>
              <a:rPr lang="en-US" altLang="zh-CN" sz="2600" dirty="0">
                <a:solidFill>
                  <a:srgbClr val="CC0099"/>
                </a:solidFill>
                <a:latin typeface="Tahoma" pitchFamily="34" charset="0"/>
                <a:cs typeface="Tahoma" pitchFamily="34" charset="0"/>
              </a:rPr>
              <a:t>/</a:t>
            </a:r>
            <a:r>
              <a:rPr lang="en-US" altLang="zh-CN" sz="2600" dirty="0" err="1">
                <a:solidFill>
                  <a:srgbClr val="CC0099"/>
                </a:solidFill>
                <a:latin typeface="Tahoma" pitchFamily="34" charset="0"/>
                <a:cs typeface="Tahoma" pitchFamily="34" charset="0"/>
              </a:rPr>
              <a:t>gshadow</a:t>
            </a:r>
            <a:r>
              <a:rPr lang="zh-CN" altLang="en-US" sz="2600" dirty="0">
                <a:latin typeface="Tahoma" pitchFamily="34" charset="0"/>
                <a:cs typeface="Tahoma" pitchFamily="34" charset="0"/>
              </a:rPr>
              <a:t>中。</a:t>
            </a:r>
          </a:p>
        </p:txBody>
      </p:sp>
      <p:sp>
        <p:nvSpPr>
          <p:cNvPr id="5" name="灯片编号占位符 4"/>
          <p:cNvSpPr>
            <a:spLocks noGrp="1"/>
          </p:cNvSpPr>
          <p:nvPr>
            <p:ph type="sldNum" sz="quarter" idx="11"/>
          </p:nvPr>
        </p:nvSpPr>
        <p:spPr/>
        <p:txBody>
          <a:bodyPr/>
          <a:lstStyle/>
          <a:p>
            <a:pPr>
              <a:defRPr/>
            </a:pPr>
            <a:fld id="{110871B5-850E-4E14-A636-3EC679EBF038}" type="slidenum">
              <a:rPr lang="en-US" altLang="zh-CN" smtClean="0"/>
              <a:pPr>
                <a:defRPr/>
              </a:pPr>
              <a:t>18</a:t>
            </a:fld>
            <a:endParaRPr lang="en-US" altLang="zh-CN"/>
          </a:p>
        </p:txBody>
      </p:sp>
    </p:spTree>
    <p:extLst>
      <p:ext uri="{BB962C8B-B14F-4D97-AF65-F5344CB8AC3E}">
        <p14:creationId xmlns:p14="http://schemas.microsoft.com/office/powerpoint/2010/main" val="109101678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68589CD-05F3-5F00-7EDD-69BF8B64A0C6}"/>
              </a:ext>
            </a:extLst>
          </p:cNvPr>
          <p:cNvSpPr/>
          <p:nvPr/>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482" name="Text Box 5"/>
          <p:cNvSpPr txBox="1">
            <a:spLocks noChangeArrowheads="1"/>
          </p:cNvSpPr>
          <p:nvPr/>
        </p:nvSpPr>
        <p:spPr bwMode="auto">
          <a:xfrm>
            <a:off x="2999656" y="465989"/>
            <a:ext cx="5688632"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r>
              <a:rPr lang="en-US" altLang="zh-CN" sz="3600" dirty="0">
                <a:latin typeface="+mn-ea"/>
                <a:ea typeface="+mn-ea"/>
                <a:cs typeface="Tahoma" pitchFamily="34" charset="0"/>
              </a:rPr>
              <a:t> </a:t>
            </a:r>
            <a:r>
              <a:rPr lang="en-US" altLang="zh-CN" sz="4000" dirty="0">
                <a:latin typeface="+mn-ea"/>
                <a:ea typeface="+mn-ea"/>
                <a:cs typeface="Tahoma" pitchFamily="34" charset="0"/>
              </a:rPr>
              <a:t>/</a:t>
            </a:r>
            <a:r>
              <a:rPr lang="en-US" altLang="zh-CN" sz="4000" dirty="0" err="1">
                <a:latin typeface="+mn-ea"/>
                <a:ea typeface="+mn-ea"/>
                <a:cs typeface="Tahoma" pitchFamily="34" charset="0"/>
              </a:rPr>
              <a:t>etc</a:t>
            </a:r>
            <a:r>
              <a:rPr lang="en-US" altLang="zh-CN" sz="4000" dirty="0">
                <a:latin typeface="+mn-ea"/>
                <a:ea typeface="+mn-ea"/>
                <a:cs typeface="Tahoma" pitchFamily="34" charset="0"/>
              </a:rPr>
              <a:t>/group</a:t>
            </a:r>
            <a:r>
              <a:rPr lang="zh-CN" altLang="en-US" sz="4000" dirty="0">
                <a:latin typeface="+mn-ea"/>
                <a:ea typeface="+mn-ea"/>
                <a:cs typeface="Tahoma" pitchFamily="34" charset="0"/>
              </a:rPr>
              <a:t>文件内容</a:t>
            </a:r>
            <a:endParaRPr lang="en-US" altLang="zh-CN" sz="4000" dirty="0">
              <a:latin typeface="+mn-ea"/>
              <a:ea typeface="+mn-ea"/>
              <a:cs typeface="Tahoma" pitchFamily="34" charset="0"/>
            </a:endParaRPr>
          </a:p>
        </p:txBody>
      </p:sp>
      <p:sp>
        <p:nvSpPr>
          <p:cNvPr id="5" name="灯片编号占位符 4"/>
          <p:cNvSpPr>
            <a:spLocks noGrp="1"/>
          </p:cNvSpPr>
          <p:nvPr>
            <p:ph type="sldNum" sz="quarter" idx="11"/>
          </p:nvPr>
        </p:nvSpPr>
        <p:spPr/>
        <p:txBody>
          <a:bodyPr/>
          <a:lstStyle/>
          <a:p>
            <a:pPr>
              <a:defRPr/>
            </a:pPr>
            <a:fld id="{110871B5-850E-4E14-A636-3EC679EBF038}" type="slidenum">
              <a:rPr lang="en-US" altLang="zh-CN" smtClean="0"/>
              <a:pPr>
                <a:defRPr/>
              </a:pPr>
              <a:t>19</a:t>
            </a:fld>
            <a:endParaRPr lang="en-US" altLang="zh-CN"/>
          </a:p>
        </p:txBody>
      </p:sp>
      <p:pic>
        <p:nvPicPr>
          <p:cNvPr id="3" name="图片 2">
            <a:extLst>
              <a:ext uri="{FF2B5EF4-FFF2-40B4-BE49-F238E27FC236}">
                <a16:creationId xmlns:a16="http://schemas.microsoft.com/office/drawing/2014/main" id="{8A391446-3DB2-49E7-A91B-3A4D61FA3EAD}"/>
              </a:ext>
            </a:extLst>
          </p:cNvPr>
          <p:cNvPicPr>
            <a:picLocks noChangeAspect="1"/>
          </p:cNvPicPr>
          <p:nvPr/>
        </p:nvPicPr>
        <p:blipFill>
          <a:blip r:embed="rId2"/>
          <a:stretch>
            <a:fillRect/>
          </a:stretch>
        </p:blipFill>
        <p:spPr>
          <a:xfrm>
            <a:off x="1942449" y="1220921"/>
            <a:ext cx="8307102" cy="5010913"/>
          </a:xfrm>
          <a:prstGeom prst="rect">
            <a:avLst/>
          </a:prstGeom>
        </p:spPr>
      </p:pic>
    </p:spTree>
    <p:extLst>
      <p:ext uri="{BB962C8B-B14F-4D97-AF65-F5344CB8AC3E}">
        <p14:creationId xmlns:p14="http://schemas.microsoft.com/office/powerpoint/2010/main" val="379928838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267071A2-6520-04DD-E7DB-6D42B8F5E246}"/>
              </a:ext>
            </a:extLst>
          </p:cNvPr>
          <p:cNvSpPr/>
          <p:nvPr/>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675" name="Rectangle 3"/>
          <p:cNvSpPr>
            <a:spLocks noGrp="1" noRot="1" noChangeArrowheads="1"/>
          </p:cNvSpPr>
          <p:nvPr>
            <p:ph type="body" idx="1"/>
          </p:nvPr>
        </p:nvSpPr>
        <p:spPr>
          <a:xfrm>
            <a:off x="1487488" y="1412776"/>
            <a:ext cx="9289032" cy="4411662"/>
          </a:xfrm>
        </p:spPr>
        <p:txBody>
          <a:bodyPr/>
          <a:lstStyle/>
          <a:p>
            <a:pPr marL="0" indent="0">
              <a:lnSpc>
                <a:spcPct val="120000"/>
              </a:lnSpc>
              <a:buNone/>
            </a:pPr>
            <a:r>
              <a:rPr lang="zh-CN" altLang="zh-CN" sz="2600" dirty="0"/>
              <a:t>以冒号（:）为分隔符</a:t>
            </a:r>
            <a:r>
              <a:rPr lang="zh-CN" altLang="en-US" sz="2600" dirty="0"/>
              <a:t>分为四段</a:t>
            </a:r>
            <a:r>
              <a:rPr lang="zh-CN" altLang="zh-CN" sz="2600" dirty="0"/>
              <a:t>。</a:t>
            </a:r>
          </a:p>
          <a:p>
            <a:pPr marL="0" indent="0">
              <a:lnSpc>
                <a:spcPct val="120000"/>
              </a:lnSpc>
              <a:buNone/>
            </a:pPr>
            <a:r>
              <a:rPr lang="en-US" altLang="zh-CN" sz="2600" dirty="0"/>
              <a:t>(1)  </a:t>
            </a:r>
            <a:r>
              <a:rPr lang="zh-CN" altLang="zh-CN" sz="2600" dirty="0">
                <a:solidFill>
                  <a:srgbClr val="CC0099"/>
                </a:solidFill>
              </a:rPr>
              <a:t>用户组名称</a:t>
            </a:r>
          </a:p>
          <a:p>
            <a:pPr marL="0" indent="0">
              <a:lnSpc>
                <a:spcPct val="120000"/>
              </a:lnSpc>
              <a:buNone/>
            </a:pPr>
            <a:r>
              <a:rPr lang="en-US" altLang="zh-CN" sz="2600" dirty="0"/>
              <a:t>(2)  </a:t>
            </a:r>
            <a:r>
              <a:rPr lang="zh-CN" altLang="zh-CN" sz="2600" dirty="0">
                <a:solidFill>
                  <a:srgbClr val="CC0099"/>
                </a:solidFill>
              </a:rPr>
              <a:t>用户组密码</a:t>
            </a:r>
            <a:r>
              <a:rPr lang="zh-CN" altLang="zh-CN" sz="2600" dirty="0"/>
              <a:t>，通常不设置，很少用，记录在/etc/gshadow</a:t>
            </a:r>
          </a:p>
          <a:p>
            <a:pPr marL="0" indent="0">
              <a:lnSpc>
                <a:spcPct val="120000"/>
              </a:lnSpc>
              <a:buNone/>
            </a:pPr>
            <a:r>
              <a:rPr lang="en-US" altLang="zh-CN" sz="2600" dirty="0"/>
              <a:t>(3)  </a:t>
            </a:r>
            <a:r>
              <a:rPr lang="zh-CN" altLang="en-US" sz="2600" dirty="0">
                <a:solidFill>
                  <a:srgbClr val="CC0099"/>
                </a:solidFill>
              </a:rPr>
              <a:t>组标识号</a:t>
            </a:r>
            <a:r>
              <a:rPr lang="zh-CN" altLang="zh-CN" sz="2600" dirty="0">
                <a:solidFill>
                  <a:srgbClr val="CC0099"/>
                </a:solidFill>
              </a:rPr>
              <a:t>GID</a:t>
            </a:r>
            <a:r>
              <a:rPr lang="zh-CN" altLang="zh-CN" sz="2600" dirty="0"/>
              <a:t>。</a:t>
            </a:r>
          </a:p>
          <a:p>
            <a:pPr marL="0" indent="0">
              <a:lnSpc>
                <a:spcPct val="120000"/>
              </a:lnSpc>
              <a:buNone/>
            </a:pPr>
            <a:r>
              <a:rPr lang="en-US" altLang="zh-CN" sz="2600" dirty="0"/>
              <a:t>(4)  </a:t>
            </a:r>
            <a:r>
              <a:rPr lang="zh-CN" altLang="en-US" sz="2600" dirty="0">
                <a:solidFill>
                  <a:srgbClr val="CC0099"/>
                </a:solidFill>
              </a:rPr>
              <a:t>组成员列表</a:t>
            </a:r>
            <a:r>
              <a:rPr lang="zh-CN" altLang="en-US" sz="2600" dirty="0"/>
              <a:t>，保存该用户组的用户帐户成员，列表中多个用户帐户用“   ，”隔开</a:t>
            </a:r>
            <a:r>
              <a:rPr lang="zh-CN" altLang="zh-CN" sz="2600" dirty="0"/>
              <a:t>。</a:t>
            </a:r>
          </a:p>
        </p:txBody>
      </p:sp>
      <p:sp>
        <p:nvSpPr>
          <p:cNvPr id="4" name="Text Box 5"/>
          <p:cNvSpPr txBox="1">
            <a:spLocks noChangeArrowheads="1"/>
          </p:cNvSpPr>
          <p:nvPr/>
        </p:nvSpPr>
        <p:spPr bwMode="auto">
          <a:xfrm>
            <a:off x="3215680" y="548680"/>
            <a:ext cx="4968552"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Tahoma" pitchFamily="34" charset="0"/>
                <a:ea typeface="宋体" pitchFamily="2" charset="-122"/>
              </a:defRPr>
            </a:lvl1pPr>
            <a:lvl2pPr marL="742950" indent="-285750" eaLnBrk="0" hangingPunct="0">
              <a:defRPr>
                <a:solidFill>
                  <a:schemeClr val="tx1"/>
                </a:solidFill>
                <a:latin typeface="Tahoma" pitchFamily="34" charset="0"/>
                <a:ea typeface="宋体" pitchFamily="2" charset="-122"/>
              </a:defRPr>
            </a:lvl2pPr>
            <a:lvl3pPr marL="1143000" indent="-228600" eaLnBrk="0" hangingPunct="0">
              <a:defRPr>
                <a:solidFill>
                  <a:schemeClr val="tx1"/>
                </a:solidFill>
                <a:latin typeface="Tahoma" pitchFamily="34" charset="0"/>
                <a:ea typeface="宋体" pitchFamily="2" charset="-122"/>
              </a:defRPr>
            </a:lvl3pPr>
            <a:lvl4pPr marL="1600200" indent="-228600" eaLnBrk="0" hangingPunct="0">
              <a:defRPr>
                <a:solidFill>
                  <a:schemeClr val="tx1"/>
                </a:solidFill>
                <a:latin typeface="Tahoma" pitchFamily="34" charset="0"/>
                <a:ea typeface="宋体" pitchFamily="2" charset="-122"/>
              </a:defRPr>
            </a:lvl4pPr>
            <a:lvl5pPr marL="2057400" indent="-228600" eaLnBrk="0" hangingPunct="0">
              <a:defRPr>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a:solidFill>
                  <a:schemeClr val="tx1"/>
                </a:solidFill>
                <a:latin typeface="Tahoma" pitchFamily="34" charset="0"/>
                <a:ea typeface="宋体" pitchFamily="2" charset="-122"/>
              </a:defRPr>
            </a:lvl9pPr>
          </a:lstStyle>
          <a:p>
            <a:pPr eaLnBrk="1" hangingPunct="1"/>
            <a:r>
              <a:rPr lang="en-US" altLang="zh-CN" sz="2800" dirty="0">
                <a:latin typeface="+mn-ea"/>
                <a:ea typeface="+mn-ea"/>
                <a:cs typeface="Tahoma" pitchFamily="34" charset="0"/>
              </a:rPr>
              <a:t> </a:t>
            </a:r>
            <a:r>
              <a:rPr lang="en-US" altLang="zh-CN" sz="4000" dirty="0">
                <a:latin typeface="+mn-ea"/>
                <a:ea typeface="+mn-ea"/>
                <a:cs typeface="Tahoma" pitchFamily="34" charset="0"/>
              </a:rPr>
              <a:t>/</a:t>
            </a:r>
            <a:r>
              <a:rPr lang="en-US" altLang="zh-CN" sz="4000" dirty="0" err="1">
                <a:latin typeface="+mn-ea"/>
                <a:ea typeface="+mn-ea"/>
                <a:cs typeface="Tahoma" pitchFamily="34" charset="0"/>
              </a:rPr>
              <a:t>etc</a:t>
            </a:r>
            <a:r>
              <a:rPr lang="en-US" altLang="zh-CN" sz="4000" dirty="0">
                <a:latin typeface="+mn-ea"/>
                <a:ea typeface="+mn-ea"/>
                <a:cs typeface="Tahoma" pitchFamily="34" charset="0"/>
              </a:rPr>
              <a:t>/group</a:t>
            </a:r>
            <a:r>
              <a:rPr lang="zh-CN" altLang="en-US" sz="4000" dirty="0">
                <a:latin typeface="+mn-ea"/>
                <a:ea typeface="+mn-ea"/>
                <a:cs typeface="Tahoma" pitchFamily="34" charset="0"/>
              </a:rPr>
              <a:t>文件内容</a:t>
            </a:r>
            <a:endParaRPr lang="en-US" altLang="zh-CN" sz="4000" dirty="0">
              <a:latin typeface="+mn-ea"/>
              <a:ea typeface="+mn-ea"/>
              <a:cs typeface="Tahoma" pitchFamily="34" charset="0"/>
            </a:endParaRPr>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20</a:t>
            </a:fld>
            <a:endParaRPr lang="en-US" altLang="zh-CN"/>
          </a:p>
        </p:txBody>
      </p:sp>
    </p:spTree>
    <p:extLst>
      <p:ext uri="{BB962C8B-B14F-4D97-AF65-F5344CB8AC3E}">
        <p14:creationId xmlns:p14="http://schemas.microsoft.com/office/powerpoint/2010/main" val="211796958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894B0956-EFB3-C0A0-00FE-177A9A850CE9}"/>
              </a:ext>
            </a:extLst>
          </p:cNvPr>
          <p:cNvSpPr/>
          <p:nvPr/>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标题 1"/>
          <p:cNvSpPr>
            <a:spLocks noGrp="1"/>
          </p:cNvSpPr>
          <p:nvPr>
            <p:ph type="title"/>
          </p:nvPr>
        </p:nvSpPr>
        <p:spPr>
          <a:xfrm>
            <a:off x="1103445" y="391174"/>
            <a:ext cx="9985109" cy="858837"/>
          </a:xfrm>
        </p:spPr>
        <p:txBody>
          <a:bodyPr/>
          <a:lstStyle/>
          <a:p>
            <a:pPr algn="ctr"/>
            <a:r>
              <a:rPr lang="en-US" altLang="zh-CN" dirty="0">
                <a:latin typeface="+mn-ea"/>
                <a:cs typeface="Tahoma" pitchFamily="34" charset="0"/>
              </a:rPr>
              <a:t>/</a:t>
            </a:r>
            <a:r>
              <a:rPr lang="en-US" altLang="zh-CN" dirty="0" err="1">
                <a:latin typeface="+mn-ea"/>
                <a:cs typeface="Tahoma" pitchFamily="34" charset="0"/>
              </a:rPr>
              <a:t>etc</a:t>
            </a:r>
            <a:r>
              <a:rPr lang="en-US" altLang="zh-CN" dirty="0">
                <a:latin typeface="+mn-ea"/>
                <a:cs typeface="Tahoma" pitchFamily="34" charset="0"/>
              </a:rPr>
              <a:t>/</a:t>
            </a:r>
            <a:r>
              <a:rPr lang="en-US" altLang="zh-CN" dirty="0" err="1">
                <a:latin typeface="+mn-ea"/>
                <a:cs typeface="Tahoma" pitchFamily="34" charset="0"/>
              </a:rPr>
              <a:t>gshadow</a:t>
            </a:r>
            <a:r>
              <a:rPr lang="zh-CN" altLang="en-US" dirty="0">
                <a:latin typeface="+mn-ea"/>
                <a:cs typeface="Tahoma" pitchFamily="34" charset="0"/>
              </a:rPr>
              <a:t>文件</a:t>
            </a:r>
            <a:endParaRPr lang="zh-CN" altLang="en-US" dirty="0"/>
          </a:p>
        </p:txBody>
      </p:sp>
      <p:sp>
        <p:nvSpPr>
          <p:cNvPr id="4" name="灯片编号占位符 3"/>
          <p:cNvSpPr>
            <a:spLocks noGrp="1"/>
          </p:cNvSpPr>
          <p:nvPr>
            <p:ph type="sldNum" sz="quarter" idx="11"/>
          </p:nvPr>
        </p:nvSpPr>
        <p:spPr/>
        <p:txBody>
          <a:bodyPr/>
          <a:lstStyle/>
          <a:p>
            <a:pPr>
              <a:defRPr/>
            </a:pPr>
            <a:fld id="{110871B5-850E-4E14-A636-3EC679EBF038}" type="slidenum">
              <a:rPr lang="en-US" altLang="zh-CN" smtClean="0"/>
              <a:pPr>
                <a:defRPr/>
              </a:pPr>
              <a:t>21</a:t>
            </a:fld>
            <a:endParaRPr lang="en-US" altLang="zh-CN"/>
          </a:p>
        </p:txBody>
      </p:sp>
      <p:pic>
        <p:nvPicPr>
          <p:cNvPr id="6" name="图片 5">
            <a:extLst>
              <a:ext uri="{FF2B5EF4-FFF2-40B4-BE49-F238E27FC236}">
                <a16:creationId xmlns:a16="http://schemas.microsoft.com/office/drawing/2014/main" id="{4FACF496-9AD0-4DCA-8DCA-0C6E686A3B3C}"/>
              </a:ext>
            </a:extLst>
          </p:cNvPr>
          <p:cNvPicPr>
            <a:picLocks noChangeAspect="1"/>
          </p:cNvPicPr>
          <p:nvPr/>
        </p:nvPicPr>
        <p:blipFill>
          <a:blip r:embed="rId3"/>
          <a:stretch>
            <a:fillRect/>
          </a:stretch>
        </p:blipFill>
        <p:spPr>
          <a:xfrm>
            <a:off x="1929971" y="1343984"/>
            <a:ext cx="8503762" cy="4840923"/>
          </a:xfrm>
          <a:prstGeom prst="rect">
            <a:avLst/>
          </a:prstGeom>
        </p:spPr>
      </p:pic>
    </p:spTree>
    <p:extLst>
      <p:ext uri="{BB962C8B-B14F-4D97-AF65-F5344CB8AC3E}">
        <p14:creationId xmlns:p14="http://schemas.microsoft.com/office/powerpoint/2010/main" val="283820668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E1ACB0B2-12A2-D700-7995-8B5E778B969B}"/>
              </a:ext>
            </a:extLst>
          </p:cNvPr>
          <p:cNvSpPr/>
          <p:nvPr/>
        </p:nvSpPr>
        <p:spPr>
          <a:xfrm>
            <a:off x="533400" y="488018"/>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9698" name="Rectangle 2"/>
          <p:cNvSpPr>
            <a:spLocks noGrp="1" noRot="1" noChangeArrowheads="1"/>
          </p:cNvSpPr>
          <p:nvPr>
            <p:ph type="title"/>
          </p:nvPr>
        </p:nvSpPr>
        <p:spPr>
          <a:xfrm>
            <a:off x="2048094" y="488018"/>
            <a:ext cx="7543800" cy="858837"/>
          </a:xfrm>
        </p:spPr>
        <p:txBody>
          <a:bodyPr/>
          <a:lstStyle/>
          <a:p>
            <a:pPr algn="ctr"/>
            <a:r>
              <a:rPr lang="zh-CN" altLang="zh-CN" dirty="0">
                <a:latin typeface="+mn-ea"/>
                <a:ea typeface="+mn-ea"/>
              </a:rPr>
              <a:t>/etc/gshadow</a:t>
            </a:r>
            <a:r>
              <a:rPr lang="zh-CN" altLang="en-US" dirty="0">
                <a:latin typeface="+mn-ea"/>
                <a:ea typeface="+mn-ea"/>
              </a:rPr>
              <a:t>文件内容</a:t>
            </a:r>
            <a:endParaRPr lang="zh-CN" altLang="zh-CN" dirty="0">
              <a:latin typeface="+mn-ea"/>
              <a:ea typeface="+mn-ea"/>
            </a:endParaRPr>
          </a:p>
        </p:txBody>
      </p:sp>
      <p:sp>
        <p:nvSpPr>
          <p:cNvPr id="29699" name="Rectangle 3"/>
          <p:cNvSpPr>
            <a:spLocks noGrp="1" noRot="1" noChangeArrowheads="1"/>
          </p:cNvSpPr>
          <p:nvPr>
            <p:ph type="body" idx="1"/>
          </p:nvPr>
        </p:nvSpPr>
        <p:spPr>
          <a:xfrm>
            <a:off x="1379476" y="1772816"/>
            <a:ext cx="9433048" cy="3744416"/>
          </a:xfrm>
        </p:spPr>
        <p:txBody>
          <a:bodyPr/>
          <a:lstStyle/>
          <a:p>
            <a:pPr marL="0" indent="0">
              <a:lnSpc>
                <a:spcPct val="120000"/>
              </a:lnSpc>
              <a:buNone/>
            </a:pPr>
            <a:r>
              <a:rPr lang="zh-CN" altLang="zh-CN" sz="2600" dirty="0"/>
              <a:t>/etc/gshadow是记录用户组密码的文件。</a:t>
            </a:r>
          </a:p>
          <a:p>
            <a:pPr marL="0" indent="0">
              <a:lnSpc>
                <a:spcPct val="120000"/>
              </a:lnSpc>
              <a:buNone/>
            </a:pPr>
            <a:r>
              <a:rPr lang="en-US" altLang="zh-CN" sz="2600" dirty="0"/>
              <a:t>(1) </a:t>
            </a:r>
            <a:r>
              <a:rPr lang="zh-CN" altLang="zh-CN" sz="2600" dirty="0">
                <a:solidFill>
                  <a:srgbClr val="CC0099"/>
                </a:solidFill>
              </a:rPr>
              <a:t>用户组名称</a:t>
            </a:r>
            <a:r>
              <a:rPr lang="zh-CN" altLang="en-US" sz="2600" dirty="0"/>
              <a:t>，与</a:t>
            </a:r>
            <a:r>
              <a:rPr lang="en-US" altLang="zh-CN" sz="2600" dirty="0"/>
              <a:t>group</a:t>
            </a:r>
            <a:r>
              <a:rPr lang="zh-CN" altLang="en-US" sz="2600" dirty="0"/>
              <a:t>文件的用户组账号名对应。</a:t>
            </a:r>
            <a:endParaRPr lang="zh-CN" altLang="zh-CN" sz="2600" dirty="0"/>
          </a:p>
          <a:p>
            <a:pPr marL="0" indent="0">
              <a:lnSpc>
                <a:spcPct val="120000"/>
              </a:lnSpc>
              <a:buNone/>
            </a:pPr>
            <a:r>
              <a:rPr lang="en-US" altLang="zh-CN" sz="2600" dirty="0"/>
              <a:t>(2)  </a:t>
            </a:r>
            <a:r>
              <a:rPr lang="zh-CN" altLang="en-US" sz="2600" dirty="0">
                <a:solidFill>
                  <a:srgbClr val="CC0099"/>
                </a:solidFill>
              </a:rPr>
              <a:t>用户组</a:t>
            </a:r>
            <a:r>
              <a:rPr lang="zh-CN" altLang="zh-CN" sz="2600" dirty="0">
                <a:solidFill>
                  <a:srgbClr val="CC0099"/>
                </a:solidFill>
              </a:rPr>
              <a:t>密码</a:t>
            </a:r>
            <a:r>
              <a:rPr lang="zh-CN" altLang="zh-CN" sz="2600" dirty="0"/>
              <a:t>，</a:t>
            </a:r>
            <a:r>
              <a:rPr lang="zh-CN" altLang="en-US" sz="2600" dirty="0"/>
              <a:t>一般不使用。如果</a:t>
            </a:r>
            <a:r>
              <a:rPr lang="zh-CN" altLang="zh-CN" sz="2600" dirty="0"/>
              <a:t>开头为！表示无法登录。</a:t>
            </a:r>
          </a:p>
          <a:p>
            <a:pPr marL="0" indent="0">
              <a:lnSpc>
                <a:spcPct val="120000"/>
              </a:lnSpc>
              <a:buNone/>
            </a:pPr>
            <a:r>
              <a:rPr lang="en-US" altLang="zh-CN" sz="2600" dirty="0"/>
              <a:t>(3)  </a:t>
            </a:r>
            <a:r>
              <a:rPr lang="zh-CN" altLang="zh-CN" sz="2600" dirty="0">
                <a:solidFill>
                  <a:srgbClr val="CC0099"/>
                </a:solidFill>
              </a:rPr>
              <a:t>用户组管理员账号</a:t>
            </a:r>
            <a:r>
              <a:rPr lang="zh-CN" altLang="zh-CN" sz="2600" dirty="0"/>
              <a:t>。</a:t>
            </a:r>
            <a:r>
              <a:rPr lang="zh-CN" altLang="en-US" sz="2600" dirty="0"/>
              <a:t>用户组管理员有权将用户添加到该用户组或从用户组中删除用户。</a:t>
            </a:r>
            <a:endParaRPr lang="zh-CN" altLang="zh-CN" sz="2600" dirty="0"/>
          </a:p>
          <a:p>
            <a:pPr marL="0" indent="0">
              <a:lnSpc>
                <a:spcPct val="90000"/>
              </a:lnSpc>
              <a:buNone/>
            </a:pPr>
            <a:r>
              <a:rPr lang="en-US" altLang="zh-CN" sz="2600" dirty="0"/>
              <a:t>(4)  </a:t>
            </a:r>
            <a:r>
              <a:rPr lang="zh-CN" altLang="zh-CN" sz="2600" dirty="0">
                <a:solidFill>
                  <a:srgbClr val="CC0099"/>
                </a:solidFill>
              </a:rPr>
              <a:t>用户组</a:t>
            </a:r>
            <a:r>
              <a:rPr lang="zh-CN" altLang="en-US" sz="2600" dirty="0">
                <a:solidFill>
                  <a:srgbClr val="CC0099"/>
                </a:solidFill>
              </a:rPr>
              <a:t>成员列表</a:t>
            </a:r>
            <a:r>
              <a:rPr lang="zh-CN" altLang="en-US" sz="2600" dirty="0"/>
              <a:t>，保存该用户组的用户帐户成员，列表中多个用户帐户用“  ，”隔开</a:t>
            </a:r>
            <a:r>
              <a:rPr lang="zh-CN" altLang="zh-CN" sz="2600" dirty="0"/>
              <a:t>。</a:t>
            </a:r>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22</a:t>
            </a:fld>
            <a:endParaRPr lang="en-US" altLang="zh-CN"/>
          </a:p>
        </p:txBody>
      </p:sp>
    </p:spTree>
    <p:extLst>
      <p:ext uri="{BB962C8B-B14F-4D97-AF65-F5344CB8AC3E}">
        <p14:creationId xmlns:p14="http://schemas.microsoft.com/office/powerpoint/2010/main" val="217936921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CA55AD97-EC33-B5D3-914B-760B782F97FA}"/>
              </a:ext>
            </a:extLst>
          </p:cNvPr>
          <p:cNvSpPr/>
          <p:nvPr/>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627" name="内容占位符 2"/>
          <p:cNvSpPr>
            <a:spLocks noGrp="1"/>
          </p:cNvSpPr>
          <p:nvPr>
            <p:ph idx="1"/>
          </p:nvPr>
        </p:nvSpPr>
        <p:spPr>
          <a:xfrm>
            <a:off x="1415480" y="1340768"/>
            <a:ext cx="9073008" cy="4997392"/>
          </a:xfrm>
        </p:spPr>
        <p:txBody>
          <a:bodyPr/>
          <a:lstStyle/>
          <a:p>
            <a:r>
              <a:rPr lang="zh-CN" altLang="en-US" sz="2200" dirty="0"/>
              <a:t>利用</a:t>
            </a:r>
            <a:r>
              <a:rPr lang="en-US" altLang="zh-CN" sz="2200" dirty="0"/>
              <a:t>Shell</a:t>
            </a:r>
            <a:r>
              <a:rPr lang="zh-CN" altLang="en-US" sz="2200" dirty="0"/>
              <a:t>命令进行用户和组群管理，更加可靠高效</a:t>
            </a:r>
            <a:endParaRPr lang="en-US" altLang="zh-CN" sz="2200" dirty="0"/>
          </a:p>
          <a:p>
            <a:pPr marL="0" indent="0">
              <a:buNone/>
            </a:pPr>
            <a:r>
              <a:rPr lang="en-US" altLang="zh-CN" sz="2200" dirty="0">
                <a:solidFill>
                  <a:srgbClr val="0000CC"/>
                </a:solidFill>
              </a:rPr>
              <a:t>useradd </a:t>
            </a:r>
            <a:r>
              <a:rPr lang="zh-CN" altLang="en-US" sz="2200" dirty="0">
                <a:solidFill>
                  <a:srgbClr val="0000CC"/>
                </a:solidFill>
              </a:rPr>
              <a:t>命令</a:t>
            </a:r>
            <a:endParaRPr lang="en-US" altLang="zh-CN" sz="2200" dirty="0">
              <a:solidFill>
                <a:srgbClr val="0000CC"/>
              </a:solidFill>
            </a:endParaRPr>
          </a:p>
          <a:p>
            <a:pPr marL="0" indent="0">
              <a:buNone/>
            </a:pPr>
            <a:r>
              <a:rPr lang="zh-CN" altLang="en-US" sz="2200" dirty="0"/>
              <a:t>格式：</a:t>
            </a:r>
            <a:r>
              <a:rPr lang="en-US" altLang="zh-CN" sz="2200" dirty="0">
                <a:solidFill>
                  <a:srgbClr val="CC0099"/>
                </a:solidFill>
              </a:rPr>
              <a:t>useradd   [</a:t>
            </a:r>
            <a:r>
              <a:rPr lang="zh-CN" altLang="en-US" sz="2200" dirty="0">
                <a:solidFill>
                  <a:srgbClr val="CC0099"/>
                </a:solidFill>
              </a:rPr>
              <a:t>选项</a:t>
            </a:r>
            <a:r>
              <a:rPr lang="en-US" altLang="zh-CN" sz="2200" dirty="0">
                <a:solidFill>
                  <a:srgbClr val="CC0099"/>
                </a:solidFill>
              </a:rPr>
              <a:t>]   </a:t>
            </a:r>
            <a:r>
              <a:rPr lang="zh-CN" altLang="en-US" sz="2200" dirty="0">
                <a:solidFill>
                  <a:srgbClr val="CC0099"/>
                </a:solidFill>
              </a:rPr>
              <a:t>用户名</a:t>
            </a:r>
            <a:endParaRPr lang="en-US" altLang="zh-CN" sz="2200" dirty="0">
              <a:solidFill>
                <a:srgbClr val="CC0099"/>
              </a:solidFill>
            </a:endParaRPr>
          </a:p>
          <a:p>
            <a:pPr marL="0" indent="0">
              <a:buNone/>
            </a:pPr>
            <a:r>
              <a:rPr lang="zh-CN" altLang="en-US" sz="2200" dirty="0"/>
              <a:t>功能：新建</a:t>
            </a:r>
            <a:r>
              <a:rPr lang="zh-CN" altLang="zh-CN" sz="2200" dirty="0"/>
              <a:t>用户</a:t>
            </a:r>
            <a:r>
              <a:rPr lang="zh-CN" altLang="en-US" sz="2200" dirty="0"/>
              <a:t>账号，只有</a:t>
            </a:r>
            <a:r>
              <a:rPr lang="zh-CN" altLang="en-US" sz="2200" dirty="0">
                <a:solidFill>
                  <a:srgbClr val="0000CC"/>
                </a:solidFill>
              </a:rPr>
              <a:t>超级用户才能使用此命令</a:t>
            </a:r>
            <a:r>
              <a:rPr lang="zh-CN" altLang="en-US" sz="2200" dirty="0"/>
              <a:t>。</a:t>
            </a:r>
            <a:endParaRPr lang="zh-CN" altLang="zh-CN" sz="2200" dirty="0"/>
          </a:p>
          <a:p>
            <a:pPr>
              <a:buFontTx/>
              <a:buNone/>
            </a:pPr>
            <a:r>
              <a:rPr lang="zh-CN" altLang="en-US" sz="2000" dirty="0"/>
              <a:t>主要选项说明：</a:t>
            </a:r>
            <a:endParaRPr lang="en-US" altLang="zh-CN" sz="2000" dirty="0"/>
          </a:p>
          <a:p>
            <a:pPr>
              <a:buFontTx/>
              <a:buNone/>
            </a:pPr>
            <a:r>
              <a:rPr lang="en-US" altLang="zh-CN" sz="2000" dirty="0"/>
              <a:t>-u   </a:t>
            </a:r>
            <a:r>
              <a:rPr lang="zh-CN" altLang="en-US" sz="2000" dirty="0"/>
              <a:t>指定用户</a:t>
            </a:r>
            <a:r>
              <a:rPr lang="en-US" altLang="zh-CN" sz="2000" dirty="0" err="1"/>
              <a:t>UID</a:t>
            </a:r>
            <a:r>
              <a:rPr lang="zh-CN" altLang="en-US" sz="2000" dirty="0"/>
              <a:t>，是一组数字。</a:t>
            </a:r>
          </a:p>
          <a:p>
            <a:pPr>
              <a:buFontTx/>
              <a:buNone/>
            </a:pPr>
            <a:r>
              <a:rPr lang="en-US" altLang="zh-CN" sz="2000" dirty="0"/>
              <a:t>-g   </a:t>
            </a:r>
            <a:r>
              <a:rPr lang="zh-CN" altLang="en-US" sz="2000" dirty="0"/>
              <a:t>用户组名称，用户所属的主要组群。</a:t>
            </a:r>
            <a:endParaRPr lang="en-US" altLang="zh-CN" sz="2000" dirty="0"/>
          </a:p>
          <a:p>
            <a:pPr>
              <a:buFontTx/>
              <a:buNone/>
            </a:pPr>
            <a:r>
              <a:rPr lang="en-US" altLang="zh-CN" sz="2000" dirty="0"/>
              <a:t>-G   </a:t>
            </a:r>
            <a:r>
              <a:rPr lang="zh-CN" altLang="en-US" sz="2000" dirty="0"/>
              <a:t>用户所属的附加组群。</a:t>
            </a:r>
          </a:p>
          <a:p>
            <a:pPr>
              <a:buFontTx/>
              <a:buNone/>
            </a:pPr>
            <a:r>
              <a:rPr lang="en-US" altLang="zh-CN" sz="2000" dirty="0"/>
              <a:t>-c   </a:t>
            </a:r>
            <a:r>
              <a:rPr lang="zh-CN" altLang="en-US" sz="2000" dirty="0"/>
              <a:t>加上用户的备注信息。</a:t>
            </a:r>
            <a:endParaRPr lang="en-US" altLang="zh-CN" sz="2000" dirty="0"/>
          </a:p>
          <a:p>
            <a:pPr>
              <a:buFontTx/>
              <a:buNone/>
            </a:pPr>
            <a:r>
              <a:rPr lang="en-US" altLang="zh-CN" sz="2000" dirty="0"/>
              <a:t>-d   </a:t>
            </a:r>
            <a:r>
              <a:rPr lang="zh-CN" altLang="en-US" sz="2000" dirty="0"/>
              <a:t>指定用户的主目录。</a:t>
            </a:r>
          </a:p>
          <a:p>
            <a:pPr>
              <a:buFontTx/>
              <a:buNone/>
            </a:pPr>
            <a:r>
              <a:rPr lang="en-US" altLang="zh-CN" sz="2000" dirty="0"/>
              <a:t>-e   </a:t>
            </a:r>
            <a:r>
              <a:rPr lang="zh-CN" altLang="en-US" sz="2000" dirty="0"/>
              <a:t>指定用户账号的有效期限，缺省表示永久有效。</a:t>
            </a:r>
            <a:endParaRPr lang="en-US" altLang="zh-CN" sz="2000" dirty="0"/>
          </a:p>
          <a:p>
            <a:pPr>
              <a:buFontTx/>
              <a:buNone/>
            </a:pPr>
            <a:r>
              <a:rPr lang="en-US" altLang="zh-CN" sz="2000" dirty="0"/>
              <a:t>-f    </a:t>
            </a:r>
            <a:r>
              <a:rPr lang="zh-CN" altLang="en-US" sz="2000" dirty="0"/>
              <a:t>指定在用户密码过期后允许该账号登录的最长天数。</a:t>
            </a:r>
          </a:p>
          <a:p>
            <a:pPr>
              <a:buFontTx/>
              <a:buNone/>
            </a:pPr>
            <a:r>
              <a:rPr lang="en-US" altLang="zh-CN" sz="2000" dirty="0"/>
              <a:t>-s   </a:t>
            </a:r>
            <a:r>
              <a:rPr lang="zh-CN" altLang="en-US" sz="2000" dirty="0"/>
              <a:t>指定用户登录</a:t>
            </a:r>
            <a:r>
              <a:rPr lang="en-US" altLang="zh-CN" sz="2000" dirty="0"/>
              <a:t>shell</a:t>
            </a:r>
            <a:r>
              <a:rPr lang="zh-CN" altLang="en-US" sz="2000" dirty="0"/>
              <a:t>，默认是</a:t>
            </a:r>
            <a:r>
              <a:rPr lang="en-US" altLang="zh-CN" sz="2000" dirty="0"/>
              <a:t>/bin/bash</a:t>
            </a:r>
            <a:r>
              <a:rPr lang="zh-CN" altLang="en-US" sz="2000" dirty="0"/>
              <a:t>。</a:t>
            </a:r>
          </a:p>
          <a:p>
            <a:pPr>
              <a:buFontTx/>
              <a:buNone/>
            </a:pPr>
            <a:endParaRPr lang="zh-CN" altLang="en-US" sz="2000" dirty="0"/>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23</a:t>
            </a:fld>
            <a:endParaRPr lang="en-US" altLang="zh-CN"/>
          </a:p>
        </p:txBody>
      </p:sp>
      <p:sp>
        <p:nvSpPr>
          <p:cNvPr id="6" name="Rectangle 2"/>
          <p:cNvSpPr>
            <a:spLocks noGrp="1" noChangeArrowheads="1"/>
          </p:cNvSpPr>
          <p:nvPr>
            <p:ph type="title"/>
          </p:nvPr>
        </p:nvSpPr>
        <p:spPr>
          <a:xfrm>
            <a:off x="1991544" y="411969"/>
            <a:ext cx="7543800" cy="858837"/>
          </a:xfrm>
        </p:spPr>
        <p:txBody>
          <a:bodyPr/>
          <a:lstStyle/>
          <a:p>
            <a:pPr algn="ctr" eaLnBrk="1" hangingPunct="1"/>
            <a:r>
              <a:rPr lang="en-US" altLang="zh-CN" sz="3800" dirty="0">
                <a:latin typeface="+mn-lt"/>
              </a:rPr>
              <a:t>4.2</a:t>
            </a:r>
            <a:r>
              <a:rPr lang="en-US" altLang="zh-CN" sz="3800" dirty="0">
                <a:latin typeface="+mj-ea"/>
              </a:rPr>
              <a:t> </a:t>
            </a:r>
            <a:r>
              <a:rPr lang="zh-CN" altLang="en-US" sz="3800" dirty="0">
                <a:latin typeface="+mj-ea"/>
              </a:rPr>
              <a:t>管理用户的</a:t>
            </a:r>
            <a:r>
              <a:rPr lang="en-US" altLang="zh-CN" sz="3800" dirty="0">
                <a:latin typeface="+mj-ea"/>
              </a:rPr>
              <a:t>Shell</a:t>
            </a:r>
            <a:r>
              <a:rPr lang="zh-CN" altLang="en-US" sz="3800" dirty="0">
                <a:latin typeface="+mj-ea"/>
              </a:rPr>
              <a:t>命令</a:t>
            </a:r>
          </a:p>
        </p:txBody>
      </p:sp>
    </p:spTree>
    <p:extLst>
      <p:ext uri="{BB962C8B-B14F-4D97-AF65-F5344CB8AC3E}">
        <p14:creationId xmlns:p14="http://schemas.microsoft.com/office/powerpoint/2010/main" val="397843141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849F692-A9EC-1F5F-CF6C-BCBC712132AB}"/>
              </a:ext>
            </a:extLst>
          </p:cNvPr>
          <p:cNvSpPr/>
          <p:nvPr/>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891" name="Rectangle 3"/>
          <p:cNvSpPr>
            <a:spLocks noGrp="1" noRot="1" noChangeArrowheads="1"/>
          </p:cNvSpPr>
          <p:nvPr>
            <p:ph type="body" idx="1"/>
          </p:nvPr>
        </p:nvSpPr>
        <p:spPr>
          <a:xfrm>
            <a:off x="1127448" y="908720"/>
            <a:ext cx="10081120" cy="5184576"/>
          </a:xfrm>
        </p:spPr>
        <p:txBody>
          <a:bodyPr/>
          <a:lstStyle/>
          <a:p>
            <a:pPr marL="0" indent="0">
              <a:lnSpc>
                <a:spcPct val="110000"/>
              </a:lnSpc>
              <a:buNone/>
            </a:pPr>
            <a:r>
              <a:rPr lang="zh-CN" altLang="zh-CN" sz="2600" dirty="0"/>
              <a:t>例</a:t>
            </a:r>
            <a:r>
              <a:rPr lang="zh-CN" altLang="en-US" sz="2600" dirty="0"/>
              <a:t>如</a:t>
            </a:r>
            <a:r>
              <a:rPr lang="en-US" altLang="zh-CN" sz="2600" dirty="0"/>
              <a:t> :</a:t>
            </a:r>
            <a:r>
              <a:rPr lang="zh-CN" altLang="zh-CN" sz="2600" dirty="0"/>
              <a:t>添加一个名称为</a:t>
            </a:r>
            <a:r>
              <a:rPr lang="en-US" altLang="zh-CN" sz="2600" dirty="0"/>
              <a:t> wang </a:t>
            </a:r>
            <a:r>
              <a:rPr lang="zh-CN" altLang="zh-CN" sz="2600" dirty="0"/>
              <a:t>的账户</a:t>
            </a:r>
          </a:p>
          <a:p>
            <a:pPr marL="0" indent="0">
              <a:lnSpc>
                <a:spcPct val="110000"/>
              </a:lnSpc>
              <a:buNone/>
            </a:pPr>
            <a:r>
              <a:rPr lang="zh-CN" altLang="en-US" sz="2600" dirty="0"/>
              <a:t>［</a:t>
            </a:r>
            <a:r>
              <a:rPr lang="en-US" altLang="zh-CN" sz="2600" dirty="0"/>
              <a:t>root@ localhost  ~</a:t>
            </a:r>
            <a:r>
              <a:rPr lang="zh-CN" altLang="en-US" sz="2600" dirty="0"/>
              <a:t>］ </a:t>
            </a:r>
            <a:r>
              <a:rPr lang="zh-CN" altLang="zh-CN" sz="2600" dirty="0"/>
              <a:t># useradd </a:t>
            </a:r>
            <a:r>
              <a:rPr lang="en-US" altLang="zh-CN" sz="2600" dirty="0"/>
              <a:t> </a:t>
            </a:r>
            <a:r>
              <a:rPr lang="en-US" altLang="zh-CN" sz="2600" dirty="0" err="1"/>
              <a:t>wang</a:t>
            </a:r>
            <a:endParaRPr lang="en-US" altLang="zh-CN" sz="2600" dirty="0"/>
          </a:p>
          <a:p>
            <a:pPr>
              <a:lnSpc>
                <a:spcPct val="110000"/>
              </a:lnSpc>
            </a:pPr>
            <a:r>
              <a:rPr lang="en-US" altLang="zh-CN" sz="2600" dirty="0"/>
              <a:t> </a:t>
            </a:r>
            <a:r>
              <a:rPr lang="zh-CN" altLang="en-US" sz="2600" dirty="0"/>
              <a:t>不使用任何选项时，将按照系统默认值新建用户。系统在</a:t>
            </a:r>
            <a:r>
              <a:rPr lang="en-US" altLang="zh-CN" sz="2600" dirty="0"/>
              <a:t>/home</a:t>
            </a:r>
            <a:r>
              <a:rPr lang="zh-CN" altLang="en-US" sz="2600" dirty="0"/>
              <a:t>目录新建</a:t>
            </a:r>
            <a:r>
              <a:rPr lang="zh-CN" altLang="en-US" sz="2600" dirty="0">
                <a:solidFill>
                  <a:srgbClr val="0000CC"/>
                </a:solidFill>
              </a:rPr>
              <a:t>与用户同名</a:t>
            </a:r>
            <a:r>
              <a:rPr lang="zh-CN" altLang="en-US" sz="2600" dirty="0"/>
              <a:t>的子目录作为该用户的</a:t>
            </a:r>
            <a:r>
              <a:rPr lang="zh-CN" altLang="en-US" sz="2600" dirty="0">
                <a:solidFill>
                  <a:srgbClr val="0000CC"/>
                </a:solidFill>
              </a:rPr>
              <a:t>主目录</a:t>
            </a:r>
            <a:r>
              <a:rPr lang="zh-CN" altLang="en-US" sz="2600" dirty="0"/>
              <a:t>（或称为</a:t>
            </a:r>
            <a:r>
              <a:rPr lang="zh-CN" altLang="en-US" sz="2600" dirty="0">
                <a:solidFill>
                  <a:srgbClr val="0000CC"/>
                </a:solidFill>
              </a:rPr>
              <a:t>家目录</a:t>
            </a:r>
            <a:r>
              <a:rPr lang="zh-CN" altLang="en-US" sz="2600" dirty="0"/>
              <a:t>），并且还</a:t>
            </a:r>
            <a:r>
              <a:rPr lang="zh-CN" altLang="en-US" sz="2600" dirty="0">
                <a:solidFill>
                  <a:srgbClr val="0000CC"/>
                </a:solidFill>
              </a:rPr>
              <a:t>新建一个与用户同名的私有组群作为该用户的主要组群</a:t>
            </a:r>
            <a:r>
              <a:rPr lang="zh-CN" altLang="en-US" sz="2600" dirty="0"/>
              <a:t>。该用户的登录</a:t>
            </a:r>
            <a:r>
              <a:rPr lang="en-US" altLang="zh-CN" sz="2600" dirty="0"/>
              <a:t>Shell</a:t>
            </a:r>
            <a:r>
              <a:rPr lang="zh-CN" altLang="en-US" sz="2600" dirty="0"/>
              <a:t>为</a:t>
            </a:r>
            <a:r>
              <a:rPr lang="en-US" altLang="zh-CN" sz="2600" dirty="0"/>
              <a:t>Bash</a:t>
            </a:r>
            <a:r>
              <a:rPr lang="zh-CN" altLang="en-US" sz="2600" dirty="0"/>
              <a:t>，</a:t>
            </a:r>
            <a:r>
              <a:rPr lang="en-US" altLang="zh-CN" sz="2600" dirty="0"/>
              <a:t>UID</a:t>
            </a:r>
            <a:r>
              <a:rPr lang="zh-CN" altLang="en-US" sz="2600" dirty="0"/>
              <a:t>由系统自动分配。</a:t>
            </a:r>
            <a:endParaRPr lang="en-US" altLang="zh-CN" sz="2600" dirty="0"/>
          </a:p>
          <a:p>
            <a:pPr>
              <a:lnSpc>
                <a:spcPct val="110000"/>
              </a:lnSpc>
            </a:pPr>
            <a:r>
              <a:rPr lang="zh-CN" altLang="en-US" sz="2600" dirty="0"/>
              <a:t>使用</a:t>
            </a:r>
            <a:r>
              <a:rPr lang="en-US" altLang="zh-CN" sz="2600" dirty="0"/>
              <a:t>useradd</a:t>
            </a:r>
            <a:r>
              <a:rPr lang="zh-CN" altLang="en-US" sz="2600" dirty="0"/>
              <a:t>命令新建用户账号，将在</a:t>
            </a:r>
            <a:r>
              <a:rPr lang="en-US" altLang="zh-CN" sz="2600" dirty="0"/>
              <a:t>/</a:t>
            </a:r>
            <a:r>
              <a:rPr lang="en-US" altLang="zh-CN" sz="2600" dirty="0" err="1"/>
              <a:t>etc</a:t>
            </a:r>
            <a:r>
              <a:rPr lang="en-US" altLang="zh-CN" sz="2600" dirty="0"/>
              <a:t>/</a:t>
            </a:r>
            <a:r>
              <a:rPr lang="en-US" altLang="zh-CN" sz="2600" dirty="0" err="1"/>
              <a:t>passwd</a:t>
            </a:r>
            <a:r>
              <a:rPr lang="zh-CN" altLang="en-US" sz="2600" dirty="0"/>
              <a:t>文件和</a:t>
            </a:r>
            <a:r>
              <a:rPr lang="en-US" altLang="zh-CN" sz="2600" dirty="0"/>
              <a:t>/</a:t>
            </a:r>
            <a:r>
              <a:rPr lang="en-US" altLang="zh-CN" sz="2600" dirty="0" err="1"/>
              <a:t>etc</a:t>
            </a:r>
            <a:r>
              <a:rPr lang="en-US" altLang="zh-CN" sz="2600" dirty="0"/>
              <a:t>/shadow</a:t>
            </a:r>
            <a:r>
              <a:rPr lang="zh-CN" altLang="en-US" sz="2600" dirty="0"/>
              <a:t>文件中增加新用户的记录。如果同时还新建了私人组群，还将在</a:t>
            </a:r>
            <a:r>
              <a:rPr lang="en-US" altLang="zh-CN" sz="2600" dirty="0"/>
              <a:t>/</a:t>
            </a:r>
            <a:r>
              <a:rPr lang="en-US" altLang="zh-CN" sz="2600" dirty="0" err="1"/>
              <a:t>etc</a:t>
            </a:r>
            <a:r>
              <a:rPr lang="en-US" altLang="zh-CN" sz="2600" dirty="0"/>
              <a:t>/group</a:t>
            </a:r>
            <a:r>
              <a:rPr lang="zh-CN" altLang="en-US" sz="2600" dirty="0"/>
              <a:t>文件和</a:t>
            </a:r>
            <a:r>
              <a:rPr lang="en-US" altLang="zh-CN" sz="2600" dirty="0"/>
              <a:t>/</a:t>
            </a:r>
            <a:r>
              <a:rPr lang="en-US" altLang="zh-CN" sz="2600" dirty="0" err="1"/>
              <a:t>etc</a:t>
            </a:r>
            <a:r>
              <a:rPr lang="en-US" altLang="zh-CN" sz="2600" dirty="0"/>
              <a:t>/</a:t>
            </a:r>
            <a:r>
              <a:rPr lang="en-US" altLang="zh-CN" sz="2600" dirty="0" err="1"/>
              <a:t>gshadow</a:t>
            </a:r>
            <a:r>
              <a:rPr lang="zh-CN" altLang="en-US" sz="2600" dirty="0"/>
              <a:t>文件中增加记录。</a:t>
            </a:r>
            <a:endParaRPr lang="zh-CN" altLang="zh-CN" sz="2600" dirty="0"/>
          </a:p>
        </p:txBody>
      </p:sp>
      <p:sp>
        <p:nvSpPr>
          <p:cNvPr id="3" name="灯片编号占位符 2"/>
          <p:cNvSpPr>
            <a:spLocks noGrp="1"/>
          </p:cNvSpPr>
          <p:nvPr>
            <p:ph type="sldNum" sz="quarter" idx="11"/>
          </p:nvPr>
        </p:nvSpPr>
        <p:spPr/>
        <p:txBody>
          <a:bodyPr/>
          <a:lstStyle/>
          <a:p>
            <a:pPr>
              <a:defRPr/>
            </a:pPr>
            <a:fld id="{110871B5-850E-4E14-A636-3EC679EBF038}" type="slidenum">
              <a:rPr lang="en-US" altLang="zh-CN" smtClean="0"/>
              <a:pPr>
                <a:defRPr/>
              </a:pPr>
              <a:t>24</a:t>
            </a:fld>
            <a:endParaRPr lang="en-US" altLang="zh-CN"/>
          </a:p>
        </p:txBody>
      </p:sp>
    </p:spTree>
    <p:extLst>
      <p:ext uri="{BB962C8B-B14F-4D97-AF65-F5344CB8AC3E}">
        <p14:creationId xmlns:p14="http://schemas.microsoft.com/office/powerpoint/2010/main" val="118891059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0E632D03-6B1D-0AF9-086A-734F65AEC02C}"/>
              </a:ext>
            </a:extLst>
          </p:cNvPr>
          <p:cNvSpPr/>
          <p:nvPr/>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标题 1"/>
          <p:cNvSpPr>
            <a:spLocks noGrp="1"/>
          </p:cNvSpPr>
          <p:nvPr>
            <p:ph type="title"/>
          </p:nvPr>
        </p:nvSpPr>
        <p:spPr>
          <a:xfrm>
            <a:off x="1103445" y="579120"/>
            <a:ext cx="9985109" cy="858837"/>
          </a:xfrm>
        </p:spPr>
        <p:txBody>
          <a:bodyPr/>
          <a:lstStyle/>
          <a:p>
            <a:r>
              <a:rPr lang="zh-CN" altLang="en-US" dirty="0">
                <a:latin typeface="+mj-ea"/>
              </a:rPr>
              <a:t>管理用户的</a:t>
            </a:r>
            <a:r>
              <a:rPr lang="en-US" altLang="zh-CN" dirty="0">
                <a:latin typeface="+mj-ea"/>
              </a:rPr>
              <a:t>Shell</a:t>
            </a:r>
            <a:r>
              <a:rPr lang="zh-CN" altLang="en-US" dirty="0">
                <a:latin typeface="+mj-ea"/>
              </a:rPr>
              <a:t>命令</a:t>
            </a:r>
            <a:endParaRPr lang="zh-CN" altLang="en-US" dirty="0"/>
          </a:p>
        </p:txBody>
      </p:sp>
      <p:sp>
        <p:nvSpPr>
          <p:cNvPr id="3" name="内容占位符 2"/>
          <p:cNvSpPr>
            <a:spLocks noGrp="1"/>
          </p:cNvSpPr>
          <p:nvPr>
            <p:ph idx="1"/>
          </p:nvPr>
        </p:nvSpPr>
        <p:spPr>
          <a:xfrm>
            <a:off x="1271464" y="1628800"/>
            <a:ext cx="9817090" cy="4411662"/>
          </a:xfrm>
        </p:spPr>
        <p:txBody>
          <a:bodyPr/>
          <a:lstStyle/>
          <a:p>
            <a:pPr marL="0" indent="0">
              <a:buNone/>
            </a:pPr>
            <a:r>
              <a:rPr lang="zh-CN" altLang="en-US" sz="2600" dirty="0"/>
              <a:t>例如：新增用户帐号为</a:t>
            </a:r>
            <a:r>
              <a:rPr lang="en-US" altLang="zh-CN" sz="2600" dirty="0" err="1"/>
              <a:t>zhanglm</a:t>
            </a:r>
            <a:r>
              <a:rPr lang="zh-CN" altLang="en-US" sz="2600" dirty="0"/>
              <a:t>的用户。</a:t>
            </a:r>
            <a:endParaRPr lang="en-US" altLang="zh-CN" sz="2600" dirty="0"/>
          </a:p>
          <a:p>
            <a:pPr marL="0" indent="0">
              <a:buNone/>
            </a:pPr>
            <a:r>
              <a:rPr lang="en-US" altLang="zh-CN" sz="2600" dirty="0"/>
              <a:t>#  useradd  -c “ </a:t>
            </a:r>
            <a:r>
              <a:rPr lang="en-US" altLang="zh-CN" sz="2600" dirty="0" err="1"/>
              <a:t>zhang</a:t>
            </a:r>
            <a:r>
              <a:rPr lang="en-US" altLang="zh-CN" sz="2600" dirty="0"/>
              <a:t> li </a:t>
            </a:r>
            <a:r>
              <a:rPr lang="en-US" altLang="zh-CN" sz="2600" dirty="0" err="1"/>
              <a:t>ming</a:t>
            </a:r>
            <a:r>
              <a:rPr lang="en-US" altLang="zh-CN" sz="2600" dirty="0"/>
              <a:t> 010-87654321 ”  -f 30  -g  admin  </a:t>
            </a:r>
            <a:r>
              <a:rPr lang="en-US" altLang="zh-CN" sz="2600" dirty="0" err="1"/>
              <a:t>zhanglm</a:t>
            </a:r>
            <a:endParaRPr lang="en-US" altLang="zh-CN" sz="2600" dirty="0"/>
          </a:p>
          <a:p>
            <a:pPr marL="0" indent="0">
              <a:buNone/>
            </a:pPr>
            <a:endParaRPr lang="en-US" altLang="zh-CN" sz="2800" dirty="0"/>
          </a:p>
          <a:p>
            <a:pPr marL="0" indent="0">
              <a:buNone/>
            </a:pPr>
            <a:r>
              <a:rPr lang="zh-CN" altLang="en-US" sz="2600" dirty="0">
                <a:solidFill>
                  <a:srgbClr val="0000CC"/>
                </a:solidFill>
              </a:rPr>
              <a:t>练习</a:t>
            </a:r>
            <a:r>
              <a:rPr lang="en-US" altLang="zh-CN" sz="2600" dirty="0">
                <a:solidFill>
                  <a:srgbClr val="0000CC"/>
                </a:solidFill>
              </a:rPr>
              <a:t>1</a:t>
            </a:r>
            <a:r>
              <a:rPr lang="zh-CN" altLang="en-US" sz="2600" dirty="0"/>
              <a:t>：</a:t>
            </a:r>
            <a:endParaRPr lang="en-US" altLang="zh-CN" sz="2600" dirty="0"/>
          </a:p>
          <a:p>
            <a:pPr marL="0" indent="0">
              <a:buNone/>
            </a:pPr>
            <a:r>
              <a:rPr lang="zh-CN" altLang="en-US" sz="2600" dirty="0"/>
              <a:t>新建用户</a:t>
            </a:r>
            <a:r>
              <a:rPr lang="en-US" altLang="zh-CN" sz="2600" dirty="0"/>
              <a:t>user1</a:t>
            </a:r>
            <a:r>
              <a:rPr lang="zh-CN" altLang="en-US" sz="2600" dirty="0"/>
              <a:t>，指定</a:t>
            </a:r>
            <a:r>
              <a:rPr lang="en-US" altLang="zh-CN" sz="2600" dirty="0" err="1"/>
              <a:t>UID</a:t>
            </a:r>
            <a:r>
              <a:rPr lang="zh-CN" altLang="en-US" sz="2600" dirty="0"/>
              <a:t>为</a:t>
            </a:r>
            <a:r>
              <a:rPr lang="en-US" altLang="zh-CN" sz="2600" dirty="0"/>
              <a:t>777</a:t>
            </a:r>
            <a:r>
              <a:rPr lang="zh-CN" altLang="en-US" sz="2600" dirty="0"/>
              <a:t>，目录为</a:t>
            </a:r>
            <a:r>
              <a:rPr lang="en-US" altLang="zh-CN" sz="2600" dirty="0"/>
              <a:t>/home/user1</a:t>
            </a:r>
            <a:r>
              <a:rPr lang="zh-CN" altLang="en-US" sz="2600" dirty="0"/>
              <a:t>，初始组为</a:t>
            </a:r>
            <a:r>
              <a:rPr lang="en-US" altLang="zh-CN" sz="2600" dirty="0"/>
              <a:t>group1</a:t>
            </a:r>
            <a:r>
              <a:rPr lang="zh-CN" altLang="en-US" sz="2600" dirty="0"/>
              <a:t>，有效组为</a:t>
            </a:r>
            <a:r>
              <a:rPr lang="en-US" altLang="zh-CN" sz="2600" dirty="0"/>
              <a:t>root</a:t>
            </a:r>
            <a:r>
              <a:rPr lang="zh-CN" altLang="en-US" sz="2600" dirty="0"/>
              <a:t>。</a:t>
            </a:r>
            <a:endParaRPr lang="en-US" altLang="zh-CN" sz="2600" dirty="0"/>
          </a:p>
        </p:txBody>
      </p:sp>
      <p:sp>
        <p:nvSpPr>
          <p:cNvPr id="4" name="灯片编号占位符 3"/>
          <p:cNvSpPr>
            <a:spLocks noGrp="1"/>
          </p:cNvSpPr>
          <p:nvPr>
            <p:ph type="sldNum" sz="quarter" idx="11"/>
          </p:nvPr>
        </p:nvSpPr>
        <p:spPr/>
        <p:txBody>
          <a:bodyPr/>
          <a:lstStyle/>
          <a:p>
            <a:pPr>
              <a:defRPr/>
            </a:pPr>
            <a:fld id="{110871B5-850E-4E14-A636-3EC679EBF038}" type="slidenum">
              <a:rPr lang="en-US" altLang="zh-CN" smtClean="0"/>
              <a:pPr>
                <a:defRPr/>
              </a:pPr>
              <a:t>25</a:t>
            </a:fld>
            <a:endParaRPr lang="en-US" altLang="zh-CN"/>
          </a:p>
        </p:txBody>
      </p:sp>
      <p:grpSp>
        <p:nvGrpSpPr>
          <p:cNvPr id="7" name="组合 6"/>
          <p:cNvGrpSpPr/>
          <p:nvPr/>
        </p:nvGrpSpPr>
        <p:grpSpPr>
          <a:xfrm>
            <a:off x="7608168" y="3284984"/>
            <a:ext cx="2736304" cy="644848"/>
            <a:chOff x="4616381" y="3747753"/>
            <a:chExt cx="3600400" cy="817059"/>
          </a:xfrm>
        </p:grpSpPr>
        <p:sp>
          <p:nvSpPr>
            <p:cNvPr id="5" name="椭圆形标注 4"/>
            <p:cNvSpPr/>
            <p:nvPr/>
          </p:nvSpPr>
          <p:spPr bwMode="auto">
            <a:xfrm>
              <a:off x="4616381" y="3747753"/>
              <a:ext cx="3600400" cy="817059"/>
            </a:xfrm>
            <a:prstGeom prst="wedgeEllipseCallout">
              <a:avLst>
                <a:gd name="adj1" fmla="val -45050"/>
                <a:gd name="adj2" fmla="val -143403"/>
              </a:avLst>
            </a:prstGeom>
            <a:solidFill>
              <a:schemeClr val="accent2">
                <a:lumMod val="40000"/>
                <a:lumOff val="60000"/>
              </a:schemeClr>
            </a:solidFill>
            <a:ln w="28575" cap="flat" cmpd="sng" algn="ctr">
              <a:solidFill>
                <a:srgbClr val="0000CC"/>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endParaRPr lang="zh-CN" altLang="en-US" b="0"/>
            </a:p>
          </p:txBody>
        </p:sp>
        <p:sp>
          <p:nvSpPr>
            <p:cNvPr id="6" name="矩形 5"/>
            <p:cNvSpPr/>
            <p:nvPr/>
          </p:nvSpPr>
          <p:spPr>
            <a:xfrm>
              <a:off x="4766964" y="3791905"/>
              <a:ext cx="3299234" cy="506962"/>
            </a:xfrm>
            <a:prstGeom prst="rect">
              <a:avLst/>
            </a:prstGeom>
          </p:spPr>
          <p:txBody>
            <a:bodyPr wrap="none">
              <a:spAutoFit/>
            </a:bodyPr>
            <a:lstStyle/>
            <a:p>
              <a:r>
                <a:rPr lang="zh-CN" altLang="en-US" sz="2000" dirty="0">
                  <a:latin typeface="+mn-ea"/>
                  <a:ea typeface="+mn-ea"/>
                </a:rPr>
                <a:t>说明上述命令的含义</a:t>
              </a:r>
            </a:p>
          </p:txBody>
        </p:sp>
      </p:grpSp>
    </p:spTree>
    <p:extLst>
      <p:ext uri="{BB962C8B-B14F-4D97-AF65-F5344CB8AC3E}">
        <p14:creationId xmlns:p14="http://schemas.microsoft.com/office/powerpoint/2010/main" val="61350991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0AF252C-FAFB-C1C0-44C9-F35A7F28378A}"/>
              </a:ext>
            </a:extLst>
          </p:cNvPr>
          <p:cNvSpPr/>
          <p:nvPr/>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627" name="内容占位符 2"/>
          <p:cNvSpPr>
            <a:spLocks noGrp="1"/>
          </p:cNvSpPr>
          <p:nvPr>
            <p:ph idx="1"/>
          </p:nvPr>
        </p:nvSpPr>
        <p:spPr>
          <a:xfrm>
            <a:off x="1271464" y="1297224"/>
            <a:ext cx="9849506" cy="4780730"/>
          </a:xfrm>
        </p:spPr>
        <p:txBody>
          <a:bodyPr/>
          <a:lstStyle/>
          <a:p>
            <a:pPr marL="0" indent="0">
              <a:buNone/>
            </a:pPr>
            <a:r>
              <a:rPr lang="en-US" altLang="zh-CN" sz="2600" dirty="0">
                <a:solidFill>
                  <a:srgbClr val="0000CC"/>
                </a:solidFill>
              </a:rPr>
              <a:t>passwd </a:t>
            </a:r>
            <a:r>
              <a:rPr lang="zh-CN" altLang="en-US" sz="2600" dirty="0">
                <a:solidFill>
                  <a:srgbClr val="0000CC"/>
                </a:solidFill>
              </a:rPr>
              <a:t>命令</a:t>
            </a:r>
            <a:r>
              <a:rPr lang="en-US" altLang="zh-CN" sz="2600" dirty="0"/>
              <a:t> </a:t>
            </a:r>
          </a:p>
          <a:p>
            <a:pPr marL="0" indent="0">
              <a:buNone/>
            </a:pPr>
            <a:r>
              <a:rPr lang="zh-CN" altLang="en-US" sz="2600" dirty="0"/>
              <a:t>格式：</a:t>
            </a:r>
            <a:r>
              <a:rPr lang="en-US" altLang="zh-CN" sz="2600" dirty="0" err="1">
                <a:solidFill>
                  <a:srgbClr val="CC0099"/>
                </a:solidFill>
              </a:rPr>
              <a:t>passwd</a:t>
            </a:r>
            <a:r>
              <a:rPr lang="en-US" altLang="zh-CN" sz="2600" dirty="0">
                <a:solidFill>
                  <a:srgbClr val="CC0099"/>
                </a:solidFill>
              </a:rPr>
              <a:t>   [</a:t>
            </a:r>
            <a:r>
              <a:rPr lang="zh-CN" altLang="en-US" sz="2600" dirty="0">
                <a:solidFill>
                  <a:srgbClr val="CC0099"/>
                </a:solidFill>
              </a:rPr>
              <a:t>选项</a:t>
            </a:r>
            <a:r>
              <a:rPr lang="en-US" altLang="zh-CN" sz="2600" dirty="0">
                <a:solidFill>
                  <a:srgbClr val="CC0099"/>
                </a:solidFill>
              </a:rPr>
              <a:t>]   [</a:t>
            </a:r>
            <a:r>
              <a:rPr lang="zh-CN" altLang="en-US" sz="2600" dirty="0">
                <a:solidFill>
                  <a:srgbClr val="CC0099"/>
                </a:solidFill>
              </a:rPr>
              <a:t>用户名</a:t>
            </a:r>
            <a:r>
              <a:rPr lang="en-US" altLang="zh-CN" sz="2600" dirty="0">
                <a:solidFill>
                  <a:srgbClr val="CC0099"/>
                </a:solidFill>
              </a:rPr>
              <a:t>]</a:t>
            </a:r>
          </a:p>
          <a:p>
            <a:pPr marL="0" indent="0">
              <a:buNone/>
            </a:pPr>
            <a:r>
              <a:rPr lang="zh-CN" altLang="en-US" sz="2600" dirty="0"/>
              <a:t>功能：</a:t>
            </a:r>
            <a:r>
              <a:rPr lang="zh-CN" altLang="en-US" sz="2600" dirty="0">
                <a:solidFill>
                  <a:srgbClr val="0000CC"/>
                </a:solidFill>
              </a:rPr>
              <a:t>设置</a:t>
            </a:r>
            <a:r>
              <a:rPr lang="zh-CN" altLang="en-US" sz="2600" dirty="0"/>
              <a:t>或</a:t>
            </a:r>
            <a:r>
              <a:rPr lang="zh-CN" altLang="en-US" sz="2600" dirty="0">
                <a:solidFill>
                  <a:srgbClr val="0000CC"/>
                </a:solidFill>
              </a:rPr>
              <a:t>修改</a:t>
            </a:r>
            <a:r>
              <a:rPr lang="zh-CN" altLang="en-US" sz="2600" dirty="0"/>
              <a:t>密码以及密码属性。</a:t>
            </a:r>
            <a:endParaRPr lang="en-US" altLang="zh-CN" sz="2600" dirty="0"/>
          </a:p>
          <a:p>
            <a:pPr marL="0" indent="0">
              <a:buNone/>
            </a:pPr>
            <a:r>
              <a:rPr lang="zh-CN" altLang="en-US" sz="2600" dirty="0"/>
              <a:t>主要选项说明：</a:t>
            </a:r>
            <a:endParaRPr lang="en-US" altLang="zh-CN" sz="2600" dirty="0"/>
          </a:p>
          <a:p>
            <a:pPr marL="0" indent="0">
              <a:buNone/>
            </a:pPr>
            <a:r>
              <a:rPr lang="en-US" altLang="zh-CN" sz="2600" dirty="0"/>
              <a:t>-d  </a:t>
            </a:r>
            <a:r>
              <a:rPr lang="zh-CN" altLang="en-US" sz="2600" dirty="0"/>
              <a:t>删除用户的密码，则该用户账号无须密码即可登录系统。</a:t>
            </a:r>
            <a:endParaRPr lang="en-US" altLang="zh-CN" sz="2600" dirty="0"/>
          </a:p>
          <a:p>
            <a:pPr marL="0" indent="0">
              <a:buNone/>
            </a:pPr>
            <a:r>
              <a:rPr lang="en-US" altLang="zh-CN" sz="2600" dirty="0"/>
              <a:t>-l   </a:t>
            </a:r>
            <a:r>
              <a:rPr lang="zh-CN" altLang="en-US" sz="2600" dirty="0"/>
              <a:t>暂时锁定指定的用户账号。</a:t>
            </a:r>
            <a:endParaRPr lang="en-US" altLang="zh-CN" sz="2600" dirty="0"/>
          </a:p>
          <a:p>
            <a:pPr marL="0" indent="0">
              <a:buNone/>
            </a:pPr>
            <a:r>
              <a:rPr lang="en-US" altLang="zh-CN" sz="2600" dirty="0"/>
              <a:t>-u  </a:t>
            </a:r>
            <a:r>
              <a:rPr lang="zh-CN" altLang="en-US" sz="2600" dirty="0"/>
              <a:t>解除指定的用户账号。</a:t>
            </a:r>
            <a:endParaRPr lang="en-US" altLang="zh-CN" sz="2600" dirty="0"/>
          </a:p>
          <a:p>
            <a:pPr marL="0" indent="0">
              <a:buNone/>
            </a:pPr>
            <a:r>
              <a:rPr lang="en-US" altLang="zh-CN" sz="2600" dirty="0"/>
              <a:t>-S  </a:t>
            </a:r>
            <a:r>
              <a:rPr lang="zh-CN" altLang="en-US" sz="2600" dirty="0"/>
              <a:t>显示指定用户账号的状态。</a:t>
            </a:r>
            <a:endParaRPr lang="en-US" altLang="zh-CN" sz="2600" dirty="0"/>
          </a:p>
          <a:p>
            <a:pPr marL="0" indent="0">
              <a:buNone/>
            </a:pPr>
            <a:r>
              <a:rPr lang="en-US" altLang="zh-CN" sz="2600" dirty="0"/>
              <a:t>-n  </a:t>
            </a:r>
            <a:r>
              <a:rPr lang="zh-CN" altLang="en-US" sz="2600" dirty="0"/>
              <a:t>接天数，设置</a:t>
            </a:r>
            <a:r>
              <a:rPr lang="en-US" altLang="zh-CN" sz="2600" dirty="0"/>
              <a:t>/</a:t>
            </a:r>
            <a:r>
              <a:rPr lang="en-US" altLang="zh-CN" sz="2600" dirty="0" err="1"/>
              <a:t>etc</a:t>
            </a:r>
            <a:r>
              <a:rPr lang="en-US" altLang="zh-CN" sz="2600" dirty="0"/>
              <a:t>/passwd</a:t>
            </a:r>
            <a:r>
              <a:rPr lang="zh-CN" altLang="en-US" sz="2600" dirty="0"/>
              <a:t>文件中第</a:t>
            </a:r>
            <a:r>
              <a:rPr lang="en-US" altLang="zh-CN" sz="2600" dirty="0"/>
              <a:t>4</a:t>
            </a:r>
            <a:r>
              <a:rPr lang="zh-CN" altLang="en-US" sz="2600" dirty="0"/>
              <a:t>个字段，多少天内不能修改密码。</a:t>
            </a:r>
            <a:endParaRPr lang="en-US" altLang="zh-CN" sz="2600" dirty="0"/>
          </a:p>
          <a:p>
            <a:pPr marL="0" indent="0">
              <a:buNone/>
            </a:pPr>
            <a:endParaRPr lang="en-US" altLang="zh-CN" sz="2400" dirty="0"/>
          </a:p>
          <a:p>
            <a:pPr marL="0" indent="0">
              <a:buNone/>
            </a:pPr>
            <a:endParaRPr lang="en-US" altLang="zh-CN" sz="2400" dirty="0"/>
          </a:p>
          <a:p>
            <a:pPr>
              <a:buFontTx/>
              <a:buNone/>
            </a:pPr>
            <a:endParaRPr lang="zh-CN" altLang="en-US" sz="2400" dirty="0"/>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26</a:t>
            </a:fld>
            <a:endParaRPr lang="en-US" altLang="zh-CN"/>
          </a:p>
        </p:txBody>
      </p:sp>
      <p:sp>
        <p:nvSpPr>
          <p:cNvPr id="6" name="Rectangle 2"/>
          <p:cNvSpPr>
            <a:spLocks noGrp="1" noChangeArrowheads="1"/>
          </p:cNvSpPr>
          <p:nvPr>
            <p:ph type="title"/>
          </p:nvPr>
        </p:nvSpPr>
        <p:spPr>
          <a:xfrm>
            <a:off x="2207568" y="407292"/>
            <a:ext cx="7543800" cy="858837"/>
          </a:xfrm>
        </p:spPr>
        <p:txBody>
          <a:bodyPr/>
          <a:lstStyle/>
          <a:p>
            <a:pPr algn="ctr" eaLnBrk="1" hangingPunct="1"/>
            <a:r>
              <a:rPr lang="zh-CN" altLang="en-US" dirty="0">
                <a:latin typeface="+mj-ea"/>
              </a:rPr>
              <a:t>管理用户的</a:t>
            </a:r>
            <a:r>
              <a:rPr lang="en-US" altLang="zh-CN" dirty="0">
                <a:latin typeface="+mj-ea"/>
              </a:rPr>
              <a:t>Shell</a:t>
            </a:r>
            <a:r>
              <a:rPr lang="zh-CN" altLang="en-US" dirty="0">
                <a:latin typeface="+mj-ea"/>
              </a:rPr>
              <a:t>命令</a:t>
            </a:r>
          </a:p>
        </p:txBody>
      </p:sp>
    </p:spTree>
    <p:extLst>
      <p:ext uri="{BB962C8B-B14F-4D97-AF65-F5344CB8AC3E}">
        <p14:creationId xmlns:p14="http://schemas.microsoft.com/office/powerpoint/2010/main" val="151479542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8099CAE9-04FB-BA06-D7FE-7C1FDC13B836}"/>
              </a:ext>
            </a:extLst>
          </p:cNvPr>
          <p:cNvSpPr/>
          <p:nvPr/>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627" name="内容占位符 2"/>
          <p:cNvSpPr>
            <a:spLocks noGrp="1"/>
          </p:cNvSpPr>
          <p:nvPr>
            <p:ph idx="1"/>
          </p:nvPr>
        </p:nvSpPr>
        <p:spPr>
          <a:xfrm>
            <a:off x="1199456" y="1437957"/>
            <a:ext cx="10081120" cy="4780730"/>
          </a:xfrm>
        </p:spPr>
        <p:txBody>
          <a:bodyPr/>
          <a:lstStyle/>
          <a:p>
            <a:pPr marL="0" indent="0">
              <a:lnSpc>
                <a:spcPct val="120000"/>
              </a:lnSpc>
              <a:buNone/>
            </a:pPr>
            <a:r>
              <a:rPr lang="en-US" altLang="zh-CN" sz="2600" dirty="0"/>
              <a:t>-x  </a:t>
            </a:r>
            <a:r>
              <a:rPr lang="zh-CN" altLang="en-US" sz="2600" dirty="0"/>
              <a:t>接天数，设置</a:t>
            </a:r>
            <a:r>
              <a:rPr lang="en-US" altLang="zh-CN" sz="2600" dirty="0"/>
              <a:t>/</a:t>
            </a:r>
            <a:r>
              <a:rPr lang="en-US" altLang="zh-CN" sz="2600" dirty="0" err="1"/>
              <a:t>etc</a:t>
            </a:r>
            <a:r>
              <a:rPr lang="en-US" altLang="zh-CN" sz="2600" dirty="0"/>
              <a:t>/passwd</a:t>
            </a:r>
            <a:r>
              <a:rPr lang="zh-CN" altLang="en-US" sz="2600" dirty="0"/>
              <a:t>文件中第</a:t>
            </a:r>
            <a:r>
              <a:rPr lang="en-US" altLang="zh-CN" sz="2600" dirty="0"/>
              <a:t>5</a:t>
            </a:r>
            <a:r>
              <a:rPr lang="zh-CN" altLang="en-US" sz="2600" dirty="0"/>
              <a:t>个字段，多少天内必须修改密码。</a:t>
            </a:r>
            <a:endParaRPr lang="en-US" altLang="zh-CN" sz="2600" dirty="0"/>
          </a:p>
          <a:p>
            <a:pPr marL="0" indent="0">
              <a:lnSpc>
                <a:spcPct val="120000"/>
              </a:lnSpc>
              <a:buNone/>
            </a:pPr>
            <a:r>
              <a:rPr lang="en-US" altLang="zh-CN" sz="2600" dirty="0"/>
              <a:t>-w  </a:t>
            </a:r>
            <a:r>
              <a:rPr lang="zh-CN" altLang="en-US" sz="2600" dirty="0"/>
              <a:t>接天数，设置</a:t>
            </a:r>
            <a:r>
              <a:rPr lang="en-US" altLang="zh-CN" sz="2600" dirty="0"/>
              <a:t>/</a:t>
            </a:r>
            <a:r>
              <a:rPr lang="en-US" altLang="zh-CN" sz="2600" dirty="0" err="1"/>
              <a:t>etc</a:t>
            </a:r>
            <a:r>
              <a:rPr lang="en-US" altLang="zh-CN" sz="2600" dirty="0"/>
              <a:t>/passwd</a:t>
            </a:r>
            <a:r>
              <a:rPr lang="zh-CN" altLang="en-US" sz="2600" dirty="0"/>
              <a:t>文件中第</a:t>
            </a:r>
            <a:r>
              <a:rPr lang="en-US" altLang="zh-CN" sz="2600" dirty="0"/>
              <a:t>6</a:t>
            </a:r>
            <a:r>
              <a:rPr lang="zh-CN" altLang="en-US" sz="2600" dirty="0"/>
              <a:t>个字段，密码过期前多少天发出警告。</a:t>
            </a:r>
            <a:endParaRPr lang="en-US" altLang="zh-CN" sz="2600" dirty="0"/>
          </a:p>
          <a:p>
            <a:pPr marL="0" indent="0">
              <a:lnSpc>
                <a:spcPct val="120000"/>
              </a:lnSpc>
              <a:buNone/>
            </a:pPr>
            <a:r>
              <a:rPr lang="en-US" altLang="zh-CN" sz="2600" dirty="0"/>
              <a:t>-</a:t>
            </a:r>
            <a:r>
              <a:rPr lang="en-US" altLang="zh-CN" sz="2600" dirty="0" err="1"/>
              <a:t>i</a:t>
            </a:r>
            <a:r>
              <a:rPr lang="en-US" altLang="zh-CN" sz="2600" dirty="0"/>
              <a:t>   </a:t>
            </a:r>
            <a:r>
              <a:rPr lang="zh-CN" altLang="en-US" sz="2600" dirty="0"/>
              <a:t>接天数，设置</a:t>
            </a:r>
            <a:r>
              <a:rPr lang="en-US" altLang="zh-CN" sz="2600" dirty="0"/>
              <a:t>/</a:t>
            </a:r>
            <a:r>
              <a:rPr lang="en-US" altLang="zh-CN" sz="2600" dirty="0" err="1"/>
              <a:t>etc</a:t>
            </a:r>
            <a:r>
              <a:rPr lang="en-US" altLang="zh-CN" sz="2600" dirty="0"/>
              <a:t>/passwd</a:t>
            </a:r>
            <a:r>
              <a:rPr lang="zh-CN" altLang="en-US" sz="2600" dirty="0"/>
              <a:t>文件中第</a:t>
            </a:r>
            <a:r>
              <a:rPr lang="en-US" altLang="zh-CN" sz="2600" dirty="0"/>
              <a:t>7</a:t>
            </a:r>
            <a:r>
              <a:rPr lang="zh-CN" altLang="en-US" sz="2600" dirty="0"/>
              <a:t>个字段，密码失效日期。</a:t>
            </a:r>
            <a:endParaRPr lang="en-US" altLang="zh-CN" sz="2600" dirty="0"/>
          </a:p>
          <a:p>
            <a:pPr marL="0" indent="0">
              <a:lnSpc>
                <a:spcPct val="120000"/>
              </a:lnSpc>
              <a:buNone/>
            </a:pPr>
            <a:r>
              <a:rPr lang="en-US" altLang="zh-CN" sz="2600" dirty="0"/>
              <a:t>--stdin   </a:t>
            </a:r>
            <a:r>
              <a:rPr lang="zh-CN" altLang="en-US" sz="2600" dirty="0"/>
              <a:t>通过标准输入修改用户密码。</a:t>
            </a:r>
            <a:endParaRPr lang="en-US" altLang="zh-CN" sz="2600" dirty="0"/>
          </a:p>
          <a:p>
            <a:pPr>
              <a:lnSpc>
                <a:spcPct val="120000"/>
              </a:lnSpc>
            </a:pPr>
            <a:r>
              <a:rPr lang="en-US" altLang="zh-CN" sz="2600" dirty="0"/>
              <a:t>Linux</a:t>
            </a:r>
            <a:r>
              <a:rPr lang="zh-CN" altLang="en-US" sz="2600" dirty="0"/>
              <a:t>系统安全性较高，合格的密码应当由字母、数字和符号混合编排，且长度超过</a:t>
            </a:r>
            <a:r>
              <a:rPr lang="en-US" altLang="zh-CN" sz="2600" dirty="0"/>
              <a:t>6</a:t>
            </a:r>
            <a:r>
              <a:rPr lang="zh-CN" altLang="en-US" sz="2600" dirty="0"/>
              <a:t>位。如果密码不合格，系统会出现提示信息。</a:t>
            </a:r>
          </a:p>
          <a:p>
            <a:pPr marL="0" indent="0">
              <a:buNone/>
            </a:pPr>
            <a:endParaRPr lang="en-US" altLang="zh-CN" sz="2400" dirty="0"/>
          </a:p>
          <a:p>
            <a:pPr marL="0" indent="0">
              <a:buNone/>
            </a:pPr>
            <a:endParaRPr lang="en-US" altLang="zh-CN" sz="2400" dirty="0"/>
          </a:p>
          <a:p>
            <a:pPr>
              <a:buFontTx/>
              <a:buNone/>
            </a:pPr>
            <a:endParaRPr lang="zh-CN" altLang="en-US" sz="2400" dirty="0"/>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27</a:t>
            </a:fld>
            <a:endParaRPr lang="en-US" altLang="zh-CN"/>
          </a:p>
        </p:txBody>
      </p:sp>
      <p:sp>
        <p:nvSpPr>
          <p:cNvPr id="6" name="Rectangle 2"/>
          <p:cNvSpPr>
            <a:spLocks noGrp="1" noChangeArrowheads="1"/>
          </p:cNvSpPr>
          <p:nvPr>
            <p:ph type="title"/>
          </p:nvPr>
        </p:nvSpPr>
        <p:spPr>
          <a:xfrm>
            <a:off x="1991544" y="518927"/>
            <a:ext cx="8208912" cy="858837"/>
          </a:xfrm>
        </p:spPr>
        <p:txBody>
          <a:bodyPr/>
          <a:lstStyle/>
          <a:p>
            <a:pPr algn="ctr" eaLnBrk="1" hangingPunct="1"/>
            <a:r>
              <a:rPr lang="zh-CN" altLang="en-US" dirty="0">
                <a:latin typeface="+mj-ea"/>
              </a:rPr>
              <a:t>管理用户的</a:t>
            </a:r>
            <a:r>
              <a:rPr lang="en-US" altLang="zh-CN" dirty="0">
                <a:latin typeface="+mj-ea"/>
              </a:rPr>
              <a:t>Shell</a:t>
            </a:r>
            <a:r>
              <a:rPr lang="zh-CN" altLang="en-US" dirty="0">
                <a:latin typeface="+mj-ea"/>
              </a:rPr>
              <a:t>命令</a:t>
            </a:r>
          </a:p>
        </p:txBody>
      </p:sp>
    </p:spTree>
    <p:extLst>
      <p:ext uri="{BB962C8B-B14F-4D97-AF65-F5344CB8AC3E}">
        <p14:creationId xmlns:p14="http://schemas.microsoft.com/office/powerpoint/2010/main" val="100308178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B7C9D6B-B732-45BF-D513-F7FD5E9C1966}"/>
              </a:ext>
            </a:extLst>
          </p:cNvPr>
          <p:cNvSpPr/>
          <p:nvPr/>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7107" name="Rectangle 3"/>
          <p:cNvSpPr>
            <a:spLocks noGrp="1" noRot="1" noChangeArrowheads="1"/>
          </p:cNvSpPr>
          <p:nvPr>
            <p:ph type="body" idx="1"/>
          </p:nvPr>
        </p:nvSpPr>
        <p:spPr>
          <a:xfrm>
            <a:off x="1302452" y="1424216"/>
            <a:ext cx="9649072" cy="4605361"/>
          </a:xfrm>
        </p:spPr>
        <p:txBody>
          <a:bodyPr/>
          <a:lstStyle/>
          <a:p>
            <a:pPr marL="0" indent="0">
              <a:lnSpc>
                <a:spcPct val="130000"/>
              </a:lnSpc>
              <a:buNone/>
            </a:pPr>
            <a:r>
              <a:rPr lang="zh-CN" altLang="en-US" sz="2600" dirty="0"/>
              <a:t>例如</a:t>
            </a:r>
            <a:r>
              <a:rPr lang="en-US" altLang="zh-CN" sz="2600" dirty="0"/>
              <a:t>: </a:t>
            </a:r>
            <a:r>
              <a:rPr lang="zh-CN" altLang="en-US" sz="2600" dirty="0"/>
              <a:t>为</a:t>
            </a:r>
            <a:r>
              <a:rPr lang="en-US" altLang="zh-CN" sz="2600" dirty="0"/>
              <a:t>liqun</a:t>
            </a:r>
            <a:r>
              <a:rPr lang="zh-CN" altLang="en-US" sz="2600" dirty="0"/>
              <a:t>用户</a:t>
            </a:r>
            <a:r>
              <a:rPr lang="zh-CN" altLang="en-US" sz="2600" dirty="0">
                <a:solidFill>
                  <a:srgbClr val="0000CC"/>
                </a:solidFill>
              </a:rPr>
              <a:t>设置初始密码</a:t>
            </a:r>
          </a:p>
          <a:p>
            <a:pPr marL="0" indent="0">
              <a:lnSpc>
                <a:spcPct val="130000"/>
              </a:lnSpc>
              <a:buNone/>
            </a:pPr>
            <a:r>
              <a:rPr lang="zh-CN" altLang="en-US" sz="2600" dirty="0"/>
              <a:t>［</a:t>
            </a:r>
            <a:r>
              <a:rPr lang="en-US" altLang="zh-CN" sz="2600" dirty="0"/>
              <a:t>root@ localhost  ~</a:t>
            </a:r>
            <a:r>
              <a:rPr lang="zh-CN" altLang="en-US" sz="2600" dirty="0"/>
              <a:t>］ </a:t>
            </a:r>
            <a:r>
              <a:rPr lang="zh-CN" altLang="zh-CN" sz="2600" dirty="0"/>
              <a:t># </a:t>
            </a:r>
            <a:r>
              <a:rPr lang="en-US" altLang="zh-CN" sz="2600" dirty="0"/>
              <a:t>passwd  liqun</a:t>
            </a:r>
          </a:p>
          <a:p>
            <a:pPr marL="0" indent="0">
              <a:lnSpc>
                <a:spcPct val="130000"/>
              </a:lnSpc>
              <a:buNone/>
            </a:pPr>
            <a:r>
              <a:rPr lang="zh-CN" altLang="en-US" sz="2600" dirty="0"/>
              <a:t>例如：使用</a:t>
            </a:r>
            <a:r>
              <a:rPr lang="en-US" altLang="zh-CN" sz="2600" dirty="0"/>
              <a:t>standard input</a:t>
            </a:r>
            <a:r>
              <a:rPr lang="zh-CN" altLang="en-US" sz="2600" dirty="0"/>
              <a:t>命令为用户</a:t>
            </a:r>
            <a:r>
              <a:rPr lang="en-US" altLang="zh-CN" sz="2600" dirty="0"/>
              <a:t>test</a:t>
            </a:r>
            <a:r>
              <a:rPr lang="zh-CN" altLang="en-US" sz="2600" dirty="0"/>
              <a:t>设置密码。</a:t>
            </a:r>
            <a:endParaRPr lang="en-US" altLang="zh-CN" sz="2600" dirty="0"/>
          </a:p>
          <a:p>
            <a:pPr marL="0" indent="0">
              <a:lnSpc>
                <a:spcPct val="130000"/>
              </a:lnSpc>
              <a:buNone/>
            </a:pPr>
            <a:r>
              <a:rPr lang="zh-CN" altLang="en-US" sz="2200" dirty="0"/>
              <a:t>［</a:t>
            </a:r>
            <a:r>
              <a:rPr lang="en-US" altLang="zh-CN" sz="2200" dirty="0"/>
              <a:t>root@ localhost  ~</a:t>
            </a:r>
            <a:r>
              <a:rPr lang="zh-CN" altLang="en-US" sz="2200" dirty="0"/>
              <a:t>］ </a:t>
            </a:r>
            <a:r>
              <a:rPr lang="zh-CN" altLang="zh-CN" sz="2200" dirty="0"/>
              <a:t># </a:t>
            </a:r>
            <a:r>
              <a:rPr lang="en-US" altLang="zh-CN" sz="2200" dirty="0"/>
              <a:t>echo adm12345#|passwd  </a:t>
            </a:r>
            <a:r>
              <a:rPr lang="en-US" altLang="zh-CN" sz="2200" dirty="0">
                <a:solidFill>
                  <a:srgbClr val="0000CC"/>
                </a:solidFill>
              </a:rPr>
              <a:t>--stdin </a:t>
            </a:r>
            <a:r>
              <a:rPr lang="en-US" altLang="zh-CN" sz="2200" dirty="0"/>
              <a:t>test</a:t>
            </a:r>
          </a:p>
          <a:p>
            <a:pPr>
              <a:lnSpc>
                <a:spcPct val="130000"/>
              </a:lnSpc>
            </a:pPr>
            <a:r>
              <a:rPr lang="zh-CN" altLang="en-US" sz="2600" dirty="0"/>
              <a:t>超级用户可以修改所有用户的密码，并且不要输入原来密码，超级用户修改其他用户密码时，要加上用户名。</a:t>
            </a:r>
            <a:endParaRPr lang="en-US" altLang="zh-CN" sz="2600" dirty="0"/>
          </a:p>
          <a:p>
            <a:pPr>
              <a:lnSpc>
                <a:spcPct val="130000"/>
              </a:lnSpc>
            </a:pPr>
            <a:r>
              <a:rPr lang="zh-CN" altLang="en-US" sz="2600" dirty="0"/>
              <a:t>普通用户修改密码直接使用</a:t>
            </a:r>
            <a:r>
              <a:rPr lang="en-US" altLang="zh-CN" sz="2600" dirty="0"/>
              <a:t>passwd</a:t>
            </a:r>
            <a:r>
              <a:rPr lang="zh-CN" altLang="en-US" sz="2600" dirty="0"/>
              <a:t>即可，不能使用参数，只能修改自己的密码，并需要输入原来的密码。</a:t>
            </a:r>
            <a:endParaRPr lang="en-US" altLang="zh-CN" sz="2600" dirty="0"/>
          </a:p>
          <a:p>
            <a:pPr>
              <a:lnSpc>
                <a:spcPct val="120000"/>
              </a:lnSpc>
            </a:pPr>
            <a:endParaRPr lang="en-US" altLang="zh-CN" sz="2600" dirty="0"/>
          </a:p>
        </p:txBody>
      </p:sp>
      <p:sp>
        <p:nvSpPr>
          <p:cNvPr id="5" name="Rectangle 2"/>
          <p:cNvSpPr>
            <a:spLocks noGrp="1" noChangeArrowheads="1"/>
          </p:cNvSpPr>
          <p:nvPr>
            <p:ph type="title"/>
          </p:nvPr>
        </p:nvSpPr>
        <p:spPr>
          <a:xfrm>
            <a:off x="2207568" y="565379"/>
            <a:ext cx="7543800" cy="858837"/>
          </a:xfrm>
        </p:spPr>
        <p:txBody>
          <a:bodyPr/>
          <a:lstStyle/>
          <a:p>
            <a:pPr algn="ctr" eaLnBrk="1" hangingPunct="1"/>
            <a:r>
              <a:rPr lang="zh-CN" altLang="en-US" dirty="0">
                <a:latin typeface="+mj-ea"/>
              </a:rPr>
              <a:t>设置密码</a:t>
            </a:r>
          </a:p>
        </p:txBody>
      </p:sp>
      <p:sp>
        <p:nvSpPr>
          <p:cNvPr id="4" name="灯片编号占位符 1"/>
          <p:cNvSpPr>
            <a:spLocks noGrp="1"/>
          </p:cNvSpPr>
          <p:nvPr>
            <p:ph type="sldNum" sz="quarter" idx="11"/>
          </p:nvPr>
        </p:nvSpPr>
        <p:spPr>
          <a:xfrm>
            <a:off x="10141768" y="6400787"/>
            <a:ext cx="802581" cy="457200"/>
          </a:xfrm>
        </p:spPr>
        <p:txBody>
          <a:bodyPr/>
          <a:lstStyle/>
          <a:p>
            <a:pPr>
              <a:defRPr/>
            </a:pPr>
            <a:fld id="{110871B5-850E-4E14-A636-3EC679EBF038}" type="slidenum">
              <a:rPr lang="en-US" altLang="zh-CN" smtClean="0"/>
              <a:pPr>
                <a:defRPr/>
              </a:pPr>
              <a:t>28</a:t>
            </a:fld>
            <a:endParaRPr lang="en-US" altLang="zh-CN" dirty="0"/>
          </a:p>
        </p:txBody>
      </p:sp>
    </p:spTree>
    <p:extLst>
      <p:ext uri="{BB962C8B-B14F-4D97-AF65-F5344CB8AC3E}">
        <p14:creationId xmlns:p14="http://schemas.microsoft.com/office/powerpoint/2010/main" val="89302413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762BC662-3113-1053-34FE-D95B2A77428E}"/>
              </a:ext>
            </a:extLst>
          </p:cNvPr>
          <p:cNvSpPr/>
          <p:nvPr/>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7107" name="Rectangle 3"/>
          <p:cNvSpPr>
            <a:spLocks noGrp="1" noRot="1" noChangeArrowheads="1"/>
          </p:cNvSpPr>
          <p:nvPr>
            <p:ph type="body" idx="1"/>
          </p:nvPr>
        </p:nvSpPr>
        <p:spPr>
          <a:xfrm>
            <a:off x="1415480" y="1393602"/>
            <a:ext cx="9489466" cy="4843710"/>
          </a:xfrm>
        </p:spPr>
        <p:txBody>
          <a:bodyPr/>
          <a:lstStyle/>
          <a:p>
            <a:pPr marL="0" indent="0">
              <a:buNone/>
            </a:pPr>
            <a:r>
              <a:rPr lang="zh-CN" altLang="en-US" sz="2600" dirty="0"/>
              <a:t>例如：普通用户</a:t>
            </a:r>
            <a:r>
              <a:rPr lang="en-US" altLang="zh-CN" sz="2600" dirty="0"/>
              <a:t>Tom</a:t>
            </a:r>
            <a:r>
              <a:rPr lang="zh-CN" altLang="en-US" sz="2600" dirty="0"/>
              <a:t>登录后</a:t>
            </a:r>
            <a:r>
              <a:rPr lang="zh-CN" altLang="en-US" sz="2600" dirty="0">
                <a:solidFill>
                  <a:srgbClr val="0000CC"/>
                </a:solidFill>
              </a:rPr>
              <a:t>修改密码</a:t>
            </a:r>
          </a:p>
          <a:p>
            <a:pPr marL="0" indent="0">
              <a:buNone/>
            </a:pPr>
            <a:r>
              <a:rPr lang="en-US" altLang="zh-CN" sz="2600" dirty="0"/>
              <a:t>[</a:t>
            </a:r>
            <a:r>
              <a:rPr lang="en-US" altLang="zh-CN" sz="2600" dirty="0" err="1"/>
              <a:t>Tom@localhost</a:t>
            </a:r>
            <a:r>
              <a:rPr lang="en-US" altLang="zh-CN" sz="2600" dirty="0"/>
              <a:t>  ~] $ passwd  </a:t>
            </a:r>
          </a:p>
          <a:p>
            <a:pPr marL="0" indent="0">
              <a:buNone/>
            </a:pPr>
            <a:r>
              <a:rPr lang="zh-CN" altLang="en-US" sz="2600" dirty="0"/>
              <a:t>更改用户 </a:t>
            </a:r>
            <a:r>
              <a:rPr lang="en-US" altLang="zh-CN" sz="2600" dirty="0"/>
              <a:t>Tom </a:t>
            </a:r>
            <a:r>
              <a:rPr lang="zh-CN" altLang="en-US" sz="2600" dirty="0"/>
              <a:t>的密码 </a:t>
            </a:r>
            <a:endParaRPr lang="en-US" altLang="zh-CN" sz="2600" dirty="0"/>
          </a:p>
          <a:p>
            <a:pPr marL="0" indent="0">
              <a:buNone/>
            </a:pPr>
            <a:r>
              <a:rPr lang="zh-CN" altLang="en-US" sz="2600" dirty="0"/>
              <a:t>为 </a:t>
            </a:r>
            <a:r>
              <a:rPr lang="en-US" altLang="zh-CN" sz="2600" dirty="0"/>
              <a:t>Tom </a:t>
            </a:r>
            <a:r>
              <a:rPr lang="zh-CN" altLang="en-US" sz="2600" dirty="0"/>
              <a:t>更改 </a:t>
            </a:r>
            <a:r>
              <a:rPr lang="en-US" altLang="zh-CN" sz="2600" dirty="0"/>
              <a:t>STRESS </a:t>
            </a:r>
            <a:r>
              <a:rPr lang="zh-CN" altLang="en-US" sz="2600" dirty="0"/>
              <a:t>密码</a:t>
            </a:r>
            <a:endParaRPr lang="en-US" altLang="zh-CN" sz="2600" dirty="0"/>
          </a:p>
          <a:p>
            <a:pPr marL="0" indent="0">
              <a:buNone/>
            </a:pPr>
            <a:r>
              <a:rPr lang="zh-CN" altLang="en-US" sz="2600" dirty="0"/>
              <a:t>（当前）</a:t>
            </a:r>
            <a:r>
              <a:rPr lang="en-US" altLang="zh-CN" sz="2600" dirty="0"/>
              <a:t>UNIX </a:t>
            </a:r>
            <a:r>
              <a:rPr lang="zh-CN" altLang="en-US" sz="2600" dirty="0"/>
              <a:t>密码：</a:t>
            </a:r>
            <a:endParaRPr lang="en-US" altLang="zh-CN" sz="2600" dirty="0"/>
          </a:p>
          <a:p>
            <a:pPr marL="0" indent="0">
              <a:buNone/>
            </a:pPr>
            <a:r>
              <a:rPr lang="zh-CN" altLang="en-US" sz="2600" dirty="0"/>
              <a:t>新的密码：</a:t>
            </a:r>
            <a:endParaRPr lang="en-US" altLang="zh-CN" sz="2600" dirty="0"/>
          </a:p>
          <a:p>
            <a:pPr marL="0" indent="0">
              <a:buNone/>
            </a:pPr>
            <a:r>
              <a:rPr lang="zh-CN" altLang="en-US" sz="2600" dirty="0"/>
              <a:t>无效的密码： 密码未通过字典检查 </a:t>
            </a:r>
            <a:r>
              <a:rPr lang="en-US" altLang="zh-CN" sz="2600" dirty="0"/>
              <a:t>- </a:t>
            </a:r>
            <a:r>
              <a:rPr lang="zh-CN" altLang="en-US" sz="2600" dirty="0"/>
              <a:t>过于简单化</a:t>
            </a:r>
            <a:r>
              <a:rPr lang="en-US" altLang="zh-CN" sz="2600" dirty="0"/>
              <a:t>/</a:t>
            </a:r>
            <a:r>
              <a:rPr lang="zh-CN" altLang="en-US" sz="2600" dirty="0"/>
              <a:t>系统化</a:t>
            </a:r>
            <a:endParaRPr lang="en-US" altLang="zh-CN" sz="2600" dirty="0"/>
          </a:p>
          <a:p>
            <a:pPr marL="0" indent="0">
              <a:buNone/>
            </a:pPr>
            <a:r>
              <a:rPr lang="zh-CN" altLang="en-US" sz="2600" dirty="0"/>
              <a:t>新的密码：</a:t>
            </a:r>
          </a:p>
          <a:p>
            <a:pPr marL="0" indent="0">
              <a:buNone/>
            </a:pPr>
            <a:r>
              <a:rPr lang="zh-CN" altLang="en-US" sz="2600" dirty="0"/>
              <a:t>重新输入新的密码：</a:t>
            </a:r>
          </a:p>
          <a:p>
            <a:pPr marL="0" indent="0">
              <a:buNone/>
            </a:pPr>
            <a:r>
              <a:rPr lang="en-US" altLang="zh-CN" sz="2600" dirty="0"/>
              <a:t>passwd</a:t>
            </a:r>
            <a:r>
              <a:rPr lang="zh-CN" altLang="en-US" sz="2600" dirty="0"/>
              <a:t>：所有的身份验证令牌已经成功更新</a:t>
            </a:r>
          </a:p>
          <a:p>
            <a:pPr marL="0" indent="0">
              <a:buNone/>
            </a:pPr>
            <a:endParaRPr lang="en-US" altLang="zh-CN" dirty="0"/>
          </a:p>
          <a:p>
            <a:pPr marL="0" indent="0">
              <a:buNone/>
            </a:pPr>
            <a:endParaRPr lang="en-US" altLang="zh-CN" dirty="0"/>
          </a:p>
        </p:txBody>
      </p:sp>
      <p:sp>
        <p:nvSpPr>
          <p:cNvPr id="3" name="Rectangle 2"/>
          <p:cNvSpPr>
            <a:spLocks noGrp="1" noChangeArrowheads="1"/>
          </p:cNvSpPr>
          <p:nvPr>
            <p:ph type="title"/>
          </p:nvPr>
        </p:nvSpPr>
        <p:spPr>
          <a:xfrm>
            <a:off x="2135560" y="534765"/>
            <a:ext cx="7704856" cy="858837"/>
          </a:xfrm>
        </p:spPr>
        <p:txBody>
          <a:bodyPr/>
          <a:lstStyle/>
          <a:p>
            <a:pPr algn="ctr" eaLnBrk="1" hangingPunct="1"/>
            <a:r>
              <a:rPr lang="zh-CN" altLang="en-US" dirty="0">
                <a:latin typeface="+mj-ea"/>
              </a:rPr>
              <a:t>修改密码</a:t>
            </a:r>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29</a:t>
            </a:fld>
            <a:endParaRPr lang="en-US" altLang="zh-CN"/>
          </a:p>
        </p:txBody>
      </p:sp>
    </p:spTree>
    <p:extLst>
      <p:ext uri="{BB962C8B-B14F-4D97-AF65-F5344CB8AC3E}">
        <p14:creationId xmlns:p14="http://schemas.microsoft.com/office/powerpoint/2010/main" val="379782803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7107">
                                            <p:txEl>
                                              <p:pRg st="1" end="1"/>
                                            </p:txEl>
                                          </p:spTgt>
                                        </p:tgtEl>
                                        <p:attrNameLst>
                                          <p:attrName>style.visibility</p:attrName>
                                        </p:attrNameLst>
                                      </p:cBhvr>
                                      <p:to>
                                        <p:strVal val="visible"/>
                                      </p:to>
                                    </p:set>
                                    <p:animEffect transition="in" filter="barn(inVertical)">
                                      <p:cBhvr>
                                        <p:cTn id="7" dur="500"/>
                                        <p:tgtEl>
                                          <p:spTgt spid="47107">
                                            <p:txEl>
                                              <p:pRg st="1" end="1"/>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47107">
                                            <p:txEl>
                                              <p:pRg st="2" end="2"/>
                                            </p:txEl>
                                          </p:spTgt>
                                        </p:tgtEl>
                                        <p:attrNameLst>
                                          <p:attrName>style.visibility</p:attrName>
                                        </p:attrNameLst>
                                      </p:cBhvr>
                                      <p:to>
                                        <p:strVal val="visible"/>
                                      </p:to>
                                    </p:set>
                                    <p:animEffect transition="in" filter="barn(inVertical)">
                                      <p:cBhvr>
                                        <p:cTn id="10" dur="500"/>
                                        <p:tgtEl>
                                          <p:spTgt spid="47107">
                                            <p:txEl>
                                              <p:pRg st="2" end="2"/>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47107">
                                            <p:txEl>
                                              <p:pRg st="3" end="3"/>
                                            </p:txEl>
                                          </p:spTgt>
                                        </p:tgtEl>
                                        <p:attrNameLst>
                                          <p:attrName>style.visibility</p:attrName>
                                        </p:attrNameLst>
                                      </p:cBhvr>
                                      <p:to>
                                        <p:strVal val="visible"/>
                                      </p:to>
                                    </p:set>
                                    <p:animEffect transition="in" filter="barn(inVertical)">
                                      <p:cBhvr>
                                        <p:cTn id="13" dur="500"/>
                                        <p:tgtEl>
                                          <p:spTgt spid="47107">
                                            <p:txEl>
                                              <p:pRg st="3" end="3"/>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47107">
                                            <p:txEl>
                                              <p:pRg st="4" end="4"/>
                                            </p:txEl>
                                          </p:spTgt>
                                        </p:tgtEl>
                                        <p:attrNameLst>
                                          <p:attrName>style.visibility</p:attrName>
                                        </p:attrNameLst>
                                      </p:cBhvr>
                                      <p:to>
                                        <p:strVal val="visible"/>
                                      </p:to>
                                    </p:set>
                                    <p:animEffect transition="in" filter="barn(inVertical)">
                                      <p:cBhvr>
                                        <p:cTn id="16" dur="500"/>
                                        <p:tgtEl>
                                          <p:spTgt spid="47107">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47107">
                                            <p:txEl>
                                              <p:pRg st="5" end="5"/>
                                            </p:txEl>
                                          </p:spTgt>
                                        </p:tgtEl>
                                        <p:attrNameLst>
                                          <p:attrName>style.visibility</p:attrName>
                                        </p:attrNameLst>
                                      </p:cBhvr>
                                      <p:to>
                                        <p:strVal val="visible"/>
                                      </p:to>
                                    </p:set>
                                    <p:animEffect transition="in" filter="barn(inVertical)">
                                      <p:cBhvr>
                                        <p:cTn id="21" dur="500"/>
                                        <p:tgtEl>
                                          <p:spTgt spid="47107">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47107">
                                            <p:txEl>
                                              <p:pRg st="6" end="6"/>
                                            </p:txEl>
                                          </p:spTgt>
                                        </p:tgtEl>
                                        <p:attrNameLst>
                                          <p:attrName>style.visibility</p:attrName>
                                        </p:attrNameLst>
                                      </p:cBhvr>
                                      <p:to>
                                        <p:strVal val="visible"/>
                                      </p:to>
                                    </p:set>
                                    <p:anim calcmode="lin" valueType="num">
                                      <p:cBhvr additive="base">
                                        <p:cTn id="26" dur="500" fill="hold"/>
                                        <p:tgtEl>
                                          <p:spTgt spid="47107">
                                            <p:txEl>
                                              <p:pRg st="6" end="6"/>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4710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47107">
                                            <p:txEl>
                                              <p:pRg st="7" end="7"/>
                                            </p:txEl>
                                          </p:spTgt>
                                        </p:tgtEl>
                                        <p:attrNameLst>
                                          <p:attrName>style.visibility</p:attrName>
                                        </p:attrNameLst>
                                      </p:cBhvr>
                                      <p:to>
                                        <p:strVal val="visible"/>
                                      </p:to>
                                    </p:set>
                                    <p:anim calcmode="lin" valueType="num">
                                      <p:cBhvr additive="base">
                                        <p:cTn id="32" dur="500" fill="hold"/>
                                        <p:tgtEl>
                                          <p:spTgt spid="47107">
                                            <p:txEl>
                                              <p:pRg st="7" end="7"/>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4710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47107">
                                            <p:txEl>
                                              <p:pRg st="8" end="8"/>
                                            </p:txEl>
                                          </p:spTgt>
                                        </p:tgtEl>
                                        <p:attrNameLst>
                                          <p:attrName>style.visibility</p:attrName>
                                        </p:attrNameLst>
                                      </p:cBhvr>
                                      <p:to>
                                        <p:strVal val="visible"/>
                                      </p:to>
                                    </p:set>
                                    <p:anim calcmode="lin" valueType="num">
                                      <p:cBhvr additive="base">
                                        <p:cTn id="38" dur="500" fill="hold"/>
                                        <p:tgtEl>
                                          <p:spTgt spid="47107">
                                            <p:txEl>
                                              <p:pRg st="8" end="8"/>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47107">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nodeType="clickEffect">
                                  <p:stCondLst>
                                    <p:cond delay="0"/>
                                  </p:stCondLst>
                                  <p:childTnLst>
                                    <p:set>
                                      <p:cBhvr>
                                        <p:cTn id="43" dur="1" fill="hold">
                                          <p:stCondLst>
                                            <p:cond delay="0"/>
                                          </p:stCondLst>
                                        </p:cTn>
                                        <p:tgtEl>
                                          <p:spTgt spid="47107">
                                            <p:txEl>
                                              <p:pRg st="9" end="9"/>
                                            </p:txEl>
                                          </p:spTgt>
                                        </p:tgtEl>
                                        <p:attrNameLst>
                                          <p:attrName>style.visibility</p:attrName>
                                        </p:attrNameLst>
                                      </p:cBhvr>
                                      <p:to>
                                        <p:strVal val="visible"/>
                                      </p:to>
                                    </p:set>
                                    <p:anim calcmode="lin" valueType="num">
                                      <p:cBhvr additive="base">
                                        <p:cTn id="44" dur="500" fill="hold"/>
                                        <p:tgtEl>
                                          <p:spTgt spid="47107">
                                            <p:txEl>
                                              <p:pRg st="9" end="9"/>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47107">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4B64E3A5-4AF3-03E4-D258-630DAD6EEA37}"/>
              </a:ext>
            </a:extLst>
          </p:cNvPr>
          <p:cNvSpPr/>
          <p:nvPr/>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7107" name="Rectangle 3"/>
          <p:cNvSpPr>
            <a:spLocks noGrp="1" noRot="1" noChangeArrowheads="1"/>
          </p:cNvSpPr>
          <p:nvPr>
            <p:ph type="body" idx="1"/>
          </p:nvPr>
        </p:nvSpPr>
        <p:spPr>
          <a:xfrm>
            <a:off x="1415480" y="1784139"/>
            <a:ext cx="9030817" cy="3289721"/>
          </a:xfrm>
        </p:spPr>
        <p:txBody>
          <a:bodyPr/>
          <a:lstStyle/>
          <a:p>
            <a:pPr marL="0" indent="0">
              <a:lnSpc>
                <a:spcPct val="150000"/>
              </a:lnSpc>
              <a:buNone/>
            </a:pPr>
            <a:r>
              <a:rPr lang="zh-CN" altLang="en-US" sz="2600" dirty="0">
                <a:solidFill>
                  <a:srgbClr val="0000CC"/>
                </a:solidFill>
              </a:rPr>
              <a:t>练习</a:t>
            </a:r>
            <a:r>
              <a:rPr lang="en-US" altLang="zh-CN" sz="2600" dirty="0">
                <a:solidFill>
                  <a:srgbClr val="0000CC"/>
                </a:solidFill>
              </a:rPr>
              <a:t>2</a:t>
            </a:r>
            <a:r>
              <a:rPr lang="zh-CN" altLang="en-US" sz="2600" dirty="0"/>
              <a:t>：新建用户帐号</a:t>
            </a:r>
            <a:r>
              <a:rPr lang="en-US" altLang="zh-CN" sz="2600" dirty="0"/>
              <a:t>user2</a:t>
            </a:r>
            <a:r>
              <a:rPr lang="zh-CN" altLang="en-US" sz="2600" dirty="0"/>
              <a:t>，查看</a:t>
            </a:r>
            <a:r>
              <a:rPr lang="en-US" altLang="zh-CN" sz="2600" dirty="0"/>
              <a:t>passwd</a:t>
            </a:r>
            <a:r>
              <a:rPr lang="zh-CN" altLang="en-US" sz="2600" dirty="0"/>
              <a:t>文件和</a:t>
            </a:r>
            <a:r>
              <a:rPr lang="en-US" altLang="zh-CN" sz="2600" dirty="0"/>
              <a:t>shadow</a:t>
            </a:r>
            <a:r>
              <a:rPr lang="zh-CN" altLang="en-US" sz="2600" dirty="0"/>
              <a:t>文件的最后一行。</a:t>
            </a:r>
            <a:endParaRPr lang="en-US" altLang="zh-CN" sz="2600" dirty="0"/>
          </a:p>
          <a:p>
            <a:pPr marL="0" indent="0">
              <a:lnSpc>
                <a:spcPct val="150000"/>
              </a:lnSpc>
              <a:buNone/>
            </a:pPr>
            <a:r>
              <a:rPr lang="zh-CN" altLang="en-US" sz="2600" dirty="0">
                <a:solidFill>
                  <a:srgbClr val="0000CC"/>
                </a:solidFill>
              </a:rPr>
              <a:t>练习</a:t>
            </a:r>
            <a:r>
              <a:rPr lang="en-US" altLang="zh-CN" sz="2600" dirty="0">
                <a:solidFill>
                  <a:srgbClr val="0000CC"/>
                </a:solidFill>
              </a:rPr>
              <a:t>3</a:t>
            </a:r>
            <a:r>
              <a:rPr lang="zh-CN" altLang="en-US" sz="2600" dirty="0"/>
              <a:t>：为用户</a:t>
            </a:r>
            <a:r>
              <a:rPr lang="en-US" altLang="zh-CN" sz="2600" dirty="0"/>
              <a:t>user2</a:t>
            </a:r>
            <a:r>
              <a:rPr lang="zh-CN" altLang="en-US" sz="2600" dirty="0"/>
              <a:t>设置密码。</a:t>
            </a:r>
            <a:endParaRPr lang="en-US" altLang="zh-CN" sz="2600" dirty="0"/>
          </a:p>
          <a:p>
            <a:pPr marL="0" indent="0">
              <a:lnSpc>
                <a:spcPct val="150000"/>
              </a:lnSpc>
              <a:buNone/>
            </a:pPr>
            <a:r>
              <a:rPr lang="zh-CN" altLang="en-US" sz="2600" dirty="0">
                <a:solidFill>
                  <a:srgbClr val="0000CC"/>
                </a:solidFill>
              </a:rPr>
              <a:t>练习</a:t>
            </a:r>
            <a:r>
              <a:rPr lang="en-US" altLang="zh-CN" sz="2600" dirty="0">
                <a:solidFill>
                  <a:srgbClr val="0000CC"/>
                </a:solidFill>
              </a:rPr>
              <a:t>4</a:t>
            </a:r>
            <a:r>
              <a:rPr lang="zh-CN" altLang="en-US" sz="2600" dirty="0"/>
              <a:t>：查看</a:t>
            </a:r>
            <a:r>
              <a:rPr lang="en-US" altLang="zh-CN" sz="2600" dirty="0"/>
              <a:t>user2</a:t>
            </a:r>
            <a:r>
              <a:rPr lang="zh-CN" altLang="en-US" sz="2600" dirty="0"/>
              <a:t>用户帐号的状态。</a:t>
            </a:r>
            <a:endParaRPr lang="en-US" altLang="zh-CN" sz="2600" dirty="0"/>
          </a:p>
          <a:p>
            <a:pPr marL="0" indent="0">
              <a:lnSpc>
                <a:spcPct val="150000"/>
              </a:lnSpc>
              <a:buNone/>
            </a:pPr>
            <a:r>
              <a:rPr lang="zh-CN" altLang="en-US" sz="2600" dirty="0">
                <a:solidFill>
                  <a:srgbClr val="0000CC"/>
                </a:solidFill>
              </a:rPr>
              <a:t>练习</a:t>
            </a:r>
            <a:r>
              <a:rPr lang="en-US" altLang="zh-CN" sz="2600" dirty="0">
                <a:solidFill>
                  <a:srgbClr val="0000CC"/>
                </a:solidFill>
              </a:rPr>
              <a:t>5</a:t>
            </a:r>
            <a:r>
              <a:rPr lang="zh-CN" altLang="en-US" sz="2600" dirty="0"/>
              <a:t>：查看</a:t>
            </a:r>
            <a:r>
              <a:rPr lang="en-US" altLang="zh-CN" sz="2600" dirty="0"/>
              <a:t>lily</a:t>
            </a:r>
            <a:r>
              <a:rPr lang="zh-CN" altLang="en-US" sz="2600" dirty="0"/>
              <a:t>账号的密码使用情况。</a:t>
            </a:r>
            <a:endParaRPr lang="en-US" altLang="zh-CN" sz="2600" dirty="0"/>
          </a:p>
          <a:p>
            <a:pPr marL="0" indent="0">
              <a:lnSpc>
                <a:spcPct val="150000"/>
              </a:lnSpc>
              <a:buNone/>
            </a:pPr>
            <a:endParaRPr lang="en-US" altLang="zh-CN" sz="2600" dirty="0"/>
          </a:p>
          <a:p>
            <a:pPr marL="0" indent="0">
              <a:lnSpc>
                <a:spcPct val="150000"/>
              </a:lnSpc>
              <a:buNone/>
            </a:pPr>
            <a:endParaRPr lang="en-US" altLang="zh-CN" sz="2600" dirty="0"/>
          </a:p>
          <a:p>
            <a:pPr marL="0" indent="0">
              <a:lnSpc>
                <a:spcPct val="150000"/>
              </a:lnSpc>
              <a:buNone/>
            </a:pPr>
            <a:endParaRPr lang="en-US" altLang="zh-CN" sz="2600" dirty="0"/>
          </a:p>
          <a:p>
            <a:pPr marL="0" indent="0">
              <a:lnSpc>
                <a:spcPct val="150000"/>
              </a:lnSpc>
              <a:buNone/>
            </a:pPr>
            <a:endParaRPr lang="en-US" altLang="zh-CN" sz="2600" dirty="0"/>
          </a:p>
        </p:txBody>
      </p:sp>
      <p:sp>
        <p:nvSpPr>
          <p:cNvPr id="5" name="Rectangle 2"/>
          <p:cNvSpPr>
            <a:spLocks noGrp="1" noChangeArrowheads="1"/>
          </p:cNvSpPr>
          <p:nvPr>
            <p:ph type="title"/>
          </p:nvPr>
        </p:nvSpPr>
        <p:spPr>
          <a:xfrm>
            <a:off x="2063552" y="600970"/>
            <a:ext cx="7920880" cy="858837"/>
          </a:xfrm>
        </p:spPr>
        <p:txBody>
          <a:bodyPr/>
          <a:lstStyle/>
          <a:p>
            <a:pPr algn="ctr" eaLnBrk="1" hangingPunct="1"/>
            <a:r>
              <a:rPr lang="zh-CN" altLang="en-US" dirty="0">
                <a:latin typeface="+mj-ea"/>
              </a:rPr>
              <a:t>设置密码</a:t>
            </a:r>
          </a:p>
        </p:txBody>
      </p:sp>
      <p:sp>
        <p:nvSpPr>
          <p:cNvPr id="4" name="灯片编号占位符 1"/>
          <p:cNvSpPr>
            <a:spLocks noGrp="1"/>
          </p:cNvSpPr>
          <p:nvPr>
            <p:ph type="sldNum" sz="quarter" idx="11"/>
          </p:nvPr>
        </p:nvSpPr>
        <p:spPr>
          <a:xfrm>
            <a:off x="10344472" y="6354312"/>
            <a:ext cx="514549" cy="457200"/>
          </a:xfrm>
        </p:spPr>
        <p:txBody>
          <a:bodyPr/>
          <a:lstStyle/>
          <a:p>
            <a:pPr>
              <a:defRPr/>
            </a:pPr>
            <a:fld id="{110871B5-850E-4E14-A636-3EC679EBF038}" type="slidenum">
              <a:rPr lang="en-US" altLang="zh-CN" smtClean="0"/>
              <a:pPr>
                <a:defRPr/>
              </a:pPr>
              <a:t>30</a:t>
            </a:fld>
            <a:endParaRPr lang="en-US" altLang="zh-CN" dirty="0"/>
          </a:p>
        </p:txBody>
      </p:sp>
    </p:spTree>
    <p:extLst>
      <p:ext uri="{BB962C8B-B14F-4D97-AF65-F5344CB8AC3E}">
        <p14:creationId xmlns:p14="http://schemas.microsoft.com/office/powerpoint/2010/main" val="209709416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8C2EF782-F027-81A7-E040-B43FD0272E1B}"/>
              </a:ext>
            </a:extLst>
          </p:cNvPr>
          <p:cNvSpPr/>
          <p:nvPr/>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7107" name="Rectangle 3"/>
          <p:cNvSpPr>
            <a:spLocks noGrp="1" noRot="1" noChangeArrowheads="1"/>
          </p:cNvSpPr>
          <p:nvPr>
            <p:ph type="body" idx="1"/>
          </p:nvPr>
        </p:nvSpPr>
        <p:spPr>
          <a:xfrm>
            <a:off x="1506489" y="1586948"/>
            <a:ext cx="9145016" cy="4411662"/>
          </a:xfrm>
        </p:spPr>
        <p:txBody>
          <a:bodyPr/>
          <a:lstStyle/>
          <a:p>
            <a:pPr marL="0" indent="0">
              <a:lnSpc>
                <a:spcPct val="150000"/>
              </a:lnSpc>
              <a:buNone/>
            </a:pPr>
            <a:r>
              <a:rPr lang="zh-CN" altLang="en-US" sz="2600" dirty="0"/>
              <a:t>超级用户可以</a:t>
            </a:r>
            <a:r>
              <a:rPr lang="zh-CN" altLang="en-US" sz="2600" dirty="0">
                <a:solidFill>
                  <a:srgbClr val="0000CC"/>
                </a:solidFill>
              </a:rPr>
              <a:t>删除用户密码</a:t>
            </a:r>
            <a:r>
              <a:rPr lang="zh-CN" altLang="en-US" sz="2600" dirty="0"/>
              <a:t>，该用户账号无须密码即可登录。</a:t>
            </a:r>
            <a:endParaRPr lang="en-US" altLang="zh-CN" sz="2600" dirty="0"/>
          </a:p>
          <a:p>
            <a:pPr marL="0" indent="0">
              <a:lnSpc>
                <a:spcPct val="150000"/>
              </a:lnSpc>
              <a:buNone/>
            </a:pPr>
            <a:r>
              <a:rPr lang="zh-CN" altLang="en-US" sz="2600" dirty="0"/>
              <a:t>例如：</a:t>
            </a:r>
          </a:p>
          <a:p>
            <a:pPr marL="0" indent="0">
              <a:lnSpc>
                <a:spcPct val="150000"/>
              </a:lnSpc>
              <a:buNone/>
            </a:pPr>
            <a:r>
              <a:rPr lang="zh-CN" altLang="en-US" sz="2600" dirty="0"/>
              <a:t>［</a:t>
            </a:r>
            <a:r>
              <a:rPr lang="en-US" altLang="zh-CN" sz="2600" dirty="0"/>
              <a:t>root@ localhost  ~</a:t>
            </a:r>
            <a:r>
              <a:rPr lang="zh-CN" altLang="en-US" sz="2600" dirty="0"/>
              <a:t>］</a:t>
            </a:r>
            <a:r>
              <a:rPr lang="zh-CN" altLang="zh-CN" sz="2600" dirty="0"/>
              <a:t># </a:t>
            </a:r>
            <a:r>
              <a:rPr lang="en-US" altLang="zh-CN" sz="2600" dirty="0" err="1"/>
              <a:t>passwd</a:t>
            </a:r>
            <a:r>
              <a:rPr lang="en-US" altLang="zh-CN" sz="2600" dirty="0"/>
              <a:t>  -d Tom</a:t>
            </a:r>
          </a:p>
          <a:p>
            <a:pPr marL="0" indent="0">
              <a:lnSpc>
                <a:spcPct val="150000"/>
              </a:lnSpc>
              <a:buNone/>
            </a:pPr>
            <a:r>
              <a:rPr lang="en-US" altLang="zh-CN" sz="2600" dirty="0"/>
              <a:t>Tom</a:t>
            </a:r>
            <a:r>
              <a:rPr lang="zh-CN" altLang="en-US" sz="2600" dirty="0"/>
              <a:t>用户登录系统时不需要输入密码，此时，查看</a:t>
            </a:r>
            <a:r>
              <a:rPr lang="en-US" altLang="zh-CN" sz="2600" dirty="0"/>
              <a:t>/</a:t>
            </a:r>
            <a:r>
              <a:rPr lang="en-US" altLang="zh-CN" sz="2600" dirty="0" err="1"/>
              <a:t>etc</a:t>
            </a:r>
            <a:r>
              <a:rPr lang="en-US" altLang="zh-CN" sz="2600" dirty="0"/>
              <a:t>/shadow</a:t>
            </a:r>
            <a:r>
              <a:rPr lang="zh-CN" altLang="en-US" sz="2600" dirty="0"/>
              <a:t>文件会发现该用户账号所在的行的密码字段为空白。</a:t>
            </a:r>
            <a:endParaRPr lang="en-US" altLang="zh-CN" sz="2600" dirty="0"/>
          </a:p>
          <a:p>
            <a:pPr marL="0" indent="0">
              <a:lnSpc>
                <a:spcPct val="150000"/>
              </a:lnSpc>
              <a:buNone/>
            </a:pPr>
            <a:endParaRPr lang="en-US" altLang="zh-CN" sz="2600" dirty="0"/>
          </a:p>
        </p:txBody>
      </p:sp>
      <p:sp>
        <p:nvSpPr>
          <p:cNvPr id="3" name="Rectangle 2"/>
          <p:cNvSpPr>
            <a:spLocks noGrp="1" noChangeArrowheads="1"/>
          </p:cNvSpPr>
          <p:nvPr>
            <p:ph type="title"/>
          </p:nvPr>
        </p:nvSpPr>
        <p:spPr>
          <a:xfrm>
            <a:off x="1991544" y="579120"/>
            <a:ext cx="7543800" cy="858837"/>
          </a:xfrm>
        </p:spPr>
        <p:txBody>
          <a:bodyPr/>
          <a:lstStyle/>
          <a:p>
            <a:pPr algn="ctr" eaLnBrk="1" hangingPunct="1"/>
            <a:r>
              <a:rPr lang="zh-CN" altLang="en-US" dirty="0">
                <a:latin typeface="+mj-ea"/>
              </a:rPr>
              <a:t>删除密码</a:t>
            </a:r>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31</a:t>
            </a:fld>
            <a:endParaRPr lang="en-US" altLang="zh-CN"/>
          </a:p>
        </p:txBody>
      </p:sp>
    </p:spTree>
    <p:extLst>
      <p:ext uri="{BB962C8B-B14F-4D97-AF65-F5344CB8AC3E}">
        <p14:creationId xmlns:p14="http://schemas.microsoft.com/office/powerpoint/2010/main" val="322347786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A6B075-0054-B1AB-1ECE-07C4D46B69B0}"/>
              </a:ext>
            </a:extLst>
          </p:cNvPr>
          <p:cNvSpPr/>
          <p:nvPr/>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7107" name="Rectangle 3"/>
          <p:cNvSpPr>
            <a:spLocks noGrp="1" noRot="1" noChangeArrowheads="1"/>
          </p:cNvSpPr>
          <p:nvPr>
            <p:ph type="body" idx="1"/>
          </p:nvPr>
        </p:nvSpPr>
        <p:spPr>
          <a:xfrm>
            <a:off x="1399890" y="1522533"/>
            <a:ext cx="9505056" cy="4411662"/>
          </a:xfrm>
        </p:spPr>
        <p:txBody>
          <a:bodyPr/>
          <a:lstStyle/>
          <a:p>
            <a:pPr marL="0" indent="0">
              <a:lnSpc>
                <a:spcPct val="150000"/>
              </a:lnSpc>
              <a:buNone/>
            </a:pPr>
            <a:r>
              <a:rPr lang="zh-CN" altLang="en-US" sz="2600" dirty="0"/>
              <a:t>用户因放假、出差等原因不使用系统时，处于安全考虑，系统管理员可以暂时</a:t>
            </a:r>
            <a:r>
              <a:rPr lang="zh-CN" altLang="en-US" sz="2600" dirty="0">
                <a:solidFill>
                  <a:srgbClr val="0000CC"/>
                </a:solidFill>
              </a:rPr>
              <a:t>锁定用户账号</a:t>
            </a:r>
            <a:r>
              <a:rPr lang="zh-CN" altLang="en-US" sz="2600" dirty="0"/>
              <a:t>。被锁定的账号必须</a:t>
            </a:r>
            <a:r>
              <a:rPr lang="zh-CN" altLang="en-US" sz="2600" dirty="0">
                <a:solidFill>
                  <a:srgbClr val="0000CC"/>
                </a:solidFill>
              </a:rPr>
              <a:t>解除锁定</a:t>
            </a:r>
            <a:r>
              <a:rPr lang="zh-CN" altLang="en-US" sz="2600" dirty="0"/>
              <a:t>后才能继续使用。</a:t>
            </a:r>
            <a:endParaRPr lang="en-US" altLang="zh-CN" sz="2600" dirty="0"/>
          </a:p>
          <a:p>
            <a:pPr marL="0" indent="0">
              <a:lnSpc>
                <a:spcPct val="150000"/>
              </a:lnSpc>
              <a:buNone/>
            </a:pPr>
            <a:r>
              <a:rPr lang="zh-CN" altLang="en-US" sz="2600" dirty="0"/>
              <a:t>例如：</a:t>
            </a:r>
            <a:r>
              <a:rPr lang="zh-CN" altLang="en-US" sz="2600" dirty="0">
                <a:solidFill>
                  <a:srgbClr val="0000CC"/>
                </a:solidFill>
              </a:rPr>
              <a:t>锁定</a:t>
            </a:r>
            <a:r>
              <a:rPr lang="en-US" altLang="zh-CN" sz="2600" dirty="0"/>
              <a:t>Tom</a:t>
            </a:r>
            <a:r>
              <a:rPr lang="zh-CN" altLang="en-US" sz="2600" dirty="0"/>
              <a:t>用户账号</a:t>
            </a:r>
          </a:p>
          <a:p>
            <a:pPr marL="0" indent="0">
              <a:lnSpc>
                <a:spcPct val="150000"/>
              </a:lnSpc>
              <a:buNone/>
            </a:pPr>
            <a:r>
              <a:rPr lang="zh-CN" altLang="en-US" sz="2600" dirty="0"/>
              <a:t>［</a:t>
            </a:r>
            <a:r>
              <a:rPr lang="en-US" altLang="zh-CN" sz="2600" dirty="0"/>
              <a:t>root@ localhost  ~</a:t>
            </a:r>
            <a:r>
              <a:rPr lang="zh-CN" altLang="en-US" sz="2600" dirty="0"/>
              <a:t>］</a:t>
            </a:r>
            <a:r>
              <a:rPr lang="zh-CN" altLang="zh-CN" sz="2600" dirty="0"/>
              <a:t># </a:t>
            </a:r>
            <a:r>
              <a:rPr lang="en-US" altLang="zh-CN" sz="2600" dirty="0" err="1"/>
              <a:t>passwd</a:t>
            </a:r>
            <a:r>
              <a:rPr lang="en-US" altLang="zh-CN" sz="2600" dirty="0"/>
              <a:t>  -l Tom</a:t>
            </a:r>
          </a:p>
          <a:p>
            <a:pPr marL="0" indent="0">
              <a:lnSpc>
                <a:spcPct val="150000"/>
              </a:lnSpc>
              <a:buNone/>
            </a:pPr>
            <a:r>
              <a:rPr lang="zh-CN" altLang="en-US" sz="2600" dirty="0">
                <a:solidFill>
                  <a:srgbClr val="0000CC"/>
                </a:solidFill>
              </a:rPr>
              <a:t>解除</a:t>
            </a:r>
            <a:r>
              <a:rPr lang="en-US" altLang="zh-CN" sz="2600" dirty="0"/>
              <a:t>Tom</a:t>
            </a:r>
            <a:r>
              <a:rPr lang="zh-CN" altLang="en-US" sz="2600" dirty="0"/>
              <a:t>用户账号的锁定：</a:t>
            </a:r>
          </a:p>
          <a:p>
            <a:pPr marL="0" indent="0">
              <a:lnSpc>
                <a:spcPct val="150000"/>
              </a:lnSpc>
              <a:buNone/>
            </a:pPr>
            <a:r>
              <a:rPr lang="zh-CN" altLang="en-US" sz="2600" dirty="0"/>
              <a:t>［</a:t>
            </a:r>
            <a:r>
              <a:rPr lang="en-US" altLang="zh-CN" sz="2600" dirty="0"/>
              <a:t>root@ localhost  ~</a:t>
            </a:r>
            <a:r>
              <a:rPr lang="zh-CN" altLang="en-US" sz="2600" dirty="0"/>
              <a:t>］</a:t>
            </a:r>
            <a:r>
              <a:rPr lang="zh-CN" altLang="zh-CN" sz="2600" dirty="0"/>
              <a:t># </a:t>
            </a:r>
            <a:r>
              <a:rPr lang="en-US" altLang="zh-CN" sz="2600" dirty="0"/>
              <a:t>passwd  -u Tom</a:t>
            </a:r>
          </a:p>
          <a:p>
            <a:pPr marL="0" indent="0">
              <a:lnSpc>
                <a:spcPct val="150000"/>
              </a:lnSpc>
              <a:buNone/>
            </a:pPr>
            <a:endParaRPr lang="en-US" altLang="zh-CN" sz="2400" dirty="0"/>
          </a:p>
        </p:txBody>
      </p:sp>
      <p:sp>
        <p:nvSpPr>
          <p:cNvPr id="3" name="Rectangle 2"/>
          <p:cNvSpPr>
            <a:spLocks noGrp="1" noChangeArrowheads="1"/>
          </p:cNvSpPr>
          <p:nvPr>
            <p:ph type="title"/>
          </p:nvPr>
        </p:nvSpPr>
        <p:spPr>
          <a:xfrm>
            <a:off x="1991544" y="552347"/>
            <a:ext cx="8136904" cy="858837"/>
          </a:xfrm>
        </p:spPr>
        <p:txBody>
          <a:bodyPr/>
          <a:lstStyle/>
          <a:p>
            <a:pPr algn="ctr" eaLnBrk="1" hangingPunct="1"/>
            <a:r>
              <a:rPr lang="zh-CN" altLang="en-US" dirty="0">
                <a:latin typeface="+mj-ea"/>
              </a:rPr>
              <a:t>锁定与解除用户账号</a:t>
            </a:r>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32</a:t>
            </a:fld>
            <a:endParaRPr lang="en-US" altLang="zh-CN"/>
          </a:p>
        </p:txBody>
      </p:sp>
    </p:spTree>
    <p:extLst>
      <p:ext uri="{BB962C8B-B14F-4D97-AF65-F5344CB8AC3E}">
        <p14:creationId xmlns:p14="http://schemas.microsoft.com/office/powerpoint/2010/main" val="235918983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F1BC489-DCB5-D2DD-B329-814F89248C5B}"/>
              </a:ext>
            </a:extLst>
          </p:cNvPr>
          <p:cNvSpPr/>
          <p:nvPr/>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7107" name="Rectangle 3"/>
          <p:cNvSpPr>
            <a:spLocks noGrp="1" noRot="1" noChangeArrowheads="1"/>
          </p:cNvSpPr>
          <p:nvPr>
            <p:ph type="body" idx="1"/>
          </p:nvPr>
        </p:nvSpPr>
        <p:spPr>
          <a:xfrm>
            <a:off x="1495591" y="1366818"/>
            <a:ext cx="9409355" cy="4827687"/>
          </a:xfrm>
        </p:spPr>
        <p:txBody>
          <a:bodyPr/>
          <a:lstStyle/>
          <a:p>
            <a:r>
              <a:rPr lang="zh-CN" altLang="en-US" sz="2600" dirty="0">
                <a:solidFill>
                  <a:srgbClr val="0000CC"/>
                </a:solidFill>
              </a:rPr>
              <a:t>超级用户也可以直接编辑</a:t>
            </a:r>
            <a:r>
              <a:rPr lang="en-US" altLang="zh-CN" sz="2600" dirty="0">
                <a:solidFill>
                  <a:srgbClr val="0000CC"/>
                </a:solidFill>
              </a:rPr>
              <a:t>/</a:t>
            </a:r>
            <a:r>
              <a:rPr lang="en-US" altLang="zh-CN" sz="2600" dirty="0" err="1">
                <a:solidFill>
                  <a:srgbClr val="0000CC"/>
                </a:solidFill>
              </a:rPr>
              <a:t>etc</a:t>
            </a:r>
            <a:r>
              <a:rPr lang="en-US" altLang="zh-CN" sz="2600" dirty="0">
                <a:solidFill>
                  <a:srgbClr val="0000CC"/>
                </a:solidFill>
              </a:rPr>
              <a:t>/</a:t>
            </a:r>
            <a:r>
              <a:rPr lang="en-US" altLang="zh-CN" sz="2600" dirty="0" err="1">
                <a:solidFill>
                  <a:srgbClr val="0000CC"/>
                </a:solidFill>
              </a:rPr>
              <a:t>passwd</a:t>
            </a:r>
            <a:r>
              <a:rPr lang="zh-CN" altLang="en-US" sz="2600" dirty="0">
                <a:solidFill>
                  <a:srgbClr val="0000CC"/>
                </a:solidFill>
              </a:rPr>
              <a:t>文件</a:t>
            </a:r>
            <a:r>
              <a:rPr lang="zh-CN" altLang="en-US" sz="2600" dirty="0"/>
              <a:t>，在指定的用户账号所在行前加上“</a:t>
            </a:r>
            <a:r>
              <a:rPr lang="en-US" altLang="zh-CN" sz="2600" dirty="0"/>
              <a:t>#</a:t>
            </a:r>
            <a:r>
              <a:rPr lang="zh-CN" altLang="en-US" sz="2600" dirty="0"/>
              <a:t>”或“*”符号使其成为注释行，那么该用户账号就被锁定不能使用。去除“</a:t>
            </a:r>
            <a:r>
              <a:rPr lang="en-US" altLang="zh-CN" sz="2600" dirty="0"/>
              <a:t>#”</a:t>
            </a:r>
            <a:r>
              <a:rPr lang="zh-CN" altLang="en-US" sz="2600" dirty="0"/>
              <a:t>或“*”符号，用户账号就可以恢复使用。</a:t>
            </a:r>
            <a:endParaRPr lang="en-US" altLang="zh-CN" sz="2600" dirty="0"/>
          </a:p>
          <a:p>
            <a:pPr marL="0" indent="0">
              <a:buNone/>
            </a:pPr>
            <a:r>
              <a:rPr lang="zh-CN" altLang="en-US" sz="2600" dirty="0">
                <a:solidFill>
                  <a:srgbClr val="0000CC"/>
                </a:solidFill>
              </a:rPr>
              <a:t>练习</a:t>
            </a:r>
            <a:r>
              <a:rPr lang="en-US" altLang="zh-CN" sz="2600" dirty="0">
                <a:solidFill>
                  <a:srgbClr val="0000CC"/>
                </a:solidFill>
              </a:rPr>
              <a:t>6</a:t>
            </a:r>
            <a:r>
              <a:rPr lang="zh-CN" altLang="en-US" sz="2600" dirty="0"/>
              <a:t>：</a:t>
            </a:r>
            <a:endParaRPr lang="en-US" altLang="zh-CN" sz="2600" dirty="0"/>
          </a:p>
          <a:p>
            <a:pPr marL="0" indent="0">
              <a:buNone/>
            </a:pPr>
            <a:r>
              <a:rPr lang="zh-CN" altLang="en-US" sz="2600" dirty="0"/>
              <a:t>使用</a:t>
            </a:r>
            <a:r>
              <a:rPr lang="en-US" altLang="zh-CN" sz="2600" dirty="0" err="1"/>
              <a:t>passwd</a:t>
            </a:r>
            <a:r>
              <a:rPr lang="zh-CN" altLang="en-US" sz="2600" dirty="0"/>
              <a:t>给</a:t>
            </a:r>
            <a:r>
              <a:rPr lang="en-US" altLang="zh-CN" sz="2600" dirty="0"/>
              <a:t>lily</a:t>
            </a:r>
            <a:r>
              <a:rPr lang="zh-CN" altLang="en-US" sz="2600" dirty="0"/>
              <a:t>用户密码冻结，用</a:t>
            </a:r>
            <a:r>
              <a:rPr lang="en-US" altLang="zh-CN" sz="2600" dirty="0" err="1"/>
              <a:t>passwd</a:t>
            </a:r>
            <a:r>
              <a:rPr lang="zh-CN" altLang="en-US" sz="2600" dirty="0"/>
              <a:t>查看</a:t>
            </a:r>
            <a:r>
              <a:rPr lang="en-US" altLang="zh-CN" sz="2600" dirty="0"/>
              <a:t>lily</a:t>
            </a:r>
            <a:r>
              <a:rPr lang="zh-CN" altLang="en-US" sz="2600" dirty="0"/>
              <a:t>相关信息，最后用</a:t>
            </a:r>
            <a:r>
              <a:rPr lang="en-US" altLang="zh-CN" sz="2600" dirty="0" err="1"/>
              <a:t>passwd</a:t>
            </a:r>
            <a:r>
              <a:rPr lang="zh-CN" altLang="en-US" sz="2600" dirty="0"/>
              <a:t>给用户</a:t>
            </a:r>
            <a:r>
              <a:rPr lang="en-US" altLang="zh-CN" sz="2600" dirty="0"/>
              <a:t>lily</a:t>
            </a:r>
            <a:r>
              <a:rPr lang="zh-CN" altLang="en-US" sz="2600" dirty="0"/>
              <a:t>解冻</a:t>
            </a:r>
            <a:endParaRPr lang="en-US" altLang="zh-CN" sz="2600" dirty="0"/>
          </a:p>
          <a:p>
            <a:pPr marL="0" indent="0">
              <a:buNone/>
            </a:pPr>
            <a:r>
              <a:rPr lang="zh-CN" altLang="en-US" sz="2600" dirty="0">
                <a:solidFill>
                  <a:srgbClr val="0000CC"/>
                </a:solidFill>
              </a:rPr>
              <a:t>练习</a:t>
            </a:r>
            <a:r>
              <a:rPr lang="en-US" altLang="zh-CN" sz="2600" dirty="0">
                <a:solidFill>
                  <a:srgbClr val="0000CC"/>
                </a:solidFill>
              </a:rPr>
              <a:t>7</a:t>
            </a:r>
            <a:r>
              <a:rPr lang="zh-CN" altLang="en-US" sz="2600" dirty="0"/>
              <a:t>：</a:t>
            </a:r>
            <a:endParaRPr lang="en-US" altLang="zh-CN" sz="2600" dirty="0"/>
          </a:p>
          <a:p>
            <a:pPr marL="0" indent="0">
              <a:buNone/>
            </a:pPr>
            <a:r>
              <a:rPr lang="zh-CN" altLang="en-US" sz="2600" dirty="0"/>
              <a:t>为</a:t>
            </a:r>
            <a:r>
              <a:rPr lang="en-US" altLang="zh-CN" sz="2600" dirty="0"/>
              <a:t>test</a:t>
            </a:r>
            <a:r>
              <a:rPr lang="zh-CN" altLang="en-US" sz="2600" dirty="0"/>
              <a:t>用户设置密码，设置</a:t>
            </a:r>
            <a:r>
              <a:rPr lang="en-US" altLang="zh-CN" sz="2600" dirty="0"/>
              <a:t>5</a:t>
            </a:r>
            <a:r>
              <a:rPr lang="zh-CN" altLang="en-US" sz="2600" dirty="0"/>
              <a:t>天内不能修改密码，</a:t>
            </a:r>
            <a:r>
              <a:rPr lang="en-US" altLang="zh-CN" sz="2600" dirty="0"/>
              <a:t>10</a:t>
            </a:r>
            <a:r>
              <a:rPr lang="zh-CN" altLang="en-US" sz="2600" dirty="0"/>
              <a:t>天内必须修改密码，密码过期</a:t>
            </a:r>
            <a:r>
              <a:rPr lang="en-US" altLang="zh-CN" sz="2600" dirty="0"/>
              <a:t>3</a:t>
            </a:r>
            <a:r>
              <a:rPr lang="zh-CN" altLang="en-US" sz="2600" dirty="0"/>
              <a:t>天前警告，到期</a:t>
            </a:r>
            <a:r>
              <a:rPr lang="en-US" altLang="zh-CN" sz="2600" dirty="0"/>
              <a:t>4</a:t>
            </a:r>
            <a:r>
              <a:rPr lang="zh-CN" altLang="en-US" sz="2600" dirty="0"/>
              <a:t>天后账号失效。</a:t>
            </a:r>
            <a:endParaRPr lang="en-US" altLang="zh-CN" sz="2600" dirty="0"/>
          </a:p>
        </p:txBody>
      </p:sp>
      <p:sp>
        <p:nvSpPr>
          <p:cNvPr id="3" name="Rectangle 2"/>
          <p:cNvSpPr>
            <a:spLocks noGrp="1" noChangeArrowheads="1"/>
          </p:cNvSpPr>
          <p:nvPr>
            <p:ph type="title"/>
          </p:nvPr>
        </p:nvSpPr>
        <p:spPr>
          <a:xfrm>
            <a:off x="1991544" y="543551"/>
            <a:ext cx="7992888" cy="858837"/>
          </a:xfrm>
        </p:spPr>
        <p:txBody>
          <a:bodyPr/>
          <a:lstStyle/>
          <a:p>
            <a:pPr algn="ctr" eaLnBrk="1" hangingPunct="1"/>
            <a:r>
              <a:rPr lang="zh-CN" altLang="en-US" dirty="0">
                <a:latin typeface="+mj-ea"/>
              </a:rPr>
              <a:t>锁定与解除用户账号</a:t>
            </a:r>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33</a:t>
            </a:fld>
            <a:endParaRPr lang="en-US" altLang="zh-CN"/>
          </a:p>
        </p:txBody>
      </p:sp>
    </p:spTree>
    <p:extLst>
      <p:ext uri="{BB962C8B-B14F-4D97-AF65-F5344CB8AC3E}">
        <p14:creationId xmlns:p14="http://schemas.microsoft.com/office/powerpoint/2010/main" val="304700023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7107">
                                            <p:txEl>
                                              <p:pRg st="2" end="2"/>
                                            </p:txEl>
                                          </p:spTgt>
                                        </p:tgtEl>
                                        <p:attrNameLst>
                                          <p:attrName>style.visibility</p:attrName>
                                        </p:attrNameLst>
                                      </p:cBhvr>
                                      <p:to>
                                        <p:strVal val="visible"/>
                                      </p:to>
                                    </p:set>
                                    <p:animEffect transition="in" filter="barn(inVertical)">
                                      <p:cBhvr>
                                        <p:cTn id="7" dur="500"/>
                                        <p:tgtEl>
                                          <p:spTgt spid="47107">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7107">
                                            <p:txEl>
                                              <p:pRg st="4" end="4"/>
                                            </p:txEl>
                                          </p:spTgt>
                                        </p:tgtEl>
                                        <p:attrNameLst>
                                          <p:attrName>style.visibility</p:attrName>
                                        </p:attrNameLst>
                                      </p:cBhvr>
                                      <p:to>
                                        <p:strVal val="visible"/>
                                      </p:to>
                                    </p:set>
                                    <p:anim calcmode="lin" valueType="num">
                                      <p:cBhvr additive="base">
                                        <p:cTn id="12" dur="500" fill="hold"/>
                                        <p:tgtEl>
                                          <p:spTgt spid="47107">
                                            <p:txEl>
                                              <p:pRg st="4" end="4"/>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4710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E692A1F-0F76-2DB3-03DF-CC2BD74B9EFD}"/>
              </a:ext>
            </a:extLst>
          </p:cNvPr>
          <p:cNvSpPr/>
          <p:nvPr/>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627" name="内容占位符 2"/>
          <p:cNvSpPr>
            <a:spLocks noGrp="1"/>
          </p:cNvSpPr>
          <p:nvPr>
            <p:ph idx="1"/>
          </p:nvPr>
        </p:nvSpPr>
        <p:spPr>
          <a:xfrm>
            <a:off x="1271464" y="1413063"/>
            <a:ext cx="9793088" cy="4736382"/>
          </a:xfrm>
        </p:spPr>
        <p:txBody>
          <a:bodyPr/>
          <a:lstStyle/>
          <a:p>
            <a:pPr marL="0" indent="0">
              <a:lnSpc>
                <a:spcPct val="90000"/>
              </a:lnSpc>
              <a:buNone/>
            </a:pPr>
            <a:r>
              <a:rPr lang="en-US" altLang="zh-CN" sz="2600" dirty="0">
                <a:solidFill>
                  <a:srgbClr val="0000CC"/>
                </a:solidFill>
              </a:rPr>
              <a:t>chage  </a:t>
            </a:r>
            <a:r>
              <a:rPr lang="zh-CN" altLang="en-US" sz="2600" dirty="0">
                <a:solidFill>
                  <a:srgbClr val="0000CC"/>
                </a:solidFill>
              </a:rPr>
              <a:t>命令</a:t>
            </a:r>
            <a:endParaRPr lang="en-US" altLang="zh-CN" sz="2600" dirty="0">
              <a:solidFill>
                <a:srgbClr val="0000CC"/>
              </a:solidFill>
            </a:endParaRPr>
          </a:p>
          <a:p>
            <a:pPr marL="0" indent="0">
              <a:lnSpc>
                <a:spcPct val="90000"/>
              </a:lnSpc>
              <a:buNone/>
            </a:pPr>
            <a:r>
              <a:rPr lang="zh-CN" altLang="en-US" sz="2600" dirty="0"/>
              <a:t>格式：</a:t>
            </a:r>
            <a:r>
              <a:rPr lang="en-US" altLang="zh-CN" sz="2600" dirty="0">
                <a:solidFill>
                  <a:srgbClr val="CC0099"/>
                </a:solidFill>
              </a:rPr>
              <a:t>chage    [</a:t>
            </a:r>
            <a:r>
              <a:rPr lang="zh-CN" altLang="en-US" sz="2600" dirty="0">
                <a:solidFill>
                  <a:srgbClr val="CC0099"/>
                </a:solidFill>
              </a:rPr>
              <a:t>用户名</a:t>
            </a:r>
            <a:r>
              <a:rPr lang="en-US" altLang="zh-CN" sz="2600" dirty="0">
                <a:solidFill>
                  <a:srgbClr val="CC0099"/>
                </a:solidFill>
              </a:rPr>
              <a:t>]</a:t>
            </a:r>
            <a:endParaRPr lang="zh-CN" altLang="en-US" sz="2600" dirty="0">
              <a:solidFill>
                <a:srgbClr val="CC0099"/>
              </a:solidFill>
            </a:endParaRPr>
          </a:p>
          <a:p>
            <a:pPr marL="0" indent="0">
              <a:lnSpc>
                <a:spcPct val="90000"/>
              </a:lnSpc>
              <a:buNone/>
            </a:pPr>
            <a:r>
              <a:rPr lang="zh-CN" altLang="en-US" sz="2600" dirty="0"/>
              <a:t>功能：用来修改帐号和密码的有效期。</a:t>
            </a:r>
            <a:endParaRPr lang="en-US" altLang="zh-CN" sz="2600" dirty="0"/>
          </a:p>
          <a:p>
            <a:pPr marL="0" indent="0">
              <a:lnSpc>
                <a:spcPct val="90000"/>
              </a:lnSpc>
              <a:buNone/>
            </a:pPr>
            <a:r>
              <a:rPr lang="zh-CN" altLang="en-US" sz="2600" dirty="0"/>
              <a:t>主要选项说明：</a:t>
            </a:r>
            <a:endParaRPr lang="en-US" altLang="zh-CN" sz="2600" dirty="0"/>
          </a:p>
          <a:p>
            <a:pPr marL="0" indent="0">
              <a:lnSpc>
                <a:spcPct val="90000"/>
              </a:lnSpc>
              <a:buNone/>
            </a:pPr>
            <a:r>
              <a:rPr lang="en-US" altLang="zh-CN" sz="2600" dirty="0"/>
              <a:t>-l     </a:t>
            </a:r>
            <a:r>
              <a:rPr lang="zh-CN" altLang="en-US" sz="2600" dirty="0"/>
              <a:t>列出用户的详细密码状态</a:t>
            </a:r>
            <a:r>
              <a:rPr lang="en-US" altLang="zh-CN" sz="2600" dirty="0"/>
              <a:t>;</a:t>
            </a:r>
          </a:p>
          <a:p>
            <a:pPr marL="0" indent="0">
              <a:lnSpc>
                <a:spcPct val="90000"/>
              </a:lnSpc>
              <a:buNone/>
            </a:pPr>
            <a:r>
              <a:rPr lang="en-US" altLang="zh-CN" sz="2600" dirty="0"/>
              <a:t>-d    </a:t>
            </a:r>
            <a:r>
              <a:rPr lang="zh-CN" altLang="en-US" sz="2600" dirty="0"/>
              <a:t>修改 </a:t>
            </a:r>
            <a:r>
              <a:rPr lang="en-US" altLang="zh-CN" sz="2600" dirty="0"/>
              <a:t>/</a:t>
            </a:r>
            <a:r>
              <a:rPr lang="en-US" altLang="zh-CN" sz="2600" dirty="0" err="1"/>
              <a:t>etc</a:t>
            </a:r>
            <a:r>
              <a:rPr lang="en-US" altLang="zh-CN" sz="2600" dirty="0"/>
              <a:t>/shadow </a:t>
            </a:r>
            <a:r>
              <a:rPr lang="zh-CN" altLang="en-US" sz="2600" dirty="0"/>
              <a:t>文件中指定用户密码信息的第 </a:t>
            </a:r>
            <a:r>
              <a:rPr lang="en-US" altLang="zh-CN" sz="2600" dirty="0"/>
              <a:t>3 </a:t>
            </a:r>
            <a:r>
              <a:rPr lang="zh-CN" altLang="en-US" sz="2600" dirty="0"/>
              <a:t>个字段，也就是最后一次修改密码的日期，格式为  </a:t>
            </a:r>
            <a:r>
              <a:rPr lang="en-US" altLang="zh-CN" sz="2600" dirty="0"/>
              <a:t>YYYY-MM-DD</a:t>
            </a:r>
            <a:endParaRPr lang="zh-CN" altLang="en-US" sz="2600" dirty="0"/>
          </a:p>
          <a:p>
            <a:pPr marL="0" indent="0">
              <a:lnSpc>
                <a:spcPct val="90000"/>
              </a:lnSpc>
              <a:buNone/>
            </a:pPr>
            <a:r>
              <a:rPr lang="en-US" altLang="zh-CN" sz="2600" dirty="0"/>
              <a:t>-m   </a:t>
            </a:r>
            <a:r>
              <a:rPr lang="zh-CN" altLang="en-US" sz="2600" dirty="0"/>
              <a:t>接天数，修改密码最短保留的天数，也就是</a:t>
            </a:r>
            <a:r>
              <a:rPr lang="en-US" altLang="zh-CN" sz="2600" dirty="0"/>
              <a:t> /</a:t>
            </a:r>
            <a:r>
              <a:rPr lang="en-US" altLang="zh-CN" sz="2600" dirty="0" err="1"/>
              <a:t>etc</a:t>
            </a:r>
            <a:r>
              <a:rPr lang="en-US" altLang="zh-CN" sz="2600" dirty="0"/>
              <a:t>/shadow </a:t>
            </a:r>
            <a:r>
              <a:rPr lang="zh-CN" altLang="en-US" sz="2600" dirty="0"/>
              <a:t>文件中的第 </a:t>
            </a:r>
            <a:r>
              <a:rPr lang="en-US" altLang="zh-CN" sz="2600" dirty="0"/>
              <a:t>4 </a:t>
            </a:r>
            <a:r>
              <a:rPr lang="zh-CN" altLang="en-US" sz="2600" dirty="0"/>
              <a:t>个字段；</a:t>
            </a:r>
          </a:p>
          <a:p>
            <a:pPr marL="0" indent="0">
              <a:lnSpc>
                <a:spcPct val="90000"/>
              </a:lnSpc>
              <a:buNone/>
            </a:pPr>
            <a:r>
              <a:rPr lang="en-US" altLang="zh-CN" sz="2600" dirty="0"/>
              <a:t>-M   </a:t>
            </a:r>
            <a:r>
              <a:rPr lang="zh-CN" altLang="en-US" sz="2600" dirty="0"/>
              <a:t>接天数，修改密码的有效期，也就是 </a:t>
            </a:r>
            <a:r>
              <a:rPr lang="en-US" altLang="zh-CN" sz="2600" dirty="0"/>
              <a:t>/</a:t>
            </a:r>
            <a:r>
              <a:rPr lang="en-US" altLang="zh-CN" sz="2600" dirty="0" err="1"/>
              <a:t>etc</a:t>
            </a:r>
            <a:r>
              <a:rPr lang="en-US" altLang="zh-CN" sz="2600" dirty="0"/>
              <a:t>/shadow </a:t>
            </a:r>
            <a:r>
              <a:rPr lang="zh-CN" altLang="en-US" sz="2600" dirty="0"/>
              <a:t>文件中的第 </a:t>
            </a:r>
            <a:r>
              <a:rPr lang="en-US" altLang="zh-CN" sz="2600" dirty="0"/>
              <a:t>5 </a:t>
            </a:r>
            <a:r>
              <a:rPr lang="zh-CN" altLang="en-US" sz="2600" dirty="0"/>
              <a:t>个字段；</a:t>
            </a:r>
          </a:p>
          <a:p>
            <a:pPr marL="0" indent="0">
              <a:lnSpc>
                <a:spcPct val="150000"/>
              </a:lnSpc>
              <a:buNone/>
            </a:pPr>
            <a:endParaRPr lang="zh-CN" altLang="en-US" sz="2400" dirty="0"/>
          </a:p>
        </p:txBody>
      </p:sp>
      <p:sp>
        <p:nvSpPr>
          <p:cNvPr id="7" name="Rectangle 2"/>
          <p:cNvSpPr>
            <a:spLocks noGrp="1" noChangeArrowheads="1"/>
          </p:cNvSpPr>
          <p:nvPr>
            <p:ph type="title"/>
          </p:nvPr>
        </p:nvSpPr>
        <p:spPr>
          <a:xfrm>
            <a:off x="1991544" y="517670"/>
            <a:ext cx="8064896" cy="858837"/>
          </a:xfrm>
        </p:spPr>
        <p:txBody>
          <a:bodyPr/>
          <a:lstStyle/>
          <a:p>
            <a:pPr algn="ctr" eaLnBrk="1" hangingPunct="1"/>
            <a:r>
              <a:rPr lang="zh-CN" altLang="en-US" dirty="0">
                <a:latin typeface="+mj-ea"/>
              </a:rPr>
              <a:t>管理用户的</a:t>
            </a:r>
            <a:r>
              <a:rPr lang="en-US" altLang="zh-CN" dirty="0">
                <a:latin typeface="+mj-ea"/>
              </a:rPr>
              <a:t>Shell</a:t>
            </a:r>
            <a:r>
              <a:rPr lang="zh-CN" altLang="en-US" dirty="0">
                <a:latin typeface="+mj-ea"/>
              </a:rPr>
              <a:t>命令</a:t>
            </a:r>
          </a:p>
        </p:txBody>
      </p:sp>
      <p:sp>
        <p:nvSpPr>
          <p:cNvPr id="4" name="灯片编号占位符 1"/>
          <p:cNvSpPr>
            <a:spLocks noGrp="1"/>
          </p:cNvSpPr>
          <p:nvPr>
            <p:ph type="sldNum" sz="quarter" idx="11"/>
          </p:nvPr>
        </p:nvSpPr>
        <p:spPr>
          <a:xfrm>
            <a:off x="10344472" y="6400800"/>
            <a:ext cx="514549" cy="457200"/>
          </a:xfrm>
        </p:spPr>
        <p:txBody>
          <a:bodyPr/>
          <a:lstStyle/>
          <a:p>
            <a:pPr>
              <a:defRPr/>
            </a:pPr>
            <a:fld id="{110871B5-850E-4E14-A636-3EC679EBF038}" type="slidenum">
              <a:rPr lang="en-US" altLang="zh-CN" smtClean="0"/>
              <a:pPr>
                <a:defRPr/>
              </a:pPr>
              <a:t>34</a:t>
            </a:fld>
            <a:endParaRPr lang="en-US" altLang="zh-CN" dirty="0"/>
          </a:p>
        </p:txBody>
      </p:sp>
    </p:spTree>
    <p:extLst>
      <p:ext uri="{BB962C8B-B14F-4D97-AF65-F5344CB8AC3E}">
        <p14:creationId xmlns:p14="http://schemas.microsoft.com/office/powerpoint/2010/main" val="103545315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D05EE6C8-95CC-BA28-690B-160003A0C4F0}"/>
              </a:ext>
            </a:extLst>
          </p:cNvPr>
          <p:cNvSpPr/>
          <p:nvPr/>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627" name="内容占位符 2"/>
          <p:cNvSpPr>
            <a:spLocks noGrp="1"/>
          </p:cNvSpPr>
          <p:nvPr>
            <p:ph idx="1"/>
          </p:nvPr>
        </p:nvSpPr>
        <p:spPr>
          <a:xfrm>
            <a:off x="1412292" y="1772816"/>
            <a:ext cx="9505056" cy="4248472"/>
          </a:xfrm>
        </p:spPr>
        <p:txBody>
          <a:bodyPr/>
          <a:lstStyle/>
          <a:p>
            <a:pPr marL="0" indent="0">
              <a:lnSpc>
                <a:spcPct val="150000"/>
              </a:lnSpc>
              <a:buNone/>
            </a:pPr>
            <a:r>
              <a:rPr lang="en-US" altLang="zh-CN" sz="2600" dirty="0"/>
              <a:t>-W   </a:t>
            </a:r>
            <a:r>
              <a:rPr lang="zh-CN" altLang="en-US" sz="2600" dirty="0"/>
              <a:t>接天数，修改密码到期前的警告天数，也就是</a:t>
            </a:r>
            <a:r>
              <a:rPr lang="en-US" altLang="zh-CN" sz="2600" dirty="0"/>
              <a:t>/</a:t>
            </a:r>
            <a:r>
              <a:rPr lang="en-US" altLang="zh-CN" sz="2600" dirty="0" err="1"/>
              <a:t>etc</a:t>
            </a:r>
            <a:r>
              <a:rPr lang="en-US" altLang="zh-CN" sz="2600" dirty="0"/>
              <a:t>/shadow </a:t>
            </a:r>
            <a:r>
              <a:rPr lang="zh-CN" altLang="en-US" sz="2600" dirty="0"/>
              <a:t>文件中的第 </a:t>
            </a:r>
            <a:r>
              <a:rPr lang="en-US" altLang="zh-CN" sz="2600" dirty="0"/>
              <a:t>6 </a:t>
            </a:r>
            <a:r>
              <a:rPr lang="zh-CN" altLang="en-US" sz="2600" dirty="0"/>
              <a:t>个字段；</a:t>
            </a:r>
          </a:p>
          <a:p>
            <a:pPr marL="0" indent="0">
              <a:lnSpc>
                <a:spcPct val="150000"/>
              </a:lnSpc>
              <a:buNone/>
            </a:pPr>
            <a:r>
              <a:rPr lang="en-US" altLang="zh-CN" sz="2600" dirty="0"/>
              <a:t>-</a:t>
            </a:r>
            <a:r>
              <a:rPr lang="en-US" altLang="zh-CN" sz="2600" dirty="0" err="1"/>
              <a:t>i</a:t>
            </a:r>
            <a:r>
              <a:rPr lang="en-US" altLang="zh-CN" sz="2600" dirty="0"/>
              <a:t>     </a:t>
            </a:r>
            <a:r>
              <a:rPr lang="zh-CN" altLang="en-US" sz="2600" dirty="0"/>
              <a:t>接天数，修改密码过期后的宽限天数，也就是 </a:t>
            </a:r>
            <a:r>
              <a:rPr lang="en-US" altLang="zh-CN" sz="2600" dirty="0"/>
              <a:t>/</a:t>
            </a:r>
            <a:r>
              <a:rPr lang="en-US" altLang="zh-CN" sz="2600" dirty="0" err="1"/>
              <a:t>etc</a:t>
            </a:r>
            <a:r>
              <a:rPr lang="en-US" altLang="zh-CN" sz="2600" dirty="0"/>
              <a:t>/shadow </a:t>
            </a:r>
            <a:r>
              <a:rPr lang="zh-CN" altLang="en-US" sz="2600" dirty="0"/>
              <a:t>文件中的第 </a:t>
            </a:r>
            <a:r>
              <a:rPr lang="en-US" altLang="zh-CN" sz="2600" dirty="0"/>
              <a:t>7 </a:t>
            </a:r>
            <a:r>
              <a:rPr lang="zh-CN" altLang="en-US" sz="2600" dirty="0"/>
              <a:t>个字段；</a:t>
            </a:r>
          </a:p>
          <a:p>
            <a:pPr marL="0" indent="0">
              <a:lnSpc>
                <a:spcPct val="150000"/>
              </a:lnSpc>
              <a:buNone/>
            </a:pPr>
            <a:r>
              <a:rPr lang="en-US" altLang="zh-CN" sz="2600" dirty="0"/>
              <a:t>-E    </a:t>
            </a:r>
            <a:r>
              <a:rPr lang="zh-CN" altLang="en-US" sz="2600" dirty="0"/>
              <a:t>接日期，修改账号失效日期，格式为 </a:t>
            </a:r>
            <a:r>
              <a:rPr lang="en-US" altLang="zh-CN" sz="2600" dirty="0"/>
              <a:t>YYYY-MM-DD</a:t>
            </a:r>
            <a:r>
              <a:rPr lang="zh-CN" altLang="en-US" sz="2600" dirty="0"/>
              <a:t>，也就是 </a:t>
            </a:r>
            <a:r>
              <a:rPr lang="en-US" altLang="zh-CN" sz="2600" dirty="0"/>
              <a:t>/</a:t>
            </a:r>
            <a:r>
              <a:rPr lang="en-US" altLang="zh-CN" sz="2600" dirty="0" err="1"/>
              <a:t>etc</a:t>
            </a:r>
            <a:r>
              <a:rPr lang="en-US" altLang="zh-CN" sz="2600" dirty="0"/>
              <a:t>/shadow </a:t>
            </a:r>
            <a:r>
              <a:rPr lang="zh-CN" altLang="en-US" sz="2600" dirty="0"/>
              <a:t>文件中的第 </a:t>
            </a:r>
            <a:r>
              <a:rPr lang="en-US" altLang="zh-CN" sz="2600" dirty="0"/>
              <a:t>8 </a:t>
            </a:r>
            <a:r>
              <a:rPr lang="zh-CN" altLang="en-US" sz="2600" dirty="0"/>
              <a:t>个字段。</a:t>
            </a:r>
            <a:endParaRPr lang="en-US" altLang="zh-CN" sz="2600" dirty="0"/>
          </a:p>
          <a:p>
            <a:pPr marL="0" indent="0">
              <a:lnSpc>
                <a:spcPct val="150000"/>
              </a:lnSpc>
              <a:buNone/>
            </a:pPr>
            <a:endParaRPr lang="zh-CN" altLang="en-US" sz="2400" dirty="0"/>
          </a:p>
        </p:txBody>
      </p:sp>
      <p:sp>
        <p:nvSpPr>
          <p:cNvPr id="7" name="Rectangle 2"/>
          <p:cNvSpPr>
            <a:spLocks noGrp="1" noChangeArrowheads="1"/>
          </p:cNvSpPr>
          <p:nvPr>
            <p:ph type="title"/>
          </p:nvPr>
        </p:nvSpPr>
        <p:spPr>
          <a:xfrm>
            <a:off x="2207568" y="565345"/>
            <a:ext cx="7543800" cy="858837"/>
          </a:xfrm>
        </p:spPr>
        <p:txBody>
          <a:bodyPr/>
          <a:lstStyle/>
          <a:p>
            <a:pPr algn="ctr" eaLnBrk="1" hangingPunct="1"/>
            <a:r>
              <a:rPr lang="zh-CN" altLang="en-US" dirty="0">
                <a:latin typeface="+mj-ea"/>
              </a:rPr>
              <a:t>管理用户的</a:t>
            </a:r>
            <a:r>
              <a:rPr lang="en-US" altLang="zh-CN" dirty="0">
                <a:latin typeface="+mj-ea"/>
              </a:rPr>
              <a:t>Shell</a:t>
            </a:r>
            <a:r>
              <a:rPr lang="zh-CN" altLang="en-US" dirty="0">
                <a:latin typeface="+mj-ea"/>
              </a:rPr>
              <a:t>命令</a:t>
            </a:r>
          </a:p>
        </p:txBody>
      </p:sp>
      <p:sp>
        <p:nvSpPr>
          <p:cNvPr id="4" name="灯片编号占位符 1"/>
          <p:cNvSpPr>
            <a:spLocks noGrp="1"/>
          </p:cNvSpPr>
          <p:nvPr>
            <p:ph type="sldNum" sz="quarter" idx="11"/>
          </p:nvPr>
        </p:nvSpPr>
        <p:spPr>
          <a:xfrm>
            <a:off x="10379626" y="6396035"/>
            <a:ext cx="514549" cy="457200"/>
          </a:xfrm>
        </p:spPr>
        <p:txBody>
          <a:bodyPr/>
          <a:lstStyle/>
          <a:p>
            <a:pPr>
              <a:defRPr/>
            </a:pPr>
            <a:fld id="{110871B5-850E-4E14-A636-3EC679EBF038}" type="slidenum">
              <a:rPr lang="en-US" altLang="zh-CN" smtClean="0"/>
              <a:pPr>
                <a:defRPr/>
              </a:pPr>
              <a:t>35</a:t>
            </a:fld>
            <a:endParaRPr lang="en-US" altLang="zh-CN" dirty="0"/>
          </a:p>
        </p:txBody>
      </p:sp>
    </p:spTree>
    <p:extLst>
      <p:ext uri="{BB962C8B-B14F-4D97-AF65-F5344CB8AC3E}">
        <p14:creationId xmlns:p14="http://schemas.microsoft.com/office/powerpoint/2010/main" val="288046944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388FCCBA-F428-CC9F-720C-AC03946D7E0E}"/>
              </a:ext>
            </a:extLst>
          </p:cNvPr>
          <p:cNvSpPr/>
          <p:nvPr/>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标题 1">
            <a:extLst>
              <a:ext uri="{FF2B5EF4-FFF2-40B4-BE49-F238E27FC236}">
                <a16:creationId xmlns:a16="http://schemas.microsoft.com/office/drawing/2014/main" id="{083DD989-C68C-4E18-8499-454E4ADD533D}"/>
              </a:ext>
            </a:extLst>
          </p:cNvPr>
          <p:cNvSpPr>
            <a:spLocks noGrp="1"/>
          </p:cNvSpPr>
          <p:nvPr>
            <p:ph type="title"/>
          </p:nvPr>
        </p:nvSpPr>
        <p:spPr>
          <a:xfrm>
            <a:off x="983432" y="579120"/>
            <a:ext cx="9985109" cy="858837"/>
          </a:xfrm>
        </p:spPr>
        <p:txBody>
          <a:bodyPr/>
          <a:lstStyle/>
          <a:p>
            <a:r>
              <a:rPr lang="zh-CN" altLang="en-US" dirty="0">
                <a:latin typeface="+mj-ea"/>
              </a:rPr>
              <a:t>管理用户的</a:t>
            </a:r>
            <a:r>
              <a:rPr lang="en-US" altLang="zh-CN" dirty="0">
                <a:latin typeface="+mj-ea"/>
              </a:rPr>
              <a:t>Shell</a:t>
            </a:r>
            <a:r>
              <a:rPr lang="zh-CN" altLang="en-US" dirty="0">
                <a:latin typeface="+mj-ea"/>
              </a:rPr>
              <a:t>命令</a:t>
            </a:r>
            <a:endParaRPr lang="zh-CN" altLang="en-US" dirty="0"/>
          </a:p>
        </p:txBody>
      </p:sp>
      <p:sp>
        <p:nvSpPr>
          <p:cNvPr id="3" name="内容占位符 2">
            <a:extLst>
              <a:ext uri="{FF2B5EF4-FFF2-40B4-BE49-F238E27FC236}">
                <a16:creationId xmlns:a16="http://schemas.microsoft.com/office/drawing/2014/main" id="{41718876-B58F-418A-A71B-B1F69224C4CD}"/>
              </a:ext>
            </a:extLst>
          </p:cNvPr>
          <p:cNvSpPr>
            <a:spLocks noGrp="1"/>
          </p:cNvSpPr>
          <p:nvPr>
            <p:ph idx="1"/>
          </p:nvPr>
        </p:nvSpPr>
        <p:spPr>
          <a:xfrm>
            <a:off x="1343472" y="1579512"/>
            <a:ext cx="8795320" cy="4411662"/>
          </a:xfrm>
        </p:spPr>
        <p:txBody>
          <a:bodyPr/>
          <a:lstStyle/>
          <a:p>
            <a:pPr marL="0" indent="0">
              <a:buNone/>
            </a:pPr>
            <a:r>
              <a:rPr lang="zh-CN" altLang="en-US" sz="2600" dirty="0"/>
              <a:t>例如：查看用户</a:t>
            </a:r>
            <a:r>
              <a:rPr lang="en-US" altLang="zh-CN" sz="2600" dirty="0"/>
              <a:t>test</a:t>
            </a:r>
            <a:r>
              <a:rPr lang="zh-CN" altLang="en-US" sz="2600" dirty="0"/>
              <a:t>的账号参数的详细信息。</a:t>
            </a:r>
            <a:endParaRPr lang="en-US" altLang="zh-CN" sz="2600" dirty="0"/>
          </a:p>
          <a:p>
            <a:pPr marL="0" indent="0">
              <a:buNone/>
            </a:pPr>
            <a:r>
              <a:rPr lang="zh-CN" altLang="en-US" sz="2600" dirty="0"/>
              <a:t>［</a:t>
            </a:r>
            <a:r>
              <a:rPr lang="en-US" altLang="zh-CN" sz="2600" dirty="0"/>
              <a:t>root@ localhost  ~</a:t>
            </a:r>
            <a:r>
              <a:rPr lang="zh-CN" altLang="en-US" sz="2600" dirty="0"/>
              <a:t>］</a:t>
            </a:r>
            <a:r>
              <a:rPr lang="en-US" altLang="zh-CN" sz="2600" dirty="0"/>
              <a:t># chage -l test</a:t>
            </a:r>
          </a:p>
          <a:p>
            <a:pPr marL="0" indent="0">
              <a:buNone/>
            </a:pPr>
            <a:r>
              <a:rPr lang="zh-CN" altLang="en-US" sz="2600" dirty="0"/>
              <a:t>最近一次密码修改时间	     </a:t>
            </a:r>
            <a:r>
              <a:rPr lang="en-US" altLang="zh-CN" sz="2600" dirty="0"/>
              <a:t>	</a:t>
            </a:r>
            <a:r>
              <a:rPr lang="zh-CN" altLang="en-US" sz="2600" dirty="0"/>
              <a:t> </a:t>
            </a:r>
            <a:r>
              <a:rPr lang="en-US" altLang="zh-CN" sz="2600" dirty="0"/>
              <a:t>	</a:t>
            </a:r>
            <a:r>
              <a:rPr lang="zh-CN" altLang="en-US" sz="2600" dirty="0"/>
              <a:t>：</a:t>
            </a:r>
            <a:r>
              <a:rPr lang="en-US" altLang="zh-CN" sz="2600" dirty="0"/>
              <a:t>3</a:t>
            </a:r>
            <a:r>
              <a:rPr lang="zh-CN" altLang="en-US" sz="2600" dirty="0"/>
              <a:t>月</a:t>
            </a:r>
            <a:r>
              <a:rPr lang="en-US" altLang="zh-CN" sz="2600" dirty="0"/>
              <a:t> 10, 2023</a:t>
            </a:r>
          </a:p>
          <a:p>
            <a:pPr marL="0" indent="0">
              <a:buNone/>
            </a:pPr>
            <a:r>
              <a:rPr lang="zh-CN" altLang="en-US" sz="2600" dirty="0"/>
              <a:t>密码过期时间		       </a:t>
            </a:r>
            <a:r>
              <a:rPr lang="en-US" altLang="zh-CN" sz="2600" dirty="0"/>
              <a:t>	 	</a:t>
            </a:r>
            <a:r>
              <a:rPr lang="zh-CN" altLang="en-US" sz="2600" dirty="0"/>
              <a:t>：</a:t>
            </a:r>
            <a:r>
              <a:rPr lang="en-US" altLang="zh-CN" sz="2600" dirty="0"/>
              <a:t>12</a:t>
            </a:r>
            <a:r>
              <a:rPr lang="zh-CN" altLang="en-US" sz="2600" dirty="0"/>
              <a:t>月 </a:t>
            </a:r>
            <a:r>
              <a:rPr lang="en-US" altLang="zh-CN" sz="2600" dirty="0"/>
              <a:t>20</a:t>
            </a:r>
            <a:r>
              <a:rPr lang="zh-CN" altLang="en-US" sz="2600" dirty="0"/>
              <a:t>，</a:t>
            </a:r>
            <a:r>
              <a:rPr lang="en-US" altLang="zh-CN" sz="2600" dirty="0"/>
              <a:t>2023</a:t>
            </a:r>
            <a:endParaRPr lang="zh-CN" altLang="en-US" sz="2600" dirty="0"/>
          </a:p>
          <a:p>
            <a:pPr marL="0" indent="0">
              <a:buNone/>
            </a:pPr>
            <a:r>
              <a:rPr lang="zh-CN" altLang="en-US" sz="2600" dirty="0"/>
              <a:t>密码失效时间		           </a:t>
            </a:r>
            <a:r>
              <a:rPr lang="en-US" altLang="zh-CN" sz="2600" dirty="0"/>
              <a:t>	</a:t>
            </a:r>
            <a:r>
              <a:rPr lang="zh-CN" altLang="en-US" sz="2600" dirty="0"/>
              <a:t>：</a:t>
            </a:r>
            <a:r>
              <a:rPr lang="en-US" altLang="zh-CN" sz="2600" dirty="0"/>
              <a:t>12</a:t>
            </a:r>
            <a:r>
              <a:rPr lang="zh-CN" altLang="en-US" sz="2600" dirty="0"/>
              <a:t>月 </a:t>
            </a:r>
            <a:r>
              <a:rPr lang="en-US" altLang="zh-CN" sz="2600" dirty="0"/>
              <a:t>24</a:t>
            </a:r>
            <a:r>
              <a:rPr lang="zh-CN" altLang="en-US" sz="2600" dirty="0"/>
              <a:t>，</a:t>
            </a:r>
            <a:r>
              <a:rPr lang="en-US" altLang="zh-CN" sz="2600" dirty="0"/>
              <a:t>2023</a:t>
            </a:r>
            <a:endParaRPr lang="zh-CN" altLang="en-US" sz="2600" dirty="0"/>
          </a:p>
          <a:p>
            <a:pPr marL="0" indent="0">
              <a:buNone/>
            </a:pPr>
            <a:r>
              <a:rPr lang="zh-CN" altLang="en-US" sz="2600" dirty="0"/>
              <a:t>帐户过期时间		        </a:t>
            </a:r>
            <a:r>
              <a:rPr lang="en-US" altLang="zh-CN" sz="2600" dirty="0"/>
              <a:t>	 	</a:t>
            </a:r>
            <a:r>
              <a:rPr lang="zh-CN" altLang="en-US" sz="2600" dirty="0"/>
              <a:t>：</a:t>
            </a:r>
            <a:r>
              <a:rPr lang="en-US" altLang="zh-CN" sz="2600" dirty="0"/>
              <a:t>12</a:t>
            </a:r>
            <a:r>
              <a:rPr lang="zh-CN" altLang="en-US" sz="2600" dirty="0"/>
              <a:t>月</a:t>
            </a:r>
            <a:r>
              <a:rPr lang="en-US" altLang="zh-CN" sz="2600" dirty="0"/>
              <a:t>31</a:t>
            </a:r>
            <a:r>
              <a:rPr lang="zh-CN" altLang="en-US" sz="2600" dirty="0"/>
              <a:t>，</a:t>
            </a:r>
            <a:r>
              <a:rPr lang="en-US" altLang="zh-CN" sz="2600" dirty="0"/>
              <a:t>2025</a:t>
            </a:r>
            <a:endParaRPr lang="zh-CN" altLang="en-US" sz="2600" dirty="0"/>
          </a:p>
          <a:p>
            <a:pPr marL="0" indent="0">
              <a:buNone/>
            </a:pPr>
            <a:r>
              <a:rPr lang="zh-CN" altLang="en-US" sz="2600" dirty="0"/>
              <a:t>两次改变密码之间相距的最小天数</a:t>
            </a:r>
            <a:r>
              <a:rPr lang="en-US" altLang="zh-CN" sz="2600" dirty="0"/>
              <a:t>	</a:t>
            </a:r>
            <a:r>
              <a:rPr lang="zh-CN" altLang="en-US" sz="2600" dirty="0"/>
              <a:t>：</a:t>
            </a:r>
            <a:r>
              <a:rPr lang="en-US" altLang="zh-CN" sz="2600" dirty="0"/>
              <a:t>5</a:t>
            </a:r>
          </a:p>
          <a:p>
            <a:pPr marL="0" indent="0">
              <a:buNone/>
            </a:pPr>
            <a:r>
              <a:rPr lang="zh-CN" altLang="en-US" sz="2600" dirty="0"/>
              <a:t>两次改变密码之间相距的最大天数	：</a:t>
            </a:r>
            <a:r>
              <a:rPr lang="en-US" altLang="zh-CN" sz="2600" dirty="0"/>
              <a:t>100</a:t>
            </a:r>
          </a:p>
          <a:p>
            <a:pPr marL="0" indent="0">
              <a:buNone/>
            </a:pPr>
            <a:r>
              <a:rPr lang="zh-CN" altLang="en-US" sz="2600" dirty="0"/>
              <a:t>在密码过期之前警告的天数	</a:t>
            </a:r>
            <a:r>
              <a:rPr lang="en-US" altLang="zh-CN" sz="2600" dirty="0"/>
              <a:t>	</a:t>
            </a:r>
            <a:r>
              <a:rPr lang="zh-CN" altLang="en-US" sz="2600" dirty="0"/>
              <a:t>：</a:t>
            </a:r>
            <a:r>
              <a:rPr lang="en-US" altLang="zh-CN" sz="2600" dirty="0"/>
              <a:t>7</a:t>
            </a:r>
          </a:p>
          <a:p>
            <a:endParaRPr lang="zh-CN" altLang="en-US" dirty="0"/>
          </a:p>
        </p:txBody>
      </p:sp>
      <p:sp>
        <p:nvSpPr>
          <p:cNvPr id="4" name="灯片编号占位符 3">
            <a:extLst>
              <a:ext uri="{FF2B5EF4-FFF2-40B4-BE49-F238E27FC236}">
                <a16:creationId xmlns:a16="http://schemas.microsoft.com/office/drawing/2014/main" id="{C1DC95D6-05D9-4025-8A1B-4E9E0ED3C7C4}"/>
              </a:ext>
            </a:extLst>
          </p:cNvPr>
          <p:cNvSpPr>
            <a:spLocks noGrp="1"/>
          </p:cNvSpPr>
          <p:nvPr>
            <p:ph type="sldNum" sz="quarter" idx="11"/>
          </p:nvPr>
        </p:nvSpPr>
        <p:spPr/>
        <p:txBody>
          <a:bodyPr/>
          <a:lstStyle/>
          <a:p>
            <a:pPr>
              <a:defRPr/>
            </a:pPr>
            <a:fld id="{110871B5-850E-4E14-A636-3EC679EBF038}" type="slidenum">
              <a:rPr lang="en-US" altLang="zh-CN" smtClean="0"/>
              <a:pPr>
                <a:defRPr/>
              </a:pPr>
              <a:t>36</a:t>
            </a:fld>
            <a:endParaRPr lang="en-US" altLang="zh-CN"/>
          </a:p>
        </p:txBody>
      </p:sp>
    </p:spTree>
    <p:extLst>
      <p:ext uri="{BB962C8B-B14F-4D97-AF65-F5344CB8AC3E}">
        <p14:creationId xmlns:p14="http://schemas.microsoft.com/office/powerpoint/2010/main" val="286953615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4A5B130-1FB2-A5D8-156E-4F13F91F3CEE}"/>
              </a:ext>
            </a:extLst>
          </p:cNvPr>
          <p:cNvSpPr/>
          <p:nvPr/>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7107" name="Rectangle 3"/>
          <p:cNvSpPr>
            <a:spLocks noGrp="1" noRot="1" noChangeArrowheads="1"/>
          </p:cNvSpPr>
          <p:nvPr>
            <p:ph type="body" idx="1"/>
          </p:nvPr>
        </p:nvSpPr>
        <p:spPr>
          <a:xfrm>
            <a:off x="1343472" y="1687345"/>
            <a:ext cx="9546306" cy="4320480"/>
          </a:xfrm>
        </p:spPr>
        <p:txBody>
          <a:bodyPr/>
          <a:lstStyle/>
          <a:p>
            <a:pPr marL="0" indent="0">
              <a:lnSpc>
                <a:spcPct val="150000"/>
              </a:lnSpc>
              <a:buNone/>
            </a:pPr>
            <a:r>
              <a:rPr lang="zh-CN" altLang="en-US" sz="2600" dirty="0">
                <a:solidFill>
                  <a:srgbClr val="0000CC"/>
                </a:solidFill>
              </a:rPr>
              <a:t>练习</a:t>
            </a:r>
            <a:r>
              <a:rPr lang="en-US" altLang="zh-CN" sz="2600" dirty="0">
                <a:solidFill>
                  <a:srgbClr val="0000CC"/>
                </a:solidFill>
              </a:rPr>
              <a:t>8</a:t>
            </a:r>
            <a:r>
              <a:rPr lang="zh-CN" altLang="en-US" sz="2600" dirty="0"/>
              <a:t>：设置</a:t>
            </a:r>
            <a:r>
              <a:rPr lang="en-US" altLang="zh-CN" sz="2600" dirty="0"/>
              <a:t>user</a:t>
            </a:r>
            <a:r>
              <a:rPr lang="zh-CN" altLang="en-US" sz="2600" dirty="0"/>
              <a:t>用户密码</a:t>
            </a:r>
            <a:r>
              <a:rPr lang="en-US" altLang="zh-CN" sz="2600" dirty="0"/>
              <a:t>60</a:t>
            </a:r>
            <a:r>
              <a:rPr lang="zh-CN" altLang="en-US" sz="2600" dirty="0"/>
              <a:t>天后过期，至少</a:t>
            </a:r>
            <a:r>
              <a:rPr lang="en-US" altLang="zh-CN" sz="2600" dirty="0"/>
              <a:t>7</a:t>
            </a:r>
            <a:r>
              <a:rPr lang="zh-CN" altLang="en-US" sz="2600" dirty="0"/>
              <a:t>天后才能修改密码，密码过期前</a:t>
            </a:r>
            <a:r>
              <a:rPr lang="en-US" altLang="zh-CN" sz="2600" dirty="0"/>
              <a:t>7</a:t>
            </a:r>
            <a:r>
              <a:rPr lang="zh-CN" altLang="en-US" sz="2600" dirty="0"/>
              <a:t>天开始收到告警信息。</a:t>
            </a:r>
            <a:endParaRPr lang="en-US" altLang="zh-CN" sz="2600" dirty="0"/>
          </a:p>
          <a:p>
            <a:pPr marL="0" indent="0">
              <a:lnSpc>
                <a:spcPct val="150000"/>
              </a:lnSpc>
              <a:buNone/>
            </a:pPr>
            <a:r>
              <a:rPr lang="zh-CN" altLang="en-US" sz="2600" dirty="0">
                <a:solidFill>
                  <a:srgbClr val="0000CC"/>
                </a:solidFill>
              </a:rPr>
              <a:t>练习</a:t>
            </a:r>
            <a:r>
              <a:rPr lang="en-US" altLang="zh-CN" sz="2600" dirty="0">
                <a:solidFill>
                  <a:srgbClr val="0000CC"/>
                </a:solidFill>
              </a:rPr>
              <a:t>9</a:t>
            </a:r>
            <a:r>
              <a:rPr lang="zh-CN" altLang="en-US" sz="2600" dirty="0"/>
              <a:t>：设置</a:t>
            </a:r>
            <a:r>
              <a:rPr lang="en-US" altLang="zh-CN" sz="2600" dirty="0"/>
              <a:t>lily</a:t>
            </a:r>
            <a:r>
              <a:rPr lang="zh-CN" altLang="en-US" sz="2600" dirty="0"/>
              <a:t>用户的密码最近一次修改日期为“</a:t>
            </a:r>
            <a:r>
              <a:rPr lang="en-US" altLang="zh-CN" sz="2600"/>
              <a:t>2024-1-28</a:t>
            </a:r>
            <a:r>
              <a:rPr lang="zh-CN" altLang="en-US" sz="2600" dirty="0"/>
              <a:t>”。</a:t>
            </a:r>
            <a:endParaRPr lang="en-US" altLang="zh-CN" sz="2400" dirty="0"/>
          </a:p>
        </p:txBody>
      </p:sp>
      <p:sp>
        <p:nvSpPr>
          <p:cNvPr id="3" name="Rectangle 2"/>
          <p:cNvSpPr>
            <a:spLocks noGrp="1" noChangeArrowheads="1"/>
          </p:cNvSpPr>
          <p:nvPr>
            <p:ph type="title"/>
          </p:nvPr>
        </p:nvSpPr>
        <p:spPr>
          <a:xfrm>
            <a:off x="2309484" y="579120"/>
            <a:ext cx="7543800" cy="858837"/>
          </a:xfrm>
        </p:spPr>
        <p:txBody>
          <a:bodyPr/>
          <a:lstStyle/>
          <a:p>
            <a:pPr algn="ctr" eaLnBrk="1" hangingPunct="1"/>
            <a:r>
              <a:rPr lang="zh-CN" altLang="en-US" dirty="0">
                <a:latin typeface="+mj-ea"/>
              </a:rPr>
              <a:t>修改用户属性</a:t>
            </a:r>
          </a:p>
        </p:txBody>
      </p:sp>
      <p:sp>
        <p:nvSpPr>
          <p:cNvPr id="4" name="灯片编号占位符 1"/>
          <p:cNvSpPr>
            <a:spLocks noGrp="1"/>
          </p:cNvSpPr>
          <p:nvPr>
            <p:ph type="sldNum" sz="quarter" idx="11"/>
          </p:nvPr>
        </p:nvSpPr>
        <p:spPr>
          <a:xfrm>
            <a:off x="10375229" y="6373796"/>
            <a:ext cx="514549" cy="457200"/>
          </a:xfrm>
        </p:spPr>
        <p:txBody>
          <a:bodyPr/>
          <a:lstStyle/>
          <a:p>
            <a:pPr>
              <a:defRPr/>
            </a:pPr>
            <a:fld id="{110871B5-850E-4E14-A636-3EC679EBF038}" type="slidenum">
              <a:rPr lang="en-US" altLang="zh-CN" smtClean="0"/>
              <a:pPr>
                <a:defRPr/>
              </a:pPr>
              <a:t>37</a:t>
            </a:fld>
            <a:endParaRPr lang="en-US" altLang="zh-CN" dirty="0"/>
          </a:p>
        </p:txBody>
      </p:sp>
    </p:spTree>
    <p:extLst>
      <p:ext uri="{BB962C8B-B14F-4D97-AF65-F5344CB8AC3E}">
        <p14:creationId xmlns:p14="http://schemas.microsoft.com/office/powerpoint/2010/main" val="315346483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4C84BD42-4F23-C0C6-24E2-D01673B20BD9}"/>
              </a:ext>
            </a:extLst>
          </p:cNvPr>
          <p:cNvSpPr/>
          <p:nvPr/>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627" name="内容占位符 2"/>
          <p:cNvSpPr>
            <a:spLocks noGrp="1"/>
          </p:cNvSpPr>
          <p:nvPr>
            <p:ph idx="1"/>
          </p:nvPr>
        </p:nvSpPr>
        <p:spPr>
          <a:xfrm>
            <a:off x="1271464" y="1340263"/>
            <a:ext cx="9937104" cy="5015269"/>
          </a:xfrm>
        </p:spPr>
        <p:txBody>
          <a:bodyPr/>
          <a:lstStyle/>
          <a:p>
            <a:pPr marL="0" indent="0">
              <a:lnSpc>
                <a:spcPct val="90000"/>
              </a:lnSpc>
              <a:buNone/>
            </a:pPr>
            <a:r>
              <a:rPr lang="en-US" altLang="zh-CN" sz="2600" dirty="0">
                <a:solidFill>
                  <a:srgbClr val="0000CC"/>
                </a:solidFill>
              </a:rPr>
              <a:t>usermod</a:t>
            </a:r>
            <a:r>
              <a:rPr lang="zh-CN" altLang="en-US" sz="2600" dirty="0">
                <a:solidFill>
                  <a:srgbClr val="0000CC"/>
                </a:solidFill>
              </a:rPr>
              <a:t>命令</a:t>
            </a:r>
            <a:endParaRPr lang="en-US" altLang="zh-CN" sz="2600" dirty="0">
              <a:solidFill>
                <a:srgbClr val="0000CC"/>
              </a:solidFill>
            </a:endParaRPr>
          </a:p>
          <a:p>
            <a:pPr marL="0" indent="0">
              <a:lnSpc>
                <a:spcPct val="90000"/>
              </a:lnSpc>
              <a:buNone/>
            </a:pPr>
            <a:r>
              <a:rPr lang="zh-CN" altLang="en-US" sz="2600" dirty="0"/>
              <a:t>格式：</a:t>
            </a:r>
            <a:r>
              <a:rPr lang="en-US" altLang="zh-CN" sz="2600" dirty="0">
                <a:solidFill>
                  <a:srgbClr val="CC0099"/>
                </a:solidFill>
              </a:rPr>
              <a:t>usermod   [</a:t>
            </a:r>
            <a:r>
              <a:rPr lang="zh-CN" altLang="en-US" sz="2600" dirty="0">
                <a:solidFill>
                  <a:srgbClr val="CC0099"/>
                </a:solidFill>
              </a:rPr>
              <a:t>选项</a:t>
            </a:r>
            <a:r>
              <a:rPr lang="en-US" altLang="zh-CN" sz="2600" dirty="0">
                <a:solidFill>
                  <a:srgbClr val="CC0099"/>
                </a:solidFill>
              </a:rPr>
              <a:t>]   </a:t>
            </a:r>
            <a:r>
              <a:rPr lang="zh-CN" altLang="en-US" sz="2600" dirty="0">
                <a:solidFill>
                  <a:srgbClr val="CC0099"/>
                </a:solidFill>
              </a:rPr>
              <a:t>用户名</a:t>
            </a:r>
          </a:p>
          <a:p>
            <a:pPr marL="0" indent="0">
              <a:lnSpc>
                <a:spcPct val="90000"/>
              </a:lnSpc>
              <a:buNone/>
            </a:pPr>
            <a:r>
              <a:rPr lang="zh-CN" altLang="en-US" sz="2600" dirty="0"/>
              <a:t>功能：修改用户的属性。只有</a:t>
            </a:r>
            <a:r>
              <a:rPr lang="zh-CN" altLang="en-US" sz="2600" dirty="0">
                <a:solidFill>
                  <a:srgbClr val="0000CC"/>
                </a:solidFill>
              </a:rPr>
              <a:t>超级用户</a:t>
            </a:r>
            <a:r>
              <a:rPr lang="zh-CN" altLang="en-US" sz="2600" dirty="0"/>
              <a:t>才能使用此命令，且</a:t>
            </a:r>
            <a:r>
              <a:rPr lang="zh-CN" altLang="en-US" sz="2600" dirty="0">
                <a:solidFill>
                  <a:srgbClr val="0000CC"/>
                </a:solidFill>
              </a:rPr>
              <a:t>需要修改属性的用户当前未登录</a:t>
            </a:r>
            <a:r>
              <a:rPr lang="zh-CN" altLang="en-US" sz="2600" dirty="0"/>
              <a:t>。</a:t>
            </a:r>
          </a:p>
          <a:p>
            <a:pPr marL="0" indent="0">
              <a:lnSpc>
                <a:spcPct val="90000"/>
              </a:lnSpc>
              <a:buNone/>
            </a:pPr>
            <a:r>
              <a:rPr lang="zh-CN" altLang="en-US" sz="2600" dirty="0"/>
              <a:t>主要选项说明：</a:t>
            </a:r>
            <a:endParaRPr lang="en-US" altLang="zh-CN" sz="2600" dirty="0"/>
          </a:p>
          <a:p>
            <a:pPr marL="0" indent="0">
              <a:lnSpc>
                <a:spcPct val="90000"/>
              </a:lnSpc>
              <a:buNone/>
            </a:pPr>
            <a:r>
              <a:rPr lang="en-US" altLang="zh-CN" sz="2600" dirty="0"/>
              <a:t>-u  </a:t>
            </a:r>
            <a:r>
              <a:rPr lang="zh-CN" altLang="en-US" sz="2600" dirty="0"/>
              <a:t>指定用户</a:t>
            </a:r>
            <a:r>
              <a:rPr lang="en-US" altLang="zh-CN" sz="2600" dirty="0"/>
              <a:t>UID</a:t>
            </a:r>
            <a:r>
              <a:rPr lang="zh-CN" altLang="en-US" sz="2600" dirty="0"/>
              <a:t>。</a:t>
            </a:r>
          </a:p>
          <a:p>
            <a:pPr marL="0" indent="0">
              <a:lnSpc>
                <a:spcPct val="90000"/>
              </a:lnSpc>
              <a:buNone/>
            </a:pPr>
            <a:r>
              <a:rPr lang="en-US" altLang="zh-CN" sz="2600" dirty="0"/>
              <a:t>-g  </a:t>
            </a:r>
            <a:r>
              <a:rPr lang="zh-CN" altLang="en-US" sz="2600" dirty="0"/>
              <a:t>指定用户组名称，用户所属的主要组群。</a:t>
            </a:r>
          </a:p>
          <a:p>
            <a:pPr marL="0" indent="0">
              <a:lnSpc>
                <a:spcPct val="90000"/>
              </a:lnSpc>
              <a:buNone/>
            </a:pPr>
            <a:r>
              <a:rPr lang="en-US" altLang="zh-CN" sz="2600" dirty="0"/>
              <a:t>-G  </a:t>
            </a:r>
            <a:r>
              <a:rPr lang="zh-CN" altLang="en-US" sz="2600" dirty="0"/>
              <a:t>指定用户所属的附加组群。</a:t>
            </a:r>
            <a:endParaRPr lang="en-US" altLang="zh-CN" sz="2600" dirty="0"/>
          </a:p>
          <a:p>
            <a:pPr marL="0" indent="0">
              <a:lnSpc>
                <a:spcPct val="90000"/>
              </a:lnSpc>
              <a:buNone/>
            </a:pPr>
            <a:r>
              <a:rPr lang="en-US" altLang="zh-CN" sz="2600" dirty="0"/>
              <a:t>-a  </a:t>
            </a:r>
            <a:r>
              <a:rPr lang="zh-CN" altLang="en-US" sz="2600" dirty="0"/>
              <a:t> 把用户添加到附加组，仅与</a:t>
            </a:r>
            <a:r>
              <a:rPr lang="en-US" altLang="zh-CN" sz="2600" dirty="0"/>
              <a:t>-G</a:t>
            </a:r>
            <a:r>
              <a:rPr lang="zh-CN" altLang="en-US" sz="2600" dirty="0"/>
              <a:t>选项一起使用。</a:t>
            </a:r>
          </a:p>
          <a:p>
            <a:pPr marL="0" indent="0">
              <a:lnSpc>
                <a:spcPct val="90000"/>
              </a:lnSpc>
              <a:buNone/>
            </a:pPr>
            <a:r>
              <a:rPr lang="en-US" altLang="zh-CN" sz="2600" dirty="0"/>
              <a:t>-c   </a:t>
            </a:r>
            <a:r>
              <a:rPr lang="zh-CN" altLang="en-US" sz="2600" dirty="0"/>
              <a:t>指定用户全称，即用户的注释信息。</a:t>
            </a:r>
            <a:endParaRPr lang="en-US" altLang="zh-CN" sz="2600" dirty="0"/>
          </a:p>
          <a:p>
            <a:pPr marL="0" indent="0">
              <a:lnSpc>
                <a:spcPct val="90000"/>
              </a:lnSpc>
              <a:buNone/>
            </a:pPr>
            <a:r>
              <a:rPr lang="en-US" altLang="zh-CN" sz="2600" dirty="0"/>
              <a:t>-d   </a:t>
            </a:r>
            <a:r>
              <a:rPr lang="zh-CN" altLang="en-US" sz="2600" dirty="0"/>
              <a:t>指定用户的主目录。</a:t>
            </a:r>
            <a:endParaRPr lang="en-US" altLang="zh-CN" sz="2600" dirty="0"/>
          </a:p>
          <a:p>
            <a:pPr marL="0" indent="0">
              <a:buNone/>
            </a:pPr>
            <a:endParaRPr lang="zh-CN" altLang="en-US" sz="2600" dirty="0"/>
          </a:p>
          <a:p>
            <a:pPr marL="0" indent="0">
              <a:buNone/>
            </a:pPr>
            <a:endParaRPr lang="zh-CN" altLang="en-US" sz="2000" dirty="0"/>
          </a:p>
          <a:p>
            <a:pPr>
              <a:buFontTx/>
              <a:buNone/>
            </a:pPr>
            <a:endParaRPr lang="zh-CN" altLang="en-US" sz="2400" dirty="0"/>
          </a:p>
        </p:txBody>
      </p:sp>
      <p:sp>
        <p:nvSpPr>
          <p:cNvPr id="7" name="Rectangle 2"/>
          <p:cNvSpPr>
            <a:spLocks noGrp="1" noChangeArrowheads="1"/>
          </p:cNvSpPr>
          <p:nvPr>
            <p:ph type="title"/>
          </p:nvPr>
        </p:nvSpPr>
        <p:spPr>
          <a:xfrm>
            <a:off x="2135560" y="386510"/>
            <a:ext cx="7543800" cy="858837"/>
          </a:xfrm>
        </p:spPr>
        <p:txBody>
          <a:bodyPr/>
          <a:lstStyle/>
          <a:p>
            <a:pPr algn="ctr" eaLnBrk="1" hangingPunct="1"/>
            <a:r>
              <a:rPr lang="zh-CN" altLang="en-US" dirty="0">
                <a:latin typeface="+mj-ea"/>
              </a:rPr>
              <a:t>管理用户的</a:t>
            </a:r>
            <a:r>
              <a:rPr lang="en-US" altLang="zh-CN" dirty="0">
                <a:latin typeface="+mj-ea"/>
              </a:rPr>
              <a:t>Shell</a:t>
            </a:r>
            <a:r>
              <a:rPr lang="zh-CN" altLang="en-US" dirty="0">
                <a:latin typeface="+mj-ea"/>
              </a:rPr>
              <a:t>命令</a:t>
            </a:r>
          </a:p>
        </p:txBody>
      </p:sp>
      <p:sp>
        <p:nvSpPr>
          <p:cNvPr id="5" name="灯片编号占位符 1">
            <a:extLst>
              <a:ext uri="{FF2B5EF4-FFF2-40B4-BE49-F238E27FC236}">
                <a16:creationId xmlns:a16="http://schemas.microsoft.com/office/drawing/2014/main" id="{BE510938-E544-4E9E-82AB-324974682DA1}"/>
              </a:ext>
            </a:extLst>
          </p:cNvPr>
          <p:cNvSpPr>
            <a:spLocks noGrp="1"/>
          </p:cNvSpPr>
          <p:nvPr>
            <p:ph type="sldNum" sz="quarter" idx="11"/>
          </p:nvPr>
        </p:nvSpPr>
        <p:spPr>
          <a:xfrm>
            <a:off x="10375229" y="6373796"/>
            <a:ext cx="514549" cy="457200"/>
          </a:xfrm>
        </p:spPr>
        <p:txBody>
          <a:bodyPr/>
          <a:lstStyle/>
          <a:p>
            <a:pPr>
              <a:defRPr/>
            </a:pPr>
            <a:fld id="{110871B5-850E-4E14-A636-3EC679EBF038}" type="slidenum">
              <a:rPr lang="en-US" altLang="zh-CN" smtClean="0"/>
              <a:pPr>
                <a:defRPr/>
              </a:pPr>
              <a:t>38</a:t>
            </a:fld>
            <a:endParaRPr lang="en-US" altLang="zh-CN" dirty="0"/>
          </a:p>
        </p:txBody>
      </p:sp>
    </p:spTree>
    <p:extLst>
      <p:ext uri="{BB962C8B-B14F-4D97-AF65-F5344CB8AC3E}">
        <p14:creationId xmlns:p14="http://schemas.microsoft.com/office/powerpoint/2010/main" val="393718077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438CCA0A-71BF-A555-710B-C61CA3041082}"/>
              </a:ext>
            </a:extLst>
          </p:cNvPr>
          <p:cNvSpPr/>
          <p:nvPr/>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627" name="内容占位符 2"/>
          <p:cNvSpPr>
            <a:spLocks noGrp="1"/>
          </p:cNvSpPr>
          <p:nvPr>
            <p:ph idx="1"/>
          </p:nvPr>
        </p:nvSpPr>
        <p:spPr>
          <a:xfrm>
            <a:off x="1091443" y="1473951"/>
            <a:ext cx="10009113" cy="4248471"/>
          </a:xfrm>
        </p:spPr>
        <p:txBody>
          <a:bodyPr/>
          <a:lstStyle/>
          <a:p>
            <a:pPr marL="0" indent="0">
              <a:buNone/>
            </a:pPr>
            <a:r>
              <a:rPr lang="en-US" altLang="zh-CN" sz="2600" dirty="0"/>
              <a:t>-m  </a:t>
            </a:r>
            <a:r>
              <a:rPr lang="zh-CN" altLang="en-US" sz="2600" dirty="0"/>
              <a:t>将主目录移至新位置 </a:t>
            </a:r>
            <a:r>
              <a:rPr lang="en-US" altLang="zh-CN" sz="2600" dirty="0"/>
              <a:t>(</a:t>
            </a:r>
            <a:r>
              <a:rPr lang="zh-CN" altLang="en-US" sz="2600" dirty="0"/>
              <a:t>仅于 </a:t>
            </a:r>
            <a:r>
              <a:rPr lang="en-US" altLang="zh-CN" sz="2600" dirty="0"/>
              <a:t>-d </a:t>
            </a:r>
            <a:r>
              <a:rPr lang="zh-CN" altLang="en-US" sz="2600" dirty="0"/>
              <a:t>一起使用</a:t>
            </a:r>
            <a:r>
              <a:rPr lang="en-US" altLang="zh-CN" sz="2600" dirty="0"/>
              <a:t>)</a:t>
            </a:r>
          </a:p>
          <a:p>
            <a:pPr marL="0" indent="0">
              <a:buNone/>
            </a:pPr>
            <a:r>
              <a:rPr lang="en-US" altLang="zh-CN" sz="2600" dirty="0"/>
              <a:t>-e   </a:t>
            </a:r>
            <a:r>
              <a:rPr lang="zh-CN" altLang="en-US" sz="2600" dirty="0"/>
              <a:t>指定用户账号有效期，对应</a:t>
            </a:r>
            <a:r>
              <a:rPr lang="en-US" altLang="zh-CN" sz="2600" dirty="0"/>
              <a:t>/</a:t>
            </a:r>
            <a:r>
              <a:rPr lang="en-US" altLang="zh-CN" sz="2600" dirty="0" err="1"/>
              <a:t>etc</a:t>
            </a:r>
            <a:r>
              <a:rPr lang="en-US" altLang="zh-CN" sz="2600" dirty="0"/>
              <a:t>/shadow</a:t>
            </a:r>
            <a:r>
              <a:rPr lang="zh-CN" altLang="en-US" sz="2600" dirty="0"/>
              <a:t>文件第</a:t>
            </a:r>
            <a:r>
              <a:rPr lang="en-US" altLang="zh-CN" sz="2600" dirty="0"/>
              <a:t>5</a:t>
            </a:r>
            <a:r>
              <a:rPr lang="zh-CN" altLang="en-US" sz="2600" dirty="0"/>
              <a:t>个字段。</a:t>
            </a:r>
          </a:p>
          <a:p>
            <a:pPr marL="0" indent="0">
              <a:buNone/>
            </a:pPr>
            <a:r>
              <a:rPr lang="en-US" altLang="zh-CN" sz="2600" dirty="0"/>
              <a:t>-s   </a:t>
            </a:r>
            <a:r>
              <a:rPr lang="zh-CN" altLang="en-US" sz="2600" dirty="0"/>
              <a:t>指定用户登录</a:t>
            </a:r>
            <a:r>
              <a:rPr lang="en-US" altLang="zh-CN" sz="2600" dirty="0"/>
              <a:t>shell</a:t>
            </a:r>
            <a:r>
              <a:rPr lang="zh-CN" altLang="en-US" sz="2600" dirty="0"/>
              <a:t>，默认是</a:t>
            </a:r>
            <a:r>
              <a:rPr lang="en-US" altLang="zh-CN" sz="2600" dirty="0"/>
              <a:t>/bin/bash</a:t>
            </a:r>
            <a:r>
              <a:rPr lang="zh-CN" altLang="en-US" sz="2600" dirty="0"/>
              <a:t>。</a:t>
            </a:r>
            <a:endParaRPr lang="en-US" altLang="zh-CN" sz="2600" dirty="0"/>
          </a:p>
          <a:p>
            <a:pPr marL="0" indent="0">
              <a:buNone/>
            </a:pPr>
            <a:r>
              <a:rPr lang="en-US" altLang="zh-CN" sz="2600" dirty="0">
                <a:solidFill>
                  <a:srgbClr val="CC0099"/>
                </a:solidFill>
              </a:rPr>
              <a:t>-l   </a:t>
            </a:r>
            <a:r>
              <a:rPr lang="zh-CN" altLang="en-US" sz="2600" dirty="0">
                <a:solidFill>
                  <a:srgbClr val="CC0099"/>
                </a:solidFill>
              </a:rPr>
              <a:t> 指定用户的新名称。</a:t>
            </a:r>
            <a:endParaRPr lang="en-US" altLang="zh-CN" sz="2600" dirty="0">
              <a:solidFill>
                <a:srgbClr val="CC0099"/>
              </a:solidFill>
            </a:endParaRPr>
          </a:p>
          <a:p>
            <a:r>
              <a:rPr lang="en-US" altLang="zh-CN" sz="2600" dirty="0"/>
              <a:t>usermod</a:t>
            </a:r>
            <a:r>
              <a:rPr lang="zh-CN" altLang="en-US" sz="2600" dirty="0"/>
              <a:t>命令可以使用的选项跟</a:t>
            </a:r>
            <a:r>
              <a:rPr lang="en-US" altLang="zh-CN" sz="2600" dirty="0" err="1"/>
              <a:t>useradd</a:t>
            </a:r>
            <a:r>
              <a:rPr lang="zh-CN" altLang="en-US" sz="2600" dirty="0"/>
              <a:t>命令基本相同，</a:t>
            </a:r>
            <a:r>
              <a:rPr lang="zh-CN" altLang="en-US" sz="2600" dirty="0">
                <a:solidFill>
                  <a:srgbClr val="0000CC"/>
                </a:solidFill>
              </a:rPr>
              <a:t>不同在于</a:t>
            </a:r>
            <a:r>
              <a:rPr lang="en-US" altLang="zh-CN" sz="2600" dirty="0">
                <a:solidFill>
                  <a:srgbClr val="0000CC"/>
                </a:solidFill>
              </a:rPr>
              <a:t>usermod</a:t>
            </a:r>
            <a:r>
              <a:rPr lang="zh-CN" altLang="en-US" sz="2600" dirty="0">
                <a:solidFill>
                  <a:srgbClr val="0000CC"/>
                </a:solidFill>
              </a:rPr>
              <a:t>命令可以修改用户名</a:t>
            </a:r>
            <a:r>
              <a:rPr lang="zh-CN" altLang="en-US" sz="2600" dirty="0"/>
              <a:t>。</a:t>
            </a:r>
            <a:endParaRPr lang="en-US" altLang="zh-CN" sz="2600" dirty="0"/>
          </a:p>
          <a:p>
            <a:pPr marL="0" indent="0">
              <a:lnSpc>
                <a:spcPct val="130000"/>
              </a:lnSpc>
              <a:buNone/>
            </a:pPr>
            <a:r>
              <a:rPr lang="zh-CN" altLang="en-US" sz="2600" dirty="0">
                <a:solidFill>
                  <a:srgbClr val="0000CC"/>
                </a:solidFill>
              </a:rPr>
              <a:t>例如：</a:t>
            </a:r>
            <a:r>
              <a:rPr lang="zh-CN" altLang="en-US" sz="2600" dirty="0"/>
              <a:t>为账号</a:t>
            </a:r>
            <a:r>
              <a:rPr lang="en-US" altLang="zh-CN" sz="2600" dirty="0"/>
              <a:t>test1</a:t>
            </a:r>
            <a:r>
              <a:rPr lang="zh-CN" altLang="en-US" sz="2600" dirty="0"/>
              <a:t>设定在</a:t>
            </a:r>
            <a:r>
              <a:rPr lang="en-US" altLang="zh-CN" sz="2600" dirty="0"/>
              <a:t>2024</a:t>
            </a:r>
            <a:r>
              <a:rPr lang="zh-CN" altLang="en-US" sz="2600" dirty="0"/>
              <a:t>年</a:t>
            </a:r>
            <a:r>
              <a:rPr lang="en-US" altLang="zh-CN" sz="2600" dirty="0"/>
              <a:t>12</a:t>
            </a:r>
            <a:r>
              <a:rPr lang="zh-CN" altLang="en-US" sz="2600" dirty="0"/>
              <a:t>月</a:t>
            </a:r>
            <a:r>
              <a:rPr lang="en-US" altLang="zh-CN" sz="2600" dirty="0"/>
              <a:t>31</a:t>
            </a:r>
            <a:r>
              <a:rPr lang="zh-CN" altLang="en-US" sz="2600" dirty="0"/>
              <a:t>号账户失效。</a:t>
            </a:r>
            <a:endParaRPr lang="en-US" altLang="zh-CN" sz="2600" dirty="0"/>
          </a:p>
          <a:p>
            <a:pPr marL="0" indent="0">
              <a:lnSpc>
                <a:spcPct val="120000"/>
              </a:lnSpc>
              <a:buNone/>
            </a:pPr>
            <a:r>
              <a:rPr lang="zh-CN" altLang="en-US" sz="2400" dirty="0"/>
              <a:t>［</a:t>
            </a:r>
            <a:r>
              <a:rPr lang="en-US" altLang="zh-CN" sz="2400" dirty="0"/>
              <a:t>root@ localhost  ~</a:t>
            </a:r>
            <a:r>
              <a:rPr lang="zh-CN" altLang="en-US" sz="2400" dirty="0"/>
              <a:t>］</a:t>
            </a:r>
            <a:r>
              <a:rPr lang="zh-CN" altLang="zh-CN" sz="2400" dirty="0"/>
              <a:t>#</a:t>
            </a:r>
            <a:r>
              <a:rPr lang="en-US" altLang="zh-CN" sz="2400" dirty="0"/>
              <a:t> usermod  -e “2024-12-31” test1</a:t>
            </a:r>
          </a:p>
          <a:p>
            <a:pPr marL="0" indent="0">
              <a:buNone/>
            </a:pPr>
            <a:endParaRPr lang="en-US" altLang="zh-CN" sz="2600" dirty="0"/>
          </a:p>
          <a:p>
            <a:pPr marL="0" indent="0">
              <a:buNone/>
            </a:pPr>
            <a:endParaRPr lang="en-US" altLang="zh-CN" sz="2600" dirty="0"/>
          </a:p>
          <a:p>
            <a:pPr marL="0" indent="0">
              <a:buNone/>
            </a:pPr>
            <a:endParaRPr lang="en-US" altLang="zh-CN" sz="2600" dirty="0"/>
          </a:p>
          <a:p>
            <a:pPr marL="0" indent="0">
              <a:buNone/>
            </a:pPr>
            <a:endParaRPr lang="zh-CN" altLang="en-US" sz="2600" dirty="0"/>
          </a:p>
          <a:p>
            <a:pPr marL="0" indent="0">
              <a:buNone/>
            </a:pPr>
            <a:endParaRPr lang="zh-CN" altLang="en-US" sz="2000" dirty="0"/>
          </a:p>
          <a:p>
            <a:pPr>
              <a:buFontTx/>
              <a:buNone/>
            </a:pPr>
            <a:endParaRPr lang="zh-CN" altLang="en-US" sz="2400" dirty="0"/>
          </a:p>
        </p:txBody>
      </p:sp>
      <p:sp>
        <p:nvSpPr>
          <p:cNvPr id="7" name="Rectangle 2"/>
          <p:cNvSpPr>
            <a:spLocks noGrp="1" noChangeArrowheads="1"/>
          </p:cNvSpPr>
          <p:nvPr>
            <p:ph type="title"/>
          </p:nvPr>
        </p:nvSpPr>
        <p:spPr>
          <a:xfrm>
            <a:off x="1992319" y="386510"/>
            <a:ext cx="7543800" cy="858837"/>
          </a:xfrm>
        </p:spPr>
        <p:txBody>
          <a:bodyPr/>
          <a:lstStyle/>
          <a:p>
            <a:pPr algn="ctr" eaLnBrk="1" hangingPunct="1"/>
            <a:r>
              <a:rPr lang="zh-CN" altLang="en-US" dirty="0">
                <a:latin typeface="+mj-ea"/>
              </a:rPr>
              <a:t>管理用户的</a:t>
            </a:r>
            <a:r>
              <a:rPr lang="en-US" altLang="zh-CN" dirty="0">
                <a:latin typeface="+mj-ea"/>
              </a:rPr>
              <a:t>Shell</a:t>
            </a:r>
            <a:r>
              <a:rPr lang="zh-CN" altLang="en-US" dirty="0">
                <a:latin typeface="+mj-ea"/>
              </a:rPr>
              <a:t>命令</a:t>
            </a:r>
          </a:p>
        </p:txBody>
      </p:sp>
      <p:sp>
        <p:nvSpPr>
          <p:cNvPr id="5" name="灯片编号占位符 1">
            <a:extLst>
              <a:ext uri="{FF2B5EF4-FFF2-40B4-BE49-F238E27FC236}">
                <a16:creationId xmlns:a16="http://schemas.microsoft.com/office/drawing/2014/main" id="{7244F18B-8DA3-498B-AE88-18A665DE4374}"/>
              </a:ext>
            </a:extLst>
          </p:cNvPr>
          <p:cNvSpPr>
            <a:spLocks noGrp="1"/>
          </p:cNvSpPr>
          <p:nvPr>
            <p:ph type="sldNum" sz="quarter" idx="11"/>
          </p:nvPr>
        </p:nvSpPr>
        <p:spPr>
          <a:xfrm>
            <a:off x="10375229" y="6373796"/>
            <a:ext cx="514549" cy="457200"/>
          </a:xfrm>
        </p:spPr>
        <p:txBody>
          <a:bodyPr/>
          <a:lstStyle/>
          <a:p>
            <a:pPr>
              <a:defRPr/>
            </a:pPr>
            <a:fld id="{110871B5-850E-4E14-A636-3EC679EBF038}" type="slidenum">
              <a:rPr lang="en-US" altLang="zh-CN" smtClean="0"/>
              <a:pPr>
                <a:defRPr/>
              </a:pPr>
              <a:t>39</a:t>
            </a:fld>
            <a:endParaRPr lang="en-US" altLang="zh-CN" dirty="0"/>
          </a:p>
        </p:txBody>
      </p:sp>
    </p:spTree>
    <p:extLst>
      <p:ext uri="{BB962C8B-B14F-4D97-AF65-F5344CB8AC3E}">
        <p14:creationId xmlns:p14="http://schemas.microsoft.com/office/powerpoint/2010/main" val="278828330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DB5ABFAF-B979-8899-9C98-EC032441CEE4}"/>
              </a:ext>
            </a:extLst>
          </p:cNvPr>
          <p:cNvSpPr/>
          <p:nvPr/>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7107" name="Rectangle 3"/>
          <p:cNvSpPr>
            <a:spLocks noGrp="1" noRot="1" noChangeArrowheads="1"/>
          </p:cNvSpPr>
          <p:nvPr>
            <p:ph type="body" idx="1"/>
          </p:nvPr>
        </p:nvSpPr>
        <p:spPr>
          <a:xfrm>
            <a:off x="1199456" y="1323649"/>
            <a:ext cx="10009112" cy="4896544"/>
          </a:xfrm>
        </p:spPr>
        <p:txBody>
          <a:bodyPr/>
          <a:lstStyle/>
          <a:p>
            <a:pPr marL="0" indent="0">
              <a:lnSpc>
                <a:spcPct val="130000"/>
              </a:lnSpc>
              <a:buNone/>
            </a:pPr>
            <a:r>
              <a:rPr lang="zh-CN" altLang="en-US" sz="2600" dirty="0">
                <a:solidFill>
                  <a:srgbClr val="0000CC"/>
                </a:solidFill>
              </a:rPr>
              <a:t>例如</a:t>
            </a:r>
            <a:r>
              <a:rPr lang="zh-CN" altLang="en-US" sz="2600" dirty="0"/>
              <a:t>：将用户</a:t>
            </a:r>
            <a:r>
              <a:rPr lang="en-US" altLang="zh-CN" sz="2600" dirty="0"/>
              <a:t>Tom</a:t>
            </a:r>
            <a:r>
              <a:rPr lang="zh-CN" altLang="en-US" sz="2600" dirty="0"/>
              <a:t>改名为</a:t>
            </a:r>
            <a:r>
              <a:rPr lang="en-US" altLang="zh-CN" sz="2600" dirty="0"/>
              <a:t>Tommy</a:t>
            </a:r>
            <a:endParaRPr lang="zh-CN" altLang="en-US" sz="2600" dirty="0"/>
          </a:p>
          <a:p>
            <a:pPr marL="0" indent="0">
              <a:lnSpc>
                <a:spcPct val="130000"/>
              </a:lnSpc>
              <a:buNone/>
            </a:pPr>
            <a:r>
              <a:rPr lang="zh-CN" altLang="en-US" sz="2600" dirty="0"/>
              <a:t>［</a:t>
            </a:r>
            <a:r>
              <a:rPr lang="en-US" altLang="zh-CN" sz="2600" dirty="0"/>
              <a:t>root@ localhost  ~</a:t>
            </a:r>
            <a:r>
              <a:rPr lang="zh-CN" altLang="en-US" sz="2600" dirty="0"/>
              <a:t>］</a:t>
            </a:r>
            <a:r>
              <a:rPr lang="zh-CN" altLang="zh-CN" sz="2600" dirty="0"/>
              <a:t># </a:t>
            </a:r>
            <a:r>
              <a:rPr lang="en-US" altLang="zh-CN" sz="2600" dirty="0"/>
              <a:t>usermod  -l  </a:t>
            </a:r>
            <a:r>
              <a:rPr lang="en-US" altLang="zh-CN" sz="2600" dirty="0">
                <a:solidFill>
                  <a:srgbClr val="CC0099"/>
                </a:solidFill>
              </a:rPr>
              <a:t>Tommy</a:t>
            </a:r>
            <a:r>
              <a:rPr lang="en-US" altLang="zh-CN" sz="2600" dirty="0"/>
              <a:t> </a:t>
            </a:r>
            <a:r>
              <a:rPr lang="en-US" altLang="zh-CN" sz="2600" dirty="0">
                <a:solidFill>
                  <a:srgbClr val="0000CC"/>
                </a:solidFill>
              </a:rPr>
              <a:t>Tom</a:t>
            </a:r>
          </a:p>
          <a:p>
            <a:pPr marL="0" indent="0">
              <a:lnSpc>
                <a:spcPct val="130000"/>
              </a:lnSpc>
              <a:buNone/>
            </a:pPr>
            <a:r>
              <a:rPr lang="zh-CN" altLang="en-US" sz="2600" dirty="0"/>
              <a:t>原名为</a:t>
            </a:r>
            <a:r>
              <a:rPr lang="en-US" altLang="zh-CN" sz="2600" dirty="0"/>
              <a:t>Tom</a:t>
            </a:r>
            <a:r>
              <a:rPr lang="zh-CN" altLang="en-US" sz="2600" dirty="0"/>
              <a:t>的用户被改名为</a:t>
            </a:r>
            <a:r>
              <a:rPr lang="en-US" altLang="zh-CN" sz="2600" dirty="0"/>
              <a:t>Tommy</a:t>
            </a:r>
            <a:r>
              <a:rPr lang="zh-CN" altLang="en-US" sz="2600" dirty="0"/>
              <a:t>，用户的其他信息没有变化，即</a:t>
            </a:r>
            <a:r>
              <a:rPr lang="en-US" altLang="zh-CN" sz="2600" dirty="0"/>
              <a:t>Tommy</a:t>
            </a:r>
            <a:r>
              <a:rPr lang="zh-CN" altLang="en-US" sz="2600" dirty="0"/>
              <a:t>用户的</a:t>
            </a:r>
            <a:r>
              <a:rPr lang="zh-CN" altLang="en-US" sz="2600" dirty="0">
                <a:solidFill>
                  <a:srgbClr val="0000CC"/>
                </a:solidFill>
              </a:rPr>
              <a:t>主目录仍然是</a:t>
            </a:r>
            <a:r>
              <a:rPr lang="en-US" altLang="zh-CN" sz="2600" dirty="0">
                <a:solidFill>
                  <a:srgbClr val="0000CC"/>
                </a:solidFill>
              </a:rPr>
              <a:t>/home/Tom</a:t>
            </a:r>
            <a:r>
              <a:rPr lang="zh-CN" altLang="en-US" sz="2600" dirty="0">
                <a:solidFill>
                  <a:srgbClr val="0000CC"/>
                </a:solidFill>
              </a:rPr>
              <a:t>，</a:t>
            </a:r>
            <a:r>
              <a:rPr lang="zh-CN" altLang="en-US" sz="2600" dirty="0"/>
              <a:t>所属的组群，登录</a:t>
            </a:r>
            <a:r>
              <a:rPr lang="en-US" altLang="zh-CN" sz="2600" dirty="0"/>
              <a:t>Shell</a:t>
            </a:r>
            <a:r>
              <a:rPr lang="zh-CN" altLang="en-US" sz="2600" dirty="0"/>
              <a:t>和</a:t>
            </a:r>
            <a:r>
              <a:rPr lang="en-US" altLang="zh-CN" sz="2600" dirty="0"/>
              <a:t>UID</a:t>
            </a:r>
            <a:r>
              <a:rPr lang="zh-CN" altLang="en-US" sz="2600" dirty="0"/>
              <a:t>等都未改变。</a:t>
            </a:r>
            <a:endParaRPr lang="en-US" altLang="zh-CN" sz="2600" dirty="0"/>
          </a:p>
          <a:p>
            <a:pPr marL="0" indent="0">
              <a:lnSpc>
                <a:spcPct val="150000"/>
              </a:lnSpc>
              <a:buNone/>
            </a:pPr>
            <a:r>
              <a:rPr lang="zh-CN" altLang="en-US" sz="2600" dirty="0">
                <a:solidFill>
                  <a:srgbClr val="0000CC"/>
                </a:solidFill>
              </a:rPr>
              <a:t>练习</a:t>
            </a:r>
            <a:r>
              <a:rPr lang="en-US" altLang="zh-CN" sz="2600" dirty="0">
                <a:solidFill>
                  <a:srgbClr val="0000CC"/>
                </a:solidFill>
              </a:rPr>
              <a:t>10</a:t>
            </a:r>
            <a:r>
              <a:rPr lang="zh-CN" altLang="en-US" sz="2600" dirty="0"/>
              <a:t>：将用户</a:t>
            </a:r>
            <a:r>
              <a:rPr lang="en-US" altLang="zh-CN" sz="2600" dirty="0"/>
              <a:t>Lily</a:t>
            </a:r>
            <a:r>
              <a:rPr lang="zh-CN" altLang="en-US" sz="2600" dirty="0"/>
              <a:t>的组群改为</a:t>
            </a:r>
            <a:r>
              <a:rPr lang="en-US" altLang="zh-CN" sz="2600" dirty="0"/>
              <a:t>super</a:t>
            </a:r>
            <a:r>
              <a:rPr lang="zh-CN" altLang="en-US" sz="2600" dirty="0"/>
              <a:t>，其用户号改为</a:t>
            </a:r>
            <a:r>
              <a:rPr lang="en-US" altLang="zh-CN" sz="2600" dirty="0"/>
              <a:t>5600</a:t>
            </a:r>
            <a:r>
              <a:rPr lang="zh-CN" altLang="en-US" sz="2600" dirty="0"/>
              <a:t>，用户描述改为“</a:t>
            </a:r>
            <a:r>
              <a:rPr lang="en-US" altLang="zh-CN" sz="2600" dirty="0"/>
              <a:t>honey-lily”</a:t>
            </a:r>
            <a:r>
              <a:rPr lang="zh-CN" altLang="en-US" sz="2600" dirty="0"/>
              <a:t>。</a:t>
            </a:r>
            <a:endParaRPr lang="en-US" altLang="zh-CN" sz="2600" dirty="0"/>
          </a:p>
          <a:p>
            <a:pPr marL="0" indent="0">
              <a:lnSpc>
                <a:spcPct val="150000"/>
              </a:lnSpc>
              <a:buNone/>
            </a:pPr>
            <a:r>
              <a:rPr lang="zh-CN" altLang="en-US" sz="2600" dirty="0">
                <a:solidFill>
                  <a:srgbClr val="0000CC"/>
                </a:solidFill>
              </a:rPr>
              <a:t>练习</a:t>
            </a:r>
            <a:r>
              <a:rPr lang="en-US" altLang="zh-CN" sz="2600" dirty="0">
                <a:solidFill>
                  <a:srgbClr val="0000CC"/>
                </a:solidFill>
              </a:rPr>
              <a:t>11</a:t>
            </a:r>
            <a:r>
              <a:rPr lang="zh-CN" altLang="en-US" sz="2600" dirty="0"/>
              <a:t>：把</a:t>
            </a:r>
            <a:r>
              <a:rPr lang="en-US" altLang="zh-CN" sz="2600" dirty="0"/>
              <a:t>test</a:t>
            </a:r>
            <a:r>
              <a:rPr lang="zh-CN" altLang="en-US" sz="2600" dirty="0"/>
              <a:t>用户添加到</a:t>
            </a:r>
            <a:r>
              <a:rPr lang="en-US" altLang="zh-CN" sz="2600" dirty="0" err="1"/>
              <a:t>usertest</a:t>
            </a:r>
            <a:r>
              <a:rPr lang="zh-CN" altLang="en-US" sz="2600" dirty="0"/>
              <a:t>组。</a:t>
            </a:r>
            <a:endParaRPr lang="en-US" altLang="zh-CN" sz="2600" dirty="0"/>
          </a:p>
          <a:p>
            <a:pPr marL="0" indent="0">
              <a:lnSpc>
                <a:spcPct val="120000"/>
              </a:lnSpc>
              <a:buNone/>
            </a:pPr>
            <a:endParaRPr lang="en-US" altLang="zh-CN" sz="2400" dirty="0"/>
          </a:p>
        </p:txBody>
      </p:sp>
      <p:sp>
        <p:nvSpPr>
          <p:cNvPr id="3" name="Rectangle 2"/>
          <p:cNvSpPr>
            <a:spLocks noGrp="1" noChangeArrowheads="1"/>
          </p:cNvSpPr>
          <p:nvPr>
            <p:ph type="title"/>
          </p:nvPr>
        </p:nvSpPr>
        <p:spPr>
          <a:xfrm>
            <a:off x="2207568" y="521966"/>
            <a:ext cx="7920880" cy="858837"/>
          </a:xfrm>
        </p:spPr>
        <p:txBody>
          <a:bodyPr/>
          <a:lstStyle/>
          <a:p>
            <a:pPr algn="ctr" eaLnBrk="1" hangingPunct="1"/>
            <a:r>
              <a:rPr lang="zh-CN" altLang="en-US" dirty="0">
                <a:latin typeface="+mj-ea"/>
              </a:rPr>
              <a:t>修改用户属性</a:t>
            </a:r>
          </a:p>
        </p:txBody>
      </p:sp>
      <p:sp>
        <p:nvSpPr>
          <p:cNvPr id="6" name="灯片编号占位符 1">
            <a:extLst>
              <a:ext uri="{FF2B5EF4-FFF2-40B4-BE49-F238E27FC236}">
                <a16:creationId xmlns:a16="http://schemas.microsoft.com/office/drawing/2014/main" id="{4CE70324-8243-4E9D-9AC3-5B761ED89D3E}"/>
              </a:ext>
            </a:extLst>
          </p:cNvPr>
          <p:cNvSpPr txBox="1">
            <a:spLocks/>
          </p:cNvSpPr>
          <p:nvPr/>
        </p:nvSpPr>
        <p:spPr bwMode="auto">
          <a:xfrm>
            <a:off x="10375229" y="6373796"/>
            <a:ext cx="514549"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zh-CN"/>
            </a:defPPr>
            <a:lvl1pPr algn="r" rtl="0" fontAlgn="base">
              <a:spcBef>
                <a:spcPct val="0"/>
              </a:spcBef>
              <a:spcAft>
                <a:spcPct val="0"/>
              </a:spcAft>
              <a:defRPr sz="1600" b="1" kern="1200">
                <a:solidFill>
                  <a:schemeClr val="tx1"/>
                </a:solidFill>
                <a:latin typeface="Arial" charset="0"/>
                <a:ea typeface="宋体" pitchFamily="2" charset="-122"/>
                <a:cs typeface="+mn-cs"/>
              </a:defRPr>
            </a:lvl1pPr>
            <a:lvl2pPr marL="457200" algn="ctr" rtl="0" fontAlgn="base">
              <a:spcBef>
                <a:spcPct val="0"/>
              </a:spcBef>
              <a:spcAft>
                <a:spcPct val="0"/>
              </a:spcAft>
              <a:defRPr b="1" kern="1200">
                <a:solidFill>
                  <a:schemeClr val="tx1"/>
                </a:solidFill>
                <a:latin typeface="Arial" charset="0"/>
                <a:ea typeface="宋体" pitchFamily="2" charset="-122"/>
                <a:cs typeface="+mn-cs"/>
              </a:defRPr>
            </a:lvl2pPr>
            <a:lvl3pPr marL="914400" algn="ctr" rtl="0" fontAlgn="base">
              <a:spcBef>
                <a:spcPct val="0"/>
              </a:spcBef>
              <a:spcAft>
                <a:spcPct val="0"/>
              </a:spcAft>
              <a:defRPr b="1" kern="1200">
                <a:solidFill>
                  <a:schemeClr val="tx1"/>
                </a:solidFill>
                <a:latin typeface="Arial" charset="0"/>
                <a:ea typeface="宋体" pitchFamily="2" charset="-122"/>
                <a:cs typeface="+mn-cs"/>
              </a:defRPr>
            </a:lvl3pPr>
            <a:lvl4pPr marL="1371600" algn="ctr" rtl="0" fontAlgn="base">
              <a:spcBef>
                <a:spcPct val="0"/>
              </a:spcBef>
              <a:spcAft>
                <a:spcPct val="0"/>
              </a:spcAft>
              <a:defRPr b="1" kern="1200">
                <a:solidFill>
                  <a:schemeClr val="tx1"/>
                </a:solidFill>
                <a:latin typeface="Arial" charset="0"/>
                <a:ea typeface="宋体" pitchFamily="2" charset="-122"/>
                <a:cs typeface="+mn-cs"/>
              </a:defRPr>
            </a:lvl4pPr>
            <a:lvl5pPr marL="1828800" algn="ctr" rtl="0" fontAlgn="base">
              <a:spcBef>
                <a:spcPct val="0"/>
              </a:spcBef>
              <a:spcAft>
                <a:spcPct val="0"/>
              </a:spcAft>
              <a:defRPr b="1" kern="1200">
                <a:solidFill>
                  <a:schemeClr val="tx1"/>
                </a:solidFill>
                <a:latin typeface="Arial" charset="0"/>
                <a:ea typeface="宋体" pitchFamily="2" charset="-122"/>
                <a:cs typeface="+mn-cs"/>
              </a:defRPr>
            </a:lvl5pPr>
            <a:lvl6pPr marL="2286000" algn="l" defTabSz="914400" rtl="0" eaLnBrk="1" latinLnBrk="0" hangingPunct="1">
              <a:defRPr b="1" kern="1200">
                <a:solidFill>
                  <a:schemeClr val="tx1"/>
                </a:solidFill>
                <a:latin typeface="Arial" charset="0"/>
                <a:ea typeface="宋体" pitchFamily="2" charset="-122"/>
                <a:cs typeface="+mn-cs"/>
              </a:defRPr>
            </a:lvl6pPr>
            <a:lvl7pPr marL="2743200" algn="l" defTabSz="914400" rtl="0" eaLnBrk="1" latinLnBrk="0" hangingPunct="1">
              <a:defRPr b="1" kern="1200">
                <a:solidFill>
                  <a:schemeClr val="tx1"/>
                </a:solidFill>
                <a:latin typeface="Arial" charset="0"/>
                <a:ea typeface="宋体" pitchFamily="2" charset="-122"/>
                <a:cs typeface="+mn-cs"/>
              </a:defRPr>
            </a:lvl7pPr>
            <a:lvl8pPr marL="3200400" algn="l" defTabSz="914400" rtl="0" eaLnBrk="1" latinLnBrk="0" hangingPunct="1">
              <a:defRPr b="1" kern="1200">
                <a:solidFill>
                  <a:schemeClr val="tx1"/>
                </a:solidFill>
                <a:latin typeface="Arial" charset="0"/>
                <a:ea typeface="宋体" pitchFamily="2" charset="-122"/>
                <a:cs typeface="+mn-cs"/>
              </a:defRPr>
            </a:lvl8pPr>
            <a:lvl9pPr marL="3657600" algn="l" defTabSz="914400" rtl="0" eaLnBrk="1" latinLnBrk="0" hangingPunct="1">
              <a:defRPr b="1" kern="1200">
                <a:solidFill>
                  <a:schemeClr val="tx1"/>
                </a:solidFill>
                <a:latin typeface="Arial" charset="0"/>
                <a:ea typeface="宋体" pitchFamily="2" charset="-122"/>
                <a:cs typeface="+mn-cs"/>
              </a:defRPr>
            </a:lvl9pPr>
          </a:lstStyle>
          <a:p>
            <a:pPr>
              <a:defRPr/>
            </a:pPr>
            <a:fld id="{110871B5-850E-4E14-A636-3EC679EBF038}" type="slidenum">
              <a:rPr lang="en-US" altLang="zh-CN" smtClean="0"/>
              <a:pPr>
                <a:defRPr/>
              </a:pPr>
              <a:t>40</a:t>
            </a:fld>
            <a:endParaRPr lang="en-US" altLang="zh-CN" dirty="0"/>
          </a:p>
        </p:txBody>
      </p:sp>
    </p:spTree>
    <p:extLst>
      <p:ext uri="{BB962C8B-B14F-4D97-AF65-F5344CB8AC3E}">
        <p14:creationId xmlns:p14="http://schemas.microsoft.com/office/powerpoint/2010/main" val="336698560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24690086-3F14-76B0-4638-B7AE1CAD1A9B}"/>
              </a:ext>
            </a:extLst>
          </p:cNvPr>
          <p:cNvSpPr/>
          <p:nvPr/>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627" name="内容占位符 2"/>
          <p:cNvSpPr>
            <a:spLocks noGrp="1"/>
          </p:cNvSpPr>
          <p:nvPr>
            <p:ph idx="1"/>
          </p:nvPr>
        </p:nvSpPr>
        <p:spPr>
          <a:xfrm>
            <a:off x="1127448" y="1491359"/>
            <a:ext cx="10009112" cy="4620987"/>
          </a:xfrm>
        </p:spPr>
        <p:txBody>
          <a:bodyPr/>
          <a:lstStyle/>
          <a:p>
            <a:pPr marL="0" indent="0">
              <a:buNone/>
            </a:pPr>
            <a:r>
              <a:rPr lang="en-US" altLang="zh-CN" sz="2600" dirty="0">
                <a:solidFill>
                  <a:srgbClr val="0000CC"/>
                </a:solidFill>
              </a:rPr>
              <a:t>userdel</a:t>
            </a:r>
            <a:r>
              <a:rPr lang="zh-CN" altLang="en-US" sz="2600" dirty="0">
                <a:solidFill>
                  <a:srgbClr val="0000CC"/>
                </a:solidFill>
              </a:rPr>
              <a:t>命令</a:t>
            </a:r>
            <a:endParaRPr lang="en-US" altLang="zh-CN" sz="2600" dirty="0">
              <a:solidFill>
                <a:srgbClr val="0000CC"/>
              </a:solidFill>
            </a:endParaRPr>
          </a:p>
          <a:p>
            <a:pPr marL="0" indent="0">
              <a:buNone/>
            </a:pPr>
            <a:r>
              <a:rPr lang="zh-CN" altLang="en-US" sz="2600" dirty="0"/>
              <a:t>格式：</a:t>
            </a:r>
            <a:r>
              <a:rPr lang="en-US" altLang="zh-CN" sz="2600" dirty="0">
                <a:solidFill>
                  <a:srgbClr val="CC0099"/>
                </a:solidFill>
              </a:rPr>
              <a:t>userdel   [-r]   </a:t>
            </a:r>
            <a:r>
              <a:rPr lang="zh-CN" altLang="en-US" sz="2600" dirty="0">
                <a:solidFill>
                  <a:srgbClr val="CC0099"/>
                </a:solidFill>
              </a:rPr>
              <a:t>用户名</a:t>
            </a:r>
          </a:p>
          <a:p>
            <a:pPr marL="0" indent="0">
              <a:buNone/>
            </a:pPr>
            <a:r>
              <a:rPr lang="zh-CN" altLang="en-US" sz="2600" dirty="0"/>
              <a:t>功能：</a:t>
            </a:r>
            <a:r>
              <a:rPr lang="zh-CN" altLang="en-US" sz="2600" dirty="0">
                <a:solidFill>
                  <a:srgbClr val="0000CC"/>
                </a:solidFill>
              </a:rPr>
              <a:t>删除指定的用户账号</a:t>
            </a:r>
            <a:r>
              <a:rPr lang="zh-CN" altLang="en-US" sz="2600" dirty="0"/>
              <a:t>，只有超级用户才能使用此命令</a:t>
            </a:r>
            <a:endParaRPr lang="en-US" altLang="zh-CN" sz="2600" dirty="0"/>
          </a:p>
          <a:p>
            <a:pPr marL="0" indent="0">
              <a:buNone/>
            </a:pPr>
            <a:r>
              <a:rPr lang="en-US" altLang="zh-CN" sz="2600" dirty="0">
                <a:solidFill>
                  <a:srgbClr val="CC0099"/>
                </a:solidFill>
              </a:rPr>
              <a:t>-r </a:t>
            </a:r>
            <a:r>
              <a:rPr lang="en-US" altLang="zh-CN" sz="2600" dirty="0"/>
              <a:t>: </a:t>
            </a:r>
            <a:r>
              <a:rPr lang="zh-CN" altLang="en-US" sz="2600" dirty="0"/>
              <a:t>删除账号时，连同账号主目录一起删除。</a:t>
            </a:r>
            <a:endParaRPr lang="en-US" altLang="zh-CN" sz="2600" dirty="0"/>
          </a:p>
          <a:p>
            <a:pPr marL="0" indent="0">
              <a:buNone/>
            </a:pPr>
            <a:r>
              <a:rPr lang="en-US" altLang="zh-CN" sz="2600" dirty="0"/>
              <a:t>-f : </a:t>
            </a:r>
            <a:r>
              <a:rPr lang="zh-CN" altLang="en-US" sz="2600" dirty="0"/>
              <a:t>强制删除账号时（甚至用户已经登入</a:t>
            </a:r>
            <a:r>
              <a:rPr lang="en-US" altLang="zh-CN" sz="2600" dirty="0"/>
              <a:t>Linux</a:t>
            </a:r>
            <a:r>
              <a:rPr lang="zh-CN" altLang="en-US" sz="2600" dirty="0"/>
              <a:t>系统）</a:t>
            </a:r>
          </a:p>
          <a:p>
            <a:pPr marL="0" indent="0">
              <a:buNone/>
            </a:pPr>
            <a:r>
              <a:rPr lang="zh-CN" altLang="en-US" sz="2600" dirty="0"/>
              <a:t>例如：删除</a:t>
            </a:r>
            <a:r>
              <a:rPr lang="en-US" altLang="zh-CN" sz="2600" dirty="0"/>
              <a:t>Tommy</a:t>
            </a:r>
            <a:r>
              <a:rPr lang="zh-CN" altLang="en-US" sz="2600" dirty="0"/>
              <a:t>用户账号及其主目录</a:t>
            </a:r>
          </a:p>
          <a:p>
            <a:pPr marL="0" indent="0">
              <a:buNone/>
            </a:pPr>
            <a:r>
              <a:rPr lang="zh-CN" altLang="en-US" sz="2600" dirty="0"/>
              <a:t>［</a:t>
            </a:r>
            <a:r>
              <a:rPr lang="en-US" altLang="zh-CN" sz="2600" dirty="0"/>
              <a:t>root@ localhost  ~</a:t>
            </a:r>
            <a:r>
              <a:rPr lang="zh-CN" altLang="en-US" sz="2600" dirty="0"/>
              <a:t>］</a:t>
            </a:r>
            <a:r>
              <a:rPr lang="zh-CN" altLang="zh-CN" sz="2600" dirty="0"/>
              <a:t># </a:t>
            </a:r>
            <a:r>
              <a:rPr lang="en-US" altLang="zh-CN" sz="2600" dirty="0"/>
              <a:t>userdel  -r  Tommy </a:t>
            </a:r>
          </a:p>
          <a:p>
            <a:r>
              <a:rPr lang="zh-CN" altLang="en-US" sz="2600" dirty="0"/>
              <a:t>如果新建该用户账号时已创建私人组群，而该私人组群</a:t>
            </a:r>
            <a:r>
              <a:rPr lang="zh-CN" altLang="en-US" sz="2600" dirty="0">
                <a:solidFill>
                  <a:srgbClr val="0000CC"/>
                </a:solidFill>
              </a:rPr>
              <a:t>当前又无其他用户，那么在删除用户时也一并删除</a:t>
            </a:r>
            <a:r>
              <a:rPr lang="zh-CN" altLang="en-US" sz="2600" dirty="0"/>
              <a:t>这一私人组群。</a:t>
            </a:r>
            <a:endParaRPr lang="en-US" altLang="zh-CN" sz="2600" dirty="0"/>
          </a:p>
          <a:p>
            <a:pPr marL="0" indent="0">
              <a:lnSpc>
                <a:spcPct val="110000"/>
              </a:lnSpc>
              <a:buNone/>
            </a:pPr>
            <a:endParaRPr lang="zh-CN" altLang="en-US" sz="2000" dirty="0"/>
          </a:p>
          <a:p>
            <a:pPr>
              <a:lnSpc>
                <a:spcPct val="110000"/>
              </a:lnSpc>
              <a:buFontTx/>
              <a:buNone/>
            </a:pPr>
            <a:endParaRPr lang="zh-CN" altLang="en-US" sz="2400" dirty="0"/>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41</a:t>
            </a:fld>
            <a:endParaRPr lang="en-US" altLang="zh-CN"/>
          </a:p>
        </p:txBody>
      </p:sp>
      <p:sp>
        <p:nvSpPr>
          <p:cNvPr id="7" name="Rectangle 2"/>
          <p:cNvSpPr>
            <a:spLocks noGrp="1" noChangeArrowheads="1"/>
          </p:cNvSpPr>
          <p:nvPr>
            <p:ph type="title"/>
          </p:nvPr>
        </p:nvSpPr>
        <p:spPr>
          <a:xfrm>
            <a:off x="2063552" y="589852"/>
            <a:ext cx="8136904" cy="858837"/>
          </a:xfrm>
        </p:spPr>
        <p:txBody>
          <a:bodyPr/>
          <a:lstStyle/>
          <a:p>
            <a:pPr algn="ctr" eaLnBrk="1" hangingPunct="1"/>
            <a:r>
              <a:rPr lang="zh-CN" altLang="en-US" dirty="0">
                <a:latin typeface="+mj-ea"/>
              </a:rPr>
              <a:t>管理用户的</a:t>
            </a:r>
            <a:r>
              <a:rPr lang="en-US" altLang="zh-CN" dirty="0">
                <a:latin typeface="+mj-ea"/>
              </a:rPr>
              <a:t>Shell</a:t>
            </a:r>
            <a:r>
              <a:rPr lang="zh-CN" altLang="en-US" dirty="0">
                <a:latin typeface="+mj-ea"/>
              </a:rPr>
              <a:t>命令</a:t>
            </a:r>
          </a:p>
        </p:txBody>
      </p:sp>
    </p:spTree>
    <p:extLst>
      <p:ext uri="{BB962C8B-B14F-4D97-AF65-F5344CB8AC3E}">
        <p14:creationId xmlns:p14="http://schemas.microsoft.com/office/powerpoint/2010/main" val="416265147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AE078F0A-167D-30D6-9E8C-C6F3DB65BE4C}"/>
              </a:ext>
            </a:extLst>
          </p:cNvPr>
          <p:cNvSpPr/>
          <p:nvPr/>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627" name="内容占位符 2"/>
          <p:cNvSpPr>
            <a:spLocks noGrp="1"/>
          </p:cNvSpPr>
          <p:nvPr>
            <p:ph idx="1"/>
          </p:nvPr>
        </p:nvSpPr>
        <p:spPr>
          <a:xfrm>
            <a:off x="1091444" y="1412776"/>
            <a:ext cx="10261140" cy="4780730"/>
          </a:xfrm>
        </p:spPr>
        <p:txBody>
          <a:bodyPr/>
          <a:lstStyle/>
          <a:p>
            <a:pPr marL="0" indent="0">
              <a:lnSpc>
                <a:spcPct val="120000"/>
              </a:lnSpc>
              <a:buNone/>
            </a:pPr>
            <a:r>
              <a:rPr lang="en-US" altLang="zh-CN" sz="2600" dirty="0">
                <a:solidFill>
                  <a:srgbClr val="0000CC"/>
                </a:solidFill>
              </a:rPr>
              <a:t>su</a:t>
            </a:r>
            <a:r>
              <a:rPr lang="zh-CN" altLang="en-US" sz="2600" dirty="0">
                <a:solidFill>
                  <a:srgbClr val="0000CC"/>
                </a:solidFill>
              </a:rPr>
              <a:t>命令</a:t>
            </a:r>
            <a:endParaRPr lang="en-US" altLang="zh-CN" sz="2600" dirty="0">
              <a:solidFill>
                <a:srgbClr val="0000CC"/>
              </a:solidFill>
            </a:endParaRPr>
          </a:p>
          <a:p>
            <a:pPr marL="0" indent="0">
              <a:lnSpc>
                <a:spcPct val="120000"/>
              </a:lnSpc>
              <a:buNone/>
            </a:pPr>
            <a:r>
              <a:rPr lang="zh-CN" altLang="en-US" sz="2600" dirty="0"/>
              <a:t>格式：</a:t>
            </a:r>
            <a:r>
              <a:rPr lang="en-US" altLang="zh-CN" sz="2600" dirty="0">
                <a:solidFill>
                  <a:srgbClr val="CC0099"/>
                </a:solidFill>
              </a:rPr>
              <a:t>su   [-]   [</a:t>
            </a:r>
            <a:r>
              <a:rPr lang="zh-CN" altLang="en-US" sz="2600" dirty="0">
                <a:solidFill>
                  <a:srgbClr val="CC0099"/>
                </a:solidFill>
              </a:rPr>
              <a:t>用户名</a:t>
            </a:r>
            <a:r>
              <a:rPr lang="en-US" altLang="zh-CN" sz="2600" dirty="0">
                <a:solidFill>
                  <a:srgbClr val="CC0099"/>
                </a:solidFill>
              </a:rPr>
              <a:t>]</a:t>
            </a:r>
          </a:p>
          <a:p>
            <a:pPr marL="0" indent="0">
              <a:lnSpc>
                <a:spcPct val="120000"/>
              </a:lnSpc>
              <a:buNone/>
            </a:pPr>
            <a:r>
              <a:rPr lang="zh-CN" altLang="en-US" sz="2600" dirty="0">
                <a:solidFill>
                  <a:srgbClr val="0000FF"/>
                </a:solidFill>
              </a:rPr>
              <a:t>功能</a:t>
            </a:r>
            <a:r>
              <a:rPr lang="zh-CN" altLang="en-US" sz="2600" dirty="0"/>
              <a:t>：切换用户身份，无用户名参数，即切换为超级用户。</a:t>
            </a:r>
            <a:endParaRPr lang="en-US" altLang="zh-CN" sz="2600" dirty="0"/>
          </a:p>
          <a:p>
            <a:pPr marL="0" indent="0">
              <a:lnSpc>
                <a:spcPct val="120000"/>
              </a:lnSpc>
              <a:buNone/>
            </a:pPr>
            <a:r>
              <a:rPr lang="zh-CN" altLang="en-US" sz="2600" dirty="0"/>
              <a:t>选项说明：“</a:t>
            </a:r>
            <a:r>
              <a:rPr lang="en-US" altLang="zh-CN" sz="2600" dirty="0">
                <a:solidFill>
                  <a:srgbClr val="CC0099"/>
                </a:solidFill>
              </a:rPr>
              <a:t>-</a:t>
            </a:r>
            <a:r>
              <a:rPr lang="en-US" altLang="zh-CN" sz="2600" dirty="0"/>
              <a:t>”</a:t>
            </a:r>
            <a:r>
              <a:rPr lang="zh-CN" altLang="en-US" sz="2600" dirty="0"/>
              <a:t>选项是切换为新用户的同时使用新用户的环境变量。</a:t>
            </a:r>
            <a:endParaRPr lang="en-US" altLang="zh-CN" sz="2600" dirty="0"/>
          </a:p>
          <a:p>
            <a:pPr>
              <a:lnSpc>
                <a:spcPct val="120000"/>
              </a:lnSpc>
            </a:pPr>
            <a:r>
              <a:rPr lang="zh-CN" altLang="en-US" sz="2600" dirty="0"/>
              <a:t>超级用户可以切换为任何普通用户，而且不需要输入</a:t>
            </a:r>
            <a:endParaRPr lang="en-US" altLang="zh-CN" sz="2600" dirty="0"/>
          </a:p>
          <a:p>
            <a:pPr marL="0" indent="0">
              <a:lnSpc>
                <a:spcPct val="120000"/>
              </a:lnSpc>
              <a:buNone/>
            </a:pPr>
            <a:r>
              <a:rPr lang="zh-CN" altLang="en-US" sz="2600" dirty="0"/>
              <a:t>密码。普通用户转换为其他用户时，需要输入被转换用户的密码。切换为其他用户之后就拥有该用户的权限。使用</a:t>
            </a:r>
            <a:r>
              <a:rPr lang="en-US" altLang="zh-CN" sz="2600" dirty="0">
                <a:solidFill>
                  <a:srgbClr val="0000CC"/>
                </a:solidFill>
              </a:rPr>
              <a:t>exit</a:t>
            </a:r>
            <a:r>
              <a:rPr lang="zh-CN" altLang="en-US" sz="2600" dirty="0">
                <a:solidFill>
                  <a:srgbClr val="0000CC"/>
                </a:solidFill>
              </a:rPr>
              <a:t>命令可返回到本来的用户身份</a:t>
            </a:r>
            <a:r>
              <a:rPr lang="zh-CN" altLang="en-US" sz="2600" dirty="0"/>
              <a:t>。</a:t>
            </a:r>
            <a:endParaRPr lang="en-US" altLang="zh-CN" sz="2600" dirty="0"/>
          </a:p>
          <a:p>
            <a:pPr marL="0" indent="0">
              <a:lnSpc>
                <a:spcPct val="150000"/>
              </a:lnSpc>
              <a:buNone/>
            </a:pPr>
            <a:endParaRPr lang="zh-CN" altLang="en-US" sz="2400" dirty="0"/>
          </a:p>
          <a:p>
            <a:pPr>
              <a:buFontTx/>
              <a:buNone/>
            </a:pPr>
            <a:endParaRPr lang="zh-CN" altLang="en-US" sz="2400" dirty="0"/>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42</a:t>
            </a:fld>
            <a:endParaRPr lang="en-US" altLang="zh-CN"/>
          </a:p>
        </p:txBody>
      </p:sp>
      <p:sp>
        <p:nvSpPr>
          <p:cNvPr id="7" name="Rectangle 2"/>
          <p:cNvSpPr>
            <a:spLocks noGrp="1" noChangeArrowheads="1"/>
          </p:cNvSpPr>
          <p:nvPr>
            <p:ph type="title"/>
          </p:nvPr>
        </p:nvSpPr>
        <p:spPr>
          <a:xfrm>
            <a:off x="1991544" y="506633"/>
            <a:ext cx="8136904" cy="858837"/>
          </a:xfrm>
        </p:spPr>
        <p:txBody>
          <a:bodyPr/>
          <a:lstStyle/>
          <a:p>
            <a:pPr algn="ctr" eaLnBrk="1" hangingPunct="1"/>
            <a:r>
              <a:rPr lang="zh-CN" altLang="en-US" dirty="0">
                <a:latin typeface="+mj-ea"/>
              </a:rPr>
              <a:t>管理用户的</a:t>
            </a:r>
            <a:r>
              <a:rPr lang="en-US" altLang="zh-CN" dirty="0">
                <a:latin typeface="+mj-ea"/>
              </a:rPr>
              <a:t>Shell</a:t>
            </a:r>
            <a:r>
              <a:rPr lang="zh-CN" altLang="en-US" dirty="0">
                <a:latin typeface="+mj-ea"/>
              </a:rPr>
              <a:t>命令</a:t>
            </a:r>
          </a:p>
        </p:txBody>
      </p:sp>
    </p:spTree>
    <p:extLst>
      <p:ext uri="{BB962C8B-B14F-4D97-AF65-F5344CB8AC3E}">
        <p14:creationId xmlns:p14="http://schemas.microsoft.com/office/powerpoint/2010/main" val="171460861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310DB37D-B094-7A2C-F6D1-2FD674F93772}"/>
              </a:ext>
            </a:extLst>
          </p:cNvPr>
          <p:cNvSpPr/>
          <p:nvPr/>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627" name="内容占位符 2"/>
          <p:cNvSpPr>
            <a:spLocks noGrp="1"/>
          </p:cNvSpPr>
          <p:nvPr>
            <p:ph idx="1"/>
          </p:nvPr>
        </p:nvSpPr>
        <p:spPr>
          <a:xfrm>
            <a:off x="1255778" y="1437957"/>
            <a:ext cx="9865096" cy="4655339"/>
          </a:xfrm>
        </p:spPr>
        <p:txBody>
          <a:bodyPr/>
          <a:lstStyle/>
          <a:p>
            <a:pPr marL="0" indent="0">
              <a:lnSpc>
                <a:spcPct val="150000"/>
              </a:lnSpc>
              <a:buNone/>
            </a:pPr>
            <a:r>
              <a:rPr lang="zh-CN" altLang="en-US" sz="2600" dirty="0">
                <a:solidFill>
                  <a:srgbClr val="0000FF"/>
                </a:solidFill>
              </a:rPr>
              <a:t>例如</a:t>
            </a:r>
            <a:r>
              <a:rPr lang="zh-CN" altLang="en-US" sz="2600" dirty="0"/>
              <a:t>：</a:t>
            </a:r>
            <a:r>
              <a:rPr lang="en-US" altLang="zh-CN" sz="2600" dirty="0"/>
              <a:t>jerry</a:t>
            </a:r>
            <a:r>
              <a:rPr lang="zh-CN" altLang="en-US" sz="2600" dirty="0"/>
              <a:t>用户切换为</a:t>
            </a:r>
            <a:r>
              <a:rPr lang="en-US" altLang="zh-CN" sz="2600" dirty="0" err="1"/>
              <a:t>helen</a:t>
            </a:r>
            <a:r>
              <a:rPr lang="zh-CN" altLang="en-US" sz="2600" dirty="0"/>
              <a:t>用户</a:t>
            </a:r>
          </a:p>
          <a:p>
            <a:pPr marL="0" indent="0">
              <a:lnSpc>
                <a:spcPct val="150000"/>
              </a:lnSpc>
              <a:buNone/>
            </a:pPr>
            <a:r>
              <a:rPr lang="en-US" altLang="zh-CN" sz="2600" dirty="0"/>
              <a:t>[</a:t>
            </a:r>
            <a:r>
              <a:rPr lang="en-US" altLang="zh-CN" sz="2600" dirty="0" err="1"/>
              <a:t>jerry@localhost</a:t>
            </a:r>
            <a:r>
              <a:rPr lang="en-US" altLang="zh-CN" sz="2600" dirty="0"/>
              <a:t>  ~  ] $    su   </a:t>
            </a:r>
            <a:r>
              <a:rPr lang="en-US" altLang="zh-CN" sz="2600" dirty="0" err="1"/>
              <a:t>helen</a:t>
            </a:r>
            <a:r>
              <a:rPr lang="en-US" altLang="zh-CN" sz="2600" dirty="0"/>
              <a:t> </a:t>
            </a:r>
          </a:p>
          <a:p>
            <a:pPr marL="0" indent="0">
              <a:lnSpc>
                <a:spcPct val="150000"/>
              </a:lnSpc>
              <a:buNone/>
            </a:pPr>
            <a:r>
              <a:rPr lang="en-US" altLang="zh-CN" sz="2600" dirty="0"/>
              <a:t>password:</a:t>
            </a:r>
          </a:p>
          <a:p>
            <a:pPr marL="0" indent="0">
              <a:lnSpc>
                <a:spcPct val="150000"/>
              </a:lnSpc>
              <a:buNone/>
            </a:pPr>
            <a:r>
              <a:rPr lang="en-US" altLang="zh-CN" sz="2600" dirty="0"/>
              <a:t>[</a:t>
            </a:r>
            <a:r>
              <a:rPr lang="en-US" altLang="zh-CN" sz="2600" dirty="0" err="1"/>
              <a:t>helen</a:t>
            </a:r>
            <a:r>
              <a:rPr lang="en-US" altLang="zh-CN" sz="2600" dirty="0"/>
              <a:t>@ localhost  jerry]$ </a:t>
            </a:r>
          </a:p>
          <a:p>
            <a:pPr marL="0" indent="0">
              <a:lnSpc>
                <a:spcPct val="150000"/>
              </a:lnSpc>
              <a:buNone/>
            </a:pPr>
            <a:r>
              <a:rPr lang="zh-CN" altLang="en-US" sz="2600" dirty="0"/>
              <a:t>切换用户时使用用户参数，则切换为指定用户。本例未使用“</a:t>
            </a:r>
            <a:r>
              <a:rPr lang="en-US" altLang="zh-CN" sz="2600" dirty="0"/>
              <a:t>-</a:t>
            </a:r>
            <a:r>
              <a:rPr lang="zh-CN" altLang="en-US" sz="2600" dirty="0"/>
              <a:t>”选项，</a:t>
            </a:r>
            <a:r>
              <a:rPr lang="zh-CN" altLang="en-US" sz="2600" dirty="0">
                <a:solidFill>
                  <a:srgbClr val="CC0099"/>
                </a:solidFill>
              </a:rPr>
              <a:t>用户的环境变量</a:t>
            </a:r>
            <a:r>
              <a:rPr lang="zh-CN" altLang="en-US" sz="2600" dirty="0"/>
              <a:t>未发生变化，从</a:t>
            </a:r>
            <a:r>
              <a:rPr lang="en-US" altLang="zh-CN" sz="2600" dirty="0"/>
              <a:t>Shell</a:t>
            </a:r>
            <a:r>
              <a:rPr lang="zh-CN" altLang="en-US" sz="2600" dirty="0"/>
              <a:t>提示符可知，虽然切换后的当前用户是</a:t>
            </a:r>
            <a:r>
              <a:rPr lang="en-US" altLang="zh-CN" sz="2600" dirty="0" err="1"/>
              <a:t>helen</a:t>
            </a:r>
            <a:r>
              <a:rPr lang="zh-CN" altLang="en-US" sz="2600" dirty="0"/>
              <a:t>，但当前的工作目录仍然是</a:t>
            </a:r>
            <a:r>
              <a:rPr lang="en-US" altLang="zh-CN" sz="2600" dirty="0"/>
              <a:t>/home/jerry</a:t>
            </a:r>
            <a:r>
              <a:rPr lang="zh-CN" altLang="en-US" sz="2600" dirty="0"/>
              <a:t>。</a:t>
            </a:r>
          </a:p>
          <a:p>
            <a:pPr>
              <a:buFontTx/>
              <a:buNone/>
            </a:pPr>
            <a:endParaRPr lang="zh-CN" altLang="en-US" sz="2400" dirty="0"/>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43</a:t>
            </a:fld>
            <a:endParaRPr lang="en-US" altLang="zh-CN"/>
          </a:p>
        </p:txBody>
      </p:sp>
      <p:sp>
        <p:nvSpPr>
          <p:cNvPr id="7" name="Rectangle 2"/>
          <p:cNvSpPr>
            <a:spLocks noGrp="1" noChangeArrowheads="1"/>
          </p:cNvSpPr>
          <p:nvPr>
            <p:ph type="title"/>
          </p:nvPr>
        </p:nvSpPr>
        <p:spPr>
          <a:xfrm>
            <a:off x="2248206" y="579120"/>
            <a:ext cx="7880241" cy="858837"/>
          </a:xfrm>
        </p:spPr>
        <p:txBody>
          <a:bodyPr/>
          <a:lstStyle/>
          <a:p>
            <a:pPr algn="ctr" eaLnBrk="1" hangingPunct="1"/>
            <a:r>
              <a:rPr lang="zh-CN" altLang="en-US" dirty="0">
                <a:latin typeface="+mj-ea"/>
              </a:rPr>
              <a:t>管理用户的</a:t>
            </a:r>
            <a:r>
              <a:rPr lang="en-US" altLang="zh-CN" dirty="0">
                <a:latin typeface="+mj-ea"/>
              </a:rPr>
              <a:t>Shell</a:t>
            </a:r>
            <a:r>
              <a:rPr lang="zh-CN" altLang="en-US" dirty="0">
                <a:latin typeface="+mj-ea"/>
              </a:rPr>
              <a:t>命令</a:t>
            </a:r>
          </a:p>
        </p:txBody>
      </p:sp>
      <p:sp>
        <p:nvSpPr>
          <p:cNvPr id="3" name="椭圆 2"/>
          <p:cNvSpPr/>
          <p:nvPr/>
        </p:nvSpPr>
        <p:spPr bwMode="auto">
          <a:xfrm>
            <a:off x="1199456" y="3482622"/>
            <a:ext cx="4336166" cy="720080"/>
          </a:xfrm>
          <a:prstGeom prst="ellipse">
            <a:avLst/>
          </a:prstGeom>
          <a:noFill/>
          <a:ln w="28575" cap="flat" cmpd="sng" algn="ctr">
            <a:solidFill>
              <a:srgbClr val="FF0000"/>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endParaRPr lang="zh-CN" altLang="en-US" b="0"/>
          </a:p>
        </p:txBody>
      </p:sp>
      <p:sp>
        <p:nvSpPr>
          <p:cNvPr id="6" name="椭圆 5"/>
          <p:cNvSpPr/>
          <p:nvPr/>
        </p:nvSpPr>
        <p:spPr bwMode="auto">
          <a:xfrm>
            <a:off x="1040436" y="2135486"/>
            <a:ext cx="4040217" cy="720080"/>
          </a:xfrm>
          <a:prstGeom prst="ellipse">
            <a:avLst/>
          </a:prstGeom>
          <a:noFill/>
          <a:ln w="28575" cap="flat" cmpd="sng" algn="ctr">
            <a:solidFill>
              <a:srgbClr val="FF0000"/>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endParaRPr lang="zh-CN" altLang="en-US" b="0"/>
          </a:p>
        </p:txBody>
      </p:sp>
    </p:spTree>
    <p:extLst>
      <p:ext uri="{BB962C8B-B14F-4D97-AF65-F5344CB8AC3E}">
        <p14:creationId xmlns:p14="http://schemas.microsoft.com/office/powerpoint/2010/main" val="294839861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arn(inVertical)">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AC3A520-D574-C539-5856-431E8634CC4F}"/>
              </a:ext>
            </a:extLst>
          </p:cNvPr>
          <p:cNvSpPr/>
          <p:nvPr/>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627" name="内容占位符 2"/>
          <p:cNvSpPr>
            <a:spLocks noGrp="1"/>
          </p:cNvSpPr>
          <p:nvPr>
            <p:ph idx="1"/>
          </p:nvPr>
        </p:nvSpPr>
        <p:spPr>
          <a:xfrm>
            <a:off x="983432" y="1741462"/>
            <a:ext cx="10297144" cy="4135810"/>
          </a:xfrm>
        </p:spPr>
        <p:txBody>
          <a:bodyPr/>
          <a:lstStyle/>
          <a:p>
            <a:pPr marL="0" indent="0">
              <a:buNone/>
            </a:pPr>
            <a:r>
              <a:rPr lang="zh-CN" altLang="en-US" sz="2600" dirty="0"/>
              <a:t>例如：普通用户</a:t>
            </a:r>
            <a:r>
              <a:rPr lang="en-US" altLang="zh-CN" sz="2600" dirty="0"/>
              <a:t>jerry</a:t>
            </a:r>
            <a:r>
              <a:rPr lang="zh-CN" altLang="en-US" sz="2600" dirty="0"/>
              <a:t>切换为超级用户，并</a:t>
            </a:r>
            <a:r>
              <a:rPr lang="zh-CN" altLang="en-US" sz="2600" dirty="0">
                <a:solidFill>
                  <a:srgbClr val="0000CC"/>
                </a:solidFill>
              </a:rPr>
              <a:t>使用超级用户的环境变量</a:t>
            </a:r>
            <a:r>
              <a:rPr lang="zh-CN" altLang="en-US" sz="2600" dirty="0"/>
              <a:t>。</a:t>
            </a:r>
          </a:p>
          <a:p>
            <a:pPr marL="0" indent="0">
              <a:buNone/>
            </a:pPr>
            <a:r>
              <a:rPr lang="en-US" altLang="zh-CN" sz="2600" dirty="0">
                <a:solidFill>
                  <a:srgbClr val="0000CC"/>
                </a:solidFill>
              </a:rPr>
              <a:t>[</a:t>
            </a:r>
            <a:r>
              <a:rPr lang="en-US" altLang="zh-CN" sz="2600" dirty="0" err="1">
                <a:solidFill>
                  <a:srgbClr val="0000CC"/>
                </a:solidFill>
              </a:rPr>
              <a:t>jerry@localhost</a:t>
            </a:r>
            <a:r>
              <a:rPr lang="en-US" altLang="zh-CN" sz="2600" dirty="0">
                <a:solidFill>
                  <a:srgbClr val="0000CC"/>
                </a:solidFill>
              </a:rPr>
              <a:t>  ~ ] $ su - </a:t>
            </a:r>
          </a:p>
          <a:p>
            <a:pPr marL="0" indent="0">
              <a:buNone/>
            </a:pPr>
            <a:r>
              <a:rPr lang="en-US" altLang="zh-CN" sz="2600" dirty="0"/>
              <a:t>Password:</a:t>
            </a:r>
          </a:p>
          <a:p>
            <a:pPr marL="0" indent="0">
              <a:buNone/>
            </a:pPr>
            <a:r>
              <a:rPr lang="zh-CN" altLang="zh-CN" sz="2600" dirty="0"/>
              <a:t>[root@</a:t>
            </a:r>
            <a:r>
              <a:rPr lang="en-US" altLang="zh-CN" sz="2600" dirty="0"/>
              <a:t>localhost  ~ </a:t>
            </a:r>
            <a:r>
              <a:rPr lang="zh-CN" altLang="zh-CN" sz="2600" dirty="0"/>
              <a:t>]</a:t>
            </a:r>
            <a:r>
              <a:rPr lang="en-US" altLang="zh-CN" sz="2600" dirty="0"/>
              <a:t> </a:t>
            </a:r>
            <a:r>
              <a:rPr lang="zh-CN" altLang="zh-CN" sz="2600" dirty="0"/>
              <a:t>#</a:t>
            </a:r>
            <a:endParaRPr lang="en-US" altLang="zh-CN" sz="2600" dirty="0"/>
          </a:p>
          <a:p>
            <a:pPr marL="0" indent="0">
              <a:buNone/>
            </a:pPr>
            <a:r>
              <a:rPr lang="zh-CN" altLang="en-US" sz="2600" dirty="0"/>
              <a:t>命令“</a:t>
            </a:r>
            <a:r>
              <a:rPr lang="en-US" altLang="zh-CN" sz="2600" dirty="0"/>
              <a:t>su  -</a:t>
            </a:r>
            <a:r>
              <a:rPr lang="zh-CN" altLang="en-US" sz="2600" dirty="0"/>
              <a:t>”与</a:t>
            </a:r>
            <a:r>
              <a:rPr lang="en-US" altLang="zh-CN" sz="2600" dirty="0"/>
              <a:t>su -  root </a:t>
            </a:r>
            <a:r>
              <a:rPr lang="zh-CN" altLang="en-US" sz="2600" dirty="0"/>
              <a:t>作用相同，都是从普通用户切换为超级用户，需要输入超级用户的密码。从</a:t>
            </a:r>
            <a:r>
              <a:rPr lang="en-US" altLang="zh-CN" sz="2600" dirty="0"/>
              <a:t>Shell</a:t>
            </a:r>
            <a:r>
              <a:rPr lang="zh-CN" altLang="en-US" sz="2600" dirty="0"/>
              <a:t>提示符可知，切换后的当前用户是</a:t>
            </a:r>
            <a:r>
              <a:rPr lang="en-US" altLang="zh-CN" sz="2600" dirty="0"/>
              <a:t>root</a:t>
            </a:r>
            <a:r>
              <a:rPr lang="zh-CN" altLang="en-US" sz="2600" dirty="0"/>
              <a:t>，且当前工作目录也切换为</a:t>
            </a:r>
            <a:r>
              <a:rPr lang="en-US" altLang="zh-CN" sz="2600" dirty="0"/>
              <a:t>/root</a:t>
            </a:r>
            <a:r>
              <a:rPr lang="zh-CN" altLang="en-US" sz="2600" dirty="0"/>
              <a:t>。</a:t>
            </a:r>
            <a:endParaRPr lang="en-US" altLang="zh-CN" sz="2600" dirty="0"/>
          </a:p>
          <a:p>
            <a:pPr marL="0" indent="0">
              <a:buNone/>
            </a:pPr>
            <a:r>
              <a:rPr lang="zh-CN" altLang="en-US" sz="2600" dirty="0">
                <a:solidFill>
                  <a:srgbClr val="0000CC"/>
                </a:solidFill>
              </a:rPr>
              <a:t>练习</a:t>
            </a:r>
            <a:r>
              <a:rPr lang="en-US" altLang="zh-CN" sz="2600" dirty="0">
                <a:solidFill>
                  <a:srgbClr val="0000CC"/>
                </a:solidFill>
              </a:rPr>
              <a:t>12</a:t>
            </a:r>
            <a:r>
              <a:rPr lang="zh-CN" altLang="en-US" sz="2600" dirty="0"/>
              <a:t>：变更帐号为 </a:t>
            </a:r>
            <a:r>
              <a:rPr lang="en-US" altLang="zh-CN" sz="2600" dirty="0"/>
              <a:t>jerry </a:t>
            </a:r>
            <a:r>
              <a:rPr lang="zh-CN" altLang="en-US" sz="2600" dirty="0"/>
              <a:t>并改变工作目录至 </a:t>
            </a:r>
            <a:r>
              <a:rPr lang="en-US" altLang="zh-CN" sz="2600" dirty="0"/>
              <a:t>jerry</a:t>
            </a:r>
            <a:r>
              <a:rPr lang="zh-CN" altLang="en-US" sz="2600" dirty="0"/>
              <a:t>的家目录</a:t>
            </a:r>
            <a:r>
              <a:rPr lang="zh-CN" altLang="en-US" sz="2400" dirty="0"/>
              <a:t>。</a:t>
            </a:r>
          </a:p>
          <a:p>
            <a:pPr>
              <a:buFontTx/>
              <a:buNone/>
            </a:pPr>
            <a:endParaRPr lang="zh-CN" altLang="en-US" sz="2400" dirty="0"/>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44</a:t>
            </a:fld>
            <a:endParaRPr lang="en-US" altLang="zh-CN" dirty="0"/>
          </a:p>
        </p:txBody>
      </p:sp>
      <p:sp>
        <p:nvSpPr>
          <p:cNvPr id="7" name="Rectangle 2"/>
          <p:cNvSpPr>
            <a:spLocks noGrp="1" noChangeArrowheads="1"/>
          </p:cNvSpPr>
          <p:nvPr>
            <p:ph type="title"/>
          </p:nvPr>
        </p:nvSpPr>
        <p:spPr>
          <a:xfrm>
            <a:off x="2207568" y="625947"/>
            <a:ext cx="7848872" cy="858837"/>
          </a:xfrm>
        </p:spPr>
        <p:txBody>
          <a:bodyPr/>
          <a:lstStyle/>
          <a:p>
            <a:pPr algn="ctr" eaLnBrk="1" hangingPunct="1"/>
            <a:r>
              <a:rPr lang="zh-CN" altLang="en-US" dirty="0">
                <a:latin typeface="+mj-ea"/>
              </a:rPr>
              <a:t>管理用户的</a:t>
            </a:r>
            <a:r>
              <a:rPr lang="en-US" altLang="zh-CN" dirty="0">
                <a:latin typeface="+mj-ea"/>
              </a:rPr>
              <a:t>Shell</a:t>
            </a:r>
            <a:r>
              <a:rPr lang="zh-CN" altLang="en-US" dirty="0">
                <a:latin typeface="+mj-ea"/>
              </a:rPr>
              <a:t>命令</a:t>
            </a:r>
          </a:p>
        </p:txBody>
      </p:sp>
    </p:spTree>
    <p:extLst>
      <p:ext uri="{BB962C8B-B14F-4D97-AF65-F5344CB8AC3E}">
        <p14:creationId xmlns:p14="http://schemas.microsoft.com/office/powerpoint/2010/main" val="34510969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E5B150F-AE62-1659-041B-5A4A8362AF44}"/>
              </a:ext>
            </a:extLst>
          </p:cNvPr>
          <p:cNvSpPr/>
          <p:nvPr/>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627" name="内容占位符 2"/>
          <p:cNvSpPr>
            <a:spLocks noGrp="1"/>
          </p:cNvSpPr>
          <p:nvPr>
            <p:ph idx="1"/>
          </p:nvPr>
        </p:nvSpPr>
        <p:spPr>
          <a:xfrm>
            <a:off x="1199456" y="1556792"/>
            <a:ext cx="9865096" cy="4464496"/>
          </a:xfrm>
        </p:spPr>
        <p:txBody>
          <a:bodyPr/>
          <a:lstStyle/>
          <a:p>
            <a:pPr marL="0" indent="0">
              <a:buNone/>
            </a:pPr>
            <a:r>
              <a:rPr lang="en-US" altLang="zh-CN" sz="2600" dirty="0">
                <a:solidFill>
                  <a:srgbClr val="0000CC"/>
                </a:solidFill>
              </a:rPr>
              <a:t>sudo </a:t>
            </a:r>
            <a:r>
              <a:rPr lang="zh-CN" altLang="en-US" sz="2600" dirty="0">
                <a:solidFill>
                  <a:srgbClr val="0000CC"/>
                </a:solidFill>
              </a:rPr>
              <a:t>命令</a:t>
            </a:r>
            <a:endParaRPr lang="en-US" altLang="zh-CN" sz="2600" dirty="0">
              <a:solidFill>
                <a:srgbClr val="0000CC"/>
              </a:solidFill>
            </a:endParaRPr>
          </a:p>
          <a:p>
            <a:pPr marL="0" indent="0">
              <a:buNone/>
            </a:pPr>
            <a:r>
              <a:rPr lang="zh-CN" altLang="en-US" sz="2600" dirty="0"/>
              <a:t>格式：</a:t>
            </a:r>
            <a:r>
              <a:rPr lang="en-US" altLang="zh-CN" sz="2600" dirty="0">
                <a:solidFill>
                  <a:srgbClr val="CC0099"/>
                </a:solidFill>
              </a:rPr>
              <a:t>sudo    [</a:t>
            </a:r>
            <a:r>
              <a:rPr lang="zh-CN" altLang="en-US" sz="2600" dirty="0">
                <a:solidFill>
                  <a:srgbClr val="CC0099"/>
                </a:solidFill>
              </a:rPr>
              <a:t>参数</a:t>
            </a:r>
            <a:r>
              <a:rPr lang="en-US" altLang="zh-CN" sz="2600" dirty="0">
                <a:solidFill>
                  <a:srgbClr val="CC0099"/>
                </a:solidFill>
              </a:rPr>
              <a:t>]  [</a:t>
            </a:r>
            <a:r>
              <a:rPr lang="zh-CN" altLang="en-US" sz="2600" dirty="0">
                <a:solidFill>
                  <a:srgbClr val="CC0099"/>
                </a:solidFill>
              </a:rPr>
              <a:t>命令</a:t>
            </a:r>
            <a:r>
              <a:rPr lang="en-US" altLang="zh-CN" sz="2600" dirty="0">
                <a:solidFill>
                  <a:srgbClr val="CC0099"/>
                </a:solidFill>
              </a:rPr>
              <a:t>]  [</a:t>
            </a:r>
            <a:r>
              <a:rPr lang="zh-CN" altLang="en-US" sz="2600" dirty="0">
                <a:solidFill>
                  <a:srgbClr val="CC0099"/>
                </a:solidFill>
              </a:rPr>
              <a:t>用户名</a:t>
            </a:r>
            <a:r>
              <a:rPr lang="en-US" altLang="zh-CN" sz="2600" dirty="0">
                <a:solidFill>
                  <a:srgbClr val="CC0099"/>
                </a:solidFill>
              </a:rPr>
              <a:t>]</a:t>
            </a:r>
            <a:endParaRPr lang="zh-CN" altLang="en-US" sz="2600" dirty="0">
              <a:solidFill>
                <a:srgbClr val="CC0099"/>
              </a:solidFill>
            </a:endParaRPr>
          </a:p>
          <a:p>
            <a:pPr marL="0" indent="0">
              <a:buNone/>
            </a:pPr>
            <a:r>
              <a:rPr lang="zh-CN" altLang="en-US" sz="2600" dirty="0"/>
              <a:t>功能：以系统管理者的身份执行命令。</a:t>
            </a:r>
            <a:endParaRPr lang="en-US" altLang="zh-CN" sz="2600" dirty="0"/>
          </a:p>
          <a:p>
            <a:pPr marL="0" indent="0">
              <a:buNone/>
            </a:pPr>
            <a:r>
              <a:rPr lang="zh-CN" altLang="en-US" sz="2600" dirty="0"/>
              <a:t>主要选项说明：</a:t>
            </a:r>
            <a:endParaRPr lang="en-US" altLang="zh-CN" sz="2600" dirty="0"/>
          </a:p>
          <a:p>
            <a:pPr marL="0" indent="0">
              <a:buNone/>
            </a:pPr>
            <a:r>
              <a:rPr lang="en-US" altLang="zh-CN" sz="2600" dirty="0"/>
              <a:t>b  </a:t>
            </a:r>
            <a:r>
              <a:rPr lang="zh-CN" altLang="en-US" sz="2600" dirty="0"/>
              <a:t>  在后台运行命令，不对当前的 </a:t>
            </a:r>
            <a:r>
              <a:rPr lang="en-US" altLang="zh-CN" sz="2600" dirty="0"/>
              <a:t>shell </a:t>
            </a:r>
            <a:r>
              <a:rPr lang="zh-CN" altLang="en-US" sz="2600" dirty="0"/>
              <a:t>环境产生影响</a:t>
            </a:r>
            <a:endParaRPr lang="en-US" altLang="zh-CN" sz="2600" dirty="0"/>
          </a:p>
          <a:p>
            <a:pPr marL="0" indent="0">
              <a:buNone/>
            </a:pPr>
            <a:r>
              <a:rPr lang="en-US" altLang="zh-CN" sz="2600" dirty="0"/>
              <a:t>-l    </a:t>
            </a:r>
            <a:r>
              <a:rPr lang="zh-CN" altLang="en-US" sz="2600" dirty="0"/>
              <a:t>显示出自己（执行 </a:t>
            </a:r>
            <a:r>
              <a:rPr lang="en-US" altLang="zh-CN" sz="2600" dirty="0"/>
              <a:t>sudo </a:t>
            </a:r>
            <a:r>
              <a:rPr lang="zh-CN" altLang="en-US" sz="2600" dirty="0"/>
              <a:t>的使用者）的权限</a:t>
            </a:r>
            <a:endParaRPr lang="en-US" altLang="zh-CN" sz="2600" dirty="0"/>
          </a:p>
          <a:p>
            <a:pPr marL="0" indent="0">
              <a:buNone/>
            </a:pPr>
            <a:r>
              <a:rPr lang="en-US" altLang="zh-CN" sz="2600" dirty="0"/>
              <a:t>-S   </a:t>
            </a:r>
            <a:r>
              <a:rPr lang="zh-CN" altLang="en-US" sz="2600" dirty="0"/>
              <a:t>从标准输入读入密码</a:t>
            </a:r>
            <a:endParaRPr lang="en-US" altLang="zh-CN" sz="2600" dirty="0"/>
          </a:p>
          <a:p>
            <a:pPr marL="0" indent="0">
              <a:buNone/>
            </a:pPr>
            <a:r>
              <a:rPr lang="en-US" altLang="zh-CN" sz="2600" dirty="0"/>
              <a:t>-u   </a:t>
            </a:r>
            <a:r>
              <a:rPr lang="zh-CN" altLang="en-US" sz="2600" dirty="0"/>
              <a:t>后面接欲切换的用户名，若无此项则代表切换身份为 </a:t>
            </a:r>
            <a:r>
              <a:rPr lang="en-US" altLang="zh-CN" sz="2600" dirty="0"/>
              <a:t>root </a:t>
            </a:r>
          </a:p>
          <a:p>
            <a:pPr marL="0" indent="0">
              <a:buNone/>
            </a:pPr>
            <a:endParaRPr lang="zh-CN" altLang="en-US" sz="2600" dirty="0"/>
          </a:p>
        </p:txBody>
      </p:sp>
      <p:sp>
        <p:nvSpPr>
          <p:cNvPr id="7" name="Rectangle 2"/>
          <p:cNvSpPr>
            <a:spLocks noGrp="1" noChangeArrowheads="1"/>
          </p:cNvSpPr>
          <p:nvPr>
            <p:ph type="title"/>
          </p:nvPr>
        </p:nvSpPr>
        <p:spPr>
          <a:xfrm>
            <a:off x="1981200" y="553939"/>
            <a:ext cx="7859216" cy="858837"/>
          </a:xfrm>
        </p:spPr>
        <p:txBody>
          <a:bodyPr/>
          <a:lstStyle/>
          <a:p>
            <a:pPr algn="ctr" eaLnBrk="1" hangingPunct="1"/>
            <a:r>
              <a:rPr lang="zh-CN" altLang="en-US" dirty="0">
                <a:latin typeface="+mj-ea"/>
              </a:rPr>
              <a:t>管理用户的</a:t>
            </a:r>
            <a:r>
              <a:rPr lang="en-US" altLang="zh-CN" dirty="0">
                <a:latin typeface="+mj-ea"/>
              </a:rPr>
              <a:t>Shell</a:t>
            </a:r>
            <a:r>
              <a:rPr lang="zh-CN" altLang="en-US" dirty="0">
                <a:latin typeface="+mj-ea"/>
              </a:rPr>
              <a:t>命令</a:t>
            </a:r>
          </a:p>
        </p:txBody>
      </p:sp>
      <p:sp>
        <p:nvSpPr>
          <p:cNvPr id="4" name="灯片编号占位符 1"/>
          <p:cNvSpPr>
            <a:spLocks noGrp="1"/>
          </p:cNvSpPr>
          <p:nvPr>
            <p:ph type="sldNum" sz="quarter" idx="11"/>
          </p:nvPr>
        </p:nvSpPr>
        <p:spPr>
          <a:xfrm>
            <a:off x="10316839" y="6388330"/>
            <a:ext cx="514549" cy="457200"/>
          </a:xfrm>
        </p:spPr>
        <p:txBody>
          <a:bodyPr/>
          <a:lstStyle/>
          <a:p>
            <a:pPr>
              <a:defRPr/>
            </a:pPr>
            <a:fld id="{110871B5-850E-4E14-A636-3EC679EBF038}" type="slidenum">
              <a:rPr lang="en-US" altLang="zh-CN" smtClean="0"/>
              <a:pPr>
                <a:defRPr/>
              </a:pPr>
              <a:t>45</a:t>
            </a:fld>
            <a:endParaRPr lang="en-US" altLang="zh-CN"/>
          </a:p>
        </p:txBody>
      </p:sp>
    </p:spTree>
    <p:extLst>
      <p:ext uri="{BB962C8B-B14F-4D97-AF65-F5344CB8AC3E}">
        <p14:creationId xmlns:p14="http://schemas.microsoft.com/office/powerpoint/2010/main" val="18325999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DC20F6F-5098-4C8B-3D1F-1CF03B05027D}"/>
              </a:ext>
            </a:extLst>
          </p:cNvPr>
          <p:cNvSpPr/>
          <p:nvPr/>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627" name="内容占位符 2"/>
          <p:cNvSpPr>
            <a:spLocks noGrp="1"/>
          </p:cNvSpPr>
          <p:nvPr>
            <p:ph idx="1"/>
          </p:nvPr>
        </p:nvSpPr>
        <p:spPr>
          <a:xfrm>
            <a:off x="1199456" y="1685578"/>
            <a:ext cx="9865096" cy="4248472"/>
          </a:xfrm>
        </p:spPr>
        <p:txBody>
          <a:bodyPr/>
          <a:lstStyle/>
          <a:p>
            <a:pPr>
              <a:lnSpc>
                <a:spcPct val="150000"/>
              </a:lnSpc>
            </a:pPr>
            <a:r>
              <a:rPr lang="en-US" altLang="zh-CN" sz="2600" dirty="0"/>
              <a:t>sudo</a:t>
            </a:r>
            <a:r>
              <a:rPr lang="zh-CN" altLang="en-US" sz="2600" dirty="0"/>
              <a:t>命令的执行流程：</a:t>
            </a:r>
            <a:endParaRPr lang="en-US" altLang="zh-CN" sz="2600" dirty="0"/>
          </a:p>
          <a:p>
            <a:pPr marL="0" indent="0">
              <a:lnSpc>
                <a:spcPct val="150000"/>
              </a:lnSpc>
              <a:buNone/>
            </a:pPr>
            <a:r>
              <a:rPr lang="zh-CN" altLang="en-US" sz="2600" dirty="0"/>
              <a:t>（</a:t>
            </a:r>
            <a:r>
              <a:rPr lang="en-US" altLang="zh-CN" sz="2600" dirty="0"/>
              <a:t>1</a:t>
            </a:r>
            <a:r>
              <a:rPr lang="zh-CN" altLang="en-US" sz="2600" dirty="0"/>
              <a:t>）当用户执行</a:t>
            </a:r>
            <a:r>
              <a:rPr lang="en-US" altLang="zh-CN" sz="2600" dirty="0"/>
              <a:t>sudo</a:t>
            </a:r>
            <a:r>
              <a:rPr lang="zh-CN" altLang="en-US" sz="2600" dirty="0"/>
              <a:t>时，系统</a:t>
            </a:r>
            <a:r>
              <a:rPr lang="en-US" altLang="zh-CN" sz="2600" dirty="0"/>
              <a:t>/</a:t>
            </a:r>
            <a:r>
              <a:rPr lang="en-US" altLang="zh-CN" sz="2600" dirty="0" err="1"/>
              <a:t>etc</a:t>
            </a:r>
            <a:r>
              <a:rPr lang="en-US" altLang="zh-CN" sz="2600" dirty="0"/>
              <a:t>/</a:t>
            </a:r>
            <a:r>
              <a:rPr lang="en-US" altLang="zh-CN" sz="2600" dirty="0" err="1"/>
              <a:t>sudoers</a:t>
            </a:r>
            <a:r>
              <a:rPr lang="zh-CN" altLang="en-US" sz="2600" dirty="0"/>
              <a:t>文件查看该用户是否有执行</a:t>
            </a:r>
            <a:r>
              <a:rPr lang="en-US" altLang="zh-CN" sz="2600" dirty="0"/>
              <a:t>sudo</a:t>
            </a:r>
            <a:r>
              <a:rPr lang="zh-CN" altLang="en-US" sz="2600" dirty="0"/>
              <a:t>的权限；</a:t>
            </a:r>
            <a:endParaRPr lang="en-US" altLang="zh-CN" sz="2600" dirty="0"/>
          </a:p>
          <a:p>
            <a:pPr marL="0" indent="0">
              <a:lnSpc>
                <a:spcPct val="150000"/>
              </a:lnSpc>
              <a:buNone/>
            </a:pPr>
            <a:r>
              <a:rPr lang="zh-CN" altLang="en-US" sz="2600" dirty="0"/>
              <a:t>（</a:t>
            </a:r>
            <a:r>
              <a:rPr lang="en-US" altLang="zh-CN" sz="2600" dirty="0"/>
              <a:t>2</a:t>
            </a:r>
            <a:r>
              <a:rPr lang="zh-CN" altLang="en-US" sz="2600" dirty="0"/>
              <a:t>）确认用户具有可执行</a:t>
            </a:r>
            <a:r>
              <a:rPr lang="en-US" altLang="zh-CN" sz="2600" dirty="0"/>
              <a:t>sudo</a:t>
            </a:r>
            <a:r>
              <a:rPr lang="zh-CN" altLang="en-US" sz="2600" dirty="0"/>
              <a:t>的权限后，让用户输入用户自己的密码确认；</a:t>
            </a:r>
            <a:endParaRPr lang="en-US" altLang="zh-CN" sz="2600" dirty="0"/>
          </a:p>
          <a:p>
            <a:pPr marL="0" indent="0">
              <a:lnSpc>
                <a:spcPct val="150000"/>
              </a:lnSpc>
              <a:buNone/>
            </a:pPr>
            <a:r>
              <a:rPr lang="zh-CN" altLang="en-US" sz="2600" dirty="0"/>
              <a:t>（</a:t>
            </a:r>
            <a:r>
              <a:rPr lang="en-US" altLang="zh-CN" sz="2600" dirty="0"/>
              <a:t>3</a:t>
            </a:r>
            <a:r>
              <a:rPr lang="zh-CN" altLang="en-US" sz="2600" dirty="0"/>
              <a:t>）若密码输入成功，则开始执行</a:t>
            </a:r>
            <a:r>
              <a:rPr lang="en-US" altLang="zh-CN" sz="2600" dirty="0"/>
              <a:t>sudo</a:t>
            </a:r>
            <a:r>
              <a:rPr lang="zh-CN" altLang="en-US" sz="2600" dirty="0"/>
              <a:t>后续的命令。</a:t>
            </a:r>
            <a:endParaRPr lang="en-US" altLang="zh-CN" sz="2600" dirty="0"/>
          </a:p>
          <a:p>
            <a:pPr marL="0" indent="0">
              <a:lnSpc>
                <a:spcPct val="90000"/>
              </a:lnSpc>
              <a:buNone/>
            </a:pPr>
            <a:endParaRPr lang="en-US" altLang="zh-CN" sz="2400" dirty="0">
              <a:solidFill>
                <a:srgbClr val="CC0099"/>
              </a:solidFill>
            </a:endParaRPr>
          </a:p>
        </p:txBody>
      </p:sp>
      <p:sp>
        <p:nvSpPr>
          <p:cNvPr id="7" name="Rectangle 2"/>
          <p:cNvSpPr>
            <a:spLocks noGrp="1" noChangeArrowheads="1"/>
          </p:cNvSpPr>
          <p:nvPr>
            <p:ph type="title"/>
          </p:nvPr>
        </p:nvSpPr>
        <p:spPr>
          <a:xfrm>
            <a:off x="1991544" y="553939"/>
            <a:ext cx="8136904" cy="858837"/>
          </a:xfrm>
        </p:spPr>
        <p:txBody>
          <a:bodyPr/>
          <a:lstStyle/>
          <a:p>
            <a:pPr algn="ctr" eaLnBrk="1" hangingPunct="1"/>
            <a:r>
              <a:rPr lang="zh-CN" altLang="en-US" dirty="0">
                <a:latin typeface="+mj-ea"/>
              </a:rPr>
              <a:t>管理用户的</a:t>
            </a:r>
            <a:r>
              <a:rPr lang="en-US" altLang="zh-CN" dirty="0">
                <a:latin typeface="+mj-ea"/>
              </a:rPr>
              <a:t>Shell</a:t>
            </a:r>
            <a:r>
              <a:rPr lang="zh-CN" altLang="en-US" dirty="0">
                <a:latin typeface="+mj-ea"/>
              </a:rPr>
              <a:t>命令</a:t>
            </a:r>
          </a:p>
        </p:txBody>
      </p:sp>
      <p:sp>
        <p:nvSpPr>
          <p:cNvPr id="4" name="灯片编号占位符 1"/>
          <p:cNvSpPr>
            <a:spLocks noGrp="1"/>
          </p:cNvSpPr>
          <p:nvPr>
            <p:ph type="sldNum" sz="quarter" idx="11"/>
          </p:nvPr>
        </p:nvSpPr>
        <p:spPr>
          <a:xfrm>
            <a:off x="10416480" y="6400800"/>
            <a:ext cx="442541" cy="457200"/>
          </a:xfrm>
        </p:spPr>
        <p:txBody>
          <a:bodyPr/>
          <a:lstStyle/>
          <a:p>
            <a:pPr>
              <a:defRPr/>
            </a:pPr>
            <a:fld id="{110871B5-850E-4E14-A636-3EC679EBF038}" type="slidenum">
              <a:rPr lang="en-US" altLang="zh-CN" smtClean="0"/>
              <a:pPr>
                <a:defRPr/>
              </a:pPr>
              <a:t>46</a:t>
            </a:fld>
            <a:endParaRPr lang="en-US" altLang="zh-CN" dirty="0"/>
          </a:p>
        </p:txBody>
      </p:sp>
    </p:spTree>
    <p:extLst>
      <p:ext uri="{BB962C8B-B14F-4D97-AF65-F5344CB8AC3E}">
        <p14:creationId xmlns:p14="http://schemas.microsoft.com/office/powerpoint/2010/main" val="344663710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DFCE4D0A-CD38-C1C3-9C72-DFEFBA483AC0}"/>
              </a:ext>
            </a:extLst>
          </p:cNvPr>
          <p:cNvSpPr/>
          <p:nvPr/>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6627" name="内容占位符 2"/>
          <p:cNvSpPr>
            <a:spLocks noGrp="1"/>
          </p:cNvSpPr>
          <p:nvPr>
            <p:ph idx="1"/>
          </p:nvPr>
        </p:nvSpPr>
        <p:spPr>
          <a:xfrm>
            <a:off x="1055440" y="1412776"/>
            <a:ext cx="10153128" cy="5031106"/>
          </a:xfrm>
        </p:spPr>
        <p:txBody>
          <a:bodyPr/>
          <a:lstStyle/>
          <a:p>
            <a:pPr marL="0" indent="0">
              <a:lnSpc>
                <a:spcPct val="90000"/>
              </a:lnSpc>
              <a:buNone/>
            </a:pPr>
            <a:r>
              <a:rPr lang="zh-CN" altLang="en-US" sz="2600" dirty="0">
                <a:solidFill>
                  <a:srgbClr val="0000CC"/>
                </a:solidFill>
              </a:rPr>
              <a:t>例如</a:t>
            </a:r>
            <a:r>
              <a:rPr lang="zh-CN" altLang="en-US" sz="2600" dirty="0"/>
              <a:t>：在</a:t>
            </a:r>
            <a:r>
              <a:rPr lang="en-US" altLang="zh-CN" sz="2600" dirty="0"/>
              <a:t>lily</a:t>
            </a:r>
            <a:r>
              <a:rPr lang="zh-CN" altLang="en-US" sz="2600" dirty="0"/>
              <a:t>用户下，使用</a:t>
            </a:r>
            <a:r>
              <a:rPr lang="en-US" altLang="zh-CN" sz="2600" dirty="0"/>
              <a:t>sudo</a:t>
            </a:r>
            <a:r>
              <a:rPr lang="zh-CN" altLang="en-US" sz="2600" dirty="0"/>
              <a:t>命令查看</a:t>
            </a:r>
            <a:r>
              <a:rPr lang="en-US" altLang="zh-CN" sz="2600" dirty="0"/>
              <a:t>/</a:t>
            </a:r>
            <a:r>
              <a:rPr lang="en-US" altLang="zh-CN" sz="2600" dirty="0" err="1"/>
              <a:t>etc</a:t>
            </a:r>
            <a:r>
              <a:rPr lang="en-US" altLang="zh-CN" sz="2600" dirty="0"/>
              <a:t>/shadow</a:t>
            </a:r>
            <a:r>
              <a:rPr lang="zh-CN" altLang="en-US" sz="2600" dirty="0"/>
              <a:t>文件的前</a:t>
            </a:r>
            <a:r>
              <a:rPr lang="en-US" altLang="zh-CN" sz="2600" dirty="0"/>
              <a:t>3</a:t>
            </a:r>
            <a:r>
              <a:rPr lang="zh-CN" altLang="en-US" sz="2600" dirty="0"/>
              <a:t>行。</a:t>
            </a:r>
            <a:endParaRPr lang="en-US" altLang="zh-CN" sz="2600" dirty="0"/>
          </a:p>
          <a:p>
            <a:pPr marL="0" indent="0">
              <a:lnSpc>
                <a:spcPct val="80000"/>
              </a:lnSpc>
              <a:buNone/>
            </a:pPr>
            <a:r>
              <a:rPr lang="zh-CN" altLang="en-US" sz="2600" dirty="0">
                <a:solidFill>
                  <a:srgbClr val="0000CC"/>
                </a:solidFill>
              </a:rPr>
              <a:t>第</a:t>
            </a:r>
            <a:r>
              <a:rPr lang="en-US" altLang="zh-CN" sz="2600" dirty="0">
                <a:solidFill>
                  <a:srgbClr val="0000CC"/>
                </a:solidFill>
              </a:rPr>
              <a:t>1</a:t>
            </a:r>
            <a:r>
              <a:rPr lang="zh-CN" altLang="en-US" sz="2600" dirty="0">
                <a:solidFill>
                  <a:srgbClr val="0000CC"/>
                </a:solidFill>
              </a:rPr>
              <a:t>步</a:t>
            </a:r>
            <a:r>
              <a:rPr lang="zh-CN" altLang="en-US" sz="2600" dirty="0"/>
              <a:t>：</a:t>
            </a:r>
            <a:r>
              <a:rPr lang="en-US" altLang="zh-CN" sz="2600" dirty="0"/>
              <a:t>root</a:t>
            </a:r>
            <a:r>
              <a:rPr lang="zh-CN" altLang="en-US" sz="2600" dirty="0"/>
              <a:t>用户使用</a:t>
            </a:r>
            <a:r>
              <a:rPr lang="en-US" altLang="zh-CN" sz="2600" dirty="0" err="1"/>
              <a:t>visudo</a:t>
            </a:r>
            <a:r>
              <a:rPr lang="zh-CN" altLang="en-US" sz="2600" dirty="0"/>
              <a:t>命令编辑</a:t>
            </a:r>
            <a:r>
              <a:rPr lang="en-US" altLang="zh-CN" sz="2600" dirty="0"/>
              <a:t>/</a:t>
            </a:r>
            <a:r>
              <a:rPr lang="en-US" altLang="zh-CN" sz="2600" dirty="0" err="1"/>
              <a:t>etc</a:t>
            </a:r>
            <a:r>
              <a:rPr lang="en-US" altLang="zh-CN" sz="2600" dirty="0"/>
              <a:t>/</a:t>
            </a:r>
            <a:r>
              <a:rPr lang="en-US" altLang="zh-CN" sz="2600" dirty="0" err="1"/>
              <a:t>sudoers</a:t>
            </a:r>
            <a:r>
              <a:rPr lang="zh-CN" altLang="en-US" sz="2600" dirty="0"/>
              <a:t>文件，让</a:t>
            </a:r>
            <a:r>
              <a:rPr lang="en-US" altLang="zh-CN" sz="2600" dirty="0"/>
              <a:t>lily</a:t>
            </a:r>
            <a:r>
              <a:rPr lang="zh-CN" altLang="en-US" sz="2600" dirty="0"/>
              <a:t>账号具有查看</a:t>
            </a:r>
            <a:r>
              <a:rPr lang="en-US" altLang="zh-CN" sz="2600" dirty="0"/>
              <a:t>/</a:t>
            </a:r>
            <a:r>
              <a:rPr lang="en-US" altLang="zh-CN" sz="2600" dirty="0" err="1"/>
              <a:t>etc</a:t>
            </a:r>
            <a:r>
              <a:rPr lang="en-US" altLang="zh-CN" sz="2600" dirty="0"/>
              <a:t>/shadow</a:t>
            </a:r>
            <a:r>
              <a:rPr lang="zh-CN" altLang="en-US" sz="2600" dirty="0"/>
              <a:t>的权限。</a:t>
            </a:r>
          </a:p>
          <a:p>
            <a:pPr marL="0" indent="0">
              <a:lnSpc>
                <a:spcPct val="80000"/>
              </a:lnSpc>
              <a:buNone/>
            </a:pPr>
            <a:r>
              <a:rPr lang="en-US" altLang="zh-CN" sz="2000" dirty="0"/>
              <a:t>……</a:t>
            </a:r>
          </a:p>
          <a:p>
            <a:pPr marL="0" indent="0">
              <a:lnSpc>
                <a:spcPct val="80000"/>
              </a:lnSpc>
              <a:buNone/>
            </a:pPr>
            <a:r>
              <a:rPr lang="en-US" altLang="zh-CN" sz="2400" dirty="0"/>
              <a:t>root  ALL=</a:t>
            </a:r>
            <a:r>
              <a:rPr lang="zh-CN" altLang="en-US" sz="2400" dirty="0"/>
              <a:t>（</a:t>
            </a:r>
            <a:r>
              <a:rPr lang="en-US" altLang="zh-CN" sz="2400" dirty="0"/>
              <a:t>ALL</a:t>
            </a:r>
            <a:r>
              <a:rPr lang="zh-CN" altLang="en-US" sz="2400" dirty="0"/>
              <a:t>）</a:t>
            </a:r>
            <a:r>
              <a:rPr lang="en-US" altLang="zh-CN" sz="2400" dirty="0"/>
              <a:t>   ALL</a:t>
            </a:r>
          </a:p>
          <a:p>
            <a:pPr marL="0" indent="0">
              <a:lnSpc>
                <a:spcPct val="80000"/>
              </a:lnSpc>
              <a:buNone/>
            </a:pPr>
            <a:r>
              <a:rPr lang="en-US" altLang="zh-CN" sz="2400" dirty="0">
                <a:solidFill>
                  <a:srgbClr val="CC0099"/>
                </a:solidFill>
              </a:rPr>
              <a:t>lily    ALL=</a:t>
            </a:r>
            <a:r>
              <a:rPr lang="zh-CN" altLang="en-US" sz="2400" dirty="0">
                <a:solidFill>
                  <a:srgbClr val="CC0099"/>
                </a:solidFill>
              </a:rPr>
              <a:t>（</a:t>
            </a:r>
            <a:r>
              <a:rPr lang="en-US" altLang="zh-CN" sz="2400" dirty="0">
                <a:solidFill>
                  <a:srgbClr val="CC0099"/>
                </a:solidFill>
              </a:rPr>
              <a:t>root</a:t>
            </a:r>
            <a:r>
              <a:rPr lang="zh-CN" altLang="en-US" sz="2400" dirty="0">
                <a:solidFill>
                  <a:srgbClr val="CC0099"/>
                </a:solidFill>
              </a:rPr>
              <a:t>）   </a:t>
            </a:r>
            <a:r>
              <a:rPr lang="en-US" altLang="zh-CN" sz="2400" dirty="0">
                <a:solidFill>
                  <a:srgbClr val="CC0099"/>
                </a:solidFill>
              </a:rPr>
              <a:t>/bin/head</a:t>
            </a:r>
          </a:p>
          <a:p>
            <a:pPr marL="0" indent="0">
              <a:lnSpc>
                <a:spcPct val="80000"/>
              </a:lnSpc>
              <a:buNone/>
            </a:pPr>
            <a:r>
              <a:rPr lang="zh-CN" altLang="en-US" sz="2600" dirty="0">
                <a:solidFill>
                  <a:srgbClr val="0000CC"/>
                </a:solidFill>
              </a:rPr>
              <a:t>第</a:t>
            </a:r>
            <a:r>
              <a:rPr lang="en-US" altLang="zh-CN" sz="2600" dirty="0">
                <a:solidFill>
                  <a:srgbClr val="0000CC"/>
                </a:solidFill>
              </a:rPr>
              <a:t>2</a:t>
            </a:r>
            <a:r>
              <a:rPr lang="zh-CN" altLang="en-US" sz="2600" dirty="0">
                <a:solidFill>
                  <a:srgbClr val="0000CC"/>
                </a:solidFill>
              </a:rPr>
              <a:t>步</a:t>
            </a:r>
            <a:r>
              <a:rPr lang="zh-CN" altLang="en-US" sz="2600" dirty="0"/>
              <a:t>：切换回</a:t>
            </a:r>
            <a:r>
              <a:rPr lang="en-US" altLang="zh-CN" sz="2600" dirty="0"/>
              <a:t>lily</a:t>
            </a:r>
            <a:r>
              <a:rPr lang="zh-CN" altLang="en-US" sz="2600" dirty="0"/>
              <a:t>用户，查看</a:t>
            </a:r>
            <a:r>
              <a:rPr lang="en-US" altLang="zh-CN" sz="2600" dirty="0"/>
              <a:t>/</a:t>
            </a:r>
            <a:r>
              <a:rPr lang="en-US" altLang="zh-CN" sz="2600" dirty="0" err="1"/>
              <a:t>etc</a:t>
            </a:r>
            <a:r>
              <a:rPr lang="en-US" altLang="zh-CN" sz="2600" dirty="0"/>
              <a:t>/shadow</a:t>
            </a:r>
            <a:r>
              <a:rPr lang="zh-CN" altLang="en-US" sz="2600" dirty="0"/>
              <a:t>文件</a:t>
            </a:r>
            <a:endParaRPr lang="en-US" altLang="zh-CN" sz="2600" dirty="0"/>
          </a:p>
          <a:p>
            <a:pPr marL="0" indent="0">
              <a:buNone/>
            </a:pPr>
            <a:r>
              <a:rPr lang="en-US" altLang="zh-CN" sz="2400" dirty="0"/>
              <a:t>[</a:t>
            </a:r>
            <a:r>
              <a:rPr lang="en-US" altLang="zh-CN" sz="2400" dirty="0" err="1"/>
              <a:t>lily@localhost</a:t>
            </a:r>
            <a:r>
              <a:rPr lang="en-US" altLang="zh-CN" sz="2400" dirty="0"/>
              <a:t>  ~ ] $  sudo -u root head -3 /</a:t>
            </a:r>
            <a:r>
              <a:rPr lang="en-US" altLang="zh-CN" sz="2400" dirty="0" err="1"/>
              <a:t>etc</a:t>
            </a:r>
            <a:r>
              <a:rPr lang="en-US" altLang="zh-CN" sz="2400" dirty="0"/>
              <a:t>/shadow</a:t>
            </a:r>
          </a:p>
          <a:p>
            <a:pPr marL="0" indent="0">
              <a:lnSpc>
                <a:spcPct val="90000"/>
              </a:lnSpc>
              <a:buNone/>
            </a:pPr>
            <a:endParaRPr lang="en-US" altLang="zh-CN" sz="2400" dirty="0">
              <a:solidFill>
                <a:srgbClr val="CC0099"/>
              </a:solidFill>
            </a:endParaRPr>
          </a:p>
        </p:txBody>
      </p:sp>
      <p:sp>
        <p:nvSpPr>
          <p:cNvPr id="7" name="Rectangle 2"/>
          <p:cNvSpPr>
            <a:spLocks noGrp="1" noChangeArrowheads="1"/>
          </p:cNvSpPr>
          <p:nvPr>
            <p:ph type="title"/>
          </p:nvPr>
        </p:nvSpPr>
        <p:spPr>
          <a:xfrm>
            <a:off x="2135560" y="481931"/>
            <a:ext cx="7543800" cy="858837"/>
          </a:xfrm>
        </p:spPr>
        <p:txBody>
          <a:bodyPr/>
          <a:lstStyle/>
          <a:p>
            <a:pPr algn="ctr" eaLnBrk="1" hangingPunct="1"/>
            <a:r>
              <a:rPr lang="zh-CN" altLang="en-US" dirty="0">
                <a:latin typeface="+mj-ea"/>
              </a:rPr>
              <a:t>管理用户的</a:t>
            </a:r>
            <a:r>
              <a:rPr lang="en-US" altLang="zh-CN" dirty="0">
                <a:latin typeface="+mj-ea"/>
              </a:rPr>
              <a:t>Shell</a:t>
            </a:r>
            <a:r>
              <a:rPr lang="zh-CN" altLang="en-US" dirty="0">
                <a:latin typeface="+mj-ea"/>
              </a:rPr>
              <a:t>命令</a:t>
            </a:r>
          </a:p>
        </p:txBody>
      </p:sp>
      <p:sp>
        <p:nvSpPr>
          <p:cNvPr id="4" name="灯片编号占位符 1"/>
          <p:cNvSpPr>
            <a:spLocks noGrp="1"/>
          </p:cNvSpPr>
          <p:nvPr>
            <p:ph type="sldNum" sz="quarter" idx="11"/>
          </p:nvPr>
        </p:nvSpPr>
        <p:spPr>
          <a:xfrm>
            <a:off x="10359255" y="6389206"/>
            <a:ext cx="514549" cy="457200"/>
          </a:xfrm>
        </p:spPr>
        <p:txBody>
          <a:bodyPr/>
          <a:lstStyle/>
          <a:p>
            <a:pPr>
              <a:defRPr/>
            </a:pPr>
            <a:fld id="{110871B5-850E-4E14-A636-3EC679EBF038}" type="slidenum">
              <a:rPr lang="en-US" altLang="zh-CN" smtClean="0"/>
              <a:pPr>
                <a:defRPr/>
              </a:pPr>
              <a:t>47</a:t>
            </a:fld>
            <a:endParaRPr lang="en-US" altLang="zh-CN" dirty="0"/>
          </a:p>
        </p:txBody>
      </p:sp>
      <p:pic>
        <p:nvPicPr>
          <p:cNvPr id="2" name="图片 1">
            <a:extLst>
              <a:ext uri="{FF2B5EF4-FFF2-40B4-BE49-F238E27FC236}">
                <a16:creationId xmlns:a16="http://schemas.microsoft.com/office/drawing/2014/main" id="{A4DCF42D-5B26-E23F-CB9A-8DF43884090F}"/>
              </a:ext>
            </a:extLst>
          </p:cNvPr>
          <p:cNvPicPr>
            <a:picLocks noChangeAspect="1"/>
          </p:cNvPicPr>
          <p:nvPr/>
        </p:nvPicPr>
        <p:blipFill>
          <a:blip r:embed="rId3"/>
          <a:stretch>
            <a:fillRect/>
          </a:stretch>
        </p:blipFill>
        <p:spPr>
          <a:xfrm>
            <a:off x="1852126" y="4488135"/>
            <a:ext cx="8535373" cy="1790746"/>
          </a:xfrm>
          <a:prstGeom prst="rect">
            <a:avLst/>
          </a:prstGeom>
        </p:spPr>
      </p:pic>
    </p:spTree>
    <p:extLst>
      <p:ext uri="{BB962C8B-B14F-4D97-AF65-F5344CB8AC3E}">
        <p14:creationId xmlns:p14="http://schemas.microsoft.com/office/powerpoint/2010/main" val="158869687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59D12FD6-A3C4-90C0-302A-BFC48860F75D}"/>
              </a:ext>
            </a:extLst>
          </p:cNvPr>
          <p:cNvSpPr/>
          <p:nvPr/>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627" name="内容占位符 2"/>
          <p:cNvSpPr>
            <a:spLocks noGrp="1"/>
          </p:cNvSpPr>
          <p:nvPr>
            <p:ph idx="1"/>
          </p:nvPr>
        </p:nvSpPr>
        <p:spPr>
          <a:xfrm>
            <a:off x="1235460" y="1847629"/>
            <a:ext cx="9721080" cy="2304256"/>
          </a:xfrm>
        </p:spPr>
        <p:txBody>
          <a:bodyPr/>
          <a:lstStyle/>
          <a:p>
            <a:pPr marL="0" indent="0">
              <a:buNone/>
            </a:pPr>
            <a:r>
              <a:rPr lang="zh-CN" altLang="en-US" sz="2600" dirty="0">
                <a:solidFill>
                  <a:srgbClr val="0000CC"/>
                </a:solidFill>
              </a:rPr>
              <a:t>例如</a:t>
            </a:r>
            <a:r>
              <a:rPr lang="zh-CN" altLang="en-US" sz="2600" dirty="0"/>
              <a:t>：在</a:t>
            </a:r>
            <a:r>
              <a:rPr lang="en-US" altLang="zh-CN" sz="2600" dirty="0"/>
              <a:t>lily</a:t>
            </a:r>
            <a:r>
              <a:rPr lang="zh-CN" altLang="en-US" sz="2600" dirty="0"/>
              <a:t>用户下创建新账号</a:t>
            </a:r>
            <a:r>
              <a:rPr lang="en-US" altLang="zh-CN" sz="2600" dirty="0"/>
              <a:t>Helen</a:t>
            </a:r>
            <a:r>
              <a:rPr lang="zh-CN" altLang="en-US" sz="2600" dirty="0"/>
              <a:t>，并查看</a:t>
            </a:r>
            <a:r>
              <a:rPr lang="en-US" altLang="zh-CN" sz="2600" dirty="0"/>
              <a:t>/</a:t>
            </a:r>
            <a:r>
              <a:rPr lang="en-US" altLang="zh-CN" sz="2600" dirty="0" err="1"/>
              <a:t>etc</a:t>
            </a:r>
            <a:r>
              <a:rPr lang="en-US" altLang="zh-CN" sz="2600" dirty="0"/>
              <a:t>/passwd</a:t>
            </a:r>
            <a:r>
              <a:rPr lang="zh-CN" altLang="en-US" sz="2600" dirty="0"/>
              <a:t>文件的最后一行。</a:t>
            </a:r>
            <a:endParaRPr lang="en-US" altLang="zh-CN" sz="2600" dirty="0"/>
          </a:p>
          <a:p>
            <a:pPr marL="0" indent="0">
              <a:buNone/>
            </a:pPr>
            <a:r>
              <a:rPr lang="en-US" altLang="zh-CN" sz="2600" dirty="0"/>
              <a:t>root</a:t>
            </a:r>
            <a:r>
              <a:rPr lang="zh-CN" altLang="en-US" sz="2600" dirty="0"/>
              <a:t>用户使用</a:t>
            </a:r>
            <a:r>
              <a:rPr lang="en-US" altLang="zh-CN" sz="2600" dirty="0" err="1"/>
              <a:t>visudo</a:t>
            </a:r>
            <a:r>
              <a:rPr lang="zh-CN" altLang="en-US" sz="2600" dirty="0"/>
              <a:t>命令编辑</a:t>
            </a:r>
            <a:r>
              <a:rPr lang="en-US" altLang="zh-CN" sz="2600" dirty="0"/>
              <a:t>/</a:t>
            </a:r>
            <a:r>
              <a:rPr lang="en-US" altLang="zh-CN" sz="2600" dirty="0" err="1"/>
              <a:t>etc</a:t>
            </a:r>
            <a:r>
              <a:rPr lang="en-US" altLang="zh-CN" sz="2600" dirty="0"/>
              <a:t>/</a:t>
            </a:r>
            <a:r>
              <a:rPr lang="en-US" altLang="zh-CN" sz="2600" dirty="0" err="1"/>
              <a:t>sudoers</a:t>
            </a:r>
            <a:r>
              <a:rPr lang="zh-CN" altLang="en-US" sz="2600" dirty="0"/>
              <a:t>文件</a:t>
            </a:r>
            <a:endParaRPr lang="en-US" altLang="zh-CN" sz="2600" dirty="0"/>
          </a:p>
          <a:p>
            <a:pPr marL="0" indent="0">
              <a:buNone/>
            </a:pPr>
            <a:r>
              <a:rPr lang="en-US" altLang="zh-CN" sz="2600" dirty="0"/>
              <a:t>……</a:t>
            </a:r>
          </a:p>
          <a:p>
            <a:pPr marL="0" indent="0">
              <a:buNone/>
            </a:pPr>
            <a:r>
              <a:rPr lang="en-US" altLang="zh-CN" sz="2400" dirty="0">
                <a:solidFill>
                  <a:srgbClr val="CC0099"/>
                </a:solidFill>
              </a:rPr>
              <a:t>lily    ALL=</a:t>
            </a:r>
            <a:r>
              <a:rPr lang="zh-CN" altLang="en-US" sz="2400" dirty="0">
                <a:solidFill>
                  <a:srgbClr val="CC0099"/>
                </a:solidFill>
              </a:rPr>
              <a:t>（</a:t>
            </a:r>
            <a:r>
              <a:rPr lang="en-US" altLang="zh-CN" sz="2400" dirty="0">
                <a:solidFill>
                  <a:srgbClr val="CC0099"/>
                </a:solidFill>
              </a:rPr>
              <a:t>root</a:t>
            </a:r>
            <a:r>
              <a:rPr lang="zh-CN" altLang="en-US" sz="2400" dirty="0">
                <a:solidFill>
                  <a:srgbClr val="CC0099"/>
                </a:solidFill>
              </a:rPr>
              <a:t>）   </a:t>
            </a:r>
            <a:r>
              <a:rPr lang="en-US" altLang="zh-CN" sz="2400" dirty="0">
                <a:solidFill>
                  <a:srgbClr val="CC0099"/>
                </a:solidFill>
              </a:rPr>
              <a:t>/bin/head,   /</a:t>
            </a:r>
            <a:r>
              <a:rPr lang="en-US" altLang="zh-CN" sz="2400" dirty="0" err="1">
                <a:solidFill>
                  <a:srgbClr val="CC0099"/>
                </a:solidFill>
              </a:rPr>
              <a:t>sbin</a:t>
            </a:r>
            <a:r>
              <a:rPr lang="en-US" altLang="zh-CN" sz="2400" dirty="0">
                <a:solidFill>
                  <a:srgbClr val="CC0099"/>
                </a:solidFill>
              </a:rPr>
              <a:t>/</a:t>
            </a:r>
            <a:r>
              <a:rPr lang="en-US" altLang="zh-CN" sz="2400" dirty="0" err="1">
                <a:solidFill>
                  <a:srgbClr val="CC0099"/>
                </a:solidFill>
              </a:rPr>
              <a:t>useradd</a:t>
            </a:r>
            <a:endParaRPr lang="en-US" altLang="zh-CN" sz="2400" dirty="0">
              <a:solidFill>
                <a:srgbClr val="CC0099"/>
              </a:solidFill>
            </a:endParaRPr>
          </a:p>
          <a:p>
            <a:pPr marL="0" indent="0">
              <a:buNone/>
            </a:pPr>
            <a:endParaRPr lang="zh-CN" altLang="en-US" sz="2600" dirty="0"/>
          </a:p>
          <a:p>
            <a:pPr marL="0" indent="0">
              <a:buNone/>
            </a:pPr>
            <a:endParaRPr lang="en-US" altLang="zh-CN" sz="2400" dirty="0"/>
          </a:p>
        </p:txBody>
      </p:sp>
      <p:sp>
        <p:nvSpPr>
          <p:cNvPr id="7" name="Rectangle 2"/>
          <p:cNvSpPr>
            <a:spLocks noGrp="1" noChangeArrowheads="1"/>
          </p:cNvSpPr>
          <p:nvPr>
            <p:ph type="title"/>
          </p:nvPr>
        </p:nvSpPr>
        <p:spPr>
          <a:xfrm>
            <a:off x="1991544" y="577653"/>
            <a:ext cx="7848872" cy="858837"/>
          </a:xfrm>
        </p:spPr>
        <p:txBody>
          <a:bodyPr/>
          <a:lstStyle/>
          <a:p>
            <a:pPr algn="ctr" eaLnBrk="1" hangingPunct="1"/>
            <a:r>
              <a:rPr lang="zh-CN" altLang="en-US" dirty="0">
                <a:latin typeface="+mj-ea"/>
              </a:rPr>
              <a:t>管理用户的</a:t>
            </a:r>
            <a:r>
              <a:rPr lang="en-US" altLang="zh-CN" dirty="0">
                <a:latin typeface="+mj-ea"/>
              </a:rPr>
              <a:t>Shell</a:t>
            </a:r>
            <a:r>
              <a:rPr lang="zh-CN" altLang="en-US" dirty="0">
                <a:latin typeface="+mj-ea"/>
              </a:rPr>
              <a:t>命令</a:t>
            </a:r>
          </a:p>
        </p:txBody>
      </p:sp>
      <p:pic>
        <p:nvPicPr>
          <p:cNvPr id="9" name="图片 8">
            <a:extLst>
              <a:ext uri="{FF2B5EF4-FFF2-40B4-BE49-F238E27FC236}">
                <a16:creationId xmlns:a16="http://schemas.microsoft.com/office/drawing/2014/main" id="{9E0C96ED-5335-9679-B85E-28AC1F1CCD6B}"/>
              </a:ext>
            </a:extLst>
          </p:cNvPr>
          <p:cNvPicPr>
            <a:picLocks noChangeAspect="1"/>
          </p:cNvPicPr>
          <p:nvPr/>
        </p:nvPicPr>
        <p:blipFill>
          <a:blip r:embed="rId3"/>
          <a:stretch>
            <a:fillRect/>
          </a:stretch>
        </p:blipFill>
        <p:spPr>
          <a:xfrm>
            <a:off x="1338920" y="4262211"/>
            <a:ext cx="9036612" cy="1418621"/>
          </a:xfrm>
          <a:prstGeom prst="rect">
            <a:avLst/>
          </a:prstGeom>
        </p:spPr>
      </p:pic>
      <p:sp>
        <p:nvSpPr>
          <p:cNvPr id="8" name="灯片编号占位符 1">
            <a:extLst>
              <a:ext uri="{FF2B5EF4-FFF2-40B4-BE49-F238E27FC236}">
                <a16:creationId xmlns:a16="http://schemas.microsoft.com/office/drawing/2014/main" id="{BC924748-27E6-4CCF-B0B4-A1EA70685216}"/>
              </a:ext>
            </a:extLst>
          </p:cNvPr>
          <p:cNvSpPr txBox="1">
            <a:spLocks/>
          </p:cNvSpPr>
          <p:nvPr/>
        </p:nvSpPr>
        <p:spPr bwMode="auto">
          <a:xfrm>
            <a:off x="10359255" y="6389206"/>
            <a:ext cx="514549"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zh-CN"/>
            </a:defPPr>
            <a:lvl1pPr algn="r" rtl="0" fontAlgn="base">
              <a:spcBef>
                <a:spcPct val="0"/>
              </a:spcBef>
              <a:spcAft>
                <a:spcPct val="0"/>
              </a:spcAft>
              <a:defRPr sz="1600" b="1" kern="1200">
                <a:solidFill>
                  <a:schemeClr val="tx1"/>
                </a:solidFill>
                <a:latin typeface="Arial" charset="0"/>
                <a:ea typeface="宋体" pitchFamily="2" charset="-122"/>
                <a:cs typeface="+mn-cs"/>
              </a:defRPr>
            </a:lvl1pPr>
            <a:lvl2pPr marL="457200" algn="ctr" rtl="0" fontAlgn="base">
              <a:spcBef>
                <a:spcPct val="0"/>
              </a:spcBef>
              <a:spcAft>
                <a:spcPct val="0"/>
              </a:spcAft>
              <a:defRPr b="1" kern="1200">
                <a:solidFill>
                  <a:schemeClr val="tx1"/>
                </a:solidFill>
                <a:latin typeface="Arial" charset="0"/>
                <a:ea typeface="宋体" pitchFamily="2" charset="-122"/>
                <a:cs typeface="+mn-cs"/>
              </a:defRPr>
            </a:lvl2pPr>
            <a:lvl3pPr marL="914400" algn="ctr" rtl="0" fontAlgn="base">
              <a:spcBef>
                <a:spcPct val="0"/>
              </a:spcBef>
              <a:spcAft>
                <a:spcPct val="0"/>
              </a:spcAft>
              <a:defRPr b="1" kern="1200">
                <a:solidFill>
                  <a:schemeClr val="tx1"/>
                </a:solidFill>
                <a:latin typeface="Arial" charset="0"/>
                <a:ea typeface="宋体" pitchFamily="2" charset="-122"/>
                <a:cs typeface="+mn-cs"/>
              </a:defRPr>
            </a:lvl3pPr>
            <a:lvl4pPr marL="1371600" algn="ctr" rtl="0" fontAlgn="base">
              <a:spcBef>
                <a:spcPct val="0"/>
              </a:spcBef>
              <a:spcAft>
                <a:spcPct val="0"/>
              </a:spcAft>
              <a:defRPr b="1" kern="1200">
                <a:solidFill>
                  <a:schemeClr val="tx1"/>
                </a:solidFill>
                <a:latin typeface="Arial" charset="0"/>
                <a:ea typeface="宋体" pitchFamily="2" charset="-122"/>
                <a:cs typeface="+mn-cs"/>
              </a:defRPr>
            </a:lvl4pPr>
            <a:lvl5pPr marL="1828800" algn="ctr" rtl="0" fontAlgn="base">
              <a:spcBef>
                <a:spcPct val="0"/>
              </a:spcBef>
              <a:spcAft>
                <a:spcPct val="0"/>
              </a:spcAft>
              <a:defRPr b="1" kern="1200">
                <a:solidFill>
                  <a:schemeClr val="tx1"/>
                </a:solidFill>
                <a:latin typeface="Arial" charset="0"/>
                <a:ea typeface="宋体" pitchFamily="2" charset="-122"/>
                <a:cs typeface="+mn-cs"/>
              </a:defRPr>
            </a:lvl5pPr>
            <a:lvl6pPr marL="2286000" algn="l" defTabSz="914400" rtl="0" eaLnBrk="1" latinLnBrk="0" hangingPunct="1">
              <a:defRPr b="1" kern="1200">
                <a:solidFill>
                  <a:schemeClr val="tx1"/>
                </a:solidFill>
                <a:latin typeface="Arial" charset="0"/>
                <a:ea typeface="宋体" pitchFamily="2" charset="-122"/>
                <a:cs typeface="+mn-cs"/>
              </a:defRPr>
            </a:lvl6pPr>
            <a:lvl7pPr marL="2743200" algn="l" defTabSz="914400" rtl="0" eaLnBrk="1" latinLnBrk="0" hangingPunct="1">
              <a:defRPr b="1" kern="1200">
                <a:solidFill>
                  <a:schemeClr val="tx1"/>
                </a:solidFill>
                <a:latin typeface="Arial" charset="0"/>
                <a:ea typeface="宋体" pitchFamily="2" charset="-122"/>
                <a:cs typeface="+mn-cs"/>
              </a:defRPr>
            </a:lvl7pPr>
            <a:lvl8pPr marL="3200400" algn="l" defTabSz="914400" rtl="0" eaLnBrk="1" latinLnBrk="0" hangingPunct="1">
              <a:defRPr b="1" kern="1200">
                <a:solidFill>
                  <a:schemeClr val="tx1"/>
                </a:solidFill>
                <a:latin typeface="Arial" charset="0"/>
                <a:ea typeface="宋体" pitchFamily="2" charset="-122"/>
                <a:cs typeface="+mn-cs"/>
              </a:defRPr>
            </a:lvl8pPr>
            <a:lvl9pPr marL="3657600" algn="l" defTabSz="914400" rtl="0" eaLnBrk="1" latinLnBrk="0" hangingPunct="1">
              <a:defRPr b="1" kern="1200">
                <a:solidFill>
                  <a:schemeClr val="tx1"/>
                </a:solidFill>
                <a:latin typeface="Arial" charset="0"/>
                <a:ea typeface="宋体" pitchFamily="2" charset="-122"/>
                <a:cs typeface="+mn-cs"/>
              </a:defRPr>
            </a:lvl9pPr>
          </a:lstStyle>
          <a:p>
            <a:pPr>
              <a:defRPr/>
            </a:pPr>
            <a:fld id="{110871B5-850E-4E14-A636-3EC679EBF038}" type="slidenum">
              <a:rPr lang="en-US" altLang="zh-CN" smtClean="0"/>
              <a:pPr>
                <a:defRPr/>
              </a:pPr>
              <a:t>48</a:t>
            </a:fld>
            <a:endParaRPr lang="en-US" altLang="zh-CN" dirty="0"/>
          </a:p>
        </p:txBody>
      </p:sp>
    </p:spTree>
    <p:extLst>
      <p:ext uri="{BB962C8B-B14F-4D97-AF65-F5344CB8AC3E}">
        <p14:creationId xmlns:p14="http://schemas.microsoft.com/office/powerpoint/2010/main" val="308714996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31DD3AE-ED63-8CB9-E40F-F6DD0EE4C4FA}"/>
              </a:ext>
            </a:extLst>
          </p:cNvPr>
          <p:cNvSpPr/>
          <p:nvPr/>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627" name="内容占位符 2"/>
          <p:cNvSpPr>
            <a:spLocks noGrp="1"/>
          </p:cNvSpPr>
          <p:nvPr>
            <p:ph idx="1"/>
          </p:nvPr>
        </p:nvSpPr>
        <p:spPr>
          <a:xfrm>
            <a:off x="1335584" y="1232094"/>
            <a:ext cx="9530332" cy="5157112"/>
          </a:xfrm>
        </p:spPr>
        <p:txBody>
          <a:bodyPr/>
          <a:lstStyle/>
          <a:p>
            <a:pPr marL="0" indent="0">
              <a:lnSpc>
                <a:spcPct val="85000"/>
              </a:lnSpc>
              <a:buNone/>
            </a:pPr>
            <a:r>
              <a:rPr lang="en-US" altLang="zh-CN" sz="2600" dirty="0">
                <a:solidFill>
                  <a:srgbClr val="0000CC"/>
                </a:solidFill>
              </a:rPr>
              <a:t>id</a:t>
            </a:r>
            <a:r>
              <a:rPr lang="zh-CN" altLang="en-US" sz="2600" dirty="0">
                <a:solidFill>
                  <a:srgbClr val="0000CC"/>
                </a:solidFill>
              </a:rPr>
              <a:t>命令</a:t>
            </a:r>
            <a:endParaRPr lang="en-US" altLang="zh-CN" sz="2600" dirty="0">
              <a:solidFill>
                <a:srgbClr val="0000CC"/>
              </a:solidFill>
            </a:endParaRPr>
          </a:p>
          <a:p>
            <a:pPr marL="0" indent="0">
              <a:lnSpc>
                <a:spcPct val="85000"/>
              </a:lnSpc>
              <a:buNone/>
            </a:pPr>
            <a:r>
              <a:rPr lang="zh-CN" altLang="en-US" sz="2600" dirty="0"/>
              <a:t>格式：</a:t>
            </a:r>
            <a:r>
              <a:rPr lang="en-US" altLang="zh-CN" sz="2600" dirty="0">
                <a:solidFill>
                  <a:srgbClr val="CC0099"/>
                </a:solidFill>
              </a:rPr>
              <a:t>id    [</a:t>
            </a:r>
            <a:r>
              <a:rPr lang="zh-CN" altLang="en-US" sz="2600" dirty="0">
                <a:solidFill>
                  <a:srgbClr val="CC0099"/>
                </a:solidFill>
              </a:rPr>
              <a:t>用户名</a:t>
            </a:r>
            <a:r>
              <a:rPr lang="en-US" altLang="zh-CN" sz="2600" dirty="0">
                <a:solidFill>
                  <a:srgbClr val="CC0099"/>
                </a:solidFill>
              </a:rPr>
              <a:t>]</a:t>
            </a:r>
            <a:endParaRPr lang="zh-CN" altLang="en-US" sz="2600" dirty="0">
              <a:solidFill>
                <a:srgbClr val="CC0099"/>
              </a:solidFill>
            </a:endParaRPr>
          </a:p>
          <a:p>
            <a:pPr marL="0" indent="0">
              <a:lnSpc>
                <a:spcPct val="85000"/>
              </a:lnSpc>
              <a:buNone/>
            </a:pPr>
            <a:r>
              <a:rPr lang="zh-CN" altLang="en-US" sz="2600" dirty="0"/>
              <a:t>功能：查看用户的</a:t>
            </a:r>
            <a:r>
              <a:rPr lang="en-US" altLang="zh-CN" sz="2600" dirty="0" err="1"/>
              <a:t>UID</a:t>
            </a:r>
            <a:r>
              <a:rPr lang="zh-CN" altLang="en-US" sz="2600" dirty="0"/>
              <a:t>、</a:t>
            </a:r>
            <a:r>
              <a:rPr lang="en-US" altLang="zh-CN" sz="2600" dirty="0" err="1"/>
              <a:t>GID</a:t>
            </a:r>
            <a:r>
              <a:rPr lang="zh-CN" altLang="en-US" sz="2600" dirty="0"/>
              <a:t>和用户所属组群的信息。不指定用户名，则显示当前用户的相关信息。</a:t>
            </a:r>
            <a:endParaRPr lang="en-US" altLang="zh-CN" sz="2600" dirty="0"/>
          </a:p>
          <a:p>
            <a:pPr marL="0" indent="0">
              <a:lnSpc>
                <a:spcPct val="85000"/>
              </a:lnSpc>
              <a:buNone/>
            </a:pPr>
            <a:r>
              <a:rPr lang="zh-CN" altLang="en-US" sz="2600" dirty="0"/>
              <a:t>主要选项说明：</a:t>
            </a:r>
            <a:endParaRPr lang="en-US" altLang="zh-CN" sz="2600" dirty="0"/>
          </a:p>
          <a:p>
            <a:pPr marL="0" indent="0">
              <a:lnSpc>
                <a:spcPct val="85000"/>
              </a:lnSpc>
              <a:buNone/>
            </a:pPr>
            <a:r>
              <a:rPr lang="en-US" altLang="zh-CN" sz="2600" dirty="0"/>
              <a:t>-g</a:t>
            </a:r>
            <a:r>
              <a:rPr lang="zh-CN" altLang="en-US" sz="2600" dirty="0"/>
              <a:t>　 显示用户所属群组的</a:t>
            </a:r>
            <a:r>
              <a:rPr lang="en-US" altLang="zh-CN" sz="2600" dirty="0"/>
              <a:t>ID</a:t>
            </a:r>
            <a:r>
              <a:rPr lang="zh-CN" altLang="en-US" sz="2600" dirty="0"/>
              <a:t> </a:t>
            </a:r>
          </a:p>
          <a:p>
            <a:pPr marL="0" indent="0">
              <a:lnSpc>
                <a:spcPct val="85000"/>
              </a:lnSpc>
              <a:buNone/>
            </a:pPr>
            <a:r>
              <a:rPr lang="en-US" altLang="zh-CN" sz="2600" dirty="0"/>
              <a:t>-G</a:t>
            </a:r>
            <a:r>
              <a:rPr lang="zh-CN" altLang="en-US" sz="2600" dirty="0"/>
              <a:t>    显示用户所属附加群组的</a:t>
            </a:r>
            <a:r>
              <a:rPr lang="en-US" altLang="zh-CN" sz="2600" dirty="0"/>
              <a:t>ID</a:t>
            </a:r>
            <a:endParaRPr lang="zh-CN" altLang="en-US" sz="2600" dirty="0"/>
          </a:p>
          <a:p>
            <a:pPr marL="0" indent="0">
              <a:lnSpc>
                <a:spcPct val="85000"/>
              </a:lnSpc>
              <a:buNone/>
            </a:pPr>
            <a:r>
              <a:rPr lang="en-US" altLang="zh-CN" sz="2600" dirty="0"/>
              <a:t>-u</a:t>
            </a:r>
            <a:r>
              <a:rPr lang="zh-CN" altLang="en-US" sz="2600" dirty="0"/>
              <a:t>　 显示用户</a:t>
            </a:r>
            <a:r>
              <a:rPr lang="en-US" altLang="zh-CN" sz="2600" dirty="0"/>
              <a:t>ID</a:t>
            </a:r>
          </a:p>
          <a:p>
            <a:pPr marL="0" indent="0">
              <a:lnSpc>
                <a:spcPct val="85000"/>
              </a:lnSpc>
              <a:buNone/>
            </a:pPr>
            <a:r>
              <a:rPr lang="zh-CN" altLang="en-US" sz="2600" dirty="0">
                <a:solidFill>
                  <a:srgbClr val="0000CC"/>
                </a:solidFill>
              </a:rPr>
              <a:t>例如</a:t>
            </a:r>
            <a:r>
              <a:rPr lang="zh-CN" altLang="en-US" sz="2600" dirty="0"/>
              <a:t>：查看普通用户</a:t>
            </a:r>
            <a:r>
              <a:rPr lang="en-US" altLang="zh-CN" sz="2600" dirty="0"/>
              <a:t>Tom</a:t>
            </a:r>
            <a:r>
              <a:rPr lang="zh-CN" altLang="en-US" sz="2600" dirty="0"/>
              <a:t>的用户信息。</a:t>
            </a:r>
          </a:p>
          <a:p>
            <a:pPr marL="0" indent="0">
              <a:lnSpc>
                <a:spcPct val="85000"/>
              </a:lnSpc>
              <a:buNone/>
            </a:pPr>
            <a:r>
              <a:rPr lang="en-US" altLang="zh-CN" sz="2600" dirty="0"/>
              <a:t>[</a:t>
            </a:r>
            <a:r>
              <a:rPr lang="en-US" altLang="zh-CN" sz="2600" dirty="0" err="1"/>
              <a:t>root@localhost</a:t>
            </a:r>
            <a:r>
              <a:rPr lang="en-US" altLang="zh-CN" sz="2600" dirty="0"/>
              <a:t>  ~ ] </a:t>
            </a:r>
            <a:r>
              <a:rPr lang="zh-CN" altLang="zh-CN" sz="2600" dirty="0"/>
              <a:t>#</a:t>
            </a:r>
            <a:r>
              <a:rPr lang="en-US" altLang="zh-CN" sz="2600" dirty="0"/>
              <a:t>  id    Tom </a:t>
            </a:r>
          </a:p>
          <a:p>
            <a:pPr marL="0" indent="0">
              <a:lnSpc>
                <a:spcPct val="85000"/>
              </a:lnSpc>
              <a:buNone/>
            </a:pPr>
            <a:r>
              <a:rPr lang="zh-CN" altLang="en-US" sz="2600" dirty="0">
                <a:solidFill>
                  <a:srgbClr val="0000CC"/>
                </a:solidFill>
              </a:rPr>
              <a:t>例如：</a:t>
            </a:r>
            <a:r>
              <a:rPr lang="zh-CN" altLang="en-US" sz="2600" dirty="0"/>
              <a:t>显示用户</a:t>
            </a:r>
            <a:r>
              <a:rPr lang="en-US" altLang="zh-CN" sz="2600" dirty="0"/>
              <a:t>Tom</a:t>
            </a:r>
            <a:r>
              <a:rPr lang="zh-CN" altLang="en-US" sz="2600" dirty="0"/>
              <a:t>群组的</a:t>
            </a:r>
            <a:r>
              <a:rPr lang="en-US" altLang="zh-CN" sz="2600" dirty="0"/>
              <a:t>ID</a:t>
            </a:r>
            <a:r>
              <a:rPr lang="zh-CN" altLang="en-US" sz="2600" dirty="0"/>
              <a:t>。</a:t>
            </a:r>
            <a:endParaRPr lang="en-US" altLang="zh-CN" sz="2600" dirty="0"/>
          </a:p>
          <a:p>
            <a:pPr marL="0" indent="0">
              <a:lnSpc>
                <a:spcPct val="85000"/>
              </a:lnSpc>
              <a:buNone/>
            </a:pPr>
            <a:r>
              <a:rPr lang="en-US" altLang="zh-CN" sz="2600" dirty="0"/>
              <a:t>[root@localhost  ~ ] </a:t>
            </a:r>
            <a:r>
              <a:rPr lang="zh-CN" altLang="zh-CN" sz="2600" dirty="0"/>
              <a:t>#</a:t>
            </a:r>
            <a:r>
              <a:rPr lang="en-US" altLang="zh-CN" sz="2600" dirty="0"/>
              <a:t>  id  -g  Tom</a:t>
            </a:r>
          </a:p>
          <a:p>
            <a:pPr marL="0" indent="0">
              <a:lnSpc>
                <a:spcPct val="150000"/>
              </a:lnSpc>
              <a:buNone/>
            </a:pPr>
            <a:endParaRPr lang="zh-CN" altLang="en-US" sz="2400" dirty="0"/>
          </a:p>
        </p:txBody>
      </p:sp>
      <p:sp>
        <p:nvSpPr>
          <p:cNvPr id="7" name="Rectangle 2"/>
          <p:cNvSpPr>
            <a:spLocks noGrp="1" noChangeArrowheads="1"/>
          </p:cNvSpPr>
          <p:nvPr>
            <p:ph type="title"/>
          </p:nvPr>
        </p:nvSpPr>
        <p:spPr>
          <a:xfrm>
            <a:off x="1991544" y="576180"/>
            <a:ext cx="7920880" cy="858837"/>
          </a:xfrm>
        </p:spPr>
        <p:txBody>
          <a:bodyPr/>
          <a:lstStyle/>
          <a:p>
            <a:pPr algn="ctr" eaLnBrk="1" hangingPunct="1"/>
            <a:r>
              <a:rPr lang="zh-CN" altLang="en-US" dirty="0">
                <a:latin typeface="+mj-ea"/>
              </a:rPr>
              <a:t>管理用户的</a:t>
            </a:r>
            <a:r>
              <a:rPr lang="en-US" altLang="zh-CN" dirty="0">
                <a:latin typeface="+mj-ea"/>
              </a:rPr>
              <a:t>Shell</a:t>
            </a:r>
            <a:r>
              <a:rPr lang="zh-CN" altLang="en-US" dirty="0">
                <a:latin typeface="+mj-ea"/>
              </a:rPr>
              <a:t>命令</a:t>
            </a:r>
          </a:p>
        </p:txBody>
      </p:sp>
      <p:sp>
        <p:nvSpPr>
          <p:cNvPr id="6" name="灯片编号占位符 1">
            <a:extLst>
              <a:ext uri="{FF2B5EF4-FFF2-40B4-BE49-F238E27FC236}">
                <a16:creationId xmlns:a16="http://schemas.microsoft.com/office/drawing/2014/main" id="{089A978E-D4A1-486B-9D38-1E5163745AC6}"/>
              </a:ext>
            </a:extLst>
          </p:cNvPr>
          <p:cNvSpPr txBox="1">
            <a:spLocks/>
          </p:cNvSpPr>
          <p:nvPr/>
        </p:nvSpPr>
        <p:spPr bwMode="auto">
          <a:xfrm>
            <a:off x="10359255" y="6389206"/>
            <a:ext cx="514549"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zh-CN"/>
            </a:defPPr>
            <a:lvl1pPr algn="r" rtl="0" fontAlgn="base">
              <a:spcBef>
                <a:spcPct val="0"/>
              </a:spcBef>
              <a:spcAft>
                <a:spcPct val="0"/>
              </a:spcAft>
              <a:defRPr sz="1600" b="1" kern="1200">
                <a:solidFill>
                  <a:schemeClr val="tx1"/>
                </a:solidFill>
                <a:latin typeface="Arial" charset="0"/>
                <a:ea typeface="宋体" pitchFamily="2" charset="-122"/>
                <a:cs typeface="+mn-cs"/>
              </a:defRPr>
            </a:lvl1pPr>
            <a:lvl2pPr marL="457200" algn="ctr" rtl="0" fontAlgn="base">
              <a:spcBef>
                <a:spcPct val="0"/>
              </a:spcBef>
              <a:spcAft>
                <a:spcPct val="0"/>
              </a:spcAft>
              <a:defRPr b="1" kern="1200">
                <a:solidFill>
                  <a:schemeClr val="tx1"/>
                </a:solidFill>
                <a:latin typeface="Arial" charset="0"/>
                <a:ea typeface="宋体" pitchFamily="2" charset="-122"/>
                <a:cs typeface="+mn-cs"/>
              </a:defRPr>
            </a:lvl2pPr>
            <a:lvl3pPr marL="914400" algn="ctr" rtl="0" fontAlgn="base">
              <a:spcBef>
                <a:spcPct val="0"/>
              </a:spcBef>
              <a:spcAft>
                <a:spcPct val="0"/>
              </a:spcAft>
              <a:defRPr b="1" kern="1200">
                <a:solidFill>
                  <a:schemeClr val="tx1"/>
                </a:solidFill>
                <a:latin typeface="Arial" charset="0"/>
                <a:ea typeface="宋体" pitchFamily="2" charset="-122"/>
                <a:cs typeface="+mn-cs"/>
              </a:defRPr>
            </a:lvl3pPr>
            <a:lvl4pPr marL="1371600" algn="ctr" rtl="0" fontAlgn="base">
              <a:spcBef>
                <a:spcPct val="0"/>
              </a:spcBef>
              <a:spcAft>
                <a:spcPct val="0"/>
              </a:spcAft>
              <a:defRPr b="1" kern="1200">
                <a:solidFill>
                  <a:schemeClr val="tx1"/>
                </a:solidFill>
                <a:latin typeface="Arial" charset="0"/>
                <a:ea typeface="宋体" pitchFamily="2" charset="-122"/>
                <a:cs typeface="+mn-cs"/>
              </a:defRPr>
            </a:lvl4pPr>
            <a:lvl5pPr marL="1828800" algn="ctr" rtl="0" fontAlgn="base">
              <a:spcBef>
                <a:spcPct val="0"/>
              </a:spcBef>
              <a:spcAft>
                <a:spcPct val="0"/>
              </a:spcAft>
              <a:defRPr b="1" kern="1200">
                <a:solidFill>
                  <a:schemeClr val="tx1"/>
                </a:solidFill>
                <a:latin typeface="Arial" charset="0"/>
                <a:ea typeface="宋体" pitchFamily="2" charset="-122"/>
                <a:cs typeface="+mn-cs"/>
              </a:defRPr>
            </a:lvl5pPr>
            <a:lvl6pPr marL="2286000" algn="l" defTabSz="914400" rtl="0" eaLnBrk="1" latinLnBrk="0" hangingPunct="1">
              <a:defRPr b="1" kern="1200">
                <a:solidFill>
                  <a:schemeClr val="tx1"/>
                </a:solidFill>
                <a:latin typeface="Arial" charset="0"/>
                <a:ea typeface="宋体" pitchFamily="2" charset="-122"/>
                <a:cs typeface="+mn-cs"/>
              </a:defRPr>
            </a:lvl6pPr>
            <a:lvl7pPr marL="2743200" algn="l" defTabSz="914400" rtl="0" eaLnBrk="1" latinLnBrk="0" hangingPunct="1">
              <a:defRPr b="1" kern="1200">
                <a:solidFill>
                  <a:schemeClr val="tx1"/>
                </a:solidFill>
                <a:latin typeface="Arial" charset="0"/>
                <a:ea typeface="宋体" pitchFamily="2" charset="-122"/>
                <a:cs typeface="+mn-cs"/>
              </a:defRPr>
            </a:lvl7pPr>
            <a:lvl8pPr marL="3200400" algn="l" defTabSz="914400" rtl="0" eaLnBrk="1" latinLnBrk="0" hangingPunct="1">
              <a:defRPr b="1" kern="1200">
                <a:solidFill>
                  <a:schemeClr val="tx1"/>
                </a:solidFill>
                <a:latin typeface="Arial" charset="0"/>
                <a:ea typeface="宋体" pitchFamily="2" charset="-122"/>
                <a:cs typeface="+mn-cs"/>
              </a:defRPr>
            </a:lvl8pPr>
            <a:lvl9pPr marL="3657600" algn="l" defTabSz="914400" rtl="0" eaLnBrk="1" latinLnBrk="0" hangingPunct="1">
              <a:defRPr b="1" kern="1200">
                <a:solidFill>
                  <a:schemeClr val="tx1"/>
                </a:solidFill>
                <a:latin typeface="Arial" charset="0"/>
                <a:ea typeface="宋体" pitchFamily="2" charset="-122"/>
                <a:cs typeface="+mn-cs"/>
              </a:defRPr>
            </a:lvl9pPr>
          </a:lstStyle>
          <a:p>
            <a:pPr>
              <a:defRPr/>
            </a:pPr>
            <a:fld id="{110871B5-850E-4E14-A636-3EC679EBF038}" type="slidenum">
              <a:rPr lang="en-US" altLang="zh-CN" smtClean="0"/>
              <a:pPr>
                <a:defRPr/>
              </a:pPr>
              <a:t>49</a:t>
            </a:fld>
            <a:endParaRPr lang="en-US" altLang="zh-CN" dirty="0"/>
          </a:p>
        </p:txBody>
      </p:sp>
    </p:spTree>
    <p:extLst>
      <p:ext uri="{BB962C8B-B14F-4D97-AF65-F5344CB8AC3E}">
        <p14:creationId xmlns:p14="http://schemas.microsoft.com/office/powerpoint/2010/main" val="200206607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CA75B7F4-4DE2-3CC8-4FD1-A1A2959CE978}"/>
              </a:ext>
            </a:extLst>
          </p:cNvPr>
          <p:cNvSpPr/>
          <p:nvPr/>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627" name="内容占位符 2"/>
          <p:cNvSpPr>
            <a:spLocks noGrp="1"/>
          </p:cNvSpPr>
          <p:nvPr>
            <p:ph idx="1"/>
          </p:nvPr>
        </p:nvSpPr>
        <p:spPr>
          <a:xfrm>
            <a:off x="1224758" y="1628800"/>
            <a:ext cx="9767786" cy="4464496"/>
          </a:xfrm>
        </p:spPr>
        <p:txBody>
          <a:bodyPr/>
          <a:lstStyle/>
          <a:p>
            <a:pPr marL="0" indent="0">
              <a:lnSpc>
                <a:spcPct val="120000"/>
              </a:lnSpc>
              <a:buNone/>
            </a:pPr>
            <a:r>
              <a:rPr lang="en-US" altLang="zh-CN" sz="2600" dirty="0">
                <a:solidFill>
                  <a:srgbClr val="0000CC"/>
                </a:solidFill>
              </a:rPr>
              <a:t> groupadd </a:t>
            </a:r>
            <a:r>
              <a:rPr lang="zh-CN" altLang="en-US" sz="2600" dirty="0">
                <a:solidFill>
                  <a:srgbClr val="0000CC"/>
                </a:solidFill>
              </a:rPr>
              <a:t>命令</a:t>
            </a:r>
            <a:endParaRPr lang="en-US" altLang="zh-CN" sz="2600" dirty="0">
              <a:solidFill>
                <a:srgbClr val="0000CC"/>
              </a:solidFill>
            </a:endParaRPr>
          </a:p>
          <a:p>
            <a:pPr marL="0" indent="0">
              <a:lnSpc>
                <a:spcPct val="120000"/>
              </a:lnSpc>
              <a:buNone/>
            </a:pPr>
            <a:r>
              <a:rPr lang="zh-CN" altLang="en-US" sz="2600" dirty="0"/>
              <a:t>格式</a:t>
            </a:r>
            <a:r>
              <a:rPr lang="en-US" altLang="zh-CN" sz="2600" dirty="0"/>
              <a:t>:  </a:t>
            </a:r>
            <a:r>
              <a:rPr lang="en-US" altLang="zh-CN" sz="2600" dirty="0">
                <a:solidFill>
                  <a:srgbClr val="CC0099"/>
                </a:solidFill>
              </a:rPr>
              <a:t>groupadd    [</a:t>
            </a:r>
            <a:r>
              <a:rPr lang="zh-CN" altLang="en-US" sz="2600" dirty="0">
                <a:solidFill>
                  <a:srgbClr val="CC0099"/>
                </a:solidFill>
              </a:rPr>
              <a:t>选项</a:t>
            </a:r>
            <a:r>
              <a:rPr lang="en-US" altLang="zh-CN" sz="2600" dirty="0">
                <a:solidFill>
                  <a:srgbClr val="CC0099"/>
                </a:solidFill>
              </a:rPr>
              <a:t>]   </a:t>
            </a:r>
            <a:r>
              <a:rPr lang="zh-CN" altLang="en-US" sz="2600" dirty="0">
                <a:solidFill>
                  <a:srgbClr val="CC0099"/>
                </a:solidFill>
              </a:rPr>
              <a:t>组群名</a:t>
            </a:r>
          </a:p>
          <a:p>
            <a:pPr marL="0" indent="0">
              <a:lnSpc>
                <a:spcPct val="120000"/>
              </a:lnSpc>
              <a:buNone/>
            </a:pPr>
            <a:r>
              <a:rPr lang="zh-CN" altLang="en-US" sz="2600" dirty="0"/>
              <a:t>功能：新建组群，只有</a:t>
            </a:r>
            <a:r>
              <a:rPr lang="zh-CN" altLang="en-US" sz="2600" dirty="0">
                <a:solidFill>
                  <a:srgbClr val="0000CC"/>
                </a:solidFill>
              </a:rPr>
              <a:t>超级用户</a:t>
            </a:r>
            <a:r>
              <a:rPr lang="zh-CN" altLang="en-US" sz="2600" dirty="0"/>
              <a:t>才能使用此命令。</a:t>
            </a:r>
            <a:endParaRPr lang="en-US" altLang="zh-CN" sz="2600" dirty="0"/>
          </a:p>
          <a:p>
            <a:pPr marL="0" indent="0">
              <a:lnSpc>
                <a:spcPct val="120000"/>
              </a:lnSpc>
              <a:buNone/>
            </a:pPr>
            <a:r>
              <a:rPr lang="zh-CN" altLang="en-US" sz="2600" dirty="0"/>
              <a:t>主要选项说明：</a:t>
            </a:r>
            <a:endParaRPr lang="en-US" altLang="zh-CN" sz="2600" dirty="0"/>
          </a:p>
          <a:p>
            <a:pPr marL="0" indent="0">
              <a:lnSpc>
                <a:spcPct val="120000"/>
              </a:lnSpc>
              <a:buNone/>
            </a:pPr>
            <a:r>
              <a:rPr lang="en-US" altLang="zh-CN" sz="2600" dirty="0"/>
              <a:t>-g  </a:t>
            </a:r>
            <a:r>
              <a:rPr lang="zh-CN" altLang="en-US" sz="2600" dirty="0"/>
              <a:t> 指定组群</a:t>
            </a:r>
            <a:r>
              <a:rPr lang="en-US" altLang="zh-CN" sz="2600" dirty="0" err="1"/>
              <a:t>GID</a:t>
            </a:r>
            <a:r>
              <a:rPr lang="zh-CN" altLang="en-US" sz="2600" dirty="0"/>
              <a:t>号。（预设为最低不小于</a:t>
            </a:r>
            <a:r>
              <a:rPr lang="en-US" altLang="zh-CN" sz="2600" dirty="0"/>
              <a:t>500</a:t>
            </a:r>
            <a:r>
              <a:rPr lang="zh-CN" altLang="en-US" sz="2600" dirty="0"/>
              <a:t>的值）除非使用</a:t>
            </a:r>
            <a:r>
              <a:rPr lang="en-US" altLang="zh-CN" sz="2600" dirty="0"/>
              <a:t>-o</a:t>
            </a:r>
            <a:r>
              <a:rPr lang="zh-CN" altLang="en-US" sz="2600" dirty="0"/>
              <a:t>参数，否则该值必须唯一。</a:t>
            </a:r>
            <a:endParaRPr lang="en-US" altLang="zh-CN" sz="2600" dirty="0"/>
          </a:p>
          <a:p>
            <a:pPr marL="0" indent="0">
              <a:lnSpc>
                <a:spcPct val="120000"/>
              </a:lnSpc>
              <a:buNone/>
            </a:pPr>
            <a:r>
              <a:rPr lang="en-US" altLang="zh-CN" sz="2600" dirty="0">
                <a:solidFill>
                  <a:srgbClr val="0000CC"/>
                </a:solidFill>
              </a:rPr>
              <a:t>-o</a:t>
            </a:r>
            <a:r>
              <a:rPr lang="en-US" altLang="zh-CN" sz="2600" dirty="0"/>
              <a:t>   </a:t>
            </a:r>
            <a:r>
              <a:rPr lang="zh-CN" altLang="en-US" sz="2600" dirty="0"/>
              <a:t>配合上面的</a:t>
            </a:r>
            <a:r>
              <a:rPr lang="en-US" altLang="zh-CN" sz="2600" dirty="0"/>
              <a:t>-g</a:t>
            </a:r>
            <a:r>
              <a:rPr lang="zh-CN" altLang="en-US" sz="2600" dirty="0"/>
              <a:t>参数，可以设定不唯一的组</a:t>
            </a:r>
            <a:r>
              <a:rPr lang="en-US" altLang="zh-CN" sz="2600" dirty="0"/>
              <a:t>ID</a:t>
            </a:r>
            <a:r>
              <a:rPr lang="zh-CN" altLang="en-US" sz="2600" dirty="0"/>
              <a:t>值。</a:t>
            </a:r>
            <a:endParaRPr lang="en-US" altLang="zh-CN" sz="2600" dirty="0"/>
          </a:p>
          <a:p>
            <a:pPr marL="0" indent="0">
              <a:lnSpc>
                <a:spcPct val="120000"/>
              </a:lnSpc>
              <a:buNone/>
            </a:pPr>
            <a:r>
              <a:rPr lang="en-US" altLang="zh-CN" sz="2600" dirty="0"/>
              <a:t>-r </a:t>
            </a:r>
            <a:r>
              <a:rPr lang="zh-CN" altLang="en-US" sz="2600" dirty="0"/>
              <a:t>  此选项用来建立系统账号。</a:t>
            </a:r>
            <a:endParaRPr lang="en-US" altLang="zh-CN" sz="2600" dirty="0"/>
          </a:p>
          <a:p>
            <a:pPr marL="0" indent="0">
              <a:buNone/>
            </a:pPr>
            <a:endParaRPr lang="en-US" altLang="zh-CN" sz="2600" dirty="0"/>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50</a:t>
            </a:fld>
            <a:endParaRPr lang="en-US" altLang="zh-CN"/>
          </a:p>
        </p:txBody>
      </p:sp>
      <p:sp>
        <p:nvSpPr>
          <p:cNvPr id="7" name="Rectangle 2"/>
          <p:cNvSpPr>
            <a:spLocks noGrp="1" noChangeArrowheads="1"/>
          </p:cNvSpPr>
          <p:nvPr>
            <p:ph type="title"/>
          </p:nvPr>
        </p:nvSpPr>
        <p:spPr>
          <a:xfrm>
            <a:off x="1991544" y="465989"/>
            <a:ext cx="7543800" cy="858837"/>
          </a:xfrm>
        </p:spPr>
        <p:txBody>
          <a:bodyPr/>
          <a:lstStyle/>
          <a:p>
            <a:pPr algn="ctr" eaLnBrk="1" hangingPunct="1"/>
            <a:r>
              <a:rPr lang="en-US" altLang="zh-CN" dirty="0">
                <a:latin typeface="+mn-lt"/>
              </a:rPr>
              <a:t>4.3</a:t>
            </a:r>
            <a:r>
              <a:rPr lang="en-US" altLang="zh-CN" dirty="0">
                <a:latin typeface="+mj-ea"/>
              </a:rPr>
              <a:t> </a:t>
            </a:r>
            <a:r>
              <a:rPr lang="zh-CN" altLang="en-US" dirty="0">
                <a:latin typeface="+mj-ea"/>
              </a:rPr>
              <a:t>管理组群的</a:t>
            </a:r>
            <a:r>
              <a:rPr lang="en-US" altLang="zh-CN" dirty="0">
                <a:latin typeface="+mj-ea"/>
              </a:rPr>
              <a:t>Shell</a:t>
            </a:r>
            <a:r>
              <a:rPr lang="zh-CN" altLang="en-US" dirty="0">
                <a:latin typeface="+mj-ea"/>
              </a:rPr>
              <a:t>命令</a:t>
            </a:r>
          </a:p>
        </p:txBody>
      </p:sp>
    </p:spTree>
    <p:extLst>
      <p:ext uri="{BB962C8B-B14F-4D97-AF65-F5344CB8AC3E}">
        <p14:creationId xmlns:p14="http://schemas.microsoft.com/office/powerpoint/2010/main" val="261141809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950AEBCB-9E9A-1032-7F62-44EF8849E7DF}"/>
              </a:ext>
            </a:extLst>
          </p:cNvPr>
          <p:cNvSpPr/>
          <p:nvPr/>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627" name="内容占位符 2"/>
          <p:cNvSpPr>
            <a:spLocks noGrp="1"/>
          </p:cNvSpPr>
          <p:nvPr>
            <p:ph idx="1"/>
          </p:nvPr>
        </p:nvSpPr>
        <p:spPr>
          <a:xfrm>
            <a:off x="1343472" y="1628800"/>
            <a:ext cx="9721080" cy="4204667"/>
          </a:xfrm>
        </p:spPr>
        <p:txBody>
          <a:bodyPr/>
          <a:lstStyle/>
          <a:p>
            <a:pPr marL="0" indent="0">
              <a:lnSpc>
                <a:spcPct val="150000"/>
              </a:lnSpc>
              <a:buNone/>
            </a:pPr>
            <a:r>
              <a:rPr lang="zh-CN" altLang="en-US" sz="2600" dirty="0"/>
              <a:t>例如：新建</a:t>
            </a:r>
            <a:r>
              <a:rPr lang="en-US" altLang="zh-CN" sz="2600" dirty="0"/>
              <a:t>staff</a:t>
            </a:r>
            <a:r>
              <a:rPr lang="zh-CN" altLang="en-US" sz="2600" dirty="0"/>
              <a:t>组群，并设置组群</a:t>
            </a:r>
            <a:r>
              <a:rPr lang="en-US" altLang="zh-CN" sz="2600" dirty="0"/>
              <a:t>ID</a:t>
            </a:r>
            <a:r>
              <a:rPr lang="zh-CN" altLang="en-US" sz="2600" dirty="0"/>
              <a:t>为</a:t>
            </a:r>
            <a:r>
              <a:rPr lang="en-US" altLang="zh-CN" sz="2600" dirty="0"/>
              <a:t>506</a:t>
            </a:r>
            <a:r>
              <a:rPr lang="zh-CN" altLang="en-US" sz="2600" dirty="0"/>
              <a:t>。</a:t>
            </a:r>
          </a:p>
          <a:p>
            <a:pPr marL="0" indent="0">
              <a:lnSpc>
                <a:spcPct val="150000"/>
              </a:lnSpc>
              <a:buNone/>
            </a:pPr>
            <a:r>
              <a:rPr lang="en-US" altLang="zh-CN" sz="2600" dirty="0"/>
              <a:t>[</a:t>
            </a:r>
            <a:r>
              <a:rPr lang="en-US" altLang="zh-CN" sz="2600" dirty="0" err="1"/>
              <a:t>root@localhost</a:t>
            </a:r>
            <a:r>
              <a:rPr lang="en-US" altLang="zh-CN" sz="2600" dirty="0"/>
              <a:t>  ~ ] </a:t>
            </a:r>
            <a:r>
              <a:rPr lang="zh-CN" altLang="zh-CN" sz="2600" dirty="0"/>
              <a:t>#</a:t>
            </a:r>
            <a:r>
              <a:rPr lang="en-US" altLang="zh-CN" sz="2600" dirty="0"/>
              <a:t>  groupadd     -g  506  staff</a:t>
            </a:r>
          </a:p>
          <a:p>
            <a:pPr>
              <a:lnSpc>
                <a:spcPct val="150000"/>
              </a:lnSpc>
            </a:pPr>
            <a:r>
              <a:rPr lang="zh-CN" altLang="en-US" sz="2600" dirty="0"/>
              <a:t>利用</a:t>
            </a:r>
            <a:r>
              <a:rPr lang="en-US" altLang="zh-CN" sz="2600" dirty="0"/>
              <a:t>groupadd</a:t>
            </a:r>
            <a:r>
              <a:rPr lang="zh-CN" altLang="en-US" sz="2600" dirty="0"/>
              <a:t>命令新建组群时如果不指定</a:t>
            </a:r>
            <a:r>
              <a:rPr lang="en-US" altLang="zh-CN" sz="2600" dirty="0" err="1"/>
              <a:t>GID</a:t>
            </a:r>
            <a:r>
              <a:rPr lang="zh-CN" altLang="en-US" sz="2600" dirty="0"/>
              <a:t>，则其</a:t>
            </a:r>
            <a:r>
              <a:rPr lang="en-US" altLang="zh-CN" sz="2600" dirty="0" err="1"/>
              <a:t>GID</a:t>
            </a:r>
            <a:r>
              <a:rPr lang="zh-CN" altLang="en-US" sz="2600" dirty="0"/>
              <a:t>由系统自动分配。</a:t>
            </a:r>
            <a:endParaRPr lang="en-US" altLang="zh-CN" sz="2600" dirty="0"/>
          </a:p>
          <a:p>
            <a:pPr marL="0" indent="0">
              <a:lnSpc>
                <a:spcPct val="150000"/>
              </a:lnSpc>
              <a:buNone/>
            </a:pPr>
            <a:r>
              <a:rPr lang="zh-CN" altLang="en-US" sz="2600" dirty="0">
                <a:solidFill>
                  <a:srgbClr val="0000CC"/>
                </a:solidFill>
              </a:rPr>
              <a:t>练习</a:t>
            </a:r>
            <a:r>
              <a:rPr lang="en-US" altLang="zh-CN" sz="2600" dirty="0">
                <a:solidFill>
                  <a:srgbClr val="0000CC"/>
                </a:solidFill>
              </a:rPr>
              <a:t>13</a:t>
            </a:r>
            <a:r>
              <a:rPr lang="zh-CN" altLang="en-US" sz="2600" dirty="0"/>
              <a:t>：创建有重复 </a:t>
            </a:r>
            <a:r>
              <a:rPr lang="en-US" altLang="zh-CN" sz="2600" dirty="0"/>
              <a:t>GID </a:t>
            </a:r>
            <a:r>
              <a:rPr lang="zh-CN" altLang="en-US" sz="2600" dirty="0"/>
              <a:t>的组</a:t>
            </a:r>
            <a:r>
              <a:rPr lang="en-US" altLang="zh-CN" sz="2600" dirty="0" err="1"/>
              <a:t>mygroup</a:t>
            </a:r>
            <a:r>
              <a:rPr lang="zh-CN" altLang="en-US" sz="2600" dirty="0"/>
              <a:t>。</a:t>
            </a:r>
            <a:endParaRPr lang="en-US" altLang="zh-CN" sz="2600" dirty="0"/>
          </a:p>
          <a:p>
            <a:pPr marL="0" indent="0">
              <a:lnSpc>
                <a:spcPct val="150000"/>
              </a:lnSpc>
              <a:buNone/>
            </a:pPr>
            <a:endParaRPr lang="zh-CN" altLang="en-US" sz="2400" dirty="0"/>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51</a:t>
            </a:fld>
            <a:endParaRPr lang="en-US" altLang="zh-CN"/>
          </a:p>
        </p:txBody>
      </p:sp>
      <p:sp>
        <p:nvSpPr>
          <p:cNvPr id="7" name="Rectangle 2"/>
          <p:cNvSpPr>
            <a:spLocks noGrp="1" noChangeArrowheads="1"/>
          </p:cNvSpPr>
          <p:nvPr>
            <p:ph type="title"/>
          </p:nvPr>
        </p:nvSpPr>
        <p:spPr>
          <a:xfrm>
            <a:off x="1919535" y="579120"/>
            <a:ext cx="8496943" cy="858837"/>
          </a:xfrm>
        </p:spPr>
        <p:txBody>
          <a:bodyPr/>
          <a:lstStyle/>
          <a:p>
            <a:pPr algn="ctr" eaLnBrk="1" hangingPunct="1"/>
            <a:r>
              <a:rPr lang="zh-CN" altLang="en-US" dirty="0">
                <a:latin typeface="+mj-ea"/>
              </a:rPr>
              <a:t>管理组群的</a:t>
            </a:r>
            <a:r>
              <a:rPr lang="en-US" altLang="zh-CN" dirty="0">
                <a:latin typeface="+mj-ea"/>
              </a:rPr>
              <a:t>Shell</a:t>
            </a:r>
            <a:r>
              <a:rPr lang="zh-CN" altLang="en-US" dirty="0">
                <a:latin typeface="+mj-ea"/>
              </a:rPr>
              <a:t>命令</a:t>
            </a:r>
          </a:p>
        </p:txBody>
      </p:sp>
    </p:spTree>
    <p:extLst>
      <p:ext uri="{BB962C8B-B14F-4D97-AF65-F5344CB8AC3E}">
        <p14:creationId xmlns:p14="http://schemas.microsoft.com/office/powerpoint/2010/main" val="310548343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08AF43AA-10EC-EEB5-4FC1-414618EEE2A5}"/>
              </a:ext>
            </a:extLst>
          </p:cNvPr>
          <p:cNvSpPr/>
          <p:nvPr/>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627" name="内容占位符 2"/>
          <p:cNvSpPr>
            <a:spLocks noGrp="1"/>
          </p:cNvSpPr>
          <p:nvPr>
            <p:ph idx="1"/>
          </p:nvPr>
        </p:nvSpPr>
        <p:spPr>
          <a:xfrm>
            <a:off x="1127448" y="1593724"/>
            <a:ext cx="9865096" cy="4464495"/>
          </a:xfrm>
        </p:spPr>
        <p:txBody>
          <a:bodyPr/>
          <a:lstStyle/>
          <a:p>
            <a:pPr marL="0" indent="0">
              <a:lnSpc>
                <a:spcPct val="120000"/>
              </a:lnSpc>
              <a:buNone/>
            </a:pPr>
            <a:r>
              <a:rPr lang="en-US" altLang="zh-CN" sz="2600" dirty="0" err="1">
                <a:solidFill>
                  <a:srgbClr val="0000CC"/>
                </a:solidFill>
              </a:rPr>
              <a:t>groupdel</a:t>
            </a:r>
            <a:r>
              <a:rPr lang="en-US" altLang="zh-CN" sz="2600" dirty="0">
                <a:solidFill>
                  <a:srgbClr val="0000CC"/>
                </a:solidFill>
              </a:rPr>
              <a:t> </a:t>
            </a:r>
            <a:r>
              <a:rPr lang="zh-CN" altLang="en-US" sz="2600" dirty="0">
                <a:solidFill>
                  <a:srgbClr val="0000CC"/>
                </a:solidFill>
              </a:rPr>
              <a:t>命令</a:t>
            </a:r>
            <a:endParaRPr lang="en-US" altLang="zh-CN" sz="2600" dirty="0">
              <a:solidFill>
                <a:srgbClr val="0000CC"/>
              </a:solidFill>
            </a:endParaRPr>
          </a:p>
          <a:p>
            <a:pPr marL="0" indent="0">
              <a:lnSpc>
                <a:spcPct val="120000"/>
              </a:lnSpc>
              <a:buNone/>
            </a:pPr>
            <a:r>
              <a:rPr lang="zh-CN" altLang="en-US" sz="2600" dirty="0"/>
              <a:t>格式</a:t>
            </a:r>
            <a:r>
              <a:rPr lang="en-US" altLang="zh-CN" sz="2600" dirty="0"/>
              <a:t>:  </a:t>
            </a:r>
            <a:r>
              <a:rPr lang="en-US" altLang="zh-CN" sz="2600" dirty="0" err="1">
                <a:solidFill>
                  <a:srgbClr val="CC0099"/>
                </a:solidFill>
              </a:rPr>
              <a:t>groupdel</a:t>
            </a:r>
            <a:r>
              <a:rPr lang="en-US" altLang="zh-CN" sz="2600" dirty="0">
                <a:solidFill>
                  <a:srgbClr val="CC0099"/>
                </a:solidFill>
              </a:rPr>
              <a:t>     </a:t>
            </a:r>
            <a:r>
              <a:rPr lang="zh-CN" altLang="en-US" sz="2600" dirty="0">
                <a:solidFill>
                  <a:srgbClr val="CC0099"/>
                </a:solidFill>
              </a:rPr>
              <a:t>组群名</a:t>
            </a:r>
          </a:p>
          <a:p>
            <a:pPr marL="0" indent="0">
              <a:lnSpc>
                <a:spcPct val="120000"/>
              </a:lnSpc>
              <a:buNone/>
            </a:pPr>
            <a:r>
              <a:rPr lang="zh-CN" altLang="en-US" sz="2600" dirty="0"/>
              <a:t>功能：删除指定组群，只有</a:t>
            </a:r>
            <a:r>
              <a:rPr lang="zh-CN" altLang="en-US" sz="2600" dirty="0">
                <a:solidFill>
                  <a:srgbClr val="0000CC"/>
                </a:solidFill>
              </a:rPr>
              <a:t>超级用户</a:t>
            </a:r>
            <a:r>
              <a:rPr lang="zh-CN" altLang="en-US" sz="2600" dirty="0"/>
              <a:t>才能使用此命令。删除指定组群之前必须</a:t>
            </a:r>
            <a:r>
              <a:rPr lang="zh-CN" altLang="en-US" sz="2600" dirty="0">
                <a:solidFill>
                  <a:srgbClr val="0000CC"/>
                </a:solidFill>
              </a:rPr>
              <a:t>确保该组群不是任何用户的主要组群</a:t>
            </a:r>
            <a:r>
              <a:rPr lang="zh-CN" altLang="en-US" sz="2600" dirty="0"/>
              <a:t>，否则必须删除那些以此组群为主要组群的用户才行。</a:t>
            </a:r>
            <a:endParaRPr lang="en-US" altLang="zh-CN" sz="2600" dirty="0"/>
          </a:p>
          <a:p>
            <a:pPr marL="0" indent="0">
              <a:lnSpc>
                <a:spcPct val="120000"/>
              </a:lnSpc>
              <a:buNone/>
            </a:pPr>
            <a:r>
              <a:rPr lang="zh-CN" altLang="en-US" sz="2600" dirty="0"/>
              <a:t>例如：删除</a:t>
            </a:r>
            <a:r>
              <a:rPr lang="en-US" altLang="zh-CN" sz="2600" dirty="0"/>
              <a:t>staff</a:t>
            </a:r>
            <a:r>
              <a:rPr lang="zh-CN" altLang="en-US" sz="2600" dirty="0"/>
              <a:t>组群</a:t>
            </a:r>
          </a:p>
          <a:p>
            <a:pPr marL="0" indent="0">
              <a:lnSpc>
                <a:spcPct val="120000"/>
              </a:lnSpc>
              <a:buNone/>
            </a:pPr>
            <a:r>
              <a:rPr lang="en-US" altLang="zh-CN" sz="2600" dirty="0"/>
              <a:t>[</a:t>
            </a:r>
            <a:r>
              <a:rPr lang="en-US" altLang="zh-CN" sz="2600" dirty="0" err="1"/>
              <a:t>root@localhost</a:t>
            </a:r>
            <a:r>
              <a:rPr lang="en-US" altLang="zh-CN" sz="2600" dirty="0"/>
              <a:t>  ~ ] </a:t>
            </a:r>
            <a:r>
              <a:rPr lang="zh-CN" altLang="zh-CN" sz="2600" dirty="0"/>
              <a:t>#</a:t>
            </a:r>
            <a:r>
              <a:rPr lang="en-US" altLang="zh-CN" sz="2600" dirty="0"/>
              <a:t>  </a:t>
            </a:r>
            <a:r>
              <a:rPr lang="en-US" altLang="zh-CN" sz="2600" dirty="0" err="1"/>
              <a:t>groupdel</a:t>
            </a:r>
            <a:r>
              <a:rPr lang="en-US" altLang="zh-CN" sz="2600" dirty="0"/>
              <a:t>     staff</a:t>
            </a:r>
          </a:p>
          <a:p>
            <a:pPr marL="0" indent="0">
              <a:buNone/>
            </a:pPr>
            <a:endParaRPr lang="en-US" altLang="zh-CN" sz="2600" dirty="0"/>
          </a:p>
          <a:p>
            <a:pPr marL="0" indent="0">
              <a:buNone/>
            </a:pPr>
            <a:endParaRPr lang="en-US" altLang="zh-CN" sz="2600" dirty="0"/>
          </a:p>
          <a:p>
            <a:pPr marL="0" indent="0">
              <a:lnSpc>
                <a:spcPct val="150000"/>
              </a:lnSpc>
              <a:buNone/>
            </a:pPr>
            <a:endParaRPr lang="zh-CN" altLang="en-US" sz="2400" dirty="0"/>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52</a:t>
            </a:fld>
            <a:endParaRPr lang="en-US" altLang="zh-CN"/>
          </a:p>
        </p:txBody>
      </p:sp>
      <p:sp>
        <p:nvSpPr>
          <p:cNvPr id="7" name="Rectangle 2"/>
          <p:cNvSpPr>
            <a:spLocks noGrp="1" noChangeArrowheads="1"/>
          </p:cNvSpPr>
          <p:nvPr>
            <p:ph type="title"/>
          </p:nvPr>
        </p:nvSpPr>
        <p:spPr>
          <a:xfrm>
            <a:off x="2135560" y="554226"/>
            <a:ext cx="7704856" cy="858837"/>
          </a:xfrm>
        </p:spPr>
        <p:txBody>
          <a:bodyPr/>
          <a:lstStyle/>
          <a:p>
            <a:pPr algn="ctr" eaLnBrk="1" hangingPunct="1"/>
            <a:r>
              <a:rPr lang="zh-CN" altLang="en-US" dirty="0">
                <a:latin typeface="+mj-ea"/>
              </a:rPr>
              <a:t>管理组群的</a:t>
            </a:r>
            <a:r>
              <a:rPr lang="en-US" altLang="zh-CN" dirty="0">
                <a:latin typeface="+mj-ea"/>
              </a:rPr>
              <a:t>Shell</a:t>
            </a:r>
            <a:r>
              <a:rPr lang="zh-CN" altLang="en-US" dirty="0">
                <a:latin typeface="+mj-ea"/>
              </a:rPr>
              <a:t>命令</a:t>
            </a:r>
          </a:p>
        </p:txBody>
      </p:sp>
    </p:spTree>
    <p:extLst>
      <p:ext uri="{BB962C8B-B14F-4D97-AF65-F5344CB8AC3E}">
        <p14:creationId xmlns:p14="http://schemas.microsoft.com/office/powerpoint/2010/main" val="138278517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563F2534-1BAF-32CE-5648-0888F1610771}"/>
              </a:ext>
            </a:extLst>
          </p:cNvPr>
          <p:cNvSpPr/>
          <p:nvPr/>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627" name="内容占位符 2"/>
          <p:cNvSpPr>
            <a:spLocks noGrp="1"/>
          </p:cNvSpPr>
          <p:nvPr>
            <p:ph idx="1"/>
          </p:nvPr>
        </p:nvSpPr>
        <p:spPr>
          <a:xfrm>
            <a:off x="1199456" y="1496647"/>
            <a:ext cx="9793090" cy="4680519"/>
          </a:xfrm>
        </p:spPr>
        <p:txBody>
          <a:bodyPr/>
          <a:lstStyle/>
          <a:p>
            <a:pPr marL="0" indent="0">
              <a:buNone/>
            </a:pPr>
            <a:r>
              <a:rPr lang="en-US" altLang="zh-CN" sz="2600" dirty="0">
                <a:solidFill>
                  <a:srgbClr val="0000CC"/>
                </a:solidFill>
              </a:rPr>
              <a:t>groupmod </a:t>
            </a:r>
            <a:r>
              <a:rPr lang="zh-CN" altLang="en-US" sz="2600" dirty="0">
                <a:solidFill>
                  <a:srgbClr val="0000CC"/>
                </a:solidFill>
              </a:rPr>
              <a:t>命令</a:t>
            </a:r>
            <a:endParaRPr lang="en-US" altLang="zh-CN" sz="2600" dirty="0">
              <a:solidFill>
                <a:srgbClr val="0000CC"/>
              </a:solidFill>
            </a:endParaRPr>
          </a:p>
          <a:p>
            <a:pPr marL="0" indent="0">
              <a:buNone/>
            </a:pPr>
            <a:r>
              <a:rPr lang="zh-CN" altLang="en-US" sz="2600" dirty="0"/>
              <a:t>格式</a:t>
            </a:r>
            <a:r>
              <a:rPr lang="en-US" altLang="zh-CN" sz="2600" dirty="0"/>
              <a:t>:  </a:t>
            </a:r>
            <a:r>
              <a:rPr lang="en-US" altLang="zh-CN" sz="2600" dirty="0">
                <a:solidFill>
                  <a:srgbClr val="CC0099"/>
                </a:solidFill>
              </a:rPr>
              <a:t>groupmod  [</a:t>
            </a:r>
            <a:r>
              <a:rPr lang="zh-CN" altLang="en-US" sz="2600" dirty="0">
                <a:solidFill>
                  <a:srgbClr val="CC0099"/>
                </a:solidFill>
              </a:rPr>
              <a:t>选项</a:t>
            </a:r>
            <a:r>
              <a:rPr lang="en-US" altLang="zh-CN" sz="2600" dirty="0">
                <a:solidFill>
                  <a:srgbClr val="CC0099"/>
                </a:solidFill>
              </a:rPr>
              <a:t>]    </a:t>
            </a:r>
            <a:r>
              <a:rPr lang="zh-CN" altLang="en-US" sz="2600" dirty="0">
                <a:solidFill>
                  <a:srgbClr val="CC0099"/>
                </a:solidFill>
              </a:rPr>
              <a:t>组群名</a:t>
            </a:r>
          </a:p>
          <a:p>
            <a:pPr marL="0" indent="0">
              <a:buNone/>
            </a:pPr>
            <a:r>
              <a:rPr lang="zh-CN" altLang="en-US" sz="2600" dirty="0"/>
              <a:t>功能：修改指定组群属性，只有</a:t>
            </a:r>
            <a:r>
              <a:rPr lang="zh-CN" altLang="en-US" sz="2600" dirty="0">
                <a:solidFill>
                  <a:srgbClr val="0000CC"/>
                </a:solidFill>
              </a:rPr>
              <a:t>超级用户</a:t>
            </a:r>
            <a:r>
              <a:rPr lang="zh-CN" altLang="en-US" sz="2600" dirty="0"/>
              <a:t>才能使用此命令。</a:t>
            </a:r>
            <a:endParaRPr lang="en-US" altLang="zh-CN" sz="2600" dirty="0"/>
          </a:p>
          <a:p>
            <a:pPr marL="0" indent="0">
              <a:buNone/>
            </a:pPr>
            <a:r>
              <a:rPr lang="zh-CN" altLang="en-US" sz="2600" dirty="0"/>
              <a:t>主要选项说明：</a:t>
            </a:r>
            <a:endParaRPr lang="en-US" altLang="zh-CN" sz="2600" dirty="0"/>
          </a:p>
          <a:p>
            <a:pPr marL="0" indent="0">
              <a:buNone/>
            </a:pPr>
            <a:r>
              <a:rPr lang="en-US" altLang="zh-CN" sz="2600" dirty="0"/>
              <a:t>-g</a:t>
            </a:r>
            <a:r>
              <a:rPr lang="zh-CN" altLang="en-US" sz="2600" dirty="0"/>
              <a:t>： 指定组群的</a:t>
            </a:r>
            <a:r>
              <a:rPr lang="en-US" altLang="zh-CN" sz="2600" dirty="0"/>
              <a:t>GID</a:t>
            </a:r>
            <a:r>
              <a:rPr lang="zh-CN" altLang="en-US" sz="2600" dirty="0"/>
              <a:t>。</a:t>
            </a:r>
            <a:endParaRPr lang="en-US" altLang="zh-CN" sz="2600" dirty="0"/>
          </a:p>
          <a:p>
            <a:pPr marL="0" indent="0">
              <a:buNone/>
            </a:pPr>
            <a:r>
              <a:rPr lang="en-US" altLang="zh-CN" sz="2600" dirty="0"/>
              <a:t>-o:    </a:t>
            </a:r>
            <a:r>
              <a:rPr lang="zh-CN" altLang="en-US" sz="2600" dirty="0"/>
              <a:t>配合</a:t>
            </a:r>
            <a:r>
              <a:rPr lang="en-US" altLang="zh-CN" sz="2600" dirty="0"/>
              <a:t>-g</a:t>
            </a:r>
            <a:r>
              <a:rPr lang="zh-CN" altLang="en-US" sz="2600" dirty="0"/>
              <a:t>选项使用，可以设定不唯一的</a:t>
            </a:r>
            <a:r>
              <a:rPr lang="en-US" altLang="zh-CN" sz="2600" dirty="0"/>
              <a:t>GID</a:t>
            </a:r>
            <a:r>
              <a:rPr lang="zh-CN" altLang="en-US" sz="2600" dirty="0"/>
              <a:t>值。</a:t>
            </a:r>
            <a:endParaRPr lang="en-US" altLang="zh-CN" sz="2600" dirty="0"/>
          </a:p>
          <a:p>
            <a:pPr marL="0" indent="0">
              <a:buNone/>
            </a:pPr>
            <a:r>
              <a:rPr lang="en-US" altLang="zh-CN" sz="2600" dirty="0"/>
              <a:t>-n</a:t>
            </a:r>
            <a:r>
              <a:rPr lang="zh-CN" altLang="en-US" sz="2600" dirty="0"/>
              <a:t>： 指定组群的新名字。</a:t>
            </a:r>
            <a:endParaRPr lang="en-US" altLang="zh-CN" sz="2600" dirty="0"/>
          </a:p>
          <a:p>
            <a:pPr marL="0" indent="0">
              <a:buNone/>
            </a:pPr>
            <a:r>
              <a:rPr lang="zh-CN" altLang="en-US" sz="2600" dirty="0">
                <a:solidFill>
                  <a:srgbClr val="0000CC"/>
                </a:solidFill>
              </a:rPr>
              <a:t>练习</a:t>
            </a:r>
            <a:r>
              <a:rPr lang="en-US" altLang="zh-CN" sz="2600" dirty="0">
                <a:solidFill>
                  <a:srgbClr val="0000CC"/>
                </a:solidFill>
              </a:rPr>
              <a:t>14</a:t>
            </a:r>
            <a:r>
              <a:rPr lang="zh-CN" altLang="en-US" sz="2600" dirty="0"/>
              <a:t>：建立组帐号</a:t>
            </a:r>
            <a:r>
              <a:rPr lang="en-US" altLang="zh-CN" sz="2600" dirty="0" err="1"/>
              <a:t>mygroup</a:t>
            </a:r>
            <a:r>
              <a:rPr lang="zh-CN" altLang="en-US" sz="2600" dirty="0"/>
              <a:t>，查询文件</a:t>
            </a:r>
            <a:r>
              <a:rPr lang="en-US" altLang="zh-CN" sz="2600" dirty="0"/>
              <a:t>group</a:t>
            </a:r>
            <a:r>
              <a:rPr lang="zh-CN" altLang="en-US" sz="2600" dirty="0"/>
              <a:t>中</a:t>
            </a:r>
            <a:r>
              <a:rPr lang="en-US" altLang="zh-CN" sz="2600" dirty="0" err="1"/>
              <a:t>mygroup</a:t>
            </a:r>
            <a:r>
              <a:rPr lang="zh-CN" altLang="en-US" sz="2600" dirty="0"/>
              <a:t>的记录，改变</a:t>
            </a:r>
            <a:r>
              <a:rPr lang="en-US" altLang="zh-CN" sz="2600" dirty="0" err="1"/>
              <a:t>mygroup</a:t>
            </a:r>
            <a:r>
              <a:rPr lang="zh-CN" altLang="en-US" sz="2600" dirty="0"/>
              <a:t>组的</a:t>
            </a:r>
            <a:r>
              <a:rPr lang="en-US" altLang="zh-CN" sz="2600" dirty="0" err="1"/>
              <a:t>GID</a:t>
            </a:r>
            <a:r>
              <a:rPr lang="en-US" altLang="zh-CN" sz="2600" dirty="0"/>
              <a:t> </a:t>
            </a:r>
            <a:r>
              <a:rPr lang="zh-CN" altLang="en-US" sz="2600" dirty="0"/>
              <a:t>为</a:t>
            </a:r>
            <a:r>
              <a:rPr lang="en-US" altLang="zh-CN" sz="2600" dirty="0"/>
              <a:t>600, </a:t>
            </a:r>
            <a:r>
              <a:rPr lang="zh-CN" altLang="en-US" sz="2600" dirty="0"/>
              <a:t>再次查看</a:t>
            </a:r>
            <a:r>
              <a:rPr lang="en-US" altLang="zh-CN" sz="2600" dirty="0"/>
              <a:t>group</a:t>
            </a:r>
            <a:r>
              <a:rPr lang="zh-CN" altLang="en-US" sz="2600" dirty="0"/>
              <a:t>中</a:t>
            </a:r>
            <a:r>
              <a:rPr lang="en-US" altLang="zh-CN" sz="2600" dirty="0" err="1"/>
              <a:t>mygroup</a:t>
            </a:r>
            <a:r>
              <a:rPr lang="zh-CN" altLang="en-US" sz="2600" dirty="0"/>
              <a:t>的记录。</a:t>
            </a:r>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53</a:t>
            </a:fld>
            <a:endParaRPr lang="en-US" altLang="zh-CN" dirty="0"/>
          </a:p>
        </p:txBody>
      </p:sp>
      <p:sp>
        <p:nvSpPr>
          <p:cNvPr id="7" name="Rectangle 2"/>
          <p:cNvSpPr>
            <a:spLocks noGrp="1" noChangeArrowheads="1"/>
          </p:cNvSpPr>
          <p:nvPr>
            <p:ph type="title"/>
          </p:nvPr>
        </p:nvSpPr>
        <p:spPr>
          <a:xfrm>
            <a:off x="1991544" y="536097"/>
            <a:ext cx="7704856" cy="858837"/>
          </a:xfrm>
        </p:spPr>
        <p:txBody>
          <a:bodyPr/>
          <a:lstStyle/>
          <a:p>
            <a:pPr algn="ctr" eaLnBrk="1" hangingPunct="1"/>
            <a:r>
              <a:rPr lang="zh-CN" altLang="en-US" dirty="0">
                <a:latin typeface="+mj-ea"/>
              </a:rPr>
              <a:t>管理组群的</a:t>
            </a:r>
            <a:r>
              <a:rPr lang="en-US" altLang="zh-CN" dirty="0">
                <a:latin typeface="+mj-ea"/>
              </a:rPr>
              <a:t>Shell</a:t>
            </a:r>
            <a:r>
              <a:rPr lang="zh-CN" altLang="en-US" dirty="0">
                <a:latin typeface="+mj-ea"/>
              </a:rPr>
              <a:t>命令</a:t>
            </a:r>
          </a:p>
        </p:txBody>
      </p:sp>
    </p:spTree>
    <p:extLst>
      <p:ext uri="{BB962C8B-B14F-4D97-AF65-F5344CB8AC3E}">
        <p14:creationId xmlns:p14="http://schemas.microsoft.com/office/powerpoint/2010/main" val="355566625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09B16522-76E7-D1C6-0092-09A1F5577860}"/>
              </a:ext>
            </a:extLst>
          </p:cNvPr>
          <p:cNvSpPr/>
          <p:nvPr/>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4034" name="Rectangle 2"/>
          <p:cNvSpPr>
            <a:spLocks noGrp="1" noRot="1" noChangeArrowheads="1"/>
          </p:cNvSpPr>
          <p:nvPr>
            <p:ph type="title"/>
          </p:nvPr>
        </p:nvSpPr>
        <p:spPr>
          <a:xfrm>
            <a:off x="2135560" y="502178"/>
            <a:ext cx="7560840" cy="858837"/>
          </a:xfrm>
        </p:spPr>
        <p:txBody>
          <a:bodyPr/>
          <a:lstStyle/>
          <a:p>
            <a:r>
              <a:rPr lang="zh-CN" altLang="en-US" dirty="0">
                <a:cs typeface="Arial" pitchFamily="34" charset="0"/>
              </a:rPr>
              <a:t>管理文件和目录的命令</a:t>
            </a:r>
            <a:endParaRPr lang="zh-CN" altLang="en-US" dirty="0">
              <a:ea typeface="黑体" pitchFamily="49" charset="-122"/>
            </a:endParaRPr>
          </a:p>
        </p:txBody>
      </p:sp>
      <p:sp>
        <p:nvSpPr>
          <p:cNvPr id="44035" name="Rectangle 3"/>
          <p:cNvSpPr>
            <a:spLocks noGrp="1" noRot="1" noChangeArrowheads="1"/>
          </p:cNvSpPr>
          <p:nvPr>
            <p:ph type="body" idx="1"/>
          </p:nvPr>
        </p:nvSpPr>
        <p:spPr>
          <a:xfrm>
            <a:off x="1019436" y="1353731"/>
            <a:ext cx="10153128" cy="4752528"/>
          </a:xfrm>
        </p:spPr>
        <p:txBody>
          <a:bodyPr/>
          <a:lstStyle/>
          <a:p>
            <a:pPr algn="just">
              <a:lnSpc>
                <a:spcPct val="90000"/>
              </a:lnSpc>
              <a:buClr>
                <a:schemeClr val="tx1"/>
              </a:buClr>
              <a:buFont typeface="Wingdings" pitchFamily="2" charset="2"/>
              <a:buNone/>
            </a:pPr>
            <a:r>
              <a:rPr lang="en-US" altLang="zh-CN" sz="2600" dirty="0">
                <a:solidFill>
                  <a:srgbClr val="0000CC"/>
                </a:solidFill>
              </a:rPr>
              <a:t>chgrp </a:t>
            </a:r>
            <a:r>
              <a:rPr lang="zh-CN" altLang="en-US" sz="2600" dirty="0">
                <a:solidFill>
                  <a:srgbClr val="0000CC"/>
                </a:solidFill>
              </a:rPr>
              <a:t>命令</a:t>
            </a:r>
            <a:endParaRPr lang="en-US" altLang="zh-CN" sz="2600" dirty="0">
              <a:solidFill>
                <a:srgbClr val="0000CC"/>
              </a:solidFill>
            </a:endParaRPr>
          </a:p>
          <a:p>
            <a:pPr algn="just">
              <a:lnSpc>
                <a:spcPct val="90000"/>
              </a:lnSpc>
              <a:buClr>
                <a:schemeClr val="tx1"/>
              </a:buClr>
              <a:buFont typeface="Wingdings" pitchFamily="2" charset="2"/>
              <a:buNone/>
            </a:pPr>
            <a:r>
              <a:rPr lang="zh-CN" altLang="en-US" sz="2600" dirty="0"/>
              <a:t>格式：</a:t>
            </a:r>
            <a:r>
              <a:rPr lang="en-US" altLang="zh-CN" sz="2600" dirty="0">
                <a:solidFill>
                  <a:srgbClr val="0000CC"/>
                </a:solidFill>
              </a:rPr>
              <a:t>  </a:t>
            </a:r>
            <a:r>
              <a:rPr lang="en-US" altLang="zh-CN" sz="2600" dirty="0">
                <a:solidFill>
                  <a:srgbClr val="CC0099"/>
                </a:solidFill>
              </a:rPr>
              <a:t>chgrp  [</a:t>
            </a:r>
            <a:r>
              <a:rPr lang="zh-CN" altLang="en-US" sz="2600" dirty="0">
                <a:solidFill>
                  <a:srgbClr val="CC0099"/>
                </a:solidFill>
              </a:rPr>
              <a:t>选项</a:t>
            </a:r>
            <a:r>
              <a:rPr lang="en-US" altLang="zh-CN" sz="2600" dirty="0">
                <a:solidFill>
                  <a:srgbClr val="CC0099"/>
                </a:solidFill>
              </a:rPr>
              <a:t>]  </a:t>
            </a:r>
            <a:r>
              <a:rPr lang="zh-CN" altLang="en-US" sz="2600" dirty="0">
                <a:solidFill>
                  <a:srgbClr val="CC0099"/>
                </a:solidFill>
              </a:rPr>
              <a:t>组群</a:t>
            </a:r>
            <a:r>
              <a:rPr lang="en-US" altLang="zh-CN" sz="2600" dirty="0">
                <a:solidFill>
                  <a:srgbClr val="CC0099"/>
                </a:solidFill>
              </a:rPr>
              <a:t>    </a:t>
            </a:r>
            <a:r>
              <a:rPr lang="zh-CN" altLang="en-US" sz="2600" dirty="0">
                <a:solidFill>
                  <a:srgbClr val="CC0099"/>
                </a:solidFill>
              </a:rPr>
              <a:t>文件</a:t>
            </a:r>
          </a:p>
          <a:p>
            <a:pPr algn="just">
              <a:lnSpc>
                <a:spcPct val="90000"/>
              </a:lnSpc>
              <a:buClr>
                <a:schemeClr val="tx1"/>
              </a:buClr>
              <a:buNone/>
            </a:pPr>
            <a:r>
              <a:rPr lang="zh-CN" altLang="en-US" sz="2600" dirty="0">
                <a:solidFill>
                  <a:srgbClr val="0000CC"/>
                </a:solidFill>
              </a:rPr>
              <a:t>功能</a:t>
            </a:r>
            <a:r>
              <a:rPr lang="zh-CN" altLang="en-US" sz="2600" dirty="0"/>
              <a:t>：改变文件的所属组。</a:t>
            </a:r>
          </a:p>
          <a:p>
            <a:pPr algn="just">
              <a:lnSpc>
                <a:spcPct val="90000"/>
              </a:lnSpc>
              <a:buClr>
                <a:schemeClr val="tx1"/>
              </a:buClr>
              <a:buNone/>
            </a:pPr>
            <a:r>
              <a:rPr lang="zh-CN" altLang="en-US" sz="2600" dirty="0"/>
              <a:t>该命令和</a:t>
            </a:r>
            <a:r>
              <a:rPr lang="en-US" altLang="zh-CN" sz="2600" dirty="0"/>
              <a:t>chown</a:t>
            </a:r>
            <a:r>
              <a:rPr lang="zh-CN" altLang="en-US" sz="2600" dirty="0"/>
              <a:t>用法一样，其功能是把文件或目录所</a:t>
            </a:r>
            <a:endParaRPr lang="en-US" altLang="zh-CN" sz="2600" dirty="0"/>
          </a:p>
          <a:p>
            <a:pPr algn="just">
              <a:lnSpc>
                <a:spcPct val="90000"/>
              </a:lnSpc>
              <a:buClr>
                <a:schemeClr val="tx1"/>
              </a:buClr>
              <a:buNone/>
            </a:pPr>
            <a:r>
              <a:rPr lang="zh-CN" altLang="en-US" sz="2600" dirty="0"/>
              <a:t>属组改成另一个组。</a:t>
            </a:r>
            <a:endParaRPr lang="en-US" altLang="zh-CN" sz="2600" dirty="0"/>
          </a:p>
          <a:p>
            <a:pPr algn="just">
              <a:lnSpc>
                <a:spcPct val="90000"/>
              </a:lnSpc>
              <a:buClr>
                <a:schemeClr val="tx1"/>
              </a:buClr>
              <a:buNone/>
            </a:pPr>
            <a:r>
              <a:rPr lang="zh-CN" altLang="en-US" sz="2600" dirty="0"/>
              <a:t>主要选项说明：</a:t>
            </a:r>
            <a:endParaRPr lang="en-US" altLang="zh-CN" sz="2600" dirty="0"/>
          </a:p>
          <a:p>
            <a:pPr algn="just">
              <a:lnSpc>
                <a:spcPct val="90000"/>
              </a:lnSpc>
              <a:buClr>
                <a:schemeClr val="tx1"/>
              </a:buClr>
              <a:buNone/>
            </a:pPr>
            <a:r>
              <a:rPr lang="en-US" altLang="zh-CN" sz="2600" dirty="0"/>
              <a:t>-v   </a:t>
            </a:r>
            <a:r>
              <a:rPr lang="zh-CN" altLang="en-US" sz="2600" dirty="0"/>
              <a:t>显示指令执行过程。</a:t>
            </a:r>
            <a:endParaRPr lang="en-US" altLang="zh-CN" sz="2600" dirty="0"/>
          </a:p>
          <a:p>
            <a:pPr algn="just">
              <a:lnSpc>
                <a:spcPct val="90000"/>
              </a:lnSpc>
              <a:buClr>
                <a:schemeClr val="tx1"/>
              </a:buClr>
              <a:buNone/>
            </a:pPr>
            <a:r>
              <a:rPr lang="en-US" altLang="zh-CN" sz="2600" dirty="0"/>
              <a:t>-R  </a:t>
            </a:r>
            <a:r>
              <a:rPr lang="zh-CN" altLang="en-US" sz="2600" dirty="0"/>
              <a:t>递归处理，将指定目录下的所有文件及子目录一 </a:t>
            </a:r>
            <a:endParaRPr lang="en-US" altLang="zh-CN" sz="2600" dirty="0"/>
          </a:p>
          <a:p>
            <a:pPr algn="just">
              <a:lnSpc>
                <a:spcPct val="90000"/>
              </a:lnSpc>
              <a:buClr>
                <a:schemeClr val="tx1"/>
              </a:buClr>
              <a:buNone/>
            </a:pPr>
            <a:r>
              <a:rPr lang="en-US" altLang="zh-CN" sz="2600" dirty="0"/>
              <a:t>     </a:t>
            </a:r>
            <a:r>
              <a:rPr lang="zh-CN" altLang="en-US" sz="2600" dirty="0"/>
              <a:t>并处理。</a:t>
            </a:r>
            <a:endParaRPr lang="en-US" altLang="zh-CN" sz="2600" dirty="0"/>
          </a:p>
          <a:p>
            <a:pPr algn="just">
              <a:lnSpc>
                <a:spcPct val="90000"/>
              </a:lnSpc>
              <a:buClr>
                <a:schemeClr val="tx1"/>
              </a:buClr>
              <a:buNone/>
            </a:pPr>
            <a:r>
              <a:rPr lang="en-US" altLang="zh-CN" sz="2600" dirty="0"/>
              <a:t>--reference=&lt;</a:t>
            </a:r>
            <a:r>
              <a:rPr lang="zh-CN" altLang="en-US" sz="2600" dirty="0"/>
              <a:t>参考文件或目录</a:t>
            </a:r>
            <a:r>
              <a:rPr lang="en-US" altLang="zh-CN" sz="2600" dirty="0"/>
              <a:t>&gt; </a:t>
            </a:r>
            <a:r>
              <a:rPr lang="zh-CN" altLang="en-US" sz="2600" dirty="0"/>
              <a:t>　把指定文件或目录的所属群组全部设成和参考文件或目录的所属群组相同。</a:t>
            </a:r>
            <a:endParaRPr lang="en-US" altLang="zh-CN" sz="2600" dirty="0"/>
          </a:p>
        </p:txBody>
      </p:sp>
      <p:sp>
        <p:nvSpPr>
          <p:cNvPr id="6" name="灯片编号占位符 1">
            <a:extLst>
              <a:ext uri="{FF2B5EF4-FFF2-40B4-BE49-F238E27FC236}">
                <a16:creationId xmlns:a16="http://schemas.microsoft.com/office/drawing/2014/main" id="{83FDCEFA-97E2-4946-A58F-3FA0685D81A0}"/>
              </a:ext>
            </a:extLst>
          </p:cNvPr>
          <p:cNvSpPr txBox="1">
            <a:spLocks/>
          </p:cNvSpPr>
          <p:nvPr/>
        </p:nvSpPr>
        <p:spPr bwMode="auto">
          <a:xfrm>
            <a:off x="10359255" y="6389206"/>
            <a:ext cx="514549"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zh-CN"/>
            </a:defPPr>
            <a:lvl1pPr algn="r" rtl="0" fontAlgn="base">
              <a:spcBef>
                <a:spcPct val="0"/>
              </a:spcBef>
              <a:spcAft>
                <a:spcPct val="0"/>
              </a:spcAft>
              <a:defRPr sz="1600" b="1" kern="1200">
                <a:solidFill>
                  <a:schemeClr val="tx1"/>
                </a:solidFill>
                <a:latin typeface="Arial" charset="0"/>
                <a:ea typeface="宋体" pitchFamily="2" charset="-122"/>
                <a:cs typeface="+mn-cs"/>
              </a:defRPr>
            </a:lvl1pPr>
            <a:lvl2pPr marL="457200" algn="ctr" rtl="0" fontAlgn="base">
              <a:spcBef>
                <a:spcPct val="0"/>
              </a:spcBef>
              <a:spcAft>
                <a:spcPct val="0"/>
              </a:spcAft>
              <a:defRPr b="1" kern="1200">
                <a:solidFill>
                  <a:schemeClr val="tx1"/>
                </a:solidFill>
                <a:latin typeface="Arial" charset="0"/>
                <a:ea typeface="宋体" pitchFamily="2" charset="-122"/>
                <a:cs typeface="+mn-cs"/>
              </a:defRPr>
            </a:lvl2pPr>
            <a:lvl3pPr marL="914400" algn="ctr" rtl="0" fontAlgn="base">
              <a:spcBef>
                <a:spcPct val="0"/>
              </a:spcBef>
              <a:spcAft>
                <a:spcPct val="0"/>
              </a:spcAft>
              <a:defRPr b="1" kern="1200">
                <a:solidFill>
                  <a:schemeClr val="tx1"/>
                </a:solidFill>
                <a:latin typeface="Arial" charset="0"/>
                <a:ea typeface="宋体" pitchFamily="2" charset="-122"/>
                <a:cs typeface="+mn-cs"/>
              </a:defRPr>
            </a:lvl3pPr>
            <a:lvl4pPr marL="1371600" algn="ctr" rtl="0" fontAlgn="base">
              <a:spcBef>
                <a:spcPct val="0"/>
              </a:spcBef>
              <a:spcAft>
                <a:spcPct val="0"/>
              </a:spcAft>
              <a:defRPr b="1" kern="1200">
                <a:solidFill>
                  <a:schemeClr val="tx1"/>
                </a:solidFill>
                <a:latin typeface="Arial" charset="0"/>
                <a:ea typeface="宋体" pitchFamily="2" charset="-122"/>
                <a:cs typeface="+mn-cs"/>
              </a:defRPr>
            </a:lvl4pPr>
            <a:lvl5pPr marL="1828800" algn="ctr" rtl="0" fontAlgn="base">
              <a:spcBef>
                <a:spcPct val="0"/>
              </a:spcBef>
              <a:spcAft>
                <a:spcPct val="0"/>
              </a:spcAft>
              <a:defRPr b="1" kern="1200">
                <a:solidFill>
                  <a:schemeClr val="tx1"/>
                </a:solidFill>
                <a:latin typeface="Arial" charset="0"/>
                <a:ea typeface="宋体" pitchFamily="2" charset="-122"/>
                <a:cs typeface="+mn-cs"/>
              </a:defRPr>
            </a:lvl5pPr>
            <a:lvl6pPr marL="2286000" algn="l" defTabSz="914400" rtl="0" eaLnBrk="1" latinLnBrk="0" hangingPunct="1">
              <a:defRPr b="1" kern="1200">
                <a:solidFill>
                  <a:schemeClr val="tx1"/>
                </a:solidFill>
                <a:latin typeface="Arial" charset="0"/>
                <a:ea typeface="宋体" pitchFamily="2" charset="-122"/>
                <a:cs typeface="+mn-cs"/>
              </a:defRPr>
            </a:lvl6pPr>
            <a:lvl7pPr marL="2743200" algn="l" defTabSz="914400" rtl="0" eaLnBrk="1" latinLnBrk="0" hangingPunct="1">
              <a:defRPr b="1" kern="1200">
                <a:solidFill>
                  <a:schemeClr val="tx1"/>
                </a:solidFill>
                <a:latin typeface="Arial" charset="0"/>
                <a:ea typeface="宋体" pitchFamily="2" charset="-122"/>
                <a:cs typeface="+mn-cs"/>
              </a:defRPr>
            </a:lvl7pPr>
            <a:lvl8pPr marL="3200400" algn="l" defTabSz="914400" rtl="0" eaLnBrk="1" latinLnBrk="0" hangingPunct="1">
              <a:defRPr b="1" kern="1200">
                <a:solidFill>
                  <a:schemeClr val="tx1"/>
                </a:solidFill>
                <a:latin typeface="Arial" charset="0"/>
                <a:ea typeface="宋体" pitchFamily="2" charset="-122"/>
                <a:cs typeface="+mn-cs"/>
              </a:defRPr>
            </a:lvl8pPr>
            <a:lvl9pPr marL="3657600" algn="l" defTabSz="914400" rtl="0" eaLnBrk="1" latinLnBrk="0" hangingPunct="1">
              <a:defRPr b="1" kern="1200">
                <a:solidFill>
                  <a:schemeClr val="tx1"/>
                </a:solidFill>
                <a:latin typeface="Arial" charset="0"/>
                <a:ea typeface="宋体" pitchFamily="2" charset="-122"/>
                <a:cs typeface="+mn-cs"/>
              </a:defRPr>
            </a:lvl9pPr>
          </a:lstStyle>
          <a:p>
            <a:pPr>
              <a:defRPr/>
            </a:pPr>
            <a:fld id="{110871B5-850E-4E14-A636-3EC679EBF038}" type="slidenum">
              <a:rPr lang="en-US" altLang="zh-CN" smtClean="0"/>
              <a:pPr>
                <a:defRPr/>
              </a:pPr>
              <a:t>54</a:t>
            </a:fld>
            <a:endParaRPr lang="en-US" altLang="zh-CN" dirty="0"/>
          </a:p>
        </p:txBody>
      </p:sp>
    </p:spTree>
    <p:extLst>
      <p:ext uri="{BB962C8B-B14F-4D97-AF65-F5344CB8AC3E}">
        <p14:creationId xmlns:p14="http://schemas.microsoft.com/office/powerpoint/2010/main" val="117607148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34E3EEE-E0AA-89A2-C223-DE3E99234CF6}"/>
              </a:ext>
            </a:extLst>
          </p:cNvPr>
          <p:cNvSpPr/>
          <p:nvPr/>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4034" name="Rectangle 2"/>
          <p:cNvSpPr>
            <a:spLocks noGrp="1" noRot="1" noChangeArrowheads="1"/>
          </p:cNvSpPr>
          <p:nvPr>
            <p:ph type="title"/>
          </p:nvPr>
        </p:nvSpPr>
        <p:spPr>
          <a:xfrm>
            <a:off x="2207568" y="579120"/>
            <a:ext cx="7848872" cy="858837"/>
          </a:xfrm>
        </p:spPr>
        <p:txBody>
          <a:bodyPr/>
          <a:lstStyle/>
          <a:p>
            <a:r>
              <a:rPr lang="zh-CN" altLang="en-US" dirty="0">
                <a:cs typeface="Arial" pitchFamily="34" charset="0"/>
              </a:rPr>
              <a:t>管理文件和目录的命令</a:t>
            </a:r>
            <a:endParaRPr lang="zh-CN" altLang="en-US" dirty="0">
              <a:ea typeface="黑体" pitchFamily="49" charset="-122"/>
            </a:endParaRPr>
          </a:p>
        </p:txBody>
      </p:sp>
      <p:sp>
        <p:nvSpPr>
          <p:cNvPr id="44035" name="Rectangle 3"/>
          <p:cNvSpPr>
            <a:spLocks noGrp="1" noRot="1" noChangeArrowheads="1"/>
          </p:cNvSpPr>
          <p:nvPr>
            <p:ph type="body" idx="1"/>
          </p:nvPr>
        </p:nvSpPr>
        <p:spPr>
          <a:xfrm>
            <a:off x="1271464" y="1861240"/>
            <a:ext cx="9793088" cy="3960440"/>
          </a:xfrm>
        </p:spPr>
        <p:txBody>
          <a:bodyPr/>
          <a:lstStyle/>
          <a:p>
            <a:pPr algn="just">
              <a:lnSpc>
                <a:spcPct val="150000"/>
              </a:lnSpc>
              <a:buClr>
                <a:schemeClr val="tx1"/>
              </a:buClr>
              <a:buNone/>
            </a:pPr>
            <a:r>
              <a:rPr lang="zh-CN" altLang="en-US" sz="2600" dirty="0">
                <a:solidFill>
                  <a:srgbClr val="0000CC"/>
                </a:solidFill>
              </a:rPr>
              <a:t>例如</a:t>
            </a:r>
            <a:r>
              <a:rPr lang="zh-CN" altLang="en-US" sz="2600" dirty="0"/>
              <a:t>：将</a:t>
            </a:r>
            <a:r>
              <a:rPr lang="en-US" altLang="zh-CN" sz="2600" dirty="0"/>
              <a:t>file.log</a:t>
            </a:r>
            <a:r>
              <a:rPr lang="zh-CN" altLang="en-US" sz="2600" dirty="0"/>
              <a:t>文件所属群组改为</a:t>
            </a:r>
            <a:r>
              <a:rPr lang="en-US" altLang="zh-CN" sz="2600" dirty="0"/>
              <a:t>bin</a:t>
            </a:r>
            <a:r>
              <a:rPr lang="zh-CN" altLang="en-US" sz="2600" dirty="0"/>
              <a:t>群组，并显示处理信息。</a:t>
            </a:r>
            <a:endParaRPr lang="en-US" altLang="zh-CN" sz="2600" dirty="0"/>
          </a:p>
          <a:p>
            <a:pPr algn="just">
              <a:lnSpc>
                <a:spcPct val="150000"/>
              </a:lnSpc>
              <a:buClr>
                <a:schemeClr val="tx1"/>
              </a:buClr>
              <a:buNone/>
            </a:pPr>
            <a:r>
              <a:rPr lang="en-US" altLang="zh-CN" sz="2600" dirty="0"/>
              <a:t>     $  chgrp  -v  bin  file.log</a:t>
            </a:r>
          </a:p>
          <a:p>
            <a:pPr algn="just">
              <a:lnSpc>
                <a:spcPct val="150000"/>
              </a:lnSpc>
              <a:buClr>
                <a:schemeClr val="tx1"/>
              </a:buClr>
              <a:buNone/>
            </a:pPr>
            <a:r>
              <a:rPr lang="zh-CN" altLang="en-US" sz="2600" dirty="0">
                <a:solidFill>
                  <a:srgbClr val="0000FF"/>
                </a:solidFill>
              </a:rPr>
              <a:t>练习</a:t>
            </a:r>
            <a:r>
              <a:rPr lang="en-US" altLang="zh-CN" sz="2600" dirty="0">
                <a:solidFill>
                  <a:srgbClr val="0000FF"/>
                </a:solidFill>
              </a:rPr>
              <a:t>15</a:t>
            </a:r>
            <a:r>
              <a:rPr lang="zh-CN" altLang="en-US" sz="2600" dirty="0"/>
              <a:t>：改变文件</a:t>
            </a:r>
            <a:r>
              <a:rPr lang="en-US" altLang="zh-CN" sz="2600" dirty="0"/>
              <a:t>log2.txt</a:t>
            </a:r>
            <a:r>
              <a:rPr lang="zh-CN" altLang="en-US" sz="2600" dirty="0"/>
              <a:t>的群组属性，使得文件</a:t>
            </a:r>
            <a:r>
              <a:rPr lang="en-US" altLang="zh-CN" sz="2600" dirty="0"/>
              <a:t>log2.txt</a:t>
            </a:r>
            <a:r>
              <a:rPr lang="zh-CN" altLang="en-US" sz="2600" dirty="0"/>
              <a:t>的群组属性和参考文件</a:t>
            </a:r>
            <a:r>
              <a:rPr lang="en-US" altLang="zh-CN" sz="2600" dirty="0"/>
              <a:t>log1.txt</a:t>
            </a:r>
            <a:r>
              <a:rPr lang="zh-CN" altLang="en-US" sz="2600" dirty="0"/>
              <a:t>的群组属性相同。</a:t>
            </a:r>
          </a:p>
        </p:txBody>
      </p:sp>
      <p:sp>
        <p:nvSpPr>
          <p:cNvPr id="6" name="灯片编号占位符 1">
            <a:extLst>
              <a:ext uri="{FF2B5EF4-FFF2-40B4-BE49-F238E27FC236}">
                <a16:creationId xmlns:a16="http://schemas.microsoft.com/office/drawing/2014/main" id="{48A568C8-60C5-41F4-8CAF-009A4F15C1EA}"/>
              </a:ext>
            </a:extLst>
          </p:cNvPr>
          <p:cNvSpPr txBox="1">
            <a:spLocks/>
          </p:cNvSpPr>
          <p:nvPr/>
        </p:nvSpPr>
        <p:spPr bwMode="auto">
          <a:xfrm>
            <a:off x="10359255" y="6389206"/>
            <a:ext cx="514549"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zh-CN"/>
            </a:defPPr>
            <a:lvl1pPr algn="r" rtl="0" fontAlgn="base">
              <a:spcBef>
                <a:spcPct val="0"/>
              </a:spcBef>
              <a:spcAft>
                <a:spcPct val="0"/>
              </a:spcAft>
              <a:defRPr sz="1600" b="1" kern="1200">
                <a:solidFill>
                  <a:schemeClr val="tx1"/>
                </a:solidFill>
                <a:latin typeface="Arial" charset="0"/>
                <a:ea typeface="宋体" pitchFamily="2" charset="-122"/>
                <a:cs typeface="+mn-cs"/>
              </a:defRPr>
            </a:lvl1pPr>
            <a:lvl2pPr marL="457200" algn="ctr" rtl="0" fontAlgn="base">
              <a:spcBef>
                <a:spcPct val="0"/>
              </a:spcBef>
              <a:spcAft>
                <a:spcPct val="0"/>
              </a:spcAft>
              <a:defRPr b="1" kern="1200">
                <a:solidFill>
                  <a:schemeClr val="tx1"/>
                </a:solidFill>
                <a:latin typeface="Arial" charset="0"/>
                <a:ea typeface="宋体" pitchFamily="2" charset="-122"/>
                <a:cs typeface="+mn-cs"/>
              </a:defRPr>
            </a:lvl2pPr>
            <a:lvl3pPr marL="914400" algn="ctr" rtl="0" fontAlgn="base">
              <a:spcBef>
                <a:spcPct val="0"/>
              </a:spcBef>
              <a:spcAft>
                <a:spcPct val="0"/>
              </a:spcAft>
              <a:defRPr b="1" kern="1200">
                <a:solidFill>
                  <a:schemeClr val="tx1"/>
                </a:solidFill>
                <a:latin typeface="Arial" charset="0"/>
                <a:ea typeface="宋体" pitchFamily="2" charset="-122"/>
                <a:cs typeface="+mn-cs"/>
              </a:defRPr>
            </a:lvl3pPr>
            <a:lvl4pPr marL="1371600" algn="ctr" rtl="0" fontAlgn="base">
              <a:spcBef>
                <a:spcPct val="0"/>
              </a:spcBef>
              <a:spcAft>
                <a:spcPct val="0"/>
              </a:spcAft>
              <a:defRPr b="1" kern="1200">
                <a:solidFill>
                  <a:schemeClr val="tx1"/>
                </a:solidFill>
                <a:latin typeface="Arial" charset="0"/>
                <a:ea typeface="宋体" pitchFamily="2" charset="-122"/>
                <a:cs typeface="+mn-cs"/>
              </a:defRPr>
            </a:lvl4pPr>
            <a:lvl5pPr marL="1828800" algn="ctr" rtl="0" fontAlgn="base">
              <a:spcBef>
                <a:spcPct val="0"/>
              </a:spcBef>
              <a:spcAft>
                <a:spcPct val="0"/>
              </a:spcAft>
              <a:defRPr b="1" kern="1200">
                <a:solidFill>
                  <a:schemeClr val="tx1"/>
                </a:solidFill>
                <a:latin typeface="Arial" charset="0"/>
                <a:ea typeface="宋体" pitchFamily="2" charset="-122"/>
                <a:cs typeface="+mn-cs"/>
              </a:defRPr>
            </a:lvl5pPr>
            <a:lvl6pPr marL="2286000" algn="l" defTabSz="914400" rtl="0" eaLnBrk="1" latinLnBrk="0" hangingPunct="1">
              <a:defRPr b="1" kern="1200">
                <a:solidFill>
                  <a:schemeClr val="tx1"/>
                </a:solidFill>
                <a:latin typeface="Arial" charset="0"/>
                <a:ea typeface="宋体" pitchFamily="2" charset="-122"/>
                <a:cs typeface="+mn-cs"/>
              </a:defRPr>
            </a:lvl6pPr>
            <a:lvl7pPr marL="2743200" algn="l" defTabSz="914400" rtl="0" eaLnBrk="1" latinLnBrk="0" hangingPunct="1">
              <a:defRPr b="1" kern="1200">
                <a:solidFill>
                  <a:schemeClr val="tx1"/>
                </a:solidFill>
                <a:latin typeface="Arial" charset="0"/>
                <a:ea typeface="宋体" pitchFamily="2" charset="-122"/>
                <a:cs typeface="+mn-cs"/>
              </a:defRPr>
            </a:lvl7pPr>
            <a:lvl8pPr marL="3200400" algn="l" defTabSz="914400" rtl="0" eaLnBrk="1" latinLnBrk="0" hangingPunct="1">
              <a:defRPr b="1" kern="1200">
                <a:solidFill>
                  <a:schemeClr val="tx1"/>
                </a:solidFill>
                <a:latin typeface="Arial" charset="0"/>
                <a:ea typeface="宋体" pitchFamily="2" charset="-122"/>
                <a:cs typeface="+mn-cs"/>
              </a:defRPr>
            </a:lvl8pPr>
            <a:lvl9pPr marL="3657600" algn="l" defTabSz="914400" rtl="0" eaLnBrk="1" latinLnBrk="0" hangingPunct="1">
              <a:defRPr b="1" kern="1200">
                <a:solidFill>
                  <a:schemeClr val="tx1"/>
                </a:solidFill>
                <a:latin typeface="Arial" charset="0"/>
                <a:ea typeface="宋体" pitchFamily="2" charset="-122"/>
                <a:cs typeface="+mn-cs"/>
              </a:defRPr>
            </a:lvl9pPr>
          </a:lstStyle>
          <a:p>
            <a:pPr>
              <a:defRPr/>
            </a:pPr>
            <a:fld id="{110871B5-850E-4E14-A636-3EC679EBF038}" type="slidenum">
              <a:rPr lang="en-US" altLang="zh-CN" smtClean="0"/>
              <a:pPr>
                <a:defRPr/>
              </a:pPr>
              <a:t>55</a:t>
            </a:fld>
            <a:endParaRPr lang="en-US" altLang="zh-CN" dirty="0"/>
          </a:p>
        </p:txBody>
      </p:sp>
    </p:spTree>
    <p:extLst>
      <p:ext uri="{BB962C8B-B14F-4D97-AF65-F5344CB8AC3E}">
        <p14:creationId xmlns:p14="http://schemas.microsoft.com/office/powerpoint/2010/main" val="293137473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F45EF824-5EF0-D203-3972-631D95052659}"/>
              </a:ext>
            </a:extLst>
          </p:cNvPr>
          <p:cNvSpPr/>
          <p:nvPr/>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5650" name="Rectangle 2"/>
          <p:cNvSpPr>
            <a:spLocks noGrp="1" noChangeArrowheads="1"/>
          </p:cNvSpPr>
          <p:nvPr>
            <p:ph type="title"/>
          </p:nvPr>
        </p:nvSpPr>
        <p:spPr>
          <a:xfrm>
            <a:off x="1919536" y="579120"/>
            <a:ext cx="7560840" cy="808038"/>
          </a:xfrm>
        </p:spPr>
        <p:txBody>
          <a:bodyPr/>
          <a:lstStyle/>
          <a:p>
            <a:pPr algn="ctr"/>
            <a:r>
              <a:rPr lang="zh-CN" altLang="en-US" dirty="0"/>
              <a:t>管理帐号常用的命令</a:t>
            </a:r>
          </a:p>
        </p:txBody>
      </p:sp>
      <p:sp>
        <p:nvSpPr>
          <p:cNvPr id="155651" name="Rectangle 3"/>
          <p:cNvSpPr>
            <a:spLocks noGrp="1" noChangeArrowheads="1"/>
          </p:cNvSpPr>
          <p:nvPr>
            <p:ph type="body" idx="1"/>
          </p:nvPr>
        </p:nvSpPr>
        <p:spPr>
          <a:xfrm>
            <a:off x="1271464" y="1387158"/>
            <a:ext cx="9721080" cy="4752528"/>
          </a:xfrm>
        </p:spPr>
        <p:txBody>
          <a:bodyPr/>
          <a:lstStyle/>
          <a:p>
            <a:pPr marL="0" indent="0">
              <a:buNone/>
            </a:pPr>
            <a:r>
              <a:rPr lang="en-US" altLang="zh-CN" sz="2600" dirty="0">
                <a:solidFill>
                  <a:srgbClr val="0000CC"/>
                </a:solidFill>
              </a:rPr>
              <a:t>w</a:t>
            </a:r>
            <a:r>
              <a:rPr lang="zh-CN" altLang="en-US" sz="2600" dirty="0">
                <a:solidFill>
                  <a:srgbClr val="0000CC"/>
                </a:solidFill>
              </a:rPr>
              <a:t>命令</a:t>
            </a:r>
            <a:endParaRPr lang="en-US" altLang="zh-CN" sz="2600" dirty="0">
              <a:solidFill>
                <a:srgbClr val="0000CC"/>
              </a:solidFill>
            </a:endParaRPr>
          </a:p>
          <a:p>
            <a:pPr marL="0" indent="0">
              <a:buNone/>
            </a:pPr>
            <a:r>
              <a:rPr lang="zh-CN" altLang="en-US" sz="2600" dirty="0"/>
              <a:t>格式</a:t>
            </a:r>
            <a:r>
              <a:rPr lang="en-US" altLang="zh-CN" sz="2600" dirty="0"/>
              <a:t>:  </a:t>
            </a:r>
            <a:r>
              <a:rPr lang="en-US" altLang="zh-CN" sz="2600" dirty="0">
                <a:solidFill>
                  <a:srgbClr val="CC0099"/>
                </a:solidFill>
              </a:rPr>
              <a:t>w  [</a:t>
            </a:r>
            <a:r>
              <a:rPr lang="zh-CN" altLang="en-US" sz="2600" dirty="0">
                <a:solidFill>
                  <a:srgbClr val="CC0099"/>
                </a:solidFill>
              </a:rPr>
              <a:t>选项</a:t>
            </a:r>
            <a:r>
              <a:rPr lang="en-US" altLang="zh-CN" sz="2600" dirty="0">
                <a:solidFill>
                  <a:srgbClr val="CC0099"/>
                </a:solidFill>
              </a:rPr>
              <a:t>]  [</a:t>
            </a:r>
            <a:r>
              <a:rPr lang="zh-CN" altLang="en-US" sz="2600" dirty="0">
                <a:solidFill>
                  <a:srgbClr val="CC0099"/>
                </a:solidFill>
              </a:rPr>
              <a:t>用户名</a:t>
            </a:r>
            <a:r>
              <a:rPr lang="en-US" altLang="zh-CN" sz="2600" dirty="0">
                <a:solidFill>
                  <a:srgbClr val="CC0099"/>
                </a:solidFill>
              </a:rPr>
              <a:t>] </a:t>
            </a:r>
          </a:p>
          <a:p>
            <a:pPr marL="0" indent="0">
              <a:buNone/>
            </a:pPr>
            <a:r>
              <a:rPr lang="zh-CN" altLang="en-US" sz="2600" dirty="0"/>
              <a:t>功能：显示当前所有登录用户的信息，默认显示用户名、登录终端、登录时间、</a:t>
            </a:r>
            <a:r>
              <a:rPr lang="en-US" altLang="zh-CN" sz="2600" dirty="0"/>
              <a:t>CPU</a:t>
            </a:r>
            <a:r>
              <a:rPr lang="zh-CN" altLang="en-US" sz="2600" dirty="0"/>
              <a:t>占用率等信息。</a:t>
            </a:r>
          </a:p>
          <a:p>
            <a:pPr marL="0" indent="0">
              <a:buNone/>
            </a:pPr>
            <a:r>
              <a:rPr lang="zh-CN" altLang="en-US" sz="2600" dirty="0"/>
              <a:t>主要选项说明：</a:t>
            </a:r>
            <a:endParaRPr lang="en-US" altLang="zh-CN" sz="2600" dirty="0"/>
          </a:p>
          <a:p>
            <a:pPr marL="0" indent="0">
              <a:buNone/>
            </a:pPr>
            <a:r>
              <a:rPr lang="en-US" altLang="zh-CN" sz="2600" dirty="0"/>
              <a:t>-s </a:t>
            </a:r>
            <a:r>
              <a:rPr lang="zh-CN" altLang="en-US" sz="2600" dirty="0"/>
              <a:t>　使用简洁格式列表。</a:t>
            </a:r>
            <a:endParaRPr lang="en-US" altLang="zh-CN" sz="2600" dirty="0"/>
          </a:p>
          <a:p>
            <a:pPr marL="0" indent="0">
              <a:buNone/>
            </a:pPr>
            <a:r>
              <a:rPr lang="en-US" altLang="zh-CN" sz="2600" dirty="0"/>
              <a:t>-f </a:t>
            </a:r>
            <a:r>
              <a:rPr lang="zh-CN" altLang="en-US" sz="2600" dirty="0"/>
              <a:t>　不显示用户从何处登入系统。</a:t>
            </a:r>
            <a:endParaRPr lang="en-US" altLang="zh-CN" sz="2600" dirty="0"/>
          </a:p>
          <a:p>
            <a:pPr marL="0" indent="0">
              <a:buNone/>
            </a:pPr>
            <a:r>
              <a:rPr lang="en-US" altLang="zh-CN" sz="2600" dirty="0"/>
              <a:t>-h </a:t>
            </a:r>
            <a:r>
              <a:rPr lang="zh-CN" altLang="en-US" sz="2600" dirty="0"/>
              <a:t>　不显示各栏的列标题。</a:t>
            </a:r>
            <a:endParaRPr lang="en-US" altLang="zh-CN" sz="2600" dirty="0"/>
          </a:p>
          <a:p>
            <a:pPr marL="0" indent="0">
              <a:buNone/>
            </a:pPr>
            <a:r>
              <a:rPr lang="zh-CN" altLang="en-US" sz="2600" dirty="0">
                <a:solidFill>
                  <a:srgbClr val="0000FF"/>
                </a:solidFill>
              </a:rPr>
              <a:t>例如</a:t>
            </a:r>
            <a:r>
              <a:rPr lang="zh-CN" altLang="en-US" sz="2600" dirty="0"/>
              <a:t>：查看</a:t>
            </a:r>
            <a:r>
              <a:rPr lang="en-US" altLang="zh-CN" sz="2600" dirty="0"/>
              <a:t>lily</a:t>
            </a:r>
            <a:r>
              <a:rPr lang="zh-CN" altLang="en-US" sz="2600" dirty="0"/>
              <a:t>用户的登录信息。</a:t>
            </a:r>
            <a:endParaRPr lang="en-US" altLang="zh-CN" sz="2600" dirty="0"/>
          </a:p>
          <a:p>
            <a:pPr marL="0" indent="0">
              <a:buNone/>
            </a:pPr>
            <a:r>
              <a:rPr lang="en-US" altLang="zh-CN" sz="2600" dirty="0"/>
              <a:t>[root@localhost  ~ ] #  w   lily</a:t>
            </a:r>
          </a:p>
          <a:p>
            <a:pPr marL="0" indent="0">
              <a:lnSpc>
                <a:spcPct val="120000"/>
              </a:lnSpc>
              <a:buNone/>
            </a:pPr>
            <a:endParaRPr lang="en-US" altLang="zh-CN" sz="2600" dirty="0"/>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56</a:t>
            </a:fld>
            <a:endParaRPr lang="en-US" altLang="zh-CN"/>
          </a:p>
        </p:txBody>
      </p:sp>
    </p:spTree>
    <p:extLst>
      <p:ext uri="{BB962C8B-B14F-4D97-AF65-F5344CB8AC3E}">
        <p14:creationId xmlns:p14="http://schemas.microsoft.com/office/powerpoint/2010/main" val="51321757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7552935B-7416-8FB7-EF00-C2CE01DCBAF5}"/>
              </a:ext>
            </a:extLst>
          </p:cNvPr>
          <p:cNvSpPr/>
          <p:nvPr/>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5650" name="Rectangle 2"/>
          <p:cNvSpPr>
            <a:spLocks noGrp="1" noChangeArrowheads="1"/>
          </p:cNvSpPr>
          <p:nvPr>
            <p:ph type="title"/>
          </p:nvPr>
        </p:nvSpPr>
        <p:spPr>
          <a:xfrm>
            <a:off x="1847528" y="579120"/>
            <a:ext cx="8424936" cy="808038"/>
          </a:xfrm>
        </p:spPr>
        <p:txBody>
          <a:bodyPr/>
          <a:lstStyle/>
          <a:p>
            <a:pPr algn="ctr"/>
            <a:r>
              <a:rPr lang="zh-CN" altLang="en-US" dirty="0"/>
              <a:t>管理帐号常用的命令</a:t>
            </a:r>
          </a:p>
        </p:txBody>
      </p:sp>
      <p:sp>
        <p:nvSpPr>
          <p:cNvPr id="155651" name="Rectangle 3"/>
          <p:cNvSpPr>
            <a:spLocks noGrp="1" noChangeArrowheads="1"/>
          </p:cNvSpPr>
          <p:nvPr>
            <p:ph type="body" idx="1"/>
          </p:nvPr>
        </p:nvSpPr>
        <p:spPr>
          <a:xfrm>
            <a:off x="1271464" y="1585551"/>
            <a:ext cx="9633482" cy="4176464"/>
          </a:xfrm>
        </p:spPr>
        <p:txBody>
          <a:bodyPr/>
          <a:lstStyle/>
          <a:p>
            <a:pPr marL="0" indent="0">
              <a:buNone/>
            </a:pPr>
            <a:r>
              <a:rPr lang="en-US" altLang="zh-CN" sz="2600" dirty="0">
                <a:solidFill>
                  <a:srgbClr val="0000CC"/>
                </a:solidFill>
              </a:rPr>
              <a:t>groups  </a:t>
            </a:r>
            <a:r>
              <a:rPr lang="zh-CN" altLang="en-US" sz="2600" dirty="0">
                <a:solidFill>
                  <a:srgbClr val="0000CC"/>
                </a:solidFill>
              </a:rPr>
              <a:t>命令</a:t>
            </a:r>
            <a:endParaRPr lang="en-US" altLang="zh-CN" sz="2600" dirty="0">
              <a:solidFill>
                <a:srgbClr val="0000CC"/>
              </a:solidFill>
            </a:endParaRPr>
          </a:p>
          <a:p>
            <a:pPr marL="0" indent="0">
              <a:buNone/>
            </a:pPr>
            <a:r>
              <a:rPr lang="zh-CN" altLang="en-US" sz="2600" dirty="0"/>
              <a:t>格式</a:t>
            </a:r>
            <a:r>
              <a:rPr lang="en-US" altLang="zh-CN" sz="2600" dirty="0"/>
              <a:t>:  </a:t>
            </a:r>
            <a:r>
              <a:rPr lang="en-US" altLang="zh-CN" sz="2600" dirty="0">
                <a:solidFill>
                  <a:srgbClr val="CC0099"/>
                </a:solidFill>
              </a:rPr>
              <a:t>groups  [</a:t>
            </a:r>
            <a:r>
              <a:rPr lang="zh-CN" altLang="en-US" sz="2600" dirty="0">
                <a:solidFill>
                  <a:srgbClr val="CC0099"/>
                </a:solidFill>
              </a:rPr>
              <a:t>选项</a:t>
            </a:r>
            <a:r>
              <a:rPr lang="en-US" altLang="zh-CN" sz="2600" dirty="0">
                <a:solidFill>
                  <a:srgbClr val="CC0099"/>
                </a:solidFill>
              </a:rPr>
              <a:t>]  [</a:t>
            </a:r>
            <a:r>
              <a:rPr lang="zh-CN" altLang="en-US" sz="2600" dirty="0">
                <a:solidFill>
                  <a:srgbClr val="CC0099"/>
                </a:solidFill>
              </a:rPr>
              <a:t>用户名</a:t>
            </a:r>
            <a:r>
              <a:rPr lang="en-US" altLang="zh-CN" sz="2600" dirty="0">
                <a:solidFill>
                  <a:srgbClr val="CC0099"/>
                </a:solidFill>
              </a:rPr>
              <a:t>] </a:t>
            </a:r>
          </a:p>
          <a:p>
            <a:pPr marL="0" indent="0">
              <a:buNone/>
            </a:pPr>
            <a:r>
              <a:rPr lang="zh-CN" altLang="en-US" sz="2600" dirty="0"/>
              <a:t>功能：查看用户所属组群。</a:t>
            </a:r>
            <a:endParaRPr lang="en-US" altLang="zh-CN" sz="2600" dirty="0"/>
          </a:p>
          <a:p>
            <a:pPr marL="0" indent="0">
              <a:buNone/>
            </a:pPr>
            <a:r>
              <a:rPr lang="zh-CN" altLang="en-US" sz="2600" dirty="0"/>
              <a:t>主要选项说明：</a:t>
            </a:r>
            <a:endParaRPr lang="en-US" altLang="zh-CN" sz="2600" dirty="0"/>
          </a:p>
          <a:p>
            <a:pPr marL="0" indent="0">
              <a:buNone/>
            </a:pPr>
            <a:r>
              <a:rPr lang="en-US" altLang="zh-CN" sz="2600" dirty="0"/>
              <a:t>-help</a:t>
            </a:r>
            <a:r>
              <a:rPr lang="zh-CN" altLang="en-US" sz="2600" dirty="0"/>
              <a:t>：显示命令的帮助信息</a:t>
            </a:r>
            <a:endParaRPr lang="en-US" altLang="zh-CN" sz="2600" dirty="0"/>
          </a:p>
          <a:p>
            <a:pPr marL="0" indent="0">
              <a:buNone/>
            </a:pPr>
            <a:r>
              <a:rPr lang="zh-CN" altLang="en-US" sz="2600" dirty="0"/>
              <a:t> </a:t>
            </a:r>
            <a:r>
              <a:rPr lang="en-US" altLang="zh-CN" sz="2600" dirty="0"/>
              <a:t>--version</a:t>
            </a:r>
            <a:r>
              <a:rPr lang="zh-CN" altLang="en-US" sz="2600" dirty="0"/>
              <a:t>：显示命令的版本信息</a:t>
            </a:r>
          </a:p>
          <a:p>
            <a:pPr marL="0" indent="0">
              <a:buNone/>
            </a:pPr>
            <a:r>
              <a:rPr lang="zh-CN" altLang="en-US" sz="2600" dirty="0"/>
              <a:t>例如：查看某个用户所属的组群。</a:t>
            </a:r>
            <a:r>
              <a:rPr lang="en-US" altLang="zh-CN" sz="2600" dirty="0"/>
              <a:t> </a:t>
            </a:r>
          </a:p>
          <a:p>
            <a:pPr marL="0" indent="0">
              <a:buNone/>
            </a:pPr>
            <a:r>
              <a:rPr lang="en-US" altLang="zh-CN" sz="2600" dirty="0"/>
              <a:t>[root@localhost  ~ ] #  groups    liqun</a:t>
            </a:r>
          </a:p>
          <a:p>
            <a:pPr marL="0" indent="0">
              <a:buNone/>
            </a:pPr>
            <a:endParaRPr lang="en-US" altLang="zh-CN" sz="2600" dirty="0"/>
          </a:p>
          <a:p>
            <a:pPr marL="0" indent="0">
              <a:lnSpc>
                <a:spcPct val="120000"/>
              </a:lnSpc>
              <a:buNone/>
            </a:pPr>
            <a:endParaRPr lang="en-US" altLang="zh-CN" sz="2600" dirty="0"/>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57</a:t>
            </a:fld>
            <a:endParaRPr lang="en-US" altLang="zh-CN"/>
          </a:p>
        </p:txBody>
      </p:sp>
    </p:spTree>
    <p:extLst>
      <p:ext uri="{BB962C8B-B14F-4D97-AF65-F5344CB8AC3E}">
        <p14:creationId xmlns:p14="http://schemas.microsoft.com/office/powerpoint/2010/main" val="320627560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58C9ECA7-98C7-E3CB-77A9-E6DEDEB4B87D}"/>
              </a:ext>
            </a:extLst>
          </p:cNvPr>
          <p:cNvSpPr/>
          <p:nvPr/>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5650" name="Rectangle 2"/>
          <p:cNvSpPr>
            <a:spLocks noGrp="1" noChangeArrowheads="1"/>
          </p:cNvSpPr>
          <p:nvPr>
            <p:ph type="title"/>
          </p:nvPr>
        </p:nvSpPr>
        <p:spPr>
          <a:xfrm>
            <a:off x="1991544" y="567749"/>
            <a:ext cx="7560840" cy="808038"/>
          </a:xfrm>
        </p:spPr>
        <p:txBody>
          <a:bodyPr/>
          <a:lstStyle/>
          <a:p>
            <a:pPr algn="ctr"/>
            <a:r>
              <a:rPr lang="zh-CN" altLang="en-US" dirty="0"/>
              <a:t>管理帐号常用的命令</a:t>
            </a:r>
          </a:p>
        </p:txBody>
      </p:sp>
      <p:sp>
        <p:nvSpPr>
          <p:cNvPr id="155651" name="Rectangle 3"/>
          <p:cNvSpPr>
            <a:spLocks noGrp="1" noChangeArrowheads="1"/>
          </p:cNvSpPr>
          <p:nvPr>
            <p:ph type="body" idx="1"/>
          </p:nvPr>
        </p:nvSpPr>
        <p:spPr>
          <a:xfrm>
            <a:off x="1271464" y="1613559"/>
            <a:ext cx="9937104" cy="4176464"/>
          </a:xfrm>
        </p:spPr>
        <p:txBody>
          <a:bodyPr/>
          <a:lstStyle/>
          <a:p>
            <a:pPr marL="0" indent="0">
              <a:buNone/>
            </a:pPr>
            <a:r>
              <a:rPr lang="en-US" altLang="zh-CN" sz="2600" dirty="0">
                <a:solidFill>
                  <a:srgbClr val="0000CC"/>
                </a:solidFill>
              </a:rPr>
              <a:t>whoami</a:t>
            </a:r>
            <a:r>
              <a:rPr lang="zh-CN" altLang="en-US" sz="2600" dirty="0">
                <a:solidFill>
                  <a:srgbClr val="0000CC"/>
                </a:solidFill>
              </a:rPr>
              <a:t>命令</a:t>
            </a:r>
            <a:endParaRPr lang="en-US" altLang="zh-CN" sz="2600" dirty="0">
              <a:solidFill>
                <a:srgbClr val="0000CC"/>
              </a:solidFill>
            </a:endParaRPr>
          </a:p>
          <a:p>
            <a:pPr marL="0" indent="0">
              <a:buNone/>
            </a:pPr>
            <a:r>
              <a:rPr lang="zh-CN" altLang="en-US" sz="2600" dirty="0"/>
              <a:t>格式</a:t>
            </a:r>
            <a:r>
              <a:rPr lang="en-US" altLang="zh-CN" sz="2600" dirty="0"/>
              <a:t>:  </a:t>
            </a:r>
            <a:r>
              <a:rPr lang="en-US" altLang="zh-CN" sz="2600" dirty="0">
                <a:solidFill>
                  <a:srgbClr val="CC0099"/>
                </a:solidFill>
              </a:rPr>
              <a:t>whoami </a:t>
            </a:r>
          </a:p>
          <a:p>
            <a:pPr marL="0" indent="0">
              <a:buNone/>
            </a:pPr>
            <a:r>
              <a:rPr lang="zh-CN" altLang="en-US" sz="2600" dirty="0">
                <a:solidFill>
                  <a:srgbClr val="0000FF"/>
                </a:solidFill>
              </a:rPr>
              <a:t>功能</a:t>
            </a:r>
            <a:r>
              <a:rPr lang="zh-CN" altLang="en-US" sz="2600" dirty="0"/>
              <a:t>：显示当前登录的用户名。 </a:t>
            </a:r>
            <a:r>
              <a:rPr lang="en-US" altLang="zh-CN" sz="2600" dirty="0"/>
              <a:t> </a:t>
            </a:r>
          </a:p>
          <a:p>
            <a:pPr marL="0" indent="0">
              <a:buNone/>
            </a:pPr>
            <a:r>
              <a:rPr lang="zh-CN" altLang="en-US" sz="2600" dirty="0"/>
              <a:t>用户有时需要在</a:t>
            </a:r>
            <a:r>
              <a:rPr lang="en-US" altLang="zh-CN" sz="2600" dirty="0"/>
              <a:t>Linux</a:t>
            </a:r>
            <a:r>
              <a:rPr lang="zh-CN" altLang="en-US" sz="2600" dirty="0"/>
              <a:t>系统中更换身份，通常是以一般的用户身份登录，如果需要设置系统的某些内容，再以</a:t>
            </a:r>
            <a:r>
              <a:rPr lang="en-US" altLang="zh-CN" sz="2600" dirty="0"/>
              <a:t>su</a:t>
            </a:r>
            <a:r>
              <a:rPr lang="zh-CN" altLang="en-US" sz="2600" dirty="0"/>
              <a:t>命令切换到管理员的身份。</a:t>
            </a:r>
          </a:p>
          <a:p>
            <a:pPr marL="0" indent="0">
              <a:buNone/>
            </a:pPr>
            <a:r>
              <a:rPr lang="zh-CN" altLang="en-US" sz="2600" dirty="0">
                <a:solidFill>
                  <a:srgbClr val="0000FF"/>
                </a:solidFill>
              </a:rPr>
              <a:t>例如</a:t>
            </a:r>
            <a:r>
              <a:rPr lang="zh-CN" altLang="en-US" sz="2600" dirty="0"/>
              <a:t>：直接输入”</a:t>
            </a:r>
            <a:r>
              <a:rPr lang="en-US" altLang="zh-CN" sz="2600" dirty="0"/>
              <a:t>whoami”</a:t>
            </a:r>
            <a:r>
              <a:rPr lang="zh-CN" altLang="en-US" sz="2600" dirty="0"/>
              <a:t>命令可以显示当前登录的用户名。 </a:t>
            </a:r>
            <a:endParaRPr lang="en-US" altLang="zh-CN" sz="2600" dirty="0"/>
          </a:p>
          <a:p>
            <a:pPr marL="0" indent="0">
              <a:buNone/>
            </a:pPr>
            <a:r>
              <a:rPr lang="en-US" altLang="zh-CN" sz="2600" dirty="0"/>
              <a:t>[</a:t>
            </a:r>
            <a:r>
              <a:rPr lang="en-US" altLang="zh-CN" sz="2600" dirty="0" err="1"/>
              <a:t>root@localhost</a:t>
            </a:r>
            <a:r>
              <a:rPr lang="en-US" altLang="zh-CN" sz="2600" dirty="0"/>
              <a:t>  ~ ]  # whoami</a:t>
            </a:r>
          </a:p>
          <a:p>
            <a:pPr marL="0" indent="0">
              <a:buNone/>
            </a:pPr>
            <a:r>
              <a:rPr lang="en-US" altLang="zh-CN" sz="2600" dirty="0"/>
              <a:t>root</a:t>
            </a:r>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58</a:t>
            </a:fld>
            <a:endParaRPr lang="en-US" altLang="zh-CN"/>
          </a:p>
        </p:txBody>
      </p:sp>
    </p:spTree>
    <p:extLst>
      <p:ext uri="{BB962C8B-B14F-4D97-AF65-F5344CB8AC3E}">
        <p14:creationId xmlns:p14="http://schemas.microsoft.com/office/powerpoint/2010/main" val="417061158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250F4852-C016-B333-9C5B-6D4657A8697D}"/>
              </a:ext>
            </a:extLst>
          </p:cNvPr>
          <p:cNvSpPr/>
          <p:nvPr/>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5650" name="Rectangle 2"/>
          <p:cNvSpPr>
            <a:spLocks noGrp="1" noChangeArrowheads="1"/>
          </p:cNvSpPr>
          <p:nvPr>
            <p:ph type="title"/>
          </p:nvPr>
        </p:nvSpPr>
        <p:spPr>
          <a:xfrm>
            <a:off x="1967603" y="604738"/>
            <a:ext cx="7560840" cy="808038"/>
          </a:xfrm>
        </p:spPr>
        <p:txBody>
          <a:bodyPr/>
          <a:lstStyle/>
          <a:p>
            <a:pPr algn="ctr"/>
            <a:r>
              <a:rPr lang="zh-CN" altLang="en-US" dirty="0"/>
              <a:t>管理帐号常用的命令</a:t>
            </a:r>
          </a:p>
        </p:txBody>
      </p:sp>
      <p:sp>
        <p:nvSpPr>
          <p:cNvPr id="155651" name="Rectangle 3"/>
          <p:cNvSpPr>
            <a:spLocks noGrp="1" noChangeArrowheads="1"/>
          </p:cNvSpPr>
          <p:nvPr>
            <p:ph type="body" idx="1"/>
          </p:nvPr>
        </p:nvSpPr>
        <p:spPr>
          <a:xfrm>
            <a:off x="1487488" y="1387158"/>
            <a:ext cx="9361040" cy="4274926"/>
          </a:xfrm>
        </p:spPr>
        <p:txBody>
          <a:bodyPr/>
          <a:lstStyle/>
          <a:p>
            <a:pPr marL="0" indent="0">
              <a:lnSpc>
                <a:spcPct val="200000"/>
              </a:lnSpc>
              <a:buNone/>
            </a:pPr>
            <a:r>
              <a:rPr lang="en-US" altLang="zh-CN" sz="2600" dirty="0"/>
              <a:t>[</a:t>
            </a:r>
            <a:r>
              <a:rPr lang="en-US" altLang="zh-CN" sz="2600" dirty="0" err="1"/>
              <a:t>root@localhost</a:t>
            </a:r>
            <a:r>
              <a:rPr lang="en-US" altLang="zh-CN" sz="2600" dirty="0"/>
              <a:t>  ~ ] #  su  lily</a:t>
            </a:r>
          </a:p>
          <a:p>
            <a:pPr marL="0" indent="0">
              <a:lnSpc>
                <a:spcPct val="200000"/>
              </a:lnSpc>
              <a:buNone/>
            </a:pPr>
            <a:r>
              <a:rPr lang="en-US" altLang="zh-CN" sz="2600" dirty="0"/>
              <a:t>[lily@ localhost root] $ whoami</a:t>
            </a:r>
          </a:p>
          <a:p>
            <a:pPr marL="0" indent="0">
              <a:lnSpc>
                <a:spcPct val="200000"/>
              </a:lnSpc>
              <a:buNone/>
            </a:pPr>
            <a:r>
              <a:rPr lang="en-US" altLang="zh-CN" sz="2600" dirty="0"/>
              <a:t>lily</a:t>
            </a:r>
          </a:p>
          <a:p>
            <a:pPr marL="0" indent="0">
              <a:lnSpc>
                <a:spcPct val="200000"/>
              </a:lnSpc>
              <a:buNone/>
            </a:pPr>
            <a:r>
              <a:rPr lang="en-US" altLang="zh-CN" sz="2600" dirty="0"/>
              <a:t>[lily@ localhost root] $ who  am  </a:t>
            </a:r>
            <a:r>
              <a:rPr lang="en-US" altLang="zh-CN" sz="2600" dirty="0" err="1"/>
              <a:t>i</a:t>
            </a:r>
            <a:endParaRPr lang="en-US" altLang="zh-CN" sz="2600" dirty="0"/>
          </a:p>
          <a:p>
            <a:pPr marL="0" indent="0">
              <a:lnSpc>
                <a:spcPct val="200000"/>
              </a:lnSpc>
              <a:buNone/>
            </a:pPr>
            <a:r>
              <a:rPr lang="en-US" altLang="zh-CN" sz="2600" dirty="0"/>
              <a:t>root</a:t>
            </a:r>
          </a:p>
          <a:p>
            <a:pPr marL="0" indent="0">
              <a:lnSpc>
                <a:spcPct val="200000"/>
              </a:lnSpc>
              <a:buNone/>
            </a:pPr>
            <a:endParaRPr lang="en-US" altLang="zh-CN" sz="2600" dirty="0">
              <a:solidFill>
                <a:srgbClr val="0000CC"/>
              </a:solidFill>
            </a:endParaRPr>
          </a:p>
        </p:txBody>
      </p:sp>
      <p:sp>
        <p:nvSpPr>
          <p:cNvPr id="2" name="灯片编号占位符 1"/>
          <p:cNvSpPr>
            <a:spLocks noGrp="1"/>
          </p:cNvSpPr>
          <p:nvPr>
            <p:ph type="sldNum" sz="quarter" idx="11"/>
          </p:nvPr>
        </p:nvSpPr>
        <p:spPr/>
        <p:txBody>
          <a:bodyPr/>
          <a:lstStyle/>
          <a:p>
            <a:pPr>
              <a:defRPr/>
            </a:pPr>
            <a:fld id="{110871B5-850E-4E14-A636-3EC679EBF038}" type="slidenum">
              <a:rPr lang="en-US" altLang="zh-CN" smtClean="0"/>
              <a:pPr>
                <a:defRPr/>
              </a:pPr>
              <a:t>59</a:t>
            </a:fld>
            <a:endParaRPr lang="en-US" altLang="zh-CN"/>
          </a:p>
        </p:txBody>
      </p:sp>
    </p:spTree>
    <p:extLst>
      <p:ext uri="{BB962C8B-B14F-4D97-AF65-F5344CB8AC3E}">
        <p14:creationId xmlns:p14="http://schemas.microsoft.com/office/powerpoint/2010/main" val="421446529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95B3F4CD-00C1-16B4-E2FF-85EAC62D9FCB}"/>
              </a:ext>
            </a:extLst>
          </p:cNvPr>
          <p:cNvSpPr/>
          <p:nvPr/>
        </p:nvSpPr>
        <p:spPr>
          <a:xfrm>
            <a:off x="533400" y="579120"/>
            <a:ext cx="11125200" cy="5699760"/>
          </a:xfrm>
          <a:prstGeom prst="rect">
            <a:avLst/>
          </a:prstGeom>
          <a:solidFill>
            <a:schemeClr val="bg1"/>
          </a:solidFill>
          <a:ln w="1079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44452" name="Rectangle 2"/>
          <p:cNvSpPr>
            <a:spLocks noChangeArrowheads="1"/>
          </p:cNvSpPr>
          <p:nvPr/>
        </p:nvSpPr>
        <p:spPr bwMode="auto">
          <a:xfrm>
            <a:off x="2208213" y="836613"/>
            <a:ext cx="7543800"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ctr"/>
            <a:r>
              <a:rPr lang="en-US" altLang="zh-CN" sz="5400" dirty="0">
                <a:solidFill>
                  <a:srgbClr val="CC00CC"/>
                </a:solidFill>
                <a:ea typeface="黑体" pitchFamily="49" charset="-122"/>
              </a:rPr>
              <a:t>Thanks!</a:t>
            </a:r>
          </a:p>
        </p:txBody>
      </p:sp>
      <p:pic>
        <p:nvPicPr>
          <p:cNvPr id="744453"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38750" y="2506588"/>
            <a:ext cx="1593850"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灯片编号占位符 1">
            <a:extLst>
              <a:ext uri="{FF2B5EF4-FFF2-40B4-BE49-F238E27FC236}">
                <a16:creationId xmlns:a16="http://schemas.microsoft.com/office/drawing/2014/main" id="{1F2DFFA0-690F-4C55-B0CE-563F3E8CF19E}"/>
              </a:ext>
            </a:extLst>
          </p:cNvPr>
          <p:cNvSpPr txBox="1">
            <a:spLocks/>
          </p:cNvSpPr>
          <p:nvPr/>
        </p:nvSpPr>
        <p:spPr bwMode="auto">
          <a:xfrm>
            <a:off x="10359255" y="6389206"/>
            <a:ext cx="514549"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zh-CN"/>
            </a:defPPr>
            <a:lvl1pPr algn="r" rtl="0" fontAlgn="base">
              <a:spcBef>
                <a:spcPct val="0"/>
              </a:spcBef>
              <a:spcAft>
                <a:spcPct val="0"/>
              </a:spcAft>
              <a:defRPr sz="1600" b="1" kern="1200">
                <a:solidFill>
                  <a:schemeClr val="tx1"/>
                </a:solidFill>
                <a:latin typeface="Arial" charset="0"/>
                <a:ea typeface="宋体" pitchFamily="2" charset="-122"/>
                <a:cs typeface="+mn-cs"/>
              </a:defRPr>
            </a:lvl1pPr>
            <a:lvl2pPr marL="457200" algn="ctr" rtl="0" fontAlgn="base">
              <a:spcBef>
                <a:spcPct val="0"/>
              </a:spcBef>
              <a:spcAft>
                <a:spcPct val="0"/>
              </a:spcAft>
              <a:defRPr b="1" kern="1200">
                <a:solidFill>
                  <a:schemeClr val="tx1"/>
                </a:solidFill>
                <a:latin typeface="Arial" charset="0"/>
                <a:ea typeface="宋体" pitchFamily="2" charset="-122"/>
                <a:cs typeface="+mn-cs"/>
              </a:defRPr>
            </a:lvl2pPr>
            <a:lvl3pPr marL="914400" algn="ctr" rtl="0" fontAlgn="base">
              <a:spcBef>
                <a:spcPct val="0"/>
              </a:spcBef>
              <a:spcAft>
                <a:spcPct val="0"/>
              </a:spcAft>
              <a:defRPr b="1" kern="1200">
                <a:solidFill>
                  <a:schemeClr val="tx1"/>
                </a:solidFill>
                <a:latin typeface="Arial" charset="0"/>
                <a:ea typeface="宋体" pitchFamily="2" charset="-122"/>
                <a:cs typeface="+mn-cs"/>
              </a:defRPr>
            </a:lvl3pPr>
            <a:lvl4pPr marL="1371600" algn="ctr" rtl="0" fontAlgn="base">
              <a:spcBef>
                <a:spcPct val="0"/>
              </a:spcBef>
              <a:spcAft>
                <a:spcPct val="0"/>
              </a:spcAft>
              <a:defRPr b="1" kern="1200">
                <a:solidFill>
                  <a:schemeClr val="tx1"/>
                </a:solidFill>
                <a:latin typeface="Arial" charset="0"/>
                <a:ea typeface="宋体" pitchFamily="2" charset="-122"/>
                <a:cs typeface="+mn-cs"/>
              </a:defRPr>
            </a:lvl4pPr>
            <a:lvl5pPr marL="1828800" algn="ctr" rtl="0" fontAlgn="base">
              <a:spcBef>
                <a:spcPct val="0"/>
              </a:spcBef>
              <a:spcAft>
                <a:spcPct val="0"/>
              </a:spcAft>
              <a:defRPr b="1" kern="1200">
                <a:solidFill>
                  <a:schemeClr val="tx1"/>
                </a:solidFill>
                <a:latin typeface="Arial" charset="0"/>
                <a:ea typeface="宋体" pitchFamily="2" charset="-122"/>
                <a:cs typeface="+mn-cs"/>
              </a:defRPr>
            </a:lvl5pPr>
            <a:lvl6pPr marL="2286000" algn="l" defTabSz="914400" rtl="0" eaLnBrk="1" latinLnBrk="0" hangingPunct="1">
              <a:defRPr b="1" kern="1200">
                <a:solidFill>
                  <a:schemeClr val="tx1"/>
                </a:solidFill>
                <a:latin typeface="Arial" charset="0"/>
                <a:ea typeface="宋体" pitchFamily="2" charset="-122"/>
                <a:cs typeface="+mn-cs"/>
              </a:defRPr>
            </a:lvl6pPr>
            <a:lvl7pPr marL="2743200" algn="l" defTabSz="914400" rtl="0" eaLnBrk="1" latinLnBrk="0" hangingPunct="1">
              <a:defRPr b="1" kern="1200">
                <a:solidFill>
                  <a:schemeClr val="tx1"/>
                </a:solidFill>
                <a:latin typeface="Arial" charset="0"/>
                <a:ea typeface="宋体" pitchFamily="2" charset="-122"/>
                <a:cs typeface="+mn-cs"/>
              </a:defRPr>
            </a:lvl7pPr>
            <a:lvl8pPr marL="3200400" algn="l" defTabSz="914400" rtl="0" eaLnBrk="1" latinLnBrk="0" hangingPunct="1">
              <a:defRPr b="1" kern="1200">
                <a:solidFill>
                  <a:schemeClr val="tx1"/>
                </a:solidFill>
                <a:latin typeface="Arial" charset="0"/>
                <a:ea typeface="宋体" pitchFamily="2" charset="-122"/>
                <a:cs typeface="+mn-cs"/>
              </a:defRPr>
            </a:lvl8pPr>
            <a:lvl9pPr marL="3657600" algn="l" defTabSz="914400" rtl="0" eaLnBrk="1" latinLnBrk="0" hangingPunct="1">
              <a:defRPr b="1" kern="1200">
                <a:solidFill>
                  <a:schemeClr val="tx1"/>
                </a:solidFill>
                <a:latin typeface="Arial" charset="0"/>
                <a:ea typeface="宋体" pitchFamily="2" charset="-122"/>
                <a:cs typeface="+mn-cs"/>
              </a:defRPr>
            </a:lvl9pPr>
          </a:lstStyle>
          <a:p>
            <a:pPr>
              <a:defRPr/>
            </a:pPr>
            <a:fld id="{110871B5-850E-4E14-A636-3EC679EBF038}" type="slidenum">
              <a:rPr lang="en-US" altLang="zh-CN" smtClean="0"/>
              <a:pPr>
                <a:defRPr/>
              </a:pPr>
              <a:t>60</a:t>
            </a:fld>
            <a:endParaRPr lang="en-US" altLang="zh-CN" dirty="0"/>
          </a:p>
        </p:txBody>
      </p:sp>
    </p:spTree>
    <p:extLst>
      <p:ext uri="{BB962C8B-B14F-4D97-AF65-F5344CB8AC3E}">
        <p14:creationId xmlns:p14="http://schemas.microsoft.com/office/powerpoint/2010/main" val="125809999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theme/theme1.xml><?xml version="1.0" encoding="utf-8"?>
<a:theme xmlns:a="http://schemas.openxmlformats.org/drawingml/2006/main" name="Network">
  <a:themeElements>
    <a:clrScheme name="Network 13">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0000FF"/>
      </a:hlink>
      <a:folHlink>
        <a:srgbClr val="0000FF"/>
      </a:folHlink>
    </a:clrScheme>
    <a:fontScheme name="Network">
      <a:majorFont>
        <a:latin typeface="Arial"/>
        <a:ea typeface="黑体"/>
        <a:cs typeface=""/>
      </a:majorFont>
      <a:minorFont>
        <a:latin typeface="Arial"/>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8575" cap="flat" cmpd="sng" algn="ctr">
          <a:solidFill>
            <a:srgbClr val="FF0000"/>
          </a:solidFill>
          <a:prstDash val="solid"/>
          <a:round/>
          <a:headEnd type="none" w="med" len="med"/>
          <a:tailEnd type="triangl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28575" cap="flat" cmpd="sng" algn="ctr">
          <a:solidFill>
            <a:srgbClr val="FF0000"/>
          </a:solidFill>
          <a:prstDash val="solid"/>
          <a:round/>
          <a:headEnd type="none" w="med" len="med"/>
          <a:tailEnd type="triangl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
      <a:clrScheme name="Network 11">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66CCFF"/>
        </a:folHlink>
      </a:clrScheme>
      <a:clrMap bg1="lt1" tx1="dk1" bg2="lt2" tx2="dk2" accent1="accent1" accent2="accent2" accent3="accent3" accent4="accent4" accent5="accent5" accent6="accent6" hlink="hlink" folHlink="folHlink"/>
    </a:extraClrScheme>
    <a:extraClrScheme>
      <a:clrScheme name="Network 12">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0000FF"/>
        </a:folHlink>
      </a:clrScheme>
      <a:clrMap bg1="lt1" tx1="dk1" bg2="lt2" tx2="dk2" accent1="accent1" accent2="accent2" accent3="accent3" accent4="accent4" accent5="accent5" accent6="accent6" hlink="hlink" folHlink="folHlink"/>
    </a:extraClrScheme>
    <a:extraClrScheme>
      <a:clrScheme name="Network 13">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0000FF"/>
        </a:hlink>
        <a:folHlink>
          <a:srgbClr val="0000FF"/>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21237</TotalTime>
  <Words>5788</Words>
  <Application>Microsoft Office PowerPoint</Application>
  <PresentationFormat>宽屏</PresentationFormat>
  <Paragraphs>502</Paragraphs>
  <Slides>60</Slides>
  <Notes>27</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60</vt:i4>
      </vt:variant>
    </vt:vector>
  </HeadingPairs>
  <TitlesOfParts>
    <vt:vector size="66" baseType="lpstr">
      <vt:lpstr>黑体</vt:lpstr>
      <vt:lpstr>Arial</vt:lpstr>
      <vt:lpstr>Tahoma</vt:lpstr>
      <vt:lpstr>Times New Roman</vt:lpstr>
      <vt:lpstr>Wingdings</vt:lpstr>
      <vt:lpstr>Network</vt:lpstr>
      <vt:lpstr>       第 4 章       </vt:lpstr>
      <vt:lpstr>本章内容</vt:lpstr>
      <vt:lpstr>4.1 用户与组群</vt:lpstr>
      <vt:lpstr>用户和组</vt:lpstr>
      <vt:lpstr>用户和组</vt:lpstr>
      <vt:lpstr>用户分类</vt:lpstr>
      <vt:lpstr>用户分类</vt:lpstr>
      <vt:lpstr>账户系统文件</vt:lpstr>
      <vt:lpstr>PowerPoint 演示文稿</vt:lpstr>
      <vt:lpstr>/etc/passwd 文件内容</vt:lpstr>
      <vt:lpstr>/etc/passwd 文件内容</vt:lpstr>
      <vt:lpstr>PowerPoint 演示文稿</vt:lpstr>
      <vt:lpstr>/etc/shadow 文件内容</vt:lpstr>
      <vt:lpstr>/etc/shadow 文件内容</vt:lpstr>
      <vt:lpstr>/etc/shadow 文件内容</vt:lpstr>
      <vt:lpstr>PowerPoint 演示文稿</vt:lpstr>
      <vt:lpstr>组群概念</vt:lpstr>
      <vt:lpstr>用户组</vt:lpstr>
      <vt:lpstr>PowerPoint 演示文稿</vt:lpstr>
      <vt:lpstr>PowerPoint 演示文稿</vt:lpstr>
      <vt:lpstr>/etc/gshadow文件</vt:lpstr>
      <vt:lpstr>/etc/gshadow文件内容</vt:lpstr>
      <vt:lpstr>4.2 管理用户的Shell命令</vt:lpstr>
      <vt:lpstr>PowerPoint 演示文稿</vt:lpstr>
      <vt:lpstr>管理用户的Shell命令</vt:lpstr>
      <vt:lpstr>管理用户的Shell命令</vt:lpstr>
      <vt:lpstr>管理用户的Shell命令</vt:lpstr>
      <vt:lpstr>设置密码</vt:lpstr>
      <vt:lpstr>修改密码</vt:lpstr>
      <vt:lpstr>设置密码</vt:lpstr>
      <vt:lpstr>删除密码</vt:lpstr>
      <vt:lpstr>锁定与解除用户账号</vt:lpstr>
      <vt:lpstr>锁定与解除用户账号</vt:lpstr>
      <vt:lpstr>管理用户的Shell命令</vt:lpstr>
      <vt:lpstr>管理用户的Shell命令</vt:lpstr>
      <vt:lpstr>管理用户的Shell命令</vt:lpstr>
      <vt:lpstr>修改用户属性</vt:lpstr>
      <vt:lpstr>管理用户的Shell命令</vt:lpstr>
      <vt:lpstr>管理用户的Shell命令</vt:lpstr>
      <vt:lpstr>修改用户属性</vt:lpstr>
      <vt:lpstr>管理用户的Shell命令</vt:lpstr>
      <vt:lpstr>管理用户的Shell命令</vt:lpstr>
      <vt:lpstr>管理用户的Shell命令</vt:lpstr>
      <vt:lpstr>管理用户的Shell命令</vt:lpstr>
      <vt:lpstr>管理用户的Shell命令</vt:lpstr>
      <vt:lpstr>管理用户的Shell命令</vt:lpstr>
      <vt:lpstr>管理用户的Shell命令</vt:lpstr>
      <vt:lpstr>管理用户的Shell命令</vt:lpstr>
      <vt:lpstr>管理用户的Shell命令</vt:lpstr>
      <vt:lpstr>4.3 管理组群的Shell命令</vt:lpstr>
      <vt:lpstr>管理组群的Shell命令</vt:lpstr>
      <vt:lpstr>管理组群的Shell命令</vt:lpstr>
      <vt:lpstr>管理组群的Shell命令</vt:lpstr>
      <vt:lpstr>管理文件和目录的命令</vt:lpstr>
      <vt:lpstr>管理文件和目录的命令</vt:lpstr>
      <vt:lpstr>管理帐号常用的命令</vt:lpstr>
      <vt:lpstr>管理帐号常用的命令</vt:lpstr>
      <vt:lpstr>管理帐号常用的命令</vt:lpstr>
      <vt:lpstr>管理帐号常用的命令</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计算机应用技术基础</dc:title>
  <dc:creator>李群</dc:creator>
  <cp:lastModifiedBy>liqun</cp:lastModifiedBy>
  <cp:revision>2143</cp:revision>
  <dcterms:created xsi:type="dcterms:W3CDTF">2007-09-10T04:44:13Z</dcterms:created>
  <dcterms:modified xsi:type="dcterms:W3CDTF">2024-09-24T07:59:26Z</dcterms:modified>
</cp:coreProperties>
</file>