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tmp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notesMasterIdLst>
    <p:notesMasterId r:id="rId76"/>
  </p:notesMasterIdLst>
  <p:handoutMasterIdLst>
    <p:handoutMasterId r:id="rId77"/>
  </p:handoutMasterIdLst>
  <p:sldIdLst>
    <p:sldId id="256" r:id="rId3"/>
    <p:sldId id="450" r:id="rId4"/>
    <p:sldId id="367" r:id="rId5"/>
    <p:sldId id="370" r:id="rId6"/>
    <p:sldId id="369" r:id="rId7"/>
    <p:sldId id="376" r:id="rId8"/>
    <p:sldId id="402" r:id="rId9"/>
    <p:sldId id="386" r:id="rId10"/>
    <p:sldId id="377" r:id="rId11"/>
    <p:sldId id="410" r:id="rId12"/>
    <p:sldId id="378" r:id="rId13"/>
    <p:sldId id="400" r:id="rId14"/>
    <p:sldId id="409" r:id="rId15"/>
    <p:sldId id="389" r:id="rId16"/>
    <p:sldId id="390" r:id="rId17"/>
    <p:sldId id="381" r:id="rId18"/>
    <p:sldId id="397" r:id="rId19"/>
    <p:sldId id="408" r:id="rId20"/>
    <p:sldId id="398" r:id="rId21"/>
    <p:sldId id="399" r:id="rId22"/>
    <p:sldId id="387" r:id="rId23"/>
    <p:sldId id="388" r:id="rId24"/>
    <p:sldId id="391" r:id="rId25"/>
    <p:sldId id="392" r:id="rId26"/>
    <p:sldId id="393" r:id="rId27"/>
    <p:sldId id="394" r:id="rId28"/>
    <p:sldId id="395" r:id="rId29"/>
    <p:sldId id="396" r:id="rId30"/>
    <p:sldId id="371" r:id="rId31"/>
    <p:sldId id="444" r:id="rId32"/>
    <p:sldId id="401" r:id="rId33"/>
    <p:sldId id="403" r:id="rId34"/>
    <p:sldId id="372" r:id="rId35"/>
    <p:sldId id="445" r:id="rId36"/>
    <p:sldId id="373" r:id="rId37"/>
    <p:sldId id="404" r:id="rId38"/>
    <p:sldId id="411" r:id="rId39"/>
    <p:sldId id="412" r:id="rId40"/>
    <p:sldId id="405" r:id="rId41"/>
    <p:sldId id="406" r:id="rId42"/>
    <p:sldId id="407" r:id="rId43"/>
    <p:sldId id="413" r:id="rId44"/>
    <p:sldId id="414" r:id="rId45"/>
    <p:sldId id="415" r:id="rId46"/>
    <p:sldId id="431" r:id="rId47"/>
    <p:sldId id="446" r:id="rId48"/>
    <p:sldId id="436" r:id="rId49"/>
    <p:sldId id="437" r:id="rId50"/>
    <p:sldId id="432" r:id="rId51"/>
    <p:sldId id="433" r:id="rId52"/>
    <p:sldId id="435" r:id="rId53"/>
    <p:sldId id="434" r:id="rId54"/>
    <p:sldId id="438" r:id="rId55"/>
    <p:sldId id="439" r:id="rId56"/>
    <p:sldId id="441" r:id="rId57"/>
    <p:sldId id="442" r:id="rId58"/>
    <p:sldId id="443" r:id="rId59"/>
    <p:sldId id="417" r:id="rId60"/>
    <p:sldId id="418" r:id="rId61"/>
    <p:sldId id="419" r:id="rId62"/>
    <p:sldId id="420" r:id="rId63"/>
    <p:sldId id="421" r:id="rId64"/>
    <p:sldId id="422" r:id="rId65"/>
    <p:sldId id="423" r:id="rId66"/>
    <p:sldId id="424" r:id="rId67"/>
    <p:sldId id="426" r:id="rId68"/>
    <p:sldId id="427" r:id="rId69"/>
    <p:sldId id="448" r:id="rId70"/>
    <p:sldId id="447" r:id="rId71"/>
    <p:sldId id="449" r:id="rId72"/>
    <p:sldId id="429" r:id="rId73"/>
    <p:sldId id="368" r:id="rId74"/>
    <p:sldId id="303" r:id="rId75"/>
  </p:sldIdLst>
  <p:sldSz cx="9144000" cy="6858000" type="screen4x3"/>
  <p:notesSz cx="9928225" cy="679767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5399FF"/>
    <a:srgbClr val="CDE1FF"/>
    <a:srgbClr val="0066FF"/>
    <a:srgbClr val="D1F3FF"/>
    <a:srgbClr val="003399"/>
    <a:srgbClr val="8FD5E5"/>
    <a:srgbClr val="AFCFFF"/>
    <a:srgbClr val="86B036"/>
    <a:srgbClr val="D6ED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987" autoAdjust="0"/>
    <p:restoredTop sz="94660"/>
  </p:normalViewPr>
  <p:slideViewPr>
    <p:cSldViewPr>
      <p:cViewPr varScale="1">
        <p:scale>
          <a:sx n="107" d="100"/>
          <a:sy n="107" d="100"/>
        </p:scale>
        <p:origin x="1326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9" cy="720089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viewProps" Target="view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png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5.png"/><Relationship Id="rId4" Type="http://schemas.openxmlformats.org/officeDocument/2006/relationships/image" Target="../media/image39.png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image" Target="../media/image43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23698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63DE7E-39F9-4DCC-93DA-3279D547D277}" type="datetimeFigureOut">
              <a:rPr lang="zh-CN" altLang="en-US" smtClean="0"/>
              <a:t>2024/4/3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23698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606D5E-37D5-4761-B2B1-706141A57F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03692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3698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1A3C4-6393-4ABF-B223-4720487F51B1}" type="datetimeFigureOut">
              <a:rPr lang="zh-CN" altLang="en-US" smtClean="0"/>
              <a:t>2024/4/3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4004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823" y="3228896"/>
            <a:ext cx="794258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3698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DCA8F-E337-4DF5-BB18-E43B8F241E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8298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DCA8F-E337-4DF5-BB18-E43B8F241E6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7995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句型、短语、直接短语写到黑板上。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DCA8F-E337-4DF5-BB18-E43B8F241E6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5501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DCA8F-E337-4DF5-BB18-E43B8F241E65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667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C635129-A2C2-4245-A63F-8ED85DAB69CD}" type="datetime1">
              <a:rPr lang="zh-CN" altLang="en-US" smtClean="0"/>
              <a:t>2024/4/3</a:t>
            </a:fld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43473F-AE3F-4D1C-9C4F-7AD3C17AC1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7938462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solidFill>
                  <a:srgbClr val="003399"/>
                </a:solidFill>
              </a:defRPr>
            </a:lvl1pPr>
            <a:lvl2pPr marL="700088" indent="-342900">
              <a:buFont typeface="Wingdings" panose="05000000000000000000" pitchFamily="2" charset="2"/>
              <a:buChar char="p"/>
              <a:defRPr sz="2000">
                <a:solidFill>
                  <a:srgbClr val="7030A0"/>
                </a:solidFill>
              </a:defRPr>
            </a:lvl2pPr>
            <a:lvl3pPr marL="1143000" indent="-228600">
              <a:buFont typeface="Wingdings" panose="05000000000000000000" pitchFamily="2" charset="2"/>
              <a:buChar char="ü"/>
              <a:defRPr sz="1400"/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  <a:endParaRPr lang="en-US" altLang="zh-CN" dirty="0"/>
          </a:p>
          <a:p>
            <a:pPr lvl="2"/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130D65-BA33-4AAF-8701-66A16DFBD73E}" type="datetime1">
              <a:rPr lang="zh-CN" altLang="en-US" smtClean="0"/>
              <a:t>2024/4/3</a:t>
            </a:fld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43473F-AE3F-4D1C-9C4F-7AD3C17AC1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964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E2132B-B9C2-4138-BE84-A89812F0BF87}" type="datetime1">
              <a:rPr lang="zh-CN" altLang="en-US" smtClean="0"/>
              <a:t>2024/4/3</a:t>
            </a:fld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43473F-AE3F-4D1C-9C4F-7AD3C17AC1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3250484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1412875"/>
            <a:ext cx="4260850" cy="47418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81563" y="1412875"/>
            <a:ext cx="4262437" cy="47418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59F3BD-3236-46AF-8B40-70EE2CAD07B4}" type="datetime1">
              <a:rPr lang="zh-CN" altLang="en-US" smtClean="0"/>
              <a:t>2024/4/3</a:t>
            </a:fld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43473F-AE3F-4D1C-9C4F-7AD3C17AC1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4239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701EC4-54E5-4EF7-A4AA-EEB4E7CBC4DE}" type="datetime1">
              <a:rPr lang="zh-CN" altLang="en-US" smtClean="0"/>
              <a:t>2024/4/3</a:t>
            </a:fld>
            <a:endParaRPr lang="zh-CN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43473F-AE3F-4D1C-9C4F-7AD3C17AC1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5162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B7E256-D311-495A-8B16-DDFB667F7C9D}" type="datetime1">
              <a:rPr lang="zh-CN" altLang="en-US" smtClean="0"/>
              <a:t>2024/4/3</a:t>
            </a:fld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43473F-AE3F-4D1C-9C4F-7AD3C17AC1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515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F9952-2869-416F-A22C-DA52BA91A638}" type="datetime1">
              <a:rPr lang="zh-CN" altLang="en-US" smtClean="0"/>
              <a:t>2024/4/3</a:t>
            </a:fld>
            <a:endParaRPr lang="zh-CN" altLang="en-US"/>
          </a:p>
        </p:txBody>
      </p:sp>
      <p:sp>
        <p:nvSpPr>
          <p:cNvPr id="4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43473F-AE3F-4D1C-9C4F-7AD3C17AC1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1449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46CCA6-E58A-4B3C-B05D-893C9D11902F}" type="datetime1">
              <a:rPr lang="zh-CN" altLang="en-US" smtClean="0"/>
              <a:t>2024/4/3</a:t>
            </a:fld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43473F-AE3F-4D1C-9C4F-7AD3C17AC1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883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FBB412-0D26-46C4-B892-C3B90B1CCAE0}" type="datetime1">
              <a:rPr lang="zh-CN" altLang="en-US" smtClean="0"/>
              <a:t>2024/4/3</a:t>
            </a:fld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43473F-AE3F-4D1C-9C4F-7AD3C17AC1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21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6F8182-5F6F-4862-A2B3-7F20569EE3D1}" type="datetime1">
              <a:rPr lang="zh-CN" altLang="en-US" smtClean="0"/>
              <a:t>2024/4/3</a:t>
            </a:fld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43473F-AE3F-4D1C-9C4F-7AD3C17AC1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4661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83425" y="476250"/>
            <a:ext cx="2203450" cy="56784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68313" y="476250"/>
            <a:ext cx="6462712" cy="56784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A8AEEA-EC66-427D-95FE-66ECF3698A11}" type="datetime1">
              <a:rPr lang="zh-CN" altLang="en-US" smtClean="0"/>
              <a:t>2024/4/3</a:t>
            </a:fld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43473F-AE3F-4D1C-9C4F-7AD3C17AC1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5071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750" y="188913"/>
            <a:ext cx="8251825" cy="5032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4800" y="765175"/>
            <a:ext cx="8540750" cy="27320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04800" y="3649663"/>
            <a:ext cx="8540750" cy="27320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>
          <a:xfrm>
            <a:off x="0" y="6381750"/>
            <a:ext cx="1979613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>
          <a:xfrm>
            <a:off x="8101013" y="6381750"/>
            <a:ext cx="814387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4B7877-9F98-4B28-8ECA-8FE2966B8BC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67586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4292457666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293563502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229903231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125538"/>
            <a:ext cx="4135438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1688" y="1125538"/>
            <a:ext cx="4137025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359057091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19009155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19257499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6638312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732746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921921081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03227238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67525" y="115888"/>
            <a:ext cx="2276475" cy="6121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925" y="115888"/>
            <a:ext cx="6680200" cy="6121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5075349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925" y="115888"/>
            <a:ext cx="9109075" cy="1081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1125538"/>
            <a:ext cx="4135438" cy="51117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1688" y="1125538"/>
            <a:ext cx="4137025" cy="51117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2317688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82100" cy="836613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  <a:ex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5" y="107950"/>
            <a:ext cx="8218486" cy="71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041401"/>
            <a:ext cx="8218487" cy="5113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  <a:endParaRPr lang="en-US" altLang="zh-CN" dirty="0"/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fld id="{50F7545C-6285-4163-9007-1903E4B895F0}" type="datetime1">
              <a:rPr lang="zh-CN" altLang="en-US" smtClean="0"/>
              <a:t>2024/4/3</a:t>
            </a:fld>
            <a:endParaRPr lang="zh-CN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endParaRPr lang="zh-CN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1B43473F-AE3F-4D1C-9C4F-7AD3C17AC1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9760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1"/>
          </a:solidFill>
          <a:latin typeface="Arial" panose="020B0604020202020204" pitchFamily="34" charset="0"/>
          <a:ea typeface="华文中宋" panose="02010600040101010101" pitchFamily="2" charset="-122"/>
          <a:cs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1"/>
          </a:solidFill>
          <a:latin typeface="Arial" panose="020B0604020202020204" pitchFamily="34" charset="0"/>
          <a:ea typeface="华文中宋" panose="02010600040101010101" pitchFamily="2" charset="-122"/>
          <a:cs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1"/>
          </a:solidFill>
          <a:latin typeface="Arial" panose="020B0604020202020204" pitchFamily="34" charset="0"/>
          <a:ea typeface="华文中宋" panose="02010600040101010101" pitchFamily="2" charset="-122"/>
          <a:cs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1"/>
          </a:solidFill>
          <a:latin typeface="Arial" panose="020B0604020202020204" pitchFamily="34" charset="0"/>
          <a:ea typeface="华文中宋" panose="02010600040101010101" pitchFamily="2" charset="-122"/>
          <a:cs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FF3300"/>
          </a:solidFill>
          <a:latin typeface="Arial" panose="020B0604020202020204" pitchFamily="34" charset="0"/>
          <a:ea typeface="华文中宋" panose="02010600040101010101" pitchFamily="2" charset="-122"/>
          <a:cs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FF3300"/>
          </a:solidFill>
          <a:latin typeface="Arial" panose="020B0604020202020204" pitchFamily="34" charset="0"/>
          <a:ea typeface="华文中宋" panose="02010600040101010101" pitchFamily="2" charset="-122"/>
          <a:cs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FF3300"/>
          </a:solidFill>
          <a:latin typeface="Arial" panose="020B0604020202020204" pitchFamily="34" charset="0"/>
          <a:ea typeface="华文中宋" panose="02010600040101010101" pitchFamily="2" charset="-122"/>
          <a:cs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FF3300"/>
          </a:solidFill>
          <a:latin typeface="Arial" panose="020B0604020202020204" pitchFamily="34" charset="0"/>
          <a:ea typeface="华文中宋" panose="02010600040101010101" pitchFamily="2" charset="-122"/>
          <a:cs typeface="宋体" panose="02010600030101010101" pitchFamily="2" charset="-122"/>
        </a:defRPr>
      </a:lvl9pPr>
    </p:titleStyle>
    <p:bodyStyle>
      <a:lvl1pPr marL="355600" indent="-269875" algn="l" rtl="0" eaLnBrk="1" fontAlgn="base" hangingPunct="1">
        <a:spcBef>
          <a:spcPts val="1800"/>
        </a:spcBef>
        <a:spcAft>
          <a:spcPct val="0"/>
        </a:spcAft>
        <a:buClr>
          <a:srgbClr val="003399"/>
        </a:buClr>
        <a:buSzPct val="80000"/>
        <a:buFont typeface="Wingdings 2" panose="05020102010507070707" pitchFamily="18" charset="2"/>
        <a:buChar char=""/>
        <a:defRPr sz="2400" kern="1200">
          <a:solidFill>
            <a:srgbClr val="003399"/>
          </a:solidFill>
          <a:latin typeface="+mn-lt"/>
          <a:ea typeface="+mn-ea"/>
          <a:cs typeface="+mn-cs"/>
        </a:defRPr>
      </a:lvl1pPr>
      <a:lvl2pPr marL="357188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defRPr sz="2000" kern="1200">
          <a:solidFill>
            <a:srgbClr val="0066FF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600" kern="1200">
          <a:solidFill>
            <a:srgbClr val="4D4D4D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200" kern="1200">
          <a:solidFill>
            <a:srgbClr val="4D4D4D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 kern="1200">
          <a:solidFill>
            <a:srgbClr val="4D4D4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925" y="115888"/>
            <a:ext cx="9109075" cy="1081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</a:t>
            </a:r>
          </a:p>
        </p:txBody>
      </p:sp>
      <p:sp>
        <p:nvSpPr>
          <p:cNvPr id="3143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1125538"/>
            <a:ext cx="8424863" cy="511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</p:spTree>
    <p:extLst>
      <p:ext uri="{BB962C8B-B14F-4D97-AF65-F5344CB8AC3E}">
        <p14:creationId xmlns:p14="http://schemas.microsoft.com/office/powerpoint/2010/main" val="3252380655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ransition/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  <a:ea typeface="黑体" pitchFamily="49" charset="-122"/>
        </a:defRPr>
      </a:lvl2pPr>
      <a:lvl3pPr algn="ctr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  <a:ea typeface="黑体" pitchFamily="49" charset="-122"/>
        </a:defRPr>
      </a:lvl3pPr>
      <a:lvl4pPr algn="ctr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  <a:ea typeface="黑体" pitchFamily="49" charset="-122"/>
        </a:defRPr>
      </a:lvl4pPr>
      <a:lvl5pPr algn="ctr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  <a:ea typeface="黑体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  <a:ea typeface="黑体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  <a:ea typeface="黑体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  <a:ea typeface="黑体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  <a:ea typeface="黑体" pitchFamily="49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bg1"/>
        </a:buClr>
        <a:buSzPct val="120000"/>
        <a:buChar char="•"/>
        <a:defRPr sz="4000" b="1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bg1"/>
        </a:buClr>
        <a:buSzPct val="90000"/>
        <a:buChar char="•"/>
        <a:defRPr sz="3600" b="1">
          <a:solidFill>
            <a:schemeClr val="bg2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SzPct val="60000"/>
        <a:buChar char="•"/>
        <a:defRPr sz="3200" b="1">
          <a:solidFill>
            <a:schemeClr val="bg2"/>
          </a:solidFill>
          <a:latin typeface="+mn-lt"/>
          <a:ea typeface="+mn-ea"/>
        </a:defRPr>
      </a:lvl3pPr>
      <a:lvl4pPr marL="1600200" indent="-228600" algn="l" rtl="0" fontAlgn="base">
        <a:spcBef>
          <a:spcPct val="0"/>
        </a:spcBef>
        <a:spcAft>
          <a:spcPct val="0"/>
        </a:spcAft>
        <a:buChar char="–"/>
        <a:defRPr sz="4000" b="1">
          <a:solidFill>
            <a:schemeClr val="bg2"/>
          </a:solidFill>
          <a:latin typeface="+mn-lt"/>
          <a:ea typeface="宋体" pitchFamily="2" charset="-122"/>
        </a:defRPr>
      </a:lvl4pPr>
      <a:lvl5pPr marL="2057400" indent="-228600" algn="l" rtl="0" fontAlgn="base">
        <a:spcBef>
          <a:spcPct val="0"/>
        </a:spcBef>
        <a:spcAft>
          <a:spcPct val="0"/>
        </a:spcAft>
        <a:buChar char="»"/>
        <a:defRPr sz="4000" b="1">
          <a:solidFill>
            <a:schemeClr val="bg2"/>
          </a:solidFill>
          <a:latin typeface="+mn-lt"/>
          <a:ea typeface="宋体" pitchFamily="2" charset="-122"/>
        </a:defRPr>
      </a:lvl5pPr>
      <a:lvl6pPr marL="2514600" indent="-228600" algn="l" rtl="0" fontAlgn="base">
        <a:spcBef>
          <a:spcPct val="0"/>
        </a:spcBef>
        <a:spcAft>
          <a:spcPct val="0"/>
        </a:spcAft>
        <a:buChar char="»"/>
        <a:defRPr sz="4000" b="1">
          <a:solidFill>
            <a:schemeClr val="bg2"/>
          </a:solidFill>
          <a:latin typeface="+mn-lt"/>
          <a:ea typeface="宋体" pitchFamily="2" charset="-122"/>
        </a:defRPr>
      </a:lvl6pPr>
      <a:lvl7pPr marL="2971800" indent="-228600" algn="l" rtl="0" fontAlgn="base">
        <a:spcBef>
          <a:spcPct val="0"/>
        </a:spcBef>
        <a:spcAft>
          <a:spcPct val="0"/>
        </a:spcAft>
        <a:buChar char="»"/>
        <a:defRPr sz="4000" b="1">
          <a:solidFill>
            <a:schemeClr val="bg2"/>
          </a:solidFill>
          <a:latin typeface="+mn-lt"/>
          <a:ea typeface="宋体" pitchFamily="2" charset="-122"/>
        </a:defRPr>
      </a:lvl7pPr>
      <a:lvl8pPr marL="3429000" indent="-228600" algn="l" rtl="0" fontAlgn="base">
        <a:spcBef>
          <a:spcPct val="0"/>
        </a:spcBef>
        <a:spcAft>
          <a:spcPct val="0"/>
        </a:spcAft>
        <a:buChar char="»"/>
        <a:defRPr sz="4000" b="1">
          <a:solidFill>
            <a:schemeClr val="bg2"/>
          </a:solidFill>
          <a:latin typeface="+mn-lt"/>
          <a:ea typeface="宋体" pitchFamily="2" charset="-122"/>
        </a:defRPr>
      </a:lvl8pPr>
      <a:lvl9pPr marL="3886200" indent="-228600" algn="l" rtl="0" fontAlgn="base">
        <a:spcBef>
          <a:spcPct val="0"/>
        </a:spcBef>
        <a:spcAft>
          <a:spcPct val="0"/>
        </a:spcAft>
        <a:buChar char="»"/>
        <a:defRPr sz="4000" b="1">
          <a:solidFill>
            <a:schemeClr val="bg2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5.bin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image" Target="../media/image20.png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19.png"/><Relationship Id="rId4" Type="http://schemas.openxmlformats.org/officeDocument/2006/relationships/oleObject" Target="../embeddings/oleObject6.bin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m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image" Target="../media/image26.png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24.png"/><Relationship Id="rId4" Type="http://schemas.openxmlformats.org/officeDocument/2006/relationships/oleObject" Target="../embeddings/oleObject10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7" Type="http://schemas.openxmlformats.org/officeDocument/2006/relationships/image" Target="../media/image2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oleObject" Target="../embeddings/oleObject22.bin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3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7.bin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6.bin"/><Relationship Id="rId10" Type="http://schemas.openxmlformats.org/officeDocument/2006/relationships/oleObject" Target="../embeddings/oleObject20.bin"/><Relationship Id="rId4" Type="http://schemas.openxmlformats.org/officeDocument/2006/relationships/image" Target="../media/image35.png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39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7" Type="http://schemas.openxmlformats.org/officeDocument/2006/relationships/image" Target="../media/image4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4.e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43.emf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45.wmf"/><Relationship Id="rId4" Type="http://schemas.openxmlformats.org/officeDocument/2006/relationships/oleObject" Target="../embeddings/oleObject25.bin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灯片编号占位符 2">
            <a:extLst>
              <a:ext uri="{FF2B5EF4-FFF2-40B4-BE49-F238E27FC236}">
                <a16:creationId xmlns:a16="http://schemas.microsoft.com/office/drawing/2014/main" id="{9C38AB59-711E-4D04-87EF-F6A5F0F680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D9FA5DE8-DDF5-4A68-A2B4-00C0013049FE}" type="slidenum">
              <a:rPr lang="en-US" altLang="zh-CN" sz="1400" b="0">
                <a:ea typeface="宋体" panose="02010600030101010101" pitchFamily="2" charset="-122"/>
              </a:rPr>
              <a:pPr/>
              <a:t>1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4098" name="副标题 2">
            <a:extLst>
              <a:ext uri="{FF2B5EF4-FFF2-40B4-BE49-F238E27FC236}">
                <a16:creationId xmlns:a16="http://schemas.microsoft.com/office/drawing/2014/main" id="{DE8D114C-66C2-4AED-B11D-83BBF795E68A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1331599" y="4078288"/>
            <a:ext cx="6480801" cy="6651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85725" indent="0" algn="ctr">
              <a:buNone/>
            </a:pPr>
            <a:r>
              <a:rPr lang="zh-CN" altLang="en-US" sz="3600" b="1" dirty="0">
                <a:latin typeface="+mj-ea"/>
                <a:ea typeface="+mj-ea"/>
              </a:rPr>
              <a:t>第五章   自底向上优先分析法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89D7CD7-0F3E-49B1-882F-0601A24A1CEC}"/>
              </a:ext>
            </a:extLst>
          </p:cNvPr>
          <p:cNvSpPr/>
          <p:nvPr/>
        </p:nvSpPr>
        <p:spPr>
          <a:xfrm>
            <a:off x="0" y="1484313"/>
            <a:ext cx="9144000" cy="1757362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5400" b="1" dirty="0">
                <a:latin typeface="+mj-ea"/>
                <a:ea typeface="+mj-ea"/>
              </a:rPr>
              <a:t>编译原理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/>
          <p:cNvSpPr>
            <a:spLocks noChangeArrowheads="1"/>
          </p:cNvSpPr>
          <p:nvPr/>
        </p:nvSpPr>
        <p:spPr bwMode="auto">
          <a:xfrm>
            <a:off x="239713" y="503238"/>
            <a:ext cx="5627687" cy="78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4000" dirty="0">
                <a:solidFill>
                  <a:srgbClr val="CC00CC"/>
                </a:solidFill>
                <a:latin typeface="楷体_GB2312" pitchFamily="49" charset="-122"/>
              </a:rPr>
              <a:t>第</a:t>
            </a:r>
            <a:r>
              <a:rPr lang="en-US" altLang="zh-CN" sz="4000" dirty="0">
                <a:solidFill>
                  <a:srgbClr val="CC00CC"/>
                </a:solidFill>
                <a:latin typeface="楷体_GB2312" pitchFamily="49" charset="-122"/>
              </a:rPr>
              <a:t>4-6</a:t>
            </a:r>
            <a:r>
              <a:rPr lang="zh-CN" altLang="en-US" sz="4000" dirty="0">
                <a:solidFill>
                  <a:srgbClr val="CC00CC"/>
                </a:solidFill>
                <a:latin typeface="楷体_GB2312" pitchFamily="49" charset="-122"/>
              </a:rPr>
              <a:t>章　语法分析</a:t>
            </a:r>
          </a:p>
        </p:txBody>
      </p:sp>
      <p:sp>
        <p:nvSpPr>
          <p:cNvPr id="6147" name="Line 1027"/>
          <p:cNvSpPr>
            <a:spLocks noChangeShapeType="1"/>
          </p:cNvSpPr>
          <p:nvPr/>
        </p:nvSpPr>
        <p:spPr bwMode="auto">
          <a:xfrm>
            <a:off x="0" y="1306513"/>
            <a:ext cx="9144000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6148" name="Picture 1028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5375" y="596900"/>
            <a:ext cx="811213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7237" name="Rectangle 1029"/>
          <p:cNvSpPr>
            <a:spLocks noChangeArrowheads="1"/>
          </p:cNvSpPr>
          <p:nvPr/>
        </p:nvSpPr>
        <p:spPr bwMode="auto">
          <a:xfrm>
            <a:off x="685800" y="2057400"/>
            <a:ext cx="7848600" cy="4038600"/>
          </a:xfrm>
          <a:prstGeom prst="rect">
            <a:avLst/>
          </a:prstGeom>
          <a:solidFill>
            <a:srgbClr val="CCCCFF"/>
          </a:solidFill>
          <a:ln w="9525">
            <a:solidFill>
              <a:srgbClr val="0037E8"/>
            </a:solidFill>
            <a:miter lim="800000"/>
            <a:headEnd/>
            <a:tailEnd/>
          </a:ln>
          <a:effectLst>
            <a:outerShdw dist="107763" dir="18900000" algn="ctr" rotWithShape="0">
              <a:srgbClr val="808080"/>
            </a:outerShdw>
          </a:effectLst>
        </p:spPr>
        <p:txBody>
          <a:bodyPr/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buFontTx/>
              <a:buAutoNum type="arabicPeriod"/>
            </a:pPr>
            <a:r>
              <a:rPr lang="zh-CN" altLang="en-US" dirty="0">
                <a:latin typeface="楷体_GB2312" pitchFamily="49" charset="-122"/>
              </a:rPr>
              <a:t>要求明确语法分析在编译过程所处的</a:t>
            </a: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</a:rPr>
              <a:t>阶段和作用</a:t>
            </a:r>
            <a:r>
              <a:rPr lang="zh-CN" altLang="en-US" dirty="0">
                <a:latin typeface="楷体_GB2312" pitchFamily="49" charset="-122"/>
              </a:rPr>
              <a:t>。</a:t>
            </a:r>
          </a:p>
          <a:p>
            <a:pPr>
              <a:buFontTx/>
              <a:buAutoNum type="arabicPeriod"/>
            </a:pPr>
            <a:r>
              <a:rPr lang="zh-CN" altLang="en-US" dirty="0">
                <a:latin typeface="楷体_GB2312" pitchFamily="49" charset="-122"/>
              </a:rPr>
              <a:t>明确语法分析的</a:t>
            </a: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</a:rPr>
              <a:t>基本分析方法</a:t>
            </a:r>
            <a:r>
              <a:rPr lang="zh-CN" altLang="en-US" dirty="0">
                <a:latin typeface="楷体_GB2312" pitchFamily="49" charset="-122"/>
              </a:rPr>
              <a:t>。</a:t>
            </a:r>
          </a:p>
          <a:p>
            <a:pPr>
              <a:buFontTx/>
              <a:buAutoNum type="arabicPeriod"/>
            </a:pPr>
            <a:r>
              <a:rPr lang="zh-CN" altLang="en-US" dirty="0">
                <a:latin typeface="楷体_GB2312" pitchFamily="49" charset="-122"/>
              </a:rPr>
              <a:t>掌握</a:t>
            </a: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</a:rPr>
              <a:t>句柄、最左素短语、活前缀和项目</a:t>
            </a:r>
            <a:r>
              <a:rPr lang="zh-CN" altLang="en-US" dirty="0">
                <a:latin typeface="楷体_GB2312" pitchFamily="49" charset="-122"/>
              </a:rPr>
              <a:t>等基本概念。</a:t>
            </a:r>
          </a:p>
          <a:p>
            <a:pPr>
              <a:buFontTx/>
              <a:buAutoNum type="arabicPeriod"/>
            </a:pPr>
            <a:r>
              <a:rPr lang="zh-CN" altLang="en-US" dirty="0">
                <a:latin typeface="楷体_GB2312" pitchFamily="49" charset="-122"/>
              </a:rPr>
              <a:t>掌握</a:t>
            </a: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</a:rPr>
              <a:t>消除文法左递归</a:t>
            </a:r>
            <a:r>
              <a:rPr lang="zh-CN" altLang="en-US" dirty="0">
                <a:latin typeface="楷体_GB2312" pitchFamily="49" charset="-122"/>
              </a:rPr>
              <a:t>的方法。</a:t>
            </a:r>
          </a:p>
          <a:p>
            <a:pPr>
              <a:buFontTx/>
              <a:buAutoNum type="arabicPeriod"/>
            </a:pPr>
            <a:r>
              <a:rPr lang="zh-CN" altLang="en-US" dirty="0">
                <a:latin typeface="楷体_GB2312" pitchFamily="49" charset="-122"/>
              </a:rPr>
              <a:t>掌握构造</a:t>
            </a:r>
            <a:r>
              <a:rPr lang="en-US" altLang="zh-CN" dirty="0">
                <a:solidFill>
                  <a:srgbClr val="FF0000"/>
                </a:solidFill>
                <a:latin typeface="楷体_GB2312" pitchFamily="49" charset="-122"/>
              </a:rPr>
              <a:t>LL(1)</a:t>
            </a: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</a:rPr>
              <a:t>分析表</a:t>
            </a:r>
            <a:r>
              <a:rPr lang="zh-CN" altLang="en-US" dirty="0">
                <a:latin typeface="楷体_GB2312" pitchFamily="49" charset="-122"/>
              </a:rPr>
              <a:t>的方法，会使用</a:t>
            </a:r>
            <a:r>
              <a:rPr lang="en-US" altLang="zh-CN" dirty="0">
                <a:solidFill>
                  <a:srgbClr val="FF0000"/>
                </a:solidFill>
                <a:latin typeface="楷体_GB2312" pitchFamily="49" charset="-122"/>
              </a:rPr>
              <a:t>LL(1)</a:t>
            </a: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</a:rPr>
              <a:t>分析法</a:t>
            </a:r>
            <a:r>
              <a:rPr lang="zh-CN" altLang="en-US" dirty="0">
                <a:latin typeface="楷体_GB2312" pitchFamily="49" charset="-122"/>
              </a:rPr>
              <a:t>分析句子。</a:t>
            </a:r>
          </a:p>
          <a:p>
            <a:pPr>
              <a:buFontTx/>
              <a:buAutoNum type="arabicPeriod"/>
            </a:pPr>
            <a:r>
              <a:rPr lang="zh-CN" altLang="en-US" dirty="0">
                <a:latin typeface="楷体_GB2312" pitchFamily="49" charset="-122"/>
              </a:rPr>
              <a:t>掌握构造</a:t>
            </a: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</a:rPr>
              <a:t>优先关系表</a:t>
            </a:r>
            <a:r>
              <a:rPr lang="zh-CN" altLang="en-US" dirty="0">
                <a:latin typeface="楷体_GB2312" pitchFamily="49" charset="-122"/>
              </a:rPr>
              <a:t>的方法，会使用</a:t>
            </a: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</a:rPr>
              <a:t>算符优先分析法</a:t>
            </a:r>
            <a:r>
              <a:rPr lang="zh-CN" altLang="en-US" dirty="0">
                <a:latin typeface="楷体_GB2312" pitchFamily="49" charset="-122"/>
              </a:rPr>
              <a:t>分析句子。</a:t>
            </a:r>
          </a:p>
          <a:p>
            <a:pPr>
              <a:buFontTx/>
              <a:buAutoNum type="arabicPeriod"/>
            </a:pPr>
            <a:r>
              <a:rPr lang="zh-CN" altLang="en-US" dirty="0">
                <a:latin typeface="楷体_GB2312" pitchFamily="49" charset="-122"/>
              </a:rPr>
              <a:t>掌握构造</a:t>
            </a:r>
            <a:r>
              <a:rPr lang="en-US" altLang="zh-CN" dirty="0">
                <a:solidFill>
                  <a:srgbClr val="FF0000"/>
                </a:solidFill>
                <a:latin typeface="楷体_GB2312" pitchFamily="49" charset="-122"/>
              </a:rPr>
              <a:t>LR(0)</a:t>
            </a: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</a:rPr>
              <a:t>、</a:t>
            </a:r>
            <a:r>
              <a:rPr lang="en-US" altLang="zh-CN" dirty="0">
                <a:solidFill>
                  <a:srgbClr val="FF0000"/>
                </a:solidFill>
                <a:latin typeface="楷体_GB2312" pitchFamily="49" charset="-122"/>
              </a:rPr>
              <a:t>SLR(1)</a:t>
            </a: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</a:rPr>
              <a:t>分析表</a:t>
            </a:r>
            <a:r>
              <a:rPr lang="zh-CN" altLang="en-US" dirty="0">
                <a:latin typeface="楷体_GB2312" pitchFamily="49" charset="-122"/>
              </a:rPr>
              <a:t>的方法，会使用</a:t>
            </a:r>
            <a:r>
              <a:rPr lang="en-US" altLang="zh-CN" dirty="0">
                <a:solidFill>
                  <a:srgbClr val="FF0000"/>
                </a:solidFill>
                <a:latin typeface="楷体_GB2312" pitchFamily="49" charset="-122"/>
              </a:rPr>
              <a:t>LR</a:t>
            </a: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</a:rPr>
              <a:t>分析法</a:t>
            </a:r>
            <a:r>
              <a:rPr lang="zh-CN" altLang="en-US" dirty="0">
                <a:latin typeface="楷体_GB2312" pitchFamily="49" charset="-122"/>
              </a:rPr>
              <a:t>分析句子。</a:t>
            </a:r>
          </a:p>
        </p:txBody>
      </p:sp>
      <p:sp>
        <p:nvSpPr>
          <p:cNvPr id="6150" name="Rectangle 1030"/>
          <p:cNvSpPr>
            <a:spLocks noChangeArrowheads="1"/>
          </p:cNvSpPr>
          <p:nvPr/>
        </p:nvSpPr>
        <p:spPr bwMode="auto">
          <a:xfrm>
            <a:off x="1066800" y="1371600"/>
            <a:ext cx="647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/>
            <a:r>
              <a:rPr lang="zh-CN" altLang="en-US" sz="4800">
                <a:solidFill>
                  <a:schemeClr val="accent1"/>
                </a:solidFill>
                <a:latin typeface="楷体_GB2312" pitchFamily="49" charset="-122"/>
              </a:rPr>
              <a:t>教学目标</a:t>
            </a:r>
            <a:endParaRPr lang="zh-CN" altLang="en-US" sz="4400">
              <a:solidFill>
                <a:schemeClr val="accent1"/>
              </a:solidFill>
              <a:latin typeface="楷体_GB2312" pitchFamily="49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181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0723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072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072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072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072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072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072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072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7237" grpId="0" build="p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回顾：自顶向下语法分析方法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  <a:ea typeface="+mj-ea"/>
              </a:rPr>
              <a:t>语法分析的核心思想、语法分析实现的</a:t>
            </a:r>
            <a:r>
              <a:rPr lang="en-US" altLang="zh-CN" b="1" dirty="0">
                <a:latin typeface="+mj-ea"/>
                <a:ea typeface="+mj-ea"/>
              </a:rPr>
              <a:t>2</a:t>
            </a:r>
            <a:r>
              <a:rPr lang="zh-CN" altLang="en-US" b="1" dirty="0">
                <a:latin typeface="+mj-ea"/>
                <a:ea typeface="+mj-ea"/>
              </a:rPr>
              <a:t>种途径。</a:t>
            </a:r>
            <a:endParaRPr lang="en-US" altLang="zh-CN" b="1" dirty="0">
              <a:latin typeface="+mj-ea"/>
              <a:ea typeface="+mj-ea"/>
            </a:endParaRPr>
          </a:p>
          <a:p>
            <a:r>
              <a:rPr lang="zh-CN" altLang="en-US" b="1" dirty="0">
                <a:latin typeface="+mj-ea"/>
                <a:ea typeface="+mj-ea"/>
              </a:rPr>
              <a:t>确定的自顶向下分析思想</a:t>
            </a:r>
            <a:endParaRPr lang="en-US" altLang="zh-CN" b="1" dirty="0">
              <a:latin typeface="+mj-ea"/>
              <a:ea typeface="+mj-ea"/>
            </a:endParaRPr>
          </a:p>
          <a:p>
            <a:r>
              <a:rPr lang="zh-CN" altLang="en-US" b="1" dirty="0">
                <a:latin typeface="+mj-ea"/>
                <a:ea typeface="+mj-ea"/>
              </a:rPr>
              <a:t>预测分析方法：</a:t>
            </a:r>
            <a:r>
              <a:rPr lang="en-US" altLang="zh-CN" b="1" dirty="0">
                <a:latin typeface="+mj-ea"/>
                <a:ea typeface="+mj-ea"/>
              </a:rPr>
              <a:t>LL</a:t>
            </a:r>
            <a:r>
              <a:rPr lang="zh-CN" altLang="en-US" b="1" dirty="0">
                <a:latin typeface="+mj-ea"/>
                <a:ea typeface="+mj-ea"/>
              </a:rPr>
              <a:t>（</a:t>
            </a:r>
            <a:r>
              <a:rPr lang="en-US" altLang="zh-CN" b="1" dirty="0">
                <a:latin typeface="+mj-ea"/>
                <a:ea typeface="+mj-ea"/>
              </a:rPr>
              <a:t>1</a:t>
            </a:r>
            <a:r>
              <a:rPr lang="zh-CN" altLang="en-US" b="1" dirty="0">
                <a:latin typeface="+mj-ea"/>
                <a:ea typeface="+mj-ea"/>
              </a:rPr>
              <a:t>）分析方法</a:t>
            </a:r>
            <a:endParaRPr lang="en-US" altLang="zh-CN" b="1" dirty="0">
              <a:latin typeface="+mj-ea"/>
              <a:ea typeface="+mj-ea"/>
            </a:endParaRPr>
          </a:p>
          <a:p>
            <a:r>
              <a:rPr lang="zh-CN" altLang="en-US" b="1" dirty="0">
                <a:latin typeface="+mj-ea"/>
                <a:ea typeface="+mj-ea"/>
              </a:rPr>
              <a:t>非</a:t>
            </a:r>
            <a:r>
              <a:rPr lang="en-US" altLang="zh-CN" b="1" dirty="0">
                <a:latin typeface="+mj-ea"/>
                <a:ea typeface="+mj-ea"/>
              </a:rPr>
              <a:t>LL</a:t>
            </a:r>
            <a:r>
              <a:rPr lang="zh-CN" altLang="en-US" b="1" dirty="0">
                <a:latin typeface="+mj-ea"/>
                <a:ea typeface="+mj-ea"/>
              </a:rPr>
              <a:t>（</a:t>
            </a:r>
            <a:r>
              <a:rPr lang="en-US" altLang="zh-CN" b="1" dirty="0">
                <a:latin typeface="+mj-ea"/>
                <a:ea typeface="+mj-ea"/>
              </a:rPr>
              <a:t>1</a:t>
            </a:r>
            <a:r>
              <a:rPr lang="zh-CN" altLang="en-US" b="1" dirty="0">
                <a:latin typeface="+mj-ea"/>
                <a:ea typeface="+mj-ea"/>
              </a:rPr>
              <a:t>）和</a:t>
            </a:r>
            <a:r>
              <a:rPr lang="en-US" altLang="zh-CN" b="1" dirty="0">
                <a:latin typeface="+mj-ea"/>
                <a:ea typeface="+mj-ea"/>
              </a:rPr>
              <a:t>LL</a:t>
            </a:r>
            <a:r>
              <a:rPr lang="zh-CN" altLang="en-US" b="1" dirty="0">
                <a:latin typeface="+mj-ea"/>
                <a:ea typeface="+mj-ea"/>
              </a:rPr>
              <a:t>（文法）变换：消除左回归和提取公共因子</a:t>
            </a:r>
            <a:endParaRPr lang="en-US" altLang="zh-CN" b="1" dirty="0">
              <a:latin typeface="+mj-ea"/>
              <a:ea typeface="+mj-ea"/>
            </a:endParaRPr>
          </a:p>
          <a:p>
            <a:r>
              <a:rPr lang="zh-CN" altLang="en-US" b="1" dirty="0">
                <a:latin typeface="+mj-ea"/>
                <a:ea typeface="+mj-ea"/>
              </a:rPr>
              <a:t>不确定的自顶向下分析思想</a:t>
            </a:r>
            <a:endParaRPr lang="en-US" altLang="zh-CN" b="1" dirty="0">
              <a:latin typeface="+mj-ea"/>
              <a:ea typeface="+mj-ea"/>
            </a:endParaRPr>
          </a:p>
          <a:p>
            <a:r>
              <a:rPr lang="en-US" altLang="zh-CN" b="1" dirty="0">
                <a:latin typeface="+mj-ea"/>
                <a:ea typeface="+mj-ea"/>
              </a:rPr>
              <a:t>LL</a:t>
            </a:r>
            <a:r>
              <a:rPr lang="zh-CN" altLang="en-US" b="1" dirty="0">
                <a:latin typeface="+mj-ea"/>
                <a:ea typeface="+mj-ea"/>
              </a:rPr>
              <a:t>（</a:t>
            </a:r>
            <a:r>
              <a:rPr lang="en-US" altLang="zh-CN" b="1" dirty="0">
                <a:latin typeface="+mj-ea"/>
                <a:ea typeface="+mj-ea"/>
              </a:rPr>
              <a:t>1</a:t>
            </a:r>
            <a:r>
              <a:rPr lang="zh-CN" altLang="en-US" b="1" dirty="0">
                <a:latin typeface="+mj-ea"/>
                <a:ea typeface="+mj-ea"/>
              </a:rPr>
              <a:t>）分析的实现：递归下降</a:t>
            </a:r>
            <a:r>
              <a:rPr lang="en-US" altLang="zh-CN" b="1" dirty="0">
                <a:latin typeface="+mj-ea"/>
                <a:ea typeface="+mj-ea"/>
              </a:rPr>
              <a:t>LL</a:t>
            </a:r>
            <a:r>
              <a:rPr lang="zh-CN" altLang="en-US" b="1" dirty="0">
                <a:latin typeface="+mj-ea"/>
                <a:ea typeface="+mj-ea"/>
              </a:rPr>
              <a:t>（</a:t>
            </a:r>
            <a:r>
              <a:rPr lang="en-US" altLang="zh-CN" b="1" dirty="0">
                <a:latin typeface="+mj-ea"/>
                <a:ea typeface="+mj-ea"/>
              </a:rPr>
              <a:t>1</a:t>
            </a:r>
            <a:r>
              <a:rPr lang="zh-CN" altLang="en-US" b="1" dirty="0">
                <a:latin typeface="+mj-ea"/>
                <a:ea typeface="+mj-ea"/>
              </a:rPr>
              <a:t>）分析程序，和表驱动</a:t>
            </a:r>
            <a:r>
              <a:rPr lang="en-US" altLang="zh-CN" b="1" dirty="0">
                <a:latin typeface="+mj-ea"/>
                <a:ea typeface="+mj-ea"/>
              </a:rPr>
              <a:t>LL</a:t>
            </a:r>
            <a:r>
              <a:rPr lang="zh-CN" altLang="en-US" b="1" dirty="0">
                <a:latin typeface="+mj-ea"/>
                <a:ea typeface="+mj-ea"/>
              </a:rPr>
              <a:t>（</a:t>
            </a:r>
            <a:r>
              <a:rPr lang="en-US" altLang="zh-CN" b="1" dirty="0">
                <a:latin typeface="+mj-ea"/>
                <a:ea typeface="+mj-ea"/>
              </a:rPr>
              <a:t>1</a:t>
            </a:r>
            <a:r>
              <a:rPr lang="zh-CN" altLang="en-US" b="1" dirty="0">
                <a:latin typeface="+mj-ea"/>
                <a:ea typeface="+mj-ea"/>
              </a:rPr>
              <a:t>）分析程序</a:t>
            </a:r>
            <a:endParaRPr lang="en-US" altLang="zh-CN" b="1" dirty="0">
              <a:latin typeface="+mj-ea"/>
              <a:ea typeface="+mj-ea"/>
            </a:endParaRPr>
          </a:p>
          <a:p>
            <a:r>
              <a:rPr lang="en-US" altLang="zh-CN" b="1" dirty="0">
                <a:latin typeface="+mj-ea"/>
                <a:ea typeface="+mj-ea"/>
              </a:rPr>
              <a:t>LL</a:t>
            </a:r>
            <a:r>
              <a:rPr lang="zh-CN" altLang="en-US" b="1" dirty="0">
                <a:latin typeface="+mj-ea"/>
                <a:ea typeface="+mj-ea"/>
              </a:rPr>
              <a:t>（</a:t>
            </a:r>
            <a:r>
              <a:rPr lang="en-US" altLang="zh-CN" b="1" dirty="0">
                <a:latin typeface="+mj-ea"/>
                <a:ea typeface="+mj-ea"/>
              </a:rPr>
              <a:t>1</a:t>
            </a:r>
            <a:r>
              <a:rPr lang="zh-CN" altLang="en-US" b="1" dirty="0">
                <a:latin typeface="+mj-ea"/>
                <a:ea typeface="+mj-ea"/>
              </a:rPr>
              <a:t>）分析中的出错处理</a:t>
            </a:r>
            <a:endParaRPr lang="en-US" altLang="zh-CN" b="1" dirty="0"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803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第五章 自底向上优先分析</a:t>
            </a:r>
          </a:p>
        </p:txBody>
      </p:sp>
      <p:sp>
        <p:nvSpPr>
          <p:cNvPr id="4" name="Freeform 6"/>
          <p:cNvSpPr>
            <a:spLocks/>
          </p:cNvSpPr>
          <p:nvPr/>
        </p:nvSpPr>
        <p:spPr bwMode="auto">
          <a:xfrm>
            <a:off x="1072753" y="1844834"/>
            <a:ext cx="1073042" cy="714123"/>
          </a:xfrm>
          <a:custGeom>
            <a:avLst/>
            <a:gdLst/>
            <a:ahLst/>
            <a:cxnLst>
              <a:cxn ang="0">
                <a:pos x="211" y="73"/>
              </a:cxn>
              <a:cxn ang="0">
                <a:pos x="192" y="80"/>
              </a:cxn>
              <a:cxn ang="0">
                <a:pos x="189" y="82"/>
              </a:cxn>
              <a:cxn ang="0">
                <a:pos x="180" y="86"/>
              </a:cxn>
              <a:cxn ang="0">
                <a:pos x="172" y="85"/>
              </a:cxn>
              <a:cxn ang="0">
                <a:pos x="172" y="0"/>
              </a:cxn>
              <a:cxn ang="0">
                <a:pos x="0" y="0"/>
              </a:cxn>
              <a:cxn ang="0">
                <a:pos x="0" y="190"/>
              </a:cxn>
              <a:cxn ang="0">
                <a:pos x="172" y="190"/>
              </a:cxn>
              <a:cxn ang="0">
                <a:pos x="172" y="117"/>
              </a:cxn>
              <a:cxn ang="0">
                <a:pos x="179" y="116"/>
              </a:cxn>
              <a:cxn ang="0">
                <a:pos x="190" y="120"/>
              </a:cxn>
              <a:cxn ang="0">
                <a:pos x="211" y="128"/>
              </a:cxn>
              <a:cxn ang="0">
                <a:pos x="241" y="101"/>
              </a:cxn>
              <a:cxn ang="0">
                <a:pos x="211" y="73"/>
              </a:cxn>
            </a:cxnLst>
            <a:rect l="0" t="0" r="r" b="b"/>
            <a:pathLst>
              <a:path w="241" h="190">
                <a:moveTo>
                  <a:pt x="211" y="73"/>
                </a:moveTo>
                <a:cubicBezTo>
                  <a:pt x="204" y="73"/>
                  <a:pt x="197" y="76"/>
                  <a:pt x="192" y="80"/>
                </a:cubicBezTo>
                <a:cubicBezTo>
                  <a:pt x="191" y="81"/>
                  <a:pt x="190" y="82"/>
                  <a:pt x="189" y="82"/>
                </a:cubicBezTo>
                <a:cubicBezTo>
                  <a:pt x="187" y="84"/>
                  <a:pt x="183" y="86"/>
                  <a:pt x="180" y="86"/>
                </a:cubicBezTo>
                <a:cubicBezTo>
                  <a:pt x="176" y="86"/>
                  <a:pt x="174" y="86"/>
                  <a:pt x="172" y="85"/>
                </a:cubicBezTo>
                <a:cubicBezTo>
                  <a:pt x="172" y="0"/>
                  <a:pt x="172" y="0"/>
                  <a:pt x="17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90"/>
                  <a:pt x="0" y="190"/>
                  <a:pt x="0" y="190"/>
                </a:cubicBezTo>
                <a:cubicBezTo>
                  <a:pt x="172" y="190"/>
                  <a:pt x="172" y="190"/>
                  <a:pt x="172" y="190"/>
                </a:cubicBezTo>
                <a:cubicBezTo>
                  <a:pt x="172" y="117"/>
                  <a:pt x="172" y="117"/>
                  <a:pt x="172" y="117"/>
                </a:cubicBezTo>
                <a:cubicBezTo>
                  <a:pt x="175" y="116"/>
                  <a:pt x="176" y="116"/>
                  <a:pt x="179" y="116"/>
                </a:cubicBezTo>
                <a:cubicBezTo>
                  <a:pt x="183" y="116"/>
                  <a:pt x="188" y="118"/>
                  <a:pt x="190" y="120"/>
                </a:cubicBezTo>
                <a:cubicBezTo>
                  <a:pt x="192" y="122"/>
                  <a:pt x="202" y="128"/>
                  <a:pt x="211" y="128"/>
                </a:cubicBezTo>
                <a:cubicBezTo>
                  <a:pt x="228" y="128"/>
                  <a:pt x="241" y="116"/>
                  <a:pt x="241" y="101"/>
                </a:cubicBezTo>
                <a:cubicBezTo>
                  <a:pt x="241" y="86"/>
                  <a:pt x="228" y="73"/>
                  <a:pt x="211" y="73"/>
                </a:cubicBezTo>
                <a:close/>
              </a:path>
            </a:pathLst>
          </a:custGeom>
          <a:solidFill>
            <a:srgbClr val="0066FF"/>
          </a:solidFill>
          <a:ln w="9525">
            <a:noFill/>
            <a:round/>
            <a:headEnd/>
            <a:tailEnd/>
          </a:ln>
          <a:effectLst>
            <a:reflection blurRad="6350" stA="19000" endPos="53000" dir="5400000" sy="-100000" algn="bl" rotWithShape="0"/>
          </a:effectLst>
        </p:spPr>
        <p:txBody>
          <a:bodyPr vert="horz" wrap="square" lIns="0" tIns="45720" rIns="288000" bIns="45720" numCol="1" anchor="ctr" anchorCtr="1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kumimoji="0" lang="ru-RU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Freeform 7"/>
          <p:cNvSpPr>
            <a:spLocks/>
          </p:cNvSpPr>
          <p:nvPr/>
        </p:nvSpPr>
        <p:spPr bwMode="auto">
          <a:xfrm>
            <a:off x="2411733" y="1844834"/>
            <a:ext cx="5498327" cy="714123"/>
          </a:xfrm>
          <a:custGeom>
            <a:avLst/>
            <a:gdLst/>
            <a:ahLst/>
            <a:cxnLst>
              <a:cxn ang="0">
                <a:pos x="803" y="0"/>
              </a:cxn>
              <a:cxn ang="0">
                <a:pos x="792" y="0"/>
              </a:cxn>
              <a:cxn ang="0">
                <a:pos x="644" y="0"/>
              </a:cxn>
              <a:cxn ang="0">
                <a:pos x="634" y="0"/>
              </a:cxn>
              <a:cxn ang="0">
                <a:pos x="494" y="0"/>
              </a:cxn>
              <a:cxn ang="0">
                <a:pos x="476" y="0"/>
              </a:cxn>
              <a:cxn ang="0">
                <a:pos x="331" y="0"/>
              </a:cxn>
              <a:cxn ang="0">
                <a:pos x="325" y="0"/>
              </a:cxn>
              <a:cxn ang="0">
                <a:pos x="169" y="0"/>
              </a:cxn>
              <a:cxn ang="0">
                <a:pos x="163" y="0"/>
              </a:cxn>
              <a:cxn ang="0">
                <a:pos x="0" y="0"/>
              </a:cxn>
              <a:cxn ang="0">
                <a:pos x="0" y="82"/>
              </a:cxn>
              <a:cxn ang="0">
                <a:pos x="6" y="79"/>
              </a:cxn>
              <a:cxn ang="0">
                <a:pos x="9" y="77"/>
              </a:cxn>
              <a:cxn ang="0">
                <a:pos x="31" y="69"/>
              </a:cxn>
              <a:cxn ang="0">
                <a:pos x="65" y="101"/>
              </a:cxn>
              <a:cxn ang="0">
                <a:pos x="31" y="133"/>
              </a:cxn>
              <a:cxn ang="0">
                <a:pos x="7" y="123"/>
              </a:cxn>
              <a:cxn ang="0">
                <a:pos x="0" y="120"/>
              </a:cxn>
              <a:cxn ang="0">
                <a:pos x="0" y="190"/>
              </a:cxn>
              <a:cxn ang="0">
                <a:pos x="163" y="190"/>
              </a:cxn>
              <a:cxn ang="0">
                <a:pos x="169" y="190"/>
              </a:cxn>
              <a:cxn ang="0">
                <a:pos x="325" y="190"/>
              </a:cxn>
              <a:cxn ang="0">
                <a:pos x="331" y="190"/>
              </a:cxn>
              <a:cxn ang="0">
                <a:pos x="476" y="190"/>
              </a:cxn>
              <a:cxn ang="0">
                <a:pos x="494" y="190"/>
              </a:cxn>
              <a:cxn ang="0">
                <a:pos x="634" y="190"/>
              </a:cxn>
              <a:cxn ang="0">
                <a:pos x="644" y="190"/>
              </a:cxn>
              <a:cxn ang="0">
                <a:pos x="792" y="190"/>
              </a:cxn>
              <a:cxn ang="0">
                <a:pos x="803" y="190"/>
              </a:cxn>
              <a:cxn ang="0">
                <a:pos x="965" y="190"/>
              </a:cxn>
              <a:cxn ang="0">
                <a:pos x="965" y="0"/>
              </a:cxn>
              <a:cxn ang="0">
                <a:pos x="803" y="0"/>
              </a:cxn>
            </a:cxnLst>
            <a:rect l="0" t="0" r="r" b="b"/>
            <a:pathLst>
              <a:path w="965" h="190">
                <a:moveTo>
                  <a:pt x="803" y="0"/>
                </a:moveTo>
                <a:cubicBezTo>
                  <a:pt x="792" y="0"/>
                  <a:pt x="792" y="0"/>
                  <a:pt x="792" y="0"/>
                </a:cubicBezTo>
                <a:cubicBezTo>
                  <a:pt x="644" y="0"/>
                  <a:pt x="644" y="0"/>
                  <a:pt x="644" y="0"/>
                </a:cubicBezTo>
                <a:cubicBezTo>
                  <a:pt x="634" y="0"/>
                  <a:pt x="634" y="0"/>
                  <a:pt x="634" y="0"/>
                </a:cubicBezTo>
                <a:cubicBezTo>
                  <a:pt x="494" y="0"/>
                  <a:pt x="494" y="0"/>
                  <a:pt x="494" y="0"/>
                </a:cubicBezTo>
                <a:cubicBezTo>
                  <a:pt x="476" y="0"/>
                  <a:pt x="476" y="0"/>
                  <a:pt x="476" y="0"/>
                </a:cubicBezTo>
                <a:cubicBezTo>
                  <a:pt x="331" y="0"/>
                  <a:pt x="331" y="0"/>
                  <a:pt x="331" y="0"/>
                </a:cubicBezTo>
                <a:cubicBezTo>
                  <a:pt x="325" y="0"/>
                  <a:pt x="325" y="0"/>
                  <a:pt x="325" y="0"/>
                </a:cubicBezTo>
                <a:cubicBezTo>
                  <a:pt x="169" y="0"/>
                  <a:pt x="169" y="0"/>
                  <a:pt x="169" y="0"/>
                </a:cubicBezTo>
                <a:cubicBezTo>
                  <a:pt x="163" y="0"/>
                  <a:pt x="163" y="0"/>
                  <a:pt x="16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2"/>
                  <a:pt x="0" y="82"/>
                  <a:pt x="0" y="82"/>
                </a:cubicBezTo>
                <a:cubicBezTo>
                  <a:pt x="2" y="81"/>
                  <a:pt x="4" y="81"/>
                  <a:pt x="6" y="79"/>
                </a:cubicBezTo>
                <a:cubicBezTo>
                  <a:pt x="7" y="78"/>
                  <a:pt x="8" y="78"/>
                  <a:pt x="9" y="77"/>
                </a:cubicBezTo>
                <a:cubicBezTo>
                  <a:pt x="15" y="72"/>
                  <a:pt x="22" y="69"/>
                  <a:pt x="31" y="69"/>
                </a:cubicBezTo>
                <a:cubicBezTo>
                  <a:pt x="50" y="69"/>
                  <a:pt x="65" y="83"/>
                  <a:pt x="65" y="101"/>
                </a:cubicBezTo>
                <a:cubicBezTo>
                  <a:pt x="65" y="118"/>
                  <a:pt x="50" y="133"/>
                  <a:pt x="31" y="133"/>
                </a:cubicBezTo>
                <a:cubicBezTo>
                  <a:pt x="21" y="133"/>
                  <a:pt x="9" y="125"/>
                  <a:pt x="7" y="123"/>
                </a:cubicBezTo>
                <a:cubicBezTo>
                  <a:pt x="5" y="122"/>
                  <a:pt x="3" y="121"/>
                  <a:pt x="0" y="120"/>
                </a:cubicBezTo>
                <a:cubicBezTo>
                  <a:pt x="0" y="190"/>
                  <a:pt x="0" y="190"/>
                  <a:pt x="0" y="190"/>
                </a:cubicBezTo>
                <a:cubicBezTo>
                  <a:pt x="163" y="190"/>
                  <a:pt x="163" y="190"/>
                  <a:pt x="163" y="190"/>
                </a:cubicBezTo>
                <a:cubicBezTo>
                  <a:pt x="169" y="190"/>
                  <a:pt x="169" y="190"/>
                  <a:pt x="169" y="190"/>
                </a:cubicBezTo>
                <a:cubicBezTo>
                  <a:pt x="325" y="190"/>
                  <a:pt x="325" y="190"/>
                  <a:pt x="325" y="190"/>
                </a:cubicBezTo>
                <a:cubicBezTo>
                  <a:pt x="331" y="190"/>
                  <a:pt x="331" y="190"/>
                  <a:pt x="331" y="190"/>
                </a:cubicBezTo>
                <a:cubicBezTo>
                  <a:pt x="476" y="190"/>
                  <a:pt x="476" y="190"/>
                  <a:pt x="476" y="190"/>
                </a:cubicBezTo>
                <a:cubicBezTo>
                  <a:pt x="494" y="190"/>
                  <a:pt x="494" y="190"/>
                  <a:pt x="494" y="190"/>
                </a:cubicBezTo>
                <a:cubicBezTo>
                  <a:pt x="634" y="190"/>
                  <a:pt x="634" y="190"/>
                  <a:pt x="634" y="190"/>
                </a:cubicBezTo>
                <a:cubicBezTo>
                  <a:pt x="644" y="190"/>
                  <a:pt x="644" y="190"/>
                  <a:pt x="644" y="190"/>
                </a:cubicBezTo>
                <a:cubicBezTo>
                  <a:pt x="792" y="190"/>
                  <a:pt x="792" y="190"/>
                  <a:pt x="792" y="190"/>
                </a:cubicBezTo>
                <a:cubicBezTo>
                  <a:pt x="803" y="190"/>
                  <a:pt x="803" y="190"/>
                  <a:pt x="803" y="190"/>
                </a:cubicBezTo>
                <a:cubicBezTo>
                  <a:pt x="965" y="190"/>
                  <a:pt x="965" y="190"/>
                  <a:pt x="965" y="190"/>
                </a:cubicBezTo>
                <a:cubicBezTo>
                  <a:pt x="965" y="0"/>
                  <a:pt x="965" y="0"/>
                  <a:pt x="965" y="0"/>
                </a:cubicBezTo>
                <a:lnTo>
                  <a:pt x="803" y="0"/>
                </a:lnTo>
                <a:close/>
              </a:path>
            </a:pathLst>
          </a:custGeom>
          <a:solidFill>
            <a:srgbClr val="0066FF"/>
          </a:solidFill>
          <a:ln w="9525">
            <a:noFill/>
            <a:round/>
            <a:headEnd/>
            <a:tailEnd/>
          </a:ln>
          <a:effectLst>
            <a:reflection blurRad="6350" stA="19000" endPos="53000" dir="5400000" sy="-100000" algn="bl" rotWithShape="0"/>
          </a:effec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zh-CN" altLang="en-US" sz="2800" b="1" kern="0" dirty="0">
                <a:solidFill>
                  <a:srgbClr val="FFFFFF"/>
                </a:solidFill>
                <a:latin typeface="+mj-ea"/>
                <a:ea typeface="+mj-ea"/>
              </a:rPr>
              <a:t>自底向上语法分析思想</a:t>
            </a:r>
          </a:p>
        </p:txBody>
      </p:sp>
      <p:sp>
        <p:nvSpPr>
          <p:cNvPr id="6" name="Freeform 6"/>
          <p:cNvSpPr>
            <a:spLocks/>
          </p:cNvSpPr>
          <p:nvPr/>
        </p:nvSpPr>
        <p:spPr bwMode="auto">
          <a:xfrm>
            <a:off x="1072753" y="2708930"/>
            <a:ext cx="1073042" cy="714123"/>
          </a:xfrm>
          <a:custGeom>
            <a:avLst/>
            <a:gdLst/>
            <a:ahLst/>
            <a:cxnLst>
              <a:cxn ang="0">
                <a:pos x="211" y="73"/>
              </a:cxn>
              <a:cxn ang="0">
                <a:pos x="192" y="80"/>
              </a:cxn>
              <a:cxn ang="0">
                <a:pos x="189" y="82"/>
              </a:cxn>
              <a:cxn ang="0">
                <a:pos x="180" y="86"/>
              </a:cxn>
              <a:cxn ang="0">
                <a:pos x="172" y="85"/>
              </a:cxn>
              <a:cxn ang="0">
                <a:pos x="172" y="0"/>
              </a:cxn>
              <a:cxn ang="0">
                <a:pos x="0" y="0"/>
              </a:cxn>
              <a:cxn ang="0">
                <a:pos x="0" y="190"/>
              </a:cxn>
              <a:cxn ang="0">
                <a:pos x="172" y="190"/>
              </a:cxn>
              <a:cxn ang="0">
                <a:pos x="172" y="117"/>
              </a:cxn>
              <a:cxn ang="0">
                <a:pos x="179" y="116"/>
              </a:cxn>
              <a:cxn ang="0">
                <a:pos x="190" y="120"/>
              </a:cxn>
              <a:cxn ang="0">
                <a:pos x="211" y="128"/>
              </a:cxn>
              <a:cxn ang="0">
                <a:pos x="241" y="101"/>
              </a:cxn>
              <a:cxn ang="0">
                <a:pos x="211" y="73"/>
              </a:cxn>
            </a:cxnLst>
            <a:rect l="0" t="0" r="r" b="b"/>
            <a:pathLst>
              <a:path w="241" h="190">
                <a:moveTo>
                  <a:pt x="211" y="73"/>
                </a:moveTo>
                <a:cubicBezTo>
                  <a:pt x="204" y="73"/>
                  <a:pt x="197" y="76"/>
                  <a:pt x="192" y="80"/>
                </a:cubicBezTo>
                <a:cubicBezTo>
                  <a:pt x="191" y="81"/>
                  <a:pt x="190" y="82"/>
                  <a:pt x="189" y="82"/>
                </a:cubicBezTo>
                <a:cubicBezTo>
                  <a:pt x="187" y="84"/>
                  <a:pt x="183" y="86"/>
                  <a:pt x="180" y="86"/>
                </a:cubicBezTo>
                <a:cubicBezTo>
                  <a:pt x="176" y="86"/>
                  <a:pt x="174" y="86"/>
                  <a:pt x="172" y="85"/>
                </a:cubicBezTo>
                <a:cubicBezTo>
                  <a:pt x="172" y="0"/>
                  <a:pt x="172" y="0"/>
                  <a:pt x="17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90"/>
                  <a:pt x="0" y="190"/>
                  <a:pt x="0" y="190"/>
                </a:cubicBezTo>
                <a:cubicBezTo>
                  <a:pt x="172" y="190"/>
                  <a:pt x="172" y="190"/>
                  <a:pt x="172" y="190"/>
                </a:cubicBezTo>
                <a:cubicBezTo>
                  <a:pt x="172" y="117"/>
                  <a:pt x="172" y="117"/>
                  <a:pt x="172" y="117"/>
                </a:cubicBezTo>
                <a:cubicBezTo>
                  <a:pt x="175" y="116"/>
                  <a:pt x="176" y="116"/>
                  <a:pt x="179" y="116"/>
                </a:cubicBezTo>
                <a:cubicBezTo>
                  <a:pt x="183" y="116"/>
                  <a:pt x="188" y="118"/>
                  <a:pt x="190" y="120"/>
                </a:cubicBezTo>
                <a:cubicBezTo>
                  <a:pt x="192" y="122"/>
                  <a:pt x="202" y="128"/>
                  <a:pt x="211" y="128"/>
                </a:cubicBezTo>
                <a:cubicBezTo>
                  <a:pt x="228" y="128"/>
                  <a:pt x="241" y="116"/>
                  <a:pt x="241" y="101"/>
                </a:cubicBezTo>
                <a:cubicBezTo>
                  <a:pt x="241" y="86"/>
                  <a:pt x="228" y="73"/>
                  <a:pt x="211" y="73"/>
                </a:cubicBezTo>
                <a:close/>
              </a:path>
            </a:pathLst>
          </a:custGeom>
          <a:solidFill>
            <a:srgbClr val="80B3FF"/>
          </a:solidFill>
          <a:ln w="9525">
            <a:noFill/>
            <a:round/>
            <a:headEnd/>
            <a:tailEnd/>
          </a:ln>
          <a:effectLst>
            <a:reflection blurRad="6350" stA="19000" endPos="53000" dir="5400000" sy="-100000" algn="bl" rotWithShape="0"/>
          </a:effectLst>
        </p:spPr>
        <p:txBody>
          <a:bodyPr vert="horz" wrap="square" lIns="0" tIns="45720" rIns="288000" bIns="45720" numCol="1" anchor="ctr" anchorCtr="1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kumimoji="0" lang="ru-RU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>
            <a:off x="1072753" y="3573026"/>
            <a:ext cx="1073042" cy="714123"/>
          </a:xfrm>
          <a:custGeom>
            <a:avLst/>
            <a:gdLst/>
            <a:ahLst/>
            <a:cxnLst>
              <a:cxn ang="0">
                <a:pos x="211" y="73"/>
              </a:cxn>
              <a:cxn ang="0">
                <a:pos x="192" y="80"/>
              </a:cxn>
              <a:cxn ang="0">
                <a:pos x="189" y="82"/>
              </a:cxn>
              <a:cxn ang="0">
                <a:pos x="180" y="86"/>
              </a:cxn>
              <a:cxn ang="0">
                <a:pos x="172" y="85"/>
              </a:cxn>
              <a:cxn ang="0">
                <a:pos x="172" y="0"/>
              </a:cxn>
              <a:cxn ang="0">
                <a:pos x="0" y="0"/>
              </a:cxn>
              <a:cxn ang="0">
                <a:pos x="0" y="190"/>
              </a:cxn>
              <a:cxn ang="0">
                <a:pos x="172" y="190"/>
              </a:cxn>
              <a:cxn ang="0">
                <a:pos x="172" y="117"/>
              </a:cxn>
              <a:cxn ang="0">
                <a:pos x="179" y="116"/>
              </a:cxn>
              <a:cxn ang="0">
                <a:pos x="190" y="120"/>
              </a:cxn>
              <a:cxn ang="0">
                <a:pos x="211" y="128"/>
              </a:cxn>
              <a:cxn ang="0">
                <a:pos x="241" y="101"/>
              </a:cxn>
              <a:cxn ang="0">
                <a:pos x="211" y="73"/>
              </a:cxn>
            </a:cxnLst>
            <a:rect l="0" t="0" r="r" b="b"/>
            <a:pathLst>
              <a:path w="241" h="190">
                <a:moveTo>
                  <a:pt x="211" y="73"/>
                </a:moveTo>
                <a:cubicBezTo>
                  <a:pt x="204" y="73"/>
                  <a:pt x="197" y="76"/>
                  <a:pt x="192" y="80"/>
                </a:cubicBezTo>
                <a:cubicBezTo>
                  <a:pt x="191" y="81"/>
                  <a:pt x="190" y="82"/>
                  <a:pt x="189" y="82"/>
                </a:cubicBezTo>
                <a:cubicBezTo>
                  <a:pt x="187" y="84"/>
                  <a:pt x="183" y="86"/>
                  <a:pt x="180" y="86"/>
                </a:cubicBezTo>
                <a:cubicBezTo>
                  <a:pt x="176" y="86"/>
                  <a:pt x="174" y="86"/>
                  <a:pt x="172" y="85"/>
                </a:cubicBezTo>
                <a:cubicBezTo>
                  <a:pt x="172" y="0"/>
                  <a:pt x="172" y="0"/>
                  <a:pt x="17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90"/>
                  <a:pt x="0" y="190"/>
                  <a:pt x="0" y="190"/>
                </a:cubicBezTo>
                <a:cubicBezTo>
                  <a:pt x="172" y="190"/>
                  <a:pt x="172" y="190"/>
                  <a:pt x="172" y="190"/>
                </a:cubicBezTo>
                <a:cubicBezTo>
                  <a:pt x="172" y="117"/>
                  <a:pt x="172" y="117"/>
                  <a:pt x="172" y="117"/>
                </a:cubicBezTo>
                <a:cubicBezTo>
                  <a:pt x="175" y="116"/>
                  <a:pt x="176" y="116"/>
                  <a:pt x="179" y="116"/>
                </a:cubicBezTo>
                <a:cubicBezTo>
                  <a:pt x="183" y="116"/>
                  <a:pt x="188" y="118"/>
                  <a:pt x="190" y="120"/>
                </a:cubicBezTo>
                <a:cubicBezTo>
                  <a:pt x="192" y="122"/>
                  <a:pt x="202" y="128"/>
                  <a:pt x="211" y="128"/>
                </a:cubicBezTo>
                <a:cubicBezTo>
                  <a:pt x="228" y="128"/>
                  <a:pt x="241" y="116"/>
                  <a:pt x="241" y="101"/>
                </a:cubicBezTo>
                <a:cubicBezTo>
                  <a:pt x="241" y="86"/>
                  <a:pt x="228" y="73"/>
                  <a:pt x="211" y="73"/>
                </a:cubicBezTo>
                <a:close/>
              </a:path>
            </a:pathLst>
          </a:custGeom>
          <a:solidFill>
            <a:srgbClr val="80B3FF"/>
          </a:solidFill>
          <a:ln w="9525">
            <a:noFill/>
            <a:round/>
            <a:headEnd/>
            <a:tailEnd/>
          </a:ln>
          <a:effectLst>
            <a:reflection blurRad="6350" stA="19000" endPos="53000" dir="5400000" sy="-100000" algn="bl" rotWithShape="0"/>
          </a:effectLst>
        </p:spPr>
        <p:txBody>
          <a:bodyPr vert="horz" wrap="square" lIns="0" tIns="45720" rIns="288000" bIns="45720" numCol="1" anchor="ctr" anchorCtr="1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kumimoji="0" lang="ru-RU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2411733" y="2708929"/>
            <a:ext cx="5498327" cy="714123"/>
          </a:xfrm>
          <a:custGeom>
            <a:avLst/>
            <a:gdLst/>
            <a:ahLst/>
            <a:cxnLst>
              <a:cxn ang="0">
                <a:pos x="803" y="0"/>
              </a:cxn>
              <a:cxn ang="0">
                <a:pos x="792" y="0"/>
              </a:cxn>
              <a:cxn ang="0">
                <a:pos x="644" y="0"/>
              </a:cxn>
              <a:cxn ang="0">
                <a:pos x="634" y="0"/>
              </a:cxn>
              <a:cxn ang="0">
                <a:pos x="494" y="0"/>
              </a:cxn>
              <a:cxn ang="0">
                <a:pos x="476" y="0"/>
              </a:cxn>
              <a:cxn ang="0">
                <a:pos x="331" y="0"/>
              </a:cxn>
              <a:cxn ang="0">
                <a:pos x="325" y="0"/>
              </a:cxn>
              <a:cxn ang="0">
                <a:pos x="169" y="0"/>
              </a:cxn>
              <a:cxn ang="0">
                <a:pos x="163" y="0"/>
              </a:cxn>
              <a:cxn ang="0">
                <a:pos x="0" y="0"/>
              </a:cxn>
              <a:cxn ang="0">
                <a:pos x="0" y="82"/>
              </a:cxn>
              <a:cxn ang="0">
                <a:pos x="6" y="79"/>
              </a:cxn>
              <a:cxn ang="0">
                <a:pos x="9" y="77"/>
              </a:cxn>
              <a:cxn ang="0">
                <a:pos x="31" y="69"/>
              </a:cxn>
              <a:cxn ang="0">
                <a:pos x="65" y="101"/>
              </a:cxn>
              <a:cxn ang="0">
                <a:pos x="31" y="133"/>
              </a:cxn>
              <a:cxn ang="0">
                <a:pos x="7" y="123"/>
              </a:cxn>
              <a:cxn ang="0">
                <a:pos x="0" y="120"/>
              </a:cxn>
              <a:cxn ang="0">
                <a:pos x="0" y="190"/>
              </a:cxn>
              <a:cxn ang="0">
                <a:pos x="163" y="190"/>
              </a:cxn>
              <a:cxn ang="0">
                <a:pos x="169" y="190"/>
              </a:cxn>
              <a:cxn ang="0">
                <a:pos x="325" y="190"/>
              </a:cxn>
              <a:cxn ang="0">
                <a:pos x="331" y="190"/>
              </a:cxn>
              <a:cxn ang="0">
                <a:pos x="476" y="190"/>
              </a:cxn>
              <a:cxn ang="0">
                <a:pos x="494" y="190"/>
              </a:cxn>
              <a:cxn ang="0">
                <a:pos x="634" y="190"/>
              </a:cxn>
              <a:cxn ang="0">
                <a:pos x="644" y="190"/>
              </a:cxn>
              <a:cxn ang="0">
                <a:pos x="792" y="190"/>
              </a:cxn>
              <a:cxn ang="0">
                <a:pos x="803" y="190"/>
              </a:cxn>
              <a:cxn ang="0">
                <a:pos x="965" y="190"/>
              </a:cxn>
              <a:cxn ang="0">
                <a:pos x="965" y="0"/>
              </a:cxn>
              <a:cxn ang="0">
                <a:pos x="803" y="0"/>
              </a:cxn>
            </a:cxnLst>
            <a:rect l="0" t="0" r="r" b="b"/>
            <a:pathLst>
              <a:path w="965" h="190">
                <a:moveTo>
                  <a:pt x="803" y="0"/>
                </a:moveTo>
                <a:cubicBezTo>
                  <a:pt x="792" y="0"/>
                  <a:pt x="792" y="0"/>
                  <a:pt x="792" y="0"/>
                </a:cubicBezTo>
                <a:cubicBezTo>
                  <a:pt x="644" y="0"/>
                  <a:pt x="644" y="0"/>
                  <a:pt x="644" y="0"/>
                </a:cubicBezTo>
                <a:cubicBezTo>
                  <a:pt x="634" y="0"/>
                  <a:pt x="634" y="0"/>
                  <a:pt x="634" y="0"/>
                </a:cubicBezTo>
                <a:cubicBezTo>
                  <a:pt x="494" y="0"/>
                  <a:pt x="494" y="0"/>
                  <a:pt x="494" y="0"/>
                </a:cubicBezTo>
                <a:cubicBezTo>
                  <a:pt x="476" y="0"/>
                  <a:pt x="476" y="0"/>
                  <a:pt x="476" y="0"/>
                </a:cubicBezTo>
                <a:cubicBezTo>
                  <a:pt x="331" y="0"/>
                  <a:pt x="331" y="0"/>
                  <a:pt x="331" y="0"/>
                </a:cubicBezTo>
                <a:cubicBezTo>
                  <a:pt x="325" y="0"/>
                  <a:pt x="325" y="0"/>
                  <a:pt x="325" y="0"/>
                </a:cubicBezTo>
                <a:cubicBezTo>
                  <a:pt x="169" y="0"/>
                  <a:pt x="169" y="0"/>
                  <a:pt x="169" y="0"/>
                </a:cubicBezTo>
                <a:cubicBezTo>
                  <a:pt x="163" y="0"/>
                  <a:pt x="163" y="0"/>
                  <a:pt x="16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2"/>
                  <a:pt x="0" y="82"/>
                  <a:pt x="0" y="82"/>
                </a:cubicBezTo>
                <a:cubicBezTo>
                  <a:pt x="2" y="81"/>
                  <a:pt x="4" y="81"/>
                  <a:pt x="6" y="79"/>
                </a:cubicBezTo>
                <a:cubicBezTo>
                  <a:pt x="7" y="78"/>
                  <a:pt x="8" y="78"/>
                  <a:pt x="9" y="77"/>
                </a:cubicBezTo>
                <a:cubicBezTo>
                  <a:pt x="15" y="72"/>
                  <a:pt x="22" y="69"/>
                  <a:pt x="31" y="69"/>
                </a:cubicBezTo>
                <a:cubicBezTo>
                  <a:pt x="50" y="69"/>
                  <a:pt x="65" y="83"/>
                  <a:pt x="65" y="101"/>
                </a:cubicBezTo>
                <a:cubicBezTo>
                  <a:pt x="65" y="118"/>
                  <a:pt x="50" y="133"/>
                  <a:pt x="31" y="133"/>
                </a:cubicBezTo>
                <a:cubicBezTo>
                  <a:pt x="21" y="133"/>
                  <a:pt x="9" y="125"/>
                  <a:pt x="7" y="123"/>
                </a:cubicBezTo>
                <a:cubicBezTo>
                  <a:pt x="5" y="122"/>
                  <a:pt x="3" y="121"/>
                  <a:pt x="0" y="120"/>
                </a:cubicBezTo>
                <a:cubicBezTo>
                  <a:pt x="0" y="190"/>
                  <a:pt x="0" y="190"/>
                  <a:pt x="0" y="190"/>
                </a:cubicBezTo>
                <a:cubicBezTo>
                  <a:pt x="163" y="190"/>
                  <a:pt x="163" y="190"/>
                  <a:pt x="163" y="190"/>
                </a:cubicBezTo>
                <a:cubicBezTo>
                  <a:pt x="169" y="190"/>
                  <a:pt x="169" y="190"/>
                  <a:pt x="169" y="190"/>
                </a:cubicBezTo>
                <a:cubicBezTo>
                  <a:pt x="325" y="190"/>
                  <a:pt x="325" y="190"/>
                  <a:pt x="325" y="190"/>
                </a:cubicBezTo>
                <a:cubicBezTo>
                  <a:pt x="331" y="190"/>
                  <a:pt x="331" y="190"/>
                  <a:pt x="331" y="190"/>
                </a:cubicBezTo>
                <a:cubicBezTo>
                  <a:pt x="476" y="190"/>
                  <a:pt x="476" y="190"/>
                  <a:pt x="476" y="190"/>
                </a:cubicBezTo>
                <a:cubicBezTo>
                  <a:pt x="494" y="190"/>
                  <a:pt x="494" y="190"/>
                  <a:pt x="494" y="190"/>
                </a:cubicBezTo>
                <a:cubicBezTo>
                  <a:pt x="634" y="190"/>
                  <a:pt x="634" y="190"/>
                  <a:pt x="634" y="190"/>
                </a:cubicBezTo>
                <a:cubicBezTo>
                  <a:pt x="644" y="190"/>
                  <a:pt x="644" y="190"/>
                  <a:pt x="644" y="190"/>
                </a:cubicBezTo>
                <a:cubicBezTo>
                  <a:pt x="792" y="190"/>
                  <a:pt x="792" y="190"/>
                  <a:pt x="792" y="190"/>
                </a:cubicBezTo>
                <a:cubicBezTo>
                  <a:pt x="803" y="190"/>
                  <a:pt x="803" y="190"/>
                  <a:pt x="803" y="190"/>
                </a:cubicBezTo>
                <a:cubicBezTo>
                  <a:pt x="965" y="190"/>
                  <a:pt x="965" y="190"/>
                  <a:pt x="965" y="190"/>
                </a:cubicBezTo>
                <a:cubicBezTo>
                  <a:pt x="965" y="0"/>
                  <a:pt x="965" y="0"/>
                  <a:pt x="965" y="0"/>
                </a:cubicBezTo>
                <a:lnTo>
                  <a:pt x="803" y="0"/>
                </a:lnTo>
                <a:close/>
              </a:path>
            </a:pathLst>
          </a:custGeom>
          <a:solidFill>
            <a:srgbClr val="80B3FF"/>
          </a:solidFill>
          <a:ln w="9525">
            <a:noFill/>
            <a:round/>
            <a:headEnd/>
            <a:tailEnd/>
          </a:ln>
          <a:effectLst>
            <a:reflection blurRad="6350" stA="19000" endPos="53000" dir="5400000" sy="-100000" algn="bl" rotWithShape="0"/>
          </a:effec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zh-CN" altLang="en-US" sz="2800" b="1" kern="0" dirty="0">
                <a:solidFill>
                  <a:srgbClr val="FFFFFF"/>
                </a:solidFill>
                <a:latin typeface="+mj-ea"/>
              </a:rPr>
              <a:t>移进</a:t>
            </a:r>
            <a:r>
              <a:rPr lang="en-US" altLang="zh-CN" sz="2800" b="1" kern="0" dirty="0">
                <a:solidFill>
                  <a:srgbClr val="FFFFFF"/>
                </a:solidFill>
                <a:latin typeface="+mj-ea"/>
              </a:rPr>
              <a:t>-</a:t>
            </a:r>
            <a:r>
              <a:rPr lang="zh-CN" altLang="en-US" sz="2800" b="1" kern="0" dirty="0">
                <a:solidFill>
                  <a:srgbClr val="FFFFFF"/>
                </a:solidFill>
                <a:latin typeface="+mj-ea"/>
              </a:rPr>
              <a:t>规约</a:t>
            </a:r>
          </a:p>
        </p:txBody>
      </p:sp>
      <p:sp>
        <p:nvSpPr>
          <p:cNvPr id="9" name="Freeform 6"/>
          <p:cNvSpPr>
            <a:spLocks/>
          </p:cNvSpPr>
          <p:nvPr/>
        </p:nvSpPr>
        <p:spPr bwMode="auto">
          <a:xfrm>
            <a:off x="1072753" y="4437122"/>
            <a:ext cx="1073042" cy="714123"/>
          </a:xfrm>
          <a:custGeom>
            <a:avLst/>
            <a:gdLst/>
            <a:ahLst/>
            <a:cxnLst>
              <a:cxn ang="0">
                <a:pos x="211" y="73"/>
              </a:cxn>
              <a:cxn ang="0">
                <a:pos x="192" y="80"/>
              </a:cxn>
              <a:cxn ang="0">
                <a:pos x="189" y="82"/>
              </a:cxn>
              <a:cxn ang="0">
                <a:pos x="180" y="86"/>
              </a:cxn>
              <a:cxn ang="0">
                <a:pos x="172" y="85"/>
              </a:cxn>
              <a:cxn ang="0">
                <a:pos x="172" y="0"/>
              </a:cxn>
              <a:cxn ang="0">
                <a:pos x="0" y="0"/>
              </a:cxn>
              <a:cxn ang="0">
                <a:pos x="0" y="190"/>
              </a:cxn>
              <a:cxn ang="0">
                <a:pos x="172" y="190"/>
              </a:cxn>
              <a:cxn ang="0">
                <a:pos x="172" y="117"/>
              </a:cxn>
              <a:cxn ang="0">
                <a:pos x="179" y="116"/>
              </a:cxn>
              <a:cxn ang="0">
                <a:pos x="190" y="120"/>
              </a:cxn>
              <a:cxn ang="0">
                <a:pos x="211" y="128"/>
              </a:cxn>
              <a:cxn ang="0">
                <a:pos x="241" y="101"/>
              </a:cxn>
              <a:cxn ang="0">
                <a:pos x="211" y="73"/>
              </a:cxn>
            </a:cxnLst>
            <a:rect l="0" t="0" r="r" b="b"/>
            <a:pathLst>
              <a:path w="241" h="190">
                <a:moveTo>
                  <a:pt x="211" y="73"/>
                </a:moveTo>
                <a:cubicBezTo>
                  <a:pt x="204" y="73"/>
                  <a:pt x="197" y="76"/>
                  <a:pt x="192" y="80"/>
                </a:cubicBezTo>
                <a:cubicBezTo>
                  <a:pt x="191" y="81"/>
                  <a:pt x="190" y="82"/>
                  <a:pt x="189" y="82"/>
                </a:cubicBezTo>
                <a:cubicBezTo>
                  <a:pt x="187" y="84"/>
                  <a:pt x="183" y="86"/>
                  <a:pt x="180" y="86"/>
                </a:cubicBezTo>
                <a:cubicBezTo>
                  <a:pt x="176" y="86"/>
                  <a:pt x="174" y="86"/>
                  <a:pt x="172" y="85"/>
                </a:cubicBezTo>
                <a:cubicBezTo>
                  <a:pt x="172" y="0"/>
                  <a:pt x="172" y="0"/>
                  <a:pt x="17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90"/>
                  <a:pt x="0" y="190"/>
                  <a:pt x="0" y="190"/>
                </a:cubicBezTo>
                <a:cubicBezTo>
                  <a:pt x="172" y="190"/>
                  <a:pt x="172" y="190"/>
                  <a:pt x="172" y="190"/>
                </a:cubicBezTo>
                <a:cubicBezTo>
                  <a:pt x="172" y="117"/>
                  <a:pt x="172" y="117"/>
                  <a:pt x="172" y="117"/>
                </a:cubicBezTo>
                <a:cubicBezTo>
                  <a:pt x="175" y="116"/>
                  <a:pt x="176" y="116"/>
                  <a:pt x="179" y="116"/>
                </a:cubicBezTo>
                <a:cubicBezTo>
                  <a:pt x="183" y="116"/>
                  <a:pt x="188" y="118"/>
                  <a:pt x="190" y="120"/>
                </a:cubicBezTo>
                <a:cubicBezTo>
                  <a:pt x="192" y="122"/>
                  <a:pt x="202" y="128"/>
                  <a:pt x="211" y="128"/>
                </a:cubicBezTo>
                <a:cubicBezTo>
                  <a:pt x="228" y="128"/>
                  <a:pt x="241" y="116"/>
                  <a:pt x="241" y="101"/>
                </a:cubicBezTo>
                <a:cubicBezTo>
                  <a:pt x="241" y="86"/>
                  <a:pt x="228" y="73"/>
                  <a:pt x="211" y="73"/>
                </a:cubicBezTo>
                <a:close/>
              </a:path>
            </a:pathLst>
          </a:custGeom>
          <a:solidFill>
            <a:srgbClr val="80B3FF"/>
          </a:solidFill>
          <a:ln w="9525">
            <a:noFill/>
            <a:round/>
            <a:headEnd/>
            <a:tailEnd/>
          </a:ln>
          <a:effectLst>
            <a:reflection blurRad="6350" stA="19000" endPos="53000" dir="5400000" sy="-100000" algn="bl" rotWithShape="0"/>
          </a:effectLst>
        </p:spPr>
        <p:txBody>
          <a:bodyPr vert="horz" wrap="square" lIns="0" tIns="45720" rIns="288000" bIns="45720" numCol="1" anchor="ctr" anchorCtr="1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kumimoji="0" lang="ru-RU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Freeform 7"/>
          <p:cNvSpPr>
            <a:spLocks/>
          </p:cNvSpPr>
          <p:nvPr/>
        </p:nvSpPr>
        <p:spPr bwMode="auto">
          <a:xfrm>
            <a:off x="2411733" y="3573025"/>
            <a:ext cx="5498327" cy="714123"/>
          </a:xfrm>
          <a:custGeom>
            <a:avLst/>
            <a:gdLst/>
            <a:ahLst/>
            <a:cxnLst>
              <a:cxn ang="0">
                <a:pos x="803" y="0"/>
              </a:cxn>
              <a:cxn ang="0">
                <a:pos x="792" y="0"/>
              </a:cxn>
              <a:cxn ang="0">
                <a:pos x="644" y="0"/>
              </a:cxn>
              <a:cxn ang="0">
                <a:pos x="634" y="0"/>
              </a:cxn>
              <a:cxn ang="0">
                <a:pos x="494" y="0"/>
              </a:cxn>
              <a:cxn ang="0">
                <a:pos x="476" y="0"/>
              </a:cxn>
              <a:cxn ang="0">
                <a:pos x="331" y="0"/>
              </a:cxn>
              <a:cxn ang="0">
                <a:pos x="325" y="0"/>
              </a:cxn>
              <a:cxn ang="0">
                <a:pos x="169" y="0"/>
              </a:cxn>
              <a:cxn ang="0">
                <a:pos x="163" y="0"/>
              </a:cxn>
              <a:cxn ang="0">
                <a:pos x="0" y="0"/>
              </a:cxn>
              <a:cxn ang="0">
                <a:pos x="0" y="82"/>
              </a:cxn>
              <a:cxn ang="0">
                <a:pos x="6" y="79"/>
              </a:cxn>
              <a:cxn ang="0">
                <a:pos x="9" y="77"/>
              </a:cxn>
              <a:cxn ang="0">
                <a:pos x="31" y="69"/>
              </a:cxn>
              <a:cxn ang="0">
                <a:pos x="65" y="101"/>
              </a:cxn>
              <a:cxn ang="0">
                <a:pos x="31" y="133"/>
              </a:cxn>
              <a:cxn ang="0">
                <a:pos x="7" y="123"/>
              </a:cxn>
              <a:cxn ang="0">
                <a:pos x="0" y="120"/>
              </a:cxn>
              <a:cxn ang="0">
                <a:pos x="0" y="190"/>
              </a:cxn>
              <a:cxn ang="0">
                <a:pos x="163" y="190"/>
              </a:cxn>
              <a:cxn ang="0">
                <a:pos x="169" y="190"/>
              </a:cxn>
              <a:cxn ang="0">
                <a:pos x="325" y="190"/>
              </a:cxn>
              <a:cxn ang="0">
                <a:pos x="331" y="190"/>
              </a:cxn>
              <a:cxn ang="0">
                <a:pos x="476" y="190"/>
              </a:cxn>
              <a:cxn ang="0">
                <a:pos x="494" y="190"/>
              </a:cxn>
              <a:cxn ang="0">
                <a:pos x="634" y="190"/>
              </a:cxn>
              <a:cxn ang="0">
                <a:pos x="644" y="190"/>
              </a:cxn>
              <a:cxn ang="0">
                <a:pos x="792" y="190"/>
              </a:cxn>
              <a:cxn ang="0">
                <a:pos x="803" y="190"/>
              </a:cxn>
              <a:cxn ang="0">
                <a:pos x="965" y="190"/>
              </a:cxn>
              <a:cxn ang="0">
                <a:pos x="965" y="0"/>
              </a:cxn>
              <a:cxn ang="0">
                <a:pos x="803" y="0"/>
              </a:cxn>
            </a:cxnLst>
            <a:rect l="0" t="0" r="r" b="b"/>
            <a:pathLst>
              <a:path w="965" h="190">
                <a:moveTo>
                  <a:pt x="803" y="0"/>
                </a:moveTo>
                <a:cubicBezTo>
                  <a:pt x="792" y="0"/>
                  <a:pt x="792" y="0"/>
                  <a:pt x="792" y="0"/>
                </a:cubicBezTo>
                <a:cubicBezTo>
                  <a:pt x="644" y="0"/>
                  <a:pt x="644" y="0"/>
                  <a:pt x="644" y="0"/>
                </a:cubicBezTo>
                <a:cubicBezTo>
                  <a:pt x="634" y="0"/>
                  <a:pt x="634" y="0"/>
                  <a:pt x="634" y="0"/>
                </a:cubicBezTo>
                <a:cubicBezTo>
                  <a:pt x="494" y="0"/>
                  <a:pt x="494" y="0"/>
                  <a:pt x="494" y="0"/>
                </a:cubicBezTo>
                <a:cubicBezTo>
                  <a:pt x="476" y="0"/>
                  <a:pt x="476" y="0"/>
                  <a:pt x="476" y="0"/>
                </a:cubicBezTo>
                <a:cubicBezTo>
                  <a:pt x="331" y="0"/>
                  <a:pt x="331" y="0"/>
                  <a:pt x="331" y="0"/>
                </a:cubicBezTo>
                <a:cubicBezTo>
                  <a:pt x="325" y="0"/>
                  <a:pt x="325" y="0"/>
                  <a:pt x="325" y="0"/>
                </a:cubicBezTo>
                <a:cubicBezTo>
                  <a:pt x="169" y="0"/>
                  <a:pt x="169" y="0"/>
                  <a:pt x="169" y="0"/>
                </a:cubicBezTo>
                <a:cubicBezTo>
                  <a:pt x="163" y="0"/>
                  <a:pt x="163" y="0"/>
                  <a:pt x="16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2"/>
                  <a:pt x="0" y="82"/>
                  <a:pt x="0" y="82"/>
                </a:cubicBezTo>
                <a:cubicBezTo>
                  <a:pt x="2" y="81"/>
                  <a:pt x="4" y="81"/>
                  <a:pt x="6" y="79"/>
                </a:cubicBezTo>
                <a:cubicBezTo>
                  <a:pt x="7" y="78"/>
                  <a:pt x="8" y="78"/>
                  <a:pt x="9" y="77"/>
                </a:cubicBezTo>
                <a:cubicBezTo>
                  <a:pt x="15" y="72"/>
                  <a:pt x="22" y="69"/>
                  <a:pt x="31" y="69"/>
                </a:cubicBezTo>
                <a:cubicBezTo>
                  <a:pt x="50" y="69"/>
                  <a:pt x="65" y="83"/>
                  <a:pt x="65" y="101"/>
                </a:cubicBezTo>
                <a:cubicBezTo>
                  <a:pt x="65" y="118"/>
                  <a:pt x="50" y="133"/>
                  <a:pt x="31" y="133"/>
                </a:cubicBezTo>
                <a:cubicBezTo>
                  <a:pt x="21" y="133"/>
                  <a:pt x="9" y="125"/>
                  <a:pt x="7" y="123"/>
                </a:cubicBezTo>
                <a:cubicBezTo>
                  <a:pt x="5" y="122"/>
                  <a:pt x="3" y="121"/>
                  <a:pt x="0" y="120"/>
                </a:cubicBezTo>
                <a:cubicBezTo>
                  <a:pt x="0" y="190"/>
                  <a:pt x="0" y="190"/>
                  <a:pt x="0" y="190"/>
                </a:cubicBezTo>
                <a:cubicBezTo>
                  <a:pt x="163" y="190"/>
                  <a:pt x="163" y="190"/>
                  <a:pt x="163" y="190"/>
                </a:cubicBezTo>
                <a:cubicBezTo>
                  <a:pt x="169" y="190"/>
                  <a:pt x="169" y="190"/>
                  <a:pt x="169" y="190"/>
                </a:cubicBezTo>
                <a:cubicBezTo>
                  <a:pt x="325" y="190"/>
                  <a:pt x="325" y="190"/>
                  <a:pt x="325" y="190"/>
                </a:cubicBezTo>
                <a:cubicBezTo>
                  <a:pt x="331" y="190"/>
                  <a:pt x="331" y="190"/>
                  <a:pt x="331" y="190"/>
                </a:cubicBezTo>
                <a:cubicBezTo>
                  <a:pt x="476" y="190"/>
                  <a:pt x="476" y="190"/>
                  <a:pt x="476" y="190"/>
                </a:cubicBezTo>
                <a:cubicBezTo>
                  <a:pt x="494" y="190"/>
                  <a:pt x="494" y="190"/>
                  <a:pt x="494" y="190"/>
                </a:cubicBezTo>
                <a:cubicBezTo>
                  <a:pt x="634" y="190"/>
                  <a:pt x="634" y="190"/>
                  <a:pt x="634" y="190"/>
                </a:cubicBezTo>
                <a:cubicBezTo>
                  <a:pt x="644" y="190"/>
                  <a:pt x="644" y="190"/>
                  <a:pt x="644" y="190"/>
                </a:cubicBezTo>
                <a:cubicBezTo>
                  <a:pt x="792" y="190"/>
                  <a:pt x="792" y="190"/>
                  <a:pt x="792" y="190"/>
                </a:cubicBezTo>
                <a:cubicBezTo>
                  <a:pt x="803" y="190"/>
                  <a:pt x="803" y="190"/>
                  <a:pt x="803" y="190"/>
                </a:cubicBezTo>
                <a:cubicBezTo>
                  <a:pt x="965" y="190"/>
                  <a:pt x="965" y="190"/>
                  <a:pt x="965" y="190"/>
                </a:cubicBezTo>
                <a:cubicBezTo>
                  <a:pt x="965" y="0"/>
                  <a:pt x="965" y="0"/>
                  <a:pt x="965" y="0"/>
                </a:cubicBezTo>
                <a:lnTo>
                  <a:pt x="803" y="0"/>
                </a:lnTo>
                <a:close/>
              </a:path>
            </a:pathLst>
          </a:custGeom>
          <a:solidFill>
            <a:srgbClr val="80B3FF"/>
          </a:solidFill>
          <a:ln w="9525">
            <a:noFill/>
            <a:round/>
            <a:headEnd/>
            <a:tailEnd/>
          </a:ln>
          <a:effectLst>
            <a:reflection blurRad="6350" stA="19000" endPos="53000" dir="5400000" sy="-100000" algn="bl" rotWithShape="0"/>
          </a:effec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zh-CN" altLang="en-US" sz="2800" b="1" kern="0" dirty="0">
                <a:solidFill>
                  <a:srgbClr val="FFFFFF"/>
                </a:solidFill>
                <a:latin typeface="+mj-ea"/>
              </a:rPr>
              <a:t>简单优先分析法</a:t>
            </a:r>
          </a:p>
        </p:txBody>
      </p:sp>
      <p:sp>
        <p:nvSpPr>
          <p:cNvPr id="12" name="Freeform 7"/>
          <p:cNvSpPr>
            <a:spLocks/>
          </p:cNvSpPr>
          <p:nvPr/>
        </p:nvSpPr>
        <p:spPr bwMode="auto">
          <a:xfrm>
            <a:off x="2411733" y="4437121"/>
            <a:ext cx="5498327" cy="714123"/>
          </a:xfrm>
          <a:custGeom>
            <a:avLst/>
            <a:gdLst/>
            <a:ahLst/>
            <a:cxnLst>
              <a:cxn ang="0">
                <a:pos x="803" y="0"/>
              </a:cxn>
              <a:cxn ang="0">
                <a:pos x="792" y="0"/>
              </a:cxn>
              <a:cxn ang="0">
                <a:pos x="644" y="0"/>
              </a:cxn>
              <a:cxn ang="0">
                <a:pos x="634" y="0"/>
              </a:cxn>
              <a:cxn ang="0">
                <a:pos x="494" y="0"/>
              </a:cxn>
              <a:cxn ang="0">
                <a:pos x="476" y="0"/>
              </a:cxn>
              <a:cxn ang="0">
                <a:pos x="331" y="0"/>
              </a:cxn>
              <a:cxn ang="0">
                <a:pos x="325" y="0"/>
              </a:cxn>
              <a:cxn ang="0">
                <a:pos x="169" y="0"/>
              </a:cxn>
              <a:cxn ang="0">
                <a:pos x="163" y="0"/>
              </a:cxn>
              <a:cxn ang="0">
                <a:pos x="0" y="0"/>
              </a:cxn>
              <a:cxn ang="0">
                <a:pos x="0" y="82"/>
              </a:cxn>
              <a:cxn ang="0">
                <a:pos x="6" y="79"/>
              </a:cxn>
              <a:cxn ang="0">
                <a:pos x="9" y="77"/>
              </a:cxn>
              <a:cxn ang="0">
                <a:pos x="31" y="69"/>
              </a:cxn>
              <a:cxn ang="0">
                <a:pos x="65" y="101"/>
              </a:cxn>
              <a:cxn ang="0">
                <a:pos x="31" y="133"/>
              </a:cxn>
              <a:cxn ang="0">
                <a:pos x="7" y="123"/>
              </a:cxn>
              <a:cxn ang="0">
                <a:pos x="0" y="120"/>
              </a:cxn>
              <a:cxn ang="0">
                <a:pos x="0" y="190"/>
              </a:cxn>
              <a:cxn ang="0">
                <a:pos x="163" y="190"/>
              </a:cxn>
              <a:cxn ang="0">
                <a:pos x="169" y="190"/>
              </a:cxn>
              <a:cxn ang="0">
                <a:pos x="325" y="190"/>
              </a:cxn>
              <a:cxn ang="0">
                <a:pos x="331" y="190"/>
              </a:cxn>
              <a:cxn ang="0">
                <a:pos x="476" y="190"/>
              </a:cxn>
              <a:cxn ang="0">
                <a:pos x="494" y="190"/>
              </a:cxn>
              <a:cxn ang="0">
                <a:pos x="634" y="190"/>
              </a:cxn>
              <a:cxn ang="0">
                <a:pos x="644" y="190"/>
              </a:cxn>
              <a:cxn ang="0">
                <a:pos x="792" y="190"/>
              </a:cxn>
              <a:cxn ang="0">
                <a:pos x="803" y="190"/>
              </a:cxn>
              <a:cxn ang="0">
                <a:pos x="965" y="190"/>
              </a:cxn>
              <a:cxn ang="0">
                <a:pos x="965" y="0"/>
              </a:cxn>
              <a:cxn ang="0">
                <a:pos x="803" y="0"/>
              </a:cxn>
            </a:cxnLst>
            <a:rect l="0" t="0" r="r" b="b"/>
            <a:pathLst>
              <a:path w="965" h="190">
                <a:moveTo>
                  <a:pt x="803" y="0"/>
                </a:moveTo>
                <a:cubicBezTo>
                  <a:pt x="792" y="0"/>
                  <a:pt x="792" y="0"/>
                  <a:pt x="792" y="0"/>
                </a:cubicBezTo>
                <a:cubicBezTo>
                  <a:pt x="644" y="0"/>
                  <a:pt x="644" y="0"/>
                  <a:pt x="644" y="0"/>
                </a:cubicBezTo>
                <a:cubicBezTo>
                  <a:pt x="634" y="0"/>
                  <a:pt x="634" y="0"/>
                  <a:pt x="634" y="0"/>
                </a:cubicBezTo>
                <a:cubicBezTo>
                  <a:pt x="494" y="0"/>
                  <a:pt x="494" y="0"/>
                  <a:pt x="494" y="0"/>
                </a:cubicBezTo>
                <a:cubicBezTo>
                  <a:pt x="476" y="0"/>
                  <a:pt x="476" y="0"/>
                  <a:pt x="476" y="0"/>
                </a:cubicBezTo>
                <a:cubicBezTo>
                  <a:pt x="331" y="0"/>
                  <a:pt x="331" y="0"/>
                  <a:pt x="331" y="0"/>
                </a:cubicBezTo>
                <a:cubicBezTo>
                  <a:pt x="325" y="0"/>
                  <a:pt x="325" y="0"/>
                  <a:pt x="325" y="0"/>
                </a:cubicBezTo>
                <a:cubicBezTo>
                  <a:pt x="169" y="0"/>
                  <a:pt x="169" y="0"/>
                  <a:pt x="169" y="0"/>
                </a:cubicBezTo>
                <a:cubicBezTo>
                  <a:pt x="163" y="0"/>
                  <a:pt x="163" y="0"/>
                  <a:pt x="16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2"/>
                  <a:pt x="0" y="82"/>
                  <a:pt x="0" y="82"/>
                </a:cubicBezTo>
                <a:cubicBezTo>
                  <a:pt x="2" y="81"/>
                  <a:pt x="4" y="81"/>
                  <a:pt x="6" y="79"/>
                </a:cubicBezTo>
                <a:cubicBezTo>
                  <a:pt x="7" y="78"/>
                  <a:pt x="8" y="78"/>
                  <a:pt x="9" y="77"/>
                </a:cubicBezTo>
                <a:cubicBezTo>
                  <a:pt x="15" y="72"/>
                  <a:pt x="22" y="69"/>
                  <a:pt x="31" y="69"/>
                </a:cubicBezTo>
                <a:cubicBezTo>
                  <a:pt x="50" y="69"/>
                  <a:pt x="65" y="83"/>
                  <a:pt x="65" y="101"/>
                </a:cubicBezTo>
                <a:cubicBezTo>
                  <a:pt x="65" y="118"/>
                  <a:pt x="50" y="133"/>
                  <a:pt x="31" y="133"/>
                </a:cubicBezTo>
                <a:cubicBezTo>
                  <a:pt x="21" y="133"/>
                  <a:pt x="9" y="125"/>
                  <a:pt x="7" y="123"/>
                </a:cubicBezTo>
                <a:cubicBezTo>
                  <a:pt x="5" y="122"/>
                  <a:pt x="3" y="121"/>
                  <a:pt x="0" y="120"/>
                </a:cubicBezTo>
                <a:cubicBezTo>
                  <a:pt x="0" y="190"/>
                  <a:pt x="0" y="190"/>
                  <a:pt x="0" y="190"/>
                </a:cubicBezTo>
                <a:cubicBezTo>
                  <a:pt x="163" y="190"/>
                  <a:pt x="163" y="190"/>
                  <a:pt x="163" y="190"/>
                </a:cubicBezTo>
                <a:cubicBezTo>
                  <a:pt x="169" y="190"/>
                  <a:pt x="169" y="190"/>
                  <a:pt x="169" y="190"/>
                </a:cubicBezTo>
                <a:cubicBezTo>
                  <a:pt x="325" y="190"/>
                  <a:pt x="325" y="190"/>
                  <a:pt x="325" y="190"/>
                </a:cubicBezTo>
                <a:cubicBezTo>
                  <a:pt x="331" y="190"/>
                  <a:pt x="331" y="190"/>
                  <a:pt x="331" y="190"/>
                </a:cubicBezTo>
                <a:cubicBezTo>
                  <a:pt x="476" y="190"/>
                  <a:pt x="476" y="190"/>
                  <a:pt x="476" y="190"/>
                </a:cubicBezTo>
                <a:cubicBezTo>
                  <a:pt x="494" y="190"/>
                  <a:pt x="494" y="190"/>
                  <a:pt x="494" y="190"/>
                </a:cubicBezTo>
                <a:cubicBezTo>
                  <a:pt x="634" y="190"/>
                  <a:pt x="634" y="190"/>
                  <a:pt x="634" y="190"/>
                </a:cubicBezTo>
                <a:cubicBezTo>
                  <a:pt x="644" y="190"/>
                  <a:pt x="644" y="190"/>
                  <a:pt x="644" y="190"/>
                </a:cubicBezTo>
                <a:cubicBezTo>
                  <a:pt x="792" y="190"/>
                  <a:pt x="792" y="190"/>
                  <a:pt x="792" y="190"/>
                </a:cubicBezTo>
                <a:cubicBezTo>
                  <a:pt x="803" y="190"/>
                  <a:pt x="803" y="190"/>
                  <a:pt x="803" y="190"/>
                </a:cubicBezTo>
                <a:cubicBezTo>
                  <a:pt x="965" y="190"/>
                  <a:pt x="965" y="190"/>
                  <a:pt x="965" y="190"/>
                </a:cubicBezTo>
                <a:cubicBezTo>
                  <a:pt x="965" y="0"/>
                  <a:pt x="965" y="0"/>
                  <a:pt x="965" y="0"/>
                </a:cubicBezTo>
                <a:lnTo>
                  <a:pt x="803" y="0"/>
                </a:lnTo>
                <a:close/>
              </a:path>
            </a:pathLst>
          </a:custGeom>
          <a:solidFill>
            <a:srgbClr val="80B3FF"/>
          </a:solidFill>
          <a:ln w="9525">
            <a:noFill/>
            <a:round/>
            <a:headEnd/>
            <a:tailEnd/>
          </a:ln>
          <a:effectLst>
            <a:reflection blurRad="6350" stA="19000" endPos="53000" dir="5400000" sy="-100000" algn="bl" rotWithShape="0"/>
          </a:effec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zh-CN" altLang="en-US" sz="2800" b="1" kern="0" dirty="0">
                <a:solidFill>
                  <a:srgbClr val="FFFFFF"/>
                </a:solidFill>
                <a:latin typeface="+mj-ea"/>
              </a:rPr>
              <a:t>算符优先分析法</a:t>
            </a:r>
            <a:endParaRPr lang="zh-CN" altLang="en-US" sz="2800" b="1" kern="0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7387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一、自底向上语法分析思想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+mj-ea"/>
                <a:ea typeface="+mj-ea"/>
              </a:rPr>
              <a:t>主导思想：“移进</a:t>
            </a:r>
            <a:r>
              <a:rPr lang="en-US" altLang="zh-CN" b="1" dirty="0">
                <a:latin typeface="+mj-ea"/>
                <a:ea typeface="+mj-ea"/>
              </a:rPr>
              <a:t>—</a:t>
            </a:r>
            <a:r>
              <a:rPr lang="zh-CN" altLang="en-US" b="1" dirty="0">
                <a:latin typeface="+mj-ea"/>
                <a:ea typeface="+mj-ea"/>
              </a:rPr>
              <a:t>规约”。自下而上分析法则是要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找到</a:t>
            </a:r>
            <a:r>
              <a:rPr lang="zh-CN" altLang="en-US" b="1" dirty="0">
                <a:latin typeface="+mj-ea"/>
                <a:ea typeface="+mj-ea"/>
              </a:rPr>
              <a:t>输入符号串的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句柄</a:t>
            </a:r>
            <a:r>
              <a:rPr lang="zh-CN" altLang="en-US" b="1" dirty="0">
                <a:latin typeface="+mj-ea"/>
                <a:ea typeface="+mj-ea"/>
              </a:rPr>
              <a:t>，每次都对句柄进行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规约</a:t>
            </a:r>
            <a:r>
              <a:rPr lang="zh-CN" altLang="en-US" b="1" dirty="0">
                <a:latin typeface="+mj-ea"/>
                <a:ea typeface="+mj-ea"/>
              </a:rPr>
              <a:t>，从而得到一个规范规约的过程。（句柄，最左直接短语）</a:t>
            </a:r>
            <a:endParaRPr lang="en-US" altLang="zh-CN" b="1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+mj-ea"/>
                <a:ea typeface="+mj-ea"/>
              </a:rPr>
              <a:t>规约过程</a:t>
            </a:r>
            <a:endParaRPr lang="en-US" altLang="zh-CN" b="1" dirty="0">
              <a:latin typeface="+mj-ea"/>
              <a:ea typeface="+mj-ea"/>
            </a:endParaRPr>
          </a:p>
          <a:p>
            <a:pPr lvl="1">
              <a:lnSpc>
                <a:spcPct val="150000"/>
              </a:lnSpc>
            </a:pPr>
            <a:r>
              <a:rPr lang="zh-CN" altLang="en-US" b="1" dirty="0">
                <a:latin typeface="+mj-ea"/>
                <a:ea typeface="+mj-ea"/>
              </a:rPr>
              <a:t>将产生式的右部（</a:t>
            </a:r>
            <a:r>
              <a:rPr lang="en-US" altLang="zh-CN" b="1" dirty="0">
                <a:latin typeface="+mj-ea"/>
                <a:ea typeface="+mj-ea"/>
              </a:rPr>
              <a:t>body</a:t>
            </a:r>
            <a:r>
              <a:rPr lang="zh-CN" altLang="en-US" b="1" dirty="0">
                <a:latin typeface="+mj-ea"/>
                <a:ea typeface="+mj-ea"/>
              </a:rPr>
              <a:t>）替换为产生式的左部（</a:t>
            </a:r>
            <a:r>
              <a:rPr lang="en-US" altLang="zh-CN" b="1" dirty="0">
                <a:latin typeface="+mj-ea"/>
                <a:ea typeface="+mj-ea"/>
              </a:rPr>
              <a:t>head</a:t>
            </a:r>
            <a:r>
              <a:rPr lang="zh-CN" altLang="en-US" b="1" dirty="0">
                <a:latin typeface="+mj-ea"/>
                <a:ea typeface="+mj-ea"/>
              </a:rPr>
              <a:t>）。</a:t>
            </a:r>
            <a:endParaRPr lang="en-US" altLang="zh-CN" b="1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+mj-ea"/>
                <a:ea typeface="+mj-ea"/>
              </a:rPr>
              <a:t>推导过程</a:t>
            </a:r>
            <a:endParaRPr lang="en-US" altLang="zh-CN" b="1" dirty="0">
              <a:latin typeface="+mj-ea"/>
              <a:ea typeface="+mj-ea"/>
            </a:endParaRPr>
          </a:p>
          <a:p>
            <a:pPr lvl="1">
              <a:lnSpc>
                <a:spcPct val="150000"/>
              </a:lnSpc>
            </a:pPr>
            <a:r>
              <a:rPr lang="zh-CN" altLang="en-US" b="1" dirty="0">
                <a:latin typeface="+mj-ea"/>
                <a:ea typeface="+mj-ea"/>
              </a:rPr>
              <a:t>将产生式的左部（</a:t>
            </a:r>
            <a:r>
              <a:rPr lang="en-US" altLang="zh-CN" b="1" dirty="0">
                <a:latin typeface="+mj-ea"/>
                <a:ea typeface="+mj-ea"/>
              </a:rPr>
              <a:t>head</a:t>
            </a:r>
            <a:r>
              <a:rPr lang="zh-CN" altLang="en-US" b="1" dirty="0">
                <a:latin typeface="+mj-ea"/>
                <a:ea typeface="+mj-ea"/>
              </a:rPr>
              <a:t>）替换为产生式的右部（</a:t>
            </a:r>
            <a:r>
              <a:rPr lang="en-US" altLang="zh-CN" b="1" dirty="0">
                <a:latin typeface="+mj-ea"/>
                <a:ea typeface="+mj-ea"/>
              </a:rPr>
              <a:t>body</a:t>
            </a:r>
            <a:r>
              <a:rPr lang="zh-CN" altLang="en-US" b="1" dirty="0">
                <a:latin typeface="+mj-ea"/>
                <a:ea typeface="+mj-ea"/>
              </a:rPr>
              <a:t>）。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217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一、自底向上语法分析思想</a:t>
            </a:r>
          </a:p>
        </p:txBody>
      </p:sp>
      <p:sp>
        <p:nvSpPr>
          <p:cNvPr id="4" name="Rectangle 3"/>
          <p:cNvSpPr>
            <a:spLocks noGrp="1" noChangeArrowheads="1"/>
          </p:cNvSpPr>
          <p:nvPr/>
        </p:nvSpPr>
        <p:spPr bwMode="auto">
          <a:xfrm>
            <a:off x="577218" y="1268733"/>
            <a:ext cx="8315315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0"/>
              </a:spcBef>
            </a:pPr>
            <a:r>
              <a:rPr lang="zh-CN" altLang="en-US" sz="2600" b="1" dirty="0">
                <a:solidFill>
                  <a:schemeClr val="accent2"/>
                </a:solidFill>
                <a:latin typeface="+mj-ea"/>
                <a:ea typeface="+mj-ea"/>
              </a:rPr>
              <a:t>实现思想：“移进</a:t>
            </a:r>
            <a:r>
              <a:rPr lang="en-US" altLang="zh-CN" sz="2600" b="1" dirty="0">
                <a:solidFill>
                  <a:schemeClr val="accent2"/>
                </a:solidFill>
                <a:latin typeface="+mj-ea"/>
                <a:ea typeface="+mj-ea"/>
              </a:rPr>
              <a:t>-</a:t>
            </a:r>
            <a:r>
              <a:rPr lang="zh-CN" altLang="en-US" sz="2600" b="1" dirty="0">
                <a:solidFill>
                  <a:schemeClr val="accent2"/>
                </a:solidFill>
                <a:latin typeface="+mj-ea"/>
                <a:ea typeface="+mj-ea"/>
              </a:rPr>
              <a:t>归约”方法</a:t>
            </a:r>
          </a:p>
          <a:p>
            <a:pPr lvl="1" algn="just" eaLnBrk="1" hangingPunct="1">
              <a:lnSpc>
                <a:spcPct val="105000"/>
              </a:lnSpc>
              <a:spcBef>
                <a:spcPct val="0"/>
              </a:spcBef>
            </a:pPr>
            <a:r>
              <a:rPr lang="zh-CN" altLang="en-US" dirty="0">
                <a:latin typeface="+mj-ea"/>
                <a:ea typeface="+mj-ea"/>
              </a:rPr>
              <a:t>设置一个栈，将输入符号逐个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移进</a:t>
            </a:r>
            <a:r>
              <a:rPr lang="zh-CN" altLang="en-US" dirty="0">
                <a:latin typeface="+mj-ea"/>
                <a:ea typeface="+mj-ea"/>
              </a:rPr>
              <a:t>栈中，栈顶形成</a:t>
            </a:r>
            <a:r>
              <a:rPr lang="zh-CN" altLang="en-US" b="1" dirty="0">
                <a:solidFill>
                  <a:srgbClr val="0000FF"/>
                </a:solidFill>
                <a:latin typeface="+mj-ea"/>
                <a:ea typeface="+mj-ea"/>
              </a:rPr>
              <a:t>某</a:t>
            </a:r>
            <a:r>
              <a:rPr lang="zh-CN" altLang="en-US" dirty="0">
                <a:latin typeface="+mj-ea"/>
                <a:ea typeface="+mj-ea"/>
              </a:rPr>
              <a:t>产生式的右部时，就用左部去代替，称为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归约</a:t>
            </a:r>
            <a:r>
              <a:rPr lang="zh-CN" altLang="en-US" dirty="0">
                <a:latin typeface="+mj-ea"/>
                <a:ea typeface="+mj-ea"/>
              </a:rPr>
              <a:t>。重复这一过程，直到栈中</a:t>
            </a:r>
            <a:r>
              <a:rPr lang="zh-CN" altLang="en-US" dirty="0">
                <a:solidFill>
                  <a:srgbClr val="FF0000"/>
                </a:solidFill>
                <a:latin typeface="+mj-ea"/>
                <a:ea typeface="+mj-ea"/>
              </a:rPr>
              <a:t>只剩下</a:t>
            </a:r>
            <a:r>
              <a:rPr lang="zh-CN" altLang="en-US" dirty="0">
                <a:latin typeface="+mj-ea"/>
                <a:ea typeface="+mj-ea"/>
              </a:rPr>
              <a:t>文法的</a:t>
            </a:r>
            <a:r>
              <a:rPr lang="zh-CN" altLang="en-US" dirty="0">
                <a:solidFill>
                  <a:srgbClr val="FF0000"/>
                </a:solidFill>
                <a:latin typeface="+mj-ea"/>
                <a:ea typeface="+mj-ea"/>
              </a:rPr>
              <a:t>开始符号</a:t>
            </a:r>
            <a:r>
              <a:rPr lang="zh-CN" altLang="en-US" dirty="0">
                <a:latin typeface="+mj-ea"/>
                <a:ea typeface="+mj-ea"/>
              </a:rPr>
              <a:t>，就确认输入串是文法的</a:t>
            </a:r>
            <a:r>
              <a:rPr lang="zh-CN" altLang="en-US" dirty="0">
                <a:solidFill>
                  <a:srgbClr val="FF0000"/>
                </a:solidFill>
                <a:latin typeface="+mj-ea"/>
                <a:ea typeface="+mj-ea"/>
              </a:rPr>
              <a:t>句子</a:t>
            </a:r>
            <a:r>
              <a:rPr lang="zh-CN" altLang="en-US" dirty="0">
                <a:latin typeface="+mj-ea"/>
                <a:ea typeface="+mj-ea"/>
              </a:rPr>
              <a:t>，分析成功；否则出错。（有文法的产生式形成的一句话）</a:t>
            </a:r>
          </a:p>
          <a:p>
            <a:pPr lvl="1" algn="just" eaLnBrk="1" hangingPunct="1">
              <a:lnSpc>
                <a:spcPct val="105000"/>
              </a:lnSpc>
              <a:spcBef>
                <a:spcPct val="0"/>
              </a:spcBef>
            </a:pPr>
            <a:r>
              <a:rPr lang="zh-CN" altLang="en-US" dirty="0">
                <a:latin typeface="+mj-ea"/>
                <a:ea typeface="+mj-ea"/>
              </a:rPr>
              <a:t>语法树：从</a:t>
            </a:r>
            <a:r>
              <a:rPr lang="zh-CN" altLang="en-US" dirty="0">
                <a:solidFill>
                  <a:srgbClr val="FF0000"/>
                </a:solidFill>
                <a:latin typeface="+mj-ea"/>
                <a:ea typeface="+mj-ea"/>
                <a:sym typeface="Symbol" pitchFamily="18" charset="2"/>
              </a:rPr>
              <a:t>树叶</a:t>
            </a:r>
            <a:r>
              <a:rPr lang="zh-CN" altLang="en-US" dirty="0">
                <a:solidFill>
                  <a:srgbClr val="FF0000"/>
                </a:solidFill>
                <a:latin typeface="+mj-ea"/>
                <a:ea typeface="+mj-ea"/>
              </a:rPr>
              <a:t>开始</a:t>
            </a:r>
            <a:r>
              <a:rPr lang="zh-CN" altLang="en-US" dirty="0">
                <a:latin typeface="+mj-ea"/>
                <a:ea typeface="+mj-ea"/>
              </a:rPr>
              <a:t>，逐步向上归约</a:t>
            </a:r>
            <a:r>
              <a:rPr lang="zh-CN" altLang="en-US" dirty="0">
                <a:solidFill>
                  <a:srgbClr val="000000"/>
                </a:solidFill>
                <a:latin typeface="+mj-ea"/>
                <a:ea typeface="+mj-ea"/>
                <a:sym typeface="Symbol" pitchFamily="18" charset="2"/>
              </a:rPr>
              <a:t>构造分析树</a:t>
            </a:r>
            <a:r>
              <a:rPr lang="zh-CN" altLang="en-US" dirty="0">
                <a:latin typeface="+mj-ea"/>
                <a:ea typeface="+mj-ea"/>
              </a:rPr>
              <a:t>，直到</a:t>
            </a:r>
            <a:r>
              <a:rPr lang="zh-CN" altLang="en-US" dirty="0">
                <a:solidFill>
                  <a:srgbClr val="FF0000"/>
                </a:solidFill>
                <a:latin typeface="+mj-ea"/>
                <a:ea typeface="+mj-ea"/>
              </a:rPr>
              <a:t>形成根结</a:t>
            </a:r>
            <a:r>
              <a:rPr lang="zh-CN" altLang="en-US" dirty="0">
                <a:latin typeface="+mj-ea"/>
                <a:ea typeface="+mj-ea"/>
              </a:rPr>
              <a:t>。是推导的逆过程</a:t>
            </a:r>
            <a:r>
              <a:rPr lang="zh-CN" altLang="en-US" dirty="0">
                <a:solidFill>
                  <a:srgbClr val="000000"/>
                </a:solidFill>
                <a:latin typeface="+mj-ea"/>
                <a:ea typeface="+mj-ea"/>
                <a:sym typeface="Symbol" pitchFamily="18" charset="2"/>
              </a:rPr>
              <a:t>。</a:t>
            </a:r>
            <a:endParaRPr lang="zh-CN" altLang="en-US" dirty="0">
              <a:solidFill>
                <a:srgbClr val="000000"/>
              </a:solidFill>
              <a:latin typeface="+mj-ea"/>
              <a:ea typeface="+mj-ea"/>
            </a:endParaRP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</a:pPr>
            <a:r>
              <a:rPr lang="zh-CN" altLang="en-US" sz="2600" b="1" dirty="0">
                <a:solidFill>
                  <a:schemeClr val="accent2"/>
                </a:solidFill>
                <a:latin typeface="+mj-ea"/>
                <a:ea typeface="+mj-ea"/>
              </a:rPr>
              <a:t>核心</a:t>
            </a:r>
          </a:p>
          <a:p>
            <a:pPr lvl="1" eaLnBrk="1" hangingPunct="1">
              <a:lnSpc>
                <a:spcPct val="105000"/>
              </a:lnSpc>
              <a:spcBef>
                <a:spcPct val="0"/>
              </a:spcBef>
            </a:pPr>
            <a:r>
              <a:rPr lang="zh-CN" altLang="en-US" b="1" dirty="0">
                <a:solidFill>
                  <a:srgbClr val="000000"/>
                </a:solidFill>
                <a:latin typeface="+mj-ea"/>
                <a:ea typeface="+mj-ea"/>
              </a:rPr>
              <a:t>寻找</a:t>
            </a:r>
            <a:r>
              <a:rPr lang="zh-CN" altLang="en-US" b="1" dirty="0">
                <a:solidFill>
                  <a:srgbClr val="0000FF"/>
                </a:solidFill>
                <a:latin typeface="+mj-ea"/>
                <a:ea typeface="+mj-ea"/>
              </a:rPr>
              <a:t>句柄（最左直接短语）</a:t>
            </a:r>
            <a:r>
              <a:rPr lang="zh-CN" altLang="en-US" dirty="0">
                <a:solidFill>
                  <a:srgbClr val="000000"/>
                </a:solidFill>
                <a:latin typeface="+mj-ea"/>
                <a:ea typeface="+mj-ea"/>
              </a:rPr>
              <a:t>进行规约。</a:t>
            </a:r>
            <a:r>
              <a:rPr lang="zh-CN" altLang="en-US" dirty="0">
                <a:latin typeface="+mj-ea"/>
                <a:ea typeface="+mj-ea"/>
              </a:rPr>
              <a:t>用不同的方法寻找句柄，就可获得不同的分析方法。比如</a:t>
            </a:r>
            <a:r>
              <a:rPr lang="zh-CN" altLang="en-US" dirty="0">
                <a:solidFill>
                  <a:srgbClr val="FF0000"/>
                </a:solidFill>
                <a:latin typeface="+mj-ea"/>
                <a:ea typeface="+mj-ea"/>
              </a:rPr>
              <a:t>简单优先分析法和算符优先分析法</a:t>
            </a:r>
            <a:r>
              <a:rPr lang="zh-CN" altLang="en-US" dirty="0">
                <a:latin typeface="+mj-ea"/>
                <a:ea typeface="+mj-ea"/>
              </a:rPr>
              <a:t>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7567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一、自底向上语法分析思想</a:t>
            </a: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755650" y="1385888"/>
            <a:ext cx="712946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 dirty="0">
                <a:solidFill>
                  <a:srgbClr val="800080"/>
                </a:solidFill>
                <a:latin typeface="+mj-ea"/>
                <a:ea typeface="+mj-ea"/>
              </a:rPr>
              <a:t> </a:t>
            </a:r>
            <a:r>
              <a:rPr lang="zh-CN" altLang="en-US" sz="3200" b="1" dirty="0">
                <a:solidFill>
                  <a:srgbClr val="800080"/>
                </a:solidFill>
                <a:latin typeface="+mj-ea"/>
                <a:ea typeface="+mj-ea"/>
              </a:rPr>
              <a:t>句柄</a:t>
            </a:r>
          </a:p>
        </p:txBody>
      </p:sp>
      <p:sp>
        <p:nvSpPr>
          <p:cNvPr id="9" name="Rectangle 18"/>
          <p:cNvSpPr>
            <a:spLocks noChangeArrowheads="1"/>
          </p:cNvSpPr>
          <p:nvPr/>
        </p:nvSpPr>
        <p:spPr bwMode="auto">
          <a:xfrm>
            <a:off x="2401888" y="3060700"/>
            <a:ext cx="298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ClrTx/>
              <a:buFontTx/>
              <a:buNone/>
            </a:pPr>
            <a:r>
              <a:rPr lang="en-US" altLang="zh-CN" sz="1800" b="1">
                <a:ea typeface="华文行楷" pitchFamily="2" charset="-122"/>
                <a:sym typeface="Symbol" pitchFamily="18" charset="2"/>
              </a:rPr>
              <a:t></a:t>
            </a:r>
          </a:p>
        </p:txBody>
      </p:sp>
      <p:sp>
        <p:nvSpPr>
          <p:cNvPr id="10" name="Rectangle 19"/>
          <p:cNvSpPr>
            <a:spLocks noChangeArrowheads="1"/>
          </p:cNvSpPr>
          <p:nvPr/>
        </p:nvSpPr>
        <p:spPr bwMode="auto">
          <a:xfrm>
            <a:off x="2338388" y="3379788"/>
            <a:ext cx="4333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ClrTx/>
              <a:buFontTx/>
              <a:buNone/>
            </a:pPr>
            <a:r>
              <a:rPr lang="en-US" altLang="zh-CN" sz="1600" b="1" i="1">
                <a:latin typeface="Book Antiqua" pitchFamily="18" charset="0"/>
                <a:ea typeface="PMingLiU" pitchFamily="18" charset="-120"/>
                <a:sym typeface="Symbol" pitchFamily="18" charset="2"/>
              </a:rPr>
              <a:t>r</a:t>
            </a:r>
            <a:r>
              <a:rPr lang="en-US" altLang="zh-CN" sz="1600" b="1" i="1">
                <a:latin typeface="Book Antiqua" pitchFamily="18" charset="0"/>
                <a:ea typeface="华文行楷" pitchFamily="2" charset="-122"/>
                <a:sym typeface="Symbol" pitchFamily="18" charset="2"/>
              </a:rPr>
              <a:t>m</a:t>
            </a:r>
          </a:p>
        </p:txBody>
      </p:sp>
      <p:sp>
        <p:nvSpPr>
          <p:cNvPr id="11" name="Rectangle 21"/>
          <p:cNvSpPr>
            <a:spLocks noChangeArrowheads="1"/>
          </p:cNvSpPr>
          <p:nvPr/>
        </p:nvSpPr>
        <p:spPr bwMode="auto">
          <a:xfrm>
            <a:off x="1116013" y="2060575"/>
            <a:ext cx="7632700" cy="210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 dirty="0">
                <a:solidFill>
                  <a:srgbClr val="800080"/>
                </a:solidFill>
                <a:latin typeface="楷体_GB2312" pitchFamily="49" charset="-122"/>
              </a:rPr>
              <a:t> </a:t>
            </a:r>
            <a:r>
              <a:rPr lang="zh-CN" altLang="en-US" sz="2800" b="1" dirty="0"/>
              <a:t>对于文法 </a:t>
            </a:r>
            <a:r>
              <a:rPr lang="en-US" altLang="zh-CN" sz="2800" b="1" i="1" dirty="0"/>
              <a:t>G</a:t>
            </a:r>
            <a:r>
              <a:rPr lang="en-US" altLang="zh-CN" sz="2800" b="1" dirty="0"/>
              <a:t> = (</a:t>
            </a:r>
            <a:r>
              <a:rPr lang="en-US" altLang="zh-CN" sz="2800" b="1" i="1" dirty="0"/>
              <a:t>V</a:t>
            </a:r>
            <a:r>
              <a:rPr lang="en-US" altLang="zh-CN" sz="2800" b="1" i="1" baseline="-25000" dirty="0"/>
              <a:t>N</a:t>
            </a:r>
            <a:r>
              <a:rPr lang="en-US" altLang="zh-CN" sz="2800" b="1" i="1" dirty="0"/>
              <a:t>,</a:t>
            </a:r>
            <a:r>
              <a:rPr lang="en-US" altLang="zh-CN" sz="2800" b="1" dirty="0"/>
              <a:t> </a:t>
            </a:r>
            <a:r>
              <a:rPr lang="en-US" altLang="zh-CN" sz="2800" b="1" i="1" dirty="0"/>
              <a:t>V</a:t>
            </a:r>
            <a:r>
              <a:rPr lang="en-US" altLang="zh-CN" sz="2800" b="1" i="1" baseline="-25000" dirty="0">
                <a:sym typeface="Symbol" pitchFamily="18" charset="2"/>
              </a:rPr>
              <a:t>T</a:t>
            </a:r>
            <a:r>
              <a:rPr lang="en-US" altLang="zh-CN" sz="2800" b="1" i="1" dirty="0"/>
              <a:t>, </a:t>
            </a:r>
            <a:r>
              <a:rPr lang="en-US" altLang="zh-CN" sz="2800" b="1" i="1" dirty="0">
                <a:sym typeface="Symbol" pitchFamily="18" charset="2"/>
              </a:rPr>
              <a:t>P</a:t>
            </a:r>
            <a:r>
              <a:rPr lang="en-US" altLang="zh-CN" sz="2800" b="1" i="1" dirty="0"/>
              <a:t> , S </a:t>
            </a:r>
            <a:r>
              <a:rPr lang="en-US" altLang="zh-CN" sz="2800" b="1" dirty="0"/>
              <a:t>)</a:t>
            </a:r>
            <a:r>
              <a:rPr lang="en-US" altLang="zh-CN" sz="2800" dirty="0"/>
              <a:t> </a:t>
            </a:r>
            <a:r>
              <a:rPr lang="en-US" altLang="zh-CN" sz="2800" b="1" dirty="0"/>
              <a:t>,</a:t>
            </a:r>
            <a:r>
              <a:rPr lang="en-US" altLang="zh-CN" b="1" dirty="0"/>
              <a:t> </a:t>
            </a:r>
            <a:r>
              <a:rPr lang="zh-CN" altLang="en-US" sz="2800" b="1" dirty="0"/>
              <a:t>以及</a:t>
            </a:r>
          </a:p>
          <a:p>
            <a:pPr>
              <a:buClrTx/>
              <a:buFont typeface="Symbol" pitchFamily="18" charset="2"/>
              <a:buNone/>
            </a:pPr>
            <a:r>
              <a:rPr lang="zh-CN" altLang="en-US" b="1" i="1" dirty="0">
                <a:sym typeface="Symbol" pitchFamily="18" charset="2"/>
              </a:rPr>
              <a:t>              </a:t>
            </a:r>
            <a:r>
              <a:rPr lang="zh-CN" altLang="en-US" sz="2800" b="1" i="1" dirty="0">
                <a:sym typeface="Symbol" pitchFamily="18" charset="2"/>
              </a:rPr>
              <a:t> </a:t>
            </a:r>
            <a:r>
              <a:rPr lang="en-US" altLang="zh-CN" sz="2800" b="1" i="1" dirty="0">
                <a:sym typeface="Symbol" pitchFamily="18" charset="2"/>
              </a:rPr>
              <a:t>,</a:t>
            </a:r>
            <a:r>
              <a:rPr kumimoji="0" lang="en-US" altLang="zh-CN" sz="2800" b="1" dirty="0"/>
              <a:t>β</a:t>
            </a:r>
            <a:r>
              <a:rPr lang="en-US" altLang="zh-CN" sz="2800" b="1" dirty="0">
                <a:sym typeface="Symbol" pitchFamily="18" charset="2"/>
              </a:rPr>
              <a:t>(</a:t>
            </a:r>
            <a:r>
              <a:rPr lang="en-US" altLang="zh-CN" sz="2800" b="1" i="1" dirty="0">
                <a:sym typeface="Symbol" pitchFamily="18" charset="2"/>
              </a:rPr>
              <a:t>V</a:t>
            </a:r>
            <a:r>
              <a:rPr lang="en-US" altLang="zh-CN" sz="2800" b="1" i="1" baseline="-25000" dirty="0">
                <a:sym typeface="Symbol" pitchFamily="18" charset="2"/>
              </a:rPr>
              <a:t>N</a:t>
            </a:r>
            <a:r>
              <a:rPr lang="en-US" altLang="zh-CN" sz="2800" b="1" dirty="0">
                <a:sym typeface="Symbol" pitchFamily="18" charset="2"/>
              </a:rPr>
              <a:t></a:t>
            </a:r>
            <a:r>
              <a:rPr lang="en-US" altLang="zh-CN" sz="2800" b="1" i="1" dirty="0">
                <a:sym typeface="Symbol" pitchFamily="18" charset="2"/>
              </a:rPr>
              <a:t>V</a:t>
            </a:r>
            <a:r>
              <a:rPr lang="en-US" altLang="zh-CN" sz="2800" b="1" i="1" baseline="-25000" dirty="0">
                <a:sym typeface="Symbol" pitchFamily="18" charset="2"/>
              </a:rPr>
              <a:t>T</a:t>
            </a:r>
            <a:r>
              <a:rPr lang="en-US" altLang="zh-CN" sz="2800" b="1" i="1" dirty="0">
                <a:sym typeface="Symbol" pitchFamily="18" charset="2"/>
              </a:rPr>
              <a:t>)*</a:t>
            </a:r>
            <a:r>
              <a:rPr lang="en-US" altLang="zh-CN" sz="2800" dirty="0">
                <a:sym typeface="Symbol" pitchFamily="18" charset="2"/>
              </a:rPr>
              <a:t> </a:t>
            </a:r>
            <a:r>
              <a:rPr lang="en-US" altLang="zh-CN" sz="2800" b="1" i="1" dirty="0">
                <a:sym typeface="Symbol" pitchFamily="18" charset="2"/>
              </a:rPr>
              <a:t>,</a:t>
            </a:r>
            <a:r>
              <a:rPr lang="en-US" altLang="zh-CN" sz="2800" dirty="0">
                <a:sym typeface="Symbol" pitchFamily="18" charset="2"/>
              </a:rPr>
              <a:t> </a:t>
            </a:r>
            <a:r>
              <a:rPr lang="en-US" altLang="zh-CN" sz="2800" i="1" dirty="0" err="1">
                <a:sym typeface="Symbol" pitchFamily="18" charset="2"/>
              </a:rPr>
              <a:t>w</a:t>
            </a:r>
            <a:r>
              <a:rPr lang="en-US" altLang="zh-CN" sz="2800" b="1" dirty="0" err="1">
                <a:sym typeface="Symbol" pitchFamily="18" charset="2"/>
              </a:rPr>
              <a:t></a:t>
            </a:r>
            <a:r>
              <a:rPr lang="en-US" altLang="zh-CN" sz="2800" b="1" i="1" dirty="0" err="1">
                <a:sym typeface="Symbol" pitchFamily="18" charset="2"/>
              </a:rPr>
              <a:t>V</a:t>
            </a:r>
            <a:r>
              <a:rPr lang="en-US" altLang="zh-CN" sz="2800" b="1" i="1" baseline="-25000" dirty="0" err="1">
                <a:sym typeface="Symbol" pitchFamily="18" charset="2"/>
              </a:rPr>
              <a:t>T</a:t>
            </a:r>
            <a:r>
              <a:rPr lang="en-US" altLang="zh-CN" sz="2800" b="1" i="1" dirty="0">
                <a:sym typeface="Symbol" pitchFamily="18" charset="2"/>
              </a:rPr>
              <a:t>*</a:t>
            </a:r>
            <a:r>
              <a:rPr lang="en-US" altLang="zh-CN" dirty="0">
                <a:sym typeface="Symbol" pitchFamily="18" charset="2"/>
              </a:rPr>
              <a:t> </a:t>
            </a:r>
            <a:endParaRPr lang="en-US" altLang="zh-CN" dirty="0"/>
          </a:p>
          <a:p>
            <a:pPr>
              <a:buClrTx/>
              <a:buFont typeface="Symbol" pitchFamily="18" charset="2"/>
              <a:buNone/>
            </a:pPr>
            <a:endParaRPr lang="en-US" altLang="zh-CN" sz="1000" dirty="0"/>
          </a:p>
          <a:p>
            <a:pPr>
              <a:buClrTx/>
              <a:buFont typeface="Symbol" pitchFamily="18" charset="2"/>
              <a:buNone/>
            </a:pPr>
            <a:r>
              <a:rPr lang="en-US" altLang="zh-CN" sz="2800" b="1" dirty="0"/>
              <a:t>    </a:t>
            </a:r>
            <a:r>
              <a:rPr lang="zh-CN" altLang="en-US" sz="2800" b="1" dirty="0"/>
              <a:t>若 </a:t>
            </a:r>
            <a:r>
              <a:rPr kumimoji="0" lang="en-US" altLang="zh-CN" sz="2800" b="1" dirty="0"/>
              <a:t>S </a:t>
            </a:r>
            <a:r>
              <a:rPr kumimoji="0" lang="en-US" altLang="zh-CN" sz="2800" dirty="0">
                <a:sym typeface="Symbol" pitchFamily="18" charset="2"/>
              </a:rPr>
              <a:t></a:t>
            </a:r>
            <a:r>
              <a:rPr kumimoji="0" lang="en-US" altLang="zh-CN" sz="2800" b="1" dirty="0"/>
              <a:t>αA</a:t>
            </a:r>
            <a:r>
              <a:rPr lang="en-US" altLang="zh-CN" sz="2800" i="1" dirty="0">
                <a:sym typeface="Symbol" pitchFamily="18" charset="2"/>
              </a:rPr>
              <a:t>w</a:t>
            </a:r>
            <a:r>
              <a:rPr lang="en-US" altLang="zh-CN" sz="2800" b="1" i="1" dirty="0">
                <a:sym typeface="Symbol" pitchFamily="18" charset="2"/>
              </a:rPr>
              <a:t> </a:t>
            </a:r>
            <a:r>
              <a:rPr kumimoji="0" lang="zh-CN" altLang="en-US" sz="2800" b="1" dirty="0"/>
              <a:t>且  </a:t>
            </a:r>
            <a:r>
              <a:rPr kumimoji="0" lang="en-US" altLang="zh-CN" sz="2800" b="1" dirty="0"/>
              <a:t>A </a:t>
            </a:r>
            <a:r>
              <a:rPr kumimoji="0" lang="en-US" altLang="zh-CN" dirty="0">
                <a:sym typeface="Symbol" pitchFamily="18" charset="2"/>
              </a:rPr>
              <a:t></a:t>
            </a:r>
            <a:r>
              <a:rPr kumimoji="0" lang="en-US" altLang="zh-CN" sz="2800" b="1" dirty="0"/>
              <a:t>β</a:t>
            </a:r>
            <a:r>
              <a:rPr kumimoji="0" lang="zh-CN" altLang="en-US" sz="2800" b="1" dirty="0"/>
              <a:t>，则称</a:t>
            </a:r>
          </a:p>
          <a:p>
            <a:pPr>
              <a:buClrTx/>
              <a:buFont typeface="Symbol" pitchFamily="18" charset="2"/>
              <a:buNone/>
            </a:pPr>
            <a:endParaRPr kumimoji="0" lang="zh-CN" altLang="en-US" sz="1000" b="1" dirty="0"/>
          </a:p>
          <a:p>
            <a:pPr>
              <a:buClrTx/>
              <a:buFont typeface="Symbol" pitchFamily="18" charset="2"/>
              <a:buNone/>
            </a:pPr>
            <a:r>
              <a:rPr kumimoji="0" lang="zh-CN" altLang="en-US" sz="2800" b="1" dirty="0"/>
              <a:t>    </a:t>
            </a:r>
            <a:r>
              <a:rPr kumimoji="0" lang="en-US" altLang="zh-CN" sz="2800" b="1" dirty="0">
                <a:solidFill>
                  <a:srgbClr val="800080"/>
                </a:solidFill>
              </a:rPr>
              <a:t>β</a:t>
            </a:r>
            <a:r>
              <a:rPr kumimoji="0" lang="zh-CN" altLang="en-US" sz="2800" b="1" dirty="0">
                <a:solidFill>
                  <a:srgbClr val="800080"/>
                </a:solidFill>
              </a:rPr>
              <a:t>是右句型</a:t>
            </a:r>
            <a:r>
              <a:rPr kumimoji="0" lang="en-US" altLang="zh-CN" sz="2800" b="1" dirty="0">
                <a:solidFill>
                  <a:srgbClr val="800080"/>
                </a:solidFill>
              </a:rPr>
              <a:t>αβ</a:t>
            </a:r>
            <a:r>
              <a:rPr kumimoji="0" lang="en-US" altLang="zh-CN" sz="2800" i="1" dirty="0">
                <a:solidFill>
                  <a:srgbClr val="800080"/>
                </a:solidFill>
              </a:rPr>
              <a:t>w</a:t>
            </a:r>
            <a:r>
              <a:rPr kumimoji="0" lang="en-US" altLang="zh-CN" sz="2800" b="1" i="1" dirty="0">
                <a:solidFill>
                  <a:srgbClr val="800080"/>
                </a:solidFill>
              </a:rPr>
              <a:t> </a:t>
            </a:r>
            <a:r>
              <a:rPr kumimoji="0" lang="zh-CN" altLang="en-US" sz="2800" b="1" dirty="0">
                <a:solidFill>
                  <a:srgbClr val="800080"/>
                </a:solidFill>
              </a:rPr>
              <a:t>相对于非终结符 </a:t>
            </a:r>
            <a:r>
              <a:rPr kumimoji="0" lang="en-US" altLang="zh-CN" sz="2800" b="1" dirty="0">
                <a:solidFill>
                  <a:srgbClr val="800080"/>
                </a:solidFill>
              </a:rPr>
              <a:t>A </a:t>
            </a:r>
            <a:r>
              <a:rPr kumimoji="0" lang="zh-CN" altLang="en-US" sz="2800" b="1" dirty="0">
                <a:solidFill>
                  <a:srgbClr val="800080"/>
                </a:solidFill>
              </a:rPr>
              <a:t>的句柄</a:t>
            </a:r>
          </a:p>
        </p:txBody>
      </p:sp>
      <p:sp>
        <p:nvSpPr>
          <p:cNvPr id="12" name="Text Box 23"/>
          <p:cNvSpPr txBox="1">
            <a:spLocks noChangeArrowheads="1"/>
          </p:cNvSpPr>
          <p:nvPr/>
        </p:nvSpPr>
        <p:spPr bwMode="auto">
          <a:xfrm>
            <a:off x="755650" y="4365625"/>
            <a:ext cx="68405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en-US" altLang="zh-CN" sz="3200" b="1" dirty="0">
                <a:solidFill>
                  <a:srgbClr val="800080"/>
                </a:solidFill>
                <a:latin typeface="+mj-ea"/>
                <a:ea typeface="+mj-ea"/>
              </a:rPr>
              <a:t>  </a:t>
            </a:r>
            <a:r>
              <a:rPr lang="zh-CN" altLang="en-US" sz="3200" b="1" dirty="0">
                <a:solidFill>
                  <a:srgbClr val="800080"/>
                </a:solidFill>
                <a:latin typeface="+mj-ea"/>
                <a:ea typeface="+mj-ea"/>
              </a:rPr>
              <a:t>句柄的作用</a:t>
            </a:r>
            <a:endParaRPr lang="zh-CN" altLang="en-US" sz="3200" b="1" dirty="0">
              <a:latin typeface="+mj-ea"/>
              <a:ea typeface="+mj-ea"/>
            </a:endParaRPr>
          </a:p>
        </p:txBody>
      </p:sp>
      <p:sp>
        <p:nvSpPr>
          <p:cNvPr id="13" name="Rectangle 24"/>
          <p:cNvSpPr>
            <a:spLocks noChangeArrowheads="1"/>
          </p:cNvSpPr>
          <p:nvPr/>
        </p:nvSpPr>
        <p:spPr bwMode="auto">
          <a:xfrm>
            <a:off x="1116013" y="5067300"/>
            <a:ext cx="7848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  <a:buFont typeface="Symbol" pitchFamily="18" charset="2"/>
              <a:buChar char="-"/>
            </a:pPr>
            <a:r>
              <a:rPr lang="en-US" altLang="zh-CN" sz="2800" b="1" dirty="0">
                <a:solidFill>
                  <a:srgbClr val="800080"/>
                </a:solidFill>
                <a:latin typeface="+mj-ea"/>
                <a:ea typeface="+mj-ea"/>
              </a:rPr>
              <a:t> </a:t>
            </a:r>
            <a:r>
              <a:rPr lang="zh-CN" altLang="en-US" sz="2800" b="1" dirty="0">
                <a:latin typeface="+mj-ea"/>
                <a:ea typeface="+mj-ea"/>
              </a:rPr>
              <a:t>当前句型从左到右最先出现的“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一步可归约串</a:t>
            </a:r>
            <a:r>
              <a:rPr lang="zh-CN" altLang="en-US" sz="2800" b="1" dirty="0">
                <a:latin typeface="+mj-ea"/>
                <a:ea typeface="+mj-ea"/>
              </a:rPr>
              <a:t>”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1264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第五章 自底向上优先分析</a:t>
            </a:r>
          </a:p>
        </p:txBody>
      </p:sp>
      <p:sp>
        <p:nvSpPr>
          <p:cNvPr id="4" name="Freeform 6"/>
          <p:cNvSpPr>
            <a:spLocks/>
          </p:cNvSpPr>
          <p:nvPr/>
        </p:nvSpPr>
        <p:spPr bwMode="auto">
          <a:xfrm>
            <a:off x="1072753" y="1869268"/>
            <a:ext cx="1073042" cy="714123"/>
          </a:xfrm>
          <a:custGeom>
            <a:avLst/>
            <a:gdLst/>
            <a:ahLst/>
            <a:cxnLst>
              <a:cxn ang="0">
                <a:pos x="211" y="73"/>
              </a:cxn>
              <a:cxn ang="0">
                <a:pos x="192" y="80"/>
              </a:cxn>
              <a:cxn ang="0">
                <a:pos x="189" y="82"/>
              </a:cxn>
              <a:cxn ang="0">
                <a:pos x="180" y="86"/>
              </a:cxn>
              <a:cxn ang="0">
                <a:pos x="172" y="85"/>
              </a:cxn>
              <a:cxn ang="0">
                <a:pos x="172" y="0"/>
              </a:cxn>
              <a:cxn ang="0">
                <a:pos x="0" y="0"/>
              </a:cxn>
              <a:cxn ang="0">
                <a:pos x="0" y="190"/>
              </a:cxn>
              <a:cxn ang="0">
                <a:pos x="172" y="190"/>
              </a:cxn>
              <a:cxn ang="0">
                <a:pos x="172" y="117"/>
              </a:cxn>
              <a:cxn ang="0">
                <a:pos x="179" y="116"/>
              </a:cxn>
              <a:cxn ang="0">
                <a:pos x="190" y="120"/>
              </a:cxn>
              <a:cxn ang="0">
                <a:pos x="211" y="128"/>
              </a:cxn>
              <a:cxn ang="0">
                <a:pos x="241" y="101"/>
              </a:cxn>
              <a:cxn ang="0">
                <a:pos x="211" y="73"/>
              </a:cxn>
            </a:cxnLst>
            <a:rect l="0" t="0" r="r" b="b"/>
            <a:pathLst>
              <a:path w="241" h="190">
                <a:moveTo>
                  <a:pt x="211" y="73"/>
                </a:moveTo>
                <a:cubicBezTo>
                  <a:pt x="204" y="73"/>
                  <a:pt x="197" y="76"/>
                  <a:pt x="192" y="80"/>
                </a:cubicBezTo>
                <a:cubicBezTo>
                  <a:pt x="191" y="81"/>
                  <a:pt x="190" y="82"/>
                  <a:pt x="189" y="82"/>
                </a:cubicBezTo>
                <a:cubicBezTo>
                  <a:pt x="187" y="84"/>
                  <a:pt x="183" y="86"/>
                  <a:pt x="180" y="86"/>
                </a:cubicBezTo>
                <a:cubicBezTo>
                  <a:pt x="176" y="86"/>
                  <a:pt x="174" y="86"/>
                  <a:pt x="172" y="85"/>
                </a:cubicBezTo>
                <a:cubicBezTo>
                  <a:pt x="172" y="0"/>
                  <a:pt x="172" y="0"/>
                  <a:pt x="17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90"/>
                  <a:pt x="0" y="190"/>
                  <a:pt x="0" y="190"/>
                </a:cubicBezTo>
                <a:cubicBezTo>
                  <a:pt x="172" y="190"/>
                  <a:pt x="172" y="190"/>
                  <a:pt x="172" y="190"/>
                </a:cubicBezTo>
                <a:cubicBezTo>
                  <a:pt x="172" y="117"/>
                  <a:pt x="172" y="117"/>
                  <a:pt x="172" y="117"/>
                </a:cubicBezTo>
                <a:cubicBezTo>
                  <a:pt x="175" y="116"/>
                  <a:pt x="176" y="116"/>
                  <a:pt x="179" y="116"/>
                </a:cubicBezTo>
                <a:cubicBezTo>
                  <a:pt x="183" y="116"/>
                  <a:pt x="188" y="118"/>
                  <a:pt x="190" y="120"/>
                </a:cubicBezTo>
                <a:cubicBezTo>
                  <a:pt x="192" y="122"/>
                  <a:pt x="202" y="128"/>
                  <a:pt x="211" y="128"/>
                </a:cubicBezTo>
                <a:cubicBezTo>
                  <a:pt x="228" y="128"/>
                  <a:pt x="241" y="116"/>
                  <a:pt x="241" y="101"/>
                </a:cubicBezTo>
                <a:cubicBezTo>
                  <a:pt x="241" y="86"/>
                  <a:pt x="228" y="73"/>
                  <a:pt x="211" y="73"/>
                </a:cubicBezTo>
                <a:close/>
              </a:path>
            </a:pathLst>
          </a:custGeom>
          <a:solidFill>
            <a:srgbClr val="80B3FF"/>
          </a:solidFill>
          <a:ln w="9525">
            <a:noFill/>
            <a:round/>
            <a:headEnd/>
            <a:tailEnd/>
          </a:ln>
          <a:effectLst>
            <a:reflection blurRad="6350" stA="19000" endPos="53000" dir="5400000" sy="-100000" algn="bl" rotWithShape="0"/>
          </a:effectLst>
        </p:spPr>
        <p:txBody>
          <a:bodyPr vert="horz" wrap="square" lIns="0" tIns="45720" rIns="288000" bIns="45720" numCol="1" anchor="ctr" anchorCtr="1" compatLnSpc="1">
            <a:prstTxWarp prst="textNoShape">
              <a:avLst/>
            </a:prstTxWarp>
          </a:bodyPr>
          <a:lstStyle/>
          <a:p>
            <a:r>
              <a:rPr lang="en-US" sz="32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ru-RU" sz="32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Freeform 7"/>
          <p:cNvSpPr>
            <a:spLocks/>
          </p:cNvSpPr>
          <p:nvPr/>
        </p:nvSpPr>
        <p:spPr bwMode="auto">
          <a:xfrm>
            <a:off x="2411733" y="1869268"/>
            <a:ext cx="5498327" cy="714123"/>
          </a:xfrm>
          <a:custGeom>
            <a:avLst/>
            <a:gdLst/>
            <a:ahLst/>
            <a:cxnLst>
              <a:cxn ang="0">
                <a:pos x="803" y="0"/>
              </a:cxn>
              <a:cxn ang="0">
                <a:pos x="792" y="0"/>
              </a:cxn>
              <a:cxn ang="0">
                <a:pos x="644" y="0"/>
              </a:cxn>
              <a:cxn ang="0">
                <a:pos x="634" y="0"/>
              </a:cxn>
              <a:cxn ang="0">
                <a:pos x="494" y="0"/>
              </a:cxn>
              <a:cxn ang="0">
                <a:pos x="476" y="0"/>
              </a:cxn>
              <a:cxn ang="0">
                <a:pos x="331" y="0"/>
              </a:cxn>
              <a:cxn ang="0">
                <a:pos x="325" y="0"/>
              </a:cxn>
              <a:cxn ang="0">
                <a:pos x="169" y="0"/>
              </a:cxn>
              <a:cxn ang="0">
                <a:pos x="163" y="0"/>
              </a:cxn>
              <a:cxn ang="0">
                <a:pos x="0" y="0"/>
              </a:cxn>
              <a:cxn ang="0">
                <a:pos x="0" y="82"/>
              </a:cxn>
              <a:cxn ang="0">
                <a:pos x="6" y="79"/>
              </a:cxn>
              <a:cxn ang="0">
                <a:pos x="9" y="77"/>
              </a:cxn>
              <a:cxn ang="0">
                <a:pos x="31" y="69"/>
              </a:cxn>
              <a:cxn ang="0">
                <a:pos x="65" y="101"/>
              </a:cxn>
              <a:cxn ang="0">
                <a:pos x="31" y="133"/>
              </a:cxn>
              <a:cxn ang="0">
                <a:pos x="7" y="123"/>
              </a:cxn>
              <a:cxn ang="0">
                <a:pos x="0" y="120"/>
              </a:cxn>
              <a:cxn ang="0">
                <a:pos x="0" y="190"/>
              </a:cxn>
              <a:cxn ang="0">
                <a:pos x="163" y="190"/>
              </a:cxn>
              <a:cxn ang="0">
                <a:pos x="169" y="190"/>
              </a:cxn>
              <a:cxn ang="0">
                <a:pos x="325" y="190"/>
              </a:cxn>
              <a:cxn ang="0">
                <a:pos x="331" y="190"/>
              </a:cxn>
              <a:cxn ang="0">
                <a:pos x="476" y="190"/>
              </a:cxn>
              <a:cxn ang="0">
                <a:pos x="494" y="190"/>
              </a:cxn>
              <a:cxn ang="0">
                <a:pos x="634" y="190"/>
              </a:cxn>
              <a:cxn ang="0">
                <a:pos x="644" y="190"/>
              </a:cxn>
              <a:cxn ang="0">
                <a:pos x="792" y="190"/>
              </a:cxn>
              <a:cxn ang="0">
                <a:pos x="803" y="190"/>
              </a:cxn>
              <a:cxn ang="0">
                <a:pos x="965" y="190"/>
              </a:cxn>
              <a:cxn ang="0">
                <a:pos x="965" y="0"/>
              </a:cxn>
              <a:cxn ang="0">
                <a:pos x="803" y="0"/>
              </a:cxn>
            </a:cxnLst>
            <a:rect l="0" t="0" r="r" b="b"/>
            <a:pathLst>
              <a:path w="965" h="190">
                <a:moveTo>
                  <a:pt x="803" y="0"/>
                </a:moveTo>
                <a:cubicBezTo>
                  <a:pt x="792" y="0"/>
                  <a:pt x="792" y="0"/>
                  <a:pt x="792" y="0"/>
                </a:cubicBezTo>
                <a:cubicBezTo>
                  <a:pt x="644" y="0"/>
                  <a:pt x="644" y="0"/>
                  <a:pt x="644" y="0"/>
                </a:cubicBezTo>
                <a:cubicBezTo>
                  <a:pt x="634" y="0"/>
                  <a:pt x="634" y="0"/>
                  <a:pt x="634" y="0"/>
                </a:cubicBezTo>
                <a:cubicBezTo>
                  <a:pt x="494" y="0"/>
                  <a:pt x="494" y="0"/>
                  <a:pt x="494" y="0"/>
                </a:cubicBezTo>
                <a:cubicBezTo>
                  <a:pt x="476" y="0"/>
                  <a:pt x="476" y="0"/>
                  <a:pt x="476" y="0"/>
                </a:cubicBezTo>
                <a:cubicBezTo>
                  <a:pt x="331" y="0"/>
                  <a:pt x="331" y="0"/>
                  <a:pt x="331" y="0"/>
                </a:cubicBezTo>
                <a:cubicBezTo>
                  <a:pt x="325" y="0"/>
                  <a:pt x="325" y="0"/>
                  <a:pt x="325" y="0"/>
                </a:cubicBezTo>
                <a:cubicBezTo>
                  <a:pt x="169" y="0"/>
                  <a:pt x="169" y="0"/>
                  <a:pt x="169" y="0"/>
                </a:cubicBezTo>
                <a:cubicBezTo>
                  <a:pt x="163" y="0"/>
                  <a:pt x="163" y="0"/>
                  <a:pt x="16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2"/>
                  <a:pt x="0" y="82"/>
                  <a:pt x="0" y="82"/>
                </a:cubicBezTo>
                <a:cubicBezTo>
                  <a:pt x="2" y="81"/>
                  <a:pt x="4" y="81"/>
                  <a:pt x="6" y="79"/>
                </a:cubicBezTo>
                <a:cubicBezTo>
                  <a:pt x="7" y="78"/>
                  <a:pt x="8" y="78"/>
                  <a:pt x="9" y="77"/>
                </a:cubicBezTo>
                <a:cubicBezTo>
                  <a:pt x="15" y="72"/>
                  <a:pt x="22" y="69"/>
                  <a:pt x="31" y="69"/>
                </a:cubicBezTo>
                <a:cubicBezTo>
                  <a:pt x="50" y="69"/>
                  <a:pt x="65" y="83"/>
                  <a:pt x="65" y="101"/>
                </a:cubicBezTo>
                <a:cubicBezTo>
                  <a:pt x="65" y="118"/>
                  <a:pt x="50" y="133"/>
                  <a:pt x="31" y="133"/>
                </a:cubicBezTo>
                <a:cubicBezTo>
                  <a:pt x="21" y="133"/>
                  <a:pt x="9" y="125"/>
                  <a:pt x="7" y="123"/>
                </a:cubicBezTo>
                <a:cubicBezTo>
                  <a:pt x="5" y="122"/>
                  <a:pt x="3" y="121"/>
                  <a:pt x="0" y="120"/>
                </a:cubicBezTo>
                <a:cubicBezTo>
                  <a:pt x="0" y="190"/>
                  <a:pt x="0" y="190"/>
                  <a:pt x="0" y="190"/>
                </a:cubicBezTo>
                <a:cubicBezTo>
                  <a:pt x="163" y="190"/>
                  <a:pt x="163" y="190"/>
                  <a:pt x="163" y="190"/>
                </a:cubicBezTo>
                <a:cubicBezTo>
                  <a:pt x="169" y="190"/>
                  <a:pt x="169" y="190"/>
                  <a:pt x="169" y="190"/>
                </a:cubicBezTo>
                <a:cubicBezTo>
                  <a:pt x="325" y="190"/>
                  <a:pt x="325" y="190"/>
                  <a:pt x="325" y="190"/>
                </a:cubicBezTo>
                <a:cubicBezTo>
                  <a:pt x="331" y="190"/>
                  <a:pt x="331" y="190"/>
                  <a:pt x="331" y="190"/>
                </a:cubicBezTo>
                <a:cubicBezTo>
                  <a:pt x="476" y="190"/>
                  <a:pt x="476" y="190"/>
                  <a:pt x="476" y="190"/>
                </a:cubicBezTo>
                <a:cubicBezTo>
                  <a:pt x="494" y="190"/>
                  <a:pt x="494" y="190"/>
                  <a:pt x="494" y="190"/>
                </a:cubicBezTo>
                <a:cubicBezTo>
                  <a:pt x="634" y="190"/>
                  <a:pt x="634" y="190"/>
                  <a:pt x="634" y="190"/>
                </a:cubicBezTo>
                <a:cubicBezTo>
                  <a:pt x="644" y="190"/>
                  <a:pt x="644" y="190"/>
                  <a:pt x="644" y="190"/>
                </a:cubicBezTo>
                <a:cubicBezTo>
                  <a:pt x="792" y="190"/>
                  <a:pt x="792" y="190"/>
                  <a:pt x="792" y="190"/>
                </a:cubicBezTo>
                <a:cubicBezTo>
                  <a:pt x="803" y="190"/>
                  <a:pt x="803" y="190"/>
                  <a:pt x="803" y="190"/>
                </a:cubicBezTo>
                <a:cubicBezTo>
                  <a:pt x="965" y="190"/>
                  <a:pt x="965" y="190"/>
                  <a:pt x="965" y="190"/>
                </a:cubicBezTo>
                <a:cubicBezTo>
                  <a:pt x="965" y="0"/>
                  <a:pt x="965" y="0"/>
                  <a:pt x="965" y="0"/>
                </a:cubicBezTo>
                <a:lnTo>
                  <a:pt x="803" y="0"/>
                </a:lnTo>
                <a:close/>
              </a:path>
            </a:pathLst>
          </a:custGeom>
          <a:solidFill>
            <a:srgbClr val="80B3FF"/>
          </a:solidFill>
          <a:ln w="9525">
            <a:noFill/>
            <a:round/>
            <a:headEnd/>
            <a:tailEnd/>
          </a:ln>
          <a:effectLst>
            <a:reflection blurRad="6350" stA="19000" endPos="53000" dir="5400000" sy="-100000" algn="bl" rotWithShape="0"/>
          </a:effec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r>
              <a:rPr lang="zh-CN" altLang="en-US" sz="2800" b="1" kern="0" dirty="0">
                <a:solidFill>
                  <a:srgbClr val="FFFFFF"/>
                </a:solidFill>
                <a:latin typeface="+mj-ea"/>
              </a:rPr>
              <a:t>自底向上语法分析思想</a:t>
            </a:r>
          </a:p>
        </p:txBody>
      </p:sp>
      <p:sp>
        <p:nvSpPr>
          <p:cNvPr id="6" name="Freeform 6"/>
          <p:cNvSpPr>
            <a:spLocks/>
          </p:cNvSpPr>
          <p:nvPr/>
        </p:nvSpPr>
        <p:spPr bwMode="auto">
          <a:xfrm>
            <a:off x="1072753" y="2733364"/>
            <a:ext cx="1073042" cy="714123"/>
          </a:xfrm>
          <a:custGeom>
            <a:avLst/>
            <a:gdLst/>
            <a:ahLst/>
            <a:cxnLst>
              <a:cxn ang="0">
                <a:pos x="211" y="73"/>
              </a:cxn>
              <a:cxn ang="0">
                <a:pos x="192" y="80"/>
              </a:cxn>
              <a:cxn ang="0">
                <a:pos x="189" y="82"/>
              </a:cxn>
              <a:cxn ang="0">
                <a:pos x="180" y="86"/>
              </a:cxn>
              <a:cxn ang="0">
                <a:pos x="172" y="85"/>
              </a:cxn>
              <a:cxn ang="0">
                <a:pos x="172" y="0"/>
              </a:cxn>
              <a:cxn ang="0">
                <a:pos x="0" y="0"/>
              </a:cxn>
              <a:cxn ang="0">
                <a:pos x="0" y="190"/>
              </a:cxn>
              <a:cxn ang="0">
                <a:pos x="172" y="190"/>
              </a:cxn>
              <a:cxn ang="0">
                <a:pos x="172" y="117"/>
              </a:cxn>
              <a:cxn ang="0">
                <a:pos x="179" y="116"/>
              </a:cxn>
              <a:cxn ang="0">
                <a:pos x="190" y="120"/>
              </a:cxn>
              <a:cxn ang="0">
                <a:pos x="211" y="128"/>
              </a:cxn>
              <a:cxn ang="0">
                <a:pos x="241" y="101"/>
              </a:cxn>
              <a:cxn ang="0">
                <a:pos x="211" y="73"/>
              </a:cxn>
            </a:cxnLst>
            <a:rect l="0" t="0" r="r" b="b"/>
            <a:pathLst>
              <a:path w="241" h="190">
                <a:moveTo>
                  <a:pt x="211" y="73"/>
                </a:moveTo>
                <a:cubicBezTo>
                  <a:pt x="204" y="73"/>
                  <a:pt x="197" y="76"/>
                  <a:pt x="192" y="80"/>
                </a:cubicBezTo>
                <a:cubicBezTo>
                  <a:pt x="191" y="81"/>
                  <a:pt x="190" y="82"/>
                  <a:pt x="189" y="82"/>
                </a:cubicBezTo>
                <a:cubicBezTo>
                  <a:pt x="187" y="84"/>
                  <a:pt x="183" y="86"/>
                  <a:pt x="180" y="86"/>
                </a:cubicBezTo>
                <a:cubicBezTo>
                  <a:pt x="176" y="86"/>
                  <a:pt x="174" y="86"/>
                  <a:pt x="172" y="85"/>
                </a:cubicBezTo>
                <a:cubicBezTo>
                  <a:pt x="172" y="0"/>
                  <a:pt x="172" y="0"/>
                  <a:pt x="17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90"/>
                  <a:pt x="0" y="190"/>
                  <a:pt x="0" y="190"/>
                </a:cubicBezTo>
                <a:cubicBezTo>
                  <a:pt x="172" y="190"/>
                  <a:pt x="172" y="190"/>
                  <a:pt x="172" y="190"/>
                </a:cubicBezTo>
                <a:cubicBezTo>
                  <a:pt x="172" y="117"/>
                  <a:pt x="172" y="117"/>
                  <a:pt x="172" y="117"/>
                </a:cubicBezTo>
                <a:cubicBezTo>
                  <a:pt x="175" y="116"/>
                  <a:pt x="176" y="116"/>
                  <a:pt x="179" y="116"/>
                </a:cubicBezTo>
                <a:cubicBezTo>
                  <a:pt x="183" y="116"/>
                  <a:pt x="188" y="118"/>
                  <a:pt x="190" y="120"/>
                </a:cubicBezTo>
                <a:cubicBezTo>
                  <a:pt x="192" y="122"/>
                  <a:pt x="202" y="128"/>
                  <a:pt x="211" y="128"/>
                </a:cubicBezTo>
                <a:cubicBezTo>
                  <a:pt x="228" y="128"/>
                  <a:pt x="241" y="116"/>
                  <a:pt x="241" y="101"/>
                </a:cubicBezTo>
                <a:cubicBezTo>
                  <a:pt x="241" y="86"/>
                  <a:pt x="228" y="73"/>
                  <a:pt x="211" y="73"/>
                </a:cubicBezTo>
                <a:close/>
              </a:path>
            </a:pathLst>
          </a:custGeom>
          <a:solidFill>
            <a:srgbClr val="0066FF"/>
          </a:solidFill>
          <a:ln w="9525">
            <a:noFill/>
            <a:round/>
            <a:headEnd/>
            <a:tailEnd/>
          </a:ln>
          <a:effectLst>
            <a:reflection blurRad="6350" stA="19000" endPos="53000" dir="5400000" sy="-100000" algn="bl" rotWithShape="0"/>
          </a:effectLst>
        </p:spPr>
        <p:txBody>
          <a:bodyPr vert="horz" wrap="square" lIns="0" tIns="45720" rIns="288000" bIns="45720" numCol="1" anchor="ctr" anchorCtr="1" compatLnSpc="1">
            <a:prstTxWarp prst="textNoShape">
              <a:avLst/>
            </a:prstTxWarp>
          </a:bodyPr>
          <a:lstStyle/>
          <a:p>
            <a:r>
              <a:rPr lang="en-US" sz="32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ru-RU" sz="32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>
            <a:off x="1072753" y="3597460"/>
            <a:ext cx="1073042" cy="714123"/>
          </a:xfrm>
          <a:custGeom>
            <a:avLst/>
            <a:gdLst/>
            <a:ahLst/>
            <a:cxnLst>
              <a:cxn ang="0">
                <a:pos x="211" y="73"/>
              </a:cxn>
              <a:cxn ang="0">
                <a:pos x="192" y="80"/>
              </a:cxn>
              <a:cxn ang="0">
                <a:pos x="189" y="82"/>
              </a:cxn>
              <a:cxn ang="0">
                <a:pos x="180" y="86"/>
              </a:cxn>
              <a:cxn ang="0">
                <a:pos x="172" y="85"/>
              </a:cxn>
              <a:cxn ang="0">
                <a:pos x="172" y="0"/>
              </a:cxn>
              <a:cxn ang="0">
                <a:pos x="0" y="0"/>
              </a:cxn>
              <a:cxn ang="0">
                <a:pos x="0" y="190"/>
              </a:cxn>
              <a:cxn ang="0">
                <a:pos x="172" y="190"/>
              </a:cxn>
              <a:cxn ang="0">
                <a:pos x="172" y="117"/>
              </a:cxn>
              <a:cxn ang="0">
                <a:pos x="179" y="116"/>
              </a:cxn>
              <a:cxn ang="0">
                <a:pos x="190" y="120"/>
              </a:cxn>
              <a:cxn ang="0">
                <a:pos x="211" y="128"/>
              </a:cxn>
              <a:cxn ang="0">
                <a:pos x="241" y="101"/>
              </a:cxn>
              <a:cxn ang="0">
                <a:pos x="211" y="73"/>
              </a:cxn>
            </a:cxnLst>
            <a:rect l="0" t="0" r="r" b="b"/>
            <a:pathLst>
              <a:path w="241" h="190">
                <a:moveTo>
                  <a:pt x="211" y="73"/>
                </a:moveTo>
                <a:cubicBezTo>
                  <a:pt x="204" y="73"/>
                  <a:pt x="197" y="76"/>
                  <a:pt x="192" y="80"/>
                </a:cubicBezTo>
                <a:cubicBezTo>
                  <a:pt x="191" y="81"/>
                  <a:pt x="190" y="82"/>
                  <a:pt x="189" y="82"/>
                </a:cubicBezTo>
                <a:cubicBezTo>
                  <a:pt x="187" y="84"/>
                  <a:pt x="183" y="86"/>
                  <a:pt x="180" y="86"/>
                </a:cubicBezTo>
                <a:cubicBezTo>
                  <a:pt x="176" y="86"/>
                  <a:pt x="174" y="86"/>
                  <a:pt x="172" y="85"/>
                </a:cubicBezTo>
                <a:cubicBezTo>
                  <a:pt x="172" y="0"/>
                  <a:pt x="172" y="0"/>
                  <a:pt x="17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90"/>
                  <a:pt x="0" y="190"/>
                  <a:pt x="0" y="190"/>
                </a:cubicBezTo>
                <a:cubicBezTo>
                  <a:pt x="172" y="190"/>
                  <a:pt x="172" y="190"/>
                  <a:pt x="172" y="190"/>
                </a:cubicBezTo>
                <a:cubicBezTo>
                  <a:pt x="172" y="117"/>
                  <a:pt x="172" y="117"/>
                  <a:pt x="172" y="117"/>
                </a:cubicBezTo>
                <a:cubicBezTo>
                  <a:pt x="175" y="116"/>
                  <a:pt x="176" y="116"/>
                  <a:pt x="179" y="116"/>
                </a:cubicBezTo>
                <a:cubicBezTo>
                  <a:pt x="183" y="116"/>
                  <a:pt x="188" y="118"/>
                  <a:pt x="190" y="120"/>
                </a:cubicBezTo>
                <a:cubicBezTo>
                  <a:pt x="192" y="122"/>
                  <a:pt x="202" y="128"/>
                  <a:pt x="211" y="128"/>
                </a:cubicBezTo>
                <a:cubicBezTo>
                  <a:pt x="228" y="128"/>
                  <a:pt x="241" y="116"/>
                  <a:pt x="241" y="101"/>
                </a:cubicBezTo>
                <a:cubicBezTo>
                  <a:pt x="241" y="86"/>
                  <a:pt x="228" y="73"/>
                  <a:pt x="211" y="73"/>
                </a:cubicBezTo>
                <a:close/>
              </a:path>
            </a:pathLst>
          </a:custGeom>
          <a:solidFill>
            <a:srgbClr val="80B3FF"/>
          </a:solidFill>
          <a:ln w="9525">
            <a:noFill/>
            <a:round/>
            <a:headEnd/>
            <a:tailEnd/>
          </a:ln>
          <a:effectLst>
            <a:reflection blurRad="6350" stA="19000" endPos="53000" dir="5400000" sy="-100000" algn="bl" rotWithShape="0"/>
          </a:effectLst>
        </p:spPr>
        <p:txBody>
          <a:bodyPr vert="horz" wrap="square" lIns="0" tIns="45720" rIns="288000" bIns="45720" numCol="1" anchor="ctr" anchorCtr="1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kumimoji="0" lang="ru-RU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2411733" y="2733363"/>
            <a:ext cx="5498327" cy="714123"/>
          </a:xfrm>
          <a:custGeom>
            <a:avLst/>
            <a:gdLst/>
            <a:ahLst/>
            <a:cxnLst>
              <a:cxn ang="0">
                <a:pos x="803" y="0"/>
              </a:cxn>
              <a:cxn ang="0">
                <a:pos x="792" y="0"/>
              </a:cxn>
              <a:cxn ang="0">
                <a:pos x="644" y="0"/>
              </a:cxn>
              <a:cxn ang="0">
                <a:pos x="634" y="0"/>
              </a:cxn>
              <a:cxn ang="0">
                <a:pos x="494" y="0"/>
              </a:cxn>
              <a:cxn ang="0">
                <a:pos x="476" y="0"/>
              </a:cxn>
              <a:cxn ang="0">
                <a:pos x="331" y="0"/>
              </a:cxn>
              <a:cxn ang="0">
                <a:pos x="325" y="0"/>
              </a:cxn>
              <a:cxn ang="0">
                <a:pos x="169" y="0"/>
              </a:cxn>
              <a:cxn ang="0">
                <a:pos x="163" y="0"/>
              </a:cxn>
              <a:cxn ang="0">
                <a:pos x="0" y="0"/>
              </a:cxn>
              <a:cxn ang="0">
                <a:pos x="0" y="82"/>
              </a:cxn>
              <a:cxn ang="0">
                <a:pos x="6" y="79"/>
              </a:cxn>
              <a:cxn ang="0">
                <a:pos x="9" y="77"/>
              </a:cxn>
              <a:cxn ang="0">
                <a:pos x="31" y="69"/>
              </a:cxn>
              <a:cxn ang="0">
                <a:pos x="65" y="101"/>
              </a:cxn>
              <a:cxn ang="0">
                <a:pos x="31" y="133"/>
              </a:cxn>
              <a:cxn ang="0">
                <a:pos x="7" y="123"/>
              </a:cxn>
              <a:cxn ang="0">
                <a:pos x="0" y="120"/>
              </a:cxn>
              <a:cxn ang="0">
                <a:pos x="0" y="190"/>
              </a:cxn>
              <a:cxn ang="0">
                <a:pos x="163" y="190"/>
              </a:cxn>
              <a:cxn ang="0">
                <a:pos x="169" y="190"/>
              </a:cxn>
              <a:cxn ang="0">
                <a:pos x="325" y="190"/>
              </a:cxn>
              <a:cxn ang="0">
                <a:pos x="331" y="190"/>
              </a:cxn>
              <a:cxn ang="0">
                <a:pos x="476" y="190"/>
              </a:cxn>
              <a:cxn ang="0">
                <a:pos x="494" y="190"/>
              </a:cxn>
              <a:cxn ang="0">
                <a:pos x="634" y="190"/>
              </a:cxn>
              <a:cxn ang="0">
                <a:pos x="644" y="190"/>
              </a:cxn>
              <a:cxn ang="0">
                <a:pos x="792" y="190"/>
              </a:cxn>
              <a:cxn ang="0">
                <a:pos x="803" y="190"/>
              </a:cxn>
              <a:cxn ang="0">
                <a:pos x="965" y="190"/>
              </a:cxn>
              <a:cxn ang="0">
                <a:pos x="965" y="0"/>
              </a:cxn>
              <a:cxn ang="0">
                <a:pos x="803" y="0"/>
              </a:cxn>
            </a:cxnLst>
            <a:rect l="0" t="0" r="r" b="b"/>
            <a:pathLst>
              <a:path w="965" h="190">
                <a:moveTo>
                  <a:pt x="803" y="0"/>
                </a:moveTo>
                <a:cubicBezTo>
                  <a:pt x="792" y="0"/>
                  <a:pt x="792" y="0"/>
                  <a:pt x="792" y="0"/>
                </a:cubicBezTo>
                <a:cubicBezTo>
                  <a:pt x="644" y="0"/>
                  <a:pt x="644" y="0"/>
                  <a:pt x="644" y="0"/>
                </a:cubicBezTo>
                <a:cubicBezTo>
                  <a:pt x="634" y="0"/>
                  <a:pt x="634" y="0"/>
                  <a:pt x="634" y="0"/>
                </a:cubicBezTo>
                <a:cubicBezTo>
                  <a:pt x="494" y="0"/>
                  <a:pt x="494" y="0"/>
                  <a:pt x="494" y="0"/>
                </a:cubicBezTo>
                <a:cubicBezTo>
                  <a:pt x="476" y="0"/>
                  <a:pt x="476" y="0"/>
                  <a:pt x="476" y="0"/>
                </a:cubicBezTo>
                <a:cubicBezTo>
                  <a:pt x="331" y="0"/>
                  <a:pt x="331" y="0"/>
                  <a:pt x="331" y="0"/>
                </a:cubicBezTo>
                <a:cubicBezTo>
                  <a:pt x="325" y="0"/>
                  <a:pt x="325" y="0"/>
                  <a:pt x="325" y="0"/>
                </a:cubicBezTo>
                <a:cubicBezTo>
                  <a:pt x="169" y="0"/>
                  <a:pt x="169" y="0"/>
                  <a:pt x="169" y="0"/>
                </a:cubicBezTo>
                <a:cubicBezTo>
                  <a:pt x="163" y="0"/>
                  <a:pt x="163" y="0"/>
                  <a:pt x="16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2"/>
                  <a:pt x="0" y="82"/>
                  <a:pt x="0" y="82"/>
                </a:cubicBezTo>
                <a:cubicBezTo>
                  <a:pt x="2" y="81"/>
                  <a:pt x="4" y="81"/>
                  <a:pt x="6" y="79"/>
                </a:cubicBezTo>
                <a:cubicBezTo>
                  <a:pt x="7" y="78"/>
                  <a:pt x="8" y="78"/>
                  <a:pt x="9" y="77"/>
                </a:cubicBezTo>
                <a:cubicBezTo>
                  <a:pt x="15" y="72"/>
                  <a:pt x="22" y="69"/>
                  <a:pt x="31" y="69"/>
                </a:cubicBezTo>
                <a:cubicBezTo>
                  <a:pt x="50" y="69"/>
                  <a:pt x="65" y="83"/>
                  <a:pt x="65" y="101"/>
                </a:cubicBezTo>
                <a:cubicBezTo>
                  <a:pt x="65" y="118"/>
                  <a:pt x="50" y="133"/>
                  <a:pt x="31" y="133"/>
                </a:cubicBezTo>
                <a:cubicBezTo>
                  <a:pt x="21" y="133"/>
                  <a:pt x="9" y="125"/>
                  <a:pt x="7" y="123"/>
                </a:cubicBezTo>
                <a:cubicBezTo>
                  <a:pt x="5" y="122"/>
                  <a:pt x="3" y="121"/>
                  <a:pt x="0" y="120"/>
                </a:cubicBezTo>
                <a:cubicBezTo>
                  <a:pt x="0" y="190"/>
                  <a:pt x="0" y="190"/>
                  <a:pt x="0" y="190"/>
                </a:cubicBezTo>
                <a:cubicBezTo>
                  <a:pt x="163" y="190"/>
                  <a:pt x="163" y="190"/>
                  <a:pt x="163" y="190"/>
                </a:cubicBezTo>
                <a:cubicBezTo>
                  <a:pt x="169" y="190"/>
                  <a:pt x="169" y="190"/>
                  <a:pt x="169" y="190"/>
                </a:cubicBezTo>
                <a:cubicBezTo>
                  <a:pt x="325" y="190"/>
                  <a:pt x="325" y="190"/>
                  <a:pt x="325" y="190"/>
                </a:cubicBezTo>
                <a:cubicBezTo>
                  <a:pt x="331" y="190"/>
                  <a:pt x="331" y="190"/>
                  <a:pt x="331" y="190"/>
                </a:cubicBezTo>
                <a:cubicBezTo>
                  <a:pt x="476" y="190"/>
                  <a:pt x="476" y="190"/>
                  <a:pt x="476" y="190"/>
                </a:cubicBezTo>
                <a:cubicBezTo>
                  <a:pt x="494" y="190"/>
                  <a:pt x="494" y="190"/>
                  <a:pt x="494" y="190"/>
                </a:cubicBezTo>
                <a:cubicBezTo>
                  <a:pt x="634" y="190"/>
                  <a:pt x="634" y="190"/>
                  <a:pt x="634" y="190"/>
                </a:cubicBezTo>
                <a:cubicBezTo>
                  <a:pt x="644" y="190"/>
                  <a:pt x="644" y="190"/>
                  <a:pt x="644" y="190"/>
                </a:cubicBezTo>
                <a:cubicBezTo>
                  <a:pt x="792" y="190"/>
                  <a:pt x="792" y="190"/>
                  <a:pt x="792" y="190"/>
                </a:cubicBezTo>
                <a:cubicBezTo>
                  <a:pt x="803" y="190"/>
                  <a:pt x="803" y="190"/>
                  <a:pt x="803" y="190"/>
                </a:cubicBezTo>
                <a:cubicBezTo>
                  <a:pt x="965" y="190"/>
                  <a:pt x="965" y="190"/>
                  <a:pt x="965" y="190"/>
                </a:cubicBezTo>
                <a:cubicBezTo>
                  <a:pt x="965" y="0"/>
                  <a:pt x="965" y="0"/>
                  <a:pt x="965" y="0"/>
                </a:cubicBezTo>
                <a:lnTo>
                  <a:pt x="803" y="0"/>
                </a:lnTo>
                <a:close/>
              </a:path>
            </a:pathLst>
          </a:custGeom>
          <a:solidFill>
            <a:srgbClr val="0066FF"/>
          </a:solidFill>
          <a:ln w="9525">
            <a:noFill/>
            <a:round/>
            <a:headEnd/>
            <a:tailEnd/>
          </a:ln>
          <a:effectLst>
            <a:reflection blurRad="6350" stA="19000" endPos="53000" dir="5400000" sy="-100000" algn="bl" rotWithShape="0"/>
          </a:effec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r>
              <a:rPr lang="zh-CN" altLang="en-US" sz="2800" b="1" kern="0" dirty="0">
                <a:solidFill>
                  <a:srgbClr val="FFFFFF"/>
                </a:solidFill>
                <a:latin typeface="+mj-ea"/>
                <a:ea typeface="+mj-ea"/>
              </a:rPr>
              <a:t>移进</a:t>
            </a:r>
            <a:r>
              <a:rPr lang="en-US" altLang="zh-CN" sz="2800" b="1" kern="0" dirty="0">
                <a:solidFill>
                  <a:srgbClr val="FFFFFF"/>
                </a:solidFill>
                <a:latin typeface="+mj-ea"/>
                <a:ea typeface="+mj-ea"/>
              </a:rPr>
              <a:t>-</a:t>
            </a:r>
            <a:r>
              <a:rPr lang="zh-CN" altLang="en-US" sz="2800" b="1" kern="0" dirty="0">
                <a:solidFill>
                  <a:srgbClr val="FFFFFF"/>
                </a:solidFill>
                <a:latin typeface="+mj-ea"/>
                <a:ea typeface="+mj-ea"/>
              </a:rPr>
              <a:t>规约</a:t>
            </a:r>
          </a:p>
        </p:txBody>
      </p:sp>
      <p:sp>
        <p:nvSpPr>
          <p:cNvPr id="9" name="Freeform 6"/>
          <p:cNvSpPr>
            <a:spLocks/>
          </p:cNvSpPr>
          <p:nvPr/>
        </p:nvSpPr>
        <p:spPr bwMode="auto">
          <a:xfrm>
            <a:off x="1072753" y="4461556"/>
            <a:ext cx="1073042" cy="714123"/>
          </a:xfrm>
          <a:custGeom>
            <a:avLst/>
            <a:gdLst/>
            <a:ahLst/>
            <a:cxnLst>
              <a:cxn ang="0">
                <a:pos x="211" y="73"/>
              </a:cxn>
              <a:cxn ang="0">
                <a:pos x="192" y="80"/>
              </a:cxn>
              <a:cxn ang="0">
                <a:pos x="189" y="82"/>
              </a:cxn>
              <a:cxn ang="0">
                <a:pos x="180" y="86"/>
              </a:cxn>
              <a:cxn ang="0">
                <a:pos x="172" y="85"/>
              </a:cxn>
              <a:cxn ang="0">
                <a:pos x="172" y="0"/>
              </a:cxn>
              <a:cxn ang="0">
                <a:pos x="0" y="0"/>
              </a:cxn>
              <a:cxn ang="0">
                <a:pos x="0" y="190"/>
              </a:cxn>
              <a:cxn ang="0">
                <a:pos x="172" y="190"/>
              </a:cxn>
              <a:cxn ang="0">
                <a:pos x="172" y="117"/>
              </a:cxn>
              <a:cxn ang="0">
                <a:pos x="179" y="116"/>
              </a:cxn>
              <a:cxn ang="0">
                <a:pos x="190" y="120"/>
              </a:cxn>
              <a:cxn ang="0">
                <a:pos x="211" y="128"/>
              </a:cxn>
              <a:cxn ang="0">
                <a:pos x="241" y="101"/>
              </a:cxn>
              <a:cxn ang="0">
                <a:pos x="211" y="73"/>
              </a:cxn>
            </a:cxnLst>
            <a:rect l="0" t="0" r="r" b="b"/>
            <a:pathLst>
              <a:path w="241" h="190">
                <a:moveTo>
                  <a:pt x="211" y="73"/>
                </a:moveTo>
                <a:cubicBezTo>
                  <a:pt x="204" y="73"/>
                  <a:pt x="197" y="76"/>
                  <a:pt x="192" y="80"/>
                </a:cubicBezTo>
                <a:cubicBezTo>
                  <a:pt x="191" y="81"/>
                  <a:pt x="190" y="82"/>
                  <a:pt x="189" y="82"/>
                </a:cubicBezTo>
                <a:cubicBezTo>
                  <a:pt x="187" y="84"/>
                  <a:pt x="183" y="86"/>
                  <a:pt x="180" y="86"/>
                </a:cubicBezTo>
                <a:cubicBezTo>
                  <a:pt x="176" y="86"/>
                  <a:pt x="174" y="86"/>
                  <a:pt x="172" y="85"/>
                </a:cubicBezTo>
                <a:cubicBezTo>
                  <a:pt x="172" y="0"/>
                  <a:pt x="172" y="0"/>
                  <a:pt x="17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90"/>
                  <a:pt x="0" y="190"/>
                  <a:pt x="0" y="190"/>
                </a:cubicBezTo>
                <a:cubicBezTo>
                  <a:pt x="172" y="190"/>
                  <a:pt x="172" y="190"/>
                  <a:pt x="172" y="190"/>
                </a:cubicBezTo>
                <a:cubicBezTo>
                  <a:pt x="172" y="117"/>
                  <a:pt x="172" y="117"/>
                  <a:pt x="172" y="117"/>
                </a:cubicBezTo>
                <a:cubicBezTo>
                  <a:pt x="175" y="116"/>
                  <a:pt x="176" y="116"/>
                  <a:pt x="179" y="116"/>
                </a:cubicBezTo>
                <a:cubicBezTo>
                  <a:pt x="183" y="116"/>
                  <a:pt x="188" y="118"/>
                  <a:pt x="190" y="120"/>
                </a:cubicBezTo>
                <a:cubicBezTo>
                  <a:pt x="192" y="122"/>
                  <a:pt x="202" y="128"/>
                  <a:pt x="211" y="128"/>
                </a:cubicBezTo>
                <a:cubicBezTo>
                  <a:pt x="228" y="128"/>
                  <a:pt x="241" y="116"/>
                  <a:pt x="241" y="101"/>
                </a:cubicBezTo>
                <a:cubicBezTo>
                  <a:pt x="241" y="86"/>
                  <a:pt x="228" y="73"/>
                  <a:pt x="211" y="73"/>
                </a:cubicBezTo>
                <a:close/>
              </a:path>
            </a:pathLst>
          </a:custGeom>
          <a:solidFill>
            <a:srgbClr val="80B3FF"/>
          </a:solidFill>
          <a:ln w="9525">
            <a:noFill/>
            <a:round/>
            <a:headEnd/>
            <a:tailEnd/>
          </a:ln>
          <a:effectLst>
            <a:reflection blurRad="6350" stA="19000" endPos="53000" dir="5400000" sy="-100000" algn="bl" rotWithShape="0"/>
          </a:effectLst>
        </p:spPr>
        <p:txBody>
          <a:bodyPr vert="horz" wrap="square" lIns="0" tIns="45720" rIns="288000" bIns="45720" numCol="1" anchor="ctr" anchorCtr="1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kumimoji="0" lang="ru-RU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Freeform 7"/>
          <p:cNvSpPr>
            <a:spLocks/>
          </p:cNvSpPr>
          <p:nvPr/>
        </p:nvSpPr>
        <p:spPr bwMode="auto">
          <a:xfrm>
            <a:off x="2411733" y="3597459"/>
            <a:ext cx="5498327" cy="714123"/>
          </a:xfrm>
          <a:custGeom>
            <a:avLst/>
            <a:gdLst/>
            <a:ahLst/>
            <a:cxnLst>
              <a:cxn ang="0">
                <a:pos x="803" y="0"/>
              </a:cxn>
              <a:cxn ang="0">
                <a:pos x="792" y="0"/>
              </a:cxn>
              <a:cxn ang="0">
                <a:pos x="644" y="0"/>
              </a:cxn>
              <a:cxn ang="0">
                <a:pos x="634" y="0"/>
              </a:cxn>
              <a:cxn ang="0">
                <a:pos x="494" y="0"/>
              </a:cxn>
              <a:cxn ang="0">
                <a:pos x="476" y="0"/>
              </a:cxn>
              <a:cxn ang="0">
                <a:pos x="331" y="0"/>
              </a:cxn>
              <a:cxn ang="0">
                <a:pos x="325" y="0"/>
              </a:cxn>
              <a:cxn ang="0">
                <a:pos x="169" y="0"/>
              </a:cxn>
              <a:cxn ang="0">
                <a:pos x="163" y="0"/>
              </a:cxn>
              <a:cxn ang="0">
                <a:pos x="0" y="0"/>
              </a:cxn>
              <a:cxn ang="0">
                <a:pos x="0" y="82"/>
              </a:cxn>
              <a:cxn ang="0">
                <a:pos x="6" y="79"/>
              </a:cxn>
              <a:cxn ang="0">
                <a:pos x="9" y="77"/>
              </a:cxn>
              <a:cxn ang="0">
                <a:pos x="31" y="69"/>
              </a:cxn>
              <a:cxn ang="0">
                <a:pos x="65" y="101"/>
              </a:cxn>
              <a:cxn ang="0">
                <a:pos x="31" y="133"/>
              </a:cxn>
              <a:cxn ang="0">
                <a:pos x="7" y="123"/>
              </a:cxn>
              <a:cxn ang="0">
                <a:pos x="0" y="120"/>
              </a:cxn>
              <a:cxn ang="0">
                <a:pos x="0" y="190"/>
              </a:cxn>
              <a:cxn ang="0">
                <a:pos x="163" y="190"/>
              </a:cxn>
              <a:cxn ang="0">
                <a:pos x="169" y="190"/>
              </a:cxn>
              <a:cxn ang="0">
                <a:pos x="325" y="190"/>
              </a:cxn>
              <a:cxn ang="0">
                <a:pos x="331" y="190"/>
              </a:cxn>
              <a:cxn ang="0">
                <a:pos x="476" y="190"/>
              </a:cxn>
              <a:cxn ang="0">
                <a:pos x="494" y="190"/>
              </a:cxn>
              <a:cxn ang="0">
                <a:pos x="634" y="190"/>
              </a:cxn>
              <a:cxn ang="0">
                <a:pos x="644" y="190"/>
              </a:cxn>
              <a:cxn ang="0">
                <a:pos x="792" y="190"/>
              </a:cxn>
              <a:cxn ang="0">
                <a:pos x="803" y="190"/>
              </a:cxn>
              <a:cxn ang="0">
                <a:pos x="965" y="190"/>
              </a:cxn>
              <a:cxn ang="0">
                <a:pos x="965" y="0"/>
              </a:cxn>
              <a:cxn ang="0">
                <a:pos x="803" y="0"/>
              </a:cxn>
            </a:cxnLst>
            <a:rect l="0" t="0" r="r" b="b"/>
            <a:pathLst>
              <a:path w="965" h="190">
                <a:moveTo>
                  <a:pt x="803" y="0"/>
                </a:moveTo>
                <a:cubicBezTo>
                  <a:pt x="792" y="0"/>
                  <a:pt x="792" y="0"/>
                  <a:pt x="792" y="0"/>
                </a:cubicBezTo>
                <a:cubicBezTo>
                  <a:pt x="644" y="0"/>
                  <a:pt x="644" y="0"/>
                  <a:pt x="644" y="0"/>
                </a:cubicBezTo>
                <a:cubicBezTo>
                  <a:pt x="634" y="0"/>
                  <a:pt x="634" y="0"/>
                  <a:pt x="634" y="0"/>
                </a:cubicBezTo>
                <a:cubicBezTo>
                  <a:pt x="494" y="0"/>
                  <a:pt x="494" y="0"/>
                  <a:pt x="494" y="0"/>
                </a:cubicBezTo>
                <a:cubicBezTo>
                  <a:pt x="476" y="0"/>
                  <a:pt x="476" y="0"/>
                  <a:pt x="476" y="0"/>
                </a:cubicBezTo>
                <a:cubicBezTo>
                  <a:pt x="331" y="0"/>
                  <a:pt x="331" y="0"/>
                  <a:pt x="331" y="0"/>
                </a:cubicBezTo>
                <a:cubicBezTo>
                  <a:pt x="325" y="0"/>
                  <a:pt x="325" y="0"/>
                  <a:pt x="325" y="0"/>
                </a:cubicBezTo>
                <a:cubicBezTo>
                  <a:pt x="169" y="0"/>
                  <a:pt x="169" y="0"/>
                  <a:pt x="169" y="0"/>
                </a:cubicBezTo>
                <a:cubicBezTo>
                  <a:pt x="163" y="0"/>
                  <a:pt x="163" y="0"/>
                  <a:pt x="16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2"/>
                  <a:pt x="0" y="82"/>
                  <a:pt x="0" y="82"/>
                </a:cubicBezTo>
                <a:cubicBezTo>
                  <a:pt x="2" y="81"/>
                  <a:pt x="4" y="81"/>
                  <a:pt x="6" y="79"/>
                </a:cubicBezTo>
                <a:cubicBezTo>
                  <a:pt x="7" y="78"/>
                  <a:pt x="8" y="78"/>
                  <a:pt x="9" y="77"/>
                </a:cubicBezTo>
                <a:cubicBezTo>
                  <a:pt x="15" y="72"/>
                  <a:pt x="22" y="69"/>
                  <a:pt x="31" y="69"/>
                </a:cubicBezTo>
                <a:cubicBezTo>
                  <a:pt x="50" y="69"/>
                  <a:pt x="65" y="83"/>
                  <a:pt x="65" y="101"/>
                </a:cubicBezTo>
                <a:cubicBezTo>
                  <a:pt x="65" y="118"/>
                  <a:pt x="50" y="133"/>
                  <a:pt x="31" y="133"/>
                </a:cubicBezTo>
                <a:cubicBezTo>
                  <a:pt x="21" y="133"/>
                  <a:pt x="9" y="125"/>
                  <a:pt x="7" y="123"/>
                </a:cubicBezTo>
                <a:cubicBezTo>
                  <a:pt x="5" y="122"/>
                  <a:pt x="3" y="121"/>
                  <a:pt x="0" y="120"/>
                </a:cubicBezTo>
                <a:cubicBezTo>
                  <a:pt x="0" y="190"/>
                  <a:pt x="0" y="190"/>
                  <a:pt x="0" y="190"/>
                </a:cubicBezTo>
                <a:cubicBezTo>
                  <a:pt x="163" y="190"/>
                  <a:pt x="163" y="190"/>
                  <a:pt x="163" y="190"/>
                </a:cubicBezTo>
                <a:cubicBezTo>
                  <a:pt x="169" y="190"/>
                  <a:pt x="169" y="190"/>
                  <a:pt x="169" y="190"/>
                </a:cubicBezTo>
                <a:cubicBezTo>
                  <a:pt x="325" y="190"/>
                  <a:pt x="325" y="190"/>
                  <a:pt x="325" y="190"/>
                </a:cubicBezTo>
                <a:cubicBezTo>
                  <a:pt x="331" y="190"/>
                  <a:pt x="331" y="190"/>
                  <a:pt x="331" y="190"/>
                </a:cubicBezTo>
                <a:cubicBezTo>
                  <a:pt x="476" y="190"/>
                  <a:pt x="476" y="190"/>
                  <a:pt x="476" y="190"/>
                </a:cubicBezTo>
                <a:cubicBezTo>
                  <a:pt x="494" y="190"/>
                  <a:pt x="494" y="190"/>
                  <a:pt x="494" y="190"/>
                </a:cubicBezTo>
                <a:cubicBezTo>
                  <a:pt x="634" y="190"/>
                  <a:pt x="634" y="190"/>
                  <a:pt x="634" y="190"/>
                </a:cubicBezTo>
                <a:cubicBezTo>
                  <a:pt x="644" y="190"/>
                  <a:pt x="644" y="190"/>
                  <a:pt x="644" y="190"/>
                </a:cubicBezTo>
                <a:cubicBezTo>
                  <a:pt x="792" y="190"/>
                  <a:pt x="792" y="190"/>
                  <a:pt x="792" y="190"/>
                </a:cubicBezTo>
                <a:cubicBezTo>
                  <a:pt x="803" y="190"/>
                  <a:pt x="803" y="190"/>
                  <a:pt x="803" y="190"/>
                </a:cubicBezTo>
                <a:cubicBezTo>
                  <a:pt x="965" y="190"/>
                  <a:pt x="965" y="190"/>
                  <a:pt x="965" y="190"/>
                </a:cubicBezTo>
                <a:cubicBezTo>
                  <a:pt x="965" y="0"/>
                  <a:pt x="965" y="0"/>
                  <a:pt x="965" y="0"/>
                </a:cubicBezTo>
                <a:lnTo>
                  <a:pt x="803" y="0"/>
                </a:lnTo>
                <a:close/>
              </a:path>
            </a:pathLst>
          </a:custGeom>
          <a:solidFill>
            <a:srgbClr val="80B3FF"/>
          </a:solidFill>
          <a:ln w="9525">
            <a:noFill/>
            <a:round/>
            <a:headEnd/>
            <a:tailEnd/>
          </a:ln>
          <a:effectLst>
            <a:reflection blurRad="6350" stA="19000" endPos="53000" dir="5400000" sy="-100000" algn="bl" rotWithShape="0"/>
          </a:effec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zh-CN" altLang="en-US" sz="2800" b="1" kern="0" dirty="0">
                <a:solidFill>
                  <a:srgbClr val="FFFFFF"/>
                </a:solidFill>
                <a:latin typeface="+mj-ea"/>
              </a:rPr>
              <a:t>简单优先分析法</a:t>
            </a:r>
          </a:p>
        </p:txBody>
      </p:sp>
      <p:sp>
        <p:nvSpPr>
          <p:cNvPr id="12" name="Freeform 7"/>
          <p:cNvSpPr>
            <a:spLocks/>
          </p:cNvSpPr>
          <p:nvPr/>
        </p:nvSpPr>
        <p:spPr bwMode="auto">
          <a:xfrm>
            <a:off x="2411733" y="4461555"/>
            <a:ext cx="5498327" cy="714123"/>
          </a:xfrm>
          <a:custGeom>
            <a:avLst/>
            <a:gdLst/>
            <a:ahLst/>
            <a:cxnLst>
              <a:cxn ang="0">
                <a:pos x="803" y="0"/>
              </a:cxn>
              <a:cxn ang="0">
                <a:pos x="792" y="0"/>
              </a:cxn>
              <a:cxn ang="0">
                <a:pos x="644" y="0"/>
              </a:cxn>
              <a:cxn ang="0">
                <a:pos x="634" y="0"/>
              </a:cxn>
              <a:cxn ang="0">
                <a:pos x="494" y="0"/>
              </a:cxn>
              <a:cxn ang="0">
                <a:pos x="476" y="0"/>
              </a:cxn>
              <a:cxn ang="0">
                <a:pos x="331" y="0"/>
              </a:cxn>
              <a:cxn ang="0">
                <a:pos x="325" y="0"/>
              </a:cxn>
              <a:cxn ang="0">
                <a:pos x="169" y="0"/>
              </a:cxn>
              <a:cxn ang="0">
                <a:pos x="163" y="0"/>
              </a:cxn>
              <a:cxn ang="0">
                <a:pos x="0" y="0"/>
              </a:cxn>
              <a:cxn ang="0">
                <a:pos x="0" y="82"/>
              </a:cxn>
              <a:cxn ang="0">
                <a:pos x="6" y="79"/>
              </a:cxn>
              <a:cxn ang="0">
                <a:pos x="9" y="77"/>
              </a:cxn>
              <a:cxn ang="0">
                <a:pos x="31" y="69"/>
              </a:cxn>
              <a:cxn ang="0">
                <a:pos x="65" y="101"/>
              </a:cxn>
              <a:cxn ang="0">
                <a:pos x="31" y="133"/>
              </a:cxn>
              <a:cxn ang="0">
                <a:pos x="7" y="123"/>
              </a:cxn>
              <a:cxn ang="0">
                <a:pos x="0" y="120"/>
              </a:cxn>
              <a:cxn ang="0">
                <a:pos x="0" y="190"/>
              </a:cxn>
              <a:cxn ang="0">
                <a:pos x="163" y="190"/>
              </a:cxn>
              <a:cxn ang="0">
                <a:pos x="169" y="190"/>
              </a:cxn>
              <a:cxn ang="0">
                <a:pos x="325" y="190"/>
              </a:cxn>
              <a:cxn ang="0">
                <a:pos x="331" y="190"/>
              </a:cxn>
              <a:cxn ang="0">
                <a:pos x="476" y="190"/>
              </a:cxn>
              <a:cxn ang="0">
                <a:pos x="494" y="190"/>
              </a:cxn>
              <a:cxn ang="0">
                <a:pos x="634" y="190"/>
              </a:cxn>
              <a:cxn ang="0">
                <a:pos x="644" y="190"/>
              </a:cxn>
              <a:cxn ang="0">
                <a:pos x="792" y="190"/>
              </a:cxn>
              <a:cxn ang="0">
                <a:pos x="803" y="190"/>
              </a:cxn>
              <a:cxn ang="0">
                <a:pos x="965" y="190"/>
              </a:cxn>
              <a:cxn ang="0">
                <a:pos x="965" y="0"/>
              </a:cxn>
              <a:cxn ang="0">
                <a:pos x="803" y="0"/>
              </a:cxn>
            </a:cxnLst>
            <a:rect l="0" t="0" r="r" b="b"/>
            <a:pathLst>
              <a:path w="965" h="190">
                <a:moveTo>
                  <a:pt x="803" y="0"/>
                </a:moveTo>
                <a:cubicBezTo>
                  <a:pt x="792" y="0"/>
                  <a:pt x="792" y="0"/>
                  <a:pt x="792" y="0"/>
                </a:cubicBezTo>
                <a:cubicBezTo>
                  <a:pt x="644" y="0"/>
                  <a:pt x="644" y="0"/>
                  <a:pt x="644" y="0"/>
                </a:cubicBezTo>
                <a:cubicBezTo>
                  <a:pt x="634" y="0"/>
                  <a:pt x="634" y="0"/>
                  <a:pt x="634" y="0"/>
                </a:cubicBezTo>
                <a:cubicBezTo>
                  <a:pt x="494" y="0"/>
                  <a:pt x="494" y="0"/>
                  <a:pt x="494" y="0"/>
                </a:cubicBezTo>
                <a:cubicBezTo>
                  <a:pt x="476" y="0"/>
                  <a:pt x="476" y="0"/>
                  <a:pt x="476" y="0"/>
                </a:cubicBezTo>
                <a:cubicBezTo>
                  <a:pt x="331" y="0"/>
                  <a:pt x="331" y="0"/>
                  <a:pt x="331" y="0"/>
                </a:cubicBezTo>
                <a:cubicBezTo>
                  <a:pt x="325" y="0"/>
                  <a:pt x="325" y="0"/>
                  <a:pt x="325" y="0"/>
                </a:cubicBezTo>
                <a:cubicBezTo>
                  <a:pt x="169" y="0"/>
                  <a:pt x="169" y="0"/>
                  <a:pt x="169" y="0"/>
                </a:cubicBezTo>
                <a:cubicBezTo>
                  <a:pt x="163" y="0"/>
                  <a:pt x="163" y="0"/>
                  <a:pt x="16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2"/>
                  <a:pt x="0" y="82"/>
                  <a:pt x="0" y="82"/>
                </a:cubicBezTo>
                <a:cubicBezTo>
                  <a:pt x="2" y="81"/>
                  <a:pt x="4" y="81"/>
                  <a:pt x="6" y="79"/>
                </a:cubicBezTo>
                <a:cubicBezTo>
                  <a:pt x="7" y="78"/>
                  <a:pt x="8" y="78"/>
                  <a:pt x="9" y="77"/>
                </a:cubicBezTo>
                <a:cubicBezTo>
                  <a:pt x="15" y="72"/>
                  <a:pt x="22" y="69"/>
                  <a:pt x="31" y="69"/>
                </a:cubicBezTo>
                <a:cubicBezTo>
                  <a:pt x="50" y="69"/>
                  <a:pt x="65" y="83"/>
                  <a:pt x="65" y="101"/>
                </a:cubicBezTo>
                <a:cubicBezTo>
                  <a:pt x="65" y="118"/>
                  <a:pt x="50" y="133"/>
                  <a:pt x="31" y="133"/>
                </a:cubicBezTo>
                <a:cubicBezTo>
                  <a:pt x="21" y="133"/>
                  <a:pt x="9" y="125"/>
                  <a:pt x="7" y="123"/>
                </a:cubicBezTo>
                <a:cubicBezTo>
                  <a:pt x="5" y="122"/>
                  <a:pt x="3" y="121"/>
                  <a:pt x="0" y="120"/>
                </a:cubicBezTo>
                <a:cubicBezTo>
                  <a:pt x="0" y="190"/>
                  <a:pt x="0" y="190"/>
                  <a:pt x="0" y="190"/>
                </a:cubicBezTo>
                <a:cubicBezTo>
                  <a:pt x="163" y="190"/>
                  <a:pt x="163" y="190"/>
                  <a:pt x="163" y="190"/>
                </a:cubicBezTo>
                <a:cubicBezTo>
                  <a:pt x="169" y="190"/>
                  <a:pt x="169" y="190"/>
                  <a:pt x="169" y="190"/>
                </a:cubicBezTo>
                <a:cubicBezTo>
                  <a:pt x="325" y="190"/>
                  <a:pt x="325" y="190"/>
                  <a:pt x="325" y="190"/>
                </a:cubicBezTo>
                <a:cubicBezTo>
                  <a:pt x="331" y="190"/>
                  <a:pt x="331" y="190"/>
                  <a:pt x="331" y="190"/>
                </a:cubicBezTo>
                <a:cubicBezTo>
                  <a:pt x="476" y="190"/>
                  <a:pt x="476" y="190"/>
                  <a:pt x="476" y="190"/>
                </a:cubicBezTo>
                <a:cubicBezTo>
                  <a:pt x="494" y="190"/>
                  <a:pt x="494" y="190"/>
                  <a:pt x="494" y="190"/>
                </a:cubicBezTo>
                <a:cubicBezTo>
                  <a:pt x="634" y="190"/>
                  <a:pt x="634" y="190"/>
                  <a:pt x="634" y="190"/>
                </a:cubicBezTo>
                <a:cubicBezTo>
                  <a:pt x="644" y="190"/>
                  <a:pt x="644" y="190"/>
                  <a:pt x="644" y="190"/>
                </a:cubicBezTo>
                <a:cubicBezTo>
                  <a:pt x="792" y="190"/>
                  <a:pt x="792" y="190"/>
                  <a:pt x="792" y="190"/>
                </a:cubicBezTo>
                <a:cubicBezTo>
                  <a:pt x="803" y="190"/>
                  <a:pt x="803" y="190"/>
                  <a:pt x="803" y="190"/>
                </a:cubicBezTo>
                <a:cubicBezTo>
                  <a:pt x="965" y="190"/>
                  <a:pt x="965" y="190"/>
                  <a:pt x="965" y="190"/>
                </a:cubicBezTo>
                <a:cubicBezTo>
                  <a:pt x="965" y="0"/>
                  <a:pt x="965" y="0"/>
                  <a:pt x="965" y="0"/>
                </a:cubicBezTo>
                <a:lnTo>
                  <a:pt x="803" y="0"/>
                </a:lnTo>
                <a:close/>
              </a:path>
            </a:pathLst>
          </a:custGeom>
          <a:solidFill>
            <a:srgbClr val="80B3FF"/>
          </a:solidFill>
          <a:ln w="9525">
            <a:noFill/>
            <a:round/>
            <a:headEnd/>
            <a:tailEnd/>
          </a:ln>
          <a:effectLst>
            <a:reflection blurRad="6350" stA="19000" endPos="53000" dir="5400000" sy="-100000" algn="bl" rotWithShape="0"/>
          </a:effec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zh-CN" altLang="en-US" sz="2800" b="1" kern="0" dirty="0">
                <a:solidFill>
                  <a:srgbClr val="FFFFFF"/>
                </a:solidFill>
                <a:latin typeface="+mj-ea"/>
              </a:rPr>
              <a:t>算符优先分析法</a:t>
            </a:r>
            <a:endParaRPr lang="zh-CN" altLang="en-US" sz="2800" b="1" kern="0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9835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 bwMode="auto">
          <a:xfrm>
            <a:off x="438150" y="819151"/>
            <a:ext cx="8077200" cy="2990214"/>
          </a:xfrm>
          <a:prstGeom prst="rect">
            <a:avLst/>
          </a:prstGeom>
          <a:solidFill>
            <a:schemeClr val="bg1"/>
          </a:solidFill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55600" indent="-269875" algn="l" rtl="0" eaLnBrk="1" fontAlgn="base" hangingPunct="1">
              <a:spcBef>
                <a:spcPts val="1800"/>
              </a:spcBef>
              <a:spcAft>
                <a:spcPct val="0"/>
              </a:spcAft>
              <a:buClr>
                <a:srgbClr val="003399"/>
              </a:buClr>
              <a:buSzPct val="80000"/>
              <a:buFont typeface="Wingdings 2" panose="05020102010507070707" pitchFamily="18" charset="2"/>
              <a:buChar char=""/>
              <a:defRPr sz="2400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357188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sz="2000" kern="1200">
                <a:solidFill>
                  <a:srgbClr val="0066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2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600" b="1" dirty="0">
                <a:solidFill>
                  <a:schemeClr val="accent2"/>
                </a:solidFill>
                <a:latin typeface="+mj-ea"/>
                <a:ea typeface="+mj-ea"/>
              </a:rPr>
              <a:t>最左推导</a:t>
            </a:r>
            <a:r>
              <a:rPr lang="en-US" altLang="zh-CN" sz="2600" dirty="0">
                <a:latin typeface="+mj-ea"/>
                <a:ea typeface="+mj-ea"/>
              </a:rPr>
              <a:t>(Left-most Derive)</a:t>
            </a:r>
          </a:p>
          <a:p>
            <a:pPr lvl="1"/>
            <a:r>
              <a:rPr lang="zh-CN" altLang="en-US" sz="2200" dirty="0">
                <a:latin typeface="+mj-ea"/>
                <a:ea typeface="+mj-ea"/>
              </a:rPr>
              <a:t>每一步推导都替换当前句型的最左边的非终结符。</a:t>
            </a:r>
          </a:p>
          <a:p>
            <a:pPr lvl="1"/>
            <a:r>
              <a:rPr lang="en-US" altLang="zh-CN" sz="2200" dirty="0">
                <a:latin typeface="+mj-ea"/>
                <a:ea typeface="+mj-ea"/>
              </a:rPr>
              <a:t>——</a:t>
            </a:r>
            <a:r>
              <a:rPr lang="zh-CN" altLang="en-US" sz="2200" dirty="0">
                <a:latin typeface="+mj-ea"/>
                <a:ea typeface="+mj-ea"/>
              </a:rPr>
              <a:t>其逆过程称为</a:t>
            </a:r>
            <a:r>
              <a:rPr lang="zh-CN" altLang="en-US" sz="2200" b="1" dirty="0">
                <a:solidFill>
                  <a:srgbClr val="0000FF"/>
                </a:solidFill>
                <a:latin typeface="+mj-ea"/>
                <a:ea typeface="+mj-ea"/>
              </a:rPr>
              <a:t>最右归约</a:t>
            </a:r>
          </a:p>
          <a:p>
            <a:r>
              <a:rPr lang="zh-CN" altLang="en-US" sz="2600" b="1" dirty="0">
                <a:solidFill>
                  <a:schemeClr val="accent2"/>
                </a:solidFill>
                <a:latin typeface="+mj-ea"/>
                <a:ea typeface="+mj-ea"/>
              </a:rPr>
              <a:t>最右推导</a:t>
            </a:r>
            <a:r>
              <a:rPr lang="en-US" altLang="zh-CN" sz="2600" dirty="0">
                <a:latin typeface="+mj-ea"/>
                <a:ea typeface="+mj-ea"/>
              </a:rPr>
              <a:t>(Right-most Derive)</a:t>
            </a:r>
          </a:p>
          <a:p>
            <a:pPr lvl="1"/>
            <a:r>
              <a:rPr lang="zh-CN" altLang="en-US" sz="2200" dirty="0">
                <a:latin typeface="+mj-ea"/>
                <a:ea typeface="+mj-ea"/>
              </a:rPr>
              <a:t>每一步推导都替换当前句型的最右边的非终结符。</a:t>
            </a:r>
          </a:p>
          <a:p>
            <a:pPr lvl="1"/>
            <a:r>
              <a:rPr lang="en-US" altLang="zh-CN" sz="2200" dirty="0">
                <a:latin typeface="+mj-ea"/>
                <a:ea typeface="+mj-ea"/>
              </a:rPr>
              <a:t>——</a:t>
            </a:r>
            <a:r>
              <a:rPr lang="zh-CN" altLang="en-US" sz="2200" dirty="0">
                <a:latin typeface="+mj-ea"/>
                <a:ea typeface="+mj-ea"/>
              </a:rPr>
              <a:t>其逆过程称为</a:t>
            </a:r>
            <a:r>
              <a:rPr lang="zh-CN" altLang="en-US" sz="2200" b="1" dirty="0">
                <a:solidFill>
                  <a:srgbClr val="0000FF"/>
                </a:solidFill>
                <a:latin typeface="+mj-ea"/>
                <a:ea typeface="+mj-ea"/>
              </a:rPr>
              <a:t>最左归约</a:t>
            </a:r>
            <a:r>
              <a:rPr lang="en-US" altLang="zh-CN" sz="2200" b="1" dirty="0">
                <a:solidFill>
                  <a:srgbClr val="0000FF"/>
                </a:solidFill>
                <a:latin typeface="+mj-ea"/>
                <a:ea typeface="+mj-ea"/>
              </a:rPr>
              <a:t>(</a:t>
            </a:r>
            <a:r>
              <a:rPr lang="zh-CN" altLang="en-US" sz="2200" b="1" dirty="0">
                <a:solidFill>
                  <a:srgbClr val="0000FF"/>
                </a:solidFill>
                <a:latin typeface="+mj-ea"/>
                <a:ea typeface="+mj-ea"/>
              </a:rPr>
              <a:t>规范归约</a:t>
            </a:r>
            <a:r>
              <a:rPr lang="en-US" altLang="zh-CN" sz="2200" b="1" dirty="0">
                <a:solidFill>
                  <a:srgbClr val="0000FF"/>
                </a:solidFill>
                <a:latin typeface="+mj-ea"/>
                <a:ea typeface="+mj-ea"/>
              </a:rPr>
              <a:t>)</a:t>
            </a:r>
            <a:r>
              <a:rPr lang="zh-CN" altLang="en-US" sz="2200" dirty="0">
                <a:latin typeface="+mj-ea"/>
                <a:ea typeface="+mj-ea"/>
              </a:rPr>
              <a:t>，得</a:t>
            </a:r>
            <a:r>
              <a:rPr lang="zh-CN" altLang="en-US" sz="2200" b="1" dirty="0">
                <a:solidFill>
                  <a:srgbClr val="0000FF"/>
                </a:solidFill>
                <a:latin typeface="+mj-ea"/>
                <a:ea typeface="+mj-ea"/>
              </a:rPr>
              <a:t>规范句型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840581" y="3809365"/>
            <a:ext cx="7272338" cy="3046413"/>
            <a:chOff x="521" y="2160"/>
            <a:chExt cx="4581" cy="1919"/>
          </a:xfrm>
        </p:grpSpPr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521" y="2160"/>
              <a:ext cx="4581" cy="19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zh-CN" altLang="en-US" sz="2400" b="1" i="1" dirty="0">
                  <a:solidFill>
                    <a:srgbClr val="000000"/>
                  </a:solidFill>
                  <a:latin typeface="Times New Roman" pitchFamily="18" charset="0"/>
                </a:rPr>
                <a:t>例：</a:t>
              </a:r>
              <a:r>
                <a:rPr kumimoji="1" lang="zh-CN" altLang="en-US" sz="2400" dirty="0">
                  <a:solidFill>
                    <a:srgbClr val="000000"/>
                  </a:solidFill>
                  <a:latin typeface="Times New Roman" pitchFamily="18" charset="0"/>
                </a:rPr>
                <a:t>设有文法</a:t>
              </a:r>
              <a:r>
                <a:rPr kumimoji="1" lang="en-US" altLang="zh-CN" sz="2400" dirty="0">
                  <a:solidFill>
                    <a:srgbClr val="000000"/>
                  </a:solidFill>
                  <a:latin typeface="Times New Roman" pitchFamily="18" charset="0"/>
                </a:rPr>
                <a:t>G[S]</a:t>
              </a:r>
              <a:r>
                <a:rPr kumimoji="1" lang="zh-CN" altLang="en-US" sz="2400" dirty="0">
                  <a:solidFill>
                    <a:srgbClr val="000000"/>
                  </a:solidFill>
                  <a:latin typeface="Times New Roman" pitchFamily="18" charset="0"/>
                </a:rPr>
                <a:t>：</a:t>
              </a:r>
              <a:br>
                <a:rPr kumimoji="1" lang="zh-CN" altLang="en-US" sz="2400" dirty="0">
                  <a:solidFill>
                    <a:srgbClr val="000000"/>
                  </a:solidFill>
                  <a:latin typeface="Times New Roman" pitchFamily="18" charset="0"/>
                </a:rPr>
              </a:br>
              <a:r>
                <a:rPr kumimoji="1" lang="zh-CN" altLang="en-US" sz="2400" dirty="0">
                  <a:solidFill>
                    <a:srgbClr val="000000"/>
                  </a:solidFill>
                  <a:latin typeface="Times New Roman" pitchFamily="18" charset="0"/>
                </a:rPr>
                <a:t>                                             </a:t>
              </a:r>
              <a:r>
                <a:rPr kumimoji="1" lang="en-US" altLang="zh-CN" sz="2400" dirty="0">
                  <a:solidFill>
                    <a:srgbClr val="0000FF"/>
                  </a:solidFill>
                  <a:latin typeface="Times New Roman" pitchFamily="18" charset="0"/>
                </a:rPr>
                <a:t>(1) S </a:t>
              </a:r>
              <a:r>
                <a:rPr kumimoji="1" lang="en-US" altLang="zh-CN" sz="2400" dirty="0">
                  <a:solidFill>
                    <a:srgbClr val="0000FF"/>
                  </a:solidFill>
                  <a:latin typeface="Times New Roman" pitchFamily="18" charset="0"/>
                  <a:sym typeface="Symbol" pitchFamily="18" charset="2"/>
                </a:rPr>
                <a:t> </a:t>
              </a:r>
              <a:r>
                <a:rPr kumimoji="1" lang="en-US" altLang="zh-CN" sz="2400" dirty="0" err="1">
                  <a:solidFill>
                    <a:srgbClr val="0000FF"/>
                  </a:solidFill>
                  <a:latin typeface="Times New Roman" pitchFamily="18" charset="0"/>
                  <a:sym typeface="Symbol" pitchFamily="18" charset="2"/>
                </a:rPr>
                <a:t>aAcBe</a:t>
              </a:r>
              <a:br>
                <a:rPr kumimoji="1" lang="en-US" altLang="zh-CN" sz="2400" dirty="0">
                  <a:solidFill>
                    <a:srgbClr val="0000FF"/>
                  </a:solidFill>
                  <a:latin typeface="Times New Roman" pitchFamily="18" charset="0"/>
                  <a:sym typeface="Symbol" pitchFamily="18" charset="2"/>
                </a:rPr>
              </a:br>
              <a:r>
                <a:rPr kumimoji="1" lang="en-US" altLang="zh-CN" sz="2400" dirty="0">
                  <a:solidFill>
                    <a:srgbClr val="0000FF"/>
                  </a:solidFill>
                  <a:latin typeface="Times New Roman" pitchFamily="18" charset="0"/>
                  <a:sym typeface="Symbol" pitchFamily="18" charset="2"/>
                </a:rPr>
                <a:t>                                             (2) A  b </a:t>
              </a:r>
              <a:br>
                <a:rPr kumimoji="1" lang="en-US" altLang="zh-CN" sz="2400" dirty="0">
                  <a:solidFill>
                    <a:srgbClr val="0000FF"/>
                  </a:solidFill>
                  <a:latin typeface="Times New Roman" pitchFamily="18" charset="0"/>
                  <a:sym typeface="Symbol" pitchFamily="18" charset="2"/>
                </a:rPr>
              </a:br>
              <a:r>
                <a:rPr kumimoji="1" lang="en-US" altLang="zh-CN" sz="2400" dirty="0">
                  <a:solidFill>
                    <a:srgbClr val="0000FF"/>
                  </a:solidFill>
                  <a:latin typeface="Times New Roman" pitchFamily="18" charset="0"/>
                  <a:sym typeface="Symbol" pitchFamily="18" charset="2"/>
                </a:rPr>
                <a:t>                                             (3) A  Ab</a:t>
              </a:r>
              <a:br>
                <a:rPr kumimoji="1" lang="en-US" altLang="zh-CN" sz="2400" dirty="0">
                  <a:solidFill>
                    <a:srgbClr val="0000FF"/>
                  </a:solidFill>
                  <a:latin typeface="Times New Roman" pitchFamily="18" charset="0"/>
                  <a:sym typeface="Symbol" pitchFamily="18" charset="2"/>
                </a:rPr>
              </a:br>
              <a:r>
                <a:rPr kumimoji="1" lang="en-US" altLang="zh-CN" sz="2400" dirty="0">
                  <a:solidFill>
                    <a:srgbClr val="0000FF"/>
                  </a:solidFill>
                  <a:latin typeface="Times New Roman" pitchFamily="18" charset="0"/>
                  <a:sym typeface="Symbol" pitchFamily="18" charset="2"/>
                </a:rPr>
                <a:t>                                             (4) B  d</a:t>
              </a:r>
              <a:br>
                <a:rPr kumimoji="1" lang="en-US" altLang="zh-CN" sz="2400" dirty="0">
                  <a:solidFill>
                    <a:srgbClr val="0000FF"/>
                  </a:solidFill>
                  <a:latin typeface="Times New Roman" pitchFamily="18" charset="0"/>
                  <a:sym typeface="Symbol" pitchFamily="18" charset="2"/>
                </a:rPr>
              </a:br>
              <a:r>
                <a:rPr kumimoji="1" lang="en-US" altLang="zh-CN" sz="2400" dirty="0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 </a:t>
              </a:r>
              <a:r>
                <a:rPr kumimoji="1" lang="zh-CN" altLang="en-US" sz="2400" dirty="0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使用最右推导，判断</a:t>
              </a:r>
              <a:r>
                <a:rPr kumimoji="1" lang="en-US" altLang="zh-CN" sz="2400" dirty="0" err="1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abbcde</a:t>
              </a:r>
              <a:r>
                <a:rPr kumimoji="1" lang="zh-CN" altLang="en-US" sz="2400" dirty="0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是文法</a:t>
              </a:r>
              <a:r>
                <a:rPr kumimoji="1" lang="en-US" altLang="zh-CN" sz="2400" dirty="0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G</a:t>
              </a:r>
              <a:r>
                <a:rPr kumimoji="1" lang="zh-CN" altLang="en-US" sz="2400" dirty="0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的句子：</a:t>
              </a:r>
            </a:p>
            <a:p>
              <a:pPr eaLnBrk="1" hangingPunct="1"/>
              <a:r>
                <a:rPr kumimoji="1" lang="zh-CN" altLang="en-US" sz="2400" dirty="0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因为</a:t>
              </a:r>
              <a:r>
                <a:rPr kumimoji="1" lang="en-US" altLang="zh-CN" sz="2400" dirty="0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S      </a:t>
              </a:r>
              <a:r>
                <a:rPr kumimoji="1" lang="en-US" altLang="zh-CN" sz="2400" dirty="0" err="1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aAcBe</a:t>
              </a:r>
              <a:r>
                <a:rPr kumimoji="1" lang="en-US" altLang="zh-CN" sz="2400" dirty="0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       </a:t>
              </a:r>
              <a:r>
                <a:rPr kumimoji="1" lang="en-US" altLang="zh-CN" sz="2400" dirty="0" err="1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aAcde</a:t>
              </a:r>
              <a:r>
                <a:rPr kumimoji="1" lang="en-US" altLang="zh-CN" sz="2400" dirty="0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      </a:t>
              </a:r>
              <a:r>
                <a:rPr kumimoji="1" lang="en-US" altLang="zh-CN" sz="2400" dirty="0" err="1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aAbcde</a:t>
              </a:r>
              <a:r>
                <a:rPr kumimoji="1" lang="en-US" altLang="zh-CN" sz="2400" dirty="0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      </a:t>
              </a:r>
              <a:r>
                <a:rPr kumimoji="1" lang="en-US" altLang="zh-CN" sz="2400" dirty="0" err="1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abbcde</a:t>
              </a:r>
              <a:r>
                <a:rPr kumimoji="1" lang="zh-CN" altLang="en-US" sz="2400" dirty="0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，所以</a:t>
              </a:r>
            </a:p>
            <a:p>
              <a:pPr eaLnBrk="1" hangingPunct="1"/>
              <a:r>
                <a:rPr kumimoji="1" lang="zh-CN" altLang="en-US" sz="2400" dirty="0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     </a:t>
              </a:r>
              <a:r>
                <a:rPr kumimoji="1" lang="en-US" altLang="zh-CN" sz="2400" dirty="0" err="1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abbcde</a:t>
              </a:r>
              <a:r>
                <a:rPr kumimoji="1" lang="zh-CN" altLang="en-US" sz="2400" dirty="0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是文法</a:t>
              </a:r>
              <a:r>
                <a:rPr kumimoji="1" lang="en-US" altLang="zh-CN" sz="2400" dirty="0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G</a:t>
              </a:r>
              <a:r>
                <a:rPr kumimoji="1" lang="zh-CN" altLang="en-US" sz="2400" dirty="0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的句子。</a:t>
              </a:r>
            </a:p>
          </p:txBody>
        </p:sp>
        <p:graphicFrame>
          <p:nvGraphicFramePr>
            <p:cNvPr id="7" name="Object 6"/>
            <p:cNvGraphicFramePr>
              <a:graphicFrameLocks noChangeAspect="1"/>
            </p:cNvGraphicFramePr>
            <p:nvPr/>
          </p:nvGraphicFramePr>
          <p:xfrm>
            <a:off x="1144" y="3504"/>
            <a:ext cx="24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286" name="Equation" r:id="rId3" imgW="190440" imgH="393480" progId="Equation.3">
                    <p:embed/>
                  </p:oleObj>
                </mc:Choice>
                <mc:Fallback>
                  <p:oleObj name="Equation" r:id="rId3" imgW="19044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4" y="3504"/>
                          <a:ext cx="240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7"/>
            <p:cNvGraphicFramePr>
              <a:graphicFrameLocks noChangeAspect="1"/>
            </p:cNvGraphicFramePr>
            <p:nvPr/>
          </p:nvGraphicFramePr>
          <p:xfrm>
            <a:off x="1952" y="3504"/>
            <a:ext cx="33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287" name="Equation" r:id="rId5" imgW="190440" imgH="393480" progId="Equation.3">
                    <p:embed/>
                  </p:oleObj>
                </mc:Choice>
                <mc:Fallback>
                  <p:oleObj name="Equation" r:id="rId5" imgW="19044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52" y="3504"/>
                          <a:ext cx="336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8"/>
            <p:cNvGraphicFramePr>
              <a:graphicFrameLocks noChangeAspect="1"/>
            </p:cNvGraphicFramePr>
            <p:nvPr/>
          </p:nvGraphicFramePr>
          <p:xfrm>
            <a:off x="2792" y="3528"/>
            <a:ext cx="192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288" name="Equation" r:id="rId7" imgW="190440" imgH="393480" progId="Equation.3">
                    <p:embed/>
                  </p:oleObj>
                </mc:Choice>
                <mc:Fallback>
                  <p:oleObj name="Equation" r:id="rId7" imgW="19044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2" y="3528"/>
                          <a:ext cx="192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9"/>
            <p:cNvGraphicFramePr>
              <a:graphicFrameLocks noChangeAspect="1"/>
            </p:cNvGraphicFramePr>
            <p:nvPr/>
          </p:nvGraphicFramePr>
          <p:xfrm>
            <a:off x="3648" y="3520"/>
            <a:ext cx="192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289" name="Equation" r:id="rId9" imgW="190440" imgH="393480" progId="Equation.3">
                    <p:embed/>
                  </p:oleObj>
                </mc:Choice>
                <mc:Fallback>
                  <p:oleObj name="Equation" r:id="rId9" imgW="19044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8" y="3520"/>
                          <a:ext cx="192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468315" y="107950"/>
            <a:ext cx="8218486" cy="711200"/>
          </a:xfrm>
        </p:spPr>
        <p:txBody>
          <a:bodyPr/>
          <a:lstStyle/>
          <a:p>
            <a:r>
              <a:rPr lang="zh-CN" altLang="en-US" b="1" dirty="0"/>
              <a:t>二、移进</a:t>
            </a:r>
            <a:r>
              <a:rPr lang="en-US" altLang="zh-CN" b="1" dirty="0"/>
              <a:t>-</a:t>
            </a:r>
            <a:r>
              <a:rPr lang="zh-CN" altLang="en-US" b="1" dirty="0"/>
              <a:t>规约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1289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二、移进</a:t>
            </a:r>
            <a:r>
              <a:rPr lang="en-US" altLang="zh-CN" b="1" dirty="0"/>
              <a:t>-</a:t>
            </a:r>
            <a:r>
              <a:rPr lang="zh-CN" altLang="en-US" b="1" dirty="0"/>
              <a:t>规约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移进（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</a:rPr>
              <a:t>SHIFT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）：</a:t>
            </a:r>
            <a:r>
              <a:rPr lang="zh-CN" altLang="en-US" b="1" dirty="0">
                <a:latin typeface="+mj-ea"/>
                <a:ea typeface="+mj-ea"/>
              </a:rPr>
              <a:t>当栈顶不构成句柄时，将输入串的一个符号移进栈</a:t>
            </a:r>
          </a:p>
          <a:p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归约（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</a:rPr>
              <a:t>REDUCE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）：</a:t>
            </a:r>
            <a:r>
              <a:rPr lang="zh-CN" altLang="en-US" b="1" dirty="0">
                <a:latin typeface="+mj-ea"/>
                <a:ea typeface="+mj-ea"/>
              </a:rPr>
              <a:t>当栈顶构成一句柄时，用左部符号替换该串</a:t>
            </a:r>
          </a:p>
          <a:p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接受（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</a:rPr>
              <a:t>ACCEPT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）：</a:t>
            </a:r>
            <a:r>
              <a:rPr lang="zh-CN" altLang="en-US" b="1" dirty="0">
                <a:latin typeface="+mj-ea"/>
                <a:ea typeface="+mj-ea"/>
              </a:rPr>
              <a:t>当形成最终格局（</a:t>
            </a:r>
            <a:r>
              <a:rPr lang="en-US" altLang="zh-CN" b="1" dirty="0">
                <a:latin typeface="+mj-ea"/>
                <a:ea typeface="+mj-ea"/>
              </a:rPr>
              <a:t>#S</a:t>
            </a:r>
            <a:r>
              <a:rPr lang="zh-CN" altLang="en-US" b="1" dirty="0">
                <a:latin typeface="+mj-ea"/>
                <a:ea typeface="+mj-ea"/>
              </a:rPr>
              <a:t>，</a:t>
            </a:r>
            <a:r>
              <a:rPr lang="en-US" altLang="zh-CN" b="1" dirty="0">
                <a:latin typeface="+mj-ea"/>
                <a:ea typeface="+mj-ea"/>
              </a:rPr>
              <a:t>#</a:t>
            </a:r>
            <a:r>
              <a:rPr lang="zh-CN" altLang="en-US" b="1" dirty="0">
                <a:latin typeface="+mj-ea"/>
                <a:ea typeface="+mj-ea"/>
              </a:rPr>
              <a:t>）时，分析成功</a:t>
            </a:r>
          </a:p>
          <a:p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出错（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</a:rPr>
              <a:t>ERROR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）：</a:t>
            </a:r>
            <a:r>
              <a:rPr lang="zh-CN" altLang="en-US" b="1" dirty="0">
                <a:latin typeface="+mj-ea"/>
                <a:ea typeface="+mj-ea"/>
              </a:rPr>
              <a:t>栈顶内容与输入串相悖，无法进行分析，调</a:t>
            </a:r>
            <a:r>
              <a:rPr lang="en-US" altLang="zh-CN" b="1" dirty="0">
                <a:latin typeface="+mj-ea"/>
                <a:ea typeface="+mj-ea"/>
              </a:rPr>
              <a:t>ERROR</a:t>
            </a:r>
          </a:p>
          <a:p>
            <a:endParaRPr lang="zh-CN" altLang="en-US" b="1" dirty="0"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4164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二、移进</a:t>
            </a:r>
            <a:r>
              <a:rPr lang="en-US" altLang="zh-CN" dirty="0"/>
              <a:t>-</a:t>
            </a:r>
            <a:r>
              <a:rPr lang="zh-CN" altLang="en-US" dirty="0"/>
              <a:t>规约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语法分析树的生成演示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25475" y="5138738"/>
            <a:ext cx="6981825" cy="63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55600" indent="-269875" algn="l" rtl="0" eaLnBrk="1" fontAlgn="base" hangingPunct="1">
              <a:spcBef>
                <a:spcPts val="1800"/>
              </a:spcBef>
              <a:spcAft>
                <a:spcPct val="0"/>
              </a:spcAft>
              <a:buClr>
                <a:srgbClr val="003399"/>
              </a:buClr>
              <a:buSzPct val="80000"/>
              <a:buFont typeface="Wingdings 2" panose="05020102010507070707" pitchFamily="18" charset="2"/>
              <a:buChar char=""/>
              <a:defRPr sz="2400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357188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sz="2000" kern="1200">
                <a:solidFill>
                  <a:srgbClr val="0066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2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zh-CN" b="1" dirty="0">
                <a:latin typeface="宋体" pitchFamily="2" charset="-122"/>
              </a:rPr>
              <a:t>a        b      </a:t>
            </a:r>
            <a:r>
              <a:rPr lang="en-US" altLang="zh-CN" b="1" dirty="0" err="1">
                <a:latin typeface="宋体" pitchFamily="2" charset="-122"/>
              </a:rPr>
              <a:t>b</a:t>
            </a:r>
            <a:r>
              <a:rPr lang="en-US" altLang="zh-CN" b="1" dirty="0">
                <a:latin typeface="宋体" pitchFamily="2" charset="-122"/>
              </a:rPr>
              <a:t>       c       d        e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970088" y="4152900"/>
            <a:ext cx="441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latin typeface="Times New Roman" pitchFamily="18" charset="0"/>
              </a:rPr>
              <a:t>A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2649538" y="3151188"/>
            <a:ext cx="441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latin typeface="Times New Roman" pitchFamily="18" charset="0"/>
              </a:rPr>
              <a:t>A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5591175" y="4205288"/>
            <a:ext cx="4206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latin typeface="Times New Roman" pitchFamily="18" charset="0"/>
              </a:rPr>
              <a:t>B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3813175" y="140970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latin typeface="Times New Roman" pitchFamily="18" charset="0"/>
              </a:rPr>
              <a:t>S</a:t>
            </a:r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>
            <a:off x="2214563" y="4610100"/>
            <a:ext cx="0" cy="6096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auto">
          <a:xfrm>
            <a:off x="2900363" y="3695700"/>
            <a:ext cx="442912" cy="1549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Line 10"/>
          <p:cNvSpPr>
            <a:spLocks noChangeShapeType="1"/>
          </p:cNvSpPr>
          <p:nvPr/>
        </p:nvSpPr>
        <p:spPr bwMode="auto">
          <a:xfrm flipH="1">
            <a:off x="2366963" y="3695700"/>
            <a:ext cx="381000" cy="6096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Line 11"/>
          <p:cNvSpPr>
            <a:spLocks noChangeShapeType="1"/>
          </p:cNvSpPr>
          <p:nvPr/>
        </p:nvSpPr>
        <p:spPr bwMode="auto">
          <a:xfrm>
            <a:off x="5857875" y="4649788"/>
            <a:ext cx="0" cy="6096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Line 12"/>
          <p:cNvSpPr>
            <a:spLocks noChangeShapeType="1"/>
          </p:cNvSpPr>
          <p:nvPr/>
        </p:nvSpPr>
        <p:spPr bwMode="auto">
          <a:xfrm flipH="1">
            <a:off x="1008063" y="1943100"/>
            <a:ext cx="2730500" cy="340518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Line 13"/>
          <p:cNvSpPr>
            <a:spLocks noChangeShapeType="1"/>
          </p:cNvSpPr>
          <p:nvPr/>
        </p:nvSpPr>
        <p:spPr bwMode="auto">
          <a:xfrm flipH="1">
            <a:off x="2949575" y="1943100"/>
            <a:ext cx="865188" cy="134778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Line 14"/>
          <p:cNvSpPr>
            <a:spLocks noChangeShapeType="1"/>
          </p:cNvSpPr>
          <p:nvPr/>
        </p:nvSpPr>
        <p:spPr bwMode="auto">
          <a:xfrm>
            <a:off x="3990975" y="1943100"/>
            <a:ext cx="571500" cy="340518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Line 15"/>
          <p:cNvSpPr>
            <a:spLocks noChangeShapeType="1"/>
          </p:cNvSpPr>
          <p:nvPr/>
        </p:nvSpPr>
        <p:spPr bwMode="auto">
          <a:xfrm>
            <a:off x="4119563" y="1943100"/>
            <a:ext cx="1600200" cy="22860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16"/>
          <p:cNvSpPr>
            <a:spLocks noChangeShapeType="1"/>
          </p:cNvSpPr>
          <p:nvPr/>
        </p:nvSpPr>
        <p:spPr bwMode="auto">
          <a:xfrm>
            <a:off x="4195763" y="1866900"/>
            <a:ext cx="2895600" cy="33528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Text Box 17"/>
          <p:cNvSpPr txBox="1">
            <a:spLocks noChangeArrowheads="1"/>
          </p:cNvSpPr>
          <p:nvPr/>
        </p:nvSpPr>
        <p:spPr bwMode="auto">
          <a:xfrm>
            <a:off x="1824038" y="4741863"/>
            <a:ext cx="9001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/>
            <a:r>
              <a:rPr kumimoji="1" lang="en-US" altLang="zh-CN" sz="2800" b="1">
                <a:solidFill>
                  <a:srgbClr val="FF0000"/>
                </a:solidFill>
                <a:latin typeface="宋体" pitchFamily="2" charset="-122"/>
              </a:rPr>
              <a:t>A→b</a:t>
            </a:r>
          </a:p>
        </p:txBody>
      </p:sp>
      <p:sp>
        <p:nvSpPr>
          <p:cNvPr id="19" name="Text Box 18"/>
          <p:cNvSpPr txBox="1">
            <a:spLocks noChangeArrowheads="1"/>
          </p:cNvSpPr>
          <p:nvPr/>
        </p:nvSpPr>
        <p:spPr bwMode="auto">
          <a:xfrm>
            <a:off x="2252663" y="3806825"/>
            <a:ext cx="1079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/>
            <a:r>
              <a:rPr kumimoji="1" lang="en-US" altLang="zh-CN" sz="2800" b="1">
                <a:solidFill>
                  <a:srgbClr val="FF0000"/>
                </a:solidFill>
                <a:latin typeface="宋体" pitchFamily="2" charset="-122"/>
              </a:rPr>
              <a:t>A→Ab</a:t>
            </a:r>
          </a:p>
        </p:txBody>
      </p:sp>
      <p:sp>
        <p:nvSpPr>
          <p:cNvPr id="20" name="Text Box 19"/>
          <p:cNvSpPr txBox="1">
            <a:spLocks noChangeArrowheads="1"/>
          </p:cNvSpPr>
          <p:nvPr/>
        </p:nvSpPr>
        <p:spPr bwMode="auto">
          <a:xfrm>
            <a:off x="5456238" y="4756150"/>
            <a:ext cx="9001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/>
            <a:r>
              <a:rPr kumimoji="1" lang="en-US" altLang="zh-CN" sz="2800" b="1" dirty="0" err="1">
                <a:solidFill>
                  <a:srgbClr val="FF0000"/>
                </a:solidFill>
                <a:latin typeface="宋体" pitchFamily="2" charset="-122"/>
              </a:rPr>
              <a:t>B→d</a:t>
            </a:r>
            <a:endParaRPr kumimoji="1" lang="en-US" altLang="zh-CN" sz="2800" b="1" dirty="0">
              <a:solidFill>
                <a:srgbClr val="FF0000"/>
              </a:solidFill>
              <a:latin typeface="宋体" pitchFamily="2" charset="-122"/>
            </a:endParaRPr>
          </a:p>
        </p:txBody>
      </p:sp>
      <p:sp>
        <p:nvSpPr>
          <p:cNvPr id="21" name="Text Box 20"/>
          <p:cNvSpPr txBox="1">
            <a:spLocks noChangeArrowheads="1"/>
          </p:cNvSpPr>
          <p:nvPr/>
        </p:nvSpPr>
        <p:spPr bwMode="auto">
          <a:xfrm>
            <a:off x="3290888" y="2100263"/>
            <a:ext cx="16176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solidFill>
                  <a:srgbClr val="FF0000"/>
                </a:solidFill>
                <a:latin typeface="宋体" pitchFamily="2" charset="-122"/>
              </a:rPr>
              <a:t>S→aAcBe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6340475" y="1905000"/>
            <a:ext cx="2338388" cy="18002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800" dirty="0">
                <a:latin typeface="Times New Roman" pitchFamily="18" charset="0"/>
              </a:rPr>
              <a:t>(1)S </a:t>
            </a:r>
            <a:r>
              <a:rPr kumimoji="1" lang="en-US" altLang="zh-CN" sz="2800" dirty="0">
                <a:latin typeface="Times New Roman" pitchFamily="18" charset="0"/>
                <a:sym typeface="Symbol" pitchFamily="18" charset="2"/>
              </a:rPr>
              <a:t> </a:t>
            </a:r>
            <a:r>
              <a:rPr kumimoji="1" lang="en-US" altLang="zh-CN" sz="2800" dirty="0" err="1">
                <a:latin typeface="Times New Roman" pitchFamily="18" charset="0"/>
                <a:sym typeface="Symbol" pitchFamily="18" charset="2"/>
              </a:rPr>
              <a:t>aAcBe</a:t>
            </a:r>
            <a:br>
              <a:rPr kumimoji="1" lang="en-US" altLang="zh-CN" sz="2800" dirty="0">
                <a:latin typeface="Times New Roman" pitchFamily="18" charset="0"/>
                <a:sym typeface="Symbol" pitchFamily="18" charset="2"/>
              </a:rPr>
            </a:br>
            <a:r>
              <a:rPr kumimoji="1" lang="en-US" altLang="zh-CN" sz="2800" dirty="0">
                <a:latin typeface="Times New Roman" pitchFamily="18" charset="0"/>
                <a:sym typeface="Symbol" pitchFamily="18" charset="2"/>
              </a:rPr>
              <a:t>(2)A  b </a:t>
            </a:r>
            <a:br>
              <a:rPr kumimoji="1" lang="en-US" altLang="zh-CN" sz="2800" dirty="0">
                <a:latin typeface="Times New Roman" pitchFamily="18" charset="0"/>
                <a:sym typeface="Symbol" pitchFamily="18" charset="2"/>
              </a:rPr>
            </a:br>
            <a:r>
              <a:rPr kumimoji="1" lang="en-US" altLang="zh-CN" sz="2800" dirty="0">
                <a:latin typeface="Times New Roman" pitchFamily="18" charset="0"/>
                <a:sym typeface="Symbol" pitchFamily="18" charset="2"/>
              </a:rPr>
              <a:t>(3)A  Ab</a:t>
            </a:r>
            <a:br>
              <a:rPr kumimoji="1" lang="en-US" altLang="zh-CN" sz="2800" dirty="0">
                <a:latin typeface="Times New Roman" pitchFamily="18" charset="0"/>
                <a:sym typeface="Symbol" pitchFamily="18" charset="2"/>
              </a:rPr>
            </a:br>
            <a:r>
              <a:rPr kumimoji="1" lang="en-US" altLang="zh-CN" sz="2800" dirty="0">
                <a:latin typeface="Times New Roman" pitchFamily="18" charset="0"/>
                <a:sym typeface="Symbol" pitchFamily="18" charset="2"/>
              </a:rPr>
              <a:t>(4)B  d</a:t>
            </a:r>
          </a:p>
        </p:txBody>
      </p:sp>
      <p:sp>
        <p:nvSpPr>
          <p:cNvPr id="23" name="矩形 22"/>
          <p:cNvSpPr/>
          <p:nvPr/>
        </p:nvSpPr>
        <p:spPr>
          <a:xfrm>
            <a:off x="2949456" y="5770563"/>
            <a:ext cx="2223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句子</a:t>
            </a:r>
            <a:r>
              <a:rPr kumimoji="1" lang="en-US" altLang="zh-CN" dirty="0" err="1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abbcde</a:t>
            </a:r>
            <a:r>
              <a:rPr kumimoji="1" lang="zh-CN" altLang="en-US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的语法树</a:t>
            </a:r>
            <a:endParaRPr lang="zh-CN" altLang="en-US" dirty="0"/>
          </a:p>
        </p:txBody>
      </p:sp>
      <p:sp>
        <p:nvSpPr>
          <p:cNvPr id="25" name="灯片编号占位符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4167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500"/>
                            </p:stCondLst>
                            <p:childTnLst>
                              <p:par>
                                <p:cTn id="101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2000"/>
                            </p:stCondLst>
                            <p:childTnLst>
                              <p:par>
                                <p:cTn id="108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15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  <p:bldP spid="5" grpId="0" autoUpdateAnimBg="0"/>
      <p:bldP spid="6" grpId="0" autoUpdateAnimBg="0"/>
      <p:bldP spid="7" grpId="0" autoUpdateAnimBg="0"/>
      <p:bldP spid="8" grpId="0" autoUpdateAnimBg="0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utoUpdateAnimBg="0"/>
      <p:bldP spid="19" grpId="0" autoUpdateAnimBg="0"/>
      <p:bldP spid="20" grpId="0" autoUpdateAnimBg="0"/>
      <p:bldP spid="21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给定右边的文法，</a:t>
            </a:r>
            <a:endParaRPr lang="en-US" altLang="zh-CN" dirty="0"/>
          </a:p>
          <a:p>
            <a:r>
              <a:rPr lang="zh-CN" altLang="en-US" dirty="0"/>
              <a:t>用句柄对符号串</a:t>
            </a:r>
            <a:r>
              <a:rPr lang="en-US" altLang="zh-CN" dirty="0" err="1"/>
              <a:t>abbcde</a:t>
            </a:r>
            <a:r>
              <a:rPr lang="zh-CN" altLang="en-US" dirty="0"/>
              <a:t>进行</a:t>
            </a:r>
            <a:r>
              <a:rPr lang="zh-CN" altLang="en-US" dirty="0">
                <a:solidFill>
                  <a:srgbClr val="FF0000"/>
                </a:solidFill>
              </a:rPr>
              <a:t>归约</a:t>
            </a:r>
          </a:p>
          <a:p>
            <a:endParaRPr lang="zh-CN" altLang="en-US" dirty="0"/>
          </a:p>
        </p:txBody>
      </p:sp>
      <p:graphicFrame>
        <p:nvGraphicFramePr>
          <p:cNvPr id="6" name="Group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1654954"/>
              </p:ext>
            </p:extLst>
          </p:nvPr>
        </p:nvGraphicFramePr>
        <p:xfrm>
          <a:off x="323850" y="2266951"/>
          <a:ext cx="3711575" cy="3178176"/>
        </p:xfrm>
        <a:graphic>
          <a:graphicData uri="http://schemas.openxmlformats.org/drawingml/2006/table">
            <a:tbl>
              <a:tblPr/>
              <a:tblGrid>
                <a:gridCol w="144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6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符号串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归约规则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abbcde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28"/>
          <p:cNvSpPr>
            <a:spLocks noChangeArrowheads="1"/>
          </p:cNvSpPr>
          <p:nvPr/>
        </p:nvSpPr>
        <p:spPr bwMode="auto">
          <a:xfrm>
            <a:off x="6819900" y="994096"/>
            <a:ext cx="2324100" cy="18002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800" dirty="0">
                <a:solidFill>
                  <a:srgbClr val="FF0000"/>
                </a:solidFill>
                <a:latin typeface="Times New Roman" pitchFamily="18" charset="0"/>
              </a:rPr>
              <a:t>(1)S </a:t>
            </a:r>
            <a:r>
              <a:rPr kumimoji="1" lang="en-US" altLang="zh-CN" sz="2800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 </a:t>
            </a:r>
            <a:r>
              <a:rPr kumimoji="1" lang="en-US" altLang="zh-CN" sz="2800" dirty="0" err="1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aAcBe</a:t>
            </a:r>
            <a:br>
              <a:rPr kumimoji="1" lang="en-US" altLang="zh-CN" sz="2800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</a:br>
            <a:r>
              <a:rPr kumimoji="1" lang="en-US" altLang="zh-CN" sz="2800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(2)A  b </a:t>
            </a:r>
            <a:br>
              <a:rPr kumimoji="1" lang="en-US" altLang="zh-CN" sz="2800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</a:br>
            <a:r>
              <a:rPr kumimoji="1" lang="en-US" altLang="zh-CN" sz="2800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(3)A  Ab</a:t>
            </a:r>
            <a:br>
              <a:rPr kumimoji="1" lang="en-US" altLang="zh-CN" sz="2800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</a:br>
            <a:r>
              <a:rPr kumimoji="1" lang="en-US" altLang="zh-CN" sz="2800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(4)B  d</a:t>
            </a:r>
          </a:p>
        </p:txBody>
      </p:sp>
      <p:sp>
        <p:nvSpPr>
          <p:cNvPr id="8" name="Rectangle 35"/>
          <p:cNvSpPr>
            <a:spLocks noChangeArrowheads="1"/>
          </p:cNvSpPr>
          <p:nvPr/>
        </p:nvSpPr>
        <p:spPr bwMode="auto">
          <a:xfrm>
            <a:off x="1898650" y="2801938"/>
            <a:ext cx="1211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en-US" altLang="zh-CN" sz="2400">
                <a:solidFill>
                  <a:srgbClr val="FF0000"/>
                </a:solidFill>
                <a:latin typeface="Times New Roman" pitchFamily="18" charset="0"/>
              </a:rPr>
              <a:t>(2)A</a:t>
            </a:r>
            <a:r>
              <a:rPr kumimoji="1" lang="en-US" altLang="zh-CN" sz="2400">
                <a:solidFill>
                  <a:srgbClr val="FF0000"/>
                </a:solidFill>
                <a:latin typeface="Times New Roman" pitchFamily="18" charset="0"/>
                <a:sym typeface="Wingdings" pitchFamily="2" charset="2"/>
              </a:rPr>
              <a:t>b</a:t>
            </a:r>
          </a:p>
        </p:txBody>
      </p:sp>
      <p:sp>
        <p:nvSpPr>
          <p:cNvPr id="9" name="Rectangle 37"/>
          <p:cNvSpPr>
            <a:spLocks noChangeArrowheads="1"/>
          </p:cNvSpPr>
          <p:nvPr/>
        </p:nvSpPr>
        <p:spPr bwMode="auto">
          <a:xfrm>
            <a:off x="1938337" y="3322638"/>
            <a:ext cx="1585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en-US" altLang="zh-CN" sz="240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(3)A  Ab</a:t>
            </a:r>
          </a:p>
        </p:txBody>
      </p:sp>
      <p:sp>
        <p:nvSpPr>
          <p:cNvPr id="10" name="Rectangle 38"/>
          <p:cNvSpPr>
            <a:spLocks noChangeArrowheads="1"/>
          </p:cNvSpPr>
          <p:nvPr/>
        </p:nvSpPr>
        <p:spPr bwMode="auto">
          <a:xfrm>
            <a:off x="333375" y="3363913"/>
            <a:ext cx="12684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800">
                <a:solidFill>
                  <a:srgbClr val="FF0000"/>
                </a:solidFill>
                <a:latin typeface="Times New Roman" pitchFamily="18" charset="0"/>
              </a:rPr>
              <a:t>aAbcde</a:t>
            </a:r>
          </a:p>
        </p:txBody>
      </p:sp>
      <p:sp>
        <p:nvSpPr>
          <p:cNvPr id="11" name="Rectangle 39"/>
          <p:cNvSpPr>
            <a:spLocks noChangeArrowheads="1"/>
          </p:cNvSpPr>
          <p:nvPr/>
        </p:nvSpPr>
        <p:spPr bwMode="auto">
          <a:xfrm>
            <a:off x="333375" y="3849688"/>
            <a:ext cx="10906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en-US" altLang="zh-CN" sz="2800">
                <a:solidFill>
                  <a:srgbClr val="FF0000"/>
                </a:solidFill>
                <a:latin typeface="Times New Roman" pitchFamily="18" charset="0"/>
              </a:rPr>
              <a:t>aAcde</a:t>
            </a:r>
          </a:p>
        </p:txBody>
      </p:sp>
      <p:sp>
        <p:nvSpPr>
          <p:cNvPr id="12" name="Rectangle 40"/>
          <p:cNvSpPr>
            <a:spLocks noChangeArrowheads="1"/>
          </p:cNvSpPr>
          <p:nvPr/>
        </p:nvSpPr>
        <p:spPr bwMode="auto">
          <a:xfrm>
            <a:off x="1920875" y="3854451"/>
            <a:ext cx="13477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en-US" altLang="zh-CN" sz="240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(4)B  d</a:t>
            </a:r>
          </a:p>
        </p:txBody>
      </p:sp>
      <p:sp>
        <p:nvSpPr>
          <p:cNvPr id="13" name="Rectangle 41"/>
          <p:cNvSpPr>
            <a:spLocks noChangeArrowheads="1"/>
          </p:cNvSpPr>
          <p:nvPr/>
        </p:nvSpPr>
        <p:spPr bwMode="auto">
          <a:xfrm>
            <a:off x="1949450" y="4379913"/>
            <a:ext cx="1990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en-US" altLang="zh-CN" sz="2400">
                <a:solidFill>
                  <a:srgbClr val="FF0000"/>
                </a:solidFill>
                <a:latin typeface="Times New Roman" pitchFamily="18" charset="0"/>
              </a:rPr>
              <a:t>(1)S </a:t>
            </a:r>
            <a:r>
              <a:rPr kumimoji="1" lang="en-US" altLang="zh-CN" sz="240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 aAcBe</a:t>
            </a:r>
          </a:p>
        </p:txBody>
      </p:sp>
      <p:sp>
        <p:nvSpPr>
          <p:cNvPr id="14" name="Rectangle 43"/>
          <p:cNvSpPr>
            <a:spLocks noChangeArrowheads="1"/>
          </p:cNvSpPr>
          <p:nvPr/>
        </p:nvSpPr>
        <p:spPr bwMode="auto">
          <a:xfrm>
            <a:off x="371475" y="4384676"/>
            <a:ext cx="1149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en-US" altLang="zh-CN" sz="2800">
                <a:solidFill>
                  <a:srgbClr val="FF0000"/>
                </a:solidFill>
                <a:latin typeface="Times New Roman" pitchFamily="18" charset="0"/>
              </a:rPr>
              <a:t>aAcBe</a:t>
            </a:r>
          </a:p>
        </p:txBody>
      </p:sp>
      <p:sp>
        <p:nvSpPr>
          <p:cNvPr id="15" name="Rectangle 44"/>
          <p:cNvSpPr>
            <a:spLocks noChangeArrowheads="1"/>
          </p:cNvSpPr>
          <p:nvPr/>
        </p:nvSpPr>
        <p:spPr bwMode="auto">
          <a:xfrm>
            <a:off x="373062" y="4935538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800">
                <a:solidFill>
                  <a:srgbClr val="FF0000"/>
                </a:solidFill>
                <a:latin typeface="Times New Roman" pitchFamily="18" charset="0"/>
              </a:rPr>
              <a:t>S</a:t>
            </a:r>
          </a:p>
        </p:txBody>
      </p:sp>
      <p:sp>
        <p:nvSpPr>
          <p:cNvPr id="16" name="Line 45"/>
          <p:cNvSpPr>
            <a:spLocks noChangeShapeType="1"/>
          </p:cNvSpPr>
          <p:nvPr/>
        </p:nvSpPr>
        <p:spPr bwMode="auto">
          <a:xfrm>
            <a:off x="563562" y="3275013"/>
            <a:ext cx="169863" cy="317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7" name="Line 46"/>
          <p:cNvSpPr>
            <a:spLocks noChangeShapeType="1"/>
          </p:cNvSpPr>
          <p:nvPr/>
        </p:nvSpPr>
        <p:spPr bwMode="auto">
          <a:xfrm>
            <a:off x="612775" y="3813176"/>
            <a:ext cx="323850" cy="317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8" name="Line 47"/>
          <p:cNvSpPr>
            <a:spLocks noChangeShapeType="1"/>
          </p:cNvSpPr>
          <p:nvPr/>
        </p:nvSpPr>
        <p:spPr bwMode="auto">
          <a:xfrm>
            <a:off x="985837" y="4316413"/>
            <a:ext cx="169863" cy="317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9" name="Line 48"/>
          <p:cNvSpPr>
            <a:spLocks noChangeShapeType="1"/>
          </p:cNvSpPr>
          <p:nvPr/>
        </p:nvSpPr>
        <p:spPr bwMode="auto">
          <a:xfrm>
            <a:off x="469900" y="4856163"/>
            <a:ext cx="904875" cy="4763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FF0000"/>
              </a:solidFill>
            </a:endParaRPr>
          </a:p>
        </p:txBody>
      </p:sp>
      <p:grpSp>
        <p:nvGrpSpPr>
          <p:cNvPr id="20" name="Group 71"/>
          <p:cNvGrpSpPr>
            <a:grpSpLocks/>
          </p:cNvGrpSpPr>
          <p:nvPr/>
        </p:nvGrpSpPr>
        <p:grpSpPr bwMode="auto">
          <a:xfrm>
            <a:off x="5246688" y="1947863"/>
            <a:ext cx="2022475" cy="3741738"/>
            <a:chOff x="3950" y="1214"/>
            <a:chExt cx="1274" cy="2357"/>
          </a:xfrm>
        </p:grpSpPr>
        <p:sp>
          <p:nvSpPr>
            <p:cNvPr id="21" name="Rectangle 52"/>
            <p:cNvSpPr>
              <a:spLocks noChangeArrowheads="1"/>
            </p:cNvSpPr>
            <p:nvPr/>
          </p:nvSpPr>
          <p:spPr bwMode="auto">
            <a:xfrm>
              <a:off x="3982" y="3244"/>
              <a:ext cx="22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>
                  <a:solidFill>
                    <a:srgbClr val="FF0000"/>
                  </a:solidFill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22" name="Line 53"/>
            <p:cNvSpPr>
              <a:spLocks noChangeShapeType="1"/>
            </p:cNvSpPr>
            <p:nvPr/>
          </p:nvSpPr>
          <p:spPr bwMode="auto">
            <a:xfrm flipH="1" flipV="1">
              <a:off x="4067" y="2972"/>
              <a:ext cx="11" cy="31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23" name="Rectangle 54"/>
            <p:cNvSpPr>
              <a:spLocks noChangeArrowheads="1"/>
            </p:cNvSpPr>
            <p:nvPr/>
          </p:nvSpPr>
          <p:spPr bwMode="auto">
            <a:xfrm>
              <a:off x="3950" y="2712"/>
              <a:ext cx="2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>
                  <a:solidFill>
                    <a:srgbClr val="FF0000"/>
                  </a:solidFill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24" name="Line 55"/>
            <p:cNvSpPr>
              <a:spLocks noChangeShapeType="1"/>
            </p:cNvSpPr>
            <p:nvPr/>
          </p:nvSpPr>
          <p:spPr bwMode="auto">
            <a:xfrm flipV="1">
              <a:off x="4105" y="2480"/>
              <a:ext cx="209" cy="323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25" name="Line 56"/>
            <p:cNvSpPr>
              <a:spLocks noChangeShapeType="1"/>
            </p:cNvSpPr>
            <p:nvPr/>
          </p:nvSpPr>
          <p:spPr bwMode="auto">
            <a:xfrm flipH="1" flipV="1">
              <a:off x="4372" y="2490"/>
              <a:ext cx="22" cy="32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26" name="Rectangle 57"/>
            <p:cNvSpPr>
              <a:spLocks noChangeArrowheads="1"/>
            </p:cNvSpPr>
            <p:nvPr/>
          </p:nvSpPr>
          <p:spPr bwMode="auto">
            <a:xfrm>
              <a:off x="4261" y="2100"/>
              <a:ext cx="2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>
                  <a:solidFill>
                    <a:srgbClr val="FF0000"/>
                  </a:solidFill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27" name="Rectangle 58"/>
            <p:cNvSpPr>
              <a:spLocks noChangeArrowheads="1"/>
            </p:cNvSpPr>
            <p:nvPr/>
          </p:nvSpPr>
          <p:spPr bwMode="auto">
            <a:xfrm>
              <a:off x="4757" y="2089"/>
              <a:ext cx="26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>
                  <a:solidFill>
                    <a:srgbClr val="FF0000"/>
                  </a:solidFill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28" name="Line 59"/>
            <p:cNvSpPr>
              <a:spLocks noChangeShapeType="1"/>
            </p:cNvSpPr>
            <p:nvPr/>
          </p:nvSpPr>
          <p:spPr bwMode="auto">
            <a:xfrm flipH="1" flipV="1">
              <a:off x="4877" y="2365"/>
              <a:ext cx="11" cy="323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29" name="Line 60"/>
            <p:cNvSpPr>
              <a:spLocks noChangeShapeType="1"/>
            </p:cNvSpPr>
            <p:nvPr/>
          </p:nvSpPr>
          <p:spPr bwMode="auto">
            <a:xfrm flipV="1">
              <a:off x="4127" y="1513"/>
              <a:ext cx="451" cy="69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0" name="Line 61"/>
            <p:cNvSpPr>
              <a:spLocks noChangeShapeType="1"/>
            </p:cNvSpPr>
            <p:nvPr/>
          </p:nvSpPr>
          <p:spPr bwMode="auto">
            <a:xfrm flipV="1">
              <a:off x="4427" y="1513"/>
              <a:ext cx="197" cy="623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1" name="Line 62"/>
            <p:cNvSpPr>
              <a:spLocks noChangeShapeType="1"/>
            </p:cNvSpPr>
            <p:nvPr/>
          </p:nvSpPr>
          <p:spPr bwMode="auto">
            <a:xfrm flipV="1">
              <a:off x="4647" y="1523"/>
              <a:ext cx="1" cy="657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2" name="Line 63"/>
            <p:cNvSpPr>
              <a:spLocks noChangeShapeType="1"/>
            </p:cNvSpPr>
            <p:nvPr/>
          </p:nvSpPr>
          <p:spPr bwMode="auto">
            <a:xfrm flipH="1" flipV="1">
              <a:off x="4682" y="1536"/>
              <a:ext cx="161" cy="61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3" name="Line 64"/>
            <p:cNvSpPr>
              <a:spLocks noChangeShapeType="1"/>
            </p:cNvSpPr>
            <p:nvPr/>
          </p:nvSpPr>
          <p:spPr bwMode="auto">
            <a:xfrm flipH="1" flipV="1">
              <a:off x="4704" y="1490"/>
              <a:ext cx="415" cy="65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4" name="Rectangle 65"/>
            <p:cNvSpPr>
              <a:spLocks noChangeArrowheads="1"/>
            </p:cNvSpPr>
            <p:nvPr/>
          </p:nvSpPr>
          <p:spPr bwMode="auto">
            <a:xfrm>
              <a:off x="4512" y="1214"/>
              <a:ext cx="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>
                  <a:solidFill>
                    <a:srgbClr val="FF0000"/>
                  </a:solidFill>
                  <a:latin typeface="Times New Roman" pitchFamily="18" charset="0"/>
                </a:rPr>
                <a:t>S</a:t>
              </a:r>
            </a:p>
          </p:txBody>
        </p:sp>
        <p:sp>
          <p:nvSpPr>
            <p:cNvPr id="35" name="Rectangle 66"/>
            <p:cNvSpPr>
              <a:spLocks noChangeArrowheads="1"/>
            </p:cNvSpPr>
            <p:nvPr/>
          </p:nvSpPr>
          <p:spPr bwMode="auto">
            <a:xfrm>
              <a:off x="3963" y="2095"/>
              <a:ext cx="21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>
                  <a:solidFill>
                    <a:srgbClr val="FF0000"/>
                  </a:solidFill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36" name="Rectangle 67"/>
            <p:cNvSpPr>
              <a:spLocks noChangeArrowheads="1"/>
            </p:cNvSpPr>
            <p:nvPr/>
          </p:nvSpPr>
          <p:spPr bwMode="auto">
            <a:xfrm>
              <a:off x="4552" y="2107"/>
              <a:ext cx="21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>
                  <a:solidFill>
                    <a:srgbClr val="FF0000"/>
                  </a:solidFill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37" name="Rectangle 68"/>
            <p:cNvSpPr>
              <a:spLocks noChangeArrowheads="1"/>
            </p:cNvSpPr>
            <p:nvPr/>
          </p:nvSpPr>
          <p:spPr bwMode="auto">
            <a:xfrm>
              <a:off x="4757" y="2626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>
                  <a:solidFill>
                    <a:srgbClr val="FF0000"/>
                  </a:solidFill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38" name="Rectangle 69"/>
            <p:cNvSpPr>
              <a:spLocks noChangeArrowheads="1"/>
            </p:cNvSpPr>
            <p:nvPr/>
          </p:nvSpPr>
          <p:spPr bwMode="auto">
            <a:xfrm>
              <a:off x="5009" y="2073"/>
              <a:ext cx="21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>
                  <a:solidFill>
                    <a:srgbClr val="FF0000"/>
                  </a:solidFill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39" name="Rectangle 70"/>
            <p:cNvSpPr>
              <a:spLocks noChangeArrowheads="1"/>
            </p:cNvSpPr>
            <p:nvPr/>
          </p:nvSpPr>
          <p:spPr bwMode="auto">
            <a:xfrm>
              <a:off x="4297" y="2741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>
                  <a:solidFill>
                    <a:srgbClr val="FF0000"/>
                  </a:solidFill>
                  <a:latin typeface="Times New Roman" pitchFamily="18" charset="0"/>
                </a:rPr>
                <a:t>b</a:t>
              </a:r>
            </a:p>
          </p:txBody>
        </p:sp>
      </p:grpSp>
      <p:sp>
        <p:nvSpPr>
          <p:cNvPr id="40" name="Rectangle 72"/>
          <p:cNvSpPr>
            <a:spLocks noChangeArrowheads="1"/>
          </p:cNvSpPr>
          <p:nvPr/>
        </p:nvSpPr>
        <p:spPr bwMode="auto">
          <a:xfrm>
            <a:off x="5145088" y="4743451"/>
            <a:ext cx="587375" cy="954087"/>
          </a:xfrm>
          <a:prstGeom prst="rect">
            <a:avLst/>
          </a:prstGeom>
          <a:solidFill>
            <a:srgbClr val="FFFFCC"/>
          </a:solidFill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endParaRPr kumimoji="1" lang="zh-CN" altLang="en-US" sz="2400" b="1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41" name="Rectangle 73"/>
          <p:cNvSpPr>
            <a:spLocks noChangeArrowheads="1"/>
          </p:cNvSpPr>
          <p:nvPr/>
        </p:nvSpPr>
        <p:spPr bwMode="auto">
          <a:xfrm>
            <a:off x="5351463" y="3830638"/>
            <a:ext cx="900113" cy="1787525"/>
          </a:xfrm>
          <a:prstGeom prst="rect">
            <a:avLst/>
          </a:prstGeom>
          <a:solidFill>
            <a:srgbClr val="FFFFCC"/>
          </a:solidFill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endParaRPr kumimoji="1" lang="zh-CN" altLang="en-US" sz="2400" b="1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42" name="Rectangle 74"/>
          <p:cNvSpPr>
            <a:spLocks noChangeArrowheads="1"/>
          </p:cNvSpPr>
          <p:nvPr/>
        </p:nvSpPr>
        <p:spPr bwMode="auto">
          <a:xfrm>
            <a:off x="6416676" y="3776663"/>
            <a:ext cx="587375" cy="954088"/>
          </a:xfrm>
          <a:prstGeom prst="rect">
            <a:avLst/>
          </a:prstGeom>
          <a:solidFill>
            <a:srgbClr val="FFFFCC"/>
          </a:solidFill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endParaRPr kumimoji="1" lang="zh-CN" altLang="en-US" sz="2400" b="1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43" name="标题 1"/>
          <p:cNvSpPr>
            <a:spLocks noGrp="1"/>
          </p:cNvSpPr>
          <p:nvPr>
            <p:ph type="title"/>
          </p:nvPr>
        </p:nvSpPr>
        <p:spPr>
          <a:xfrm>
            <a:off x="468315" y="107950"/>
            <a:ext cx="8218486" cy="711200"/>
          </a:xfrm>
        </p:spPr>
        <p:txBody>
          <a:bodyPr/>
          <a:lstStyle/>
          <a:p>
            <a:r>
              <a:rPr lang="zh-CN" altLang="en-US" b="1" dirty="0"/>
              <a:t>二、移进</a:t>
            </a:r>
            <a:r>
              <a:rPr lang="en-US" altLang="zh-CN" b="1" dirty="0"/>
              <a:t>-</a:t>
            </a:r>
            <a:r>
              <a:rPr lang="zh-CN" altLang="en-US" b="1" dirty="0"/>
              <a:t>规约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718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  <p:bldP spid="9" grpId="0" autoUpdateAnimBg="0"/>
      <p:bldP spid="10" grpId="0" autoUpdateAnimBg="0"/>
      <p:bldP spid="11" grpId="0" autoUpdateAnimBg="0"/>
      <p:bldP spid="12" grpId="0" autoUpdateAnimBg="0"/>
      <p:bldP spid="13" grpId="0" autoUpdateAnimBg="0"/>
      <p:bldP spid="14" grpId="0" autoUpdateAnimBg="0"/>
      <p:bldP spid="15" grpId="0" autoUpdateAnimBg="0"/>
      <p:bldP spid="16" grpId="0" animBg="1"/>
      <p:bldP spid="17" grpId="0" animBg="1"/>
      <p:bldP spid="18" grpId="0" animBg="1"/>
      <p:bldP spid="19" grpId="0" animBg="1"/>
      <p:bldP spid="40" grpId="0" animBg="1"/>
      <p:bldP spid="41" grpId="0" animBg="1"/>
      <p:bldP spid="4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二、移进</a:t>
            </a:r>
            <a:r>
              <a:rPr lang="en-US" altLang="zh-CN" b="1" dirty="0"/>
              <a:t>-</a:t>
            </a:r>
            <a:r>
              <a:rPr lang="zh-CN" altLang="en-US" b="1" dirty="0"/>
              <a:t>规约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“移进</a:t>
            </a:r>
            <a:r>
              <a:rPr lang="en-US" altLang="zh-CN" dirty="0"/>
              <a:t>-</a:t>
            </a:r>
            <a:r>
              <a:rPr lang="zh-CN" altLang="en-US" dirty="0"/>
              <a:t>规约”分析器，主要用到</a:t>
            </a:r>
            <a:r>
              <a:rPr lang="zh-CN" altLang="en-US" dirty="0">
                <a:solidFill>
                  <a:srgbClr val="FF0000"/>
                </a:solidFill>
              </a:rPr>
              <a:t>两个数据结构</a:t>
            </a:r>
            <a:r>
              <a:rPr lang="zh-CN" altLang="en-US" dirty="0"/>
              <a:t>：</a:t>
            </a:r>
            <a:r>
              <a:rPr lang="zh-CN" altLang="en-US" dirty="0">
                <a:solidFill>
                  <a:srgbClr val="FF0000"/>
                </a:solidFill>
              </a:rPr>
              <a:t>符号栈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FF0000"/>
                </a:solidFill>
              </a:rPr>
              <a:t>输入缓冲区</a:t>
            </a:r>
            <a:r>
              <a:rPr lang="zh-CN" altLang="en-US" dirty="0"/>
              <a:t>，“</a:t>
            </a:r>
            <a:r>
              <a:rPr lang="en-US" altLang="zh-CN" dirty="0">
                <a:solidFill>
                  <a:srgbClr val="FF0000"/>
                </a:solidFill>
              </a:rPr>
              <a:t>#</a:t>
            </a:r>
            <a:r>
              <a:rPr lang="en-US" altLang="zh-CN" dirty="0"/>
              <a:t>”</a:t>
            </a:r>
            <a:r>
              <a:rPr lang="zh-CN" altLang="en-US" dirty="0"/>
              <a:t>作为</a:t>
            </a:r>
            <a:r>
              <a:rPr lang="zh-CN" altLang="en-US" dirty="0">
                <a:solidFill>
                  <a:srgbClr val="FF0000"/>
                </a:solidFill>
              </a:rPr>
              <a:t>栈底符</a:t>
            </a:r>
            <a:r>
              <a:rPr lang="zh-CN" altLang="en-US" dirty="0"/>
              <a:t>和输入串的</a:t>
            </a:r>
            <a:r>
              <a:rPr lang="zh-CN" altLang="en-US" dirty="0">
                <a:solidFill>
                  <a:srgbClr val="FF0000"/>
                </a:solidFill>
              </a:rPr>
              <a:t>“结束符”</a:t>
            </a:r>
            <a:r>
              <a:rPr lang="zh-CN" altLang="en-US" dirty="0"/>
              <a:t>。分析过程的描述：</a:t>
            </a:r>
          </a:p>
          <a:p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0896305"/>
              </p:ext>
            </p:extLst>
          </p:nvPr>
        </p:nvGraphicFramePr>
        <p:xfrm>
          <a:off x="1340819" y="2708911"/>
          <a:ext cx="6480801" cy="16209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99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05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05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 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solidFill>
                            <a:srgbClr val="FF0000"/>
                          </a:solidFill>
                          <a:effectLst/>
                        </a:rPr>
                        <a:t>符号栈</a:t>
                      </a:r>
                      <a:endParaRPr lang="zh-CN" sz="2400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solidFill>
                            <a:srgbClr val="FF0000"/>
                          </a:solidFill>
                          <a:effectLst/>
                        </a:rPr>
                        <a:t>输入串</a:t>
                      </a:r>
                      <a:endParaRPr lang="zh-CN" sz="2400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85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初始情形</a:t>
                      </a:r>
                      <a:endParaRPr lang="zh-CN" sz="24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#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sym typeface="Symbol"/>
                        </a:rPr>
                        <a:t></a:t>
                      </a:r>
                      <a:r>
                        <a:rPr lang="en-US" sz="2400" kern="100">
                          <a:effectLst/>
                        </a:rPr>
                        <a:t>#</a:t>
                      </a:r>
                      <a:endParaRPr lang="zh-CN" sz="24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85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中间情形</a:t>
                      </a:r>
                      <a:endParaRPr lang="zh-CN" sz="24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#</a:t>
                      </a:r>
                      <a:r>
                        <a:rPr lang="en-US" sz="2400" kern="100" dirty="0">
                          <a:effectLst/>
                          <a:sym typeface="Symbol"/>
                        </a:rPr>
                        <a:t></a:t>
                      </a:r>
                      <a:r>
                        <a:rPr lang="en-US" sz="2400" kern="100" baseline="-25000" dirty="0">
                          <a:effectLst/>
                        </a:rPr>
                        <a:t>1</a:t>
                      </a:r>
                      <a:endParaRPr lang="zh-CN" sz="2400" kern="100" baseline="-250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sym typeface="Symbol"/>
                        </a:rPr>
                        <a:t></a:t>
                      </a:r>
                      <a:r>
                        <a:rPr lang="en-US" sz="2400" kern="100" baseline="-25000" dirty="0">
                          <a:effectLst/>
                        </a:rPr>
                        <a:t>2</a:t>
                      </a:r>
                      <a:r>
                        <a:rPr lang="en-US" sz="2400" kern="100" dirty="0">
                          <a:effectLst/>
                        </a:rPr>
                        <a:t>#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70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</a:rPr>
                        <a:t>最终情形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#S</a:t>
                      </a:r>
                      <a:endParaRPr lang="zh-CN" sz="24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#</a:t>
                      </a:r>
                      <a:r>
                        <a:rPr lang="zh-CN" sz="2400" kern="100" dirty="0">
                          <a:effectLst/>
                        </a:rPr>
                        <a:t>（成功）</a:t>
                      </a:r>
                      <a:endParaRPr lang="zh-CN" sz="2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7360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二、移进</a:t>
            </a:r>
            <a:r>
              <a:rPr lang="en-US" altLang="zh-CN" b="1" dirty="0"/>
              <a:t>-</a:t>
            </a:r>
            <a:r>
              <a:rPr lang="zh-CN" altLang="en-US" b="1" dirty="0"/>
              <a:t>规约</a:t>
            </a: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0" y="894720"/>
            <a:ext cx="6696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3333CC"/>
                </a:solidFill>
                <a:latin typeface="Arial" pitchFamily="34" charset="0"/>
                <a:ea typeface="黑体" pitchFamily="49" charset="-122"/>
              </a:rPr>
              <a:t>例：</a:t>
            </a:r>
            <a:r>
              <a:rPr lang="zh-CN" altLang="en-US" sz="2400" dirty="0">
                <a:solidFill>
                  <a:srgbClr val="3333CC"/>
                </a:solidFill>
                <a:latin typeface="Arial" pitchFamily="34" charset="0"/>
                <a:ea typeface="黑体" pitchFamily="49" charset="-122"/>
              </a:rPr>
              <a:t>移进</a:t>
            </a:r>
            <a:r>
              <a:rPr lang="en-US" altLang="zh-CN" sz="2400" dirty="0">
                <a:solidFill>
                  <a:srgbClr val="3333CC"/>
                </a:solidFill>
                <a:latin typeface="Times New Roman" pitchFamily="18" charset="0"/>
                <a:ea typeface="黑体" pitchFamily="49" charset="-122"/>
              </a:rPr>
              <a:t>—</a:t>
            </a:r>
            <a:r>
              <a:rPr lang="zh-CN" altLang="en-US" sz="2400" dirty="0">
                <a:solidFill>
                  <a:srgbClr val="3333CC"/>
                </a:solidFill>
                <a:latin typeface="Arial" pitchFamily="34" charset="0"/>
                <a:ea typeface="黑体" pitchFamily="49" charset="-122"/>
              </a:rPr>
              <a:t>归约对输入</a:t>
            </a:r>
            <a:r>
              <a:rPr lang="zh-CN" altLang="en-US" sz="2400" b="1" dirty="0">
                <a:solidFill>
                  <a:srgbClr val="3333CC"/>
                </a:solidFill>
                <a:latin typeface="Arial" pitchFamily="34" charset="0"/>
                <a:ea typeface="黑体" pitchFamily="49" charset="-122"/>
              </a:rPr>
              <a:t>串</a:t>
            </a:r>
            <a:r>
              <a:rPr lang="en-US" altLang="zh-CN" sz="2400" b="1" dirty="0" err="1">
                <a:solidFill>
                  <a:srgbClr val="3333CC"/>
                </a:solidFill>
                <a:latin typeface="Arial" pitchFamily="34" charset="0"/>
                <a:ea typeface="黑体" pitchFamily="49" charset="-122"/>
              </a:rPr>
              <a:t>abbcde</a:t>
            </a:r>
            <a:r>
              <a:rPr lang="en-US" altLang="zh-CN" sz="2400" b="1" dirty="0">
                <a:solidFill>
                  <a:srgbClr val="3333CC"/>
                </a:solidFill>
                <a:latin typeface="Arial" pitchFamily="34" charset="0"/>
                <a:ea typeface="黑体" pitchFamily="49" charset="-122"/>
              </a:rPr>
              <a:t>#</a:t>
            </a:r>
            <a:r>
              <a:rPr lang="zh-CN" altLang="en-US" sz="2400" dirty="0">
                <a:solidFill>
                  <a:srgbClr val="3333CC"/>
                </a:solidFill>
                <a:latin typeface="Arial" pitchFamily="34" charset="0"/>
                <a:ea typeface="黑体" pitchFamily="49" charset="-122"/>
              </a:rPr>
              <a:t>分析过程</a:t>
            </a:r>
          </a:p>
        </p:txBody>
      </p:sp>
      <p:graphicFrame>
        <p:nvGraphicFramePr>
          <p:cNvPr id="5" name="Group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4614007"/>
              </p:ext>
            </p:extLst>
          </p:nvPr>
        </p:nvGraphicFramePr>
        <p:xfrm>
          <a:off x="270511" y="1942785"/>
          <a:ext cx="8281987" cy="4751387"/>
        </p:xfrm>
        <a:graphic>
          <a:graphicData uri="http://schemas.openxmlformats.org/drawingml/2006/table">
            <a:tbl>
              <a:tblPr/>
              <a:tblGrid>
                <a:gridCol w="161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5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5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7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步骤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符号栈</a:t>
                      </a: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输入符号串</a:t>
                      </a: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动作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65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7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8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9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10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11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#a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aA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Ab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aA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aAc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aAc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aAcB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aAcBe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#S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abbcde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bbcde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bcde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bcde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cde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cde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de#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e#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e#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移进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移进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归约（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A→b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移进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归约（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A→Ab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移进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移进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归约（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B→d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移进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归约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S→aAcBe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)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接受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 Box 59"/>
          <p:cNvSpPr txBox="1">
            <a:spLocks noChangeArrowheads="1"/>
          </p:cNvSpPr>
          <p:nvPr/>
        </p:nvSpPr>
        <p:spPr bwMode="auto">
          <a:xfrm>
            <a:off x="7388220" y="894720"/>
            <a:ext cx="1584325" cy="1016000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fontAlgn="ctr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S→aAcBe</a:t>
            </a:r>
            <a:r>
              <a:rPr lang="en-US" altLang="zh-CN">
                <a:solidFill>
                  <a:srgbClr val="000000"/>
                </a:solidFill>
              </a:rPr>
              <a:t> </a:t>
            </a:r>
            <a:r>
              <a:rPr lang="en-US" altLang="zh-CN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A→b|Ab</a:t>
            </a:r>
          </a:p>
          <a:p>
            <a:pPr eaLnBrk="1" fontAlgn="ctr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B→d</a:t>
            </a:r>
          </a:p>
        </p:txBody>
      </p:sp>
      <p:sp>
        <p:nvSpPr>
          <p:cNvPr id="7" name="Text Box 60"/>
          <p:cNvSpPr txBox="1">
            <a:spLocks noChangeArrowheads="1"/>
          </p:cNvSpPr>
          <p:nvPr/>
        </p:nvSpPr>
        <p:spPr bwMode="auto">
          <a:xfrm>
            <a:off x="5741036" y="1351920"/>
            <a:ext cx="1441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CC3300"/>
                </a:solidFill>
              </a:rPr>
              <a:t>文法</a:t>
            </a:r>
            <a:r>
              <a:rPr lang="en-US" altLang="zh-CN" sz="2400" b="1" dirty="0">
                <a:solidFill>
                  <a:srgbClr val="CC3300"/>
                </a:solidFill>
              </a:rPr>
              <a:t>G</a:t>
            </a:r>
            <a:r>
              <a:rPr lang="zh-CN" altLang="en-US" sz="2400" b="1" dirty="0">
                <a:solidFill>
                  <a:srgbClr val="CC3300"/>
                </a:solidFill>
              </a:rPr>
              <a:t>为</a:t>
            </a:r>
            <a:r>
              <a:rPr lang="en-US" altLang="zh-CN" sz="2400" b="1" dirty="0">
                <a:solidFill>
                  <a:srgbClr val="CC3300"/>
                </a:solidFill>
              </a:rPr>
              <a:t>:</a:t>
            </a:r>
          </a:p>
        </p:txBody>
      </p:sp>
      <p:sp>
        <p:nvSpPr>
          <p:cNvPr id="3" name="矩形 2"/>
          <p:cNvSpPr/>
          <p:nvPr/>
        </p:nvSpPr>
        <p:spPr>
          <a:xfrm>
            <a:off x="251466" y="3965985"/>
            <a:ext cx="8641068" cy="360044"/>
          </a:xfrm>
          <a:prstGeom prst="rect">
            <a:avLst/>
          </a:prstGeom>
          <a:solidFill>
            <a:schemeClr val="accent3">
              <a:alpha val="26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7634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" name="Group 3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2835697"/>
              </p:ext>
            </p:extLst>
          </p:nvPr>
        </p:nvGraphicFramePr>
        <p:xfrm>
          <a:off x="356236" y="955675"/>
          <a:ext cx="8137525" cy="3402013"/>
        </p:xfrm>
        <a:graphic>
          <a:graphicData uri="http://schemas.openxmlformats.org/drawingml/2006/table">
            <a:tbl>
              <a:tblPr/>
              <a:tblGrid>
                <a:gridCol w="158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7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74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82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38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步骤</a:t>
                      </a:r>
                      <a:endParaRPr kumimoji="1" lang="zh-CN" alt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符号栈</a:t>
                      </a:r>
                      <a:endParaRPr kumimoji="1" lang="zh-CN" alt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输入符号串</a:t>
                      </a:r>
                      <a:endParaRPr kumimoji="1" lang="zh-CN" alt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动作</a:t>
                      </a:r>
                      <a:endParaRPr kumimoji="1" lang="zh-CN" alt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81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1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1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endParaRPr kumimoji="1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endParaRPr kumimoji="1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  <a:endParaRPr kumimoji="1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…</a:t>
                      </a:r>
                      <a:endParaRPr kumimoji="1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endParaRPr kumimoji="1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#a</a:t>
                      </a:r>
                      <a:endParaRPr kumimoji="1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#a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</a:t>
                      </a:r>
                      <a:endParaRPr kumimoji="1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#aA</a:t>
                      </a:r>
                      <a:endParaRPr kumimoji="1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#a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Ab</a:t>
                      </a:r>
                      <a:endParaRPr kumimoji="1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#aA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…</a:t>
                      </a:r>
                      <a:endParaRPr kumimoji="1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abbcde#</a:t>
                      </a:r>
                      <a:endParaRPr kumimoji="1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bbcde#</a:t>
                      </a:r>
                      <a:endParaRPr kumimoji="1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bcde#</a:t>
                      </a:r>
                      <a:endParaRPr kumimoji="1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bcde#</a:t>
                      </a:r>
                      <a:endParaRPr kumimoji="1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cde#</a:t>
                      </a:r>
                      <a:endParaRPr kumimoji="1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cde#</a:t>
                      </a:r>
                      <a:endParaRPr kumimoji="1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移进</a:t>
                      </a:r>
                      <a:endParaRPr kumimoji="1" lang="zh-CN" alt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移进</a:t>
                      </a:r>
                      <a:endParaRPr kumimoji="1" lang="zh-CN" alt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归约（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A→b</a:t>
                      </a: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</a:t>
                      </a:r>
                      <a:endParaRPr kumimoji="1" lang="zh-CN" alt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移进</a:t>
                      </a:r>
                      <a:endParaRPr kumimoji="1" lang="zh-CN" alt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归约（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A→Ab</a:t>
                      </a: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</a:t>
                      </a:r>
                      <a:endParaRPr kumimoji="1" lang="zh-CN" alt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移进</a:t>
                      </a:r>
                      <a:endParaRPr kumimoji="1" lang="zh-CN" alt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 Box 28"/>
          <p:cNvSpPr txBox="1">
            <a:spLocks noChangeArrowheads="1"/>
          </p:cNvSpPr>
          <p:nvPr/>
        </p:nvSpPr>
        <p:spPr bwMode="auto">
          <a:xfrm>
            <a:off x="3851911" y="4869178"/>
            <a:ext cx="4320534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fontAlgn="base" hangingPunct="1">
              <a:lnSpc>
                <a:spcPts val="28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sz="3200" dirty="0">
                <a:solidFill>
                  <a:srgbClr val="FF0000"/>
                </a:solidFill>
                <a:latin typeface="宋体" pitchFamily="2" charset="-122"/>
              </a:rPr>
              <a:t>第5步时是用文法中的产生式（</a:t>
            </a:r>
            <a:r>
              <a:rPr lang="en-US" altLang="zh-CN" sz="3200" dirty="0">
                <a:solidFill>
                  <a:srgbClr val="FF0000"/>
                </a:solidFill>
                <a:latin typeface="宋体" pitchFamily="2" charset="-122"/>
              </a:rPr>
              <a:t>2</a:t>
            </a:r>
            <a:r>
              <a:rPr lang="zh-CN" altLang="en-US" sz="3200" dirty="0">
                <a:solidFill>
                  <a:srgbClr val="FF0000"/>
                </a:solidFill>
                <a:latin typeface="宋体" pitchFamily="2" charset="-122"/>
              </a:rPr>
              <a:t>）还是产生式（</a:t>
            </a:r>
            <a:r>
              <a:rPr lang="en-US" altLang="zh-CN" sz="3200" dirty="0">
                <a:solidFill>
                  <a:srgbClr val="FF0000"/>
                </a:solidFill>
                <a:latin typeface="宋体" pitchFamily="2" charset="-122"/>
              </a:rPr>
              <a:t>3</a:t>
            </a:r>
            <a:r>
              <a:rPr lang="zh-CN" altLang="en-US" sz="3200" dirty="0">
                <a:solidFill>
                  <a:srgbClr val="FF0000"/>
                </a:solidFill>
                <a:latin typeface="宋体" pitchFamily="2" charset="-122"/>
              </a:rPr>
              <a:t>）？</a:t>
            </a:r>
          </a:p>
        </p:txBody>
      </p:sp>
      <p:sp>
        <p:nvSpPr>
          <p:cNvPr id="6" name="Text Box 29"/>
          <p:cNvSpPr txBox="1">
            <a:spLocks noChangeArrowheads="1"/>
          </p:cNvSpPr>
          <p:nvPr/>
        </p:nvSpPr>
        <p:spPr bwMode="auto">
          <a:xfrm>
            <a:off x="429261" y="4699000"/>
            <a:ext cx="2016125" cy="1927225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fontAlgn="ctr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00"/>
                </a:solidFill>
              </a:rPr>
              <a:t>文法</a:t>
            </a:r>
            <a:r>
              <a:rPr lang="en-US" altLang="zh-CN" sz="2400" b="1">
                <a:solidFill>
                  <a:srgbClr val="000000"/>
                </a:solidFill>
              </a:rPr>
              <a:t>:</a:t>
            </a:r>
          </a:p>
          <a:p>
            <a:pPr eaLnBrk="1" fontAlgn="ctr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000000"/>
                </a:solidFill>
              </a:rPr>
              <a:t>⑴ 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S→aAcBe</a:t>
            </a:r>
          </a:p>
          <a:p>
            <a:pPr eaLnBrk="1" fontAlgn="ctr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0000"/>
                </a:solidFill>
              </a:rPr>
              <a:t>⑵ </a:t>
            </a:r>
            <a:r>
              <a:rPr lang="en-US" altLang="zh-CN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A→b</a:t>
            </a:r>
          </a:p>
          <a:p>
            <a:pPr eaLnBrk="1" fontAlgn="ctr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0000"/>
                </a:solidFill>
              </a:rPr>
              <a:t>⑶ </a:t>
            </a:r>
            <a:r>
              <a:rPr lang="en-US" altLang="zh-CN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A→Ab</a:t>
            </a:r>
          </a:p>
          <a:p>
            <a:pPr eaLnBrk="1" fontAlgn="ctr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000000"/>
                </a:solidFill>
              </a:rPr>
              <a:t>⑷ 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B→d</a:t>
            </a:r>
          </a:p>
        </p:txBody>
      </p:sp>
      <p:sp>
        <p:nvSpPr>
          <p:cNvPr id="8" name="圆角矩形标注 5"/>
          <p:cNvSpPr>
            <a:spLocks noChangeArrowheads="1"/>
          </p:cNvSpPr>
          <p:nvPr/>
        </p:nvSpPr>
        <p:spPr bwMode="auto">
          <a:xfrm>
            <a:off x="5317173" y="6621463"/>
            <a:ext cx="1428750" cy="357187"/>
          </a:xfrm>
          <a:prstGeom prst="wedgeRoundRectCallout">
            <a:avLst>
              <a:gd name="adj1" fmla="val -20833"/>
              <a:gd name="adj2" fmla="val 62500"/>
              <a:gd name="adj3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1761" y="3139719"/>
            <a:ext cx="8641068" cy="360044"/>
          </a:xfrm>
          <a:prstGeom prst="rect">
            <a:avLst/>
          </a:prstGeom>
          <a:solidFill>
            <a:schemeClr val="accent3">
              <a:alpha val="26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2394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二、移进</a:t>
            </a:r>
            <a:r>
              <a:rPr lang="en-US" altLang="zh-CN" b="1" dirty="0"/>
              <a:t>-</a:t>
            </a:r>
            <a:r>
              <a:rPr lang="zh-CN" altLang="en-US" b="1" dirty="0"/>
              <a:t>规约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规范规约的概念</a:t>
            </a:r>
          </a:p>
        </p:txBody>
      </p:sp>
      <p:sp>
        <p:nvSpPr>
          <p:cNvPr id="22" name="Rectangle 3"/>
          <p:cNvSpPr txBox="1">
            <a:spLocks noChangeArrowheads="1"/>
          </p:cNvSpPr>
          <p:nvPr/>
        </p:nvSpPr>
        <p:spPr bwMode="auto">
          <a:xfrm>
            <a:off x="645318" y="1612901"/>
            <a:ext cx="8081963" cy="3808413"/>
          </a:xfrm>
          <a:prstGeom prst="rect">
            <a:avLst/>
          </a:prstGeom>
          <a:solidFill>
            <a:schemeClr val="bg1"/>
          </a:solidFill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55600" indent="-269875" algn="l" rtl="0" eaLnBrk="1" fontAlgn="base" hangingPunct="1">
              <a:spcBef>
                <a:spcPts val="1800"/>
              </a:spcBef>
              <a:spcAft>
                <a:spcPct val="0"/>
              </a:spcAft>
              <a:buClr>
                <a:srgbClr val="003399"/>
              </a:buClr>
              <a:buSzPct val="80000"/>
              <a:buFont typeface="Wingdings 2" panose="05020102010507070707" pitchFamily="18" charset="2"/>
              <a:buChar char=""/>
              <a:defRPr sz="2400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357188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sz="2000" kern="1200">
                <a:solidFill>
                  <a:srgbClr val="0066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2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600" b="1" dirty="0">
                <a:latin typeface="宋体" pitchFamily="2" charset="-122"/>
              </a:rPr>
              <a:t>有文法</a:t>
            </a:r>
            <a:r>
              <a:rPr lang="en-US" altLang="zh-CN" sz="2600" b="1" dirty="0">
                <a:latin typeface="宋体" pitchFamily="2" charset="-122"/>
              </a:rPr>
              <a:t>G</a:t>
            </a:r>
            <a:r>
              <a:rPr lang="zh-CN" altLang="en-US" sz="2600" b="1" dirty="0">
                <a:latin typeface="宋体" pitchFamily="2" charset="-122"/>
              </a:rPr>
              <a:t>，开始符号为</a:t>
            </a:r>
            <a:r>
              <a:rPr lang="en-US" altLang="zh-CN" sz="2600" b="1" dirty="0">
                <a:latin typeface="宋体" pitchFamily="2" charset="-122"/>
              </a:rPr>
              <a:t>S, </a:t>
            </a:r>
            <a:r>
              <a:rPr lang="zh-CN" altLang="en-US" sz="2600" b="1" dirty="0">
                <a:latin typeface="宋体" pitchFamily="2" charset="-122"/>
              </a:rPr>
              <a:t>如果有</a:t>
            </a:r>
            <a:r>
              <a:rPr lang="en-US" altLang="zh-CN" sz="2600" b="1" dirty="0">
                <a:latin typeface="宋体" pitchFamily="2" charset="-122"/>
              </a:rPr>
              <a:t>S=&gt;xβy,</a:t>
            </a:r>
            <a:r>
              <a:rPr lang="zh-CN" altLang="en-US" sz="2600" b="1" dirty="0">
                <a:latin typeface="宋体" pitchFamily="2" charset="-122"/>
              </a:rPr>
              <a:t>则</a:t>
            </a:r>
            <a:r>
              <a:rPr lang="en-US" altLang="zh-CN" sz="2600" b="1" dirty="0">
                <a:latin typeface="宋体" pitchFamily="2" charset="-122"/>
              </a:rPr>
              <a:t>xβy</a:t>
            </a:r>
            <a:r>
              <a:rPr lang="zh-CN" altLang="en-US" sz="2600" b="1" dirty="0">
                <a:latin typeface="宋体" pitchFamily="2" charset="-122"/>
              </a:rPr>
              <a:t>是文法</a:t>
            </a:r>
            <a:r>
              <a:rPr lang="en-US" altLang="zh-CN" sz="2600" b="1" dirty="0">
                <a:latin typeface="宋体" pitchFamily="2" charset="-122"/>
              </a:rPr>
              <a:t>G</a:t>
            </a:r>
            <a:r>
              <a:rPr lang="zh-CN" altLang="en-US" sz="2600" b="1" dirty="0">
                <a:latin typeface="宋体" pitchFamily="2" charset="-122"/>
              </a:rPr>
              <a:t>的</a:t>
            </a:r>
            <a:r>
              <a:rPr lang="zh-CN" altLang="en-US" sz="2600" b="1" i="1" dirty="0">
                <a:solidFill>
                  <a:schemeClr val="accent2"/>
                </a:solidFill>
                <a:latin typeface="宋体" pitchFamily="2" charset="-122"/>
              </a:rPr>
              <a:t>句型</a:t>
            </a:r>
            <a:r>
              <a:rPr lang="zh-CN" altLang="en-US" sz="2600" b="1" dirty="0">
                <a:latin typeface="宋体" pitchFamily="2" charset="-122"/>
              </a:rPr>
              <a:t>，</a:t>
            </a:r>
            <a:r>
              <a:rPr lang="en-US" altLang="zh-CN" sz="2600" b="1" dirty="0" err="1">
                <a:latin typeface="宋体" pitchFamily="2" charset="-122"/>
              </a:rPr>
              <a:t>x,y</a:t>
            </a:r>
            <a:r>
              <a:rPr lang="zh-CN" altLang="en-US" sz="2600" b="1" dirty="0">
                <a:latin typeface="宋体" pitchFamily="2" charset="-122"/>
              </a:rPr>
              <a:t>是任意的符号串</a:t>
            </a:r>
          </a:p>
          <a:p>
            <a:pPr>
              <a:spcBef>
                <a:spcPct val="50000"/>
              </a:spcBef>
            </a:pPr>
            <a:r>
              <a:rPr lang="zh-CN" altLang="en-US" sz="2600" b="1" dirty="0">
                <a:latin typeface="宋体" pitchFamily="2" charset="-122"/>
              </a:rPr>
              <a:t>如果有</a:t>
            </a:r>
            <a:r>
              <a:rPr lang="en-US" altLang="zh-CN" sz="2600" b="1" dirty="0">
                <a:latin typeface="宋体" pitchFamily="2" charset="-122"/>
              </a:rPr>
              <a:t>S=&gt;</a:t>
            </a:r>
            <a:r>
              <a:rPr lang="en-US" altLang="zh-CN" sz="2600" b="1" dirty="0" err="1">
                <a:latin typeface="宋体" pitchFamily="2" charset="-122"/>
              </a:rPr>
              <a:t>xAy</a:t>
            </a:r>
            <a:r>
              <a:rPr lang="en-US" altLang="zh-CN" sz="2600" b="1" dirty="0">
                <a:latin typeface="宋体" pitchFamily="2" charset="-122"/>
              </a:rPr>
              <a:t>, </a:t>
            </a:r>
            <a:r>
              <a:rPr lang="zh-CN" altLang="en-US" sz="2600" b="1" dirty="0">
                <a:latin typeface="宋体" pitchFamily="2" charset="-122"/>
              </a:rPr>
              <a:t>且有</a:t>
            </a:r>
            <a:r>
              <a:rPr lang="en-US" altLang="zh-CN" sz="2600" b="1" dirty="0">
                <a:latin typeface="宋体" pitchFamily="2" charset="-122"/>
              </a:rPr>
              <a:t>A=&gt;β,</a:t>
            </a:r>
            <a:r>
              <a:rPr lang="zh-CN" altLang="en-US" sz="2600" b="1" dirty="0">
                <a:latin typeface="宋体" pitchFamily="2" charset="-122"/>
              </a:rPr>
              <a:t>则</a:t>
            </a:r>
            <a:r>
              <a:rPr lang="en-US" altLang="zh-CN" sz="2600" b="1" dirty="0">
                <a:latin typeface="宋体" pitchFamily="2" charset="-122"/>
              </a:rPr>
              <a:t>β</a:t>
            </a:r>
            <a:r>
              <a:rPr lang="zh-CN" altLang="en-US" sz="2600" b="1" dirty="0">
                <a:latin typeface="宋体" pitchFamily="2" charset="-122"/>
              </a:rPr>
              <a:t>是句型</a:t>
            </a:r>
            <a:r>
              <a:rPr lang="en-US" altLang="zh-CN" sz="2600" b="1" dirty="0">
                <a:latin typeface="宋体" pitchFamily="2" charset="-122"/>
              </a:rPr>
              <a:t>xβy</a:t>
            </a:r>
            <a:r>
              <a:rPr lang="zh-CN" altLang="en-US" sz="2600" b="1" dirty="0">
                <a:latin typeface="宋体" pitchFamily="2" charset="-122"/>
              </a:rPr>
              <a:t>相对于非终结符</a:t>
            </a:r>
            <a:r>
              <a:rPr lang="en-US" altLang="zh-CN" sz="2600" b="1" dirty="0">
                <a:latin typeface="宋体" pitchFamily="2" charset="-122"/>
              </a:rPr>
              <a:t>A</a:t>
            </a:r>
            <a:r>
              <a:rPr lang="zh-CN" altLang="en-US" sz="2600" b="1" dirty="0">
                <a:latin typeface="宋体" pitchFamily="2" charset="-122"/>
              </a:rPr>
              <a:t>的</a:t>
            </a:r>
            <a:r>
              <a:rPr lang="zh-CN" altLang="en-US" sz="2600" b="1" i="1" dirty="0">
                <a:solidFill>
                  <a:schemeClr val="accent2"/>
                </a:solidFill>
                <a:latin typeface="宋体" pitchFamily="2" charset="-122"/>
              </a:rPr>
              <a:t>短语</a:t>
            </a:r>
            <a:endParaRPr lang="zh-CN" altLang="en-US" sz="2600" b="1" dirty="0">
              <a:solidFill>
                <a:schemeClr val="accent2"/>
              </a:solidFill>
              <a:latin typeface="宋体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600" b="1" dirty="0">
                <a:latin typeface="宋体" pitchFamily="2" charset="-122"/>
              </a:rPr>
              <a:t>如果有</a:t>
            </a:r>
            <a:r>
              <a:rPr lang="en-US" altLang="zh-CN" sz="2600" b="1" dirty="0">
                <a:latin typeface="宋体" pitchFamily="2" charset="-122"/>
              </a:rPr>
              <a:t>S=&gt;</a:t>
            </a:r>
            <a:r>
              <a:rPr lang="en-US" altLang="zh-CN" sz="2600" b="1" dirty="0" err="1">
                <a:latin typeface="宋体" pitchFamily="2" charset="-122"/>
              </a:rPr>
              <a:t>xAy</a:t>
            </a:r>
            <a:r>
              <a:rPr lang="en-US" altLang="zh-CN" sz="2600" b="1" dirty="0">
                <a:latin typeface="宋体" pitchFamily="2" charset="-122"/>
              </a:rPr>
              <a:t>, </a:t>
            </a:r>
            <a:r>
              <a:rPr lang="zh-CN" altLang="en-US" sz="2600" b="1" dirty="0">
                <a:latin typeface="宋体" pitchFamily="2" charset="-122"/>
              </a:rPr>
              <a:t>且有</a:t>
            </a:r>
            <a:r>
              <a:rPr lang="en-US" altLang="zh-CN" sz="2600" b="1" dirty="0">
                <a:latin typeface="宋体" pitchFamily="2" charset="-122"/>
              </a:rPr>
              <a:t>A→β,</a:t>
            </a:r>
            <a:r>
              <a:rPr lang="zh-CN" altLang="en-US" sz="2600" b="1" dirty="0">
                <a:latin typeface="宋体" pitchFamily="2" charset="-122"/>
              </a:rPr>
              <a:t>则</a:t>
            </a:r>
            <a:r>
              <a:rPr lang="en-US" altLang="zh-CN" sz="2600" b="1" dirty="0">
                <a:latin typeface="宋体" pitchFamily="2" charset="-122"/>
              </a:rPr>
              <a:t>β</a:t>
            </a:r>
            <a:r>
              <a:rPr lang="zh-CN" altLang="en-US" sz="2600" b="1" dirty="0">
                <a:latin typeface="宋体" pitchFamily="2" charset="-122"/>
              </a:rPr>
              <a:t>是句型</a:t>
            </a:r>
            <a:r>
              <a:rPr lang="en-US" altLang="zh-CN" sz="2600" b="1" dirty="0">
                <a:latin typeface="宋体" pitchFamily="2" charset="-122"/>
              </a:rPr>
              <a:t>xβy</a:t>
            </a:r>
            <a:r>
              <a:rPr lang="zh-CN" altLang="en-US" sz="2600" b="1" dirty="0">
                <a:latin typeface="宋体" pitchFamily="2" charset="-122"/>
              </a:rPr>
              <a:t>相对于</a:t>
            </a:r>
            <a:r>
              <a:rPr lang="en-US" altLang="zh-CN" sz="2600" b="1" dirty="0">
                <a:latin typeface="宋体" pitchFamily="2" charset="-122"/>
              </a:rPr>
              <a:t>A→β</a:t>
            </a:r>
            <a:r>
              <a:rPr lang="zh-CN" altLang="en-US" sz="2600" b="1" dirty="0">
                <a:latin typeface="宋体" pitchFamily="2" charset="-122"/>
              </a:rPr>
              <a:t>的</a:t>
            </a:r>
            <a:r>
              <a:rPr lang="zh-CN" altLang="en-US" sz="2600" b="1" i="1" dirty="0">
                <a:solidFill>
                  <a:schemeClr val="accent2"/>
                </a:solidFill>
                <a:latin typeface="宋体" pitchFamily="2" charset="-122"/>
              </a:rPr>
              <a:t>直接短语</a:t>
            </a:r>
            <a:endParaRPr lang="zh-CN" altLang="en-US" sz="2600" b="1" dirty="0">
              <a:solidFill>
                <a:schemeClr val="accent2"/>
              </a:solidFill>
              <a:latin typeface="宋体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600" b="1" dirty="0">
                <a:latin typeface="宋体" pitchFamily="2" charset="-122"/>
              </a:rPr>
              <a:t>位于</a:t>
            </a:r>
            <a:r>
              <a:rPr lang="zh-CN" altLang="en-US" sz="2600" b="1" dirty="0">
                <a:solidFill>
                  <a:srgbClr val="9933CC"/>
                </a:solidFill>
                <a:latin typeface="宋体" pitchFamily="2" charset="-122"/>
              </a:rPr>
              <a:t>一个</a:t>
            </a:r>
            <a:r>
              <a:rPr lang="zh-CN" altLang="en-US" sz="2600" b="1" dirty="0">
                <a:latin typeface="宋体" pitchFamily="2" charset="-122"/>
              </a:rPr>
              <a:t>句型最左边的直接短语称为</a:t>
            </a:r>
            <a:r>
              <a:rPr lang="zh-CN" altLang="en-US" sz="2600" b="1" i="1" dirty="0">
                <a:solidFill>
                  <a:schemeClr val="accent2"/>
                </a:solidFill>
                <a:latin typeface="宋体" pitchFamily="2" charset="-122"/>
              </a:rPr>
              <a:t>句柄</a:t>
            </a:r>
            <a:r>
              <a:rPr lang="zh-CN" altLang="en-US" sz="2600" b="1" dirty="0">
                <a:latin typeface="宋体" pitchFamily="2" charset="-122"/>
              </a:rPr>
              <a:t>。</a:t>
            </a:r>
            <a:endParaRPr lang="en-US" altLang="zh-CN" sz="2600" b="1" dirty="0">
              <a:latin typeface="宋体" pitchFamily="2" charset="-122"/>
            </a:endParaRPr>
          </a:p>
        </p:txBody>
      </p:sp>
      <p:grpSp>
        <p:nvGrpSpPr>
          <p:cNvPr id="23" name="Group 8"/>
          <p:cNvGrpSpPr>
            <a:grpSpLocks/>
          </p:cNvGrpSpPr>
          <p:nvPr/>
        </p:nvGrpSpPr>
        <p:grpSpPr bwMode="auto">
          <a:xfrm>
            <a:off x="2172494" y="1447802"/>
            <a:ext cx="3946526" cy="2500313"/>
            <a:chOff x="1394" y="525"/>
            <a:chExt cx="2486" cy="1575"/>
          </a:xfrm>
        </p:grpSpPr>
        <p:sp>
          <p:nvSpPr>
            <p:cNvPr id="24" name="Rectangle 4"/>
            <p:cNvSpPr>
              <a:spLocks noChangeArrowheads="1"/>
            </p:cNvSpPr>
            <p:nvPr/>
          </p:nvSpPr>
          <p:spPr bwMode="auto">
            <a:xfrm>
              <a:off x="3652" y="525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dirty="0">
                  <a:latin typeface="宋体" pitchFamily="2" charset="-122"/>
                </a:rPr>
                <a:t>*</a:t>
              </a:r>
            </a:p>
          </p:txBody>
        </p:sp>
        <p:sp>
          <p:nvSpPr>
            <p:cNvPr id="25" name="Rectangle 5"/>
            <p:cNvSpPr>
              <a:spLocks noChangeArrowheads="1"/>
            </p:cNvSpPr>
            <p:nvPr/>
          </p:nvSpPr>
          <p:spPr bwMode="auto">
            <a:xfrm>
              <a:off x="1394" y="1166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dirty="0">
                  <a:latin typeface="宋体" pitchFamily="2" charset="-122"/>
                </a:rPr>
                <a:t>*</a:t>
              </a:r>
            </a:p>
          </p:txBody>
        </p:sp>
        <p:sp>
          <p:nvSpPr>
            <p:cNvPr id="26" name="Rectangle 6"/>
            <p:cNvSpPr>
              <a:spLocks noChangeArrowheads="1"/>
            </p:cNvSpPr>
            <p:nvPr/>
          </p:nvSpPr>
          <p:spPr bwMode="auto">
            <a:xfrm>
              <a:off x="2643" y="1128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dirty="0">
                  <a:latin typeface="宋体" pitchFamily="2" charset="-122"/>
                </a:rPr>
                <a:t>+</a:t>
              </a:r>
            </a:p>
          </p:txBody>
        </p:sp>
        <p:sp>
          <p:nvSpPr>
            <p:cNvPr id="27" name="Rectangle 7"/>
            <p:cNvSpPr>
              <a:spLocks noChangeArrowheads="1"/>
            </p:cNvSpPr>
            <p:nvPr/>
          </p:nvSpPr>
          <p:spPr bwMode="auto">
            <a:xfrm>
              <a:off x="1394" y="1773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dirty="0">
                  <a:latin typeface="宋体" pitchFamily="2" charset="-122"/>
                </a:rPr>
                <a:t>*</a:t>
              </a:r>
            </a:p>
          </p:txBody>
        </p:sp>
      </p:grpSp>
      <p:sp>
        <p:nvSpPr>
          <p:cNvPr id="28" name="Rectangle 8"/>
          <p:cNvSpPr>
            <a:spLocks noChangeArrowheads="1"/>
          </p:cNvSpPr>
          <p:nvPr/>
        </p:nvSpPr>
        <p:spPr bwMode="auto">
          <a:xfrm>
            <a:off x="492918" y="5435917"/>
            <a:ext cx="83058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800" dirty="0">
                <a:latin typeface="宋体" pitchFamily="2" charset="-122"/>
              </a:rPr>
              <a:t>注意</a:t>
            </a:r>
            <a:r>
              <a:rPr kumimoji="1" lang="en-US" altLang="zh-CN" sz="2800" dirty="0">
                <a:latin typeface="宋体" pitchFamily="2" charset="-122"/>
              </a:rPr>
              <a:t>: </a:t>
            </a:r>
            <a:r>
              <a:rPr kumimoji="1" lang="zh-CN" altLang="en-US" sz="2800" dirty="0">
                <a:latin typeface="宋体" pitchFamily="2" charset="-122"/>
              </a:rPr>
              <a:t>每次归约的部分必须是</a:t>
            </a:r>
            <a:r>
              <a:rPr kumimoji="1" lang="zh-CN" altLang="en-US" sz="2800" b="1" dirty="0">
                <a:solidFill>
                  <a:schemeClr val="accent1"/>
                </a:solidFill>
                <a:latin typeface="宋体" pitchFamily="2" charset="-122"/>
              </a:rPr>
              <a:t>句柄</a:t>
            </a:r>
            <a:r>
              <a:rPr kumimoji="1" lang="zh-CN" altLang="en-US" sz="2800" dirty="0">
                <a:latin typeface="宋体" pitchFamily="2" charset="-122"/>
              </a:rPr>
              <a:t> </a:t>
            </a:r>
            <a:r>
              <a:rPr kumimoji="1" lang="zh-CN" altLang="en-US" sz="2800" dirty="0">
                <a:latin typeface="Times New Roman" pitchFamily="18" charset="0"/>
              </a:rPr>
              <a:t>。</a:t>
            </a:r>
          </a:p>
          <a:p>
            <a:pPr eaLnBrk="1" hangingPunct="1"/>
            <a:r>
              <a:rPr kumimoji="1" lang="zh-CN" altLang="en-US" sz="2800" dirty="0">
                <a:latin typeface="宋体" pitchFamily="2" charset="-122"/>
              </a:rPr>
              <a:t>      关键的问题是</a:t>
            </a:r>
            <a:r>
              <a:rPr kumimoji="1" lang="zh-CN" altLang="en-US" sz="2800" b="1" dirty="0">
                <a:solidFill>
                  <a:schemeClr val="accent2"/>
                </a:solidFill>
                <a:latin typeface="宋体" pitchFamily="2" charset="-122"/>
              </a:rPr>
              <a:t>如何识别句柄</a:t>
            </a:r>
            <a:endParaRPr kumimoji="1" lang="zh-CN" altLang="en-US" sz="2800" b="1" dirty="0">
              <a:latin typeface="Times New Roman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2263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二、移进</a:t>
            </a:r>
            <a:r>
              <a:rPr lang="en-US" altLang="zh-CN" b="1" dirty="0"/>
              <a:t>-</a:t>
            </a:r>
            <a:r>
              <a:rPr lang="zh-CN" altLang="en-US" b="1" dirty="0"/>
              <a:t>规约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0" y="823913"/>
            <a:ext cx="3960813" cy="820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accent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accent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accent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accent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FF33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FF33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FF33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FF33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宋体" panose="02010600030101010101" pitchFamily="2" charset="-122"/>
              </a:defRPr>
            </a:lvl9pPr>
          </a:lstStyle>
          <a:p>
            <a:r>
              <a:rPr lang="zh-CN" altLang="en-US" sz="2500" dirty="0">
                <a:solidFill>
                  <a:srgbClr val="FF0000"/>
                </a:solidFill>
              </a:rPr>
              <a:t>例：考虑如下文法：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33413" y="1687513"/>
            <a:ext cx="5205412" cy="984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55600" indent="-269875" algn="l" rtl="0" eaLnBrk="1" fontAlgn="base" hangingPunct="1">
              <a:spcBef>
                <a:spcPts val="1800"/>
              </a:spcBef>
              <a:spcAft>
                <a:spcPct val="0"/>
              </a:spcAft>
              <a:buClr>
                <a:srgbClr val="003399"/>
              </a:buClr>
              <a:buSzPct val="80000"/>
              <a:buFont typeface="Wingdings 2" panose="05020102010507070707" pitchFamily="18" charset="2"/>
              <a:buChar char=""/>
              <a:defRPr sz="2400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357188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sz="2000" kern="1200">
                <a:solidFill>
                  <a:srgbClr val="0066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2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/>
              <a:t>求句型    </a:t>
            </a:r>
            <a:r>
              <a:rPr lang="en-US" altLang="zh-CN" dirty="0"/>
              <a:t>i</a:t>
            </a:r>
            <a:r>
              <a:rPr lang="en-US" altLang="zh-CN" baseline="-25000" dirty="0"/>
              <a:t>1</a:t>
            </a:r>
            <a:r>
              <a:rPr lang="en-US" altLang="zh-CN" dirty="0"/>
              <a:t> *  i</a:t>
            </a:r>
            <a:r>
              <a:rPr lang="en-US" altLang="zh-CN" baseline="-25000" dirty="0"/>
              <a:t>2</a:t>
            </a:r>
            <a:r>
              <a:rPr lang="en-US" altLang="zh-CN" dirty="0"/>
              <a:t> + i</a:t>
            </a:r>
            <a:r>
              <a:rPr lang="en-US" altLang="zh-CN" baseline="-25000" dirty="0"/>
              <a:t>3</a:t>
            </a:r>
            <a:r>
              <a:rPr lang="en-US" altLang="zh-CN" dirty="0"/>
              <a:t>  </a:t>
            </a:r>
            <a:r>
              <a:rPr lang="zh-CN" altLang="en-US" dirty="0"/>
              <a:t>的短语、直接短语和句柄。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5965825" y="1023938"/>
            <a:ext cx="2605088" cy="15446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kumimoji="1" lang="en-US" altLang="zh-CN" sz="2800">
                <a:latin typeface="Times New Roman" pitchFamily="18" charset="0"/>
              </a:rPr>
              <a:t>E</a:t>
            </a:r>
            <a:r>
              <a:rPr kumimoji="1" lang="en-US" altLang="zh-CN" sz="2800">
                <a:latin typeface="Times New Roman" pitchFamily="18" charset="0"/>
                <a:sym typeface="Wingdings" pitchFamily="2" charset="2"/>
              </a:rPr>
              <a:t>T | E+T</a:t>
            </a:r>
          </a:p>
          <a:p>
            <a:pPr algn="ctr" eaLnBrk="1" hangingPunct="1">
              <a:spcBef>
                <a:spcPct val="20000"/>
              </a:spcBef>
            </a:pPr>
            <a:r>
              <a:rPr kumimoji="1" lang="en-US" altLang="zh-CN" sz="2800">
                <a:latin typeface="Times New Roman" pitchFamily="18" charset="0"/>
                <a:sym typeface="Wingdings" pitchFamily="2" charset="2"/>
              </a:rPr>
              <a:t>TF | T*F</a:t>
            </a:r>
          </a:p>
          <a:p>
            <a:pPr algn="ctr" eaLnBrk="1" hangingPunct="1">
              <a:spcBef>
                <a:spcPct val="20000"/>
              </a:spcBef>
            </a:pPr>
            <a:r>
              <a:rPr kumimoji="1" lang="en-US" altLang="zh-CN" sz="2800">
                <a:latin typeface="Times New Roman" pitchFamily="18" charset="0"/>
              </a:rPr>
              <a:t>F</a:t>
            </a:r>
            <a:r>
              <a:rPr kumimoji="1" lang="en-US" altLang="zh-CN" sz="2800">
                <a:latin typeface="Times New Roman" pitchFamily="18" charset="0"/>
                <a:sym typeface="Wingdings" pitchFamily="2" charset="2"/>
              </a:rPr>
              <a:t>i  |  (E)</a:t>
            </a:r>
            <a:endParaRPr kumimoji="1" lang="en-US" altLang="zh-CN" sz="2800">
              <a:latin typeface="Times New Roman" pitchFamily="18" charset="0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530225" y="4716463"/>
            <a:ext cx="8026400" cy="154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itchFamily="18" charset="0"/>
              </a:rPr>
              <a:t>因此：</a:t>
            </a:r>
            <a:r>
              <a:rPr kumimoji="1" lang="zh-CN" altLang="en-US" sz="2800" dirty="0">
                <a:latin typeface="Times New Roman" pitchFamily="18" charset="0"/>
              </a:rPr>
              <a:t>  短语有：</a:t>
            </a:r>
            <a:r>
              <a:rPr kumimoji="1" lang="en-US" altLang="zh-CN" sz="2800" dirty="0">
                <a:latin typeface="Times New Roman" pitchFamily="18" charset="0"/>
              </a:rPr>
              <a:t>i</a:t>
            </a:r>
            <a:r>
              <a:rPr kumimoji="1" lang="en-US" altLang="zh-CN" sz="2800" baseline="-25000" dirty="0">
                <a:latin typeface="Times New Roman" pitchFamily="18" charset="0"/>
              </a:rPr>
              <a:t>1</a:t>
            </a:r>
            <a:r>
              <a:rPr kumimoji="1" lang="en-US" altLang="zh-CN" sz="2800" dirty="0">
                <a:latin typeface="Times New Roman" pitchFamily="18" charset="0"/>
              </a:rPr>
              <a:t>,  i</a:t>
            </a:r>
            <a:r>
              <a:rPr kumimoji="1" lang="en-US" altLang="zh-CN" sz="2800" baseline="-25000" dirty="0">
                <a:latin typeface="Times New Roman" pitchFamily="18" charset="0"/>
              </a:rPr>
              <a:t>2</a:t>
            </a:r>
            <a:r>
              <a:rPr kumimoji="1" lang="en-US" altLang="zh-CN" sz="2800" dirty="0">
                <a:latin typeface="Times New Roman" pitchFamily="18" charset="0"/>
              </a:rPr>
              <a:t>,  i</a:t>
            </a:r>
            <a:r>
              <a:rPr kumimoji="1" lang="en-US" altLang="zh-CN" sz="2800" baseline="-25000" dirty="0">
                <a:latin typeface="Times New Roman" pitchFamily="18" charset="0"/>
              </a:rPr>
              <a:t>3</a:t>
            </a:r>
            <a:r>
              <a:rPr kumimoji="1" lang="en-US" altLang="zh-CN" sz="2800" dirty="0">
                <a:latin typeface="Times New Roman" pitchFamily="18" charset="0"/>
              </a:rPr>
              <a:t>,  i</a:t>
            </a:r>
            <a:r>
              <a:rPr kumimoji="1" lang="en-US" altLang="zh-CN" sz="2800" baseline="-25000" dirty="0">
                <a:latin typeface="Times New Roman" pitchFamily="18" charset="0"/>
              </a:rPr>
              <a:t>1</a:t>
            </a:r>
            <a:r>
              <a:rPr kumimoji="1" lang="en-US" altLang="zh-CN" sz="2800" dirty="0">
                <a:latin typeface="Times New Roman" pitchFamily="18" charset="0"/>
              </a:rPr>
              <a:t>*i</a:t>
            </a:r>
            <a:r>
              <a:rPr kumimoji="1" lang="en-US" altLang="zh-CN" sz="2800" baseline="-25000" dirty="0">
                <a:latin typeface="Times New Roman" pitchFamily="18" charset="0"/>
              </a:rPr>
              <a:t>2</a:t>
            </a:r>
            <a:r>
              <a:rPr kumimoji="1" lang="en-US" altLang="zh-CN" sz="2800" dirty="0">
                <a:latin typeface="Times New Roman" pitchFamily="18" charset="0"/>
              </a:rPr>
              <a:t>,  i</a:t>
            </a:r>
            <a:r>
              <a:rPr kumimoji="1" lang="en-US" altLang="zh-CN" sz="2800" baseline="-25000" dirty="0">
                <a:latin typeface="Times New Roman" pitchFamily="18" charset="0"/>
              </a:rPr>
              <a:t>1</a:t>
            </a:r>
            <a:r>
              <a:rPr kumimoji="1" lang="en-US" altLang="zh-CN" sz="2800" dirty="0">
                <a:latin typeface="Times New Roman" pitchFamily="18" charset="0"/>
              </a:rPr>
              <a:t>*i</a:t>
            </a:r>
            <a:r>
              <a:rPr kumimoji="1" lang="en-US" altLang="zh-CN" sz="2800" baseline="-25000" dirty="0">
                <a:latin typeface="Times New Roman" pitchFamily="18" charset="0"/>
              </a:rPr>
              <a:t>2</a:t>
            </a:r>
            <a:r>
              <a:rPr kumimoji="1" lang="en-US" altLang="zh-CN" sz="2800" dirty="0">
                <a:latin typeface="Times New Roman" pitchFamily="18" charset="0"/>
              </a:rPr>
              <a:t>+i</a:t>
            </a:r>
            <a:r>
              <a:rPr kumimoji="1" lang="en-US" altLang="zh-CN" sz="2800" baseline="-25000" dirty="0">
                <a:latin typeface="Times New Roman" pitchFamily="18" charset="0"/>
              </a:rPr>
              <a:t>3</a:t>
            </a:r>
            <a:endParaRPr kumimoji="1" lang="en-US" altLang="zh-CN" sz="2800" dirty="0">
              <a:latin typeface="Times New Roman" pitchFamily="18" charset="0"/>
            </a:endParaRPr>
          </a:p>
          <a:p>
            <a:pPr eaLnBrk="1" hangingPunct="1">
              <a:spcBef>
                <a:spcPct val="20000"/>
              </a:spcBef>
            </a:pPr>
            <a:r>
              <a:rPr kumimoji="1" lang="en-US" altLang="zh-CN" sz="2800" dirty="0">
                <a:latin typeface="Times New Roman" pitchFamily="18" charset="0"/>
              </a:rPr>
              <a:t>              </a:t>
            </a:r>
            <a:r>
              <a:rPr kumimoji="1" lang="zh-CN" altLang="en-US" sz="2800" dirty="0">
                <a:latin typeface="Times New Roman" pitchFamily="18" charset="0"/>
              </a:rPr>
              <a:t>直接短语有：</a:t>
            </a:r>
            <a:r>
              <a:rPr kumimoji="1" lang="en-US" altLang="zh-CN" sz="2800" dirty="0">
                <a:latin typeface="Times New Roman" pitchFamily="18" charset="0"/>
              </a:rPr>
              <a:t>i</a:t>
            </a:r>
            <a:r>
              <a:rPr kumimoji="1" lang="en-US" altLang="zh-CN" sz="2800" baseline="-25000" dirty="0">
                <a:latin typeface="Times New Roman" pitchFamily="18" charset="0"/>
              </a:rPr>
              <a:t>1</a:t>
            </a:r>
            <a:r>
              <a:rPr kumimoji="1" lang="en-US" altLang="zh-CN" sz="2800" dirty="0">
                <a:latin typeface="Times New Roman" pitchFamily="18" charset="0"/>
              </a:rPr>
              <a:t>, i</a:t>
            </a:r>
            <a:r>
              <a:rPr kumimoji="1" lang="en-US" altLang="zh-CN" sz="2800" baseline="-25000" dirty="0">
                <a:latin typeface="Times New Roman" pitchFamily="18" charset="0"/>
              </a:rPr>
              <a:t>2</a:t>
            </a:r>
            <a:r>
              <a:rPr kumimoji="1" lang="en-US" altLang="zh-CN" sz="2800" dirty="0">
                <a:latin typeface="Times New Roman" pitchFamily="18" charset="0"/>
              </a:rPr>
              <a:t> , i</a:t>
            </a:r>
            <a:r>
              <a:rPr kumimoji="1" lang="en-US" altLang="zh-CN" sz="2800" baseline="-25000" dirty="0">
                <a:latin typeface="Times New Roman" pitchFamily="18" charset="0"/>
              </a:rPr>
              <a:t>3</a:t>
            </a:r>
            <a:r>
              <a:rPr kumimoji="1" lang="en-US" altLang="zh-CN" sz="2800" dirty="0">
                <a:latin typeface="Times New Roman" pitchFamily="18" charset="0"/>
              </a:rPr>
              <a:t> </a:t>
            </a:r>
          </a:p>
          <a:p>
            <a:pPr eaLnBrk="1" hangingPunct="1">
              <a:spcBef>
                <a:spcPct val="20000"/>
              </a:spcBef>
            </a:pPr>
            <a:r>
              <a:rPr kumimoji="1" lang="en-US" altLang="zh-CN" sz="2800" dirty="0">
                <a:latin typeface="Times New Roman" pitchFamily="18" charset="0"/>
              </a:rPr>
              <a:t>              </a:t>
            </a:r>
            <a:r>
              <a:rPr kumimoji="1" lang="zh-CN" altLang="en-US" sz="2800" dirty="0">
                <a:latin typeface="Times New Roman" pitchFamily="18" charset="0"/>
              </a:rPr>
              <a:t>句柄是： </a:t>
            </a:r>
            <a:r>
              <a:rPr kumimoji="1" lang="en-US" altLang="zh-CN" sz="2800" dirty="0">
                <a:latin typeface="Times New Roman" pitchFamily="18" charset="0"/>
              </a:rPr>
              <a:t>i</a:t>
            </a:r>
            <a:r>
              <a:rPr kumimoji="1" lang="en-US" altLang="zh-CN" sz="2800" baseline="-25000" dirty="0">
                <a:latin typeface="Times New Roman" pitchFamily="18" charset="0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>
                <a:spLocks noChangeArrowheads="1"/>
              </p:cNvSpPr>
              <p:nvPr/>
            </p:nvSpPr>
            <p:spPr bwMode="auto">
              <a:xfrm>
                <a:off x="0" y="2822575"/>
                <a:ext cx="914400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800" dirty="0">
                    <a:solidFill>
                      <a:schemeClr val="accent2"/>
                    </a:solidFill>
                    <a:latin typeface="Times New Roman" pitchFamily="18" charset="0"/>
                  </a:rPr>
                  <a:t>E </a:t>
                </a:r>
                <a14:m>
                  <m:oMath xmlns:m="http://schemas.openxmlformats.org/officeDocument/2006/math">
                    <m:r>
                      <a:rPr kumimoji="1" lang="en-US" altLang="zh-CN" sz="2800" i="1" dirty="0" smtClean="0">
                        <a:solidFill>
                          <a:schemeClr val="accent2"/>
                        </a:solidFill>
                        <a:latin typeface="Cambria Math"/>
                        <a:ea typeface="Cambria Math"/>
                      </a:rPr>
                      <m:t>⇒</m:t>
                    </m:r>
                  </m:oMath>
                </a14:m>
                <a:r>
                  <a:rPr kumimoji="1" lang="en-US" altLang="zh-CN" sz="2800" dirty="0">
                    <a:solidFill>
                      <a:schemeClr val="accent2"/>
                    </a:solidFill>
                    <a:latin typeface="Times New Roman" pitchFamily="18" charset="0"/>
                  </a:rPr>
                  <a:t> F * i</a:t>
                </a:r>
                <a:r>
                  <a:rPr kumimoji="1" lang="en-US" altLang="zh-CN" sz="2800" baseline="-25000" dirty="0">
                    <a:solidFill>
                      <a:schemeClr val="accent2"/>
                    </a:solidFill>
                    <a:latin typeface="Times New Roman" pitchFamily="18" charset="0"/>
                  </a:rPr>
                  <a:t>2</a:t>
                </a:r>
                <a:r>
                  <a:rPr kumimoji="1" lang="en-US" altLang="zh-CN" sz="2800" dirty="0">
                    <a:solidFill>
                      <a:schemeClr val="accent2"/>
                    </a:solidFill>
                    <a:latin typeface="Times New Roman" pitchFamily="18" charset="0"/>
                  </a:rPr>
                  <a:t> + i</a:t>
                </a:r>
                <a:r>
                  <a:rPr kumimoji="1" lang="en-US" altLang="zh-CN" sz="2800" baseline="-25000" dirty="0">
                    <a:solidFill>
                      <a:schemeClr val="accent2"/>
                    </a:solidFill>
                    <a:latin typeface="Times New Roman" pitchFamily="18" charset="0"/>
                  </a:rPr>
                  <a:t>3</a:t>
                </a:r>
                <a:r>
                  <a:rPr kumimoji="1" lang="en-US" altLang="zh-CN" sz="2800" dirty="0">
                    <a:solidFill>
                      <a:schemeClr val="accent2"/>
                    </a:solidFill>
                    <a:latin typeface="Times New Roman" pitchFamily="18" charset="0"/>
                  </a:rPr>
                  <a:t>         E 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solidFill>
                          <a:schemeClr val="accent2"/>
                        </a:solidFill>
                        <a:latin typeface="Cambria Math"/>
                        <a:ea typeface="Cambria Math"/>
                      </a:rPr>
                      <m:t>⇒</m:t>
                    </m:r>
                  </m:oMath>
                </a14:m>
                <a:r>
                  <a:rPr kumimoji="1" lang="en-US" altLang="zh-CN" sz="2800" dirty="0">
                    <a:solidFill>
                      <a:schemeClr val="accent2"/>
                    </a:solidFill>
                    <a:latin typeface="Times New Roman" pitchFamily="18" charset="0"/>
                  </a:rPr>
                  <a:t> i</a:t>
                </a:r>
                <a:r>
                  <a:rPr kumimoji="1" lang="en-US" altLang="zh-CN" sz="2800" baseline="-25000" dirty="0">
                    <a:solidFill>
                      <a:schemeClr val="accent2"/>
                    </a:solidFill>
                    <a:latin typeface="Times New Roman" pitchFamily="18" charset="0"/>
                  </a:rPr>
                  <a:t>1</a:t>
                </a:r>
                <a:r>
                  <a:rPr kumimoji="1" lang="en-US" altLang="zh-CN" sz="2800" dirty="0">
                    <a:solidFill>
                      <a:schemeClr val="accent2"/>
                    </a:solidFill>
                    <a:latin typeface="Times New Roman" pitchFamily="18" charset="0"/>
                  </a:rPr>
                  <a:t> * F + i</a:t>
                </a:r>
                <a:r>
                  <a:rPr kumimoji="1" lang="en-US" altLang="zh-CN" sz="2800" baseline="-25000" dirty="0">
                    <a:solidFill>
                      <a:schemeClr val="accent2"/>
                    </a:solidFill>
                    <a:latin typeface="Times New Roman" pitchFamily="18" charset="0"/>
                  </a:rPr>
                  <a:t>3</a:t>
                </a:r>
                <a:r>
                  <a:rPr kumimoji="1" lang="en-US" altLang="zh-CN" sz="2800" dirty="0">
                    <a:solidFill>
                      <a:schemeClr val="accent2"/>
                    </a:solidFill>
                    <a:latin typeface="Times New Roman" pitchFamily="18" charset="0"/>
                  </a:rPr>
                  <a:t>           E 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solidFill>
                          <a:schemeClr val="accent2"/>
                        </a:solidFill>
                        <a:latin typeface="Cambria Math"/>
                        <a:ea typeface="Cambria Math"/>
                      </a:rPr>
                      <m:t>⇒</m:t>
                    </m:r>
                  </m:oMath>
                </a14:m>
                <a:r>
                  <a:rPr kumimoji="1" lang="en-US" altLang="zh-CN" sz="2800" dirty="0">
                    <a:solidFill>
                      <a:schemeClr val="accent2"/>
                    </a:solidFill>
                    <a:latin typeface="Times New Roman" pitchFamily="18" charset="0"/>
                  </a:rPr>
                  <a:t> i</a:t>
                </a:r>
                <a:r>
                  <a:rPr kumimoji="1" lang="en-US" altLang="zh-CN" sz="2800" baseline="-25000" dirty="0">
                    <a:solidFill>
                      <a:schemeClr val="accent2"/>
                    </a:solidFill>
                    <a:latin typeface="Times New Roman" pitchFamily="18" charset="0"/>
                  </a:rPr>
                  <a:t>1</a:t>
                </a:r>
                <a:r>
                  <a:rPr kumimoji="1" lang="en-US" altLang="zh-CN" sz="2800" dirty="0">
                    <a:solidFill>
                      <a:schemeClr val="accent2"/>
                    </a:solidFill>
                    <a:latin typeface="Times New Roman" pitchFamily="18" charset="0"/>
                  </a:rPr>
                  <a:t> * i</a:t>
                </a:r>
                <a:r>
                  <a:rPr kumimoji="1" lang="en-US" altLang="zh-CN" sz="2800" baseline="-25000" dirty="0">
                    <a:solidFill>
                      <a:schemeClr val="accent2"/>
                    </a:solidFill>
                    <a:latin typeface="Times New Roman" pitchFamily="18" charset="0"/>
                  </a:rPr>
                  <a:t>2</a:t>
                </a:r>
                <a:r>
                  <a:rPr kumimoji="1" lang="en-US" altLang="zh-CN" sz="2800" dirty="0">
                    <a:solidFill>
                      <a:schemeClr val="accent2"/>
                    </a:solidFill>
                    <a:latin typeface="Times New Roman" pitchFamily="18" charset="0"/>
                  </a:rPr>
                  <a:t> + F 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2822575"/>
                <a:ext cx="9144000" cy="519113"/>
              </a:xfrm>
              <a:prstGeom prst="rect">
                <a:avLst/>
              </a:prstGeom>
              <a:blipFill rotWithShape="1">
                <a:blip r:embed="rId2"/>
                <a:stretch>
                  <a:fillRect l="-1333" t="-11765" b="-329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>
                <a:spLocks noChangeArrowheads="1"/>
              </p:cNvSpPr>
              <p:nvPr/>
            </p:nvSpPr>
            <p:spPr bwMode="auto">
              <a:xfrm>
                <a:off x="909638" y="3467100"/>
                <a:ext cx="7658100" cy="11604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800" dirty="0">
                    <a:solidFill>
                      <a:schemeClr val="accent2"/>
                    </a:solidFill>
                    <a:latin typeface="Times New Roman" pitchFamily="18" charset="0"/>
                  </a:rPr>
                  <a:t>E 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solidFill>
                          <a:schemeClr val="accent2"/>
                        </a:solidFill>
                        <a:latin typeface="Cambria Math"/>
                        <a:ea typeface="Cambria Math"/>
                      </a:rPr>
                      <m:t>⇒</m:t>
                    </m:r>
                  </m:oMath>
                </a14:m>
                <a:r>
                  <a:rPr kumimoji="1" lang="en-US" altLang="zh-CN" sz="2800" dirty="0">
                    <a:solidFill>
                      <a:schemeClr val="accent2"/>
                    </a:solidFill>
                    <a:latin typeface="Times New Roman" pitchFamily="18" charset="0"/>
                  </a:rPr>
                  <a:t> T + i</a:t>
                </a:r>
                <a:r>
                  <a:rPr kumimoji="1" lang="en-US" altLang="zh-CN" sz="2800" baseline="-25000" dirty="0">
                    <a:solidFill>
                      <a:schemeClr val="accent2"/>
                    </a:solidFill>
                    <a:latin typeface="Times New Roman" pitchFamily="18" charset="0"/>
                  </a:rPr>
                  <a:t>3</a:t>
                </a:r>
                <a:r>
                  <a:rPr kumimoji="1" lang="en-US" altLang="zh-CN" sz="2800" dirty="0">
                    <a:solidFill>
                      <a:schemeClr val="accent2"/>
                    </a:solidFill>
                    <a:latin typeface="Times New Roman" pitchFamily="18" charset="0"/>
                  </a:rPr>
                  <a:t>              </a:t>
                </a:r>
                <a:r>
                  <a:rPr kumimoji="1" lang="zh-CN" altLang="en-US" sz="2800" dirty="0">
                    <a:solidFill>
                      <a:schemeClr val="accent2"/>
                    </a:solidFill>
                    <a:latin typeface="Times New Roman" pitchFamily="18" charset="0"/>
                  </a:rPr>
                  <a:t>（</a:t>
                </a:r>
                <a:r>
                  <a:rPr kumimoji="1" lang="en-US" altLang="zh-CN" sz="2800" dirty="0">
                    <a:latin typeface="Times New Roman" pitchFamily="18" charset="0"/>
                  </a:rPr>
                  <a:t>T 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solidFill>
                          <a:schemeClr val="accent2"/>
                        </a:solidFill>
                        <a:latin typeface="Cambria Math"/>
                        <a:ea typeface="Cambria Math"/>
                      </a:rPr>
                      <m:t>⇒</m:t>
                    </m:r>
                  </m:oMath>
                </a14:m>
                <a:r>
                  <a:rPr kumimoji="1" lang="en-US" altLang="zh-CN" sz="2800" dirty="0">
                    <a:solidFill>
                      <a:schemeClr val="accent2"/>
                    </a:solidFill>
                    <a:latin typeface="Times New Roman" pitchFamily="18" charset="0"/>
                  </a:rPr>
                  <a:t> </a:t>
                </a:r>
                <a:r>
                  <a:rPr kumimoji="1" lang="en-US" altLang="zh-CN" sz="2800" dirty="0">
                    <a:latin typeface="Times New Roman" pitchFamily="18" charset="0"/>
                  </a:rPr>
                  <a:t>T*F 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solidFill>
                          <a:schemeClr val="accent2"/>
                        </a:solidFill>
                        <a:latin typeface="Cambria Math"/>
                        <a:ea typeface="Cambria Math"/>
                      </a:rPr>
                      <m:t>⇒</m:t>
                    </m:r>
                  </m:oMath>
                </a14:m>
                <a:r>
                  <a:rPr kumimoji="1" lang="en-US" altLang="zh-CN" sz="2800" dirty="0">
                    <a:solidFill>
                      <a:schemeClr val="accent2"/>
                    </a:solidFill>
                    <a:latin typeface="Times New Roman" pitchFamily="18" charset="0"/>
                  </a:rPr>
                  <a:t> </a:t>
                </a:r>
                <a:r>
                  <a:rPr kumimoji="1" lang="en-US" altLang="zh-CN" sz="2800" dirty="0">
                    <a:latin typeface="Times New Roman" pitchFamily="18" charset="0"/>
                  </a:rPr>
                  <a:t>i</a:t>
                </a:r>
                <a:r>
                  <a:rPr kumimoji="1" lang="en-US" altLang="zh-CN" sz="2800" baseline="-25000" dirty="0">
                    <a:latin typeface="Times New Roman" pitchFamily="18" charset="0"/>
                  </a:rPr>
                  <a:t>1</a:t>
                </a:r>
                <a:r>
                  <a:rPr kumimoji="1" lang="en-US" altLang="zh-CN" sz="2800" dirty="0">
                    <a:latin typeface="Times New Roman" pitchFamily="18" charset="0"/>
                  </a:rPr>
                  <a:t> * i</a:t>
                </a:r>
                <a:r>
                  <a:rPr kumimoji="1" lang="en-US" altLang="zh-CN" sz="2800" baseline="-25000" dirty="0">
                    <a:latin typeface="Times New Roman" pitchFamily="18" charset="0"/>
                  </a:rPr>
                  <a:t>2</a:t>
                </a:r>
                <a:r>
                  <a:rPr kumimoji="1" lang="zh-CN" altLang="en-US" sz="2800" dirty="0">
                    <a:solidFill>
                      <a:schemeClr val="accent2"/>
                    </a:solidFill>
                    <a:latin typeface="Times New Roman" pitchFamily="18" charset="0"/>
                  </a:rPr>
                  <a:t>）</a:t>
                </a:r>
              </a:p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800" dirty="0">
                    <a:solidFill>
                      <a:schemeClr val="accent2"/>
                    </a:solidFill>
                    <a:latin typeface="Times New Roman" pitchFamily="18" charset="0"/>
                  </a:rPr>
                  <a:t>E 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solidFill>
                          <a:schemeClr val="accent2"/>
                        </a:solidFill>
                        <a:latin typeface="Cambria Math"/>
                        <a:ea typeface="Cambria Math"/>
                      </a:rPr>
                      <m:t>⇒</m:t>
                    </m:r>
                  </m:oMath>
                </a14:m>
                <a:r>
                  <a:rPr kumimoji="1" lang="en-US" altLang="zh-CN" sz="2800" dirty="0">
                    <a:solidFill>
                      <a:schemeClr val="accent2"/>
                    </a:solidFill>
                    <a:latin typeface="Times New Roman" pitchFamily="18" charset="0"/>
                  </a:rPr>
                  <a:t> i</a:t>
                </a:r>
                <a:r>
                  <a:rPr kumimoji="1" lang="en-US" altLang="zh-CN" sz="2800" baseline="-25000" dirty="0">
                    <a:solidFill>
                      <a:schemeClr val="accent2"/>
                    </a:solidFill>
                    <a:latin typeface="Times New Roman" pitchFamily="18" charset="0"/>
                  </a:rPr>
                  <a:t>1</a:t>
                </a:r>
                <a:r>
                  <a:rPr kumimoji="1" lang="en-US" altLang="zh-CN" sz="2800" dirty="0">
                    <a:solidFill>
                      <a:schemeClr val="accent2"/>
                    </a:solidFill>
                    <a:latin typeface="Times New Roman" pitchFamily="18" charset="0"/>
                  </a:rPr>
                  <a:t> * i</a:t>
                </a:r>
                <a:r>
                  <a:rPr kumimoji="1" lang="en-US" altLang="zh-CN" sz="2800" baseline="-25000" dirty="0">
                    <a:solidFill>
                      <a:schemeClr val="accent2"/>
                    </a:solidFill>
                    <a:latin typeface="Times New Roman" pitchFamily="18" charset="0"/>
                  </a:rPr>
                  <a:t>2</a:t>
                </a:r>
                <a:r>
                  <a:rPr kumimoji="1" lang="en-US" altLang="zh-CN" sz="2800" dirty="0">
                    <a:solidFill>
                      <a:schemeClr val="accent2"/>
                    </a:solidFill>
                    <a:latin typeface="Times New Roman" pitchFamily="18" charset="0"/>
                  </a:rPr>
                  <a:t> + i</a:t>
                </a:r>
                <a:r>
                  <a:rPr kumimoji="1" lang="en-US" altLang="zh-CN" sz="2800" baseline="-25000" dirty="0">
                    <a:solidFill>
                      <a:schemeClr val="accent2"/>
                    </a:solidFill>
                    <a:latin typeface="Times New Roman" pitchFamily="18" charset="0"/>
                  </a:rPr>
                  <a:t>3 </a:t>
                </a:r>
                <a:r>
                  <a:rPr kumimoji="1" lang="en-US" altLang="zh-CN" sz="2800" dirty="0">
                    <a:solidFill>
                      <a:schemeClr val="accent2"/>
                    </a:solidFill>
                    <a:latin typeface="Times New Roman" pitchFamily="18" charset="0"/>
                  </a:rPr>
                  <a:t>        </a:t>
                </a: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9638" y="3467100"/>
                <a:ext cx="7658100" cy="1160463"/>
              </a:xfrm>
              <a:prstGeom prst="rect">
                <a:avLst/>
              </a:prstGeom>
              <a:blipFill rotWithShape="1">
                <a:blip r:embed="rId3"/>
                <a:stretch>
                  <a:fillRect l="-1592" t="-6842" b="-1473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7643813" y="3233738"/>
            <a:ext cx="8286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800">
                <a:latin typeface="Times New Roman" pitchFamily="18" charset="0"/>
              </a:rPr>
              <a:t>F</a:t>
            </a:r>
            <a:r>
              <a:rPr kumimoji="1" lang="en-US" altLang="zh-CN" sz="2800">
                <a:latin typeface="Times New Roman" pitchFamily="18" charset="0"/>
                <a:sym typeface="Wingdings" pitchFamily="2" charset="2"/>
              </a:rPr>
              <a:t>i</a:t>
            </a:r>
          </a:p>
        </p:txBody>
      </p:sp>
      <p:grpSp>
        <p:nvGrpSpPr>
          <p:cNvPr id="11" name="Group 15"/>
          <p:cNvGrpSpPr>
            <a:grpSpLocks/>
          </p:cNvGrpSpPr>
          <p:nvPr/>
        </p:nvGrpSpPr>
        <p:grpSpPr bwMode="auto">
          <a:xfrm>
            <a:off x="515938" y="6129338"/>
            <a:ext cx="8307387" cy="646112"/>
            <a:chOff x="297" y="3681"/>
            <a:chExt cx="5233" cy="407"/>
          </a:xfrm>
        </p:grpSpPr>
        <p:sp>
          <p:nvSpPr>
            <p:cNvPr id="12" name="Line 10"/>
            <p:cNvSpPr>
              <a:spLocks noChangeShapeType="1"/>
            </p:cNvSpPr>
            <p:nvPr/>
          </p:nvSpPr>
          <p:spPr bwMode="auto">
            <a:xfrm>
              <a:off x="2858" y="3832"/>
              <a:ext cx="63" cy="1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297" y="3761"/>
              <a:ext cx="523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kumimoji="1" lang="en-US" altLang="zh-CN" sz="2800" dirty="0">
                  <a:latin typeface="Times New Roman" pitchFamily="18" charset="0"/>
                </a:rPr>
                <a:t>i2 + i3 </a:t>
              </a:r>
              <a:r>
                <a:rPr kumimoji="1" lang="zh-CN" altLang="en-US" sz="2800" dirty="0">
                  <a:latin typeface="Times New Roman" pitchFamily="18" charset="0"/>
                </a:rPr>
                <a:t>不是短语，因为</a:t>
              </a:r>
              <a:r>
                <a:rPr kumimoji="1" lang="en-US" altLang="zh-CN" sz="2800" dirty="0">
                  <a:latin typeface="Times New Roman" pitchFamily="18" charset="0"/>
                </a:rPr>
                <a:t>E  =&gt;  i</a:t>
              </a:r>
              <a:r>
                <a:rPr kumimoji="1" lang="en-US" altLang="zh-CN" sz="2800" baseline="-25000" dirty="0">
                  <a:latin typeface="Times New Roman" pitchFamily="18" charset="0"/>
                </a:rPr>
                <a:t>1</a:t>
              </a:r>
              <a:r>
                <a:rPr kumimoji="1" lang="en-US" altLang="zh-CN" sz="2800" dirty="0">
                  <a:latin typeface="Times New Roman" pitchFamily="18" charset="0"/>
                </a:rPr>
                <a:t> * E      </a:t>
              </a:r>
              <a:r>
                <a:rPr kumimoji="1" lang="zh-CN" altLang="en-US" sz="2800" dirty="0">
                  <a:latin typeface="Times New Roman" pitchFamily="18" charset="0"/>
                </a:rPr>
                <a:t>（</a:t>
              </a:r>
              <a:r>
                <a:rPr kumimoji="1" lang="en-US" altLang="zh-CN" sz="2800" dirty="0">
                  <a:latin typeface="Times New Roman" pitchFamily="18" charset="0"/>
                </a:rPr>
                <a:t>E =&gt;i</a:t>
              </a:r>
              <a:r>
                <a:rPr kumimoji="1" lang="en-US" altLang="zh-CN" sz="2800" baseline="-25000" dirty="0">
                  <a:latin typeface="Times New Roman" pitchFamily="18" charset="0"/>
                </a:rPr>
                <a:t>2</a:t>
              </a:r>
              <a:r>
                <a:rPr kumimoji="1" lang="en-US" altLang="zh-CN" sz="2800" dirty="0">
                  <a:latin typeface="Times New Roman" pitchFamily="18" charset="0"/>
                </a:rPr>
                <a:t> +i</a:t>
              </a:r>
              <a:r>
                <a:rPr kumimoji="1" lang="en-US" altLang="zh-CN" sz="2800" baseline="-25000" dirty="0">
                  <a:latin typeface="Times New Roman" pitchFamily="18" charset="0"/>
                </a:rPr>
                <a:t>3</a:t>
              </a:r>
              <a:r>
                <a:rPr kumimoji="1" lang="zh-CN" altLang="en-US" sz="2800" dirty="0">
                  <a:latin typeface="Times New Roman" pitchFamily="18" charset="0"/>
                </a:rPr>
                <a:t>）</a:t>
              </a:r>
            </a:p>
          </p:txBody>
        </p:sp>
        <p:sp>
          <p:nvSpPr>
            <p:cNvPr id="14" name="Text Box 13"/>
            <p:cNvSpPr txBox="1">
              <a:spLocks noChangeArrowheads="1"/>
            </p:cNvSpPr>
            <p:nvPr/>
          </p:nvSpPr>
          <p:spPr bwMode="auto">
            <a:xfrm>
              <a:off x="4433" y="3681"/>
              <a:ext cx="2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800">
                  <a:latin typeface="Times New Roman" pitchFamily="18" charset="0"/>
                </a:rPr>
                <a:t>*</a:t>
              </a:r>
            </a:p>
          </p:txBody>
        </p:sp>
      </p:grp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3839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  <p:bldP spid="6" grpId="0" animBg="1" autoUpdateAnimBg="0"/>
      <p:bldP spid="7" grpId="0" autoUpdateAnimBg="0"/>
      <p:bldP spid="8" grpId="0" autoUpdateAnimBg="0"/>
      <p:bldP spid="9" grpId="0" autoUpdateAnimBg="0"/>
      <p:bldP spid="10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二、移进</a:t>
            </a:r>
            <a:r>
              <a:rPr lang="en-US" altLang="zh-CN" b="1" dirty="0">
                <a:latin typeface="+mj-ea"/>
              </a:rPr>
              <a:t>-</a:t>
            </a:r>
            <a:r>
              <a:rPr lang="zh-CN" altLang="en-US" b="1" dirty="0">
                <a:latin typeface="+mj-ea"/>
              </a:rPr>
              <a:t>规约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0" y="1268733"/>
            <a:ext cx="9319266" cy="655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55600" indent="-269875" algn="l" rtl="0" eaLnBrk="1" fontAlgn="base" hangingPunct="1">
              <a:spcBef>
                <a:spcPts val="1800"/>
              </a:spcBef>
              <a:spcAft>
                <a:spcPct val="0"/>
              </a:spcAft>
              <a:buClr>
                <a:srgbClr val="003399"/>
              </a:buClr>
              <a:buSzPct val="80000"/>
              <a:buFont typeface="Wingdings 2" panose="05020102010507070707" pitchFamily="18" charset="2"/>
              <a:buChar char=""/>
              <a:defRPr sz="2400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700088" indent="-342900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2000" kern="1200">
                <a:solidFill>
                  <a:srgbClr val="7030A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14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2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+mj-ea"/>
                <a:ea typeface="+mj-ea"/>
              </a:rPr>
              <a:t>按照定义，短语是某句型的一个子串，且该子串可以由某句型推导中的某一非终结符推出，从</a:t>
            </a:r>
            <a:r>
              <a:rPr lang="zh-CN" altLang="en-US" b="1" u="sng" dirty="0">
                <a:solidFill>
                  <a:srgbClr val="FF0000"/>
                </a:solidFill>
                <a:latin typeface="+mj-ea"/>
                <a:ea typeface="+mj-ea"/>
              </a:rPr>
              <a:t>语法树上可分析</a:t>
            </a:r>
            <a:r>
              <a:rPr lang="zh-CN" altLang="en-US" dirty="0">
                <a:latin typeface="+mj-ea"/>
                <a:ea typeface="+mj-ea"/>
              </a:rPr>
              <a:t>出下列关系：</a:t>
            </a:r>
          </a:p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chemeClr val="accent1"/>
                </a:solidFill>
                <a:latin typeface="+mj-ea"/>
                <a:ea typeface="+mj-ea"/>
              </a:rPr>
              <a:t>句型：</a:t>
            </a:r>
            <a:r>
              <a:rPr lang="zh-CN" altLang="en-US" dirty="0">
                <a:latin typeface="+mj-ea"/>
                <a:ea typeface="+mj-ea"/>
              </a:rPr>
              <a:t>语法树中所有叶子（结点）自左至右构成的符号串</a:t>
            </a:r>
          </a:p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chemeClr val="accent1"/>
                </a:solidFill>
                <a:latin typeface="+mj-ea"/>
                <a:ea typeface="+mj-ea"/>
              </a:rPr>
              <a:t>短语：</a:t>
            </a:r>
            <a:r>
              <a:rPr lang="zh-CN" altLang="en-US" dirty="0">
                <a:latin typeface="+mj-ea"/>
                <a:ea typeface="+mj-ea"/>
              </a:rPr>
              <a:t>语法树的某棵子树（以某非叶结点为根）的所有叶子（结点）自左至右构成的符号串</a:t>
            </a:r>
          </a:p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chemeClr val="accent1"/>
                </a:solidFill>
                <a:latin typeface="+mj-ea"/>
                <a:ea typeface="+mj-ea"/>
              </a:rPr>
              <a:t>直接短语：</a:t>
            </a:r>
            <a:r>
              <a:rPr lang="zh-CN" altLang="en-US" dirty="0">
                <a:latin typeface="+mj-ea"/>
                <a:ea typeface="+mj-ea"/>
              </a:rPr>
              <a:t>只有父子两代的子树（只有根和叶子）其叶子（结点）自左至右构成的符号串</a:t>
            </a:r>
          </a:p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chemeClr val="accent1"/>
                </a:solidFill>
                <a:latin typeface="+mj-ea"/>
                <a:ea typeface="+mj-ea"/>
              </a:rPr>
              <a:t>句柄：</a:t>
            </a:r>
            <a:r>
              <a:rPr lang="zh-CN" altLang="en-US" dirty="0">
                <a:latin typeface="+mj-ea"/>
                <a:ea typeface="+mj-ea"/>
              </a:rPr>
              <a:t>最左边的两代子树的叶子（结点）自左至右构成的符号串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09145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8282" y="30958"/>
            <a:ext cx="8218486" cy="711200"/>
          </a:xfrm>
        </p:spPr>
        <p:txBody>
          <a:bodyPr/>
          <a:lstStyle/>
          <a:p>
            <a:r>
              <a:rPr lang="zh-CN" altLang="en-US" b="1" dirty="0"/>
              <a:t>二、移进</a:t>
            </a:r>
            <a:r>
              <a:rPr lang="en-US" altLang="zh-CN" b="1" dirty="0"/>
              <a:t>-</a:t>
            </a:r>
            <a:r>
              <a:rPr lang="zh-CN" altLang="en-US" b="1" dirty="0"/>
              <a:t>规约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sz="2800" baseline="-25000" dirty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51466" y="816770"/>
            <a:ext cx="5795962" cy="3180556"/>
          </a:xfrm>
          <a:prstGeom prst="rect">
            <a:avLst/>
          </a:prstGeom>
          <a:solidFill>
            <a:schemeClr val="bg1"/>
          </a:solidFill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55600" indent="-269875" algn="l" rtl="0" eaLnBrk="1" fontAlgn="base" hangingPunct="1">
              <a:spcBef>
                <a:spcPts val="1800"/>
              </a:spcBef>
              <a:spcAft>
                <a:spcPct val="0"/>
              </a:spcAft>
              <a:buClr>
                <a:srgbClr val="003399"/>
              </a:buClr>
              <a:buSzPct val="80000"/>
              <a:buFont typeface="Wingdings 2" panose="05020102010507070707" pitchFamily="18" charset="2"/>
              <a:buChar char=""/>
              <a:defRPr sz="2400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357188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sz="2000" kern="1200">
                <a:solidFill>
                  <a:srgbClr val="0066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2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Font typeface="Wingdings" pitchFamily="2" charset="2"/>
              <a:buNone/>
            </a:pPr>
            <a:r>
              <a:rPr lang="zh-CN" altLang="en-US" sz="2600" dirty="0"/>
              <a:t>从语法分析树来识别：</a:t>
            </a:r>
          </a:p>
          <a:p>
            <a:pPr>
              <a:spcBef>
                <a:spcPts val="0"/>
              </a:spcBef>
            </a:pPr>
            <a:r>
              <a:rPr lang="zh-CN" altLang="en-US" sz="2600" dirty="0"/>
              <a:t>一棵</a:t>
            </a:r>
            <a:r>
              <a:rPr lang="zh-CN" altLang="en-US" sz="2600" b="1" dirty="0">
                <a:solidFill>
                  <a:schemeClr val="accent2"/>
                </a:solidFill>
              </a:rPr>
              <a:t>子树</a:t>
            </a:r>
            <a:r>
              <a:rPr lang="zh-CN" altLang="en-US" sz="2600" dirty="0"/>
              <a:t>是由树的某个结点连同它的所有子孙组成的。</a:t>
            </a:r>
          </a:p>
          <a:p>
            <a:pPr>
              <a:spcBef>
                <a:spcPts val="0"/>
              </a:spcBef>
            </a:pPr>
            <a:r>
              <a:rPr lang="zh-CN" altLang="en-US" sz="2600" dirty="0"/>
              <a:t>子树的所有端末结点自左至右排列成一个相对子树根的</a:t>
            </a:r>
            <a:r>
              <a:rPr lang="zh-CN" altLang="en-US" sz="2600" b="1" dirty="0">
                <a:solidFill>
                  <a:schemeClr val="accent2"/>
                </a:solidFill>
              </a:rPr>
              <a:t>短语</a:t>
            </a:r>
            <a:r>
              <a:rPr lang="zh-CN" altLang="en-US" sz="2600" b="1" dirty="0"/>
              <a:t>。</a:t>
            </a:r>
          </a:p>
          <a:p>
            <a:pPr>
              <a:spcBef>
                <a:spcPts val="0"/>
              </a:spcBef>
            </a:pPr>
            <a:r>
              <a:rPr lang="zh-CN" altLang="en-US" sz="2600" b="1" dirty="0">
                <a:solidFill>
                  <a:schemeClr val="accent2"/>
                </a:solidFill>
              </a:rPr>
              <a:t>直接短语</a:t>
            </a:r>
            <a:r>
              <a:rPr lang="zh-CN" altLang="en-US" sz="2600" b="1" dirty="0"/>
              <a:t>：</a:t>
            </a:r>
            <a:r>
              <a:rPr lang="zh-CN" altLang="en-US" sz="2600" dirty="0"/>
              <a:t>只有父子两代结点形成的短语。</a:t>
            </a:r>
          </a:p>
          <a:p>
            <a:pPr>
              <a:spcBef>
                <a:spcPts val="0"/>
              </a:spcBef>
            </a:pPr>
            <a:r>
              <a:rPr lang="zh-CN" altLang="en-US" sz="2600" b="1" dirty="0">
                <a:solidFill>
                  <a:schemeClr val="accent2"/>
                </a:solidFill>
              </a:rPr>
              <a:t>句柄</a:t>
            </a:r>
            <a:r>
              <a:rPr lang="zh-CN" altLang="en-US" sz="2600" b="1" dirty="0"/>
              <a:t>：</a:t>
            </a:r>
            <a:r>
              <a:rPr lang="zh-CN" altLang="en-US" sz="2600" dirty="0"/>
              <a:t>最左子树的直接短语。</a:t>
            </a:r>
          </a:p>
        </p:txBody>
      </p:sp>
      <p:grpSp>
        <p:nvGrpSpPr>
          <p:cNvPr id="5" name="Group 26"/>
          <p:cNvGrpSpPr>
            <a:grpSpLocks/>
          </p:cNvGrpSpPr>
          <p:nvPr/>
        </p:nvGrpSpPr>
        <p:grpSpPr bwMode="auto">
          <a:xfrm>
            <a:off x="6220618" y="985375"/>
            <a:ext cx="2849562" cy="3532188"/>
            <a:chOff x="3560" y="567"/>
            <a:chExt cx="1795" cy="2973"/>
          </a:xfrm>
        </p:grpSpPr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4316" y="567"/>
              <a:ext cx="4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dirty="0"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4067" y="1075"/>
              <a:ext cx="83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dirty="0">
                  <a:latin typeface="Times New Roman" pitchFamily="18" charset="0"/>
                </a:rPr>
                <a:t>E   +    T</a:t>
              </a:r>
            </a:p>
          </p:txBody>
        </p:sp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3980" y="1591"/>
              <a:ext cx="4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dirty="0">
                  <a:latin typeface="Times New Roman" pitchFamily="18" charset="0"/>
                </a:rPr>
                <a:t>T</a:t>
              </a:r>
            </a:p>
          </p:txBody>
        </p:sp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4780" y="1564"/>
              <a:ext cx="4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4917" y="2081"/>
              <a:ext cx="4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dirty="0">
                  <a:latin typeface="Times New Roman" pitchFamily="18" charset="0"/>
                </a:rPr>
                <a:t>i</a:t>
              </a:r>
              <a:r>
                <a:rPr kumimoji="1" lang="en-US" altLang="zh-CN" sz="2400" baseline="-25000" dirty="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11" name="Text Box 10"/>
            <p:cNvSpPr txBox="1">
              <a:spLocks noChangeArrowheads="1"/>
            </p:cNvSpPr>
            <p:nvPr/>
          </p:nvSpPr>
          <p:spPr bwMode="auto">
            <a:xfrm>
              <a:off x="4248" y="2776"/>
              <a:ext cx="4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dirty="0">
                  <a:latin typeface="Times New Roman" pitchFamily="18" charset="0"/>
                </a:rPr>
                <a:t>i</a:t>
              </a:r>
              <a:r>
                <a:rPr kumimoji="1" lang="en-US" altLang="zh-CN" sz="2400" baseline="-25000" dirty="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12" name="Text Box 11"/>
            <p:cNvSpPr txBox="1">
              <a:spLocks noChangeArrowheads="1"/>
            </p:cNvSpPr>
            <p:nvPr/>
          </p:nvSpPr>
          <p:spPr bwMode="auto">
            <a:xfrm>
              <a:off x="3571" y="3252"/>
              <a:ext cx="4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dirty="0">
                  <a:latin typeface="Times New Roman" pitchFamily="18" charset="0"/>
                </a:rPr>
                <a:t>i</a:t>
              </a:r>
              <a:r>
                <a:rPr kumimoji="1" lang="en-US" altLang="zh-CN" sz="2400" baseline="-25000" dirty="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13" name="Text Box 12"/>
            <p:cNvSpPr txBox="1">
              <a:spLocks noChangeArrowheads="1"/>
            </p:cNvSpPr>
            <p:nvPr/>
          </p:nvSpPr>
          <p:spPr bwMode="auto">
            <a:xfrm>
              <a:off x="3637" y="2100"/>
              <a:ext cx="83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dirty="0">
                  <a:latin typeface="Times New Roman" pitchFamily="18" charset="0"/>
                </a:rPr>
                <a:t>T   *    F</a:t>
              </a:r>
            </a:p>
          </p:txBody>
        </p:sp>
        <p:sp>
          <p:nvSpPr>
            <p:cNvPr id="14" name="Text Box 13"/>
            <p:cNvSpPr txBox="1">
              <a:spLocks noChangeArrowheads="1"/>
            </p:cNvSpPr>
            <p:nvPr/>
          </p:nvSpPr>
          <p:spPr bwMode="auto">
            <a:xfrm>
              <a:off x="3560" y="2744"/>
              <a:ext cx="3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dirty="0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H="1">
              <a:off x="4195" y="817"/>
              <a:ext cx="224" cy="3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>
              <a:off x="4436" y="825"/>
              <a:ext cx="0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4445" y="825"/>
              <a:ext cx="301" cy="2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 flipH="1">
              <a:off x="4092" y="1315"/>
              <a:ext cx="86" cy="3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>
              <a:off x="4771" y="1315"/>
              <a:ext cx="78" cy="2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9"/>
            <p:cNvSpPr>
              <a:spLocks noChangeShapeType="1"/>
            </p:cNvSpPr>
            <p:nvPr/>
          </p:nvSpPr>
          <p:spPr bwMode="auto">
            <a:xfrm flipH="1">
              <a:off x="3765" y="1831"/>
              <a:ext cx="319" cy="3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0"/>
            <p:cNvSpPr>
              <a:spLocks noChangeShapeType="1"/>
            </p:cNvSpPr>
            <p:nvPr/>
          </p:nvSpPr>
          <p:spPr bwMode="auto">
            <a:xfrm flipH="1">
              <a:off x="4015" y="1848"/>
              <a:ext cx="86" cy="2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4101" y="1848"/>
              <a:ext cx="198" cy="3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2"/>
            <p:cNvSpPr>
              <a:spLocks noChangeShapeType="1"/>
            </p:cNvSpPr>
            <p:nvPr/>
          </p:nvSpPr>
          <p:spPr bwMode="auto">
            <a:xfrm>
              <a:off x="4900" y="1788"/>
              <a:ext cx="112" cy="3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3"/>
            <p:cNvSpPr>
              <a:spLocks noChangeShapeType="1"/>
            </p:cNvSpPr>
            <p:nvPr/>
          </p:nvSpPr>
          <p:spPr bwMode="auto">
            <a:xfrm flipH="1">
              <a:off x="3671" y="2347"/>
              <a:ext cx="77" cy="4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4"/>
            <p:cNvSpPr>
              <a:spLocks noChangeShapeType="1"/>
            </p:cNvSpPr>
            <p:nvPr/>
          </p:nvSpPr>
          <p:spPr bwMode="auto">
            <a:xfrm flipH="1">
              <a:off x="3654" y="2975"/>
              <a:ext cx="0" cy="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5"/>
            <p:cNvSpPr>
              <a:spLocks noChangeShapeType="1"/>
            </p:cNvSpPr>
            <p:nvPr/>
          </p:nvSpPr>
          <p:spPr bwMode="auto">
            <a:xfrm>
              <a:off x="4299" y="2338"/>
              <a:ext cx="43" cy="4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7" name="Text Box 27"/>
          <p:cNvSpPr txBox="1">
            <a:spLocks noChangeArrowheads="1"/>
          </p:cNvSpPr>
          <p:nvPr/>
        </p:nvSpPr>
        <p:spPr bwMode="auto">
          <a:xfrm>
            <a:off x="1649412" y="4762501"/>
            <a:ext cx="7494587" cy="2057400"/>
          </a:xfrm>
          <a:prstGeom prst="rect">
            <a:avLst/>
          </a:prstGeom>
          <a:ln/>
          <a:extLst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zh-CN" altLang="en-US" sz="2800" dirty="0">
                <a:latin typeface="Times New Roman" pitchFamily="18" charset="0"/>
              </a:rPr>
              <a:t>从语法树可以看出：</a:t>
            </a:r>
          </a:p>
          <a:p>
            <a:pPr eaLnBrk="1" hangingPunct="1">
              <a:spcBef>
                <a:spcPct val="20000"/>
              </a:spcBef>
            </a:pPr>
            <a:r>
              <a:rPr kumimoji="1" lang="en-US" altLang="zh-CN" sz="2800" dirty="0">
                <a:solidFill>
                  <a:srgbClr val="0000FF"/>
                </a:solidFill>
                <a:latin typeface="Times New Roman" pitchFamily="18" charset="0"/>
              </a:rPr>
              <a:t>i</a:t>
            </a:r>
            <a:r>
              <a:rPr kumimoji="1" lang="en-US" altLang="zh-CN" sz="2800" baseline="-25000" dirty="0">
                <a:solidFill>
                  <a:srgbClr val="0000FF"/>
                </a:solidFill>
                <a:latin typeface="Times New Roman" pitchFamily="18" charset="0"/>
              </a:rPr>
              <a:t>1</a:t>
            </a:r>
            <a:r>
              <a:rPr kumimoji="1" lang="en-US" altLang="zh-CN" sz="2800" dirty="0">
                <a:solidFill>
                  <a:srgbClr val="0000FF"/>
                </a:solidFill>
                <a:latin typeface="Times New Roman" pitchFamily="18" charset="0"/>
              </a:rPr>
              <a:t>,  i</a:t>
            </a:r>
            <a:r>
              <a:rPr kumimoji="1" lang="en-US" altLang="zh-CN" sz="2800" baseline="-25000" dirty="0">
                <a:solidFill>
                  <a:srgbClr val="0000FF"/>
                </a:solidFill>
                <a:latin typeface="Times New Roman" pitchFamily="18" charset="0"/>
              </a:rPr>
              <a:t>2</a:t>
            </a:r>
            <a:r>
              <a:rPr kumimoji="1" lang="en-US" altLang="zh-CN" sz="2800" dirty="0">
                <a:solidFill>
                  <a:srgbClr val="0000FF"/>
                </a:solidFill>
                <a:latin typeface="Times New Roman" pitchFamily="18" charset="0"/>
              </a:rPr>
              <a:t>,  i</a:t>
            </a:r>
            <a:r>
              <a:rPr kumimoji="1" lang="en-US" altLang="zh-CN" sz="2800" baseline="-25000" dirty="0">
                <a:solidFill>
                  <a:srgbClr val="0000FF"/>
                </a:solidFill>
                <a:latin typeface="Times New Roman" pitchFamily="18" charset="0"/>
              </a:rPr>
              <a:t>3</a:t>
            </a:r>
            <a:r>
              <a:rPr kumimoji="1" lang="en-US" altLang="zh-CN" sz="2800" dirty="0">
                <a:solidFill>
                  <a:srgbClr val="0000FF"/>
                </a:solidFill>
                <a:latin typeface="Times New Roman" pitchFamily="18" charset="0"/>
              </a:rPr>
              <a:t>,  i</a:t>
            </a:r>
            <a:r>
              <a:rPr kumimoji="1" lang="en-US" altLang="zh-CN" sz="2800" baseline="-25000" dirty="0">
                <a:solidFill>
                  <a:srgbClr val="0000FF"/>
                </a:solidFill>
                <a:latin typeface="Times New Roman" pitchFamily="18" charset="0"/>
              </a:rPr>
              <a:t>1</a:t>
            </a:r>
            <a:r>
              <a:rPr kumimoji="1" lang="en-US" altLang="zh-CN" sz="2800" dirty="0">
                <a:solidFill>
                  <a:srgbClr val="0000FF"/>
                </a:solidFill>
                <a:latin typeface="Times New Roman" pitchFamily="18" charset="0"/>
              </a:rPr>
              <a:t>*i</a:t>
            </a:r>
            <a:r>
              <a:rPr kumimoji="1" lang="en-US" altLang="zh-CN" sz="2800" baseline="-25000" dirty="0">
                <a:solidFill>
                  <a:srgbClr val="0000FF"/>
                </a:solidFill>
                <a:latin typeface="Times New Roman" pitchFamily="18" charset="0"/>
              </a:rPr>
              <a:t>2</a:t>
            </a:r>
            <a:r>
              <a:rPr kumimoji="1" lang="en-US" altLang="zh-CN" sz="2800" dirty="0">
                <a:solidFill>
                  <a:srgbClr val="0000FF"/>
                </a:solidFill>
                <a:latin typeface="Times New Roman" pitchFamily="18" charset="0"/>
              </a:rPr>
              <a:t>,  i</a:t>
            </a:r>
            <a:r>
              <a:rPr kumimoji="1" lang="en-US" altLang="zh-CN" sz="2800" baseline="-25000" dirty="0">
                <a:solidFill>
                  <a:srgbClr val="0000FF"/>
                </a:solidFill>
                <a:latin typeface="Times New Roman" pitchFamily="18" charset="0"/>
              </a:rPr>
              <a:t>1</a:t>
            </a:r>
            <a:r>
              <a:rPr kumimoji="1" lang="en-US" altLang="zh-CN" sz="2800" dirty="0">
                <a:solidFill>
                  <a:srgbClr val="0000FF"/>
                </a:solidFill>
                <a:latin typeface="Times New Roman" pitchFamily="18" charset="0"/>
              </a:rPr>
              <a:t>*i</a:t>
            </a:r>
            <a:r>
              <a:rPr kumimoji="1" lang="en-US" altLang="zh-CN" sz="2800" baseline="-25000" dirty="0">
                <a:solidFill>
                  <a:srgbClr val="0000FF"/>
                </a:solidFill>
                <a:latin typeface="Times New Roman" pitchFamily="18" charset="0"/>
              </a:rPr>
              <a:t>2</a:t>
            </a:r>
            <a:r>
              <a:rPr kumimoji="1" lang="en-US" altLang="zh-CN" sz="2800" dirty="0">
                <a:solidFill>
                  <a:srgbClr val="0000FF"/>
                </a:solidFill>
                <a:latin typeface="Times New Roman" pitchFamily="18" charset="0"/>
              </a:rPr>
              <a:t>+i</a:t>
            </a:r>
            <a:r>
              <a:rPr kumimoji="1" lang="en-US" altLang="zh-CN" sz="2800" baseline="-25000" dirty="0">
                <a:solidFill>
                  <a:srgbClr val="0000FF"/>
                </a:solidFill>
                <a:latin typeface="Times New Roman" pitchFamily="18" charset="0"/>
              </a:rPr>
              <a:t>3</a:t>
            </a:r>
            <a:r>
              <a:rPr kumimoji="1" lang="zh-CN" altLang="en-US" sz="2800" dirty="0">
                <a:solidFill>
                  <a:srgbClr val="0000FF"/>
                </a:solidFill>
                <a:latin typeface="Times New Roman" pitchFamily="18" charset="0"/>
              </a:rPr>
              <a:t>是句型</a:t>
            </a:r>
            <a:r>
              <a:rPr kumimoji="1" lang="en-US" altLang="zh-CN" sz="2800" dirty="0">
                <a:solidFill>
                  <a:srgbClr val="0000FF"/>
                </a:solidFill>
                <a:latin typeface="Times New Roman" pitchFamily="18" charset="0"/>
              </a:rPr>
              <a:t>i</a:t>
            </a:r>
            <a:r>
              <a:rPr kumimoji="1" lang="en-US" altLang="zh-CN" sz="2800" baseline="-25000" dirty="0">
                <a:solidFill>
                  <a:srgbClr val="0000FF"/>
                </a:solidFill>
                <a:latin typeface="Times New Roman" pitchFamily="18" charset="0"/>
              </a:rPr>
              <a:t>1</a:t>
            </a:r>
            <a:r>
              <a:rPr kumimoji="1" lang="en-US" altLang="zh-CN" sz="2800" dirty="0">
                <a:solidFill>
                  <a:srgbClr val="0000FF"/>
                </a:solidFill>
                <a:latin typeface="Times New Roman" pitchFamily="18" charset="0"/>
              </a:rPr>
              <a:t>*i</a:t>
            </a:r>
            <a:r>
              <a:rPr kumimoji="1" lang="en-US" altLang="zh-CN" sz="2800" baseline="-25000" dirty="0">
                <a:solidFill>
                  <a:srgbClr val="0000FF"/>
                </a:solidFill>
                <a:latin typeface="Times New Roman" pitchFamily="18" charset="0"/>
              </a:rPr>
              <a:t>2</a:t>
            </a:r>
            <a:r>
              <a:rPr kumimoji="1" lang="en-US" altLang="zh-CN" sz="2800" dirty="0">
                <a:solidFill>
                  <a:srgbClr val="0000FF"/>
                </a:solidFill>
                <a:latin typeface="Times New Roman" pitchFamily="18" charset="0"/>
              </a:rPr>
              <a:t>+i</a:t>
            </a:r>
            <a:r>
              <a:rPr kumimoji="1" lang="en-US" altLang="zh-CN" sz="2800" baseline="-25000" dirty="0">
                <a:solidFill>
                  <a:srgbClr val="0000FF"/>
                </a:solidFill>
                <a:latin typeface="Times New Roman" pitchFamily="18" charset="0"/>
              </a:rPr>
              <a:t>3</a:t>
            </a:r>
            <a:r>
              <a:rPr kumimoji="1" lang="zh-CN" altLang="en-US" sz="2800" dirty="0">
                <a:solidFill>
                  <a:srgbClr val="0000FF"/>
                </a:solidFill>
                <a:latin typeface="Times New Roman" pitchFamily="18" charset="0"/>
              </a:rPr>
              <a:t>的短语</a:t>
            </a:r>
          </a:p>
          <a:p>
            <a:pPr eaLnBrk="1" hangingPunct="1">
              <a:spcBef>
                <a:spcPct val="20000"/>
              </a:spcBef>
            </a:pPr>
            <a:r>
              <a:rPr kumimoji="1" lang="zh-CN" altLang="en-US" sz="2800" dirty="0">
                <a:solidFill>
                  <a:srgbClr val="0000FF"/>
                </a:solidFill>
                <a:latin typeface="Times New Roman" pitchFamily="18" charset="0"/>
              </a:rPr>
              <a:t>直接短语有：</a:t>
            </a:r>
            <a:r>
              <a:rPr kumimoji="1" lang="en-US" altLang="zh-CN" sz="2800" dirty="0">
                <a:solidFill>
                  <a:srgbClr val="0000FF"/>
                </a:solidFill>
                <a:latin typeface="Times New Roman" pitchFamily="18" charset="0"/>
              </a:rPr>
              <a:t>i</a:t>
            </a:r>
            <a:r>
              <a:rPr kumimoji="1" lang="en-US" altLang="zh-CN" sz="2800" baseline="-25000" dirty="0">
                <a:solidFill>
                  <a:srgbClr val="0000FF"/>
                </a:solidFill>
                <a:latin typeface="Times New Roman" pitchFamily="18" charset="0"/>
              </a:rPr>
              <a:t>1</a:t>
            </a:r>
            <a:r>
              <a:rPr kumimoji="1" lang="en-US" altLang="zh-CN" sz="2800" dirty="0">
                <a:solidFill>
                  <a:srgbClr val="0000FF"/>
                </a:solidFill>
                <a:latin typeface="Times New Roman" pitchFamily="18" charset="0"/>
              </a:rPr>
              <a:t>, i</a:t>
            </a:r>
            <a:r>
              <a:rPr kumimoji="1" lang="en-US" altLang="zh-CN" sz="2800" baseline="-25000" dirty="0">
                <a:solidFill>
                  <a:srgbClr val="0000FF"/>
                </a:solidFill>
                <a:latin typeface="Times New Roman" pitchFamily="18" charset="0"/>
              </a:rPr>
              <a:t>2</a:t>
            </a:r>
            <a:r>
              <a:rPr kumimoji="1" lang="en-US" altLang="zh-CN" sz="2800" dirty="0">
                <a:solidFill>
                  <a:srgbClr val="0000FF"/>
                </a:solidFill>
                <a:latin typeface="Times New Roman" pitchFamily="18" charset="0"/>
              </a:rPr>
              <a:t> , i</a:t>
            </a:r>
            <a:r>
              <a:rPr kumimoji="1" lang="en-US" altLang="zh-CN" sz="2800" baseline="-25000" dirty="0">
                <a:solidFill>
                  <a:srgbClr val="0000FF"/>
                </a:solidFill>
                <a:latin typeface="Times New Roman" pitchFamily="18" charset="0"/>
              </a:rPr>
              <a:t>3</a:t>
            </a:r>
            <a:r>
              <a:rPr kumimoji="1" lang="en-US" altLang="zh-CN" sz="2800" dirty="0">
                <a:solidFill>
                  <a:srgbClr val="0000FF"/>
                </a:solidFill>
                <a:latin typeface="Times New Roman" pitchFamily="18" charset="0"/>
              </a:rPr>
              <a:t> </a:t>
            </a:r>
          </a:p>
          <a:p>
            <a:pPr eaLnBrk="1" hangingPunct="1">
              <a:spcBef>
                <a:spcPct val="20000"/>
              </a:spcBef>
            </a:pPr>
            <a:r>
              <a:rPr kumimoji="1" lang="zh-CN" altLang="en-US" sz="2800" dirty="0">
                <a:solidFill>
                  <a:srgbClr val="0000FF"/>
                </a:solidFill>
                <a:latin typeface="Times New Roman" pitchFamily="18" charset="0"/>
              </a:rPr>
              <a:t>句柄是： </a:t>
            </a:r>
            <a:r>
              <a:rPr kumimoji="1" lang="en-US" altLang="zh-CN" sz="2800" dirty="0">
                <a:solidFill>
                  <a:srgbClr val="0000FF"/>
                </a:solidFill>
                <a:latin typeface="Times New Roman" pitchFamily="18" charset="0"/>
              </a:rPr>
              <a:t>i</a:t>
            </a:r>
            <a:r>
              <a:rPr kumimoji="1" lang="en-US" altLang="zh-CN" sz="2800" baseline="-25000" dirty="0">
                <a:solidFill>
                  <a:srgbClr val="0000FF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28" name="Text Box 28"/>
          <p:cNvSpPr txBox="1">
            <a:spLocks noChangeArrowheads="1"/>
          </p:cNvSpPr>
          <p:nvPr/>
        </p:nvSpPr>
        <p:spPr bwMode="auto">
          <a:xfrm>
            <a:off x="-1" y="5032376"/>
            <a:ext cx="1654175" cy="15525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2400" dirty="0">
                <a:latin typeface="Times New Roman" pitchFamily="18" charset="0"/>
              </a:rPr>
              <a:t>E</a:t>
            </a:r>
            <a:r>
              <a:rPr kumimoji="1" lang="en-US" altLang="zh-CN" sz="2400" dirty="0">
                <a:latin typeface="Times New Roman" pitchFamily="18" charset="0"/>
                <a:sym typeface="Wingdings" pitchFamily="2" charset="2"/>
              </a:rPr>
              <a:t>T | E+T</a:t>
            </a:r>
          </a:p>
          <a:p>
            <a:pPr algn="ctr" eaLnBrk="1" hangingPunct="1">
              <a:spcBef>
                <a:spcPct val="50000"/>
              </a:spcBef>
            </a:pPr>
            <a:r>
              <a:rPr kumimoji="1" lang="en-US" altLang="zh-CN" sz="2400" dirty="0">
                <a:latin typeface="Times New Roman" pitchFamily="18" charset="0"/>
                <a:sym typeface="Wingdings" pitchFamily="2" charset="2"/>
              </a:rPr>
              <a:t>TF | T*F</a:t>
            </a:r>
          </a:p>
          <a:p>
            <a:pPr algn="ctr" eaLnBrk="1" hangingPunct="1">
              <a:spcBef>
                <a:spcPct val="50000"/>
              </a:spcBef>
            </a:pPr>
            <a:r>
              <a:rPr kumimoji="1" lang="en-US" altLang="zh-CN" sz="2400" dirty="0" err="1">
                <a:latin typeface="Times New Roman" pitchFamily="18" charset="0"/>
              </a:rPr>
              <a:t>F</a:t>
            </a:r>
            <a:r>
              <a:rPr kumimoji="1" lang="en-US" altLang="zh-CN" sz="2400" dirty="0" err="1">
                <a:latin typeface="Times New Roman" pitchFamily="18" charset="0"/>
                <a:sym typeface="Wingdings" pitchFamily="2" charset="2"/>
              </a:rPr>
              <a:t>i</a:t>
            </a:r>
            <a:r>
              <a:rPr kumimoji="1" lang="en-US" altLang="zh-CN" sz="2400" dirty="0">
                <a:latin typeface="Times New Roman" pitchFamily="18" charset="0"/>
                <a:sym typeface="Wingdings" pitchFamily="2" charset="2"/>
              </a:rPr>
              <a:t>  |  (E)</a:t>
            </a:r>
            <a:endParaRPr kumimoji="1" lang="en-US" altLang="zh-CN" sz="2400" dirty="0">
              <a:latin typeface="Times New Roman" pitchFamily="18" charset="0"/>
            </a:endParaRPr>
          </a:p>
        </p:txBody>
      </p:sp>
      <p:sp>
        <p:nvSpPr>
          <p:cNvPr id="29" name="Text Box 29"/>
          <p:cNvSpPr txBox="1">
            <a:spLocks noChangeArrowheads="1"/>
          </p:cNvSpPr>
          <p:nvPr/>
        </p:nvSpPr>
        <p:spPr bwMode="auto">
          <a:xfrm>
            <a:off x="-1" y="4221163"/>
            <a:ext cx="5934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latin typeface="Times New Roman" pitchFamily="18" charset="0"/>
              </a:rPr>
              <a:t>句型</a:t>
            </a:r>
            <a:r>
              <a:rPr kumimoji="1" lang="en-US" altLang="zh-CN" sz="2800" dirty="0">
                <a:latin typeface="Times New Roman" pitchFamily="18" charset="0"/>
              </a:rPr>
              <a:t>i</a:t>
            </a:r>
            <a:r>
              <a:rPr kumimoji="1" lang="en-US" altLang="zh-CN" sz="2800" baseline="-25000" dirty="0">
                <a:latin typeface="Times New Roman" pitchFamily="18" charset="0"/>
              </a:rPr>
              <a:t>1</a:t>
            </a:r>
            <a:r>
              <a:rPr kumimoji="1" lang="en-US" altLang="zh-CN" sz="2800" dirty="0">
                <a:latin typeface="Times New Roman" pitchFamily="18" charset="0"/>
              </a:rPr>
              <a:t>*i</a:t>
            </a:r>
            <a:r>
              <a:rPr kumimoji="1" lang="en-US" altLang="zh-CN" sz="2800" baseline="-25000" dirty="0">
                <a:latin typeface="Times New Roman" pitchFamily="18" charset="0"/>
              </a:rPr>
              <a:t>2</a:t>
            </a:r>
            <a:r>
              <a:rPr kumimoji="1" lang="en-US" altLang="zh-CN" sz="2800" dirty="0">
                <a:latin typeface="Times New Roman" pitchFamily="18" charset="0"/>
              </a:rPr>
              <a:t>+i</a:t>
            </a:r>
            <a:r>
              <a:rPr kumimoji="1" lang="en-US" altLang="zh-CN" sz="2800" baseline="-25000" dirty="0">
                <a:latin typeface="Times New Roman" pitchFamily="18" charset="0"/>
              </a:rPr>
              <a:t>3</a:t>
            </a:r>
            <a:r>
              <a:rPr kumimoji="1" lang="zh-CN" altLang="en-US" sz="2800" dirty="0">
                <a:latin typeface="Times New Roman" pitchFamily="18" charset="0"/>
              </a:rPr>
              <a:t>的语法树如图：</a:t>
            </a:r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381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 autoUpdateAnimBg="0"/>
      <p:bldP spid="28" grpId="0" animBg="1" autoUpdateAnimBg="0"/>
      <p:bldP spid="29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二、移进</a:t>
            </a:r>
            <a:r>
              <a:rPr lang="en-US" altLang="zh-CN" b="1" dirty="0"/>
              <a:t>-</a:t>
            </a:r>
            <a:r>
              <a:rPr lang="zh-CN" altLang="en-US" b="1" dirty="0"/>
              <a:t>规约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举例：</a:t>
            </a:r>
          </a:p>
        </p:txBody>
      </p:sp>
      <p:sp>
        <p:nvSpPr>
          <p:cNvPr id="25" name="Rectangle 3"/>
          <p:cNvSpPr txBox="1">
            <a:spLocks noChangeArrowheads="1"/>
          </p:cNvSpPr>
          <p:nvPr/>
        </p:nvSpPr>
        <p:spPr bwMode="auto">
          <a:xfrm>
            <a:off x="493713" y="1653965"/>
            <a:ext cx="6107112" cy="156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55600" indent="-269875" algn="l" rtl="0" eaLnBrk="1" fontAlgn="base" hangingPunct="1">
              <a:spcBef>
                <a:spcPts val="1800"/>
              </a:spcBef>
              <a:spcAft>
                <a:spcPct val="0"/>
              </a:spcAft>
              <a:buClr>
                <a:srgbClr val="003399"/>
              </a:buClr>
              <a:buSzPct val="80000"/>
              <a:buFont typeface="Wingdings 2" panose="05020102010507070707" pitchFamily="18" charset="2"/>
              <a:buChar char=""/>
              <a:defRPr sz="2400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357188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sz="2000" kern="1200">
                <a:solidFill>
                  <a:srgbClr val="0066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2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zh-CN" altLang="en-US" dirty="0">
                <a:solidFill>
                  <a:srgbClr val="000000"/>
                </a:solidFill>
              </a:rPr>
              <a:t>对下述文法，求句型 </a:t>
            </a:r>
            <a:r>
              <a:rPr lang="en-US" altLang="zh-CN" dirty="0">
                <a:solidFill>
                  <a:srgbClr val="000000"/>
                </a:solidFill>
              </a:rPr>
              <a:t>E+T * F + </a:t>
            </a:r>
            <a:r>
              <a:rPr lang="en-US" altLang="zh-CN" dirty="0" err="1">
                <a:solidFill>
                  <a:srgbClr val="000000"/>
                </a:solidFill>
              </a:rPr>
              <a:t>i</a:t>
            </a:r>
            <a:r>
              <a:rPr lang="zh-CN" altLang="en-US" dirty="0">
                <a:solidFill>
                  <a:srgbClr val="000000"/>
                </a:solidFill>
              </a:rPr>
              <a:t>的</a:t>
            </a:r>
            <a:r>
              <a:rPr lang="zh-CN" altLang="en-US" dirty="0">
                <a:solidFill>
                  <a:srgbClr val="FF0000"/>
                </a:solidFill>
              </a:rPr>
              <a:t>短语、直接短语、句柄</a:t>
            </a:r>
          </a:p>
        </p:txBody>
      </p:sp>
      <p:sp>
        <p:nvSpPr>
          <p:cNvPr id="26" name="Text Box 4"/>
          <p:cNvSpPr txBox="1">
            <a:spLocks noChangeArrowheads="1"/>
          </p:cNvSpPr>
          <p:nvPr/>
        </p:nvSpPr>
        <p:spPr bwMode="auto">
          <a:xfrm>
            <a:off x="1844675" y="2833477"/>
            <a:ext cx="2862263" cy="18018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2800">
                <a:latin typeface="Times New Roman" pitchFamily="18" charset="0"/>
              </a:rPr>
              <a:t>E</a:t>
            </a:r>
            <a:r>
              <a:rPr kumimoji="1" lang="en-US" altLang="zh-CN" sz="2800">
                <a:latin typeface="Times New Roman" pitchFamily="18" charset="0"/>
                <a:sym typeface="Wingdings" pitchFamily="2" charset="2"/>
              </a:rPr>
              <a:t>T | E+T</a:t>
            </a:r>
          </a:p>
          <a:p>
            <a:pPr algn="ctr" eaLnBrk="1" hangingPunct="1">
              <a:spcBef>
                <a:spcPct val="50000"/>
              </a:spcBef>
            </a:pPr>
            <a:r>
              <a:rPr kumimoji="1" lang="en-US" altLang="zh-CN" sz="2800">
                <a:latin typeface="Times New Roman" pitchFamily="18" charset="0"/>
                <a:sym typeface="Wingdings" pitchFamily="2" charset="2"/>
              </a:rPr>
              <a:t>TF | T*F</a:t>
            </a:r>
          </a:p>
          <a:p>
            <a:pPr algn="ctr" eaLnBrk="1" hangingPunct="1">
              <a:spcBef>
                <a:spcPct val="50000"/>
              </a:spcBef>
            </a:pPr>
            <a:r>
              <a:rPr kumimoji="1" lang="en-US" altLang="zh-CN" sz="2800">
                <a:latin typeface="Times New Roman" pitchFamily="18" charset="0"/>
              </a:rPr>
              <a:t>F</a:t>
            </a:r>
            <a:r>
              <a:rPr kumimoji="1" lang="en-US" altLang="zh-CN" sz="2800">
                <a:latin typeface="Times New Roman" pitchFamily="18" charset="0"/>
                <a:sym typeface="Wingdings" pitchFamily="2" charset="2"/>
              </a:rPr>
              <a:t>i  |  (E)</a:t>
            </a:r>
            <a:endParaRPr kumimoji="1" lang="en-US" altLang="zh-CN" sz="2800">
              <a:latin typeface="Times New Roman" pitchFamily="18" charset="0"/>
            </a:endParaRPr>
          </a:p>
        </p:txBody>
      </p:sp>
      <p:grpSp>
        <p:nvGrpSpPr>
          <p:cNvPr id="27" name="Group 27"/>
          <p:cNvGrpSpPr>
            <a:grpSpLocks/>
          </p:cNvGrpSpPr>
          <p:nvPr/>
        </p:nvGrpSpPr>
        <p:grpSpPr bwMode="auto">
          <a:xfrm>
            <a:off x="5997575" y="1552365"/>
            <a:ext cx="3146425" cy="3879850"/>
            <a:chOff x="3844" y="1108"/>
            <a:chExt cx="1521" cy="2116"/>
          </a:xfrm>
        </p:grpSpPr>
        <p:sp>
          <p:nvSpPr>
            <p:cNvPr id="28" name="Text Box 6"/>
            <p:cNvSpPr txBox="1">
              <a:spLocks noChangeArrowheads="1"/>
            </p:cNvSpPr>
            <p:nvPr/>
          </p:nvSpPr>
          <p:spPr bwMode="auto">
            <a:xfrm>
              <a:off x="4463" y="1108"/>
              <a:ext cx="438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800"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29" name="Text Box 7"/>
            <p:cNvSpPr txBox="1">
              <a:spLocks noChangeArrowheads="1"/>
            </p:cNvSpPr>
            <p:nvPr/>
          </p:nvSpPr>
          <p:spPr bwMode="auto">
            <a:xfrm>
              <a:off x="4214" y="1616"/>
              <a:ext cx="834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800">
                  <a:latin typeface="Times New Roman" pitchFamily="18" charset="0"/>
                </a:rPr>
                <a:t>E   +    T</a:t>
              </a:r>
            </a:p>
          </p:txBody>
        </p:sp>
        <p:sp>
          <p:nvSpPr>
            <p:cNvPr id="30" name="Text Box 9"/>
            <p:cNvSpPr txBox="1">
              <a:spLocks noChangeArrowheads="1"/>
            </p:cNvSpPr>
            <p:nvPr/>
          </p:nvSpPr>
          <p:spPr bwMode="auto">
            <a:xfrm>
              <a:off x="4927" y="2157"/>
              <a:ext cx="438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800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31" name="Text Box 10"/>
            <p:cNvSpPr txBox="1">
              <a:spLocks noChangeArrowheads="1"/>
            </p:cNvSpPr>
            <p:nvPr/>
          </p:nvSpPr>
          <p:spPr bwMode="auto">
            <a:xfrm>
              <a:off x="5134" y="2899"/>
              <a:ext cx="231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800">
                  <a:latin typeface="Times New Roman" pitchFamily="18" charset="0"/>
                </a:rPr>
                <a:t>i</a:t>
              </a:r>
            </a:p>
          </p:txBody>
        </p:sp>
        <p:sp>
          <p:nvSpPr>
            <p:cNvPr id="32" name="Text Box 13"/>
            <p:cNvSpPr txBox="1">
              <a:spLocks noChangeArrowheads="1"/>
            </p:cNvSpPr>
            <p:nvPr/>
          </p:nvSpPr>
          <p:spPr bwMode="auto">
            <a:xfrm>
              <a:off x="3844" y="2176"/>
              <a:ext cx="834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800">
                  <a:latin typeface="Times New Roman" pitchFamily="18" charset="0"/>
                </a:rPr>
                <a:t>E   +    T</a:t>
              </a:r>
            </a:p>
          </p:txBody>
        </p:sp>
        <p:sp>
          <p:nvSpPr>
            <p:cNvPr id="33" name="Text Box 14"/>
            <p:cNvSpPr txBox="1">
              <a:spLocks noChangeArrowheads="1"/>
            </p:cNvSpPr>
            <p:nvPr/>
          </p:nvSpPr>
          <p:spPr bwMode="auto">
            <a:xfrm>
              <a:off x="4068" y="2941"/>
              <a:ext cx="808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800">
                  <a:latin typeface="Times New Roman" pitchFamily="18" charset="0"/>
                </a:rPr>
                <a:t>T   *    F</a:t>
              </a:r>
            </a:p>
          </p:txBody>
        </p:sp>
        <p:sp>
          <p:nvSpPr>
            <p:cNvPr id="34" name="Line 15"/>
            <p:cNvSpPr>
              <a:spLocks noChangeShapeType="1"/>
            </p:cNvSpPr>
            <p:nvPr/>
          </p:nvSpPr>
          <p:spPr bwMode="auto">
            <a:xfrm flipH="1">
              <a:off x="4342" y="1358"/>
              <a:ext cx="224" cy="3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16"/>
            <p:cNvSpPr>
              <a:spLocks noChangeShapeType="1"/>
            </p:cNvSpPr>
            <p:nvPr/>
          </p:nvSpPr>
          <p:spPr bwMode="auto">
            <a:xfrm>
              <a:off x="4583" y="1366"/>
              <a:ext cx="0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17"/>
            <p:cNvSpPr>
              <a:spLocks noChangeShapeType="1"/>
            </p:cNvSpPr>
            <p:nvPr/>
          </p:nvSpPr>
          <p:spPr bwMode="auto">
            <a:xfrm>
              <a:off x="4592" y="1366"/>
              <a:ext cx="301" cy="2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19"/>
            <p:cNvSpPr>
              <a:spLocks noChangeShapeType="1"/>
            </p:cNvSpPr>
            <p:nvPr/>
          </p:nvSpPr>
          <p:spPr bwMode="auto">
            <a:xfrm>
              <a:off x="4918" y="1856"/>
              <a:ext cx="78" cy="2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20"/>
            <p:cNvSpPr>
              <a:spLocks noChangeShapeType="1"/>
            </p:cNvSpPr>
            <p:nvPr/>
          </p:nvSpPr>
          <p:spPr bwMode="auto">
            <a:xfrm flipH="1">
              <a:off x="3972" y="1907"/>
              <a:ext cx="319" cy="3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21"/>
            <p:cNvSpPr>
              <a:spLocks noChangeShapeType="1"/>
            </p:cNvSpPr>
            <p:nvPr/>
          </p:nvSpPr>
          <p:spPr bwMode="auto">
            <a:xfrm flipH="1">
              <a:off x="4222" y="1924"/>
              <a:ext cx="86" cy="2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22"/>
            <p:cNvSpPr>
              <a:spLocks noChangeShapeType="1"/>
            </p:cNvSpPr>
            <p:nvPr/>
          </p:nvSpPr>
          <p:spPr bwMode="auto">
            <a:xfrm>
              <a:off x="4308" y="1924"/>
              <a:ext cx="198" cy="3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23"/>
            <p:cNvSpPr>
              <a:spLocks noChangeShapeType="1"/>
            </p:cNvSpPr>
            <p:nvPr/>
          </p:nvSpPr>
          <p:spPr bwMode="auto">
            <a:xfrm>
              <a:off x="5038" y="2450"/>
              <a:ext cx="138" cy="4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Line 24"/>
            <p:cNvSpPr>
              <a:spLocks noChangeShapeType="1"/>
            </p:cNvSpPr>
            <p:nvPr/>
          </p:nvSpPr>
          <p:spPr bwMode="auto">
            <a:xfrm flipH="1">
              <a:off x="4454" y="2432"/>
              <a:ext cx="69" cy="5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25"/>
            <p:cNvSpPr>
              <a:spLocks noChangeShapeType="1"/>
            </p:cNvSpPr>
            <p:nvPr/>
          </p:nvSpPr>
          <p:spPr bwMode="auto">
            <a:xfrm flipH="1">
              <a:off x="4230" y="2416"/>
              <a:ext cx="275" cy="5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Line 26"/>
            <p:cNvSpPr>
              <a:spLocks noChangeShapeType="1"/>
            </p:cNvSpPr>
            <p:nvPr/>
          </p:nvSpPr>
          <p:spPr bwMode="auto">
            <a:xfrm>
              <a:off x="4549" y="2414"/>
              <a:ext cx="172" cy="5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5" name="Rectangle 28"/>
          <p:cNvSpPr>
            <a:spLocks noChangeArrowheads="1"/>
          </p:cNvSpPr>
          <p:nvPr/>
        </p:nvSpPr>
        <p:spPr bwMode="auto">
          <a:xfrm>
            <a:off x="0" y="4776577"/>
            <a:ext cx="6615113" cy="180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0000FF"/>
                </a:solidFill>
                <a:latin typeface="Times New Roman" pitchFamily="18" charset="0"/>
              </a:rPr>
              <a:t>短语有：</a:t>
            </a:r>
            <a:r>
              <a:rPr kumimoji="1" lang="en-US" altLang="zh-CN" sz="2800" dirty="0" err="1">
                <a:solidFill>
                  <a:srgbClr val="0000FF"/>
                </a:solidFill>
                <a:latin typeface="Times New Roman" pitchFamily="18" charset="0"/>
              </a:rPr>
              <a:t>i</a:t>
            </a:r>
            <a:r>
              <a:rPr kumimoji="1" lang="en-US" altLang="zh-CN" sz="2800" dirty="0">
                <a:solidFill>
                  <a:srgbClr val="0000FF"/>
                </a:solidFill>
                <a:latin typeface="Times New Roman" pitchFamily="18" charset="0"/>
              </a:rPr>
              <a:t>,  T * F, E+T * F,  E + T * F + </a:t>
            </a:r>
            <a:r>
              <a:rPr kumimoji="1" lang="en-US" altLang="zh-CN" sz="2800" dirty="0" err="1">
                <a:solidFill>
                  <a:srgbClr val="0000FF"/>
                </a:solidFill>
                <a:latin typeface="Times New Roman" pitchFamily="18" charset="0"/>
              </a:rPr>
              <a:t>i</a:t>
            </a:r>
            <a:endParaRPr kumimoji="1" lang="en-US" altLang="zh-CN" sz="2800" dirty="0">
              <a:solidFill>
                <a:srgbClr val="0000FF"/>
              </a:solidFill>
              <a:latin typeface="Times New Roman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0000FF"/>
                </a:solidFill>
                <a:latin typeface="Times New Roman" pitchFamily="18" charset="0"/>
              </a:rPr>
              <a:t>直接短语有： </a:t>
            </a:r>
            <a:r>
              <a:rPr kumimoji="1" lang="en-US" altLang="zh-CN" sz="2800" dirty="0" err="1">
                <a:solidFill>
                  <a:srgbClr val="0000FF"/>
                </a:solidFill>
                <a:latin typeface="Times New Roman" pitchFamily="18" charset="0"/>
              </a:rPr>
              <a:t>i</a:t>
            </a:r>
            <a:r>
              <a:rPr kumimoji="1" lang="en-US" altLang="zh-CN" sz="2800" dirty="0">
                <a:solidFill>
                  <a:srgbClr val="0000FF"/>
                </a:solidFill>
                <a:latin typeface="Times New Roman" pitchFamily="18" charset="0"/>
              </a:rPr>
              <a:t>,  T * F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0000FF"/>
                </a:solidFill>
                <a:latin typeface="Times New Roman" pitchFamily="18" charset="0"/>
              </a:rPr>
              <a:t>句柄是：</a:t>
            </a:r>
            <a:r>
              <a:rPr kumimoji="1" lang="en-US" altLang="zh-CN" sz="2800" dirty="0">
                <a:solidFill>
                  <a:srgbClr val="0000FF"/>
                </a:solidFill>
                <a:latin typeface="Times New Roman" pitchFamily="18" charset="0"/>
              </a:rPr>
              <a:t>T * F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3658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第五章 自底向上优先分析</a:t>
            </a:r>
          </a:p>
        </p:txBody>
      </p:sp>
      <p:sp>
        <p:nvSpPr>
          <p:cNvPr id="4" name="Freeform 6"/>
          <p:cNvSpPr>
            <a:spLocks/>
          </p:cNvSpPr>
          <p:nvPr/>
        </p:nvSpPr>
        <p:spPr bwMode="auto">
          <a:xfrm>
            <a:off x="1072753" y="2019239"/>
            <a:ext cx="1073042" cy="714123"/>
          </a:xfrm>
          <a:custGeom>
            <a:avLst/>
            <a:gdLst/>
            <a:ahLst/>
            <a:cxnLst>
              <a:cxn ang="0">
                <a:pos x="211" y="73"/>
              </a:cxn>
              <a:cxn ang="0">
                <a:pos x="192" y="80"/>
              </a:cxn>
              <a:cxn ang="0">
                <a:pos x="189" y="82"/>
              </a:cxn>
              <a:cxn ang="0">
                <a:pos x="180" y="86"/>
              </a:cxn>
              <a:cxn ang="0">
                <a:pos x="172" y="85"/>
              </a:cxn>
              <a:cxn ang="0">
                <a:pos x="172" y="0"/>
              </a:cxn>
              <a:cxn ang="0">
                <a:pos x="0" y="0"/>
              </a:cxn>
              <a:cxn ang="0">
                <a:pos x="0" y="190"/>
              </a:cxn>
              <a:cxn ang="0">
                <a:pos x="172" y="190"/>
              </a:cxn>
              <a:cxn ang="0">
                <a:pos x="172" y="117"/>
              </a:cxn>
              <a:cxn ang="0">
                <a:pos x="179" y="116"/>
              </a:cxn>
              <a:cxn ang="0">
                <a:pos x="190" y="120"/>
              </a:cxn>
              <a:cxn ang="0">
                <a:pos x="211" y="128"/>
              </a:cxn>
              <a:cxn ang="0">
                <a:pos x="241" y="101"/>
              </a:cxn>
              <a:cxn ang="0">
                <a:pos x="211" y="73"/>
              </a:cxn>
            </a:cxnLst>
            <a:rect l="0" t="0" r="r" b="b"/>
            <a:pathLst>
              <a:path w="241" h="190">
                <a:moveTo>
                  <a:pt x="211" y="73"/>
                </a:moveTo>
                <a:cubicBezTo>
                  <a:pt x="204" y="73"/>
                  <a:pt x="197" y="76"/>
                  <a:pt x="192" y="80"/>
                </a:cubicBezTo>
                <a:cubicBezTo>
                  <a:pt x="191" y="81"/>
                  <a:pt x="190" y="82"/>
                  <a:pt x="189" y="82"/>
                </a:cubicBezTo>
                <a:cubicBezTo>
                  <a:pt x="187" y="84"/>
                  <a:pt x="183" y="86"/>
                  <a:pt x="180" y="86"/>
                </a:cubicBezTo>
                <a:cubicBezTo>
                  <a:pt x="176" y="86"/>
                  <a:pt x="174" y="86"/>
                  <a:pt x="172" y="85"/>
                </a:cubicBezTo>
                <a:cubicBezTo>
                  <a:pt x="172" y="0"/>
                  <a:pt x="172" y="0"/>
                  <a:pt x="17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90"/>
                  <a:pt x="0" y="190"/>
                  <a:pt x="0" y="190"/>
                </a:cubicBezTo>
                <a:cubicBezTo>
                  <a:pt x="172" y="190"/>
                  <a:pt x="172" y="190"/>
                  <a:pt x="172" y="190"/>
                </a:cubicBezTo>
                <a:cubicBezTo>
                  <a:pt x="172" y="117"/>
                  <a:pt x="172" y="117"/>
                  <a:pt x="172" y="117"/>
                </a:cubicBezTo>
                <a:cubicBezTo>
                  <a:pt x="175" y="116"/>
                  <a:pt x="176" y="116"/>
                  <a:pt x="179" y="116"/>
                </a:cubicBezTo>
                <a:cubicBezTo>
                  <a:pt x="183" y="116"/>
                  <a:pt x="188" y="118"/>
                  <a:pt x="190" y="120"/>
                </a:cubicBezTo>
                <a:cubicBezTo>
                  <a:pt x="192" y="122"/>
                  <a:pt x="202" y="128"/>
                  <a:pt x="211" y="128"/>
                </a:cubicBezTo>
                <a:cubicBezTo>
                  <a:pt x="228" y="128"/>
                  <a:pt x="241" y="116"/>
                  <a:pt x="241" y="101"/>
                </a:cubicBezTo>
                <a:cubicBezTo>
                  <a:pt x="241" y="86"/>
                  <a:pt x="228" y="73"/>
                  <a:pt x="211" y="73"/>
                </a:cubicBezTo>
                <a:close/>
              </a:path>
            </a:pathLst>
          </a:custGeom>
          <a:solidFill>
            <a:srgbClr val="80B3FF"/>
          </a:solidFill>
          <a:ln w="9525">
            <a:noFill/>
            <a:round/>
            <a:headEnd/>
            <a:tailEnd/>
          </a:ln>
          <a:effectLst>
            <a:reflection blurRad="6350" stA="19000" endPos="53000" dir="5400000" sy="-100000" algn="bl" rotWithShape="0"/>
          </a:effectLst>
        </p:spPr>
        <p:txBody>
          <a:bodyPr vert="horz" wrap="square" lIns="0" tIns="45720" rIns="288000" bIns="45720" numCol="1" anchor="ctr" anchorCtr="1" compatLnSpc="1">
            <a:prstTxWarp prst="textNoShape">
              <a:avLst/>
            </a:prstTxWarp>
          </a:bodyPr>
          <a:lstStyle/>
          <a:p>
            <a:r>
              <a:rPr lang="en-US" sz="32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ru-RU" sz="32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Freeform 7"/>
          <p:cNvSpPr>
            <a:spLocks/>
          </p:cNvSpPr>
          <p:nvPr/>
        </p:nvSpPr>
        <p:spPr bwMode="auto">
          <a:xfrm>
            <a:off x="2411733" y="2019239"/>
            <a:ext cx="5498327" cy="714123"/>
          </a:xfrm>
          <a:custGeom>
            <a:avLst/>
            <a:gdLst/>
            <a:ahLst/>
            <a:cxnLst>
              <a:cxn ang="0">
                <a:pos x="803" y="0"/>
              </a:cxn>
              <a:cxn ang="0">
                <a:pos x="792" y="0"/>
              </a:cxn>
              <a:cxn ang="0">
                <a:pos x="644" y="0"/>
              </a:cxn>
              <a:cxn ang="0">
                <a:pos x="634" y="0"/>
              </a:cxn>
              <a:cxn ang="0">
                <a:pos x="494" y="0"/>
              </a:cxn>
              <a:cxn ang="0">
                <a:pos x="476" y="0"/>
              </a:cxn>
              <a:cxn ang="0">
                <a:pos x="331" y="0"/>
              </a:cxn>
              <a:cxn ang="0">
                <a:pos x="325" y="0"/>
              </a:cxn>
              <a:cxn ang="0">
                <a:pos x="169" y="0"/>
              </a:cxn>
              <a:cxn ang="0">
                <a:pos x="163" y="0"/>
              </a:cxn>
              <a:cxn ang="0">
                <a:pos x="0" y="0"/>
              </a:cxn>
              <a:cxn ang="0">
                <a:pos x="0" y="82"/>
              </a:cxn>
              <a:cxn ang="0">
                <a:pos x="6" y="79"/>
              </a:cxn>
              <a:cxn ang="0">
                <a:pos x="9" y="77"/>
              </a:cxn>
              <a:cxn ang="0">
                <a:pos x="31" y="69"/>
              </a:cxn>
              <a:cxn ang="0">
                <a:pos x="65" y="101"/>
              </a:cxn>
              <a:cxn ang="0">
                <a:pos x="31" y="133"/>
              </a:cxn>
              <a:cxn ang="0">
                <a:pos x="7" y="123"/>
              </a:cxn>
              <a:cxn ang="0">
                <a:pos x="0" y="120"/>
              </a:cxn>
              <a:cxn ang="0">
                <a:pos x="0" y="190"/>
              </a:cxn>
              <a:cxn ang="0">
                <a:pos x="163" y="190"/>
              </a:cxn>
              <a:cxn ang="0">
                <a:pos x="169" y="190"/>
              </a:cxn>
              <a:cxn ang="0">
                <a:pos x="325" y="190"/>
              </a:cxn>
              <a:cxn ang="0">
                <a:pos x="331" y="190"/>
              </a:cxn>
              <a:cxn ang="0">
                <a:pos x="476" y="190"/>
              </a:cxn>
              <a:cxn ang="0">
                <a:pos x="494" y="190"/>
              </a:cxn>
              <a:cxn ang="0">
                <a:pos x="634" y="190"/>
              </a:cxn>
              <a:cxn ang="0">
                <a:pos x="644" y="190"/>
              </a:cxn>
              <a:cxn ang="0">
                <a:pos x="792" y="190"/>
              </a:cxn>
              <a:cxn ang="0">
                <a:pos x="803" y="190"/>
              </a:cxn>
              <a:cxn ang="0">
                <a:pos x="965" y="190"/>
              </a:cxn>
              <a:cxn ang="0">
                <a:pos x="965" y="0"/>
              </a:cxn>
              <a:cxn ang="0">
                <a:pos x="803" y="0"/>
              </a:cxn>
            </a:cxnLst>
            <a:rect l="0" t="0" r="r" b="b"/>
            <a:pathLst>
              <a:path w="965" h="190">
                <a:moveTo>
                  <a:pt x="803" y="0"/>
                </a:moveTo>
                <a:cubicBezTo>
                  <a:pt x="792" y="0"/>
                  <a:pt x="792" y="0"/>
                  <a:pt x="792" y="0"/>
                </a:cubicBezTo>
                <a:cubicBezTo>
                  <a:pt x="644" y="0"/>
                  <a:pt x="644" y="0"/>
                  <a:pt x="644" y="0"/>
                </a:cubicBezTo>
                <a:cubicBezTo>
                  <a:pt x="634" y="0"/>
                  <a:pt x="634" y="0"/>
                  <a:pt x="634" y="0"/>
                </a:cubicBezTo>
                <a:cubicBezTo>
                  <a:pt x="494" y="0"/>
                  <a:pt x="494" y="0"/>
                  <a:pt x="494" y="0"/>
                </a:cubicBezTo>
                <a:cubicBezTo>
                  <a:pt x="476" y="0"/>
                  <a:pt x="476" y="0"/>
                  <a:pt x="476" y="0"/>
                </a:cubicBezTo>
                <a:cubicBezTo>
                  <a:pt x="331" y="0"/>
                  <a:pt x="331" y="0"/>
                  <a:pt x="331" y="0"/>
                </a:cubicBezTo>
                <a:cubicBezTo>
                  <a:pt x="325" y="0"/>
                  <a:pt x="325" y="0"/>
                  <a:pt x="325" y="0"/>
                </a:cubicBezTo>
                <a:cubicBezTo>
                  <a:pt x="169" y="0"/>
                  <a:pt x="169" y="0"/>
                  <a:pt x="169" y="0"/>
                </a:cubicBezTo>
                <a:cubicBezTo>
                  <a:pt x="163" y="0"/>
                  <a:pt x="163" y="0"/>
                  <a:pt x="16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2"/>
                  <a:pt x="0" y="82"/>
                  <a:pt x="0" y="82"/>
                </a:cubicBezTo>
                <a:cubicBezTo>
                  <a:pt x="2" y="81"/>
                  <a:pt x="4" y="81"/>
                  <a:pt x="6" y="79"/>
                </a:cubicBezTo>
                <a:cubicBezTo>
                  <a:pt x="7" y="78"/>
                  <a:pt x="8" y="78"/>
                  <a:pt x="9" y="77"/>
                </a:cubicBezTo>
                <a:cubicBezTo>
                  <a:pt x="15" y="72"/>
                  <a:pt x="22" y="69"/>
                  <a:pt x="31" y="69"/>
                </a:cubicBezTo>
                <a:cubicBezTo>
                  <a:pt x="50" y="69"/>
                  <a:pt x="65" y="83"/>
                  <a:pt x="65" y="101"/>
                </a:cubicBezTo>
                <a:cubicBezTo>
                  <a:pt x="65" y="118"/>
                  <a:pt x="50" y="133"/>
                  <a:pt x="31" y="133"/>
                </a:cubicBezTo>
                <a:cubicBezTo>
                  <a:pt x="21" y="133"/>
                  <a:pt x="9" y="125"/>
                  <a:pt x="7" y="123"/>
                </a:cubicBezTo>
                <a:cubicBezTo>
                  <a:pt x="5" y="122"/>
                  <a:pt x="3" y="121"/>
                  <a:pt x="0" y="120"/>
                </a:cubicBezTo>
                <a:cubicBezTo>
                  <a:pt x="0" y="190"/>
                  <a:pt x="0" y="190"/>
                  <a:pt x="0" y="190"/>
                </a:cubicBezTo>
                <a:cubicBezTo>
                  <a:pt x="163" y="190"/>
                  <a:pt x="163" y="190"/>
                  <a:pt x="163" y="190"/>
                </a:cubicBezTo>
                <a:cubicBezTo>
                  <a:pt x="169" y="190"/>
                  <a:pt x="169" y="190"/>
                  <a:pt x="169" y="190"/>
                </a:cubicBezTo>
                <a:cubicBezTo>
                  <a:pt x="325" y="190"/>
                  <a:pt x="325" y="190"/>
                  <a:pt x="325" y="190"/>
                </a:cubicBezTo>
                <a:cubicBezTo>
                  <a:pt x="331" y="190"/>
                  <a:pt x="331" y="190"/>
                  <a:pt x="331" y="190"/>
                </a:cubicBezTo>
                <a:cubicBezTo>
                  <a:pt x="476" y="190"/>
                  <a:pt x="476" y="190"/>
                  <a:pt x="476" y="190"/>
                </a:cubicBezTo>
                <a:cubicBezTo>
                  <a:pt x="494" y="190"/>
                  <a:pt x="494" y="190"/>
                  <a:pt x="494" y="190"/>
                </a:cubicBezTo>
                <a:cubicBezTo>
                  <a:pt x="634" y="190"/>
                  <a:pt x="634" y="190"/>
                  <a:pt x="634" y="190"/>
                </a:cubicBezTo>
                <a:cubicBezTo>
                  <a:pt x="644" y="190"/>
                  <a:pt x="644" y="190"/>
                  <a:pt x="644" y="190"/>
                </a:cubicBezTo>
                <a:cubicBezTo>
                  <a:pt x="792" y="190"/>
                  <a:pt x="792" y="190"/>
                  <a:pt x="792" y="190"/>
                </a:cubicBezTo>
                <a:cubicBezTo>
                  <a:pt x="803" y="190"/>
                  <a:pt x="803" y="190"/>
                  <a:pt x="803" y="190"/>
                </a:cubicBezTo>
                <a:cubicBezTo>
                  <a:pt x="965" y="190"/>
                  <a:pt x="965" y="190"/>
                  <a:pt x="965" y="190"/>
                </a:cubicBezTo>
                <a:cubicBezTo>
                  <a:pt x="965" y="0"/>
                  <a:pt x="965" y="0"/>
                  <a:pt x="965" y="0"/>
                </a:cubicBezTo>
                <a:lnTo>
                  <a:pt x="803" y="0"/>
                </a:lnTo>
                <a:close/>
              </a:path>
            </a:pathLst>
          </a:custGeom>
          <a:solidFill>
            <a:srgbClr val="80B3FF"/>
          </a:solidFill>
          <a:ln w="9525">
            <a:noFill/>
            <a:round/>
            <a:headEnd/>
            <a:tailEnd/>
          </a:ln>
          <a:effectLst>
            <a:reflection blurRad="6350" stA="19000" endPos="53000" dir="5400000" sy="-100000" algn="bl" rotWithShape="0"/>
          </a:effec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r>
              <a:rPr lang="zh-CN" altLang="en-US" sz="2800" b="1" kern="0" dirty="0">
                <a:solidFill>
                  <a:srgbClr val="FFFFFF"/>
                </a:solidFill>
                <a:latin typeface="+mj-ea"/>
              </a:rPr>
              <a:t>自底向上语法分析思想</a:t>
            </a:r>
          </a:p>
        </p:txBody>
      </p:sp>
      <p:sp>
        <p:nvSpPr>
          <p:cNvPr id="6" name="Freeform 6"/>
          <p:cNvSpPr>
            <a:spLocks/>
          </p:cNvSpPr>
          <p:nvPr/>
        </p:nvSpPr>
        <p:spPr bwMode="auto">
          <a:xfrm>
            <a:off x="1072753" y="2883335"/>
            <a:ext cx="1073042" cy="714123"/>
          </a:xfrm>
          <a:custGeom>
            <a:avLst/>
            <a:gdLst/>
            <a:ahLst/>
            <a:cxnLst>
              <a:cxn ang="0">
                <a:pos x="211" y="73"/>
              </a:cxn>
              <a:cxn ang="0">
                <a:pos x="192" y="80"/>
              </a:cxn>
              <a:cxn ang="0">
                <a:pos x="189" y="82"/>
              </a:cxn>
              <a:cxn ang="0">
                <a:pos x="180" y="86"/>
              </a:cxn>
              <a:cxn ang="0">
                <a:pos x="172" y="85"/>
              </a:cxn>
              <a:cxn ang="0">
                <a:pos x="172" y="0"/>
              </a:cxn>
              <a:cxn ang="0">
                <a:pos x="0" y="0"/>
              </a:cxn>
              <a:cxn ang="0">
                <a:pos x="0" y="190"/>
              </a:cxn>
              <a:cxn ang="0">
                <a:pos x="172" y="190"/>
              </a:cxn>
              <a:cxn ang="0">
                <a:pos x="172" y="117"/>
              </a:cxn>
              <a:cxn ang="0">
                <a:pos x="179" y="116"/>
              </a:cxn>
              <a:cxn ang="0">
                <a:pos x="190" y="120"/>
              </a:cxn>
              <a:cxn ang="0">
                <a:pos x="211" y="128"/>
              </a:cxn>
              <a:cxn ang="0">
                <a:pos x="241" y="101"/>
              </a:cxn>
              <a:cxn ang="0">
                <a:pos x="211" y="73"/>
              </a:cxn>
            </a:cxnLst>
            <a:rect l="0" t="0" r="r" b="b"/>
            <a:pathLst>
              <a:path w="241" h="190">
                <a:moveTo>
                  <a:pt x="211" y="73"/>
                </a:moveTo>
                <a:cubicBezTo>
                  <a:pt x="204" y="73"/>
                  <a:pt x="197" y="76"/>
                  <a:pt x="192" y="80"/>
                </a:cubicBezTo>
                <a:cubicBezTo>
                  <a:pt x="191" y="81"/>
                  <a:pt x="190" y="82"/>
                  <a:pt x="189" y="82"/>
                </a:cubicBezTo>
                <a:cubicBezTo>
                  <a:pt x="187" y="84"/>
                  <a:pt x="183" y="86"/>
                  <a:pt x="180" y="86"/>
                </a:cubicBezTo>
                <a:cubicBezTo>
                  <a:pt x="176" y="86"/>
                  <a:pt x="174" y="86"/>
                  <a:pt x="172" y="85"/>
                </a:cubicBezTo>
                <a:cubicBezTo>
                  <a:pt x="172" y="0"/>
                  <a:pt x="172" y="0"/>
                  <a:pt x="17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90"/>
                  <a:pt x="0" y="190"/>
                  <a:pt x="0" y="190"/>
                </a:cubicBezTo>
                <a:cubicBezTo>
                  <a:pt x="172" y="190"/>
                  <a:pt x="172" y="190"/>
                  <a:pt x="172" y="190"/>
                </a:cubicBezTo>
                <a:cubicBezTo>
                  <a:pt x="172" y="117"/>
                  <a:pt x="172" y="117"/>
                  <a:pt x="172" y="117"/>
                </a:cubicBezTo>
                <a:cubicBezTo>
                  <a:pt x="175" y="116"/>
                  <a:pt x="176" y="116"/>
                  <a:pt x="179" y="116"/>
                </a:cubicBezTo>
                <a:cubicBezTo>
                  <a:pt x="183" y="116"/>
                  <a:pt x="188" y="118"/>
                  <a:pt x="190" y="120"/>
                </a:cubicBezTo>
                <a:cubicBezTo>
                  <a:pt x="192" y="122"/>
                  <a:pt x="202" y="128"/>
                  <a:pt x="211" y="128"/>
                </a:cubicBezTo>
                <a:cubicBezTo>
                  <a:pt x="228" y="128"/>
                  <a:pt x="241" y="116"/>
                  <a:pt x="241" y="101"/>
                </a:cubicBezTo>
                <a:cubicBezTo>
                  <a:pt x="241" y="86"/>
                  <a:pt x="228" y="73"/>
                  <a:pt x="211" y="73"/>
                </a:cubicBezTo>
                <a:close/>
              </a:path>
            </a:pathLst>
          </a:custGeom>
          <a:solidFill>
            <a:srgbClr val="80B3FF"/>
          </a:solidFill>
          <a:ln w="9525">
            <a:noFill/>
            <a:round/>
            <a:headEnd/>
            <a:tailEnd/>
          </a:ln>
          <a:effectLst>
            <a:reflection blurRad="6350" stA="19000" endPos="53000" dir="5400000" sy="-100000" algn="bl" rotWithShape="0"/>
          </a:effectLst>
        </p:spPr>
        <p:txBody>
          <a:bodyPr vert="horz" wrap="square" lIns="0" tIns="45720" rIns="288000" bIns="45720" numCol="1" anchor="ctr" anchorCtr="1" compatLnSpc="1">
            <a:prstTxWarp prst="textNoShape">
              <a:avLst/>
            </a:prstTxWarp>
          </a:bodyPr>
          <a:lstStyle/>
          <a:p>
            <a:r>
              <a:rPr lang="en-US" sz="32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ru-RU" sz="32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>
            <a:off x="1072753" y="3747431"/>
            <a:ext cx="1073042" cy="714123"/>
          </a:xfrm>
          <a:custGeom>
            <a:avLst/>
            <a:gdLst/>
            <a:ahLst/>
            <a:cxnLst>
              <a:cxn ang="0">
                <a:pos x="211" y="73"/>
              </a:cxn>
              <a:cxn ang="0">
                <a:pos x="192" y="80"/>
              </a:cxn>
              <a:cxn ang="0">
                <a:pos x="189" y="82"/>
              </a:cxn>
              <a:cxn ang="0">
                <a:pos x="180" y="86"/>
              </a:cxn>
              <a:cxn ang="0">
                <a:pos x="172" y="85"/>
              </a:cxn>
              <a:cxn ang="0">
                <a:pos x="172" y="0"/>
              </a:cxn>
              <a:cxn ang="0">
                <a:pos x="0" y="0"/>
              </a:cxn>
              <a:cxn ang="0">
                <a:pos x="0" y="190"/>
              </a:cxn>
              <a:cxn ang="0">
                <a:pos x="172" y="190"/>
              </a:cxn>
              <a:cxn ang="0">
                <a:pos x="172" y="117"/>
              </a:cxn>
              <a:cxn ang="0">
                <a:pos x="179" y="116"/>
              </a:cxn>
              <a:cxn ang="0">
                <a:pos x="190" y="120"/>
              </a:cxn>
              <a:cxn ang="0">
                <a:pos x="211" y="128"/>
              </a:cxn>
              <a:cxn ang="0">
                <a:pos x="241" y="101"/>
              </a:cxn>
              <a:cxn ang="0">
                <a:pos x="211" y="73"/>
              </a:cxn>
            </a:cxnLst>
            <a:rect l="0" t="0" r="r" b="b"/>
            <a:pathLst>
              <a:path w="241" h="190">
                <a:moveTo>
                  <a:pt x="211" y="73"/>
                </a:moveTo>
                <a:cubicBezTo>
                  <a:pt x="204" y="73"/>
                  <a:pt x="197" y="76"/>
                  <a:pt x="192" y="80"/>
                </a:cubicBezTo>
                <a:cubicBezTo>
                  <a:pt x="191" y="81"/>
                  <a:pt x="190" y="82"/>
                  <a:pt x="189" y="82"/>
                </a:cubicBezTo>
                <a:cubicBezTo>
                  <a:pt x="187" y="84"/>
                  <a:pt x="183" y="86"/>
                  <a:pt x="180" y="86"/>
                </a:cubicBezTo>
                <a:cubicBezTo>
                  <a:pt x="176" y="86"/>
                  <a:pt x="174" y="86"/>
                  <a:pt x="172" y="85"/>
                </a:cubicBezTo>
                <a:cubicBezTo>
                  <a:pt x="172" y="0"/>
                  <a:pt x="172" y="0"/>
                  <a:pt x="17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90"/>
                  <a:pt x="0" y="190"/>
                  <a:pt x="0" y="190"/>
                </a:cubicBezTo>
                <a:cubicBezTo>
                  <a:pt x="172" y="190"/>
                  <a:pt x="172" y="190"/>
                  <a:pt x="172" y="190"/>
                </a:cubicBezTo>
                <a:cubicBezTo>
                  <a:pt x="172" y="117"/>
                  <a:pt x="172" y="117"/>
                  <a:pt x="172" y="117"/>
                </a:cubicBezTo>
                <a:cubicBezTo>
                  <a:pt x="175" y="116"/>
                  <a:pt x="176" y="116"/>
                  <a:pt x="179" y="116"/>
                </a:cubicBezTo>
                <a:cubicBezTo>
                  <a:pt x="183" y="116"/>
                  <a:pt x="188" y="118"/>
                  <a:pt x="190" y="120"/>
                </a:cubicBezTo>
                <a:cubicBezTo>
                  <a:pt x="192" y="122"/>
                  <a:pt x="202" y="128"/>
                  <a:pt x="211" y="128"/>
                </a:cubicBezTo>
                <a:cubicBezTo>
                  <a:pt x="228" y="128"/>
                  <a:pt x="241" y="116"/>
                  <a:pt x="241" y="101"/>
                </a:cubicBezTo>
                <a:cubicBezTo>
                  <a:pt x="241" y="86"/>
                  <a:pt x="228" y="73"/>
                  <a:pt x="211" y="73"/>
                </a:cubicBezTo>
                <a:close/>
              </a:path>
            </a:pathLst>
          </a:custGeom>
          <a:solidFill>
            <a:srgbClr val="0066FF"/>
          </a:solidFill>
          <a:ln w="9525">
            <a:noFill/>
            <a:round/>
            <a:headEnd/>
            <a:tailEnd/>
          </a:ln>
          <a:effectLst>
            <a:reflection blurRad="6350" stA="19000" endPos="53000" dir="5400000" sy="-100000" algn="bl" rotWithShape="0"/>
          </a:effectLst>
        </p:spPr>
        <p:txBody>
          <a:bodyPr vert="horz" wrap="square" lIns="0" tIns="45720" rIns="288000" bIns="45720" numCol="1" anchor="ctr" anchorCtr="1" compatLnSpc="1">
            <a:prstTxWarp prst="textNoShape">
              <a:avLst/>
            </a:prstTxWarp>
          </a:bodyPr>
          <a:lstStyle/>
          <a:p>
            <a:r>
              <a:rPr lang="en-US" sz="32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ru-RU" sz="32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2411733" y="2883334"/>
            <a:ext cx="5498327" cy="714123"/>
          </a:xfrm>
          <a:custGeom>
            <a:avLst/>
            <a:gdLst/>
            <a:ahLst/>
            <a:cxnLst>
              <a:cxn ang="0">
                <a:pos x="803" y="0"/>
              </a:cxn>
              <a:cxn ang="0">
                <a:pos x="792" y="0"/>
              </a:cxn>
              <a:cxn ang="0">
                <a:pos x="644" y="0"/>
              </a:cxn>
              <a:cxn ang="0">
                <a:pos x="634" y="0"/>
              </a:cxn>
              <a:cxn ang="0">
                <a:pos x="494" y="0"/>
              </a:cxn>
              <a:cxn ang="0">
                <a:pos x="476" y="0"/>
              </a:cxn>
              <a:cxn ang="0">
                <a:pos x="331" y="0"/>
              </a:cxn>
              <a:cxn ang="0">
                <a:pos x="325" y="0"/>
              </a:cxn>
              <a:cxn ang="0">
                <a:pos x="169" y="0"/>
              </a:cxn>
              <a:cxn ang="0">
                <a:pos x="163" y="0"/>
              </a:cxn>
              <a:cxn ang="0">
                <a:pos x="0" y="0"/>
              </a:cxn>
              <a:cxn ang="0">
                <a:pos x="0" y="82"/>
              </a:cxn>
              <a:cxn ang="0">
                <a:pos x="6" y="79"/>
              </a:cxn>
              <a:cxn ang="0">
                <a:pos x="9" y="77"/>
              </a:cxn>
              <a:cxn ang="0">
                <a:pos x="31" y="69"/>
              </a:cxn>
              <a:cxn ang="0">
                <a:pos x="65" y="101"/>
              </a:cxn>
              <a:cxn ang="0">
                <a:pos x="31" y="133"/>
              </a:cxn>
              <a:cxn ang="0">
                <a:pos x="7" y="123"/>
              </a:cxn>
              <a:cxn ang="0">
                <a:pos x="0" y="120"/>
              </a:cxn>
              <a:cxn ang="0">
                <a:pos x="0" y="190"/>
              </a:cxn>
              <a:cxn ang="0">
                <a:pos x="163" y="190"/>
              </a:cxn>
              <a:cxn ang="0">
                <a:pos x="169" y="190"/>
              </a:cxn>
              <a:cxn ang="0">
                <a:pos x="325" y="190"/>
              </a:cxn>
              <a:cxn ang="0">
                <a:pos x="331" y="190"/>
              </a:cxn>
              <a:cxn ang="0">
                <a:pos x="476" y="190"/>
              </a:cxn>
              <a:cxn ang="0">
                <a:pos x="494" y="190"/>
              </a:cxn>
              <a:cxn ang="0">
                <a:pos x="634" y="190"/>
              </a:cxn>
              <a:cxn ang="0">
                <a:pos x="644" y="190"/>
              </a:cxn>
              <a:cxn ang="0">
                <a:pos x="792" y="190"/>
              </a:cxn>
              <a:cxn ang="0">
                <a:pos x="803" y="190"/>
              </a:cxn>
              <a:cxn ang="0">
                <a:pos x="965" y="190"/>
              </a:cxn>
              <a:cxn ang="0">
                <a:pos x="965" y="0"/>
              </a:cxn>
              <a:cxn ang="0">
                <a:pos x="803" y="0"/>
              </a:cxn>
            </a:cxnLst>
            <a:rect l="0" t="0" r="r" b="b"/>
            <a:pathLst>
              <a:path w="965" h="190">
                <a:moveTo>
                  <a:pt x="803" y="0"/>
                </a:moveTo>
                <a:cubicBezTo>
                  <a:pt x="792" y="0"/>
                  <a:pt x="792" y="0"/>
                  <a:pt x="792" y="0"/>
                </a:cubicBezTo>
                <a:cubicBezTo>
                  <a:pt x="644" y="0"/>
                  <a:pt x="644" y="0"/>
                  <a:pt x="644" y="0"/>
                </a:cubicBezTo>
                <a:cubicBezTo>
                  <a:pt x="634" y="0"/>
                  <a:pt x="634" y="0"/>
                  <a:pt x="634" y="0"/>
                </a:cubicBezTo>
                <a:cubicBezTo>
                  <a:pt x="494" y="0"/>
                  <a:pt x="494" y="0"/>
                  <a:pt x="494" y="0"/>
                </a:cubicBezTo>
                <a:cubicBezTo>
                  <a:pt x="476" y="0"/>
                  <a:pt x="476" y="0"/>
                  <a:pt x="476" y="0"/>
                </a:cubicBezTo>
                <a:cubicBezTo>
                  <a:pt x="331" y="0"/>
                  <a:pt x="331" y="0"/>
                  <a:pt x="331" y="0"/>
                </a:cubicBezTo>
                <a:cubicBezTo>
                  <a:pt x="325" y="0"/>
                  <a:pt x="325" y="0"/>
                  <a:pt x="325" y="0"/>
                </a:cubicBezTo>
                <a:cubicBezTo>
                  <a:pt x="169" y="0"/>
                  <a:pt x="169" y="0"/>
                  <a:pt x="169" y="0"/>
                </a:cubicBezTo>
                <a:cubicBezTo>
                  <a:pt x="163" y="0"/>
                  <a:pt x="163" y="0"/>
                  <a:pt x="16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2"/>
                  <a:pt x="0" y="82"/>
                  <a:pt x="0" y="82"/>
                </a:cubicBezTo>
                <a:cubicBezTo>
                  <a:pt x="2" y="81"/>
                  <a:pt x="4" y="81"/>
                  <a:pt x="6" y="79"/>
                </a:cubicBezTo>
                <a:cubicBezTo>
                  <a:pt x="7" y="78"/>
                  <a:pt x="8" y="78"/>
                  <a:pt x="9" y="77"/>
                </a:cubicBezTo>
                <a:cubicBezTo>
                  <a:pt x="15" y="72"/>
                  <a:pt x="22" y="69"/>
                  <a:pt x="31" y="69"/>
                </a:cubicBezTo>
                <a:cubicBezTo>
                  <a:pt x="50" y="69"/>
                  <a:pt x="65" y="83"/>
                  <a:pt x="65" y="101"/>
                </a:cubicBezTo>
                <a:cubicBezTo>
                  <a:pt x="65" y="118"/>
                  <a:pt x="50" y="133"/>
                  <a:pt x="31" y="133"/>
                </a:cubicBezTo>
                <a:cubicBezTo>
                  <a:pt x="21" y="133"/>
                  <a:pt x="9" y="125"/>
                  <a:pt x="7" y="123"/>
                </a:cubicBezTo>
                <a:cubicBezTo>
                  <a:pt x="5" y="122"/>
                  <a:pt x="3" y="121"/>
                  <a:pt x="0" y="120"/>
                </a:cubicBezTo>
                <a:cubicBezTo>
                  <a:pt x="0" y="190"/>
                  <a:pt x="0" y="190"/>
                  <a:pt x="0" y="190"/>
                </a:cubicBezTo>
                <a:cubicBezTo>
                  <a:pt x="163" y="190"/>
                  <a:pt x="163" y="190"/>
                  <a:pt x="163" y="190"/>
                </a:cubicBezTo>
                <a:cubicBezTo>
                  <a:pt x="169" y="190"/>
                  <a:pt x="169" y="190"/>
                  <a:pt x="169" y="190"/>
                </a:cubicBezTo>
                <a:cubicBezTo>
                  <a:pt x="325" y="190"/>
                  <a:pt x="325" y="190"/>
                  <a:pt x="325" y="190"/>
                </a:cubicBezTo>
                <a:cubicBezTo>
                  <a:pt x="331" y="190"/>
                  <a:pt x="331" y="190"/>
                  <a:pt x="331" y="190"/>
                </a:cubicBezTo>
                <a:cubicBezTo>
                  <a:pt x="476" y="190"/>
                  <a:pt x="476" y="190"/>
                  <a:pt x="476" y="190"/>
                </a:cubicBezTo>
                <a:cubicBezTo>
                  <a:pt x="494" y="190"/>
                  <a:pt x="494" y="190"/>
                  <a:pt x="494" y="190"/>
                </a:cubicBezTo>
                <a:cubicBezTo>
                  <a:pt x="634" y="190"/>
                  <a:pt x="634" y="190"/>
                  <a:pt x="634" y="190"/>
                </a:cubicBezTo>
                <a:cubicBezTo>
                  <a:pt x="644" y="190"/>
                  <a:pt x="644" y="190"/>
                  <a:pt x="644" y="190"/>
                </a:cubicBezTo>
                <a:cubicBezTo>
                  <a:pt x="792" y="190"/>
                  <a:pt x="792" y="190"/>
                  <a:pt x="792" y="190"/>
                </a:cubicBezTo>
                <a:cubicBezTo>
                  <a:pt x="803" y="190"/>
                  <a:pt x="803" y="190"/>
                  <a:pt x="803" y="190"/>
                </a:cubicBezTo>
                <a:cubicBezTo>
                  <a:pt x="965" y="190"/>
                  <a:pt x="965" y="190"/>
                  <a:pt x="965" y="190"/>
                </a:cubicBezTo>
                <a:cubicBezTo>
                  <a:pt x="965" y="0"/>
                  <a:pt x="965" y="0"/>
                  <a:pt x="965" y="0"/>
                </a:cubicBezTo>
                <a:lnTo>
                  <a:pt x="803" y="0"/>
                </a:lnTo>
                <a:close/>
              </a:path>
            </a:pathLst>
          </a:custGeom>
          <a:solidFill>
            <a:srgbClr val="80B3FF"/>
          </a:solidFill>
          <a:ln w="9525">
            <a:noFill/>
            <a:round/>
            <a:headEnd/>
            <a:tailEnd/>
          </a:ln>
          <a:effectLst>
            <a:reflection blurRad="6350" stA="19000" endPos="53000" dir="5400000" sy="-100000" algn="bl" rotWithShape="0"/>
          </a:effec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r>
              <a:rPr lang="zh-CN" altLang="en-US" sz="2800" b="1" kern="0" dirty="0">
                <a:solidFill>
                  <a:srgbClr val="FFFFFF"/>
                </a:solidFill>
                <a:latin typeface="+mj-ea"/>
              </a:rPr>
              <a:t>移进</a:t>
            </a:r>
            <a:r>
              <a:rPr lang="en-US" altLang="zh-CN" sz="2800" b="1" kern="0" dirty="0">
                <a:solidFill>
                  <a:srgbClr val="FFFFFF"/>
                </a:solidFill>
                <a:latin typeface="+mj-ea"/>
              </a:rPr>
              <a:t>-</a:t>
            </a:r>
            <a:r>
              <a:rPr lang="zh-CN" altLang="en-US" sz="2800" b="1" kern="0" dirty="0">
                <a:solidFill>
                  <a:srgbClr val="FFFFFF"/>
                </a:solidFill>
                <a:latin typeface="+mj-ea"/>
              </a:rPr>
              <a:t>规约</a:t>
            </a:r>
          </a:p>
        </p:txBody>
      </p:sp>
      <p:sp>
        <p:nvSpPr>
          <p:cNvPr id="9" name="Freeform 6"/>
          <p:cNvSpPr>
            <a:spLocks/>
          </p:cNvSpPr>
          <p:nvPr/>
        </p:nvSpPr>
        <p:spPr bwMode="auto">
          <a:xfrm>
            <a:off x="1072753" y="4611527"/>
            <a:ext cx="1073042" cy="714123"/>
          </a:xfrm>
          <a:custGeom>
            <a:avLst/>
            <a:gdLst/>
            <a:ahLst/>
            <a:cxnLst>
              <a:cxn ang="0">
                <a:pos x="211" y="73"/>
              </a:cxn>
              <a:cxn ang="0">
                <a:pos x="192" y="80"/>
              </a:cxn>
              <a:cxn ang="0">
                <a:pos x="189" y="82"/>
              </a:cxn>
              <a:cxn ang="0">
                <a:pos x="180" y="86"/>
              </a:cxn>
              <a:cxn ang="0">
                <a:pos x="172" y="85"/>
              </a:cxn>
              <a:cxn ang="0">
                <a:pos x="172" y="0"/>
              </a:cxn>
              <a:cxn ang="0">
                <a:pos x="0" y="0"/>
              </a:cxn>
              <a:cxn ang="0">
                <a:pos x="0" y="190"/>
              </a:cxn>
              <a:cxn ang="0">
                <a:pos x="172" y="190"/>
              </a:cxn>
              <a:cxn ang="0">
                <a:pos x="172" y="117"/>
              </a:cxn>
              <a:cxn ang="0">
                <a:pos x="179" y="116"/>
              </a:cxn>
              <a:cxn ang="0">
                <a:pos x="190" y="120"/>
              </a:cxn>
              <a:cxn ang="0">
                <a:pos x="211" y="128"/>
              </a:cxn>
              <a:cxn ang="0">
                <a:pos x="241" y="101"/>
              </a:cxn>
              <a:cxn ang="0">
                <a:pos x="211" y="73"/>
              </a:cxn>
            </a:cxnLst>
            <a:rect l="0" t="0" r="r" b="b"/>
            <a:pathLst>
              <a:path w="241" h="190">
                <a:moveTo>
                  <a:pt x="211" y="73"/>
                </a:moveTo>
                <a:cubicBezTo>
                  <a:pt x="204" y="73"/>
                  <a:pt x="197" y="76"/>
                  <a:pt x="192" y="80"/>
                </a:cubicBezTo>
                <a:cubicBezTo>
                  <a:pt x="191" y="81"/>
                  <a:pt x="190" y="82"/>
                  <a:pt x="189" y="82"/>
                </a:cubicBezTo>
                <a:cubicBezTo>
                  <a:pt x="187" y="84"/>
                  <a:pt x="183" y="86"/>
                  <a:pt x="180" y="86"/>
                </a:cubicBezTo>
                <a:cubicBezTo>
                  <a:pt x="176" y="86"/>
                  <a:pt x="174" y="86"/>
                  <a:pt x="172" y="85"/>
                </a:cubicBezTo>
                <a:cubicBezTo>
                  <a:pt x="172" y="0"/>
                  <a:pt x="172" y="0"/>
                  <a:pt x="17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90"/>
                  <a:pt x="0" y="190"/>
                  <a:pt x="0" y="190"/>
                </a:cubicBezTo>
                <a:cubicBezTo>
                  <a:pt x="172" y="190"/>
                  <a:pt x="172" y="190"/>
                  <a:pt x="172" y="190"/>
                </a:cubicBezTo>
                <a:cubicBezTo>
                  <a:pt x="172" y="117"/>
                  <a:pt x="172" y="117"/>
                  <a:pt x="172" y="117"/>
                </a:cubicBezTo>
                <a:cubicBezTo>
                  <a:pt x="175" y="116"/>
                  <a:pt x="176" y="116"/>
                  <a:pt x="179" y="116"/>
                </a:cubicBezTo>
                <a:cubicBezTo>
                  <a:pt x="183" y="116"/>
                  <a:pt x="188" y="118"/>
                  <a:pt x="190" y="120"/>
                </a:cubicBezTo>
                <a:cubicBezTo>
                  <a:pt x="192" y="122"/>
                  <a:pt x="202" y="128"/>
                  <a:pt x="211" y="128"/>
                </a:cubicBezTo>
                <a:cubicBezTo>
                  <a:pt x="228" y="128"/>
                  <a:pt x="241" y="116"/>
                  <a:pt x="241" y="101"/>
                </a:cubicBezTo>
                <a:cubicBezTo>
                  <a:pt x="241" y="86"/>
                  <a:pt x="228" y="73"/>
                  <a:pt x="211" y="73"/>
                </a:cubicBezTo>
                <a:close/>
              </a:path>
            </a:pathLst>
          </a:custGeom>
          <a:solidFill>
            <a:srgbClr val="80B3FF"/>
          </a:solidFill>
          <a:ln w="9525">
            <a:noFill/>
            <a:round/>
            <a:headEnd/>
            <a:tailEnd/>
          </a:ln>
          <a:effectLst>
            <a:reflection blurRad="6350" stA="19000" endPos="53000" dir="5400000" sy="-100000" algn="bl" rotWithShape="0"/>
          </a:effectLst>
        </p:spPr>
        <p:txBody>
          <a:bodyPr vert="horz" wrap="square" lIns="0" tIns="45720" rIns="288000" bIns="45720" numCol="1" anchor="ctr" anchorCtr="1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kumimoji="0" lang="ru-RU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Freeform 7"/>
          <p:cNvSpPr>
            <a:spLocks/>
          </p:cNvSpPr>
          <p:nvPr/>
        </p:nvSpPr>
        <p:spPr bwMode="auto">
          <a:xfrm>
            <a:off x="2411733" y="3747430"/>
            <a:ext cx="5498327" cy="714123"/>
          </a:xfrm>
          <a:custGeom>
            <a:avLst/>
            <a:gdLst/>
            <a:ahLst/>
            <a:cxnLst>
              <a:cxn ang="0">
                <a:pos x="803" y="0"/>
              </a:cxn>
              <a:cxn ang="0">
                <a:pos x="792" y="0"/>
              </a:cxn>
              <a:cxn ang="0">
                <a:pos x="644" y="0"/>
              </a:cxn>
              <a:cxn ang="0">
                <a:pos x="634" y="0"/>
              </a:cxn>
              <a:cxn ang="0">
                <a:pos x="494" y="0"/>
              </a:cxn>
              <a:cxn ang="0">
                <a:pos x="476" y="0"/>
              </a:cxn>
              <a:cxn ang="0">
                <a:pos x="331" y="0"/>
              </a:cxn>
              <a:cxn ang="0">
                <a:pos x="325" y="0"/>
              </a:cxn>
              <a:cxn ang="0">
                <a:pos x="169" y="0"/>
              </a:cxn>
              <a:cxn ang="0">
                <a:pos x="163" y="0"/>
              </a:cxn>
              <a:cxn ang="0">
                <a:pos x="0" y="0"/>
              </a:cxn>
              <a:cxn ang="0">
                <a:pos x="0" y="82"/>
              </a:cxn>
              <a:cxn ang="0">
                <a:pos x="6" y="79"/>
              </a:cxn>
              <a:cxn ang="0">
                <a:pos x="9" y="77"/>
              </a:cxn>
              <a:cxn ang="0">
                <a:pos x="31" y="69"/>
              </a:cxn>
              <a:cxn ang="0">
                <a:pos x="65" y="101"/>
              </a:cxn>
              <a:cxn ang="0">
                <a:pos x="31" y="133"/>
              </a:cxn>
              <a:cxn ang="0">
                <a:pos x="7" y="123"/>
              </a:cxn>
              <a:cxn ang="0">
                <a:pos x="0" y="120"/>
              </a:cxn>
              <a:cxn ang="0">
                <a:pos x="0" y="190"/>
              </a:cxn>
              <a:cxn ang="0">
                <a:pos x="163" y="190"/>
              </a:cxn>
              <a:cxn ang="0">
                <a:pos x="169" y="190"/>
              </a:cxn>
              <a:cxn ang="0">
                <a:pos x="325" y="190"/>
              </a:cxn>
              <a:cxn ang="0">
                <a:pos x="331" y="190"/>
              </a:cxn>
              <a:cxn ang="0">
                <a:pos x="476" y="190"/>
              </a:cxn>
              <a:cxn ang="0">
                <a:pos x="494" y="190"/>
              </a:cxn>
              <a:cxn ang="0">
                <a:pos x="634" y="190"/>
              </a:cxn>
              <a:cxn ang="0">
                <a:pos x="644" y="190"/>
              </a:cxn>
              <a:cxn ang="0">
                <a:pos x="792" y="190"/>
              </a:cxn>
              <a:cxn ang="0">
                <a:pos x="803" y="190"/>
              </a:cxn>
              <a:cxn ang="0">
                <a:pos x="965" y="190"/>
              </a:cxn>
              <a:cxn ang="0">
                <a:pos x="965" y="0"/>
              </a:cxn>
              <a:cxn ang="0">
                <a:pos x="803" y="0"/>
              </a:cxn>
            </a:cxnLst>
            <a:rect l="0" t="0" r="r" b="b"/>
            <a:pathLst>
              <a:path w="965" h="190">
                <a:moveTo>
                  <a:pt x="803" y="0"/>
                </a:moveTo>
                <a:cubicBezTo>
                  <a:pt x="792" y="0"/>
                  <a:pt x="792" y="0"/>
                  <a:pt x="792" y="0"/>
                </a:cubicBezTo>
                <a:cubicBezTo>
                  <a:pt x="644" y="0"/>
                  <a:pt x="644" y="0"/>
                  <a:pt x="644" y="0"/>
                </a:cubicBezTo>
                <a:cubicBezTo>
                  <a:pt x="634" y="0"/>
                  <a:pt x="634" y="0"/>
                  <a:pt x="634" y="0"/>
                </a:cubicBezTo>
                <a:cubicBezTo>
                  <a:pt x="494" y="0"/>
                  <a:pt x="494" y="0"/>
                  <a:pt x="494" y="0"/>
                </a:cubicBezTo>
                <a:cubicBezTo>
                  <a:pt x="476" y="0"/>
                  <a:pt x="476" y="0"/>
                  <a:pt x="476" y="0"/>
                </a:cubicBezTo>
                <a:cubicBezTo>
                  <a:pt x="331" y="0"/>
                  <a:pt x="331" y="0"/>
                  <a:pt x="331" y="0"/>
                </a:cubicBezTo>
                <a:cubicBezTo>
                  <a:pt x="325" y="0"/>
                  <a:pt x="325" y="0"/>
                  <a:pt x="325" y="0"/>
                </a:cubicBezTo>
                <a:cubicBezTo>
                  <a:pt x="169" y="0"/>
                  <a:pt x="169" y="0"/>
                  <a:pt x="169" y="0"/>
                </a:cubicBezTo>
                <a:cubicBezTo>
                  <a:pt x="163" y="0"/>
                  <a:pt x="163" y="0"/>
                  <a:pt x="16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2"/>
                  <a:pt x="0" y="82"/>
                  <a:pt x="0" y="82"/>
                </a:cubicBezTo>
                <a:cubicBezTo>
                  <a:pt x="2" y="81"/>
                  <a:pt x="4" y="81"/>
                  <a:pt x="6" y="79"/>
                </a:cubicBezTo>
                <a:cubicBezTo>
                  <a:pt x="7" y="78"/>
                  <a:pt x="8" y="78"/>
                  <a:pt x="9" y="77"/>
                </a:cubicBezTo>
                <a:cubicBezTo>
                  <a:pt x="15" y="72"/>
                  <a:pt x="22" y="69"/>
                  <a:pt x="31" y="69"/>
                </a:cubicBezTo>
                <a:cubicBezTo>
                  <a:pt x="50" y="69"/>
                  <a:pt x="65" y="83"/>
                  <a:pt x="65" y="101"/>
                </a:cubicBezTo>
                <a:cubicBezTo>
                  <a:pt x="65" y="118"/>
                  <a:pt x="50" y="133"/>
                  <a:pt x="31" y="133"/>
                </a:cubicBezTo>
                <a:cubicBezTo>
                  <a:pt x="21" y="133"/>
                  <a:pt x="9" y="125"/>
                  <a:pt x="7" y="123"/>
                </a:cubicBezTo>
                <a:cubicBezTo>
                  <a:pt x="5" y="122"/>
                  <a:pt x="3" y="121"/>
                  <a:pt x="0" y="120"/>
                </a:cubicBezTo>
                <a:cubicBezTo>
                  <a:pt x="0" y="190"/>
                  <a:pt x="0" y="190"/>
                  <a:pt x="0" y="190"/>
                </a:cubicBezTo>
                <a:cubicBezTo>
                  <a:pt x="163" y="190"/>
                  <a:pt x="163" y="190"/>
                  <a:pt x="163" y="190"/>
                </a:cubicBezTo>
                <a:cubicBezTo>
                  <a:pt x="169" y="190"/>
                  <a:pt x="169" y="190"/>
                  <a:pt x="169" y="190"/>
                </a:cubicBezTo>
                <a:cubicBezTo>
                  <a:pt x="325" y="190"/>
                  <a:pt x="325" y="190"/>
                  <a:pt x="325" y="190"/>
                </a:cubicBezTo>
                <a:cubicBezTo>
                  <a:pt x="331" y="190"/>
                  <a:pt x="331" y="190"/>
                  <a:pt x="331" y="190"/>
                </a:cubicBezTo>
                <a:cubicBezTo>
                  <a:pt x="476" y="190"/>
                  <a:pt x="476" y="190"/>
                  <a:pt x="476" y="190"/>
                </a:cubicBezTo>
                <a:cubicBezTo>
                  <a:pt x="494" y="190"/>
                  <a:pt x="494" y="190"/>
                  <a:pt x="494" y="190"/>
                </a:cubicBezTo>
                <a:cubicBezTo>
                  <a:pt x="634" y="190"/>
                  <a:pt x="634" y="190"/>
                  <a:pt x="634" y="190"/>
                </a:cubicBezTo>
                <a:cubicBezTo>
                  <a:pt x="644" y="190"/>
                  <a:pt x="644" y="190"/>
                  <a:pt x="644" y="190"/>
                </a:cubicBezTo>
                <a:cubicBezTo>
                  <a:pt x="792" y="190"/>
                  <a:pt x="792" y="190"/>
                  <a:pt x="792" y="190"/>
                </a:cubicBezTo>
                <a:cubicBezTo>
                  <a:pt x="803" y="190"/>
                  <a:pt x="803" y="190"/>
                  <a:pt x="803" y="190"/>
                </a:cubicBezTo>
                <a:cubicBezTo>
                  <a:pt x="965" y="190"/>
                  <a:pt x="965" y="190"/>
                  <a:pt x="965" y="190"/>
                </a:cubicBezTo>
                <a:cubicBezTo>
                  <a:pt x="965" y="0"/>
                  <a:pt x="965" y="0"/>
                  <a:pt x="965" y="0"/>
                </a:cubicBezTo>
                <a:lnTo>
                  <a:pt x="803" y="0"/>
                </a:lnTo>
                <a:close/>
              </a:path>
            </a:pathLst>
          </a:custGeom>
          <a:solidFill>
            <a:srgbClr val="0066FF"/>
          </a:solidFill>
          <a:ln w="9525">
            <a:noFill/>
            <a:round/>
            <a:headEnd/>
            <a:tailEnd/>
          </a:ln>
          <a:effectLst>
            <a:reflection blurRad="6350" stA="19000" endPos="53000" dir="5400000" sy="-100000" algn="bl" rotWithShape="0"/>
          </a:effec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r>
              <a:rPr lang="zh-CN" altLang="en-US" sz="2800" b="1" kern="0" dirty="0">
                <a:solidFill>
                  <a:srgbClr val="FFFFFF"/>
                </a:solidFill>
                <a:latin typeface="+mj-ea"/>
                <a:ea typeface="+mj-ea"/>
              </a:rPr>
              <a:t>简单优先分析法</a:t>
            </a:r>
          </a:p>
        </p:txBody>
      </p:sp>
      <p:sp>
        <p:nvSpPr>
          <p:cNvPr id="12" name="Freeform 7"/>
          <p:cNvSpPr>
            <a:spLocks/>
          </p:cNvSpPr>
          <p:nvPr/>
        </p:nvSpPr>
        <p:spPr bwMode="auto">
          <a:xfrm>
            <a:off x="2411733" y="4611526"/>
            <a:ext cx="5498327" cy="714123"/>
          </a:xfrm>
          <a:custGeom>
            <a:avLst/>
            <a:gdLst/>
            <a:ahLst/>
            <a:cxnLst>
              <a:cxn ang="0">
                <a:pos x="803" y="0"/>
              </a:cxn>
              <a:cxn ang="0">
                <a:pos x="792" y="0"/>
              </a:cxn>
              <a:cxn ang="0">
                <a:pos x="644" y="0"/>
              </a:cxn>
              <a:cxn ang="0">
                <a:pos x="634" y="0"/>
              </a:cxn>
              <a:cxn ang="0">
                <a:pos x="494" y="0"/>
              </a:cxn>
              <a:cxn ang="0">
                <a:pos x="476" y="0"/>
              </a:cxn>
              <a:cxn ang="0">
                <a:pos x="331" y="0"/>
              </a:cxn>
              <a:cxn ang="0">
                <a:pos x="325" y="0"/>
              </a:cxn>
              <a:cxn ang="0">
                <a:pos x="169" y="0"/>
              </a:cxn>
              <a:cxn ang="0">
                <a:pos x="163" y="0"/>
              </a:cxn>
              <a:cxn ang="0">
                <a:pos x="0" y="0"/>
              </a:cxn>
              <a:cxn ang="0">
                <a:pos x="0" y="82"/>
              </a:cxn>
              <a:cxn ang="0">
                <a:pos x="6" y="79"/>
              </a:cxn>
              <a:cxn ang="0">
                <a:pos x="9" y="77"/>
              </a:cxn>
              <a:cxn ang="0">
                <a:pos x="31" y="69"/>
              </a:cxn>
              <a:cxn ang="0">
                <a:pos x="65" y="101"/>
              </a:cxn>
              <a:cxn ang="0">
                <a:pos x="31" y="133"/>
              </a:cxn>
              <a:cxn ang="0">
                <a:pos x="7" y="123"/>
              </a:cxn>
              <a:cxn ang="0">
                <a:pos x="0" y="120"/>
              </a:cxn>
              <a:cxn ang="0">
                <a:pos x="0" y="190"/>
              </a:cxn>
              <a:cxn ang="0">
                <a:pos x="163" y="190"/>
              </a:cxn>
              <a:cxn ang="0">
                <a:pos x="169" y="190"/>
              </a:cxn>
              <a:cxn ang="0">
                <a:pos x="325" y="190"/>
              </a:cxn>
              <a:cxn ang="0">
                <a:pos x="331" y="190"/>
              </a:cxn>
              <a:cxn ang="0">
                <a:pos x="476" y="190"/>
              </a:cxn>
              <a:cxn ang="0">
                <a:pos x="494" y="190"/>
              </a:cxn>
              <a:cxn ang="0">
                <a:pos x="634" y="190"/>
              </a:cxn>
              <a:cxn ang="0">
                <a:pos x="644" y="190"/>
              </a:cxn>
              <a:cxn ang="0">
                <a:pos x="792" y="190"/>
              </a:cxn>
              <a:cxn ang="0">
                <a:pos x="803" y="190"/>
              </a:cxn>
              <a:cxn ang="0">
                <a:pos x="965" y="190"/>
              </a:cxn>
              <a:cxn ang="0">
                <a:pos x="965" y="0"/>
              </a:cxn>
              <a:cxn ang="0">
                <a:pos x="803" y="0"/>
              </a:cxn>
            </a:cxnLst>
            <a:rect l="0" t="0" r="r" b="b"/>
            <a:pathLst>
              <a:path w="965" h="190">
                <a:moveTo>
                  <a:pt x="803" y="0"/>
                </a:moveTo>
                <a:cubicBezTo>
                  <a:pt x="792" y="0"/>
                  <a:pt x="792" y="0"/>
                  <a:pt x="792" y="0"/>
                </a:cubicBezTo>
                <a:cubicBezTo>
                  <a:pt x="644" y="0"/>
                  <a:pt x="644" y="0"/>
                  <a:pt x="644" y="0"/>
                </a:cubicBezTo>
                <a:cubicBezTo>
                  <a:pt x="634" y="0"/>
                  <a:pt x="634" y="0"/>
                  <a:pt x="634" y="0"/>
                </a:cubicBezTo>
                <a:cubicBezTo>
                  <a:pt x="494" y="0"/>
                  <a:pt x="494" y="0"/>
                  <a:pt x="494" y="0"/>
                </a:cubicBezTo>
                <a:cubicBezTo>
                  <a:pt x="476" y="0"/>
                  <a:pt x="476" y="0"/>
                  <a:pt x="476" y="0"/>
                </a:cubicBezTo>
                <a:cubicBezTo>
                  <a:pt x="331" y="0"/>
                  <a:pt x="331" y="0"/>
                  <a:pt x="331" y="0"/>
                </a:cubicBezTo>
                <a:cubicBezTo>
                  <a:pt x="325" y="0"/>
                  <a:pt x="325" y="0"/>
                  <a:pt x="325" y="0"/>
                </a:cubicBezTo>
                <a:cubicBezTo>
                  <a:pt x="169" y="0"/>
                  <a:pt x="169" y="0"/>
                  <a:pt x="169" y="0"/>
                </a:cubicBezTo>
                <a:cubicBezTo>
                  <a:pt x="163" y="0"/>
                  <a:pt x="163" y="0"/>
                  <a:pt x="16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2"/>
                  <a:pt x="0" y="82"/>
                  <a:pt x="0" y="82"/>
                </a:cubicBezTo>
                <a:cubicBezTo>
                  <a:pt x="2" y="81"/>
                  <a:pt x="4" y="81"/>
                  <a:pt x="6" y="79"/>
                </a:cubicBezTo>
                <a:cubicBezTo>
                  <a:pt x="7" y="78"/>
                  <a:pt x="8" y="78"/>
                  <a:pt x="9" y="77"/>
                </a:cubicBezTo>
                <a:cubicBezTo>
                  <a:pt x="15" y="72"/>
                  <a:pt x="22" y="69"/>
                  <a:pt x="31" y="69"/>
                </a:cubicBezTo>
                <a:cubicBezTo>
                  <a:pt x="50" y="69"/>
                  <a:pt x="65" y="83"/>
                  <a:pt x="65" y="101"/>
                </a:cubicBezTo>
                <a:cubicBezTo>
                  <a:pt x="65" y="118"/>
                  <a:pt x="50" y="133"/>
                  <a:pt x="31" y="133"/>
                </a:cubicBezTo>
                <a:cubicBezTo>
                  <a:pt x="21" y="133"/>
                  <a:pt x="9" y="125"/>
                  <a:pt x="7" y="123"/>
                </a:cubicBezTo>
                <a:cubicBezTo>
                  <a:pt x="5" y="122"/>
                  <a:pt x="3" y="121"/>
                  <a:pt x="0" y="120"/>
                </a:cubicBezTo>
                <a:cubicBezTo>
                  <a:pt x="0" y="190"/>
                  <a:pt x="0" y="190"/>
                  <a:pt x="0" y="190"/>
                </a:cubicBezTo>
                <a:cubicBezTo>
                  <a:pt x="163" y="190"/>
                  <a:pt x="163" y="190"/>
                  <a:pt x="163" y="190"/>
                </a:cubicBezTo>
                <a:cubicBezTo>
                  <a:pt x="169" y="190"/>
                  <a:pt x="169" y="190"/>
                  <a:pt x="169" y="190"/>
                </a:cubicBezTo>
                <a:cubicBezTo>
                  <a:pt x="325" y="190"/>
                  <a:pt x="325" y="190"/>
                  <a:pt x="325" y="190"/>
                </a:cubicBezTo>
                <a:cubicBezTo>
                  <a:pt x="331" y="190"/>
                  <a:pt x="331" y="190"/>
                  <a:pt x="331" y="190"/>
                </a:cubicBezTo>
                <a:cubicBezTo>
                  <a:pt x="476" y="190"/>
                  <a:pt x="476" y="190"/>
                  <a:pt x="476" y="190"/>
                </a:cubicBezTo>
                <a:cubicBezTo>
                  <a:pt x="494" y="190"/>
                  <a:pt x="494" y="190"/>
                  <a:pt x="494" y="190"/>
                </a:cubicBezTo>
                <a:cubicBezTo>
                  <a:pt x="634" y="190"/>
                  <a:pt x="634" y="190"/>
                  <a:pt x="634" y="190"/>
                </a:cubicBezTo>
                <a:cubicBezTo>
                  <a:pt x="644" y="190"/>
                  <a:pt x="644" y="190"/>
                  <a:pt x="644" y="190"/>
                </a:cubicBezTo>
                <a:cubicBezTo>
                  <a:pt x="792" y="190"/>
                  <a:pt x="792" y="190"/>
                  <a:pt x="792" y="190"/>
                </a:cubicBezTo>
                <a:cubicBezTo>
                  <a:pt x="803" y="190"/>
                  <a:pt x="803" y="190"/>
                  <a:pt x="803" y="190"/>
                </a:cubicBezTo>
                <a:cubicBezTo>
                  <a:pt x="965" y="190"/>
                  <a:pt x="965" y="190"/>
                  <a:pt x="965" y="190"/>
                </a:cubicBezTo>
                <a:cubicBezTo>
                  <a:pt x="965" y="0"/>
                  <a:pt x="965" y="0"/>
                  <a:pt x="965" y="0"/>
                </a:cubicBezTo>
                <a:lnTo>
                  <a:pt x="803" y="0"/>
                </a:lnTo>
                <a:close/>
              </a:path>
            </a:pathLst>
          </a:custGeom>
          <a:solidFill>
            <a:srgbClr val="80B3FF"/>
          </a:solidFill>
          <a:ln w="9525">
            <a:noFill/>
            <a:round/>
            <a:headEnd/>
            <a:tailEnd/>
          </a:ln>
          <a:effectLst>
            <a:reflection blurRad="6350" stA="19000" endPos="53000" dir="5400000" sy="-100000" algn="bl" rotWithShape="0"/>
          </a:effec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zh-CN" altLang="en-US" sz="2800" b="1" kern="0" dirty="0">
                <a:solidFill>
                  <a:srgbClr val="FFFFFF"/>
                </a:solidFill>
                <a:latin typeface="+mj-ea"/>
              </a:rPr>
              <a:t>算符优先分析法</a:t>
            </a:r>
            <a:endParaRPr lang="zh-CN" altLang="en-US" sz="2800" b="1" kern="0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87944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三、简单优先分析方法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自底向上分析方法</a:t>
            </a:r>
            <a:endParaRPr lang="en-US" altLang="zh-CN" dirty="0"/>
          </a:p>
          <a:p>
            <a:pPr lvl="1"/>
            <a:r>
              <a:rPr lang="zh-CN" altLang="en-US" dirty="0"/>
              <a:t>优先分析和</a:t>
            </a:r>
            <a:r>
              <a:rPr lang="en-US" altLang="zh-CN" dirty="0"/>
              <a:t>LR</a:t>
            </a:r>
            <a:r>
              <a:rPr lang="zh-CN" altLang="en-US" dirty="0"/>
              <a:t>分析</a:t>
            </a:r>
            <a:endParaRPr lang="en-US" altLang="zh-CN" dirty="0"/>
          </a:p>
          <a:p>
            <a:r>
              <a:rPr lang="zh-CN" altLang="en-US" dirty="0"/>
              <a:t>优先分析</a:t>
            </a:r>
            <a:endParaRPr lang="en-US" altLang="zh-CN" dirty="0"/>
          </a:p>
          <a:p>
            <a:pPr lvl="1"/>
            <a:r>
              <a:rPr lang="zh-CN" altLang="en-US" dirty="0"/>
              <a:t>简单优先分析</a:t>
            </a:r>
            <a:endParaRPr lang="en-US" altLang="zh-CN" dirty="0"/>
          </a:p>
          <a:p>
            <a:pPr lvl="1"/>
            <a:r>
              <a:rPr lang="zh-CN" altLang="en-US" dirty="0"/>
              <a:t>算符优先分析</a:t>
            </a:r>
          </a:p>
        </p:txBody>
      </p:sp>
      <p:graphicFrame>
        <p:nvGraphicFramePr>
          <p:cNvPr id="4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9135255"/>
              </p:ext>
            </p:extLst>
          </p:nvPr>
        </p:nvGraphicFramePr>
        <p:xfrm>
          <a:off x="827087" y="4113529"/>
          <a:ext cx="7848600" cy="1703070"/>
        </p:xfrm>
        <a:graphic>
          <a:graphicData uri="http://schemas.openxmlformats.org/drawingml/2006/table">
            <a:tbl>
              <a:tblPr/>
              <a:tblGrid>
                <a:gridCol w="261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文法类型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分析法名称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特点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简单优先文法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简单优先分析法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考虑所有文法符号之间的优先关系，且这种优先关系唯一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7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算符优先文法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算符优先分析法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只考虑终结符之间的优先关系，且这种优先关系唯一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0596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三、简单优先分析方法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简单优先分析关系</a:t>
            </a:r>
            <a:r>
              <a:rPr lang="zh-CN" altLang="en-US" dirty="0"/>
              <a:t>：先确定文法中</a:t>
            </a:r>
            <a:r>
              <a:rPr lang="zh-CN" altLang="en-US" dirty="0">
                <a:solidFill>
                  <a:srgbClr val="FF0000"/>
                </a:solidFill>
              </a:rPr>
              <a:t>所有文法符号（包括终结符和非终结符）</a:t>
            </a:r>
            <a:r>
              <a:rPr lang="zh-CN" altLang="en-US" dirty="0"/>
              <a:t>之间的</a:t>
            </a:r>
            <a:r>
              <a:rPr lang="zh-CN" altLang="en-US" dirty="0">
                <a:solidFill>
                  <a:srgbClr val="FF0000"/>
                </a:solidFill>
              </a:rPr>
              <a:t>优先关系</a:t>
            </a:r>
            <a:r>
              <a:rPr lang="zh-CN" altLang="en-US" dirty="0"/>
              <a:t>，然后根据这种优先关系寻找句柄进行归约。</a:t>
            </a:r>
          </a:p>
          <a:p>
            <a:pPr lvl="1"/>
            <a:r>
              <a:rPr lang="zh-CN" altLang="en-US" dirty="0"/>
              <a:t>其规约过程</a:t>
            </a:r>
            <a:r>
              <a:rPr lang="zh-CN" altLang="en-US" dirty="0">
                <a:solidFill>
                  <a:srgbClr val="FF0000"/>
                </a:solidFill>
              </a:rPr>
              <a:t>是</a:t>
            </a:r>
            <a:r>
              <a:rPr lang="zh-CN" altLang="en-US" dirty="0"/>
              <a:t>规范规约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算符优先分析关系</a:t>
            </a:r>
            <a:r>
              <a:rPr lang="zh-CN" altLang="en-US" dirty="0"/>
              <a:t>：首先找出所有</a:t>
            </a:r>
            <a:r>
              <a:rPr lang="zh-CN" altLang="en-US" dirty="0">
                <a:solidFill>
                  <a:srgbClr val="FF0000"/>
                </a:solidFill>
              </a:rPr>
              <a:t>终结符之间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优先关系</a:t>
            </a:r>
            <a:r>
              <a:rPr lang="zh-CN" altLang="en-US" dirty="0"/>
              <a:t>，然后根据优先关系对输入串进行分析，</a:t>
            </a:r>
            <a:r>
              <a:rPr lang="zh-CN" altLang="en-US" dirty="0">
                <a:solidFill>
                  <a:srgbClr val="FF0000"/>
                </a:solidFill>
              </a:rPr>
              <a:t>找到“句柄”</a:t>
            </a:r>
            <a:r>
              <a:rPr lang="zh-CN" altLang="en-US" dirty="0"/>
              <a:t>就归约，但并不考虑归约到哪个非终结符名</a:t>
            </a:r>
          </a:p>
          <a:p>
            <a:pPr lvl="1"/>
            <a:r>
              <a:rPr lang="zh-CN" altLang="en-US" dirty="0"/>
              <a:t>其规约过程</a:t>
            </a:r>
            <a:r>
              <a:rPr lang="zh-CN" altLang="en-US" dirty="0">
                <a:solidFill>
                  <a:srgbClr val="FF0000"/>
                </a:solidFill>
              </a:rPr>
              <a:t>不是</a:t>
            </a:r>
            <a:r>
              <a:rPr lang="zh-CN" altLang="en-US" dirty="0"/>
              <a:t>规范规约</a:t>
            </a:r>
          </a:p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61086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三、简单优先分析方法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优先关系定义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文法中任意两文法符号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Y</a:t>
                </a:r>
                <a:r>
                  <a:rPr lang="zh-CN" altLang="en-US" dirty="0"/>
                  <a:t>：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X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/>
                        <a:ea typeface="Cambria Math"/>
                      </a:rPr>
                      <m:t>≖</m:t>
                    </m:r>
                  </m:oMath>
                </a14:m>
                <a:r>
                  <a:rPr lang="en-US" altLang="zh-CN" dirty="0"/>
                  <a:t>Y</a:t>
                </a:r>
                <a:r>
                  <a:rPr lang="zh-CN" altLang="en-US" dirty="0"/>
                  <a:t>：  表示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Y </a:t>
                </a:r>
                <a:r>
                  <a:rPr lang="zh-CN" altLang="en-US" dirty="0"/>
                  <a:t>的优先关系相等</a:t>
                </a:r>
              </a:p>
              <a:p>
                <a:pPr lvl="1"/>
                <a:r>
                  <a:rPr lang="en-US" altLang="zh-CN" dirty="0"/>
                  <a:t>X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/>
                        <a:ea typeface="Cambria Math"/>
                      </a:rPr>
                      <m:t>⋗</m:t>
                    </m:r>
                  </m:oMath>
                </a14:m>
                <a:r>
                  <a:rPr lang="en-US" altLang="zh-CN" dirty="0"/>
                  <a:t>Y</a:t>
                </a:r>
                <a:r>
                  <a:rPr lang="zh-CN" altLang="en-US" dirty="0"/>
                  <a:t>：  表示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的优先性比</a:t>
                </a:r>
                <a:r>
                  <a:rPr lang="en-US" altLang="zh-CN" dirty="0"/>
                  <a:t>Y </a:t>
                </a:r>
                <a:r>
                  <a:rPr lang="zh-CN" altLang="en-US" dirty="0"/>
                  <a:t>的优先性大</a:t>
                </a:r>
              </a:p>
              <a:p>
                <a:pPr lvl="1"/>
                <a:r>
                  <a:rPr lang="en-US" altLang="zh-CN" dirty="0"/>
                  <a:t>X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/>
                        <a:ea typeface="Cambria Math"/>
                      </a:rPr>
                      <m:t>⋖</m:t>
                    </m:r>
                  </m:oMath>
                </a14:m>
                <a:r>
                  <a:rPr lang="en-US" altLang="zh-CN" dirty="0"/>
                  <a:t>Y</a:t>
                </a:r>
                <a:r>
                  <a:rPr lang="zh-CN" altLang="en-US" dirty="0"/>
                  <a:t>：  表示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的优先性比</a:t>
                </a:r>
                <a:r>
                  <a:rPr lang="en-US" altLang="zh-CN" dirty="0"/>
                  <a:t>Y </a:t>
                </a:r>
                <a:r>
                  <a:rPr lang="zh-CN" altLang="en-US" dirty="0"/>
                  <a:t>的优先性小</a:t>
                </a:r>
              </a:p>
              <a:p>
                <a:pPr lvl="1"/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3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65643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三、简单优先分析方法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华文中宋" pitchFamily="2" charset="-122"/>
                <a:ea typeface="华文中宋" pitchFamily="2" charset="-122"/>
              </a:rPr>
              <a:t>对已知文法中的任意两个文法符号</a:t>
            </a:r>
            <a:r>
              <a:rPr lang="en-US" altLang="zh-CN" dirty="0">
                <a:latin typeface="华文中宋" pitchFamily="2" charset="-122"/>
                <a:ea typeface="华文中宋" pitchFamily="2" charset="-122"/>
              </a:rPr>
              <a:t>X</a:t>
            </a:r>
            <a:r>
              <a:rPr lang="zh-CN" altLang="en-US" dirty="0">
                <a:latin typeface="华文中宋" pitchFamily="2" charset="-122"/>
                <a:ea typeface="华文中宋" pitchFamily="2" charset="-122"/>
              </a:rPr>
              <a:t>，</a:t>
            </a:r>
            <a:r>
              <a:rPr lang="en-US" altLang="zh-CN" dirty="0">
                <a:latin typeface="华文中宋" pitchFamily="2" charset="-122"/>
                <a:ea typeface="华文中宋" pitchFamily="2" charset="-122"/>
              </a:rPr>
              <a:t>Y</a:t>
            </a:r>
            <a:r>
              <a:rPr lang="zh-CN" altLang="en-US" dirty="0">
                <a:latin typeface="华文中宋" pitchFamily="2" charset="-122"/>
                <a:ea typeface="华文中宋" pitchFamily="2" charset="-122"/>
              </a:rPr>
              <a:t>按其在句型中可能出现的相临关系来确定它们的优先关系</a:t>
            </a:r>
            <a:r>
              <a:rPr lang="en-US" altLang="zh-CN" dirty="0">
                <a:latin typeface="华文中宋" pitchFamily="2" charset="-122"/>
                <a:ea typeface="华文中宋" pitchFamily="2" charset="-122"/>
              </a:rPr>
              <a:t>:</a:t>
            </a:r>
          </a:p>
          <a:p>
            <a:endParaRPr lang="zh-CN" altLang="en-US" dirty="0"/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44" y="1268733"/>
            <a:ext cx="6067105" cy="4477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84395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三、简单优先分析方法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举例：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X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/>
                        <a:ea typeface="Cambria Math"/>
                      </a:rPr>
                      <m:t>≖</m:t>
                    </m:r>
                  </m:oMath>
                </a14:m>
                <a:r>
                  <a:rPr lang="en-US" altLang="zh-CN" dirty="0"/>
                  <a:t>Y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A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/>
                        <a:ea typeface="Cambria Math"/>
                      </a:rPr>
                      <m:t>⟶⋯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/>
                        <a:ea typeface="Cambria Math"/>
                      </a:rPr>
                      <m:t>XY</m:t>
                    </m:r>
                    <m:r>
                      <a:rPr lang="en-US" altLang="zh-CN" i="1" smtClean="0">
                        <a:latin typeface="Cambria Math"/>
                        <a:ea typeface="Cambria Math"/>
                      </a:rPr>
                      <m:t>⋯</m:t>
                    </m:r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X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Cambria Math"/>
                      </a:rPr>
                      <m:t>⋖</m:t>
                    </m:r>
                  </m:oMath>
                </a14:m>
                <a:r>
                  <a:rPr lang="en-US" altLang="zh-CN" dirty="0"/>
                  <a:t>Y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 A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Cambria Math"/>
                      </a:rPr>
                      <m:t>⟶⋯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/>
                        <a:ea typeface="Cambria Math"/>
                      </a:rPr>
                      <m:t>X</m:t>
                    </m:r>
                    <m:r>
                      <a:rPr lang="en-US" altLang="zh-CN" b="0" i="1" smtClean="0">
                        <a:latin typeface="Cambria Math"/>
                        <a:ea typeface="Cambria Math"/>
                      </a:rPr>
                      <m:t>𝐵</m:t>
                    </m:r>
                    <m:r>
                      <a:rPr lang="en-US" altLang="zh-CN" i="1">
                        <a:latin typeface="Cambria Math"/>
                        <a:ea typeface="Cambria Math"/>
                      </a:rPr>
                      <m:t>⋯</m:t>
                    </m:r>
                    <m:r>
                      <a:rPr lang="zh-CN" altLang="en-US" b="0" i="1" smtClean="0">
                        <a:latin typeface="Cambria Math"/>
                        <a:ea typeface="Cambria Math"/>
                      </a:rPr>
                      <m:t>且</m:t>
                    </m:r>
                  </m:oMath>
                </a14:m>
                <a:r>
                  <a:rPr lang="en-US" altLang="zh-CN" dirty="0"/>
                  <a:t>B</a:t>
                </a:r>
                <a14:m>
                  <m:oMath xmlns:m="http://schemas.openxmlformats.org/officeDocument/2006/math">
                    <m:r>
                      <a:rPr lang="en-US" altLang="zh-CN" i="1" baseline="30000" dirty="0">
                        <a:latin typeface="Cambria Math"/>
                        <a:ea typeface="Cambria Math"/>
                      </a:rPr>
                      <m:t>+</m:t>
                    </m:r>
                    <m:r>
                      <a:rPr lang="en-US" altLang="zh-CN" i="1" dirty="0" smtClean="0">
                        <a:latin typeface="Cambria Math"/>
                        <a:ea typeface="Cambria Math"/>
                      </a:rPr>
                      <m:t>⇒</m:t>
                    </m:r>
                  </m:oMath>
                </a14:m>
                <a:r>
                  <a:rPr lang="en-US" altLang="zh-CN" dirty="0">
                    <a:ea typeface="Cambria Math"/>
                  </a:rPr>
                  <a:t> Y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Cambria Math"/>
                      </a:rPr>
                      <m:t>⋯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en-US" altLang="zh-CN" dirty="0"/>
                  <a:t>X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Cambria Math"/>
                      </a:rPr>
                      <m:t>⋗</m:t>
                    </m:r>
                  </m:oMath>
                </a14:m>
                <a:r>
                  <a:rPr lang="en-US" altLang="zh-CN" dirty="0"/>
                  <a:t> Y 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 A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Cambria Math"/>
                      </a:rPr>
                      <m:t>⟶⋯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/>
                        <a:ea typeface="Cambria Math"/>
                      </a:rPr>
                      <m:t>BD</m:t>
                    </m:r>
                    <m:r>
                      <a:rPr lang="en-US" altLang="zh-CN" i="1">
                        <a:latin typeface="Cambria Math"/>
                        <a:ea typeface="Cambria Math"/>
                      </a:rPr>
                      <m:t>⋯</m:t>
                    </m:r>
                  </m:oMath>
                </a14:m>
                <a:r>
                  <a:rPr lang="zh-CN" altLang="en-US" dirty="0"/>
                  <a:t>且</a:t>
                </a:r>
                <a:r>
                  <a:rPr lang="en-US" altLang="zh-CN" dirty="0"/>
                  <a:t>B</a:t>
                </a:r>
                <a14:m>
                  <m:oMath xmlns:m="http://schemas.openxmlformats.org/officeDocument/2006/math">
                    <m:r>
                      <a:rPr lang="en-US" altLang="zh-CN" i="1" baseline="30000" dirty="0">
                        <a:latin typeface="Cambria Math"/>
                        <a:ea typeface="Cambria Math"/>
                      </a:rPr>
                      <m:t>+</m:t>
                    </m:r>
                    <m:r>
                      <a:rPr lang="en-US" altLang="zh-CN" i="1" dirty="0">
                        <a:latin typeface="Cambria Math"/>
                        <a:ea typeface="Cambria Math"/>
                      </a:rPr>
                      <m:t>⇒</m:t>
                    </m:r>
                    <m:r>
                      <a:rPr lang="en-US" altLang="zh-CN" i="1">
                        <a:latin typeface="Cambria Math"/>
                        <a:ea typeface="Cambria Math"/>
                      </a:rPr>
                      <m:t>⋯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/>
                        <a:ea typeface="Cambria Math"/>
                      </a:rPr>
                      <m:t>X</m:t>
                    </m:r>
                  </m:oMath>
                </a14:m>
                <a:r>
                  <a:rPr lang="zh-CN" altLang="en-US" dirty="0"/>
                  <a:t>和</a:t>
                </a:r>
                <a:r>
                  <a:rPr lang="en-US" altLang="zh-CN" dirty="0"/>
                  <a:t>B</a:t>
                </a:r>
                <a14:m>
                  <m:oMath xmlns:m="http://schemas.openxmlformats.org/officeDocument/2006/math">
                    <m:r>
                      <a:rPr lang="zh-CN" altLang="en-US" b="0" i="1" baseline="30000" dirty="0" smtClean="0">
                        <a:latin typeface="Cambria Math"/>
                        <a:ea typeface="Cambria Math"/>
                      </a:rPr>
                      <m:t>∗</m:t>
                    </m:r>
                    <m:r>
                      <a:rPr lang="en-US" altLang="zh-CN" i="1" dirty="0">
                        <a:latin typeface="Cambria Math"/>
                        <a:ea typeface="Cambria Math"/>
                      </a:rPr>
                      <m:t>⇒</m:t>
                    </m:r>
                  </m:oMath>
                </a14:m>
                <a:r>
                  <a:rPr lang="en-US" altLang="zh-CN" dirty="0">
                    <a:ea typeface="Cambria Math"/>
                  </a:rPr>
                  <a:t> Y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Cambria Math"/>
                      </a:rPr>
                      <m:t>⋯</m:t>
                    </m:r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3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6732267" y="1268733"/>
            <a:ext cx="2016125" cy="1508125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fontAlgn="ctr" hangingPunct="1"/>
            <a:r>
              <a:rPr lang="zh-CN" altLang="en-US" b="1" dirty="0"/>
              <a:t>有文法</a:t>
            </a:r>
            <a:r>
              <a:rPr lang="en-US" altLang="zh-CN" b="1" dirty="0"/>
              <a:t>:</a:t>
            </a:r>
          </a:p>
          <a:p>
            <a:pPr algn="l" eaLnBrk="1" fontAlgn="ctr" hangingPunct="1"/>
            <a:r>
              <a:rPr lang="en-US" altLang="zh-CN" b="1" dirty="0"/>
              <a:t>⑴ </a:t>
            </a:r>
            <a:r>
              <a:rPr lang="en-US" altLang="zh-CN" sz="2400" b="1" dirty="0" err="1">
                <a:latin typeface="Times New Roman" pitchFamily="18" charset="0"/>
                <a:cs typeface="Times New Roman" pitchFamily="18" charset="0"/>
              </a:rPr>
              <a:t>S→bAb</a:t>
            </a:r>
            <a:endParaRPr lang="en-US" altLang="zh-CN" sz="2400" b="1" dirty="0">
              <a:latin typeface="Times New Roman" pitchFamily="18" charset="0"/>
              <a:cs typeface="Times New Roman" pitchFamily="18" charset="0"/>
            </a:endParaRPr>
          </a:p>
          <a:p>
            <a:pPr algn="l" eaLnBrk="1" fontAlgn="ctr" hangingPunct="1"/>
            <a:r>
              <a:rPr lang="en-US" altLang="zh-CN" b="1" dirty="0"/>
              <a:t>⑵ 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A→( B |a</a:t>
            </a:r>
          </a:p>
          <a:p>
            <a:pPr algn="l" eaLnBrk="1" fontAlgn="ctr" hangingPunct="1"/>
            <a:r>
              <a:rPr lang="en-US" altLang="zh-CN" b="1" dirty="0"/>
              <a:t>⑶ </a:t>
            </a:r>
            <a:r>
              <a:rPr lang="en-US" altLang="zh-CN" sz="2400" b="1" dirty="0" err="1">
                <a:latin typeface="Times New Roman" pitchFamily="18" charset="0"/>
                <a:cs typeface="Times New Roman" pitchFamily="18" charset="0"/>
              </a:rPr>
              <a:t>B→Aa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)</a:t>
            </a:r>
          </a:p>
        </p:txBody>
      </p:sp>
      <p:pic>
        <p:nvPicPr>
          <p:cNvPr id="5" name="Picture 6" descr="Image1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22" t="48866" b="30986"/>
          <a:stretch/>
        </p:blipFill>
        <p:spPr bwMode="auto">
          <a:xfrm>
            <a:off x="277840" y="3121280"/>
            <a:ext cx="8316913" cy="3058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64398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三、简单优先分析方法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语法树结构</a:t>
            </a:r>
          </a:p>
        </p:txBody>
      </p:sp>
      <p:pic>
        <p:nvPicPr>
          <p:cNvPr id="4" name="Picture 7" descr="Image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23" t="76237" b="5486"/>
          <a:stretch>
            <a:fillRect/>
          </a:stretch>
        </p:blipFill>
        <p:spPr bwMode="auto">
          <a:xfrm>
            <a:off x="971555" y="1988822"/>
            <a:ext cx="5753853" cy="2880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6732267" y="1268733"/>
            <a:ext cx="2016125" cy="1508125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fontAlgn="ctr" hangingPunct="1"/>
            <a:r>
              <a:rPr lang="zh-CN" altLang="en-US" b="1" dirty="0"/>
              <a:t>文法</a:t>
            </a:r>
            <a:r>
              <a:rPr lang="en-US" altLang="zh-CN" b="1" dirty="0"/>
              <a:t>:</a:t>
            </a:r>
          </a:p>
          <a:p>
            <a:pPr algn="l" eaLnBrk="1" fontAlgn="ctr" hangingPunct="1"/>
            <a:r>
              <a:rPr lang="en-US" altLang="zh-CN" b="1" dirty="0"/>
              <a:t>⑴ </a:t>
            </a:r>
            <a:r>
              <a:rPr lang="en-US" altLang="zh-CN" sz="2400" b="1" dirty="0" err="1">
                <a:latin typeface="Times New Roman" pitchFamily="18" charset="0"/>
                <a:cs typeface="Times New Roman" pitchFamily="18" charset="0"/>
              </a:rPr>
              <a:t>S→bAb</a:t>
            </a:r>
            <a:endParaRPr lang="en-US" altLang="zh-CN" sz="2400" b="1" dirty="0">
              <a:latin typeface="Times New Roman" pitchFamily="18" charset="0"/>
              <a:cs typeface="Times New Roman" pitchFamily="18" charset="0"/>
            </a:endParaRPr>
          </a:p>
          <a:p>
            <a:pPr algn="l" eaLnBrk="1" fontAlgn="ctr" hangingPunct="1"/>
            <a:r>
              <a:rPr lang="en-US" altLang="zh-CN" b="1" dirty="0"/>
              <a:t>⑵ 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A→( B |a</a:t>
            </a:r>
          </a:p>
          <a:p>
            <a:pPr algn="l" eaLnBrk="1" fontAlgn="ctr" hangingPunct="1"/>
            <a:r>
              <a:rPr lang="en-US" altLang="zh-CN" b="1" dirty="0"/>
              <a:t>⑶ </a:t>
            </a:r>
            <a:r>
              <a:rPr lang="en-US" altLang="zh-CN" sz="2400" b="1" dirty="0" err="1">
                <a:latin typeface="Times New Roman" pitchFamily="18" charset="0"/>
                <a:cs typeface="Times New Roman" pitchFamily="18" charset="0"/>
              </a:rPr>
              <a:t>B→Aa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6" y="5008648"/>
            <a:ext cx="79209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问题：</a:t>
            </a:r>
            <a:endParaRPr lang="en-US" altLang="zh-CN" dirty="0">
              <a:solidFill>
                <a:srgbClr val="0000FF"/>
              </a:solidFill>
            </a:endParaRPr>
          </a:p>
          <a:p>
            <a:r>
              <a:rPr lang="en-US" altLang="zh-CN" dirty="0">
                <a:solidFill>
                  <a:srgbClr val="0000FF"/>
                </a:solidFill>
              </a:rPr>
              <a:t>1</a:t>
            </a:r>
            <a:r>
              <a:rPr lang="zh-CN" altLang="en-US" dirty="0">
                <a:solidFill>
                  <a:srgbClr val="0000FF"/>
                </a:solidFill>
              </a:rPr>
              <a:t>、为什么</a:t>
            </a:r>
            <a:r>
              <a:rPr lang="en-US" altLang="zh-CN" dirty="0">
                <a:solidFill>
                  <a:srgbClr val="0000FF"/>
                </a:solidFill>
              </a:rPr>
              <a:t>(B, </a:t>
            </a:r>
            <a:r>
              <a:rPr lang="en-US" altLang="zh-CN" dirty="0" err="1">
                <a:solidFill>
                  <a:srgbClr val="0000FF"/>
                </a:solidFill>
              </a:rPr>
              <a:t>bAb</a:t>
            </a:r>
            <a:r>
              <a:rPr lang="en-US" altLang="zh-CN" dirty="0">
                <a:solidFill>
                  <a:srgbClr val="0000FF"/>
                </a:solidFill>
              </a:rPr>
              <a:t>, Aa)</a:t>
            </a:r>
            <a:r>
              <a:rPr lang="zh-CN" altLang="en-US" dirty="0">
                <a:solidFill>
                  <a:srgbClr val="0000FF"/>
                </a:solidFill>
              </a:rPr>
              <a:t>可以同时规约？</a:t>
            </a:r>
            <a:endParaRPr lang="en-US" altLang="zh-CN" dirty="0">
              <a:solidFill>
                <a:srgbClr val="0000FF"/>
              </a:solidFill>
            </a:endParaRPr>
          </a:p>
          <a:p>
            <a:r>
              <a:rPr lang="en-US" altLang="zh-CN" dirty="0">
                <a:solidFill>
                  <a:srgbClr val="0000FF"/>
                </a:solidFill>
              </a:rPr>
              <a:t>2</a:t>
            </a:r>
            <a:r>
              <a:rPr lang="zh-CN" altLang="en-US" dirty="0">
                <a:solidFill>
                  <a:srgbClr val="0000FF"/>
                </a:solidFill>
              </a:rPr>
              <a:t>、为什么</a:t>
            </a:r>
            <a:r>
              <a:rPr lang="en-US" altLang="zh-CN" dirty="0">
                <a:solidFill>
                  <a:srgbClr val="0000FF"/>
                </a:solidFill>
              </a:rPr>
              <a:t>b( </a:t>
            </a:r>
            <a:r>
              <a:rPr lang="zh-CN" altLang="en-US" dirty="0">
                <a:solidFill>
                  <a:srgbClr val="0000FF"/>
                </a:solidFill>
              </a:rPr>
              <a:t>和 </a:t>
            </a:r>
            <a:r>
              <a:rPr lang="en-US" altLang="zh-CN" dirty="0" err="1">
                <a:solidFill>
                  <a:srgbClr val="0000FF"/>
                </a:solidFill>
              </a:rPr>
              <a:t>ba</a:t>
            </a:r>
            <a:r>
              <a:rPr lang="en-US" altLang="zh-CN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</a:rPr>
              <a:t>出现在某一句型时，（、</a:t>
            </a:r>
            <a:r>
              <a:rPr lang="en-US" altLang="zh-CN" dirty="0">
                <a:solidFill>
                  <a:srgbClr val="0000FF"/>
                </a:solidFill>
              </a:rPr>
              <a:t>a</a:t>
            </a:r>
            <a:r>
              <a:rPr lang="zh-CN" altLang="en-US" dirty="0">
                <a:solidFill>
                  <a:srgbClr val="0000FF"/>
                </a:solidFill>
              </a:rPr>
              <a:t>和</a:t>
            </a:r>
            <a:r>
              <a:rPr lang="en-US" altLang="zh-CN" dirty="0">
                <a:solidFill>
                  <a:srgbClr val="0000FF"/>
                </a:solidFill>
              </a:rPr>
              <a:t>b</a:t>
            </a:r>
            <a:r>
              <a:rPr lang="zh-CN" altLang="en-US" dirty="0">
                <a:solidFill>
                  <a:srgbClr val="0000FF"/>
                </a:solidFill>
              </a:rPr>
              <a:t>不会和</a:t>
            </a:r>
            <a:r>
              <a:rPr lang="en-US" altLang="zh-CN" dirty="0">
                <a:solidFill>
                  <a:srgbClr val="0000FF"/>
                </a:solidFill>
              </a:rPr>
              <a:t>b</a:t>
            </a:r>
            <a:r>
              <a:rPr lang="zh-CN" altLang="en-US" dirty="0">
                <a:solidFill>
                  <a:srgbClr val="0000FF"/>
                </a:solidFill>
              </a:rPr>
              <a:t>同时出现在句柄中？</a:t>
            </a:r>
            <a:endParaRPr lang="en-US" altLang="zh-CN" dirty="0">
              <a:solidFill>
                <a:srgbClr val="0000FF"/>
              </a:solidFill>
            </a:endParaRPr>
          </a:p>
          <a:p>
            <a:r>
              <a:rPr lang="en-US" altLang="zh-CN" dirty="0">
                <a:solidFill>
                  <a:srgbClr val="0000FF"/>
                </a:solidFill>
              </a:rPr>
              <a:t>3</a:t>
            </a:r>
            <a:r>
              <a:rPr lang="zh-CN" altLang="en-US" dirty="0">
                <a:solidFill>
                  <a:srgbClr val="0000FF"/>
                </a:solidFill>
              </a:rPr>
              <a:t>、为什么含有（（、（</a:t>
            </a:r>
            <a:r>
              <a:rPr lang="en-US" altLang="zh-CN" dirty="0">
                <a:solidFill>
                  <a:srgbClr val="0000FF"/>
                </a:solidFill>
              </a:rPr>
              <a:t>A</a:t>
            </a:r>
            <a:r>
              <a:rPr lang="zh-CN" altLang="en-US" dirty="0">
                <a:solidFill>
                  <a:srgbClr val="0000FF"/>
                </a:solidFill>
              </a:rPr>
              <a:t>、（</a:t>
            </a:r>
            <a:r>
              <a:rPr lang="en-US" altLang="zh-CN" dirty="0">
                <a:solidFill>
                  <a:srgbClr val="0000FF"/>
                </a:solidFill>
              </a:rPr>
              <a:t>a</a:t>
            </a:r>
            <a:r>
              <a:rPr lang="zh-CN" altLang="en-US" dirty="0">
                <a:solidFill>
                  <a:srgbClr val="0000FF"/>
                </a:solidFill>
              </a:rPr>
              <a:t>的句型，左边（的优先性要低于右边的（、</a:t>
            </a:r>
            <a:r>
              <a:rPr lang="en-US" altLang="zh-CN" dirty="0">
                <a:solidFill>
                  <a:srgbClr val="0000FF"/>
                </a:solidFill>
              </a:rPr>
              <a:t>A</a:t>
            </a:r>
            <a:r>
              <a:rPr lang="zh-CN" altLang="en-US" dirty="0">
                <a:solidFill>
                  <a:srgbClr val="0000FF"/>
                </a:solidFill>
              </a:rPr>
              <a:t>和</a:t>
            </a:r>
            <a:r>
              <a:rPr lang="en-US" altLang="zh-CN" dirty="0">
                <a:solidFill>
                  <a:srgbClr val="0000FF"/>
                </a:solidFill>
              </a:rPr>
              <a:t>a</a:t>
            </a:r>
            <a:r>
              <a:rPr lang="zh-CN" altLang="en-US" dirty="0">
                <a:solidFill>
                  <a:srgbClr val="0000FF"/>
                </a:solidFill>
              </a:rPr>
              <a:t>？</a:t>
            </a:r>
            <a:endParaRPr lang="en-US" altLang="zh-CN" dirty="0">
              <a:solidFill>
                <a:srgbClr val="0000FF"/>
              </a:solidFill>
            </a:endParaRPr>
          </a:p>
          <a:p>
            <a:r>
              <a:rPr lang="en-US" altLang="zh-CN" dirty="0">
                <a:solidFill>
                  <a:srgbClr val="0000FF"/>
                </a:solidFill>
              </a:rPr>
              <a:t>4</a:t>
            </a:r>
            <a:r>
              <a:rPr lang="zh-CN" altLang="en-US" dirty="0">
                <a:solidFill>
                  <a:srgbClr val="0000FF"/>
                </a:solidFill>
              </a:rPr>
              <a:t>、为什么含有</a:t>
            </a:r>
            <a:r>
              <a:rPr lang="en-US" altLang="zh-CN" dirty="0">
                <a:solidFill>
                  <a:srgbClr val="0000FF"/>
                </a:solidFill>
              </a:rPr>
              <a:t>Bb</a:t>
            </a:r>
            <a:r>
              <a:rPr lang="zh-CN" altLang="en-US" dirty="0">
                <a:solidFill>
                  <a:srgbClr val="0000FF"/>
                </a:solidFill>
              </a:rPr>
              <a:t>和</a:t>
            </a:r>
            <a:r>
              <a:rPr lang="en-US" altLang="zh-CN" dirty="0">
                <a:solidFill>
                  <a:srgbClr val="0000FF"/>
                </a:solidFill>
              </a:rPr>
              <a:t>Ba</a:t>
            </a:r>
            <a:r>
              <a:rPr lang="zh-CN" altLang="en-US" dirty="0">
                <a:solidFill>
                  <a:srgbClr val="0000FF"/>
                </a:solidFill>
              </a:rPr>
              <a:t>的句型，</a:t>
            </a:r>
            <a:r>
              <a:rPr lang="en-US" altLang="zh-CN" dirty="0">
                <a:solidFill>
                  <a:srgbClr val="0000FF"/>
                </a:solidFill>
              </a:rPr>
              <a:t>B</a:t>
            </a:r>
            <a:r>
              <a:rPr lang="zh-CN" altLang="en-US" dirty="0">
                <a:solidFill>
                  <a:srgbClr val="0000FF"/>
                </a:solidFill>
              </a:rPr>
              <a:t>先规约？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82377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三、简单优先分析方法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Text Box 8"/>
          <p:cNvSpPr txBox="1">
            <a:spLocks noChangeArrowheads="1"/>
          </p:cNvSpPr>
          <p:nvPr/>
        </p:nvSpPr>
        <p:spPr bwMode="auto">
          <a:xfrm>
            <a:off x="325438" y="5136515"/>
            <a:ext cx="8461375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/>
              <a:t>上表说明矩阵中元素要么只存在一种关系，要么为空。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  <a:latin typeface="Times New Roman" pitchFamily="18" charset="0"/>
              </a:rPr>
              <a:t>“</a:t>
            </a:r>
            <a:r>
              <a:rPr lang="en-US" altLang="zh-CN" sz="2400" dirty="0">
                <a:solidFill>
                  <a:srgbClr val="FF0000"/>
                </a:solidFill>
              </a:rPr>
              <a:t>#</a:t>
            </a:r>
            <a:r>
              <a:rPr lang="en-US" altLang="zh-CN" sz="2400" dirty="0">
                <a:solidFill>
                  <a:srgbClr val="FF0000"/>
                </a:solidFill>
                <a:latin typeface="Times New Roman" pitchFamily="18" charset="0"/>
              </a:rPr>
              <a:t>”</a:t>
            </a:r>
            <a:r>
              <a:rPr lang="zh-CN" altLang="en-US" sz="2400" dirty="0">
                <a:solidFill>
                  <a:srgbClr val="FF0000"/>
                </a:solidFill>
              </a:rPr>
              <a:t>表示句子括号</a:t>
            </a:r>
            <a:r>
              <a:rPr lang="en-US" altLang="zh-CN" sz="2400" dirty="0">
                <a:solidFill>
                  <a:srgbClr val="FF0000"/>
                </a:solidFill>
              </a:rPr>
              <a:t>,</a:t>
            </a:r>
            <a:r>
              <a:rPr lang="zh-CN" altLang="en-US" sz="2400" dirty="0">
                <a:solidFill>
                  <a:srgbClr val="FF0000"/>
                </a:solidFill>
              </a:rPr>
              <a:t>其优先级</a:t>
            </a:r>
            <a:r>
              <a:rPr lang="en-US" altLang="zh-CN" sz="2400" dirty="0">
                <a:solidFill>
                  <a:srgbClr val="FF0000"/>
                </a:solidFill>
              </a:rPr>
              <a:t>&lt;</a:t>
            </a:r>
            <a:r>
              <a:rPr lang="zh-CN" altLang="en-US" sz="2400" dirty="0">
                <a:solidFill>
                  <a:srgbClr val="FF0000"/>
                </a:solidFill>
              </a:rPr>
              <a:t>所有符号，其他文法符号都</a:t>
            </a:r>
            <a:r>
              <a:rPr lang="en-US" altLang="zh-CN" sz="2400" dirty="0">
                <a:solidFill>
                  <a:srgbClr val="FF0000"/>
                </a:solidFill>
              </a:rPr>
              <a:t>&gt;</a:t>
            </a:r>
            <a:r>
              <a:rPr lang="en-US" altLang="zh-CN" sz="2400" dirty="0">
                <a:solidFill>
                  <a:srgbClr val="FF0000"/>
                </a:solidFill>
                <a:latin typeface="Times New Roman" pitchFamily="18" charset="0"/>
              </a:rPr>
              <a:t>“</a:t>
            </a:r>
            <a:r>
              <a:rPr lang="en-US" altLang="zh-CN" sz="2400" dirty="0">
                <a:solidFill>
                  <a:srgbClr val="FF0000"/>
                </a:solidFill>
              </a:rPr>
              <a:t>#</a:t>
            </a:r>
            <a:r>
              <a:rPr lang="en-US" altLang="zh-CN" sz="2400" dirty="0">
                <a:solidFill>
                  <a:srgbClr val="FF0000"/>
                </a:solidFill>
                <a:latin typeface="Times New Roman" pitchFamily="18" charset="0"/>
              </a:rPr>
              <a:t>”</a:t>
            </a:r>
            <a:r>
              <a:rPr lang="zh-CN" altLang="en-US" sz="2400" dirty="0">
                <a:solidFill>
                  <a:srgbClr val="FF0000"/>
                </a:solidFill>
              </a:rPr>
              <a:t>。 即：一般只讨论</a:t>
            </a:r>
            <a:r>
              <a:rPr lang="zh-CN" altLang="en-US" sz="2400" dirty="0">
                <a:solidFill>
                  <a:srgbClr val="FF0000"/>
                </a:solidFill>
                <a:latin typeface="Times New Roman" pitchFamily="18" charset="0"/>
              </a:rPr>
              <a:t>“</a:t>
            </a:r>
            <a:r>
              <a:rPr lang="zh-CN" altLang="en-US" sz="2400" dirty="0">
                <a:solidFill>
                  <a:srgbClr val="FF0000"/>
                </a:solidFill>
              </a:rPr>
              <a:t>﹟</a:t>
            </a:r>
            <a:r>
              <a:rPr lang="zh-CN" altLang="en-US" sz="2400" dirty="0">
                <a:solidFill>
                  <a:srgbClr val="FF0000"/>
                </a:solidFill>
                <a:latin typeface="Times New Roman" pitchFamily="18" charset="0"/>
              </a:rPr>
              <a:t>”</a:t>
            </a:r>
            <a:r>
              <a:rPr lang="zh-CN" altLang="en-US" sz="2400" dirty="0">
                <a:solidFill>
                  <a:srgbClr val="FF0000"/>
                </a:solidFill>
              </a:rPr>
              <a:t>的优先性小于所有与之相邻的文法符号的优先性。</a:t>
            </a:r>
          </a:p>
        </p:txBody>
      </p:sp>
      <p:pic>
        <p:nvPicPr>
          <p:cNvPr id="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889952"/>
            <a:ext cx="8736012" cy="414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5238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三、简单优先分析方法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简单优先文法的定义</a:t>
            </a:r>
            <a:endParaRPr lang="en-US" altLang="zh-CN" b="1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简单优先文法必须满足以下条件：</a:t>
            </a:r>
          </a:p>
          <a:p>
            <a:pPr lvl="1"/>
            <a:r>
              <a:rPr lang="zh-CN" altLang="en-US" dirty="0"/>
              <a:t>在文法符号集中</a:t>
            </a:r>
            <a:r>
              <a:rPr lang="en-US" altLang="zh-CN" dirty="0"/>
              <a:t>V</a:t>
            </a:r>
            <a:r>
              <a:rPr lang="zh-CN" altLang="en-US" dirty="0"/>
              <a:t>，任意两个符号之间</a:t>
            </a:r>
            <a:r>
              <a:rPr lang="zh-CN" altLang="en-US" dirty="0">
                <a:solidFill>
                  <a:srgbClr val="FF0000"/>
                </a:solidFill>
              </a:rPr>
              <a:t>最多只有一种优先关系</a:t>
            </a:r>
            <a:r>
              <a:rPr lang="zh-CN" altLang="en-US" dirty="0"/>
              <a:t>成立。</a:t>
            </a:r>
          </a:p>
          <a:p>
            <a:pPr lvl="1"/>
            <a:r>
              <a:rPr lang="zh-CN" altLang="en-US" dirty="0"/>
              <a:t>在文法中任意两个产生式没有</a:t>
            </a:r>
            <a:r>
              <a:rPr lang="zh-CN" altLang="en-US" dirty="0">
                <a:solidFill>
                  <a:srgbClr val="FF0000"/>
                </a:solidFill>
              </a:rPr>
              <a:t>相同的右部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简单优先算法步骤</a:t>
            </a:r>
            <a:endParaRPr lang="en-US" altLang="zh-CN" dirty="0"/>
          </a:p>
          <a:p>
            <a:pPr lvl="1"/>
            <a:r>
              <a:rPr lang="en-US" altLang="zh-CN" dirty="0"/>
              <a:t>1.</a:t>
            </a:r>
            <a:r>
              <a:rPr lang="zh-CN" altLang="en-US" dirty="0"/>
              <a:t>将输入符号串</a:t>
            </a:r>
            <a:r>
              <a:rPr lang="en-US" altLang="zh-CN" dirty="0"/>
              <a:t>a</a:t>
            </a:r>
            <a:r>
              <a:rPr lang="en-US" altLang="zh-CN" baseline="-25000" dirty="0"/>
              <a:t>1</a:t>
            </a:r>
            <a:r>
              <a:rPr lang="en-US" altLang="zh-CN" dirty="0"/>
              <a:t>a</a:t>
            </a:r>
            <a:r>
              <a:rPr lang="en-US" altLang="zh-CN" baseline="-25000" dirty="0"/>
              <a:t>2</a:t>
            </a:r>
            <a:r>
              <a:rPr lang="en-US" altLang="zh-CN" dirty="0"/>
              <a:t>…a</a:t>
            </a:r>
            <a:r>
              <a:rPr lang="en-US" altLang="zh-CN" baseline="-25000" dirty="0"/>
              <a:t>n</a:t>
            </a:r>
            <a:r>
              <a:rPr lang="en-US" altLang="zh-CN" dirty="0"/>
              <a:t>#</a:t>
            </a:r>
            <a:r>
              <a:rPr lang="zh-CN" altLang="en-US" dirty="0"/>
              <a:t>依次存入符号栈</a:t>
            </a:r>
            <a:r>
              <a:rPr lang="en-US" altLang="zh-CN" dirty="0"/>
              <a:t>S</a:t>
            </a:r>
            <a:r>
              <a:rPr lang="zh-CN" altLang="en-US" dirty="0"/>
              <a:t>中，直到遇到栈顶符号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i</a:t>
            </a:r>
            <a:r>
              <a:rPr lang="zh-CN" altLang="en-US" dirty="0"/>
              <a:t>的优先性大于下一个待输入符号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j</a:t>
            </a:r>
            <a:r>
              <a:rPr lang="zh-CN" altLang="en-US" dirty="0"/>
              <a:t>时为止。</a:t>
            </a:r>
          </a:p>
          <a:p>
            <a:pPr lvl="1"/>
            <a:r>
              <a:rPr lang="en-US" altLang="zh-CN" dirty="0"/>
              <a:t>2.</a:t>
            </a:r>
            <a:r>
              <a:rPr lang="zh-CN" altLang="en-US" dirty="0"/>
              <a:t>栈顶当前符号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i</a:t>
            </a:r>
            <a:r>
              <a:rPr lang="zh-CN" altLang="en-US" dirty="0"/>
              <a:t>为句柄尾，由此向左在栈中找句柄的头符号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k</a:t>
            </a:r>
            <a:r>
              <a:rPr lang="zh-CN" altLang="en-US" dirty="0"/>
              <a:t>，即找到</a:t>
            </a:r>
            <a:r>
              <a:rPr lang="en-US" altLang="zh-CN" dirty="0"/>
              <a:t>a</a:t>
            </a:r>
            <a:r>
              <a:rPr lang="en-US" altLang="zh-CN" baseline="-25000" dirty="0"/>
              <a:t>k-1</a:t>
            </a:r>
            <a:r>
              <a:rPr lang="en-US" altLang="zh-CN" dirty="0"/>
              <a:t> &lt;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k</a:t>
            </a:r>
            <a:r>
              <a:rPr lang="zh-CN" altLang="en-US" dirty="0"/>
              <a:t>的优先性为止。</a:t>
            </a:r>
          </a:p>
          <a:p>
            <a:pPr lvl="1"/>
            <a:r>
              <a:rPr lang="en-US" altLang="zh-CN" dirty="0"/>
              <a:t>3.</a:t>
            </a:r>
            <a:r>
              <a:rPr lang="zh-CN" altLang="en-US" dirty="0"/>
              <a:t>串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k</a:t>
            </a:r>
            <a:r>
              <a:rPr lang="en-US" altLang="zh-CN" dirty="0"/>
              <a:t> …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i</a:t>
            </a:r>
            <a:r>
              <a:rPr lang="zh-CN" altLang="en-US" dirty="0"/>
              <a:t>是句柄，在文法的产生式中查找右部为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k</a:t>
            </a:r>
            <a:r>
              <a:rPr lang="en-US" altLang="zh-CN" dirty="0"/>
              <a:t> …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i</a:t>
            </a:r>
            <a:r>
              <a:rPr lang="zh-CN" altLang="en-US" dirty="0"/>
              <a:t>的产生式，用该产生式的左部替代该句柄，若没找到合适的产生式则出错，此时断定输入串不是该文法的句子。</a:t>
            </a:r>
          </a:p>
          <a:p>
            <a:pPr lvl="1"/>
            <a:r>
              <a:rPr lang="en-US" altLang="zh-CN" dirty="0"/>
              <a:t>4.</a:t>
            </a:r>
            <a:r>
              <a:rPr lang="zh-CN" altLang="en-US" dirty="0"/>
              <a:t>重复</a:t>
            </a: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3</a:t>
            </a:r>
            <a:r>
              <a:rPr lang="zh-CN" altLang="en-US" dirty="0"/>
              <a:t>步直到归约完输入符号串、栈中只剩文法的开始符号为止。</a:t>
            </a:r>
          </a:p>
          <a:p>
            <a:pPr lvl="1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76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600" dirty="0"/>
              <a:t>简单优先分析法特点：</a:t>
            </a:r>
          </a:p>
          <a:p>
            <a:pPr lvl="1"/>
            <a:r>
              <a:rPr lang="zh-CN" altLang="en-US" sz="3200" dirty="0"/>
              <a:t>只是用于简单优先文法，准确规范，但分析效率低，实际使用价值不大；</a:t>
            </a:r>
          </a:p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96636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第五章 自底向上优先分析</a:t>
            </a:r>
          </a:p>
        </p:txBody>
      </p:sp>
      <p:sp>
        <p:nvSpPr>
          <p:cNvPr id="4" name="Freeform 6"/>
          <p:cNvSpPr>
            <a:spLocks/>
          </p:cNvSpPr>
          <p:nvPr/>
        </p:nvSpPr>
        <p:spPr bwMode="auto">
          <a:xfrm>
            <a:off x="975061" y="1765876"/>
            <a:ext cx="1073042" cy="714123"/>
          </a:xfrm>
          <a:custGeom>
            <a:avLst/>
            <a:gdLst/>
            <a:ahLst/>
            <a:cxnLst>
              <a:cxn ang="0">
                <a:pos x="211" y="73"/>
              </a:cxn>
              <a:cxn ang="0">
                <a:pos x="192" y="80"/>
              </a:cxn>
              <a:cxn ang="0">
                <a:pos x="189" y="82"/>
              </a:cxn>
              <a:cxn ang="0">
                <a:pos x="180" y="86"/>
              </a:cxn>
              <a:cxn ang="0">
                <a:pos x="172" y="85"/>
              </a:cxn>
              <a:cxn ang="0">
                <a:pos x="172" y="0"/>
              </a:cxn>
              <a:cxn ang="0">
                <a:pos x="0" y="0"/>
              </a:cxn>
              <a:cxn ang="0">
                <a:pos x="0" y="190"/>
              </a:cxn>
              <a:cxn ang="0">
                <a:pos x="172" y="190"/>
              </a:cxn>
              <a:cxn ang="0">
                <a:pos x="172" y="117"/>
              </a:cxn>
              <a:cxn ang="0">
                <a:pos x="179" y="116"/>
              </a:cxn>
              <a:cxn ang="0">
                <a:pos x="190" y="120"/>
              </a:cxn>
              <a:cxn ang="0">
                <a:pos x="211" y="128"/>
              </a:cxn>
              <a:cxn ang="0">
                <a:pos x="241" y="101"/>
              </a:cxn>
              <a:cxn ang="0">
                <a:pos x="211" y="73"/>
              </a:cxn>
            </a:cxnLst>
            <a:rect l="0" t="0" r="r" b="b"/>
            <a:pathLst>
              <a:path w="241" h="190">
                <a:moveTo>
                  <a:pt x="211" y="73"/>
                </a:moveTo>
                <a:cubicBezTo>
                  <a:pt x="204" y="73"/>
                  <a:pt x="197" y="76"/>
                  <a:pt x="192" y="80"/>
                </a:cubicBezTo>
                <a:cubicBezTo>
                  <a:pt x="191" y="81"/>
                  <a:pt x="190" y="82"/>
                  <a:pt x="189" y="82"/>
                </a:cubicBezTo>
                <a:cubicBezTo>
                  <a:pt x="187" y="84"/>
                  <a:pt x="183" y="86"/>
                  <a:pt x="180" y="86"/>
                </a:cubicBezTo>
                <a:cubicBezTo>
                  <a:pt x="176" y="86"/>
                  <a:pt x="174" y="86"/>
                  <a:pt x="172" y="85"/>
                </a:cubicBezTo>
                <a:cubicBezTo>
                  <a:pt x="172" y="0"/>
                  <a:pt x="172" y="0"/>
                  <a:pt x="17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90"/>
                  <a:pt x="0" y="190"/>
                  <a:pt x="0" y="190"/>
                </a:cubicBezTo>
                <a:cubicBezTo>
                  <a:pt x="172" y="190"/>
                  <a:pt x="172" y="190"/>
                  <a:pt x="172" y="190"/>
                </a:cubicBezTo>
                <a:cubicBezTo>
                  <a:pt x="172" y="117"/>
                  <a:pt x="172" y="117"/>
                  <a:pt x="172" y="117"/>
                </a:cubicBezTo>
                <a:cubicBezTo>
                  <a:pt x="175" y="116"/>
                  <a:pt x="176" y="116"/>
                  <a:pt x="179" y="116"/>
                </a:cubicBezTo>
                <a:cubicBezTo>
                  <a:pt x="183" y="116"/>
                  <a:pt x="188" y="118"/>
                  <a:pt x="190" y="120"/>
                </a:cubicBezTo>
                <a:cubicBezTo>
                  <a:pt x="192" y="122"/>
                  <a:pt x="202" y="128"/>
                  <a:pt x="211" y="128"/>
                </a:cubicBezTo>
                <a:cubicBezTo>
                  <a:pt x="228" y="128"/>
                  <a:pt x="241" y="116"/>
                  <a:pt x="241" y="101"/>
                </a:cubicBezTo>
                <a:cubicBezTo>
                  <a:pt x="241" y="86"/>
                  <a:pt x="228" y="73"/>
                  <a:pt x="211" y="73"/>
                </a:cubicBezTo>
                <a:close/>
              </a:path>
            </a:pathLst>
          </a:custGeom>
          <a:solidFill>
            <a:srgbClr val="80B3FF"/>
          </a:solidFill>
          <a:ln w="9525">
            <a:noFill/>
            <a:round/>
            <a:headEnd/>
            <a:tailEnd/>
          </a:ln>
          <a:effectLst>
            <a:reflection blurRad="6350" stA="19000" endPos="53000" dir="5400000" sy="-100000" algn="bl" rotWithShape="0"/>
          </a:effectLst>
        </p:spPr>
        <p:txBody>
          <a:bodyPr vert="horz" wrap="square" lIns="0" tIns="45720" rIns="288000" bIns="45720" numCol="1" anchor="ctr" anchorCtr="1" compatLnSpc="1">
            <a:prstTxWarp prst="textNoShape">
              <a:avLst/>
            </a:prstTxWarp>
          </a:bodyPr>
          <a:lstStyle/>
          <a:p>
            <a:r>
              <a:rPr lang="en-US" sz="32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ru-RU" sz="32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Freeform 7"/>
          <p:cNvSpPr>
            <a:spLocks/>
          </p:cNvSpPr>
          <p:nvPr/>
        </p:nvSpPr>
        <p:spPr bwMode="auto">
          <a:xfrm>
            <a:off x="2314041" y="1765876"/>
            <a:ext cx="5498327" cy="714123"/>
          </a:xfrm>
          <a:custGeom>
            <a:avLst/>
            <a:gdLst/>
            <a:ahLst/>
            <a:cxnLst>
              <a:cxn ang="0">
                <a:pos x="803" y="0"/>
              </a:cxn>
              <a:cxn ang="0">
                <a:pos x="792" y="0"/>
              </a:cxn>
              <a:cxn ang="0">
                <a:pos x="644" y="0"/>
              </a:cxn>
              <a:cxn ang="0">
                <a:pos x="634" y="0"/>
              </a:cxn>
              <a:cxn ang="0">
                <a:pos x="494" y="0"/>
              </a:cxn>
              <a:cxn ang="0">
                <a:pos x="476" y="0"/>
              </a:cxn>
              <a:cxn ang="0">
                <a:pos x="331" y="0"/>
              </a:cxn>
              <a:cxn ang="0">
                <a:pos x="325" y="0"/>
              </a:cxn>
              <a:cxn ang="0">
                <a:pos x="169" y="0"/>
              </a:cxn>
              <a:cxn ang="0">
                <a:pos x="163" y="0"/>
              </a:cxn>
              <a:cxn ang="0">
                <a:pos x="0" y="0"/>
              </a:cxn>
              <a:cxn ang="0">
                <a:pos x="0" y="82"/>
              </a:cxn>
              <a:cxn ang="0">
                <a:pos x="6" y="79"/>
              </a:cxn>
              <a:cxn ang="0">
                <a:pos x="9" y="77"/>
              </a:cxn>
              <a:cxn ang="0">
                <a:pos x="31" y="69"/>
              </a:cxn>
              <a:cxn ang="0">
                <a:pos x="65" y="101"/>
              </a:cxn>
              <a:cxn ang="0">
                <a:pos x="31" y="133"/>
              </a:cxn>
              <a:cxn ang="0">
                <a:pos x="7" y="123"/>
              </a:cxn>
              <a:cxn ang="0">
                <a:pos x="0" y="120"/>
              </a:cxn>
              <a:cxn ang="0">
                <a:pos x="0" y="190"/>
              </a:cxn>
              <a:cxn ang="0">
                <a:pos x="163" y="190"/>
              </a:cxn>
              <a:cxn ang="0">
                <a:pos x="169" y="190"/>
              </a:cxn>
              <a:cxn ang="0">
                <a:pos x="325" y="190"/>
              </a:cxn>
              <a:cxn ang="0">
                <a:pos x="331" y="190"/>
              </a:cxn>
              <a:cxn ang="0">
                <a:pos x="476" y="190"/>
              </a:cxn>
              <a:cxn ang="0">
                <a:pos x="494" y="190"/>
              </a:cxn>
              <a:cxn ang="0">
                <a:pos x="634" y="190"/>
              </a:cxn>
              <a:cxn ang="0">
                <a:pos x="644" y="190"/>
              </a:cxn>
              <a:cxn ang="0">
                <a:pos x="792" y="190"/>
              </a:cxn>
              <a:cxn ang="0">
                <a:pos x="803" y="190"/>
              </a:cxn>
              <a:cxn ang="0">
                <a:pos x="965" y="190"/>
              </a:cxn>
              <a:cxn ang="0">
                <a:pos x="965" y="0"/>
              </a:cxn>
              <a:cxn ang="0">
                <a:pos x="803" y="0"/>
              </a:cxn>
            </a:cxnLst>
            <a:rect l="0" t="0" r="r" b="b"/>
            <a:pathLst>
              <a:path w="965" h="190">
                <a:moveTo>
                  <a:pt x="803" y="0"/>
                </a:moveTo>
                <a:cubicBezTo>
                  <a:pt x="792" y="0"/>
                  <a:pt x="792" y="0"/>
                  <a:pt x="792" y="0"/>
                </a:cubicBezTo>
                <a:cubicBezTo>
                  <a:pt x="644" y="0"/>
                  <a:pt x="644" y="0"/>
                  <a:pt x="644" y="0"/>
                </a:cubicBezTo>
                <a:cubicBezTo>
                  <a:pt x="634" y="0"/>
                  <a:pt x="634" y="0"/>
                  <a:pt x="634" y="0"/>
                </a:cubicBezTo>
                <a:cubicBezTo>
                  <a:pt x="494" y="0"/>
                  <a:pt x="494" y="0"/>
                  <a:pt x="494" y="0"/>
                </a:cubicBezTo>
                <a:cubicBezTo>
                  <a:pt x="476" y="0"/>
                  <a:pt x="476" y="0"/>
                  <a:pt x="476" y="0"/>
                </a:cubicBezTo>
                <a:cubicBezTo>
                  <a:pt x="331" y="0"/>
                  <a:pt x="331" y="0"/>
                  <a:pt x="331" y="0"/>
                </a:cubicBezTo>
                <a:cubicBezTo>
                  <a:pt x="325" y="0"/>
                  <a:pt x="325" y="0"/>
                  <a:pt x="325" y="0"/>
                </a:cubicBezTo>
                <a:cubicBezTo>
                  <a:pt x="169" y="0"/>
                  <a:pt x="169" y="0"/>
                  <a:pt x="169" y="0"/>
                </a:cubicBezTo>
                <a:cubicBezTo>
                  <a:pt x="163" y="0"/>
                  <a:pt x="163" y="0"/>
                  <a:pt x="16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2"/>
                  <a:pt x="0" y="82"/>
                  <a:pt x="0" y="82"/>
                </a:cubicBezTo>
                <a:cubicBezTo>
                  <a:pt x="2" y="81"/>
                  <a:pt x="4" y="81"/>
                  <a:pt x="6" y="79"/>
                </a:cubicBezTo>
                <a:cubicBezTo>
                  <a:pt x="7" y="78"/>
                  <a:pt x="8" y="78"/>
                  <a:pt x="9" y="77"/>
                </a:cubicBezTo>
                <a:cubicBezTo>
                  <a:pt x="15" y="72"/>
                  <a:pt x="22" y="69"/>
                  <a:pt x="31" y="69"/>
                </a:cubicBezTo>
                <a:cubicBezTo>
                  <a:pt x="50" y="69"/>
                  <a:pt x="65" y="83"/>
                  <a:pt x="65" y="101"/>
                </a:cubicBezTo>
                <a:cubicBezTo>
                  <a:pt x="65" y="118"/>
                  <a:pt x="50" y="133"/>
                  <a:pt x="31" y="133"/>
                </a:cubicBezTo>
                <a:cubicBezTo>
                  <a:pt x="21" y="133"/>
                  <a:pt x="9" y="125"/>
                  <a:pt x="7" y="123"/>
                </a:cubicBezTo>
                <a:cubicBezTo>
                  <a:pt x="5" y="122"/>
                  <a:pt x="3" y="121"/>
                  <a:pt x="0" y="120"/>
                </a:cubicBezTo>
                <a:cubicBezTo>
                  <a:pt x="0" y="190"/>
                  <a:pt x="0" y="190"/>
                  <a:pt x="0" y="190"/>
                </a:cubicBezTo>
                <a:cubicBezTo>
                  <a:pt x="163" y="190"/>
                  <a:pt x="163" y="190"/>
                  <a:pt x="163" y="190"/>
                </a:cubicBezTo>
                <a:cubicBezTo>
                  <a:pt x="169" y="190"/>
                  <a:pt x="169" y="190"/>
                  <a:pt x="169" y="190"/>
                </a:cubicBezTo>
                <a:cubicBezTo>
                  <a:pt x="325" y="190"/>
                  <a:pt x="325" y="190"/>
                  <a:pt x="325" y="190"/>
                </a:cubicBezTo>
                <a:cubicBezTo>
                  <a:pt x="331" y="190"/>
                  <a:pt x="331" y="190"/>
                  <a:pt x="331" y="190"/>
                </a:cubicBezTo>
                <a:cubicBezTo>
                  <a:pt x="476" y="190"/>
                  <a:pt x="476" y="190"/>
                  <a:pt x="476" y="190"/>
                </a:cubicBezTo>
                <a:cubicBezTo>
                  <a:pt x="494" y="190"/>
                  <a:pt x="494" y="190"/>
                  <a:pt x="494" y="190"/>
                </a:cubicBezTo>
                <a:cubicBezTo>
                  <a:pt x="634" y="190"/>
                  <a:pt x="634" y="190"/>
                  <a:pt x="634" y="190"/>
                </a:cubicBezTo>
                <a:cubicBezTo>
                  <a:pt x="644" y="190"/>
                  <a:pt x="644" y="190"/>
                  <a:pt x="644" y="190"/>
                </a:cubicBezTo>
                <a:cubicBezTo>
                  <a:pt x="792" y="190"/>
                  <a:pt x="792" y="190"/>
                  <a:pt x="792" y="190"/>
                </a:cubicBezTo>
                <a:cubicBezTo>
                  <a:pt x="803" y="190"/>
                  <a:pt x="803" y="190"/>
                  <a:pt x="803" y="190"/>
                </a:cubicBezTo>
                <a:cubicBezTo>
                  <a:pt x="965" y="190"/>
                  <a:pt x="965" y="190"/>
                  <a:pt x="965" y="190"/>
                </a:cubicBezTo>
                <a:cubicBezTo>
                  <a:pt x="965" y="0"/>
                  <a:pt x="965" y="0"/>
                  <a:pt x="965" y="0"/>
                </a:cubicBezTo>
                <a:lnTo>
                  <a:pt x="803" y="0"/>
                </a:lnTo>
                <a:close/>
              </a:path>
            </a:pathLst>
          </a:custGeom>
          <a:solidFill>
            <a:srgbClr val="80B3FF"/>
          </a:solidFill>
          <a:ln w="9525">
            <a:noFill/>
            <a:round/>
            <a:headEnd/>
            <a:tailEnd/>
          </a:ln>
          <a:effectLst>
            <a:reflection blurRad="6350" stA="19000" endPos="53000" dir="5400000" sy="-100000" algn="bl" rotWithShape="0"/>
          </a:effec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r>
              <a:rPr lang="zh-CN" altLang="en-US" sz="2800" b="1" kern="0" dirty="0">
                <a:solidFill>
                  <a:srgbClr val="FFFFFF"/>
                </a:solidFill>
                <a:latin typeface="+mj-ea"/>
              </a:rPr>
              <a:t>自底向上语法分析思想</a:t>
            </a:r>
          </a:p>
        </p:txBody>
      </p:sp>
      <p:sp>
        <p:nvSpPr>
          <p:cNvPr id="6" name="Freeform 6"/>
          <p:cNvSpPr>
            <a:spLocks/>
          </p:cNvSpPr>
          <p:nvPr/>
        </p:nvSpPr>
        <p:spPr bwMode="auto">
          <a:xfrm>
            <a:off x="975061" y="2629972"/>
            <a:ext cx="1073042" cy="714123"/>
          </a:xfrm>
          <a:custGeom>
            <a:avLst/>
            <a:gdLst/>
            <a:ahLst/>
            <a:cxnLst>
              <a:cxn ang="0">
                <a:pos x="211" y="73"/>
              </a:cxn>
              <a:cxn ang="0">
                <a:pos x="192" y="80"/>
              </a:cxn>
              <a:cxn ang="0">
                <a:pos x="189" y="82"/>
              </a:cxn>
              <a:cxn ang="0">
                <a:pos x="180" y="86"/>
              </a:cxn>
              <a:cxn ang="0">
                <a:pos x="172" y="85"/>
              </a:cxn>
              <a:cxn ang="0">
                <a:pos x="172" y="0"/>
              </a:cxn>
              <a:cxn ang="0">
                <a:pos x="0" y="0"/>
              </a:cxn>
              <a:cxn ang="0">
                <a:pos x="0" y="190"/>
              </a:cxn>
              <a:cxn ang="0">
                <a:pos x="172" y="190"/>
              </a:cxn>
              <a:cxn ang="0">
                <a:pos x="172" y="117"/>
              </a:cxn>
              <a:cxn ang="0">
                <a:pos x="179" y="116"/>
              </a:cxn>
              <a:cxn ang="0">
                <a:pos x="190" y="120"/>
              </a:cxn>
              <a:cxn ang="0">
                <a:pos x="211" y="128"/>
              </a:cxn>
              <a:cxn ang="0">
                <a:pos x="241" y="101"/>
              </a:cxn>
              <a:cxn ang="0">
                <a:pos x="211" y="73"/>
              </a:cxn>
            </a:cxnLst>
            <a:rect l="0" t="0" r="r" b="b"/>
            <a:pathLst>
              <a:path w="241" h="190">
                <a:moveTo>
                  <a:pt x="211" y="73"/>
                </a:moveTo>
                <a:cubicBezTo>
                  <a:pt x="204" y="73"/>
                  <a:pt x="197" y="76"/>
                  <a:pt x="192" y="80"/>
                </a:cubicBezTo>
                <a:cubicBezTo>
                  <a:pt x="191" y="81"/>
                  <a:pt x="190" y="82"/>
                  <a:pt x="189" y="82"/>
                </a:cubicBezTo>
                <a:cubicBezTo>
                  <a:pt x="187" y="84"/>
                  <a:pt x="183" y="86"/>
                  <a:pt x="180" y="86"/>
                </a:cubicBezTo>
                <a:cubicBezTo>
                  <a:pt x="176" y="86"/>
                  <a:pt x="174" y="86"/>
                  <a:pt x="172" y="85"/>
                </a:cubicBezTo>
                <a:cubicBezTo>
                  <a:pt x="172" y="0"/>
                  <a:pt x="172" y="0"/>
                  <a:pt x="17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90"/>
                  <a:pt x="0" y="190"/>
                  <a:pt x="0" y="190"/>
                </a:cubicBezTo>
                <a:cubicBezTo>
                  <a:pt x="172" y="190"/>
                  <a:pt x="172" y="190"/>
                  <a:pt x="172" y="190"/>
                </a:cubicBezTo>
                <a:cubicBezTo>
                  <a:pt x="172" y="117"/>
                  <a:pt x="172" y="117"/>
                  <a:pt x="172" y="117"/>
                </a:cubicBezTo>
                <a:cubicBezTo>
                  <a:pt x="175" y="116"/>
                  <a:pt x="176" y="116"/>
                  <a:pt x="179" y="116"/>
                </a:cubicBezTo>
                <a:cubicBezTo>
                  <a:pt x="183" y="116"/>
                  <a:pt x="188" y="118"/>
                  <a:pt x="190" y="120"/>
                </a:cubicBezTo>
                <a:cubicBezTo>
                  <a:pt x="192" y="122"/>
                  <a:pt x="202" y="128"/>
                  <a:pt x="211" y="128"/>
                </a:cubicBezTo>
                <a:cubicBezTo>
                  <a:pt x="228" y="128"/>
                  <a:pt x="241" y="116"/>
                  <a:pt x="241" y="101"/>
                </a:cubicBezTo>
                <a:cubicBezTo>
                  <a:pt x="241" y="86"/>
                  <a:pt x="228" y="73"/>
                  <a:pt x="211" y="73"/>
                </a:cubicBezTo>
                <a:close/>
              </a:path>
            </a:pathLst>
          </a:custGeom>
          <a:solidFill>
            <a:srgbClr val="80B3FF"/>
          </a:solidFill>
          <a:ln w="9525">
            <a:noFill/>
            <a:round/>
            <a:headEnd/>
            <a:tailEnd/>
          </a:ln>
          <a:effectLst>
            <a:reflection blurRad="6350" stA="19000" endPos="53000" dir="5400000" sy="-100000" algn="bl" rotWithShape="0"/>
          </a:effectLst>
        </p:spPr>
        <p:txBody>
          <a:bodyPr vert="horz" wrap="square" lIns="0" tIns="45720" rIns="288000" bIns="45720" numCol="1" anchor="ctr" anchorCtr="1" compatLnSpc="1">
            <a:prstTxWarp prst="textNoShape">
              <a:avLst/>
            </a:prstTxWarp>
          </a:bodyPr>
          <a:lstStyle/>
          <a:p>
            <a:r>
              <a:rPr lang="en-US" sz="32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ru-RU" sz="32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>
            <a:off x="975061" y="3494068"/>
            <a:ext cx="1073042" cy="714123"/>
          </a:xfrm>
          <a:custGeom>
            <a:avLst/>
            <a:gdLst/>
            <a:ahLst/>
            <a:cxnLst>
              <a:cxn ang="0">
                <a:pos x="211" y="73"/>
              </a:cxn>
              <a:cxn ang="0">
                <a:pos x="192" y="80"/>
              </a:cxn>
              <a:cxn ang="0">
                <a:pos x="189" y="82"/>
              </a:cxn>
              <a:cxn ang="0">
                <a:pos x="180" y="86"/>
              </a:cxn>
              <a:cxn ang="0">
                <a:pos x="172" y="85"/>
              </a:cxn>
              <a:cxn ang="0">
                <a:pos x="172" y="0"/>
              </a:cxn>
              <a:cxn ang="0">
                <a:pos x="0" y="0"/>
              </a:cxn>
              <a:cxn ang="0">
                <a:pos x="0" y="190"/>
              </a:cxn>
              <a:cxn ang="0">
                <a:pos x="172" y="190"/>
              </a:cxn>
              <a:cxn ang="0">
                <a:pos x="172" y="117"/>
              </a:cxn>
              <a:cxn ang="0">
                <a:pos x="179" y="116"/>
              </a:cxn>
              <a:cxn ang="0">
                <a:pos x="190" y="120"/>
              </a:cxn>
              <a:cxn ang="0">
                <a:pos x="211" y="128"/>
              </a:cxn>
              <a:cxn ang="0">
                <a:pos x="241" y="101"/>
              </a:cxn>
              <a:cxn ang="0">
                <a:pos x="211" y="73"/>
              </a:cxn>
            </a:cxnLst>
            <a:rect l="0" t="0" r="r" b="b"/>
            <a:pathLst>
              <a:path w="241" h="190">
                <a:moveTo>
                  <a:pt x="211" y="73"/>
                </a:moveTo>
                <a:cubicBezTo>
                  <a:pt x="204" y="73"/>
                  <a:pt x="197" y="76"/>
                  <a:pt x="192" y="80"/>
                </a:cubicBezTo>
                <a:cubicBezTo>
                  <a:pt x="191" y="81"/>
                  <a:pt x="190" y="82"/>
                  <a:pt x="189" y="82"/>
                </a:cubicBezTo>
                <a:cubicBezTo>
                  <a:pt x="187" y="84"/>
                  <a:pt x="183" y="86"/>
                  <a:pt x="180" y="86"/>
                </a:cubicBezTo>
                <a:cubicBezTo>
                  <a:pt x="176" y="86"/>
                  <a:pt x="174" y="86"/>
                  <a:pt x="172" y="85"/>
                </a:cubicBezTo>
                <a:cubicBezTo>
                  <a:pt x="172" y="0"/>
                  <a:pt x="172" y="0"/>
                  <a:pt x="17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90"/>
                  <a:pt x="0" y="190"/>
                  <a:pt x="0" y="190"/>
                </a:cubicBezTo>
                <a:cubicBezTo>
                  <a:pt x="172" y="190"/>
                  <a:pt x="172" y="190"/>
                  <a:pt x="172" y="190"/>
                </a:cubicBezTo>
                <a:cubicBezTo>
                  <a:pt x="172" y="117"/>
                  <a:pt x="172" y="117"/>
                  <a:pt x="172" y="117"/>
                </a:cubicBezTo>
                <a:cubicBezTo>
                  <a:pt x="175" y="116"/>
                  <a:pt x="176" y="116"/>
                  <a:pt x="179" y="116"/>
                </a:cubicBezTo>
                <a:cubicBezTo>
                  <a:pt x="183" y="116"/>
                  <a:pt x="188" y="118"/>
                  <a:pt x="190" y="120"/>
                </a:cubicBezTo>
                <a:cubicBezTo>
                  <a:pt x="192" y="122"/>
                  <a:pt x="202" y="128"/>
                  <a:pt x="211" y="128"/>
                </a:cubicBezTo>
                <a:cubicBezTo>
                  <a:pt x="228" y="128"/>
                  <a:pt x="241" y="116"/>
                  <a:pt x="241" y="101"/>
                </a:cubicBezTo>
                <a:cubicBezTo>
                  <a:pt x="241" y="86"/>
                  <a:pt x="228" y="73"/>
                  <a:pt x="211" y="73"/>
                </a:cubicBezTo>
                <a:close/>
              </a:path>
            </a:pathLst>
          </a:custGeom>
          <a:solidFill>
            <a:srgbClr val="80B3FF"/>
          </a:solidFill>
          <a:ln w="9525">
            <a:noFill/>
            <a:round/>
            <a:headEnd/>
            <a:tailEnd/>
          </a:ln>
          <a:effectLst>
            <a:reflection blurRad="6350" stA="19000" endPos="53000" dir="5400000" sy="-100000" algn="bl" rotWithShape="0"/>
          </a:effectLst>
        </p:spPr>
        <p:txBody>
          <a:bodyPr vert="horz" wrap="square" lIns="0" tIns="45720" rIns="288000" bIns="45720" numCol="1" anchor="ctr" anchorCtr="1" compatLnSpc="1">
            <a:prstTxWarp prst="textNoShape">
              <a:avLst/>
            </a:prstTxWarp>
          </a:bodyPr>
          <a:lstStyle/>
          <a:p>
            <a:r>
              <a:rPr lang="en-US" sz="32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ru-RU" sz="32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2314041" y="2629971"/>
            <a:ext cx="5498327" cy="714123"/>
          </a:xfrm>
          <a:custGeom>
            <a:avLst/>
            <a:gdLst/>
            <a:ahLst/>
            <a:cxnLst>
              <a:cxn ang="0">
                <a:pos x="803" y="0"/>
              </a:cxn>
              <a:cxn ang="0">
                <a:pos x="792" y="0"/>
              </a:cxn>
              <a:cxn ang="0">
                <a:pos x="644" y="0"/>
              </a:cxn>
              <a:cxn ang="0">
                <a:pos x="634" y="0"/>
              </a:cxn>
              <a:cxn ang="0">
                <a:pos x="494" y="0"/>
              </a:cxn>
              <a:cxn ang="0">
                <a:pos x="476" y="0"/>
              </a:cxn>
              <a:cxn ang="0">
                <a:pos x="331" y="0"/>
              </a:cxn>
              <a:cxn ang="0">
                <a:pos x="325" y="0"/>
              </a:cxn>
              <a:cxn ang="0">
                <a:pos x="169" y="0"/>
              </a:cxn>
              <a:cxn ang="0">
                <a:pos x="163" y="0"/>
              </a:cxn>
              <a:cxn ang="0">
                <a:pos x="0" y="0"/>
              </a:cxn>
              <a:cxn ang="0">
                <a:pos x="0" y="82"/>
              </a:cxn>
              <a:cxn ang="0">
                <a:pos x="6" y="79"/>
              </a:cxn>
              <a:cxn ang="0">
                <a:pos x="9" y="77"/>
              </a:cxn>
              <a:cxn ang="0">
                <a:pos x="31" y="69"/>
              </a:cxn>
              <a:cxn ang="0">
                <a:pos x="65" y="101"/>
              </a:cxn>
              <a:cxn ang="0">
                <a:pos x="31" y="133"/>
              </a:cxn>
              <a:cxn ang="0">
                <a:pos x="7" y="123"/>
              </a:cxn>
              <a:cxn ang="0">
                <a:pos x="0" y="120"/>
              </a:cxn>
              <a:cxn ang="0">
                <a:pos x="0" y="190"/>
              </a:cxn>
              <a:cxn ang="0">
                <a:pos x="163" y="190"/>
              </a:cxn>
              <a:cxn ang="0">
                <a:pos x="169" y="190"/>
              </a:cxn>
              <a:cxn ang="0">
                <a:pos x="325" y="190"/>
              </a:cxn>
              <a:cxn ang="0">
                <a:pos x="331" y="190"/>
              </a:cxn>
              <a:cxn ang="0">
                <a:pos x="476" y="190"/>
              </a:cxn>
              <a:cxn ang="0">
                <a:pos x="494" y="190"/>
              </a:cxn>
              <a:cxn ang="0">
                <a:pos x="634" y="190"/>
              </a:cxn>
              <a:cxn ang="0">
                <a:pos x="644" y="190"/>
              </a:cxn>
              <a:cxn ang="0">
                <a:pos x="792" y="190"/>
              </a:cxn>
              <a:cxn ang="0">
                <a:pos x="803" y="190"/>
              </a:cxn>
              <a:cxn ang="0">
                <a:pos x="965" y="190"/>
              </a:cxn>
              <a:cxn ang="0">
                <a:pos x="965" y="0"/>
              </a:cxn>
              <a:cxn ang="0">
                <a:pos x="803" y="0"/>
              </a:cxn>
            </a:cxnLst>
            <a:rect l="0" t="0" r="r" b="b"/>
            <a:pathLst>
              <a:path w="965" h="190">
                <a:moveTo>
                  <a:pt x="803" y="0"/>
                </a:moveTo>
                <a:cubicBezTo>
                  <a:pt x="792" y="0"/>
                  <a:pt x="792" y="0"/>
                  <a:pt x="792" y="0"/>
                </a:cubicBezTo>
                <a:cubicBezTo>
                  <a:pt x="644" y="0"/>
                  <a:pt x="644" y="0"/>
                  <a:pt x="644" y="0"/>
                </a:cubicBezTo>
                <a:cubicBezTo>
                  <a:pt x="634" y="0"/>
                  <a:pt x="634" y="0"/>
                  <a:pt x="634" y="0"/>
                </a:cubicBezTo>
                <a:cubicBezTo>
                  <a:pt x="494" y="0"/>
                  <a:pt x="494" y="0"/>
                  <a:pt x="494" y="0"/>
                </a:cubicBezTo>
                <a:cubicBezTo>
                  <a:pt x="476" y="0"/>
                  <a:pt x="476" y="0"/>
                  <a:pt x="476" y="0"/>
                </a:cubicBezTo>
                <a:cubicBezTo>
                  <a:pt x="331" y="0"/>
                  <a:pt x="331" y="0"/>
                  <a:pt x="331" y="0"/>
                </a:cubicBezTo>
                <a:cubicBezTo>
                  <a:pt x="325" y="0"/>
                  <a:pt x="325" y="0"/>
                  <a:pt x="325" y="0"/>
                </a:cubicBezTo>
                <a:cubicBezTo>
                  <a:pt x="169" y="0"/>
                  <a:pt x="169" y="0"/>
                  <a:pt x="169" y="0"/>
                </a:cubicBezTo>
                <a:cubicBezTo>
                  <a:pt x="163" y="0"/>
                  <a:pt x="163" y="0"/>
                  <a:pt x="16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2"/>
                  <a:pt x="0" y="82"/>
                  <a:pt x="0" y="82"/>
                </a:cubicBezTo>
                <a:cubicBezTo>
                  <a:pt x="2" y="81"/>
                  <a:pt x="4" y="81"/>
                  <a:pt x="6" y="79"/>
                </a:cubicBezTo>
                <a:cubicBezTo>
                  <a:pt x="7" y="78"/>
                  <a:pt x="8" y="78"/>
                  <a:pt x="9" y="77"/>
                </a:cubicBezTo>
                <a:cubicBezTo>
                  <a:pt x="15" y="72"/>
                  <a:pt x="22" y="69"/>
                  <a:pt x="31" y="69"/>
                </a:cubicBezTo>
                <a:cubicBezTo>
                  <a:pt x="50" y="69"/>
                  <a:pt x="65" y="83"/>
                  <a:pt x="65" y="101"/>
                </a:cubicBezTo>
                <a:cubicBezTo>
                  <a:pt x="65" y="118"/>
                  <a:pt x="50" y="133"/>
                  <a:pt x="31" y="133"/>
                </a:cubicBezTo>
                <a:cubicBezTo>
                  <a:pt x="21" y="133"/>
                  <a:pt x="9" y="125"/>
                  <a:pt x="7" y="123"/>
                </a:cubicBezTo>
                <a:cubicBezTo>
                  <a:pt x="5" y="122"/>
                  <a:pt x="3" y="121"/>
                  <a:pt x="0" y="120"/>
                </a:cubicBezTo>
                <a:cubicBezTo>
                  <a:pt x="0" y="190"/>
                  <a:pt x="0" y="190"/>
                  <a:pt x="0" y="190"/>
                </a:cubicBezTo>
                <a:cubicBezTo>
                  <a:pt x="163" y="190"/>
                  <a:pt x="163" y="190"/>
                  <a:pt x="163" y="190"/>
                </a:cubicBezTo>
                <a:cubicBezTo>
                  <a:pt x="169" y="190"/>
                  <a:pt x="169" y="190"/>
                  <a:pt x="169" y="190"/>
                </a:cubicBezTo>
                <a:cubicBezTo>
                  <a:pt x="325" y="190"/>
                  <a:pt x="325" y="190"/>
                  <a:pt x="325" y="190"/>
                </a:cubicBezTo>
                <a:cubicBezTo>
                  <a:pt x="331" y="190"/>
                  <a:pt x="331" y="190"/>
                  <a:pt x="331" y="190"/>
                </a:cubicBezTo>
                <a:cubicBezTo>
                  <a:pt x="476" y="190"/>
                  <a:pt x="476" y="190"/>
                  <a:pt x="476" y="190"/>
                </a:cubicBezTo>
                <a:cubicBezTo>
                  <a:pt x="494" y="190"/>
                  <a:pt x="494" y="190"/>
                  <a:pt x="494" y="190"/>
                </a:cubicBezTo>
                <a:cubicBezTo>
                  <a:pt x="634" y="190"/>
                  <a:pt x="634" y="190"/>
                  <a:pt x="634" y="190"/>
                </a:cubicBezTo>
                <a:cubicBezTo>
                  <a:pt x="644" y="190"/>
                  <a:pt x="644" y="190"/>
                  <a:pt x="644" y="190"/>
                </a:cubicBezTo>
                <a:cubicBezTo>
                  <a:pt x="792" y="190"/>
                  <a:pt x="792" y="190"/>
                  <a:pt x="792" y="190"/>
                </a:cubicBezTo>
                <a:cubicBezTo>
                  <a:pt x="803" y="190"/>
                  <a:pt x="803" y="190"/>
                  <a:pt x="803" y="190"/>
                </a:cubicBezTo>
                <a:cubicBezTo>
                  <a:pt x="965" y="190"/>
                  <a:pt x="965" y="190"/>
                  <a:pt x="965" y="190"/>
                </a:cubicBezTo>
                <a:cubicBezTo>
                  <a:pt x="965" y="0"/>
                  <a:pt x="965" y="0"/>
                  <a:pt x="965" y="0"/>
                </a:cubicBezTo>
                <a:lnTo>
                  <a:pt x="803" y="0"/>
                </a:lnTo>
                <a:close/>
              </a:path>
            </a:pathLst>
          </a:custGeom>
          <a:solidFill>
            <a:srgbClr val="80B3FF"/>
          </a:solidFill>
          <a:ln w="9525">
            <a:noFill/>
            <a:round/>
            <a:headEnd/>
            <a:tailEnd/>
          </a:ln>
          <a:effectLst>
            <a:reflection blurRad="6350" stA="19000" endPos="53000" dir="5400000" sy="-100000" algn="bl" rotWithShape="0"/>
          </a:effec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r>
              <a:rPr lang="zh-CN" altLang="en-US" sz="2800" b="1" kern="0" dirty="0">
                <a:solidFill>
                  <a:srgbClr val="FFFFFF"/>
                </a:solidFill>
                <a:latin typeface="+mj-ea"/>
              </a:rPr>
              <a:t>移进</a:t>
            </a:r>
            <a:r>
              <a:rPr lang="en-US" altLang="zh-CN" sz="2800" b="1" kern="0" dirty="0">
                <a:solidFill>
                  <a:srgbClr val="FFFFFF"/>
                </a:solidFill>
                <a:latin typeface="+mj-ea"/>
              </a:rPr>
              <a:t>-</a:t>
            </a:r>
            <a:r>
              <a:rPr lang="zh-CN" altLang="en-US" sz="2800" b="1" kern="0" dirty="0">
                <a:solidFill>
                  <a:srgbClr val="FFFFFF"/>
                </a:solidFill>
                <a:latin typeface="+mj-ea"/>
              </a:rPr>
              <a:t>规约</a:t>
            </a:r>
          </a:p>
        </p:txBody>
      </p:sp>
      <p:sp>
        <p:nvSpPr>
          <p:cNvPr id="9" name="Freeform 6"/>
          <p:cNvSpPr>
            <a:spLocks/>
          </p:cNvSpPr>
          <p:nvPr/>
        </p:nvSpPr>
        <p:spPr bwMode="auto">
          <a:xfrm>
            <a:off x="975061" y="4358164"/>
            <a:ext cx="1073042" cy="714123"/>
          </a:xfrm>
          <a:custGeom>
            <a:avLst/>
            <a:gdLst/>
            <a:ahLst/>
            <a:cxnLst>
              <a:cxn ang="0">
                <a:pos x="211" y="73"/>
              </a:cxn>
              <a:cxn ang="0">
                <a:pos x="192" y="80"/>
              </a:cxn>
              <a:cxn ang="0">
                <a:pos x="189" y="82"/>
              </a:cxn>
              <a:cxn ang="0">
                <a:pos x="180" y="86"/>
              </a:cxn>
              <a:cxn ang="0">
                <a:pos x="172" y="85"/>
              </a:cxn>
              <a:cxn ang="0">
                <a:pos x="172" y="0"/>
              </a:cxn>
              <a:cxn ang="0">
                <a:pos x="0" y="0"/>
              </a:cxn>
              <a:cxn ang="0">
                <a:pos x="0" y="190"/>
              </a:cxn>
              <a:cxn ang="0">
                <a:pos x="172" y="190"/>
              </a:cxn>
              <a:cxn ang="0">
                <a:pos x="172" y="117"/>
              </a:cxn>
              <a:cxn ang="0">
                <a:pos x="179" y="116"/>
              </a:cxn>
              <a:cxn ang="0">
                <a:pos x="190" y="120"/>
              </a:cxn>
              <a:cxn ang="0">
                <a:pos x="211" y="128"/>
              </a:cxn>
              <a:cxn ang="0">
                <a:pos x="241" y="101"/>
              </a:cxn>
              <a:cxn ang="0">
                <a:pos x="211" y="73"/>
              </a:cxn>
            </a:cxnLst>
            <a:rect l="0" t="0" r="r" b="b"/>
            <a:pathLst>
              <a:path w="241" h="190">
                <a:moveTo>
                  <a:pt x="211" y="73"/>
                </a:moveTo>
                <a:cubicBezTo>
                  <a:pt x="204" y="73"/>
                  <a:pt x="197" y="76"/>
                  <a:pt x="192" y="80"/>
                </a:cubicBezTo>
                <a:cubicBezTo>
                  <a:pt x="191" y="81"/>
                  <a:pt x="190" y="82"/>
                  <a:pt x="189" y="82"/>
                </a:cubicBezTo>
                <a:cubicBezTo>
                  <a:pt x="187" y="84"/>
                  <a:pt x="183" y="86"/>
                  <a:pt x="180" y="86"/>
                </a:cubicBezTo>
                <a:cubicBezTo>
                  <a:pt x="176" y="86"/>
                  <a:pt x="174" y="86"/>
                  <a:pt x="172" y="85"/>
                </a:cubicBezTo>
                <a:cubicBezTo>
                  <a:pt x="172" y="0"/>
                  <a:pt x="172" y="0"/>
                  <a:pt x="17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90"/>
                  <a:pt x="0" y="190"/>
                  <a:pt x="0" y="190"/>
                </a:cubicBezTo>
                <a:cubicBezTo>
                  <a:pt x="172" y="190"/>
                  <a:pt x="172" y="190"/>
                  <a:pt x="172" y="190"/>
                </a:cubicBezTo>
                <a:cubicBezTo>
                  <a:pt x="172" y="117"/>
                  <a:pt x="172" y="117"/>
                  <a:pt x="172" y="117"/>
                </a:cubicBezTo>
                <a:cubicBezTo>
                  <a:pt x="175" y="116"/>
                  <a:pt x="176" y="116"/>
                  <a:pt x="179" y="116"/>
                </a:cubicBezTo>
                <a:cubicBezTo>
                  <a:pt x="183" y="116"/>
                  <a:pt x="188" y="118"/>
                  <a:pt x="190" y="120"/>
                </a:cubicBezTo>
                <a:cubicBezTo>
                  <a:pt x="192" y="122"/>
                  <a:pt x="202" y="128"/>
                  <a:pt x="211" y="128"/>
                </a:cubicBezTo>
                <a:cubicBezTo>
                  <a:pt x="228" y="128"/>
                  <a:pt x="241" y="116"/>
                  <a:pt x="241" y="101"/>
                </a:cubicBezTo>
                <a:cubicBezTo>
                  <a:pt x="241" y="86"/>
                  <a:pt x="228" y="73"/>
                  <a:pt x="211" y="73"/>
                </a:cubicBezTo>
                <a:close/>
              </a:path>
            </a:pathLst>
          </a:custGeom>
          <a:solidFill>
            <a:srgbClr val="0066FF"/>
          </a:solidFill>
          <a:ln w="9525">
            <a:noFill/>
            <a:round/>
            <a:headEnd/>
            <a:tailEnd/>
          </a:ln>
          <a:effectLst>
            <a:reflection blurRad="6350" stA="19000" endPos="53000" dir="5400000" sy="-100000" algn="bl" rotWithShape="0"/>
          </a:effectLst>
        </p:spPr>
        <p:txBody>
          <a:bodyPr vert="horz" wrap="square" lIns="0" tIns="45720" rIns="288000" bIns="45720" numCol="1" anchor="ctr" anchorCtr="1" compatLnSpc="1">
            <a:prstTxWarp prst="textNoShape">
              <a:avLst/>
            </a:prstTxWarp>
          </a:bodyPr>
          <a:lstStyle/>
          <a:p>
            <a:r>
              <a:rPr lang="en-US" sz="32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ru-RU" sz="32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Freeform 7"/>
          <p:cNvSpPr>
            <a:spLocks/>
          </p:cNvSpPr>
          <p:nvPr/>
        </p:nvSpPr>
        <p:spPr bwMode="auto">
          <a:xfrm>
            <a:off x="2314041" y="3494067"/>
            <a:ext cx="5498327" cy="714123"/>
          </a:xfrm>
          <a:custGeom>
            <a:avLst/>
            <a:gdLst/>
            <a:ahLst/>
            <a:cxnLst>
              <a:cxn ang="0">
                <a:pos x="803" y="0"/>
              </a:cxn>
              <a:cxn ang="0">
                <a:pos x="792" y="0"/>
              </a:cxn>
              <a:cxn ang="0">
                <a:pos x="644" y="0"/>
              </a:cxn>
              <a:cxn ang="0">
                <a:pos x="634" y="0"/>
              </a:cxn>
              <a:cxn ang="0">
                <a:pos x="494" y="0"/>
              </a:cxn>
              <a:cxn ang="0">
                <a:pos x="476" y="0"/>
              </a:cxn>
              <a:cxn ang="0">
                <a:pos x="331" y="0"/>
              </a:cxn>
              <a:cxn ang="0">
                <a:pos x="325" y="0"/>
              </a:cxn>
              <a:cxn ang="0">
                <a:pos x="169" y="0"/>
              </a:cxn>
              <a:cxn ang="0">
                <a:pos x="163" y="0"/>
              </a:cxn>
              <a:cxn ang="0">
                <a:pos x="0" y="0"/>
              </a:cxn>
              <a:cxn ang="0">
                <a:pos x="0" y="82"/>
              </a:cxn>
              <a:cxn ang="0">
                <a:pos x="6" y="79"/>
              </a:cxn>
              <a:cxn ang="0">
                <a:pos x="9" y="77"/>
              </a:cxn>
              <a:cxn ang="0">
                <a:pos x="31" y="69"/>
              </a:cxn>
              <a:cxn ang="0">
                <a:pos x="65" y="101"/>
              </a:cxn>
              <a:cxn ang="0">
                <a:pos x="31" y="133"/>
              </a:cxn>
              <a:cxn ang="0">
                <a:pos x="7" y="123"/>
              </a:cxn>
              <a:cxn ang="0">
                <a:pos x="0" y="120"/>
              </a:cxn>
              <a:cxn ang="0">
                <a:pos x="0" y="190"/>
              </a:cxn>
              <a:cxn ang="0">
                <a:pos x="163" y="190"/>
              </a:cxn>
              <a:cxn ang="0">
                <a:pos x="169" y="190"/>
              </a:cxn>
              <a:cxn ang="0">
                <a:pos x="325" y="190"/>
              </a:cxn>
              <a:cxn ang="0">
                <a:pos x="331" y="190"/>
              </a:cxn>
              <a:cxn ang="0">
                <a:pos x="476" y="190"/>
              </a:cxn>
              <a:cxn ang="0">
                <a:pos x="494" y="190"/>
              </a:cxn>
              <a:cxn ang="0">
                <a:pos x="634" y="190"/>
              </a:cxn>
              <a:cxn ang="0">
                <a:pos x="644" y="190"/>
              </a:cxn>
              <a:cxn ang="0">
                <a:pos x="792" y="190"/>
              </a:cxn>
              <a:cxn ang="0">
                <a:pos x="803" y="190"/>
              </a:cxn>
              <a:cxn ang="0">
                <a:pos x="965" y="190"/>
              </a:cxn>
              <a:cxn ang="0">
                <a:pos x="965" y="0"/>
              </a:cxn>
              <a:cxn ang="0">
                <a:pos x="803" y="0"/>
              </a:cxn>
            </a:cxnLst>
            <a:rect l="0" t="0" r="r" b="b"/>
            <a:pathLst>
              <a:path w="965" h="190">
                <a:moveTo>
                  <a:pt x="803" y="0"/>
                </a:moveTo>
                <a:cubicBezTo>
                  <a:pt x="792" y="0"/>
                  <a:pt x="792" y="0"/>
                  <a:pt x="792" y="0"/>
                </a:cubicBezTo>
                <a:cubicBezTo>
                  <a:pt x="644" y="0"/>
                  <a:pt x="644" y="0"/>
                  <a:pt x="644" y="0"/>
                </a:cubicBezTo>
                <a:cubicBezTo>
                  <a:pt x="634" y="0"/>
                  <a:pt x="634" y="0"/>
                  <a:pt x="634" y="0"/>
                </a:cubicBezTo>
                <a:cubicBezTo>
                  <a:pt x="494" y="0"/>
                  <a:pt x="494" y="0"/>
                  <a:pt x="494" y="0"/>
                </a:cubicBezTo>
                <a:cubicBezTo>
                  <a:pt x="476" y="0"/>
                  <a:pt x="476" y="0"/>
                  <a:pt x="476" y="0"/>
                </a:cubicBezTo>
                <a:cubicBezTo>
                  <a:pt x="331" y="0"/>
                  <a:pt x="331" y="0"/>
                  <a:pt x="331" y="0"/>
                </a:cubicBezTo>
                <a:cubicBezTo>
                  <a:pt x="325" y="0"/>
                  <a:pt x="325" y="0"/>
                  <a:pt x="325" y="0"/>
                </a:cubicBezTo>
                <a:cubicBezTo>
                  <a:pt x="169" y="0"/>
                  <a:pt x="169" y="0"/>
                  <a:pt x="169" y="0"/>
                </a:cubicBezTo>
                <a:cubicBezTo>
                  <a:pt x="163" y="0"/>
                  <a:pt x="163" y="0"/>
                  <a:pt x="16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2"/>
                  <a:pt x="0" y="82"/>
                  <a:pt x="0" y="82"/>
                </a:cubicBezTo>
                <a:cubicBezTo>
                  <a:pt x="2" y="81"/>
                  <a:pt x="4" y="81"/>
                  <a:pt x="6" y="79"/>
                </a:cubicBezTo>
                <a:cubicBezTo>
                  <a:pt x="7" y="78"/>
                  <a:pt x="8" y="78"/>
                  <a:pt x="9" y="77"/>
                </a:cubicBezTo>
                <a:cubicBezTo>
                  <a:pt x="15" y="72"/>
                  <a:pt x="22" y="69"/>
                  <a:pt x="31" y="69"/>
                </a:cubicBezTo>
                <a:cubicBezTo>
                  <a:pt x="50" y="69"/>
                  <a:pt x="65" y="83"/>
                  <a:pt x="65" y="101"/>
                </a:cubicBezTo>
                <a:cubicBezTo>
                  <a:pt x="65" y="118"/>
                  <a:pt x="50" y="133"/>
                  <a:pt x="31" y="133"/>
                </a:cubicBezTo>
                <a:cubicBezTo>
                  <a:pt x="21" y="133"/>
                  <a:pt x="9" y="125"/>
                  <a:pt x="7" y="123"/>
                </a:cubicBezTo>
                <a:cubicBezTo>
                  <a:pt x="5" y="122"/>
                  <a:pt x="3" y="121"/>
                  <a:pt x="0" y="120"/>
                </a:cubicBezTo>
                <a:cubicBezTo>
                  <a:pt x="0" y="190"/>
                  <a:pt x="0" y="190"/>
                  <a:pt x="0" y="190"/>
                </a:cubicBezTo>
                <a:cubicBezTo>
                  <a:pt x="163" y="190"/>
                  <a:pt x="163" y="190"/>
                  <a:pt x="163" y="190"/>
                </a:cubicBezTo>
                <a:cubicBezTo>
                  <a:pt x="169" y="190"/>
                  <a:pt x="169" y="190"/>
                  <a:pt x="169" y="190"/>
                </a:cubicBezTo>
                <a:cubicBezTo>
                  <a:pt x="325" y="190"/>
                  <a:pt x="325" y="190"/>
                  <a:pt x="325" y="190"/>
                </a:cubicBezTo>
                <a:cubicBezTo>
                  <a:pt x="331" y="190"/>
                  <a:pt x="331" y="190"/>
                  <a:pt x="331" y="190"/>
                </a:cubicBezTo>
                <a:cubicBezTo>
                  <a:pt x="476" y="190"/>
                  <a:pt x="476" y="190"/>
                  <a:pt x="476" y="190"/>
                </a:cubicBezTo>
                <a:cubicBezTo>
                  <a:pt x="494" y="190"/>
                  <a:pt x="494" y="190"/>
                  <a:pt x="494" y="190"/>
                </a:cubicBezTo>
                <a:cubicBezTo>
                  <a:pt x="634" y="190"/>
                  <a:pt x="634" y="190"/>
                  <a:pt x="634" y="190"/>
                </a:cubicBezTo>
                <a:cubicBezTo>
                  <a:pt x="644" y="190"/>
                  <a:pt x="644" y="190"/>
                  <a:pt x="644" y="190"/>
                </a:cubicBezTo>
                <a:cubicBezTo>
                  <a:pt x="792" y="190"/>
                  <a:pt x="792" y="190"/>
                  <a:pt x="792" y="190"/>
                </a:cubicBezTo>
                <a:cubicBezTo>
                  <a:pt x="803" y="190"/>
                  <a:pt x="803" y="190"/>
                  <a:pt x="803" y="190"/>
                </a:cubicBezTo>
                <a:cubicBezTo>
                  <a:pt x="965" y="190"/>
                  <a:pt x="965" y="190"/>
                  <a:pt x="965" y="190"/>
                </a:cubicBezTo>
                <a:cubicBezTo>
                  <a:pt x="965" y="0"/>
                  <a:pt x="965" y="0"/>
                  <a:pt x="965" y="0"/>
                </a:cubicBezTo>
                <a:lnTo>
                  <a:pt x="803" y="0"/>
                </a:lnTo>
                <a:close/>
              </a:path>
            </a:pathLst>
          </a:custGeom>
          <a:solidFill>
            <a:srgbClr val="80B3FF"/>
          </a:solidFill>
          <a:ln w="9525">
            <a:noFill/>
            <a:round/>
            <a:headEnd/>
            <a:tailEnd/>
          </a:ln>
          <a:effectLst>
            <a:reflection blurRad="6350" stA="19000" endPos="53000" dir="5400000" sy="-100000" algn="bl" rotWithShape="0"/>
          </a:effec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r>
              <a:rPr lang="zh-CN" altLang="en-US" sz="2800" b="1" kern="0" dirty="0">
                <a:solidFill>
                  <a:srgbClr val="FFFFFF"/>
                </a:solidFill>
                <a:latin typeface="+mj-ea"/>
              </a:rPr>
              <a:t>简单优先分析法</a:t>
            </a:r>
          </a:p>
        </p:txBody>
      </p:sp>
      <p:sp>
        <p:nvSpPr>
          <p:cNvPr id="12" name="Freeform 7"/>
          <p:cNvSpPr>
            <a:spLocks/>
          </p:cNvSpPr>
          <p:nvPr/>
        </p:nvSpPr>
        <p:spPr bwMode="auto">
          <a:xfrm>
            <a:off x="2314041" y="4358163"/>
            <a:ext cx="5498327" cy="714123"/>
          </a:xfrm>
          <a:custGeom>
            <a:avLst/>
            <a:gdLst/>
            <a:ahLst/>
            <a:cxnLst>
              <a:cxn ang="0">
                <a:pos x="803" y="0"/>
              </a:cxn>
              <a:cxn ang="0">
                <a:pos x="792" y="0"/>
              </a:cxn>
              <a:cxn ang="0">
                <a:pos x="644" y="0"/>
              </a:cxn>
              <a:cxn ang="0">
                <a:pos x="634" y="0"/>
              </a:cxn>
              <a:cxn ang="0">
                <a:pos x="494" y="0"/>
              </a:cxn>
              <a:cxn ang="0">
                <a:pos x="476" y="0"/>
              </a:cxn>
              <a:cxn ang="0">
                <a:pos x="331" y="0"/>
              </a:cxn>
              <a:cxn ang="0">
                <a:pos x="325" y="0"/>
              </a:cxn>
              <a:cxn ang="0">
                <a:pos x="169" y="0"/>
              </a:cxn>
              <a:cxn ang="0">
                <a:pos x="163" y="0"/>
              </a:cxn>
              <a:cxn ang="0">
                <a:pos x="0" y="0"/>
              </a:cxn>
              <a:cxn ang="0">
                <a:pos x="0" y="82"/>
              </a:cxn>
              <a:cxn ang="0">
                <a:pos x="6" y="79"/>
              </a:cxn>
              <a:cxn ang="0">
                <a:pos x="9" y="77"/>
              </a:cxn>
              <a:cxn ang="0">
                <a:pos x="31" y="69"/>
              </a:cxn>
              <a:cxn ang="0">
                <a:pos x="65" y="101"/>
              </a:cxn>
              <a:cxn ang="0">
                <a:pos x="31" y="133"/>
              </a:cxn>
              <a:cxn ang="0">
                <a:pos x="7" y="123"/>
              </a:cxn>
              <a:cxn ang="0">
                <a:pos x="0" y="120"/>
              </a:cxn>
              <a:cxn ang="0">
                <a:pos x="0" y="190"/>
              </a:cxn>
              <a:cxn ang="0">
                <a:pos x="163" y="190"/>
              </a:cxn>
              <a:cxn ang="0">
                <a:pos x="169" y="190"/>
              </a:cxn>
              <a:cxn ang="0">
                <a:pos x="325" y="190"/>
              </a:cxn>
              <a:cxn ang="0">
                <a:pos x="331" y="190"/>
              </a:cxn>
              <a:cxn ang="0">
                <a:pos x="476" y="190"/>
              </a:cxn>
              <a:cxn ang="0">
                <a:pos x="494" y="190"/>
              </a:cxn>
              <a:cxn ang="0">
                <a:pos x="634" y="190"/>
              </a:cxn>
              <a:cxn ang="0">
                <a:pos x="644" y="190"/>
              </a:cxn>
              <a:cxn ang="0">
                <a:pos x="792" y="190"/>
              </a:cxn>
              <a:cxn ang="0">
                <a:pos x="803" y="190"/>
              </a:cxn>
              <a:cxn ang="0">
                <a:pos x="965" y="190"/>
              </a:cxn>
              <a:cxn ang="0">
                <a:pos x="965" y="0"/>
              </a:cxn>
              <a:cxn ang="0">
                <a:pos x="803" y="0"/>
              </a:cxn>
            </a:cxnLst>
            <a:rect l="0" t="0" r="r" b="b"/>
            <a:pathLst>
              <a:path w="965" h="190">
                <a:moveTo>
                  <a:pt x="803" y="0"/>
                </a:moveTo>
                <a:cubicBezTo>
                  <a:pt x="792" y="0"/>
                  <a:pt x="792" y="0"/>
                  <a:pt x="792" y="0"/>
                </a:cubicBezTo>
                <a:cubicBezTo>
                  <a:pt x="644" y="0"/>
                  <a:pt x="644" y="0"/>
                  <a:pt x="644" y="0"/>
                </a:cubicBezTo>
                <a:cubicBezTo>
                  <a:pt x="634" y="0"/>
                  <a:pt x="634" y="0"/>
                  <a:pt x="634" y="0"/>
                </a:cubicBezTo>
                <a:cubicBezTo>
                  <a:pt x="494" y="0"/>
                  <a:pt x="494" y="0"/>
                  <a:pt x="494" y="0"/>
                </a:cubicBezTo>
                <a:cubicBezTo>
                  <a:pt x="476" y="0"/>
                  <a:pt x="476" y="0"/>
                  <a:pt x="476" y="0"/>
                </a:cubicBezTo>
                <a:cubicBezTo>
                  <a:pt x="331" y="0"/>
                  <a:pt x="331" y="0"/>
                  <a:pt x="331" y="0"/>
                </a:cubicBezTo>
                <a:cubicBezTo>
                  <a:pt x="325" y="0"/>
                  <a:pt x="325" y="0"/>
                  <a:pt x="325" y="0"/>
                </a:cubicBezTo>
                <a:cubicBezTo>
                  <a:pt x="169" y="0"/>
                  <a:pt x="169" y="0"/>
                  <a:pt x="169" y="0"/>
                </a:cubicBezTo>
                <a:cubicBezTo>
                  <a:pt x="163" y="0"/>
                  <a:pt x="163" y="0"/>
                  <a:pt x="16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2"/>
                  <a:pt x="0" y="82"/>
                  <a:pt x="0" y="82"/>
                </a:cubicBezTo>
                <a:cubicBezTo>
                  <a:pt x="2" y="81"/>
                  <a:pt x="4" y="81"/>
                  <a:pt x="6" y="79"/>
                </a:cubicBezTo>
                <a:cubicBezTo>
                  <a:pt x="7" y="78"/>
                  <a:pt x="8" y="78"/>
                  <a:pt x="9" y="77"/>
                </a:cubicBezTo>
                <a:cubicBezTo>
                  <a:pt x="15" y="72"/>
                  <a:pt x="22" y="69"/>
                  <a:pt x="31" y="69"/>
                </a:cubicBezTo>
                <a:cubicBezTo>
                  <a:pt x="50" y="69"/>
                  <a:pt x="65" y="83"/>
                  <a:pt x="65" y="101"/>
                </a:cubicBezTo>
                <a:cubicBezTo>
                  <a:pt x="65" y="118"/>
                  <a:pt x="50" y="133"/>
                  <a:pt x="31" y="133"/>
                </a:cubicBezTo>
                <a:cubicBezTo>
                  <a:pt x="21" y="133"/>
                  <a:pt x="9" y="125"/>
                  <a:pt x="7" y="123"/>
                </a:cubicBezTo>
                <a:cubicBezTo>
                  <a:pt x="5" y="122"/>
                  <a:pt x="3" y="121"/>
                  <a:pt x="0" y="120"/>
                </a:cubicBezTo>
                <a:cubicBezTo>
                  <a:pt x="0" y="190"/>
                  <a:pt x="0" y="190"/>
                  <a:pt x="0" y="190"/>
                </a:cubicBezTo>
                <a:cubicBezTo>
                  <a:pt x="163" y="190"/>
                  <a:pt x="163" y="190"/>
                  <a:pt x="163" y="190"/>
                </a:cubicBezTo>
                <a:cubicBezTo>
                  <a:pt x="169" y="190"/>
                  <a:pt x="169" y="190"/>
                  <a:pt x="169" y="190"/>
                </a:cubicBezTo>
                <a:cubicBezTo>
                  <a:pt x="325" y="190"/>
                  <a:pt x="325" y="190"/>
                  <a:pt x="325" y="190"/>
                </a:cubicBezTo>
                <a:cubicBezTo>
                  <a:pt x="331" y="190"/>
                  <a:pt x="331" y="190"/>
                  <a:pt x="331" y="190"/>
                </a:cubicBezTo>
                <a:cubicBezTo>
                  <a:pt x="476" y="190"/>
                  <a:pt x="476" y="190"/>
                  <a:pt x="476" y="190"/>
                </a:cubicBezTo>
                <a:cubicBezTo>
                  <a:pt x="494" y="190"/>
                  <a:pt x="494" y="190"/>
                  <a:pt x="494" y="190"/>
                </a:cubicBezTo>
                <a:cubicBezTo>
                  <a:pt x="634" y="190"/>
                  <a:pt x="634" y="190"/>
                  <a:pt x="634" y="190"/>
                </a:cubicBezTo>
                <a:cubicBezTo>
                  <a:pt x="644" y="190"/>
                  <a:pt x="644" y="190"/>
                  <a:pt x="644" y="190"/>
                </a:cubicBezTo>
                <a:cubicBezTo>
                  <a:pt x="792" y="190"/>
                  <a:pt x="792" y="190"/>
                  <a:pt x="792" y="190"/>
                </a:cubicBezTo>
                <a:cubicBezTo>
                  <a:pt x="803" y="190"/>
                  <a:pt x="803" y="190"/>
                  <a:pt x="803" y="190"/>
                </a:cubicBezTo>
                <a:cubicBezTo>
                  <a:pt x="965" y="190"/>
                  <a:pt x="965" y="190"/>
                  <a:pt x="965" y="190"/>
                </a:cubicBezTo>
                <a:cubicBezTo>
                  <a:pt x="965" y="0"/>
                  <a:pt x="965" y="0"/>
                  <a:pt x="965" y="0"/>
                </a:cubicBezTo>
                <a:lnTo>
                  <a:pt x="803" y="0"/>
                </a:lnTo>
                <a:close/>
              </a:path>
            </a:pathLst>
          </a:custGeom>
          <a:solidFill>
            <a:srgbClr val="0066FF"/>
          </a:solidFill>
          <a:ln w="9525">
            <a:noFill/>
            <a:round/>
            <a:headEnd/>
            <a:tailEnd/>
          </a:ln>
          <a:effectLst>
            <a:reflection blurRad="6350" stA="19000" endPos="53000" dir="5400000" sy="-100000" algn="bl" rotWithShape="0"/>
          </a:effec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r>
              <a:rPr lang="zh-CN" altLang="en-US" sz="2800" b="1" kern="0" dirty="0">
                <a:solidFill>
                  <a:srgbClr val="FFFFFF"/>
                </a:solidFill>
                <a:latin typeface="+mj-ea"/>
                <a:ea typeface="+mj-ea"/>
              </a:rPr>
              <a:t>算符优先分析法</a:t>
            </a: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4081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四、算符优先分析法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40000"/>
              </a:lnSpc>
            </a:pPr>
            <a:r>
              <a:rPr lang="zh-CN" altLang="en-US" dirty="0">
                <a:latin typeface="+mj-ea"/>
                <a:ea typeface="+mj-ea"/>
              </a:rPr>
              <a:t>这是一种有利于表达式分析的自下而上分析法，其可归约串</a:t>
            </a:r>
            <a:r>
              <a:rPr lang="zh-CN" altLang="en-US" dirty="0">
                <a:solidFill>
                  <a:srgbClr val="FF0000"/>
                </a:solidFill>
                <a:latin typeface="+mj-ea"/>
                <a:ea typeface="+mj-ea"/>
              </a:rPr>
              <a:t>不是句柄</a:t>
            </a:r>
            <a:r>
              <a:rPr lang="zh-CN" altLang="en-US" dirty="0">
                <a:latin typeface="+mj-ea"/>
                <a:ea typeface="+mj-ea"/>
              </a:rPr>
              <a:t>，它是通过定义算符之间的某种</a:t>
            </a:r>
            <a:r>
              <a:rPr lang="zh-CN" altLang="en-US" dirty="0">
                <a:solidFill>
                  <a:srgbClr val="FF0000"/>
                </a:solidFill>
                <a:latin typeface="+mj-ea"/>
                <a:ea typeface="+mj-ea"/>
              </a:rPr>
              <a:t>优先关系</a:t>
            </a:r>
            <a:r>
              <a:rPr lang="zh-CN" altLang="en-US" dirty="0">
                <a:latin typeface="+mj-ea"/>
                <a:ea typeface="+mj-ea"/>
              </a:rPr>
              <a:t>，利用这种关系寻找</a:t>
            </a:r>
            <a:r>
              <a:rPr lang="zh-CN" altLang="en-US" dirty="0">
                <a:solidFill>
                  <a:srgbClr val="FF0000"/>
                </a:solidFill>
                <a:latin typeface="+mj-ea"/>
                <a:ea typeface="+mj-ea"/>
              </a:rPr>
              <a:t>“可归约串”</a:t>
            </a:r>
            <a:r>
              <a:rPr lang="zh-CN" altLang="en-US" dirty="0">
                <a:latin typeface="+mj-ea"/>
                <a:ea typeface="+mj-ea"/>
              </a:rPr>
              <a:t>并进行归约的。</a:t>
            </a:r>
            <a:endParaRPr lang="en-US" altLang="zh-CN" dirty="0">
              <a:latin typeface="+mj-ea"/>
              <a:ea typeface="+mj-ea"/>
            </a:endParaRPr>
          </a:p>
          <a:p>
            <a:pPr algn="just">
              <a:lnSpc>
                <a:spcPct val="140000"/>
              </a:lnSpc>
            </a:pPr>
            <a:r>
              <a:rPr lang="zh-CN" altLang="en-US" dirty="0">
                <a:latin typeface="+mj-ea"/>
                <a:ea typeface="+mj-ea"/>
              </a:rPr>
              <a:t>某些文法具有“算符”特性</a:t>
            </a:r>
          </a:p>
          <a:p>
            <a:pPr lvl="1" algn="just">
              <a:lnSpc>
                <a:spcPct val="140000"/>
              </a:lnSpc>
            </a:pPr>
            <a:r>
              <a:rPr lang="zh-CN" altLang="en-US" dirty="0">
                <a:latin typeface="+mj-ea"/>
                <a:ea typeface="+mj-ea"/>
              </a:rPr>
              <a:t>表达式运算符（优先级、结合性）。</a:t>
            </a:r>
          </a:p>
          <a:p>
            <a:pPr lvl="1" algn="just">
              <a:lnSpc>
                <a:spcPct val="140000"/>
              </a:lnSpc>
            </a:pPr>
            <a:r>
              <a:rPr lang="zh-CN" altLang="en-US" dirty="0">
                <a:latin typeface="+mj-ea"/>
                <a:ea typeface="+mj-ea"/>
              </a:rPr>
              <a:t>人为地规定其算符的优先顺序，即给出优先级别和同一级别的结合性。</a:t>
            </a:r>
          </a:p>
          <a:p>
            <a:pPr lvl="1" algn="just">
              <a:lnSpc>
                <a:spcPct val="140000"/>
              </a:lnSpc>
            </a:pPr>
            <a:r>
              <a:rPr lang="zh-CN" altLang="en-US" dirty="0">
                <a:latin typeface="+mj-ea"/>
                <a:ea typeface="+mj-ea"/>
              </a:rPr>
              <a:t>只考虑算符之间的优先关系来确定可归约串。</a:t>
            </a:r>
          </a:p>
          <a:p>
            <a:pPr algn="just">
              <a:lnSpc>
                <a:spcPct val="140000"/>
              </a:lnSpc>
            </a:pP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94622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四、算符优先分析法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算符优先分析法</a:t>
            </a:r>
            <a:r>
              <a:rPr lang="zh-CN" altLang="en-US" dirty="0">
                <a:solidFill>
                  <a:srgbClr val="FF0000"/>
                </a:solidFill>
              </a:rPr>
              <a:t>只考虑终结符</a:t>
            </a:r>
            <a:r>
              <a:rPr lang="zh-CN" altLang="en-US" dirty="0"/>
              <a:t>之间的优先关系。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8"/>
              <p:cNvSpPr txBox="1">
                <a:spLocks noChangeArrowheads="1"/>
              </p:cNvSpPr>
              <p:nvPr/>
            </p:nvSpPr>
            <p:spPr bwMode="auto">
              <a:xfrm>
                <a:off x="952185" y="1988822"/>
                <a:ext cx="7129462" cy="1373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/>
                <a:r>
                  <a:rPr lang="zh-CN" altLang="en-US" sz="2800" dirty="0"/>
                  <a:t>例如有文法</a:t>
                </a:r>
                <a:r>
                  <a:rPr lang="en-US" altLang="zh-CN" sz="2800" dirty="0"/>
                  <a:t>: E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/>
                        <a:ea typeface="Cambria Math"/>
                      </a:rPr>
                      <m:t>⟶</m:t>
                    </m:r>
                  </m:oMath>
                </a14:m>
                <a:r>
                  <a:rPr lang="en-US" altLang="zh-CN" sz="2800" dirty="0"/>
                  <a:t>E+E</a:t>
                </a:r>
              </a:p>
              <a:p>
                <a:pPr eaLnBrk="1" hangingPunct="1"/>
                <a:r>
                  <a:rPr lang="en-US" altLang="zh-CN" sz="2800" dirty="0"/>
                  <a:t>                  E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/>
                        <a:ea typeface="Cambria Math"/>
                      </a:rPr>
                      <m:t>⟶ </m:t>
                    </m:r>
                  </m:oMath>
                </a14:m>
                <a:r>
                  <a:rPr lang="en-US" altLang="zh-CN" sz="2800" dirty="0"/>
                  <a:t>E*E</a:t>
                </a:r>
              </a:p>
              <a:p>
                <a:pPr eaLnBrk="1" hangingPunct="1"/>
                <a:r>
                  <a:rPr lang="en-US" altLang="zh-CN" sz="2800" dirty="0"/>
                  <a:t>                  E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/>
                        <a:ea typeface="Cambria Math"/>
                      </a:rPr>
                      <m:t>⟶ </m:t>
                    </m:r>
                  </m:oMath>
                </a14:m>
                <a:r>
                  <a:rPr lang="en-US" altLang="zh-CN" sz="2800" dirty="0" err="1"/>
                  <a:t>i</a:t>
                </a:r>
                <a:endParaRPr lang="en-US" altLang="zh-CN" sz="2800" dirty="0"/>
              </a:p>
            </p:txBody>
          </p:sp>
        </mc:Choice>
        <mc:Fallback xmlns="">
          <p:sp>
            <p:nvSpPr>
              <p:cNvPr id="4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52185" y="1988822"/>
                <a:ext cx="7129462" cy="1373188"/>
              </a:xfrm>
              <a:prstGeom prst="rect">
                <a:avLst/>
              </a:prstGeom>
              <a:blipFill rotWithShape="1">
                <a:blip r:embed="rId2"/>
                <a:stretch>
                  <a:fillRect l="-1709" t="-5310" b="-1150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952185" y="3501710"/>
            <a:ext cx="7200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/>
            <a:r>
              <a:rPr lang="zh-CN" altLang="en-US" sz="2800" dirty="0"/>
              <a:t>对输入串</a:t>
            </a:r>
            <a:r>
              <a:rPr lang="en-US" altLang="zh-CN" sz="2800" dirty="0"/>
              <a:t>i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+i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*i</a:t>
            </a:r>
            <a:r>
              <a:rPr lang="en-US" altLang="zh-CN" sz="2800" baseline="-25000" dirty="0"/>
              <a:t>3</a:t>
            </a:r>
            <a:r>
              <a:rPr lang="zh-CN" altLang="en-US" sz="2800" dirty="0"/>
              <a:t>的归约过程如表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74514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" charset="0"/>
                <a:ea typeface="黑体" pitchFamily="2" charset="-122"/>
              </a:rPr>
              <a:t> 表</a:t>
            </a:r>
            <a:r>
              <a:rPr lang="en-US" altLang="zh-CN" dirty="0">
                <a:latin typeface="Arial" charset="0"/>
                <a:ea typeface="黑体" pitchFamily="2" charset="-122"/>
              </a:rPr>
              <a:t> </a:t>
            </a:r>
            <a:r>
              <a:rPr lang="zh-CN" altLang="en-US" dirty="0">
                <a:latin typeface="Arial" charset="0"/>
                <a:ea typeface="黑体" pitchFamily="2" charset="-122"/>
              </a:rPr>
              <a:t>对输入串</a:t>
            </a:r>
            <a:r>
              <a:rPr lang="en-US" altLang="zh-CN" dirty="0">
                <a:latin typeface="Arial" charset="0"/>
                <a:ea typeface="黑体" pitchFamily="2" charset="-122"/>
              </a:rPr>
              <a:t>i</a:t>
            </a:r>
            <a:r>
              <a:rPr lang="en-US" altLang="zh-CN" baseline="-30000" dirty="0">
                <a:latin typeface="Arial" charset="0"/>
                <a:ea typeface="黑体" pitchFamily="2" charset="-122"/>
              </a:rPr>
              <a:t>1</a:t>
            </a:r>
            <a:r>
              <a:rPr lang="en-US" altLang="zh-CN" dirty="0">
                <a:latin typeface="Arial" charset="0"/>
                <a:ea typeface="黑体" pitchFamily="2" charset="-122"/>
              </a:rPr>
              <a:t>+i</a:t>
            </a:r>
            <a:r>
              <a:rPr lang="en-US" altLang="zh-CN" baseline="-30000" dirty="0">
                <a:latin typeface="Arial" charset="0"/>
                <a:ea typeface="黑体" pitchFamily="2" charset="-122"/>
              </a:rPr>
              <a:t>2</a:t>
            </a:r>
            <a:r>
              <a:rPr lang="en-US" altLang="zh-CN" dirty="0">
                <a:latin typeface="Arial" charset="0"/>
                <a:ea typeface="黑体" pitchFamily="2" charset="-122"/>
                <a:cs typeface="Arial" charset="0"/>
              </a:rPr>
              <a:t>×</a:t>
            </a:r>
            <a:r>
              <a:rPr lang="en-US" altLang="zh-CN" dirty="0">
                <a:latin typeface="Arial" charset="0"/>
                <a:ea typeface="黑体" pitchFamily="2" charset="-122"/>
              </a:rPr>
              <a:t>i</a:t>
            </a:r>
            <a:r>
              <a:rPr lang="en-US" altLang="zh-CN" baseline="-30000" dirty="0">
                <a:latin typeface="Arial" charset="0"/>
                <a:ea typeface="黑体" pitchFamily="2" charset="-122"/>
              </a:rPr>
              <a:t>3</a:t>
            </a:r>
            <a:r>
              <a:rPr lang="zh-CN" altLang="en-US" dirty="0">
                <a:latin typeface="Arial" charset="0"/>
                <a:ea typeface="黑体" pitchFamily="2" charset="-122"/>
              </a:rPr>
              <a:t>的归约过程</a:t>
            </a:r>
            <a:r>
              <a:rPr lang="en-US" altLang="zh-CN" dirty="0">
                <a:latin typeface="Arial" charset="0"/>
                <a:ea typeface="黑体" pitchFamily="2" charset="-122"/>
              </a:rPr>
              <a:t>1</a:t>
            </a:r>
            <a:r>
              <a:rPr lang="zh-CN" altLang="en-US" dirty="0">
                <a:latin typeface="Arial" charset="0"/>
                <a:ea typeface="黑体" pitchFamily="2" charset="-122"/>
              </a:rPr>
              <a:t>（简单优先分析）</a:t>
            </a:r>
            <a:endParaRPr lang="zh-CN" altLang="en-US" dirty="0">
              <a:latin typeface="Arial" charset="0"/>
            </a:endParaRPr>
          </a:p>
          <a:p>
            <a:endParaRPr lang="zh-CN" altLang="en-US" dirty="0"/>
          </a:p>
        </p:txBody>
      </p:sp>
      <p:graphicFrame>
        <p:nvGraphicFramePr>
          <p:cNvPr id="4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379182"/>
              </p:ext>
            </p:extLst>
          </p:nvPr>
        </p:nvGraphicFramePr>
        <p:xfrm>
          <a:off x="251466" y="1988822"/>
          <a:ext cx="7921625" cy="4716462"/>
        </p:xfrm>
        <a:graphic>
          <a:graphicData uri="http://schemas.openxmlformats.org/drawingml/2006/table">
            <a:tbl>
              <a:tblPr/>
              <a:tblGrid>
                <a:gridCol w="1192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2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0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16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6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步骤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符号栈</a:t>
                      </a: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当前输入符号</a:t>
                      </a: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剩余输入串</a:t>
                      </a: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动作</a:t>
                      </a: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01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7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8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9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10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11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 i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 E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 E+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 E+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i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E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+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E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 E 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×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 E 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×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i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3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 E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×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E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 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i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+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+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i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2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×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itchFamily="18" charset="0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×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×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i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 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#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#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#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+i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×i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#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i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×i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#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i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×i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#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×i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#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i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#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i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#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i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#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移进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归约（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移进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移进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归约（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规约（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移进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移进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归约（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归约（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接受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29"/>
              <p:cNvSpPr>
                <a:spLocks noChangeArrowheads="1"/>
              </p:cNvSpPr>
              <p:nvPr/>
            </p:nvSpPr>
            <p:spPr bwMode="auto">
              <a:xfrm>
                <a:off x="7225348" y="934407"/>
                <a:ext cx="1918652" cy="923330"/>
              </a:xfrm>
              <a:prstGeom prst="rect">
                <a:avLst/>
              </a:prstGeom>
              <a:noFill/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zh-CN" sz="1800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宋体" pitchFamily="2" charset="-122"/>
                    <a:ea typeface="宋体" pitchFamily="2" charset="-122"/>
                  </a:rPr>
                  <a:t>⑴ </a:t>
                </a:r>
                <a:r>
                  <a:rPr lang="en-US" altLang="zh-CN" sz="1800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宋体" pitchFamily="2" charset="-122"/>
                  </a:rPr>
                  <a:t> E</a:t>
                </a:r>
                <a:r>
                  <a:rPr lang="en-US" altLang="zh-CN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  <a:ea typeface="Cambria Math"/>
                      </a:rPr>
                      <m:t>⟶</m:t>
                    </m:r>
                  </m:oMath>
                </a14:m>
                <a:r>
                  <a:rPr lang="en-US" altLang="zh-CN" sz="1800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宋体" pitchFamily="2" charset="-122"/>
                  </a:rPr>
                  <a:t>E+E</a:t>
                </a:r>
              </a:p>
              <a:p>
                <a:pPr>
                  <a:defRPr/>
                </a:pPr>
                <a:r>
                  <a:rPr lang="en-US" altLang="zh-CN" sz="1800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宋体" pitchFamily="2" charset="-122"/>
                    <a:ea typeface="宋体" pitchFamily="2" charset="-122"/>
                  </a:rPr>
                  <a:t>⑵ </a:t>
                </a:r>
                <a:r>
                  <a:rPr lang="en-US" altLang="zh-CN" sz="1800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宋体" pitchFamily="2" charset="-122"/>
                  </a:rPr>
                  <a:t> E</a:t>
                </a:r>
                <a:r>
                  <a:rPr lang="en-US" altLang="zh-CN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  <a:ea typeface="Cambria Math"/>
                      </a:rPr>
                      <m:t>⟶</m:t>
                    </m:r>
                  </m:oMath>
                </a14:m>
                <a:r>
                  <a:rPr lang="en-US" altLang="zh-CN" sz="1800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宋体" pitchFamily="2" charset="-122"/>
                  </a:rPr>
                  <a:t>E*E</a:t>
                </a:r>
              </a:p>
              <a:p>
                <a:pPr>
                  <a:defRPr/>
                </a:pPr>
                <a:r>
                  <a:rPr lang="en-US" altLang="zh-CN" sz="1800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宋体" pitchFamily="2" charset="-122"/>
                    <a:ea typeface="宋体" pitchFamily="2" charset="-122"/>
                  </a:rPr>
                  <a:t>⑶ </a:t>
                </a:r>
                <a:r>
                  <a:rPr lang="en-US" altLang="zh-CN" sz="1800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宋体" pitchFamily="2" charset="-122"/>
                  </a:rPr>
                  <a:t> E</a:t>
                </a:r>
                <a:r>
                  <a:rPr lang="en-US" altLang="zh-CN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  <a:ea typeface="Cambria Math"/>
                      </a:rPr>
                      <m:t>⟶ </m:t>
                    </m:r>
                  </m:oMath>
                </a14:m>
                <a:r>
                  <a:rPr lang="en-US" altLang="zh-CN" sz="1800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宋体" pitchFamily="2" charset="-122"/>
                  </a:rPr>
                  <a:t>i</a:t>
                </a:r>
                <a:endParaRPr lang="zh-CN" altLang="en-US" sz="1800" dirty="0"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5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25348" y="934407"/>
                <a:ext cx="1918652" cy="923330"/>
              </a:xfrm>
              <a:prstGeom prst="rect">
                <a:avLst/>
              </a:prstGeom>
              <a:blipFill rotWithShape="1">
                <a:blip r:embed="rId2"/>
                <a:stretch>
                  <a:fillRect l="-2524" t="-3896" b="-12338"/>
                </a:stretch>
              </a:blip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30"/>
          <p:cNvSpPr>
            <a:spLocks noChangeArrowheads="1"/>
          </p:cNvSpPr>
          <p:nvPr/>
        </p:nvSpPr>
        <p:spPr bwMode="auto">
          <a:xfrm>
            <a:off x="6178396" y="853760"/>
            <a:ext cx="9572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1800" b="1" dirty="0">
                <a:solidFill>
                  <a:srgbClr val="CC3300"/>
                </a:solidFill>
              </a:rPr>
              <a:t>有文法</a:t>
            </a:r>
            <a:r>
              <a:rPr lang="en-US" altLang="zh-CN" sz="1800" b="1" dirty="0">
                <a:solidFill>
                  <a:srgbClr val="CC3300"/>
                </a:solidFill>
              </a:rPr>
              <a:t>:</a:t>
            </a:r>
            <a:endParaRPr lang="zh-CN" altLang="en-US" sz="1800" b="1" dirty="0">
              <a:solidFill>
                <a:srgbClr val="CC3300"/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54450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四、算符优先分析法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251466" y="1164594"/>
            <a:ext cx="6121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/>
            <a:r>
              <a:rPr lang="zh-CN" altLang="en-US" sz="2800" dirty="0">
                <a:latin typeface="Arial" charset="0"/>
                <a:ea typeface="黑体" pitchFamily="2" charset="-122"/>
              </a:rPr>
              <a:t> 表</a:t>
            </a:r>
            <a:r>
              <a:rPr lang="en-US" altLang="zh-CN" sz="2800" dirty="0">
                <a:latin typeface="Arial" charset="0"/>
                <a:ea typeface="黑体" pitchFamily="2" charset="-122"/>
              </a:rPr>
              <a:t> </a:t>
            </a:r>
            <a:r>
              <a:rPr lang="zh-CN" altLang="en-US" sz="2800" dirty="0">
                <a:latin typeface="Arial" charset="0"/>
                <a:ea typeface="黑体" pitchFamily="2" charset="-122"/>
              </a:rPr>
              <a:t>对输入串</a:t>
            </a:r>
            <a:r>
              <a:rPr lang="en-US" altLang="zh-CN" sz="2800" dirty="0">
                <a:latin typeface="Arial" charset="0"/>
                <a:ea typeface="黑体" pitchFamily="2" charset="-122"/>
              </a:rPr>
              <a:t>i</a:t>
            </a:r>
            <a:r>
              <a:rPr lang="en-US" altLang="zh-CN" sz="2800" baseline="-30000" dirty="0">
                <a:latin typeface="Arial" charset="0"/>
                <a:ea typeface="黑体" pitchFamily="2" charset="-122"/>
              </a:rPr>
              <a:t>1</a:t>
            </a:r>
            <a:r>
              <a:rPr lang="en-US" altLang="zh-CN" sz="2800" dirty="0">
                <a:latin typeface="Arial" charset="0"/>
                <a:ea typeface="黑体" pitchFamily="2" charset="-122"/>
              </a:rPr>
              <a:t>+i</a:t>
            </a:r>
            <a:r>
              <a:rPr lang="en-US" altLang="zh-CN" sz="2800" baseline="-30000" dirty="0">
                <a:latin typeface="Arial" charset="0"/>
                <a:ea typeface="黑体" pitchFamily="2" charset="-122"/>
              </a:rPr>
              <a:t>2</a:t>
            </a:r>
            <a:r>
              <a:rPr lang="en-US" altLang="zh-CN" sz="2800" dirty="0">
                <a:latin typeface="Arial" charset="0"/>
                <a:ea typeface="黑体" pitchFamily="2" charset="-122"/>
                <a:cs typeface="Arial" charset="0"/>
              </a:rPr>
              <a:t>×</a:t>
            </a:r>
            <a:r>
              <a:rPr lang="en-US" altLang="zh-CN" sz="2800" dirty="0">
                <a:latin typeface="Arial" charset="0"/>
                <a:ea typeface="黑体" pitchFamily="2" charset="-122"/>
              </a:rPr>
              <a:t>i</a:t>
            </a:r>
            <a:r>
              <a:rPr lang="en-US" altLang="zh-CN" sz="2800" baseline="-30000" dirty="0">
                <a:latin typeface="Arial" charset="0"/>
                <a:ea typeface="黑体" pitchFamily="2" charset="-122"/>
              </a:rPr>
              <a:t>3</a:t>
            </a:r>
            <a:r>
              <a:rPr lang="zh-CN" altLang="en-US" sz="2800" dirty="0">
                <a:latin typeface="Arial" charset="0"/>
                <a:ea typeface="黑体" pitchFamily="2" charset="-122"/>
              </a:rPr>
              <a:t>的归约过程</a:t>
            </a:r>
            <a:r>
              <a:rPr lang="en-US" altLang="zh-CN" sz="2800" dirty="0">
                <a:latin typeface="Arial" charset="0"/>
                <a:ea typeface="黑体" pitchFamily="2" charset="-122"/>
              </a:rPr>
              <a:t>2</a:t>
            </a:r>
            <a:endParaRPr lang="zh-CN" altLang="en-US" sz="2800" dirty="0">
              <a:latin typeface="Arial" charset="0"/>
            </a:endParaRPr>
          </a:p>
        </p:txBody>
      </p:sp>
      <p:graphicFrame>
        <p:nvGraphicFramePr>
          <p:cNvPr id="9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632920"/>
              </p:ext>
            </p:extLst>
          </p:nvPr>
        </p:nvGraphicFramePr>
        <p:xfrm>
          <a:off x="251466" y="1999935"/>
          <a:ext cx="7921625" cy="4716462"/>
        </p:xfrm>
        <a:graphic>
          <a:graphicData uri="http://schemas.openxmlformats.org/drawingml/2006/table">
            <a:tbl>
              <a:tblPr/>
              <a:tblGrid>
                <a:gridCol w="1192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2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0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16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6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步骤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符号栈</a:t>
                      </a: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当前输入符号</a:t>
                      </a: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剩余输入串</a:t>
                      </a: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动作</a:t>
                      </a: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01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7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8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9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 i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 E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 E+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 E+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i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E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+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E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 E+E 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×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 E+E 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×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i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3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 E+E 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×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E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 E+E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 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i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+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+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i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2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×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itchFamily="18" charset="0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×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i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 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#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#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# 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+i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×i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#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i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×i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#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i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×i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#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×i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#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i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#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i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#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移进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归约（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移进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移进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归约（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移进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移进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归约（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归约（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归约（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接受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29"/>
              <p:cNvSpPr>
                <a:spLocks noChangeArrowheads="1"/>
              </p:cNvSpPr>
              <p:nvPr/>
            </p:nvSpPr>
            <p:spPr bwMode="auto">
              <a:xfrm>
                <a:off x="7225348" y="934407"/>
                <a:ext cx="1918652" cy="923330"/>
              </a:xfrm>
              <a:prstGeom prst="rect">
                <a:avLst/>
              </a:prstGeom>
              <a:noFill/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zh-CN" sz="1800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宋体" pitchFamily="2" charset="-122"/>
                    <a:ea typeface="宋体" pitchFamily="2" charset="-122"/>
                  </a:rPr>
                  <a:t>⑴ </a:t>
                </a:r>
                <a:r>
                  <a:rPr lang="en-US" altLang="zh-CN" sz="1800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宋体" pitchFamily="2" charset="-122"/>
                  </a:rPr>
                  <a:t> E</a:t>
                </a:r>
                <a:r>
                  <a:rPr lang="en-US" altLang="zh-CN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  <a:ea typeface="Cambria Math"/>
                      </a:rPr>
                      <m:t>⟶</m:t>
                    </m:r>
                  </m:oMath>
                </a14:m>
                <a:r>
                  <a:rPr lang="en-US" altLang="zh-CN" sz="1800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宋体" pitchFamily="2" charset="-122"/>
                  </a:rPr>
                  <a:t>E+E</a:t>
                </a:r>
              </a:p>
              <a:p>
                <a:pPr>
                  <a:defRPr/>
                </a:pPr>
                <a:r>
                  <a:rPr lang="en-US" altLang="zh-CN" sz="1800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宋体" pitchFamily="2" charset="-122"/>
                    <a:ea typeface="宋体" pitchFamily="2" charset="-122"/>
                  </a:rPr>
                  <a:t>⑵ </a:t>
                </a:r>
                <a:r>
                  <a:rPr lang="en-US" altLang="zh-CN" sz="1800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宋体" pitchFamily="2" charset="-122"/>
                  </a:rPr>
                  <a:t> E</a:t>
                </a:r>
                <a:r>
                  <a:rPr lang="en-US" altLang="zh-CN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  <a:ea typeface="Cambria Math"/>
                      </a:rPr>
                      <m:t>⟶</m:t>
                    </m:r>
                  </m:oMath>
                </a14:m>
                <a:r>
                  <a:rPr lang="en-US" altLang="zh-CN" sz="1800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宋体" pitchFamily="2" charset="-122"/>
                  </a:rPr>
                  <a:t>E*E</a:t>
                </a:r>
              </a:p>
              <a:p>
                <a:pPr>
                  <a:defRPr/>
                </a:pPr>
                <a:r>
                  <a:rPr lang="en-US" altLang="zh-CN" sz="1800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宋体" pitchFamily="2" charset="-122"/>
                    <a:ea typeface="宋体" pitchFamily="2" charset="-122"/>
                  </a:rPr>
                  <a:t>⑶ </a:t>
                </a:r>
                <a:r>
                  <a:rPr lang="en-US" altLang="zh-CN" sz="1800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宋体" pitchFamily="2" charset="-122"/>
                  </a:rPr>
                  <a:t> E</a:t>
                </a:r>
                <a:r>
                  <a:rPr lang="en-US" altLang="zh-CN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  <a:ea typeface="Cambria Math"/>
                      </a:rPr>
                      <m:t>⟶ </m:t>
                    </m:r>
                  </m:oMath>
                </a14:m>
                <a:r>
                  <a:rPr lang="en-US" altLang="zh-CN" sz="1800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宋体" pitchFamily="2" charset="-122"/>
                  </a:rPr>
                  <a:t>i</a:t>
                </a:r>
                <a:endParaRPr lang="zh-CN" altLang="en-US" sz="1800" dirty="0"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1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25348" y="934407"/>
                <a:ext cx="1918652" cy="923330"/>
              </a:xfrm>
              <a:prstGeom prst="rect">
                <a:avLst/>
              </a:prstGeom>
              <a:blipFill rotWithShape="1">
                <a:blip r:embed="rId2"/>
                <a:stretch>
                  <a:fillRect l="-2524" t="-3896" b="-12338"/>
                </a:stretch>
              </a:blip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30"/>
          <p:cNvSpPr>
            <a:spLocks noChangeArrowheads="1"/>
          </p:cNvSpPr>
          <p:nvPr/>
        </p:nvSpPr>
        <p:spPr bwMode="auto">
          <a:xfrm>
            <a:off x="6178396" y="853760"/>
            <a:ext cx="9572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1800" b="1" dirty="0">
                <a:solidFill>
                  <a:srgbClr val="CC3300"/>
                </a:solidFill>
              </a:rPr>
              <a:t>有文法</a:t>
            </a:r>
            <a:r>
              <a:rPr lang="en-US" altLang="zh-CN" sz="1800" b="1" dirty="0">
                <a:solidFill>
                  <a:srgbClr val="CC3300"/>
                </a:solidFill>
              </a:rPr>
              <a:t>:</a:t>
            </a:r>
            <a:endParaRPr lang="zh-CN" altLang="en-US" sz="1800" b="1" dirty="0">
              <a:solidFill>
                <a:srgbClr val="CC33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42996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四、算符优先分析法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77117" y="850106"/>
                <a:ext cx="8218487" cy="5113338"/>
              </a:xfrm>
            </p:spPr>
            <p:txBody>
              <a:bodyPr/>
              <a:lstStyle/>
              <a:p>
                <a:r>
                  <a:rPr lang="zh-CN" altLang="en-US" dirty="0">
                    <a:solidFill>
                      <a:srgbClr val="FF0000"/>
                    </a:solidFill>
                  </a:rPr>
                  <a:t>直观算符优先优先分析法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r>
                  <a:rPr lang="zh-CN" altLang="en-US" dirty="0"/>
                  <a:t>二义性文法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文法</a:t>
                </a:r>
                <a:r>
                  <a:rPr lang="en-US" altLang="zh-CN" dirty="0"/>
                  <a:t>G[E]</a:t>
                </a:r>
                <a:r>
                  <a:rPr lang="zh-CN" altLang="en-US" dirty="0"/>
                  <a:t>：</a:t>
                </a:r>
                <a:r>
                  <a:rPr lang="en-US" altLang="zh-CN" dirty="0"/>
                  <a:t>E→E+E|E-E|E*E|E/E|E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/>
                        <a:ea typeface="Cambria Math"/>
                      </a:rPr>
                      <m:t>↑</m:t>
                    </m:r>
                  </m:oMath>
                </a14:m>
                <a:r>
                  <a:rPr lang="en-US" altLang="zh-CN" dirty="0"/>
                  <a:t>E|(E)|</a:t>
                </a:r>
                <a:r>
                  <a:rPr lang="en-US" altLang="zh-CN" dirty="0" err="1"/>
                  <a:t>i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7117" y="850106"/>
                <a:ext cx="8218487" cy="5113338"/>
              </a:xfrm>
              <a:blipFill>
                <a:blip r:embed="rId3"/>
                <a:stretch>
                  <a:fillRect t="-13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-47625" y="2358086"/>
            <a:ext cx="4619625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55600" indent="-269875" algn="l" rtl="0" eaLnBrk="1" fontAlgn="base" hangingPunct="1">
              <a:spcBef>
                <a:spcPts val="1800"/>
              </a:spcBef>
              <a:spcAft>
                <a:spcPct val="0"/>
              </a:spcAft>
              <a:buClr>
                <a:srgbClr val="003399"/>
              </a:buClr>
              <a:buSzPct val="80000"/>
              <a:buFont typeface="Wingdings 2" panose="05020102010507070707" pitchFamily="18" charset="2"/>
              <a:buChar char=""/>
              <a:defRPr sz="2400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700088" indent="-342900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2000" kern="1200">
                <a:solidFill>
                  <a:srgbClr val="7030A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14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2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zh-CN" altLang="en-US" b="1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约定：</a:t>
            </a:r>
            <a:endParaRPr lang="en-US" altLang="zh-CN" b="1" dirty="0">
              <a:solidFill>
                <a:srgbClr val="FF0000"/>
              </a:solidFill>
              <a:latin typeface="仿宋_GB2312" pitchFamily="49" charset="-122"/>
              <a:ea typeface="仿宋_GB2312" pitchFamily="49" charset="-122"/>
            </a:endParaRPr>
          </a:p>
          <a:p>
            <a:pPr>
              <a:spcBef>
                <a:spcPts val="0"/>
              </a:spcBef>
              <a:buFont typeface="Wingdings" pitchFamily="2" charset="2"/>
              <a:buNone/>
            </a:pPr>
            <a:r>
              <a:rPr lang="zh-CN" altLang="en-US" b="1" dirty="0">
                <a:latin typeface="仿宋_GB2312" pitchFamily="49" charset="-122"/>
                <a:ea typeface="仿宋_GB2312" pitchFamily="49" charset="-122"/>
              </a:rPr>
              <a:t>（</a:t>
            </a:r>
            <a:r>
              <a:rPr lang="en-US" altLang="zh-CN" b="1" dirty="0">
                <a:latin typeface="仿宋_GB2312" pitchFamily="49" charset="-122"/>
                <a:ea typeface="仿宋_GB2312" pitchFamily="49" charset="-122"/>
              </a:rPr>
              <a:t>1</a:t>
            </a:r>
            <a:r>
              <a:rPr lang="zh-CN" altLang="en-US" b="1" dirty="0">
                <a:latin typeface="仿宋_GB2312" pitchFamily="49" charset="-122"/>
                <a:ea typeface="仿宋_GB2312" pitchFamily="49" charset="-122"/>
              </a:rPr>
              <a:t>）</a:t>
            </a:r>
            <a:r>
              <a:rPr lang="en-US" altLang="zh-CN" b="1" dirty="0" err="1">
                <a:latin typeface="仿宋_GB2312" pitchFamily="49" charset="-122"/>
                <a:ea typeface="仿宋_GB2312" pitchFamily="49" charset="-122"/>
              </a:rPr>
              <a:t>i</a:t>
            </a:r>
            <a:r>
              <a:rPr lang="zh-CN" altLang="en-US" b="1" dirty="0">
                <a:latin typeface="仿宋_GB2312" pitchFamily="49" charset="-122"/>
                <a:ea typeface="仿宋_GB2312" pitchFamily="49" charset="-122"/>
              </a:rPr>
              <a:t>的优先级最高</a:t>
            </a:r>
          </a:p>
          <a:p>
            <a:pPr>
              <a:spcBef>
                <a:spcPts val="0"/>
              </a:spcBef>
              <a:buFont typeface="Wingdings" pitchFamily="2" charset="2"/>
              <a:buNone/>
            </a:pPr>
            <a:r>
              <a:rPr lang="zh-CN" altLang="en-US" b="1" dirty="0">
                <a:latin typeface="仿宋_GB2312" pitchFamily="49" charset="-122"/>
                <a:ea typeface="仿宋_GB2312" pitchFamily="49" charset="-122"/>
              </a:rPr>
              <a:t>（</a:t>
            </a:r>
            <a:r>
              <a:rPr lang="en-US" altLang="zh-CN" b="1" dirty="0">
                <a:latin typeface="仿宋_GB2312" pitchFamily="49" charset="-122"/>
                <a:ea typeface="仿宋_GB2312" pitchFamily="49" charset="-122"/>
              </a:rPr>
              <a:t>2</a:t>
            </a:r>
            <a:r>
              <a:rPr lang="zh-CN" altLang="en-US" b="1" dirty="0">
                <a:latin typeface="仿宋_GB2312" pitchFamily="49" charset="-122"/>
                <a:ea typeface="仿宋_GB2312" pitchFamily="49" charset="-122"/>
              </a:rPr>
              <a:t>）</a:t>
            </a:r>
            <a:r>
              <a:rPr lang="zh-CN" altLang="en-US" b="1" dirty="0">
                <a:latin typeface="仿宋_GB2312" pitchFamily="49" charset="-122"/>
                <a:ea typeface="仿宋_GB2312" pitchFamily="49" charset="-122"/>
                <a:sym typeface="Symbol" pitchFamily="18" charset="2"/>
              </a:rPr>
              <a:t>优先级次于</a:t>
            </a:r>
            <a:r>
              <a:rPr lang="en-US" altLang="zh-CN" b="1" dirty="0" err="1">
                <a:latin typeface="仿宋_GB2312" pitchFamily="49" charset="-122"/>
                <a:ea typeface="仿宋_GB2312" pitchFamily="49" charset="-122"/>
                <a:sym typeface="Symbol" pitchFamily="18" charset="2"/>
              </a:rPr>
              <a:t>i</a:t>
            </a:r>
            <a:r>
              <a:rPr lang="zh-CN" altLang="en-US" b="1" dirty="0">
                <a:latin typeface="仿宋_GB2312" pitchFamily="49" charset="-122"/>
                <a:ea typeface="仿宋_GB2312" pitchFamily="49" charset="-122"/>
                <a:sym typeface="Symbol" pitchFamily="18" charset="2"/>
              </a:rPr>
              <a:t>，</a:t>
            </a:r>
            <a:r>
              <a:rPr lang="zh-CN" altLang="en-US" b="1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  <a:sym typeface="Symbol" pitchFamily="18" charset="2"/>
              </a:rPr>
              <a:t>右结合</a:t>
            </a:r>
          </a:p>
          <a:p>
            <a:pPr>
              <a:spcBef>
                <a:spcPts val="0"/>
              </a:spcBef>
              <a:buFont typeface="Wingdings" pitchFamily="2" charset="2"/>
              <a:buNone/>
            </a:pPr>
            <a:r>
              <a:rPr lang="zh-CN" altLang="en-US" b="1" dirty="0">
                <a:latin typeface="仿宋_GB2312" pitchFamily="49" charset="-122"/>
                <a:ea typeface="仿宋_GB2312" pitchFamily="49" charset="-122"/>
                <a:sym typeface="Symbol" pitchFamily="18" charset="2"/>
              </a:rPr>
              <a:t>（</a:t>
            </a:r>
            <a:r>
              <a:rPr lang="en-US" altLang="zh-CN" b="1" dirty="0">
                <a:latin typeface="仿宋_GB2312" pitchFamily="49" charset="-122"/>
                <a:ea typeface="仿宋_GB2312" pitchFamily="49" charset="-122"/>
                <a:sym typeface="Symbol" pitchFamily="18" charset="2"/>
              </a:rPr>
              <a:t>3</a:t>
            </a:r>
            <a:r>
              <a:rPr lang="zh-CN" altLang="en-US" b="1" dirty="0">
                <a:latin typeface="仿宋_GB2312" pitchFamily="49" charset="-122"/>
                <a:ea typeface="仿宋_GB2312" pitchFamily="49" charset="-122"/>
                <a:sym typeface="Symbol" pitchFamily="18" charset="2"/>
              </a:rPr>
              <a:t>）*和</a:t>
            </a:r>
            <a:r>
              <a:rPr lang="en-US" altLang="zh-CN" b="1" dirty="0">
                <a:latin typeface="仿宋_GB2312" pitchFamily="49" charset="-122"/>
                <a:ea typeface="仿宋_GB2312" pitchFamily="49" charset="-122"/>
                <a:sym typeface="Symbol" pitchFamily="18" charset="2"/>
              </a:rPr>
              <a:t>/</a:t>
            </a:r>
            <a:r>
              <a:rPr lang="zh-CN" altLang="en-US" b="1" dirty="0">
                <a:latin typeface="仿宋_GB2312" pitchFamily="49" charset="-122"/>
                <a:ea typeface="仿宋_GB2312" pitchFamily="49" charset="-122"/>
                <a:sym typeface="Symbol" pitchFamily="18" charset="2"/>
              </a:rPr>
              <a:t>优先级次之，</a:t>
            </a:r>
            <a:r>
              <a:rPr lang="zh-CN" altLang="en-US" b="1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  <a:sym typeface="Symbol" pitchFamily="18" charset="2"/>
              </a:rPr>
              <a:t>左结合</a:t>
            </a:r>
          </a:p>
          <a:p>
            <a:pPr>
              <a:spcBef>
                <a:spcPts val="0"/>
              </a:spcBef>
              <a:buFont typeface="Wingdings" pitchFamily="2" charset="2"/>
              <a:buNone/>
            </a:pPr>
            <a:r>
              <a:rPr lang="zh-CN" altLang="en-US" b="1" dirty="0">
                <a:latin typeface="仿宋_GB2312" pitchFamily="49" charset="-122"/>
                <a:ea typeface="仿宋_GB2312" pitchFamily="49" charset="-122"/>
                <a:sym typeface="Symbol" pitchFamily="18" charset="2"/>
              </a:rPr>
              <a:t>（</a:t>
            </a:r>
            <a:r>
              <a:rPr lang="en-US" altLang="zh-CN" b="1" dirty="0">
                <a:latin typeface="仿宋_GB2312" pitchFamily="49" charset="-122"/>
                <a:ea typeface="仿宋_GB2312" pitchFamily="49" charset="-122"/>
                <a:sym typeface="Symbol" pitchFamily="18" charset="2"/>
              </a:rPr>
              <a:t>4</a:t>
            </a:r>
            <a:r>
              <a:rPr lang="zh-CN" altLang="en-US" b="1" dirty="0">
                <a:latin typeface="仿宋_GB2312" pitchFamily="49" charset="-122"/>
                <a:ea typeface="仿宋_GB2312" pitchFamily="49" charset="-122"/>
                <a:sym typeface="Symbol" pitchFamily="18" charset="2"/>
              </a:rPr>
              <a:t>）</a:t>
            </a:r>
            <a:r>
              <a:rPr lang="en-US" altLang="zh-CN" b="1" dirty="0">
                <a:latin typeface="仿宋_GB2312" pitchFamily="49" charset="-122"/>
                <a:ea typeface="仿宋_GB2312" pitchFamily="49" charset="-122"/>
                <a:sym typeface="Symbol" pitchFamily="18" charset="2"/>
              </a:rPr>
              <a:t>+</a:t>
            </a:r>
            <a:r>
              <a:rPr lang="zh-CN" altLang="en-US" b="1" dirty="0">
                <a:latin typeface="仿宋_GB2312" pitchFamily="49" charset="-122"/>
                <a:ea typeface="仿宋_GB2312" pitchFamily="49" charset="-122"/>
                <a:sym typeface="Symbol" pitchFamily="18" charset="2"/>
              </a:rPr>
              <a:t>和</a:t>
            </a:r>
            <a:r>
              <a:rPr lang="en-US" altLang="zh-CN" b="1" dirty="0">
                <a:latin typeface="仿宋_GB2312" pitchFamily="49" charset="-122"/>
                <a:ea typeface="仿宋_GB2312" pitchFamily="49" charset="-122"/>
                <a:sym typeface="Symbol" pitchFamily="18" charset="2"/>
              </a:rPr>
              <a:t>-</a:t>
            </a:r>
            <a:r>
              <a:rPr lang="zh-CN" altLang="en-US" b="1" dirty="0">
                <a:latin typeface="仿宋_GB2312" pitchFamily="49" charset="-122"/>
                <a:ea typeface="仿宋_GB2312" pitchFamily="49" charset="-122"/>
                <a:sym typeface="Symbol" pitchFamily="18" charset="2"/>
              </a:rPr>
              <a:t>优先级最低，</a:t>
            </a:r>
            <a:r>
              <a:rPr lang="zh-CN" altLang="en-US" b="1" dirty="0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  <a:sym typeface="Symbol" pitchFamily="18" charset="2"/>
              </a:rPr>
              <a:t>左结合</a:t>
            </a:r>
          </a:p>
          <a:p>
            <a:pPr>
              <a:spcBef>
                <a:spcPts val="0"/>
              </a:spcBef>
              <a:buFont typeface="Wingdings" pitchFamily="2" charset="2"/>
              <a:buNone/>
            </a:pPr>
            <a:r>
              <a:rPr lang="zh-CN" altLang="en-US" b="1" dirty="0">
                <a:latin typeface="仿宋_GB2312" pitchFamily="49" charset="-122"/>
                <a:ea typeface="仿宋_GB2312" pitchFamily="49" charset="-122"/>
                <a:sym typeface="Symbol" pitchFamily="18" charset="2"/>
              </a:rPr>
              <a:t>（</a:t>
            </a:r>
            <a:r>
              <a:rPr lang="en-US" altLang="zh-CN" b="1" dirty="0">
                <a:latin typeface="仿宋_GB2312" pitchFamily="49" charset="-122"/>
                <a:ea typeface="仿宋_GB2312" pitchFamily="49" charset="-122"/>
                <a:sym typeface="Symbol" pitchFamily="18" charset="2"/>
              </a:rPr>
              <a:t>5</a:t>
            </a:r>
            <a:r>
              <a:rPr lang="zh-CN" altLang="en-US" b="1" dirty="0">
                <a:latin typeface="仿宋_GB2312" pitchFamily="49" charset="-122"/>
                <a:ea typeface="仿宋_GB2312" pitchFamily="49" charset="-122"/>
                <a:sym typeface="Symbol" pitchFamily="18" charset="2"/>
              </a:rPr>
              <a:t>）括号</a:t>
            </a:r>
            <a:r>
              <a:rPr lang="zh-CN" altLang="en-US" b="1" dirty="0">
                <a:latin typeface="Comic Sans MS"/>
                <a:ea typeface="仿宋_GB2312" pitchFamily="49" charset="-122"/>
                <a:sym typeface="Symbol" pitchFamily="18" charset="2"/>
              </a:rPr>
              <a:t>‘</a:t>
            </a:r>
            <a:r>
              <a:rPr lang="en-US" altLang="zh-CN" b="1" dirty="0">
                <a:latin typeface="仿宋_GB2312" pitchFamily="49" charset="-122"/>
                <a:ea typeface="仿宋_GB2312" pitchFamily="49" charset="-122"/>
                <a:sym typeface="Symbol" pitchFamily="18" charset="2"/>
              </a:rPr>
              <a:t>(</a:t>
            </a:r>
            <a:r>
              <a:rPr lang="en-US" altLang="zh-CN" b="1" dirty="0">
                <a:latin typeface="Comic Sans MS"/>
                <a:ea typeface="仿宋_GB2312" pitchFamily="49" charset="-122"/>
                <a:sym typeface="Symbol" pitchFamily="18" charset="2"/>
              </a:rPr>
              <a:t>’</a:t>
            </a:r>
            <a:r>
              <a:rPr lang="en-US" altLang="zh-CN" b="1" dirty="0">
                <a:latin typeface="仿宋_GB2312" pitchFamily="49" charset="-122"/>
                <a:ea typeface="仿宋_GB2312" pitchFamily="49" charset="-122"/>
                <a:sym typeface="Symbol" pitchFamily="18" charset="2"/>
              </a:rPr>
              <a:t>,</a:t>
            </a:r>
            <a:r>
              <a:rPr lang="en-US" altLang="zh-CN" b="1" dirty="0">
                <a:latin typeface="Comic Sans MS"/>
                <a:ea typeface="仿宋_GB2312" pitchFamily="49" charset="-122"/>
                <a:sym typeface="Symbol" pitchFamily="18" charset="2"/>
              </a:rPr>
              <a:t>‘</a:t>
            </a:r>
            <a:r>
              <a:rPr lang="en-US" altLang="zh-CN" b="1" dirty="0">
                <a:latin typeface="仿宋_GB2312" pitchFamily="49" charset="-122"/>
                <a:ea typeface="仿宋_GB2312" pitchFamily="49" charset="-122"/>
                <a:sym typeface="Symbol" pitchFamily="18" charset="2"/>
              </a:rPr>
              <a:t>)</a:t>
            </a:r>
            <a:r>
              <a:rPr lang="en-US" altLang="zh-CN" b="1" dirty="0">
                <a:latin typeface="Comic Sans MS"/>
                <a:ea typeface="仿宋_GB2312" pitchFamily="49" charset="-122"/>
                <a:sym typeface="Symbol" pitchFamily="18" charset="2"/>
              </a:rPr>
              <a:t>’</a:t>
            </a:r>
            <a:r>
              <a:rPr lang="zh-CN" altLang="en-US" b="1" dirty="0">
                <a:latin typeface="仿宋_GB2312" pitchFamily="49" charset="-122"/>
                <a:ea typeface="仿宋_GB2312" pitchFamily="49" charset="-122"/>
                <a:sym typeface="Symbol" pitchFamily="18" charset="2"/>
              </a:rPr>
              <a:t>的优先级大于括号外的运算符，小于括号内的运算符；内括号的优先性大于外括号</a:t>
            </a:r>
          </a:p>
          <a:p>
            <a:pPr>
              <a:spcBef>
                <a:spcPts val="0"/>
              </a:spcBef>
              <a:buFont typeface="Wingdings" pitchFamily="2" charset="2"/>
              <a:buNone/>
            </a:pPr>
            <a:r>
              <a:rPr lang="zh-CN" altLang="en-US" b="1" dirty="0">
                <a:latin typeface="仿宋_GB2312" pitchFamily="49" charset="-122"/>
                <a:ea typeface="仿宋_GB2312" pitchFamily="49" charset="-122"/>
                <a:sym typeface="Symbol" pitchFamily="18" charset="2"/>
              </a:rPr>
              <a:t>（</a:t>
            </a:r>
            <a:r>
              <a:rPr lang="en-US" altLang="zh-CN" b="1" dirty="0">
                <a:latin typeface="仿宋_GB2312" pitchFamily="49" charset="-122"/>
                <a:ea typeface="仿宋_GB2312" pitchFamily="49" charset="-122"/>
                <a:sym typeface="Symbol" pitchFamily="18" charset="2"/>
              </a:rPr>
              <a:t>6</a:t>
            </a:r>
            <a:r>
              <a:rPr lang="zh-CN" altLang="en-US" b="1" dirty="0">
                <a:latin typeface="仿宋_GB2312" pitchFamily="49" charset="-122"/>
                <a:ea typeface="仿宋_GB2312" pitchFamily="49" charset="-122"/>
                <a:sym typeface="Symbol" pitchFamily="18" charset="2"/>
              </a:rPr>
              <a:t>）</a:t>
            </a:r>
            <a:r>
              <a:rPr lang="en-US" altLang="zh-CN" b="1" dirty="0">
                <a:latin typeface="仿宋_GB2312" pitchFamily="49" charset="-122"/>
                <a:ea typeface="仿宋_GB2312" pitchFamily="49" charset="-122"/>
                <a:sym typeface="Symbol" pitchFamily="18" charset="2"/>
              </a:rPr>
              <a:t>#</a:t>
            </a:r>
            <a:r>
              <a:rPr lang="zh-CN" altLang="en-US" b="1" dirty="0">
                <a:latin typeface="仿宋_GB2312" pitchFamily="49" charset="-122"/>
                <a:ea typeface="仿宋_GB2312" pitchFamily="49" charset="-122"/>
                <a:sym typeface="Symbol" pitchFamily="18" charset="2"/>
              </a:rPr>
              <a:t>的优先性低于与其相邻的算符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2357060"/>
              </p:ext>
            </p:extLst>
          </p:nvPr>
        </p:nvGraphicFramePr>
        <p:xfrm>
          <a:off x="5291138" y="2295525"/>
          <a:ext cx="3694112" cy="338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73" name="Document" r:id="rId4" imgW="5616290" imgH="5161405" progId="Word.Document.8">
                  <p:embed/>
                </p:oleObj>
              </mc:Choice>
              <mc:Fallback>
                <p:oleObj name="Document" r:id="rId4" imgW="5616290" imgH="5161405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1138" y="2295525"/>
                        <a:ext cx="3694112" cy="3386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6732267" y="5918956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itchFamily="18" charset="0"/>
                <a:ea typeface="华文行楷" pitchFamily="2" charset="-122"/>
              </a:rPr>
              <a:t>算符优先关系表</a:t>
            </a:r>
          </a:p>
        </p:txBody>
      </p:sp>
      <p:sp>
        <p:nvSpPr>
          <p:cNvPr id="8" name="矩形 7"/>
          <p:cNvSpPr/>
          <p:nvPr/>
        </p:nvSpPr>
        <p:spPr>
          <a:xfrm>
            <a:off x="550423" y="6450028"/>
            <a:ext cx="74427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dirty="0">
                <a:solidFill>
                  <a:srgbClr val="FF0000"/>
                </a:solidFill>
              </a:rPr>
              <a:t>上述文法虽然是二义性的，但是人为给定的优先关系是唯一的。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225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四、算符优先分析法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b="1" dirty="0">
                    <a:solidFill>
                      <a:srgbClr val="FF0000"/>
                    </a:solidFill>
                  </a:rPr>
                  <a:t>定义：算符文法</a:t>
                </a:r>
                <a:endParaRPr lang="en-US" altLang="zh-CN" b="1" dirty="0">
                  <a:solidFill>
                    <a:srgbClr val="FF0000"/>
                  </a:solidFill>
                </a:endParaRPr>
              </a:p>
              <a:p>
                <a:r>
                  <a:rPr lang="zh-CN" altLang="en-US" dirty="0"/>
                  <a:t>若一文法</a:t>
                </a:r>
                <a:r>
                  <a:rPr lang="en-US" altLang="zh-CN" dirty="0"/>
                  <a:t>G</a:t>
                </a:r>
                <a:r>
                  <a:rPr lang="zh-CN" altLang="en-US" dirty="0"/>
                  <a:t>中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没有</a:t>
                </a:r>
                <a:r>
                  <a:rPr lang="zh-CN" altLang="en-US" dirty="0"/>
                  <a:t>形如</a:t>
                </a:r>
                <a:r>
                  <a:rPr lang="en-US" altLang="zh-CN" dirty="0"/>
                  <a:t>A→</a:t>
                </a:r>
                <a:r>
                  <a:rPr lang="en-US" altLang="zh-CN" dirty="0">
                    <a:latin typeface="Times New Roman" pitchFamily="18" charset="0"/>
                  </a:rPr>
                  <a:t>…</a:t>
                </a:r>
                <a:r>
                  <a:rPr lang="en-US" altLang="zh-CN" dirty="0"/>
                  <a:t>BC</a:t>
                </a:r>
                <a:r>
                  <a:rPr lang="en-US" altLang="zh-CN" dirty="0">
                    <a:latin typeface="Times New Roman" pitchFamily="18" charset="0"/>
                  </a:rPr>
                  <a:t>…</a:t>
                </a:r>
                <a:endParaRPr lang="en-US" altLang="zh-CN" dirty="0"/>
              </a:p>
              <a:p>
                <a:pPr>
                  <a:buNone/>
                </a:pPr>
                <a:r>
                  <a:rPr lang="en-US" altLang="zh-CN" dirty="0"/>
                  <a:t>（A、B、C∈V</a:t>
                </a:r>
                <a:r>
                  <a:rPr lang="en-US" altLang="zh-CN" baseline="-25000" dirty="0"/>
                  <a:t>N</a:t>
                </a:r>
                <a:r>
                  <a:rPr lang="en-US" altLang="zh-CN" dirty="0"/>
                  <a:t>）</a:t>
                </a:r>
                <a:r>
                  <a:rPr lang="zh-CN" altLang="en-US" dirty="0"/>
                  <a:t>的产生式（即两个非终结符相邻），则称</a:t>
                </a:r>
                <a:r>
                  <a:rPr lang="en-US" altLang="zh-CN" dirty="0"/>
                  <a:t>G</a:t>
                </a:r>
                <a:r>
                  <a:rPr lang="zh-CN" altLang="en-US" dirty="0"/>
                  <a:t>为算符文法,也称</a:t>
                </a:r>
                <a:r>
                  <a:rPr lang="en-US" altLang="zh-CN" dirty="0"/>
                  <a:t>OG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Operator Grammar</a:t>
                </a:r>
                <a:r>
                  <a:rPr lang="zh-CN" altLang="en-US" dirty="0"/>
                  <a:t>）文法。</a:t>
                </a:r>
              </a:p>
              <a:p>
                <a:r>
                  <a:rPr lang="zh-CN" altLang="en-US" b="1" dirty="0">
                    <a:solidFill>
                      <a:srgbClr val="FF0000"/>
                    </a:solidFill>
                  </a:rPr>
                  <a:t>性质</a:t>
                </a:r>
                <a:r>
                  <a:rPr lang="en-US" altLang="zh-CN" b="1" dirty="0">
                    <a:solidFill>
                      <a:srgbClr val="FF0000"/>
                    </a:solidFill>
                  </a:rPr>
                  <a:t>1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：</a:t>
                </a:r>
                <a:r>
                  <a:rPr lang="zh-CN" altLang="en-US" dirty="0"/>
                  <a:t>在算符文法中任何句型都不包含两个相邻的非终结符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证明：数学归纳法（略）</a:t>
                </a:r>
              </a:p>
              <a:p>
                <a:r>
                  <a:rPr lang="zh-CN" altLang="en-US" b="1" dirty="0">
                    <a:solidFill>
                      <a:srgbClr val="FF0000"/>
                    </a:solidFill>
                  </a:rPr>
                  <a:t>性质</a:t>
                </a:r>
                <a:r>
                  <a:rPr lang="en-US" altLang="zh-CN" b="1" dirty="0">
                    <a:solidFill>
                      <a:srgbClr val="FF0000"/>
                    </a:solidFill>
                  </a:rPr>
                  <a:t>2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：</a:t>
                </a:r>
                <a:r>
                  <a:rPr lang="zh-CN" altLang="en-US" dirty="0"/>
                  <a:t>如果</a:t>
                </a:r>
                <a:r>
                  <a:rPr lang="en-US" altLang="zh-CN" dirty="0"/>
                  <a:t>Ab</a:t>
                </a:r>
                <a:r>
                  <a:rPr lang="zh-CN" altLang="en-US" dirty="0"/>
                  <a:t>（或</a:t>
                </a:r>
                <a:r>
                  <a:rPr lang="en-US" altLang="zh-CN" dirty="0" err="1"/>
                  <a:t>bA</a:t>
                </a:r>
                <a:r>
                  <a:rPr lang="zh-CN" altLang="en-US" dirty="0"/>
                  <a:t>）（</a:t>
                </a:r>
                <a:r>
                  <a:rPr lang="en-US" altLang="zh-CN" dirty="0"/>
                  <a:t>A∈V</a:t>
                </a:r>
                <a:r>
                  <a:rPr lang="en-US" altLang="zh-CN" baseline="-25000" dirty="0"/>
                  <a:t>N</a:t>
                </a:r>
                <a:r>
                  <a:rPr lang="zh-CN" altLang="en-US" dirty="0"/>
                  <a:t>，</a:t>
                </a:r>
                <a:r>
                  <a:rPr lang="en-US" altLang="zh-CN" dirty="0" err="1"/>
                  <a:t>b∈V</a:t>
                </a:r>
                <a:r>
                  <a:rPr lang="en-US" altLang="zh-CN" baseline="-25000" dirty="0" err="1"/>
                  <a:t>T</a:t>
                </a:r>
                <a:r>
                  <a:rPr lang="zh-CN" altLang="en-US" dirty="0"/>
                  <a:t>）出现在算符文法的句型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/>
                      </a:rPr>
                      <m:t>𝛾</m:t>
                    </m:r>
                  </m:oMath>
                </a14:m>
                <a:r>
                  <a:rPr lang="zh-CN" altLang="en-US" dirty="0"/>
                  <a:t>中，则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/>
                      </a:rPr>
                      <m:t>𝛾</m:t>
                    </m:r>
                  </m:oMath>
                </a14:m>
                <a:r>
                  <a:rPr lang="zh-CN" altLang="en-US" dirty="0"/>
                  <a:t>中任何含</a:t>
                </a:r>
                <a:r>
                  <a:rPr lang="en-US" altLang="zh-CN" dirty="0"/>
                  <a:t>b</a:t>
                </a:r>
                <a:r>
                  <a:rPr lang="zh-CN" altLang="en-US" dirty="0"/>
                  <a:t>的短语必含有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证明：反证法（略）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8" t="-13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87637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四、算符优先分析法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定义：任意两终结符之间优先关系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/>
            <a:endParaRPr lang="zh-CN" altLang="en-US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 txBox="1">
                <a:spLocks noChangeArrowheads="1"/>
              </p:cNvSpPr>
              <p:nvPr/>
            </p:nvSpPr>
            <p:spPr bwMode="auto">
              <a:xfrm>
                <a:off x="664690" y="1839358"/>
                <a:ext cx="7875588" cy="45529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55600" indent="-269875" algn="l" rtl="0" eaLnBrk="1" fontAlgn="base" hangingPunct="1">
                  <a:spcBef>
                    <a:spcPts val="1800"/>
                  </a:spcBef>
                  <a:spcAft>
                    <a:spcPct val="0"/>
                  </a:spcAft>
                  <a:buClr>
                    <a:srgbClr val="003399"/>
                  </a:buClr>
                  <a:buSzPct val="80000"/>
                  <a:buFont typeface="Wingdings 2" panose="05020102010507070707" pitchFamily="18" charset="2"/>
                  <a:buChar char=""/>
                  <a:defRPr sz="2400" kern="1200">
                    <a:solidFill>
                      <a:srgbClr val="003399"/>
                    </a:solidFill>
                    <a:latin typeface="+mn-lt"/>
                    <a:ea typeface="+mn-ea"/>
                    <a:cs typeface="+mn-cs"/>
                  </a:defRPr>
                </a:lvl1pPr>
                <a:lvl2pPr marL="700088" indent="-342900" algn="l" rtl="0" eaLnBrk="1" fontAlgn="base" hangingPunct="1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p"/>
                  <a:defRPr sz="2000" kern="1200">
                    <a:solidFill>
                      <a:srgbClr val="7030A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ü"/>
                  <a:defRPr sz="1400" kern="1200">
                    <a:solidFill>
                      <a:srgbClr val="4D4D4D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1200" kern="1200">
                    <a:solidFill>
                      <a:srgbClr val="4D4D4D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 kern="1200">
                    <a:solidFill>
                      <a:srgbClr val="4D4D4D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itchFamily="2" charset="2"/>
                  <a:buNone/>
                </a:pPr>
                <a:r>
                  <a:rPr lang="zh-CN" altLang="en-US" sz="2800" dirty="0"/>
                  <a:t>设</a:t>
                </a:r>
                <a:r>
                  <a:rPr lang="en-US" altLang="zh-CN" sz="2800" dirty="0"/>
                  <a:t>G</a:t>
                </a:r>
                <a:r>
                  <a:rPr lang="zh-CN" altLang="en-US" sz="2800" dirty="0"/>
                  <a:t>是一个不含</a:t>
                </a:r>
                <a:r>
                  <a:rPr lang="zh-CN" altLang="en-US" sz="2800" dirty="0">
                    <a:sym typeface="Symbol" pitchFamily="18" charset="2"/>
                  </a:rPr>
                  <a:t>产生式的算符文法，</a:t>
                </a:r>
                <a:r>
                  <a:rPr lang="en-US" altLang="zh-CN" sz="2800" dirty="0" err="1">
                    <a:sym typeface="Symbol" pitchFamily="18" charset="2"/>
                  </a:rPr>
                  <a:t>a、b∈V</a:t>
                </a:r>
                <a:r>
                  <a:rPr lang="en-US" altLang="zh-CN" sz="2800" baseline="-25000" dirty="0" err="1">
                    <a:sym typeface="Symbol" pitchFamily="18" charset="2"/>
                  </a:rPr>
                  <a:t>T</a:t>
                </a:r>
                <a:r>
                  <a:rPr lang="en-US" altLang="zh-CN" sz="2800" dirty="0" err="1">
                    <a:sym typeface="Symbol" pitchFamily="18" charset="2"/>
                  </a:rPr>
                  <a:t>，A、B、C∈V</a:t>
                </a:r>
                <a:r>
                  <a:rPr lang="en-US" altLang="zh-CN" sz="2800" baseline="-25000" dirty="0" err="1">
                    <a:sym typeface="Symbol" pitchFamily="18" charset="2"/>
                  </a:rPr>
                  <a:t>N</a:t>
                </a:r>
                <a:r>
                  <a:rPr lang="en-US" altLang="zh-CN" sz="2800" dirty="0">
                    <a:sym typeface="Symbol" pitchFamily="18" charset="2"/>
                  </a:rPr>
                  <a:t>：</a:t>
                </a:r>
              </a:p>
              <a:p>
                <a:r>
                  <a:rPr lang="en-US" altLang="zh-CN" sz="2800" dirty="0">
                    <a:sym typeface="Symbol" pitchFamily="18" charset="2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800" i="1" smtClean="0">
                        <a:latin typeface="Cambria Math"/>
                        <a:ea typeface="Cambria Math"/>
                        <a:sym typeface="Symbol" pitchFamily="18" charset="2"/>
                      </a:rPr>
                      <m:t>≖</m:t>
                    </m:r>
                  </m:oMath>
                </a14:m>
                <a:r>
                  <a:rPr lang="en-US" altLang="zh-CN" sz="2800" dirty="0">
                    <a:sym typeface="Symbol" pitchFamily="18" charset="2"/>
                  </a:rPr>
                  <a:t>b</a:t>
                </a:r>
                <a:r>
                  <a:rPr lang="zh-CN" altLang="en-US" sz="2800" dirty="0">
                    <a:sym typeface="Symbol" pitchFamily="18" charset="2"/>
                  </a:rPr>
                  <a:t>，当且仅当</a:t>
                </a:r>
                <a:r>
                  <a:rPr lang="en-US" altLang="zh-CN" sz="2800" dirty="0">
                    <a:sym typeface="Symbol" pitchFamily="18" charset="2"/>
                  </a:rPr>
                  <a:t>G</a:t>
                </a:r>
                <a:r>
                  <a:rPr lang="zh-CN" altLang="en-US" sz="2800" dirty="0">
                    <a:sym typeface="Symbol" pitchFamily="18" charset="2"/>
                  </a:rPr>
                  <a:t>中含有  </a:t>
                </a:r>
              </a:p>
              <a:p>
                <a:pPr>
                  <a:buFont typeface="Wingdings" pitchFamily="2" charset="2"/>
                  <a:buNone/>
                </a:pPr>
                <a:r>
                  <a:rPr lang="en-US" altLang="zh-CN" sz="2800" dirty="0"/>
                  <a:t>			A→</a:t>
                </a:r>
                <a:r>
                  <a:rPr lang="en-US" altLang="zh-CN" sz="2800" dirty="0">
                    <a:latin typeface="Times New Roman" pitchFamily="18" charset="0"/>
                  </a:rPr>
                  <a:t>…</a:t>
                </a:r>
                <a:r>
                  <a:rPr lang="en-US" altLang="zh-CN" sz="2800" dirty="0"/>
                  <a:t>ab</a:t>
                </a:r>
                <a:r>
                  <a:rPr lang="en-US" altLang="zh-CN" sz="2800" dirty="0">
                    <a:latin typeface="Times New Roman" pitchFamily="18" charset="0"/>
                  </a:rPr>
                  <a:t>…</a:t>
                </a:r>
                <a:r>
                  <a:rPr lang="zh-CN" altLang="en-US" sz="2800" dirty="0"/>
                  <a:t>或</a:t>
                </a:r>
                <a:r>
                  <a:rPr lang="en-US" altLang="zh-CN" sz="2800" dirty="0"/>
                  <a:t>A→</a:t>
                </a:r>
                <a:r>
                  <a:rPr lang="en-US" altLang="zh-CN" sz="2800" dirty="0">
                    <a:latin typeface="Times New Roman" pitchFamily="18" charset="0"/>
                  </a:rPr>
                  <a:t>…</a:t>
                </a:r>
                <a:r>
                  <a:rPr lang="en-US" altLang="zh-CN" sz="2800" dirty="0" err="1"/>
                  <a:t>aBb</a:t>
                </a:r>
                <a:r>
                  <a:rPr lang="en-US" altLang="zh-CN" sz="2800" dirty="0">
                    <a:latin typeface="Times New Roman" pitchFamily="18" charset="0"/>
                  </a:rPr>
                  <a:t>…</a:t>
                </a:r>
                <a:r>
                  <a:rPr lang="en-US" altLang="zh-CN" sz="2800" dirty="0"/>
                  <a:t> </a:t>
                </a:r>
                <a:r>
                  <a:rPr lang="zh-CN" altLang="en-US" sz="2800" dirty="0"/>
                  <a:t>产生式</a:t>
                </a:r>
              </a:p>
              <a:p>
                <a:r>
                  <a:rPr lang="en-US" altLang="zh-CN" sz="2800" dirty="0">
                    <a:sym typeface="Symbol" pitchFamily="18" charset="2"/>
                  </a:rPr>
                  <a:t>a</a:t>
                </a:r>
                <a14:m>
                  <m:oMath xmlns:m="http://schemas.openxmlformats.org/officeDocument/2006/math">
                    <m:r>
                      <a:rPr lang="zh-CN" altLang="en-US" sz="2800" i="1" dirty="0" smtClean="0">
                        <a:latin typeface="Cambria Math"/>
                        <a:sym typeface="Symbol" pitchFamily="18" charset="2"/>
                      </a:rPr>
                      <m:t>⋖</m:t>
                    </m:r>
                  </m:oMath>
                </a14:m>
                <a:r>
                  <a:rPr lang="en-US" altLang="zh-CN" sz="2800" dirty="0">
                    <a:sym typeface="Symbol" pitchFamily="18" charset="2"/>
                  </a:rPr>
                  <a:t>b</a:t>
                </a:r>
                <a:r>
                  <a:rPr lang="zh-CN" altLang="en-US" sz="2800" dirty="0">
                    <a:sym typeface="Symbol" pitchFamily="18" charset="2"/>
                  </a:rPr>
                  <a:t> ，当且仅当</a:t>
                </a:r>
                <a:r>
                  <a:rPr lang="en-US" altLang="zh-CN" sz="2800" dirty="0">
                    <a:sym typeface="Symbol" pitchFamily="18" charset="2"/>
                  </a:rPr>
                  <a:t>G</a:t>
                </a:r>
                <a:r>
                  <a:rPr lang="zh-CN" altLang="en-US" sz="2800" dirty="0">
                    <a:sym typeface="Symbol" pitchFamily="18" charset="2"/>
                  </a:rPr>
                  <a:t>中含有 </a:t>
                </a:r>
              </a:p>
              <a:p>
                <a:pPr>
                  <a:buFont typeface="Wingdings" pitchFamily="2" charset="2"/>
                  <a:buNone/>
                </a:pPr>
                <a:r>
                  <a:rPr lang="en-US" altLang="zh-CN" sz="2800" dirty="0"/>
                  <a:t>			A→</a:t>
                </a:r>
                <a:r>
                  <a:rPr lang="en-US" altLang="zh-CN" sz="2800" dirty="0">
                    <a:latin typeface="Times New Roman" pitchFamily="18" charset="0"/>
                  </a:rPr>
                  <a:t>…</a:t>
                </a:r>
                <a:r>
                  <a:rPr lang="en-US" altLang="zh-CN" sz="2800" dirty="0" err="1"/>
                  <a:t>aB</a:t>
                </a:r>
                <a:r>
                  <a:rPr lang="en-US" altLang="zh-CN" sz="2800" dirty="0">
                    <a:latin typeface="Times New Roman" pitchFamily="18" charset="0"/>
                  </a:rPr>
                  <a:t>…</a:t>
                </a:r>
                <a:r>
                  <a:rPr lang="en-US" altLang="zh-CN" sz="2800" dirty="0"/>
                  <a:t>，</a:t>
                </a:r>
                <a:r>
                  <a:rPr lang="zh-CN" altLang="en-US" sz="2800" dirty="0"/>
                  <a:t>且</a:t>
                </a:r>
                <a:r>
                  <a:rPr lang="en-US" altLang="zh-CN" sz="2800" dirty="0"/>
                  <a:t>B      </a:t>
                </a:r>
                <a:r>
                  <a:rPr lang="en-US" altLang="zh-CN" sz="2800" dirty="0" err="1">
                    <a:sym typeface="Symbol" pitchFamily="18" charset="2"/>
                  </a:rPr>
                  <a:t>b</a:t>
                </a:r>
                <a:r>
                  <a:rPr lang="en-US" altLang="zh-CN" sz="2800" dirty="0">
                    <a:latin typeface="Times New Roman" pitchFamily="18" charset="0"/>
                  </a:rPr>
                  <a:t>…</a:t>
                </a:r>
                <a:r>
                  <a:rPr lang="zh-CN" altLang="en-US" sz="2800" dirty="0"/>
                  <a:t>或</a:t>
                </a:r>
                <a:r>
                  <a:rPr lang="en-US" altLang="zh-CN" sz="2800" dirty="0"/>
                  <a:t>B     </a:t>
                </a:r>
                <a:r>
                  <a:rPr lang="en-US" altLang="zh-CN" sz="2800" dirty="0" err="1">
                    <a:sym typeface="Symbol" pitchFamily="18" charset="2"/>
                  </a:rPr>
                  <a:t>Cb</a:t>
                </a:r>
                <a:r>
                  <a:rPr lang="en-US" altLang="zh-CN" sz="2800" dirty="0">
                    <a:latin typeface="Times New Roman" pitchFamily="18" charset="0"/>
                  </a:rPr>
                  <a:t>…</a:t>
                </a:r>
                <a:endParaRPr lang="zh-CN" altLang="en-US" sz="2800" dirty="0">
                  <a:sym typeface="Symbol" pitchFamily="18" charset="2"/>
                </a:endParaRPr>
              </a:p>
              <a:p>
                <a:r>
                  <a:rPr lang="en-US" altLang="zh-CN" sz="2800" dirty="0">
                    <a:sym typeface="Symbol" pitchFamily="18" charset="2"/>
                  </a:rPr>
                  <a:t>a</a:t>
                </a:r>
                <a14:m>
                  <m:oMath xmlns:m="http://schemas.openxmlformats.org/officeDocument/2006/math">
                    <m:r>
                      <a:rPr lang="zh-CN" altLang="en-US" sz="2800" i="1" dirty="0" smtClean="0">
                        <a:latin typeface="Cambria Math"/>
                        <a:sym typeface="Symbol" pitchFamily="18" charset="2"/>
                      </a:rPr>
                      <m:t>⋗</m:t>
                    </m:r>
                  </m:oMath>
                </a14:m>
                <a:r>
                  <a:rPr lang="en-US" altLang="zh-CN" sz="2800" dirty="0">
                    <a:sym typeface="Symbol" pitchFamily="18" charset="2"/>
                  </a:rPr>
                  <a:t>b</a:t>
                </a:r>
                <a:r>
                  <a:rPr lang="zh-CN" altLang="en-US" sz="2800" dirty="0">
                    <a:sym typeface="Symbol" pitchFamily="18" charset="2"/>
                  </a:rPr>
                  <a:t> ，当且仅当</a:t>
                </a:r>
                <a:r>
                  <a:rPr lang="en-US" altLang="zh-CN" sz="2800" dirty="0">
                    <a:sym typeface="Symbol" pitchFamily="18" charset="2"/>
                  </a:rPr>
                  <a:t>G</a:t>
                </a:r>
                <a:r>
                  <a:rPr lang="zh-CN" altLang="en-US" sz="2800" dirty="0">
                    <a:sym typeface="Symbol" pitchFamily="18" charset="2"/>
                  </a:rPr>
                  <a:t>中含有 </a:t>
                </a:r>
              </a:p>
              <a:p>
                <a:pPr>
                  <a:buFont typeface="Wingdings" pitchFamily="2" charset="2"/>
                  <a:buNone/>
                </a:pPr>
                <a:r>
                  <a:rPr lang="en-US" altLang="zh-CN" sz="2800" dirty="0"/>
                  <a:t>			A→</a:t>
                </a:r>
                <a:r>
                  <a:rPr lang="en-US" altLang="zh-CN" sz="2800" dirty="0">
                    <a:latin typeface="Times New Roman" pitchFamily="18" charset="0"/>
                  </a:rPr>
                  <a:t>…</a:t>
                </a:r>
                <a:r>
                  <a:rPr lang="en-US" altLang="zh-CN" sz="2800" dirty="0"/>
                  <a:t>Bb</a:t>
                </a:r>
                <a:r>
                  <a:rPr lang="en-US" altLang="zh-CN" sz="2800" dirty="0">
                    <a:latin typeface="Times New Roman" pitchFamily="18" charset="0"/>
                  </a:rPr>
                  <a:t>…</a:t>
                </a:r>
                <a:r>
                  <a:rPr lang="en-US" altLang="zh-CN" sz="2800" dirty="0"/>
                  <a:t>，</a:t>
                </a:r>
                <a:r>
                  <a:rPr lang="zh-CN" altLang="en-US" sz="2800" dirty="0"/>
                  <a:t>且</a:t>
                </a:r>
                <a:r>
                  <a:rPr lang="en-US" altLang="zh-CN" sz="2800" dirty="0"/>
                  <a:t>B    </a:t>
                </a:r>
                <a:r>
                  <a:rPr lang="en-US" altLang="zh-CN" sz="2800" dirty="0">
                    <a:latin typeface="Times New Roman" pitchFamily="18" charset="0"/>
                  </a:rPr>
                  <a:t>…</a:t>
                </a:r>
                <a:r>
                  <a:rPr lang="en-US" altLang="zh-CN" sz="2800" dirty="0"/>
                  <a:t>a</a:t>
                </a:r>
                <a:r>
                  <a:rPr lang="zh-CN" altLang="en-US" sz="2800" dirty="0"/>
                  <a:t>或</a:t>
                </a:r>
                <a:r>
                  <a:rPr lang="en-US" altLang="zh-CN" sz="2800" dirty="0"/>
                  <a:t>B    </a:t>
                </a:r>
                <a:r>
                  <a:rPr lang="en-US" altLang="zh-CN" sz="2800" dirty="0">
                    <a:sym typeface="Symbol" pitchFamily="18" charset="2"/>
                  </a:rPr>
                  <a:t> </a:t>
                </a:r>
                <a:r>
                  <a:rPr lang="en-US" altLang="zh-CN" sz="2800" dirty="0">
                    <a:latin typeface="Times New Roman" pitchFamily="18" charset="0"/>
                    <a:sym typeface="Symbol" pitchFamily="18" charset="2"/>
                  </a:rPr>
                  <a:t>…</a:t>
                </a:r>
                <a:r>
                  <a:rPr lang="en-US" altLang="zh-CN" sz="2800" dirty="0" err="1"/>
                  <a:t>aC</a:t>
                </a:r>
                <a:endParaRPr lang="zh-CN" altLang="en-US" sz="2800" dirty="0">
                  <a:sym typeface="Symbol" pitchFamily="18" charset="2"/>
                </a:endParaRPr>
              </a:p>
              <a:p>
                <a:endParaRPr lang="zh-CN" altLang="en-US" sz="2800" dirty="0"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4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4690" y="1839358"/>
                <a:ext cx="7875588" cy="4552950"/>
              </a:xfrm>
              <a:prstGeom prst="rect">
                <a:avLst/>
              </a:prstGeom>
              <a:blipFill rotWithShape="1">
                <a:blip r:embed="rId3"/>
                <a:stretch>
                  <a:fillRect l="-464" t="-1740" r="-1625" b="-1097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7588309"/>
              </p:ext>
            </p:extLst>
          </p:nvPr>
        </p:nvGraphicFramePr>
        <p:xfrm>
          <a:off x="5297644" y="4917834"/>
          <a:ext cx="4095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26" name="位图图像" r:id="rId4" imgW="409632" imgH="380852" progId="Paint.Picture">
                  <p:embed/>
                </p:oleObj>
              </mc:Choice>
              <mc:Fallback>
                <p:oleObj name="位图图像" r:id="rId4" imgW="409632" imgH="380852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7644" y="4917834"/>
                        <a:ext cx="40957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3663964"/>
              </p:ext>
            </p:extLst>
          </p:nvPr>
        </p:nvGraphicFramePr>
        <p:xfrm>
          <a:off x="5297644" y="6266574"/>
          <a:ext cx="4095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27" name="位图图像" r:id="rId6" imgW="409632" imgH="380852" progId="Paint.Picture">
                  <p:embed/>
                </p:oleObj>
              </mc:Choice>
              <mc:Fallback>
                <p:oleObj name="位图图像" r:id="rId6" imgW="409632" imgH="380852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7644" y="6266574"/>
                        <a:ext cx="40957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0591218"/>
              </p:ext>
            </p:extLst>
          </p:nvPr>
        </p:nvGraphicFramePr>
        <p:xfrm>
          <a:off x="6821644" y="6266574"/>
          <a:ext cx="4095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28" name="位图图像" r:id="rId7" imgW="409632" imgH="380852" progId="Paint.Picture">
                  <p:embed/>
                </p:oleObj>
              </mc:Choice>
              <mc:Fallback>
                <p:oleObj name="位图图像" r:id="rId7" imgW="409632" imgH="380852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1644" y="6266574"/>
                        <a:ext cx="40957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7578532"/>
              </p:ext>
            </p:extLst>
          </p:nvPr>
        </p:nvGraphicFramePr>
        <p:xfrm>
          <a:off x="7050244" y="4994034"/>
          <a:ext cx="4095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29" name="位图图像" r:id="rId8" imgW="409632" imgH="380852" progId="Paint.Picture">
                  <p:embed/>
                </p:oleObj>
              </mc:Choice>
              <mc:Fallback>
                <p:oleObj name="位图图像" r:id="rId8" imgW="409632" imgH="380852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0244" y="4994034"/>
                        <a:ext cx="40957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90026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四、算符优先分析法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由语法树看优先性：</a:t>
            </a:r>
          </a:p>
          <a:p>
            <a:endParaRPr lang="zh-CN" altLang="en-US" dirty="0"/>
          </a:p>
        </p:txBody>
      </p:sp>
      <p:pic>
        <p:nvPicPr>
          <p:cNvPr id="4" name="Picture 4" descr="Image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96" r="24933" b="80717"/>
          <a:stretch>
            <a:fillRect/>
          </a:stretch>
        </p:blipFill>
        <p:spPr bwMode="auto">
          <a:xfrm>
            <a:off x="971555" y="1773385"/>
            <a:ext cx="7127875" cy="364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539755" y="5805635"/>
            <a:ext cx="180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800" dirty="0">
                <a:solidFill>
                  <a:srgbClr val="0000FF"/>
                </a:solidFill>
                <a:sym typeface="Symbol" pitchFamily="18" charset="2"/>
              </a:rPr>
              <a:t>a</a:t>
            </a:r>
            <a:r>
              <a:rPr lang="zh-CN" altLang="en-US" sz="1800" dirty="0">
                <a:solidFill>
                  <a:srgbClr val="0000FF"/>
                </a:solidFill>
                <a:sym typeface="Symbol" pitchFamily="18" charset="2"/>
              </a:rPr>
              <a:t>的优先性等于</a:t>
            </a:r>
            <a:r>
              <a:rPr lang="en-US" altLang="zh-CN" sz="1800" dirty="0">
                <a:solidFill>
                  <a:srgbClr val="0000FF"/>
                </a:solidFill>
                <a:sym typeface="Symbol" pitchFamily="18" charset="2"/>
              </a:rPr>
              <a:t>b</a:t>
            </a:r>
            <a:endParaRPr lang="zh-CN" altLang="en-US" sz="1800" dirty="0">
              <a:solidFill>
                <a:srgbClr val="0000FF"/>
              </a:solidFill>
              <a:sym typeface="Symbol" pitchFamily="18" charset="2"/>
            </a:endParaRPr>
          </a:p>
        </p:txBody>
      </p:sp>
      <p:sp>
        <p:nvSpPr>
          <p:cNvPr id="6" name="AutoShape 8"/>
          <p:cNvSpPr>
            <a:spLocks noChangeArrowheads="1"/>
          </p:cNvSpPr>
          <p:nvPr/>
        </p:nvSpPr>
        <p:spPr bwMode="auto">
          <a:xfrm>
            <a:off x="395293" y="5661173"/>
            <a:ext cx="2087562" cy="647700"/>
          </a:xfrm>
          <a:prstGeom prst="wedgeRoundRectCallout">
            <a:avLst>
              <a:gd name="adj1" fmla="val 23157"/>
              <a:gd name="adj2" fmla="val -140685"/>
              <a:gd name="adj3" fmla="val 16667"/>
            </a:avLst>
          </a:prstGeom>
          <a:noFill/>
          <a:ln w="9525" algn="ctr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/>
            <a:endParaRPr lang="en-US" altLang="zh-CN" sz="1800"/>
          </a:p>
        </p:txBody>
      </p:sp>
      <p:sp>
        <p:nvSpPr>
          <p:cNvPr id="7" name="AutoShape 10"/>
          <p:cNvSpPr>
            <a:spLocks noChangeArrowheads="1"/>
          </p:cNvSpPr>
          <p:nvPr/>
        </p:nvSpPr>
        <p:spPr bwMode="auto">
          <a:xfrm>
            <a:off x="3203580" y="5877073"/>
            <a:ext cx="2087563" cy="647700"/>
          </a:xfrm>
          <a:prstGeom prst="wedgeRoundRectCallout">
            <a:avLst>
              <a:gd name="adj1" fmla="val 12282"/>
              <a:gd name="adj2" fmla="val -120343"/>
              <a:gd name="adj3" fmla="val 16667"/>
            </a:avLst>
          </a:prstGeom>
          <a:noFill/>
          <a:ln w="9525" algn="ctr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/>
            <a:endParaRPr lang="en-US" altLang="zh-CN" sz="1800"/>
          </a:p>
        </p:txBody>
      </p:sp>
      <p:sp>
        <p:nvSpPr>
          <p:cNvPr id="8" name="Rectangle 13"/>
          <p:cNvSpPr>
            <a:spLocks noChangeArrowheads="1"/>
          </p:cNvSpPr>
          <p:nvPr/>
        </p:nvSpPr>
        <p:spPr bwMode="auto">
          <a:xfrm>
            <a:off x="3348043" y="6021535"/>
            <a:ext cx="180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800" dirty="0">
                <a:solidFill>
                  <a:srgbClr val="0000FF"/>
                </a:solidFill>
                <a:sym typeface="Symbol" pitchFamily="18" charset="2"/>
              </a:rPr>
              <a:t>a</a:t>
            </a:r>
            <a:r>
              <a:rPr lang="zh-CN" altLang="en-US" sz="1800" dirty="0">
                <a:solidFill>
                  <a:srgbClr val="0000FF"/>
                </a:solidFill>
                <a:sym typeface="Symbol" pitchFamily="18" charset="2"/>
              </a:rPr>
              <a:t>的优先性小于</a:t>
            </a:r>
            <a:r>
              <a:rPr lang="en-US" altLang="zh-CN" sz="1800" dirty="0">
                <a:solidFill>
                  <a:srgbClr val="0000FF"/>
                </a:solidFill>
                <a:sym typeface="Symbol" pitchFamily="18" charset="2"/>
              </a:rPr>
              <a:t>b</a:t>
            </a:r>
            <a:endParaRPr lang="zh-CN" altLang="en-US" sz="1800" dirty="0">
              <a:solidFill>
                <a:srgbClr val="0000FF"/>
              </a:solidFill>
              <a:sym typeface="Symbol" pitchFamily="18" charset="2"/>
            </a:endParaRPr>
          </a:p>
        </p:txBody>
      </p:sp>
      <p:sp>
        <p:nvSpPr>
          <p:cNvPr id="9" name="AutoShape 14"/>
          <p:cNvSpPr>
            <a:spLocks noChangeArrowheads="1"/>
          </p:cNvSpPr>
          <p:nvPr/>
        </p:nvSpPr>
        <p:spPr bwMode="auto">
          <a:xfrm>
            <a:off x="6227768" y="5805635"/>
            <a:ext cx="2087562" cy="647700"/>
          </a:xfrm>
          <a:prstGeom prst="wedgeRoundRectCallout">
            <a:avLst>
              <a:gd name="adj1" fmla="val 796"/>
              <a:gd name="adj2" fmla="val -170097"/>
              <a:gd name="adj3" fmla="val 16667"/>
            </a:avLst>
          </a:prstGeom>
          <a:noFill/>
          <a:ln w="9525" algn="ctr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/>
            <a:endParaRPr lang="en-US" altLang="zh-CN" sz="1800"/>
          </a:p>
        </p:txBody>
      </p:sp>
      <p:sp>
        <p:nvSpPr>
          <p:cNvPr id="10" name="Rectangle 15"/>
          <p:cNvSpPr>
            <a:spLocks noChangeArrowheads="1"/>
          </p:cNvSpPr>
          <p:nvPr/>
        </p:nvSpPr>
        <p:spPr bwMode="auto">
          <a:xfrm>
            <a:off x="6372230" y="5950098"/>
            <a:ext cx="1803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800" dirty="0">
                <a:solidFill>
                  <a:srgbClr val="0000FF"/>
                </a:solidFill>
                <a:sym typeface="Symbol" pitchFamily="18" charset="2"/>
              </a:rPr>
              <a:t>a</a:t>
            </a:r>
            <a:r>
              <a:rPr lang="zh-CN" altLang="en-US" sz="1800" dirty="0">
                <a:solidFill>
                  <a:srgbClr val="0000FF"/>
                </a:solidFill>
                <a:sym typeface="Symbol" pitchFamily="18" charset="2"/>
              </a:rPr>
              <a:t>的优先性大于</a:t>
            </a:r>
            <a:r>
              <a:rPr lang="en-US" altLang="zh-CN" sz="1800" dirty="0">
                <a:solidFill>
                  <a:srgbClr val="0000FF"/>
                </a:solidFill>
                <a:sym typeface="Symbol" pitchFamily="18" charset="2"/>
              </a:rPr>
              <a:t>b</a:t>
            </a:r>
            <a:endParaRPr lang="zh-CN" altLang="en-US" sz="1800" dirty="0">
              <a:solidFill>
                <a:srgbClr val="0000FF"/>
              </a:solidFill>
              <a:sym typeface="Symbol" pitchFamily="18" charset="2"/>
            </a:endParaRP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09409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四、算符优先分析法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>
                    <a:solidFill>
                      <a:srgbClr val="FF0000"/>
                    </a:solidFill>
                  </a:rPr>
                  <a:t>定义：算符优先文法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r>
                  <a:rPr lang="zh-CN" altLang="en-US" dirty="0"/>
                  <a:t>对于某一文法</a:t>
                </a:r>
                <a:r>
                  <a:rPr lang="en-US" altLang="zh-CN" dirty="0"/>
                  <a:t>G</a:t>
                </a:r>
                <a:r>
                  <a:rPr lang="zh-CN" altLang="en-US" dirty="0"/>
                  <a:t>满足：</a:t>
                </a:r>
              </a:p>
              <a:p>
                <a:pPr lvl="1"/>
                <a:r>
                  <a:rPr lang="zh-CN" altLang="en-US" dirty="0"/>
                  <a:t>是算符文法</a:t>
                </a:r>
              </a:p>
              <a:p>
                <a:pPr lvl="1"/>
                <a:r>
                  <a:rPr lang="zh-CN" altLang="en-US" dirty="0"/>
                  <a:t>不含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/>
                      </a:rPr>
                      <m:t>𝜀</m:t>
                    </m:r>
                  </m:oMath>
                </a14:m>
                <a:r>
                  <a:rPr lang="zh-CN" altLang="en-US" dirty="0"/>
                  <a:t>产生式</a:t>
                </a:r>
              </a:p>
              <a:p>
                <a:pPr lvl="1"/>
                <a:r>
                  <a:rPr lang="zh-CN" altLang="en-US" dirty="0"/>
                  <a:t>任意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b</a:t>
                </a:r>
                <a:r>
                  <a:rPr lang="zh-CN" altLang="en-US" dirty="0"/>
                  <a:t>（ 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、</a:t>
                </a:r>
                <a:r>
                  <a:rPr lang="en-US" altLang="zh-CN" dirty="0" err="1"/>
                  <a:t>b∈VT</a:t>
                </a:r>
                <a:r>
                  <a:rPr lang="zh-CN" altLang="en-US" dirty="0"/>
                  <a:t>）之间的优先关系最多只有一种</a:t>
                </a:r>
              </a:p>
              <a:p>
                <a:r>
                  <a:rPr lang="zh-CN" altLang="en-US" dirty="0"/>
                  <a:t>文法</a:t>
                </a:r>
                <a:r>
                  <a:rPr lang="en-US" altLang="zh-CN" dirty="0"/>
                  <a:t>G</a:t>
                </a:r>
                <a:r>
                  <a:rPr lang="zh-CN" altLang="en-US" dirty="0"/>
                  <a:t>是算符优先文法</a:t>
                </a:r>
                <a:r>
                  <a:rPr lang="en-US" altLang="zh-CN" dirty="0"/>
                  <a:t>(OPG)</a:t>
                </a:r>
                <a:r>
                  <a:rPr lang="zh-CN" altLang="en-US" dirty="0"/>
                  <a:t>。</a:t>
                </a:r>
              </a:p>
              <a:p>
                <a:pPr lvl="1"/>
                <a:r>
                  <a:rPr lang="zh-CN" altLang="en-US" dirty="0"/>
                  <a:t>例：文法</a:t>
                </a:r>
                <a:r>
                  <a:rPr lang="en-US" altLang="zh-CN" dirty="0"/>
                  <a:t>G[E]</a:t>
                </a:r>
                <a:r>
                  <a:rPr lang="zh-CN" altLang="en-US" dirty="0"/>
                  <a:t>：  </a:t>
                </a:r>
                <a:r>
                  <a:rPr lang="en-US" altLang="zh-CN" dirty="0"/>
                  <a:t>E→E+E|E-E|E*E|E/E|E</a:t>
                </a:r>
                <a:r>
                  <a:rPr lang="en-US" altLang="zh-CN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Cambria Math"/>
                      </a:rPr>
                      <m:t>↑ </m:t>
                    </m:r>
                  </m:oMath>
                </a14:m>
                <a:r>
                  <a:rPr lang="en-US" altLang="zh-CN" dirty="0"/>
                  <a:t>E|(E)|</a:t>
                </a:r>
                <a:r>
                  <a:rPr lang="en-US" altLang="zh-CN" dirty="0" err="1"/>
                  <a:t>i</a:t>
                </a:r>
                <a:endParaRPr lang="en-US" altLang="zh-CN" dirty="0"/>
              </a:p>
              <a:p>
                <a:pPr marL="357188" lvl="1" indent="0">
                  <a:buNone/>
                </a:pPr>
                <a:r>
                  <a:rPr lang="zh-CN" altLang="en-US" dirty="0"/>
                  <a:t>不是</a:t>
                </a:r>
                <a:r>
                  <a:rPr lang="en-US" altLang="zh-CN" dirty="0"/>
                  <a:t>OPG</a:t>
                </a:r>
                <a:r>
                  <a:rPr lang="zh-CN" altLang="en-US"/>
                  <a:t>。（关系不止一种）</a:t>
                </a:r>
                <a:endParaRPr lang="zh-CN" altLang="en-US" dirty="0"/>
              </a:p>
              <a:p>
                <a:pPr lvl="1"/>
                <a:r>
                  <a:rPr lang="zh-CN" altLang="en-US" dirty="0"/>
                  <a:t>注意：允许</a:t>
                </a:r>
                <a:r>
                  <a:rPr lang="en-US" altLang="zh-CN" dirty="0"/>
                  <a:t>b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/>
                        <a:ea typeface="Cambria Math"/>
                      </a:rPr>
                      <m:t>⋗</m:t>
                    </m:r>
                  </m:oMath>
                </a14:m>
                <a:r>
                  <a:rPr lang="en-US" altLang="zh-CN" dirty="0" err="1"/>
                  <a:t>c,c</a:t>
                </a:r>
                <a:r>
                  <a:rPr lang="en-US" altLang="zh-CN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  <a:ea typeface="Cambria Math"/>
                      </a:rPr>
                      <m:t>⋗ </m:t>
                    </m:r>
                  </m:oMath>
                </a14:m>
                <a:r>
                  <a:rPr lang="en-US" altLang="zh-CN" dirty="0"/>
                  <a:t>b;</a:t>
                </a:r>
                <a:r>
                  <a:rPr lang="zh-CN" altLang="en-US" dirty="0"/>
                  <a:t>不允许</a:t>
                </a:r>
                <a:r>
                  <a:rPr lang="en-US" altLang="zh-CN" dirty="0"/>
                  <a:t>b</a:t>
                </a:r>
                <a:r>
                  <a:rPr lang="en-US" altLang="zh-CN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  <a:ea typeface="Cambria Math"/>
                      </a:rPr>
                      <m:t>⋗ </m:t>
                    </m:r>
                  </m:oMath>
                </a14:m>
                <a:r>
                  <a:rPr lang="en-US" altLang="zh-CN" dirty="0" err="1"/>
                  <a:t>c,b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/>
                        <a:ea typeface="Cambria Math"/>
                      </a:rPr>
                      <m:t>⋖</m:t>
                    </m:r>
                  </m:oMath>
                </a14:m>
                <a:r>
                  <a:rPr lang="en-US" altLang="zh-CN" dirty="0" err="1"/>
                  <a:t>c,b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/>
                        <a:ea typeface="Cambria Math"/>
                      </a:rPr>
                      <m:t>≖</m:t>
                    </m:r>
                  </m:oMath>
                </a14:m>
                <a:r>
                  <a:rPr lang="en-US" altLang="zh-CN" dirty="0"/>
                  <a:t>c</a:t>
                </a:r>
                <a:r>
                  <a:rPr lang="zh-CN" altLang="en-US" dirty="0"/>
                  <a:t>同时存在。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结论：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算符优先文法是无二义的</a:t>
                </a:r>
                <a:r>
                  <a:rPr lang="zh-CN" altLang="en-US" dirty="0"/>
                  <a:t>。</a:t>
                </a:r>
              </a:p>
              <a:p>
                <a:pPr lvl="1"/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3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035689"/>
            <a:ext cx="2997307" cy="1673222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1D9BAC7-F0F7-4B97-A7B5-E2A9EA5D9E69}"/>
              </a:ext>
            </a:extLst>
          </p:cNvPr>
          <p:cNvSpPr/>
          <p:nvPr/>
        </p:nvSpPr>
        <p:spPr>
          <a:xfrm>
            <a:off x="4572000" y="1988822"/>
            <a:ext cx="2880356" cy="72008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34A19CA-9F2A-405B-B2F6-38EFAFCABC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2089" y="3429000"/>
            <a:ext cx="4767485" cy="64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9097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四、算符优先分析法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4.2 </a:t>
            </a:r>
            <a:r>
              <a:rPr lang="zh-CN" altLang="en-US" dirty="0"/>
              <a:t>算符优先关系表的构造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方法一：由定义直接构造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方法二：形式化算法构造</a:t>
            </a:r>
          </a:p>
          <a:p>
            <a:pPr lvl="1">
              <a:lnSpc>
                <a:spcPct val="140000"/>
              </a:lnSpc>
            </a:pPr>
            <a:r>
              <a:rPr lang="zh-CN" altLang="en-US" dirty="0"/>
              <a:t>方法三：由关系图法构造</a:t>
            </a:r>
          </a:p>
          <a:p>
            <a:pPr lvl="1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2149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四、算符优先分析法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77105" y="1041401"/>
                <a:ext cx="8218487" cy="5113338"/>
              </a:xfrm>
            </p:spPr>
            <p:txBody>
              <a:bodyPr/>
              <a:lstStyle/>
              <a:p>
                <a:r>
                  <a:rPr lang="zh-CN" altLang="en-US" dirty="0">
                    <a:solidFill>
                      <a:srgbClr val="FF0000"/>
                    </a:solidFill>
                  </a:rPr>
                  <a:t>由</a:t>
                </a:r>
                <a:r>
                  <a:rPr lang="zh-CN" altLang="en-US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定义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构造优先关系表：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r>
                  <a:rPr lang="zh-CN" altLang="en-US" dirty="0"/>
                  <a:t>定义</a:t>
                </a:r>
                <a:r>
                  <a:rPr lang="en-US" altLang="zh-CN" dirty="0"/>
                  <a:t>FIRSTVT </a:t>
                </a:r>
                <a:r>
                  <a:rPr lang="zh-CN" altLang="en-US" dirty="0"/>
                  <a:t>和 </a:t>
                </a:r>
                <a:r>
                  <a:rPr lang="en-US" altLang="zh-CN" dirty="0"/>
                  <a:t>LASTVT</a:t>
                </a:r>
                <a:r>
                  <a:rPr lang="zh-CN" altLang="en-US" dirty="0"/>
                  <a:t>集合</a:t>
                </a:r>
              </a:p>
              <a:p>
                <a:pPr lvl="1"/>
                <a:r>
                  <a:rPr lang="en-US" altLang="zh-CN" dirty="0"/>
                  <a:t>FIRSTVT（B）={b| B </a:t>
                </a:r>
                <a:r>
                  <a:rPr lang="en-US" altLang="zh-CN" dirty="0">
                    <a:sym typeface="Symbol" pitchFamily="18" charset="2"/>
                  </a:rPr>
                  <a:t>      </a:t>
                </a:r>
                <a:r>
                  <a:rPr lang="en-US" altLang="zh-CN" dirty="0" err="1">
                    <a:sym typeface="Symbol" pitchFamily="18" charset="2"/>
                  </a:rPr>
                  <a:t>b</a:t>
                </a:r>
                <a:r>
                  <a:rPr lang="zh-CN" altLang="en-US" dirty="0">
                    <a:latin typeface="Times New Roman" pitchFamily="18" charset="0"/>
                    <a:sym typeface="Symbol" pitchFamily="18" charset="2"/>
                  </a:rPr>
                  <a:t>…</a:t>
                </a:r>
                <a:r>
                  <a:rPr lang="zh-CN" altLang="en-US" dirty="0">
                    <a:sym typeface="Symbol" pitchFamily="18" charset="2"/>
                  </a:rPr>
                  <a:t>或</a:t>
                </a:r>
                <a:r>
                  <a:rPr lang="en-US" altLang="zh-CN" dirty="0"/>
                  <a:t>B      </a:t>
                </a:r>
                <a:r>
                  <a:rPr lang="en-US" altLang="zh-CN" dirty="0" err="1">
                    <a:sym typeface="Symbol" pitchFamily="18" charset="2"/>
                  </a:rPr>
                  <a:t>Cb</a:t>
                </a:r>
                <a:r>
                  <a:rPr lang="zh-CN" altLang="en-US" dirty="0">
                    <a:latin typeface="Times New Roman" pitchFamily="18" charset="0"/>
                    <a:sym typeface="Symbol" pitchFamily="18" charset="2"/>
                  </a:rPr>
                  <a:t>…</a:t>
                </a:r>
                <a:r>
                  <a:rPr lang="en-US" altLang="zh-CN" dirty="0"/>
                  <a:t>}</a:t>
                </a:r>
              </a:p>
              <a:p>
                <a:pPr lvl="1"/>
                <a:r>
                  <a:rPr lang="en-US" altLang="zh-CN" dirty="0"/>
                  <a:t>LASTVT（B）={a| B      </a:t>
                </a:r>
                <a:r>
                  <a:rPr lang="zh-CN" altLang="en-US" dirty="0">
                    <a:latin typeface="Times New Roman" pitchFamily="18" charset="0"/>
                    <a:sym typeface="Symbol" pitchFamily="18" charset="2"/>
                  </a:rPr>
                  <a:t>…</a:t>
                </a:r>
                <a:r>
                  <a:rPr lang="en-US" altLang="zh-CN" dirty="0">
                    <a:sym typeface="Symbol" pitchFamily="18" charset="2"/>
                  </a:rPr>
                  <a:t>a</a:t>
                </a:r>
                <a:r>
                  <a:rPr lang="zh-CN" altLang="en-US" dirty="0">
                    <a:sym typeface="Symbol" pitchFamily="18" charset="2"/>
                  </a:rPr>
                  <a:t>或</a:t>
                </a:r>
                <a:r>
                  <a:rPr lang="en-US" altLang="zh-CN" dirty="0"/>
                  <a:t>B       </a:t>
                </a:r>
                <a:r>
                  <a:rPr lang="zh-CN" altLang="en-US" dirty="0">
                    <a:latin typeface="Times New Roman" pitchFamily="18" charset="0"/>
                    <a:sym typeface="Symbol" pitchFamily="18" charset="2"/>
                  </a:rPr>
                  <a:t>…</a:t>
                </a:r>
                <a:r>
                  <a:rPr lang="en-US" altLang="zh-CN" dirty="0" err="1">
                    <a:sym typeface="Symbol" pitchFamily="18" charset="2"/>
                  </a:rPr>
                  <a:t>aC</a:t>
                </a:r>
                <a:r>
                  <a:rPr lang="en-US" altLang="zh-CN" dirty="0"/>
                  <a:t>}</a:t>
                </a:r>
              </a:p>
              <a:p>
                <a:r>
                  <a:rPr lang="zh-CN" altLang="en-US" dirty="0"/>
                  <a:t>计算优先关系：</a:t>
                </a:r>
              </a:p>
              <a:p>
                <a:pPr>
                  <a:buNone/>
                </a:pPr>
                <a:r>
                  <a:rPr lang="en-US" altLang="zh-CN" sz="2000" dirty="0">
                    <a:sym typeface="Symbol" pitchFamily="18" charset="2"/>
                  </a:rPr>
                  <a:t>	 a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/>
                        <a:ea typeface="Cambria Math"/>
                        <a:sym typeface="Symbol" pitchFamily="18" charset="2"/>
                      </a:rPr>
                      <m:t>≖</m:t>
                    </m:r>
                  </m:oMath>
                </a14:m>
                <a:r>
                  <a:rPr lang="en-US" altLang="zh-CN" sz="2000" dirty="0">
                    <a:sym typeface="Symbol" pitchFamily="18" charset="2"/>
                  </a:rPr>
                  <a:t>b </a:t>
                </a:r>
                <a:r>
                  <a:rPr lang="zh-CN" altLang="en-US" sz="2000" dirty="0">
                    <a:sym typeface="Symbol" pitchFamily="18" charset="2"/>
                  </a:rPr>
                  <a:t>：</a:t>
                </a:r>
                <a:r>
                  <a:rPr lang="en-US" altLang="zh-CN" sz="2000" dirty="0"/>
                  <a:t>A→</a:t>
                </a:r>
                <a:r>
                  <a:rPr lang="en-US" altLang="zh-CN" sz="2000" dirty="0">
                    <a:latin typeface="Times New Roman" pitchFamily="18" charset="0"/>
                  </a:rPr>
                  <a:t>…</a:t>
                </a:r>
                <a:r>
                  <a:rPr lang="en-US" altLang="zh-CN" sz="2000" dirty="0"/>
                  <a:t>ab</a:t>
                </a:r>
                <a:r>
                  <a:rPr lang="en-US" altLang="zh-CN" sz="2000" dirty="0">
                    <a:latin typeface="Times New Roman" pitchFamily="18" charset="0"/>
                  </a:rPr>
                  <a:t>…</a:t>
                </a:r>
                <a:r>
                  <a:rPr lang="zh-CN" altLang="en-US" sz="2000" dirty="0"/>
                  <a:t>或</a:t>
                </a:r>
                <a:r>
                  <a:rPr lang="en-US" altLang="zh-CN" sz="2000" dirty="0"/>
                  <a:t>A→</a:t>
                </a:r>
                <a:r>
                  <a:rPr lang="en-US" altLang="zh-CN" sz="2000" dirty="0">
                    <a:latin typeface="Times New Roman" pitchFamily="18" charset="0"/>
                  </a:rPr>
                  <a:t>…</a:t>
                </a:r>
                <a:r>
                  <a:rPr lang="en-US" altLang="zh-CN" sz="2000" dirty="0" err="1"/>
                  <a:t>aBb</a:t>
                </a:r>
                <a:r>
                  <a:rPr lang="en-US" altLang="zh-CN" sz="2000" dirty="0">
                    <a:latin typeface="Times New Roman" pitchFamily="18" charset="0"/>
                  </a:rPr>
                  <a:t>…</a:t>
                </a:r>
                <a:endParaRPr lang="en-US" altLang="zh-CN" sz="2000" dirty="0"/>
              </a:p>
              <a:p>
                <a:pPr>
                  <a:buNone/>
                </a:pPr>
                <a:r>
                  <a:rPr lang="en-US" altLang="zh-CN" sz="2000" dirty="0">
                    <a:sym typeface="Symbol" pitchFamily="18" charset="2"/>
                  </a:rPr>
                  <a:t>	 a</a:t>
                </a:r>
                <a14:m>
                  <m:oMath xmlns:m="http://schemas.openxmlformats.org/officeDocument/2006/math">
                    <m:r>
                      <a:rPr lang="zh-CN" altLang="en-US" sz="2000" i="1" dirty="0">
                        <a:latin typeface="Cambria Math"/>
                        <a:sym typeface="Symbol" pitchFamily="18" charset="2"/>
                      </a:rPr>
                      <m:t>⋖</m:t>
                    </m:r>
                  </m:oMath>
                </a14:m>
                <a:r>
                  <a:rPr lang="en-US" altLang="zh-CN" sz="2000" dirty="0">
                    <a:sym typeface="Symbol" pitchFamily="18" charset="2"/>
                  </a:rPr>
                  <a:t>b</a:t>
                </a:r>
                <a:r>
                  <a:rPr lang="zh-CN" altLang="en-US" sz="2000" dirty="0">
                    <a:sym typeface="Symbol" pitchFamily="18" charset="2"/>
                  </a:rPr>
                  <a:t> ：</a:t>
                </a:r>
                <a:r>
                  <a:rPr lang="en-US" altLang="zh-CN" sz="2000" dirty="0"/>
                  <a:t>A→</a:t>
                </a:r>
                <a:r>
                  <a:rPr lang="en-US" altLang="zh-CN" sz="2000" dirty="0">
                    <a:latin typeface="Times New Roman" pitchFamily="18" charset="0"/>
                  </a:rPr>
                  <a:t>…</a:t>
                </a:r>
                <a:r>
                  <a:rPr lang="en-US" altLang="zh-CN" sz="2000" dirty="0" err="1"/>
                  <a:t>aB</a:t>
                </a:r>
                <a:r>
                  <a:rPr lang="en-US" altLang="zh-CN" sz="2000" dirty="0">
                    <a:latin typeface="Times New Roman" pitchFamily="18" charset="0"/>
                  </a:rPr>
                  <a:t>…</a:t>
                </a:r>
                <a:r>
                  <a:rPr lang="en-US" altLang="zh-CN" sz="2000" dirty="0"/>
                  <a:t>，</a:t>
                </a:r>
                <a:r>
                  <a:rPr lang="zh-CN" altLang="en-US" sz="2000" dirty="0"/>
                  <a:t>且</a:t>
                </a:r>
                <a:r>
                  <a:rPr lang="en-US" altLang="zh-CN" sz="2000" dirty="0"/>
                  <a:t>b∈ FIRSTVT（B）</a:t>
                </a:r>
              </a:p>
              <a:p>
                <a:pPr>
                  <a:buNone/>
                </a:pPr>
                <a:r>
                  <a:rPr lang="en-US" altLang="zh-CN" sz="2000" dirty="0">
                    <a:sym typeface="Symbol" pitchFamily="18" charset="2"/>
                  </a:rPr>
                  <a:t>     a</a:t>
                </a:r>
                <a14:m>
                  <m:oMath xmlns:m="http://schemas.openxmlformats.org/officeDocument/2006/math">
                    <m:r>
                      <a:rPr lang="zh-CN" altLang="en-US" sz="2000" i="1" dirty="0">
                        <a:latin typeface="Cambria Math"/>
                        <a:sym typeface="Symbol" pitchFamily="18" charset="2"/>
                      </a:rPr>
                      <m:t>⋗</m:t>
                    </m:r>
                  </m:oMath>
                </a14:m>
                <a:r>
                  <a:rPr lang="en-US" altLang="zh-CN" sz="2000" dirty="0">
                    <a:sym typeface="Symbol" pitchFamily="18" charset="2"/>
                  </a:rPr>
                  <a:t>b</a:t>
                </a:r>
                <a:r>
                  <a:rPr lang="zh-CN" altLang="en-US" sz="2000" dirty="0">
                    <a:sym typeface="Symbol" pitchFamily="18" charset="2"/>
                  </a:rPr>
                  <a:t> ：</a:t>
                </a:r>
                <a:r>
                  <a:rPr lang="en-US" altLang="zh-CN" sz="2000" dirty="0"/>
                  <a:t>A→</a:t>
                </a:r>
                <a:r>
                  <a:rPr lang="en-US" altLang="zh-CN" sz="2000" dirty="0">
                    <a:latin typeface="Times New Roman" pitchFamily="18" charset="0"/>
                  </a:rPr>
                  <a:t>…</a:t>
                </a:r>
                <a:r>
                  <a:rPr lang="en-US" altLang="zh-CN" sz="2000" dirty="0"/>
                  <a:t>Bb</a:t>
                </a:r>
                <a:r>
                  <a:rPr lang="en-US" altLang="zh-CN" sz="2000" dirty="0">
                    <a:latin typeface="Times New Roman" pitchFamily="18" charset="0"/>
                  </a:rPr>
                  <a:t>…</a:t>
                </a:r>
                <a:r>
                  <a:rPr lang="en-US" altLang="zh-CN" sz="2000" dirty="0"/>
                  <a:t>，</a:t>
                </a:r>
                <a:r>
                  <a:rPr lang="zh-CN" altLang="en-US" sz="2000" dirty="0"/>
                  <a:t>且</a:t>
                </a:r>
                <a:r>
                  <a:rPr lang="en-US" altLang="zh-CN" sz="2000" dirty="0"/>
                  <a:t>a∈ LASTVT（B）</a:t>
                </a:r>
              </a:p>
              <a:p>
                <a:r>
                  <a:rPr lang="zh-CN" altLang="en-US" dirty="0"/>
                  <a:t>构造关系表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7105" y="1041401"/>
                <a:ext cx="8218487" cy="5113338"/>
              </a:xfrm>
              <a:blipFill rotWithShape="1">
                <a:blip r:embed="rId3"/>
                <a:stretch>
                  <a:fillRect t="-14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9684645"/>
              </p:ext>
            </p:extLst>
          </p:nvPr>
        </p:nvGraphicFramePr>
        <p:xfrm>
          <a:off x="3703576" y="2074150"/>
          <a:ext cx="392517" cy="441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26" name="BMP 图象" r:id="rId4" imgW="152260" imgH="171338" progId="PBrush">
                  <p:embed/>
                </p:oleObj>
              </mc:Choice>
              <mc:Fallback>
                <p:oleObj name="BMP 图象" r:id="rId4" imgW="152260" imgH="171338" progId="PBrush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3576" y="2074150"/>
                        <a:ext cx="392517" cy="4411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4774354"/>
              </p:ext>
            </p:extLst>
          </p:nvPr>
        </p:nvGraphicFramePr>
        <p:xfrm>
          <a:off x="5015349" y="2066458"/>
          <a:ext cx="351968" cy="3957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27" name="BMP 图象" r:id="rId6" imgW="152260" imgH="171338" progId="PBrush">
                  <p:embed/>
                </p:oleObj>
              </mc:Choice>
              <mc:Fallback>
                <p:oleObj name="BMP 图象" r:id="rId6" imgW="152260" imgH="171338" progId="PBrush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5349" y="2066458"/>
                        <a:ext cx="351968" cy="3957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4686799"/>
              </p:ext>
            </p:extLst>
          </p:nvPr>
        </p:nvGraphicFramePr>
        <p:xfrm>
          <a:off x="3614527" y="2480319"/>
          <a:ext cx="423090" cy="4755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28" name="BMP 图象" r:id="rId7" imgW="152260" imgH="171338" progId="PBrush">
                  <p:embed/>
                </p:oleObj>
              </mc:Choice>
              <mc:Fallback>
                <p:oleObj name="BMP 图象" r:id="rId7" imgW="152260" imgH="171338" progId="PBrush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4527" y="2480319"/>
                        <a:ext cx="423090" cy="4755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4179447"/>
              </p:ext>
            </p:extLst>
          </p:nvPr>
        </p:nvGraphicFramePr>
        <p:xfrm>
          <a:off x="4887369" y="2543806"/>
          <a:ext cx="351968" cy="3957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29" name="BMP 图象" r:id="rId8" imgW="152260" imgH="171338" progId="PBrush">
                  <p:embed/>
                </p:oleObj>
              </mc:Choice>
              <mc:Fallback>
                <p:oleObj name="BMP 图象" r:id="rId8" imgW="152260" imgH="171338" progId="PBrush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7369" y="2543806"/>
                        <a:ext cx="351968" cy="3957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80589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四、算符优先分析法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6598815"/>
              </p:ext>
            </p:extLst>
          </p:nvPr>
        </p:nvGraphicFramePr>
        <p:xfrm>
          <a:off x="105914" y="24399"/>
          <a:ext cx="9106664" cy="6725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27" name="BMP 图象" r:id="rId3" imgW="8535591" imgH="12095238" progId="PBrush">
                  <p:embed/>
                </p:oleObj>
              </mc:Choice>
              <mc:Fallback>
                <p:oleObj name="BMP 图象" r:id="rId3" imgW="8535591" imgH="12095238" progId="PBrush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778" r="4820" b="34259"/>
                      <a:stretch>
                        <a:fillRect/>
                      </a:stretch>
                    </p:blipFill>
                    <p:spPr bwMode="auto">
                      <a:xfrm>
                        <a:off x="105914" y="24399"/>
                        <a:ext cx="9106664" cy="6725651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5503092" y="694950"/>
            <a:ext cx="3529013" cy="1625600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/>
            <a:r>
              <a:rPr lang="zh-CN" altLang="en-US" b="1" dirty="0">
                <a:solidFill>
                  <a:srgbClr val="0000FF"/>
                </a:solidFill>
              </a:rPr>
              <a:t>例文法</a:t>
            </a:r>
            <a:r>
              <a:rPr lang="en-US" altLang="zh-CN" b="1" dirty="0">
                <a:solidFill>
                  <a:srgbClr val="0000FF"/>
                </a:solidFill>
              </a:rPr>
              <a:t>G</a:t>
            </a:r>
            <a:r>
              <a:rPr lang="zh-CN" altLang="en-US" b="1" dirty="0">
                <a:solidFill>
                  <a:srgbClr val="0000FF"/>
                </a:solidFill>
              </a:rPr>
              <a:t> ： </a:t>
            </a:r>
          </a:p>
          <a:p>
            <a:pPr algn="l" eaLnBrk="1" hangingPunct="1"/>
            <a:r>
              <a:rPr lang="en-US" altLang="zh-CN" dirty="0">
                <a:solidFill>
                  <a:srgbClr val="0000FF"/>
                </a:solidFill>
              </a:rPr>
              <a:t>⑴E’→#E#       ⑸T→F</a:t>
            </a:r>
          </a:p>
          <a:p>
            <a:pPr algn="l" eaLnBrk="1" hangingPunct="1"/>
            <a:r>
              <a:rPr lang="en-US" altLang="zh-CN" dirty="0">
                <a:solidFill>
                  <a:srgbClr val="0000FF"/>
                </a:solidFill>
              </a:rPr>
              <a:t>⑵E→E+T         ⑹F→P↑F|P</a:t>
            </a:r>
          </a:p>
          <a:p>
            <a:pPr algn="l" eaLnBrk="1" hangingPunct="1"/>
            <a:r>
              <a:rPr lang="en-US" altLang="zh-CN" dirty="0">
                <a:solidFill>
                  <a:srgbClr val="0000FF"/>
                </a:solidFill>
              </a:rPr>
              <a:t>⑶E→T             ⑺P→(E)</a:t>
            </a:r>
          </a:p>
          <a:p>
            <a:pPr algn="l" eaLnBrk="1" hangingPunct="1"/>
            <a:r>
              <a:rPr lang="en-US" altLang="zh-CN" dirty="0">
                <a:solidFill>
                  <a:srgbClr val="0000FF"/>
                </a:solidFill>
              </a:rPr>
              <a:t>⑷T→T*F          ⑻</a:t>
            </a:r>
            <a:r>
              <a:rPr lang="en-US" altLang="zh-CN" dirty="0" err="1">
                <a:solidFill>
                  <a:srgbClr val="0000FF"/>
                </a:solidFill>
              </a:rPr>
              <a:t>P→i</a:t>
            </a:r>
            <a:endParaRPr lang="en-US" altLang="zh-CN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7"/>
              <p:cNvSpPr txBox="1">
                <a:spLocks noChangeArrowheads="1"/>
              </p:cNvSpPr>
              <p:nvPr/>
            </p:nvSpPr>
            <p:spPr bwMode="auto">
              <a:xfrm>
                <a:off x="3379793" y="2276475"/>
                <a:ext cx="5832785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zh-CN" altLang="en-US" sz="1800" b="1" dirty="0">
                    <a:solidFill>
                      <a:srgbClr val="FF0000"/>
                    </a:solidFill>
                  </a:rPr>
                  <a:t>①求</a:t>
                </a:r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≖</m:t>
                    </m:r>
                  </m:oMath>
                </a14:m>
                <a:r>
                  <a:rPr lang="zh-CN" altLang="en-US" sz="1600" b="1" dirty="0">
                    <a:solidFill>
                      <a:srgbClr val="FF0000"/>
                    </a:solidFill>
                  </a:rPr>
                  <a:t>关系：由</a:t>
                </a:r>
                <a:r>
                  <a:rPr lang="en-US" altLang="zh-CN" sz="1800" b="1" dirty="0">
                    <a:solidFill>
                      <a:srgbClr val="FF0000"/>
                    </a:solidFill>
                  </a:rPr>
                  <a:t>⑴ ⑺</a:t>
                </a:r>
                <a:r>
                  <a:rPr lang="zh-CN" altLang="en-US" sz="1800" b="1" dirty="0">
                    <a:solidFill>
                      <a:srgbClr val="FF0000"/>
                    </a:solidFill>
                  </a:rPr>
                  <a:t>式得：</a:t>
                </a:r>
                <a:r>
                  <a:rPr lang="zh-CN" altLang="en-US" sz="1800" b="1" dirty="0">
                    <a:solidFill>
                      <a:srgbClr val="FF0000"/>
                    </a:solidFill>
                    <a:latin typeface="Times New Roman" pitchFamily="18" charset="0"/>
                  </a:rPr>
                  <a:t>“</a:t>
                </a:r>
                <a:r>
                  <a:rPr lang="en-US" altLang="zh-CN" sz="1800" b="1" dirty="0">
                    <a:solidFill>
                      <a:srgbClr val="FF0000"/>
                    </a:solidFill>
                  </a:rPr>
                  <a:t>#</a:t>
                </a:r>
                <a:r>
                  <a:rPr lang="en-US" altLang="zh-CN" sz="1800" b="1" dirty="0">
                    <a:solidFill>
                      <a:srgbClr val="FF0000"/>
                    </a:solidFill>
                    <a:latin typeface="Times New Roman" pitchFamily="18" charset="0"/>
                  </a:rPr>
                  <a:t>”</a:t>
                </a:r>
                <a:r>
                  <a:rPr lang="en-US" altLang="zh-CN" sz="1800" b="1" dirty="0">
                    <a:solidFill>
                      <a:srgbClr val="FF0000"/>
                    </a:solidFill>
                  </a:rPr>
                  <a:t>= </a:t>
                </a:r>
                <a:r>
                  <a:rPr lang="en-US" altLang="zh-CN" sz="1800" b="1" dirty="0">
                    <a:solidFill>
                      <a:srgbClr val="FF0000"/>
                    </a:solidFill>
                    <a:latin typeface="Times New Roman" pitchFamily="18" charset="0"/>
                  </a:rPr>
                  <a:t>“</a:t>
                </a:r>
                <a:r>
                  <a:rPr lang="en-US" altLang="zh-CN" sz="1800" b="1" dirty="0">
                    <a:solidFill>
                      <a:srgbClr val="FF0000"/>
                    </a:solidFill>
                  </a:rPr>
                  <a:t>#</a:t>
                </a:r>
                <a:r>
                  <a:rPr lang="en-US" altLang="zh-CN" sz="1800" b="1" dirty="0">
                    <a:solidFill>
                      <a:srgbClr val="FF0000"/>
                    </a:solidFill>
                    <a:latin typeface="Times New Roman" pitchFamily="18" charset="0"/>
                  </a:rPr>
                  <a:t>”</a:t>
                </a:r>
                <a:r>
                  <a:rPr lang="zh-CN" altLang="en-US" sz="1800" b="1" dirty="0">
                    <a:solidFill>
                      <a:srgbClr val="FF0000"/>
                    </a:solidFill>
                  </a:rPr>
                  <a:t>，</a:t>
                </a:r>
                <a:r>
                  <a:rPr lang="zh-CN" altLang="en-US" sz="1800" b="1" dirty="0">
                    <a:solidFill>
                      <a:srgbClr val="FF0000"/>
                    </a:solidFill>
                    <a:latin typeface="Times New Roman" pitchFamily="18" charset="0"/>
                  </a:rPr>
                  <a:t>“</a:t>
                </a:r>
                <a:r>
                  <a:rPr lang="zh-CN" altLang="en-US" sz="1800" b="1" dirty="0">
                    <a:solidFill>
                      <a:srgbClr val="FF0000"/>
                    </a:solidFill>
                  </a:rPr>
                  <a:t>（</a:t>
                </a:r>
                <a:r>
                  <a:rPr lang="en-US" altLang="zh-CN" sz="1800" b="1" dirty="0">
                    <a:solidFill>
                      <a:srgbClr val="FF0000"/>
                    </a:solidFill>
                    <a:latin typeface="Times New Roman" pitchFamily="18" charset="0"/>
                  </a:rPr>
                  <a:t>”</a:t>
                </a:r>
                <a:r>
                  <a:rPr lang="en-US" altLang="zh-CN" sz="1800" b="1" dirty="0">
                    <a:solidFill>
                      <a:srgbClr val="FF0000"/>
                    </a:solidFill>
                  </a:rPr>
                  <a:t> =</a:t>
                </a:r>
                <a:r>
                  <a:rPr lang="en-US" altLang="zh-CN" sz="1800" b="1" dirty="0">
                    <a:solidFill>
                      <a:srgbClr val="FF0000"/>
                    </a:solidFill>
                    <a:latin typeface="Times New Roman" pitchFamily="18" charset="0"/>
                  </a:rPr>
                  <a:t>“</a:t>
                </a:r>
                <a:r>
                  <a:rPr lang="zh-CN" altLang="en-US" sz="1800" b="1" dirty="0">
                    <a:solidFill>
                      <a:srgbClr val="FF0000"/>
                    </a:solidFill>
                  </a:rPr>
                  <a:t>）</a:t>
                </a:r>
                <a:r>
                  <a:rPr lang="zh-CN" altLang="en-US" sz="1800" b="1" dirty="0">
                    <a:solidFill>
                      <a:srgbClr val="FF0000"/>
                    </a:solidFill>
                    <a:latin typeface="Times New Roman" pitchFamily="18" charset="0"/>
                  </a:rPr>
                  <a:t>”</a:t>
                </a:r>
                <a:endParaRPr lang="zh-CN" alt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79793" y="2276475"/>
                <a:ext cx="5832785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836" t="-11475" b="-2623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9"/>
              <p:cNvSpPr txBox="1">
                <a:spLocks noChangeArrowheads="1"/>
              </p:cNvSpPr>
              <p:nvPr/>
            </p:nvSpPr>
            <p:spPr bwMode="auto">
              <a:xfrm>
                <a:off x="5364163" y="3141663"/>
                <a:ext cx="1584325" cy="3667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zh-CN" altLang="en-US" sz="1800" b="1" dirty="0">
                    <a:solidFill>
                      <a:srgbClr val="FF0000"/>
                    </a:solidFill>
                  </a:rPr>
                  <a:t>②求</a:t>
                </a:r>
                <a14:m>
                  <m:oMath xmlns:m="http://schemas.openxmlformats.org/officeDocument/2006/math">
                    <m:r>
                      <a:rPr lang="en-US" altLang="zh-CN" sz="1800" b="1" i="1" dirty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⋖</m:t>
                    </m:r>
                  </m:oMath>
                </a14:m>
                <a:r>
                  <a:rPr lang="zh-CN" altLang="en-US" sz="1800" b="1" dirty="0">
                    <a:solidFill>
                      <a:srgbClr val="FF0000"/>
                    </a:solidFill>
                  </a:rPr>
                  <a:t>关系：</a:t>
                </a:r>
              </a:p>
            </p:txBody>
          </p:sp>
        </mc:Choice>
        <mc:Fallback xmlns="">
          <p:sp>
            <p:nvSpPr>
              <p:cNvPr id="7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64163" y="3141663"/>
                <a:ext cx="1584325" cy="366712"/>
              </a:xfrm>
              <a:prstGeom prst="rect">
                <a:avLst/>
              </a:prstGeom>
              <a:blipFill rotWithShape="1">
                <a:blip r:embed="rId6"/>
                <a:stretch>
                  <a:fillRect l="-3462" t="-11475" b="-2131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10"/>
              <p:cNvSpPr txBox="1">
                <a:spLocks noChangeArrowheads="1"/>
              </p:cNvSpPr>
              <p:nvPr/>
            </p:nvSpPr>
            <p:spPr bwMode="auto">
              <a:xfrm>
                <a:off x="4140199" y="4727331"/>
                <a:ext cx="1584325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zh-CN" altLang="en-US" sz="1800" b="1" dirty="0">
                    <a:solidFill>
                      <a:srgbClr val="FF0000"/>
                    </a:solidFill>
                  </a:rPr>
                  <a:t>③求</a:t>
                </a:r>
                <a14:m>
                  <m:oMath xmlns:m="http://schemas.openxmlformats.org/officeDocument/2006/math">
                    <m:r>
                      <a:rPr lang="en-US" altLang="zh-CN" sz="1800" b="1" i="1" dirty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⋗</m:t>
                    </m:r>
                  </m:oMath>
                </a14:m>
                <a:r>
                  <a:rPr lang="zh-CN" altLang="en-US" sz="1800" b="1" dirty="0">
                    <a:solidFill>
                      <a:srgbClr val="FF0000"/>
                    </a:solidFill>
                  </a:rPr>
                  <a:t>关系：</a:t>
                </a:r>
              </a:p>
            </p:txBody>
          </p:sp>
        </mc:Choice>
        <mc:Fallback xmlns="">
          <p:sp>
            <p:nvSpPr>
              <p:cNvPr id="8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40199" y="4727331"/>
                <a:ext cx="1584325" cy="366713"/>
              </a:xfrm>
              <a:prstGeom prst="rect">
                <a:avLst/>
              </a:prstGeom>
              <a:blipFill rotWithShape="1">
                <a:blip r:embed="rId7"/>
                <a:stretch>
                  <a:fillRect l="-3077" t="-11475" b="-2131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5012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四、算符优先分析法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表达式文法算符优先关系表</a:t>
            </a:r>
          </a:p>
          <a:p>
            <a:endParaRPr lang="zh-CN" altLang="en-US" dirty="0"/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3" r="1694"/>
          <a:stretch>
            <a:fillRect/>
          </a:stretch>
        </p:blipFill>
        <p:spPr bwMode="auto">
          <a:xfrm>
            <a:off x="277741" y="1988822"/>
            <a:ext cx="8208963" cy="396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60549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3"/>
          <p:cNvSpPr>
            <a:spLocks noGrp="1" noRot="1" noChangeArrowheads="1"/>
          </p:cNvSpPr>
          <p:nvPr>
            <p:ph type="body" sz="half" idx="4294967295"/>
          </p:nvPr>
        </p:nvSpPr>
        <p:spPr>
          <a:xfrm>
            <a:off x="323850" y="476250"/>
            <a:ext cx="8820150" cy="1512572"/>
          </a:xfrm>
        </p:spPr>
        <p:txBody>
          <a:bodyPr/>
          <a:lstStyle/>
          <a:p>
            <a:pPr>
              <a:buNone/>
            </a:pPr>
            <a:r>
              <a:rPr lang="zh-CN" altLang="en-US" dirty="0"/>
              <a:t>方法二：形式化算法计算</a:t>
            </a:r>
            <a:r>
              <a:rPr lang="en-US" altLang="zh-CN" dirty="0"/>
              <a:t>FIRSTVT</a:t>
            </a:r>
          </a:p>
          <a:p>
            <a:pPr>
              <a:buFont typeface="Wingdings" pitchFamily="2" charset="2"/>
              <a:buChar char="n"/>
            </a:pPr>
            <a:r>
              <a:rPr lang="zh-CN" altLang="en-US" sz="2400" dirty="0"/>
              <a:t>使用一个布尔数组</a:t>
            </a:r>
            <a:r>
              <a:rPr lang="en-US" altLang="zh-CN" dirty="0"/>
              <a:t>F[</a:t>
            </a:r>
            <a:r>
              <a:rPr lang="en-US" altLang="zh-CN" dirty="0" err="1"/>
              <a:t>i</a:t>
            </a:r>
            <a:r>
              <a:rPr lang="en-US" altLang="zh-CN" baseline="-25000" dirty="0" err="1"/>
              <a:t>A</a:t>
            </a:r>
            <a:r>
              <a:rPr lang="en-US" altLang="zh-CN" dirty="0" err="1"/>
              <a:t>,j</a:t>
            </a:r>
            <a:r>
              <a:rPr lang="en-US" altLang="zh-CN" baseline="-25000" dirty="0" err="1"/>
              <a:t>a</a:t>
            </a:r>
            <a:r>
              <a:rPr lang="en-US" altLang="zh-CN" dirty="0"/>
              <a:t>]</a:t>
            </a:r>
            <a:r>
              <a:rPr lang="zh-CN" altLang="en-US" sz="2400" dirty="0"/>
              <a:t>和一个栈</a:t>
            </a:r>
            <a:r>
              <a:rPr lang="en-US" altLang="zh-CN" sz="2400" dirty="0"/>
              <a:t>Stack</a:t>
            </a:r>
          </a:p>
        </p:txBody>
      </p:sp>
      <p:graphicFrame>
        <p:nvGraphicFramePr>
          <p:cNvPr id="80139" name="Group 267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337597839"/>
              </p:ext>
            </p:extLst>
          </p:nvPr>
        </p:nvGraphicFramePr>
        <p:xfrm>
          <a:off x="971555" y="2553663"/>
          <a:ext cx="4321175" cy="2056386"/>
        </p:xfrm>
        <a:graphic>
          <a:graphicData uri="http://schemas.openxmlformats.org/drawingml/2006/table">
            <a:tbl>
              <a:tblPr/>
              <a:tblGrid>
                <a:gridCol w="86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51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7800"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P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813"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Q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813"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lg" len="lg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" name="Group 187"/>
          <p:cNvGrpSpPr>
            <a:grpSpLocks/>
          </p:cNvGrpSpPr>
          <p:nvPr/>
        </p:nvGrpSpPr>
        <p:grpSpPr bwMode="auto">
          <a:xfrm>
            <a:off x="6732267" y="2690188"/>
            <a:ext cx="1079500" cy="1735138"/>
            <a:chOff x="4332" y="2568"/>
            <a:chExt cx="680" cy="1093"/>
          </a:xfrm>
        </p:grpSpPr>
        <p:grpSp>
          <p:nvGrpSpPr>
            <p:cNvPr id="42022" name="Group 186"/>
            <p:cNvGrpSpPr>
              <a:grpSpLocks/>
            </p:cNvGrpSpPr>
            <p:nvPr/>
          </p:nvGrpSpPr>
          <p:grpSpPr bwMode="auto">
            <a:xfrm>
              <a:off x="4377" y="2568"/>
              <a:ext cx="635" cy="1089"/>
              <a:chOff x="4513" y="2659"/>
              <a:chExt cx="635" cy="1089"/>
            </a:xfrm>
          </p:grpSpPr>
          <p:sp>
            <p:nvSpPr>
              <p:cNvPr id="42024" name="Line 181"/>
              <p:cNvSpPr>
                <a:spLocks noChangeShapeType="1"/>
              </p:cNvSpPr>
              <p:nvPr/>
            </p:nvSpPr>
            <p:spPr bwMode="auto">
              <a:xfrm>
                <a:off x="4513" y="2659"/>
                <a:ext cx="0" cy="108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42025" name="Line 182"/>
              <p:cNvSpPr>
                <a:spLocks noChangeShapeType="1"/>
              </p:cNvSpPr>
              <p:nvPr/>
            </p:nvSpPr>
            <p:spPr bwMode="auto">
              <a:xfrm>
                <a:off x="5148" y="2659"/>
                <a:ext cx="0" cy="108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42026" name="Line 183"/>
              <p:cNvSpPr>
                <a:spLocks noChangeShapeType="1"/>
              </p:cNvSpPr>
              <p:nvPr/>
            </p:nvSpPr>
            <p:spPr bwMode="auto">
              <a:xfrm>
                <a:off x="4513" y="3748"/>
                <a:ext cx="63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42027" name="Line 184"/>
              <p:cNvSpPr>
                <a:spLocks noChangeShapeType="1"/>
              </p:cNvSpPr>
              <p:nvPr/>
            </p:nvSpPr>
            <p:spPr bwMode="auto">
              <a:xfrm>
                <a:off x="4513" y="3521"/>
                <a:ext cx="63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 anchor="ctr"/>
              <a:lstStyle/>
              <a:p>
                <a:endParaRPr lang="zh-CN" altLang="en-US"/>
              </a:p>
            </p:txBody>
          </p:sp>
        </p:grpSp>
        <p:sp>
          <p:nvSpPr>
            <p:cNvPr id="42023" name="Text Box 185"/>
            <p:cNvSpPr txBox="1">
              <a:spLocks noChangeArrowheads="1"/>
            </p:cNvSpPr>
            <p:nvPr/>
          </p:nvSpPr>
          <p:spPr bwMode="auto">
            <a:xfrm>
              <a:off x="4332" y="3369"/>
              <a:ext cx="680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 type="none" w="lg" len="lg"/>
                  <a:tailEnd type="none" w="lg" len="lg"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/>
                <a:t>P,a</a:t>
              </a:r>
            </a:p>
          </p:txBody>
        </p:sp>
      </p:grpSp>
      <p:grpSp>
        <p:nvGrpSpPr>
          <p:cNvPr id="4" name="Group 268"/>
          <p:cNvGrpSpPr>
            <a:grpSpLocks/>
          </p:cNvGrpSpPr>
          <p:nvPr/>
        </p:nvGrpSpPr>
        <p:grpSpPr bwMode="auto">
          <a:xfrm>
            <a:off x="971555" y="2409201"/>
            <a:ext cx="866775" cy="576262"/>
            <a:chOff x="476" y="2387"/>
            <a:chExt cx="546" cy="363"/>
          </a:xfrm>
        </p:grpSpPr>
        <p:sp>
          <p:nvSpPr>
            <p:cNvPr id="42019" name="Line 188"/>
            <p:cNvSpPr>
              <a:spLocks noChangeShapeType="1"/>
            </p:cNvSpPr>
            <p:nvPr/>
          </p:nvSpPr>
          <p:spPr bwMode="auto">
            <a:xfrm flipH="1" flipV="1">
              <a:off x="567" y="2478"/>
              <a:ext cx="453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42020" name="Text Box 189"/>
            <p:cNvSpPr txBox="1">
              <a:spLocks noChangeArrowheads="1"/>
            </p:cNvSpPr>
            <p:nvPr/>
          </p:nvSpPr>
          <p:spPr bwMode="auto">
            <a:xfrm>
              <a:off x="748" y="2387"/>
              <a:ext cx="27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 type="none" w="lg" len="lg"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 dirty="0"/>
                <a:t>V</a:t>
              </a:r>
              <a:r>
                <a:rPr lang="en-US" altLang="zh-CN" baseline="-25000" dirty="0"/>
                <a:t>T</a:t>
              </a:r>
            </a:p>
          </p:txBody>
        </p:sp>
        <p:sp>
          <p:nvSpPr>
            <p:cNvPr id="42021" name="Text Box 190"/>
            <p:cNvSpPr txBox="1">
              <a:spLocks noChangeArrowheads="1"/>
            </p:cNvSpPr>
            <p:nvPr/>
          </p:nvSpPr>
          <p:spPr bwMode="auto">
            <a:xfrm>
              <a:off x="476" y="2432"/>
              <a:ext cx="27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 type="none" w="lg" len="lg"/>
                  <a:tailEnd type="none" w="lg" len="lg"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 dirty="0"/>
                <a:t>V</a:t>
              </a:r>
              <a:r>
                <a:rPr lang="en-US" altLang="zh-CN" baseline="-25000" dirty="0"/>
                <a:t>N</a:t>
              </a:r>
            </a:p>
          </p:txBody>
        </p: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4227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9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39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0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0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四、算符优先分析法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规则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规则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：若有产生式</a:t>
                </a:r>
                <a:r>
                  <a:rPr lang="en-US" altLang="zh-CN" dirty="0" err="1"/>
                  <a:t>A→a</a:t>
                </a:r>
                <a:r>
                  <a:rPr lang="en-US" altLang="zh-CN" dirty="0"/>
                  <a:t>…</a:t>
                </a:r>
                <a:r>
                  <a:rPr lang="zh-CN" altLang="en-US" dirty="0"/>
                  <a:t>或者</a:t>
                </a:r>
                <a:r>
                  <a:rPr lang="en-US" altLang="zh-CN" dirty="0" err="1"/>
                  <a:t>A→</a:t>
                </a:r>
                <a:r>
                  <a:rPr lang="en-US" altLang="zh-CN" b="1" dirty="0" err="1"/>
                  <a:t>B</a:t>
                </a:r>
                <a:r>
                  <a:rPr lang="en-US" altLang="zh-CN" dirty="0" err="1"/>
                  <a:t>a</a:t>
                </a:r>
                <a:r>
                  <a:rPr lang="en-US" altLang="zh-CN" dirty="0"/>
                  <a:t>…</a:t>
                </a:r>
                <a:r>
                  <a:rPr lang="zh-CN" altLang="en-US" dirty="0"/>
                  <a:t>，则</a:t>
                </a:r>
                <a:r>
                  <a:rPr lang="en-US" altLang="zh-CN" dirty="0"/>
                  <a:t>a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/>
                        <a:ea typeface="Cambria Math"/>
                      </a:rPr>
                      <m:t>∈</m:t>
                    </m:r>
                  </m:oMath>
                </a14:m>
                <a:r>
                  <a:rPr lang="en-US" altLang="zh-CN" dirty="0"/>
                  <a:t>FIRSTVT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），其中</a:t>
                </a:r>
                <a:r>
                  <a:rPr lang="en-US" altLang="zh-CN" dirty="0"/>
                  <a:t>A,B</a:t>
                </a:r>
                <a:r>
                  <a:rPr lang="zh-CN" altLang="en-US" dirty="0"/>
                  <a:t>为非终结符，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为终结符。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规则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：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若</a:t>
                </a:r>
                <a:r>
                  <a:rPr lang="en-US" altLang="zh-CN" dirty="0"/>
                  <a:t>a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Cambria Math"/>
                      </a:rPr>
                      <m:t>∈</m:t>
                    </m:r>
                  </m:oMath>
                </a14:m>
                <a:r>
                  <a:rPr lang="en-US" altLang="zh-CN" dirty="0"/>
                  <a:t>FIRSTVT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B</a:t>
                </a:r>
                <a:r>
                  <a:rPr lang="zh-CN" altLang="en-US" dirty="0"/>
                  <a:t>）且有产生式</a:t>
                </a:r>
                <a:r>
                  <a:rPr lang="en-US" altLang="zh-CN" dirty="0"/>
                  <a:t>A→</a:t>
                </a:r>
                <a:r>
                  <a:rPr lang="en-US" altLang="zh-CN" b="1" dirty="0"/>
                  <a:t>B</a:t>
                </a:r>
                <a:r>
                  <a:rPr lang="en-US" altLang="zh-CN" dirty="0"/>
                  <a:t>…</a:t>
                </a:r>
                <a:r>
                  <a:rPr lang="zh-CN" altLang="en-US" dirty="0"/>
                  <a:t>，则有</a:t>
                </a:r>
                <a:r>
                  <a:rPr lang="en-US" altLang="zh-CN" dirty="0"/>
                  <a:t>a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Cambria Math"/>
                      </a:rPr>
                      <m:t>∈</m:t>
                    </m:r>
                  </m:oMath>
                </a14:m>
                <a:r>
                  <a:rPr lang="en-US" altLang="zh-CN" dirty="0"/>
                  <a:t>FIRSTVT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）。</a:t>
                </a:r>
                <a:endParaRPr lang="en-US" altLang="zh-CN" dirty="0"/>
              </a:p>
              <a:p>
                <a:pPr lvl="1"/>
                <a:endParaRPr lang="en-US" altLang="zh-CN" dirty="0"/>
              </a:p>
              <a:p>
                <a:r>
                  <a:rPr lang="zh-CN" altLang="en-US" dirty="0"/>
                  <a:t>构造步骤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按照规则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对每个数组</a:t>
                </a:r>
                <a:r>
                  <a:rPr lang="en-US" altLang="zh-CN" dirty="0"/>
                  <a:t>F[</a:t>
                </a:r>
                <a:r>
                  <a:rPr lang="en-US" altLang="zh-CN" dirty="0" err="1"/>
                  <a:t>i</a:t>
                </a:r>
                <a:r>
                  <a:rPr lang="en-US" altLang="zh-CN" baseline="-25000" dirty="0" err="1"/>
                  <a:t>A</a:t>
                </a:r>
                <a:r>
                  <a:rPr lang="en-US" altLang="zh-CN" dirty="0" err="1"/>
                  <a:t>,j</a:t>
                </a:r>
                <a:r>
                  <a:rPr lang="en-US" altLang="zh-CN" baseline="-25000" dirty="0" err="1"/>
                  <a:t>a</a:t>
                </a:r>
                <a:r>
                  <a:rPr lang="en-US" altLang="zh-CN" dirty="0"/>
                  <a:t>]</a:t>
                </a:r>
                <a:r>
                  <a:rPr lang="zh-CN" altLang="en-US" dirty="0"/>
                  <a:t>赋初值。观察初值，若</a:t>
                </a:r>
                <a:r>
                  <a:rPr lang="en-US" altLang="zh-CN" dirty="0"/>
                  <a:t>F[</a:t>
                </a:r>
                <a:r>
                  <a:rPr lang="en-US" altLang="zh-CN" dirty="0" err="1"/>
                  <a:t>i</a:t>
                </a:r>
                <a:r>
                  <a:rPr lang="en-US" altLang="zh-CN" baseline="-25000" dirty="0" err="1"/>
                  <a:t>A</a:t>
                </a:r>
                <a:r>
                  <a:rPr lang="en-US" altLang="zh-CN" dirty="0" err="1"/>
                  <a:t>,j</a:t>
                </a:r>
                <a:r>
                  <a:rPr lang="en-US" altLang="zh-CN" baseline="-25000" dirty="0" err="1"/>
                  <a:t>a</a:t>
                </a:r>
                <a:r>
                  <a:rPr lang="en-US" altLang="zh-CN" dirty="0"/>
                  <a:t>]</a:t>
                </a:r>
                <a:r>
                  <a:rPr lang="zh-CN" altLang="en-US" dirty="0"/>
                  <a:t>为真，则（</a:t>
                </a:r>
                <a:r>
                  <a:rPr lang="en-US" altLang="zh-CN" dirty="0" err="1"/>
                  <a:t>A,a</a:t>
                </a:r>
                <a:r>
                  <a:rPr lang="zh-CN" altLang="en-US" dirty="0"/>
                  <a:t>）入栈，直至对所有的数据组元素的初值都按此处理完。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将栈顶设为（</a:t>
                </a:r>
                <a:r>
                  <a:rPr lang="en-US" altLang="zh-CN" dirty="0"/>
                  <a:t>B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），再用规则（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）检查所有产生式；若有</a:t>
                </a:r>
                <a:r>
                  <a:rPr lang="en-US" altLang="zh-CN" dirty="0"/>
                  <a:t>F[</a:t>
                </a:r>
                <a:r>
                  <a:rPr lang="en-US" altLang="zh-CN" dirty="0" err="1"/>
                  <a:t>i</a:t>
                </a:r>
                <a:r>
                  <a:rPr lang="en-US" altLang="zh-CN" baseline="-25000" dirty="0" err="1"/>
                  <a:t>A</a:t>
                </a:r>
                <a:r>
                  <a:rPr lang="en-US" altLang="zh-CN" dirty="0" err="1"/>
                  <a:t>,j</a:t>
                </a:r>
                <a:r>
                  <a:rPr lang="en-US" altLang="zh-CN" baseline="-25000" dirty="0" err="1"/>
                  <a:t>a</a:t>
                </a:r>
                <a:r>
                  <a:rPr lang="en-US" altLang="zh-CN" dirty="0"/>
                  <a:t>]</a:t>
                </a:r>
                <a:r>
                  <a:rPr lang="zh-CN" altLang="en-US" dirty="0"/>
                  <a:t>的值为假，则令其变为真，且将（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）推入栈。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311" r="-5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9879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算法描述：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51466" y="2058303"/>
            <a:ext cx="8785225" cy="3311525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lr>
                <a:schemeClr val="bg1"/>
              </a:buClr>
              <a:buSzPct val="120000"/>
              <a:buChar char="•"/>
              <a:defRPr sz="4000" b="1">
                <a:solidFill>
                  <a:schemeClr val="bg2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bg1"/>
              </a:buClr>
              <a:buSzPct val="90000"/>
              <a:buChar char="•"/>
              <a:defRPr sz="3600" b="1">
                <a:solidFill>
                  <a:schemeClr val="bg2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algn="l">
              <a:spcBef>
                <a:spcPct val="20000"/>
              </a:spcBef>
              <a:buSzPct val="60000"/>
              <a:buChar char="•"/>
              <a:defRPr sz="3200" b="1">
                <a:solidFill>
                  <a:schemeClr val="bg2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algn="l">
              <a:buChar char="–"/>
              <a:defRPr sz="4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>
              <a:buChar char="»"/>
              <a:defRPr sz="4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har char="»"/>
              <a:defRPr sz="4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har char="»"/>
              <a:defRPr sz="4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har char="»"/>
              <a:defRPr sz="4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har char="»"/>
              <a:defRPr sz="4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800" dirty="0">
                <a:solidFill>
                  <a:srgbClr val="0000FF"/>
                </a:solidFill>
              </a:rPr>
              <a:t>PROCEDUE  </a:t>
            </a:r>
            <a:r>
              <a:rPr lang="en-US" altLang="zh-CN" sz="2800" dirty="0">
                <a:solidFill>
                  <a:srgbClr val="FF0000"/>
                </a:solidFill>
              </a:rPr>
              <a:t>INSERT</a:t>
            </a:r>
            <a:r>
              <a:rPr lang="en-US" altLang="zh-CN" sz="2800" dirty="0">
                <a:solidFill>
                  <a:srgbClr val="0000FF"/>
                </a:solidFill>
              </a:rPr>
              <a:t>(A, a)</a:t>
            </a:r>
          </a:p>
          <a:p>
            <a:pPr>
              <a:buNone/>
            </a:pPr>
            <a:r>
              <a:rPr lang="en-US" altLang="zh-CN" sz="2800" dirty="0">
                <a:solidFill>
                  <a:srgbClr val="0000FF"/>
                </a:solidFill>
              </a:rPr>
              <a:t>IF   NOT F[</a:t>
            </a:r>
            <a:r>
              <a:rPr lang="en-US" altLang="zh-CN" sz="2800" dirty="0" err="1">
                <a:solidFill>
                  <a:srgbClr val="0000FF"/>
                </a:solidFill>
              </a:rPr>
              <a:t>i</a:t>
            </a:r>
            <a:r>
              <a:rPr lang="en-US" altLang="zh-CN" sz="2800" baseline="-25000" dirty="0" err="1">
                <a:solidFill>
                  <a:srgbClr val="0000FF"/>
                </a:solidFill>
              </a:rPr>
              <a:t>A</a:t>
            </a:r>
            <a:r>
              <a:rPr lang="en-US" altLang="zh-CN" sz="2800" dirty="0" err="1">
                <a:solidFill>
                  <a:srgbClr val="0000FF"/>
                </a:solidFill>
              </a:rPr>
              <a:t>,j</a:t>
            </a:r>
            <a:r>
              <a:rPr lang="en-US" altLang="zh-CN" sz="2800" baseline="-25000" dirty="0" err="1">
                <a:solidFill>
                  <a:srgbClr val="0000FF"/>
                </a:solidFill>
              </a:rPr>
              <a:t>a</a:t>
            </a:r>
            <a:r>
              <a:rPr lang="en-US" altLang="zh-CN" sz="2800" dirty="0">
                <a:solidFill>
                  <a:srgbClr val="0000FF"/>
                </a:solidFill>
              </a:rPr>
              <a:t>]  THEN(</a:t>
            </a:r>
            <a:r>
              <a:rPr lang="zh-CN" altLang="en-US" sz="2800" dirty="0">
                <a:solidFill>
                  <a:srgbClr val="0000FF"/>
                </a:solidFill>
              </a:rPr>
              <a:t>是</a:t>
            </a:r>
            <a:r>
              <a:rPr lang="en-US" altLang="zh-CN" sz="2800" dirty="0">
                <a:solidFill>
                  <a:srgbClr val="0000FF"/>
                </a:solidFill>
              </a:rPr>
              <a:t>F)</a:t>
            </a:r>
          </a:p>
          <a:p>
            <a:pPr eaLnBrk="1" hangingPunct="1">
              <a:buFontTx/>
              <a:buNone/>
            </a:pPr>
            <a:r>
              <a:rPr lang="en-US" altLang="zh-CN" sz="2800" dirty="0">
                <a:solidFill>
                  <a:srgbClr val="0000FF"/>
                </a:solidFill>
              </a:rPr>
              <a:t>	BEGIN </a:t>
            </a:r>
          </a:p>
          <a:p>
            <a:pPr eaLnBrk="1" hangingPunct="1">
              <a:buFontTx/>
              <a:buNone/>
            </a:pPr>
            <a:r>
              <a:rPr lang="en-US" altLang="zh-CN" sz="2800" dirty="0">
                <a:solidFill>
                  <a:srgbClr val="0000FF"/>
                </a:solidFill>
              </a:rPr>
              <a:t>		F[A, a]:=TRUE</a:t>
            </a:r>
          </a:p>
          <a:p>
            <a:pPr eaLnBrk="1" hangingPunct="1">
              <a:buFontTx/>
              <a:buNone/>
            </a:pPr>
            <a:r>
              <a:rPr lang="en-US" altLang="zh-CN" sz="2800" dirty="0">
                <a:solidFill>
                  <a:srgbClr val="0000FF"/>
                </a:solidFill>
              </a:rPr>
              <a:t>		PUSH(A, a)  ONTO  STACK</a:t>
            </a:r>
          </a:p>
          <a:p>
            <a:pPr eaLnBrk="1" hangingPunct="1">
              <a:buFontTx/>
              <a:buNone/>
            </a:pPr>
            <a:r>
              <a:rPr lang="en-US" altLang="zh-CN" sz="2800" dirty="0">
                <a:solidFill>
                  <a:srgbClr val="0000FF"/>
                </a:solidFill>
              </a:rPr>
              <a:t>	END </a:t>
            </a:r>
            <a:endParaRPr lang="zh-CN" altLang="en-US" sz="2800" dirty="0">
              <a:solidFill>
                <a:srgbClr val="0000FF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3033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四、算符优先分析法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51466" y="1268733"/>
            <a:ext cx="8785225" cy="5689600"/>
          </a:xfrm>
          <a:prstGeom prst="rect">
            <a:avLst/>
          </a:prstGeom>
          <a:noFill/>
          <a:ln>
            <a:solidFill>
              <a:srgbClr val="00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55600" indent="-269875" algn="l" rtl="0" eaLnBrk="1" fontAlgn="base" hangingPunct="1">
              <a:spcBef>
                <a:spcPts val="1800"/>
              </a:spcBef>
              <a:spcAft>
                <a:spcPct val="0"/>
              </a:spcAft>
              <a:buClr>
                <a:srgbClr val="003399"/>
              </a:buClr>
              <a:buSzPct val="80000"/>
              <a:buFont typeface="Wingdings 2" panose="05020102010507070707" pitchFamily="18" charset="2"/>
              <a:buChar char=""/>
              <a:defRPr sz="2400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700088" indent="-342900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2000" kern="1200">
                <a:solidFill>
                  <a:srgbClr val="7030A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14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2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dirty="0">
                <a:solidFill>
                  <a:srgbClr val="000099"/>
                </a:solidFill>
              </a:rPr>
              <a:t>BEGIN (MAIN)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800" dirty="0">
                <a:solidFill>
                  <a:srgbClr val="A50021"/>
                </a:solidFill>
              </a:rPr>
              <a:t>FOR</a:t>
            </a:r>
            <a:r>
              <a:rPr lang="en-US" altLang="zh-CN" sz="2800" dirty="0"/>
              <a:t>  </a:t>
            </a:r>
            <a:r>
              <a:rPr lang="zh-CN" altLang="en-US" sz="2800" dirty="0"/>
              <a:t>每个非终结符</a:t>
            </a:r>
            <a:r>
              <a:rPr lang="en-US" altLang="zh-CN" sz="2800" dirty="0"/>
              <a:t>A</a:t>
            </a:r>
            <a:r>
              <a:rPr lang="zh-CN" altLang="en-US" sz="2800" dirty="0"/>
              <a:t>和终结符</a:t>
            </a:r>
            <a:r>
              <a:rPr lang="en-US" altLang="zh-CN" sz="2800" dirty="0"/>
              <a:t>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800" dirty="0"/>
              <a:t>	</a:t>
            </a:r>
            <a:r>
              <a:rPr lang="en-US" altLang="zh-CN" sz="2800" dirty="0">
                <a:solidFill>
                  <a:srgbClr val="A50021"/>
                </a:solidFill>
              </a:rPr>
              <a:t>DO</a:t>
            </a:r>
            <a:r>
              <a:rPr lang="en-US" altLang="zh-CN" sz="2800" dirty="0"/>
              <a:t> F[</a:t>
            </a:r>
            <a:r>
              <a:rPr lang="en-US" altLang="zh-CN" sz="2800" dirty="0" err="1"/>
              <a:t>i</a:t>
            </a:r>
            <a:r>
              <a:rPr lang="en-US" altLang="zh-CN" sz="2800" baseline="-25000" dirty="0" err="1"/>
              <a:t>A</a:t>
            </a:r>
            <a:r>
              <a:rPr lang="en-US" altLang="zh-CN" sz="2800" dirty="0" err="1"/>
              <a:t>,j</a:t>
            </a:r>
            <a:r>
              <a:rPr lang="en-US" altLang="zh-CN" sz="2800" baseline="-25000" dirty="0" err="1"/>
              <a:t>a</a:t>
            </a:r>
            <a:r>
              <a:rPr lang="en-US" altLang="zh-CN" sz="2800" dirty="0"/>
              <a:t>] := FALSE;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800" dirty="0">
                <a:solidFill>
                  <a:srgbClr val="A50021"/>
                </a:solidFill>
              </a:rPr>
              <a:t>FOR</a:t>
            </a:r>
            <a:r>
              <a:rPr lang="en-US" altLang="zh-CN" sz="2800" dirty="0"/>
              <a:t>  </a:t>
            </a:r>
            <a:r>
              <a:rPr lang="zh-CN" altLang="en-US" sz="2800" dirty="0"/>
              <a:t>每个形如</a:t>
            </a:r>
            <a:r>
              <a:rPr lang="en-US" altLang="zh-CN" sz="2800" dirty="0" err="1"/>
              <a:t>A</a:t>
            </a:r>
            <a:r>
              <a:rPr lang="en-US" altLang="zh-CN" sz="2800" dirty="0" err="1">
                <a:solidFill>
                  <a:srgbClr val="000099"/>
                </a:solidFill>
              </a:rPr>
              <a:t>→a</a:t>
            </a:r>
            <a:r>
              <a:rPr lang="en-US" altLang="zh-CN" sz="2800" dirty="0">
                <a:solidFill>
                  <a:srgbClr val="000099"/>
                </a:solidFill>
                <a:latin typeface="Arial"/>
              </a:rPr>
              <a:t>…</a:t>
            </a:r>
            <a:r>
              <a:rPr lang="zh-CN" altLang="en-US" sz="2800" dirty="0"/>
              <a:t>或</a:t>
            </a:r>
            <a:r>
              <a:rPr lang="en-US" altLang="zh-CN" sz="2800" dirty="0" err="1"/>
              <a:t>A</a:t>
            </a:r>
            <a:r>
              <a:rPr lang="en-US" altLang="zh-CN" sz="2800" dirty="0" err="1">
                <a:solidFill>
                  <a:srgbClr val="000099"/>
                </a:solidFill>
              </a:rPr>
              <a:t>→Ba</a:t>
            </a:r>
            <a:r>
              <a:rPr lang="en-US" altLang="zh-CN" sz="2800" dirty="0">
                <a:solidFill>
                  <a:srgbClr val="000099"/>
                </a:solidFill>
                <a:latin typeface="Arial"/>
              </a:rPr>
              <a:t>…</a:t>
            </a:r>
            <a:r>
              <a:rPr lang="en-US" altLang="zh-CN" sz="2800" dirty="0"/>
              <a:t> </a:t>
            </a:r>
            <a:r>
              <a:rPr lang="zh-CN" altLang="en-US" sz="2800" dirty="0"/>
              <a:t>的产生式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dirty="0"/>
              <a:t>	</a:t>
            </a:r>
            <a:r>
              <a:rPr lang="en-US" altLang="zh-CN" sz="2800" dirty="0">
                <a:solidFill>
                  <a:srgbClr val="A50021"/>
                </a:solidFill>
              </a:rPr>
              <a:t>DO</a:t>
            </a:r>
            <a:r>
              <a:rPr lang="en-US" altLang="zh-CN" sz="2800" dirty="0"/>
              <a:t>  INSERT(A, a)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800" dirty="0">
                <a:solidFill>
                  <a:srgbClr val="006600"/>
                </a:solidFill>
              </a:rPr>
              <a:t>WHILE</a:t>
            </a:r>
            <a:r>
              <a:rPr lang="en-US" altLang="zh-CN" sz="2800" dirty="0"/>
              <a:t>  STACK </a:t>
            </a:r>
            <a:r>
              <a:rPr lang="zh-CN" altLang="en-US" sz="2800" dirty="0"/>
              <a:t>非空  </a:t>
            </a:r>
            <a:r>
              <a:rPr lang="en-US" altLang="zh-CN" sz="2800" dirty="0">
                <a:solidFill>
                  <a:srgbClr val="006600"/>
                </a:solidFill>
              </a:rPr>
              <a:t>DO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800" dirty="0"/>
              <a:t>	</a:t>
            </a:r>
            <a:r>
              <a:rPr lang="en-US" altLang="zh-CN" sz="2800" dirty="0">
                <a:solidFill>
                  <a:srgbClr val="006600"/>
                </a:solidFill>
              </a:rPr>
              <a:t>BEGIN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800" dirty="0"/>
              <a:t>		</a:t>
            </a:r>
            <a:r>
              <a:rPr lang="zh-CN" altLang="en-US" sz="2800" dirty="0"/>
              <a:t>把</a:t>
            </a:r>
            <a:r>
              <a:rPr lang="en-US" altLang="zh-CN" sz="2800" dirty="0"/>
              <a:t>STACK</a:t>
            </a:r>
            <a:r>
              <a:rPr lang="zh-CN" altLang="en-US" sz="2800" dirty="0"/>
              <a:t>的顶项记为</a:t>
            </a:r>
            <a:r>
              <a:rPr lang="en-US" altLang="zh-CN" sz="2800" dirty="0"/>
              <a:t>(B</a:t>
            </a:r>
            <a:r>
              <a:rPr lang="zh-CN" altLang="en-US" sz="2800" dirty="0"/>
              <a:t>，</a:t>
            </a:r>
            <a:r>
              <a:rPr lang="en-US" altLang="zh-CN" sz="2800" dirty="0"/>
              <a:t>a) , </a:t>
            </a:r>
            <a:r>
              <a:rPr lang="zh-CN" altLang="en-US" sz="2800" dirty="0"/>
              <a:t>托出去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dirty="0"/>
              <a:t>		</a:t>
            </a:r>
            <a:r>
              <a:rPr lang="en-US" altLang="zh-CN" sz="2800" dirty="0"/>
              <a:t>FOR  </a:t>
            </a:r>
            <a:r>
              <a:rPr lang="zh-CN" altLang="en-US" sz="2800" dirty="0"/>
              <a:t>每个形如</a:t>
            </a:r>
            <a:r>
              <a:rPr lang="en-US" altLang="zh-CN" sz="2800" dirty="0"/>
              <a:t>A</a:t>
            </a:r>
            <a:r>
              <a:rPr lang="en-US" altLang="zh-CN" sz="2800" dirty="0">
                <a:solidFill>
                  <a:srgbClr val="000099"/>
                </a:solidFill>
              </a:rPr>
              <a:t>→B </a:t>
            </a:r>
            <a:r>
              <a:rPr lang="en-US" altLang="zh-CN" sz="2800" dirty="0">
                <a:solidFill>
                  <a:srgbClr val="000099"/>
                </a:solidFill>
                <a:latin typeface="Arial"/>
              </a:rPr>
              <a:t>…</a:t>
            </a:r>
            <a:r>
              <a:rPr lang="en-US" altLang="zh-CN" sz="2800" dirty="0"/>
              <a:t> </a:t>
            </a:r>
            <a:r>
              <a:rPr lang="zh-CN" altLang="en-US" sz="2800" dirty="0"/>
              <a:t>的产生式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dirty="0"/>
              <a:t>      		</a:t>
            </a:r>
            <a:r>
              <a:rPr lang="en-US" altLang="zh-CN" sz="2800" dirty="0"/>
              <a:t>DO  INSERT(A, a)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800" dirty="0"/>
              <a:t>	</a:t>
            </a:r>
            <a:r>
              <a:rPr lang="en-US" altLang="zh-CN" sz="2800" dirty="0">
                <a:solidFill>
                  <a:srgbClr val="006600"/>
                </a:solidFill>
              </a:rPr>
              <a:t>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800" dirty="0">
                <a:solidFill>
                  <a:srgbClr val="000099"/>
                </a:solidFill>
              </a:rPr>
              <a:t>END  (MAIN) </a:t>
            </a:r>
            <a:endParaRPr lang="zh-CN" altLang="en-US" sz="2800" dirty="0">
              <a:solidFill>
                <a:srgbClr val="000099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3985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Rectangle 3"/>
          <p:cNvSpPr>
            <a:spLocks noGrp="1" noRot="1" noChangeArrowheads="1"/>
          </p:cNvSpPr>
          <p:nvPr>
            <p:ph sz="quarter" idx="4294967295"/>
          </p:nvPr>
        </p:nvSpPr>
        <p:spPr>
          <a:xfrm>
            <a:off x="766763" y="476250"/>
            <a:ext cx="8377237" cy="5595938"/>
          </a:xfrm>
        </p:spPr>
        <p:txBody>
          <a:bodyPr/>
          <a:lstStyle/>
          <a:p>
            <a:pPr eaLnBrk="1" hangingPunct="1">
              <a:buFont typeface="Wingdings" pitchFamily="2" charset="2"/>
              <a:buChar char="n"/>
            </a:pPr>
            <a:r>
              <a:rPr lang="zh-CN" altLang="en-US" sz="2400" dirty="0">
                <a:latin typeface="宋体" pitchFamily="2" charset="-122"/>
              </a:rPr>
              <a:t>具体算法描述如下：</a:t>
            </a:r>
            <a:endParaRPr lang="zh-CN" altLang="en-US" sz="2400" dirty="0"/>
          </a:p>
          <a:p>
            <a:pPr lvl="1" eaLnBrk="1" hangingPunct="1">
              <a:buFont typeface="Wingdings" pitchFamily="2" charset="2"/>
              <a:buChar char="n"/>
            </a:pPr>
            <a:r>
              <a:rPr lang="zh-CN" altLang="en-US" dirty="0"/>
              <a:t>    </a:t>
            </a:r>
            <a:r>
              <a:rPr lang="en-US" altLang="zh-CN" b="1" dirty="0">
                <a:solidFill>
                  <a:srgbClr val="000000"/>
                </a:solidFill>
              </a:rPr>
              <a:t>a.</a:t>
            </a:r>
            <a:r>
              <a:rPr lang="zh-CN" altLang="en-US" dirty="0"/>
              <a:t>置</a:t>
            </a:r>
            <a:r>
              <a:rPr lang="en-US" altLang="zh-CN" dirty="0"/>
              <a:t>F</a:t>
            </a:r>
            <a:r>
              <a:rPr lang="zh-CN" altLang="en-US" dirty="0"/>
              <a:t>初值为</a:t>
            </a:r>
            <a:r>
              <a:rPr lang="en-US" altLang="zh-CN" dirty="0">
                <a:latin typeface="宋体" pitchFamily="2" charset="-122"/>
              </a:rPr>
              <a:t>FALSE</a:t>
            </a:r>
            <a:r>
              <a:rPr lang="en-US" altLang="zh-CN" dirty="0"/>
              <a:t>;</a:t>
            </a:r>
          </a:p>
          <a:p>
            <a:pPr lvl="1" eaLnBrk="1" hangingPunct="1">
              <a:buFont typeface="Wingdings" pitchFamily="2" charset="2"/>
              <a:buChar char="n"/>
            </a:pPr>
            <a:endParaRPr lang="en-US" altLang="zh-CN" dirty="0"/>
          </a:p>
          <a:p>
            <a:pPr lvl="1">
              <a:buFont typeface="Wingdings" pitchFamily="2" charset="2"/>
              <a:buChar char="n"/>
            </a:pPr>
            <a:r>
              <a:rPr lang="en-US" altLang="zh-CN" dirty="0"/>
              <a:t>    </a:t>
            </a:r>
            <a:r>
              <a:rPr lang="en-US" altLang="zh-CN" b="1" dirty="0">
                <a:solidFill>
                  <a:srgbClr val="000000"/>
                </a:solidFill>
              </a:rPr>
              <a:t>b.</a:t>
            </a:r>
            <a:r>
              <a:rPr lang="zh-CN" altLang="en-US" b="1" dirty="0">
                <a:solidFill>
                  <a:srgbClr val="000000"/>
                </a:solidFill>
              </a:rPr>
              <a:t>用规则</a:t>
            </a:r>
            <a:r>
              <a:rPr lang="en-US" altLang="zh-CN" b="1" dirty="0">
                <a:solidFill>
                  <a:srgbClr val="000000"/>
                </a:solidFill>
              </a:rPr>
              <a:t>1</a:t>
            </a:r>
            <a:r>
              <a:rPr lang="zh-CN" altLang="en-US" b="1" dirty="0">
                <a:solidFill>
                  <a:srgbClr val="000000"/>
                </a:solidFill>
              </a:rPr>
              <a:t>对</a:t>
            </a:r>
            <a:r>
              <a:rPr lang="en-US" altLang="zh-CN" dirty="0"/>
              <a:t>F[</a:t>
            </a:r>
            <a:r>
              <a:rPr lang="en-US" altLang="zh-CN" dirty="0" err="1"/>
              <a:t>i</a:t>
            </a:r>
            <a:r>
              <a:rPr lang="en-US" altLang="zh-CN" baseline="-25000" dirty="0" err="1"/>
              <a:t>A</a:t>
            </a:r>
            <a:r>
              <a:rPr lang="en-US" altLang="zh-CN" dirty="0" err="1"/>
              <a:t>,j</a:t>
            </a:r>
            <a:r>
              <a:rPr lang="en-US" altLang="zh-CN" baseline="-25000" dirty="0" err="1"/>
              <a:t>a</a:t>
            </a:r>
            <a:r>
              <a:rPr lang="en-US" altLang="zh-CN" dirty="0"/>
              <a:t>]</a:t>
            </a:r>
            <a:r>
              <a:rPr lang="zh-CN" altLang="en-US" dirty="0">
                <a:latin typeface="宋体" pitchFamily="2" charset="-122"/>
              </a:rPr>
              <a:t>初始化</a:t>
            </a:r>
            <a:endParaRPr lang="en-US" altLang="zh-CN" dirty="0">
              <a:latin typeface="宋体" pitchFamily="2" charset="-122"/>
            </a:endParaRPr>
          </a:p>
          <a:p>
            <a:pPr lvl="2">
              <a:buFont typeface="Wingdings" pitchFamily="2" charset="2"/>
              <a:buChar char="n"/>
            </a:pPr>
            <a:r>
              <a:rPr lang="zh-CN" altLang="en-US" dirty="0">
                <a:latin typeface="宋体" pitchFamily="2" charset="-122"/>
              </a:rPr>
              <a:t>对每个非终结符</a:t>
            </a:r>
            <a:r>
              <a:rPr lang="en-US" altLang="zh-CN" dirty="0">
                <a:latin typeface="宋体" pitchFamily="2" charset="-122"/>
              </a:rPr>
              <a:t>A,</a:t>
            </a:r>
            <a:r>
              <a:rPr lang="zh-CN" altLang="en-US" dirty="0">
                <a:latin typeface="宋体" pitchFamily="2" charset="-122"/>
              </a:rPr>
              <a:t>若有形如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A→ a …</a:t>
            </a:r>
            <a:r>
              <a:rPr lang="zh-CN" altLang="en-US" b="1" dirty="0">
                <a:solidFill>
                  <a:srgbClr val="000000"/>
                </a:solidFill>
                <a:latin typeface="宋体" pitchFamily="2" charset="-122"/>
              </a:rPr>
              <a:t>或</a:t>
            </a:r>
            <a:r>
              <a:rPr lang="en-US" altLang="zh-CN" b="1" dirty="0" err="1">
                <a:solidFill>
                  <a:srgbClr val="000000"/>
                </a:solidFill>
                <a:latin typeface="宋体" pitchFamily="2" charset="-122"/>
              </a:rPr>
              <a:t>A→Ba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…</a:t>
            </a:r>
            <a:r>
              <a:rPr lang="zh-CN" altLang="en-US" dirty="0">
                <a:latin typeface="宋体" pitchFamily="2" charset="-122"/>
              </a:rPr>
              <a:t>的产生式，则变</a:t>
            </a:r>
            <a:r>
              <a:rPr lang="en-US" altLang="zh-CN" dirty="0"/>
              <a:t>F[</a:t>
            </a:r>
            <a:r>
              <a:rPr lang="en-US" altLang="zh-CN" dirty="0" err="1"/>
              <a:t>i</a:t>
            </a:r>
            <a:r>
              <a:rPr lang="en-US" altLang="zh-CN" baseline="-25000" dirty="0" err="1"/>
              <a:t>A</a:t>
            </a:r>
            <a:r>
              <a:rPr lang="en-US" altLang="zh-CN" dirty="0" err="1"/>
              <a:t>,j</a:t>
            </a:r>
            <a:r>
              <a:rPr lang="en-US" altLang="zh-CN" baseline="-25000" dirty="0" err="1"/>
              <a:t>a</a:t>
            </a:r>
            <a:r>
              <a:rPr lang="en-US" altLang="zh-CN" dirty="0"/>
              <a:t>]</a:t>
            </a:r>
            <a:r>
              <a:rPr lang="zh-CN" altLang="en-US" dirty="0">
                <a:latin typeface="宋体" pitchFamily="2" charset="-122"/>
              </a:rPr>
              <a:t>的</a:t>
            </a:r>
            <a:r>
              <a:rPr lang="en-US" altLang="zh-CN" dirty="0">
                <a:latin typeface="宋体" pitchFamily="2" charset="-122"/>
              </a:rPr>
              <a:t>FALSE</a:t>
            </a:r>
            <a:r>
              <a:rPr lang="zh-CN" altLang="en-US" dirty="0">
                <a:latin typeface="宋体" pitchFamily="2" charset="-122"/>
              </a:rPr>
              <a:t>为</a:t>
            </a:r>
            <a:r>
              <a:rPr lang="en-US" altLang="zh-CN" dirty="0">
                <a:latin typeface="宋体" pitchFamily="2" charset="-122"/>
              </a:rPr>
              <a:t>TRUE</a:t>
            </a:r>
            <a:r>
              <a:rPr lang="zh-CN" altLang="en-US" dirty="0">
                <a:latin typeface="宋体" pitchFamily="2" charset="-122"/>
              </a:rPr>
              <a:t>，同时</a:t>
            </a:r>
            <a:r>
              <a:rPr lang="en-US" altLang="zh-CN" dirty="0">
                <a:latin typeface="宋体" pitchFamily="2" charset="-122"/>
              </a:rPr>
              <a:t>(</a:t>
            </a:r>
            <a:r>
              <a:rPr lang="en-US" altLang="zh-CN" dirty="0" err="1">
                <a:latin typeface="宋体" pitchFamily="2" charset="-122"/>
              </a:rPr>
              <a:t>A,a</a:t>
            </a:r>
            <a:r>
              <a:rPr lang="en-US" altLang="zh-CN" dirty="0">
                <a:latin typeface="宋体" pitchFamily="2" charset="-122"/>
              </a:rPr>
              <a:t>)</a:t>
            </a:r>
            <a:r>
              <a:rPr lang="zh-CN" altLang="en-US" dirty="0">
                <a:latin typeface="宋体" pitchFamily="2" charset="-122"/>
              </a:rPr>
              <a:t>进栈；</a:t>
            </a:r>
            <a:endParaRPr lang="en-US" altLang="zh-CN" dirty="0">
              <a:latin typeface="宋体" pitchFamily="2" charset="-122"/>
            </a:endParaRPr>
          </a:p>
          <a:p>
            <a:pPr lvl="2" eaLnBrk="1" hangingPunct="1">
              <a:buFont typeface="Wingdings" pitchFamily="2" charset="2"/>
              <a:buChar char="n"/>
            </a:pPr>
            <a:endParaRPr lang="zh-CN" altLang="en-US" dirty="0">
              <a:latin typeface="宋体" pitchFamily="2" charset="-122"/>
            </a:endParaRPr>
          </a:p>
          <a:p>
            <a:pPr lvl="1">
              <a:buFont typeface="Wingdings" pitchFamily="2" charset="2"/>
              <a:buChar char="n"/>
            </a:pPr>
            <a:r>
              <a:rPr lang="zh-CN" altLang="en-US" dirty="0"/>
              <a:t>    </a:t>
            </a:r>
            <a:r>
              <a:rPr lang="en-US" altLang="zh-CN" b="1" dirty="0">
                <a:solidFill>
                  <a:srgbClr val="000000"/>
                </a:solidFill>
              </a:rPr>
              <a:t>c.</a:t>
            </a:r>
            <a:r>
              <a:rPr lang="zh-CN" altLang="en-US" dirty="0"/>
              <a:t>只要</a:t>
            </a:r>
            <a:r>
              <a:rPr lang="en-US" altLang="zh-CN" dirty="0"/>
              <a:t>Stack</a:t>
            </a:r>
            <a:r>
              <a:rPr lang="zh-CN" altLang="en-US" dirty="0"/>
              <a:t>非空，则出栈。每退出一项</a:t>
            </a:r>
            <a:r>
              <a:rPr lang="en-US" altLang="zh-CN" dirty="0">
                <a:latin typeface="宋体" pitchFamily="2" charset="-122"/>
              </a:rPr>
              <a:t>(</a:t>
            </a:r>
            <a:r>
              <a:rPr lang="en-US" altLang="zh-CN" dirty="0" err="1">
                <a:latin typeface="宋体" pitchFamily="2" charset="-122"/>
              </a:rPr>
              <a:t>B,a</a:t>
            </a:r>
            <a:r>
              <a:rPr lang="en-US" altLang="zh-CN" dirty="0">
                <a:latin typeface="宋体" pitchFamily="2" charset="-122"/>
              </a:rPr>
              <a:t>)</a:t>
            </a:r>
            <a:r>
              <a:rPr lang="zh-CN" altLang="en-US" dirty="0">
                <a:latin typeface="宋体" pitchFamily="2" charset="-122"/>
              </a:rPr>
              <a:t>则检查是否有</a:t>
            </a:r>
            <a:r>
              <a:rPr lang="en-US" altLang="zh-CN" dirty="0">
                <a:latin typeface="宋体" pitchFamily="2" charset="-122"/>
              </a:rPr>
              <a:t>A→B …</a:t>
            </a:r>
            <a:r>
              <a:rPr lang="zh-CN" altLang="en-US" dirty="0">
                <a:latin typeface="宋体" pitchFamily="2" charset="-122"/>
              </a:rPr>
              <a:t>形式的产生式，若有，则置</a:t>
            </a:r>
            <a:r>
              <a:rPr lang="en-US" altLang="zh-CN" dirty="0"/>
              <a:t>F[</a:t>
            </a:r>
            <a:r>
              <a:rPr lang="en-US" altLang="zh-CN" dirty="0" err="1"/>
              <a:t>i</a:t>
            </a:r>
            <a:r>
              <a:rPr lang="en-US" altLang="zh-CN" baseline="-25000" dirty="0" err="1"/>
              <a:t>A</a:t>
            </a:r>
            <a:r>
              <a:rPr lang="en-US" altLang="zh-CN" dirty="0" err="1"/>
              <a:t>,j</a:t>
            </a:r>
            <a:r>
              <a:rPr lang="en-US" altLang="zh-CN" baseline="-25000" dirty="0" err="1"/>
              <a:t>a</a:t>
            </a:r>
            <a:r>
              <a:rPr lang="en-US" altLang="zh-CN" dirty="0"/>
              <a:t>]</a:t>
            </a:r>
            <a:r>
              <a:rPr lang="zh-CN" altLang="en-US" dirty="0">
                <a:latin typeface="宋体" pitchFamily="2" charset="-122"/>
              </a:rPr>
              <a:t>为</a:t>
            </a:r>
            <a:r>
              <a:rPr lang="en-US" altLang="zh-CN" dirty="0">
                <a:latin typeface="宋体" pitchFamily="2" charset="-122"/>
              </a:rPr>
              <a:t>TRUE,</a:t>
            </a:r>
            <a:r>
              <a:rPr lang="zh-CN" altLang="en-US" dirty="0">
                <a:latin typeface="宋体" pitchFamily="2" charset="-122"/>
              </a:rPr>
              <a:t>同时</a:t>
            </a:r>
            <a:r>
              <a:rPr lang="en-US" altLang="zh-CN" dirty="0">
                <a:latin typeface="宋体" pitchFamily="2" charset="-122"/>
              </a:rPr>
              <a:t>(</a:t>
            </a:r>
            <a:r>
              <a:rPr lang="en-US" altLang="zh-CN" dirty="0" err="1">
                <a:latin typeface="宋体" pitchFamily="2" charset="-122"/>
              </a:rPr>
              <a:t>A,a</a:t>
            </a:r>
            <a:r>
              <a:rPr lang="en-US" altLang="zh-CN" dirty="0">
                <a:latin typeface="宋体" pitchFamily="2" charset="-122"/>
              </a:rPr>
              <a:t>)</a:t>
            </a:r>
            <a:r>
              <a:rPr lang="zh-CN" altLang="en-US" dirty="0">
                <a:latin typeface="宋体" pitchFamily="2" charset="-122"/>
              </a:rPr>
              <a:t>进栈</a:t>
            </a:r>
            <a:r>
              <a:rPr lang="en-US" altLang="zh-CN" dirty="0">
                <a:latin typeface="宋体" pitchFamily="2" charset="-122"/>
              </a:rPr>
              <a:t>,</a:t>
            </a:r>
            <a:r>
              <a:rPr lang="zh-CN" altLang="en-US" dirty="0">
                <a:latin typeface="宋体" pitchFamily="2" charset="-122"/>
              </a:rPr>
              <a:t>直到栈空为止。</a:t>
            </a:r>
            <a:endParaRPr lang="en-US" altLang="zh-CN" dirty="0">
              <a:latin typeface="宋体" pitchFamily="2" charset="-122"/>
            </a:endParaRPr>
          </a:p>
          <a:p>
            <a:pPr lvl="1" eaLnBrk="1" hangingPunct="1">
              <a:buFont typeface="Wingdings" pitchFamily="2" charset="2"/>
              <a:buChar char="n"/>
            </a:pPr>
            <a:endParaRPr lang="en-US" altLang="zh-CN" dirty="0">
              <a:latin typeface="宋体" pitchFamily="2" charset="-122"/>
            </a:endParaRPr>
          </a:p>
          <a:p>
            <a:pPr lvl="1" eaLnBrk="1" hangingPunct="1">
              <a:buFont typeface="Wingdings" pitchFamily="2" charset="2"/>
              <a:buChar char="n"/>
            </a:pPr>
            <a:r>
              <a:rPr lang="zh-CN" altLang="en-US" dirty="0">
                <a:latin typeface="宋体" pitchFamily="2" charset="-122"/>
              </a:rPr>
              <a:t>当对所有的非终结符执行如上操作之后，就构造出了</a:t>
            </a:r>
            <a:r>
              <a:rPr lang="en-US" altLang="zh-CN" dirty="0"/>
              <a:t>FIRSTVT</a:t>
            </a:r>
            <a:r>
              <a:rPr lang="zh-CN" altLang="en-US" dirty="0">
                <a:latin typeface="宋体" pitchFamily="2" charset="-122"/>
              </a:rPr>
              <a:t>集，即</a:t>
            </a:r>
            <a:r>
              <a:rPr lang="zh-CN" altLang="en-US" sz="2000" dirty="0">
                <a:latin typeface="宋体" pitchFamily="2" charset="-122"/>
              </a:rPr>
              <a:t>：</a:t>
            </a:r>
          </a:p>
          <a:p>
            <a:pPr>
              <a:buNone/>
            </a:pPr>
            <a:r>
              <a:rPr lang="en-US" altLang="zh-CN" sz="2400" b="1" dirty="0">
                <a:latin typeface="宋体" pitchFamily="2" charset="-122"/>
              </a:rPr>
              <a:t>         FIRSTVT(A) </a:t>
            </a:r>
            <a:r>
              <a:rPr lang="zh-CN" altLang="en-US" sz="2400" b="1" dirty="0">
                <a:latin typeface="宋体" pitchFamily="2" charset="-122"/>
              </a:rPr>
              <a:t>＝</a:t>
            </a:r>
            <a:r>
              <a:rPr lang="en-US" altLang="zh-CN" sz="2400" b="1" dirty="0">
                <a:latin typeface="宋体" pitchFamily="2" charset="-122"/>
              </a:rPr>
              <a:t>{ a│</a:t>
            </a:r>
            <a:r>
              <a:rPr lang="en-US" altLang="zh-CN" dirty="0"/>
              <a:t> F[</a:t>
            </a:r>
            <a:r>
              <a:rPr lang="en-US" altLang="zh-CN" dirty="0" err="1"/>
              <a:t>i</a:t>
            </a:r>
            <a:r>
              <a:rPr lang="en-US" altLang="zh-CN" baseline="-25000" dirty="0" err="1"/>
              <a:t>A</a:t>
            </a:r>
            <a:r>
              <a:rPr lang="en-US" altLang="zh-CN" dirty="0" err="1"/>
              <a:t>,j</a:t>
            </a:r>
            <a:r>
              <a:rPr lang="en-US" altLang="zh-CN" baseline="-25000" dirty="0" err="1"/>
              <a:t>a</a:t>
            </a:r>
            <a:r>
              <a:rPr lang="en-US" altLang="zh-CN" dirty="0"/>
              <a:t>] </a:t>
            </a:r>
            <a:r>
              <a:rPr lang="zh-CN" altLang="en-US" sz="2400" b="1" dirty="0">
                <a:latin typeface="宋体" pitchFamily="2" charset="-122"/>
              </a:rPr>
              <a:t>＝</a:t>
            </a:r>
            <a:r>
              <a:rPr lang="en-US" altLang="zh-CN" sz="2400" b="1" dirty="0">
                <a:latin typeface="宋体" pitchFamily="2" charset="-122"/>
              </a:rPr>
              <a:t>TRUE}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b="1" dirty="0">
              <a:latin typeface="宋体" pitchFamily="2" charset="-122"/>
            </a:endParaRPr>
          </a:p>
        </p:txBody>
      </p:sp>
      <p:sp>
        <p:nvSpPr>
          <p:cNvPr id="43012" name="矩形 4"/>
          <p:cNvSpPr>
            <a:spLocks noChangeArrowheads="1"/>
          </p:cNvSpPr>
          <p:nvPr/>
        </p:nvSpPr>
        <p:spPr bwMode="auto">
          <a:xfrm>
            <a:off x="285750" y="0"/>
            <a:ext cx="7858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eaLnBrk="1" hangingPunct="1">
              <a:buFont typeface="Wingdings" pitchFamily="2" charset="2"/>
              <a:buChar char="n"/>
            </a:pPr>
            <a:r>
              <a:rPr lang="zh-CN" altLang="en-US" dirty="0"/>
              <a:t>总结：使用一个布尔数组</a:t>
            </a:r>
            <a:r>
              <a:rPr lang="en-US" altLang="zh-CN" dirty="0"/>
              <a:t>F[</a:t>
            </a:r>
            <a:r>
              <a:rPr lang="en-US" altLang="zh-CN" dirty="0" err="1"/>
              <a:t>i</a:t>
            </a:r>
            <a:r>
              <a:rPr lang="en-US" altLang="zh-CN" baseline="-25000" dirty="0" err="1"/>
              <a:t>A</a:t>
            </a:r>
            <a:r>
              <a:rPr lang="en-US" altLang="zh-CN" dirty="0" err="1"/>
              <a:t>,j</a:t>
            </a:r>
            <a:r>
              <a:rPr lang="en-US" altLang="zh-CN" baseline="-25000" dirty="0" err="1"/>
              <a:t>a</a:t>
            </a:r>
            <a:r>
              <a:rPr lang="en-US" altLang="zh-CN" dirty="0"/>
              <a:t>]</a:t>
            </a:r>
            <a:r>
              <a:rPr lang="zh-CN" altLang="en-US" dirty="0"/>
              <a:t>和一个栈</a:t>
            </a:r>
            <a:r>
              <a:rPr lang="en-US" altLang="zh-CN" dirty="0"/>
              <a:t>Stack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1820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4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4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49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5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标题 6"/>
          <p:cNvSpPr>
            <a:spLocks noGrp="1"/>
          </p:cNvSpPr>
          <p:nvPr>
            <p:ph type="title"/>
          </p:nvPr>
        </p:nvSpPr>
        <p:spPr>
          <a:xfrm>
            <a:off x="714375" y="142875"/>
            <a:ext cx="7772400" cy="560388"/>
          </a:xfrm>
        </p:spPr>
        <p:txBody>
          <a:bodyPr/>
          <a:lstStyle/>
          <a:p>
            <a:r>
              <a:rPr lang="zh-CN" altLang="en-US" b="1" dirty="0"/>
              <a:t>例：求非终结符的</a:t>
            </a:r>
            <a:r>
              <a:rPr lang="en-US" altLang="zh-CN" b="1" dirty="0"/>
              <a:t>FISRTVT</a:t>
            </a:r>
            <a:endParaRPr lang="zh-CN" altLang="en-US" b="1" dirty="0"/>
          </a:p>
        </p:txBody>
      </p:sp>
      <p:sp>
        <p:nvSpPr>
          <p:cNvPr id="88067" name="内容占位符 7"/>
          <p:cNvSpPr>
            <a:spLocks noGrp="1"/>
          </p:cNvSpPr>
          <p:nvPr>
            <p:ph sz="quarter" idx="1"/>
          </p:nvPr>
        </p:nvSpPr>
        <p:spPr>
          <a:xfrm>
            <a:off x="-28813" y="880008"/>
            <a:ext cx="2286000" cy="3929063"/>
          </a:xfrm>
        </p:spPr>
        <p:txBody>
          <a:bodyPr/>
          <a:lstStyle/>
          <a:p>
            <a:pPr>
              <a:buFont typeface="Wingdings" pitchFamily="2" charset="2"/>
              <a:buChar char="l"/>
            </a:pP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文法：</a:t>
            </a:r>
            <a:endParaRPr lang="en-US" altLang="zh-CN" b="1" dirty="0">
              <a:latin typeface="Times New Roman" pitchFamily="18" charset="0"/>
              <a:cs typeface="Times New Roman" pitchFamily="18" charset="0"/>
            </a:endParaRPr>
          </a:p>
          <a:p>
            <a:pPr lvl="1" eaLnBrk="1" hangingPunct="1">
              <a:buFont typeface="Wingdings" pitchFamily="2" charset="2"/>
              <a:buChar char="l"/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zh-CN" dirty="0">
                <a:latin typeface="Times New Roman" pitchFamily="18" charset="0"/>
                <a:ea typeface="MS PMincho" pitchFamily="18" charset="-128"/>
              </a:rPr>
              <a:t> '</a:t>
            </a:r>
            <a:r>
              <a:rPr lang="en-US" altLang="zh-CN" dirty="0">
                <a:latin typeface="Times New Roman" pitchFamily="18" charset="0"/>
                <a:ea typeface="MS PMincho" pitchFamily="18" charset="-128"/>
                <a:sym typeface="Symbol" pitchFamily="18" charset="2"/>
              </a:rPr>
              <a:t> 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→#E#</a:t>
            </a:r>
          </a:p>
          <a:p>
            <a:pPr lvl="1" eaLnBrk="1" hangingPunct="1">
              <a:buFont typeface="Wingdings" pitchFamily="2" charset="2"/>
              <a:buChar char="l"/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E→E+T</a:t>
            </a:r>
          </a:p>
          <a:p>
            <a:pPr lvl="1" eaLnBrk="1" hangingPunct="1">
              <a:buFont typeface="Wingdings" pitchFamily="2" charset="2"/>
              <a:buChar char="l"/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E →T </a:t>
            </a:r>
          </a:p>
          <a:p>
            <a:pPr lvl="1" eaLnBrk="1" hangingPunct="1">
              <a:buFont typeface="Wingdings" pitchFamily="2" charset="2"/>
              <a:buChar char="l"/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T→T*F </a:t>
            </a:r>
          </a:p>
          <a:p>
            <a:pPr lvl="1" eaLnBrk="1" hangingPunct="1">
              <a:buFont typeface="Wingdings" pitchFamily="2" charset="2"/>
              <a:buChar char="l"/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T→ F  </a:t>
            </a:r>
          </a:p>
          <a:p>
            <a:pPr lvl="1">
              <a:buFont typeface="Wingdings" pitchFamily="2" charset="2"/>
              <a:buChar char="l"/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F →P ↑F|P</a:t>
            </a:r>
          </a:p>
          <a:p>
            <a:pPr lvl="1" eaLnBrk="1" hangingPunct="1">
              <a:buFont typeface="Wingdings" pitchFamily="2" charset="2"/>
              <a:buChar char="l"/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P→(E) </a:t>
            </a:r>
          </a:p>
          <a:p>
            <a:pPr lvl="1" eaLnBrk="1" hangingPunct="1">
              <a:buFont typeface="Wingdings" pitchFamily="2" charset="2"/>
              <a:buChar char="l"/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P→ </a:t>
            </a:r>
            <a:r>
              <a:rPr lang="en-US" altLang="zh-CN" b="1" dirty="0" err="1">
                <a:latin typeface="Times New Roman" pitchFamily="18" charset="0"/>
                <a:cs typeface="Times New Roman" pitchFamily="18" charset="0"/>
              </a:rPr>
              <a:t>i</a:t>
            </a:r>
            <a:endParaRPr lang="en-US" altLang="zh-CN" b="1" dirty="0">
              <a:latin typeface="Times New Roman" pitchFamily="18" charset="0"/>
              <a:cs typeface="Times New Roman" pitchFamily="18" charset="0"/>
            </a:endParaRPr>
          </a:p>
          <a:p>
            <a:endParaRPr lang="zh-CN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12178" y="953000"/>
            <a:ext cx="592931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2"/>
              </a:buClr>
              <a:buFont typeface="Wingdings" pitchFamily="2" charset="2"/>
              <a:buChar char="n"/>
              <a:defRPr/>
            </a:pPr>
            <a:r>
              <a:rPr lang="en-US" altLang="zh-CN" sz="1800" dirty="0">
                <a:latin typeface="Times New Roman" pitchFamily="18" charset="0"/>
                <a:ea typeface="+mn-ea"/>
                <a:cs typeface="Times New Roman" pitchFamily="18" charset="0"/>
              </a:rPr>
              <a:t>FIRSTVT( E'</a:t>
            </a:r>
            <a:r>
              <a:rPr lang="en-US" altLang="zh-CN" sz="1800" dirty="0">
                <a:latin typeface="Times New Roman" pitchFamily="18" charset="0"/>
                <a:ea typeface="+mn-ea"/>
                <a:cs typeface="Times New Roman" pitchFamily="18" charset="0"/>
                <a:sym typeface="Symbol" pitchFamily="18" charset="2"/>
              </a:rPr>
              <a:t>)= {#}</a:t>
            </a:r>
          </a:p>
          <a:p>
            <a:pPr lvl="0">
              <a:buClr>
                <a:schemeClr val="accent2"/>
              </a:buClr>
              <a:buFont typeface="Wingdings" pitchFamily="2" charset="2"/>
              <a:buChar char="n"/>
              <a:defRPr/>
            </a:pP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FIRSTVT( 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)= {+,*,</a:t>
            </a:r>
            <a:r>
              <a:rPr lang="en-US" altLang="zh-CN" dirty="0">
                <a:latin typeface="Arial" pitchFamily="34" charset="0"/>
                <a:ea typeface="宋体" pitchFamily="2" charset="-122"/>
              </a:rPr>
              <a:t> ↑,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(,</a:t>
            </a:r>
            <a:r>
              <a:rPr lang="en-US" altLang="zh-CN" sz="18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 </a:t>
            </a:r>
            <a:endParaRPr lang="zh-CN" alt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n"/>
              <a:defRPr/>
            </a:pP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FIRSTVT( T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)= {*,</a:t>
            </a:r>
            <a:r>
              <a:rPr lang="en-US" altLang="zh-CN" dirty="0">
                <a:latin typeface="Arial" pitchFamily="34" charset="0"/>
                <a:ea typeface="宋体" pitchFamily="2" charset="-122"/>
              </a:rPr>
              <a:t> ↑,</a:t>
            </a:r>
            <a:r>
              <a:rPr lang="en-US" altLang="zh-CN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(}</a:t>
            </a:r>
          </a:p>
          <a:p>
            <a:pPr>
              <a:buClr>
                <a:schemeClr val="accent2"/>
              </a:buClr>
              <a:buFont typeface="Wingdings" pitchFamily="2" charset="2"/>
              <a:buChar char="n"/>
              <a:defRPr/>
            </a:pPr>
            <a:r>
              <a:rPr lang="en-US" altLang="zh-CN" sz="1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FIRSTVT( F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)= {</a:t>
            </a:r>
            <a:r>
              <a:rPr lang="en-US" altLang="zh-CN" dirty="0">
                <a:latin typeface="Arial" pitchFamily="34" charset="0"/>
                <a:ea typeface="宋体" pitchFamily="2" charset="-122"/>
              </a:rPr>
              <a:t>↑,</a:t>
            </a:r>
            <a:r>
              <a:rPr lang="en-US" altLang="zh-CN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,(}</a:t>
            </a:r>
          </a:p>
          <a:p>
            <a:pPr>
              <a:buClr>
                <a:schemeClr val="accent2"/>
              </a:buClr>
              <a:buFont typeface="Wingdings" pitchFamily="2" charset="2"/>
              <a:buChar char="n"/>
              <a:defRPr/>
            </a:pPr>
            <a:r>
              <a:rPr lang="en-US" altLang="zh-CN" sz="1800" dirty="0">
                <a:latin typeface="Times New Roman" pitchFamily="18" charset="0"/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FIRSTVT( P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)={(,</a:t>
            </a:r>
            <a:r>
              <a:rPr lang="en-US" altLang="zh-CN" sz="18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 </a:t>
            </a:r>
          </a:p>
          <a:p>
            <a:pPr>
              <a:buClr>
                <a:schemeClr val="accent2"/>
              </a:buClr>
              <a:buFont typeface="Wingdings" pitchFamily="2" charset="2"/>
              <a:buChar char="n"/>
              <a:defRPr/>
            </a:pPr>
            <a:endParaRPr lang="en-US" altLang="zh-CN" sz="18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graphicFrame>
        <p:nvGraphicFramePr>
          <p:cNvPr id="7" name="Group 2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022308"/>
              </p:ext>
            </p:extLst>
          </p:nvPr>
        </p:nvGraphicFramePr>
        <p:xfrm>
          <a:off x="3660788" y="3188895"/>
          <a:ext cx="4702779" cy="3532580"/>
        </p:xfrm>
        <a:graphic>
          <a:graphicData uri="http://schemas.openxmlformats.org/drawingml/2006/table">
            <a:tbl>
              <a:tblPr/>
              <a:tblGrid>
                <a:gridCol w="575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6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6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76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36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6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928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9081"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+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↑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i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(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)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#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0724"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E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Mincho" pitchFamily="18" charset="-128"/>
                        </a:rPr>
                        <a:t> '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Mincho" pitchFamily="18" charset="-128"/>
                          <a:sym typeface="Symbol" pitchFamily="18" charset="2"/>
                        </a:rPr>
                        <a:t> 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040"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E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Mincho" pitchFamily="18" charset="-128"/>
                        </a:rPr>
                        <a:t> 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4714"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871"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87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P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F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838134" y="5404601"/>
            <a:ext cx="2160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计算过程在例</a:t>
            </a:r>
            <a:r>
              <a:rPr lang="en-US" altLang="zh-CN" dirty="0">
                <a:solidFill>
                  <a:srgbClr val="FF0000"/>
                </a:solidFill>
              </a:rPr>
              <a:t>5.3 P113</a:t>
            </a:r>
            <a:r>
              <a:rPr lang="zh-CN" altLang="en-US" dirty="0">
                <a:solidFill>
                  <a:srgbClr val="FF0000"/>
                </a:solidFill>
              </a:rPr>
              <a:t>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918267" y="773330"/>
            <a:ext cx="697426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6</a:t>
            </a:r>
            <a:r>
              <a:rPr lang="zh-CN" altLang="en-US" dirty="0"/>
              <a:t>）（</a:t>
            </a:r>
            <a:r>
              <a:rPr lang="en-US" altLang="zh-CN" dirty="0" err="1"/>
              <a:t>P,i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5</a:t>
            </a:r>
            <a:r>
              <a:rPr lang="zh-CN" altLang="en-US" dirty="0"/>
              <a:t>）（</a:t>
            </a:r>
            <a:r>
              <a:rPr lang="en-US" altLang="zh-CN" dirty="0"/>
              <a:t>P,(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）（</a:t>
            </a:r>
            <a:r>
              <a:rPr lang="en-US" altLang="zh-CN" dirty="0"/>
              <a:t>F,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↑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）（</a:t>
            </a:r>
            <a:r>
              <a:rPr lang="en-US" altLang="zh-CN" dirty="0"/>
              <a:t>T,*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）（</a:t>
            </a:r>
            <a:r>
              <a:rPr lang="en-US" altLang="zh-CN" dirty="0"/>
              <a:t>E,+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）（</a:t>
            </a:r>
            <a:r>
              <a:rPr lang="en-US" altLang="zh-CN" dirty="0"/>
              <a:t>E’,#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弹出栈顶（</a:t>
            </a:r>
            <a:r>
              <a:rPr lang="en-US" altLang="zh-CN" dirty="0" err="1"/>
              <a:t>B,i</a:t>
            </a:r>
            <a:r>
              <a:rPr lang="zh-CN" altLang="en-US" dirty="0"/>
              <a:t>）由产生</a:t>
            </a:r>
            <a:r>
              <a:rPr lang="en-US" altLang="zh-CN" dirty="0"/>
              <a:t>F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 →P,</a:t>
            </a:r>
            <a:r>
              <a:rPr lang="en-US" altLang="zh-CN" dirty="0"/>
              <a:t> T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 →F,</a:t>
            </a:r>
            <a:r>
              <a:rPr lang="en-US" altLang="zh-CN" dirty="0"/>
              <a:t> E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 →T,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栈顶（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）的内容逐次变为（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b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）（</a:t>
            </a:r>
            <a:r>
              <a:rPr lang="en-US" altLang="zh-CN" b="1" dirty="0" err="1">
                <a:latin typeface="Times New Roman" pitchFamily="18" charset="0"/>
                <a:cs typeface="Times New Roman" pitchFamily="18" charset="0"/>
              </a:rPr>
              <a:t>T,i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）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b="1" dirty="0" err="1">
                <a:latin typeface="Times New Roman" pitchFamily="18" charset="0"/>
                <a:cs typeface="Times New Roman" pitchFamily="18" charset="0"/>
              </a:rPr>
              <a:t>E,i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)   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（依据，是</a:t>
            </a:r>
            <a:r>
              <a:rPr lang="en-US" altLang="zh-CN" dirty="0">
                <a:latin typeface="宋体" pitchFamily="2" charset="-122"/>
              </a:rPr>
              <a:t>A→B …</a:t>
            </a:r>
            <a:r>
              <a:rPr lang="zh-CN" altLang="en-US" dirty="0">
                <a:latin typeface="宋体" pitchFamily="2" charset="-122"/>
              </a:rPr>
              <a:t>形式的产生式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）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6749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8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8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8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80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7" grpId="0" build="p"/>
      <p:bldP spid="9" grpId="0" build="p" bldLvl="3"/>
      <p:bldP spid="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内容占位符 2"/>
          <p:cNvSpPr>
            <a:spLocks noGrp="1"/>
          </p:cNvSpPr>
          <p:nvPr>
            <p:ph sz="quarter" idx="1"/>
          </p:nvPr>
        </p:nvSpPr>
        <p:spPr>
          <a:xfrm>
            <a:off x="642938" y="857250"/>
            <a:ext cx="7772400" cy="4572000"/>
          </a:xfrm>
        </p:spPr>
        <p:txBody>
          <a:bodyPr/>
          <a:lstStyle/>
          <a:p>
            <a:r>
              <a:rPr lang="zh-CN" altLang="en-US" dirty="0"/>
              <a:t>设文法</a:t>
            </a:r>
            <a:r>
              <a:rPr lang="en-US" altLang="zh-CN" dirty="0"/>
              <a:t>G( P)</a:t>
            </a:r>
            <a:r>
              <a:rPr lang="zh-CN" altLang="en-US" dirty="0"/>
              <a:t>：</a:t>
            </a:r>
          </a:p>
          <a:p>
            <a:r>
              <a:rPr lang="en-US" altLang="zh-CN" dirty="0"/>
              <a:t>P → </a:t>
            </a:r>
            <a:r>
              <a:rPr lang="en-US" altLang="zh-CN" dirty="0" err="1"/>
              <a:t>Qa</a:t>
            </a:r>
            <a:endParaRPr lang="en-US" altLang="zh-CN" dirty="0"/>
          </a:p>
          <a:p>
            <a:r>
              <a:rPr lang="en-US" altLang="zh-CN" dirty="0"/>
              <a:t>Q → </a:t>
            </a:r>
            <a:r>
              <a:rPr lang="en-US" altLang="zh-CN" dirty="0" err="1"/>
              <a:t>bR</a:t>
            </a:r>
            <a:endParaRPr lang="en-US" altLang="zh-CN" dirty="0"/>
          </a:p>
          <a:p>
            <a:r>
              <a:rPr lang="en-US" altLang="zh-CN" dirty="0"/>
              <a:t>R → a</a:t>
            </a:r>
          </a:p>
          <a:p>
            <a:r>
              <a:rPr lang="zh-CN" altLang="en-US" dirty="0"/>
              <a:t>据</a:t>
            </a:r>
            <a:r>
              <a:rPr lang="en-US" altLang="zh-CN" dirty="0"/>
              <a:t>FIRSTVT(G)</a:t>
            </a:r>
            <a:r>
              <a:rPr lang="zh-CN" altLang="en-US" dirty="0"/>
              <a:t>的算法首先求该文法的数组</a:t>
            </a:r>
            <a:r>
              <a:rPr lang="en-US" altLang="zh-CN" dirty="0"/>
              <a:t>F[</a:t>
            </a:r>
            <a:r>
              <a:rPr lang="en-US" altLang="zh-CN" dirty="0" err="1"/>
              <a:t>i</a:t>
            </a:r>
            <a:r>
              <a:rPr lang="en-US" altLang="zh-CN" baseline="-25000" dirty="0" err="1"/>
              <a:t>A</a:t>
            </a:r>
            <a:r>
              <a:rPr lang="en-US" altLang="zh-CN" dirty="0" err="1"/>
              <a:t>,j</a:t>
            </a:r>
            <a:r>
              <a:rPr lang="en-US" altLang="zh-CN" baseline="-25000" dirty="0" err="1"/>
              <a:t>a</a:t>
            </a:r>
            <a:r>
              <a:rPr lang="en-US" altLang="zh-CN" dirty="0"/>
              <a:t>]</a:t>
            </a:r>
            <a:endParaRPr lang="zh-CN" altLang="en-US" dirty="0"/>
          </a:p>
        </p:txBody>
      </p:sp>
      <p:pic>
        <p:nvPicPr>
          <p:cNvPr id="409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22" y="4223239"/>
            <a:ext cx="2000250" cy="1733550"/>
          </a:xfrm>
          <a:prstGeom prst="rect">
            <a:avLst/>
          </a:prstGeom>
          <a:noFill/>
          <a:ln w="28575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714375" y="142875"/>
            <a:ext cx="7772400" cy="560388"/>
          </a:xfrm>
        </p:spPr>
        <p:txBody>
          <a:bodyPr/>
          <a:lstStyle/>
          <a:p>
            <a:r>
              <a:rPr lang="zh-CN" altLang="en-US" dirty="0"/>
              <a:t>例：求非终结符的</a:t>
            </a:r>
            <a:r>
              <a:rPr lang="en-US" altLang="zh-CN" dirty="0"/>
              <a:t>FISRTVT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2272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9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9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四、算符优先分析法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200" dirty="0"/>
              <a:t>方法三：简单关系图形法求</a:t>
            </a:r>
            <a:r>
              <a:rPr lang="en-US" altLang="zh-CN" sz="3200" dirty="0"/>
              <a:t>FIRSTVT</a:t>
            </a:r>
          </a:p>
          <a:p>
            <a:pPr lvl="1"/>
            <a:endParaRPr lang="zh-CN" alt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71438" y="1988822"/>
            <a:ext cx="8964612" cy="5761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55600" indent="-269875" algn="l" rtl="0" eaLnBrk="1" fontAlgn="base" hangingPunct="1">
              <a:spcBef>
                <a:spcPts val="1800"/>
              </a:spcBef>
              <a:spcAft>
                <a:spcPct val="0"/>
              </a:spcAft>
              <a:buClr>
                <a:srgbClr val="003399"/>
              </a:buClr>
              <a:buSzPct val="80000"/>
              <a:buFont typeface="Wingdings 2" panose="05020102010507070707" pitchFamily="18" charset="2"/>
              <a:buChar char=""/>
              <a:defRPr sz="2400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700088" indent="-342900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2000" kern="1200">
                <a:solidFill>
                  <a:srgbClr val="7030A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14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2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>
              <a:lnSpc>
                <a:spcPct val="85000"/>
              </a:lnSpc>
              <a:spcBef>
                <a:spcPct val="50000"/>
              </a:spcBef>
              <a:buFont typeface="Wingdings" pitchFamily="2" charset="2"/>
              <a:buAutoNum type="arabicPeriod"/>
            </a:pPr>
            <a:r>
              <a:rPr lang="zh-CN" altLang="en-US" dirty="0"/>
              <a:t>图中的结点为非终结符的</a:t>
            </a:r>
            <a:r>
              <a:rPr lang="en-US" altLang="zh-CN" dirty="0">
                <a:solidFill>
                  <a:srgbClr val="A50021"/>
                </a:solidFill>
              </a:rPr>
              <a:t>FIRSTVT(A)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A50021"/>
                </a:solidFill>
              </a:rPr>
              <a:t>终结符</a:t>
            </a:r>
          </a:p>
          <a:p>
            <a:pPr marL="357188" indent="-357188">
              <a:lnSpc>
                <a:spcPct val="85000"/>
              </a:lnSpc>
              <a:spcBef>
                <a:spcPct val="50000"/>
              </a:spcBef>
              <a:buFont typeface="Wingdings" pitchFamily="2" charset="2"/>
              <a:buAutoNum type="arabicPeriod"/>
            </a:pPr>
            <a:r>
              <a:rPr lang="zh-CN" altLang="en-US" dirty="0"/>
              <a:t>对每个形如</a:t>
            </a:r>
            <a:r>
              <a:rPr lang="en-US" altLang="zh-CN" dirty="0" err="1"/>
              <a:t>A</a:t>
            </a:r>
            <a:r>
              <a:rPr lang="en-US" altLang="zh-CN" dirty="0" err="1">
                <a:solidFill>
                  <a:srgbClr val="000099"/>
                </a:solidFill>
              </a:rPr>
              <a:t>→a</a:t>
            </a:r>
            <a:r>
              <a:rPr lang="en-US" altLang="zh-CN" dirty="0">
                <a:solidFill>
                  <a:srgbClr val="000099"/>
                </a:solidFill>
                <a:latin typeface="Arial"/>
              </a:rPr>
              <a:t>…</a:t>
            </a:r>
            <a:r>
              <a:rPr lang="zh-CN" altLang="en-US" dirty="0"/>
              <a:t>或</a:t>
            </a:r>
            <a:r>
              <a:rPr lang="en-US" altLang="zh-CN" dirty="0"/>
              <a:t>A</a:t>
            </a:r>
            <a:r>
              <a:rPr lang="en-US" altLang="zh-CN" dirty="0">
                <a:solidFill>
                  <a:srgbClr val="000099"/>
                </a:solidFill>
              </a:rPr>
              <a:t>→B a</a:t>
            </a:r>
            <a:r>
              <a:rPr lang="en-US" altLang="zh-CN" dirty="0">
                <a:solidFill>
                  <a:srgbClr val="000099"/>
                </a:solidFill>
                <a:latin typeface="Arial"/>
              </a:rPr>
              <a:t>…</a:t>
            </a:r>
            <a:r>
              <a:rPr lang="en-US" altLang="zh-CN" dirty="0"/>
              <a:t> </a:t>
            </a:r>
            <a:r>
              <a:rPr lang="zh-CN" altLang="en-US" dirty="0"/>
              <a:t>的产生式</a:t>
            </a:r>
            <a:r>
              <a:rPr lang="en-US" altLang="zh-CN" dirty="0"/>
              <a:t>, </a:t>
            </a:r>
            <a:r>
              <a:rPr lang="zh-CN" altLang="en-US" dirty="0"/>
              <a:t>由</a:t>
            </a:r>
            <a:r>
              <a:rPr lang="en-US" altLang="zh-CN" dirty="0">
                <a:solidFill>
                  <a:srgbClr val="A50021"/>
                </a:solidFill>
              </a:rPr>
              <a:t>FIRSTVT(A)</a:t>
            </a:r>
            <a:r>
              <a:rPr lang="zh-CN" altLang="en-US" dirty="0">
                <a:solidFill>
                  <a:srgbClr val="A50021"/>
                </a:solidFill>
              </a:rPr>
              <a:t>结点</a:t>
            </a:r>
            <a:r>
              <a:rPr lang="zh-CN" altLang="en-US" dirty="0"/>
              <a:t>到</a:t>
            </a:r>
            <a:r>
              <a:rPr lang="zh-CN" altLang="en-US" dirty="0">
                <a:solidFill>
                  <a:srgbClr val="A50021"/>
                </a:solidFill>
              </a:rPr>
              <a:t>结点</a:t>
            </a:r>
            <a:r>
              <a:rPr lang="en-US" altLang="zh-CN" dirty="0">
                <a:solidFill>
                  <a:srgbClr val="A50021"/>
                </a:solidFill>
              </a:rPr>
              <a:t>a</a:t>
            </a:r>
            <a:r>
              <a:rPr lang="zh-CN" altLang="en-US" dirty="0"/>
              <a:t>用箭弧连接</a:t>
            </a:r>
          </a:p>
          <a:p>
            <a:pPr marL="357188" indent="-357188">
              <a:lnSpc>
                <a:spcPct val="85000"/>
              </a:lnSpc>
              <a:spcBef>
                <a:spcPct val="50000"/>
              </a:spcBef>
              <a:buFont typeface="Wingdings" pitchFamily="2" charset="2"/>
              <a:buAutoNum type="arabicPeriod"/>
            </a:pPr>
            <a:r>
              <a:rPr lang="zh-CN" altLang="en-US" dirty="0"/>
              <a:t>对每个形如</a:t>
            </a:r>
            <a:r>
              <a:rPr lang="en-US" altLang="zh-CN" dirty="0"/>
              <a:t>A</a:t>
            </a:r>
            <a:r>
              <a:rPr lang="en-US" altLang="zh-CN" dirty="0">
                <a:solidFill>
                  <a:srgbClr val="000099"/>
                </a:solidFill>
              </a:rPr>
              <a:t>→B </a:t>
            </a:r>
            <a:r>
              <a:rPr lang="en-US" altLang="zh-CN" dirty="0">
                <a:solidFill>
                  <a:srgbClr val="000099"/>
                </a:solidFill>
                <a:latin typeface="Arial"/>
              </a:rPr>
              <a:t>…</a:t>
            </a:r>
            <a:r>
              <a:rPr lang="en-US" altLang="zh-CN" dirty="0"/>
              <a:t> </a:t>
            </a:r>
            <a:r>
              <a:rPr lang="zh-CN" altLang="en-US" dirty="0"/>
              <a:t>的产生式，由</a:t>
            </a:r>
            <a:r>
              <a:rPr lang="en-US" altLang="zh-CN" dirty="0">
                <a:solidFill>
                  <a:srgbClr val="A50021"/>
                </a:solidFill>
              </a:rPr>
              <a:t>FIRSTVT(A)</a:t>
            </a:r>
            <a:r>
              <a:rPr lang="zh-CN" altLang="en-US" dirty="0"/>
              <a:t>到</a:t>
            </a:r>
            <a:r>
              <a:rPr lang="en-US" altLang="zh-CN" dirty="0">
                <a:solidFill>
                  <a:srgbClr val="A50021"/>
                </a:solidFill>
              </a:rPr>
              <a:t>FIRSTVT(B)</a:t>
            </a:r>
            <a:r>
              <a:rPr lang="zh-CN" altLang="en-US" dirty="0"/>
              <a:t>用箭弧连接</a:t>
            </a:r>
          </a:p>
          <a:p>
            <a:pPr marL="357188" indent="-357188">
              <a:lnSpc>
                <a:spcPct val="85000"/>
              </a:lnSpc>
              <a:spcBef>
                <a:spcPct val="50000"/>
              </a:spcBef>
              <a:buFont typeface="Wingdings" pitchFamily="2" charset="2"/>
              <a:buAutoNum type="arabicPeriod"/>
            </a:pPr>
            <a:r>
              <a:rPr lang="zh-CN" altLang="en-US" dirty="0"/>
              <a:t>对每个非终结符的</a:t>
            </a:r>
            <a:r>
              <a:rPr lang="en-US" altLang="zh-CN" dirty="0">
                <a:solidFill>
                  <a:srgbClr val="A50021"/>
                </a:solidFill>
              </a:rPr>
              <a:t>FIRSTVT(A) </a:t>
            </a:r>
            <a:r>
              <a:rPr lang="en-US" altLang="zh-CN" dirty="0"/>
              <a:t>, </a:t>
            </a:r>
            <a:r>
              <a:rPr lang="zh-CN" altLang="en-US" dirty="0"/>
              <a:t>经箭弧有路径能到达的</a:t>
            </a:r>
            <a:r>
              <a:rPr lang="zh-CN" altLang="en-US" dirty="0">
                <a:solidFill>
                  <a:srgbClr val="A50021"/>
                </a:solidFill>
              </a:rPr>
              <a:t>终结符结点</a:t>
            </a:r>
            <a:r>
              <a:rPr lang="en-US" altLang="zh-CN" dirty="0">
                <a:solidFill>
                  <a:srgbClr val="A50021"/>
                </a:solidFill>
              </a:rPr>
              <a:t>a </a:t>
            </a:r>
            <a:r>
              <a:rPr lang="en-US" altLang="zh-CN" dirty="0"/>
              <a:t>, </a:t>
            </a:r>
          </a:p>
          <a:p>
            <a:pPr marL="357188" indent="-357188">
              <a:lnSpc>
                <a:spcPct val="85000"/>
              </a:lnSpc>
              <a:spcBef>
                <a:spcPct val="50000"/>
              </a:spcBef>
              <a:buFont typeface="Wingdings" pitchFamily="2" charset="2"/>
              <a:buAutoNum type="arabicPeriod"/>
            </a:pPr>
            <a:r>
              <a:rPr lang="zh-CN" altLang="en-US" dirty="0"/>
              <a:t>则有</a:t>
            </a:r>
            <a:r>
              <a:rPr lang="en-US" altLang="zh-CN" dirty="0">
                <a:solidFill>
                  <a:srgbClr val="000099"/>
                </a:solidFill>
              </a:rPr>
              <a:t>a</a:t>
            </a:r>
            <a:r>
              <a:rPr lang="en-US" altLang="zh-CN" dirty="0">
                <a:solidFill>
                  <a:srgbClr val="000099"/>
                </a:solidFill>
                <a:sym typeface="Symbol" pitchFamily="18" charset="2"/>
              </a:rPr>
              <a:t></a:t>
            </a:r>
            <a:r>
              <a:rPr lang="en-US" altLang="zh-CN" dirty="0">
                <a:solidFill>
                  <a:srgbClr val="000099"/>
                </a:solidFill>
              </a:rPr>
              <a:t> FIRSTVT(A)</a:t>
            </a:r>
            <a:endParaRPr lang="zh-CN" altLang="en-US" dirty="0">
              <a:solidFill>
                <a:srgbClr val="000099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25608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四、算符优先分析法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5" y="1268733"/>
            <a:ext cx="7461881" cy="5158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219" y="1828800"/>
            <a:ext cx="230505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214688" y="5084329"/>
            <a:ext cx="592931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2"/>
              </a:buClr>
              <a:buFont typeface="Wingdings" pitchFamily="2" charset="2"/>
              <a:buChar char="n"/>
              <a:defRPr/>
            </a:pPr>
            <a:r>
              <a:rPr lang="en-US" altLang="zh-CN" sz="1800" dirty="0">
                <a:latin typeface="Times New Roman" pitchFamily="18" charset="0"/>
                <a:ea typeface="+mn-ea"/>
                <a:cs typeface="Times New Roman" pitchFamily="18" charset="0"/>
              </a:rPr>
              <a:t>FIRSTVT( E'</a:t>
            </a:r>
            <a:r>
              <a:rPr lang="en-US" altLang="zh-CN" sz="1800" dirty="0">
                <a:latin typeface="Times New Roman" pitchFamily="18" charset="0"/>
                <a:ea typeface="+mn-ea"/>
                <a:cs typeface="Times New Roman" pitchFamily="18" charset="0"/>
                <a:sym typeface="Symbol" pitchFamily="18" charset="2"/>
              </a:rPr>
              <a:t>)= {#}</a:t>
            </a:r>
          </a:p>
          <a:p>
            <a:pPr lvl="0">
              <a:buClr>
                <a:schemeClr val="accent2"/>
              </a:buClr>
              <a:buFont typeface="Wingdings" pitchFamily="2" charset="2"/>
              <a:buChar char="n"/>
              <a:defRPr/>
            </a:pP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FIRSTVT( E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)= {+,*,</a:t>
            </a:r>
            <a:r>
              <a:rPr lang="en-US" altLang="zh-CN" dirty="0">
                <a:latin typeface="Arial" pitchFamily="34" charset="0"/>
                <a:ea typeface="宋体" pitchFamily="2" charset="-122"/>
              </a:rPr>
              <a:t> ↑,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(,</a:t>
            </a:r>
            <a:r>
              <a:rPr lang="en-US" altLang="zh-CN" sz="18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 </a:t>
            </a:r>
            <a:endParaRPr lang="zh-CN" alt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n"/>
              <a:defRPr/>
            </a:pP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FIRSTVT( T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)= {*,</a:t>
            </a:r>
            <a:r>
              <a:rPr lang="en-US" altLang="zh-CN" dirty="0">
                <a:latin typeface="Arial" pitchFamily="34" charset="0"/>
                <a:ea typeface="宋体" pitchFamily="2" charset="-122"/>
              </a:rPr>
              <a:t> ↑,</a:t>
            </a:r>
            <a:r>
              <a:rPr lang="en-US" altLang="zh-CN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(}</a:t>
            </a:r>
          </a:p>
          <a:p>
            <a:pPr>
              <a:buClr>
                <a:schemeClr val="accent2"/>
              </a:buClr>
              <a:buFont typeface="Wingdings" pitchFamily="2" charset="2"/>
              <a:buChar char="n"/>
              <a:defRPr/>
            </a:pPr>
            <a:r>
              <a:rPr lang="en-US" altLang="zh-CN" sz="1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FIRSTVT( F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)= {</a:t>
            </a:r>
            <a:r>
              <a:rPr lang="en-US" altLang="zh-CN" dirty="0">
                <a:latin typeface="Arial" pitchFamily="34" charset="0"/>
                <a:ea typeface="宋体" pitchFamily="2" charset="-122"/>
              </a:rPr>
              <a:t>↑,</a:t>
            </a:r>
            <a:r>
              <a:rPr lang="en-US" altLang="zh-CN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,(}</a:t>
            </a:r>
          </a:p>
          <a:p>
            <a:pPr>
              <a:buClr>
                <a:schemeClr val="accent2"/>
              </a:buClr>
              <a:buFont typeface="Wingdings" pitchFamily="2" charset="2"/>
              <a:buChar char="n"/>
              <a:defRPr/>
            </a:pPr>
            <a:r>
              <a:rPr lang="en-US" altLang="zh-CN" sz="1800" dirty="0">
                <a:latin typeface="Times New Roman" pitchFamily="18" charset="0"/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</a:rPr>
              <a:t>FIRSTVT( P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)={(,</a:t>
            </a:r>
            <a:r>
              <a:rPr lang="en-US" altLang="zh-CN" sz="18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</a:t>
            </a:r>
            <a:r>
              <a:rPr lang="en-US" altLang="zh-CN" sz="1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 </a:t>
            </a:r>
          </a:p>
          <a:p>
            <a:pPr>
              <a:buClr>
                <a:schemeClr val="accent2"/>
              </a:buClr>
              <a:buFont typeface="Wingdings" pitchFamily="2" charset="2"/>
              <a:buChar char="n"/>
              <a:defRPr/>
            </a:pPr>
            <a:endParaRPr lang="en-US" altLang="zh-CN" sz="18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3318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 bldLvl="3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四、算符优先分析法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构造优先关系表</a:t>
            </a:r>
          </a:p>
        </p:txBody>
      </p:sp>
      <p:pic>
        <p:nvPicPr>
          <p:cNvPr id="430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8067" y="1532493"/>
            <a:ext cx="8422644" cy="5070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297586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7950" y="115888"/>
            <a:ext cx="2951163" cy="561657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66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altLang="zh-CN" sz="3200" dirty="0">
                <a:solidFill>
                  <a:srgbClr val="000099"/>
                </a:solidFill>
              </a:rPr>
              <a:t>(0) E'→#E#</a:t>
            </a:r>
          </a:p>
          <a:p>
            <a:pPr>
              <a:buFontTx/>
              <a:buNone/>
            </a:pPr>
            <a:r>
              <a:rPr lang="en-US" altLang="zh-CN" sz="3200" dirty="0"/>
              <a:t>(1) E→E+T</a:t>
            </a:r>
          </a:p>
          <a:p>
            <a:pPr>
              <a:buFontTx/>
              <a:buNone/>
            </a:pPr>
            <a:r>
              <a:rPr lang="en-US" altLang="zh-CN" sz="3200" dirty="0"/>
              <a:t>(2) E→T</a:t>
            </a:r>
          </a:p>
          <a:p>
            <a:pPr>
              <a:buFontTx/>
              <a:buNone/>
            </a:pPr>
            <a:r>
              <a:rPr lang="en-US" altLang="zh-CN" sz="3200" dirty="0"/>
              <a:t>(3) T→T*F	</a:t>
            </a:r>
          </a:p>
          <a:p>
            <a:pPr>
              <a:buFontTx/>
              <a:buNone/>
            </a:pPr>
            <a:r>
              <a:rPr lang="en-US" altLang="zh-CN" sz="3200" dirty="0"/>
              <a:t>(4) T→F</a:t>
            </a:r>
          </a:p>
          <a:p>
            <a:pPr>
              <a:buFontTx/>
              <a:buNone/>
            </a:pPr>
            <a:r>
              <a:rPr lang="en-US" altLang="zh-CN" sz="3200" dirty="0"/>
              <a:t>(5) F→P↑F </a:t>
            </a:r>
          </a:p>
          <a:p>
            <a:pPr>
              <a:buFontTx/>
              <a:buNone/>
            </a:pPr>
            <a:r>
              <a:rPr lang="en-US" altLang="zh-CN" sz="3200" dirty="0"/>
              <a:t>(6) F→P</a:t>
            </a:r>
          </a:p>
          <a:p>
            <a:pPr>
              <a:buFontTx/>
              <a:buNone/>
            </a:pPr>
            <a:r>
              <a:rPr lang="en-US" altLang="zh-CN" sz="3200" dirty="0"/>
              <a:t>(7) P→(E) </a:t>
            </a:r>
          </a:p>
          <a:p>
            <a:pPr>
              <a:buFontTx/>
              <a:buNone/>
            </a:pPr>
            <a:r>
              <a:rPr lang="en-US" altLang="zh-CN" sz="3200" dirty="0"/>
              <a:t>(8) </a:t>
            </a:r>
            <a:r>
              <a:rPr lang="en-US" altLang="zh-CN" sz="3200" dirty="0" err="1"/>
              <a:t>P→i</a:t>
            </a:r>
            <a:endParaRPr lang="zh-CN" altLang="en-US" sz="3200" dirty="0"/>
          </a:p>
        </p:txBody>
      </p:sp>
      <p:graphicFrame>
        <p:nvGraphicFramePr>
          <p:cNvPr id="307236" name="Group 36"/>
          <p:cNvGraphicFramePr>
            <a:graphicFrameLocks noGrp="1"/>
          </p:cNvGraphicFramePr>
          <p:nvPr>
            <p:ph sz="half" idx="2"/>
          </p:nvPr>
        </p:nvGraphicFramePr>
        <p:xfrm>
          <a:off x="3635375" y="908050"/>
          <a:ext cx="5311775" cy="3840480"/>
        </p:xfrm>
        <a:graphic>
          <a:graphicData uri="http://schemas.openxmlformats.org/drawingml/2006/table">
            <a:tbl>
              <a:tblPr/>
              <a:tblGrid>
                <a:gridCol w="712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45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09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marL="714375" indent="-257175"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marL="1431925" indent="-517525"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marL="1839913" indent="-468313"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247900" indent="-419100"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7051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31623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6195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40767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marL="714375" indent="-257175"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marL="1431925" indent="-517525"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marL="1839913" indent="-468313"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247900" indent="-419100"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7051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31623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6195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40767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FIRSTVT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marL="714375" indent="-257175"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marL="1431925" indent="-517525"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marL="1839913" indent="-468313"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247900" indent="-419100"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7051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31623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6195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40767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LASTVT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8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marL="714375" indent="-257175"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marL="1431925" indent="-517525"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marL="1839913" indent="-468313"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247900" indent="-419100"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7051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31623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6195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40767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E'</a:t>
                      </a:r>
                      <a:endParaRPr kumimoji="0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marL="714375" indent="-257175"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marL="1431925" indent="-517525"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marL="1839913" indent="-468313"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247900" indent="-419100"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7051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31623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6195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40767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 #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marL="714375" indent="-257175"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marL="1431925" indent="-517525"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marL="1839913" indent="-468313"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247900" indent="-419100"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7051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31623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6195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40767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 #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marL="714375" indent="-257175"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marL="1431925" indent="-517525"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marL="1839913" indent="-468313"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247900" indent="-419100"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7051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31623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6195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40767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E</a:t>
                      </a:r>
                      <a:endParaRPr kumimoji="0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marL="714375" indent="-257175"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marL="1431925" indent="-517525"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marL="1839913" indent="-468313"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247900" indent="-419100"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7051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31623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6195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40767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 + *↑ (  i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marL="714375" indent="-257175"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marL="1431925" indent="-517525"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marL="1839913" indent="-468313"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247900" indent="-419100"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7051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31623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6195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40767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 + *↑ )  i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marL="714375" indent="-257175"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marL="1431925" indent="-517525"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marL="1839913" indent="-468313"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247900" indent="-419100"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7051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31623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6195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40767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T</a:t>
                      </a:r>
                      <a:endParaRPr kumimoji="0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marL="714375" indent="-257175"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marL="1431925" indent="-517525"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marL="1839913" indent="-468313"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247900" indent="-419100"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7051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31623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6195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40767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 *↑ (  i</a:t>
                      </a:r>
                      <a:endParaRPr kumimoji="0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marL="714375" indent="-257175"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marL="1431925" indent="-517525"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marL="1839913" indent="-468313"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247900" indent="-419100"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7051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31623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6195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40767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 *↑)  i</a:t>
                      </a:r>
                      <a:endParaRPr kumimoji="0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marL="714375" indent="-257175"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marL="1431925" indent="-517525"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marL="1839913" indent="-468313"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247900" indent="-419100"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7051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31623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6195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40767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F</a:t>
                      </a:r>
                      <a:endParaRPr kumimoji="0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marL="714375" indent="-257175"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marL="1431925" indent="-517525"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marL="1839913" indent="-468313"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247900" indent="-419100"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7051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31623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6195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40767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↑ (  i</a:t>
                      </a:r>
                      <a:endParaRPr kumimoji="0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marL="714375" indent="-257175"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marL="1431925" indent="-517525"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marL="1839913" indent="-468313"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247900" indent="-419100"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7051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31623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6195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40767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↑ )  i</a:t>
                      </a:r>
                      <a:endParaRPr kumimoji="0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9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marL="714375" indent="-257175"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marL="1431925" indent="-517525"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marL="1839913" indent="-468313"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247900" indent="-419100"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7051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31623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6195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40767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P</a:t>
                      </a:r>
                      <a:endParaRPr kumimoji="0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marL="714375" indent="-257175"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marL="1431925" indent="-517525"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marL="1839913" indent="-468313"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247900" indent="-419100"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7051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31623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6195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40767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 (  i</a:t>
                      </a:r>
                      <a:endParaRPr kumimoji="0" lang="zh-CN" altLang="en-US" sz="36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marL="714375" indent="-257175"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marL="1431925" indent="-517525"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marL="1839913" indent="-468313"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247900" indent="-419100"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7051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31623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6195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4076700" indent="-4191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 )   </a:t>
                      </a:r>
                      <a:r>
                        <a:rPr kumimoji="0" lang="en-US" altLang="zh-CN" sz="3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i</a:t>
                      </a:r>
                      <a:endParaRPr kumimoji="0" lang="zh-CN" altLang="en-US" sz="36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9050" cap="flat" cmpd="sng" algn="ctr">
                      <a:solidFill>
                        <a:srgbClr val="A5002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7234" name="Rectangle 34"/>
          <p:cNvSpPr>
            <a:spLocks noChangeArrowheads="1"/>
          </p:cNvSpPr>
          <p:nvPr/>
        </p:nvSpPr>
        <p:spPr bwMode="auto">
          <a:xfrm>
            <a:off x="3924300" y="4868863"/>
            <a:ext cx="4752975" cy="1439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4000">
                <a:solidFill>
                  <a:schemeClr val="hlink"/>
                </a:solidFill>
                <a:latin typeface="Times New Roman" pitchFamily="18" charset="0"/>
                <a:ea typeface="黑体" pitchFamily="49" charset="-122"/>
              </a:defRPr>
            </a:lvl1pPr>
            <a:lvl2pPr>
              <a:defRPr sz="4000">
                <a:solidFill>
                  <a:schemeClr val="hlink"/>
                </a:solidFill>
                <a:latin typeface="Times New Roman" pitchFamily="18" charset="0"/>
                <a:ea typeface="黑体" pitchFamily="49" charset="-122"/>
              </a:defRPr>
            </a:lvl2pPr>
            <a:lvl3pPr>
              <a:defRPr sz="4000">
                <a:solidFill>
                  <a:schemeClr val="hlink"/>
                </a:solidFill>
                <a:latin typeface="Times New Roman" pitchFamily="18" charset="0"/>
                <a:ea typeface="黑体" pitchFamily="49" charset="-122"/>
              </a:defRPr>
            </a:lvl3pPr>
            <a:lvl4pPr>
              <a:defRPr sz="4000">
                <a:solidFill>
                  <a:schemeClr val="hlink"/>
                </a:solidFill>
                <a:latin typeface="Times New Roman" pitchFamily="18" charset="0"/>
                <a:ea typeface="黑体" pitchFamily="49" charset="-122"/>
              </a:defRPr>
            </a:lvl4pPr>
            <a:lvl5pPr>
              <a:defRPr sz="4000">
                <a:solidFill>
                  <a:schemeClr val="hlink"/>
                </a:solidFill>
                <a:latin typeface="Times New Roman" pitchFamily="18" charset="0"/>
                <a:ea typeface="黑体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hlink"/>
                </a:solidFill>
                <a:latin typeface="Times New Roman" pitchFamily="18" charset="0"/>
                <a:ea typeface="黑体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hlink"/>
                </a:solidFill>
                <a:latin typeface="Times New Roman" pitchFamily="18" charset="0"/>
                <a:ea typeface="黑体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hlink"/>
                </a:solidFill>
                <a:latin typeface="Times New Roman" pitchFamily="18" charset="0"/>
                <a:ea typeface="黑体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hlink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000099"/>
                </a:solidFill>
              </a:rPr>
              <a:t>构造算符优先关系表</a:t>
            </a:r>
          </a:p>
        </p:txBody>
      </p:sp>
    </p:spTree>
    <p:extLst>
      <p:ext uri="{BB962C8B-B14F-4D97-AF65-F5344CB8AC3E}">
        <p14:creationId xmlns:p14="http://schemas.microsoft.com/office/powerpoint/2010/main" val="297605456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1081" name="Group 569"/>
          <p:cNvGraphicFramePr>
            <a:graphicFrameLocks noGrp="1"/>
          </p:cNvGraphicFramePr>
          <p:nvPr/>
        </p:nvGraphicFramePr>
        <p:xfrm>
          <a:off x="179388" y="368300"/>
          <a:ext cx="8785225" cy="5376672"/>
        </p:xfrm>
        <a:graphic>
          <a:graphicData uri="http://schemas.openxmlformats.org/drawingml/2006/table">
            <a:tbl>
              <a:tblPr/>
              <a:tblGrid>
                <a:gridCol w="1862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72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08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ˎ̥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ˎ̥" charset="0"/>
                          <a:ea typeface="宋体" pitchFamily="2" charset="-122"/>
                        </a:rPr>
                        <a:t>P→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/>
                          <a:ea typeface="宋体" pitchFamily="2" charset="-122"/>
                        </a:rPr>
                        <a:t>…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ˎ̥" charset="0"/>
                          <a:ea typeface="宋体" pitchFamily="2" charset="-122"/>
                        </a:rPr>
                        <a:t>ab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/>
                          <a:ea typeface="宋体" pitchFamily="2" charset="-122"/>
                        </a:rPr>
                        <a:t>…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ˎ̥" charset="0"/>
                          <a:ea typeface="宋体" pitchFamily="2" charset="-122"/>
                        </a:rPr>
                        <a:t>  P→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/>
                          <a:ea typeface="宋体" pitchFamily="2" charset="-122"/>
                        </a:rPr>
                        <a:t>…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ˎ̥" charset="0"/>
                          <a:ea typeface="宋体" pitchFamily="2" charset="-122"/>
                        </a:rPr>
                        <a:t>aQb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/>
                          <a:ea typeface="宋体" pitchFamily="2" charset="-122"/>
                        </a:rPr>
                        <a:t>…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 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ˎ̥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ˎ̥" charset="0"/>
                          <a:ea typeface="宋体" pitchFamily="2" charset="-122"/>
                        </a:rPr>
                        <a:t>P→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/>
                          <a:ea typeface="宋体" pitchFamily="2" charset="-122"/>
                        </a:rPr>
                        <a:t>…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ˎ̥" charset="0"/>
                          <a:ea typeface="宋体" pitchFamily="2" charset="-122"/>
                        </a:rPr>
                        <a:t>aR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/>
                          <a:ea typeface="宋体" pitchFamily="2" charset="-122"/>
                        </a:rPr>
                        <a:t>…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 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ˎ̥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ˎ̥" charset="0"/>
                          <a:ea typeface="宋体" pitchFamily="2" charset="-122"/>
                        </a:rPr>
                        <a:t>P→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/>
                          <a:ea typeface="宋体" pitchFamily="2" charset="-122"/>
                        </a:rPr>
                        <a:t>…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ˎ̥" charset="0"/>
                          <a:ea typeface="宋体" pitchFamily="2" charset="-122"/>
                        </a:rPr>
                        <a:t>Rb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/>
                          <a:ea typeface="宋体" pitchFamily="2" charset="-122"/>
                        </a:rPr>
                        <a:t>…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 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(0) E'→#E#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8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(1) E→E+T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(2) E→T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(3) T→T*F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8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(4) T→F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(5) F→P↑F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08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(6) F→P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2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(7) P→(E)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08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(8) P→i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320955" name="Group 443"/>
          <p:cNvGrpSpPr>
            <a:grpSpLocks/>
          </p:cNvGrpSpPr>
          <p:nvPr/>
        </p:nvGrpSpPr>
        <p:grpSpPr bwMode="auto">
          <a:xfrm rot="10800000">
            <a:off x="4930775" y="476250"/>
            <a:ext cx="239713" cy="288925"/>
            <a:chOff x="4468" y="3793"/>
            <a:chExt cx="226" cy="272"/>
          </a:xfrm>
        </p:grpSpPr>
        <p:sp>
          <p:nvSpPr>
            <p:cNvPr id="320956" name="Line 444"/>
            <p:cNvSpPr>
              <a:spLocks noChangeShapeType="1"/>
            </p:cNvSpPr>
            <p:nvPr/>
          </p:nvSpPr>
          <p:spPr bwMode="auto">
            <a:xfrm>
              <a:off x="4468" y="3793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20957" name="Line 445"/>
            <p:cNvSpPr>
              <a:spLocks noChangeShapeType="1"/>
            </p:cNvSpPr>
            <p:nvPr/>
          </p:nvSpPr>
          <p:spPr bwMode="auto">
            <a:xfrm flipH="1">
              <a:off x="4468" y="3929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20958" name="Oval 446"/>
            <p:cNvSpPr>
              <a:spLocks noChangeArrowheads="1"/>
            </p:cNvSpPr>
            <p:nvPr/>
          </p:nvSpPr>
          <p:spPr bwMode="auto">
            <a:xfrm>
              <a:off x="4513" y="3902"/>
              <a:ext cx="45" cy="45"/>
            </a:xfrm>
            <a:prstGeom prst="ellipse">
              <a:avLst/>
            </a:prstGeom>
            <a:solidFill>
              <a:schemeClr val="bg2"/>
            </a:solidFill>
            <a:ln w="38100" algn="ctr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grpSp>
        <p:nvGrpSpPr>
          <p:cNvPr id="320959" name="Group 447"/>
          <p:cNvGrpSpPr>
            <a:grpSpLocks/>
          </p:cNvGrpSpPr>
          <p:nvPr/>
        </p:nvGrpSpPr>
        <p:grpSpPr bwMode="auto">
          <a:xfrm>
            <a:off x="2698750" y="549275"/>
            <a:ext cx="287338" cy="144463"/>
            <a:chOff x="1882" y="2931"/>
            <a:chExt cx="318" cy="136"/>
          </a:xfrm>
        </p:grpSpPr>
        <p:sp>
          <p:nvSpPr>
            <p:cNvPr id="320960" name="Line 448"/>
            <p:cNvSpPr>
              <a:spLocks noChangeShapeType="1"/>
            </p:cNvSpPr>
            <p:nvPr/>
          </p:nvSpPr>
          <p:spPr bwMode="auto">
            <a:xfrm>
              <a:off x="1882" y="2931"/>
              <a:ext cx="318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20961" name="Line 449"/>
            <p:cNvSpPr>
              <a:spLocks noChangeShapeType="1"/>
            </p:cNvSpPr>
            <p:nvPr/>
          </p:nvSpPr>
          <p:spPr bwMode="auto">
            <a:xfrm>
              <a:off x="1882" y="3067"/>
              <a:ext cx="318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20962" name="Oval 450"/>
            <p:cNvSpPr>
              <a:spLocks noChangeArrowheads="1"/>
            </p:cNvSpPr>
            <p:nvPr/>
          </p:nvSpPr>
          <p:spPr bwMode="auto">
            <a:xfrm>
              <a:off x="2018" y="2976"/>
              <a:ext cx="46" cy="46"/>
            </a:xfrm>
            <a:prstGeom prst="ellipse">
              <a:avLst/>
            </a:prstGeom>
            <a:solidFill>
              <a:schemeClr val="bg2"/>
            </a:solidFill>
            <a:ln w="38100" algn="ctr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grpSp>
        <p:nvGrpSpPr>
          <p:cNvPr id="320963" name="Group 451"/>
          <p:cNvGrpSpPr>
            <a:grpSpLocks/>
          </p:cNvGrpSpPr>
          <p:nvPr/>
        </p:nvGrpSpPr>
        <p:grpSpPr bwMode="auto">
          <a:xfrm>
            <a:off x="7091363" y="476250"/>
            <a:ext cx="288925" cy="290513"/>
            <a:chOff x="4468" y="3793"/>
            <a:chExt cx="226" cy="272"/>
          </a:xfrm>
        </p:grpSpPr>
        <p:sp>
          <p:nvSpPr>
            <p:cNvPr id="320964" name="Line 452"/>
            <p:cNvSpPr>
              <a:spLocks noChangeShapeType="1"/>
            </p:cNvSpPr>
            <p:nvPr/>
          </p:nvSpPr>
          <p:spPr bwMode="auto">
            <a:xfrm>
              <a:off x="4468" y="3793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20965" name="Line 453"/>
            <p:cNvSpPr>
              <a:spLocks noChangeShapeType="1"/>
            </p:cNvSpPr>
            <p:nvPr/>
          </p:nvSpPr>
          <p:spPr bwMode="auto">
            <a:xfrm flipH="1">
              <a:off x="4468" y="3929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20966" name="Oval 454"/>
            <p:cNvSpPr>
              <a:spLocks noChangeArrowheads="1"/>
            </p:cNvSpPr>
            <p:nvPr/>
          </p:nvSpPr>
          <p:spPr bwMode="auto">
            <a:xfrm>
              <a:off x="4513" y="3902"/>
              <a:ext cx="45" cy="45"/>
            </a:xfrm>
            <a:prstGeom prst="ellipse">
              <a:avLst/>
            </a:prstGeom>
            <a:solidFill>
              <a:schemeClr val="bg2"/>
            </a:solidFill>
            <a:ln w="38100" algn="ctr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grpSp>
        <p:nvGrpSpPr>
          <p:cNvPr id="320980" name="Group 468"/>
          <p:cNvGrpSpPr>
            <a:grpSpLocks/>
          </p:cNvGrpSpPr>
          <p:nvPr/>
        </p:nvGrpSpPr>
        <p:grpSpPr bwMode="auto">
          <a:xfrm>
            <a:off x="2197100" y="1628775"/>
            <a:ext cx="1727200" cy="457200"/>
            <a:chOff x="1429" y="1026"/>
            <a:chExt cx="1088" cy="288"/>
          </a:xfrm>
        </p:grpSpPr>
        <p:sp>
          <p:nvSpPr>
            <p:cNvPr id="320975" name="Rectangle 463"/>
            <p:cNvSpPr>
              <a:spLocks noChangeArrowheads="1"/>
            </p:cNvSpPr>
            <p:nvPr/>
          </p:nvSpPr>
          <p:spPr bwMode="auto">
            <a:xfrm>
              <a:off x="1429" y="1026"/>
              <a:ext cx="10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000000"/>
                  </a:solidFill>
                </a:rPr>
                <a:t>#      #</a:t>
              </a:r>
              <a:endParaRPr lang="zh-CN" altLang="en-US" sz="2400" b="1">
                <a:solidFill>
                  <a:srgbClr val="000000"/>
                </a:solidFill>
              </a:endParaRPr>
            </a:p>
          </p:txBody>
        </p:sp>
        <p:grpSp>
          <p:nvGrpSpPr>
            <p:cNvPr id="320976" name="Group 464"/>
            <p:cNvGrpSpPr>
              <a:grpSpLocks/>
            </p:cNvGrpSpPr>
            <p:nvPr/>
          </p:nvGrpSpPr>
          <p:grpSpPr bwMode="auto">
            <a:xfrm>
              <a:off x="1656" y="1117"/>
              <a:ext cx="181" cy="91"/>
              <a:chOff x="1882" y="2931"/>
              <a:chExt cx="318" cy="136"/>
            </a:xfrm>
          </p:grpSpPr>
          <p:sp>
            <p:nvSpPr>
              <p:cNvPr id="320977" name="Line 465"/>
              <p:cNvSpPr>
                <a:spLocks noChangeShapeType="1"/>
              </p:cNvSpPr>
              <p:nvPr/>
            </p:nvSpPr>
            <p:spPr bwMode="auto">
              <a:xfrm>
                <a:off x="1882" y="2931"/>
                <a:ext cx="318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320978" name="Line 466"/>
              <p:cNvSpPr>
                <a:spLocks noChangeShapeType="1"/>
              </p:cNvSpPr>
              <p:nvPr/>
            </p:nvSpPr>
            <p:spPr bwMode="auto">
              <a:xfrm>
                <a:off x="1882" y="3067"/>
                <a:ext cx="318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320979" name="Oval 467"/>
              <p:cNvSpPr>
                <a:spLocks noChangeArrowheads="1"/>
              </p:cNvSpPr>
              <p:nvPr/>
            </p:nvSpPr>
            <p:spPr bwMode="auto">
              <a:xfrm>
                <a:off x="2018" y="2976"/>
                <a:ext cx="46" cy="46"/>
              </a:xfrm>
              <a:prstGeom prst="ellipse">
                <a:avLst/>
              </a:prstGeom>
              <a:solidFill>
                <a:schemeClr val="bg2"/>
              </a:solidFill>
              <a:ln w="38100" algn="ctr">
                <a:solidFill>
                  <a:schemeClr val="bg2"/>
                </a:solidFill>
                <a:round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</p:grpSp>
      </p:grpSp>
      <p:grpSp>
        <p:nvGrpSpPr>
          <p:cNvPr id="320981" name="Group 469"/>
          <p:cNvGrpSpPr>
            <a:grpSpLocks/>
          </p:cNvGrpSpPr>
          <p:nvPr/>
        </p:nvGrpSpPr>
        <p:grpSpPr bwMode="auto">
          <a:xfrm>
            <a:off x="2197100" y="4797425"/>
            <a:ext cx="1727200" cy="457200"/>
            <a:chOff x="1429" y="1026"/>
            <a:chExt cx="1088" cy="288"/>
          </a:xfrm>
        </p:grpSpPr>
        <p:sp>
          <p:nvSpPr>
            <p:cNvPr id="320982" name="Rectangle 470"/>
            <p:cNvSpPr>
              <a:spLocks noChangeArrowheads="1"/>
            </p:cNvSpPr>
            <p:nvPr/>
          </p:nvSpPr>
          <p:spPr bwMode="auto">
            <a:xfrm>
              <a:off x="1429" y="1026"/>
              <a:ext cx="10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000000"/>
                  </a:solidFill>
                </a:rPr>
                <a:t>(       )</a:t>
              </a:r>
              <a:endParaRPr lang="zh-CN" altLang="en-US" sz="2400" b="1">
                <a:solidFill>
                  <a:srgbClr val="000000"/>
                </a:solidFill>
              </a:endParaRPr>
            </a:p>
          </p:txBody>
        </p:sp>
        <p:grpSp>
          <p:nvGrpSpPr>
            <p:cNvPr id="320983" name="Group 471"/>
            <p:cNvGrpSpPr>
              <a:grpSpLocks/>
            </p:cNvGrpSpPr>
            <p:nvPr/>
          </p:nvGrpSpPr>
          <p:grpSpPr bwMode="auto">
            <a:xfrm>
              <a:off x="1656" y="1117"/>
              <a:ext cx="181" cy="91"/>
              <a:chOff x="1882" y="2931"/>
              <a:chExt cx="318" cy="136"/>
            </a:xfrm>
          </p:grpSpPr>
          <p:sp>
            <p:nvSpPr>
              <p:cNvPr id="320984" name="Line 472"/>
              <p:cNvSpPr>
                <a:spLocks noChangeShapeType="1"/>
              </p:cNvSpPr>
              <p:nvPr/>
            </p:nvSpPr>
            <p:spPr bwMode="auto">
              <a:xfrm>
                <a:off x="1882" y="2931"/>
                <a:ext cx="318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320985" name="Line 473"/>
              <p:cNvSpPr>
                <a:spLocks noChangeShapeType="1"/>
              </p:cNvSpPr>
              <p:nvPr/>
            </p:nvSpPr>
            <p:spPr bwMode="auto">
              <a:xfrm>
                <a:off x="1882" y="3067"/>
                <a:ext cx="318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320986" name="Oval 474"/>
              <p:cNvSpPr>
                <a:spLocks noChangeArrowheads="1"/>
              </p:cNvSpPr>
              <p:nvPr/>
            </p:nvSpPr>
            <p:spPr bwMode="auto">
              <a:xfrm>
                <a:off x="2018" y="2976"/>
                <a:ext cx="46" cy="46"/>
              </a:xfrm>
              <a:prstGeom prst="ellipse">
                <a:avLst/>
              </a:prstGeom>
              <a:solidFill>
                <a:schemeClr val="bg2"/>
              </a:solidFill>
              <a:ln w="38100" algn="ctr">
                <a:solidFill>
                  <a:schemeClr val="bg2"/>
                </a:solidFill>
                <a:round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</p:grpSp>
      </p:grpSp>
      <p:grpSp>
        <p:nvGrpSpPr>
          <p:cNvPr id="321004" name="Group 492"/>
          <p:cNvGrpSpPr>
            <a:grpSpLocks/>
          </p:cNvGrpSpPr>
          <p:nvPr/>
        </p:nvGrpSpPr>
        <p:grpSpPr bwMode="auto">
          <a:xfrm>
            <a:off x="4068763" y="1628775"/>
            <a:ext cx="2592387" cy="457200"/>
            <a:chOff x="2608" y="1026"/>
            <a:chExt cx="1633" cy="288"/>
          </a:xfrm>
        </p:grpSpPr>
        <p:sp>
          <p:nvSpPr>
            <p:cNvPr id="320988" name="Rectangle 476"/>
            <p:cNvSpPr>
              <a:spLocks noChangeArrowheads="1"/>
            </p:cNvSpPr>
            <p:nvPr/>
          </p:nvSpPr>
          <p:spPr bwMode="auto">
            <a:xfrm>
              <a:off x="2608" y="1026"/>
              <a:ext cx="16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dirty="0">
                  <a:solidFill>
                    <a:srgbClr val="000000"/>
                  </a:solidFill>
                </a:rPr>
                <a:t>#     FIRSTVT(E)</a:t>
              </a:r>
            </a:p>
          </p:txBody>
        </p:sp>
        <p:grpSp>
          <p:nvGrpSpPr>
            <p:cNvPr id="320993" name="Group 481"/>
            <p:cNvGrpSpPr>
              <a:grpSpLocks/>
            </p:cNvGrpSpPr>
            <p:nvPr/>
          </p:nvGrpSpPr>
          <p:grpSpPr bwMode="auto">
            <a:xfrm rot="10800000">
              <a:off x="2820" y="1071"/>
              <a:ext cx="151" cy="182"/>
              <a:chOff x="4468" y="3793"/>
              <a:chExt cx="226" cy="272"/>
            </a:xfrm>
          </p:grpSpPr>
          <p:sp>
            <p:nvSpPr>
              <p:cNvPr id="320994" name="Line 482"/>
              <p:cNvSpPr>
                <a:spLocks noChangeShapeType="1"/>
              </p:cNvSpPr>
              <p:nvPr/>
            </p:nvSpPr>
            <p:spPr bwMode="auto">
              <a:xfrm>
                <a:off x="4468" y="3793"/>
                <a:ext cx="226" cy="136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320995" name="Line 483"/>
              <p:cNvSpPr>
                <a:spLocks noChangeShapeType="1"/>
              </p:cNvSpPr>
              <p:nvPr/>
            </p:nvSpPr>
            <p:spPr bwMode="auto">
              <a:xfrm flipH="1">
                <a:off x="4468" y="3929"/>
                <a:ext cx="226" cy="136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320996" name="Oval 484"/>
              <p:cNvSpPr>
                <a:spLocks noChangeArrowheads="1"/>
              </p:cNvSpPr>
              <p:nvPr/>
            </p:nvSpPr>
            <p:spPr bwMode="auto">
              <a:xfrm>
                <a:off x="4513" y="3902"/>
                <a:ext cx="45" cy="45"/>
              </a:xfrm>
              <a:prstGeom prst="ellipse">
                <a:avLst/>
              </a:prstGeom>
              <a:solidFill>
                <a:schemeClr val="bg2"/>
              </a:solidFill>
              <a:ln w="38100" algn="ctr">
                <a:solidFill>
                  <a:schemeClr val="bg2"/>
                </a:solidFill>
                <a:round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</p:grpSp>
      </p:grpSp>
      <p:grpSp>
        <p:nvGrpSpPr>
          <p:cNvPr id="321005" name="Group 493"/>
          <p:cNvGrpSpPr>
            <a:grpSpLocks/>
          </p:cNvGrpSpPr>
          <p:nvPr/>
        </p:nvGrpSpPr>
        <p:grpSpPr bwMode="auto">
          <a:xfrm>
            <a:off x="4068763" y="2108200"/>
            <a:ext cx="2592387" cy="457200"/>
            <a:chOff x="2608" y="1026"/>
            <a:chExt cx="1633" cy="288"/>
          </a:xfrm>
        </p:grpSpPr>
        <p:sp>
          <p:nvSpPr>
            <p:cNvPr id="321006" name="Rectangle 494"/>
            <p:cNvSpPr>
              <a:spLocks noChangeArrowheads="1"/>
            </p:cNvSpPr>
            <p:nvPr/>
          </p:nvSpPr>
          <p:spPr bwMode="auto">
            <a:xfrm>
              <a:off x="2608" y="1026"/>
              <a:ext cx="16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dirty="0">
                  <a:solidFill>
                    <a:srgbClr val="000000"/>
                  </a:solidFill>
                </a:rPr>
                <a:t>+     FIRSTVT(T)</a:t>
              </a:r>
            </a:p>
          </p:txBody>
        </p:sp>
        <p:grpSp>
          <p:nvGrpSpPr>
            <p:cNvPr id="321007" name="Group 495"/>
            <p:cNvGrpSpPr>
              <a:grpSpLocks/>
            </p:cNvGrpSpPr>
            <p:nvPr/>
          </p:nvGrpSpPr>
          <p:grpSpPr bwMode="auto">
            <a:xfrm rot="10800000">
              <a:off x="2820" y="1071"/>
              <a:ext cx="151" cy="182"/>
              <a:chOff x="4468" y="3793"/>
              <a:chExt cx="226" cy="272"/>
            </a:xfrm>
          </p:grpSpPr>
          <p:sp>
            <p:nvSpPr>
              <p:cNvPr id="321008" name="Line 496"/>
              <p:cNvSpPr>
                <a:spLocks noChangeShapeType="1"/>
              </p:cNvSpPr>
              <p:nvPr/>
            </p:nvSpPr>
            <p:spPr bwMode="auto">
              <a:xfrm>
                <a:off x="4468" y="3793"/>
                <a:ext cx="226" cy="136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321009" name="Line 497"/>
              <p:cNvSpPr>
                <a:spLocks noChangeShapeType="1"/>
              </p:cNvSpPr>
              <p:nvPr/>
            </p:nvSpPr>
            <p:spPr bwMode="auto">
              <a:xfrm flipH="1">
                <a:off x="4468" y="3929"/>
                <a:ext cx="226" cy="136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321010" name="Oval 498"/>
              <p:cNvSpPr>
                <a:spLocks noChangeArrowheads="1"/>
              </p:cNvSpPr>
              <p:nvPr/>
            </p:nvSpPr>
            <p:spPr bwMode="auto">
              <a:xfrm>
                <a:off x="4513" y="3902"/>
                <a:ext cx="45" cy="45"/>
              </a:xfrm>
              <a:prstGeom prst="ellipse">
                <a:avLst/>
              </a:prstGeom>
              <a:solidFill>
                <a:schemeClr val="bg2"/>
              </a:solidFill>
              <a:ln w="38100" algn="ctr">
                <a:solidFill>
                  <a:schemeClr val="bg2"/>
                </a:solidFill>
                <a:round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</p:grpSp>
      </p:grpSp>
      <p:grpSp>
        <p:nvGrpSpPr>
          <p:cNvPr id="321011" name="Group 499"/>
          <p:cNvGrpSpPr>
            <a:grpSpLocks/>
          </p:cNvGrpSpPr>
          <p:nvPr/>
        </p:nvGrpSpPr>
        <p:grpSpPr bwMode="auto">
          <a:xfrm>
            <a:off x="4068763" y="2997200"/>
            <a:ext cx="2592387" cy="457200"/>
            <a:chOff x="2608" y="1026"/>
            <a:chExt cx="1633" cy="288"/>
          </a:xfrm>
        </p:grpSpPr>
        <p:sp>
          <p:nvSpPr>
            <p:cNvPr id="321012" name="Rectangle 500"/>
            <p:cNvSpPr>
              <a:spLocks noChangeArrowheads="1"/>
            </p:cNvSpPr>
            <p:nvPr/>
          </p:nvSpPr>
          <p:spPr bwMode="auto">
            <a:xfrm>
              <a:off x="2608" y="1026"/>
              <a:ext cx="16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000000"/>
                  </a:solidFill>
                </a:rPr>
                <a:t>*     FIRSTVT(F)</a:t>
              </a:r>
            </a:p>
          </p:txBody>
        </p:sp>
        <p:grpSp>
          <p:nvGrpSpPr>
            <p:cNvPr id="321013" name="Group 501"/>
            <p:cNvGrpSpPr>
              <a:grpSpLocks/>
            </p:cNvGrpSpPr>
            <p:nvPr/>
          </p:nvGrpSpPr>
          <p:grpSpPr bwMode="auto">
            <a:xfrm rot="10800000">
              <a:off x="2820" y="1071"/>
              <a:ext cx="151" cy="182"/>
              <a:chOff x="4468" y="3793"/>
              <a:chExt cx="226" cy="272"/>
            </a:xfrm>
          </p:grpSpPr>
          <p:sp>
            <p:nvSpPr>
              <p:cNvPr id="321014" name="Line 502"/>
              <p:cNvSpPr>
                <a:spLocks noChangeShapeType="1"/>
              </p:cNvSpPr>
              <p:nvPr/>
            </p:nvSpPr>
            <p:spPr bwMode="auto">
              <a:xfrm>
                <a:off x="4468" y="3793"/>
                <a:ext cx="226" cy="136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321015" name="Line 503"/>
              <p:cNvSpPr>
                <a:spLocks noChangeShapeType="1"/>
              </p:cNvSpPr>
              <p:nvPr/>
            </p:nvSpPr>
            <p:spPr bwMode="auto">
              <a:xfrm flipH="1">
                <a:off x="4468" y="3929"/>
                <a:ext cx="226" cy="136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321016" name="Oval 504"/>
              <p:cNvSpPr>
                <a:spLocks noChangeArrowheads="1"/>
              </p:cNvSpPr>
              <p:nvPr/>
            </p:nvSpPr>
            <p:spPr bwMode="auto">
              <a:xfrm>
                <a:off x="4513" y="3902"/>
                <a:ext cx="45" cy="45"/>
              </a:xfrm>
              <a:prstGeom prst="ellipse">
                <a:avLst/>
              </a:prstGeom>
              <a:solidFill>
                <a:schemeClr val="bg2"/>
              </a:solidFill>
              <a:ln w="38100" algn="ctr">
                <a:solidFill>
                  <a:schemeClr val="bg2"/>
                </a:solidFill>
                <a:round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</p:grpSp>
      </p:grpSp>
      <p:grpSp>
        <p:nvGrpSpPr>
          <p:cNvPr id="321017" name="Group 505"/>
          <p:cNvGrpSpPr>
            <a:grpSpLocks/>
          </p:cNvGrpSpPr>
          <p:nvPr/>
        </p:nvGrpSpPr>
        <p:grpSpPr bwMode="auto">
          <a:xfrm>
            <a:off x="4068763" y="3933825"/>
            <a:ext cx="2592387" cy="457200"/>
            <a:chOff x="2608" y="1026"/>
            <a:chExt cx="1633" cy="288"/>
          </a:xfrm>
        </p:grpSpPr>
        <p:sp>
          <p:nvSpPr>
            <p:cNvPr id="321018" name="Rectangle 506"/>
            <p:cNvSpPr>
              <a:spLocks noChangeArrowheads="1"/>
            </p:cNvSpPr>
            <p:nvPr/>
          </p:nvSpPr>
          <p:spPr bwMode="auto">
            <a:xfrm>
              <a:off x="2608" y="1026"/>
              <a:ext cx="16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000000"/>
                  </a:solidFill>
                  <a:cs typeface="Times New Roman" pitchFamily="18" charset="0"/>
                </a:rPr>
                <a:t>↑   FIRSTVT(F)</a:t>
              </a:r>
            </a:p>
          </p:txBody>
        </p:sp>
        <p:grpSp>
          <p:nvGrpSpPr>
            <p:cNvPr id="321019" name="Group 507"/>
            <p:cNvGrpSpPr>
              <a:grpSpLocks/>
            </p:cNvGrpSpPr>
            <p:nvPr/>
          </p:nvGrpSpPr>
          <p:grpSpPr bwMode="auto">
            <a:xfrm rot="10800000">
              <a:off x="2820" y="1071"/>
              <a:ext cx="151" cy="182"/>
              <a:chOff x="4468" y="3793"/>
              <a:chExt cx="226" cy="272"/>
            </a:xfrm>
          </p:grpSpPr>
          <p:sp>
            <p:nvSpPr>
              <p:cNvPr id="321020" name="Line 508"/>
              <p:cNvSpPr>
                <a:spLocks noChangeShapeType="1"/>
              </p:cNvSpPr>
              <p:nvPr/>
            </p:nvSpPr>
            <p:spPr bwMode="auto">
              <a:xfrm>
                <a:off x="4468" y="3793"/>
                <a:ext cx="226" cy="136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321021" name="Line 509"/>
              <p:cNvSpPr>
                <a:spLocks noChangeShapeType="1"/>
              </p:cNvSpPr>
              <p:nvPr/>
            </p:nvSpPr>
            <p:spPr bwMode="auto">
              <a:xfrm flipH="1">
                <a:off x="4468" y="3929"/>
                <a:ext cx="226" cy="136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321022" name="Oval 510"/>
              <p:cNvSpPr>
                <a:spLocks noChangeArrowheads="1"/>
              </p:cNvSpPr>
              <p:nvPr/>
            </p:nvSpPr>
            <p:spPr bwMode="auto">
              <a:xfrm>
                <a:off x="4513" y="3902"/>
                <a:ext cx="45" cy="45"/>
              </a:xfrm>
              <a:prstGeom prst="ellipse">
                <a:avLst/>
              </a:prstGeom>
              <a:solidFill>
                <a:schemeClr val="bg2"/>
              </a:solidFill>
              <a:ln w="38100" algn="ctr">
                <a:solidFill>
                  <a:schemeClr val="bg2"/>
                </a:solidFill>
                <a:round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</p:grpSp>
      </p:grpSp>
      <p:grpSp>
        <p:nvGrpSpPr>
          <p:cNvPr id="321023" name="Group 511"/>
          <p:cNvGrpSpPr>
            <a:grpSpLocks/>
          </p:cNvGrpSpPr>
          <p:nvPr/>
        </p:nvGrpSpPr>
        <p:grpSpPr bwMode="auto">
          <a:xfrm>
            <a:off x="4140200" y="4822825"/>
            <a:ext cx="2592388" cy="457200"/>
            <a:chOff x="2608" y="1026"/>
            <a:chExt cx="1633" cy="288"/>
          </a:xfrm>
        </p:grpSpPr>
        <p:sp>
          <p:nvSpPr>
            <p:cNvPr id="321024" name="Rectangle 512"/>
            <p:cNvSpPr>
              <a:spLocks noChangeArrowheads="1"/>
            </p:cNvSpPr>
            <p:nvPr/>
          </p:nvSpPr>
          <p:spPr bwMode="auto">
            <a:xfrm>
              <a:off x="2608" y="1026"/>
              <a:ext cx="16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000000"/>
                  </a:solidFill>
                  <a:cs typeface="Times New Roman" pitchFamily="18" charset="0"/>
                </a:rPr>
                <a:t>(     FIRSTVT(E)</a:t>
              </a:r>
            </a:p>
          </p:txBody>
        </p:sp>
        <p:grpSp>
          <p:nvGrpSpPr>
            <p:cNvPr id="321025" name="Group 513"/>
            <p:cNvGrpSpPr>
              <a:grpSpLocks/>
            </p:cNvGrpSpPr>
            <p:nvPr/>
          </p:nvGrpSpPr>
          <p:grpSpPr bwMode="auto">
            <a:xfrm rot="10800000">
              <a:off x="2820" y="1071"/>
              <a:ext cx="151" cy="182"/>
              <a:chOff x="4468" y="3793"/>
              <a:chExt cx="226" cy="272"/>
            </a:xfrm>
          </p:grpSpPr>
          <p:sp>
            <p:nvSpPr>
              <p:cNvPr id="321026" name="Line 514"/>
              <p:cNvSpPr>
                <a:spLocks noChangeShapeType="1"/>
              </p:cNvSpPr>
              <p:nvPr/>
            </p:nvSpPr>
            <p:spPr bwMode="auto">
              <a:xfrm>
                <a:off x="4468" y="3793"/>
                <a:ext cx="226" cy="136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321027" name="Line 515"/>
              <p:cNvSpPr>
                <a:spLocks noChangeShapeType="1"/>
              </p:cNvSpPr>
              <p:nvPr/>
            </p:nvSpPr>
            <p:spPr bwMode="auto">
              <a:xfrm flipH="1">
                <a:off x="4468" y="3929"/>
                <a:ext cx="226" cy="136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321028" name="Oval 516"/>
              <p:cNvSpPr>
                <a:spLocks noChangeArrowheads="1"/>
              </p:cNvSpPr>
              <p:nvPr/>
            </p:nvSpPr>
            <p:spPr bwMode="auto">
              <a:xfrm>
                <a:off x="4513" y="3902"/>
                <a:ext cx="45" cy="45"/>
              </a:xfrm>
              <a:prstGeom prst="ellipse">
                <a:avLst/>
              </a:prstGeom>
              <a:solidFill>
                <a:schemeClr val="bg2"/>
              </a:solidFill>
              <a:ln w="38100" algn="ctr">
                <a:solidFill>
                  <a:schemeClr val="bg2"/>
                </a:solidFill>
                <a:round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</p:grpSp>
      </p:grpSp>
      <p:grpSp>
        <p:nvGrpSpPr>
          <p:cNvPr id="321046" name="Group 534"/>
          <p:cNvGrpSpPr>
            <a:grpSpLocks/>
          </p:cNvGrpSpPr>
          <p:nvPr/>
        </p:nvGrpSpPr>
        <p:grpSpPr bwMode="auto">
          <a:xfrm>
            <a:off x="6588125" y="1628775"/>
            <a:ext cx="2592388" cy="457200"/>
            <a:chOff x="4150" y="1026"/>
            <a:chExt cx="1633" cy="288"/>
          </a:xfrm>
        </p:grpSpPr>
        <p:sp>
          <p:nvSpPr>
            <p:cNvPr id="321036" name="Rectangle 524"/>
            <p:cNvSpPr>
              <a:spLocks noChangeArrowheads="1"/>
            </p:cNvSpPr>
            <p:nvPr/>
          </p:nvSpPr>
          <p:spPr bwMode="auto">
            <a:xfrm>
              <a:off x="4150" y="1026"/>
              <a:ext cx="16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000000"/>
                  </a:solidFill>
                </a:rPr>
                <a:t>LASTVT(E)     #</a:t>
              </a:r>
            </a:p>
          </p:txBody>
        </p:sp>
        <p:grpSp>
          <p:nvGrpSpPr>
            <p:cNvPr id="321041" name="Group 529"/>
            <p:cNvGrpSpPr>
              <a:grpSpLocks/>
            </p:cNvGrpSpPr>
            <p:nvPr/>
          </p:nvGrpSpPr>
          <p:grpSpPr bwMode="auto">
            <a:xfrm>
              <a:off x="5238" y="1070"/>
              <a:ext cx="182" cy="183"/>
              <a:chOff x="4468" y="3793"/>
              <a:chExt cx="226" cy="272"/>
            </a:xfrm>
          </p:grpSpPr>
          <p:sp>
            <p:nvSpPr>
              <p:cNvPr id="321042" name="Line 530"/>
              <p:cNvSpPr>
                <a:spLocks noChangeShapeType="1"/>
              </p:cNvSpPr>
              <p:nvPr/>
            </p:nvSpPr>
            <p:spPr bwMode="auto">
              <a:xfrm>
                <a:off x="4468" y="3793"/>
                <a:ext cx="226" cy="136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321043" name="Line 531"/>
              <p:cNvSpPr>
                <a:spLocks noChangeShapeType="1"/>
              </p:cNvSpPr>
              <p:nvPr/>
            </p:nvSpPr>
            <p:spPr bwMode="auto">
              <a:xfrm flipH="1">
                <a:off x="4468" y="3929"/>
                <a:ext cx="226" cy="136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321044" name="Oval 532"/>
              <p:cNvSpPr>
                <a:spLocks noChangeArrowheads="1"/>
              </p:cNvSpPr>
              <p:nvPr/>
            </p:nvSpPr>
            <p:spPr bwMode="auto">
              <a:xfrm>
                <a:off x="4513" y="3902"/>
                <a:ext cx="45" cy="45"/>
              </a:xfrm>
              <a:prstGeom prst="ellipse">
                <a:avLst/>
              </a:prstGeom>
              <a:solidFill>
                <a:schemeClr val="bg2"/>
              </a:solidFill>
              <a:ln w="38100" algn="ctr">
                <a:solidFill>
                  <a:schemeClr val="bg2"/>
                </a:solidFill>
                <a:round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</p:grpSp>
      </p:grpSp>
      <p:grpSp>
        <p:nvGrpSpPr>
          <p:cNvPr id="321047" name="Group 535"/>
          <p:cNvGrpSpPr>
            <a:grpSpLocks/>
          </p:cNvGrpSpPr>
          <p:nvPr/>
        </p:nvGrpSpPr>
        <p:grpSpPr bwMode="auto">
          <a:xfrm>
            <a:off x="6588125" y="2060575"/>
            <a:ext cx="2592388" cy="457200"/>
            <a:chOff x="4150" y="1026"/>
            <a:chExt cx="1633" cy="288"/>
          </a:xfrm>
        </p:grpSpPr>
        <p:sp>
          <p:nvSpPr>
            <p:cNvPr id="321048" name="Rectangle 536"/>
            <p:cNvSpPr>
              <a:spLocks noChangeArrowheads="1"/>
            </p:cNvSpPr>
            <p:nvPr/>
          </p:nvSpPr>
          <p:spPr bwMode="auto">
            <a:xfrm>
              <a:off x="4150" y="1026"/>
              <a:ext cx="16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dirty="0">
                  <a:solidFill>
                    <a:srgbClr val="000000"/>
                  </a:solidFill>
                </a:rPr>
                <a:t>LASTVT(E)     +</a:t>
              </a:r>
            </a:p>
          </p:txBody>
        </p:sp>
        <p:grpSp>
          <p:nvGrpSpPr>
            <p:cNvPr id="321049" name="Group 537"/>
            <p:cNvGrpSpPr>
              <a:grpSpLocks/>
            </p:cNvGrpSpPr>
            <p:nvPr/>
          </p:nvGrpSpPr>
          <p:grpSpPr bwMode="auto">
            <a:xfrm>
              <a:off x="5238" y="1070"/>
              <a:ext cx="182" cy="183"/>
              <a:chOff x="4468" y="3793"/>
              <a:chExt cx="226" cy="272"/>
            </a:xfrm>
          </p:grpSpPr>
          <p:sp>
            <p:nvSpPr>
              <p:cNvPr id="321050" name="Line 538"/>
              <p:cNvSpPr>
                <a:spLocks noChangeShapeType="1"/>
              </p:cNvSpPr>
              <p:nvPr/>
            </p:nvSpPr>
            <p:spPr bwMode="auto">
              <a:xfrm>
                <a:off x="4468" y="3793"/>
                <a:ext cx="226" cy="136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321051" name="Line 539"/>
              <p:cNvSpPr>
                <a:spLocks noChangeShapeType="1"/>
              </p:cNvSpPr>
              <p:nvPr/>
            </p:nvSpPr>
            <p:spPr bwMode="auto">
              <a:xfrm flipH="1">
                <a:off x="4468" y="3929"/>
                <a:ext cx="226" cy="136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321052" name="Oval 540"/>
              <p:cNvSpPr>
                <a:spLocks noChangeArrowheads="1"/>
              </p:cNvSpPr>
              <p:nvPr/>
            </p:nvSpPr>
            <p:spPr bwMode="auto">
              <a:xfrm>
                <a:off x="4513" y="3902"/>
                <a:ext cx="45" cy="45"/>
              </a:xfrm>
              <a:prstGeom prst="ellipse">
                <a:avLst/>
              </a:prstGeom>
              <a:solidFill>
                <a:schemeClr val="bg2"/>
              </a:solidFill>
              <a:ln w="38100" algn="ctr">
                <a:solidFill>
                  <a:schemeClr val="bg2"/>
                </a:solidFill>
                <a:round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</p:grpSp>
      </p:grpSp>
      <p:grpSp>
        <p:nvGrpSpPr>
          <p:cNvPr id="321053" name="Group 541"/>
          <p:cNvGrpSpPr>
            <a:grpSpLocks/>
          </p:cNvGrpSpPr>
          <p:nvPr/>
        </p:nvGrpSpPr>
        <p:grpSpPr bwMode="auto">
          <a:xfrm>
            <a:off x="6588125" y="2997200"/>
            <a:ext cx="2592388" cy="457200"/>
            <a:chOff x="4150" y="1026"/>
            <a:chExt cx="1633" cy="288"/>
          </a:xfrm>
        </p:grpSpPr>
        <p:sp>
          <p:nvSpPr>
            <p:cNvPr id="321054" name="Rectangle 542"/>
            <p:cNvSpPr>
              <a:spLocks noChangeArrowheads="1"/>
            </p:cNvSpPr>
            <p:nvPr/>
          </p:nvSpPr>
          <p:spPr bwMode="auto">
            <a:xfrm>
              <a:off x="4150" y="1026"/>
              <a:ext cx="16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000000"/>
                  </a:solidFill>
                </a:rPr>
                <a:t>LASTVT(T)     *</a:t>
              </a:r>
            </a:p>
          </p:txBody>
        </p:sp>
        <p:grpSp>
          <p:nvGrpSpPr>
            <p:cNvPr id="321055" name="Group 543"/>
            <p:cNvGrpSpPr>
              <a:grpSpLocks/>
            </p:cNvGrpSpPr>
            <p:nvPr/>
          </p:nvGrpSpPr>
          <p:grpSpPr bwMode="auto">
            <a:xfrm>
              <a:off x="5238" y="1070"/>
              <a:ext cx="182" cy="183"/>
              <a:chOff x="4468" y="3793"/>
              <a:chExt cx="226" cy="272"/>
            </a:xfrm>
          </p:grpSpPr>
          <p:sp>
            <p:nvSpPr>
              <p:cNvPr id="321056" name="Line 544"/>
              <p:cNvSpPr>
                <a:spLocks noChangeShapeType="1"/>
              </p:cNvSpPr>
              <p:nvPr/>
            </p:nvSpPr>
            <p:spPr bwMode="auto">
              <a:xfrm>
                <a:off x="4468" y="3793"/>
                <a:ext cx="226" cy="136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321057" name="Line 545"/>
              <p:cNvSpPr>
                <a:spLocks noChangeShapeType="1"/>
              </p:cNvSpPr>
              <p:nvPr/>
            </p:nvSpPr>
            <p:spPr bwMode="auto">
              <a:xfrm flipH="1">
                <a:off x="4468" y="3929"/>
                <a:ext cx="226" cy="136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321058" name="Oval 546"/>
              <p:cNvSpPr>
                <a:spLocks noChangeArrowheads="1"/>
              </p:cNvSpPr>
              <p:nvPr/>
            </p:nvSpPr>
            <p:spPr bwMode="auto">
              <a:xfrm>
                <a:off x="4513" y="3902"/>
                <a:ext cx="45" cy="45"/>
              </a:xfrm>
              <a:prstGeom prst="ellipse">
                <a:avLst/>
              </a:prstGeom>
              <a:solidFill>
                <a:schemeClr val="bg2"/>
              </a:solidFill>
              <a:ln w="38100" algn="ctr">
                <a:solidFill>
                  <a:schemeClr val="bg2"/>
                </a:solidFill>
                <a:round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</p:grpSp>
      </p:grpSp>
      <p:grpSp>
        <p:nvGrpSpPr>
          <p:cNvPr id="321059" name="Group 547"/>
          <p:cNvGrpSpPr>
            <a:grpSpLocks/>
          </p:cNvGrpSpPr>
          <p:nvPr/>
        </p:nvGrpSpPr>
        <p:grpSpPr bwMode="auto">
          <a:xfrm>
            <a:off x="6588125" y="3933825"/>
            <a:ext cx="2592388" cy="457200"/>
            <a:chOff x="4150" y="1026"/>
            <a:chExt cx="1633" cy="288"/>
          </a:xfrm>
        </p:grpSpPr>
        <p:sp>
          <p:nvSpPr>
            <p:cNvPr id="321060" name="Rectangle 548"/>
            <p:cNvSpPr>
              <a:spLocks noChangeArrowheads="1"/>
            </p:cNvSpPr>
            <p:nvPr/>
          </p:nvSpPr>
          <p:spPr bwMode="auto">
            <a:xfrm>
              <a:off x="4150" y="1026"/>
              <a:ext cx="16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000000"/>
                  </a:solidFill>
                </a:rPr>
                <a:t>LASTVT(P)    </a:t>
              </a:r>
              <a:r>
                <a:rPr lang="en-US" altLang="zh-CN" sz="2400" b="1">
                  <a:solidFill>
                    <a:srgbClr val="000000"/>
                  </a:solidFill>
                  <a:cs typeface="Times New Roman" pitchFamily="18" charset="0"/>
                </a:rPr>
                <a:t>↑</a:t>
              </a:r>
            </a:p>
          </p:txBody>
        </p:sp>
        <p:grpSp>
          <p:nvGrpSpPr>
            <p:cNvPr id="321061" name="Group 549"/>
            <p:cNvGrpSpPr>
              <a:grpSpLocks/>
            </p:cNvGrpSpPr>
            <p:nvPr/>
          </p:nvGrpSpPr>
          <p:grpSpPr bwMode="auto">
            <a:xfrm>
              <a:off x="5238" y="1070"/>
              <a:ext cx="182" cy="183"/>
              <a:chOff x="4468" y="3793"/>
              <a:chExt cx="226" cy="272"/>
            </a:xfrm>
          </p:grpSpPr>
          <p:sp>
            <p:nvSpPr>
              <p:cNvPr id="321062" name="Line 550"/>
              <p:cNvSpPr>
                <a:spLocks noChangeShapeType="1"/>
              </p:cNvSpPr>
              <p:nvPr/>
            </p:nvSpPr>
            <p:spPr bwMode="auto">
              <a:xfrm>
                <a:off x="4468" y="3793"/>
                <a:ext cx="226" cy="136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321063" name="Line 551"/>
              <p:cNvSpPr>
                <a:spLocks noChangeShapeType="1"/>
              </p:cNvSpPr>
              <p:nvPr/>
            </p:nvSpPr>
            <p:spPr bwMode="auto">
              <a:xfrm flipH="1">
                <a:off x="4468" y="3929"/>
                <a:ext cx="226" cy="136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321064" name="Oval 552"/>
              <p:cNvSpPr>
                <a:spLocks noChangeArrowheads="1"/>
              </p:cNvSpPr>
              <p:nvPr/>
            </p:nvSpPr>
            <p:spPr bwMode="auto">
              <a:xfrm>
                <a:off x="4513" y="3902"/>
                <a:ext cx="45" cy="45"/>
              </a:xfrm>
              <a:prstGeom prst="ellipse">
                <a:avLst/>
              </a:prstGeom>
              <a:solidFill>
                <a:schemeClr val="bg2"/>
              </a:solidFill>
              <a:ln w="38100" algn="ctr">
                <a:solidFill>
                  <a:schemeClr val="bg2"/>
                </a:solidFill>
                <a:round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</p:grpSp>
      </p:grpSp>
      <p:grpSp>
        <p:nvGrpSpPr>
          <p:cNvPr id="321065" name="Group 553"/>
          <p:cNvGrpSpPr>
            <a:grpSpLocks/>
          </p:cNvGrpSpPr>
          <p:nvPr/>
        </p:nvGrpSpPr>
        <p:grpSpPr bwMode="auto">
          <a:xfrm>
            <a:off x="6588125" y="4797425"/>
            <a:ext cx="2592388" cy="457200"/>
            <a:chOff x="4150" y="1026"/>
            <a:chExt cx="1633" cy="288"/>
          </a:xfrm>
        </p:grpSpPr>
        <p:sp>
          <p:nvSpPr>
            <p:cNvPr id="321066" name="Rectangle 554"/>
            <p:cNvSpPr>
              <a:spLocks noChangeArrowheads="1"/>
            </p:cNvSpPr>
            <p:nvPr/>
          </p:nvSpPr>
          <p:spPr bwMode="auto">
            <a:xfrm>
              <a:off x="4150" y="1026"/>
              <a:ext cx="16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000000"/>
                  </a:solidFill>
                </a:rPr>
                <a:t>LASTVT(E)     )</a:t>
              </a:r>
            </a:p>
          </p:txBody>
        </p:sp>
        <p:grpSp>
          <p:nvGrpSpPr>
            <p:cNvPr id="321067" name="Group 555"/>
            <p:cNvGrpSpPr>
              <a:grpSpLocks/>
            </p:cNvGrpSpPr>
            <p:nvPr/>
          </p:nvGrpSpPr>
          <p:grpSpPr bwMode="auto">
            <a:xfrm>
              <a:off x="5238" y="1070"/>
              <a:ext cx="182" cy="183"/>
              <a:chOff x="4468" y="3793"/>
              <a:chExt cx="226" cy="272"/>
            </a:xfrm>
          </p:grpSpPr>
          <p:sp>
            <p:nvSpPr>
              <p:cNvPr id="321068" name="Line 556"/>
              <p:cNvSpPr>
                <a:spLocks noChangeShapeType="1"/>
              </p:cNvSpPr>
              <p:nvPr/>
            </p:nvSpPr>
            <p:spPr bwMode="auto">
              <a:xfrm>
                <a:off x="4468" y="3793"/>
                <a:ext cx="226" cy="136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321069" name="Line 557"/>
              <p:cNvSpPr>
                <a:spLocks noChangeShapeType="1"/>
              </p:cNvSpPr>
              <p:nvPr/>
            </p:nvSpPr>
            <p:spPr bwMode="auto">
              <a:xfrm flipH="1">
                <a:off x="4468" y="3929"/>
                <a:ext cx="226" cy="136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321070" name="Oval 558"/>
              <p:cNvSpPr>
                <a:spLocks noChangeArrowheads="1"/>
              </p:cNvSpPr>
              <p:nvPr/>
            </p:nvSpPr>
            <p:spPr bwMode="auto">
              <a:xfrm>
                <a:off x="4513" y="3902"/>
                <a:ext cx="45" cy="45"/>
              </a:xfrm>
              <a:prstGeom prst="ellipse">
                <a:avLst/>
              </a:prstGeom>
              <a:solidFill>
                <a:schemeClr val="bg2"/>
              </a:solidFill>
              <a:ln w="38100" algn="ctr">
                <a:solidFill>
                  <a:schemeClr val="bg2"/>
                </a:solidFill>
                <a:round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838651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0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0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1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1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1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1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1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1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21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21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2" name="Rectangle 4"/>
          <p:cNvSpPr>
            <a:spLocks noChangeArrowheads="1"/>
          </p:cNvSpPr>
          <p:nvPr/>
        </p:nvSpPr>
        <p:spPr bwMode="auto">
          <a:xfrm>
            <a:off x="1619250" y="333375"/>
            <a:ext cx="6335713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4000">
                <a:solidFill>
                  <a:schemeClr val="hlink"/>
                </a:solidFill>
                <a:latin typeface="Times New Roman" pitchFamily="18" charset="0"/>
                <a:ea typeface="黑体" pitchFamily="49" charset="-122"/>
              </a:defRPr>
            </a:lvl1pPr>
            <a:lvl2pPr>
              <a:defRPr sz="4000">
                <a:solidFill>
                  <a:schemeClr val="hlink"/>
                </a:solidFill>
                <a:latin typeface="Times New Roman" pitchFamily="18" charset="0"/>
                <a:ea typeface="黑体" pitchFamily="49" charset="-122"/>
              </a:defRPr>
            </a:lvl2pPr>
            <a:lvl3pPr>
              <a:defRPr sz="4000">
                <a:solidFill>
                  <a:schemeClr val="hlink"/>
                </a:solidFill>
                <a:latin typeface="Times New Roman" pitchFamily="18" charset="0"/>
                <a:ea typeface="黑体" pitchFamily="49" charset="-122"/>
              </a:defRPr>
            </a:lvl3pPr>
            <a:lvl4pPr>
              <a:defRPr sz="4000">
                <a:solidFill>
                  <a:schemeClr val="hlink"/>
                </a:solidFill>
                <a:latin typeface="Times New Roman" pitchFamily="18" charset="0"/>
                <a:ea typeface="黑体" pitchFamily="49" charset="-122"/>
              </a:defRPr>
            </a:lvl4pPr>
            <a:lvl5pPr>
              <a:defRPr sz="4000">
                <a:solidFill>
                  <a:schemeClr val="hlink"/>
                </a:solidFill>
                <a:latin typeface="Times New Roman" pitchFamily="18" charset="0"/>
                <a:ea typeface="黑体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hlink"/>
                </a:solidFill>
                <a:latin typeface="Times New Roman" pitchFamily="18" charset="0"/>
                <a:ea typeface="黑体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hlink"/>
                </a:solidFill>
                <a:latin typeface="Times New Roman" pitchFamily="18" charset="0"/>
                <a:ea typeface="黑体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hlink"/>
                </a:solidFill>
                <a:latin typeface="Times New Roman" pitchFamily="18" charset="0"/>
                <a:ea typeface="黑体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hlink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000099"/>
                </a:solidFill>
              </a:rPr>
              <a:t>算符优先关系表 </a:t>
            </a:r>
            <a:endParaRPr lang="zh-CN" altLang="en-US" sz="3600" b="1" dirty="0">
              <a:solidFill>
                <a:srgbClr val="000000"/>
              </a:solidFill>
            </a:endParaRPr>
          </a:p>
        </p:txBody>
      </p:sp>
      <p:graphicFrame>
        <p:nvGraphicFramePr>
          <p:cNvPr id="319493" name="Group 5"/>
          <p:cNvGraphicFramePr>
            <a:graphicFrameLocks noGrp="1"/>
          </p:cNvGraphicFramePr>
          <p:nvPr/>
        </p:nvGraphicFramePr>
        <p:xfrm>
          <a:off x="1689100" y="896938"/>
          <a:ext cx="6067425" cy="5139374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0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9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9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04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809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↑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(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8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19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4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↑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4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8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(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04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04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120000"/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bg1"/>
                        </a:buClr>
                        <a:buSzPct val="90000"/>
                        <a:defRPr sz="32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SzPct val="60000"/>
                        <a:defRPr sz="28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楷体_GB2312" pitchFamily="49" charset="-122"/>
                        </a:defRPr>
                      </a:lvl3pPr>
                      <a:lvl4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algn="l"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sz="3600" b="1">
                          <a:solidFill>
                            <a:schemeClr val="bg2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319576" name="Group 88"/>
          <p:cNvGrpSpPr>
            <a:grpSpLocks/>
          </p:cNvGrpSpPr>
          <p:nvPr/>
        </p:nvGrpSpPr>
        <p:grpSpPr bwMode="auto">
          <a:xfrm>
            <a:off x="2695575" y="1614488"/>
            <a:ext cx="288925" cy="290512"/>
            <a:chOff x="4468" y="3793"/>
            <a:chExt cx="226" cy="272"/>
          </a:xfrm>
        </p:grpSpPr>
        <p:sp>
          <p:nvSpPr>
            <p:cNvPr id="319577" name="Line 89"/>
            <p:cNvSpPr>
              <a:spLocks noChangeShapeType="1"/>
            </p:cNvSpPr>
            <p:nvPr/>
          </p:nvSpPr>
          <p:spPr bwMode="auto">
            <a:xfrm>
              <a:off x="4468" y="3793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578" name="Line 90"/>
            <p:cNvSpPr>
              <a:spLocks noChangeShapeType="1"/>
            </p:cNvSpPr>
            <p:nvPr/>
          </p:nvSpPr>
          <p:spPr bwMode="auto">
            <a:xfrm flipH="1">
              <a:off x="4468" y="3929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579" name="Oval 91"/>
            <p:cNvSpPr>
              <a:spLocks noChangeArrowheads="1"/>
            </p:cNvSpPr>
            <p:nvPr/>
          </p:nvSpPr>
          <p:spPr bwMode="auto">
            <a:xfrm>
              <a:off x="4513" y="3902"/>
              <a:ext cx="45" cy="45"/>
            </a:xfrm>
            <a:prstGeom prst="ellipse">
              <a:avLst/>
            </a:prstGeom>
            <a:solidFill>
              <a:schemeClr val="bg2"/>
            </a:solidFill>
            <a:ln w="38100" algn="ctr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grpSp>
        <p:nvGrpSpPr>
          <p:cNvPr id="319580" name="Group 92"/>
          <p:cNvGrpSpPr>
            <a:grpSpLocks/>
          </p:cNvGrpSpPr>
          <p:nvPr/>
        </p:nvGrpSpPr>
        <p:grpSpPr bwMode="auto">
          <a:xfrm>
            <a:off x="2695575" y="2262188"/>
            <a:ext cx="288925" cy="290512"/>
            <a:chOff x="4468" y="3793"/>
            <a:chExt cx="226" cy="272"/>
          </a:xfrm>
        </p:grpSpPr>
        <p:sp>
          <p:nvSpPr>
            <p:cNvPr id="319581" name="Line 93"/>
            <p:cNvSpPr>
              <a:spLocks noChangeShapeType="1"/>
            </p:cNvSpPr>
            <p:nvPr/>
          </p:nvSpPr>
          <p:spPr bwMode="auto">
            <a:xfrm>
              <a:off x="4468" y="3793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582" name="Line 94"/>
            <p:cNvSpPr>
              <a:spLocks noChangeShapeType="1"/>
            </p:cNvSpPr>
            <p:nvPr/>
          </p:nvSpPr>
          <p:spPr bwMode="auto">
            <a:xfrm flipH="1">
              <a:off x="4468" y="3929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583" name="Oval 95"/>
            <p:cNvSpPr>
              <a:spLocks noChangeArrowheads="1"/>
            </p:cNvSpPr>
            <p:nvPr/>
          </p:nvSpPr>
          <p:spPr bwMode="auto">
            <a:xfrm>
              <a:off x="4513" y="3902"/>
              <a:ext cx="45" cy="45"/>
            </a:xfrm>
            <a:prstGeom prst="ellipse">
              <a:avLst/>
            </a:prstGeom>
            <a:solidFill>
              <a:schemeClr val="bg2"/>
            </a:solidFill>
            <a:ln w="38100" algn="ctr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grpSp>
        <p:nvGrpSpPr>
          <p:cNvPr id="319584" name="Group 96"/>
          <p:cNvGrpSpPr>
            <a:grpSpLocks/>
          </p:cNvGrpSpPr>
          <p:nvPr/>
        </p:nvGrpSpPr>
        <p:grpSpPr bwMode="auto">
          <a:xfrm>
            <a:off x="2695575" y="3570288"/>
            <a:ext cx="288925" cy="290512"/>
            <a:chOff x="4468" y="3793"/>
            <a:chExt cx="226" cy="272"/>
          </a:xfrm>
        </p:grpSpPr>
        <p:sp>
          <p:nvSpPr>
            <p:cNvPr id="319585" name="Line 97"/>
            <p:cNvSpPr>
              <a:spLocks noChangeShapeType="1"/>
            </p:cNvSpPr>
            <p:nvPr/>
          </p:nvSpPr>
          <p:spPr bwMode="auto">
            <a:xfrm>
              <a:off x="4468" y="3793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586" name="Line 98"/>
            <p:cNvSpPr>
              <a:spLocks noChangeShapeType="1"/>
            </p:cNvSpPr>
            <p:nvPr/>
          </p:nvSpPr>
          <p:spPr bwMode="auto">
            <a:xfrm flipH="1">
              <a:off x="4468" y="3929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587" name="Oval 99"/>
            <p:cNvSpPr>
              <a:spLocks noChangeArrowheads="1"/>
            </p:cNvSpPr>
            <p:nvPr/>
          </p:nvSpPr>
          <p:spPr bwMode="auto">
            <a:xfrm>
              <a:off x="4513" y="3902"/>
              <a:ext cx="45" cy="45"/>
            </a:xfrm>
            <a:prstGeom prst="ellipse">
              <a:avLst/>
            </a:prstGeom>
            <a:solidFill>
              <a:schemeClr val="bg2"/>
            </a:solidFill>
            <a:ln w="38100" algn="ctr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grpSp>
        <p:nvGrpSpPr>
          <p:cNvPr id="319588" name="Group 100"/>
          <p:cNvGrpSpPr>
            <a:grpSpLocks/>
          </p:cNvGrpSpPr>
          <p:nvPr/>
        </p:nvGrpSpPr>
        <p:grpSpPr bwMode="auto">
          <a:xfrm rot="10800000">
            <a:off x="2695575" y="4221163"/>
            <a:ext cx="239713" cy="288925"/>
            <a:chOff x="4468" y="3793"/>
            <a:chExt cx="226" cy="272"/>
          </a:xfrm>
        </p:grpSpPr>
        <p:sp>
          <p:nvSpPr>
            <p:cNvPr id="319589" name="Line 101"/>
            <p:cNvSpPr>
              <a:spLocks noChangeShapeType="1"/>
            </p:cNvSpPr>
            <p:nvPr/>
          </p:nvSpPr>
          <p:spPr bwMode="auto">
            <a:xfrm>
              <a:off x="4468" y="3793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590" name="Line 102"/>
            <p:cNvSpPr>
              <a:spLocks noChangeShapeType="1"/>
            </p:cNvSpPr>
            <p:nvPr/>
          </p:nvSpPr>
          <p:spPr bwMode="auto">
            <a:xfrm flipH="1">
              <a:off x="4468" y="3929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591" name="Oval 103"/>
            <p:cNvSpPr>
              <a:spLocks noChangeArrowheads="1"/>
            </p:cNvSpPr>
            <p:nvPr/>
          </p:nvSpPr>
          <p:spPr bwMode="auto">
            <a:xfrm>
              <a:off x="4513" y="3902"/>
              <a:ext cx="45" cy="45"/>
            </a:xfrm>
            <a:prstGeom prst="ellipse">
              <a:avLst/>
            </a:prstGeom>
            <a:solidFill>
              <a:schemeClr val="bg2"/>
            </a:solidFill>
            <a:ln w="38100" algn="ctr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grpSp>
        <p:nvGrpSpPr>
          <p:cNvPr id="319592" name="Group 104"/>
          <p:cNvGrpSpPr>
            <a:grpSpLocks/>
          </p:cNvGrpSpPr>
          <p:nvPr/>
        </p:nvGrpSpPr>
        <p:grpSpPr bwMode="auto">
          <a:xfrm>
            <a:off x="2695575" y="4868863"/>
            <a:ext cx="288925" cy="290512"/>
            <a:chOff x="4468" y="3793"/>
            <a:chExt cx="226" cy="272"/>
          </a:xfrm>
        </p:grpSpPr>
        <p:sp>
          <p:nvSpPr>
            <p:cNvPr id="319593" name="Line 105"/>
            <p:cNvSpPr>
              <a:spLocks noChangeShapeType="1"/>
            </p:cNvSpPr>
            <p:nvPr/>
          </p:nvSpPr>
          <p:spPr bwMode="auto">
            <a:xfrm>
              <a:off x="4468" y="3793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594" name="Line 106"/>
            <p:cNvSpPr>
              <a:spLocks noChangeShapeType="1"/>
            </p:cNvSpPr>
            <p:nvPr/>
          </p:nvSpPr>
          <p:spPr bwMode="auto">
            <a:xfrm flipH="1">
              <a:off x="4468" y="3929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595" name="Oval 107"/>
            <p:cNvSpPr>
              <a:spLocks noChangeArrowheads="1"/>
            </p:cNvSpPr>
            <p:nvPr/>
          </p:nvSpPr>
          <p:spPr bwMode="auto">
            <a:xfrm>
              <a:off x="4513" y="3902"/>
              <a:ext cx="45" cy="45"/>
            </a:xfrm>
            <a:prstGeom prst="ellipse">
              <a:avLst/>
            </a:prstGeom>
            <a:solidFill>
              <a:schemeClr val="bg2"/>
            </a:solidFill>
            <a:ln w="38100" algn="ctr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grpSp>
        <p:nvGrpSpPr>
          <p:cNvPr id="319596" name="Group 108"/>
          <p:cNvGrpSpPr>
            <a:grpSpLocks/>
          </p:cNvGrpSpPr>
          <p:nvPr/>
        </p:nvGrpSpPr>
        <p:grpSpPr bwMode="auto">
          <a:xfrm rot="10800000">
            <a:off x="2695575" y="5589588"/>
            <a:ext cx="239713" cy="288925"/>
            <a:chOff x="4468" y="3793"/>
            <a:chExt cx="226" cy="272"/>
          </a:xfrm>
        </p:grpSpPr>
        <p:sp>
          <p:nvSpPr>
            <p:cNvPr id="319597" name="Line 109"/>
            <p:cNvSpPr>
              <a:spLocks noChangeShapeType="1"/>
            </p:cNvSpPr>
            <p:nvPr/>
          </p:nvSpPr>
          <p:spPr bwMode="auto">
            <a:xfrm>
              <a:off x="4468" y="3793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598" name="Line 110"/>
            <p:cNvSpPr>
              <a:spLocks noChangeShapeType="1"/>
            </p:cNvSpPr>
            <p:nvPr/>
          </p:nvSpPr>
          <p:spPr bwMode="auto">
            <a:xfrm flipH="1">
              <a:off x="4468" y="3929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599" name="Oval 111"/>
            <p:cNvSpPr>
              <a:spLocks noChangeArrowheads="1"/>
            </p:cNvSpPr>
            <p:nvPr/>
          </p:nvSpPr>
          <p:spPr bwMode="auto">
            <a:xfrm>
              <a:off x="4513" y="3902"/>
              <a:ext cx="45" cy="45"/>
            </a:xfrm>
            <a:prstGeom prst="ellipse">
              <a:avLst/>
            </a:prstGeom>
            <a:solidFill>
              <a:schemeClr val="bg2"/>
            </a:solidFill>
            <a:ln w="38100" algn="ctr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grpSp>
        <p:nvGrpSpPr>
          <p:cNvPr id="319600" name="Group 112"/>
          <p:cNvGrpSpPr>
            <a:grpSpLocks/>
          </p:cNvGrpSpPr>
          <p:nvPr/>
        </p:nvGrpSpPr>
        <p:grpSpPr bwMode="auto">
          <a:xfrm rot="10800000">
            <a:off x="3463925" y="5589588"/>
            <a:ext cx="239713" cy="288925"/>
            <a:chOff x="4468" y="3793"/>
            <a:chExt cx="226" cy="272"/>
          </a:xfrm>
        </p:grpSpPr>
        <p:sp>
          <p:nvSpPr>
            <p:cNvPr id="319601" name="Line 113"/>
            <p:cNvSpPr>
              <a:spLocks noChangeShapeType="1"/>
            </p:cNvSpPr>
            <p:nvPr/>
          </p:nvSpPr>
          <p:spPr bwMode="auto">
            <a:xfrm>
              <a:off x="4468" y="3793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02" name="Line 114"/>
            <p:cNvSpPr>
              <a:spLocks noChangeShapeType="1"/>
            </p:cNvSpPr>
            <p:nvPr/>
          </p:nvSpPr>
          <p:spPr bwMode="auto">
            <a:xfrm flipH="1">
              <a:off x="4468" y="3929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03" name="Oval 115"/>
            <p:cNvSpPr>
              <a:spLocks noChangeArrowheads="1"/>
            </p:cNvSpPr>
            <p:nvPr/>
          </p:nvSpPr>
          <p:spPr bwMode="auto">
            <a:xfrm>
              <a:off x="4513" y="3902"/>
              <a:ext cx="45" cy="45"/>
            </a:xfrm>
            <a:prstGeom prst="ellipse">
              <a:avLst/>
            </a:prstGeom>
            <a:solidFill>
              <a:schemeClr val="bg2"/>
            </a:solidFill>
            <a:ln w="38100" algn="ctr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grpSp>
        <p:nvGrpSpPr>
          <p:cNvPr id="319604" name="Group 116"/>
          <p:cNvGrpSpPr>
            <a:grpSpLocks/>
          </p:cNvGrpSpPr>
          <p:nvPr/>
        </p:nvGrpSpPr>
        <p:grpSpPr bwMode="auto">
          <a:xfrm rot="10800000">
            <a:off x="4978400" y="5589588"/>
            <a:ext cx="239713" cy="288925"/>
            <a:chOff x="4468" y="3793"/>
            <a:chExt cx="226" cy="272"/>
          </a:xfrm>
        </p:grpSpPr>
        <p:sp>
          <p:nvSpPr>
            <p:cNvPr id="319605" name="Line 117"/>
            <p:cNvSpPr>
              <a:spLocks noChangeShapeType="1"/>
            </p:cNvSpPr>
            <p:nvPr/>
          </p:nvSpPr>
          <p:spPr bwMode="auto">
            <a:xfrm>
              <a:off x="4468" y="3793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06" name="Line 118"/>
            <p:cNvSpPr>
              <a:spLocks noChangeShapeType="1"/>
            </p:cNvSpPr>
            <p:nvPr/>
          </p:nvSpPr>
          <p:spPr bwMode="auto">
            <a:xfrm flipH="1">
              <a:off x="4468" y="3929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07" name="Oval 119"/>
            <p:cNvSpPr>
              <a:spLocks noChangeArrowheads="1"/>
            </p:cNvSpPr>
            <p:nvPr/>
          </p:nvSpPr>
          <p:spPr bwMode="auto">
            <a:xfrm>
              <a:off x="4513" y="3902"/>
              <a:ext cx="45" cy="45"/>
            </a:xfrm>
            <a:prstGeom prst="ellipse">
              <a:avLst/>
            </a:prstGeom>
            <a:solidFill>
              <a:schemeClr val="bg2"/>
            </a:solidFill>
            <a:ln w="38100" algn="ctr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grpSp>
        <p:nvGrpSpPr>
          <p:cNvPr id="319608" name="Group 120"/>
          <p:cNvGrpSpPr>
            <a:grpSpLocks/>
          </p:cNvGrpSpPr>
          <p:nvPr/>
        </p:nvGrpSpPr>
        <p:grpSpPr bwMode="auto">
          <a:xfrm rot="10800000">
            <a:off x="5770563" y="5589588"/>
            <a:ext cx="239712" cy="288925"/>
            <a:chOff x="4468" y="3793"/>
            <a:chExt cx="226" cy="272"/>
          </a:xfrm>
        </p:grpSpPr>
        <p:sp>
          <p:nvSpPr>
            <p:cNvPr id="319609" name="Line 121"/>
            <p:cNvSpPr>
              <a:spLocks noChangeShapeType="1"/>
            </p:cNvSpPr>
            <p:nvPr/>
          </p:nvSpPr>
          <p:spPr bwMode="auto">
            <a:xfrm>
              <a:off x="4468" y="3793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10" name="Line 122"/>
            <p:cNvSpPr>
              <a:spLocks noChangeShapeType="1"/>
            </p:cNvSpPr>
            <p:nvPr/>
          </p:nvSpPr>
          <p:spPr bwMode="auto">
            <a:xfrm flipH="1">
              <a:off x="4468" y="3929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11" name="Oval 123"/>
            <p:cNvSpPr>
              <a:spLocks noChangeArrowheads="1"/>
            </p:cNvSpPr>
            <p:nvPr/>
          </p:nvSpPr>
          <p:spPr bwMode="auto">
            <a:xfrm>
              <a:off x="4513" y="3902"/>
              <a:ext cx="45" cy="45"/>
            </a:xfrm>
            <a:prstGeom prst="ellipse">
              <a:avLst/>
            </a:prstGeom>
            <a:solidFill>
              <a:schemeClr val="bg2"/>
            </a:solidFill>
            <a:ln w="38100" algn="ctr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grpSp>
        <p:nvGrpSpPr>
          <p:cNvPr id="319612" name="Group 124"/>
          <p:cNvGrpSpPr>
            <a:grpSpLocks/>
          </p:cNvGrpSpPr>
          <p:nvPr/>
        </p:nvGrpSpPr>
        <p:grpSpPr bwMode="auto">
          <a:xfrm>
            <a:off x="7307263" y="5661025"/>
            <a:ext cx="287337" cy="144463"/>
            <a:chOff x="1882" y="2931"/>
            <a:chExt cx="318" cy="136"/>
          </a:xfrm>
        </p:grpSpPr>
        <p:sp>
          <p:nvSpPr>
            <p:cNvPr id="319613" name="Line 125"/>
            <p:cNvSpPr>
              <a:spLocks noChangeShapeType="1"/>
            </p:cNvSpPr>
            <p:nvPr/>
          </p:nvSpPr>
          <p:spPr bwMode="auto">
            <a:xfrm>
              <a:off x="1882" y="2931"/>
              <a:ext cx="318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14" name="Line 126"/>
            <p:cNvSpPr>
              <a:spLocks noChangeShapeType="1"/>
            </p:cNvSpPr>
            <p:nvPr/>
          </p:nvSpPr>
          <p:spPr bwMode="auto">
            <a:xfrm>
              <a:off x="1882" y="3067"/>
              <a:ext cx="318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15" name="Oval 127"/>
            <p:cNvSpPr>
              <a:spLocks noChangeArrowheads="1"/>
            </p:cNvSpPr>
            <p:nvPr/>
          </p:nvSpPr>
          <p:spPr bwMode="auto">
            <a:xfrm>
              <a:off x="2018" y="2976"/>
              <a:ext cx="46" cy="46"/>
            </a:xfrm>
            <a:prstGeom prst="ellipse">
              <a:avLst/>
            </a:prstGeom>
            <a:solidFill>
              <a:schemeClr val="bg2"/>
            </a:solidFill>
            <a:ln w="38100" algn="ctr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grpSp>
        <p:nvGrpSpPr>
          <p:cNvPr id="319616" name="Group 128"/>
          <p:cNvGrpSpPr>
            <a:grpSpLocks/>
          </p:cNvGrpSpPr>
          <p:nvPr/>
        </p:nvGrpSpPr>
        <p:grpSpPr bwMode="auto">
          <a:xfrm rot="10800000">
            <a:off x="3487738" y="1616075"/>
            <a:ext cx="239712" cy="288925"/>
            <a:chOff x="4468" y="3793"/>
            <a:chExt cx="226" cy="272"/>
          </a:xfrm>
        </p:grpSpPr>
        <p:sp>
          <p:nvSpPr>
            <p:cNvPr id="319617" name="Line 129"/>
            <p:cNvSpPr>
              <a:spLocks noChangeShapeType="1"/>
            </p:cNvSpPr>
            <p:nvPr/>
          </p:nvSpPr>
          <p:spPr bwMode="auto">
            <a:xfrm>
              <a:off x="4468" y="3793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18" name="Line 130"/>
            <p:cNvSpPr>
              <a:spLocks noChangeShapeType="1"/>
            </p:cNvSpPr>
            <p:nvPr/>
          </p:nvSpPr>
          <p:spPr bwMode="auto">
            <a:xfrm flipH="1">
              <a:off x="4468" y="3929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19" name="Oval 131"/>
            <p:cNvSpPr>
              <a:spLocks noChangeArrowheads="1"/>
            </p:cNvSpPr>
            <p:nvPr/>
          </p:nvSpPr>
          <p:spPr bwMode="auto">
            <a:xfrm>
              <a:off x="4513" y="3902"/>
              <a:ext cx="45" cy="45"/>
            </a:xfrm>
            <a:prstGeom prst="ellipse">
              <a:avLst/>
            </a:prstGeom>
            <a:solidFill>
              <a:schemeClr val="bg2"/>
            </a:solidFill>
            <a:ln w="38100" algn="ctr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grpSp>
        <p:nvGrpSpPr>
          <p:cNvPr id="319620" name="Group 132"/>
          <p:cNvGrpSpPr>
            <a:grpSpLocks/>
          </p:cNvGrpSpPr>
          <p:nvPr/>
        </p:nvGrpSpPr>
        <p:grpSpPr bwMode="auto">
          <a:xfrm>
            <a:off x="3487738" y="2263775"/>
            <a:ext cx="288925" cy="290513"/>
            <a:chOff x="4468" y="3793"/>
            <a:chExt cx="226" cy="272"/>
          </a:xfrm>
        </p:grpSpPr>
        <p:sp>
          <p:nvSpPr>
            <p:cNvPr id="319621" name="Line 133"/>
            <p:cNvSpPr>
              <a:spLocks noChangeShapeType="1"/>
            </p:cNvSpPr>
            <p:nvPr/>
          </p:nvSpPr>
          <p:spPr bwMode="auto">
            <a:xfrm>
              <a:off x="4468" y="3793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22" name="Line 134"/>
            <p:cNvSpPr>
              <a:spLocks noChangeShapeType="1"/>
            </p:cNvSpPr>
            <p:nvPr/>
          </p:nvSpPr>
          <p:spPr bwMode="auto">
            <a:xfrm flipH="1">
              <a:off x="4468" y="3929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23" name="Oval 135"/>
            <p:cNvSpPr>
              <a:spLocks noChangeArrowheads="1"/>
            </p:cNvSpPr>
            <p:nvPr/>
          </p:nvSpPr>
          <p:spPr bwMode="auto">
            <a:xfrm>
              <a:off x="4513" y="3902"/>
              <a:ext cx="45" cy="45"/>
            </a:xfrm>
            <a:prstGeom prst="ellipse">
              <a:avLst/>
            </a:prstGeom>
            <a:solidFill>
              <a:schemeClr val="bg2"/>
            </a:solidFill>
            <a:ln w="38100" algn="ctr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grpSp>
        <p:nvGrpSpPr>
          <p:cNvPr id="319624" name="Group 136"/>
          <p:cNvGrpSpPr>
            <a:grpSpLocks/>
          </p:cNvGrpSpPr>
          <p:nvPr/>
        </p:nvGrpSpPr>
        <p:grpSpPr bwMode="auto">
          <a:xfrm>
            <a:off x="3487738" y="3570288"/>
            <a:ext cx="288925" cy="290512"/>
            <a:chOff x="4468" y="3793"/>
            <a:chExt cx="226" cy="272"/>
          </a:xfrm>
        </p:grpSpPr>
        <p:sp>
          <p:nvSpPr>
            <p:cNvPr id="319625" name="Line 137"/>
            <p:cNvSpPr>
              <a:spLocks noChangeShapeType="1"/>
            </p:cNvSpPr>
            <p:nvPr/>
          </p:nvSpPr>
          <p:spPr bwMode="auto">
            <a:xfrm>
              <a:off x="4468" y="3793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26" name="Line 138"/>
            <p:cNvSpPr>
              <a:spLocks noChangeShapeType="1"/>
            </p:cNvSpPr>
            <p:nvPr/>
          </p:nvSpPr>
          <p:spPr bwMode="auto">
            <a:xfrm flipH="1">
              <a:off x="4468" y="3929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27" name="Oval 139"/>
            <p:cNvSpPr>
              <a:spLocks noChangeArrowheads="1"/>
            </p:cNvSpPr>
            <p:nvPr/>
          </p:nvSpPr>
          <p:spPr bwMode="auto">
            <a:xfrm>
              <a:off x="4513" y="3902"/>
              <a:ext cx="45" cy="45"/>
            </a:xfrm>
            <a:prstGeom prst="ellipse">
              <a:avLst/>
            </a:prstGeom>
            <a:solidFill>
              <a:schemeClr val="bg2"/>
            </a:solidFill>
            <a:ln w="38100" algn="ctr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grpSp>
        <p:nvGrpSpPr>
          <p:cNvPr id="319628" name="Group 140"/>
          <p:cNvGrpSpPr>
            <a:grpSpLocks/>
          </p:cNvGrpSpPr>
          <p:nvPr/>
        </p:nvGrpSpPr>
        <p:grpSpPr bwMode="auto">
          <a:xfrm rot="10800000">
            <a:off x="3487738" y="4221163"/>
            <a:ext cx="239712" cy="288925"/>
            <a:chOff x="4468" y="3793"/>
            <a:chExt cx="226" cy="272"/>
          </a:xfrm>
        </p:grpSpPr>
        <p:sp>
          <p:nvSpPr>
            <p:cNvPr id="319629" name="Line 141"/>
            <p:cNvSpPr>
              <a:spLocks noChangeShapeType="1"/>
            </p:cNvSpPr>
            <p:nvPr/>
          </p:nvSpPr>
          <p:spPr bwMode="auto">
            <a:xfrm>
              <a:off x="4468" y="3793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30" name="Line 142"/>
            <p:cNvSpPr>
              <a:spLocks noChangeShapeType="1"/>
            </p:cNvSpPr>
            <p:nvPr/>
          </p:nvSpPr>
          <p:spPr bwMode="auto">
            <a:xfrm flipH="1">
              <a:off x="4468" y="3929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31" name="Oval 143"/>
            <p:cNvSpPr>
              <a:spLocks noChangeArrowheads="1"/>
            </p:cNvSpPr>
            <p:nvPr/>
          </p:nvSpPr>
          <p:spPr bwMode="auto">
            <a:xfrm>
              <a:off x="4513" y="3902"/>
              <a:ext cx="45" cy="45"/>
            </a:xfrm>
            <a:prstGeom prst="ellipse">
              <a:avLst/>
            </a:prstGeom>
            <a:solidFill>
              <a:schemeClr val="bg2"/>
            </a:solidFill>
            <a:ln w="38100" algn="ctr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grpSp>
        <p:nvGrpSpPr>
          <p:cNvPr id="319632" name="Group 144"/>
          <p:cNvGrpSpPr>
            <a:grpSpLocks/>
          </p:cNvGrpSpPr>
          <p:nvPr/>
        </p:nvGrpSpPr>
        <p:grpSpPr bwMode="auto">
          <a:xfrm>
            <a:off x="3487738" y="4868863"/>
            <a:ext cx="288925" cy="290512"/>
            <a:chOff x="4468" y="3793"/>
            <a:chExt cx="226" cy="272"/>
          </a:xfrm>
        </p:grpSpPr>
        <p:sp>
          <p:nvSpPr>
            <p:cNvPr id="319633" name="Line 145"/>
            <p:cNvSpPr>
              <a:spLocks noChangeShapeType="1"/>
            </p:cNvSpPr>
            <p:nvPr/>
          </p:nvSpPr>
          <p:spPr bwMode="auto">
            <a:xfrm>
              <a:off x="4468" y="3793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34" name="Line 146"/>
            <p:cNvSpPr>
              <a:spLocks noChangeShapeType="1"/>
            </p:cNvSpPr>
            <p:nvPr/>
          </p:nvSpPr>
          <p:spPr bwMode="auto">
            <a:xfrm flipH="1">
              <a:off x="4468" y="3929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35" name="Oval 147"/>
            <p:cNvSpPr>
              <a:spLocks noChangeArrowheads="1"/>
            </p:cNvSpPr>
            <p:nvPr/>
          </p:nvSpPr>
          <p:spPr bwMode="auto">
            <a:xfrm>
              <a:off x="4513" y="3902"/>
              <a:ext cx="45" cy="45"/>
            </a:xfrm>
            <a:prstGeom prst="ellipse">
              <a:avLst/>
            </a:prstGeom>
            <a:solidFill>
              <a:schemeClr val="bg2"/>
            </a:solidFill>
            <a:ln w="38100" algn="ctr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grpSp>
        <p:nvGrpSpPr>
          <p:cNvPr id="319636" name="Group 148"/>
          <p:cNvGrpSpPr>
            <a:grpSpLocks/>
          </p:cNvGrpSpPr>
          <p:nvPr/>
        </p:nvGrpSpPr>
        <p:grpSpPr bwMode="auto">
          <a:xfrm rot="10800000">
            <a:off x="5049838" y="1616075"/>
            <a:ext cx="239712" cy="288925"/>
            <a:chOff x="4468" y="3793"/>
            <a:chExt cx="226" cy="272"/>
          </a:xfrm>
        </p:grpSpPr>
        <p:sp>
          <p:nvSpPr>
            <p:cNvPr id="319637" name="Line 149"/>
            <p:cNvSpPr>
              <a:spLocks noChangeShapeType="1"/>
            </p:cNvSpPr>
            <p:nvPr/>
          </p:nvSpPr>
          <p:spPr bwMode="auto">
            <a:xfrm>
              <a:off x="4468" y="3793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38" name="Line 150"/>
            <p:cNvSpPr>
              <a:spLocks noChangeShapeType="1"/>
            </p:cNvSpPr>
            <p:nvPr/>
          </p:nvSpPr>
          <p:spPr bwMode="auto">
            <a:xfrm flipH="1">
              <a:off x="4468" y="3929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39" name="Oval 151"/>
            <p:cNvSpPr>
              <a:spLocks noChangeArrowheads="1"/>
            </p:cNvSpPr>
            <p:nvPr/>
          </p:nvSpPr>
          <p:spPr bwMode="auto">
            <a:xfrm>
              <a:off x="4513" y="3902"/>
              <a:ext cx="45" cy="45"/>
            </a:xfrm>
            <a:prstGeom prst="ellipse">
              <a:avLst/>
            </a:prstGeom>
            <a:solidFill>
              <a:schemeClr val="bg2"/>
            </a:solidFill>
            <a:ln w="38100" algn="ctr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grpSp>
        <p:nvGrpSpPr>
          <p:cNvPr id="319640" name="Group 152"/>
          <p:cNvGrpSpPr>
            <a:grpSpLocks/>
          </p:cNvGrpSpPr>
          <p:nvPr/>
        </p:nvGrpSpPr>
        <p:grpSpPr bwMode="auto">
          <a:xfrm rot="10800000">
            <a:off x="5073650" y="2263775"/>
            <a:ext cx="239713" cy="288925"/>
            <a:chOff x="4468" y="3793"/>
            <a:chExt cx="226" cy="272"/>
          </a:xfrm>
        </p:grpSpPr>
        <p:sp>
          <p:nvSpPr>
            <p:cNvPr id="319641" name="Line 153"/>
            <p:cNvSpPr>
              <a:spLocks noChangeShapeType="1"/>
            </p:cNvSpPr>
            <p:nvPr/>
          </p:nvSpPr>
          <p:spPr bwMode="auto">
            <a:xfrm>
              <a:off x="4468" y="3793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42" name="Line 154"/>
            <p:cNvSpPr>
              <a:spLocks noChangeShapeType="1"/>
            </p:cNvSpPr>
            <p:nvPr/>
          </p:nvSpPr>
          <p:spPr bwMode="auto">
            <a:xfrm flipH="1">
              <a:off x="4468" y="3929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43" name="Oval 155"/>
            <p:cNvSpPr>
              <a:spLocks noChangeArrowheads="1"/>
            </p:cNvSpPr>
            <p:nvPr/>
          </p:nvSpPr>
          <p:spPr bwMode="auto">
            <a:xfrm>
              <a:off x="4513" y="3902"/>
              <a:ext cx="45" cy="45"/>
            </a:xfrm>
            <a:prstGeom prst="ellipse">
              <a:avLst/>
            </a:prstGeom>
            <a:solidFill>
              <a:schemeClr val="bg2"/>
            </a:solidFill>
            <a:ln w="38100" algn="ctr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grpSp>
        <p:nvGrpSpPr>
          <p:cNvPr id="319644" name="Group 156"/>
          <p:cNvGrpSpPr>
            <a:grpSpLocks/>
          </p:cNvGrpSpPr>
          <p:nvPr/>
        </p:nvGrpSpPr>
        <p:grpSpPr bwMode="auto">
          <a:xfrm rot="10800000">
            <a:off x="5073650" y="4221163"/>
            <a:ext cx="239713" cy="288925"/>
            <a:chOff x="4468" y="3793"/>
            <a:chExt cx="226" cy="272"/>
          </a:xfrm>
        </p:grpSpPr>
        <p:sp>
          <p:nvSpPr>
            <p:cNvPr id="319645" name="Line 157"/>
            <p:cNvSpPr>
              <a:spLocks noChangeShapeType="1"/>
            </p:cNvSpPr>
            <p:nvPr/>
          </p:nvSpPr>
          <p:spPr bwMode="auto">
            <a:xfrm>
              <a:off x="4468" y="3793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46" name="Line 158"/>
            <p:cNvSpPr>
              <a:spLocks noChangeShapeType="1"/>
            </p:cNvSpPr>
            <p:nvPr/>
          </p:nvSpPr>
          <p:spPr bwMode="auto">
            <a:xfrm flipH="1">
              <a:off x="4468" y="3929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47" name="Oval 159"/>
            <p:cNvSpPr>
              <a:spLocks noChangeArrowheads="1"/>
            </p:cNvSpPr>
            <p:nvPr/>
          </p:nvSpPr>
          <p:spPr bwMode="auto">
            <a:xfrm>
              <a:off x="4513" y="3902"/>
              <a:ext cx="45" cy="45"/>
            </a:xfrm>
            <a:prstGeom prst="ellipse">
              <a:avLst/>
            </a:prstGeom>
            <a:solidFill>
              <a:schemeClr val="bg2"/>
            </a:solidFill>
            <a:ln w="38100" algn="ctr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grpSp>
        <p:nvGrpSpPr>
          <p:cNvPr id="319648" name="Group 160"/>
          <p:cNvGrpSpPr>
            <a:grpSpLocks/>
          </p:cNvGrpSpPr>
          <p:nvPr/>
        </p:nvGrpSpPr>
        <p:grpSpPr bwMode="auto">
          <a:xfrm rot="10800000">
            <a:off x="5818188" y="1616075"/>
            <a:ext cx="239712" cy="288925"/>
            <a:chOff x="4468" y="3793"/>
            <a:chExt cx="226" cy="272"/>
          </a:xfrm>
        </p:grpSpPr>
        <p:sp>
          <p:nvSpPr>
            <p:cNvPr id="319649" name="Line 161"/>
            <p:cNvSpPr>
              <a:spLocks noChangeShapeType="1"/>
            </p:cNvSpPr>
            <p:nvPr/>
          </p:nvSpPr>
          <p:spPr bwMode="auto">
            <a:xfrm>
              <a:off x="4468" y="3793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50" name="Line 162"/>
            <p:cNvSpPr>
              <a:spLocks noChangeShapeType="1"/>
            </p:cNvSpPr>
            <p:nvPr/>
          </p:nvSpPr>
          <p:spPr bwMode="auto">
            <a:xfrm flipH="1">
              <a:off x="4468" y="3929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51" name="Oval 163"/>
            <p:cNvSpPr>
              <a:spLocks noChangeArrowheads="1"/>
            </p:cNvSpPr>
            <p:nvPr/>
          </p:nvSpPr>
          <p:spPr bwMode="auto">
            <a:xfrm>
              <a:off x="4513" y="3902"/>
              <a:ext cx="45" cy="45"/>
            </a:xfrm>
            <a:prstGeom prst="ellipse">
              <a:avLst/>
            </a:prstGeom>
            <a:solidFill>
              <a:schemeClr val="bg2"/>
            </a:solidFill>
            <a:ln w="38100" algn="ctr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grpSp>
        <p:nvGrpSpPr>
          <p:cNvPr id="319652" name="Group 164"/>
          <p:cNvGrpSpPr>
            <a:grpSpLocks/>
          </p:cNvGrpSpPr>
          <p:nvPr/>
        </p:nvGrpSpPr>
        <p:grpSpPr bwMode="auto">
          <a:xfrm rot="10800000">
            <a:off x="5842000" y="2263775"/>
            <a:ext cx="239713" cy="288925"/>
            <a:chOff x="4468" y="3793"/>
            <a:chExt cx="226" cy="272"/>
          </a:xfrm>
        </p:grpSpPr>
        <p:sp>
          <p:nvSpPr>
            <p:cNvPr id="319653" name="Line 165"/>
            <p:cNvSpPr>
              <a:spLocks noChangeShapeType="1"/>
            </p:cNvSpPr>
            <p:nvPr/>
          </p:nvSpPr>
          <p:spPr bwMode="auto">
            <a:xfrm>
              <a:off x="4468" y="3793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54" name="Line 166"/>
            <p:cNvSpPr>
              <a:spLocks noChangeShapeType="1"/>
            </p:cNvSpPr>
            <p:nvPr/>
          </p:nvSpPr>
          <p:spPr bwMode="auto">
            <a:xfrm flipH="1">
              <a:off x="4468" y="3929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55" name="Oval 167"/>
            <p:cNvSpPr>
              <a:spLocks noChangeArrowheads="1"/>
            </p:cNvSpPr>
            <p:nvPr/>
          </p:nvSpPr>
          <p:spPr bwMode="auto">
            <a:xfrm>
              <a:off x="4513" y="3902"/>
              <a:ext cx="45" cy="45"/>
            </a:xfrm>
            <a:prstGeom prst="ellipse">
              <a:avLst/>
            </a:prstGeom>
            <a:solidFill>
              <a:schemeClr val="bg2"/>
            </a:solidFill>
            <a:ln w="38100" algn="ctr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grpSp>
        <p:nvGrpSpPr>
          <p:cNvPr id="319656" name="Group 168"/>
          <p:cNvGrpSpPr>
            <a:grpSpLocks/>
          </p:cNvGrpSpPr>
          <p:nvPr/>
        </p:nvGrpSpPr>
        <p:grpSpPr bwMode="auto">
          <a:xfrm rot="10800000">
            <a:off x="5794375" y="4219575"/>
            <a:ext cx="239713" cy="288925"/>
            <a:chOff x="4468" y="3793"/>
            <a:chExt cx="226" cy="272"/>
          </a:xfrm>
        </p:grpSpPr>
        <p:sp>
          <p:nvSpPr>
            <p:cNvPr id="319657" name="Line 169"/>
            <p:cNvSpPr>
              <a:spLocks noChangeShapeType="1"/>
            </p:cNvSpPr>
            <p:nvPr/>
          </p:nvSpPr>
          <p:spPr bwMode="auto">
            <a:xfrm>
              <a:off x="4468" y="3793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58" name="Line 170"/>
            <p:cNvSpPr>
              <a:spLocks noChangeShapeType="1"/>
            </p:cNvSpPr>
            <p:nvPr/>
          </p:nvSpPr>
          <p:spPr bwMode="auto">
            <a:xfrm flipH="1">
              <a:off x="4468" y="3929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59" name="Oval 171"/>
            <p:cNvSpPr>
              <a:spLocks noChangeArrowheads="1"/>
            </p:cNvSpPr>
            <p:nvPr/>
          </p:nvSpPr>
          <p:spPr bwMode="auto">
            <a:xfrm>
              <a:off x="4513" y="3902"/>
              <a:ext cx="45" cy="45"/>
            </a:xfrm>
            <a:prstGeom prst="ellipse">
              <a:avLst/>
            </a:prstGeom>
            <a:solidFill>
              <a:schemeClr val="bg2"/>
            </a:solidFill>
            <a:ln w="38100" algn="ctr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grpSp>
        <p:nvGrpSpPr>
          <p:cNvPr id="319660" name="Group 172"/>
          <p:cNvGrpSpPr>
            <a:grpSpLocks/>
          </p:cNvGrpSpPr>
          <p:nvPr/>
        </p:nvGrpSpPr>
        <p:grpSpPr bwMode="auto">
          <a:xfrm>
            <a:off x="6513513" y="1616075"/>
            <a:ext cx="288925" cy="290513"/>
            <a:chOff x="4468" y="3793"/>
            <a:chExt cx="226" cy="272"/>
          </a:xfrm>
        </p:grpSpPr>
        <p:sp>
          <p:nvSpPr>
            <p:cNvPr id="319661" name="Line 173"/>
            <p:cNvSpPr>
              <a:spLocks noChangeShapeType="1"/>
            </p:cNvSpPr>
            <p:nvPr/>
          </p:nvSpPr>
          <p:spPr bwMode="auto">
            <a:xfrm>
              <a:off x="4468" y="3793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62" name="Line 174"/>
            <p:cNvSpPr>
              <a:spLocks noChangeShapeType="1"/>
            </p:cNvSpPr>
            <p:nvPr/>
          </p:nvSpPr>
          <p:spPr bwMode="auto">
            <a:xfrm flipH="1">
              <a:off x="4468" y="3929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63" name="Oval 175"/>
            <p:cNvSpPr>
              <a:spLocks noChangeArrowheads="1"/>
            </p:cNvSpPr>
            <p:nvPr/>
          </p:nvSpPr>
          <p:spPr bwMode="auto">
            <a:xfrm>
              <a:off x="4513" y="3902"/>
              <a:ext cx="45" cy="45"/>
            </a:xfrm>
            <a:prstGeom prst="ellipse">
              <a:avLst/>
            </a:prstGeom>
            <a:solidFill>
              <a:schemeClr val="bg2"/>
            </a:solidFill>
            <a:ln w="38100" algn="ctr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grpSp>
        <p:nvGrpSpPr>
          <p:cNvPr id="319664" name="Group 176"/>
          <p:cNvGrpSpPr>
            <a:grpSpLocks/>
          </p:cNvGrpSpPr>
          <p:nvPr/>
        </p:nvGrpSpPr>
        <p:grpSpPr bwMode="auto">
          <a:xfrm>
            <a:off x="6513513" y="2263775"/>
            <a:ext cx="288925" cy="290513"/>
            <a:chOff x="4468" y="3793"/>
            <a:chExt cx="226" cy="272"/>
          </a:xfrm>
        </p:grpSpPr>
        <p:sp>
          <p:nvSpPr>
            <p:cNvPr id="319665" name="Line 177"/>
            <p:cNvSpPr>
              <a:spLocks noChangeShapeType="1"/>
            </p:cNvSpPr>
            <p:nvPr/>
          </p:nvSpPr>
          <p:spPr bwMode="auto">
            <a:xfrm>
              <a:off x="4468" y="3793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66" name="Line 178"/>
            <p:cNvSpPr>
              <a:spLocks noChangeShapeType="1"/>
            </p:cNvSpPr>
            <p:nvPr/>
          </p:nvSpPr>
          <p:spPr bwMode="auto">
            <a:xfrm flipH="1">
              <a:off x="4468" y="3929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67" name="Oval 179"/>
            <p:cNvSpPr>
              <a:spLocks noChangeArrowheads="1"/>
            </p:cNvSpPr>
            <p:nvPr/>
          </p:nvSpPr>
          <p:spPr bwMode="auto">
            <a:xfrm>
              <a:off x="4513" y="3902"/>
              <a:ext cx="45" cy="45"/>
            </a:xfrm>
            <a:prstGeom prst="ellipse">
              <a:avLst/>
            </a:prstGeom>
            <a:solidFill>
              <a:schemeClr val="bg2"/>
            </a:solidFill>
            <a:ln w="38100" algn="ctr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grpSp>
        <p:nvGrpSpPr>
          <p:cNvPr id="319668" name="Group 180"/>
          <p:cNvGrpSpPr>
            <a:grpSpLocks/>
          </p:cNvGrpSpPr>
          <p:nvPr/>
        </p:nvGrpSpPr>
        <p:grpSpPr bwMode="auto">
          <a:xfrm>
            <a:off x="6513513" y="3573463"/>
            <a:ext cx="288925" cy="290512"/>
            <a:chOff x="4468" y="3793"/>
            <a:chExt cx="226" cy="272"/>
          </a:xfrm>
        </p:grpSpPr>
        <p:sp>
          <p:nvSpPr>
            <p:cNvPr id="319669" name="Line 181"/>
            <p:cNvSpPr>
              <a:spLocks noChangeShapeType="1"/>
            </p:cNvSpPr>
            <p:nvPr/>
          </p:nvSpPr>
          <p:spPr bwMode="auto">
            <a:xfrm>
              <a:off x="4468" y="3793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70" name="Line 182"/>
            <p:cNvSpPr>
              <a:spLocks noChangeShapeType="1"/>
            </p:cNvSpPr>
            <p:nvPr/>
          </p:nvSpPr>
          <p:spPr bwMode="auto">
            <a:xfrm flipH="1">
              <a:off x="4468" y="3929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71" name="Oval 183"/>
            <p:cNvSpPr>
              <a:spLocks noChangeArrowheads="1"/>
            </p:cNvSpPr>
            <p:nvPr/>
          </p:nvSpPr>
          <p:spPr bwMode="auto">
            <a:xfrm>
              <a:off x="4513" y="3902"/>
              <a:ext cx="45" cy="45"/>
            </a:xfrm>
            <a:prstGeom prst="ellipse">
              <a:avLst/>
            </a:prstGeom>
            <a:solidFill>
              <a:schemeClr val="bg2"/>
            </a:solidFill>
            <a:ln w="38100" algn="ctr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grpSp>
        <p:nvGrpSpPr>
          <p:cNvPr id="319672" name="Group 184"/>
          <p:cNvGrpSpPr>
            <a:grpSpLocks/>
          </p:cNvGrpSpPr>
          <p:nvPr/>
        </p:nvGrpSpPr>
        <p:grpSpPr bwMode="auto">
          <a:xfrm>
            <a:off x="6515100" y="4292600"/>
            <a:ext cx="287338" cy="144463"/>
            <a:chOff x="1882" y="2931"/>
            <a:chExt cx="318" cy="136"/>
          </a:xfrm>
        </p:grpSpPr>
        <p:sp>
          <p:nvSpPr>
            <p:cNvPr id="319673" name="Line 185"/>
            <p:cNvSpPr>
              <a:spLocks noChangeShapeType="1"/>
            </p:cNvSpPr>
            <p:nvPr/>
          </p:nvSpPr>
          <p:spPr bwMode="auto">
            <a:xfrm>
              <a:off x="1882" y="2931"/>
              <a:ext cx="318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74" name="Line 186"/>
            <p:cNvSpPr>
              <a:spLocks noChangeShapeType="1"/>
            </p:cNvSpPr>
            <p:nvPr/>
          </p:nvSpPr>
          <p:spPr bwMode="auto">
            <a:xfrm>
              <a:off x="1882" y="3067"/>
              <a:ext cx="318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75" name="Oval 187"/>
            <p:cNvSpPr>
              <a:spLocks noChangeArrowheads="1"/>
            </p:cNvSpPr>
            <p:nvPr/>
          </p:nvSpPr>
          <p:spPr bwMode="auto">
            <a:xfrm>
              <a:off x="2018" y="2976"/>
              <a:ext cx="46" cy="46"/>
            </a:xfrm>
            <a:prstGeom prst="ellipse">
              <a:avLst/>
            </a:prstGeom>
            <a:solidFill>
              <a:schemeClr val="bg2"/>
            </a:solidFill>
            <a:ln w="38100" algn="ctr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grpSp>
        <p:nvGrpSpPr>
          <p:cNvPr id="319676" name="Group 188"/>
          <p:cNvGrpSpPr>
            <a:grpSpLocks/>
          </p:cNvGrpSpPr>
          <p:nvPr/>
        </p:nvGrpSpPr>
        <p:grpSpPr bwMode="auto">
          <a:xfrm>
            <a:off x="6513513" y="4868863"/>
            <a:ext cx="288925" cy="290512"/>
            <a:chOff x="4468" y="3793"/>
            <a:chExt cx="226" cy="272"/>
          </a:xfrm>
        </p:grpSpPr>
        <p:sp>
          <p:nvSpPr>
            <p:cNvPr id="319677" name="Line 189"/>
            <p:cNvSpPr>
              <a:spLocks noChangeShapeType="1"/>
            </p:cNvSpPr>
            <p:nvPr/>
          </p:nvSpPr>
          <p:spPr bwMode="auto">
            <a:xfrm>
              <a:off x="4468" y="3793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78" name="Line 190"/>
            <p:cNvSpPr>
              <a:spLocks noChangeShapeType="1"/>
            </p:cNvSpPr>
            <p:nvPr/>
          </p:nvSpPr>
          <p:spPr bwMode="auto">
            <a:xfrm flipH="1">
              <a:off x="4468" y="3929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79" name="Oval 191"/>
            <p:cNvSpPr>
              <a:spLocks noChangeArrowheads="1"/>
            </p:cNvSpPr>
            <p:nvPr/>
          </p:nvSpPr>
          <p:spPr bwMode="auto">
            <a:xfrm>
              <a:off x="4513" y="3902"/>
              <a:ext cx="45" cy="45"/>
            </a:xfrm>
            <a:prstGeom prst="ellipse">
              <a:avLst/>
            </a:prstGeom>
            <a:solidFill>
              <a:schemeClr val="bg2"/>
            </a:solidFill>
            <a:ln w="38100" algn="ctr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grpSp>
        <p:nvGrpSpPr>
          <p:cNvPr id="319680" name="Group 192"/>
          <p:cNvGrpSpPr>
            <a:grpSpLocks/>
          </p:cNvGrpSpPr>
          <p:nvPr/>
        </p:nvGrpSpPr>
        <p:grpSpPr bwMode="auto">
          <a:xfrm>
            <a:off x="7305675" y="1616075"/>
            <a:ext cx="288925" cy="290513"/>
            <a:chOff x="4468" y="3793"/>
            <a:chExt cx="226" cy="272"/>
          </a:xfrm>
        </p:grpSpPr>
        <p:sp>
          <p:nvSpPr>
            <p:cNvPr id="319681" name="Line 193"/>
            <p:cNvSpPr>
              <a:spLocks noChangeShapeType="1"/>
            </p:cNvSpPr>
            <p:nvPr/>
          </p:nvSpPr>
          <p:spPr bwMode="auto">
            <a:xfrm>
              <a:off x="4468" y="3793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82" name="Line 194"/>
            <p:cNvSpPr>
              <a:spLocks noChangeShapeType="1"/>
            </p:cNvSpPr>
            <p:nvPr/>
          </p:nvSpPr>
          <p:spPr bwMode="auto">
            <a:xfrm flipH="1">
              <a:off x="4468" y="3929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83" name="Oval 195"/>
            <p:cNvSpPr>
              <a:spLocks noChangeArrowheads="1"/>
            </p:cNvSpPr>
            <p:nvPr/>
          </p:nvSpPr>
          <p:spPr bwMode="auto">
            <a:xfrm>
              <a:off x="4513" y="3902"/>
              <a:ext cx="45" cy="45"/>
            </a:xfrm>
            <a:prstGeom prst="ellipse">
              <a:avLst/>
            </a:prstGeom>
            <a:solidFill>
              <a:schemeClr val="bg2"/>
            </a:solidFill>
            <a:ln w="38100" algn="ctr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grpSp>
        <p:nvGrpSpPr>
          <p:cNvPr id="319684" name="Group 196"/>
          <p:cNvGrpSpPr>
            <a:grpSpLocks/>
          </p:cNvGrpSpPr>
          <p:nvPr/>
        </p:nvGrpSpPr>
        <p:grpSpPr bwMode="auto">
          <a:xfrm>
            <a:off x="7305675" y="2263775"/>
            <a:ext cx="288925" cy="290513"/>
            <a:chOff x="4468" y="3793"/>
            <a:chExt cx="226" cy="272"/>
          </a:xfrm>
        </p:grpSpPr>
        <p:sp>
          <p:nvSpPr>
            <p:cNvPr id="319685" name="Line 197"/>
            <p:cNvSpPr>
              <a:spLocks noChangeShapeType="1"/>
            </p:cNvSpPr>
            <p:nvPr/>
          </p:nvSpPr>
          <p:spPr bwMode="auto">
            <a:xfrm>
              <a:off x="4468" y="3793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86" name="Line 198"/>
            <p:cNvSpPr>
              <a:spLocks noChangeShapeType="1"/>
            </p:cNvSpPr>
            <p:nvPr/>
          </p:nvSpPr>
          <p:spPr bwMode="auto">
            <a:xfrm flipH="1">
              <a:off x="4468" y="3929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87" name="Oval 199"/>
            <p:cNvSpPr>
              <a:spLocks noChangeArrowheads="1"/>
            </p:cNvSpPr>
            <p:nvPr/>
          </p:nvSpPr>
          <p:spPr bwMode="auto">
            <a:xfrm>
              <a:off x="4513" y="3902"/>
              <a:ext cx="45" cy="45"/>
            </a:xfrm>
            <a:prstGeom prst="ellipse">
              <a:avLst/>
            </a:prstGeom>
            <a:solidFill>
              <a:schemeClr val="bg2"/>
            </a:solidFill>
            <a:ln w="38100" algn="ctr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grpSp>
        <p:nvGrpSpPr>
          <p:cNvPr id="319688" name="Group 200"/>
          <p:cNvGrpSpPr>
            <a:grpSpLocks/>
          </p:cNvGrpSpPr>
          <p:nvPr/>
        </p:nvGrpSpPr>
        <p:grpSpPr bwMode="auto">
          <a:xfrm>
            <a:off x="7305675" y="3573463"/>
            <a:ext cx="288925" cy="290512"/>
            <a:chOff x="4468" y="3793"/>
            <a:chExt cx="226" cy="272"/>
          </a:xfrm>
        </p:grpSpPr>
        <p:sp>
          <p:nvSpPr>
            <p:cNvPr id="319689" name="Line 201"/>
            <p:cNvSpPr>
              <a:spLocks noChangeShapeType="1"/>
            </p:cNvSpPr>
            <p:nvPr/>
          </p:nvSpPr>
          <p:spPr bwMode="auto">
            <a:xfrm>
              <a:off x="4468" y="3793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90" name="Line 202"/>
            <p:cNvSpPr>
              <a:spLocks noChangeShapeType="1"/>
            </p:cNvSpPr>
            <p:nvPr/>
          </p:nvSpPr>
          <p:spPr bwMode="auto">
            <a:xfrm flipH="1">
              <a:off x="4468" y="3929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91" name="Oval 203"/>
            <p:cNvSpPr>
              <a:spLocks noChangeArrowheads="1"/>
            </p:cNvSpPr>
            <p:nvPr/>
          </p:nvSpPr>
          <p:spPr bwMode="auto">
            <a:xfrm>
              <a:off x="4513" y="3902"/>
              <a:ext cx="45" cy="45"/>
            </a:xfrm>
            <a:prstGeom prst="ellipse">
              <a:avLst/>
            </a:prstGeom>
            <a:solidFill>
              <a:schemeClr val="bg2"/>
            </a:solidFill>
            <a:ln w="38100" algn="ctr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grpSp>
        <p:nvGrpSpPr>
          <p:cNvPr id="319692" name="Group 204"/>
          <p:cNvGrpSpPr>
            <a:grpSpLocks/>
          </p:cNvGrpSpPr>
          <p:nvPr/>
        </p:nvGrpSpPr>
        <p:grpSpPr bwMode="auto">
          <a:xfrm>
            <a:off x="7305675" y="4868863"/>
            <a:ext cx="288925" cy="290512"/>
            <a:chOff x="4468" y="3793"/>
            <a:chExt cx="226" cy="272"/>
          </a:xfrm>
        </p:grpSpPr>
        <p:sp>
          <p:nvSpPr>
            <p:cNvPr id="319693" name="Line 205"/>
            <p:cNvSpPr>
              <a:spLocks noChangeShapeType="1"/>
            </p:cNvSpPr>
            <p:nvPr/>
          </p:nvSpPr>
          <p:spPr bwMode="auto">
            <a:xfrm>
              <a:off x="4468" y="3793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94" name="Line 206"/>
            <p:cNvSpPr>
              <a:spLocks noChangeShapeType="1"/>
            </p:cNvSpPr>
            <p:nvPr/>
          </p:nvSpPr>
          <p:spPr bwMode="auto">
            <a:xfrm flipH="1">
              <a:off x="4468" y="3929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95" name="Oval 207"/>
            <p:cNvSpPr>
              <a:spLocks noChangeArrowheads="1"/>
            </p:cNvSpPr>
            <p:nvPr/>
          </p:nvSpPr>
          <p:spPr bwMode="auto">
            <a:xfrm>
              <a:off x="4513" y="3902"/>
              <a:ext cx="45" cy="45"/>
            </a:xfrm>
            <a:prstGeom prst="ellipse">
              <a:avLst/>
            </a:prstGeom>
            <a:solidFill>
              <a:schemeClr val="bg2"/>
            </a:solidFill>
            <a:ln w="38100" algn="ctr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grpSp>
        <p:nvGrpSpPr>
          <p:cNvPr id="319696" name="Group 208"/>
          <p:cNvGrpSpPr>
            <a:grpSpLocks/>
          </p:cNvGrpSpPr>
          <p:nvPr/>
        </p:nvGrpSpPr>
        <p:grpSpPr bwMode="auto">
          <a:xfrm>
            <a:off x="2697163" y="2922588"/>
            <a:ext cx="288925" cy="290512"/>
            <a:chOff x="4468" y="3793"/>
            <a:chExt cx="226" cy="272"/>
          </a:xfrm>
        </p:grpSpPr>
        <p:sp>
          <p:nvSpPr>
            <p:cNvPr id="319697" name="Line 209"/>
            <p:cNvSpPr>
              <a:spLocks noChangeShapeType="1"/>
            </p:cNvSpPr>
            <p:nvPr/>
          </p:nvSpPr>
          <p:spPr bwMode="auto">
            <a:xfrm>
              <a:off x="4468" y="3793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98" name="Line 210"/>
            <p:cNvSpPr>
              <a:spLocks noChangeShapeType="1"/>
            </p:cNvSpPr>
            <p:nvPr/>
          </p:nvSpPr>
          <p:spPr bwMode="auto">
            <a:xfrm flipH="1">
              <a:off x="4468" y="3929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699" name="Oval 211"/>
            <p:cNvSpPr>
              <a:spLocks noChangeArrowheads="1"/>
            </p:cNvSpPr>
            <p:nvPr/>
          </p:nvSpPr>
          <p:spPr bwMode="auto">
            <a:xfrm>
              <a:off x="4513" y="3902"/>
              <a:ext cx="45" cy="45"/>
            </a:xfrm>
            <a:prstGeom prst="ellipse">
              <a:avLst/>
            </a:prstGeom>
            <a:solidFill>
              <a:schemeClr val="bg2"/>
            </a:solidFill>
            <a:ln w="38100" algn="ctr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grpSp>
        <p:nvGrpSpPr>
          <p:cNvPr id="319700" name="Group 212"/>
          <p:cNvGrpSpPr>
            <a:grpSpLocks/>
          </p:cNvGrpSpPr>
          <p:nvPr/>
        </p:nvGrpSpPr>
        <p:grpSpPr bwMode="auto">
          <a:xfrm>
            <a:off x="3489325" y="2924175"/>
            <a:ext cx="288925" cy="290513"/>
            <a:chOff x="4468" y="3793"/>
            <a:chExt cx="226" cy="272"/>
          </a:xfrm>
        </p:grpSpPr>
        <p:sp>
          <p:nvSpPr>
            <p:cNvPr id="319701" name="Line 213"/>
            <p:cNvSpPr>
              <a:spLocks noChangeShapeType="1"/>
            </p:cNvSpPr>
            <p:nvPr/>
          </p:nvSpPr>
          <p:spPr bwMode="auto">
            <a:xfrm>
              <a:off x="4468" y="3793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702" name="Line 214"/>
            <p:cNvSpPr>
              <a:spLocks noChangeShapeType="1"/>
            </p:cNvSpPr>
            <p:nvPr/>
          </p:nvSpPr>
          <p:spPr bwMode="auto">
            <a:xfrm flipH="1">
              <a:off x="4468" y="3929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703" name="Oval 215"/>
            <p:cNvSpPr>
              <a:spLocks noChangeArrowheads="1"/>
            </p:cNvSpPr>
            <p:nvPr/>
          </p:nvSpPr>
          <p:spPr bwMode="auto">
            <a:xfrm>
              <a:off x="4513" y="3902"/>
              <a:ext cx="45" cy="45"/>
            </a:xfrm>
            <a:prstGeom prst="ellipse">
              <a:avLst/>
            </a:prstGeom>
            <a:solidFill>
              <a:schemeClr val="bg2"/>
            </a:solidFill>
            <a:ln w="38100" algn="ctr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grpSp>
        <p:nvGrpSpPr>
          <p:cNvPr id="319704" name="Group 216"/>
          <p:cNvGrpSpPr>
            <a:grpSpLocks/>
          </p:cNvGrpSpPr>
          <p:nvPr/>
        </p:nvGrpSpPr>
        <p:grpSpPr bwMode="auto">
          <a:xfrm rot="10800000">
            <a:off x="4281488" y="2927350"/>
            <a:ext cx="239712" cy="288925"/>
            <a:chOff x="4468" y="3793"/>
            <a:chExt cx="226" cy="272"/>
          </a:xfrm>
        </p:grpSpPr>
        <p:sp>
          <p:nvSpPr>
            <p:cNvPr id="319705" name="Line 217"/>
            <p:cNvSpPr>
              <a:spLocks noChangeShapeType="1"/>
            </p:cNvSpPr>
            <p:nvPr/>
          </p:nvSpPr>
          <p:spPr bwMode="auto">
            <a:xfrm>
              <a:off x="4468" y="3793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706" name="Line 218"/>
            <p:cNvSpPr>
              <a:spLocks noChangeShapeType="1"/>
            </p:cNvSpPr>
            <p:nvPr/>
          </p:nvSpPr>
          <p:spPr bwMode="auto">
            <a:xfrm flipH="1">
              <a:off x="4468" y="3929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707" name="Oval 219"/>
            <p:cNvSpPr>
              <a:spLocks noChangeArrowheads="1"/>
            </p:cNvSpPr>
            <p:nvPr/>
          </p:nvSpPr>
          <p:spPr bwMode="auto">
            <a:xfrm>
              <a:off x="4513" y="3902"/>
              <a:ext cx="45" cy="45"/>
            </a:xfrm>
            <a:prstGeom prst="ellipse">
              <a:avLst/>
            </a:prstGeom>
            <a:solidFill>
              <a:schemeClr val="bg2"/>
            </a:solidFill>
            <a:ln w="38100" algn="ctr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grpSp>
        <p:nvGrpSpPr>
          <p:cNvPr id="319708" name="Group 220"/>
          <p:cNvGrpSpPr>
            <a:grpSpLocks/>
          </p:cNvGrpSpPr>
          <p:nvPr/>
        </p:nvGrpSpPr>
        <p:grpSpPr bwMode="auto">
          <a:xfrm rot="10800000">
            <a:off x="5049838" y="2927350"/>
            <a:ext cx="239712" cy="288925"/>
            <a:chOff x="4468" y="3793"/>
            <a:chExt cx="226" cy="272"/>
          </a:xfrm>
        </p:grpSpPr>
        <p:sp>
          <p:nvSpPr>
            <p:cNvPr id="319709" name="Line 221"/>
            <p:cNvSpPr>
              <a:spLocks noChangeShapeType="1"/>
            </p:cNvSpPr>
            <p:nvPr/>
          </p:nvSpPr>
          <p:spPr bwMode="auto">
            <a:xfrm>
              <a:off x="4468" y="3793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710" name="Line 222"/>
            <p:cNvSpPr>
              <a:spLocks noChangeShapeType="1"/>
            </p:cNvSpPr>
            <p:nvPr/>
          </p:nvSpPr>
          <p:spPr bwMode="auto">
            <a:xfrm flipH="1">
              <a:off x="4468" y="3929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711" name="Oval 223"/>
            <p:cNvSpPr>
              <a:spLocks noChangeArrowheads="1"/>
            </p:cNvSpPr>
            <p:nvPr/>
          </p:nvSpPr>
          <p:spPr bwMode="auto">
            <a:xfrm>
              <a:off x="4513" y="3902"/>
              <a:ext cx="45" cy="45"/>
            </a:xfrm>
            <a:prstGeom prst="ellipse">
              <a:avLst/>
            </a:prstGeom>
            <a:solidFill>
              <a:schemeClr val="bg2"/>
            </a:solidFill>
            <a:ln w="38100" algn="ctr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grpSp>
        <p:nvGrpSpPr>
          <p:cNvPr id="319712" name="Group 224"/>
          <p:cNvGrpSpPr>
            <a:grpSpLocks/>
          </p:cNvGrpSpPr>
          <p:nvPr/>
        </p:nvGrpSpPr>
        <p:grpSpPr bwMode="auto">
          <a:xfrm rot="10800000">
            <a:off x="5770563" y="2927350"/>
            <a:ext cx="239712" cy="288925"/>
            <a:chOff x="4468" y="3793"/>
            <a:chExt cx="226" cy="272"/>
          </a:xfrm>
        </p:grpSpPr>
        <p:sp>
          <p:nvSpPr>
            <p:cNvPr id="319713" name="Line 225"/>
            <p:cNvSpPr>
              <a:spLocks noChangeShapeType="1"/>
            </p:cNvSpPr>
            <p:nvPr/>
          </p:nvSpPr>
          <p:spPr bwMode="auto">
            <a:xfrm>
              <a:off x="4468" y="3793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714" name="Line 226"/>
            <p:cNvSpPr>
              <a:spLocks noChangeShapeType="1"/>
            </p:cNvSpPr>
            <p:nvPr/>
          </p:nvSpPr>
          <p:spPr bwMode="auto">
            <a:xfrm flipH="1">
              <a:off x="4468" y="3929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715" name="Oval 227"/>
            <p:cNvSpPr>
              <a:spLocks noChangeArrowheads="1"/>
            </p:cNvSpPr>
            <p:nvPr/>
          </p:nvSpPr>
          <p:spPr bwMode="auto">
            <a:xfrm>
              <a:off x="4513" y="3902"/>
              <a:ext cx="45" cy="45"/>
            </a:xfrm>
            <a:prstGeom prst="ellipse">
              <a:avLst/>
            </a:prstGeom>
            <a:solidFill>
              <a:schemeClr val="bg2"/>
            </a:solidFill>
            <a:ln w="38100" algn="ctr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grpSp>
        <p:nvGrpSpPr>
          <p:cNvPr id="319716" name="Group 228"/>
          <p:cNvGrpSpPr>
            <a:grpSpLocks/>
          </p:cNvGrpSpPr>
          <p:nvPr/>
        </p:nvGrpSpPr>
        <p:grpSpPr bwMode="auto">
          <a:xfrm>
            <a:off x="6513513" y="2927350"/>
            <a:ext cx="288925" cy="290513"/>
            <a:chOff x="4468" y="3793"/>
            <a:chExt cx="226" cy="272"/>
          </a:xfrm>
        </p:grpSpPr>
        <p:sp>
          <p:nvSpPr>
            <p:cNvPr id="319717" name="Line 229"/>
            <p:cNvSpPr>
              <a:spLocks noChangeShapeType="1"/>
            </p:cNvSpPr>
            <p:nvPr/>
          </p:nvSpPr>
          <p:spPr bwMode="auto">
            <a:xfrm>
              <a:off x="4468" y="3793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718" name="Line 230"/>
            <p:cNvSpPr>
              <a:spLocks noChangeShapeType="1"/>
            </p:cNvSpPr>
            <p:nvPr/>
          </p:nvSpPr>
          <p:spPr bwMode="auto">
            <a:xfrm flipH="1">
              <a:off x="4468" y="3929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719" name="Oval 231"/>
            <p:cNvSpPr>
              <a:spLocks noChangeArrowheads="1"/>
            </p:cNvSpPr>
            <p:nvPr/>
          </p:nvSpPr>
          <p:spPr bwMode="auto">
            <a:xfrm>
              <a:off x="4513" y="3902"/>
              <a:ext cx="45" cy="45"/>
            </a:xfrm>
            <a:prstGeom prst="ellipse">
              <a:avLst/>
            </a:prstGeom>
            <a:solidFill>
              <a:schemeClr val="bg2"/>
            </a:solidFill>
            <a:ln w="38100" algn="ctr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grpSp>
        <p:nvGrpSpPr>
          <p:cNvPr id="319720" name="Group 232"/>
          <p:cNvGrpSpPr>
            <a:grpSpLocks/>
          </p:cNvGrpSpPr>
          <p:nvPr/>
        </p:nvGrpSpPr>
        <p:grpSpPr bwMode="auto">
          <a:xfrm>
            <a:off x="7305675" y="2927350"/>
            <a:ext cx="288925" cy="290513"/>
            <a:chOff x="4468" y="3793"/>
            <a:chExt cx="226" cy="272"/>
          </a:xfrm>
        </p:grpSpPr>
        <p:sp>
          <p:nvSpPr>
            <p:cNvPr id="319721" name="Line 233"/>
            <p:cNvSpPr>
              <a:spLocks noChangeShapeType="1"/>
            </p:cNvSpPr>
            <p:nvPr/>
          </p:nvSpPr>
          <p:spPr bwMode="auto">
            <a:xfrm>
              <a:off x="4468" y="3793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722" name="Line 234"/>
            <p:cNvSpPr>
              <a:spLocks noChangeShapeType="1"/>
            </p:cNvSpPr>
            <p:nvPr/>
          </p:nvSpPr>
          <p:spPr bwMode="auto">
            <a:xfrm flipH="1">
              <a:off x="4468" y="3929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723" name="Oval 235"/>
            <p:cNvSpPr>
              <a:spLocks noChangeArrowheads="1"/>
            </p:cNvSpPr>
            <p:nvPr/>
          </p:nvSpPr>
          <p:spPr bwMode="auto">
            <a:xfrm>
              <a:off x="4513" y="3902"/>
              <a:ext cx="45" cy="45"/>
            </a:xfrm>
            <a:prstGeom prst="ellipse">
              <a:avLst/>
            </a:prstGeom>
            <a:solidFill>
              <a:schemeClr val="bg2"/>
            </a:solidFill>
            <a:ln w="38100" algn="ctr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grpSp>
        <p:nvGrpSpPr>
          <p:cNvPr id="319724" name="Group 236"/>
          <p:cNvGrpSpPr>
            <a:grpSpLocks/>
          </p:cNvGrpSpPr>
          <p:nvPr/>
        </p:nvGrpSpPr>
        <p:grpSpPr bwMode="auto">
          <a:xfrm rot="10800000">
            <a:off x="4210050" y="1630363"/>
            <a:ext cx="239713" cy="288925"/>
            <a:chOff x="4468" y="3793"/>
            <a:chExt cx="226" cy="272"/>
          </a:xfrm>
        </p:grpSpPr>
        <p:sp>
          <p:nvSpPr>
            <p:cNvPr id="319725" name="Line 237"/>
            <p:cNvSpPr>
              <a:spLocks noChangeShapeType="1"/>
            </p:cNvSpPr>
            <p:nvPr/>
          </p:nvSpPr>
          <p:spPr bwMode="auto">
            <a:xfrm>
              <a:off x="4468" y="3793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726" name="Line 238"/>
            <p:cNvSpPr>
              <a:spLocks noChangeShapeType="1"/>
            </p:cNvSpPr>
            <p:nvPr/>
          </p:nvSpPr>
          <p:spPr bwMode="auto">
            <a:xfrm flipH="1">
              <a:off x="4468" y="3929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727" name="Oval 239"/>
            <p:cNvSpPr>
              <a:spLocks noChangeArrowheads="1"/>
            </p:cNvSpPr>
            <p:nvPr/>
          </p:nvSpPr>
          <p:spPr bwMode="auto">
            <a:xfrm>
              <a:off x="4513" y="3902"/>
              <a:ext cx="45" cy="45"/>
            </a:xfrm>
            <a:prstGeom prst="ellipse">
              <a:avLst/>
            </a:prstGeom>
            <a:solidFill>
              <a:schemeClr val="bg2"/>
            </a:solidFill>
            <a:ln w="38100" algn="ctr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grpSp>
        <p:nvGrpSpPr>
          <p:cNvPr id="319728" name="Group 240"/>
          <p:cNvGrpSpPr>
            <a:grpSpLocks/>
          </p:cNvGrpSpPr>
          <p:nvPr/>
        </p:nvGrpSpPr>
        <p:grpSpPr bwMode="auto">
          <a:xfrm rot="10800000">
            <a:off x="4233863" y="2278063"/>
            <a:ext cx="239712" cy="288925"/>
            <a:chOff x="4468" y="3793"/>
            <a:chExt cx="226" cy="272"/>
          </a:xfrm>
        </p:grpSpPr>
        <p:sp>
          <p:nvSpPr>
            <p:cNvPr id="319729" name="Line 241"/>
            <p:cNvSpPr>
              <a:spLocks noChangeShapeType="1"/>
            </p:cNvSpPr>
            <p:nvPr/>
          </p:nvSpPr>
          <p:spPr bwMode="auto">
            <a:xfrm>
              <a:off x="4468" y="3793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730" name="Line 242"/>
            <p:cNvSpPr>
              <a:spLocks noChangeShapeType="1"/>
            </p:cNvSpPr>
            <p:nvPr/>
          </p:nvSpPr>
          <p:spPr bwMode="auto">
            <a:xfrm flipH="1">
              <a:off x="4468" y="3929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731" name="Oval 243"/>
            <p:cNvSpPr>
              <a:spLocks noChangeArrowheads="1"/>
            </p:cNvSpPr>
            <p:nvPr/>
          </p:nvSpPr>
          <p:spPr bwMode="auto">
            <a:xfrm>
              <a:off x="4513" y="3902"/>
              <a:ext cx="45" cy="45"/>
            </a:xfrm>
            <a:prstGeom prst="ellipse">
              <a:avLst/>
            </a:prstGeom>
            <a:solidFill>
              <a:schemeClr val="bg2"/>
            </a:solidFill>
            <a:ln w="38100" algn="ctr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grpSp>
        <p:nvGrpSpPr>
          <p:cNvPr id="319732" name="Group 244"/>
          <p:cNvGrpSpPr>
            <a:grpSpLocks/>
          </p:cNvGrpSpPr>
          <p:nvPr/>
        </p:nvGrpSpPr>
        <p:grpSpPr bwMode="auto">
          <a:xfrm rot="10800000">
            <a:off x="4184650" y="5594350"/>
            <a:ext cx="239713" cy="288925"/>
            <a:chOff x="4468" y="3793"/>
            <a:chExt cx="226" cy="272"/>
          </a:xfrm>
        </p:grpSpPr>
        <p:sp>
          <p:nvSpPr>
            <p:cNvPr id="319733" name="Line 245"/>
            <p:cNvSpPr>
              <a:spLocks noChangeShapeType="1"/>
            </p:cNvSpPr>
            <p:nvPr/>
          </p:nvSpPr>
          <p:spPr bwMode="auto">
            <a:xfrm>
              <a:off x="4468" y="3793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734" name="Line 246"/>
            <p:cNvSpPr>
              <a:spLocks noChangeShapeType="1"/>
            </p:cNvSpPr>
            <p:nvPr/>
          </p:nvSpPr>
          <p:spPr bwMode="auto">
            <a:xfrm flipH="1">
              <a:off x="4468" y="3929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735" name="Oval 247"/>
            <p:cNvSpPr>
              <a:spLocks noChangeArrowheads="1"/>
            </p:cNvSpPr>
            <p:nvPr/>
          </p:nvSpPr>
          <p:spPr bwMode="auto">
            <a:xfrm>
              <a:off x="4513" y="3902"/>
              <a:ext cx="45" cy="45"/>
            </a:xfrm>
            <a:prstGeom prst="ellipse">
              <a:avLst/>
            </a:prstGeom>
            <a:solidFill>
              <a:schemeClr val="bg2"/>
            </a:solidFill>
            <a:ln w="38100" algn="ctr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grpSp>
        <p:nvGrpSpPr>
          <p:cNvPr id="319736" name="Group 248"/>
          <p:cNvGrpSpPr>
            <a:grpSpLocks/>
          </p:cNvGrpSpPr>
          <p:nvPr/>
        </p:nvGrpSpPr>
        <p:grpSpPr bwMode="auto">
          <a:xfrm>
            <a:off x="4208463" y="3575050"/>
            <a:ext cx="288925" cy="290513"/>
            <a:chOff x="4468" y="3793"/>
            <a:chExt cx="226" cy="272"/>
          </a:xfrm>
        </p:grpSpPr>
        <p:sp>
          <p:nvSpPr>
            <p:cNvPr id="319737" name="Line 249"/>
            <p:cNvSpPr>
              <a:spLocks noChangeShapeType="1"/>
            </p:cNvSpPr>
            <p:nvPr/>
          </p:nvSpPr>
          <p:spPr bwMode="auto">
            <a:xfrm>
              <a:off x="4468" y="3793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738" name="Line 250"/>
            <p:cNvSpPr>
              <a:spLocks noChangeShapeType="1"/>
            </p:cNvSpPr>
            <p:nvPr/>
          </p:nvSpPr>
          <p:spPr bwMode="auto">
            <a:xfrm flipH="1">
              <a:off x="4468" y="3929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739" name="Oval 251"/>
            <p:cNvSpPr>
              <a:spLocks noChangeArrowheads="1"/>
            </p:cNvSpPr>
            <p:nvPr/>
          </p:nvSpPr>
          <p:spPr bwMode="auto">
            <a:xfrm>
              <a:off x="4513" y="3902"/>
              <a:ext cx="45" cy="45"/>
            </a:xfrm>
            <a:prstGeom prst="ellipse">
              <a:avLst/>
            </a:prstGeom>
            <a:solidFill>
              <a:schemeClr val="bg2"/>
            </a:solidFill>
            <a:ln w="38100" algn="ctr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grpSp>
        <p:nvGrpSpPr>
          <p:cNvPr id="319740" name="Group 252"/>
          <p:cNvGrpSpPr>
            <a:grpSpLocks/>
          </p:cNvGrpSpPr>
          <p:nvPr/>
        </p:nvGrpSpPr>
        <p:grpSpPr bwMode="auto">
          <a:xfrm rot="10800000">
            <a:off x="4208463" y="4225925"/>
            <a:ext cx="239712" cy="288925"/>
            <a:chOff x="4468" y="3793"/>
            <a:chExt cx="226" cy="272"/>
          </a:xfrm>
        </p:grpSpPr>
        <p:sp>
          <p:nvSpPr>
            <p:cNvPr id="319741" name="Line 253"/>
            <p:cNvSpPr>
              <a:spLocks noChangeShapeType="1"/>
            </p:cNvSpPr>
            <p:nvPr/>
          </p:nvSpPr>
          <p:spPr bwMode="auto">
            <a:xfrm>
              <a:off x="4468" y="3793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742" name="Line 254"/>
            <p:cNvSpPr>
              <a:spLocks noChangeShapeType="1"/>
            </p:cNvSpPr>
            <p:nvPr/>
          </p:nvSpPr>
          <p:spPr bwMode="auto">
            <a:xfrm flipH="1">
              <a:off x="4468" y="3929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743" name="Oval 255"/>
            <p:cNvSpPr>
              <a:spLocks noChangeArrowheads="1"/>
            </p:cNvSpPr>
            <p:nvPr/>
          </p:nvSpPr>
          <p:spPr bwMode="auto">
            <a:xfrm>
              <a:off x="4513" y="3902"/>
              <a:ext cx="45" cy="45"/>
            </a:xfrm>
            <a:prstGeom prst="ellipse">
              <a:avLst/>
            </a:prstGeom>
            <a:solidFill>
              <a:schemeClr val="bg2"/>
            </a:solidFill>
            <a:ln w="38100" algn="ctr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grpSp>
        <p:nvGrpSpPr>
          <p:cNvPr id="319744" name="Group 256"/>
          <p:cNvGrpSpPr>
            <a:grpSpLocks/>
          </p:cNvGrpSpPr>
          <p:nvPr/>
        </p:nvGrpSpPr>
        <p:grpSpPr bwMode="auto">
          <a:xfrm>
            <a:off x="4208463" y="4873625"/>
            <a:ext cx="288925" cy="290513"/>
            <a:chOff x="4468" y="3793"/>
            <a:chExt cx="226" cy="272"/>
          </a:xfrm>
        </p:grpSpPr>
        <p:sp>
          <p:nvSpPr>
            <p:cNvPr id="319745" name="Line 257"/>
            <p:cNvSpPr>
              <a:spLocks noChangeShapeType="1"/>
            </p:cNvSpPr>
            <p:nvPr/>
          </p:nvSpPr>
          <p:spPr bwMode="auto">
            <a:xfrm>
              <a:off x="4468" y="3793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746" name="Line 258"/>
            <p:cNvSpPr>
              <a:spLocks noChangeShapeType="1"/>
            </p:cNvSpPr>
            <p:nvPr/>
          </p:nvSpPr>
          <p:spPr bwMode="auto">
            <a:xfrm flipH="1">
              <a:off x="4468" y="3929"/>
              <a:ext cx="226" cy="136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19747" name="Oval 259"/>
            <p:cNvSpPr>
              <a:spLocks noChangeArrowheads="1"/>
            </p:cNvSpPr>
            <p:nvPr/>
          </p:nvSpPr>
          <p:spPr bwMode="auto">
            <a:xfrm>
              <a:off x="4513" y="3902"/>
              <a:ext cx="45" cy="45"/>
            </a:xfrm>
            <a:prstGeom prst="ellipse">
              <a:avLst/>
            </a:prstGeom>
            <a:solidFill>
              <a:schemeClr val="bg2"/>
            </a:solidFill>
            <a:ln w="38100" algn="ctr">
              <a:solidFill>
                <a:schemeClr val="bg2"/>
              </a:solidFill>
              <a:round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5204666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四、算符优先分析法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算符优先分析算法性质</a:t>
                </a:r>
                <a:endParaRPr lang="en-US" altLang="zh-CN" sz="3200" b="1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  <a:p>
                <a:r>
                  <a:rPr lang="zh-CN" altLang="en-US" sz="2800" dirty="0">
                    <a:latin typeface="Times New Roman" panose="02020603050405020304" pitchFamily="18" charset="0"/>
                  </a:rPr>
                  <a:t>算符文法的任一句型有如下形式：</a:t>
                </a:r>
                <a:br>
                  <a:rPr lang="zh-CN" altLang="en-US" sz="2800" dirty="0">
                    <a:latin typeface="Times New Roman" panose="02020603050405020304" pitchFamily="18" charset="0"/>
                  </a:rPr>
                </a:br>
                <a:r>
                  <a:rPr lang="en-US" altLang="zh-CN" sz="2800" dirty="0">
                    <a:latin typeface="Times New Roman" panose="02020603050405020304" pitchFamily="18" charset="0"/>
                  </a:rPr>
                  <a:t>#N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2800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2800" dirty="0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2800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2800" dirty="0">
                    <a:latin typeface="Times New Roman" panose="02020603050405020304" pitchFamily="18" charset="0"/>
                  </a:rPr>
                  <a:t>......N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800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800" dirty="0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</a:rPr>
                  <a:t>n+1</a:t>
                </a:r>
                <a:r>
                  <a:rPr lang="en-US" altLang="zh-CN" sz="2800" dirty="0">
                    <a:latin typeface="Times New Roman" panose="02020603050405020304" pitchFamily="18" charset="0"/>
                  </a:rPr>
                  <a:t>#</a:t>
                </a:r>
                <a:r>
                  <a:rPr lang="zh-CN" altLang="en-US" sz="2800" dirty="0">
                    <a:latin typeface="Times New Roman" panose="02020603050405020304" pitchFamily="18" charset="0"/>
                  </a:rPr>
                  <a:t>，</a:t>
                </a:r>
                <a:r>
                  <a:rPr lang="en-US" altLang="zh-CN" sz="2800" dirty="0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800" dirty="0" err="1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800" baseline="-25000" dirty="0" err="1">
                    <a:latin typeface="Times New Roman" panose="02020603050405020304" pitchFamily="18" charset="0"/>
                  </a:rPr>
                  <a:t>i</a:t>
                </a:r>
                <a:r>
                  <a:rPr lang="en-US" altLang="zh-CN" dirty="0" err="1">
                    <a:latin typeface="Times New Roman" panose="02020603050405020304" pitchFamily="18" charset="0"/>
                    <a:ea typeface="仿宋_GB2312" pitchFamily="49" charset="-122"/>
                  </a:rPr>
                  <a:t>∈V</a:t>
                </a:r>
                <a:r>
                  <a:rPr lang="en-US" altLang="zh-CN" baseline="-25000" dirty="0" err="1">
                    <a:latin typeface="Times New Roman" panose="02020603050405020304" pitchFamily="18" charset="0"/>
                    <a:ea typeface="仿宋_GB2312" pitchFamily="49" charset="-122"/>
                  </a:rPr>
                  <a:t>N</a:t>
                </a:r>
                <a:r>
                  <a:rPr lang="en-US" altLang="zh-CN" sz="2800" dirty="0">
                    <a:latin typeface="Times New Roman" panose="02020603050405020304" pitchFamily="18" charset="0"/>
                  </a:rPr>
                  <a:t>|</a:t>
                </a:r>
                <a:r>
                  <a:rPr lang="zh-CN" altLang="en-US" sz="2800" dirty="0">
                    <a:latin typeface="Times New Roman" panose="02020603050405020304" pitchFamily="18" charset="0"/>
                  </a:rPr>
                  <a:t>空</a:t>
                </a:r>
                <a:r>
                  <a:rPr lang="en-US" altLang="zh-CN" sz="2800" dirty="0">
                    <a:latin typeface="Times New Roman" panose="02020603050405020304" pitchFamily="18" charset="0"/>
                  </a:rPr>
                  <a:t>, </a:t>
                </a:r>
                <a:r>
                  <a:rPr lang="en-US" altLang="zh-CN" sz="2800" dirty="0" err="1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800" baseline="-25000" dirty="0" err="1">
                    <a:latin typeface="Times New Roman" panose="02020603050405020304" pitchFamily="18" charset="0"/>
                  </a:rPr>
                  <a:t>i</a:t>
                </a:r>
                <a:r>
                  <a:rPr lang="en-US" altLang="zh-CN" dirty="0" err="1">
                    <a:latin typeface="Times New Roman" panose="02020603050405020304" pitchFamily="18" charset="0"/>
                    <a:ea typeface="仿宋_GB2312" pitchFamily="49" charset="-122"/>
                  </a:rPr>
                  <a:t>∈V</a:t>
                </a:r>
                <a:r>
                  <a:rPr lang="en-US" altLang="zh-CN" baseline="-25000" dirty="0" err="1">
                    <a:latin typeface="Times New Roman" panose="02020603050405020304" pitchFamily="18" charset="0"/>
                    <a:ea typeface="仿宋_GB2312" pitchFamily="49" charset="-122"/>
                  </a:rPr>
                  <a:t>T</a:t>
                </a:r>
                <a:r>
                  <a:rPr lang="en-US" altLang="zh-CN" sz="2800" dirty="0">
                    <a:latin typeface="Times New Roman" panose="02020603050405020304" pitchFamily="18" charset="0"/>
                  </a:rPr>
                  <a:t>), </a:t>
                </a:r>
                <a:r>
                  <a:rPr lang="zh-CN" altLang="en-US" sz="2800" dirty="0">
                    <a:latin typeface="Times New Roman" panose="02020603050405020304" pitchFamily="18" charset="0"/>
                  </a:rPr>
                  <a:t>若</a:t>
                </a:r>
                <a:r>
                  <a:rPr lang="en-US" altLang="zh-CN" sz="2800" dirty="0" err="1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800" baseline="-25000" dirty="0" err="1">
                    <a:latin typeface="Times New Roman" panose="02020603050405020304" pitchFamily="18" charset="0"/>
                  </a:rPr>
                  <a:t>i</a:t>
                </a:r>
                <a:r>
                  <a:rPr lang="en-US" altLang="zh-CN" sz="2800" dirty="0">
                    <a:latin typeface="Times New Roman" panose="02020603050405020304" pitchFamily="18" charset="0"/>
                  </a:rPr>
                  <a:t>......N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</a:rPr>
                  <a:t>j</a:t>
                </a:r>
                <a:r>
                  <a:rPr lang="en-US" altLang="zh-CN" sz="2800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</a:rPr>
                  <a:t>j</a:t>
                </a:r>
                <a:r>
                  <a:rPr lang="en-US" altLang="zh-CN" sz="2800" dirty="0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</a:rPr>
                  <a:t>j+1</a:t>
                </a:r>
                <a:r>
                  <a:rPr lang="zh-CN" altLang="en-US" sz="2800" dirty="0">
                    <a:latin typeface="Times New Roman" panose="02020603050405020304" pitchFamily="18" charset="0"/>
                  </a:rPr>
                  <a:t>为句柄。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  <a:p>
                <a:pPr lvl="1"/>
                <a:r>
                  <a:rPr lang="zh-CN" altLang="en-US" dirty="0">
                    <a:latin typeface="Times New Roman" panose="02020603050405020304" pitchFamily="18" charset="0"/>
                  </a:rPr>
                  <a:t>则有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baseline="-25000" dirty="0">
                    <a:latin typeface="Times New Roman" panose="02020603050405020304" pitchFamily="18" charset="0"/>
                  </a:rPr>
                  <a:t>i-1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/>
                        <a:ea typeface="Cambria Math"/>
                      </a:rPr>
                      <m:t>⋖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baseline="-25000" dirty="0">
                    <a:latin typeface="Times New Roman" panose="02020603050405020304" pitchFamily="18" charset="0"/>
                  </a:rPr>
                  <a:t>i</a:t>
                </a:r>
              </a:p>
              <a:p>
                <a:pPr lvl="1"/>
                <a:r>
                  <a:rPr lang="en-US" altLang="zh-CN" dirty="0" err="1">
                    <a:latin typeface="Times New Roman" panose="02020603050405020304" pitchFamily="18" charset="0"/>
                  </a:rPr>
                  <a:t>a</a:t>
                </a:r>
                <a:r>
                  <a:rPr lang="en-US" altLang="zh-CN" baseline="-25000" dirty="0" err="1">
                    <a:latin typeface="Times New Roman" panose="02020603050405020304" pitchFamily="18" charset="0"/>
                  </a:rPr>
                  <a:t>i</a:t>
                </a:r>
                <a:r>
                  <a:rPr lang="en-US" altLang="zh-CN" dirty="0">
                    <a:latin typeface="Times New Roman" panose="02020603050405020304" pitchFamily="18" charset="0"/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  <a:ea typeface="Cambria Math"/>
                      </a:rPr>
                      <m:t>≖ 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baseline="-25000" dirty="0">
                    <a:latin typeface="Times New Roman" panose="02020603050405020304" pitchFamily="18" charset="0"/>
                  </a:rPr>
                  <a:t>i+1</a:t>
                </a:r>
                <a:r>
                  <a:rPr lang="en-US" altLang="zh-CN" dirty="0">
                    <a:latin typeface="Times New Roman" panose="02020603050405020304" pitchFamily="18" charset="0"/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  <a:ea typeface="Cambria Math"/>
                      </a:rPr>
                      <m:t>≖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</a:rPr>
                  <a:t>...</a:t>
                </a:r>
                <a:r>
                  <a:rPr lang="en-US" altLang="zh-CN" dirty="0">
                    <a:latin typeface="Times New Roman" panose="02020603050405020304" pitchFamily="18" charset="0"/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  <a:ea typeface="Cambria Math"/>
                      </a:rPr>
                      <m:t>≖ 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baseline="-25000" dirty="0">
                    <a:latin typeface="Times New Roman" panose="02020603050405020304" pitchFamily="18" charset="0"/>
                  </a:rPr>
                  <a:t>j-1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  <a:ea typeface="Cambria Math"/>
                      </a:rPr>
                      <m:t>≖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</a:rPr>
                  <a:t> a</a:t>
                </a:r>
                <a:r>
                  <a:rPr lang="en-US" altLang="zh-CN" baseline="-25000" dirty="0">
                    <a:latin typeface="Times New Roman" panose="02020603050405020304" pitchFamily="18" charset="0"/>
                  </a:rPr>
                  <a:t>j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  <a:p>
                <a:pPr lvl="1"/>
                <a:r>
                  <a:rPr lang="en-US" altLang="zh-CN" dirty="0" err="1">
                    <a:latin typeface="Times New Roman" panose="02020603050405020304" pitchFamily="18" charset="0"/>
                  </a:rPr>
                  <a:t>a</a:t>
                </a:r>
                <a:r>
                  <a:rPr lang="en-US" altLang="zh-CN" baseline="-25000" dirty="0" err="1">
                    <a:latin typeface="Times New Roman" panose="02020603050405020304" pitchFamily="18" charset="0"/>
                  </a:rPr>
                  <a:t>j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/>
                        <a:ea typeface="Cambria Math"/>
                      </a:rPr>
                      <m:t>⋗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</a:rPr>
                  <a:t> a</a:t>
                </a:r>
                <a:r>
                  <a:rPr lang="en-US" altLang="zh-CN" baseline="-25000" dirty="0">
                    <a:latin typeface="Times New Roman" panose="02020603050405020304" pitchFamily="18" charset="0"/>
                  </a:rPr>
                  <a:t>j+1</a:t>
                </a:r>
              </a:p>
              <a:p>
                <a:r>
                  <a:rPr lang="zh-CN" altLang="en-US" sz="2800" dirty="0">
                    <a:latin typeface="Times New Roman" panose="02020603050405020304" pitchFamily="18" charset="0"/>
                  </a:rPr>
                  <a:t>如果</a:t>
                </a:r>
                <a:r>
                  <a:rPr lang="en-US" altLang="zh-CN" sz="2800" dirty="0" err="1">
                    <a:latin typeface="Times New Roman" panose="02020603050405020304" pitchFamily="18" charset="0"/>
                  </a:rPr>
                  <a:t>aNb</a:t>
                </a:r>
                <a:r>
                  <a:rPr lang="en-US" altLang="zh-CN" sz="2800" dirty="0">
                    <a:latin typeface="Times New Roman" panose="02020603050405020304" pitchFamily="18" charset="0"/>
                  </a:rPr>
                  <a:t>(</a:t>
                </a:r>
                <a:r>
                  <a:rPr lang="zh-CN" altLang="en-US" sz="2800" dirty="0">
                    <a:latin typeface="Times New Roman" panose="02020603050405020304" pitchFamily="18" charset="0"/>
                  </a:rPr>
                  <a:t>或</a:t>
                </a:r>
                <a:r>
                  <a:rPr lang="en-US" altLang="zh-CN" sz="2800" dirty="0">
                    <a:latin typeface="Times New Roman" panose="02020603050405020304" pitchFamily="18" charset="0"/>
                  </a:rPr>
                  <a:t>ab)</a:t>
                </a:r>
                <a:r>
                  <a:rPr lang="zh-CN" altLang="en-US" sz="2800" dirty="0">
                    <a:latin typeface="Times New Roman" panose="02020603050405020304" pitchFamily="18" charset="0"/>
                  </a:rPr>
                  <a:t>出现在句型</a:t>
                </a:r>
                <a14:m>
                  <m:oMath xmlns:m="http://schemas.openxmlformats.org/officeDocument/2006/math">
                    <m:r>
                      <a:rPr lang="zh-CN" altLang="en-US" sz="2800" i="1" dirty="0" smtClean="0">
                        <a:latin typeface="Cambria Math"/>
                      </a:rPr>
                      <m:t>𝛾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</a:rPr>
                  <a:t>中</a:t>
                </a:r>
              </a:p>
              <a:p>
                <a:pPr lvl="1"/>
                <a:r>
                  <a:rPr lang="zh-CN" altLang="en-US" sz="2400" dirty="0">
                    <a:latin typeface="Times New Roman" panose="02020603050405020304" pitchFamily="18" charset="0"/>
                  </a:rPr>
                  <a:t>若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/>
                        <a:ea typeface="Cambria Math"/>
                      </a:rPr>
                      <m:t>⋖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</a:rPr>
                  <a:t>b</a:t>
                </a:r>
                <a:r>
                  <a:rPr lang="zh-CN" altLang="en-US" sz="2400" dirty="0">
                    <a:latin typeface="Times New Roman" panose="02020603050405020304" pitchFamily="18" charset="0"/>
                  </a:rPr>
                  <a:t>，则在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latin typeface="Cambria Math"/>
                      </a:rPr>
                      <m:t>𝛾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</a:rPr>
                  <a:t>中必含有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b</a:t>
                </a:r>
                <a:r>
                  <a:rPr lang="zh-CN" altLang="en-US" sz="2400" dirty="0">
                    <a:latin typeface="Times New Roman" panose="02020603050405020304" pitchFamily="18" charset="0"/>
                  </a:rPr>
                  <a:t>而不含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a</a:t>
                </a:r>
                <a:r>
                  <a:rPr lang="zh-CN" altLang="en-US" sz="2400" dirty="0">
                    <a:latin typeface="Times New Roman" panose="02020603050405020304" pitchFamily="18" charset="0"/>
                  </a:rPr>
                  <a:t>的短语存在。</a:t>
                </a:r>
              </a:p>
              <a:p>
                <a:pPr lvl="1"/>
                <a:r>
                  <a:rPr lang="zh-CN" altLang="en-US" sz="2400" dirty="0">
                    <a:latin typeface="Times New Roman" panose="02020603050405020304" pitchFamily="18" charset="0"/>
                  </a:rPr>
                  <a:t>若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/>
                        <a:ea typeface="Cambria Math"/>
                      </a:rPr>
                      <m:t>⋗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</a:rPr>
                  <a:t>b</a:t>
                </a:r>
                <a:r>
                  <a:rPr lang="zh-CN" altLang="en-US" sz="2400" dirty="0">
                    <a:latin typeface="Times New Roman" panose="02020603050405020304" pitchFamily="18" charset="0"/>
                  </a:rPr>
                  <a:t>，则在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latin typeface="Cambria Math"/>
                      </a:rPr>
                      <m:t>𝛾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</a:rPr>
                  <a:t>中必含有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a</a:t>
                </a:r>
                <a:r>
                  <a:rPr lang="zh-CN" altLang="en-US" sz="2400" dirty="0">
                    <a:latin typeface="Times New Roman" panose="02020603050405020304" pitchFamily="18" charset="0"/>
                  </a:rPr>
                  <a:t>而不含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b</a:t>
                </a:r>
                <a:r>
                  <a:rPr lang="zh-CN" altLang="en-US" sz="2400" dirty="0">
                    <a:latin typeface="Times New Roman" panose="02020603050405020304" pitchFamily="18" charset="0"/>
                  </a:rPr>
                  <a:t>的短语存在。</a:t>
                </a:r>
              </a:p>
              <a:p>
                <a:pPr lvl="1"/>
                <a:r>
                  <a:rPr lang="zh-CN" altLang="en-US" sz="2400" dirty="0">
                    <a:latin typeface="Times New Roman" panose="02020603050405020304" pitchFamily="18" charset="0"/>
                  </a:rPr>
                  <a:t>若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/>
                        <a:ea typeface="Cambria Math"/>
                      </a:rPr>
                      <m:t>≖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</a:rPr>
                  <a:t>b</a:t>
                </a:r>
                <a:r>
                  <a:rPr lang="zh-CN" altLang="en-US" sz="2400" dirty="0">
                    <a:latin typeface="Times New Roman" panose="02020603050405020304" pitchFamily="18" charset="0"/>
                  </a:rPr>
                  <a:t>，则在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latin typeface="Cambria Math"/>
                      </a:rPr>
                      <m:t>𝛾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</a:rPr>
                  <a:t>中含有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a</a:t>
                </a:r>
                <a:r>
                  <a:rPr lang="zh-CN" altLang="en-US" sz="2400" dirty="0">
                    <a:latin typeface="Times New Roman" panose="02020603050405020304" pitchFamily="18" charset="0"/>
                  </a:rPr>
                  <a:t>的短语必含有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b</a:t>
                </a:r>
                <a:r>
                  <a:rPr lang="zh-CN" altLang="en-US" sz="2400" dirty="0">
                    <a:latin typeface="Times New Roman" panose="02020603050405020304" pitchFamily="18" charset="0"/>
                  </a:rPr>
                  <a:t>，反之亦然。</a:t>
                </a:r>
              </a:p>
              <a:p>
                <a:pPr lvl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026" b="-10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75228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四、算符优先分析法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4" name="Group 2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8623457"/>
              </p:ext>
            </p:extLst>
          </p:nvPr>
        </p:nvGraphicFramePr>
        <p:xfrm>
          <a:off x="971555" y="2157408"/>
          <a:ext cx="7704138" cy="4872037"/>
        </p:xfrm>
        <a:graphic>
          <a:graphicData uri="http://schemas.openxmlformats.org/drawingml/2006/table">
            <a:tbl>
              <a:tblPr/>
              <a:tblGrid>
                <a:gridCol w="1519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2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76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步骤</a:t>
                      </a:r>
                      <a:endParaRPr kumimoji="1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分析栈</a:t>
                      </a:r>
                      <a:endParaRPr kumimoji="1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剩余输入串</a:t>
                      </a:r>
                      <a:endParaRPr kumimoji="1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动作</a:t>
                      </a:r>
                      <a:endParaRPr kumimoji="1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43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7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8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9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10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11</a:t>
                      </a:r>
                    </a:p>
                    <a:p>
                      <a:pPr marL="0" marR="0" lvl="0" indent="0" algn="ctr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12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#                         </a:t>
                      </a:r>
                      <a:r>
                        <a:rPr lang="en-US" altLang="zh-CN" sz="1800" b="1" dirty="0"/>
                        <a:t>&lt;</a:t>
                      </a:r>
                      <a:endParaRPr kumimoji="1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#</a:t>
                      </a: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i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                       </a:t>
                      </a:r>
                      <a:r>
                        <a:rPr lang="en-US" altLang="zh-CN" sz="1800" b="1" dirty="0"/>
                        <a:t>&gt;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#P                       </a:t>
                      </a:r>
                      <a:r>
                        <a:rPr lang="en-US" altLang="zh-CN" sz="1800" b="1" dirty="0"/>
                        <a:t>&gt;</a:t>
                      </a:r>
                      <a:endParaRPr kumimoji="1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#F                       </a:t>
                      </a:r>
                      <a:r>
                        <a:rPr lang="en-US" altLang="zh-CN" sz="1800" b="1" dirty="0"/>
                        <a:t>&gt;</a:t>
                      </a:r>
                      <a:endParaRPr kumimoji="1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#T                       </a:t>
                      </a:r>
                      <a:r>
                        <a:rPr lang="en-US" altLang="zh-CN" sz="1800" b="1" dirty="0"/>
                        <a:t>&gt;</a:t>
                      </a:r>
                      <a:endParaRPr kumimoji="1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#E                       </a:t>
                      </a:r>
                      <a:r>
                        <a:rPr lang="en-US" altLang="zh-CN" sz="1800" b="1" dirty="0"/>
                        <a:t>=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#E+                    </a:t>
                      </a:r>
                      <a:r>
                        <a:rPr lang="en-US" altLang="zh-CN" sz="1800" b="1" dirty="0"/>
                        <a:t>&lt;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#</a:t>
                      </a: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E+i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                  </a:t>
                      </a:r>
                      <a:r>
                        <a:rPr lang="en-US" altLang="zh-CN" sz="1800" b="1" dirty="0"/>
                        <a:t>&gt;</a:t>
                      </a:r>
                      <a:r>
                        <a:rPr lang="en-US" altLang="zh-CN" sz="1800" dirty="0"/>
                        <a:t> </a:t>
                      </a:r>
                      <a:endParaRPr kumimoji="1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#E+P                  </a:t>
                      </a:r>
                      <a:r>
                        <a:rPr lang="en-US" altLang="zh-CN" sz="1800" b="1" dirty="0"/>
                        <a:t>&gt;</a:t>
                      </a:r>
                      <a:endParaRPr kumimoji="1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#E+F                  </a:t>
                      </a:r>
                      <a:r>
                        <a:rPr lang="en-US" altLang="zh-CN" sz="1800" b="1" dirty="0"/>
                        <a:t>&gt;</a:t>
                      </a:r>
                      <a:endParaRPr kumimoji="1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#E+T                  </a:t>
                      </a:r>
                      <a:r>
                        <a:rPr lang="en-US" altLang="zh-CN" sz="1800" b="1" dirty="0"/>
                        <a:t>&gt;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#E</a:t>
                      </a:r>
                      <a:r>
                        <a:rPr lang="en-US" altLang="zh-CN" sz="1800" dirty="0"/>
                        <a:t>                  </a:t>
                      </a:r>
                      <a:r>
                        <a:rPr lang="en-US" altLang="zh-CN" sz="1800" b="1" dirty="0"/>
                        <a:t>=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i+i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#</a:t>
                      </a:r>
                      <a:endParaRPr kumimoji="1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+</a:t>
                      </a: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i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 #</a:t>
                      </a:r>
                      <a:endParaRPr kumimoji="1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+</a:t>
                      </a: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i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 #</a:t>
                      </a:r>
                      <a:endParaRPr kumimoji="1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+</a:t>
                      </a: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i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# </a:t>
                      </a:r>
                    </a:p>
                    <a:p>
                      <a:pPr marL="0" marR="0" lvl="0" indent="0" algn="l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+</a:t>
                      </a: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i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# </a:t>
                      </a:r>
                      <a:endParaRPr kumimoji="1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+</a:t>
                      </a: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i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# </a:t>
                      </a:r>
                      <a:endParaRPr kumimoji="1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i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#</a:t>
                      </a:r>
                      <a:endParaRPr kumimoji="1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#</a:t>
                      </a:r>
                      <a:endParaRPr kumimoji="1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#</a:t>
                      </a:r>
                      <a:endParaRPr kumimoji="1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#</a:t>
                      </a:r>
                      <a:endParaRPr kumimoji="1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# </a:t>
                      </a:r>
                    </a:p>
                    <a:p>
                      <a:pPr marL="0" marR="0" lvl="0" indent="0" algn="l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移进</a:t>
                      </a:r>
                      <a:endParaRPr kumimoji="1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归约 </a:t>
                      </a: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P→i</a:t>
                      </a:r>
                      <a:endParaRPr kumimoji="1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归约 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F→ P</a:t>
                      </a:r>
                      <a:endParaRPr kumimoji="1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归约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T→F</a:t>
                      </a:r>
                      <a:endParaRPr kumimoji="1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归约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E→T</a:t>
                      </a:r>
                      <a:endParaRPr kumimoji="1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移进</a:t>
                      </a:r>
                      <a:endParaRPr kumimoji="1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移进</a:t>
                      </a:r>
                      <a:endParaRPr kumimoji="1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归约</a:t>
                      </a: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P→i</a:t>
                      </a:r>
                      <a:endParaRPr kumimoji="1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归约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F→P</a:t>
                      </a:r>
                      <a:endParaRPr kumimoji="1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归约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T→F</a:t>
                      </a:r>
                      <a:endParaRPr kumimoji="1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归约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E→E+T</a:t>
                      </a:r>
                    </a:p>
                    <a:p>
                      <a:pPr marL="0" marR="0" lvl="0" indent="0" algn="ctr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接受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 Box 22"/>
          <p:cNvSpPr txBox="1">
            <a:spLocks noChangeArrowheads="1"/>
          </p:cNvSpPr>
          <p:nvPr/>
        </p:nvSpPr>
        <p:spPr bwMode="auto">
          <a:xfrm>
            <a:off x="1116018" y="1484556"/>
            <a:ext cx="60483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CC3300"/>
                </a:solidFill>
              </a:rPr>
              <a:t>对输入串 </a:t>
            </a:r>
            <a:r>
              <a:rPr lang="en-US" altLang="zh-CN" sz="2400" dirty="0" err="1">
                <a:solidFill>
                  <a:srgbClr val="CC3300"/>
                </a:solidFill>
              </a:rPr>
              <a:t>i+i</a:t>
            </a:r>
            <a:r>
              <a:rPr lang="en-US" altLang="zh-CN" sz="2400" dirty="0">
                <a:solidFill>
                  <a:srgbClr val="CC3300"/>
                </a:solidFill>
              </a:rPr>
              <a:t> # </a:t>
            </a:r>
            <a:r>
              <a:rPr lang="zh-CN" altLang="en-US" sz="2400" dirty="0">
                <a:solidFill>
                  <a:srgbClr val="CC3300"/>
                </a:solidFill>
              </a:rPr>
              <a:t>的</a:t>
            </a:r>
            <a:r>
              <a:rPr lang="zh-CN" altLang="en-US" sz="24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规范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规约</a:t>
            </a:r>
            <a:r>
              <a:rPr lang="zh-CN" altLang="en-US" sz="2400" dirty="0">
                <a:solidFill>
                  <a:srgbClr val="CC3300"/>
                </a:solidFill>
              </a:rPr>
              <a:t>过程</a:t>
            </a:r>
            <a:endParaRPr lang="en-US" altLang="zh-CN" sz="2400" dirty="0">
              <a:solidFill>
                <a:srgbClr val="CC3300"/>
              </a:solidFill>
            </a:endParaRPr>
          </a:p>
        </p:txBody>
      </p:sp>
      <p:sp>
        <p:nvSpPr>
          <p:cNvPr id="6" name="Rectangle 23"/>
          <p:cNvSpPr>
            <a:spLocks noChangeArrowheads="1"/>
          </p:cNvSpPr>
          <p:nvPr/>
        </p:nvSpPr>
        <p:spPr bwMode="auto">
          <a:xfrm>
            <a:off x="7288218" y="548644"/>
            <a:ext cx="1619250" cy="1311128"/>
          </a:xfrm>
          <a:prstGeom prst="rect">
            <a:avLst/>
          </a:prstGeom>
          <a:noFill/>
          <a:ln w="9525" algn="ctr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lnSpc>
                <a:spcPct val="110000"/>
              </a:lnSpc>
            </a:pPr>
            <a:r>
              <a:rPr lang="en-US" altLang="zh-CN" sz="1800" b="1" dirty="0"/>
              <a:t>E</a:t>
            </a:r>
            <a:r>
              <a:rPr lang="en-US" altLang="zh-CN" sz="1800" dirty="0"/>
              <a:t>→</a:t>
            </a:r>
            <a:r>
              <a:rPr lang="en-US" altLang="zh-CN" sz="1800" b="1" dirty="0"/>
              <a:t>E+T|T</a:t>
            </a:r>
          </a:p>
          <a:p>
            <a:pPr algn="l" eaLnBrk="1" hangingPunct="1">
              <a:lnSpc>
                <a:spcPct val="110000"/>
              </a:lnSpc>
            </a:pPr>
            <a:r>
              <a:rPr lang="en-US" altLang="zh-CN" sz="1800" b="1" dirty="0"/>
              <a:t>T→T*F|F</a:t>
            </a:r>
          </a:p>
          <a:p>
            <a:pPr algn="l" eaLnBrk="1" hangingPunct="1">
              <a:lnSpc>
                <a:spcPct val="110000"/>
              </a:lnSpc>
            </a:pPr>
            <a:r>
              <a:rPr lang="en-US" altLang="zh-CN" sz="1800" b="1" dirty="0"/>
              <a:t>F→P</a:t>
            </a:r>
            <a:r>
              <a:rPr lang="en-US" altLang="zh-CN" sz="1800" b="1" dirty="0">
                <a:latin typeface="Times New Roman" pitchFamily="18" charset="0"/>
                <a:cs typeface="Times New Roman" pitchFamily="18" charset="0"/>
              </a:rPr>
              <a:t>↑</a:t>
            </a:r>
            <a:r>
              <a:rPr lang="en-US" altLang="zh-CN" sz="1800" b="1" dirty="0"/>
              <a:t>F|P</a:t>
            </a:r>
          </a:p>
          <a:p>
            <a:pPr algn="l" eaLnBrk="1" hangingPunct="1">
              <a:lnSpc>
                <a:spcPct val="110000"/>
              </a:lnSpc>
            </a:pPr>
            <a:r>
              <a:rPr lang="en-US" altLang="zh-CN" sz="1800" b="1" dirty="0"/>
              <a:t>P→(E)|</a:t>
            </a:r>
            <a:r>
              <a:rPr lang="en-US" altLang="zh-CN" sz="1800" b="1" dirty="0" err="1"/>
              <a:t>i</a:t>
            </a:r>
            <a:endParaRPr lang="en-US" altLang="zh-CN" sz="1800" b="1" dirty="0"/>
          </a:p>
        </p:txBody>
      </p:sp>
      <p:sp>
        <p:nvSpPr>
          <p:cNvPr id="7" name="Text Box 29"/>
          <p:cNvSpPr txBox="1">
            <a:spLocks noChangeArrowheads="1"/>
          </p:cNvSpPr>
          <p:nvPr/>
        </p:nvSpPr>
        <p:spPr bwMode="auto">
          <a:xfrm>
            <a:off x="5940430" y="836856"/>
            <a:ext cx="12239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/>
              <a:t>例</a:t>
            </a:r>
            <a:r>
              <a:rPr lang="en-US" altLang="zh-CN" sz="1800"/>
              <a:t>6.3</a:t>
            </a:r>
            <a:r>
              <a:rPr lang="zh-CN" altLang="en-US" sz="1800"/>
              <a:t>文法：</a:t>
            </a:r>
          </a:p>
        </p:txBody>
      </p:sp>
      <p:cxnSp>
        <p:nvCxnSpPr>
          <p:cNvPr id="8" name="直接连接符 6"/>
          <p:cNvCxnSpPr>
            <a:cxnSpLocks noChangeShapeType="1"/>
          </p:cNvCxnSpPr>
          <p:nvPr/>
        </p:nvCxnSpPr>
        <p:spPr bwMode="auto">
          <a:xfrm rot="5400000">
            <a:off x="1607349" y="4612724"/>
            <a:ext cx="4787900" cy="1588"/>
          </a:xfrm>
          <a:prstGeom prst="line">
            <a:avLst/>
          </a:prstGeom>
          <a:noFill/>
          <a:ln w="9525" algn="ctr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21646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四、算符优先分析法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898730" y="924596"/>
            <a:ext cx="3997325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accent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accent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accent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accent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FF33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FF33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FF33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FF33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宋体" panose="02010600030101010101" pitchFamily="2" charset="-122"/>
              </a:defRPr>
            </a:lvl9pPr>
          </a:lstStyle>
          <a:p>
            <a:r>
              <a:rPr lang="zh-CN" altLang="en-US" sz="1800" dirty="0">
                <a:solidFill>
                  <a:srgbClr val="FF0000"/>
                </a:solidFill>
              </a:rPr>
              <a:t>    对应文法为</a:t>
            </a:r>
            <a:r>
              <a:rPr lang="en-US" altLang="zh-CN" sz="1800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51466" y="2000250"/>
            <a:ext cx="1891659" cy="4643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55600" indent="-269875" algn="l" rtl="0" eaLnBrk="1" fontAlgn="base" hangingPunct="1">
              <a:spcBef>
                <a:spcPts val="1800"/>
              </a:spcBef>
              <a:spcAft>
                <a:spcPct val="0"/>
              </a:spcAft>
              <a:buClr>
                <a:srgbClr val="003399"/>
              </a:buClr>
              <a:buSzPct val="80000"/>
              <a:buFont typeface="Wingdings 2" panose="05020102010507070707" pitchFamily="18" charset="2"/>
              <a:buChar char=""/>
              <a:defRPr sz="2400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700088" indent="-342900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2000" kern="1200">
                <a:solidFill>
                  <a:srgbClr val="7030A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14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2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dirty="0"/>
              <a:t>观察该推导</a:t>
            </a:r>
            <a:r>
              <a:rPr lang="en-US" altLang="zh-CN" dirty="0"/>
              <a:t>,</a:t>
            </a:r>
            <a:r>
              <a:rPr lang="zh-CN" altLang="en-US" dirty="0"/>
              <a:t>这正是分析表的规约过程</a:t>
            </a:r>
            <a:r>
              <a:rPr lang="en-US" altLang="zh-CN" dirty="0"/>
              <a:t>,</a:t>
            </a:r>
            <a:r>
              <a:rPr lang="zh-CN" altLang="en-US" dirty="0"/>
              <a:t>因而也是规范规约（左规约）。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4"/>
              <p:cNvSpPr>
                <a:spLocks noChangeArrowheads="1"/>
              </p:cNvSpPr>
              <p:nvPr/>
            </p:nvSpPr>
            <p:spPr bwMode="auto">
              <a:xfrm>
                <a:off x="6659563" y="905729"/>
                <a:ext cx="1871662" cy="1569660"/>
              </a:xfrm>
              <a:prstGeom prst="rect">
                <a:avLst/>
              </a:prstGeom>
              <a:noFill/>
              <a:ln w="9525" algn="ctr">
                <a:solidFill>
                  <a:schemeClr val="fol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/>
                <a:r>
                  <a:rPr lang="en-US" altLang="zh-CN" sz="2400" b="1" dirty="0">
                    <a:latin typeface="宋体" charset="-122"/>
                  </a:rPr>
                  <a:t>E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/>
                        <a:ea typeface="Cambria Math"/>
                      </a:rPr>
                      <m:t>→</m:t>
                    </m:r>
                  </m:oMath>
                </a14:m>
                <a:r>
                  <a:rPr lang="en-US" altLang="zh-CN" sz="2400" b="1" dirty="0">
                    <a:latin typeface="宋体" charset="-122"/>
                  </a:rPr>
                  <a:t>E+T|T</a:t>
                </a:r>
              </a:p>
              <a:p>
                <a:pPr algn="l" eaLnBrk="1" hangingPunct="1"/>
                <a:r>
                  <a:rPr lang="en-US" altLang="zh-CN" sz="2400" b="1" dirty="0">
                    <a:latin typeface="宋体" charset="-122"/>
                  </a:rPr>
                  <a:t>T→T*F|F</a:t>
                </a:r>
              </a:p>
              <a:p>
                <a:pPr algn="l" eaLnBrk="1" hangingPunct="1"/>
                <a:r>
                  <a:rPr lang="en-US" altLang="zh-CN" sz="2400" b="1" dirty="0">
                    <a:latin typeface="宋体" charset="-122"/>
                  </a:rPr>
                  <a:t>F→P</a:t>
                </a:r>
                <a:r>
                  <a:rPr lang="en-US" altLang="zh-CN" sz="2400" b="1" dirty="0">
                    <a:latin typeface="宋体" charset="-122"/>
                    <a:cs typeface="Times New Roman" pitchFamily="18" charset="0"/>
                  </a:rPr>
                  <a:t>↑</a:t>
                </a:r>
                <a:r>
                  <a:rPr lang="en-US" altLang="zh-CN" sz="2400" b="1" dirty="0">
                    <a:latin typeface="宋体" charset="-122"/>
                  </a:rPr>
                  <a:t>F|P</a:t>
                </a:r>
              </a:p>
              <a:p>
                <a:pPr algn="l" eaLnBrk="1" hangingPunct="1"/>
                <a:r>
                  <a:rPr lang="en-US" altLang="zh-CN" sz="2400" b="1" dirty="0">
                    <a:latin typeface="宋体" charset="-122"/>
                  </a:rPr>
                  <a:t>P→(E)|</a:t>
                </a:r>
                <a:r>
                  <a:rPr lang="en-US" altLang="zh-CN" sz="2400" b="1" dirty="0" err="1">
                    <a:latin typeface="宋体" charset="-122"/>
                  </a:rPr>
                  <a:t>i</a:t>
                </a:r>
                <a:endParaRPr lang="en-US" altLang="zh-CN" sz="2400" b="1" dirty="0">
                  <a:latin typeface="宋体" charset="-122"/>
                </a:endParaRPr>
              </a:p>
            </p:txBody>
          </p:sp>
        </mc:Choice>
        <mc:Fallback xmlns="">
          <p:sp>
            <p:nvSpPr>
              <p:cNvPr id="6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59563" y="905729"/>
                <a:ext cx="1871662" cy="1569660"/>
              </a:xfrm>
              <a:prstGeom prst="rect">
                <a:avLst/>
              </a:prstGeom>
              <a:blipFill rotWithShape="1">
                <a:blip r:embed="rId2"/>
                <a:stretch>
                  <a:fillRect l="-4531" t="-3861" b="-7722"/>
                </a:stretch>
              </a:blipFill>
              <a:ln w="9525" algn="ctr">
                <a:solidFill>
                  <a:schemeClr val="fol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5"/>
              <p:cNvSpPr>
                <a:spLocks noChangeArrowheads="1"/>
              </p:cNvSpPr>
              <p:nvPr/>
            </p:nvSpPr>
            <p:spPr bwMode="auto">
              <a:xfrm>
                <a:off x="4810563" y="2402376"/>
                <a:ext cx="2089150" cy="36379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</a:pPr>
                <a:r>
                  <a:rPr lang="en-US" altLang="zh-CN" sz="2400" dirty="0"/>
                  <a:t>  E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/>
                        <a:ea typeface="Cambria Math"/>
                      </a:rPr>
                      <m:t>⇒</m:t>
                    </m:r>
                  </m:oMath>
                </a14:m>
                <a:r>
                  <a:rPr lang="en-US" altLang="zh-CN" sz="2400" dirty="0"/>
                  <a:t>E+</a:t>
                </a:r>
                <a:r>
                  <a:rPr lang="en-US" altLang="zh-CN" sz="2400" dirty="0">
                    <a:solidFill>
                      <a:schemeClr val="folHlink"/>
                    </a:solidFill>
                  </a:rPr>
                  <a:t>T</a:t>
                </a:r>
              </a:p>
              <a:p>
                <a:pPr eaLnBrk="1" hangingPunct="1">
                  <a:lnSpc>
                    <a:spcPct val="120000"/>
                  </a:lnSpc>
                </a:pPr>
                <a:r>
                  <a:rPr lang="en-US" altLang="zh-CN" sz="2400" dirty="0"/>
                  <a:t>    ⇒E+</a:t>
                </a:r>
                <a:r>
                  <a:rPr lang="en-US" altLang="zh-CN" sz="2400" dirty="0">
                    <a:solidFill>
                      <a:schemeClr val="folHlink"/>
                    </a:solidFill>
                  </a:rPr>
                  <a:t>F</a:t>
                </a:r>
              </a:p>
              <a:p>
                <a:pPr eaLnBrk="1" hangingPunct="1">
                  <a:lnSpc>
                    <a:spcPct val="120000"/>
                  </a:lnSpc>
                </a:pPr>
                <a:r>
                  <a:rPr lang="en-US" altLang="zh-CN" sz="2400" dirty="0"/>
                  <a:t>    ⇒E+</a:t>
                </a:r>
                <a:r>
                  <a:rPr lang="en-US" altLang="zh-CN" sz="2400" dirty="0">
                    <a:solidFill>
                      <a:schemeClr val="folHlink"/>
                    </a:solidFill>
                  </a:rPr>
                  <a:t>P</a:t>
                </a:r>
              </a:p>
              <a:p>
                <a:pPr eaLnBrk="1" hangingPunct="1">
                  <a:lnSpc>
                    <a:spcPct val="120000"/>
                  </a:lnSpc>
                </a:pPr>
                <a:r>
                  <a:rPr lang="en-US" altLang="zh-CN" sz="2400" dirty="0"/>
                  <a:t>    ⇒</a:t>
                </a:r>
                <a:r>
                  <a:rPr lang="en-US" altLang="zh-CN" sz="2400" dirty="0" err="1"/>
                  <a:t>E+</a:t>
                </a:r>
                <a:r>
                  <a:rPr lang="en-US" altLang="zh-CN" sz="2400" dirty="0" err="1">
                    <a:solidFill>
                      <a:schemeClr val="folHlink"/>
                    </a:solidFill>
                  </a:rPr>
                  <a:t>i</a:t>
                </a:r>
                <a:endParaRPr lang="en-US" altLang="zh-CN" sz="2400" dirty="0">
                  <a:solidFill>
                    <a:schemeClr val="folHlink"/>
                  </a:solidFill>
                </a:endParaRPr>
              </a:p>
              <a:p>
                <a:pPr eaLnBrk="1" hangingPunct="1">
                  <a:lnSpc>
                    <a:spcPct val="120000"/>
                  </a:lnSpc>
                </a:pPr>
                <a:r>
                  <a:rPr lang="en-US" altLang="zh-CN" sz="2400" dirty="0"/>
                  <a:t>    ⇒</a:t>
                </a:r>
                <a:r>
                  <a:rPr lang="en-US" altLang="zh-CN" sz="2400" dirty="0" err="1"/>
                  <a:t>T+i</a:t>
                </a:r>
                <a:endParaRPr lang="en-US" altLang="zh-CN" sz="2400" dirty="0"/>
              </a:p>
              <a:p>
                <a:pPr eaLnBrk="1" hangingPunct="1">
                  <a:lnSpc>
                    <a:spcPct val="120000"/>
                  </a:lnSpc>
                </a:pPr>
                <a:r>
                  <a:rPr lang="en-US" altLang="zh-CN" sz="2400" dirty="0"/>
                  <a:t>    ⇒</a:t>
                </a:r>
                <a:r>
                  <a:rPr lang="en-US" altLang="zh-CN" sz="2400" dirty="0" err="1"/>
                  <a:t>F+i</a:t>
                </a:r>
                <a:endParaRPr lang="en-US" altLang="zh-CN" sz="2400" dirty="0"/>
              </a:p>
              <a:p>
                <a:pPr eaLnBrk="1" hangingPunct="1">
                  <a:lnSpc>
                    <a:spcPct val="120000"/>
                  </a:lnSpc>
                </a:pPr>
                <a:r>
                  <a:rPr lang="en-US" altLang="zh-CN" sz="2400" dirty="0"/>
                  <a:t>    ⇒</a:t>
                </a:r>
                <a:r>
                  <a:rPr lang="en-US" altLang="zh-CN" sz="2400" dirty="0" err="1"/>
                  <a:t>P+i</a:t>
                </a:r>
                <a:endParaRPr lang="en-US" altLang="zh-CN" sz="2400" dirty="0"/>
              </a:p>
              <a:p>
                <a:pPr eaLnBrk="1" hangingPunct="1">
                  <a:lnSpc>
                    <a:spcPct val="120000"/>
                  </a:lnSpc>
                </a:pPr>
                <a:r>
                  <a:rPr lang="en-US" altLang="zh-CN" sz="2400" dirty="0"/>
                  <a:t>    ⇒</a:t>
                </a:r>
                <a:r>
                  <a:rPr lang="en-US" altLang="zh-CN" sz="2400" dirty="0" err="1"/>
                  <a:t>i+i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7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10563" y="2402376"/>
                <a:ext cx="2089150" cy="3637919"/>
              </a:xfrm>
              <a:prstGeom prst="rect">
                <a:avLst/>
              </a:prstGeom>
              <a:blipFill rotWithShape="1">
                <a:blip r:embed="rId3"/>
                <a:stretch>
                  <a:fillRect t="-670" b="-167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Group 31"/>
          <p:cNvGraphicFramePr>
            <a:graphicFrameLocks/>
          </p:cNvGraphicFramePr>
          <p:nvPr/>
        </p:nvGraphicFramePr>
        <p:xfrm>
          <a:off x="2214563" y="2000250"/>
          <a:ext cx="1587500" cy="4260850"/>
        </p:xfrm>
        <a:graphic>
          <a:graphicData uri="http://schemas.openxmlformats.org/drawingml/2006/table">
            <a:tbl>
              <a:tblPr/>
              <a:tblGrid>
                <a:gridCol w="158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分析栈</a:t>
                      </a:r>
                      <a:endParaRPr kumimoji="1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460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#</a:t>
                      </a:r>
                      <a:endParaRPr kumimoji="1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#</a:t>
                      </a: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i</a:t>
                      </a:r>
                      <a:endParaRPr kumimoji="1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#P</a:t>
                      </a:r>
                      <a:endParaRPr kumimoji="1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#F</a:t>
                      </a:r>
                      <a:endParaRPr kumimoji="1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#T</a:t>
                      </a:r>
                      <a:endParaRPr kumimoji="1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#E</a:t>
                      </a:r>
                      <a:endParaRPr kumimoji="1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#E+</a:t>
                      </a:r>
                      <a:endParaRPr kumimoji="1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#</a:t>
                      </a: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E+i</a:t>
                      </a:r>
                      <a:endParaRPr kumimoji="1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#E+P</a:t>
                      </a:r>
                      <a:endParaRPr kumimoji="1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#E+F</a:t>
                      </a:r>
                      <a:endParaRPr kumimoji="1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#E+T</a:t>
                      </a:r>
                    </a:p>
                    <a:p>
                      <a:pPr marL="0" marR="0" lvl="0" indent="0" algn="l" defTabSz="914400" rtl="0" eaLnBrk="0" fontAlgn="ctr" latinLnBrk="0" hangingPunct="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#E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AutoShape 28"/>
          <p:cNvSpPr>
            <a:spLocks noChangeArrowheads="1"/>
          </p:cNvSpPr>
          <p:nvPr/>
        </p:nvSpPr>
        <p:spPr bwMode="auto">
          <a:xfrm>
            <a:off x="4437063" y="6000750"/>
            <a:ext cx="3492500" cy="503238"/>
          </a:xfrm>
          <a:prstGeom prst="wedgeRoundRectCallout">
            <a:avLst>
              <a:gd name="adj1" fmla="val 13593"/>
              <a:gd name="adj2" fmla="val -156625"/>
              <a:gd name="adj3" fmla="val 16667"/>
            </a:avLst>
          </a:prstGeom>
          <a:noFill/>
          <a:ln w="9525" algn="ctr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/>
            <a:endParaRPr lang="zh-CN" altLang="en-US" sz="1800"/>
          </a:p>
        </p:txBody>
      </p:sp>
      <p:sp>
        <p:nvSpPr>
          <p:cNvPr id="10" name="Rectangle 29"/>
          <p:cNvSpPr>
            <a:spLocks noChangeArrowheads="1"/>
          </p:cNvSpPr>
          <p:nvPr/>
        </p:nvSpPr>
        <p:spPr bwMode="auto">
          <a:xfrm>
            <a:off x="4429125" y="6072188"/>
            <a:ext cx="35353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1800"/>
              <a:t>其对应的规范推导应为右推导</a:t>
            </a:r>
            <a:r>
              <a:rPr lang="en-US" altLang="zh-CN" sz="1800"/>
              <a:t>,</a:t>
            </a:r>
            <a:r>
              <a:rPr lang="zh-CN" altLang="en-US" sz="1800"/>
              <a:t>即</a:t>
            </a:r>
            <a:r>
              <a:rPr lang="en-US" altLang="zh-CN" sz="1800"/>
              <a:t>:</a:t>
            </a:r>
          </a:p>
        </p:txBody>
      </p:sp>
      <p:sp>
        <p:nvSpPr>
          <p:cNvPr id="11" name="AutoShape 30"/>
          <p:cNvSpPr>
            <a:spLocks noChangeArrowheads="1"/>
          </p:cNvSpPr>
          <p:nvPr/>
        </p:nvSpPr>
        <p:spPr bwMode="auto">
          <a:xfrm>
            <a:off x="1928813" y="1357313"/>
            <a:ext cx="2808287" cy="576262"/>
          </a:xfrm>
          <a:prstGeom prst="wedgeRoundRectCallout">
            <a:avLst>
              <a:gd name="adj1" fmla="val 4884"/>
              <a:gd name="adj2" fmla="val 77745"/>
              <a:gd name="adj3" fmla="val 16667"/>
            </a:avLst>
          </a:prstGeom>
          <a:noFill/>
          <a:ln w="9525" algn="ctr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dirty="0"/>
              <a:t> 观察分析栈</a:t>
            </a:r>
          </a:p>
          <a:p>
            <a:pPr eaLnBrk="1" hangingPunct="1"/>
            <a:endParaRPr lang="zh-CN" altLang="en-US" dirty="0"/>
          </a:p>
        </p:txBody>
      </p:sp>
      <p:sp>
        <p:nvSpPr>
          <p:cNvPr id="12" name="AutoShape 33"/>
          <p:cNvSpPr>
            <a:spLocks noChangeArrowheads="1"/>
          </p:cNvSpPr>
          <p:nvPr/>
        </p:nvSpPr>
        <p:spPr bwMode="auto">
          <a:xfrm flipV="1">
            <a:off x="7452356" y="2889422"/>
            <a:ext cx="144462" cy="2663825"/>
          </a:xfrm>
          <a:prstGeom prst="upArrow">
            <a:avLst>
              <a:gd name="adj1" fmla="val 50000"/>
              <a:gd name="adj2" fmla="val 460991"/>
            </a:avLst>
          </a:prstGeom>
          <a:noFill/>
          <a:ln w="9525" algn="ctr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953084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四、算符优先分析法</a:t>
            </a:r>
          </a:p>
        </p:txBody>
      </p:sp>
      <p:sp>
        <p:nvSpPr>
          <p:cNvPr id="44" name="Rectangle 5"/>
          <p:cNvSpPr>
            <a:spLocks noChangeArrowheads="1"/>
          </p:cNvSpPr>
          <p:nvPr/>
        </p:nvSpPr>
        <p:spPr bwMode="auto">
          <a:xfrm>
            <a:off x="7235826" y="1749425"/>
            <a:ext cx="936625" cy="324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lnSpc>
                <a:spcPct val="145000"/>
              </a:lnSpc>
            </a:pPr>
            <a:r>
              <a:rPr lang="zh-CN" altLang="en-US" b="1">
                <a:latin typeface="Times New Roman" pitchFamily="18" charset="0"/>
                <a:cs typeface="Times New Roman" pitchFamily="18" charset="0"/>
              </a:rPr>
              <a:t> 移进</a:t>
            </a:r>
            <a:endParaRPr lang="zh-CN" altLang="en-US"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45000"/>
              </a:lnSpc>
            </a:pPr>
            <a:r>
              <a:rPr lang="zh-CN" altLang="en-US" b="1">
                <a:latin typeface="Times New Roman" pitchFamily="18" charset="0"/>
                <a:cs typeface="Times New Roman" pitchFamily="18" charset="0"/>
              </a:rPr>
              <a:t> 归约 </a:t>
            </a:r>
            <a:endParaRPr lang="zh-CN" altLang="en-US"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45000"/>
              </a:lnSpc>
            </a:pPr>
            <a:r>
              <a:rPr lang="zh-CN" altLang="en-US" b="1">
                <a:latin typeface="Times New Roman" pitchFamily="18" charset="0"/>
                <a:cs typeface="Times New Roman" pitchFamily="18" charset="0"/>
              </a:rPr>
              <a:t> 移进</a:t>
            </a:r>
            <a:endParaRPr lang="zh-CN" altLang="en-US"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45000"/>
              </a:lnSpc>
            </a:pPr>
            <a:r>
              <a:rPr lang="zh-CN" altLang="en-US" b="1">
                <a:latin typeface="Times New Roman" pitchFamily="18" charset="0"/>
                <a:cs typeface="Times New Roman" pitchFamily="18" charset="0"/>
              </a:rPr>
              <a:t> 移进</a:t>
            </a:r>
            <a:endParaRPr lang="zh-CN" altLang="en-US"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45000"/>
              </a:lnSpc>
            </a:pPr>
            <a:r>
              <a:rPr lang="zh-CN" altLang="en-US" b="1">
                <a:latin typeface="Times New Roman" pitchFamily="18" charset="0"/>
                <a:cs typeface="Times New Roman" pitchFamily="18" charset="0"/>
              </a:rPr>
              <a:t> 归约</a:t>
            </a:r>
            <a:endParaRPr lang="zh-CN" altLang="en-US"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45000"/>
              </a:lnSpc>
            </a:pPr>
            <a:r>
              <a:rPr lang="zh-CN" altLang="en-US" b="1">
                <a:latin typeface="Times New Roman" pitchFamily="18" charset="0"/>
                <a:cs typeface="Times New Roman" pitchFamily="18" charset="0"/>
              </a:rPr>
              <a:t> 归约</a:t>
            </a:r>
            <a:endParaRPr lang="zh-CN" altLang="en-US"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45000"/>
              </a:lnSpc>
            </a:pPr>
            <a:r>
              <a:rPr lang="zh-CN" altLang="en-US" b="1">
                <a:latin typeface="Times New Roman" pitchFamily="18" charset="0"/>
                <a:cs typeface="Times New Roman" pitchFamily="18" charset="0"/>
              </a:rPr>
              <a:t> 接受</a:t>
            </a:r>
            <a:endParaRPr lang="zh-CN" altLang="en-US"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45000"/>
              </a:lnSpc>
            </a:pPr>
            <a:endParaRPr lang="zh-CN" altLang="en-US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Rectangle 6"/>
          <p:cNvSpPr>
            <a:spLocks noChangeArrowheads="1"/>
          </p:cNvSpPr>
          <p:nvPr/>
        </p:nvSpPr>
        <p:spPr bwMode="auto">
          <a:xfrm>
            <a:off x="5651501" y="1774825"/>
            <a:ext cx="1081087" cy="285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lang="en-US" altLang="zh-CN" b="1">
                <a:latin typeface="Times New Roman" pitchFamily="18" charset="0"/>
                <a:cs typeface="Times New Roman" pitchFamily="18" charset="0"/>
              </a:rPr>
              <a:t>+i #</a:t>
            </a:r>
            <a:endParaRPr lang="en-US" altLang="zh-CN"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CN" b="1">
                <a:latin typeface="Times New Roman" pitchFamily="18" charset="0"/>
                <a:cs typeface="Times New Roman" pitchFamily="18" charset="0"/>
              </a:rPr>
              <a:t>i#</a:t>
            </a:r>
            <a:endParaRPr lang="en-US" altLang="zh-CN"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CN" b="1">
                <a:latin typeface="Times New Roman" pitchFamily="18" charset="0"/>
                <a:cs typeface="Times New Roman" pitchFamily="18" charset="0"/>
              </a:rPr>
              <a:t>i#</a:t>
            </a:r>
            <a:endParaRPr lang="en-US" altLang="zh-CN"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CN" b="1">
                <a:latin typeface="Times New Roman" pitchFamily="18" charset="0"/>
                <a:cs typeface="Times New Roman" pitchFamily="18" charset="0"/>
              </a:rPr>
              <a:t># </a:t>
            </a:r>
          </a:p>
          <a:p>
            <a:pPr algn="l">
              <a:lnSpc>
                <a:spcPct val="150000"/>
              </a:lnSpc>
            </a:pPr>
            <a:r>
              <a:rPr lang="en-US" altLang="zh-CN" b="1"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zh-CN"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CN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Rectangle 7"/>
          <p:cNvSpPr>
            <a:spLocks noChangeArrowheads="1"/>
          </p:cNvSpPr>
          <p:nvPr/>
        </p:nvSpPr>
        <p:spPr bwMode="auto">
          <a:xfrm>
            <a:off x="1763713" y="1846262"/>
            <a:ext cx="1079500" cy="3576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lnSpc>
                <a:spcPct val="140000"/>
              </a:lnSpc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#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40000"/>
              </a:lnSpc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#</a:t>
            </a:r>
            <a:r>
              <a:rPr lang="en-US" altLang="zh-CN" b="1" dirty="0" err="1">
                <a:latin typeface="Times New Roman" pitchFamily="18" charset="0"/>
                <a:cs typeface="Times New Roman" pitchFamily="18" charset="0"/>
              </a:rPr>
              <a:t>i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40000"/>
              </a:lnSpc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#</a:t>
            </a:r>
            <a:r>
              <a:rPr lang="en-US" altLang="zh-C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endParaRPr lang="en-US" altLang="zh-CN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40000"/>
              </a:lnSpc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#F+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40000"/>
              </a:lnSpc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#</a:t>
            </a:r>
            <a:r>
              <a:rPr lang="en-US" altLang="zh-CN" b="1" dirty="0" err="1">
                <a:latin typeface="Times New Roman" pitchFamily="18" charset="0"/>
                <a:cs typeface="Times New Roman" pitchFamily="18" charset="0"/>
              </a:rPr>
              <a:t>F+i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40000"/>
              </a:lnSpc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#F+</a:t>
            </a:r>
            <a:r>
              <a:rPr lang="en-US" altLang="zh-C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endParaRPr lang="en-US" altLang="zh-CN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40000"/>
              </a:lnSpc>
            </a:pPr>
            <a:r>
              <a:rPr lang="en-US" altLang="zh-C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#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F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Rectangle 8"/>
          <p:cNvSpPr>
            <a:spLocks noChangeArrowheads="1"/>
          </p:cNvSpPr>
          <p:nvPr/>
        </p:nvSpPr>
        <p:spPr bwMode="auto">
          <a:xfrm>
            <a:off x="539751" y="1816100"/>
            <a:ext cx="1150937" cy="367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lnSpc>
                <a:spcPct val="140000"/>
              </a:lnSpc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40000"/>
              </a:lnSpc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40000"/>
              </a:lnSpc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3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40000"/>
              </a:lnSpc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4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40000"/>
              </a:lnSpc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5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40000"/>
              </a:lnSpc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6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40000"/>
              </a:lnSpc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7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48" name="Group 117"/>
          <p:cNvGrpSpPr>
            <a:grpSpLocks/>
          </p:cNvGrpSpPr>
          <p:nvPr/>
        </p:nvGrpSpPr>
        <p:grpSpPr bwMode="auto">
          <a:xfrm>
            <a:off x="466726" y="741362"/>
            <a:ext cx="8064500" cy="4248150"/>
            <a:chOff x="431" y="255"/>
            <a:chExt cx="5080" cy="2676"/>
          </a:xfrm>
        </p:grpSpPr>
        <p:sp>
          <p:nvSpPr>
            <p:cNvPr id="49" name="Text Box 54"/>
            <p:cNvSpPr txBox="1">
              <a:spLocks noChangeArrowheads="1"/>
            </p:cNvSpPr>
            <p:nvPr/>
          </p:nvSpPr>
          <p:spPr bwMode="auto">
            <a:xfrm>
              <a:off x="748" y="255"/>
              <a:ext cx="444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CC3300"/>
                  </a:solidFill>
                </a:rPr>
                <a:t>表</a:t>
              </a:r>
              <a:r>
                <a:rPr lang="en-US" altLang="zh-CN" sz="2400" dirty="0">
                  <a:solidFill>
                    <a:srgbClr val="CC3300"/>
                  </a:solidFill>
                </a:rPr>
                <a:t> </a:t>
              </a:r>
              <a:r>
                <a:rPr lang="zh-CN" altLang="en-US" sz="2400" dirty="0">
                  <a:solidFill>
                    <a:srgbClr val="CC3300"/>
                  </a:solidFill>
                </a:rPr>
                <a:t>对输入串 </a:t>
              </a:r>
              <a:r>
                <a:rPr lang="en-US" altLang="zh-CN" sz="2400" dirty="0" err="1">
                  <a:solidFill>
                    <a:srgbClr val="CC3300"/>
                  </a:solidFill>
                </a:rPr>
                <a:t>i+i</a:t>
              </a:r>
              <a:r>
                <a:rPr lang="en-US" altLang="zh-CN" sz="2400" dirty="0">
                  <a:solidFill>
                    <a:srgbClr val="CC3300"/>
                  </a:solidFill>
                </a:rPr>
                <a:t># </a:t>
              </a:r>
              <a:r>
                <a:rPr lang="zh-CN" altLang="en-US" sz="2400" dirty="0">
                  <a:solidFill>
                    <a:srgbClr val="CC3300"/>
                  </a:solidFill>
                </a:rPr>
                <a:t>的算符优先规约过程</a:t>
              </a:r>
              <a:endParaRPr lang="en-US" altLang="zh-CN" sz="2400" dirty="0">
                <a:solidFill>
                  <a:srgbClr val="CC3300"/>
                </a:solidFill>
              </a:endParaRPr>
            </a:p>
          </p:txBody>
        </p:sp>
        <p:sp>
          <p:nvSpPr>
            <p:cNvPr id="50" name="Line 16"/>
            <p:cNvSpPr>
              <a:spLocks noChangeShapeType="1"/>
            </p:cNvSpPr>
            <p:nvPr/>
          </p:nvSpPr>
          <p:spPr bwMode="auto">
            <a:xfrm>
              <a:off x="5511" y="618"/>
              <a:ext cx="0" cy="2286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51" name="Group 116"/>
            <p:cNvGrpSpPr>
              <a:grpSpLocks/>
            </p:cNvGrpSpPr>
            <p:nvPr/>
          </p:nvGrpSpPr>
          <p:grpSpPr bwMode="auto">
            <a:xfrm>
              <a:off x="431" y="572"/>
              <a:ext cx="5080" cy="2359"/>
              <a:chOff x="431" y="572"/>
              <a:chExt cx="5080" cy="2359"/>
            </a:xfrm>
          </p:grpSpPr>
          <p:sp>
            <p:nvSpPr>
              <p:cNvPr id="52" name="Rectangle 9"/>
              <p:cNvSpPr>
                <a:spLocks noChangeArrowheads="1"/>
              </p:cNvSpPr>
              <p:nvPr/>
            </p:nvSpPr>
            <p:spPr bwMode="auto">
              <a:xfrm>
                <a:off x="4572" y="573"/>
                <a:ext cx="939" cy="2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fontAlgn="ctr" hangingPunct="1">
                  <a:lnSpc>
                    <a:spcPct val="120000"/>
                  </a:lnSpc>
                </a:pPr>
                <a:r>
                  <a:rPr lang="zh-CN" altLang="en-US" b="1">
                    <a:latin typeface="Times New Roman" pitchFamily="18" charset="0"/>
                    <a:cs typeface="Times New Roman" pitchFamily="18" charset="0"/>
                  </a:rPr>
                  <a:t>      动作</a:t>
                </a: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53" name="Rectangle 10"/>
              <p:cNvSpPr>
                <a:spLocks noChangeArrowheads="1"/>
              </p:cNvSpPr>
              <p:nvPr/>
            </p:nvSpPr>
            <p:spPr bwMode="auto">
              <a:xfrm>
                <a:off x="3606" y="573"/>
                <a:ext cx="998" cy="2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fontAlgn="ctr" hangingPunct="1">
                  <a:lnSpc>
                    <a:spcPct val="120000"/>
                  </a:lnSpc>
                </a:pPr>
                <a:r>
                  <a:rPr lang="zh-CN" altLang="en-US" b="1">
                    <a:latin typeface="Times New Roman" pitchFamily="18" charset="0"/>
                    <a:cs typeface="Times New Roman" pitchFamily="18" charset="0"/>
                  </a:rPr>
                  <a:t>剩余输入串</a:t>
                </a: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54" name="Rectangle 11"/>
              <p:cNvSpPr>
                <a:spLocks noChangeArrowheads="1"/>
              </p:cNvSpPr>
              <p:nvPr/>
            </p:nvSpPr>
            <p:spPr bwMode="auto">
              <a:xfrm>
                <a:off x="1156" y="573"/>
                <a:ext cx="635" cy="3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fontAlgn="ctr" hangingPunct="1">
                  <a:lnSpc>
                    <a:spcPct val="120000"/>
                  </a:lnSpc>
                </a:pPr>
                <a:r>
                  <a:rPr lang="zh-CN" altLang="en-US" b="1">
                    <a:latin typeface="Times New Roman" pitchFamily="18" charset="0"/>
                    <a:cs typeface="Times New Roman" pitchFamily="18" charset="0"/>
                  </a:rPr>
                  <a:t>       栈</a:t>
                </a: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55" name="Rectangle 12"/>
              <p:cNvSpPr>
                <a:spLocks noChangeArrowheads="1"/>
              </p:cNvSpPr>
              <p:nvPr/>
            </p:nvSpPr>
            <p:spPr bwMode="auto">
              <a:xfrm>
                <a:off x="522" y="573"/>
                <a:ext cx="725" cy="2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fontAlgn="ctr" hangingPunct="1">
                  <a:lnSpc>
                    <a:spcPct val="120000"/>
                  </a:lnSpc>
                </a:pPr>
                <a:r>
                  <a:rPr lang="zh-CN" altLang="en-US" b="1">
                    <a:latin typeface="Times New Roman" pitchFamily="18" charset="0"/>
                    <a:cs typeface="Times New Roman" pitchFamily="18" charset="0"/>
                  </a:rPr>
                  <a:t>步骤</a:t>
                </a: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56" name="Line 13"/>
              <p:cNvSpPr>
                <a:spLocks noChangeShapeType="1"/>
              </p:cNvSpPr>
              <p:nvPr/>
            </p:nvSpPr>
            <p:spPr bwMode="auto">
              <a:xfrm>
                <a:off x="431" y="573"/>
                <a:ext cx="5080" cy="0"/>
              </a:xfrm>
              <a:prstGeom prst="line">
                <a:avLst/>
              </a:prstGeom>
              <a:noFill/>
              <a:ln w="63500" cap="rnd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7" name="Line 14"/>
              <p:cNvSpPr>
                <a:spLocks noChangeShapeType="1"/>
              </p:cNvSpPr>
              <p:nvPr/>
            </p:nvSpPr>
            <p:spPr bwMode="auto">
              <a:xfrm>
                <a:off x="431" y="2931"/>
                <a:ext cx="5080" cy="0"/>
              </a:xfrm>
              <a:prstGeom prst="line">
                <a:avLst/>
              </a:prstGeom>
              <a:noFill/>
              <a:ln w="63500" cap="rnd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8" name="Line 15"/>
              <p:cNvSpPr>
                <a:spLocks noChangeShapeType="1"/>
              </p:cNvSpPr>
              <p:nvPr/>
            </p:nvSpPr>
            <p:spPr bwMode="auto">
              <a:xfrm>
                <a:off x="431" y="573"/>
                <a:ext cx="0" cy="2313"/>
              </a:xfrm>
              <a:prstGeom prst="line">
                <a:avLst/>
              </a:prstGeom>
              <a:noFill/>
              <a:ln w="9525" cap="rnd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9" name="Line 17"/>
              <p:cNvSpPr>
                <a:spLocks noChangeShapeType="1"/>
              </p:cNvSpPr>
              <p:nvPr/>
            </p:nvSpPr>
            <p:spPr bwMode="auto">
              <a:xfrm>
                <a:off x="431" y="936"/>
                <a:ext cx="5080" cy="0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0" name="Line 18"/>
              <p:cNvSpPr>
                <a:spLocks noChangeShapeType="1"/>
              </p:cNvSpPr>
              <p:nvPr/>
            </p:nvSpPr>
            <p:spPr bwMode="auto">
              <a:xfrm>
                <a:off x="1066" y="573"/>
                <a:ext cx="0" cy="2313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1" name="Line 19"/>
              <p:cNvSpPr>
                <a:spLocks noChangeShapeType="1"/>
              </p:cNvSpPr>
              <p:nvPr/>
            </p:nvSpPr>
            <p:spPr bwMode="auto">
              <a:xfrm>
                <a:off x="2789" y="573"/>
                <a:ext cx="0" cy="2358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2" name="Line 20"/>
              <p:cNvSpPr>
                <a:spLocks noChangeShapeType="1"/>
              </p:cNvSpPr>
              <p:nvPr/>
            </p:nvSpPr>
            <p:spPr bwMode="auto">
              <a:xfrm>
                <a:off x="4513" y="573"/>
                <a:ext cx="0" cy="2358"/>
              </a:xfrm>
              <a:prstGeom prst="line">
                <a:avLst/>
              </a:prstGeom>
              <a:noFill/>
              <a:ln w="12700" cap="rnd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3" name="Line 25"/>
              <p:cNvSpPr>
                <a:spLocks noChangeShapeType="1"/>
              </p:cNvSpPr>
              <p:nvPr/>
            </p:nvSpPr>
            <p:spPr bwMode="auto">
              <a:xfrm>
                <a:off x="1927" y="573"/>
                <a:ext cx="0" cy="23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4" name="Line 29"/>
              <p:cNvSpPr>
                <a:spLocks noChangeShapeType="1"/>
              </p:cNvSpPr>
              <p:nvPr/>
            </p:nvSpPr>
            <p:spPr bwMode="auto">
              <a:xfrm>
                <a:off x="3606" y="573"/>
                <a:ext cx="0" cy="23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aphicFrame>
            <p:nvGraphicFramePr>
              <p:cNvPr id="65" name="Object 90"/>
              <p:cNvGraphicFramePr>
                <a:graphicFrameLocks noChangeAspect="1"/>
              </p:cNvGraphicFramePr>
              <p:nvPr/>
            </p:nvGraphicFramePr>
            <p:xfrm>
              <a:off x="2290" y="2186"/>
              <a:ext cx="114" cy="1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4074" name="位图图像" r:id="rId3" imgW="181096" imgH="247685" progId="Paint.Picture">
                      <p:embed/>
                    </p:oleObj>
                  </mc:Choice>
                  <mc:Fallback>
                    <p:oleObj name="位图图像" r:id="rId3" imgW="181096" imgH="247685" progId="Paint.Picture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90" y="2186"/>
                            <a:ext cx="114" cy="15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6" name="Object 93"/>
              <p:cNvGraphicFramePr>
                <a:graphicFrameLocks noChangeAspect="1"/>
              </p:cNvGraphicFramePr>
              <p:nvPr/>
            </p:nvGraphicFramePr>
            <p:xfrm>
              <a:off x="2290" y="1369"/>
              <a:ext cx="114" cy="1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4075" name="位图图像" r:id="rId5" imgW="181096" imgH="247685" progId="Paint.Picture">
                      <p:embed/>
                    </p:oleObj>
                  </mc:Choice>
                  <mc:Fallback>
                    <p:oleObj name="位图图像" r:id="rId5" imgW="181096" imgH="247685" progId="Paint.Picture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90" y="1369"/>
                            <a:ext cx="114" cy="15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7" name="Object 96"/>
              <p:cNvGraphicFramePr>
                <a:graphicFrameLocks noChangeAspect="1"/>
              </p:cNvGraphicFramePr>
              <p:nvPr/>
            </p:nvGraphicFramePr>
            <p:xfrm>
              <a:off x="2290" y="2458"/>
              <a:ext cx="114" cy="1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4076" name="位图图像" r:id="rId6" imgW="181096" imgH="247685" progId="Paint.Picture">
                      <p:embed/>
                    </p:oleObj>
                  </mc:Choice>
                  <mc:Fallback>
                    <p:oleObj name="位图图像" r:id="rId6" imgW="181096" imgH="247685" progId="Paint.Picture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90" y="2458"/>
                            <a:ext cx="114" cy="15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8" name="Rectangle 72"/>
              <p:cNvSpPr>
                <a:spLocks noChangeArrowheads="1"/>
              </p:cNvSpPr>
              <p:nvPr/>
            </p:nvSpPr>
            <p:spPr bwMode="auto">
              <a:xfrm>
                <a:off x="1973" y="572"/>
                <a:ext cx="862" cy="3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fontAlgn="ctr" hangingPunct="1">
                  <a:lnSpc>
                    <a:spcPct val="120000"/>
                  </a:lnSpc>
                </a:pPr>
                <a:r>
                  <a:rPr lang="zh-CN" altLang="en-US" b="1">
                    <a:latin typeface="Times New Roman" pitchFamily="18" charset="0"/>
                    <a:cs typeface="Times New Roman" pitchFamily="18" charset="0"/>
                  </a:rPr>
                  <a:t>优先关系</a:t>
                </a: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69" name="Rectangle 73"/>
              <p:cNvSpPr>
                <a:spLocks noChangeArrowheads="1"/>
              </p:cNvSpPr>
              <p:nvPr/>
            </p:nvSpPr>
            <p:spPr bwMode="auto">
              <a:xfrm>
                <a:off x="2789" y="573"/>
                <a:ext cx="1043" cy="2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fontAlgn="ctr" hangingPunct="1">
                  <a:lnSpc>
                    <a:spcPct val="120000"/>
                  </a:lnSpc>
                </a:pPr>
                <a:r>
                  <a:rPr lang="zh-CN" altLang="en-US" b="1">
                    <a:latin typeface="Times New Roman" pitchFamily="18" charset="0"/>
                    <a:cs typeface="Times New Roman" pitchFamily="18" charset="0"/>
                  </a:rPr>
                  <a:t>当前符号</a:t>
                </a:r>
                <a:endParaRPr lang="zh-CN" altLang="en-US">
                  <a:latin typeface="Arial" charset="0"/>
                </a:endParaRPr>
              </a:p>
            </p:txBody>
          </p:sp>
          <p:graphicFrame>
            <p:nvGraphicFramePr>
              <p:cNvPr id="70" name="Object 99"/>
              <p:cNvGraphicFramePr>
                <a:graphicFrameLocks noChangeAspect="1"/>
              </p:cNvGraphicFramePr>
              <p:nvPr/>
            </p:nvGraphicFramePr>
            <p:xfrm>
              <a:off x="2290" y="1920"/>
              <a:ext cx="120" cy="1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4077" name="位图图像" r:id="rId7" imgW="190426" imgH="237969" progId="Paint.Picture">
                      <p:embed/>
                    </p:oleObj>
                  </mc:Choice>
                  <mc:Fallback>
                    <p:oleObj name="位图图像" r:id="rId7" imgW="190426" imgH="237969" progId="Paint.Picture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90" y="1920"/>
                            <a:ext cx="120" cy="1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1" name="Object 102"/>
              <p:cNvGraphicFramePr>
                <a:graphicFrameLocks noChangeAspect="1"/>
              </p:cNvGraphicFramePr>
              <p:nvPr/>
            </p:nvGraphicFramePr>
            <p:xfrm>
              <a:off x="2290" y="1058"/>
              <a:ext cx="120" cy="1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4078" name="位图图像" r:id="rId9" imgW="190426" imgH="237969" progId="Paint.Picture">
                      <p:embed/>
                    </p:oleObj>
                  </mc:Choice>
                  <mc:Fallback>
                    <p:oleObj name="位图图像" r:id="rId9" imgW="190426" imgH="237969" progId="Paint.Picture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90" y="1058"/>
                            <a:ext cx="120" cy="1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2" name="Object 103"/>
              <p:cNvGraphicFramePr>
                <a:graphicFrameLocks noChangeAspect="1"/>
              </p:cNvGraphicFramePr>
              <p:nvPr/>
            </p:nvGraphicFramePr>
            <p:xfrm>
              <a:off x="2290" y="1648"/>
              <a:ext cx="120" cy="1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4079" name="位图图像" r:id="rId10" imgW="190426" imgH="237969" progId="Paint.Picture">
                      <p:embed/>
                    </p:oleObj>
                  </mc:Choice>
                  <mc:Fallback>
                    <p:oleObj name="位图图像" r:id="rId10" imgW="190426" imgH="237969" progId="Paint.Picture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90" y="1648"/>
                            <a:ext cx="120" cy="1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3" name="Object 10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38599679"/>
                  </p:ext>
                </p:extLst>
              </p:nvPr>
            </p:nvGraphicFramePr>
            <p:xfrm>
              <a:off x="2288" y="2760"/>
              <a:ext cx="138" cy="1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4080" name="位图图像" r:id="rId11" imgW="219222" imgH="200159" progId="Paint.Picture">
                      <p:embed/>
                    </p:oleObj>
                  </mc:Choice>
                  <mc:Fallback>
                    <p:oleObj name="位图图像" r:id="rId11" imgW="219222" imgH="200159" progId="Paint.Picture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88" y="2760"/>
                            <a:ext cx="138" cy="126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chemeClr val="accent1"/>
                            </a:solidFill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4" name="Rectangle 106"/>
              <p:cNvSpPr>
                <a:spLocks noChangeArrowheads="1"/>
              </p:cNvSpPr>
              <p:nvPr/>
            </p:nvSpPr>
            <p:spPr bwMode="auto">
              <a:xfrm>
                <a:off x="3061" y="1022"/>
                <a:ext cx="159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/>
                <a:r>
                  <a:rPr lang="en-US" altLang="zh-CN" sz="1800" b="1"/>
                  <a:t>i</a:t>
                </a:r>
                <a:endParaRPr lang="zh-CN" altLang="en-US" sz="1800" b="1"/>
              </a:p>
            </p:txBody>
          </p:sp>
          <p:sp>
            <p:nvSpPr>
              <p:cNvPr id="75" name="Rectangle 107"/>
              <p:cNvSpPr>
                <a:spLocks noChangeArrowheads="1"/>
              </p:cNvSpPr>
              <p:nvPr/>
            </p:nvSpPr>
            <p:spPr bwMode="auto">
              <a:xfrm>
                <a:off x="3016" y="1294"/>
                <a:ext cx="23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/>
                <a:r>
                  <a:rPr lang="en-US" altLang="zh-CN" sz="1800" b="1"/>
                  <a:t>+</a:t>
                </a:r>
                <a:endParaRPr lang="zh-CN" altLang="en-US" sz="1800" b="1"/>
              </a:p>
            </p:txBody>
          </p:sp>
          <p:sp>
            <p:nvSpPr>
              <p:cNvPr id="76" name="Rectangle 108"/>
              <p:cNvSpPr>
                <a:spLocks noChangeArrowheads="1"/>
              </p:cNvSpPr>
              <p:nvPr/>
            </p:nvSpPr>
            <p:spPr bwMode="auto">
              <a:xfrm>
                <a:off x="3016" y="1567"/>
                <a:ext cx="23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/>
                <a:r>
                  <a:rPr lang="en-US" altLang="zh-CN" sz="1800" b="1" dirty="0"/>
                  <a:t>+</a:t>
                </a:r>
                <a:endParaRPr lang="zh-CN" altLang="en-US" sz="1800" b="1" dirty="0"/>
              </a:p>
            </p:txBody>
          </p:sp>
          <p:sp>
            <p:nvSpPr>
              <p:cNvPr id="77" name="Rectangle 109"/>
              <p:cNvSpPr>
                <a:spLocks noChangeArrowheads="1"/>
              </p:cNvSpPr>
              <p:nvPr/>
            </p:nvSpPr>
            <p:spPr bwMode="auto">
              <a:xfrm>
                <a:off x="3039" y="1884"/>
                <a:ext cx="159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/>
                <a:r>
                  <a:rPr lang="en-US" altLang="zh-CN" sz="1800" b="1"/>
                  <a:t>i</a:t>
                </a:r>
                <a:endParaRPr lang="zh-CN" altLang="en-US" sz="1800" b="1"/>
              </a:p>
            </p:txBody>
          </p:sp>
          <p:sp>
            <p:nvSpPr>
              <p:cNvPr id="78" name="Rectangle 110"/>
              <p:cNvSpPr>
                <a:spLocks noChangeArrowheads="1"/>
              </p:cNvSpPr>
              <p:nvPr/>
            </p:nvSpPr>
            <p:spPr bwMode="auto">
              <a:xfrm>
                <a:off x="3009" y="2156"/>
                <a:ext cx="23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/>
                <a:r>
                  <a:rPr lang="en-US" altLang="zh-CN" sz="1800" b="1"/>
                  <a:t>#</a:t>
                </a:r>
                <a:endParaRPr lang="zh-CN" altLang="en-US" sz="1800" b="1"/>
              </a:p>
            </p:txBody>
          </p:sp>
          <p:sp>
            <p:nvSpPr>
              <p:cNvPr id="79" name="Rectangle 111"/>
              <p:cNvSpPr>
                <a:spLocks noChangeArrowheads="1"/>
              </p:cNvSpPr>
              <p:nvPr/>
            </p:nvSpPr>
            <p:spPr bwMode="auto">
              <a:xfrm>
                <a:off x="3016" y="2428"/>
                <a:ext cx="23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/>
                <a:r>
                  <a:rPr lang="en-US" altLang="zh-CN" sz="1800" b="1" dirty="0"/>
                  <a:t>#</a:t>
                </a:r>
                <a:endParaRPr lang="zh-CN" altLang="en-US" sz="1800" b="1" dirty="0"/>
              </a:p>
            </p:txBody>
          </p:sp>
          <p:sp>
            <p:nvSpPr>
              <p:cNvPr id="80" name="Rectangle 112"/>
              <p:cNvSpPr>
                <a:spLocks noChangeArrowheads="1"/>
              </p:cNvSpPr>
              <p:nvPr/>
            </p:nvSpPr>
            <p:spPr bwMode="auto">
              <a:xfrm>
                <a:off x="3016" y="2586"/>
                <a:ext cx="235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>
                  <a:lnSpc>
                    <a:spcPct val="140000"/>
                  </a:lnSpc>
                </a:pPr>
                <a:r>
                  <a:rPr lang="en-US" altLang="zh-CN" sz="1800" b="1" dirty="0">
                    <a:solidFill>
                      <a:srgbClr val="FF0000"/>
                    </a:solidFill>
                  </a:rPr>
                  <a:t>#</a:t>
                </a:r>
              </a:p>
            </p:txBody>
          </p:sp>
        </p:grpSp>
      </p:grpSp>
      <p:graphicFrame>
        <p:nvGraphicFramePr>
          <p:cNvPr id="81" name="Object 1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0294493"/>
              </p:ext>
            </p:extLst>
          </p:nvPr>
        </p:nvGraphicFramePr>
        <p:xfrm>
          <a:off x="273286" y="4992854"/>
          <a:ext cx="8154193" cy="1650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81" name="BMP 图象" r:id="rId13" imgW="8535591" imgH="12095238" progId="Paint.Picture">
                  <p:embed/>
                </p:oleObj>
              </mc:Choice>
              <mc:Fallback>
                <p:oleObj name="BMP 图象" r:id="rId13" imgW="8535591" imgH="1209523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5121" t="57175" r="2744" b="32037"/>
                      <a:stretch>
                        <a:fillRect/>
                      </a:stretch>
                    </p:blipFill>
                    <p:spPr bwMode="auto">
                      <a:xfrm>
                        <a:off x="273286" y="4992854"/>
                        <a:ext cx="8154193" cy="16506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" name="Text Box 119"/>
          <p:cNvSpPr txBox="1">
            <a:spLocks noChangeArrowheads="1"/>
          </p:cNvSpPr>
          <p:nvPr/>
        </p:nvSpPr>
        <p:spPr bwMode="auto">
          <a:xfrm>
            <a:off x="6588126" y="6216650"/>
            <a:ext cx="23399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1800" b="1" dirty="0">
                <a:solidFill>
                  <a:srgbClr val="CC3300"/>
                </a:solidFill>
              </a:rPr>
              <a:t>算符优先分析不是规范归约！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989539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四、算符优先分析法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最左素短语：</a:t>
            </a:r>
          </a:p>
          <a:p>
            <a:endParaRPr lang="zh-CN" altLang="en-US" dirty="0"/>
          </a:p>
        </p:txBody>
      </p:sp>
      <p:sp>
        <p:nvSpPr>
          <p:cNvPr id="4" name="Text Box 58"/>
          <p:cNvSpPr txBox="1">
            <a:spLocks noChangeArrowheads="1"/>
          </p:cNvSpPr>
          <p:nvPr/>
        </p:nvSpPr>
        <p:spPr bwMode="auto">
          <a:xfrm>
            <a:off x="609600" y="1676400"/>
            <a:ext cx="80772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定义：</a:t>
            </a:r>
            <a:r>
              <a:rPr lang="en-US" altLang="zh-CN" sz="2800" b="1" dirty="0">
                <a:latin typeface="Times New Roman" panose="02020603050405020304" pitchFamily="18" charset="0"/>
              </a:rPr>
              <a:t>OPG</a:t>
            </a:r>
            <a:r>
              <a:rPr lang="zh-CN" altLang="en-US" sz="2800" b="1" dirty="0">
                <a:latin typeface="Times New Roman" panose="02020603050405020304" pitchFamily="18" charset="0"/>
              </a:rPr>
              <a:t>文法的句型的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素短语</a:t>
            </a:r>
            <a:r>
              <a:rPr lang="zh-CN" altLang="en-US" sz="2800" b="1" dirty="0">
                <a:latin typeface="Times New Roman" panose="02020603050405020304" pitchFamily="18" charset="0"/>
              </a:rPr>
              <a:t>是一个短语，它至少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包含一个终结符</a:t>
            </a:r>
            <a:r>
              <a:rPr lang="zh-CN" altLang="en-US" sz="2800" b="1" dirty="0">
                <a:latin typeface="Times New Roman" panose="02020603050405020304" pitchFamily="18" charset="0"/>
              </a:rPr>
              <a:t>，且除自身外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不再包含其他</a:t>
            </a:r>
            <a:r>
              <a:rPr lang="zh-CN" altLang="en-US" sz="2800" b="1" dirty="0">
                <a:latin typeface="Times New Roman" panose="02020603050405020304" pitchFamily="18" charset="0"/>
              </a:rPr>
              <a:t>素短语。处于句型最左边的素短语为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最左素短语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762000" y="3200400"/>
            <a:ext cx="2209800" cy="2308324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文法</a:t>
            </a:r>
            <a:r>
              <a:rPr lang="en-US" altLang="zh-CN" b="1" dirty="0">
                <a:latin typeface="Times New Roman" panose="02020603050405020304" pitchFamily="18" charset="0"/>
              </a:rPr>
              <a:t>G[E]</a:t>
            </a:r>
            <a:r>
              <a:rPr lang="zh-CN" altLang="en-US" b="1" dirty="0">
                <a:latin typeface="Times New Roman" panose="02020603050405020304" pitchFamily="18" charset="0"/>
              </a:rPr>
              <a:t>：</a:t>
            </a:r>
            <a:br>
              <a:rPr lang="zh-CN" altLang="en-US" b="1" dirty="0">
                <a:latin typeface="Times New Roman" panose="02020603050405020304" pitchFamily="18" charset="0"/>
              </a:rPr>
            </a:br>
            <a:r>
              <a:rPr lang="en-US" altLang="zh-CN" b="1" dirty="0">
                <a:latin typeface="Times New Roman" panose="02020603050405020304" pitchFamily="18" charset="0"/>
              </a:rPr>
              <a:t>(1) E→E+T</a:t>
            </a:r>
            <a:br>
              <a:rPr lang="en-US" altLang="zh-CN" b="1" dirty="0">
                <a:latin typeface="Times New Roman" panose="02020603050405020304" pitchFamily="18" charset="0"/>
              </a:rPr>
            </a:br>
            <a:r>
              <a:rPr lang="en-US" altLang="zh-CN" b="1" dirty="0">
                <a:latin typeface="Times New Roman" panose="02020603050405020304" pitchFamily="18" charset="0"/>
              </a:rPr>
              <a:t>(2) E→T</a:t>
            </a:r>
            <a:br>
              <a:rPr lang="en-US" altLang="zh-CN" b="1" dirty="0">
                <a:latin typeface="Times New Roman" panose="02020603050405020304" pitchFamily="18" charset="0"/>
              </a:rPr>
            </a:br>
            <a:r>
              <a:rPr lang="en-US" altLang="zh-CN" b="1" dirty="0">
                <a:latin typeface="Times New Roman" panose="02020603050405020304" pitchFamily="18" charset="0"/>
              </a:rPr>
              <a:t>(3) T→T*F</a:t>
            </a:r>
            <a:br>
              <a:rPr lang="en-US" altLang="zh-CN" b="1" dirty="0">
                <a:latin typeface="Times New Roman" panose="02020603050405020304" pitchFamily="18" charset="0"/>
              </a:rPr>
            </a:br>
            <a:r>
              <a:rPr lang="en-US" altLang="zh-CN" b="1" dirty="0">
                <a:latin typeface="Times New Roman" panose="02020603050405020304" pitchFamily="18" charset="0"/>
              </a:rPr>
              <a:t>(4) T→F</a:t>
            </a:r>
            <a:br>
              <a:rPr lang="en-US" altLang="zh-CN" b="1" dirty="0">
                <a:latin typeface="Times New Roman" panose="02020603050405020304" pitchFamily="18" charset="0"/>
              </a:rPr>
            </a:br>
            <a:r>
              <a:rPr lang="en-US" altLang="zh-CN" b="1" dirty="0">
                <a:latin typeface="Times New Roman" panose="02020603050405020304" pitchFamily="18" charset="0"/>
              </a:rPr>
              <a:t>(5) F→P</a:t>
            </a:r>
            <a:r>
              <a:rPr lang="en-US" altLang="zh-CN" b="1" dirty="0">
                <a:latin typeface="Times New Roman" panose="02020603050405020304" pitchFamily="18" charset="0"/>
                <a:sym typeface="Symbol" pitchFamily="18" charset="2"/>
              </a:rPr>
              <a:t>F|P</a:t>
            </a:r>
            <a:br>
              <a:rPr lang="en-US" altLang="zh-CN" b="1" dirty="0">
                <a:latin typeface="Times New Roman" panose="02020603050405020304" pitchFamily="18" charset="0"/>
                <a:sym typeface="Symbol" pitchFamily="18" charset="2"/>
              </a:rPr>
            </a:br>
            <a:r>
              <a:rPr lang="en-US" altLang="zh-CN" b="1" dirty="0">
                <a:latin typeface="Times New Roman" panose="02020603050405020304" pitchFamily="18" charset="0"/>
                <a:sym typeface="Symbol" pitchFamily="18" charset="2"/>
              </a:rPr>
              <a:t>(6) P</a:t>
            </a:r>
            <a:r>
              <a:rPr lang="en-US" altLang="zh-CN" b="1" dirty="0">
                <a:latin typeface="Times New Roman" panose="02020603050405020304" pitchFamily="18" charset="0"/>
              </a:rPr>
              <a:t>→(E)</a:t>
            </a:r>
            <a:br>
              <a:rPr lang="en-US" altLang="zh-CN" b="1" dirty="0">
                <a:latin typeface="Times New Roman" panose="02020603050405020304" pitchFamily="18" charset="0"/>
              </a:rPr>
            </a:br>
            <a:r>
              <a:rPr lang="en-US" altLang="zh-CN" b="1" dirty="0">
                <a:latin typeface="Times New Roman" panose="02020603050405020304" pitchFamily="18" charset="0"/>
              </a:rPr>
              <a:t>(7) </a:t>
            </a:r>
            <a:r>
              <a:rPr lang="en-US" altLang="zh-CN" b="1" dirty="0" err="1">
                <a:latin typeface="Times New Roman" panose="02020603050405020304" pitchFamily="18" charset="0"/>
              </a:rPr>
              <a:t>P→i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3124200" y="3200400"/>
            <a:ext cx="3657600" cy="2446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句型：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#T+T*</a:t>
            </a:r>
            <a:r>
              <a:rPr lang="en-US" altLang="zh-CN" b="1" dirty="0" err="1">
                <a:latin typeface="Times New Roman" panose="02020603050405020304" pitchFamily="18" charset="0"/>
                <a:ea typeface="楷体_GB2312" pitchFamily="49" charset="-122"/>
              </a:rPr>
              <a:t>F+i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#</a:t>
            </a:r>
          </a:p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其短语有：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T+T*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F+i</a:t>
            </a:r>
            <a:r>
              <a:rPr lang="en-US" altLang="zh-CN" b="1" dirty="0" err="1">
                <a:latin typeface="Times New Roman" panose="02020603050405020304" pitchFamily="18" charset="0"/>
                <a:ea typeface="楷体_GB2312" pitchFamily="49" charset="-122"/>
              </a:rPr>
              <a:t>,T+T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*F,T,T*F, </a:t>
            </a:r>
            <a:r>
              <a:rPr lang="en-US" altLang="zh-CN" b="1" dirty="0" err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endParaRPr lang="en-US" altLang="zh-CN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简单（直接）短语有：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T,T*F, </a:t>
            </a:r>
            <a:r>
              <a:rPr lang="en-US" altLang="zh-CN" b="1" dirty="0" err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endParaRPr lang="en-US" altLang="zh-CN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句柄：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T</a:t>
            </a:r>
          </a:p>
        </p:txBody>
      </p:sp>
      <p:grpSp>
        <p:nvGrpSpPr>
          <p:cNvPr id="7" name="Group 59"/>
          <p:cNvGrpSpPr>
            <a:grpSpLocks/>
          </p:cNvGrpSpPr>
          <p:nvPr/>
        </p:nvGrpSpPr>
        <p:grpSpPr bwMode="auto">
          <a:xfrm>
            <a:off x="6781800" y="3505201"/>
            <a:ext cx="2057400" cy="2046288"/>
            <a:chOff x="4272" y="2208"/>
            <a:chExt cx="1296" cy="1289"/>
          </a:xfrm>
        </p:grpSpPr>
        <p:sp>
          <p:nvSpPr>
            <p:cNvPr id="8" name="Text Box 4"/>
            <p:cNvSpPr txBox="1">
              <a:spLocks noChangeArrowheads="1"/>
            </p:cNvSpPr>
            <p:nvPr/>
          </p:nvSpPr>
          <p:spPr bwMode="auto">
            <a:xfrm>
              <a:off x="4896" y="2208"/>
              <a:ext cx="24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  <a:ea typeface="华文彩云" pitchFamily="2" charset="-122"/>
                </a:rPr>
                <a:t>E</a:t>
              </a:r>
            </a:p>
          </p:txBody>
        </p:sp>
        <p:sp>
          <p:nvSpPr>
            <p:cNvPr id="9" name="Text Box 5"/>
            <p:cNvSpPr txBox="1">
              <a:spLocks noChangeArrowheads="1"/>
            </p:cNvSpPr>
            <p:nvPr/>
          </p:nvSpPr>
          <p:spPr bwMode="auto">
            <a:xfrm>
              <a:off x="4560" y="2544"/>
              <a:ext cx="24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  <a:ea typeface="华文彩云" pitchFamily="2" charset="-122"/>
                </a:rPr>
                <a:t>E</a:t>
              </a:r>
            </a:p>
          </p:txBody>
        </p:sp>
        <p:sp>
          <p:nvSpPr>
            <p:cNvPr id="10" name="Text Box 6"/>
            <p:cNvSpPr txBox="1">
              <a:spLocks noChangeArrowheads="1"/>
            </p:cNvSpPr>
            <p:nvPr/>
          </p:nvSpPr>
          <p:spPr bwMode="auto">
            <a:xfrm>
              <a:off x="5280" y="2544"/>
              <a:ext cx="24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  <a:ea typeface="华文彩云" pitchFamily="2" charset="-122"/>
                </a:rPr>
                <a:t>T</a:t>
              </a:r>
            </a:p>
          </p:txBody>
        </p:sp>
        <p:sp>
          <p:nvSpPr>
            <p:cNvPr id="11" name="Text Box 7"/>
            <p:cNvSpPr txBox="1">
              <a:spLocks noChangeArrowheads="1"/>
            </p:cNvSpPr>
            <p:nvPr/>
          </p:nvSpPr>
          <p:spPr bwMode="auto">
            <a:xfrm>
              <a:off x="4896" y="2544"/>
              <a:ext cx="24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  <a:ea typeface="华文彩云" pitchFamily="2" charset="-122"/>
                </a:rPr>
                <a:t>+</a:t>
              </a:r>
            </a:p>
          </p:txBody>
        </p:sp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4560" y="2880"/>
              <a:ext cx="24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华文彩云" pitchFamily="2" charset="-122"/>
                </a:rPr>
                <a:t>+</a:t>
              </a:r>
            </a:p>
          </p:txBody>
        </p:sp>
        <p:sp>
          <p:nvSpPr>
            <p:cNvPr id="13" name="Text Box 9"/>
            <p:cNvSpPr txBox="1">
              <a:spLocks noChangeArrowheads="1"/>
            </p:cNvSpPr>
            <p:nvPr/>
          </p:nvSpPr>
          <p:spPr bwMode="auto">
            <a:xfrm>
              <a:off x="4272" y="2880"/>
              <a:ext cx="24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  <a:ea typeface="华文彩云" pitchFamily="2" charset="-122"/>
                </a:rPr>
                <a:t>E</a:t>
              </a:r>
            </a:p>
          </p:txBody>
        </p:sp>
        <p:sp>
          <p:nvSpPr>
            <p:cNvPr id="14" name="Text Box 10"/>
            <p:cNvSpPr txBox="1">
              <a:spLocks noChangeArrowheads="1"/>
            </p:cNvSpPr>
            <p:nvPr/>
          </p:nvSpPr>
          <p:spPr bwMode="auto">
            <a:xfrm>
              <a:off x="4800" y="2880"/>
              <a:ext cx="24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  <a:ea typeface="华文彩云" pitchFamily="2" charset="-122"/>
                </a:rPr>
                <a:t>T</a:t>
              </a:r>
            </a:p>
          </p:txBody>
        </p:sp>
        <p:sp>
          <p:nvSpPr>
            <p:cNvPr id="15" name="Text Box 11"/>
            <p:cNvSpPr txBox="1">
              <a:spLocks noChangeArrowheads="1"/>
            </p:cNvSpPr>
            <p:nvPr/>
          </p:nvSpPr>
          <p:spPr bwMode="auto">
            <a:xfrm>
              <a:off x="5328" y="2880"/>
              <a:ext cx="24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  <a:ea typeface="华文彩云" pitchFamily="2" charset="-122"/>
                </a:rPr>
                <a:t>F</a:t>
              </a:r>
            </a:p>
          </p:txBody>
        </p:sp>
        <p:sp>
          <p:nvSpPr>
            <p:cNvPr id="16" name="Text Box 12"/>
            <p:cNvSpPr txBox="1">
              <a:spLocks noChangeArrowheads="1"/>
            </p:cNvSpPr>
            <p:nvPr/>
          </p:nvSpPr>
          <p:spPr bwMode="auto">
            <a:xfrm>
              <a:off x="4800" y="3264"/>
              <a:ext cx="24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  <a:ea typeface="华文彩云" pitchFamily="2" charset="-122"/>
                </a:rPr>
                <a:t>*</a:t>
              </a:r>
            </a:p>
          </p:txBody>
        </p:sp>
        <p:sp>
          <p:nvSpPr>
            <p:cNvPr id="17" name="Text Box 13"/>
            <p:cNvSpPr txBox="1">
              <a:spLocks noChangeArrowheads="1"/>
            </p:cNvSpPr>
            <p:nvPr/>
          </p:nvSpPr>
          <p:spPr bwMode="auto">
            <a:xfrm>
              <a:off x="5040" y="3264"/>
              <a:ext cx="24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华文彩云" pitchFamily="2" charset="-122"/>
                </a:rPr>
                <a:t>F</a:t>
              </a:r>
            </a:p>
          </p:txBody>
        </p:sp>
        <p:sp>
          <p:nvSpPr>
            <p:cNvPr id="18" name="Text Box 14"/>
            <p:cNvSpPr txBox="1">
              <a:spLocks noChangeArrowheads="1"/>
            </p:cNvSpPr>
            <p:nvPr/>
          </p:nvSpPr>
          <p:spPr bwMode="auto">
            <a:xfrm>
              <a:off x="4560" y="3264"/>
              <a:ext cx="24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华文彩云" pitchFamily="2" charset="-122"/>
                </a:rPr>
                <a:t>T</a:t>
              </a:r>
            </a:p>
          </p:txBody>
        </p:sp>
        <p:sp>
          <p:nvSpPr>
            <p:cNvPr id="19" name="Text Box 15"/>
            <p:cNvSpPr txBox="1">
              <a:spLocks noChangeArrowheads="1"/>
            </p:cNvSpPr>
            <p:nvPr/>
          </p:nvSpPr>
          <p:spPr bwMode="auto">
            <a:xfrm>
              <a:off x="4272" y="3264"/>
              <a:ext cx="24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华文彩云" pitchFamily="2" charset="-122"/>
                </a:rPr>
                <a:t>T</a:t>
              </a:r>
            </a:p>
          </p:txBody>
        </p:sp>
        <p:sp>
          <p:nvSpPr>
            <p:cNvPr id="20" name="Text Box 16"/>
            <p:cNvSpPr txBox="1">
              <a:spLocks noChangeArrowheads="1"/>
            </p:cNvSpPr>
            <p:nvPr/>
          </p:nvSpPr>
          <p:spPr bwMode="auto">
            <a:xfrm>
              <a:off x="5328" y="3264"/>
              <a:ext cx="24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 err="1">
                  <a:latin typeface="Times New Roman" panose="02020603050405020304" pitchFamily="18" charset="0"/>
                  <a:ea typeface="华文彩云" pitchFamily="2" charset="-122"/>
                </a:rPr>
                <a:t>i</a:t>
              </a:r>
              <a:endParaRPr lang="en-US" altLang="zh-CN" b="1" dirty="0">
                <a:latin typeface="Times New Roman" panose="02020603050405020304" pitchFamily="18" charset="0"/>
                <a:ea typeface="华文彩云" pitchFamily="2" charset="-122"/>
              </a:endParaRPr>
            </a:p>
          </p:txBody>
        </p:sp>
        <p:sp>
          <p:nvSpPr>
            <p:cNvPr id="21" name="Line 17"/>
            <p:cNvSpPr>
              <a:spLocks noChangeShapeType="1"/>
            </p:cNvSpPr>
            <p:nvPr/>
          </p:nvSpPr>
          <p:spPr bwMode="auto">
            <a:xfrm>
              <a:off x="4992" y="244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2" name="Line 18"/>
            <p:cNvSpPr>
              <a:spLocks noChangeShapeType="1"/>
            </p:cNvSpPr>
            <p:nvPr/>
          </p:nvSpPr>
          <p:spPr bwMode="auto">
            <a:xfrm flipH="1">
              <a:off x="4704" y="2448"/>
              <a:ext cx="288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3" name="Line 19"/>
            <p:cNvSpPr>
              <a:spLocks noChangeShapeType="1"/>
            </p:cNvSpPr>
            <p:nvPr/>
          </p:nvSpPr>
          <p:spPr bwMode="auto">
            <a:xfrm>
              <a:off x="4992" y="2448"/>
              <a:ext cx="38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4" name="Line 20"/>
            <p:cNvSpPr>
              <a:spLocks noChangeShapeType="1"/>
            </p:cNvSpPr>
            <p:nvPr/>
          </p:nvSpPr>
          <p:spPr bwMode="auto">
            <a:xfrm>
              <a:off x="4656" y="278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5" name="Line 21"/>
            <p:cNvSpPr>
              <a:spLocks noChangeShapeType="1"/>
            </p:cNvSpPr>
            <p:nvPr/>
          </p:nvSpPr>
          <p:spPr bwMode="auto">
            <a:xfrm>
              <a:off x="4656" y="2784"/>
              <a:ext cx="24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6" name="Line 22"/>
            <p:cNvSpPr>
              <a:spLocks noChangeShapeType="1"/>
            </p:cNvSpPr>
            <p:nvPr/>
          </p:nvSpPr>
          <p:spPr bwMode="auto">
            <a:xfrm flipH="1">
              <a:off x="4416" y="2784"/>
              <a:ext cx="24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7" name="Line 23"/>
            <p:cNvSpPr>
              <a:spLocks noChangeShapeType="1"/>
            </p:cNvSpPr>
            <p:nvPr/>
          </p:nvSpPr>
          <p:spPr bwMode="auto">
            <a:xfrm>
              <a:off x="4368" y="312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8" name="Line 24"/>
            <p:cNvSpPr>
              <a:spLocks noChangeShapeType="1"/>
            </p:cNvSpPr>
            <p:nvPr/>
          </p:nvSpPr>
          <p:spPr bwMode="auto">
            <a:xfrm>
              <a:off x="4896" y="312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9" name="Line 25"/>
            <p:cNvSpPr>
              <a:spLocks noChangeShapeType="1"/>
            </p:cNvSpPr>
            <p:nvPr/>
          </p:nvSpPr>
          <p:spPr bwMode="auto">
            <a:xfrm flipH="1">
              <a:off x="4656" y="3120"/>
              <a:ext cx="24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30" name="Line 26"/>
            <p:cNvSpPr>
              <a:spLocks noChangeShapeType="1"/>
            </p:cNvSpPr>
            <p:nvPr/>
          </p:nvSpPr>
          <p:spPr bwMode="auto">
            <a:xfrm>
              <a:off x="4896" y="3120"/>
              <a:ext cx="24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31" name="Line 27"/>
            <p:cNvSpPr>
              <a:spLocks noChangeShapeType="1"/>
            </p:cNvSpPr>
            <p:nvPr/>
          </p:nvSpPr>
          <p:spPr bwMode="auto">
            <a:xfrm>
              <a:off x="5376" y="278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32" name="Line 28"/>
            <p:cNvSpPr>
              <a:spLocks noChangeShapeType="1"/>
            </p:cNvSpPr>
            <p:nvPr/>
          </p:nvSpPr>
          <p:spPr bwMode="auto">
            <a:xfrm>
              <a:off x="5424" y="312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33" name="Text Box 29"/>
          <p:cNvSpPr txBox="1">
            <a:spLocks noChangeArrowheads="1"/>
          </p:cNvSpPr>
          <p:nvPr/>
        </p:nvSpPr>
        <p:spPr bwMode="auto">
          <a:xfrm>
            <a:off x="609599" y="5974556"/>
            <a:ext cx="468248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素短语为：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T*F,  </a:t>
            </a:r>
            <a:r>
              <a:rPr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endParaRPr lang="en-US" altLang="zh-CN" sz="2800" b="1" dirty="0">
              <a:solidFill>
                <a:srgbClr val="FF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4" name="Text Box 29"/>
          <p:cNvSpPr txBox="1">
            <a:spLocks noChangeArrowheads="1"/>
          </p:cNvSpPr>
          <p:nvPr/>
        </p:nvSpPr>
        <p:spPr bwMode="auto">
          <a:xfrm>
            <a:off x="5372100" y="6012656"/>
            <a:ext cx="3581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最左素短语为：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T*F</a:t>
            </a:r>
          </a:p>
        </p:txBody>
      </p:sp>
      <p:sp>
        <p:nvSpPr>
          <p:cNvPr id="36" name="灯片编号占位符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798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nimBg="1" autoUpdateAnimBg="0"/>
      <p:bldP spid="6" grpId="0" build="p" autoUpdateAnimBg="0"/>
      <p:bldP spid="33" grpId="0" autoUpdateAnimBg="0"/>
      <p:bldP spid="34" grpId="0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四、算符优先分析法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spcAft>
                <a:spcPct val="5000"/>
              </a:spcAft>
            </a:pPr>
            <a:r>
              <a:rPr lang="zh-CN" altLang="en-US" b="1" dirty="0">
                <a:latin typeface="+mj-ea"/>
                <a:ea typeface="+mj-ea"/>
              </a:rPr>
              <a:t>结论：</a:t>
            </a:r>
            <a:endParaRPr lang="en-US" altLang="zh-CN" b="1" dirty="0">
              <a:latin typeface="+mj-ea"/>
              <a:ea typeface="+mj-ea"/>
            </a:endParaRPr>
          </a:p>
          <a:p>
            <a:pPr lvl="1">
              <a:lnSpc>
                <a:spcPct val="150000"/>
              </a:lnSpc>
              <a:spcAft>
                <a:spcPct val="5000"/>
              </a:spcAft>
            </a:pPr>
            <a:r>
              <a:rPr lang="zh-CN" altLang="en-US" b="1" dirty="0">
                <a:latin typeface="+mj-ea"/>
                <a:ea typeface="+mj-ea"/>
              </a:rPr>
              <a:t>算符优先文法在归约过程中</a:t>
            </a:r>
            <a:r>
              <a:rPr lang="zh-CN" altLang="en-US" b="1" dirty="0">
                <a:solidFill>
                  <a:schemeClr val="hlink"/>
                </a:solidFill>
                <a:latin typeface="+mj-ea"/>
                <a:ea typeface="+mj-ea"/>
              </a:rPr>
              <a:t>只考虑终结符之间的优先关系</a:t>
            </a:r>
            <a:r>
              <a:rPr lang="zh-CN" altLang="en-US" b="1" dirty="0">
                <a:latin typeface="+mj-ea"/>
                <a:ea typeface="+mj-ea"/>
              </a:rPr>
              <a:t>，由此来确定“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句柄</a:t>
            </a:r>
            <a:r>
              <a:rPr lang="zh-CN" altLang="en-US" b="1" dirty="0">
                <a:latin typeface="+mj-ea"/>
                <a:ea typeface="+mj-ea"/>
              </a:rPr>
              <a:t>”，而与非终结符无关。只需要知道把当前“句柄”归约为某一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非终结符</a:t>
            </a:r>
            <a:r>
              <a:rPr lang="zh-CN" altLang="en-US" b="1" dirty="0">
                <a:latin typeface="+mj-ea"/>
                <a:ea typeface="+mj-ea"/>
              </a:rPr>
              <a:t>，不必知道该非终结符的名字是什么。</a:t>
            </a:r>
          </a:p>
          <a:p>
            <a:pPr lvl="1">
              <a:lnSpc>
                <a:spcPct val="150000"/>
              </a:lnSpc>
              <a:spcAft>
                <a:spcPct val="5000"/>
              </a:spcAft>
            </a:pPr>
            <a:r>
              <a:rPr lang="zh-CN" altLang="en-US" b="1" dirty="0">
                <a:latin typeface="+mj-ea"/>
                <a:ea typeface="+mj-ea"/>
              </a:rPr>
              <a:t>“句柄”实际上是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最</a:t>
            </a:r>
            <a:r>
              <a:rPr lang="zh-CN" altLang="en-US" b="1" dirty="0">
                <a:solidFill>
                  <a:schemeClr val="hlink"/>
                </a:solidFill>
                <a:latin typeface="+mj-ea"/>
                <a:ea typeface="+mj-ea"/>
              </a:rPr>
              <a:t>左素短语</a:t>
            </a:r>
            <a:r>
              <a:rPr lang="zh-CN" altLang="en-US" b="1" dirty="0">
                <a:latin typeface="+mj-ea"/>
                <a:ea typeface="+mj-ea"/>
              </a:rPr>
              <a:t>。算符优先分析的关键是寻找最左素短语。</a:t>
            </a:r>
          </a:p>
          <a:p>
            <a:pPr eaLnBrk="1" hangingPunct="1">
              <a:spcAft>
                <a:spcPct val="5000"/>
              </a:spcAft>
            </a:pPr>
            <a:endParaRPr lang="zh-CN" altLang="en-US" b="1" dirty="0"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323331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四、算符优先分析法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+mj-ea"/>
                <a:ea typeface="+mj-ea"/>
              </a:rPr>
              <a:t>优先函数</a:t>
            </a:r>
            <a:endParaRPr lang="en-US" altLang="zh-CN" b="1" dirty="0">
              <a:latin typeface="+mj-ea"/>
              <a:ea typeface="+mj-ea"/>
            </a:endParaRPr>
          </a:p>
          <a:p>
            <a:pPr lvl="1"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用优先关系表来表示每对终结符之间的优先关系，存储量大、查找费时。</a:t>
            </a:r>
            <a:endParaRPr lang="en-US" altLang="zh-CN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 lvl="1">
              <a:lnSpc>
                <a:spcPct val="150000"/>
              </a:lnSpc>
            </a:pPr>
            <a:r>
              <a:rPr lang="zh-CN" altLang="en-US" b="1" dirty="0">
                <a:latin typeface="+mj-ea"/>
                <a:ea typeface="+mj-ea"/>
              </a:rPr>
              <a:t>如果给每个终结符赋一个值</a:t>
            </a:r>
            <a:r>
              <a:rPr lang="en-US" altLang="zh-CN" b="1" dirty="0">
                <a:latin typeface="+mj-ea"/>
                <a:ea typeface="+mj-ea"/>
              </a:rPr>
              <a:t>(</a:t>
            </a:r>
            <a:r>
              <a:rPr lang="zh-CN" altLang="en-US" b="1" dirty="0">
                <a:latin typeface="+mj-ea"/>
                <a:ea typeface="+mj-ea"/>
              </a:rPr>
              <a:t>即定义终结符的一个函数</a:t>
            </a:r>
            <a:r>
              <a:rPr lang="en-US" altLang="zh-CN" b="1" dirty="0">
                <a:latin typeface="+mj-ea"/>
                <a:ea typeface="+mj-ea"/>
              </a:rPr>
              <a:t>f)</a:t>
            </a:r>
            <a:r>
              <a:rPr lang="zh-CN" altLang="en-US" b="1" dirty="0">
                <a:latin typeface="+mj-ea"/>
                <a:ea typeface="+mj-ea"/>
              </a:rPr>
              <a:t>，值的大小反映其优先关系，则终结符对</a:t>
            </a:r>
            <a:r>
              <a:rPr lang="en-US" altLang="zh-CN" b="1" dirty="0">
                <a:latin typeface="+mj-ea"/>
                <a:ea typeface="+mj-ea"/>
              </a:rPr>
              <a:t>a</a:t>
            </a:r>
            <a:r>
              <a:rPr lang="zh-CN" altLang="en-US" b="1" dirty="0">
                <a:latin typeface="+mj-ea"/>
                <a:ea typeface="+mj-ea"/>
              </a:rPr>
              <a:t>、</a:t>
            </a:r>
            <a:r>
              <a:rPr lang="en-US" altLang="zh-CN" b="1" dirty="0">
                <a:latin typeface="+mj-ea"/>
                <a:ea typeface="+mj-ea"/>
              </a:rPr>
              <a:t>b</a:t>
            </a:r>
            <a:r>
              <a:rPr lang="zh-CN" altLang="en-US" b="1" dirty="0">
                <a:latin typeface="+mj-ea"/>
                <a:ea typeface="+mj-ea"/>
              </a:rPr>
              <a:t>之间的优先关系就转换为两个优先函数</a:t>
            </a:r>
            <a:r>
              <a:rPr lang="en-US" altLang="zh-CN" b="1" dirty="0">
                <a:latin typeface="+mj-ea"/>
                <a:ea typeface="+mj-ea"/>
              </a:rPr>
              <a:t>f(a)</a:t>
            </a:r>
            <a:r>
              <a:rPr lang="zh-CN" altLang="en-US" b="1" dirty="0">
                <a:latin typeface="+mj-ea"/>
                <a:ea typeface="+mj-ea"/>
              </a:rPr>
              <a:t>与</a:t>
            </a:r>
            <a:r>
              <a:rPr lang="en-US" altLang="zh-CN" b="1" dirty="0">
                <a:latin typeface="+mj-ea"/>
                <a:ea typeface="+mj-ea"/>
              </a:rPr>
              <a:t>f(b)</a:t>
            </a:r>
            <a:r>
              <a:rPr lang="zh-CN" altLang="en-US" b="1" dirty="0">
                <a:latin typeface="+mj-ea"/>
                <a:ea typeface="+mj-ea"/>
              </a:rPr>
              <a:t>值的比较。</a:t>
            </a:r>
            <a:endParaRPr lang="en-US" altLang="zh-CN" b="1" dirty="0">
              <a:latin typeface="+mj-ea"/>
              <a:ea typeface="+mj-ea"/>
            </a:endParaRPr>
          </a:p>
          <a:p>
            <a:pPr lvl="1">
              <a:lnSpc>
                <a:spcPct val="150000"/>
              </a:lnSpc>
            </a:pPr>
            <a:r>
              <a:rPr lang="zh-CN" altLang="en-US" b="1" dirty="0">
                <a:latin typeface="+mj-ea"/>
                <a:ea typeface="+mj-ea"/>
              </a:rPr>
              <a:t>使用优先函数有两个明显的好处：一是节省空间；二是便于进行比较运算。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036521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四、算符优先分析法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优先函数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755650" y="1634626"/>
            <a:ext cx="7920038" cy="4742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55600" indent="-269875" algn="l" rtl="0" eaLnBrk="1" fontAlgn="base" hangingPunct="1">
              <a:spcBef>
                <a:spcPts val="1800"/>
              </a:spcBef>
              <a:spcAft>
                <a:spcPct val="0"/>
              </a:spcAft>
              <a:buClr>
                <a:srgbClr val="003399"/>
              </a:buClr>
              <a:buSzPct val="80000"/>
              <a:buFont typeface="Wingdings 2" panose="05020102010507070707" pitchFamily="18" charset="2"/>
              <a:buChar char=""/>
              <a:defRPr sz="2400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700088" indent="-342900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2000" kern="1200">
                <a:solidFill>
                  <a:srgbClr val="7030A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14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2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  <a:buNone/>
            </a:pPr>
            <a:r>
              <a:rPr lang="zh-CN" altLang="en-US" sz="1800" dirty="0"/>
              <a:t>如果根据一个文法的算符优先关系表，使得文法中的每个终结符</a:t>
            </a:r>
            <a:r>
              <a:rPr lang="en-US" altLang="zh-CN" sz="1800" dirty="0"/>
              <a:t>a</a:t>
            </a:r>
            <a:r>
              <a:rPr lang="zh-CN" altLang="en-US" sz="1800" dirty="0"/>
              <a:t>和</a:t>
            </a:r>
            <a:r>
              <a:rPr lang="en-US" altLang="zh-CN" sz="1800" dirty="0"/>
              <a:t>b</a:t>
            </a:r>
            <a:r>
              <a:rPr lang="zh-CN" altLang="en-US" sz="1800" dirty="0"/>
              <a:t>满足下述条件：</a:t>
            </a:r>
          </a:p>
          <a:p>
            <a:pPr algn="just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1800" dirty="0"/>
              <a:t>         </a:t>
            </a:r>
            <a:r>
              <a:rPr lang="en-US" altLang="zh-CN" sz="1800" dirty="0"/>
              <a:t>(1) </a:t>
            </a:r>
            <a:r>
              <a:rPr lang="zh-CN" altLang="en-US" sz="1800" dirty="0"/>
              <a:t>如果存在</a:t>
            </a:r>
            <a:r>
              <a:rPr lang="en-US" altLang="zh-CN" sz="1800" dirty="0"/>
              <a:t>a           b</a:t>
            </a:r>
            <a:r>
              <a:rPr lang="zh-CN" altLang="en-US" sz="1800" dirty="0"/>
              <a:t>， 则有</a:t>
            </a:r>
            <a:r>
              <a:rPr lang="en-US" altLang="zh-CN" sz="1800" dirty="0"/>
              <a:t>f(a)=g(b)</a:t>
            </a:r>
            <a:r>
              <a:rPr lang="zh-CN" altLang="en-US" sz="1800" dirty="0"/>
              <a:t>；</a:t>
            </a:r>
          </a:p>
          <a:p>
            <a:pPr algn="just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1800" dirty="0"/>
              <a:t>         </a:t>
            </a:r>
            <a:r>
              <a:rPr lang="en-US" altLang="zh-CN" sz="1800" dirty="0"/>
              <a:t>(2) </a:t>
            </a:r>
            <a:r>
              <a:rPr lang="zh-CN" altLang="en-US" sz="1800" dirty="0"/>
              <a:t>如果存在</a:t>
            </a:r>
            <a:r>
              <a:rPr lang="en-US" altLang="zh-CN" sz="1800" dirty="0"/>
              <a:t>a ⋗ b</a:t>
            </a:r>
            <a:r>
              <a:rPr lang="zh-CN" altLang="en-US" sz="1800" dirty="0"/>
              <a:t>，则有</a:t>
            </a:r>
            <a:r>
              <a:rPr lang="en-US" altLang="zh-CN" sz="1800" dirty="0"/>
              <a:t>f(a)</a:t>
            </a:r>
            <a:r>
              <a:rPr lang="zh-CN" altLang="en-US" sz="1800" dirty="0"/>
              <a:t>＞</a:t>
            </a:r>
            <a:r>
              <a:rPr lang="en-US" altLang="zh-CN" sz="1800" dirty="0"/>
              <a:t>g(b)</a:t>
            </a:r>
            <a:r>
              <a:rPr lang="zh-CN" altLang="en-US" sz="1800" dirty="0"/>
              <a:t>；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1800" dirty="0"/>
              <a:t>         </a:t>
            </a:r>
            <a:r>
              <a:rPr lang="en-US" altLang="zh-CN" sz="1800" dirty="0"/>
              <a:t>(3) </a:t>
            </a:r>
            <a:r>
              <a:rPr lang="zh-CN" altLang="en-US" sz="1800" dirty="0"/>
              <a:t>如果存在</a:t>
            </a:r>
            <a:r>
              <a:rPr lang="en-US" altLang="zh-CN" sz="1800" dirty="0"/>
              <a:t>a ⋖ b</a:t>
            </a:r>
            <a:r>
              <a:rPr lang="zh-CN" altLang="en-US" sz="1800" dirty="0"/>
              <a:t>，则有</a:t>
            </a:r>
            <a:r>
              <a:rPr lang="en-US" altLang="zh-CN" sz="1800" dirty="0"/>
              <a:t>f(a)</a:t>
            </a:r>
            <a:r>
              <a:rPr lang="zh-CN" altLang="en-US" sz="1800" dirty="0"/>
              <a:t>＜</a:t>
            </a:r>
            <a:r>
              <a:rPr lang="en-US" altLang="zh-CN" sz="1800" dirty="0"/>
              <a:t>g(b)</a:t>
            </a:r>
            <a:r>
              <a:rPr lang="zh-CN" altLang="en-US" sz="1800" dirty="0"/>
              <a:t>。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1800" dirty="0"/>
              <a:t>则称</a:t>
            </a:r>
            <a:r>
              <a:rPr lang="en-US" altLang="zh-CN" sz="1800" dirty="0"/>
              <a:t>f</a:t>
            </a:r>
            <a:r>
              <a:rPr lang="zh-CN" altLang="en-US" sz="1800" dirty="0"/>
              <a:t>和</a:t>
            </a:r>
            <a:r>
              <a:rPr lang="en-US" altLang="zh-CN" sz="1800" dirty="0"/>
              <a:t>g</a:t>
            </a:r>
            <a:r>
              <a:rPr lang="zh-CN" altLang="en-US" sz="1800" dirty="0"/>
              <a:t>为优先函数；其中，</a:t>
            </a:r>
            <a:r>
              <a:rPr lang="en-US" altLang="zh-CN" sz="1800" dirty="0"/>
              <a:t>f </a:t>
            </a:r>
            <a:r>
              <a:rPr lang="zh-CN" altLang="en-US" sz="1800" dirty="0"/>
              <a:t>称为入栈函数，</a:t>
            </a:r>
            <a:r>
              <a:rPr lang="en-US" altLang="zh-CN" sz="1800" dirty="0"/>
              <a:t>g</a:t>
            </a:r>
            <a:r>
              <a:rPr lang="zh-CN" altLang="en-US" sz="1800" dirty="0"/>
              <a:t>称为比较函数。</a:t>
            </a:r>
            <a:endParaRPr lang="en-US" altLang="zh-CN" sz="1800" dirty="0"/>
          </a:p>
          <a:p>
            <a:pPr>
              <a:lnSpc>
                <a:spcPct val="120000"/>
              </a:lnSpc>
              <a:buNone/>
            </a:pPr>
            <a:r>
              <a:rPr lang="zh-CN" altLang="en-US" sz="1800" dirty="0"/>
              <a:t>一个终结符在</a:t>
            </a:r>
            <a:r>
              <a:rPr lang="zh-CN" altLang="en-US" sz="1800" dirty="0">
                <a:solidFill>
                  <a:srgbClr val="FF0000"/>
                </a:solidFill>
              </a:rPr>
              <a:t>栈中</a:t>
            </a:r>
            <a:r>
              <a:rPr lang="en-US" altLang="zh-CN" sz="1800" dirty="0">
                <a:solidFill>
                  <a:srgbClr val="FF0000"/>
                </a:solidFill>
              </a:rPr>
              <a:t>(</a:t>
            </a:r>
            <a:r>
              <a:rPr lang="zh-CN" altLang="en-US" sz="1800" dirty="0">
                <a:solidFill>
                  <a:srgbClr val="FF0000"/>
                </a:solidFill>
              </a:rPr>
              <a:t>左</a:t>
            </a:r>
            <a:r>
              <a:rPr lang="en-US" altLang="zh-CN" sz="1800" dirty="0">
                <a:solidFill>
                  <a:srgbClr val="FF0000"/>
                </a:solidFill>
              </a:rPr>
              <a:t>)</a:t>
            </a:r>
            <a:r>
              <a:rPr lang="zh-CN" altLang="en-US" sz="1800" dirty="0"/>
              <a:t>与在</a:t>
            </a:r>
            <a:r>
              <a:rPr lang="zh-CN" altLang="en-US" sz="1800" dirty="0">
                <a:solidFill>
                  <a:srgbClr val="FF0000"/>
                </a:solidFill>
              </a:rPr>
              <a:t>输入串中</a:t>
            </a:r>
            <a:r>
              <a:rPr lang="en-US" altLang="zh-CN" sz="1800" dirty="0">
                <a:solidFill>
                  <a:srgbClr val="FF0000"/>
                </a:solidFill>
              </a:rPr>
              <a:t>(</a:t>
            </a:r>
            <a:r>
              <a:rPr lang="zh-CN" altLang="en-US" sz="1800" dirty="0">
                <a:solidFill>
                  <a:srgbClr val="FF0000"/>
                </a:solidFill>
              </a:rPr>
              <a:t>右</a:t>
            </a:r>
            <a:r>
              <a:rPr lang="en-US" altLang="zh-CN" sz="1800" dirty="0">
                <a:solidFill>
                  <a:srgbClr val="FF0000"/>
                </a:solidFill>
              </a:rPr>
              <a:t>)</a:t>
            </a:r>
            <a:r>
              <a:rPr lang="zh-CN" altLang="en-US" sz="1800" dirty="0"/>
              <a:t>的优先值是不同的。因此，对一个终结符</a:t>
            </a:r>
            <a:r>
              <a:rPr lang="en-US" altLang="zh-CN" sz="1800" dirty="0"/>
              <a:t>a</a:t>
            </a:r>
            <a:r>
              <a:rPr lang="zh-CN" altLang="en-US" sz="1800" dirty="0"/>
              <a:t>而言，它应该有一个</a:t>
            </a:r>
            <a:r>
              <a:rPr lang="zh-CN" altLang="en-US" sz="1800" dirty="0">
                <a:solidFill>
                  <a:srgbClr val="FF0000"/>
                </a:solidFill>
              </a:rPr>
              <a:t>左优先数</a:t>
            </a:r>
            <a:r>
              <a:rPr lang="en-US" altLang="zh-CN" sz="1800" dirty="0">
                <a:solidFill>
                  <a:srgbClr val="FF0000"/>
                </a:solidFill>
              </a:rPr>
              <a:t>f(a)</a:t>
            </a:r>
            <a:r>
              <a:rPr lang="zh-CN" altLang="en-US" sz="1800" dirty="0"/>
              <a:t>和一个</a:t>
            </a:r>
            <a:r>
              <a:rPr lang="zh-CN" altLang="en-US" sz="1800" dirty="0">
                <a:solidFill>
                  <a:srgbClr val="FF0000"/>
                </a:solidFill>
              </a:rPr>
              <a:t>右优先数</a:t>
            </a:r>
            <a:r>
              <a:rPr lang="en-US" altLang="zh-CN" sz="1800" dirty="0">
                <a:solidFill>
                  <a:srgbClr val="FF0000"/>
                </a:solidFill>
              </a:rPr>
              <a:t>g(a)</a:t>
            </a:r>
            <a:r>
              <a:rPr lang="zh-CN" altLang="en-US" sz="1800" dirty="0"/>
              <a:t>，这样就定义了终结符的一对函数。 </a:t>
            </a:r>
            <a:endParaRPr lang="en-US" altLang="zh-CN" sz="1800" dirty="0"/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endParaRPr lang="zh-CN" altLang="en-US" sz="180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65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782E3D9-1297-42E2-A96C-C739AB6D6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3131822" y="2708911"/>
            <a:ext cx="363834" cy="241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70577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四、算符优先分析法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构造优先函数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endParaRPr lang="zh-CN" altLang="en-US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684213" y="1738070"/>
            <a:ext cx="8064500" cy="453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55600" indent="-269875" algn="l" rtl="0" eaLnBrk="1" fontAlgn="base" hangingPunct="1">
              <a:spcBef>
                <a:spcPts val="1800"/>
              </a:spcBef>
              <a:spcAft>
                <a:spcPct val="0"/>
              </a:spcAft>
              <a:buClr>
                <a:srgbClr val="003399"/>
              </a:buClr>
              <a:buSzPct val="80000"/>
              <a:buFont typeface="Wingdings 2" panose="05020102010507070707" pitchFamily="18" charset="2"/>
              <a:buChar char=""/>
              <a:defRPr sz="2400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700088" indent="-342900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2000" kern="1200">
                <a:solidFill>
                  <a:srgbClr val="7030A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14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2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/>
              <a:t>   有两种：一</a:t>
            </a:r>
            <a:r>
              <a:rPr lang="zh-CN" altLang="en-US" sz="2000" dirty="0">
                <a:solidFill>
                  <a:srgbClr val="FF0000"/>
                </a:solidFill>
              </a:rPr>
              <a:t>种是关系图法</a:t>
            </a:r>
            <a:r>
              <a:rPr lang="zh-CN" altLang="en-US" sz="2000" dirty="0"/>
              <a:t>；另一种由</a:t>
            </a:r>
            <a:r>
              <a:rPr lang="zh-CN" altLang="en-US" sz="2000" dirty="0">
                <a:solidFill>
                  <a:srgbClr val="FF0000"/>
                </a:solidFill>
              </a:rPr>
              <a:t>定义直接构造</a:t>
            </a:r>
            <a:r>
              <a:rPr lang="zh-CN" altLang="en-US" sz="2000" dirty="0"/>
              <a:t>。</a:t>
            </a: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/>
              <a:t>   </a:t>
            </a:r>
            <a:r>
              <a:rPr lang="en-US" altLang="zh-CN" sz="2000" b="1" dirty="0"/>
              <a:t>(1) </a:t>
            </a:r>
            <a:r>
              <a:rPr lang="zh-CN" altLang="en-US" sz="2000" b="1" dirty="0"/>
              <a:t>用</a:t>
            </a:r>
            <a:r>
              <a:rPr lang="zh-CN" altLang="en-US" sz="2000" b="1" dirty="0">
                <a:solidFill>
                  <a:srgbClr val="FF0000"/>
                </a:solidFill>
              </a:rPr>
              <a:t>关系图法</a:t>
            </a:r>
            <a:r>
              <a:rPr lang="zh-CN" altLang="en-US" sz="2000" b="1" dirty="0"/>
              <a:t>构造优先函数的步骤如下：</a:t>
            </a: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/>
              <a:t>   </a:t>
            </a:r>
            <a:r>
              <a:rPr lang="en-US" altLang="zh-CN" sz="2000" dirty="0"/>
              <a:t>① </a:t>
            </a:r>
            <a:r>
              <a:rPr lang="zh-CN" altLang="en-US" sz="2000" dirty="0"/>
              <a:t>对所有终结符</a:t>
            </a:r>
            <a:r>
              <a:rPr lang="en-US" altLang="zh-CN" sz="2000" dirty="0"/>
              <a:t>a(</a:t>
            </a:r>
            <a:r>
              <a:rPr lang="zh-CN" altLang="en-US" sz="2000" dirty="0"/>
              <a:t>包括</a:t>
            </a:r>
            <a:r>
              <a:rPr lang="zh-CN" altLang="en-US" sz="2000" dirty="0">
                <a:latin typeface="Times New Roman" pitchFamily="18" charset="0"/>
              </a:rPr>
              <a:t>“</a:t>
            </a:r>
            <a:r>
              <a:rPr lang="en-US" altLang="zh-CN" sz="2000" dirty="0"/>
              <a:t>#</a:t>
            </a:r>
            <a:r>
              <a:rPr lang="en-US" altLang="zh-CN" sz="2000" dirty="0">
                <a:latin typeface="Times New Roman" pitchFamily="18" charset="0"/>
              </a:rPr>
              <a:t>”</a:t>
            </a:r>
            <a:r>
              <a:rPr lang="en-US" altLang="zh-CN" sz="2000" dirty="0"/>
              <a:t>)</a:t>
            </a:r>
            <a:r>
              <a:rPr lang="zh-CN" altLang="en-US" sz="2000" dirty="0"/>
              <a:t>，用有下脚标的</a:t>
            </a:r>
            <a:r>
              <a:rPr lang="en-US" altLang="zh-CN" sz="2000" dirty="0"/>
              <a:t>f</a:t>
            </a:r>
            <a:r>
              <a:rPr lang="en-US" altLang="zh-CN" sz="2000" baseline="-30000" dirty="0"/>
              <a:t>a</a:t>
            </a:r>
            <a:r>
              <a:rPr lang="zh-CN" altLang="en-US" sz="2000" dirty="0"/>
              <a:t>、</a:t>
            </a:r>
            <a:r>
              <a:rPr lang="en-US" altLang="zh-CN" sz="2000" dirty="0" err="1"/>
              <a:t>g</a:t>
            </a:r>
            <a:r>
              <a:rPr lang="en-US" altLang="zh-CN" sz="2000" baseline="-30000" dirty="0" err="1"/>
              <a:t>a</a:t>
            </a:r>
            <a:r>
              <a:rPr lang="zh-CN" altLang="en-US" sz="2000" dirty="0"/>
              <a:t>为结点名，画出全部</a:t>
            </a:r>
            <a:r>
              <a:rPr lang="en-US" altLang="zh-CN" sz="2000" dirty="0"/>
              <a:t>n</a:t>
            </a:r>
            <a:r>
              <a:rPr lang="zh-CN" altLang="en-US" sz="2000" dirty="0"/>
              <a:t>个终结符所对应的</a:t>
            </a:r>
            <a:r>
              <a:rPr lang="en-US" altLang="zh-CN" sz="2000" dirty="0"/>
              <a:t>2n</a:t>
            </a:r>
            <a:r>
              <a:rPr lang="zh-CN" altLang="en-US" sz="2000" dirty="0"/>
              <a:t>个结点；</a:t>
            </a:r>
          </a:p>
          <a:p>
            <a:pPr algn="just">
              <a:lnSpc>
                <a:spcPct val="14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000" dirty="0"/>
              <a:t>   </a:t>
            </a:r>
            <a:r>
              <a:rPr lang="en-US" altLang="zh-CN" sz="2000" dirty="0"/>
              <a:t>② </a:t>
            </a:r>
            <a:r>
              <a:rPr lang="zh-CN" altLang="en-US" sz="2000" dirty="0"/>
              <a:t>若</a:t>
            </a:r>
            <a:r>
              <a:rPr lang="en-US" altLang="zh-CN" sz="2000" dirty="0" err="1"/>
              <a:t>a</a:t>
            </a:r>
            <a:r>
              <a:rPr lang="en-US" altLang="zh-CN" sz="2000" baseline="-25000" dirty="0" err="1"/>
              <a:t>i</a:t>
            </a:r>
            <a:r>
              <a:rPr lang="en-US" altLang="zh-CN" sz="2000" dirty="0" err="1"/>
              <a:t>⋗a</a:t>
            </a:r>
            <a:r>
              <a:rPr lang="en-US" altLang="zh-CN" sz="2000" baseline="-25000" dirty="0" err="1"/>
              <a:t>j</a:t>
            </a:r>
            <a:r>
              <a:rPr lang="en-US" altLang="zh-CN" sz="2000" dirty="0"/>
              <a:t> </a:t>
            </a:r>
            <a:r>
              <a:rPr lang="zh-CN" altLang="en-US" sz="2000" dirty="0"/>
              <a:t>或</a:t>
            </a:r>
            <a:r>
              <a:rPr lang="en-US" altLang="zh-CN" sz="2000" dirty="0" err="1"/>
              <a:t>a</a:t>
            </a:r>
            <a:r>
              <a:rPr lang="en-US" altLang="zh-CN" sz="2000" baseline="-25000" dirty="0" err="1"/>
              <a:t>i</a:t>
            </a:r>
            <a:r>
              <a:rPr lang="en-US" altLang="zh-CN" sz="2000" dirty="0">
                <a:solidFill>
                  <a:srgbClr val="FF0000"/>
                </a:solidFill>
              </a:rPr>
              <a:t>   </a:t>
            </a:r>
            <a:r>
              <a:rPr lang="en-US" altLang="zh-CN" sz="2000" dirty="0" err="1"/>
              <a:t>a</a:t>
            </a:r>
            <a:r>
              <a:rPr lang="en-US" altLang="zh-CN" sz="2000" baseline="-25000" dirty="0" err="1"/>
              <a:t>j</a:t>
            </a:r>
            <a:r>
              <a:rPr lang="zh-CN" altLang="en-US" sz="2000" dirty="0"/>
              <a:t>，则画一条从</a:t>
            </a:r>
            <a:r>
              <a:rPr lang="en-US" altLang="zh-CN" sz="2000" dirty="0" err="1"/>
              <a:t>f</a:t>
            </a:r>
            <a:r>
              <a:rPr lang="en-US" altLang="zh-CN" sz="2000" baseline="-30000" dirty="0" err="1"/>
              <a:t>a</a:t>
            </a:r>
            <a:r>
              <a:rPr lang="en-US" altLang="zh-CN" sz="2000" baseline="-25000" dirty="0" err="1"/>
              <a:t>i</a:t>
            </a:r>
            <a:r>
              <a:rPr lang="zh-CN" altLang="en-US" sz="2000" dirty="0"/>
              <a:t>到</a:t>
            </a:r>
            <a:r>
              <a:rPr lang="en-US" altLang="zh-CN" sz="2000" dirty="0" err="1"/>
              <a:t>g</a:t>
            </a:r>
            <a:r>
              <a:rPr lang="en-US" altLang="zh-CN" sz="2000" baseline="-30000" dirty="0" err="1"/>
              <a:t>a</a:t>
            </a:r>
            <a:r>
              <a:rPr lang="en-US" altLang="zh-CN" sz="2000" baseline="-25000" dirty="0" err="1"/>
              <a:t>j</a:t>
            </a:r>
            <a:r>
              <a:rPr lang="zh-CN" altLang="en-US" sz="2000" dirty="0"/>
              <a:t>的有向边；若</a:t>
            </a:r>
            <a:r>
              <a:rPr lang="en-US" altLang="zh-CN" sz="2000" dirty="0" err="1"/>
              <a:t>a</a:t>
            </a:r>
            <a:r>
              <a:rPr lang="en-US" altLang="zh-CN" sz="2000" baseline="-25000" dirty="0" err="1"/>
              <a:t>i</a:t>
            </a:r>
            <a:r>
              <a:rPr lang="en-US" altLang="zh-CN" sz="2000" dirty="0" err="1"/>
              <a:t>⋖a</a:t>
            </a:r>
            <a:r>
              <a:rPr lang="en-US" altLang="zh-CN" sz="2000" baseline="-25000" dirty="0" err="1"/>
              <a:t>j</a:t>
            </a:r>
            <a:r>
              <a:rPr lang="zh-CN" altLang="en-US" sz="2000" dirty="0"/>
              <a:t>或</a:t>
            </a:r>
            <a:r>
              <a:rPr lang="en-US" altLang="zh-CN" sz="2000" dirty="0" err="1"/>
              <a:t>a</a:t>
            </a:r>
            <a:r>
              <a:rPr lang="en-US" altLang="zh-CN" sz="2000" baseline="-25000" dirty="0" err="1"/>
              <a:t>i</a:t>
            </a:r>
            <a:r>
              <a:rPr lang="en-US" altLang="zh-CN" sz="2000" dirty="0"/>
              <a:t>   </a:t>
            </a:r>
            <a:r>
              <a:rPr lang="en-US" altLang="zh-CN" sz="2000" dirty="0" err="1"/>
              <a:t>a</a:t>
            </a:r>
            <a:r>
              <a:rPr lang="en-US" altLang="zh-CN" sz="2000" baseline="-25000" dirty="0" err="1"/>
              <a:t>j</a:t>
            </a:r>
            <a:r>
              <a:rPr lang="zh-CN" altLang="en-US" sz="2000" dirty="0"/>
              <a:t>，则画一条从</a:t>
            </a:r>
            <a:r>
              <a:rPr lang="en-US" altLang="zh-CN" sz="2000" dirty="0" err="1"/>
              <a:t>g</a:t>
            </a:r>
            <a:r>
              <a:rPr lang="en-US" altLang="zh-CN" sz="2000" baseline="-25000" dirty="0" err="1"/>
              <a:t>aj</a:t>
            </a:r>
            <a:r>
              <a:rPr lang="zh-CN" altLang="en-US" sz="2000" dirty="0"/>
              <a:t>到</a:t>
            </a:r>
            <a:r>
              <a:rPr lang="en-US" altLang="zh-CN" sz="2000" dirty="0" err="1"/>
              <a:t>f</a:t>
            </a:r>
            <a:r>
              <a:rPr lang="en-US" altLang="zh-CN" sz="2000" baseline="-30000" dirty="0" err="1"/>
              <a:t>a</a:t>
            </a:r>
            <a:r>
              <a:rPr lang="en-US" altLang="zh-CN" sz="2000" baseline="-25000" dirty="0" err="1"/>
              <a:t>i</a:t>
            </a:r>
            <a:r>
              <a:rPr lang="zh-CN" altLang="en-US" sz="2000" dirty="0"/>
              <a:t>的有向边；</a:t>
            </a:r>
            <a:endParaRPr lang="en-US" altLang="zh-CN" sz="2000" dirty="0"/>
          </a:p>
          <a:p>
            <a:pPr algn="just">
              <a:buNone/>
            </a:pPr>
            <a:r>
              <a:rPr lang="zh-CN" altLang="en-US" sz="2000" dirty="0"/>
              <a:t>    </a:t>
            </a:r>
            <a:r>
              <a:rPr lang="en-US" altLang="zh-CN" sz="2000" dirty="0"/>
              <a:t>③ </a:t>
            </a:r>
            <a:r>
              <a:rPr lang="zh-CN" altLang="en-US" sz="2000" dirty="0"/>
              <a:t>对每个结点都赋予一个数，此数等于从该结点出发所能到达的结点</a:t>
            </a:r>
            <a:r>
              <a:rPr lang="en-US" altLang="zh-CN" sz="2000" dirty="0"/>
              <a:t>(</a:t>
            </a:r>
            <a:r>
              <a:rPr lang="zh-CN" altLang="en-US" sz="2000" dirty="0"/>
              <a:t>包括出发结点自身在内</a:t>
            </a:r>
            <a:r>
              <a:rPr lang="en-US" altLang="zh-CN" sz="2000" dirty="0"/>
              <a:t>)</a:t>
            </a:r>
            <a:r>
              <a:rPr lang="zh-CN" altLang="en-US" sz="2000" dirty="0"/>
              <a:t>的个数，赋给</a:t>
            </a:r>
            <a:r>
              <a:rPr lang="en-US" altLang="zh-CN" sz="2000" dirty="0" err="1"/>
              <a:t>fa</a:t>
            </a:r>
            <a:r>
              <a:rPr lang="en-US" altLang="zh-CN" sz="2000" baseline="-25000" dirty="0" err="1"/>
              <a:t>i</a:t>
            </a:r>
            <a:r>
              <a:rPr lang="zh-CN" altLang="en-US" sz="2000" dirty="0"/>
              <a:t>的数作为</a:t>
            </a:r>
            <a:r>
              <a:rPr lang="en-US" altLang="zh-CN" sz="2000" dirty="0"/>
              <a:t>f(</a:t>
            </a:r>
            <a:r>
              <a:rPr lang="en-US" altLang="zh-CN" sz="2000" dirty="0" err="1"/>
              <a:t>a</a:t>
            </a:r>
            <a:r>
              <a:rPr lang="en-US" altLang="zh-CN" sz="2000" baseline="-25000" dirty="0" err="1"/>
              <a:t>i</a:t>
            </a:r>
            <a:r>
              <a:rPr lang="en-US" altLang="zh-CN" sz="2000" dirty="0"/>
              <a:t>)</a:t>
            </a:r>
            <a:r>
              <a:rPr lang="zh-CN" altLang="en-US" sz="2000" dirty="0"/>
              <a:t>值，赋给</a:t>
            </a:r>
            <a:r>
              <a:rPr lang="en-US" altLang="zh-CN" sz="2000" dirty="0" err="1"/>
              <a:t>ga</a:t>
            </a:r>
            <a:r>
              <a:rPr lang="en-US" altLang="zh-CN" sz="2000" baseline="-25000" dirty="0" err="1"/>
              <a:t>j</a:t>
            </a:r>
            <a:r>
              <a:rPr lang="zh-CN" altLang="en-US" sz="2000" dirty="0"/>
              <a:t>的数作为</a:t>
            </a:r>
            <a:r>
              <a:rPr lang="en-US" altLang="zh-CN" sz="2000" dirty="0"/>
              <a:t>g(</a:t>
            </a:r>
            <a:r>
              <a:rPr lang="en-US" altLang="zh-CN" sz="2000" dirty="0" err="1"/>
              <a:t>a</a:t>
            </a:r>
            <a:r>
              <a:rPr lang="en-US" altLang="zh-CN" sz="2000" baseline="-25000" dirty="0" err="1"/>
              <a:t>j</a:t>
            </a:r>
            <a:r>
              <a:rPr lang="en-US" altLang="zh-CN" sz="2000" dirty="0"/>
              <a:t>)</a:t>
            </a:r>
            <a:r>
              <a:rPr lang="zh-CN" altLang="en-US" sz="2000" dirty="0"/>
              <a:t>值；</a:t>
            </a:r>
          </a:p>
          <a:p>
            <a:pPr algn="just">
              <a:buNone/>
            </a:pPr>
            <a:r>
              <a:rPr lang="zh-CN" altLang="en-US" sz="2000" dirty="0"/>
              <a:t>     </a:t>
            </a:r>
            <a:r>
              <a:rPr lang="en-US" altLang="zh-CN" sz="2000" dirty="0"/>
              <a:t>④ </a:t>
            </a:r>
            <a:r>
              <a:rPr lang="zh-CN" altLang="en-US" sz="2000" dirty="0"/>
              <a:t>检查所构造出来的函数</a:t>
            </a:r>
            <a:r>
              <a:rPr lang="en-US" altLang="zh-CN" sz="2000" dirty="0"/>
              <a:t>f</a:t>
            </a:r>
            <a:r>
              <a:rPr lang="zh-CN" altLang="en-US" sz="2000" dirty="0"/>
              <a:t>和</a:t>
            </a:r>
            <a:r>
              <a:rPr lang="en-US" altLang="zh-CN" sz="2000" dirty="0"/>
              <a:t>g</a:t>
            </a:r>
            <a:r>
              <a:rPr lang="zh-CN" altLang="en-US" sz="2000" dirty="0"/>
              <a:t>，看它们同原来的优先关系表是否有矛盾。如果没有矛盾，则</a:t>
            </a:r>
            <a:r>
              <a:rPr lang="en-US" altLang="zh-CN" sz="2000" dirty="0"/>
              <a:t>f</a:t>
            </a:r>
            <a:r>
              <a:rPr lang="zh-CN" altLang="en-US" sz="2000" dirty="0"/>
              <a:t>和</a:t>
            </a:r>
            <a:r>
              <a:rPr lang="en-US" altLang="zh-CN" sz="2000" dirty="0"/>
              <a:t>g</a:t>
            </a:r>
            <a:r>
              <a:rPr lang="zh-CN" altLang="en-US" sz="2000" dirty="0"/>
              <a:t>就是所要的优先函数；如果有矛盾，那么就不存在优先函数。</a:t>
            </a:r>
          </a:p>
        </p:txBody>
      </p:sp>
      <p:pic>
        <p:nvPicPr>
          <p:cNvPr id="5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0997" y="3488742"/>
            <a:ext cx="219075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0229" y="3475708"/>
            <a:ext cx="200025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907243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四、算符优先分析法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例：已知优先关系矩阵，构造优先关系图</a:t>
            </a:r>
          </a:p>
        </p:txBody>
      </p:sp>
      <p:graphicFrame>
        <p:nvGraphicFramePr>
          <p:cNvPr id="4" name="Group 6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0079676"/>
              </p:ext>
            </p:extLst>
          </p:nvPr>
        </p:nvGraphicFramePr>
        <p:xfrm>
          <a:off x="755650" y="1773238"/>
          <a:ext cx="7772400" cy="3671889"/>
        </p:xfrm>
        <a:graphic>
          <a:graphicData uri="http://schemas.openxmlformats.org/drawingml/2006/table">
            <a:tbl>
              <a:tblPr/>
              <a:tblGrid>
                <a:gridCol w="1554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1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1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216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i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913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i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72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*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&lt;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913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+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&lt;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&lt;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72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#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&lt;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&lt;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&lt;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itchFamily="34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460684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387350" y="1814513"/>
          <a:ext cx="4351338" cy="289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22" name="Document" r:id="rId3" imgW="4764235" imgH="3064070" progId="Word.Document.8">
                  <p:embed/>
                </p:oleObj>
              </mc:Choice>
              <mc:Fallback>
                <p:oleObj name="Document" r:id="rId3" imgW="4764235" imgH="306407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350" y="1814513"/>
                        <a:ext cx="4351338" cy="289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Oval 3"/>
          <p:cNvSpPr>
            <a:spLocks noChangeArrowheads="1"/>
          </p:cNvSpPr>
          <p:nvPr/>
        </p:nvSpPr>
        <p:spPr bwMode="auto">
          <a:xfrm>
            <a:off x="5638800" y="1219200"/>
            <a:ext cx="609600" cy="609600"/>
          </a:xfrm>
          <a:prstGeom prst="ellipse">
            <a:avLst/>
          </a:prstGeom>
          <a:solidFill>
            <a:srgbClr val="FFFF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en-US" altLang="en-US" sz="3200"/>
              <a:t>g</a:t>
            </a:r>
            <a:r>
              <a:rPr kumimoji="1" lang="en-US" altLang="en-US" sz="3200" baseline="-25000"/>
              <a:t>i</a:t>
            </a:r>
            <a:endParaRPr kumimoji="1" lang="en-US" altLang="zh-CN" sz="3200"/>
          </a:p>
        </p:txBody>
      </p:sp>
      <p:sp>
        <p:nvSpPr>
          <p:cNvPr id="7" name="Oval 4"/>
          <p:cNvSpPr>
            <a:spLocks noChangeArrowheads="1"/>
          </p:cNvSpPr>
          <p:nvPr/>
        </p:nvSpPr>
        <p:spPr bwMode="auto">
          <a:xfrm>
            <a:off x="7315200" y="1219200"/>
            <a:ext cx="609600" cy="609600"/>
          </a:xfrm>
          <a:prstGeom prst="ellipse">
            <a:avLst/>
          </a:prstGeom>
          <a:solidFill>
            <a:srgbClr val="FFFF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en-US" altLang="en-US" sz="3200" dirty="0"/>
              <a:t>f</a:t>
            </a:r>
            <a:r>
              <a:rPr kumimoji="1" lang="en-US" altLang="en-US" sz="3200" baseline="-25000" dirty="0"/>
              <a:t>i</a:t>
            </a:r>
            <a:endParaRPr kumimoji="1" lang="en-US" altLang="zh-CN" sz="3200" dirty="0"/>
          </a:p>
        </p:txBody>
      </p:sp>
      <p:sp>
        <p:nvSpPr>
          <p:cNvPr id="8" name="Oval 5"/>
          <p:cNvSpPr>
            <a:spLocks noChangeArrowheads="1"/>
          </p:cNvSpPr>
          <p:nvPr/>
        </p:nvSpPr>
        <p:spPr bwMode="auto">
          <a:xfrm>
            <a:off x="5638800" y="2286000"/>
            <a:ext cx="609600" cy="609600"/>
          </a:xfrm>
          <a:prstGeom prst="ellipse">
            <a:avLst/>
          </a:prstGeom>
          <a:solidFill>
            <a:srgbClr val="FFFF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en-US" altLang="en-US" sz="3200"/>
              <a:t>f</a:t>
            </a:r>
            <a:r>
              <a:rPr kumimoji="1" lang="en-US" altLang="en-US" sz="3200" baseline="-25000"/>
              <a:t>*</a:t>
            </a:r>
            <a:endParaRPr kumimoji="1" lang="en-US" altLang="zh-CN" sz="3200"/>
          </a:p>
        </p:txBody>
      </p:sp>
      <p:sp>
        <p:nvSpPr>
          <p:cNvPr id="9" name="Oval 6"/>
          <p:cNvSpPr>
            <a:spLocks noChangeArrowheads="1"/>
          </p:cNvSpPr>
          <p:nvPr/>
        </p:nvSpPr>
        <p:spPr bwMode="auto">
          <a:xfrm>
            <a:off x="7391400" y="2286000"/>
            <a:ext cx="609600" cy="609600"/>
          </a:xfrm>
          <a:prstGeom prst="ellipse">
            <a:avLst/>
          </a:prstGeom>
          <a:solidFill>
            <a:srgbClr val="FFFF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en-US" altLang="en-US" sz="3200" dirty="0"/>
              <a:t>g</a:t>
            </a:r>
            <a:r>
              <a:rPr kumimoji="1" lang="en-US" altLang="en-US" sz="3200" baseline="-25000" dirty="0"/>
              <a:t>*</a:t>
            </a:r>
            <a:endParaRPr kumimoji="1" lang="en-US" altLang="zh-CN" sz="3200" dirty="0"/>
          </a:p>
        </p:txBody>
      </p:sp>
      <p:sp>
        <p:nvSpPr>
          <p:cNvPr id="10" name="Oval 7"/>
          <p:cNvSpPr>
            <a:spLocks noChangeArrowheads="1"/>
          </p:cNvSpPr>
          <p:nvPr/>
        </p:nvSpPr>
        <p:spPr bwMode="auto">
          <a:xfrm>
            <a:off x="5638800" y="3352800"/>
            <a:ext cx="609600" cy="609600"/>
          </a:xfrm>
          <a:prstGeom prst="ellipse">
            <a:avLst/>
          </a:prstGeom>
          <a:solidFill>
            <a:srgbClr val="FFFF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en-US" altLang="en-US" sz="3200"/>
              <a:t>g</a:t>
            </a:r>
            <a:r>
              <a:rPr kumimoji="1" lang="en-US" altLang="en-US" sz="3200" baseline="-25000"/>
              <a:t>+</a:t>
            </a:r>
            <a:endParaRPr kumimoji="1" lang="en-US" altLang="zh-CN" sz="3200"/>
          </a:p>
        </p:txBody>
      </p:sp>
      <p:sp>
        <p:nvSpPr>
          <p:cNvPr id="11" name="Oval 8"/>
          <p:cNvSpPr>
            <a:spLocks noChangeArrowheads="1"/>
          </p:cNvSpPr>
          <p:nvPr/>
        </p:nvSpPr>
        <p:spPr bwMode="auto">
          <a:xfrm>
            <a:off x="7315200" y="3352800"/>
            <a:ext cx="609600" cy="609600"/>
          </a:xfrm>
          <a:prstGeom prst="ellipse">
            <a:avLst/>
          </a:prstGeom>
          <a:solidFill>
            <a:srgbClr val="FFFF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en-US" altLang="en-US" sz="3200" dirty="0"/>
              <a:t>f</a:t>
            </a:r>
            <a:r>
              <a:rPr kumimoji="1" lang="en-US" altLang="en-US" sz="3200" baseline="-25000" dirty="0"/>
              <a:t>+</a:t>
            </a:r>
            <a:endParaRPr kumimoji="1" lang="en-US" altLang="zh-CN" sz="3200" dirty="0"/>
          </a:p>
        </p:txBody>
      </p:sp>
      <p:sp>
        <p:nvSpPr>
          <p:cNvPr id="12" name="Oval 9"/>
          <p:cNvSpPr>
            <a:spLocks noChangeArrowheads="1"/>
          </p:cNvSpPr>
          <p:nvPr/>
        </p:nvSpPr>
        <p:spPr bwMode="auto">
          <a:xfrm>
            <a:off x="5638800" y="4572000"/>
            <a:ext cx="609600" cy="609600"/>
          </a:xfrm>
          <a:prstGeom prst="ellipse">
            <a:avLst/>
          </a:prstGeom>
          <a:solidFill>
            <a:srgbClr val="FFFF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en-US" altLang="en-US" sz="3200"/>
              <a:t>f</a:t>
            </a:r>
            <a:r>
              <a:rPr kumimoji="1" lang="en-US" altLang="zh-CN" sz="3200" baseline="-25000"/>
              <a:t>#</a:t>
            </a:r>
          </a:p>
        </p:txBody>
      </p:sp>
      <p:sp>
        <p:nvSpPr>
          <p:cNvPr id="13" name="Oval 10"/>
          <p:cNvSpPr>
            <a:spLocks noChangeArrowheads="1"/>
          </p:cNvSpPr>
          <p:nvPr/>
        </p:nvSpPr>
        <p:spPr bwMode="auto">
          <a:xfrm>
            <a:off x="7315200" y="4572000"/>
            <a:ext cx="609600" cy="609600"/>
          </a:xfrm>
          <a:prstGeom prst="ellipse">
            <a:avLst/>
          </a:prstGeom>
          <a:solidFill>
            <a:srgbClr val="FFFF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ctr" eaLnBrk="1" hangingPunct="1"/>
            <a:r>
              <a:rPr kumimoji="1" lang="en-US" altLang="en-US" sz="3200"/>
              <a:t>g</a:t>
            </a:r>
            <a:r>
              <a:rPr kumimoji="1" lang="en-US" altLang="zh-CN" sz="3200" baseline="-25000"/>
              <a:t>#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1933575" y="2428875"/>
            <a:ext cx="457200" cy="409575"/>
          </a:xfrm>
          <a:prstGeom prst="rect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kumimoji="1" lang="zh-CN" altLang="en-US" sz="2000"/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auto">
          <a:xfrm flipH="1">
            <a:off x="5943600" y="1828800"/>
            <a:ext cx="1524000" cy="15240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Text Box 13"/>
          <p:cNvSpPr txBox="1">
            <a:spLocks noChangeArrowheads="1"/>
          </p:cNvSpPr>
          <p:nvPr/>
        </p:nvSpPr>
        <p:spPr bwMode="auto">
          <a:xfrm>
            <a:off x="2771775" y="2428875"/>
            <a:ext cx="457200" cy="409575"/>
          </a:xfrm>
          <a:prstGeom prst="rect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kumimoji="1" lang="zh-CN" altLang="en-US" sz="2000"/>
          </a:p>
        </p:txBody>
      </p:sp>
      <p:sp>
        <p:nvSpPr>
          <p:cNvPr id="17" name="Line 14"/>
          <p:cNvSpPr>
            <a:spLocks noChangeShapeType="1"/>
          </p:cNvSpPr>
          <p:nvPr/>
        </p:nvSpPr>
        <p:spPr bwMode="auto">
          <a:xfrm>
            <a:off x="7620000" y="1828800"/>
            <a:ext cx="0" cy="4572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Text Box 15"/>
          <p:cNvSpPr txBox="1">
            <a:spLocks noChangeArrowheads="1"/>
          </p:cNvSpPr>
          <p:nvPr/>
        </p:nvSpPr>
        <p:spPr bwMode="auto">
          <a:xfrm>
            <a:off x="3686175" y="2428875"/>
            <a:ext cx="457200" cy="409575"/>
          </a:xfrm>
          <a:prstGeom prst="rect">
            <a:avLst/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kumimoji="1" lang="zh-CN" altLang="en-US" sz="2000"/>
          </a:p>
        </p:txBody>
      </p:sp>
      <p:cxnSp>
        <p:nvCxnSpPr>
          <p:cNvPr id="19" name="AutoShape 16"/>
          <p:cNvCxnSpPr>
            <a:cxnSpLocks noChangeShapeType="1"/>
            <a:stCxn id="7" idx="6"/>
            <a:endCxn id="13" idx="6"/>
          </p:cNvCxnSpPr>
          <p:nvPr/>
        </p:nvCxnSpPr>
        <p:spPr bwMode="auto">
          <a:xfrm>
            <a:off x="7924800" y="1524000"/>
            <a:ext cx="1588" cy="3352800"/>
          </a:xfrm>
          <a:prstGeom prst="curvedConnector3">
            <a:avLst>
              <a:gd name="adj1" fmla="val 14400005"/>
            </a:avLst>
          </a:prstGeom>
          <a:noFill/>
          <a:ln w="28575" cap="sq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" name="Text Box 17"/>
          <p:cNvSpPr txBox="1">
            <a:spLocks noChangeArrowheads="1"/>
          </p:cNvSpPr>
          <p:nvPr/>
        </p:nvSpPr>
        <p:spPr bwMode="auto">
          <a:xfrm>
            <a:off x="1162050" y="2962275"/>
            <a:ext cx="457200" cy="409575"/>
          </a:xfrm>
          <a:prstGeom prst="rect">
            <a:avLst/>
          </a:prstGeom>
          <a:noFill/>
          <a:ln w="38100" cap="sq">
            <a:solidFill>
              <a:schemeClr val="accent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kumimoji="1" lang="zh-CN" altLang="en-US" sz="2000"/>
          </a:p>
        </p:txBody>
      </p:sp>
      <p:sp>
        <p:nvSpPr>
          <p:cNvPr id="21" name="Line 18"/>
          <p:cNvSpPr>
            <a:spLocks noChangeShapeType="1"/>
          </p:cNvSpPr>
          <p:nvPr/>
        </p:nvSpPr>
        <p:spPr bwMode="auto">
          <a:xfrm>
            <a:off x="6172200" y="1676400"/>
            <a:ext cx="1144588" cy="1981200"/>
          </a:xfrm>
          <a:prstGeom prst="line">
            <a:avLst/>
          </a:prstGeom>
          <a:noFill/>
          <a:ln w="28575" cap="sq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Text Box 19"/>
          <p:cNvSpPr txBox="1">
            <a:spLocks noChangeArrowheads="1"/>
          </p:cNvSpPr>
          <p:nvPr/>
        </p:nvSpPr>
        <p:spPr bwMode="auto">
          <a:xfrm>
            <a:off x="1857375" y="2886075"/>
            <a:ext cx="457200" cy="409575"/>
          </a:xfrm>
          <a:prstGeom prst="rect">
            <a:avLst/>
          </a:prstGeom>
          <a:noFill/>
          <a:ln w="38100" cap="sq">
            <a:solidFill>
              <a:schemeClr val="accent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kumimoji="1" lang="zh-CN" altLang="en-US" sz="2000"/>
          </a:p>
        </p:txBody>
      </p:sp>
      <p:sp>
        <p:nvSpPr>
          <p:cNvPr id="23" name="Text Box 20"/>
          <p:cNvSpPr txBox="1">
            <a:spLocks noChangeArrowheads="1"/>
          </p:cNvSpPr>
          <p:nvPr/>
        </p:nvSpPr>
        <p:spPr bwMode="auto">
          <a:xfrm>
            <a:off x="2771775" y="2886075"/>
            <a:ext cx="457200" cy="409575"/>
          </a:xfrm>
          <a:prstGeom prst="rect">
            <a:avLst/>
          </a:prstGeom>
          <a:noFill/>
          <a:ln w="38100" cap="sq">
            <a:solidFill>
              <a:schemeClr val="accent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kumimoji="1" lang="zh-CN" altLang="en-US" sz="2000"/>
          </a:p>
        </p:txBody>
      </p:sp>
      <p:sp>
        <p:nvSpPr>
          <p:cNvPr id="24" name="Line 21"/>
          <p:cNvSpPr>
            <a:spLocks noChangeShapeType="1"/>
          </p:cNvSpPr>
          <p:nvPr/>
        </p:nvSpPr>
        <p:spPr bwMode="auto">
          <a:xfrm>
            <a:off x="7620000" y="2819400"/>
            <a:ext cx="0" cy="533400"/>
          </a:xfrm>
          <a:prstGeom prst="line">
            <a:avLst/>
          </a:prstGeom>
          <a:noFill/>
          <a:ln w="28575" cap="sq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Text Box 22"/>
          <p:cNvSpPr txBox="1">
            <a:spLocks noChangeArrowheads="1"/>
          </p:cNvSpPr>
          <p:nvPr/>
        </p:nvSpPr>
        <p:spPr bwMode="auto">
          <a:xfrm>
            <a:off x="3686175" y="2886075"/>
            <a:ext cx="457200" cy="409575"/>
          </a:xfrm>
          <a:prstGeom prst="rect">
            <a:avLst/>
          </a:prstGeom>
          <a:noFill/>
          <a:ln w="38100" cap="sq">
            <a:solidFill>
              <a:schemeClr val="accent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kumimoji="1" lang="zh-CN" altLang="en-US" sz="2000"/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auto">
          <a:xfrm>
            <a:off x="7572375" y="4000500"/>
            <a:ext cx="0" cy="609600"/>
          </a:xfrm>
          <a:prstGeom prst="line">
            <a:avLst/>
          </a:prstGeom>
          <a:noFill/>
          <a:ln w="28575" cap="sq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Text Box 24"/>
          <p:cNvSpPr txBox="1">
            <a:spLocks noChangeArrowheads="1"/>
          </p:cNvSpPr>
          <p:nvPr/>
        </p:nvSpPr>
        <p:spPr bwMode="auto">
          <a:xfrm>
            <a:off x="1162050" y="3390900"/>
            <a:ext cx="457200" cy="409575"/>
          </a:xfrm>
          <a:prstGeom prst="rect">
            <a:avLst/>
          </a:prstGeom>
          <a:noFill/>
          <a:ln w="38100" cap="sq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kumimoji="1" lang="zh-CN" altLang="en-US" sz="2000"/>
          </a:p>
        </p:txBody>
      </p:sp>
      <p:sp>
        <p:nvSpPr>
          <p:cNvPr id="28" name="Line 25"/>
          <p:cNvSpPr>
            <a:spLocks noChangeShapeType="1"/>
          </p:cNvSpPr>
          <p:nvPr/>
        </p:nvSpPr>
        <p:spPr bwMode="auto">
          <a:xfrm>
            <a:off x="5943600" y="1828800"/>
            <a:ext cx="0" cy="457200"/>
          </a:xfrm>
          <a:prstGeom prst="line">
            <a:avLst/>
          </a:prstGeom>
          <a:noFill/>
          <a:ln w="28575" cap="sq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Text Box 26"/>
          <p:cNvSpPr txBox="1">
            <a:spLocks noChangeArrowheads="1"/>
          </p:cNvSpPr>
          <p:nvPr/>
        </p:nvSpPr>
        <p:spPr bwMode="auto">
          <a:xfrm>
            <a:off x="1857375" y="3343275"/>
            <a:ext cx="457200" cy="409575"/>
          </a:xfrm>
          <a:prstGeom prst="rect">
            <a:avLst/>
          </a:prstGeom>
          <a:noFill/>
          <a:ln w="38100" cap="sq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kumimoji="1" lang="zh-CN" altLang="en-US" sz="2000"/>
          </a:p>
        </p:txBody>
      </p:sp>
      <p:sp>
        <p:nvSpPr>
          <p:cNvPr id="30" name="Line 27"/>
          <p:cNvSpPr>
            <a:spLocks noChangeShapeType="1"/>
          </p:cNvSpPr>
          <p:nvPr/>
        </p:nvSpPr>
        <p:spPr bwMode="auto">
          <a:xfrm>
            <a:off x="5867400" y="2895600"/>
            <a:ext cx="0" cy="457200"/>
          </a:xfrm>
          <a:prstGeom prst="line">
            <a:avLst/>
          </a:prstGeom>
          <a:noFill/>
          <a:ln w="28575" cap="sq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Text Box 28"/>
          <p:cNvSpPr txBox="1">
            <a:spLocks noChangeArrowheads="1"/>
          </p:cNvSpPr>
          <p:nvPr/>
        </p:nvSpPr>
        <p:spPr bwMode="auto">
          <a:xfrm>
            <a:off x="2771775" y="3343275"/>
            <a:ext cx="457200" cy="409575"/>
          </a:xfrm>
          <a:prstGeom prst="rect">
            <a:avLst/>
          </a:prstGeom>
          <a:noFill/>
          <a:ln w="38100" cap="sq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kumimoji="1" lang="zh-CN" altLang="en-US" sz="2000"/>
          </a:p>
        </p:txBody>
      </p:sp>
      <p:sp>
        <p:nvSpPr>
          <p:cNvPr id="32" name="Line 29"/>
          <p:cNvSpPr>
            <a:spLocks noChangeShapeType="1"/>
          </p:cNvSpPr>
          <p:nvPr/>
        </p:nvSpPr>
        <p:spPr bwMode="auto">
          <a:xfrm>
            <a:off x="6248400" y="2590800"/>
            <a:ext cx="1143000" cy="0"/>
          </a:xfrm>
          <a:prstGeom prst="line">
            <a:avLst/>
          </a:prstGeom>
          <a:noFill/>
          <a:ln w="28575" cap="sq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Text Box 30"/>
          <p:cNvSpPr txBox="1">
            <a:spLocks noChangeArrowheads="1"/>
          </p:cNvSpPr>
          <p:nvPr/>
        </p:nvSpPr>
        <p:spPr bwMode="auto">
          <a:xfrm>
            <a:off x="3686175" y="3343275"/>
            <a:ext cx="457200" cy="409575"/>
          </a:xfrm>
          <a:prstGeom prst="rect">
            <a:avLst/>
          </a:prstGeom>
          <a:noFill/>
          <a:ln w="38100" cap="sq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kumimoji="1" lang="zh-CN" altLang="en-US" sz="2000"/>
          </a:p>
        </p:txBody>
      </p:sp>
      <p:sp>
        <p:nvSpPr>
          <p:cNvPr id="34" name="Line 31"/>
          <p:cNvSpPr>
            <a:spLocks noChangeShapeType="1"/>
          </p:cNvSpPr>
          <p:nvPr/>
        </p:nvSpPr>
        <p:spPr bwMode="auto">
          <a:xfrm>
            <a:off x="6172200" y="2819400"/>
            <a:ext cx="1144588" cy="1981200"/>
          </a:xfrm>
          <a:prstGeom prst="line">
            <a:avLst/>
          </a:prstGeom>
          <a:noFill/>
          <a:ln w="28575" cap="sq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Text Box 32"/>
          <p:cNvSpPr txBox="1">
            <a:spLocks noChangeArrowheads="1"/>
          </p:cNvSpPr>
          <p:nvPr/>
        </p:nvSpPr>
        <p:spPr bwMode="auto">
          <a:xfrm>
            <a:off x="1162050" y="3919538"/>
            <a:ext cx="457200" cy="409575"/>
          </a:xfrm>
          <a:prstGeom prst="rect">
            <a:avLst/>
          </a:prstGeom>
          <a:noFill/>
          <a:ln w="38100" cap="sq">
            <a:solidFill>
              <a:srgbClr val="00B05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kumimoji="1" lang="zh-CN" altLang="en-US" sz="2000">
              <a:solidFill>
                <a:srgbClr val="CC00CC"/>
              </a:solidFill>
            </a:endParaRPr>
          </a:p>
        </p:txBody>
      </p:sp>
      <p:cxnSp>
        <p:nvCxnSpPr>
          <p:cNvPr id="36" name="AutoShape 33"/>
          <p:cNvCxnSpPr>
            <a:cxnSpLocks noChangeShapeType="1"/>
            <a:stCxn id="6" idx="2"/>
            <a:endCxn id="12" idx="2"/>
          </p:cNvCxnSpPr>
          <p:nvPr/>
        </p:nvCxnSpPr>
        <p:spPr bwMode="auto">
          <a:xfrm rot="10800000" flipH="1" flipV="1">
            <a:off x="5638800" y="1524000"/>
            <a:ext cx="1588" cy="3352800"/>
          </a:xfrm>
          <a:prstGeom prst="curvedConnector3">
            <a:avLst>
              <a:gd name="adj1" fmla="val -14400005"/>
            </a:avLst>
          </a:prstGeom>
          <a:noFill/>
          <a:ln w="28575" cap="sq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" name="Text Box 34"/>
          <p:cNvSpPr txBox="1">
            <a:spLocks noChangeArrowheads="1"/>
          </p:cNvSpPr>
          <p:nvPr/>
        </p:nvSpPr>
        <p:spPr bwMode="auto">
          <a:xfrm>
            <a:off x="1933575" y="3871913"/>
            <a:ext cx="457200" cy="409575"/>
          </a:xfrm>
          <a:prstGeom prst="rect">
            <a:avLst/>
          </a:prstGeom>
          <a:noFill/>
          <a:ln w="38100" cap="sq">
            <a:solidFill>
              <a:srgbClr val="00B05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kumimoji="1" lang="zh-CN" altLang="en-US" sz="2000">
              <a:solidFill>
                <a:srgbClr val="CC00CC"/>
              </a:solidFill>
            </a:endParaRPr>
          </a:p>
        </p:txBody>
      </p:sp>
      <p:sp>
        <p:nvSpPr>
          <p:cNvPr id="38" name="Line 35"/>
          <p:cNvSpPr>
            <a:spLocks noChangeShapeType="1"/>
          </p:cNvSpPr>
          <p:nvPr/>
        </p:nvSpPr>
        <p:spPr bwMode="auto">
          <a:xfrm>
            <a:off x="5867400" y="3962400"/>
            <a:ext cx="0" cy="609600"/>
          </a:xfrm>
          <a:prstGeom prst="line">
            <a:avLst/>
          </a:prstGeom>
          <a:noFill/>
          <a:ln w="28575" cap="sq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" name="Text Box 36"/>
          <p:cNvSpPr txBox="1">
            <a:spLocks noChangeArrowheads="1"/>
          </p:cNvSpPr>
          <p:nvPr/>
        </p:nvSpPr>
        <p:spPr bwMode="auto">
          <a:xfrm>
            <a:off x="2771775" y="3871913"/>
            <a:ext cx="457200" cy="409575"/>
          </a:xfrm>
          <a:prstGeom prst="rect">
            <a:avLst/>
          </a:prstGeom>
          <a:noFill/>
          <a:ln w="38100" cap="sq">
            <a:solidFill>
              <a:srgbClr val="00B05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kumimoji="1" lang="zh-CN" altLang="en-US" sz="2000">
              <a:solidFill>
                <a:srgbClr val="CC00CC"/>
              </a:solidFill>
            </a:endParaRPr>
          </a:p>
        </p:txBody>
      </p:sp>
      <p:sp>
        <p:nvSpPr>
          <p:cNvPr id="40" name="Line 37"/>
          <p:cNvSpPr>
            <a:spLocks noChangeShapeType="1"/>
          </p:cNvSpPr>
          <p:nvPr/>
        </p:nvSpPr>
        <p:spPr bwMode="auto">
          <a:xfrm flipH="1">
            <a:off x="6215063" y="2819400"/>
            <a:ext cx="1252537" cy="1966913"/>
          </a:xfrm>
          <a:prstGeom prst="line">
            <a:avLst/>
          </a:prstGeom>
          <a:noFill/>
          <a:ln w="28575" cap="sq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" name="Line 38"/>
          <p:cNvSpPr>
            <a:spLocks noChangeShapeType="1"/>
          </p:cNvSpPr>
          <p:nvPr/>
        </p:nvSpPr>
        <p:spPr bwMode="auto">
          <a:xfrm flipH="1">
            <a:off x="6172200" y="3733800"/>
            <a:ext cx="1143000" cy="0"/>
          </a:xfrm>
          <a:prstGeom prst="line">
            <a:avLst/>
          </a:prstGeom>
          <a:noFill/>
          <a:ln w="28575" cap="sq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9022476"/>
              </p:ext>
            </p:extLst>
          </p:nvPr>
        </p:nvGraphicFramePr>
        <p:xfrm>
          <a:off x="635000" y="4572000"/>
          <a:ext cx="3917950" cy="167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23" name="Document" r:id="rId5" imgW="5189295" imgH="2221682" progId="Word.Document.8">
                  <p:embed/>
                </p:oleObj>
              </mc:Choice>
              <mc:Fallback>
                <p:oleObj name="Document" r:id="rId5" imgW="5189295" imgH="222168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000" y="4572000"/>
                        <a:ext cx="3917950" cy="167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矩形 42"/>
          <p:cNvSpPr/>
          <p:nvPr/>
        </p:nvSpPr>
        <p:spPr>
          <a:xfrm>
            <a:off x="5109524" y="5564975"/>
            <a:ext cx="3512712" cy="1255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dirty="0"/>
              <a:t>若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i</a:t>
            </a:r>
            <a:r>
              <a:rPr lang="en-US" altLang="zh-CN" dirty="0" err="1"/>
              <a:t>⋗a</a:t>
            </a:r>
            <a:r>
              <a:rPr lang="en-US" altLang="zh-CN" baseline="-25000" dirty="0" err="1"/>
              <a:t>j</a:t>
            </a:r>
            <a:r>
              <a:rPr lang="en-US" altLang="zh-CN" dirty="0"/>
              <a:t> </a:t>
            </a:r>
            <a:r>
              <a:rPr lang="zh-CN" altLang="en-US" dirty="0"/>
              <a:t>或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i</a:t>
            </a:r>
            <a:r>
              <a:rPr lang="en-US" altLang="zh-CN" dirty="0">
                <a:solidFill>
                  <a:srgbClr val="FF0000"/>
                </a:solidFill>
              </a:rPr>
              <a:t>   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j</a:t>
            </a:r>
            <a:r>
              <a:rPr lang="zh-CN" altLang="en-US" dirty="0"/>
              <a:t>，则画一条从</a:t>
            </a:r>
            <a:r>
              <a:rPr lang="en-US" altLang="zh-CN" dirty="0" err="1"/>
              <a:t>f</a:t>
            </a:r>
            <a:r>
              <a:rPr lang="en-US" altLang="zh-CN" baseline="-30000" dirty="0" err="1"/>
              <a:t>a</a:t>
            </a:r>
            <a:r>
              <a:rPr lang="en-US" altLang="zh-CN" baseline="-25000" dirty="0" err="1"/>
              <a:t>i</a:t>
            </a:r>
            <a:r>
              <a:rPr lang="zh-CN" altLang="en-US" dirty="0"/>
              <a:t>到</a:t>
            </a:r>
            <a:r>
              <a:rPr lang="en-US" altLang="zh-CN" dirty="0" err="1"/>
              <a:t>g</a:t>
            </a:r>
            <a:r>
              <a:rPr lang="en-US" altLang="zh-CN" baseline="-30000" dirty="0" err="1"/>
              <a:t>a</a:t>
            </a:r>
            <a:r>
              <a:rPr lang="en-US" altLang="zh-CN" baseline="-25000" dirty="0" err="1"/>
              <a:t>j</a:t>
            </a:r>
            <a:r>
              <a:rPr lang="zh-CN" altLang="en-US" dirty="0"/>
              <a:t>的有向边；若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i</a:t>
            </a:r>
            <a:r>
              <a:rPr lang="en-US" altLang="zh-CN" dirty="0" err="1"/>
              <a:t>⋖a</a:t>
            </a:r>
            <a:r>
              <a:rPr lang="en-US" altLang="zh-CN" baseline="-25000" dirty="0" err="1"/>
              <a:t>j</a:t>
            </a:r>
            <a:r>
              <a:rPr lang="zh-CN" altLang="en-US" dirty="0"/>
              <a:t>或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i</a:t>
            </a:r>
            <a:r>
              <a:rPr lang="en-US" altLang="zh-CN" dirty="0"/>
              <a:t>   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j</a:t>
            </a:r>
            <a:r>
              <a:rPr lang="zh-CN" altLang="en-US" dirty="0"/>
              <a:t>，则画一条从</a:t>
            </a:r>
            <a:r>
              <a:rPr lang="en-US" altLang="zh-CN" dirty="0" err="1"/>
              <a:t>g</a:t>
            </a:r>
            <a:r>
              <a:rPr lang="en-US" altLang="zh-CN" baseline="-25000" dirty="0" err="1"/>
              <a:t>aj</a:t>
            </a:r>
            <a:r>
              <a:rPr lang="zh-CN" altLang="en-US" dirty="0"/>
              <a:t>到</a:t>
            </a:r>
            <a:r>
              <a:rPr lang="en-US" altLang="zh-CN" dirty="0" err="1"/>
              <a:t>f</a:t>
            </a:r>
            <a:r>
              <a:rPr lang="en-US" altLang="zh-CN" baseline="-30000" dirty="0" err="1"/>
              <a:t>a</a:t>
            </a:r>
            <a:r>
              <a:rPr lang="en-US" altLang="zh-CN" baseline="-25000" dirty="0" err="1"/>
              <a:t>i</a:t>
            </a:r>
            <a:r>
              <a:rPr lang="zh-CN" altLang="en-US" dirty="0"/>
              <a:t>的有向边；</a:t>
            </a:r>
            <a:endParaRPr lang="en-US" altLang="zh-CN" dirty="0"/>
          </a:p>
        </p:txBody>
      </p:sp>
      <p:pic>
        <p:nvPicPr>
          <p:cNvPr id="44" name="Picture 1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6375681" y="5766791"/>
            <a:ext cx="198911" cy="21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" name="Picture 1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7725889" y="6124416"/>
            <a:ext cx="198911" cy="21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" name="灯片编号占位符 4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66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 autoUpdateAnimBg="0"/>
      <p:bldP spid="15" grpId="0" animBg="1"/>
      <p:bldP spid="16" grpId="0" animBg="1" autoUpdateAnimBg="0"/>
      <p:bldP spid="17" grpId="0" animBg="1"/>
      <p:bldP spid="18" grpId="0" animBg="1" autoUpdateAnimBg="0"/>
      <p:bldP spid="20" grpId="0" animBg="1" autoUpdateAnimBg="0"/>
      <p:bldP spid="21" grpId="0" animBg="1"/>
      <p:bldP spid="22" grpId="0" animBg="1" autoUpdateAnimBg="0"/>
      <p:bldP spid="23" grpId="0" animBg="1" autoUpdateAnimBg="0"/>
      <p:bldP spid="24" grpId="0" animBg="1"/>
      <p:bldP spid="25" grpId="0" animBg="1" autoUpdateAnimBg="0"/>
      <p:bldP spid="26" grpId="0" animBg="1"/>
      <p:bldP spid="27" grpId="0" animBg="1" autoUpdateAnimBg="0"/>
      <p:bldP spid="28" grpId="0" animBg="1"/>
      <p:bldP spid="29" grpId="0" animBg="1" autoUpdateAnimBg="0"/>
      <p:bldP spid="30" grpId="0" animBg="1"/>
      <p:bldP spid="31" grpId="0" animBg="1" autoUpdateAnimBg="0"/>
      <p:bldP spid="32" grpId="0" animBg="1"/>
      <p:bldP spid="33" grpId="0" animBg="1" autoUpdateAnimBg="0"/>
      <p:bldP spid="34" grpId="0" animBg="1"/>
      <p:bldP spid="35" grpId="0" animBg="1" autoUpdateAnimBg="0"/>
      <p:bldP spid="37" grpId="0" animBg="1" autoUpdateAnimBg="0"/>
      <p:bldP spid="38" grpId="0" animBg="1"/>
      <p:bldP spid="39" grpId="0" animBg="1" autoUpdateAnimBg="0"/>
      <p:bldP spid="40" grpId="0" animBg="1"/>
      <p:bldP spid="41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zh-CN" altLang="en-US" b="1" dirty="0">
                <a:solidFill>
                  <a:srgbClr val="FF0000"/>
                </a:solidFill>
              </a:rPr>
              <a:t>定义</a:t>
            </a:r>
            <a:r>
              <a:rPr lang="zh-CN" altLang="en-US" dirty="0"/>
              <a:t>构造优先关系矩阵</a:t>
            </a:r>
            <a:endParaRPr lang="en-US" altLang="zh-CN" dirty="0"/>
          </a:p>
          <a:p>
            <a:pPr>
              <a:buNone/>
              <a:defRPr/>
            </a:pPr>
            <a:r>
              <a:rPr lang="zh-CN" altLang="en-US" b="1" dirty="0">
                <a:latin typeface="+mn-ea"/>
              </a:rPr>
              <a:t>①</a:t>
            </a:r>
            <a:r>
              <a:rPr lang="zh-CN" altLang="en-US" sz="1800" b="1" dirty="0">
                <a:latin typeface="+mn-ea"/>
              </a:rPr>
              <a:t>对每一个</a:t>
            </a:r>
            <a:r>
              <a:rPr lang="en-US" altLang="zh-CN" sz="1800" b="1" dirty="0">
                <a:latin typeface="+mn-ea"/>
              </a:rPr>
              <a:t>f</a:t>
            </a:r>
            <a:r>
              <a:rPr lang="zh-CN" altLang="en-US" sz="1800" b="1" dirty="0">
                <a:latin typeface="+mn-ea"/>
              </a:rPr>
              <a:t>和</a:t>
            </a:r>
            <a:r>
              <a:rPr lang="en-US" altLang="zh-CN" sz="1800" b="1" dirty="0">
                <a:latin typeface="+mn-ea"/>
              </a:rPr>
              <a:t>g</a:t>
            </a:r>
            <a:r>
              <a:rPr lang="zh-CN" altLang="en-US" sz="1800" b="1" dirty="0">
                <a:latin typeface="+mn-ea"/>
              </a:rPr>
              <a:t>赋初值</a:t>
            </a:r>
            <a:r>
              <a:rPr lang="en-US" altLang="zh-CN" sz="1800" b="1" dirty="0">
                <a:latin typeface="+mn-ea"/>
              </a:rPr>
              <a:t>,</a:t>
            </a:r>
            <a:r>
              <a:rPr lang="zh-CN" altLang="en-US" sz="1800" b="1" dirty="0">
                <a:latin typeface="+mn-ea"/>
              </a:rPr>
              <a:t>置</a:t>
            </a:r>
            <a:r>
              <a:rPr lang="en-US" altLang="zh-CN" sz="1800" b="1" dirty="0">
                <a:latin typeface="+mn-ea"/>
              </a:rPr>
              <a:t>f(a) = g(b) = 1</a:t>
            </a:r>
          </a:p>
          <a:p>
            <a:pPr>
              <a:buNone/>
              <a:defRPr/>
            </a:pPr>
            <a:r>
              <a:rPr lang="en-US" altLang="zh-CN" sz="1800" b="1" dirty="0">
                <a:latin typeface="+mn-ea"/>
              </a:rPr>
              <a:t>②</a:t>
            </a:r>
            <a:r>
              <a:rPr lang="zh-CN" altLang="en-US" sz="1800" b="1" dirty="0">
                <a:latin typeface="+mn-ea"/>
              </a:rPr>
              <a:t>迭代</a:t>
            </a:r>
            <a:r>
              <a:rPr lang="en-US" altLang="zh-CN" sz="1800" b="1" dirty="0">
                <a:latin typeface="+mn-ea"/>
              </a:rPr>
              <a:t>,</a:t>
            </a:r>
            <a:r>
              <a:rPr lang="zh-CN" altLang="en-US" sz="1800" b="1" dirty="0">
                <a:latin typeface="+mn-ea"/>
              </a:rPr>
              <a:t>即每一符号对</a:t>
            </a:r>
            <a:r>
              <a:rPr lang="en-US" altLang="zh-CN" sz="1800" b="1" dirty="0">
                <a:latin typeface="+mn-ea"/>
              </a:rPr>
              <a:t>(a, b)</a:t>
            </a:r>
          </a:p>
          <a:p>
            <a:pPr>
              <a:buNone/>
              <a:defRPr/>
            </a:pPr>
            <a:r>
              <a:rPr lang="en-US" altLang="zh-CN" sz="1800" b="1" dirty="0">
                <a:latin typeface="+mn-ea"/>
              </a:rPr>
              <a:t>     </a:t>
            </a:r>
            <a:r>
              <a:rPr lang="zh-CN" altLang="en-US" sz="1800" b="1" dirty="0">
                <a:latin typeface="+mn-ea"/>
              </a:rPr>
              <a:t>若</a:t>
            </a:r>
            <a:r>
              <a:rPr lang="en-US" altLang="zh-CN" sz="1800" b="1" dirty="0">
                <a:latin typeface="+mn-ea"/>
              </a:rPr>
              <a:t>a </a:t>
            </a:r>
            <a:r>
              <a:rPr lang="en-US" altLang="zh-CN" sz="1800" b="1" dirty="0">
                <a:latin typeface="MS PMincho" pitchFamily="18" charset="-128"/>
                <a:ea typeface="MS PMincho" pitchFamily="18" charset="-128"/>
              </a:rPr>
              <a:t>⋗ </a:t>
            </a:r>
            <a:r>
              <a:rPr lang="en-US" altLang="zh-CN" sz="1800" b="1" dirty="0">
                <a:latin typeface="+mn-ea"/>
              </a:rPr>
              <a:t>b</a:t>
            </a:r>
            <a:r>
              <a:rPr lang="en-US" altLang="zh-CN" sz="1800" b="1" baseline="-25000" dirty="0">
                <a:latin typeface="+mn-ea"/>
              </a:rPr>
              <a:t>       </a:t>
            </a:r>
            <a:r>
              <a:rPr lang="zh-CN" altLang="en-US" sz="1800" b="1" dirty="0">
                <a:latin typeface="+mn-ea"/>
              </a:rPr>
              <a:t>但</a:t>
            </a:r>
            <a:r>
              <a:rPr lang="en-US" altLang="zh-CN" sz="1800" b="1" dirty="0">
                <a:latin typeface="+mn-ea"/>
              </a:rPr>
              <a:t>f(a ) ≦g(b</a:t>
            </a:r>
            <a:r>
              <a:rPr lang="en-US" altLang="zh-CN" sz="1800" b="1" baseline="-25000" dirty="0">
                <a:latin typeface="+mn-ea"/>
              </a:rPr>
              <a:t> </a:t>
            </a:r>
            <a:r>
              <a:rPr lang="en-US" altLang="zh-CN" sz="1800" b="1" dirty="0">
                <a:latin typeface="+mn-ea"/>
              </a:rPr>
              <a:t>) ,</a:t>
            </a:r>
            <a:r>
              <a:rPr lang="zh-CN" altLang="en-US" sz="1800" b="1" dirty="0">
                <a:latin typeface="+mn-ea"/>
              </a:rPr>
              <a:t>则执行</a:t>
            </a:r>
            <a:r>
              <a:rPr lang="en-US" altLang="zh-CN" sz="1800" b="1" dirty="0">
                <a:latin typeface="+mn-ea"/>
              </a:rPr>
              <a:t>f(a ) = g(b</a:t>
            </a:r>
            <a:r>
              <a:rPr lang="en-US" altLang="zh-CN" sz="1800" b="1" baseline="-25000" dirty="0">
                <a:latin typeface="+mn-ea"/>
              </a:rPr>
              <a:t> </a:t>
            </a:r>
            <a:r>
              <a:rPr lang="en-US" altLang="zh-CN" sz="1800" b="1" dirty="0">
                <a:latin typeface="+mn-ea"/>
              </a:rPr>
              <a:t>) + 1</a:t>
            </a:r>
            <a:endParaRPr lang="en-US" altLang="zh-CN" sz="1800" b="1" baseline="-25000" dirty="0">
              <a:latin typeface="+mn-ea"/>
            </a:endParaRPr>
          </a:p>
          <a:p>
            <a:pPr>
              <a:buNone/>
              <a:defRPr/>
            </a:pPr>
            <a:r>
              <a:rPr lang="en-US" altLang="zh-CN" sz="1800" b="1" dirty="0">
                <a:latin typeface="+mn-ea"/>
              </a:rPr>
              <a:t>     </a:t>
            </a:r>
            <a:r>
              <a:rPr lang="zh-CN" altLang="en-US" sz="1800" b="1" dirty="0">
                <a:latin typeface="+mn-ea"/>
              </a:rPr>
              <a:t>若</a:t>
            </a:r>
            <a:r>
              <a:rPr lang="en-US" altLang="zh-CN" sz="1800" b="1" dirty="0">
                <a:latin typeface="+mn-ea"/>
              </a:rPr>
              <a:t>a </a:t>
            </a:r>
            <a:r>
              <a:rPr lang="en-US" altLang="zh-CN" sz="1800" b="1" dirty="0">
                <a:latin typeface="MS PMincho" pitchFamily="18" charset="-128"/>
                <a:ea typeface="MS PMincho" pitchFamily="18" charset="-128"/>
              </a:rPr>
              <a:t>⋖</a:t>
            </a:r>
            <a:r>
              <a:rPr lang="en-US" altLang="zh-CN" sz="1800" b="1" dirty="0">
                <a:latin typeface="+mn-ea"/>
              </a:rPr>
              <a:t>b</a:t>
            </a:r>
            <a:r>
              <a:rPr lang="en-US" altLang="zh-CN" sz="1800" b="1" baseline="-25000" dirty="0">
                <a:latin typeface="+mn-ea"/>
              </a:rPr>
              <a:t>       </a:t>
            </a:r>
            <a:r>
              <a:rPr lang="zh-CN" altLang="en-US" sz="1800" b="1" dirty="0">
                <a:latin typeface="+mn-ea"/>
              </a:rPr>
              <a:t>但</a:t>
            </a:r>
            <a:r>
              <a:rPr lang="en-US" altLang="zh-CN" sz="1800" b="1" dirty="0">
                <a:latin typeface="+mn-ea"/>
              </a:rPr>
              <a:t>f(a ) ≧ g(b</a:t>
            </a:r>
            <a:r>
              <a:rPr lang="en-US" altLang="zh-CN" sz="1800" b="1" baseline="-25000" dirty="0">
                <a:latin typeface="+mn-ea"/>
              </a:rPr>
              <a:t> </a:t>
            </a:r>
            <a:r>
              <a:rPr lang="en-US" altLang="zh-CN" sz="1800" b="1" dirty="0">
                <a:latin typeface="+mn-ea"/>
              </a:rPr>
              <a:t>), </a:t>
            </a:r>
            <a:r>
              <a:rPr lang="zh-CN" altLang="en-US" sz="1800" b="1" dirty="0">
                <a:latin typeface="+mn-ea"/>
              </a:rPr>
              <a:t>则执行</a:t>
            </a:r>
            <a:r>
              <a:rPr lang="en-US" altLang="zh-CN" sz="1800" b="1" dirty="0">
                <a:latin typeface="+mn-ea"/>
              </a:rPr>
              <a:t>g(b</a:t>
            </a:r>
            <a:r>
              <a:rPr lang="en-US" altLang="zh-CN" sz="1800" b="1" baseline="-25000" dirty="0">
                <a:latin typeface="+mn-ea"/>
              </a:rPr>
              <a:t> </a:t>
            </a:r>
            <a:r>
              <a:rPr lang="en-US" altLang="zh-CN" sz="1800" b="1" dirty="0">
                <a:latin typeface="+mn-ea"/>
              </a:rPr>
              <a:t>) = f(a )  + 1</a:t>
            </a:r>
          </a:p>
          <a:p>
            <a:pPr>
              <a:buNone/>
              <a:defRPr/>
            </a:pPr>
            <a:r>
              <a:rPr lang="en-US" altLang="zh-CN" sz="1800" b="1" dirty="0">
                <a:latin typeface="+mn-ea"/>
              </a:rPr>
              <a:t>     </a:t>
            </a:r>
            <a:r>
              <a:rPr lang="zh-CN" altLang="en-US" sz="1800" b="1" dirty="0">
                <a:latin typeface="+mn-ea"/>
              </a:rPr>
              <a:t>若</a:t>
            </a:r>
            <a:r>
              <a:rPr lang="en-US" altLang="zh-CN" sz="1800" b="1" dirty="0">
                <a:latin typeface="+mn-ea"/>
              </a:rPr>
              <a:t>a</a:t>
            </a:r>
            <a:r>
              <a:rPr lang="en-US" altLang="zh-CN" sz="1800" b="1" baseline="-25000" dirty="0">
                <a:latin typeface="+mn-ea"/>
              </a:rPr>
              <a:t> </a:t>
            </a:r>
            <a:r>
              <a:rPr lang="en-US" altLang="zh-CN" sz="1800" b="1" dirty="0">
                <a:latin typeface="宋体" pitchFamily="2" charset="-122"/>
              </a:rPr>
              <a:t>≐</a:t>
            </a:r>
            <a:r>
              <a:rPr lang="en-US" altLang="zh-CN" sz="1800" b="1" dirty="0">
                <a:latin typeface="+mn-ea"/>
              </a:rPr>
              <a:t>b</a:t>
            </a:r>
            <a:r>
              <a:rPr lang="en-US" altLang="zh-CN" sz="1800" b="1" baseline="-25000" dirty="0">
                <a:latin typeface="+mn-ea"/>
              </a:rPr>
              <a:t>       </a:t>
            </a:r>
            <a:r>
              <a:rPr lang="zh-CN" altLang="en-US" sz="1800" b="1" dirty="0">
                <a:latin typeface="+mn-ea"/>
              </a:rPr>
              <a:t>但</a:t>
            </a:r>
            <a:r>
              <a:rPr lang="en-US" altLang="zh-CN" sz="1800" b="1" dirty="0">
                <a:latin typeface="+mn-ea"/>
              </a:rPr>
              <a:t>f(a ) ≠g(b</a:t>
            </a:r>
            <a:r>
              <a:rPr lang="en-US" altLang="zh-CN" sz="1800" b="1" baseline="-25000" dirty="0">
                <a:latin typeface="+mn-ea"/>
              </a:rPr>
              <a:t> </a:t>
            </a:r>
            <a:r>
              <a:rPr lang="en-US" altLang="zh-CN" sz="1800" b="1" dirty="0">
                <a:latin typeface="+mn-ea"/>
              </a:rPr>
              <a:t>),</a:t>
            </a:r>
            <a:r>
              <a:rPr lang="zh-CN" altLang="en-US" sz="1800" b="1" dirty="0">
                <a:latin typeface="+mn-ea"/>
              </a:rPr>
              <a:t>则令</a:t>
            </a:r>
            <a:r>
              <a:rPr lang="en-US" altLang="zh-CN" sz="1800" b="1" dirty="0">
                <a:latin typeface="+mn-ea"/>
              </a:rPr>
              <a:t>f(a )</a:t>
            </a:r>
            <a:r>
              <a:rPr lang="zh-CN" altLang="en-US" sz="1800" b="1" dirty="0">
                <a:latin typeface="+mn-ea"/>
              </a:rPr>
              <a:t>和</a:t>
            </a:r>
            <a:r>
              <a:rPr lang="en-US" altLang="zh-CN" sz="1800" b="1" dirty="0">
                <a:latin typeface="+mn-ea"/>
              </a:rPr>
              <a:t>g(b</a:t>
            </a:r>
            <a:r>
              <a:rPr lang="en-US" altLang="zh-CN" sz="1800" b="1" baseline="-25000" dirty="0">
                <a:latin typeface="+mn-ea"/>
              </a:rPr>
              <a:t> </a:t>
            </a:r>
            <a:r>
              <a:rPr lang="en-US" altLang="zh-CN" sz="1800" b="1" dirty="0">
                <a:latin typeface="+mn-ea"/>
              </a:rPr>
              <a:t>) </a:t>
            </a:r>
            <a:r>
              <a:rPr lang="zh-CN" altLang="en-US" sz="1800" b="1" dirty="0">
                <a:latin typeface="+mn-ea"/>
              </a:rPr>
              <a:t>中的较小者等于较大                      </a:t>
            </a:r>
          </a:p>
          <a:p>
            <a:pPr>
              <a:buNone/>
              <a:defRPr/>
            </a:pPr>
            <a:r>
              <a:rPr lang="zh-CN" altLang="en-US" sz="1800" b="1" dirty="0">
                <a:latin typeface="+mn-ea"/>
              </a:rPr>
              <a:t>③重复②</a:t>
            </a:r>
            <a:r>
              <a:rPr lang="en-US" altLang="zh-CN" sz="1800" b="1" dirty="0">
                <a:latin typeface="+mn-ea"/>
              </a:rPr>
              <a:t>,</a:t>
            </a:r>
            <a:r>
              <a:rPr lang="zh-CN" altLang="en-US" sz="1800" b="1" dirty="0">
                <a:latin typeface="+mn-ea"/>
              </a:rPr>
              <a:t>直至过程收敛为止</a:t>
            </a:r>
            <a:r>
              <a:rPr lang="en-US" altLang="zh-CN" sz="1800" b="1" dirty="0">
                <a:latin typeface="+mn-ea"/>
              </a:rPr>
              <a:t>.</a:t>
            </a:r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84645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Rectangle 2"/>
          <p:cNvSpPr txBox="1">
            <a:spLocks/>
          </p:cNvSpPr>
          <p:nvPr/>
        </p:nvSpPr>
        <p:spPr bwMode="auto">
          <a:xfrm>
            <a:off x="1447800" y="762000"/>
            <a:ext cx="7010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55600" indent="-269875" algn="l" rtl="0" eaLnBrk="1" fontAlgn="base" hangingPunct="1">
              <a:spcBef>
                <a:spcPts val="1800"/>
              </a:spcBef>
              <a:spcAft>
                <a:spcPct val="0"/>
              </a:spcAft>
              <a:buClr>
                <a:srgbClr val="003399"/>
              </a:buClr>
              <a:buSzPct val="80000"/>
              <a:buFont typeface="Wingdings 2" panose="05020102010507070707" pitchFamily="18" charset="2"/>
              <a:buChar char=""/>
              <a:defRPr sz="2400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357188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sz="2000" kern="1200">
                <a:solidFill>
                  <a:srgbClr val="0066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2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zh-CN" sz="3900" b="1">
                <a:solidFill>
                  <a:srgbClr val="008000"/>
                </a:solidFill>
              </a:rPr>
              <a:t>Floyd</a:t>
            </a:r>
            <a:r>
              <a:rPr lang="zh-CN" altLang="en-US" sz="3900" b="1">
                <a:solidFill>
                  <a:srgbClr val="008000"/>
                </a:solidFill>
              </a:rPr>
              <a:t>方法举例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Group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7951735"/>
                  </p:ext>
                </p:extLst>
              </p:nvPr>
            </p:nvGraphicFramePr>
            <p:xfrm>
              <a:off x="3714750" y="1714500"/>
              <a:ext cx="4800600" cy="2799715"/>
            </p:xfrm>
            <a:graphic>
              <a:graphicData uri="http://schemas.openxmlformats.org/drawingml/2006/table">
                <a:tbl>
                  <a:tblPr/>
                  <a:tblGrid>
                    <a:gridCol w="685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8421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8738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422275"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endParaRPr kumimoji="0" lang="zh-CN" altLang="en-US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accent2"/>
                            </a:solidFill>
                            <a:effectLst/>
                            <a:latin typeface="Perpetua" pitchFamily="18" charset="0"/>
                            <a:ea typeface="宋体" pitchFamily="2" charset="-122"/>
                          </a:endParaRP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accent2"/>
                              </a:solidFill>
                              <a:effectLst/>
                              <a:latin typeface="Perpetua" pitchFamily="18" charset="0"/>
                              <a:ea typeface="宋体" pitchFamily="2" charset="-122"/>
                            </a:rPr>
                            <a:t>(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accent2"/>
                              </a:solidFill>
                              <a:effectLst/>
                              <a:latin typeface="Perpetua" pitchFamily="18" charset="0"/>
                              <a:ea typeface="宋体" pitchFamily="2" charset="-122"/>
                            </a:rPr>
                            <a:t>i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zh-CN" altLang="en-US" sz="20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accent2"/>
                              </a:solidFill>
                              <a:effectLst/>
                              <a:latin typeface="Perpetua" pitchFamily="18" charset="0"/>
                              <a:ea typeface="宋体" pitchFamily="2" charset="-122"/>
                            </a:rPr>
                            <a:t>*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accent2"/>
                              </a:solidFill>
                              <a:effectLst/>
                              <a:latin typeface="Perpetua" pitchFamily="18" charset="0"/>
                              <a:ea typeface="宋体" pitchFamily="2" charset="-122"/>
                            </a:rPr>
                            <a:t>+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accent2"/>
                              </a:solidFill>
                              <a:effectLst/>
                              <a:latin typeface="Perpetua" pitchFamily="18" charset="0"/>
                              <a:ea typeface="宋体" pitchFamily="2" charset="-122"/>
                            </a:rPr>
                            <a:t>)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accent2"/>
                              </a:solidFill>
                              <a:effectLst/>
                              <a:latin typeface="Perpetua" pitchFamily="18" charset="0"/>
                              <a:ea typeface="宋体" pitchFamily="2" charset="-122"/>
                            </a:rPr>
                            <a:t>#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363"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accent2"/>
                              </a:solidFill>
                              <a:effectLst/>
                              <a:latin typeface="Perpetua" pitchFamily="18" charset="0"/>
                              <a:ea typeface="宋体" pitchFamily="2" charset="-122"/>
                            </a:rPr>
                            <a:t>(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MS PMincho" pitchFamily="18" charset="-128"/>
                              <a:ea typeface="MS PMincho" pitchFamily="18" charset="-128"/>
                            </a:rPr>
                            <a:t>⋖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MS PMincho" pitchFamily="18" charset="-128"/>
                              <a:ea typeface="MS PMincho" pitchFamily="18" charset="-128"/>
                            </a:rPr>
                            <a:t>⋖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MS PMincho" pitchFamily="18" charset="-128"/>
                              <a:ea typeface="MS PMincho" pitchFamily="18" charset="-128"/>
                            </a:rPr>
                            <a:t>⋖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MS PMincho" pitchFamily="18" charset="-128"/>
                              <a:ea typeface="MS PMincho" pitchFamily="18" charset="-128"/>
                            </a:rPr>
                            <a:t>⋖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endParaRPr kumimoji="0" lang="zh-CN" altLang="en-US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accent2"/>
                            </a:solidFill>
                            <a:effectLst/>
                            <a:latin typeface="Perpetua" pitchFamily="18" charset="0"/>
                            <a:ea typeface="宋体" pitchFamily="2" charset="-122"/>
                          </a:endParaRP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endParaRPr kumimoji="0" lang="zh-CN" altLang="en-US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accent2"/>
                            </a:solidFill>
                            <a:effectLst/>
                            <a:latin typeface="Perpetua" pitchFamily="18" charset="0"/>
                            <a:ea typeface="宋体" pitchFamily="2" charset="-122"/>
                          </a:endParaRP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0363"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accent2"/>
                              </a:solidFill>
                              <a:effectLst/>
                              <a:latin typeface="Perpetua" pitchFamily="18" charset="0"/>
                              <a:ea typeface="宋体" pitchFamily="2" charset="-122"/>
                            </a:rPr>
                            <a:t>i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endParaRPr kumimoji="0" lang="zh-CN" altLang="en-US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accent2"/>
                            </a:solidFill>
                            <a:effectLst/>
                            <a:latin typeface="Perpetua" pitchFamily="18" charset="0"/>
                            <a:ea typeface="宋体" pitchFamily="2" charset="-122"/>
                          </a:endParaRP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endParaRPr kumimoji="0" lang="zh-CN" altLang="en-US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accent2"/>
                            </a:solidFill>
                            <a:effectLst/>
                            <a:latin typeface="Perpetua" pitchFamily="18" charset="0"/>
                            <a:ea typeface="宋体" pitchFamily="2" charset="-122"/>
                          </a:endParaRP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zh-CN" altLang="en-US" sz="20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宋体" pitchFamily="2" charset="-122"/>
                                  </a:rPr>
                                  <m:t>⋗</m:t>
                                </m:r>
                              </m:oMath>
                            </m:oMathPara>
                          </a14:m>
                          <a:endParaRPr kumimoji="0" lang="zh-CN" altLang="en-US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Perpetua" pitchFamily="18" charset="0"/>
                            <a:ea typeface="宋体" pitchFamily="2" charset="-122"/>
                          </a:endParaRP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zh-CN" altLang="en-US" sz="20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宋体" pitchFamily="2" charset="-122"/>
                                  </a:rPr>
                                  <m:t>⋗</m:t>
                                </m:r>
                              </m:oMath>
                            </m:oMathPara>
                          </a14:m>
                          <a:endParaRPr kumimoji="0" lang="zh-CN" altLang="en-US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Perpetua" pitchFamily="18" charset="0"/>
                            <a:ea typeface="宋体" pitchFamily="2" charset="-122"/>
                          </a:endParaRP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zh-CN" altLang="en-US" sz="20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宋体" pitchFamily="2" charset="-122"/>
                                  </a:rPr>
                                  <m:t>⋗</m:t>
                                </m:r>
                              </m:oMath>
                            </m:oMathPara>
                          </a14:m>
                          <a:endParaRPr kumimoji="0" lang="zh-CN" altLang="en-US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Perpetua" pitchFamily="18" charset="0"/>
                            <a:ea typeface="宋体" pitchFamily="2" charset="-122"/>
                          </a:endParaRP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zh-CN" altLang="en-US" sz="20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宋体" pitchFamily="2" charset="-122"/>
                                  </a:rPr>
                                  <m:t>⋗</m:t>
                                </m:r>
                              </m:oMath>
                            </m:oMathPara>
                          </a14:m>
                          <a:endParaRPr kumimoji="0" lang="zh-CN" altLang="en-US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Perpetua" pitchFamily="18" charset="0"/>
                            <a:ea typeface="宋体" pitchFamily="2" charset="-122"/>
                          </a:endParaRP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0363"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zh-CN" altLang="en-US" sz="20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accent2"/>
                              </a:solidFill>
                              <a:effectLst/>
                              <a:latin typeface="Perpetua" pitchFamily="18" charset="0"/>
                              <a:ea typeface="宋体" pitchFamily="2" charset="-122"/>
                            </a:rPr>
                            <a:t>*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MS PMincho" pitchFamily="18" charset="-128"/>
                              <a:ea typeface="MS PMincho" pitchFamily="18" charset="-128"/>
                            </a:rPr>
                            <a:t>⋖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folHlink"/>
                        </a:solidFill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MS PMincho" pitchFamily="18" charset="-128"/>
                              <a:ea typeface="MS PMincho" pitchFamily="18" charset="-128"/>
                            </a:rPr>
                            <a:t>⋖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folHlink"/>
                        </a:solidFill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endParaRPr kumimoji="0" lang="zh-CN" altLang="en-US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accent2"/>
                            </a:solidFill>
                            <a:effectLst/>
                            <a:latin typeface="Perpetua" pitchFamily="18" charset="0"/>
                            <a:ea typeface="宋体" pitchFamily="2" charset="-122"/>
                          </a:endParaRP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zh-CN" altLang="en-US" sz="20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宋体" pitchFamily="2" charset="-122"/>
                                  </a:rPr>
                                  <m:t>⋗</m:t>
                                </m:r>
                              </m:oMath>
                            </m:oMathPara>
                          </a14:m>
                          <a:endParaRPr kumimoji="0" lang="zh-CN" altLang="en-US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Perpetua" pitchFamily="18" charset="0"/>
                            <a:ea typeface="宋体" pitchFamily="2" charset="-122"/>
                          </a:endParaRP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zh-CN" altLang="en-US" sz="20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宋体" pitchFamily="2" charset="-122"/>
                                  </a:rPr>
                                  <m:t>⋗</m:t>
                                </m:r>
                              </m:oMath>
                            </m:oMathPara>
                          </a14:m>
                          <a:endParaRPr kumimoji="0" lang="zh-CN" altLang="en-US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Perpetua" pitchFamily="18" charset="0"/>
                            <a:ea typeface="宋体" pitchFamily="2" charset="-122"/>
                          </a:endParaRP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zh-CN" altLang="en-US" sz="20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宋体" pitchFamily="2" charset="-122"/>
                                  </a:rPr>
                                  <m:t>⋗</m:t>
                                </m:r>
                              </m:oMath>
                            </m:oMathPara>
                          </a14:m>
                          <a:endParaRPr kumimoji="0" lang="zh-CN" altLang="en-US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Perpetua" pitchFamily="18" charset="0"/>
                            <a:ea typeface="宋体" pitchFamily="2" charset="-122"/>
                          </a:endParaRP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58775"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accent2"/>
                              </a:solidFill>
                              <a:effectLst/>
                              <a:latin typeface="Perpetua" pitchFamily="18" charset="0"/>
                              <a:ea typeface="宋体" pitchFamily="2" charset="-122"/>
                            </a:rPr>
                            <a:t>+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MS PMincho" pitchFamily="18" charset="-128"/>
                              <a:ea typeface="MS PMincho" pitchFamily="18" charset="-128"/>
                            </a:rPr>
                            <a:t>⋖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MS PMincho" pitchFamily="18" charset="-128"/>
                              <a:ea typeface="MS PMincho" pitchFamily="18" charset="-128"/>
                            </a:rPr>
                            <a:t>⋖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MS PMincho" pitchFamily="18" charset="-128"/>
                              <a:ea typeface="MS PMincho" pitchFamily="18" charset="-128"/>
                            </a:rPr>
                            <a:t>⋖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zh-CN" altLang="en-US" sz="20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宋体" pitchFamily="2" charset="-122"/>
                                  </a:rPr>
                                  <m:t>⋗</m:t>
                                </m:r>
                              </m:oMath>
                            </m:oMathPara>
                          </a14:m>
                          <a:endParaRPr kumimoji="0" lang="zh-CN" altLang="en-US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Perpetua" pitchFamily="18" charset="0"/>
                            <a:ea typeface="宋体" pitchFamily="2" charset="-122"/>
                          </a:endParaRP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zh-CN" altLang="en-US" sz="20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宋体" pitchFamily="2" charset="-122"/>
                                  </a:rPr>
                                  <m:t>⋗</m:t>
                                </m:r>
                              </m:oMath>
                            </m:oMathPara>
                          </a14:m>
                          <a:endParaRPr kumimoji="0" lang="zh-CN" altLang="en-US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Perpetua" pitchFamily="18" charset="0"/>
                            <a:ea typeface="宋体" pitchFamily="2" charset="-122"/>
                          </a:endParaRP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zh-CN" altLang="en-US" sz="20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宋体" pitchFamily="2" charset="-122"/>
                                  </a:rPr>
                                  <m:t>⋗</m:t>
                                </m:r>
                              </m:oMath>
                            </m:oMathPara>
                          </a14:m>
                          <a:endParaRPr kumimoji="0" lang="zh-CN" altLang="en-US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Perpetua" pitchFamily="18" charset="0"/>
                            <a:ea typeface="宋体" pitchFamily="2" charset="-122"/>
                          </a:endParaRP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0363"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zh-CN" altLang="en-US" sz="20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accent2"/>
                              </a:solidFill>
                              <a:effectLst/>
                              <a:latin typeface="Perpetua" pitchFamily="18" charset="0"/>
                              <a:ea typeface="宋体" pitchFamily="2" charset="-122"/>
                            </a:rPr>
                            <a:t>）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endParaRPr kumimoji="0" lang="zh-CN" altLang="en-US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accent2"/>
                            </a:solidFill>
                            <a:effectLst/>
                            <a:latin typeface="Perpetua" pitchFamily="18" charset="0"/>
                            <a:ea typeface="宋体" pitchFamily="2" charset="-122"/>
                          </a:endParaRP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endParaRPr kumimoji="0" lang="zh-CN" altLang="en-US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accent2"/>
                            </a:solidFill>
                            <a:effectLst/>
                            <a:latin typeface="Perpetua" pitchFamily="18" charset="0"/>
                            <a:ea typeface="宋体" pitchFamily="2" charset="-122"/>
                          </a:endParaRP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zh-CN" altLang="en-US" sz="20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宋体" pitchFamily="2" charset="-122"/>
                                  </a:rPr>
                                  <m:t>⋗</m:t>
                                </m:r>
                              </m:oMath>
                            </m:oMathPara>
                          </a14:m>
                          <a:endParaRPr kumimoji="0" lang="zh-CN" altLang="en-US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Perpetua" pitchFamily="18" charset="0"/>
                            <a:ea typeface="宋体" pitchFamily="2" charset="-122"/>
                          </a:endParaRP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zh-CN" altLang="en-US" sz="20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宋体" pitchFamily="2" charset="-122"/>
                                  </a:rPr>
                                  <m:t>⋗</m:t>
                                </m:r>
                              </m:oMath>
                            </m:oMathPara>
                          </a14:m>
                          <a:endParaRPr kumimoji="0" lang="zh-CN" altLang="en-US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Perpetua" pitchFamily="18" charset="0"/>
                            <a:ea typeface="宋体" pitchFamily="2" charset="-122"/>
                          </a:endParaRP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zh-CN" altLang="en-US" sz="20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宋体" pitchFamily="2" charset="-122"/>
                                  </a:rPr>
                                  <m:t>⋗</m:t>
                                </m:r>
                              </m:oMath>
                            </m:oMathPara>
                          </a14:m>
                          <a:endParaRPr kumimoji="0" lang="zh-CN" altLang="en-US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Perpetua" pitchFamily="18" charset="0"/>
                            <a:ea typeface="宋体" pitchFamily="2" charset="-122"/>
                          </a:endParaRP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zh-CN" altLang="en-US" sz="20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宋体" pitchFamily="2" charset="-122"/>
                                  </a:rPr>
                                  <m:t>⋗</m:t>
                                </m:r>
                              </m:oMath>
                            </m:oMathPara>
                          </a14:m>
                          <a:endParaRPr kumimoji="0" lang="zh-CN" altLang="en-US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Perpetua" pitchFamily="18" charset="0"/>
                            <a:ea typeface="宋体" pitchFamily="2" charset="-122"/>
                          </a:endParaRP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60363"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accent2"/>
                              </a:solidFill>
                              <a:effectLst/>
                              <a:latin typeface="Perpetua" pitchFamily="18" charset="0"/>
                              <a:ea typeface="宋体" pitchFamily="2" charset="-122"/>
                            </a:rPr>
                            <a:t>#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MS PMincho" pitchFamily="18" charset="-128"/>
                              <a:ea typeface="MS PMincho" pitchFamily="18" charset="-128"/>
                            </a:rPr>
                            <a:t>⋖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MS PMincho" pitchFamily="18" charset="-128"/>
                              <a:ea typeface="MS PMincho" pitchFamily="18" charset="-128"/>
                            </a:rPr>
                            <a:t>⋖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MS PMincho" pitchFamily="18" charset="-128"/>
                              <a:ea typeface="MS PMincho" pitchFamily="18" charset="-128"/>
                            </a:rPr>
                            <a:t>⋖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MS PMincho" pitchFamily="18" charset="-128"/>
                              <a:ea typeface="MS PMincho" pitchFamily="18" charset="-128"/>
                            </a:rPr>
                            <a:t>⋖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endParaRPr kumimoji="0" lang="zh-CN" altLang="en-US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accent2"/>
                            </a:solidFill>
                            <a:effectLst/>
                            <a:latin typeface="Perpetua" pitchFamily="18" charset="0"/>
                            <a:ea typeface="宋体" pitchFamily="2" charset="-122"/>
                          </a:endParaRP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endParaRPr kumimoji="0" lang="zh-CN" altLang="en-US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accent2"/>
                            </a:solidFill>
                            <a:effectLst/>
                            <a:latin typeface="Perpetua" pitchFamily="18" charset="0"/>
                            <a:ea typeface="宋体" pitchFamily="2" charset="-122"/>
                          </a:endParaRP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Group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7951735"/>
                  </p:ext>
                </p:extLst>
              </p:nvPr>
            </p:nvGraphicFramePr>
            <p:xfrm>
              <a:off x="3714750" y="1714500"/>
              <a:ext cx="4800600" cy="2799715"/>
            </p:xfrm>
            <a:graphic>
              <a:graphicData uri="http://schemas.openxmlformats.org/drawingml/2006/table">
                <a:tbl>
                  <a:tblPr/>
                  <a:tblGrid>
                    <a:gridCol w="685800"/>
                    <a:gridCol w="684213"/>
                    <a:gridCol w="685800"/>
                    <a:gridCol w="687387"/>
                    <a:gridCol w="685800"/>
                    <a:gridCol w="685800"/>
                    <a:gridCol w="685800"/>
                  </a:tblGrid>
                  <a:tr h="422275"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endParaRPr kumimoji="0" lang="zh-CN" altLang="en-US" sz="20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accent2"/>
                            </a:solidFill>
                            <a:effectLst/>
                            <a:latin typeface="Perpetua" pitchFamily="18" charset="0"/>
                            <a:ea typeface="宋体" pitchFamily="2" charset="-122"/>
                          </a:endParaRP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accent2"/>
                              </a:solidFill>
                              <a:effectLst/>
                              <a:latin typeface="Perpetua" pitchFamily="18" charset="0"/>
                              <a:ea typeface="宋体" pitchFamily="2" charset="-122"/>
                            </a:rPr>
                            <a:t>(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accent2"/>
                              </a:solidFill>
                              <a:effectLst/>
                              <a:latin typeface="Perpetua" pitchFamily="18" charset="0"/>
                              <a:ea typeface="宋体" pitchFamily="2" charset="-122"/>
                            </a:rPr>
                            <a:t>i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zh-CN" altLang="en-US" sz="2000" b="0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accent2"/>
                              </a:solidFill>
                              <a:effectLst/>
                              <a:latin typeface="Perpetua" pitchFamily="18" charset="0"/>
                              <a:ea typeface="宋体" pitchFamily="2" charset="-122"/>
                            </a:rPr>
                            <a:t>*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accent2"/>
                              </a:solidFill>
                              <a:effectLst/>
                              <a:latin typeface="Perpetua" pitchFamily="18" charset="0"/>
                              <a:ea typeface="宋体" pitchFamily="2" charset="-122"/>
                            </a:rPr>
                            <a:t>+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accent2"/>
                              </a:solidFill>
                              <a:effectLst/>
                              <a:latin typeface="Perpetua" pitchFamily="18" charset="0"/>
                              <a:ea typeface="宋体" pitchFamily="2" charset="-122"/>
                            </a:rPr>
                            <a:t>)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accent2"/>
                              </a:solidFill>
                              <a:effectLst/>
                              <a:latin typeface="Perpetua" pitchFamily="18" charset="0"/>
                              <a:ea typeface="宋体" pitchFamily="2" charset="-122"/>
                            </a:rPr>
                            <a:t>#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396240"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accent2"/>
                              </a:solidFill>
                              <a:effectLst/>
                              <a:latin typeface="Perpetua" pitchFamily="18" charset="0"/>
                              <a:ea typeface="宋体" pitchFamily="2" charset="-122"/>
                            </a:rPr>
                            <a:t>(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MS PMincho" pitchFamily="18" charset="-128"/>
                              <a:ea typeface="MS PMincho" pitchFamily="18" charset="-128"/>
                            </a:rPr>
                            <a:t>⋖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MS PMincho" pitchFamily="18" charset="-128"/>
                              <a:ea typeface="MS PMincho" pitchFamily="18" charset="-128"/>
                            </a:rPr>
                            <a:t>⋖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MS PMincho" pitchFamily="18" charset="-128"/>
                              <a:ea typeface="MS PMincho" pitchFamily="18" charset="-128"/>
                            </a:rPr>
                            <a:t>⋖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MS PMincho" pitchFamily="18" charset="-128"/>
                              <a:ea typeface="MS PMincho" pitchFamily="18" charset="-128"/>
                            </a:rPr>
                            <a:t>⋖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endParaRPr kumimoji="0" lang="zh-CN" altLang="en-US" sz="20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accent2"/>
                            </a:solidFill>
                            <a:effectLst/>
                            <a:latin typeface="Perpetua" pitchFamily="18" charset="0"/>
                            <a:ea typeface="宋体" pitchFamily="2" charset="-122"/>
                          </a:endParaRP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endParaRPr kumimoji="0" lang="zh-CN" altLang="en-US" sz="20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accent2"/>
                            </a:solidFill>
                            <a:effectLst/>
                            <a:latin typeface="Perpetua" pitchFamily="18" charset="0"/>
                            <a:ea typeface="宋体" pitchFamily="2" charset="-122"/>
                          </a:endParaRP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396240"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accent2"/>
                              </a:solidFill>
                              <a:effectLst/>
                              <a:latin typeface="Perpetua" pitchFamily="18" charset="0"/>
                              <a:ea typeface="宋体" pitchFamily="2" charset="-122"/>
                            </a:rPr>
                            <a:t>i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endParaRPr kumimoji="0" lang="zh-CN" altLang="en-US" sz="20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accent2"/>
                            </a:solidFill>
                            <a:effectLst/>
                            <a:latin typeface="Perpetua" pitchFamily="18" charset="0"/>
                            <a:ea typeface="宋体" pitchFamily="2" charset="-122"/>
                          </a:endParaRP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endParaRPr kumimoji="0" lang="zh-CN" altLang="en-US" sz="20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accent2"/>
                            </a:solidFill>
                            <a:effectLst/>
                            <a:latin typeface="Perpetua" pitchFamily="18" charset="0"/>
                            <a:ea typeface="宋体" pitchFamily="2" charset="-122"/>
                          </a:endParaRP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1">
                          <a:blip r:embed="rId3"/>
                          <a:stretch>
                            <a:fillRect l="-307080" t="-206061" r="-299115" b="-42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1">
                          <a:blip r:embed="rId3"/>
                          <a:stretch>
                            <a:fillRect l="-407080" t="-206061" r="-199115" b="-42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1">
                          <a:blip r:embed="rId3"/>
                          <a:stretch>
                            <a:fillRect l="-511607" t="-206061" r="-100893" b="-42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1">
                          <a:blip r:embed="rId3"/>
                          <a:stretch>
                            <a:fillRect l="-606195" t="-206061" b="-422727"/>
                          </a:stretch>
                        </a:blipFill>
                      </a:tcPr>
                    </a:tc>
                  </a:tr>
                  <a:tr h="396240"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zh-CN" altLang="en-US" sz="2000" b="0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accent2"/>
                              </a:solidFill>
                              <a:effectLst/>
                              <a:latin typeface="Perpetua" pitchFamily="18" charset="0"/>
                              <a:ea typeface="宋体" pitchFamily="2" charset="-122"/>
                            </a:rPr>
                            <a:t>*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MS PMincho" pitchFamily="18" charset="-128"/>
                              <a:ea typeface="MS PMincho" pitchFamily="18" charset="-128"/>
                            </a:rPr>
                            <a:t>⋖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folHlink"/>
                        </a:solidFill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MS PMincho" pitchFamily="18" charset="-128"/>
                              <a:ea typeface="MS PMincho" pitchFamily="18" charset="-128"/>
                            </a:rPr>
                            <a:t>⋖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folHlink"/>
                        </a:solidFill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endParaRPr kumimoji="0" lang="zh-CN" altLang="en-US" sz="20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accent2"/>
                            </a:solidFill>
                            <a:effectLst/>
                            <a:latin typeface="Perpetua" pitchFamily="18" charset="0"/>
                            <a:ea typeface="宋体" pitchFamily="2" charset="-122"/>
                          </a:endParaRP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1">
                          <a:blip r:embed="rId3"/>
                          <a:stretch>
                            <a:fillRect l="-407080" t="-310769" r="-199115" b="-3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1">
                          <a:blip r:embed="rId3"/>
                          <a:stretch>
                            <a:fillRect l="-511607" t="-310769" r="-100893" b="-3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1">
                          <a:blip r:embed="rId3"/>
                          <a:stretch>
                            <a:fillRect l="-606195" t="-310769" b="-329231"/>
                          </a:stretch>
                        </a:blipFill>
                      </a:tcPr>
                    </a:tc>
                  </a:tr>
                  <a:tr h="396240"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accent2"/>
                              </a:solidFill>
                              <a:effectLst/>
                              <a:latin typeface="Perpetua" pitchFamily="18" charset="0"/>
                              <a:ea typeface="宋体" pitchFamily="2" charset="-122"/>
                            </a:rPr>
                            <a:t>+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MS PMincho" pitchFamily="18" charset="-128"/>
                              <a:ea typeface="MS PMincho" pitchFamily="18" charset="-128"/>
                            </a:rPr>
                            <a:t>⋖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MS PMincho" pitchFamily="18" charset="-128"/>
                              <a:ea typeface="MS PMincho" pitchFamily="18" charset="-128"/>
                            </a:rPr>
                            <a:t>⋖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MS PMincho" pitchFamily="18" charset="-128"/>
                              <a:ea typeface="MS PMincho" pitchFamily="18" charset="-128"/>
                            </a:rPr>
                            <a:t>⋖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1">
                          <a:blip r:embed="rId3"/>
                          <a:stretch>
                            <a:fillRect l="-407080" t="-410769" r="-199115" b="-2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1">
                          <a:blip r:embed="rId3"/>
                          <a:stretch>
                            <a:fillRect l="-511607" t="-410769" r="-100893" b="-2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1">
                          <a:blip r:embed="rId3"/>
                          <a:stretch>
                            <a:fillRect l="-606195" t="-410769" b="-229231"/>
                          </a:stretch>
                        </a:blipFill>
                      </a:tcPr>
                    </a:tc>
                  </a:tr>
                  <a:tr h="396240"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zh-CN" altLang="en-US" sz="2000" b="1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accent2"/>
                              </a:solidFill>
                              <a:effectLst/>
                              <a:latin typeface="Perpetua" pitchFamily="18" charset="0"/>
                              <a:ea typeface="宋体" pitchFamily="2" charset="-122"/>
                            </a:rPr>
                            <a:t>）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endParaRPr kumimoji="0" lang="zh-CN" altLang="en-US" sz="20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accent2"/>
                            </a:solidFill>
                            <a:effectLst/>
                            <a:latin typeface="Perpetua" pitchFamily="18" charset="0"/>
                            <a:ea typeface="宋体" pitchFamily="2" charset="-122"/>
                          </a:endParaRP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endParaRPr kumimoji="0" lang="zh-CN" altLang="en-US" sz="20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accent2"/>
                            </a:solidFill>
                            <a:effectLst/>
                            <a:latin typeface="Perpetua" pitchFamily="18" charset="0"/>
                            <a:ea typeface="宋体" pitchFamily="2" charset="-122"/>
                          </a:endParaRP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1">
                          <a:blip r:embed="rId3"/>
                          <a:stretch>
                            <a:fillRect l="-307080" t="-510769" r="-299115" b="-1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1">
                          <a:blip r:embed="rId3"/>
                          <a:stretch>
                            <a:fillRect l="-407080" t="-510769" r="-199115" b="-1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1">
                          <a:blip r:embed="rId3"/>
                          <a:stretch>
                            <a:fillRect l="-511607" t="-510769" r="-100893" b="-1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1">
                          <a:blip r:embed="rId3"/>
                          <a:stretch>
                            <a:fillRect l="-606195" t="-510769" b="-129231"/>
                          </a:stretch>
                        </a:blipFill>
                      </a:tcPr>
                    </a:tc>
                  </a:tr>
                  <a:tr h="396240"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accent2"/>
                              </a:solidFill>
                              <a:effectLst/>
                              <a:latin typeface="Perpetua" pitchFamily="18" charset="0"/>
                              <a:ea typeface="宋体" pitchFamily="2" charset="-122"/>
                            </a:rPr>
                            <a:t>#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MS PMincho" pitchFamily="18" charset="-128"/>
                              <a:ea typeface="MS PMincho" pitchFamily="18" charset="-128"/>
                            </a:rPr>
                            <a:t>⋖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MS PMincho" pitchFamily="18" charset="-128"/>
                              <a:ea typeface="MS PMincho" pitchFamily="18" charset="-128"/>
                            </a:rPr>
                            <a:t>⋖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MS PMincho" pitchFamily="18" charset="-128"/>
                              <a:ea typeface="MS PMincho" pitchFamily="18" charset="-128"/>
                            </a:rPr>
                            <a:t>⋖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r>
                            <a:rPr kumimoji="0" lang="en-US" altLang="zh-CN" sz="2000" b="1" i="0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MS PMincho" pitchFamily="18" charset="-128"/>
                              <a:ea typeface="MS PMincho" pitchFamily="18" charset="-128"/>
                            </a:rPr>
                            <a:t>⋖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endParaRPr kumimoji="0" lang="zh-CN" altLang="en-US" sz="20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accent2"/>
                            </a:solidFill>
                            <a:effectLst/>
                            <a:latin typeface="Perpetua" pitchFamily="18" charset="0"/>
                            <a:ea typeface="宋体" pitchFamily="2" charset="-122"/>
                          </a:endParaRP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eaLnBrk="0" hangingPunct="0">
                            <a:spcBef>
                              <a:spcPts val="575"/>
                            </a:spcBef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defRPr sz="22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1pPr>
                          <a:lvl2pPr marL="742950" indent="-285750" eaLnBrk="0" hangingPunct="0">
                            <a:spcBef>
                              <a:spcPts val="375"/>
                            </a:spcBef>
                            <a:buClr>
                              <a:schemeClr val="accent2"/>
                            </a:buClr>
                            <a:buSzPct val="85000"/>
                            <a:buFont typeface="Wingdings 2" pitchFamily="18" charset="2"/>
                            <a:defRPr sz="2000"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2pPr>
                          <a:lvl3pPr marL="1143000" indent="-228600" eaLnBrk="0" hangingPunct="0">
                            <a:spcBef>
                              <a:spcPts val="375"/>
                            </a:spcBef>
                            <a:buClr>
                              <a:srgbClr val="E6B1AB"/>
                            </a:buClr>
                            <a:buSzPct val="85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3pPr>
                          <a:lvl4pPr marL="16002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buSzPct val="80000"/>
                            <a:buFont typeface="Wingdings 2" pitchFamily="18" charset="2"/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4pPr>
                          <a:lvl5pPr marL="2057400" indent="-228600" eaLnBrk="0" hangingPunct="0">
                            <a:spcBef>
                              <a:spcPts val="375"/>
                            </a:spcBef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ts val="375"/>
                            </a:spcBef>
                            <a:spcAft>
                              <a:spcPct val="0"/>
                            </a:spcAft>
                            <a:buClr>
                              <a:srgbClr val="A28E6A"/>
                            </a:buClr>
                            <a:defRPr>
                              <a:solidFill>
                                <a:schemeClr val="tx1"/>
                              </a:solidFill>
                              <a:latin typeface="Perpetua" pitchFamily="18" charset="0"/>
                              <a:ea typeface="宋体" pitchFamily="2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ts val="575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85000"/>
                            <a:buFont typeface="Wingdings 2" pitchFamily="18" charset="2"/>
                            <a:buNone/>
                            <a:tabLst/>
                          </a:pPr>
                          <a:endParaRPr kumimoji="0" lang="zh-CN" altLang="en-US" sz="20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accent2"/>
                            </a:solidFill>
                            <a:effectLst/>
                            <a:latin typeface="Perpetua" pitchFamily="18" charset="0"/>
                            <a:ea typeface="宋体" pitchFamily="2" charset="-122"/>
                          </a:endParaRP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14DAA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graphicFrame>
        <p:nvGraphicFramePr>
          <p:cNvPr id="24" name="Object 29"/>
          <p:cNvGraphicFramePr>
            <a:graphicFrameLocks noChangeAspect="1"/>
          </p:cNvGraphicFramePr>
          <p:nvPr/>
        </p:nvGraphicFramePr>
        <p:xfrm>
          <a:off x="7366000" y="2286000"/>
          <a:ext cx="254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08" name="Equation" r:id="rId4" imgW="126720" imgH="152280" progId="Equation.3">
                  <p:embed/>
                </p:oleObj>
              </mc:Choice>
              <mc:Fallback>
                <p:oleObj name="Equation" r:id="rId4" imgW="126720" imgH="152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6000" y="2286000"/>
                        <a:ext cx="2540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97"/>
          <p:cNvSpPr>
            <a:spLocks noChangeArrowheads="1"/>
          </p:cNvSpPr>
          <p:nvPr/>
        </p:nvSpPr>
        <p:spPr bwMode="auto">
          <a:xfrm>
            <a:off x="357188" y="1571625"/>
            <a:ext cx="287655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90000"/>
              <a:buFont typeface="Monotype Sorts"/>
              <a:buNone/>
            </a:pPr>
            <a:r>
              <a:rPr kumimoji="1" lang="zh-CN" altLang="en-US" dirty="0">
                <a:solidFill>
                  <a:schemeClr val="accent2"/>
                </a:solidFill>
                <a:latin typeface="Times New Roman" pitchFamily="18" charset="0"/>
              </a:rPr>
              <a:t>例如文法</a:t>
            </a:r>
            <a:r>
              <a:rPr kumimoji="1" lang="en-US" altLang="zh-CN" dirty="0">
                <a:solidFill>
                  <a:schemeClr val="accent2"/>
                </a:solidFill>
                <a:latin typeface="Times New Roman" pitchFamily="18" charset="0"/>
              </a:rPr>
              <a:t>G[E]: E→E+T∣T</a:t>
            </a:r>
            <a:r>
              <a:rPr kumimoji="1" lang="zh-CN" altLang="en-US" dirty="0">
                <a:solidFill>
                  <a:schemeClr val="accent2"/>
                </a:solidFill>
                <a:latin typeface="Times New Roman" pitchFamily="18" charset="0"/>
              </a:rPr>
              <a:t>；</a:t>
            </a:r>
            <a:r>
              <a:rPr kumimoji="1" lang="en-US" altLang="zh-CN" dirty="0">
                <a:solidFill>
                  <a:schemeClr val="accent2"/>
                </a:solidFill>
                <a:latin typeface="Times New Roman" pitchFamily="18" charset="0"/>
              </a:rPr>
              <a:t>T→T*F∣F</a:t>
            </a:r>
            <a:r>
              <a:rPr kumimoji="1" lang="zh-CN" altLang="en-US" dirty="0">
                <a:solidFill>
                  <a:schemeClr val="accent2"/>
                </a:solidFill>
                <a:latin typeface="Times New Roman" pitchFamily="18" charset="0"/>
              </a:rPr>
              <a:t>；</a:t>
            </a:r>
            <a:r>
              <a:rPr kumimoji="1" lang="en-US" altLang="zh-CN" dirty="0">
                <a:solidFill>
                  <a:schemeClr val="accent2"/>
                </a:solidFill>
                <a:latin typeface="Times New Roman" pitchFamily="18" charset="0"/>
              </a:rPr>
              <a:t>F→(E) | </a:t>
            </a:r>
            <a:r>
              <a:rPr kumimoji="1" lang="en-US" altLang="zh-CN" dirty="0" err="1">
                <a:solidFill>
                  <a:schemeClr val="accent2"/>
                </a:solidFill>
                <a:latin typeface="Times New Roman" pitchFamily="18" charset="0"/>
              </a:rPr>
              <a:t>i</a:t>
            </a:r>
            <a:r>
              <a:rPr kumimoji="1" lang="en-US" altLang="zh-CN" sz="1800" b="1" dirty="0">
                <a:latin typeface="Times New Roman" pitchFamily="18" charset="0"/>
              </a:rPr>
              <a:t>     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90000"/>
              <a:buFont typeface="Monotype Sorts"/>
              <a:buNone/>
            </a:pPr>
            <a:r>
              <a:rPr kumimoji="1" lang="zh-CN" altLang="en-US" b="1" dirty="0">
                <a:latin typeface="Times New Roman" pitchFamily="18" charset="0"/>
              </a:rPr>
              <a:t>的算符优先关系矩阵如右表。优先函数</a:t>
            </a:r>
            <a:r>
              <a:rPr kumimoji="1" lang="en-US" altLang="zh-CN" b="1" dirty="0" err="1">
                <a:latin typeface="Times New Roman" pitchFamily="18" charset="0"/>
              </a:rPr>
              <a:t>f,g</a:t>
            </a:r>
            <a:r>
              <a:rPr kumimoji="1" lang="zh-CN" altLang="en-US" b="1" dirty="0">
                <a:latin typeface="Times New Roman" pitchFamily="18" charset="0"/>
              </a:rPr>
              <a:t>计算如下：</a:t>
            </a:r>
          </a:p>
        </p:txBody>
      </p:sp>
      <p:graphicFrame>
        <p:nvGraphicFramePr>
          <p:cNvPr id="26" name="Group 4"/>
          <p:cNvGraphicFramePr>
            <a:graphicFrameLocks noGrp="1"/>
          </p:cNvGraphicFramePr>
          <p:nvPr/>
        </p:nvGraphicFramePr>
        <p:xfrm>
          <a:off x="2286000" y="4857750"/>
          <a:ext cx="3733800" cy="1552575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7525"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75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0" lang="zh-CN" alt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erpetua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75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Perpetua" pitchFamily="18" charset="0"/>
                          <a:ea typeface="宋体" pitchFamily="2" charset="-122"/>
                        </a:rPr>
                        <a:t>+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75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Perpetua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75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Perpetua" pitchFamily="18" charset="0"/>
                          <a:ea typeface="宋体" pitchFamily="2" charset="-122"/>
                        </a:rPr>
                        <a:t>(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75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Perpetua" pitchFamily="18" charset="0"/>
                          <a:ea typeface="宋体" pitchFamily="2" charset="-122"/>
                        </a:rPr>
                        <a:t>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75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Perpetua" pitchFamily="18" charset="0"/>
                          <a:ea typeface="宋体" pitchFamily="2" charset="-122"/>
                        </a:rPr>
                        <a:t>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75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Perpetua" pitchFamily="18" charset="0"/>
                          <a:ea typeface="宋体" pitchFamily="2" charset="-122"/>
                        </a:rPr>
                        <a:t>#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525"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75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Perpetua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75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Perpetua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75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Perpetua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75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Perpetua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75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Perpetua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75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Perpetua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75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Perpetua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525"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75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Perpetua" pitchFamily="18" charset="0"/>
                          <a:ea typeface="宋体" pitchFamily="2" charset="-122"/>
                        </a:rPr>
                        <a:t>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75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Perpetua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75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Perpetua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75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Perpetua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75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Perpetua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75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Perpetua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75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Perpetua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A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458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四、算符优先分析法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  <a:ea typeface="+mj-ea"/>
              </a:rPr>
              <a:t>算符优先关系的局限性</a:t>
            </a:r>
            <a:endParaRPr lang="en-US" altLang="zh-CN" b="1" dirty="0">
              <a:latin typeface="+mj-ea"/>
              <a:ea typeface="+mj-ea"/>
            </a:endParaRPr>
          </a:p>
          <a:p>
            <a:pPr lvl="1"/>
            <a:r>
              <a:rPr lang="zh-CN" altLang="en-US" b="1" dirty="0">
                <a:latin typeface="+mj-ea"/>
                <a:ea typeface="+mj-ea"/>
              </a:rPr>
              <a:t>一般语言的方法很难满足算符优先文法的条件</a:t>
            </a:r>
          </a:p>
          <a:p>
            <a:pPr lvl="1"/>
            <a:r>
              <a:rPr lang="zh-CN" altLang="en-US" b="1" dirty="0">
                <a:latin typeface="+mj-ea"/>
                <a:ea typeface="+mj-ea"/>
              </a:rPr>
              <a:t>很难避免把错误的句子得到正确的归约</a:t>
            </a:r>
          </a:p>
          <a:p>
            <a:pPr lvl="1"/>
            <a:endParaRPr lang="zh-CN" altLang="en-US" b="1" dirty="0"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898276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5" y="1056942"/>
            <a:ext cx="8218487" cy="5113338"/>
          </a:xfrm>
        </p:spPr>
        <p:txBody>
          <a:bodyPr/>
          <a:lstStyle/>
          <a:p>
            <a:r>
              <a:rPr lang="zh-CN" altLang="en-US" b="1" dirty="0">
                <a:latin typeface="+mj-ea"/>
                <a:ea typeface="+mj-ea"/>
              </a:rPr>
              <a:t>自底向上分析的核心思想</a:t>
            </a:r>
            <a:endParaRPr lang="en-US" altLang="zh-CN" b="1" dirty="0">
              <a:latin typeface="+mj-ea"/>
              <a:ea typeface="+mj-ea"/>
            </a:endParaRPr>
          </a:p>
          <a:p>
            <a:pPr lvl="1"/>
            <a:r>
              <a:rPr lang="zh-CN" altLang="en-US" b="1" dirty="0">
                <a:latin typeface="+mj-ea"/>
                <a:ea typeface="+mj-ea"/>
              </a:rPr>
              <a:t>简单优先分析和算法优先分析的关系</a:t>
            </a:r>
            <a:endParaRPr lang="en-US" altLang="zh-CN" b="1" dirty="0">
              <a:latin typeface="+mj-ea"/>
              <a:ea typeface="+mj-ea"/>
            </a:endParaRPr>
          </a:p>
          <a:p>
            <a:r>
              <a:rPr lang="zh-CN" altLang="en-US" b="1" dirty="0">
                <a:latin typeface="+mj-ea"/>
                <a:ea typeface="+mj-ea"/>
              </a:rPr>
              <a:t>移动规约的概念</a:t>
            </a:r>
            <a:endParaRPr lang="en-US" altLang="zh-CN" b="1" dirty="0">
              <a:latin typeface="+mj-ea"/>
              <a:ea typeface="+mj-ea"/>
            </a:endParaRPr>
          </a:p>
          <a:p>
            <a:pPr lvl="1"/>
            <a:r>
              <a:rPr lang="zh-CN" altLang="en-US" b="1" dirty="0">
                <a:latin typeface="+mj-ea"/>
                <a:ea typeface="+mj-ea"/>
              </a:rPr>
              <a:t>规范规约</a:t>
            </a:r>
            <a:endParaRPr lang="en-US" altLang="zh-CN" b="1" dirty="0">
              <a:latin typeface="+mj-ea"/>
              <a:ea typeface="+mj-ea"/>
            </a:endParaRPr>
          </a:p>
          <a:p>
            <a:r>
              <a:rPr lang="zh-CN" altLang="en-US" b="1" dirty="0">
                <a:latin typeface="+mj-ea"/>
                <a:ea typeface="+mj-ea"/>
              </a:rPr>
              <a:t>简单优先分析法</a:t>
            </a:r>
            <a:endParaRPr lang="en-US" altLang="zh-CN" b="1" dirty="0">
              <a:latin typeface="+mj-ea"/>
              <a:ea typeface="+mj-ea"/>
            </a:endParaRPr>
          </a:p>
          <a:p>
            <a:pPr lvl="1"/>
            <a:r>
              <a:rPr lang="zh-CN" altLang="en-US" b="1" dirty="0">
                <a:latin typeface="+mj-ea"/>
                <a:ea typeface="+mj-ea"/>
              </a:rPr>
              <a:t>优先关系的定义、简单优先文法、简单优先分析法的操作步骤</a:t>
            </a:r>
            <a:endParaRPr lang="en-US" altLang="zh-CN" b="1" dirty="0">
              <a:latin typeface="+mj-ea"/>
              <a:ea typeface="+mj-ea"/>
            </a:endParaRPr>
          </a:p>
          <a:p>
            <a:r>
              <a:rPr lang="zh-CN" altLang="en-US" b="1" dirty="0">
                <a:latin typeface="+mj-ea"/>
                <a:ea typeface="+mj-ea"/>
              </a:rPr>
              <a:t>算符优先分析法</a:t>
            </a:r>
            <a:endParaRPr lang="en-US" altLang="zh-CN" b="1" dirty="0">
              <a:latin typeface="+mj-ea"/>
              <a:ea typeface="+mj-ea"/>
            </a:endParaRPr>
          </a:p>
          <a:p>
            <a:pPr lvl="1"/>
            <a:r>
              <a:rPr lang="zh-CN" altLang="en-US" b="1" dirty="0">
                <a:latin typeface="+mj-ea"/>
                <a:ea typeface="+mj-ea"/>
              </a:rPr>
              <a:t>直观算法优先分析法、算符优先文法的定义、算法优先关系表的构造</a:t>
            </a:r>
            <a:endParaRPr lang="en-US" altLang="zh-CN" b="1" dirty="0">
              <a:latin typeface="+mj-ea"/>
              <a:ea typeface="+mj-ea"/>
            </a:endParaRPr>
          </a:p>
          <a:p>
            <a:r>
              <a:rPr lang="zh-CN" altLang="en-US" b="1" dirty="0">
                <a:latin typeface="+mj-ea"/>
                <a:ea typeface="+mj-ea"/>
              </a:rPr>
              <a:t>算法优先分析算法</a:t>
            </a:r>
            <a:endParaRPr lang="en-US" altLang="zh-CN" b="1" dirty="0">
              <a:latin typeface="+mj-ea"/>
              <a:ea typeface="+mj-ea"/>
            </a:endParaRPr>
          </a:p>
          <a:p>
            <a:pPr lvl="1"/>
            <a:r>
              <a:rPr lang="zh-CN" altLang="en-US" b="1" dirty="0">
                <a:latin typeface="+mj-ea"/>
                <a:ea typeface="+mj-ea"/>
              </a:rPr>
              <a:t>算法优先分析句型的性质、最左素短语、规约过程算法、优先函数等</a:t>
            </a:r>
            <a:endParaRPr lang="en-US" altLang="zh-CN" b="1" dirty="0">
              <a:latin typeface="+mj-ea"/>
              <a:ea typeface="+mj-ea"/>
            </a:endParaRPr>
          </a:p>
          <a:p>
            <a:pPr lvl="1"/>
            <a:endParaRPr lang="en-US" altLang="zh-CN" b="1" dirty="0"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3053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420888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200" dirty="0">
                <a:solidFill>
                  <a:srgbClr val="0066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谢谢听讲！</a:t>
            </a:r>
            <a:endParaRPr lang="en-US" altLang="zh-CN" sz="7200" dirty="0">
              <a:solidFill>
                <a:srgbClr val="0066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3473F-AE3F-4D1C-9C4F-7AD3C17AC1AD}" type="slidenum">
              <a:rPr lang="zh-CN" altLang="en-US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150330"/>
      </p:ext>
    </p:extLst>
  </p:cSld>
  <p:clrMapOvr>
    <a:masterClrMapping/>
  </p:clrMapOvr>
</p:sld>
</file>

<file path=ppt/theme/theme1.xml><?xml version="1.0" encoding="utf-8"?>
<a:theme xmlns:a="http://schemas.openxmlformats.org/drawingml/2006/main" name="A000120141114A01PWBG">
  <a:themeElements>
    <a:clrScheme name="自定义 1">
      <a:dk1>
        <a:srgbClr val="3F3F3F"/>
      </a:dk1>
      <a:lt1>
        <a:sysClr val="window" lastClr="FFFFFF"/>
      </a:lt1>
      <a:dk2>
        <a:srgbClr val="3F3F3F"/>
      </a:dk2>
      <a:lt2>
        <a:srgbClr val="FFFFFF"/>
      </a:lt2>
      <a:accent1>
        <a:srgbClr val="E64823"/>
      </a:accent1>
      <a:accent2>
        <a:srgbClr val="F8931D"/>
      </a:accent2>
      <a:accent3>
        <a:srgbClr val="CE8D3E"/>
      </a:accent3>
      <a:accent4>
        <a:srgbClr val="EC7016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微软雅黑">
      <a:majorFont>
        <a:latin typeface="Arial"/>
        <a:ea typeface="微软雅黑"/>
        <a:cs typeface=""/>
      </a:majorFont>
      <a:minorFont>
        <a:latin typeface="Arial"/>
        <a:ea typeface="幼圆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第1章">
  <a:themeElements>
    <a:clrScheme name="1_第1章 2">
      <a:dk1>
        <a:srgbClr val="000000"/>
      </a:dk1>
      <a:lt1>
        <a:srgbClr val="FFFFFF"/>
      </a:lt1>
      <a:dk2>
        <a:srgbClr val="0000FF"/>
      </a:dk2>
      <a:lt2>
        <a:srgbClr val="FFFF00"/>
      </a:lt2>
      <a:accent1>
        <a:srgbClr val="FF9900"/>
      </a:accent1>
      <a:accent2>
        <a:srgbClr val="00FFFF"/>
      </a:accent2>
      <a:accent3>
        <a:srgbClr val="AAAAFF"/>
      </a:accent3>
      <a:accent4>
        <a:srgbClr val="DADADA"/>
      </a:accent4>
      <a:accent5>
        <a:srgbClr val="FFCAAA"/>
      </a:accent5>
      <a:accent6>
        <a:srgbClr val="00E7E7"/>
      </a:accent6>
      <a:hlink>
        <a:srgbClr val="FF0000"/>
      </a:hlink>
      <a:folHlink>
        <a:srgbClr val="969696"/>
      </a:folHlink>
    </a:clrScheme>
    <a:fontScheme name="1_第1章">
      <a:majorFont>
        <a:latin typeface="Times New Roman"/>
        <a:ea typeface="黑体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solidFill>
            <a:schemeClr val="hlink"/>
          </a:solidFill>
          <a:prstDash val="solid"/>
          <a:round/>
          <a:headEnd type="none" w="med" len="med"/>
          <a:tailEnd type="triangl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solidFill>
            <a:schemeClr val="hlink"/>
          </a:solidFill>
          <a:prstDash val="solid"/>
          <a:round/>
          <a:headEnd type="none" w="med" len="med"/>
          <a:tailEnd type="triangl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1_第1章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第1章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第1章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第1章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第1章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第1章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第1章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A000120151104A05PPBG</Template>
  <TotalTime>9665</TotalTime>
  <Words>7150</Words>
  <Application>Microsoft Office PowerPoint</Application>
  <PresentationFormat>全屏显示(4:3)</PresentationFormat>
  <Paragraphs>1174</Paragraphs>
  <Slides>73</Slides>
  <Notes>3</Notes>
  <HiddenSlides>7</HiddenSlides>
  <MMClips>0</MMClips>
  <ScaleCrop>false</ScaleCrop>
  <HeadingPairs>
    <vt:vector size="8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73</vt:i4>
      </vt:variant>
    </vt:vector>
  </HeadingPairs>
  <TitlesOfParts>
    <vt:vector size="104" baseType="lpstr">
      <vt:lpstr>ˎ̥</vt:lpstr>
      <vt:lpstr>Monotype Sorts</vt:lpstr>
      <vt:lpstr>MS PMincho</vt:lpstr>
      <vt:lpstr>PMingLiU</vt:lpstr>
      <vt:lpstr>仿宋_GB2312</vt:lpstr>
      <vt:lpstr>黑体</vt:lpstr>
      <vt:lpstr>华文彩云</vt:lpstr>
      <vt:lpstr>华文行楷</vt:lpstr>
      <vt:lpstr>华文中宋</vt:lpstr>
      <vt:lpstr>楷体_GB2312</vt:lpstr>
      <vt:lpstr>宋体</vt:lpstr>
      <vt:lpstr>微软雅黑</vt:lpstr>
      <vt:lpstr>幼圆</vt:lpstr>
      <vt:lpstr>Arial</vt:lpstr>
      <vt:lpstr>Book Antiqua</vt:lpstr>
      <vt:lpstr>Calibri</vt:lpstr>
      <vt:lpstr>Cambria Math</vt:lpstr>
      <vt:lpstr>Comic Sans MS</vt:lpstr>
      <vt:lpstr>Perpetua</vt:lpstr>
      <vt:lpstr>Symbol</vt:lpstr>
      <vt:lpstr>Tahoma</vt:lpstr>
      <vt:lpstr>Times New Roman</vt:lpstr>
      <vt:lpstr>Verdana</vt:lpstr>
      <vt:lpstr>Wingdings</vt:lpstr>
      <vt:lpstr>Wingdings 2</vt:lpstr>
      <vt:lpstr>A000120141114A01PWBG</vt:lpstr>
      <vt:lpstr>1_第1章</vt:lpstr>
      <vt:lpstr>Equation</vt:lpstr>
      <vt:lpstr>Document</vt:lpstr>
      <vt:lpstr>位图图像</vt:lpstr>
      <vt:lpstr>BMP 图象</vt:lpstr>
      <vt:lpstr>PowerPoint 演示文稿</vt:lpstr>
      <vt:lpstr>PowerPoint 演示文稿</vt:lpstr>
      <vt:lpstr>回顾：自顶向下语法分析方法</vt:lpstr>
      <vt:lpstr>第五章 自底向上优先分析</vt:lpstr>
      <vt:lpstr>一、自底向上语法分析思想</vt:lpstr>
      <vt:lpstr>一、自底向上语法分析思想</vt:lpstr>
      <vt:lpstr>一、自底向上语法分析思想</vt:lpstr>
      <vt:lpstr>第五章 自底向上优先分析</vt:lpstr>
      <vt:lpstr>二、移进-规约</vt:lpstr>
      <vt:lpstr>二、移进-规约</vt:lpstr>
      <vt:lpstr>二、移进-规约</vt:lpstr>
      <vt:lpstr>二、移进-规约</vt:lpstr>
      <vt:lpstr>二、移进-规约</vt:lpstr>
      <vt:lpstr>二、移进-规约</vt:lpstr>
      <vt:lpstr>PowerPoint 演示文稿</vt:lpstr>
      <vt:lpstr>二、移进-规约</vt:lpstr>
      <vt:lpstr>二、移进-规约</vt:lpstr>
      <vt:lpstr>二、移进-规约</vt:lpstr>
      <vt:lpstr>二、移进-规约</vt:lpstr>
      <vt:lpstr>二、移进-规约</vt:lpstr>
      <vt:lpstr>第五章 自底向上优先分析</vt:lpstr>
      <vt:lpstr>三、简单优先分析方法</vt:lpstr>
      <vt:lpstr>三、简单优先分析方法</vt:lpstr>
      <vt:lpstr>三、简单优先分析方法</vt:lpstr>
      <vt:lpstr>三、简单优先分析方法</vt:lpstr>
      <vt:lpstr>三、简单优先分析方法</vt:lpstr>
      <vt:lpstr>三、简单优先分析方法</vt:lpstr>
      <vt:lpstr>三、简单优先分析方法</vt:lpstr>
      <vt:lpstr>三、简单优先分析方法</vt:lpstr>
      <vt:lpstr>PowerPoint 演示文稿</vt:lpstr>
      <vt:lpstr>第五章 自底向上优先分析</vt:lpstr>
      <vt:lpstr>四、算符优先分析法</vt:lpstr>
      <vt:lpstr>四、算符优先分析法</vt:lpstr>
      <vt:lpstr>PowerPoint 演示文稿</vt:lpstr>
      <vt:lpstr>四、算符优先分析法</vt:lpstr>
      <vt:lpstr>四、算符优先分析法</vt:lpstr>
      <vt:lpstr>四、算符优先分析法</vt:lpstr>
      <vt:lpstr>四、算符优先分析法</vt:lpstr>
      <vt:lpstr>四、算符优先分析法</vt:lpstr>
      <vt:lpstr>四、算符优先分析法</vt:lpstr>
      <vt:lpstr>四、算符优先分析法</vt:lpstr>
      <vt:lpstr>四、算符优先分析法</vt:lpstr>
      <vt:lpstr>四、算符优先分析法</vt:lpstr>
      <vt:lpstr>四、算符优先分析法</vt:lpstr>
      <vt:lpstr>PowerPoint 演示文稿</vt:lpstr>
      <vt:lpstr>四、算符优先分析法</vt:lpstr>
      <vt:lpstr>PowerPoint 演示文稿</vt:lpstr>
      <vt:lpstr>四、算符优先分析法</vt:lpstr>
      <vt:lpstr>PowerPoint 演示文稿</vt:lpstr>
      <vt:lpstr>例：求非终结符的FISRTVT</vt:lpstr>
      <vt:lpstr>例：求非终结符的FISRTVT</vt:lpstr>
      <vt:lpstr>四、算符优先分析法</vt:lpstr>
      <vt:lpstr>四、算符优先分析法</vt:lpstr>
      <vt:lpstr>四、算符优先分析法</vt:lpstr>
      <vt:lpstr>PowerPoint 演示文稿</vt:lpstr>
      <vt:lpstr>PowerPoint 演示文稿</vt:lpstr>
      <vt:lpstr>PowerPoint 演示文稿</vt:lpstr>
      <vt:lpstr>四、算符优先分析法</vt:lpstr>
      <vt:lpstr>四、算符优先分析法</vt:lpstr>
      <vt:lpstr>四、算符优先分析法</vt:lpstr>
      <vt:lpstr>四、算符优先分析法</vt:lpstr>
      <vt:lpstr>四、算符优先分析法</vt:lpstr>
      <vt:lpstr>四、算符优先分析法</vt:lpstr>
      <vt:lpstr>四、算符优先分析法</vt:lpstr>
      <vt:lpstr>四、算符优先分析法</vt:lpstr>
      <vt:lpstr>四、算符优先分析法</vt:lpstr>
      <vt:lpstr>四、算符优先分析法</vt:lpstr>
      <vt:lpstr>PowerPoint 演示文稿</vt:lpstr>
      <vt:lpstr>PowerPoint 演示文稿</vt:lpstr>
      <vt:lpstr>PowerPoint 演示文稿</vt:lpstr>
      <vt:lpstr>四、算符优先分析法</vt:lpstr>
      <vt:lpstr>小结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nd4</dc:creator>
  <cp:lastModifiedBy>DELL</cp:lastModifiedBy>
  <cp:revision>492</cp:revision>
  <cp:lastPrinted>2024-02-20T11:58:18Z</cp:lastPrinted>
  <dcterms:created xsi:type="dcterms:W3CDTF">2015-01-15T01:53:08Z</dcterms:created>
  <dcterms:modified xsi:type="dcterms:W3CDTF">2024-04-03T08:24:48Z</dcterms:modified>
</cp:coreProperties>
</file>