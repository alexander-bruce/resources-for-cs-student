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handoutMasterIdLst>
    <p:handoutMasterId r:id="rId44"/>
  </p:handoutMasterIdLst>
  <p:sldIdLst>
    <p:sldId id="549" r:id="rId2"/>
    <p:sldId id="295" r:id="rId3"/>
    <p:sldId id="296" r:id="rId4"/>
    <p:sldId id="297" r:id="rId5"/>
    <p:sldId id="257" r:id="rId6"/>
    <p:sldId id="259" r:id="rId7"/>
    <p:sldId id="298" r:id="rId8"/>
    <p:sldId id="260" r:id="rId9"/>
    <p:sldId id="261" r:id="rId10"/>
    <p:sldId id="262" r:id="rId11"/>
    <p:sldId id="263" r:id="rId12"/>
    <p:sldId id="265" r:id="rId13"/>
    <p:sldId id="264" r:id="rId14"/>
    <p:sldId id="266" r:id="rId15"/>
    <p:sldId id="267" r:id="rId16"/>
    <p:sldId id="269" r:id="rId17"/>
    <p:sldId id="268"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7" r:id="rId35"/>
    <p:sldId id="286" r:id="rId36"/>
    <p:sldId id="299" r:id="rId37"/>
    <p:sldId id="288" r:id="rId38"/>
    <p:sldId id="289" r:id="rId39"/>
    <p:sldId id="290" r:id="rId40"/>
    <p:sldId id="292" r:id="rId41"/>
    <p:sldId id="258" r:id="rId4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66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2827" autoAdjust="0"/>
  </p:normalViewPr>
  <p:slideViewPr>
    <p:cSldViewPr snapToGrid="0">
      <p:cViewPr varScale="1">
        <p:scale>
          <a:sx n="93" d="100"/>
          <a:sy n="93" d="100"/>
        </p:scale>
        <p:origin x="210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2024/2/20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2260981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2024/2/20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93656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TAC</a:t>
            </a:r>
            <a:r>
              <a:rPr lang="zh-CN" altLang="en-US" dirty="0"/>
              <a:t>三地址码</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2518801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堆区地址从低端地址向高段地址变化；栈区从高端地址向低端地址变化。</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2623799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内情向量</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3292708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其他控制信息：动态链、静态链、</a:t>
            </a:r>
            <a:r>
              <a:rPr lang="en-US" altLang="zh-CN" dirty="0"/>
              <a:t>Display</a:t>
            </a:r>
            <a:r>
              <a:rPr lang="zh-CN" altLang="en-US" dirty="0"/>
              <a:t>表等</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35</a:t>
            </a:fld>
            <a:endParaRPr lang="zh-CN" altLang="en-US"/>
          </a:p>
        </p:txBody>
      </p:sp>
    </p:spTree>
    <p:extLst>
      <p:ext uri="{BB962C8B-B14F-4D97-AF65-F5344CB8AC3E}">
        <p14:creationId xmlns:p14="http://schemas.microsoft.com/office/powerpoint/2010/main" val="3656090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userDrawn="1"/>
        </p:nvSpPr>
        <p:spPr>
          <a:xfrm>
            <a:off x="0" y="1551305"/>
            <a:ext cx="9144000" cy="2051050"/>
          </a:xfrm>
          <a:prstGeom prst="rect">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p>
        </p:txBody>
      </p:sp>
      <p:sp>
        <p:nvSpPr>
          <p:cNvPr id="2" name="标题 1"/>
          <p:cNvSpPr>
            <a:spLocks noGrp="1"/>
          </p:cNvSpPr>
          <p:nvPr>
            <p:ph type="ctrTitle"/>
          </p:nvPr>
        </p:nvSpPr>
        <p:spPr>
          <a:xfrm>
            <a:off x="504190" y="2025650"/>
            <a:ext cx="8135620" cy="936625"/>
          </a:xfrm>
        </p:spPr>
        <p:txBody>
          <a:bodyPr anchor="b"/>
          <a:lstStyle>
            <a:lvl1pPr algn="ctr">
              <a:defRPr sz="4800" b="1" u="none" strike="noStrike" kern="1200" cap="none" spc="0" normalizeH="0">
                <a:solidFill>
                  <a:schemeClr val="bg1"/>
                </a:solidFill>
              </a:defRPr>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4000" b="1" u="none" strike="noStrike" kern="1200" cap="none" spc="0" normalizeH="0">
                <a:solidFill>
                  <a:srgbClr val="0066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C359DED-DE5B-4B92-991A-0197814318A8}" type="datetime1">
              <a:rPr lang="zh-CN" altLang="en-US" smtClean="0"/>
              <a:t>2024/2/20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cxnSp>
        <p:nvCxnSpPr>
          <p:cNvPr id="12" name="直接连接符 11"/>
          <p:cNvCxnSpPr/>
          <p:nvPr/>
        </p:nvCxnSpPr>
        <p:spPr>
          <a:xfrm flipV="1">
            <a:off x="0" y="4611370"/>
            <a:ext cx="9144067" cy="23495"/>
          </a:xfrm>
          <a:prstGeom prst="line">
            <a:avLst/>
          </a:prstGeom>
          <a:ln w="63500" cmpd="sng">
            <a:solidFill>
              <a:srgbClr val="0066FF"/>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4" name="文本占位符 13"/>
          <p:cNvSpPr>
            <a:spLocks noGrp="1"/>
          </p:cNvSpPr>
          <p:nvPr>
            <p:ph type="body" idx="1"/>
          </p:nvPr>
        </p:nvSpPr>
        <p:spPr>
          <a:xfrm>
            <a:off x="375920" y="793750"/>
            <a:ext cx="8361680" cy="5563235"/>
          </a:xfrm>
          <a:prstGeom prst="rect">
            <a:avLst/>
          </a:prstGeom>
        </p:spPr>
        <p:txBody>
          <a:bodyPr vert="horz" lIns="91440" tIns="45720" rIns="91440" bIns="45720" rtlCol="0">
            <a:normAutofit/>
          </a:bodyPr>
          <a:lstStyle>
            <a:lvl1pPr>
              <a:defRPr u="none" strike="noStrike" kern="1200" cap="none" spc="0" normalizeH="0" baseline="0">
                <a:solidFill>
                  <a:srgbClr val="0000CC"/>
                </a:solidFill>
                <a:uFillTx/>
                <a:ea typeface="黑体" panose="02010609060101010101" pitchFamily="49" charset="-122"/>
              </a:defRPr>
            </a:lvl1pPr>
            <a:lvl2pPr>
              <a:defRPr b="1" u="none" strike="noStrike" kern="1200" cap="none" spc="0" normalizeH="0">
                <a:solidFill>
                  <a:srgbClr val="0066FF"/>
                </a:solidFill>
                <a:uFillTx/>
              </a:defRPr>
            </a:lvl2pPr>
            <a:lvl3pPr>
              <a:defRPr u="none" strike="noStrike" kern="1200" cap="none" spc="0" normalizeH="0" baseline="0">
                <a:solidFill>
                  <a:srgbClr val="0000CC"/>
                </a:solidFill>
                <a:uFillTx/>
                <a:ea typeface="黑体" panose="02010609060101010101" pitchFamily="49" charset="-122"/>
              </a:defRPr>
            </a:lvl3pPr>
          </a:lstStyle>
          <a:p>
            <a:pPr lvl="0"/>
            <a:r>
              <a:rPr lang="zh-CN" altLang="en-US" dirty="0"/>
              <a:t>单击此处编辑母版文本样式</a:t>
            </a:r>
          </a:p>
          <a:p>
            <a:pPr lvl="1"/>
            <a:r>
              <a:rPr lang="zh-CN" altLang="en-US" dirty="0"/>
              <a:t>第二级</a:t>
            </a:r>
          </a:p>
          <a:p>
            <a:pPr lvl="2"/>
            <a:r>
              <a:rPr lang="zh-CN" altLang="en-US" dirty="0"/>
              <a:t>第三级</a:t>
            </a:r>
          </a:p>
          <a:p>
            <a:pPr lvl="3"/>
            <a:endParaRPr lang="zh-CN" altLang="en-US" dirty="0"/>
          </a:p>
        </p:txBody>
      </p:sp>
      <p:sp>
        <p:nvSpPr>
          <p:cNvPr id="15" name="日期占位符 14"/>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98C416-FB92-42E8-B102-2EC8C6B00492}" type="datetime1">
              <a:rPr lang="zh-CN" altLang="en-US" smtClean="0"/>
              <a:t>2024/2/20</a:t>
            </a:fld>
            <a:endParaRPr lang="zh-CN" altLang="en-US"/>
          </a:p>
        </p:txBody>
      </p:sp>
      <p:sp>
        <p:nvSpPr>
          <p:cNvPr id="16" name="页脚占位符 1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7" name="灯片编号占位符 16"/>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
        <p:nvSpPr>
          <p:cNvPr id="18" name="矩形 17"/>
          <p:cNvSpPr/>
          <p:nvPr userDrawn="1"/>
        </p:nvSpPr>
        <p:spPr>
          <a:xfrm>
            <a:off x="0" y="-67310"/>
            <a:ext cx="9144000" cy="750570"/>
          </a:xfrm>
          <a:prstGeom prst="rect">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p>
        </p:txBody>
      </p:sp>
      <p:sp>
        <p:nvSpPr>
          <p:cNvPr id="19" name="标题占位符 1"/>
          <p:cNvSpPr>
            <a:spLocks noGrp="1"/>
          </p:cNvSpPr>
          <p:nvPr>
            <p:ph type="title"/>
          </p:nvPr>
        </p:nvSpPr>
        <p:spPr>
          <a:xfrm>
            <a:off x="49530" y="69215"/>
            <a:ext cx="7886700" cy="476885"/>
          </a:xfrm>
          <a:prstGeom prst="rect">
            <a:avLst/>
          </a:prstGeom>
        </p:spPr>
        <p:txBody>
          <a:bodyPr vert="horz" lIns="91440" tIns="45720" rIns="91440" bIns="45720" rtlCol="0" anchor="ctr">
            <a:noAutofit/>
          </a:bodyPr>
          <a:lstStyle>
            <a:lvl1pPr>
              <a:defRPr>
                <a:solidFill>
                  <a:schemeClr val="bg1"/>
                </a:solidFill>
              </a:defRPr>
            </a:lvl1pPr>
          </a:lstStyle>
          <a:p>
            <a:r>
              <a:rPr lang="zh-CN" altLang="en-US"/>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D87729A-8ACE-4C5E-8D18-AEA217A19CB7}" type="datetime1">
              <a:rPr lang="zh-CN" altLang="en-US" smtClean="0"/>
              <a:t>2024/2/20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B54D33E-34D5-47A5-8D91-6224E115373B}" type="datetime1">
              <a:rPr lang="zh-CN" altLang="en-US" smtClean="0"/>
              <a:t>2024/2/20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5A2833A-0BCA-47E7-B058-5EC66B0201C6}" type="datetime1">
              <a:rPr lang="zh-CN" altLang="en-US" smtClean="0"/>
              <a:t>2024/2/20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8AC92AE-B9B8-494A-86C7-0801BA8D8A44}" type="datetime1">
              <a:rPr lang="zh-CN" altLang="en-US" smtClean="0"/>
              <a:t>2024/2/20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2CDB3B-AE55-4145-AD4F-91C3B8D586B0}" type="datetime1">
              <a:rPr lang="zh-CN" altLang="en-US" smtClean="0"/>
              <a:t>2024/2/20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784A87B-EA16-4F22-ABC9-97E1095F519D}" type="datetime1">
              <a:rPr lang="zh-CN" altLang="en-US" smtClean="0"/>
              <a:t>2024/2/20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764CD5A-F459-4337-9818-443C487EEDE1}" type="datetime1">
              <a:rPr lang="zh-CN" altLang="en-US" smtClean="0"/>
              <a:t>2024/2/20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B65D422-CF4C-4576-A0DC-E7BBA101D892}" type="datetime1">
              <a:rPr lang="zh-CN" altLang="en-US" smtClean="0"/>
              <a:t>2024/2/20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FFA9306-4DCB-44B0-9F97-66E731C5F134}" type="datetime1">
              <a:rPr lang="zh-CN" altLang="en-US" smtClean="0"/>
              <a:t>2024/2/20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5" name="Rectangle 4"/>
          <p:cNvSpPr>
            <a:spLocks noGrp="1" noChangeArrowheads="1"/>
          </p:cNvSpPr>
          <p:nvPr>
            <p:ph type="dt" sz="half" idx="10"/>
          </p:nvPr>
        </p:nvSpPr>
        <p:spPr/>
        <p:txBody>
          <a:bodyPr/>
          <a:lstStyle>
            <a:lvl1pPr>
              <a:defRPr/>
            </a:lvl1pPr>
          </a:lstStyle>
          <a:p>
            <a:fld id="{5C635129-A2C2-4245-A63F-8ED85DAB69CD}" type="datetime1">
              <a:rPr lang="zh-CN" altLang="en-US" smtClean="0"/>
              <a:t>2024/2/20</a:t>
            </a:fld>
            <a:endParaRPr lang="zh-CN" altLang="en-US"/>
          </a:p>
        </p:txBody>
      </p:sp>
      <p:sp>
        <p:nvSpPr>
          <p:cNvPr id="6" name="Rectangle 5"/>
          <p:cNvSpPr>
            <a:spLocks noGrp="1" noChangeArrowheads="1"/>
          </p:cNvSpPr>
          <p:nvPr>
            <p:ph type="ftr" sz="quarter" idx="11"/>
          </p:nvPr>
        </p:nvSpPr>
        <p:spPr/>
        <p:txBody>
          <a:bodyPr/>
          <a:lstStyle>
            <a:lvl1pPr>
              <a:defRPr/>
            </a:lvl1pPr>
          </a:lstStyle>
          <a:p>
            <a:endParaRPr lang="zh-CN" altLang="en-US"/>
          </a:p>
        </p:txBody>
      </p:sp>
      <p:sp>
        <p:nvSpPr>
          <p:cNvPr id="7" name="Rectangle 6"/>
          <p:cNvSpPr>
            <a:spLocks noGrp="1" noChangeArrowheads="1"/>
          </p:cNvSpPr>
          <p:nvPr>
            <p:ph type="sldNum" sz="quarter" idx="12"/>
          </p:nvPr>
        </p:nvSpPr>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989036964"/>
      </p:ext>
    </p:extLst>
  </p:cSld>
  <p:clrMapOvr>
    <a:masterClrMapping/>
  </p:clrMapOvr>
  <p:extLst mod="1">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75920" y="793750"/>
            <a:ext cx="8361680" cy="556323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u="none" strike="noStrike" kern="1200" cap="none" spc="0" normalizeH="0">
                <a:solidFill>
                  <a:schemeClr val="tx1">
                    <a:tint val="75000"/>
                  </a:schemeClr>
                </a:solidFill>
                <a:latin typeface="Times New Roman" panose="02020603050405020304" charset="0"/>
              </a:defRPr>
            </a:lvl1pPr>
          </a:lstStyle>
          <a:p>
            <a:fld id="{F8A64854-0108-4D07-9159-13C657AC64A0}" type="datetime1">
              <a:rPr lang="zh-CN" altLang="en-US" smtClean="0"/>
              <a:t>2024/2/20</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u="none" strike="noStrike" kern="1200" cap="none" spc="0" normalizeH="0">
                <a:solidFill>
                  <a:schemeClr val="tx1">
                    <a:tint val="75000"/>
                  </a:schemeClr>
                </a:solidFill>
                <a:latin typeface="Times New Roman" panose="02020603050405020304" charset="0"/>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u="none" strike="noStrike" kern="1200" cap="none" spc="0" normalizeH="0">
                <a:solidFill>
                  <a:schemeClr val="tx1">
                    <a:tint val="75000"/>
                  </a:schemeClr>
                </a:solidFill>
                <a:latin typeface="Times New Roman" panose="02020603050405020304" charset="0"/>
              </a:defRPr>
            </a:lvl1pPr>
          </a:lstStyle>
          <a:p>
            <a:fld id="{565CE74E-AB26-4998-AD42-012C4C1AD076}" type="slidenum">
              <a:rPr lang="zh-CN" altLang="en-US" smtClean="0"/>
              <a:t>‹#›</a:t>
            </a:fld>
            <a:endParaRPr lang="zh-CN" altLang="en-US"/>
          </a:p>
        </p:txBody>
      </p:sp>
      <p:sp>
        <p:nvSpPr>
          <p:cNvPr id="7" name="标题占位符 1"/>
          <p:cNvSpPr>
            <a:spLocks noGrp="1"/>
          </p:cNvSpPr>
          <p:nvPr>
            <p:ph type="title"/>
          </p:nvPr>
        </p:nvSpPr>
        <p:spPr>
          <a:xfrm>
            <a:off x="49530" y="69215"/>
            <a:ext cx="7886700" cy="476885"/>
          </a:xfrm>
          <a:prstGeom prst="rect">
            <a:avLst/>
          </a:prstGeom>
        </p:spPr>
        <p:txBody>
          <a:bodyPr vert="horz" lIns="91440" tIns="45720" rIns="91440" bIns="45720" rtlCol="0" anchor="ctr">
            <a:noAutofit/>
          </a:bodyPr>
          <a:lstStyle/>
          <a:p>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600" u="none" strike="noStrike" kern="1200" cap="none" spc="0" normalizeH="0">
          <a:solidFill>
            <a:srgbClr val="0066FF"/>
          </a:solidFill>
          <a:latin typeface="Times New Roman" panose="02020603050405020304" charset="0"/>
          <a:ea typeface="黑体" panose="02010609060101010101" charset="-122"/>
          <a:cs typeface="+mj-cs"/>
        </a:defRPr>
      </a:lvl1pPr>
    </p:titleStyle>
    <p:body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066FF"/>
          </a:solidFill>
          <a:latin typeface="Times New Roman" panose="02020603050405020304" charset="0"/>
          <a:ea typeface="+mn-ea"/>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66FF"/>
          </a:solidFill>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066FF"/>
          </a:solidFill>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灯片编号占位符 2">
            <a:extLst>
              <a:ext uri="{FF2B5EF4-FFF2-40B4-BE49-F238E27FC236}">
                <a16:creationId xmlns:a16="http://schemas.microsoft.com/office/drawing/2014/main" id="{9C38AB59-711E-4D04-87EF-F6A5F0F6809F}"/>
              </a:ext>
            </a:extLst>
          </p:cNvPr>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fld id="{D9FA5DE8-DDF5-4A68-A2B4-00C0013049FE}" type="slidenum">
              <a:rPr lang="en-US" altLang="zh-CN" sz="1400" b="0">
                <a:ea typeface="宋体" panose="02010600030101010101" pitchFamily="2" charset="-122"/>
              </a:rPr>
              <a:pPr/>
              <a:t>1</a:t>
            </a:fld>
            <a:endParaRPr lang="en-US" altLang="zh-CN" sz="1400" b="0">
              <a:ea typeface="宋体" panose="02010600030101010101" pitchFamily="2" charset="-122"/>
            </a:endParaRPr>
          </a:p>
        </p:txBody>
      </p:sp>
      <p:sp>
        <p:nvSpPr>
          <p:cNvPr id="4098" name="副标题 2">
            <a:extLst>
              <a:ext uri="{FF2B5EF4-FFF2-40B4-BE49-F238E27FC236}">
                <a16:creationId xmlns:a16="http://schemas.microsoft.com/office/drawing/2014/main" id="{DE8D114C-66C2-4AED-B11D-83BBF795E68A}"/>
              </a:ext>
            </a:extLst>
          </p:cNvPr>
          <p:cNvSpPr>
            <a:spLocks noGrp="1" noChangeArrowheads="1"/>
          </p:cNvSpPr>
          <p:nvPr>
            <p:ph type="subTitle" idx="4294967295"/>
          </p:nvPr>
        </p:nvSpPr>
        <p:spPr bwMode="auto">
          <a:xfrm>
            <a:off x="1331599" y="4078288"/>
            <a:ext cx="6480801" cy="665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85725" indent="0" algn="ctr">
              <a:buNone/>
            </a:pPr>
            <a:r>
              <a:rPr lang="zh-CN" altLang="en-US" sz="3600" dirty="0">
                <a:solidFill>
                  <a:srgbClr val="003399"/>
                </a:solidFill>
                <a:latin typeface="微软雅黑" panose="020B0503020204020204" pitchFamily="34" charset="-122"/>
                <a:ea typeface="微软雅黑" panose="020B0503020204020204" pitchFamily="34" charset="-122"/>
              </a:rPr>
              <a:t>第九章 运行时存储管理</a:t>
            </a:r>
          </a:p>
        </p:txBody>
      </p:sp>
      <p:sp>
        <p:nvSpPr>
          <p:cNvPr id="4" name="矩形 3">
            <a:extLst>
              <a:ext uri="{FF2B5EF4-FFF2-40B4-BE49-F238E27FC236}">
                <a16:creationId xmlns:a16="http://schemas.microsoft.com/office/drawing/2014/main" id="{789D7CD7-0F3E-49B1-882F-0601A24A1CEC}"/>
              </a:ext>
            </a:extLst>
          </p:cNvPr>
          <p:cNvSpPr/>
          <p:nvPr/>
        </p:nvSpPr>
        <p:spPr>
          <a:xfrm>
            <a:off x="0" y="1484313"/>
            <a:ext cx="9144000" cy="1757362"/>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5400" b="1" dirty="0">
                <a:latin typeface="微软雅黑" panose="020B0503020204020204" pitchFamily="34" charset="-122"/>
                <a:ea typeface="微软雅黑" panose="020B0503020204020204" pitchFamily="34" charset="-122"/>
              </a:rPr>
              <a:t>编译原理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dirty="0"/>
              <a:t>语法制导翻译技术</a:t>
            </a:r>
            <a:endParaRPr lang="en-US" altLang="zh-CN" dirty="0"/>
          </a:p>
          <a:p>
            <a:pPr lvl="1"/>
            <a:r>
              <a:rPr lang="zh-CN" altLang="en-US" dirty="0"/>
              <a:t>语法制导翻译技术的概念和内涵</a:t>
            </a:r>
            <a:endParaRPr lang="en-US" altLang="zh-CN" dirty="0"/>
          </a:p>
          <a:p>
            <a:pPr lvl="1"/>
            <a:r>
              <a:rPr lang="zh-CN" altLang="en-US" dirty="0"/>
              <a:t>属性文法、综合属性、继承属性的定义及其特点</a:t>
            </a:r>
            <a:endParaRPr lang="en-US" altLang="zh-CN" dirty="0"/>
          </a:p>
          <a:p>
            <a:pPr lvl="1"/>
            <a:r>
              <a:rPr lang="en-US" altLang="zh-CN" dirty="0"/>
              <a:t>S-</a:t>
            </a:r>
            <a:r>
              <a:rPr lang="zh-CN" altLang="en-US" dirty="0"/>
              <a:t>属性文法、</a:t>
            </a:r>
            <a:r>
              <a:rPr lang="en-US" altLang="zh-CN" dirty="0"/>
              <a:t>L-</a:t>
            </a:r>
            <a:r>
              <a:rPr lang="zh-CN" altLang="en-US" dirty="0"/>
              <a:t>属性文法</a:t>
            </a:r>
            <a:endParaRPr lang="en-US" altLang="zh-CN" dirty="0"/>
          </a:p>
          <a:p>
            <a:pPr lvl="1"/>
            <a:r>
              <a:rPr lang="zh-CN" altLang="en-US" dirty="0"/>
              <a:t>依赖图、属性计算顺序</a:t>
            </a:r>
            <a:endParaRPr lang="en-US" altLang="zh-CN" dirty="0"/>
          </a:p>
          <a:p>
            <a:pPr lvl="1"/>
            <a:r>
              <a:rPr lang="zh-CN" altLang="en-US" dirty="0"/>
              <a:t>基于</a:t>
            </a:r>
            <a:r>
              <a:rPr lang="en-US" altLang="zh-CN" dirty="0"/>
              <a:t>S-</a:t>
            </a:r>
            <a:r>
              <a:rPr lang="zh-CN" altLang="en-US" dirty="0"/>
              <a:t>属性文法或</a:t>
            </a:r>
            <a:r>
              <a:rPr lang="en-US" altLang="zh-CN" dirty="0"/>
              <a:t>L-</a:t>
            </a:r>
            <a:r>
              <a:rPr lang="zh-CN" altLang="en-US" dirty="0"/>
              <a:t>属性文法的语义计算（与</a:t>
            </a:r>
            <a:r>
              <a:rPr lang="en-US" altLang="zh-CN" dirty="0"/>
              <a:t>LL</a:t>
            </a:r>
            <a:r>
              <a:rPr lang="zh-CN" altLang="en-US" dirty="0"/>
              <a:t>文法和</a:t>
            </a:r>
            <a:r>
              <a:rPr lang="en-US" altLang="zh-CN" dirty="0"/>
              <a:t>LR</a:t>
            </a:r>
            <a:r>
              <a:rPr lang="zh-CN" altLang="en-US" dirty="0"/>
              <a:t>文法是如何结合的）。</a:t>
            </a:r>
            <a:endParaRPr lang="en-US" altLang="zh-CN" dirty="0"/>
          </a:p>
          <a:p>
            <a:pPr lvl="1"/>
            <a:r>
              <a:rPr lang="zh-CN" altLang="en-US" dirty="0"/>
              <a:t>基于翻译模式的语义计算</a:t>
            </a:r>
            <a:endParaRPr lang="en-US" altLang="zh-CN" dirty="0"/>
          </a:p>
          <a:p>
            <a:pPr lvl="1"/>
            <a:r>
              <a:rPr lang="zh-CN" altLang="en-US" dirty="0"/>
              <a:t>属性文法与翻译模式的区别和联系。</a:t>
            </a:r>
            <a:endParaRPr lang="en-US" altLang="zh-CN" dirty="0"/>
          </a:p>
          <a:p>
            <a:pPr lvl="2"/>
            <a:r>
              <a:rPr lang="zh-CN" altLang="en-US" dirty="0"/>
              <a:t>注意继承属性的位置。</a:t>
            </a:r>
            <a:endParaRPr lang="en-US" altLang="zh-CN" dirty="0"/>
          </a:p>
          <a:p>
            <a:pPr lvl="1"/>
            <a:endParaRPr lang="en-US" altLang="zh-CN" dirty="0"/>
          </a:p>
        </p:txBody>
      </p:sp>
      <p:sp>
        <p:nvSpPr>
          <p:cNvPr id="3" name="标题 2"/>
          <p:cNvSpPr>
            <a:spLocks noGrp="1"/>
          </p:cNvSpPr>
          <p:nvPr>
            <p:ph type="title"/>
          </p:nvPr>
        </p:nvSpPr>
        <p:spPr/>
        <p:txBody>
          <a:bodyPr/>
          <a:lstStyle/>
          <a:p>
            <a:pPr algn="ctr"/>
            <a:r>
              <a:rPr lang="zh-CN" altLang="en-US" dirty="0"/>
              <a:t>第七章</a:t>
            </a:r>
            <a:r>
              <a:rPr lang="en-US" altLang="zh-CN" dirty="0"/>
              <a:t>~</a:t>
            </a:r>
            <a:r>
              <a:rPr lang="zh-CN" altLang="en-US" dirty="0"/>
              <a:t>第九章学习要点</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2</a:t>
            </a:fld>
            <a:endParaRPr lang="zh-CN" altLang="en-US"/>
          </a:p>
        </p:txBody>
      </p:sp>
    </p:spTree>
    <p:extLst>
      <p:ext uri="{BB962C8B-B14F-4D97-AF65-F5344CB8AC3E}">
        <p14:creationId xmlns:p14="http://schemas.microsoft.com/office/powerpoint/2010/main" val="600787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dirty="0"/>
              <a:t>语义分析与代码生成</a:t>
            </a:r>
            <a:endParaRPr lang="en-US" altLang="zh-CN" dirty="0"/>
          </a:p>
          <a:p>
            <a:pPr lvl="1"/>
            <a:r>
              <a:rPr lang="zh-CN" altLang="en-US" dirty="0"/>
              <a:t>语义分析相关工作任务：静态语义检查、动态语义分析。目标：生成中间代码。</a:t>
            </a:r>
            <a:endParaRPr lang="en-US" altLang="zh-CN" dirty="0"/>
          </a:p>
          <a:p>
            <a:pPr lvl="1"/>
            <a:r>
              <a:rPr lang="zh-CN" altLang="en-US" dirty="0"/>
              <a:t>静态类型检查的内容。及其设计方法：语法制导翻译技术。</a:t>
            </a:r>
            <a:endParaRPr lang="en-US" altLang="zh-CN" dirty="0"/>
          </a:p>
          <a:p>
            <a:pPr lvl="1"/>
            <a:r>
              <a:rPr lang="zh-CN" altLang="en-US" dirty="0"/>
              <a:t>常见中间代码表示形式：逆波兰式、抽象语法树、有向无圈图、三地址码等。</a:t>
            </a:r>
            <a:endParaRPr lang="en-US" altLang="zh-CN" dirty="0"/>
          </a:p>
          <a:p>
            <a:pPr lvl="1"/>
            <a:r>
              <a:rPr lang="zh-CN" altLang="en-US" dirty="0"/>
              <a:t>了解中间代码生成。</a:t>
            </a:r>
            <a:endParaRPr lang="en-US" altLang="zh-CN" dirty="0"/>
          </a:p>
          <a:p>
            <a:pPr lvl="1"/>
            <a:r>
              <a:rPr lang="zh-CN" altLang="en-US" dirty="0"/>
              <a:t>了解拉链和回填的使用场景以及解决办法：不能确定目标语句，使用链表等。</a:t>
            </a:r>
            <a:endParaRPr lang="en-US" altLang="zh-CN" dirty="0"/>
          </a:p>
        </p:txBody>
      </p:sp>
      <p:sp>
        <p:nvSpPr>
          <p:cNvPr id="3" name="标题 2"/>
          <p:cNvSpPr>
            <a:spLocks noGrp="1"/>
          </p:cNvSpPr>
          <p:nvPr>
            <p:ph type="title"/>
          </p:nvPr>
        </p:nvSpPr>
        <p:spPr/>
        <p:txBody>
          <a:bodyPr/>
          <a:lstStyle/>
          <a:p>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3</a:t>
            </a:fld>
            <a:endParaRPr lang="zh-CN" altLang="en-US"/>
          </a:p>
        </p:txBody>
      </p:sp>
    </p:spTree>
    <p:extLst>
      <p:ext uri="{BB962C8B-B14F-4D97-AF65-F5344CB8AC3E}">
        <p14:creationId xmlns:p14="http://schemas.microsoft.com/office/powerpoint/2010/main" val="524627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运行时存储管理</a:t>
            </a:r>
            <a:endParaRPr lang="en-US" altLang="zh-CN" dirty="0"/>
          </a:p>
          <a:p>
            <a:pPr lvl="1"/>
            <a:r>
              <a:rPr lang="zh-CN" altLang="zh-CN" dirty="0"/>
              <a:t>运行时存储组织的作用与任务</a:t>
            </a:r>
            <a:endParaRPr lang="en-US" altLang="zh-CN" dirty="0"/>
          </a:p>
          <a:p>
            <a:pPr lvl="1"/>
            <a:r>
              <a:rPr lang="zh-CN" altLang="zh-CN" dirty="0"/>
              <a:t>典型的程序运行时存储的空间布局</a:t>
            </a:r>
            <a:endParaRPr lang="en-US" altLang="zh-CN" dirty="0"/>
          </a:p>
          <a:p>
            <a:pPr lvl="1"/>
            <a:r>
              <a:rPr lang="zh-CN" altLang="zh-CN" dirty="0"/>
              <a:t>存储分配策略</a:t>
            </a:r>
            <a:endParaRPr lang="en-US" altLang="zh-CN" dirty="0"/>
          </a:p>
          <a:p>
            <a:pPr lvl="1"/>
            <a:r>
              <a:rPr lang="zh-CN" altLang="zh-CN" dirty="0"/>
              <a:t>过程活动记录</a:t>
            </a:r>
            <a:r>
              <a:rPr lang="zh-CN" altLang="en-US" dirty="0"/>
              <a:t>的典型结构</a:t>
            </a:r>
            <a:endParaRPr lang="en-US" altLang="zh-CN" dirty="0"/>
          </a:p>
          <a:p>
            <a:pPr lvl="1"/>
            <a:r>
              <a:rPr lang="zh-CN" altLang="zh-CN" dirty="0"/>
              <a:t>过程调用</a:t>
            </a:r>
            <a:r>
              <a:rPr lang="zh-CN" altLang="en-US" dirty="0"/>
              <a:t>的常见信息</a:t>
            </a:r>
            <a:endParaRPr lang="en-US" altLang="zh-CN" dirty="0"/>
          </a:p>
          <a:p>
            <a:pPr lvl="1"/>
            <a:r>
              <a:rPr lang="zh-CN" altLang="zh-CN" dirty="0"/>
              <a:t>参数传递</a:t>
            </a:r>
            <a:r>
              <a:rPr lang="zh-CN" altLang="en-US" dirty="0"/>
              <a:t>的常见的两种类型</a:t>
            </a:r>
            <a:endParaRPr lang="en-US" altLang="zh-CN" dirty="0"/>
          </a:p>
          <a:p>
            <a:endParaRPr lang="zh-CN" altLang="en-US" dirty="0"/>
          </a:p>
          <a:p>
            <a:endParaRPr lang="zh-CN" altLang="en-US" dirty="0"/>
          </a:p>
        </p:txBody>
      </p:sp>
      <p:sp>
        <p:nvSpPr>
          <p:cNvPr id="3" name="标题 2"/>
          <p:cNvSpPr>
            <a:spLocks noGrp="1"/>
          </p:cNvSpPr>
          <p:nvPr>
            <p:ph type="title"/>
          </p:nvPr>
        </p:nvSpPr>
        <p:spPr/>
        <p:txBody>
          <a:bodyPr/>
          <a:lstStyle/>
          <a:p>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4</a:t>
            </a:fld>
            <a:endParaRPr lang="zh-CN" altLang="en-US"/>
          </a:p>
        </p:txBody>
      </p:sp>
    </p:spTree>
    <p:extLst>
      <p:ext uri="{BB962C8B-B14F-4D97-AF65-F5344CB8AC3E}">
        <p14:creationId xmlns:p14="http://schemas.microsoft.com/office/powerpoint/2010/main" val="1618217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了解运行时数据空间的存储分配策略</a:t>
            </a:r>
          </a:p>
          <a:p>
            <a:r>
              <a:rPr lang="zh-CN" altLang="en-US" dirty="0"/>
              <a:t>了解编译系统的运行时存储组织方法</a:t>
            </a:r>
          </a:p>
          <a:p>
            <a:r>
              <a:rPr lang="zh-CN" altLang="en-US" dirty="0"/>
              <a:t>能够根据语言规范进行存储分配策略</a:t>
            </a:r>
          </a:p>
        </p:txBody>
      </p:sp>
      <p:sp>
        <p:nvSpPr>
          <p:cNvPr id="3" name="标题 2"/>
          <p:cNvSpPr>
            <a:spLocks noGrp="1"/>
          </p:cNvSpPr>
          <p:nvPr>
            <p:ph type="title"/>
          </p:nvPr>
        </p:nvSpPr>
        <p:spPr/>
        <p:txBody>
          <a:bodyPr/>
          <a:lstStyle/>
          <a:p>
            <a:r>
              <a:rPr lang="zh-CN" altLang="en-US"/>
              <a:t>教学目标</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一、运行时存储组织概述</a:t>
            </a:r>
          </a:p>
          <a:p>
            <a:r>
              <a:rPr lang="zh-CN" altLang="en-US" dirty="0"/>
              <a:t>二、活动记录</a:t>
            </a:r>
          </a:p>
          <a:p>
            <a:r>
              <a:rPr lang="zh-CN" altLang="en-US" dirty="0"/>
              <a:t>三、过程调用</a:t>
            </a:r>
          </a:p>
        </p:txBody>
      </p:sp>
      <p:sp>
        <p:nvSpPr>
          <p:cNvPr id="3" name="标题 2"/>
          <p:cNvSpPr>
            <a:spLocks noGrp="1"/>
          </p:cNvSpPr>
          <p:nvPr>
            <p:ph type="title"/>
          </p:nvPr>
        </p:nvSpPr>
        <p:spPr/>
        <p:txBody>
          <a:bodyPr/>
          <a:lstStyle/>
          <a:p>
            <a:r>
              <a:rPr lang="zh-CN" altLang="en-US"/>
              <a:t>教学内容</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术语</a:t>
            </a:r>
            <a:endParaRPr lang="en-US" altLang="zh-CN" dirty="0"/>
          </a:p>
          <a:p>
            <a:pPr lvl="1"/>
            <a:r>
              <a:rPr lang="zh-CN" altLang="en-US" dirty="0"/>
              <a:t>过程、形式参数、实际参数</a:t>
            </a:r>
            <a:endParaRPr lang="en-US" altLang="zh-CN" dirty="0"/>
          </a:p>
          <a:p>
            <a:pPr lvl="2"/>
            <a:r>
              <a:rPr lang="zh-CN" altLang="en-US" dirty="0"/>
              <a:t>过程是能完成某一特定功能的定义的一个语句序列。</a:t>
            </a:r>
            <a:endParaRPr lang="en-US" altLang="zh-CN" dirty="0"/>
          </a:p>
          <a:p>
            <a:pPr lvl="2"/>
            <a:r>
              <a:rPr lang="zh-CN" altLang="en-US" dirty="0"/>
              <a:t>过程定义：</a:t>
            </a:r>
            <a:r>
              <a:rPr lang="en-US" altLang="zh-CN" dirty="0"/>
              <a:t>procedure </a:t>
            </a:r>
            <a:r>
              <a:rPr lang="zh-CN" altLang="en-US" dirty="0"/>
              <a:t>过程标识符 （形式参数表）</a:t>
            </a:r>
            <a:r>
              <a:rPr lang="en-US" altLang="zh-CN" dirty="0"/>
              <a:t>;</a:t>
            </a:r>
            <a:r>
              <a:rPr lang="zh-CN" altLang="en-US" dirty="0"/>
              <a:t>分程序</a:t>
            </a:r>
            <a:r>
              <a:rPr lang="en-US" altLang="zh-CN" dirty="0"/>
              <a:t>;</a:t>
            </a:r>
          </a:p>
          <a:p>
            <a:pPr lvl="2"/>
            <a:r>
              <a:rPr lang="zh-CN" altLang="en-US" dirty="0"/>
              <a:t>过程调用：过程标识符</a:t>
            </a:r>
            <a:r>
              <a:rPr lang="en-US" altLang="zh-CN" dirty="0"/>
              <a:t>(</a:t>
            </a:r>
            <a:r>
              <a:rPr lang="zh-CN" altLang="en-US" dirty="0"/>
              <a:t>实际参数表</a:t>
            </a:r>
            <a:r>
              <a:rPr lang="en-US" altLang="zh-CN" dirty="0"/>
              <a:t>);(*</a:t>
            </a:r>
            <a:r>
              <a:rPr lang="zh-CN" altLang="en-US" dirty="0"/>
              <a:t>若没有参数</a:t>
            </a:r>
            <a:r>
              <a:rPr lang="en-US" altLang="zh-CN" dirty="0"/>
              <a:t>,</a:t>
            </a:r>
            <a:r>
              <a:rPr lang="zh-CN" altLang="en-US" dirty="0"/>
              <a:t>则一对圆括号间的内容</a:t>
            </a:r>
            <a:r>
              <a:rPr lang="en-US" altLang="zh-CN" dirty="0"/>
              <a:t>(</a:t>
            </a:r>
            <a:r>
              <a:rPr lang="zh-CN" altLang="en-US" dirty="0"/>
              <a:t>包括括号本身</a:t>
            </a:r>
            <a:r>
              <a:rPr lang="en-US" altLang="zh-CN" dirty="0"/>
              <a:t>)</a:t>
            </a:r>
            <a:r>
              <a:rPr lang="zh-CN" altLang="en-US" dirty="0"/>
              <a:t>可不要*</a:t>
            </a:r>
            <a:r>
              <a:rPr lang="en-US" altLang="zh-CN" dirty="0"/>
              <a:t>)</a:t>
            </a:r>
          </a:p>
          <a:p>
            <a:pPr lvl="1"/>
            <a:r>
              <a:rPr lang="zh-CN" altLang="en-US" dirty="0"/>
              <a:t>过程的活动</a:t>
            </a:r>
            <a:endParaRPr lang="en-US" altLang="zh-CN" dirty="0"/>
          </a:p>
          <a:p>
            <a:pPr lvl="2"/>
            <a:r>
              <a:rPr lang="zh-CN" altLang="en-US" dirty="0"/>
              <a:t>过程的一次执行称为过程的一次活动</a:t>
            </a:r>
            <a:endParaRPr lang="en-US" altLang="zh-CN" dirty="0"/>
          </a:p>
          <a:p>
            <a:pPr lvl="1"/>
            <a:r>
              <a:rPr lang="zh-CN" altLang="en-US" dirty="0"/>
              <a:t>活动记录</a:t>
            </a:r>
            <a:endParaRPr lang="en-US" altLang="zh-CN" dirty="0"/>
          </a:p>
          <a:p>
            <a:pPr lvl="2"/>
            <a:r>
              <a:rPr lang="zh-CN" altLang="en-US" dirty="0"/>
              <a:t>过程的活动需要可执行代码和存放所需信息的存储空间，后者称为活动记录。</a:t>
            </a:r>
          </a:p>
        </p:txBody>
      </p:sp>
      <p:sp>
        <p:nvSpPr>
          <p:cNvPr id="3" name="标题 2"/>
          <p:cNvSpPr>
            <a:spLocks noGrp="1"/>
          </p:cNvSpPr>
          <p:nvPr>
            <p:ph type="title"/>
          </p:nvPr>
        </p:nvSpPr>
        <p:spPr/>
        <p:txBody>
          <a:bodyPr/>
          <a:lstStyle/>
          <a:p>
            <a:r>
              <a:rPr lang="zh-CN" altLang="en-US" dirty="0"/>
              <a:t>一、运行时存储组织概述</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7</a:t>
            </a:fld>
            <a:endParaRPr lang="zh-CN" altLang="en-US"/>
          </a:p>
        </p:txBody>
      </p:sp>
    </p:spTree>
    <p:extLst>
      <p:ext uri="{BB962C8B-B14F-4D97-AF65-F5344CB8AC3E}">
        <p14:creationId xmlns:p14="http://schemas.microsoft.com/office/powerpoint/2010/main" val="4265826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lnSpcReduction="10000"/>
          </a:bodyPr>
          <a:lstStyle/>
          <a:p>
            <a:r>
              <a:rPr lang="zh-CN" altLang="en-US" dirty="0"/>
              <a:t>运行时存储组织的作用与任务</a:t>
            </a:r>
          </a:p>
          <a:p>
            <a:pPr lvl="1"/>
            <a:r>
              <a:rPr lang="zh-CN" altLang="en-US" dirty="0"/>
              <a:t>在目标代码生成前，安排目标程序在逻辑地址空间中存储资源的使用</a:t>
            </a:r>
            <a:r>
              <a:rPr lang="en-US" altLang="zh-CN" dirty="0"/>
              <a:t>(</a:t>
            </a:r>
            <a:r>
              <a:rPr lang="zh-CN" altLang="en-US" dirty="0"/>
              <a:t>物理地址，段地址*</a:t>
            </a:r>
            <a:r>
              <a:rPr lang="en-US" altLang="zh-CN" dirty="0"/>
              <a:t>16+</a:t>
            </a:r>
            <a:r>
              <a:rPr lang="zh-CN" altLang="en-US" dirty="0"/>
              <a:t>偏移地址</a:t>
            </a:r>
            <a:r>
              <a:rPr lang="en-US" altLang="zh-CN" dirty="0"/>
              <a:t>)</a:t>
            </a:r>
            <a:endParaRPr lang="zh-CN" altLang="en-US" dirty="0"/>
          </a:p>
          <a:p>
            <a:pPr lvl="2"/>
            <a:r>
              <a:rPr lang="zh-CN" altLang="en-US" dirty="0"/>
              <a:t>明确程序的各类对象在逻辑地址空间内如何存储</a:t>
            </a:r>
          </a:p>
          <a:p>
            <a:pPr lvl="2"/>
            <a:r>
              <a:rPr lang="zh-CN" altLang="en-US" dirty="0"/>
              <a:t>目标代码运行时如何使用和支配自己的逻辑存储空间</a:t>
            </a:r>
          </a:p>
          <a:p>
            <a:pPr lvl="1"/>
            <a:r>
              <a:rPr lang="zh-CN" altLang="en-US" dirty="0">
                <a:solidFill>
                  <a:srgbClr val="FF0000"/>
                </a:solidFill>
              </a:rPr>
              <a:t>代码区：</a:t>
            </a:r>
            <a:r>
              <a:rPr lang="zh-CN" altLang="en-US" dirty="0"/>
              <a:t>目标程序本身的存储区（一般存放在指定的存储区）（</a:t>
            </a:r>
            <a:r>
              <a:rPr lang="en-US" altLang="zh-CN" dirty="0"/>
              <a:t>CS</a:t>
            </a:r>
            <a:r>
              <a:rPr lang="zh-CN" altLang="en-US" dirty="0"/>
              <a:t>）</a:t>
            </a:r>
            <a:endParaRPr lang="en-US" altLang="zh-CN" dirty="0"/>
          </a:p>
          <a:p>
            <a:pPr lvl="1"/>
            <a:r>
              <a:rPr lang="zh-CN" altLang="en-US" dirty="0">
                <a:solidFill>
                  <a:srgbClr val="FF0000"/>
                </a:solidFill>
              </a:rPr>
              <a:t>数据区：</a:t>
            </a:r>
            <a:r>
              <a:rPr lang="zh-CN" altLang="en-US" dirty="0"/>
              <a:t>目标程序运行过程中创建或访问的</a:t>
            </a:r>
            <a:r>
              <a:rPr lang="zh-CN" altLang="en-US" dirty="0">
                <a:solidFill>
                  <a:srgbClr val="FF0000"/>
                </a:solidFill>
              </a:rPr>
              <a:t>数据对象的</a:t>
            </a:r>
            <a:r>
              <a:rPr lang="zh-CN" altLang="en-US" dirty="0"/>
              <a:t>存放区域。（</a:t>
            </a:r>
            <a:r>
              <a:rPr lang="en-US" altLang="zh-CN" dirty="0"/>
              <a:t>DS</a:t>
            </a:r>
            <a:r>
              <a:rPr lang="zh-CN" altLang="en-US" dirty="0"/>
              <a:t>）</a:t>
            </a:r>
            <a:endParaRPr lang="en-US" altLang="zh-CN" dirty="0"/>
          </a:p>
          <a:p>
            <a:pPr lvl="2"/>
            <a:r>
              <a:rPr lang="zh-CN" altLang="en-US" dirty="0"/>
              <a:t>数据对象：用户定义的各种类型的命名对象（如变量、常量）、作为保留中间结果和传递参数的临时对象及调用过程时所需的链接信息。</a:t>
            </a:r>
            <a:endParaRPr lang="en-US" altLang="zh-CN" dirty="0"/>
          </a:p>
          <a:p>
            <a:pPr lvl="1"/>
            <a:endParaRPr lang="zh-CN" altLang="en-US" dirty="0"/>
          </a:p>
        </p:txBody>
      </p:sp>
      <p:sp>
        <p:nvSpPr>
          <p:cNvPr id="3" name="标题 2"/>
          <p:cNvSpPr>
            <a:spLocks noGrp="1"/>
          </p:cNvSpPr>
          <p:nvPr>
            <p:ph type="title"/>
          </p:nvPr>
        </p:nvSpPr>
        <p:spPr/>
        <p:txBody>
          <a:bodyPr/>
          <a:lstStyle/>
          <a:p>
            <a:r>
              <a:rPr lang="zh-CN" altLang="en-US" dirty="0"/>
              <a:t>一、运行时存储组织概述</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8</a:t>
            </a:fld>
            <a:endParaRPr lang="zh-CN" altLang="en-US"/>
          </a:p>
        </p:txBody>
      </p:sp>
    </p:spTree>
    <p:extLst>
      <p:ext uri="{BB962C8B-B14F-4D97-AF65-F5344CB8AC3E}">
        <p14:creationId xmlns:p14="http://schemas.microsoft.com/office/powerpoint/2010/main" val="415538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20" y="793750"/>
            <a:ext cx="8361680" cy="6319431"/>
          </a:xfrm>
        </p:spPr>
        <p:txBody>
          <a:bodyPr>
            <a:normAutofit fontScale="92500" lnSpcReduction="10000"/>
          </a:bodyPr>
          <a:lstStyle/>
          <a:p>
            <a:r>
              <a:rPr lang="zh-CN" altLang="en-US" dirty="0"/>
              <a:t>几个重要问题</a:t>
            </a:r>
          </a:p>
          <a:p>
            <a:pPr lvl="1"/>
            <a:r>
              <a:rPr lang="zh-CN" altLang="en-US" dirty="0">
                <a:solidFill>
                  <a:srgbClr val="FF0000"/>
                </a:solidFill>
              </a:rPr>
              <a:t>数据对象的表示 ：</a:t>
            </a:r>
            <a:r>
              <a:rPr lang="zh-CN" altLang="en-US" dirty="0"/>
              <a:t>目标机中如何表示源语言中各类数据对象</a:t>
            </a:r>
          </a:p>
          <a:p>
            <a:pPr lvl="2"/>
            <a:r>
              <a:rPr lang="zh-CN" altLang="en-US" dirty="0"/>
              <a:t>以字节为单位分配存储空间</a:t>
            </a:r>
          </a:p>
          <a:p>
            <a:pPr lvl="2"/>
            <a:r>
              <a:rPr lang="zh-CN" altLang="en-US" dirty="0">
                <a:solidFill>
                  <a:srgbClr val="FF0000"/>
                </a:solidFill>
              </a:rPr>
              <a:t>基本类型数据</a:t>
            </a:r>
            <a:r>
              <a:rPr lang="zh-CN" altLang="en-US" dirty="0"/>
              <a:t>：</a:t>
            </a:r>
            <a:r>
              <a:rPr lang="en-US" altLang="zh-CN" dirty="0"/>
              <a:t>integer </a:t>
            </a:r>
            <a:r>
              <a:rPr lang="zh-CN" altLang="en-US" dirty="0"/>
              <a:t>数据    </a:t>
            </a:r>
            <a:r>
              <a:rPr lang="en-US" altLang="zh-CN" dirty="0"/>
              <a:t>4 bytes  float </a:t>
            </a:r>
            <a:r>
              <a:rPr lang="zh-CN" altLang="en-US" dirty="0"/>
              <a:t>数据   </a:t>
            </a:r>
            <a:r>
              <a:rPr lang="en-US" altLang="zh-CN" dirty="0"/>
              <a:t>8 bytes    </a:t>
            </a:r>
            <a:r>
              <a:rPr lang="en-US" altLang="zh-CN" dirty="0" err="1"/>
              <a:t>boolean</a:t>
            </a:r>
            <a:r>
              <a:rPr lang="en-US" altLang="zh-CN" dirty="0"/>
              <a:t> </a:t>
            </a:r>
            <a:r>
              <a:rPr lang="zh-CN" altLang="en-US" dirty="0"/>
              <a:t>数据   </a:t>
            </a:r>
            <a:r>
              <a:rPr lang="en-US" altLang="zh-CN" dirty="0"/>
              <a:t>1 byte      </a:t>
            </a:r>
            <a:r>
              <a:rPr lang="zh-CN" altLang="en-US" dirty="0"/>
              <a:t>指针  </a:t>
            </a:r>
            <a:r>
              <a:rPr lang="en-US" altLang="zh-CN" dirty="0"/>
              <a:t>4 bytes</a:t>
            </a:r>
          </a:p>
          <a:p>
            <a:pPr lvl="2"/>
            <a:r>
              <a:rPr lang="zh-CN" altLang="en-US" dirty="0">
                <a:solidFill>
                  <a:srgbClr val="FF0000"/>
                </a:solidFill>
              </a:rPr>
              <a:t>数组：  </a:t>
            </a:r>
            <a:r>
              <a:rPr lang="zh-CN" altLang="en-US" dirty="0"/>
              <a:t>一块连续的存储区（按行</a:t>
            </a:r>
            <a:r>
              <a:rPr lang="en-US" altLang="zh-CN" dirty="0"/>
              <a:t>/</a:t>
            </a:r>
            <a:r>
              <a:rPr lang="zh-CN" altLang="en-US" dirty="0"/>
              <a:t>列存放）</a:t>
            </a:r>
          </a:p>
          <a:p>
            <a:pPr lvl="2"/>
            <a:r>
              <a:rPr lang="zh-CN" altLang="en-US" dirty="0">
                <a:solidFill>
                  <a:srgbClr val="FF0000"/>
                </a:solidFill>
              </a:rPr>
              <a:t>结构</a:t>
            </a:r>
            <a:r>
              <a:rPr lang="en-US" altLang="zh-CN" dirty="0">
                <a:solidFill>
                  <a:srgbClr val="FF0000"/>
                </a:solidFill>
              </a:rPr>
              <a:t>/</a:t>
            </a:r>
            <a:r>
              <a:rPr lang="zh-CN" altLang="en-US" dirty="0">
                <a:solidFill>
                  <a:srgbClr val="FF0000"/>
                </a:solidFill>
              </a:rPr>
              <a:t>记录：</a:t>
            </a:r>
            <a:r>
              <a:rPr lang="zh-CN" altLang="en-US" dirty="0"/>
              <a:t>所有域（</a:t>
            </a:r>
            <a:r>
              <a:rPr lang="en-US" altLang="zh-CN" dirty="0"/>
              <a:t>field)</a:t>
            </a:r>
            <a:r>
              <a:rPr lang="zh-CN" altLang="en-US" dirty="0"/>
              <a:t>存放在一块连续的存储区</a:t>
            </a:r>
          </a:p>
          <a:p>
            <a:pPr lvl="2"/>
            <a:r>
              <a:rPr lang="zh-CN" altLang="en-US" dirty="0">
                <a:solidFill>
                  <a:srgbClr val="FF0000"/>
                </a:solidFill>
              </a:rPr>
              <a:t>对象：</a:t>
            </a:r>
            <a:r>
              <a:rPr lang="zh-CN" altLang="en-US" dirty="0"/>
              <a:t>实例变量像结构的域一样存放在一块连续的存储区；操作例程（方法、成员函数）存放在其所属类的代码区     </a:t>
            </a:r>
          </a:p>
          <a:p>
            <a:pPr lvl="1"/>
            <a:r>
              <a:rPr lang="zh-CN" altLang="en-US" dirty="0">
                <a:solidFill>
                  <a:srgbClr val="FF0000"/>
                </a:solidFill>
              </a:rPr>
              <a:t> 表达式计算   </a:t>
            </a:r>
            <a:r>
              <a:rPr lang="zh-CN" altLang="en-US" dirty="0"/>
              <a:t>如何组织表达式的计算过程</a:t>
            </a:r>
          </a:p>
          <a:p>
            <a:pPr lvl="2"/>
            <a:r>
              <a:rPr lang="zh-CN" altLang="en-US" dirty="0"/>
              <a:t>利用栈区完成：临时量和计算结果的存储空间一般被分配在当前活动记录的顶部</a:t>
            </a:r>
          </a:p>
          <a:p>
            <a:pPr lvl="2"/>
            <a:r>
              <a:rPr lang="zh-CN" altLang="en-US" dirty="0"/>
              <a:t>运算数栈计算：采用专门的运算数栈用于表达式计算</a:t>
            </a:r>
          </a:p>
          <a:p>
            <a:pPr lvl="1"/>
            <a:r>
              <a:rPr lang="zh-CN" altLang="en-US" dirty="0">
                <a:solidFill>
                  <a:srgbClr val="FF0000"/>
                </a:solidFill>
              </a:rPr>
              <a:t> 存储分配策略  </a:t>
            </a:r>
            <a:r>
              <a:rPr lang="zh-CN" altLang="en-US" dirty="0"/>
              <a:t>如何为不同作用域或不同生命周期的数据对象分配存储</a:t>
            </a:r>
          </a:p>
          <a:p>
            <a:pPr lvl="1"/>
            <a:r>
              <a:rPr lang="zh-CN" altLang="en-US" dirty="0">
                <a:solidFill>
                  <a:srgbClr val="FF0000"/>
                </a:solidFill>
              </a:rPr>
              <a:t> 过程实现  </a:t>
            </a:r>
            <a:r>
              <a:rPr lang="zh-CN" altLang="en-US" dirty="0"/>
              <a:t>如何实现过程</a:t>
            </a:r>
            <a:r>
              <a:rPr lang="en-US" altLang="zh-CN" dirty="0"/>
              <a:t>/</a:t>
            </a:r>
            <a:r>
              <a:rPr lang="zh-CN" altLang="en-US" dirty="0"/>
              <a:t>函数调用以及参数传递</a:t>
            </a:r>
          </a:p>
        </p:txBody>
      </p:sp>
      <p:sp>
        <p:nvSpPr>
          <p:cNvPr id="3" name="标题 2"/>
          <p:cNvSpPr>
            <a:spLocks noGrp="1"/>
          </p:cNvSpPr>
          <p:nvPr>
            <p:ph type="title"/>
          </p:nvPr>
        </p:nvSpPr>
        <p:spPr/>
        <p:txBody>
          <a:bodyPr/>
          <a:lstStyle/>
          <a:p>
            <a:r>
              <a:rPr lang="zh-CN" altLang="en-US" dirty="0"/>
              <a:t>一、运行时存储组织概述</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9</a:t>
            </a:fld>
            <a:endParaRPr lang="zh-CN" altLang="en-US"/>
          </a:p>
        </p:txBody>
      </p:sp>
    </p:spTree>
    <p:extLst>
      <p:ext uri="{BB962C8B-B14F-4D97-AF65-F5344CB8AC3E}">
        <p14:creationId xmlns:p14="http://schemas.microsoft.com/office/powerpoint/2010/main" val="2127438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dirty="0"/>
              <a:t>程序运行时存储空间的布局</a:t>
            </a:r>
            <a:endParaRPr lang="en-US" altLang="zh-CN" dirty="0"/>
          </a:p>
          <a:p>
            <a:pPr lvl="1"/>
            <a:r>
              <a:rPr lang="zh-CN" altLang="en-US" dirty="0"/>
              <a:t>典型的程序运行时存储空间布局</a:t>
            </a:r>
          </a:p>
          <a:p>
            <a:pPr lvl="2"/>
            <a:r>
              <a:rPr lang="zh-CN" altLang="en-US" dirty="0"/>
              <a:t>保留地址区</a:t>
            </a:r>
          </a:p>
          <a:p>
            <a:pPr lvl="3"/>
            <a:r>
              <a:rPr lang="zh-CN" altLang="en-US" dirty="0"/>
              <a:t>目标机体系结构和操作系统专用</a:t>
            </a:r>
          </a:p>
          <a:p>
            <a:pPr lvl="2"/>
            <a:r>
              <a:rPr lang="zh-CN" altLang="en-US" dirty="0"/>
              <a:t> 代码区  </a:t>
            </a:r>
            <a:endParaRPr lang="en-US" altLang="zh-CN" dirty="0"/>
          </a:p>
          <a:p>
            <a:pPr lvl="3"/>
            <a:r>
              <a:rPr lang="zh-CN" altLang="en-US" dirty="0"/>
              <a:t>静态存放目标代码</a:t>
            </a:r>
          </a:p>
          <a:p>
            <a:pPr lvl="2"/>
            <a:r>
              <a:rPr lang="zh-CN" altLang="en-US" dirty="0"/>
              <a:t> 静态数据区</a:t>
            </a:r>
          </a:p>
          <a:p>
            <a:pPr lvl="3"/>
            <a:r>
              <a:rPr lang="zh-CN" altLang="en-US" dirty="0"/>
              <a:t>静态存放全局数据</a:t>
            </a:r>
          </a:p>
          <a:p>
            <a:pPr lvl="2"/>
            <a:r>
              <a:rPr lang="zh-CN" altLang="en-US" dirty="0"/>
              <a:t>共享库和分别编译模块区</a:t>
            </a:r>
          </a:p>
          <a:p>
            <a:pPr lvl="3"/>
            <a:r>
              <a:rPr lang="zh-CN" altLang="en-US" dirty="0"/>
              <a:t>静态存放这些模块的代码和全局数据</a:t>
            </a:r>
          </a:p>
          <a:p>
            <a:pPr lvl="2"/>
            <a:r>
              <a:rPr lang="zh-CN" altLang="en-US" dirty="0"/>
              <a:t> 动态数据区</a:t>
            </a:r>
          </a:p>
          <a:p>
            <a:pPr lvl="3"/>
            <a:r>
              <a:rPr lang="zh-CN" altLang="en-US" dirty="0"/>
              <a:t>运行时动态变化的堆区和栈区</a:t>
            </a:r>
          </a:p>
          <a:p>
            <a:pPr lvl="1"/>
            <a:endParaRPr lang="zh-CN" altLang="en-US" dirty="0"/>
          </a:p>
        </p:txBody>
      </p:sp>
      <p:sp>
        <p:nvSpPr>
          <p:cNvPr id="3" name="标题 2"/>
          <p:cNvSpPr>
            <a:spLocks noGrp="1"/>
          </p:cNvSpPr>
          <p:nvPr>
            <p:ph type="title"/>
          </p:nvPr>
        </p:nvSpPr>
        <p:spPr/>
        <p:txBody>
          <a:bodyPr/>
          <a:lstStyle/>
          <a:p>
            <a:r>
              <a:rPr lang="zh-CN" altLang="en-US" dirty="0"/>
              <a:t>一、运行时存储组织概述</a:t>
            </a:r>
          </a:p>
        </p:txBody>
      </p:sp>
      <p:grpSp>
        <p:nvGrpSpPr>
          <p:cNvPr id="26" name="组合 25"/>
          <p:cNvGrpSpPr/>
          <p:nvPr/>
        </p:nvGrpSpPr>
        <p:grpSpPr>
          <a:xfrm>
            <a:off x="4808538" y="1737220"/>
            <a:ext cx="4238625" cy="4751387"/>
            <a:chOff x="4391025" y="1557338"/>
            <a:chExt cx="4238625" cy="4751387"/>
          </a:xfrm>
        </p:grpSpPr>
        <p:sp>
          <p:nvSpPr>
            <p:cNvPr id="27" name="Line 9"/>
            <p:cNvSpPr>
              <a:spLocks noChangeShapeType="1"/>
            </p:cNvSpPr>
            <p:nvPr/>
          </p:nvSpPr>
          <p:spPr bwMode="auto">
            <a:xfrm>
              <a:off x="6851650" y="1736725"/>
              <a:ext cx="0" cy="4572000"/>
            </a:xfrm>
            <a:prstGeom prst="line">
              <a:avLst/>
            </a:prstGeom>
            <a:noFill/>
            <a:ln w="9525">
              <a:solidFill>
                <a:srgbClr val="800080"/>
              </a:solidFill>
              <a:round/>
              <a:headEnd/>
              <a:tailEnd/>
            </a:ln>
            <a:effectLst/>
          </p:spPr>
          <p:txBody>
            <a:bodyPr>
              <a:spAutoFit/>
            </a:bodyPr>
            <a:lstStyle/>
            <a:p>
              <a:endParaRPr lang="zh-CN" altLang="en-US" b="1">
                <a:solidFill>
                  <a:srgbClr val="7030A0"/>
                </a:solidFill>
                <a:latin typeface="Times New Roman" panose="02020603050405020304" pitchFamily="18" charset="0"/>
              </a:endParaRPr>
            </a:p>
          </p:txBody>
        </p:sp>
        <p:sp>
          <p:nvSpPr>
            <p:cNvPr id="28" name="Line 10"/>
            <p:cNvSpPr>
              <a:spLocks noChangeShapeType="1"/>
            </p:cNvSpPr>
            <p:nvPr/>
          </p:nvSpPr>
          <p:spPr bwMode="auto">
            <a:xfrm>
              <a:off x="8604250" y="1736725"/>
              <a:ext cx="0" cy="4572000"/>
            </a:xfrm>
            <a:prstGeom prst="line">
              <a:avLst/>
            </a:prstGeom>
            <a:noFill/>
            <a:ln w="9525">
              <a:solidFill>
                <a:srgbClr val="800080"/>
              </a:solidFill>
              <a:round/>
              <a:headEnd/>
              <a:tailEnd/>
            </a:ln>
            <a:effectLst/>
          </p:spPr>
          <p:txBody>
            <a:bodyPr>
              <a:spAutoFit/>
            </a:bodyPr>
            <a:lstStyle/>
            <a:p>
              <a:endParaRPr lang="zh-CN" altLang="en-US" b="1">
                <a:solidFill>
                  <a:srgbClr val="7030A0"/>
                </a:solidFill>
                <a:latin typeface="Times New Roman" panose="02020603050405020304" pitchFamily="18" charset="0"/>
              </a:endParaRPr>
            </a:p>
          </p:txBody>
        </p:sp>
        <p:sp>
          <p:nvSpPr>
            <p:cNvPr id="29" name="Line 11"/>
            <p:cNvSpPr>
              <a:spLocks noChangeShapeType="1"/>
            </p:cNvSpPr>
            <p:nvPr/>
          </p:nvSpPr>
          <p:spPr bwMode="auto">
            <a:xfrm>
              <a:off x="6851650" y="1736725"/>
              <a:ext cx="1752600" cy="0"/>
            </a:xfrm>
            <a:prstGeom prst="line">
              <a:avLst/>
            </a:prstGeom>
            <a:noFill/>
            <a:ln w="9525">
              <a:solidFill>
                <a:srgbClr val="800080"/>
              </a:solidFill>
              <a:round/>
              <a:headEnd/>
              <a:tailEnd/>
            </a:ln>
            <a:effectLst/>
          </p:spPr>
          <p:txBody>
            <a:bodyPr>
              <a:spAutoFit/>
            </a:bodyPr>
            <a:lstStyle/>
            <a:p>
              <a:endParaRPr lang="zh-CN" altLang="en-US" b="1">
                <a:solidFill>
                  <a:srgbClr val="7030A0"/>
                </a:solidFill>
                <a:latin typeface="Times New Roman" panose="02020603050405020304" pitchFamily="18" charset="0"/>
              </a:endParaRPr>
            </a:p>
          </p:txBody>
        </p:sp>
        <p:sp>
          <p:nvSpPr>
            <p:cNvPr id="30" name="Line 12"/>
            <p:cNvSpPr>
              <a:spLocks noChangeShapeType="1"/>
            </p:cNvSpPr>
            <p:nvPr/>
          </p:nvSpPr>
          <p:spPr bwMode="auto">
            <a:xfrm>
              <a:off x="6851650" y="2133600"/>
              <a:ext cx="1752600" cy="0"/>
            </a:xfrm>
            <a:prstGeom prst="line">
              <a:avLst/>
            </a:prstGeom>
            <a:noFill/>
            <a:ln w="9525">
              <a:solidFill>
                <a:srgbClr val="800080"/>
              </a:solidFill>
              <a:round/>
              <a:headEnd/>
              <a:tailEnd/>
            </a:ln>
            <a:effectLst/>
          </p:spPr>
          <p:txBody>
            <a:bodyPr>
              <a:spAutoFit/>
            </a:bodyPr>
            <a:lstStyle/>
            <a:p>
              <a:endParaRPr lang="zh-CN" altLang="en-US" b="1">
                <a:solidFill>
                  <a:srgbClr val="7030A0"/>
                </a:solidFill>
                <a:latin typeface="Times New Roman" panose="02020603050405020304" pitchFamily="18" charset="0"/>
              </a:endParaRPr>
            </a:p>
          </p:txBody>
        </p:sp>
        <p:sp>
          <p:nvSpPr>
            <p:cNvPr id="31" name="Line 13"/>
            <p:cNvSpPr>
              <a:spLocks noChangeShapeType="1"/>
            </p:cNvSpPr>
            <p:nvPr/>
          </p:nvSpPr>
          <p:spPr bwMode="auto">
            <a:xfrm>
              <a:off x="6851650" y="5876925"/>
              <a:ext cx="1752600" cy="0"/>
            </a:xfrm>
            <a:prstGeom prst="line">
              <a:avLst/>
            </a:prstGeom>
            <a:noFill/>
            <a:ln w="9525">
              <a:solidFill>
                <a:srgbClr val="800080"/>
              </a:solidFill>
              <a:round/>
              <a:headEnd/>
              <a:tailEnd/>
            </a:ln>
            <a:effectLst/>
          </p:spPr>
          <p:txBody>
            <a:bodyPr>
              <a:spAutoFit/>
            </a:bodyPr>
            <a:lstStyle/>
            <a:p>
              <a:endParaRPr lang="zh-CN" altLang="en-US" b="1">
                <a:solidFill>
                  <a:srgbClr val="7030A0"/>
                </a:solidFill>
                <a:latin typeface="Times New Roman" panose="02020603050405020304" pitchFamily="18" charset="0"/>
              </a:endParaRPr>
            </a:p>
          </p:txBody>
        </p:sp>
        <p:sp>
          <p:nvSpPr>
            <p:cNvPr id="32" name="Line 14"/>
            <p:cNvSpPr>
              <a:spLocks noChangeShapeType="1"/>
            </p:cNvSpPr>
            <p:nvPr/>
          </p:nvSpPr>
          <p:spPr bwMode="auto">
            <a:xfrm>
              <a:off x="6851650" y="5373688"/>
              <a:ext cx="1752600" cy="0"/>
            </a:xfrm>
            <a:prstGeom prst="line">
              <a:avLst/>
            </a:prstGeom>
            <a:noFill/>
            <a:ln w="9525">
              <a:solidFill>
                <a:srgbClr val="800080"/>
              </a:solidFill>
              <a:round/>
              <a:headEnd/>
              <a:tailEnd/>
            </a:ln>
            <a:effectLst/>
          </p:spPr>
          <p:txBody>
            <a:bodyPr>
              <a:spAutoFit/>
            </a:bodyPr>
            <a:lstStyle/>
            <a:p>
              <a:endParaRPr lang="zh-CN" altLang="en-US" b="1">
                <a:solidFill>
                  <a:srgbClr val="7030A0"/>
                </a:solidFill>
                <a:latin typeface="Times New Roman" panose="02020603050405020304" pitchFamily="18" charset="0"/>
              </a:endParaRPr>
            </a:p>
          </p:txBody>
        </p:sp>
        <p:sp>
          <p:nvSpPr>
            <p:cNvPr id="33" name="Line 15"/>
            <p:cNvSpPr>
              <a:spLocks noChangeShapeType="1"/>
            </p:cNvSpPr>
            <p:nvPr/>
          </p:nvSpPr>
          <p:spPr bwMode="auto">
            <a:xfrm>
              <a:off x="6851650" y="4797425"/>
              <a:ext cx="1752600" cy="0"/>
            </a:xfrm>
            <a:prstGeom prst="line">
              <a:avLst/>
            </a:prstGeom>
            <a:noFill/>
            <a:ln w="9525">
              <a:solidFill>
                <a:srgbClr val="800080"/>
              </a:solidFill>
              <a:round/>
              <a:headEnd/>
              <a:tailEnd/>
            </a:ln>
            <a:effectLst/>
          </p:spPr>
          <p:txBody>
            <a:bodyPr>
              <a:spAutoFit/>
            </a:bodyPr>
            <a:lstStyle/>
            <a:p>
              <a:endParaRPr lang="zh-CN" altLang="en-US" b="1">
                <a:solidFill>
                  <a:srgbClr val="7030A0"/>
                </a:solidFill>
                <a:latin typeface="Times New Roman" panose="02020603050405020304" pitchFamily="18" charset="0"/>
              </a:endParaRPr>
            </a:p>
          </p:txBody>
        </p:sp>
        <p:sp>
          <p:nvSpPr>
            <p:cNvPr id="34" name="Line 16"/>
            <p:cNvSpPr>
              <a:spLocks noChangeShapeType="1"/>
            </p:cNvSpPr>
            <p:nvPr/>
          </p:nvSpPr>
          <p:spPr bwMode="auto">
            <a:xfrm>
              <a:off x="6851650" y="6308725"/>
              <a:ext cx="1752600" cy="0"/>
            </a:xfrm>
            <a:prstGeom prst="line">
              <a:avLst/>
            </a:prstGeom>
            <a:noFill/>
            <a:ln w="9525">
              <a:solidFill>
                <a:srgbClr val="800080"/>
              </a:solidFill>
              <a:round/>
              <a:headEnd/>
              <a:tailEnd/>
            </a:ln>
            <a:effectLst/>
          </p:spPr>
          <p:txBody>
            <a:bodyPr>
              <a:spAutoFit/>
            </a:bodyPr>
            <a:lstStyle/>
            <a:p>
              <a:endParaRPr lang="zh-CN" altLang="en-US" b="1">
                <a:solidFill>
                  <a:srgbClr val="7030A0"/>
                </a:solidFill>
                <a:latin typeface="Times New Roman" panose="02020603050405020304" pitchFamily="18" charset="0"/>
              </a:endParaRPr>
            </a:p>
          </p:txBody>
        </p:sp>
        <p:sp>
          <p:nvSpPr>
            <p:cNvPr id="35" name="Rectangle 17"/>
            <p:cNvSpPr>
              <a:spLocks noChangeArrowheads="1"/>
            </p:cNvSpPr>
            <p:nvPr/>
          </p:nvSpPr>
          <p:spPr bwMode="auto">
            <a:xfrm>
              <a:off x="6932613" y="1720850"/>
              <a:ext cx="1600200"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dirty="0">
                  <a:solidFill>
                    <a:srgbClr val="7030A0"/>
                  </a:solidFill>
                  <a:latin typeface="Times New Roman" panose="02020603050405020304" pitchFamily="18" charset="0"/>
                </a:rPr>
                <a:t>保留</a:t>
              </a:r>
              <a:endParaRPr lang="en-US" altLang="zh-CN" sz="2000" b="1" dirty="0">
                <a:solidFill>
                  <a:srgbClr val="7030A0"/>
                </a:solidFill>
                <a:latin typeface="Times New Roman" panose="02020603050405020304" pitchFamily="18" charset="0"/>
              </a:endParaRPr>
            </a:p>
          </p:txBody>
        </p:sp>
        <p:sp>
          <p:nvSpPr>
            <p:cNvPr id="36" name="Rectangle 18"/>
            <p:cNvSpPr>
              <a:spLocks noChangeArrowheads="1"/>
            </p:cNvSpPr>
            <p:nvPr/>
          </p:nvSpPr>
          <p:spPr bwMode="auto">
            <a:xfrm>
              <a:off x="6927850" y="5445125"/>
              <a:ext cx="1600200"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dirty="0">
                  <a:solidFill>
                    <a:srgbClr val="7030A0"/>
                  </a:solidFill>
                  <a:latin typeface="Times New Roman" panose="02020603050405020304" pitchFamily="18" charset="0"/>
                </a:rPr>
                <a:t>代码</a:t>
              </a:r>
              <a:endParaRPr lang="en-US" altLang="zh-CN" sz="2000" b="1" dirty="0">
                <a:solidFill>
                  <a:srgbClr val="7030A0"/>
                </a:solidFill>
                <a:latin typeface="Times New Roman" panose="02020603050405020304" pitchFamily="18" charset="0"/>
              </a:endParaRPr>
            </a:p>
          </p:txBody>
        </p:sp>
        <p:sp>
          <p:nvSpPr>
            <p:cNvPr id="37" name="Rectangle 19"/>
            <p:cNvSpPr>
              <a:spLocks noChangeArrowheads="1"/>
            </p:cNvSpPr>
            <p:nvPr/>
          </p:nvSpPr>
          <p:spPr bwMode="auto">
            <a:xfrm>
              <a:off x="6927850" y="4903788"/>
              <a:ext cx="1600200"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dirty="0">
                  <a:solidFill>
                    <a:srgbClr val="7030A0"/>
                  </a:solidFill>
                  <a:latin typeface="Times New Roman" panose="02020603050405020304" pitchFamily="18" charset="0"/>
                </a:rPr>
                <a:t>静态数据</a:t>
              </a:r>
              <a:endParaRPr lang="en-US" altLang="zh-CN" sz="2000" b="1" dirty="0">
                <a:solidFill>
                  <a:srgbClr val="7030A0"/>
                </a:solidFill>
                <a:latin typeface="Times New Roman" panose="02020603050405020304" pitchFamily="18" charset="0"/>
              </a:endParaRPr>
            </a:p>
          </p:txBody>
        </p:sp>
        <p:sp>
          <p:nvSpPr>
            <p:cNvPr id="38" name="Rectangle 20"/>
            <p:cNvSpPr>
              <a:spLocks noChangeArrowheads="1"/>
            </p:cNvSpPr>
            <p:nvPr/>
          </p:nvSpPr>
          <p:spPr bwMode="auto">
            <a:xfrm>
              <a:off x="6932613" y="3903276"/>
              <a:ext cx="1600200" cy="707886"/>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dirty="0">
                  <a:solidFill>
                    <a:srgbClr val="7030A0"/>
                  </a:solidFill>
                  <a:latin typeface="Times New Roman" panose="02020603050405020304" pitchFamily="18" charset="0"/>
                </a:rPr>
                <a:t>库和分别编译模块</a:t>
              </a:r>
              <a:endParaRPr lang="en-US" altLang="zh-CN" sz="2000" b="1" dirty="0">
                <a:solidFill>
                  <a:srgbClr val="7030A0"/>
                </a:solidFill>
                <a:latin typeface="Times New Roman" panose="02020603050405020304" pitchFamily="18" charset="0"/>
              </a:endParaRPr>
            </a:p>
          </p:txBody>
        </p:sp>
        <p:sp>
          <p:nvSpPr>
            <p:cNvPr id="39" name="Rectangle 21"/>
            <p:cNvSpPr>
              <a:spLocks noChangeArrowheads="1"/>
            </p:cNvSpPr>
            <p:nvPr/>
          </p:nvSpPr>
          <p:spPr bwMode="auto">
            <a:xfrm>
              <a:off x="6856413" y="2100263"/>
              <a:ext cx="1676400" cy="784830"/>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dirty="0">
                  <a:solidFill>
                    <a:srgbClr val="7030A0"/>
                  </a:solidFill>
                  <a:latin typeface="Times New Roman" panose="02020603050405020304" pitchFamily="18" charset="0"/>
                </a:rPr>
                <a:t>栈空间</a:t>
              </a:r>
              <a:endParaRPr lang="en-US" altLang="zh-CN" sz="2000" b="1" dirty="0">
                <a:solidFill>
                  <a:srgbClr val="7030A0"/>
                </a:solidFill>
                <a:latin typeface="Times New Roman" panose="02020603050405020304" pitchFamily="18" charset="0"/>
              </a:endParaRPr>
            </a:p>
            <a:p>
              <a:pPr algn="ctr">
                <a:buFont typeface="Wingdings" pitchFamily="2" charset="2"/>
                <a:buNone/>
              </a:pPr>
              <a:endParaRPr lang="en-US" altLang="zh-CN" sz="500" b="1" dirty="0">
                <a:solidFill>
                  <a:srgbClr val="7030A0"/>
                </a:solidFill>
                <a:latin typeface="Times New Roman" panose="02020603050405020304" pitchFamily="18" charset="0"/>
              </a:endParaRPr>
            </a:p>
            <a:p>
              <a:pPr algn="ctr">
                <a:buFont typeface="Wingdings" pitchFamily="2" charset="2"/>
                <a:buNone/>
              </a:pPr>
              <a:r>
                <a:rPr lang="en-US" altLang="zh-CN" sz="2000" b="1" dirty="0">
                  <a:solidFill>
                    <a:srgbClr val="7030A0"/>
                  </a:solidFill>
                  <a:latin typeface="Times New Roman" panose="02020603050405020304" pitchFamily="18" charset="0"/>
                  <a:sym typeface="Symbol" pitchFamily="18" charset="2"/>
                </a:rPr>
                <a:t> </a:t>
              </a:r>
            </a:p>
          </p:txBody>
        </p:sp>
        <p:sp>
          <p:nvSpPr>
            <p:cNvPr id="40" name="Rectangle 22"/>
            <p:cNvSpPr>
              <a:spLocks noChangeArrowheads="1"/>
            </p:cNvSpPr>
            <p:nvPr/>
          </p:nvSpPr>
          <p:spPr bwMode="auto">
            <a:xfrm>
              <a:off x="6865938" y="3014663"/>
              <a:ext cx="1666875" cy="707886"/>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b="1" dirty="0">
                  <a:solidFill>
                    <a:srgbClr val="7030A0"/>
                  </a:solidFill>
                  <a:latin typeface="Times New Roman" panose="02020603050405020304" pitchFamily="18" charset="0"/>
                  <a:sym typeface="Symbol" pitchFamily="18" charset="2"/>
                </a:rPr>
                <a:t> </a:t>
              </a:r>
              <a:endParaRPr lang="en-US" altLang="zh-CN" sz="2000" b="1" dirty="0">
                <a:solidFill>
                  <a:srgbClr val="7030A0"/>
                </a:solidFill>
                <a:latin typeface="Times New Roman" panose="02020603050405020304" pitchFamily="18" charset="0"/>
              </a:endParaRPr>
            </a:p>
            <a:p>
              <a:pPr algn="ctr">
                <a:buFont typeface="Wingdings" pitchFamily="2" charset="2"/>
                <a:buNone/>
              </a:pPr>
              <a:r>
                <a:rPr lang="zh-CN" altLang="en-US" sz="2000" b="1" dirty="0">
                  <a:solidFill>
                    <a:srgbClr val="7030A0"/>
                  </a:solidFill>
                  <a:latin typeface="Times New Roman" panose="02020603050405020304" pitchFamily="18" charset="0"/>
                </a:rPr>
                <a:t>堆空间</a:t>
              </a:r>
              <a:endParaRPr lang="en-US" altLang="zh-CN" sz="2000" b="1" dirty="0">
                <a:solidFill>
                  <a:srgbClr val="7030A0"/>
                </a:solidFill>
                <a:latin typeface="Times New Roman" panose="02020603050405020304" pitchFamily="18" charset="0"/>
              </a:endParaRPr>
            </a:p>
          </p:txBody>
        </p:sp>
        <p:sp>
          <p:nvSpPr>
            <p:cNvPr id="41" name="Rectangle 28"/>
            <p:cNvSpPr>
              <a:spLocks noChangeArrowheads="1"/>
            </p:cNvSpPr>
            <p:nvPr/>
          </p:nvSpPr>
          <p:spPr bwMode="auto">
            <a:xfrm>
              <a:off x="6932613" y="5911850"/>
              <a:ext cx="1600200"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dirty="0">
                  <a:solidFill>
                    <a:srgbClr val="7030A0"/>
                  </a:solidFill>
                  <a:latin typeface="Times New Roman" panose="02020603050405020304" pitchFamily="18" charset="0"/>
                </a:rPr>
                <a:t>保留</a:t>
              </a:r>
              <a:endParaRPr lang="en-US" altLang="zh-CN" sz="2000" b="1" dirty="0">
                <a:solidFill>
                  <a:srgbClr val="7030A0"/>
                </a:solidFill>
                <a:latin typeface="Times New Roman" panose="02020603050405020304" pitchFamily="18" charset="0"/>
              </a:endParaRPr>
            </a:p>
          </p:txBody>
        </p:sp>
        <p:sp>
          <p:nvSpPr>
            <p:cNvPr id="42" name="Line 29"/>
            <p:cNvSpPr>
              <a:spLocks noChangeShapeType="1"/>
            </p:cNvSpPr>
            <p:nvPr/>
          </p:nvSpPr>
          <p:spPr bwMode="auto">
            <a:xfrm>
              <a:off x="6877050" y="3716338"/>
              <a:ext cx="1752600" cy="0"/>
            </a:xfrm>
            <a:prstGeom prst="line">
              <a:avLst/>
            </a:prstGeom>
            <a:noFill/>
            <a:ln w="9525">
              <a:solidFill>
                <a:srgbClr val="800080"/>
              </a:solidFill>
              <a:round/>
              <a:headEnd/>
              <a:tailEnd/>
            </a:ln>
            <a:effectLst/>
          </p:spPr>
          <p:txBody>
            <a:bodyPr>
              <a:spAutoFit/>
            </a:bodyPr>
            <a:lstStyle/>
            <a:p>
              <a:endParaRPr lang="zh-CN" altLang="en-US" b="1">
                <a:solidFill>
                  <a:srgbClr val="7030A0"/>
                </a:solidFill>
                <a:latin typeface="Times New Roman" panose="02020603050405020304" pitchFamily="18" charset="0"/>
              </a:endParaRPr>
            </a:p>
          </p:txBody>
        </p:sp>
        <p:sp>
          <p:nvSpPr>
            <p:cNvPr id="43" name="Rectangle 30"/>
            <p:cNvSpPr>
              <a:spLocks noChangeArrowheads="1"/>
            </p:cNvSpPr>
            <p:nvPr/>
          </p:nvSpPr>
          <p:spPr bwMode="auto">
            <a:xfrm>
              <a:off x="4391025" y="1557338"/>
              <a:ext cx="2125663"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dirty="0">
                  <a:solidFill>
                    <a:srgbClr val="7030A0"/>
                  </a:solidFill>
                  <a:latin typeface="Times New Roman" panose="02020603050405020304" pitchFamily="18" charset="0"/>
                </a:rPr>
                <a:t>最高地址</a:t>
              </a:r>
              <a:endParaRPr lang="en-US" altLang="zh-CN" sz="2000" b="1" dirty="0">
                <a:solidFill>
                  <a:srgbClr val="7030A0"/>
                </a:solidFill>
                <a:latin typeface="Times New Roman" panose="02020603050405020304" pitchFamily="18" charset="0"/>
              </a:endParaRPr>
            </a:p>
          </p:txBody>
        </p:sp>
        <p:sp>
          <p:nvSpPr>
            <p:cNvPr id="44" name="Rectangle 31"/>
            <p:cNvSpPr>
              <a:spLocks noChangeArrowheads="1"/>
            </p:cNvSpPr>
            <p:nvPr/>
          </p:nvSpPr>
          <p:spPr bwMode="auto">
            <a:xfrm>
              <a:off x="4572000" y="5876925"/>
              <a:ext cx="2016125"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dirty="0">
                  <a:solidFill>
                    <a:srgbClr val="7030A0"/>
                  </a:solidFill>
                  <a:latin typeface="Times New Roman" panose="02020603050405020304" pitchFamily="18" charset="0"/>
                </a:rPr>
                <a:t>最低地址</a:t>
              </a:r>
              <a:endParaRPr lang="en-US" altLang="zh-CN" sz="2000" b="1" dirty="0">
                <a:solidFill>
                  <a:srgbClr val="7030A0"/>
                </a:solidFill>
                <a:latin typeface="Times New Roman" panose="02020603050405020304" pitchFamily="18" charset="0"/>
              </a:endParaRPr>
            </a:p>
          </p:txBody>
        </p:sp>
        <p:sp>
          <p:nvSpPr>
            <p:cNvPr id="45" name="Line 32"/>
            <p:cNvSpPr>
              <a:spLocks noChangeShapeType="1"/>
            </p:cNvSpPr>
            <p:nvPr/>
          </p:nvSpPr>
          <p:spPr bwMode="auto">
            <a:xfrm>
              <a:off x="6413500" y="1773238"/>
              <a:ext cx="381000" cy="0"/>
            </a:xfrm>
            <a:prstGeom prst="line">
              <a:avLst/>
            </a:prstGeom>
            <a:noFill/>
            <a:ln w="9525">
              <a:solidFill>
                <a:srgbClr val="333399"/>
              </a:solidFill>
              <a:round/>
              <a:headEnd/>
              <a:tailEnd type="triangle" w="med" len="med"/>
            </a:ln>
            <a:effectLst/>
          </p:spPr>
          <p:txBody>
            <a:bodyPr>
              <a:spAutoFit/>
            </a:bodyPr>
            <a:lstStyle/>
            <a:p>
              <a:endParaRPr lang="zh-CN" altLang="en-US" b="1">
                <a:solidFill>
                  <a:srgbClr val="7030A0"/>
                </a:solidFill>
                <a:latin typeface="Times New Roman" panose="02020603050405020304" pitchFamily="18" charset="0"/>
              </a:endParaRPr>
            </a:p>
          </p:txBody>
        </p:sp>
        <p:sp>
          <p:nvSpPr>
            <p:cNvPr id="46" name="Line 33"/>
            <p:cNvSpPr>
              <a:spLocks noChangeShapeType="1"/>
            </p:cNvSpPr>
            <p:nvPr/>
          </p:nvSpPr>
          <p:spPr bwMode="auto">
            <a:xfrm>
              <a:off x="6413500" y="6237288"/>
              <a:ext cx="381000" cy="0"/>
            </a:xfrm>
            <a:prstGeom prst="line">
              <a:avLst/>
            </a:prstGeom>
            <a:noFill/>
            <a:ln w="9525">
              <a:solidFill>
                <a:srgbClr val="333399"/>
              </a:solidFill>
              <a:round/>
              <a:headEnd/>
              <a:tailEnd type="triangle" w="med" len="med"/>
            </a:ln>
            <a:effectLst/>
          </p:spPr>
          <p:txBody>
            <a:bodyPr>
              <a:spAutoFit/>
            </a:bodyPr>
            <a:lstStyle/>
            <a:p>
              <a:endParaRPr lang="zh-CN" altLang="en-US" b="1">
                <a:solidFill>
                  <a:srgbClr val="7030A0"/>
                </a:solidFill>
                <a:latin typeface="Times New Roman" panose="02020603050405020304" pitchFamily="18" charset="0"/>
              </a:endParaRPr>
            </a:p>
          </p:txBody>
        </p:sp>
      </p:grpSp>
      <p:sp>
        <p:nvSpPr>
          <p:cNvPr id="25" name="Rectangle 19"/>
          <p:cNvSpPr>
            <a:spLocks noChangeArrowheads="1"/>
          </p:cNvSpPr>
          <p:nvPr/>
        </p:nvSpPr>
        <p:spPr bwMode="auto">
          <a:xfrm>
            <a:off x="7316788" y="2866537"/>
            <a:ext cx="1600200"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dirty="0">
                <a:solidFill>
                  <a:srgbClr val="FF0000"/>
                </a:solidFill>
                <a:latin typeface="Times New Roman" panose="02020603050405020304" pitchFamily="18" charset="0"/>
              </a:rPr>
              <a:t>动态数据</a:t>
            </a:r>
            <a:endParaRPr lang="en-US" altLang="zh-CN" sz="2000" b="1" dirty="0">
              <a:solidFill>
                <a:srgbClr val="FF0000"/>
              </a:solidFill>
              <a:latin typeface="Times New Roman" panose="02020603050405020304" pitchFamily="18" charset="0"/>
            </a:endParaRPr>
          </a:p>
        </p:txBody>
      </p:sp>
      <p:sp>
        <p:nvSpPr>
          <p:cNvPr id="4" name="灯片编号占位符 3"/>
          <p:cNvSpPr>
            <a:spLocks noGrp="1"/>
          </p:cNvSpPr>
          <p:nvPr>
            <p:ph type="sldNum" sz="quarter" idx="4"/>
          </p:nvPr>
        </p:nvSpPr>
        <p:spPr/>
        <p:txBody>
          <a:bodyPr/>
          <a:lstStyle/>
          <a:p>
            <a:fld id="{565CE74E-AB26-4998-AD42-012C4C1AD076}" type="slidenum">
              <a:rPr lang="zh-CN" altLang="en-US" smtClean="0"/>
              <a:t>10</a:t>
            </a:fld>
            <a:endParaRPr lang="zh-CN" altLang="en-US"/>
          </a:p>
        </p:txBody>
      </p:sp>
    </p:spTree>
    <p:extLst>
      <p:ext uri="{BB962C8B-B14F-4D97-AF65-F5344CB8AC3E}">
        <p14:creationId xmlns:p14="http://schemas.microsoft.com/office/powerpoint/2010/main" val="1592104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dirty="0"/>
              <a:t>存储分配策略</a:t>
            </a:r>
          </a:p>
          <a:p>
            <a:pPr marL="457200" lvl="1" indent="0">
              <a:buNone/>
            </a:pPr>
            <a:r>
              <a:rPr lang="zh-CN" altLang="en-US" dirty="0"/>
              <a:t>数据区：静态数据区和动态数据区（堆区和栈区）</a:t>
            </a:r>
            <a:endParaRPr lang="en-US" altLang="zh-CN" dirty="0"/>
          </a:p>
          <a:p>
            <a:pPr lvl="1"/>
            <a:r>
              <a:rPr lang="zh-CN" altLang="en-US" dirty="0">
                <a:solidFill>
                  <a:srgbClr val="FF0000"/>
                </a:solidFill>
              </a:rPr>
              <a:t>静态存储分配</a:t>
            </a:r>
          </a:p>
          <a:p>
            <a:pPr lvl="2"/>
            <a:r>
              <a:rPr lang="zh-CN" altLang="en-US" dirty="0"/>
              <a:t>在编译期间为数据对象分配存储</a:t>
            </a:r>
          </a:p>
          <a:p>
            <a:pPr lvl="1"/>
            <a:r>
              <a:rPr lang="zh-CN" altLang="en-US" dirty="0">
                <a:solidFill>
                  <a:srgbClr val="FF0000"/>
                </a:solidFill>
              </a:rPr>
              <a:t>动态存储分配</a:t>
            </a:r>
          </a:p>
          <a:p>
            <a:pPr lvl="2"/>
            <a:r>
              <a:rPr lang="zh-CN" altLang="en-US" dirty="0">
                <a:solidFill>
                  <a:srgbClr val="FF0000"/>
                </a:solidFill>
              </a:rPr>
              <a:t>栈式存储分配</a:t>
            </a:r>
          </a:p>
          <a:p>
            <a:pPr lvl="3"/>
            <a:r>
              <a:rPr lang="zh-CN" altLang="en-US" sz="2800" dirty="0"/>
              <a:t>将数据对象的运行时存储按照栈的方式来管理</a:t>
            </a:r>
          </a:p>
          <a:p>
            <a:pPr lvl="2"/>
            <a:r>
              <a:rPr lang="zh-CN" altLang="en-US" dirty="0">
                <a:solidFill>
                  <a:srgbClr val="FF0000"/>
                </a:solidFill>
              </a:rPr>
              <a:t>堆式存储分配</a:t>
            </a:r>
          </a:p>
          <a:p>
            <a:pPr lvl="3"/>
            <a:r>
              <a:rPr lang="zh-CN" altLang="en-US" sz="2400" dirty="0"/>
              <a:t>从数据段的堆空间分配和释放数据对象的运行时存储</a:t>
            </a:r>
          </a:p>
          <a:p>
            <a:pPr lvl="1"/>
            <a:endParaRPr lang="zh-CN" altLang="en-US" dirty="0"/>
          </a:p>
        </p:txBody>
      </p:sp>
      <p:sp>
        <p:nvSpPr>
          <p:cNvPr id="3" name="标题 2"/>
          <p:cNvSpPr>
            <a:spLocks noGrp="1"/>
          </p:cNvSpPr>
          <p:nvPr>
            <p:ph type="title"/>
          </p:nvPr>
        </p:nvSpPr>
        <p:spPr/>
        <p:txBody>
          <a:bodyPr/>
          <a:lstStyle/>
          <a:p>
            <a:r>
              <a:rPr lang="zh-CN" altLang="en-US" dirty="0"/>
              <a:t>一、运行时存储组织概述</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11</a:t>
            </a:fld>
            <a:endParaRPr lang="zh-CN" altLang="en-US"/>
          </a:p>
        </p:txBody>
      </p:sp>
    </p:spTree>
    <p:extLst>
      <p:ext uri="{BB962C8B-B14F-4D97-AF65-F5344CB8AC3E}">
        <p14:creationId xmlns:p14="http://schemas.microsoft.com/office/powerpoint/2010/main" val="160945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2500" lnSpcReduction="10000"/>
          </a:bodyPr>
          <a:lstStyle/>
          <a:p>
            <a:r>
              <a:rPr lang="zh-CN" altLang="en-US" dirty="0"/>
              <a:t>栈式存储分配</a:t>
            </a:r>
          </a:p>
          <a:p>
            <a:pPr lvl="1"/>
            <a:r>
              <a:rPr lang="zh-CN" altLang="en-US" dirty="0"/>
              <a:t>运行栈数据空间的存储和管理方式。</a:t>
            </a:r>
            <a:endParaRPr lang="en-US" altLang="zh-CN" dirty="0"/>
          </a:p>
          <a:p>
            <a:pPr lvl="2"/>
            <a:r>
              <a:rPr lang="zh-CN" altLang="en-US" dirty="0"/>
              <a:t>运行栈：用栈区作为动态存储区。</a:t>
            </a:r>
            <a:endParaRPr lang="en-US" altLang="zh-CN" dirty="0"/>
          </a:p>
          <a:p>
            <a:pPr lvl="1"/>
            <a:r>
              <a:rPr lang="zh-CN" altLang="en-US" dirty="0"/>
              <a:t>用于有效实现可动态嵌套的程序结构</a:t>
            </a:r>
          </a:p>
          <a:p>
            <a:pPr lvl="2"/>
            <a:r>
              <a:rPr lang="zh-CN" altLang="en-US" dirty="0"/>
              <a:t>如实现过程</a:t>
            </a:r>
            <a:r>
              <a:rPr lang="en-US" altLang="zh-CN" dirty="0"/>
              <a:t>/</a:t>
            </a:r>
            <a:r>
              <a:rPr lang="zh-CN" altLang="en-US" dirty="0"/>
              <a:t>函数，嵌套程序块。</a:t>
            </a:r>
          </a:p>
          <a:p>
            <a:pPr lvl="1"/>
            <a:r>
              <a:rPr lang="zh-CN" altLang="en-US" dirty="0"/>
              <a:t>可以实现递归过程</a:t>
            </a:r>
            <a:r>
              <a:rPr lang="en-US" altLang="zh-CN" dirty="0"/>
              <a:t>/</a:t>
            </a:r>
            <a:r>
              <a:rPr lang="zh-CN" altLang="en-US" dirty="0"/>
              <a:t>函数</a:t>
            </a:r>
          </a:p>
          <a:p>
            <a:pPr lvl="2"/>
            <a:r>
              <a:rPr lang="zh-CN" altLang="en-US" dirty="0"/>
              <a:t>比较：静态分配不宜实现递归过程</a:t>
            </a:r>
            <a:r>
              <a:rPr lang="en-US" altLang="zh-CN" dirty="0"/>
              <a:t>/</a:t>
            </a:r>
            <a:r>
              <a:rPr lang="zh-CN" altLang="en-US" dirty="0"/>
              <a:t>函数</a:t>
            </a:r>
          </a:p>
          <a:p>
            <a:pPr lvl="1"/>
            <a:r>
              <a:rPr lang="zh-CN" altLang="en-US" dirty="0">
                <a:solidFill>
                  <a:srgbClr val="FF0000"/>
                </a:solidFill>
              </a:rPr>
              <a:t>活动记录（</a:t>
            </a:r>
            <a:r>
              <a:rPr lang="en-US" altLang="zh-CN" dirty="0"/>
              <a:t>activation record):</a:t>
            </a:r>
            <a:r>
              <a:rPr lang="zh-CN" altLang="en-US" dirty="0"/>
              <a:t>在过程</a:t>
            </a:r>
            <a:r>
              <a:rPr lang="en-US" altLang="zh-CN" dirty="0"/>
              <a:t>/</a:t>
            </a:r>
            <a:r>
              <a:rPr lang="zh-CN" altLang="en-US" dirty="0"/>
              <a:t>函数的实现中，参与栈式存储分配的存储单位。</a:t>
            </a:r>
            <a:endParaRPr lang="en-US" altLang="zh-CN" dirty="0"/>
          </a:p>
          <a:p>
            <a:pPr lvl="1"/>
            <a:endParaRPr lang="en-US" altLang="zh-CN" dirty="0"/>
          </a:p>
          <a:p>
            <a:r>
              <a:rPr lang="zh-CN" altLang="en-US" dirty="0"/>
              <a:t>必要条件：</a:t>
            </a:r>
            <a:endParaRPr lang="en-US" altLang="zh-CN" dirty="0"/>
          </a:p>
          <a:p>
            <a:pPr lvl="1"/>
            <a:r>
              <a:rPr lang="zh-CN" altLang="en-US" dirty="0"/>
              <a:t>编译期间，过程、函数以及嵌套程序块的活动记录大小（最大值）是可以确定的。</a:t>
            </a:r>
            <a:endParaRPr lang="en-US" altLang="zh-CN" dirty="0"/>
          </a:p>
          <a:p>
            <a:pPr lvl="1"/>
            <a:r>
              <a:rPr lang="zh-CN" altLang="en-US" dirty="0"/>
              <a:t>否则就要使用堆式存储管理。</a:t>
            </a:r>
          </a:p>
        </p:txBody>
      </p:sp>
      <p:sp>
        <p:nvSpPr>
          <p:cNvPr id="3" name="标题 2"/>
          <p:cNvSpPr>
            <a:spLocks noGrp="1"/>
          </p:cNvSpPr>
          <p:nvPr>
            <p:ph type="title"/>
          </p:nvPr>
        </p:nvSpPr>
        <p:spPr/>
        <p:txBody>
          <a:bodyPr/>
          <a:lstStyle/>
          <a:p>
            <a:r>
              <a:rPr lang="zh-CN" altLang="en-US" dirty="0"/>
              <a:t>一、运行时存储组织概述</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12</a:t>
            </a:fld>
            <a:endParaRPr lang="zh-CN" altLang="en-US"/>
          </a:p>
        </p:txBody>
      </p:sp>
    </p:spTree>
    <p:extLst>
      <p:ext uri="{BB962C8B-B14F-4D97-AF65-F5344CB8AC3E}">
        <p14:creationId xmlns:p14="http://schemas.microsoft.com/office/powerpoint/2010/main" val="2155704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20" y="793750"/>
            <a:ext cx="8534164" cy="5563235"/>
          </a:xfrm>
        </p:spPr>
        <p:txBody>
          <a:bodyPr>
            <a:normAutofit/>
          </a:bodyPr>
          <a:lstStyle/>
          <a:p>
            <a:r>
              <a:rPr lang="zh-CN" altLang="en-US" dirty="0"/>
              <a:t> 静态存储分配</a:t>
            </a:r>
          </a:p>
          <a:p>
            <a:pPr lvl="1"/>
            <a:r>
              <a:rPr lang="zh-CN" altLang="en-US" dirty="0"/>
              <a:t>在编译期间就可确定数据对象的大小</a:t>
            </a:r>
          </a:p>
          <a:p>
            <a:pPr lvl="1"/>
            <a:r>
              <a:rPr lang="zh-CN" altLang="en-US" dirty="0"/>
              <a:t>完全静态分配</a:t>
            </a:r>
          </a:p>
          <a:p>
            <a:pPr lvl="2"/>
            <a:r>
              <a:rPr lang="zh-CN" altLang="en-US" dirty="0"/>
              <a:t>如早期的</a:t>
            </a:r>
            <a:r>
              <a:rPr lang="en-US" altLang="zh-CN" dirty="0"/>
              <a:t>FORTRAN</a:t>
            </a:r>
            <a:r>
              <a:rPr lang="zh-CN" altLang="en-US" dirty="0"/>
              <a:t>语言，</a:t>
            </a:r>
            <a:r>
              <a:rPr lang="en-US" altLang="zh-CN" dirty="0"/>
              <a:t>COBOL</a:t>
            </a:r>
            <a:r>
              <a:rPr lang="zh-CN" altLang="en-US" dirty="0"/>
              <a:t>语言</a:t>
            </a:r>
            <a:endParaRPr lang="en-US" altLang="zh-CN" dirty="0"/>
          </a:p>
          <a:p>
            <a:pPr lvl="2"/>
            <a:r>
              <a:rPr lang="zh-CN" altLang="en-US" dirty="0"/>
              <a:t>完全静态存储分配，不宜处理递归过程或函数</a:t>
            </a:r>
          </a:p>
          <a:p>
            <a:pPr lvl="1"/>
            <a:r>
              <a:rPr lang="zh-CN" altLang="en-US" dirty="0"/>
              <a:t>部分静态分配</a:t>
            </a:r>
          </a:p>
          <a:p>
            <a:pPr lvl="2"/>
            <a:r>
              <a:rPr lang="zh-CN" altLang="en-US" dirty="0"/>
              <a:t>可静态分配的数据对象如大小固定且在程序执行期间可全程访问的全局变量，以及程序中的常量（</a:t>
            </a:r>
            <a:r>
              <a:rPr lang="en-US" altLang="zh-CN" dirty="0"/>
              <a:t>literals</a:t>
            </a:r>
            <a:r>
              <a:rPr lang="zh-CN" altLang="en-US" dirty="0"/>
              <a:t>）</a:t>
            </a:r>
          </a:p>
          <a:p>
            <a:pPr lvl="2"/>
            <a:r>
              <a:rPr lang="zh-CN" altLang="en-US" dirty="0"/>
              <a:t>如 </a:t>
            </a:r>
            <a:r>
              <a:rPr lang="en-US" altLang="zh-CN" dirty="0"/>
              <a:t>C++ </a:t>
            </a:r>
            <a:r>
              <a:rPr lang="zh-CN" altLang="en-US" dirty="0"/>
              <a:t>中的 </a:t>
            </a:r>
            <a:r>
              <a:rPr lang="en-US" altLang="zh-CN" dirty="0"/>
              <a:t>static </a:t>
            </a:r>
            <a:r>
              <a:rPr lang="zh-CN" altLang="en-US" dirty="0"/>
              <a:t>变量</a:t>
            </a:r>
          </a:p>
          <a:p>
            <a:pPr lvl="1"/>
            <a:endParaRPr lang="zh-CN" altLang="en-US" dirty="0"/>
          </a:p>
        </p:txBody>
      </p:sp>
      <p:sp>
        <p:nvSpPr>
          <p:cNvPr id="3" name="标题 2"/>
          <p:cNvSpPr>
            <a:spLocks noGrp="1"/>
          </p:cNvSpPr>
          <p:nvPr>
            <p:ph type="title"/>
          </p:nvPr>
        </p:nvSpPr>
        <p:spPr/>
        <p:txBody>
          <a:bodyPr/>
          <a:lstStyle/>
          <a:p>
            <a:r>
              <a:rPr lang="zh-CN" altLang="en-US" dirty="0"/>
              <a:t>一、运行时存储组织概述</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13</a:t>
            </a:fld>
            <a:endParaRPr lang="zh-CN" altLang="en-US"/>
          </a:p>
        </p:txBody>
      </p:sp>
    </p:spTree>
    <p:extLst>
      <p:ext uri="{BB962C8B-B14F-4D97-AF65-F5344CB8AC3E}">
        <p14:creationId xmlns:p14="http://schemas.microsoft.com/office/powerpoint/2010/main" val="4211210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dirty="0"/>
              <a:t>堆式存储分配</a:t>
            </a:r>
          </a:p>
          <a:p>
            <a:pPr lvl="1">
              <a:lnSpc>
                <a:spcPct val="100000"/>
              </a:lnSpc>
            </a:pPr>
            <a:r>
              <a:rPr lang="zh-CN" altLang="en-US" dirty="0">
                <a:solidFill>
                  <a:srgbClr val="FF0000"/>
                </a:solidFill>
              </a:rPr>
              <a:t>应用场景：</a:t>
            </a:r>
            <a:r>
              <a:rPr lang="zh-CN" altLang="en-US" dirty="0"/>
              <a:t>不适合栈式存储的，比如：某些数据对象可能在该过程</a:t>
            </a:r>
            <a:r>
              <a:rPr lang="en-US" altLang="zh-CN" dirty="0"/>
              <a:t>/</a:t>
            </a:r>
            <a:r>
              <a:rPr lang="zh-CN" altLang="en-US" dirty="0"/>
              <a:t>函数结束之后仍然长期存在，就不适合进行栈式存储分配。</a:t>
            </a:r>
            <a:endParaRPr lang="en-US" altLang="zh-CN" dirty="0"/>
          </a:p>
          <a:p>
            <a:pPr lvl="1"/>
            <a:r>
              <a:rPr lang="zh-CN" altLang="en-US" dirty="0"/>
              <a:t>从堆空间为数据对象分配</a:t>
            </a:r>
            <a:r>
              <a:rPr lang="en-US" altLang="zh-CN" dirty="0"/>
              <a:t>/</a:t>
            </a:r>
            <a:r>
              <a:rPr lang="zh-CN" altLang="en-US" dirty="0"/>
              <a:t>释放存储</a:t>
            </a:r>
          </a:p>
          <a:p>
            <a:pPr lvl="2"/>
            <a:r>
              <a:rPr lang="zh-CN" altLang="en-US" dirty="0">
                <a:solidFill>
                  <a:srgbClr val="FF0000"/>
                </a:solidFill>
              </a:rPr>
              <a:t>灵活</a:t>
            </a:r>
            <a:r>
              <a:rPr lang="zh-CN" altLang="en-US" dirty="0"/>
              <a:t>  数据对象的存储分配和释放不限时间和次序</a:t>
            </a:r>
          </a:p>
          <a:p>
            <a:pPr lvl="1"/>
            <a:r>
              <a:rPr lang="zh-CN" altLang="en-US" dirty="0"/>
              <a:t>分配与释放方式：</a:t>
            </a:r>
            <a:endParaRPr lang="en-US" altLang="zh-CN" dirty="0"/>
          </a:p>
          <a:p>
            <a:pPr lvl="2"/>
            <a:r>
              <a:rPr lang="zh-CN" altLang="en-US" dirty="0"/>
              <a:t>显式的分配或释放（</a:t>
            </a:r>
            <a:r>
              <a:rPr lang="en-US" altLang="zh-CN" dirty="0"/>
              <a:t>explicit allocation / </a:t>
            </a:r>
            <a:r>
              <a:rPr lang="en-US" altLang="zh-CN" dirty="0" err="1"/>
              <a:t>dealocation</a:t>
            </a:r>
            <a:r>
              <a:rPr lang="zh-CN" altLang="en-US" dirty="0"/>
              <a:t>）</a:t>
            </a:r>
          </a:p>
          <a:p>
            <a:pPr lvl="3"/>
            <a:r>
              <a:rPr lang="zh-CN" altLang="en-US" dirty="0"/>
              <a:t>程序员负责应用程序的（堆）存储空间管理（借助于编译器与（或）运行时系统所提供的默认存储管理机制）</a:t>
            </a:r>
          </a:p>
          <a:p>
            <a:pPr lvl="2"/>
            <a:r>
              <a:rPr lang="zh-CN" altLang="en-US" dirty="0"/>
              <a:t>隐式的分配或释放（</a:t>
            </a:r>
            <a:r>
              <a:rPr lang="en-US" altLang="zh-CN" dirty="0"/>
              <a:t>implicit allocation / </a:t>
            </a:r>
            <a:r>
              <a:rPr lang="en-US" altLang="zh-CN" dirty="0" err="1"/>
              <a:t>dealocation</a:t>
            </a:r>
            <a:r>
              <a:rPr lang="zh-CN" altLang="en-US" dirty="0"/>
              <a:t>）</a:t>
            </a:r>
          </a:p>
          <a:p>
            <a:pPr lvl="3"/>
            <a:r>
              <a:rPr lang="zh-CN" altLang="en-US" dirty="0"/>
              <a:t>（堆）存储空间的分配或释放不需要程序员负责，由编译器与（或）运行时系统自动完成</a:t>
            </a:r>
            <a:endParaRPr lang="en-US" altLang="zh-CN" dirty="0"/>
          </a:p>
          <a:p>
            <a:pPr lvl="1"/>
            <a:endParaRPr lang="zh-CN" altLang="en-US" dirty="0"/>
          </a:p>
          <a:p>
            <a:pPr lvl="1"/>
            <a:endParaRPr lang="zh-CN" altLang="en-US" dirty="0"/>
          </a:p>
        </p:txBody>
      </p:sp>
      <p:sp>
        <p:nvSpPr>
          <p:cNvPr id="3" name="标题 2"/>
          <p:cNvSpPr>
            <a:spLocks noGrp="1"/>
          </p:cNvSpPr>
          <p:nvPr>
            <p:ph type="title"/>
          </p:nvPr>
        </p:nvSpPr>
        <p:spPr/>
        <p:txBody>
          <a:bodyPr/>
          <a:lstStyle/>
          <a:p>
            <a:r>
              <a:rPr lang="zh-CN" altLang="en-US" dirty="0"/>
              <a:t>一、运行时存储组织概述</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14</a:t>
            </a:fld>
            <a:endParaRPr lang="zh-CN" altLang="en-US"/>
          </a:p>
        </p:txBody>
      </p:sp>
    </p:spTree>
    <p:extLst>
      <p:ext uri="{BB962C8B-B14F-4D97-AF65-F5344CB8AC3E}">
        <p14:creationId xmlns:p14="http://schemas.microsoft.com/office/powerpoint/2010/main" val="261203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lnSpcReduction="10000"/>
          </a:bodyPr>
          <a:lstStyle/>
          <a:p>
            <a:r>
              <a:rPr lang="zh-CN" altLang="en-US" dirty="0"/>
              <a:t>堆式存储分配</a:t>
            </a:r>
            <a:endParaRPr lang="en-US" altLang="zh-CN" dirty="0"/>
          </a:p>
          <a:p>
            <a:pPr lvl="1"/>
            <a:r>
              <a:rPr lang="zh-CN" altLang="en-US" dirty="0"/>
              <a:t>某些语言有显式的堆空间分配和释放命令</a:t>
            </a:r>
          </a:p>
          <a:p>
            <a:pPr lvl="2"/>
            <a:r>
              <a:rPr lang="zh-CN" altLang="en-US" dirty="0"/>
              <a:t>如：</a:t>
            </a:r>
            <a:r>
              <a:rPr lang="en-US" altLang="zh-CN" dirty="0"/>
              <a:t>Pascal </a:t>
            </a:r>
            <a:r>
              <a:rPr lang="zh-CN" altLang="en-US" dirty="0"/>
              <a:t>中的 </a:t>
            </a:r>
            <a:r>
              <a:rPr lang="en-US" altLang="zh-CN" dirty="0"/>
              <a:t>new , deposit</a:t>
            </a:r>
            <a:r>
              <a:rPr lang="zh-CN" altLang="en-US" dirty="0"/>
              <a:t>；</a:t>
            </a:r>
            <a:endParaRPr lang="en-US" altLang="zh-CN" dirty="0"/>
          </a:p>
          <a:p>
            <a:pPr lvl="2"/>
            <a:r>
              <a:rPr lang="en-US" altLang="zh-CN" dirty="0"/>
              <a:t> C++ </a:t>
            </a:r>
            <a:r>
              <a:rPr lang="zh-CN" altLang="en-US" dirty="0"/>
              <a:t>中的 </a:t>
            </a:r>
            <a:r>
              <a:rPr lang="en-US" altLang="zh-CN" dirty="0"/>
              <a:t>new , delete</a:t>
            </a:r>
          </a:p>
          <a:p>
            <a:pPr lvl="2"/>
            <a:r>
              <a:rPr lang="zh-CN" altLang="en-US" dirty="0"/>
              <a:t>比较：</a:t>
            </a:r>
            <a:r>
              <a:rPr lang="en-US" altLang="zh-CN" dirty="0"/>
              <a:t>C </a:t>
            </a:r>
            <a:r>
              <a:rPr lang="zh-CN" altLang="en-US" dirty="0"/>
              <a:t>语言没有堆空间管理机制，</a:t>
            </a:r>
            <a:r>
              <a:rPr lang="en-US" altLang="zh-CN" dirty="0" err="1"/>
              <a:t>malloc</a:t>
            </a:r>
            <a:r>
              <a:rPr lang="en-US" altLang="zh-CN" dirty="0"/>
              <a:t>() </a:t>
            </a:r>
            <a:r>
              <a:rPr lang="zh-CN" altLang="en-US" dirty="0"/>
              <a:t>和 </a:t>
            </a:r>
            <a:r>
              <a:rPr lang="en-US" altLang="zh-CN" dirty="0"/>
              <a:t>free()    </a:t>
            </a:r>
            <a:r>
              <a:rPr lang="zh-CN" altLang="en-US" dirty="0"/>
              <a:t>是标准库中的函数，可以由 </a:t>
            </a:r>
            <a:r>
              <a:rPr lang="en-US" altLang="zh-CN" dirty="0"/>
              <a:t>library vendor </a:t>
            </a:r>
            <a:r>
              <a:rPr lang="zh-CN" altLang="en-US" dirty="0"/>
              <a:t>提供</a:t>
            </a:r>
            <a:endParaRPr lang="en-US" altLang="zh-CN" dirty="0"/>
          </a:p>
          <a:p>
            <a:pPr lvl="1"/>
            <a:r>
              <a:rPr lang="zh-CN" altLang="en-US" dirty="0"/>
              <a:t>某些语言支持隐式的堆空间释放</a:t>
            </a:r>
          </a:p>
          <a:p>
            <a:pPr lvl="2"/>
            <a:r>
              <a:rPr lang="zh-CN" altLang="en-US" dirty="0"/>
              <a:t>采用垃圾回收（</a:t>
            </a:r>
            <a:r>
              <a:rPr lang="en-US" altLang="zh-CN" dirty="0"/>
              <a:t>garbage collection</a:t>
            </a:r>
            <a:r>
              <a:rPr lang="zh-CN" altLang="en-US" dirty="0"/>
              <a:t>）机制</a:t>
            </a:r>
          </a:p>
          <a:p>
            <a:pPr lvl="2"/>
            <a:r>
              <a:rPr lang="zh-CN" altLang="en-US" dirty="0"/>
              <a:t>如：</a:t>
            </a:r>
            <a:r>
              <a:rPr lang="en-US" altLang="zh-CN" dirty="0"/>
              <a:t>Java </a:t>
            </a:r>
            <a:r>
              <a:rPr lang="zh-CN" altLang="en-US" dirty="0"/>
              <a:t>程序员不需要考虑对象的析构</a:t>
            </a:r>
          </a:p>
          <a:p>
            <a:pPr lvl="1"/>
            <a:r>
              <a:rPr lang="zh-CN" altLang="en-US" dirty="0"/>
              <a:t>堆空间的管理</a:t>
            </a:r>
          </a:p>
          <a:p>
            <a:pPr lvl="2"/>
            <a:r>
              <a:rPr lang="zh-CN" altLang="en-US" dirty="0">
                <a:solidFill>
                  <a:srgbClr val="FF0000"/>
                </a:solidFill>
              </a:rPr>
              <a:t>分配算法   </a:t>
            </a:r>
            <a:r>
              <a:rPr lang="zh-CN" altLang="en-US" dirty="0"/>
              <a:t>面对多个可用的存储块，选择哪一个</a:t>
            </a:r>
          </a:p>
          <a:p>
            <a:pPr lvl="3"/>
            <a:r>
              <a:rPr lang="zh-CN" altLang="en-US" dirty="0"/>
              <a:t>如：最佳适应算法（选择浪费最少的存储块）</a:t>
            </a:r>
          </a:p>
          <a:p>
            <a:pPr lvl="3"/>
            <a:r>
              <a:rPr lang="zh-CN" altLang="en-US" dirty="0"/>
              <a:t>最先适应算法（选择最先找到的足够大的存储块）</a:t>
            </a:r>
          </a:p>
          <a:p>
            <a:pPr lvl="3"/>
            <a:r>
              <a:rPr lang="zh-CN" altLang="en-US" dirty="0"/>
              <a:t>循环最先适应算法（起始点不同的最先适应算法）</a:t>
            </a:r>
          </a:p>
          <a:p>
            <a:pPr lvl="2"/>
            <a:r>
              <a:rPr lang="zh-CN" altLang="en-US" dirty="0">
                <a:solidFill>
                  <a:srgbClr val="FF0000"/>
                </a:solidFill>
              </a:rPr>
              <a:t>碎片整理算法   </a:t>
            </a:r>
            <a:r>
              <a:rPr lang="zh-CN" altLang="en-US" dirty="0"/>
              <a:t>压缩合并小的存储块，使其更可用</a:t>
            </a:r>
          </a:p>
          <a:p>
            <a:pPr lvl="1"/>
            <a:endParaRPr lang="zh-CN" altLang="en-US" dirty="0"/>
          </a:p>
        </p:txBody>
      </p:sp>
      <p:sp>
        <p:nvSpPr>
          <p:cNvPr id="3" name="标题 2"/>
          <p:cNvSpPr>
            <a:spLocks noGrp="1"/>
          </p:cNvSpPr>
          <p:nvPr>
            <p:ph type="title"/>
          </p:nvPr>
        </p:nvSpPr>
        <p:spPr/>
        <p:txBody>
          <a:bodyPr/>
          <a:lstStyle/>
          <a:p>
            <a:r>
              <a:rPr lang="zh-CN" altLang="en-US" dirty="0"/>
              <a:t>一、运行时存储组织概述</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15</a:t>
            </a:fld>
            <a:endParaRPr lang="zh-CN" altLang="en-US"/>
          </a:p>
        </p:txBody>
      </p:sp>
    </p:spTree>
    <p:extLst>
      <p:ext uri="{BB962C8B-B14F-4D97-AF65-F5344CB8AC3E}">
        <p14:creationId xmlns:p14="http://schemas.microsoft.com/office/powerpoint/2010/main" val="644478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一、运行时存储组织概述</a:t>
            </a:r>
          </a:p>
          <a:p>
            <a:r>
              <a:rPr lang="zh-CN" altLang="en-US" dirty="0"/>
              <a:t>二、活动记录</a:t>
            </a:r>
          </a:p>
          <a:p>
            <a:r>
              <a:rPr lang="zh-CN" altLang="en-US" dirty="0"/>
              <a:t>三、过程调用</a:t>
            </a:r>
          </a:p>
        </p:txBody>
      </p:sp>
      <p:sp>
        <p:nvSpPr>
          <p:cNvPr id="3" name="标题 2"/>
          <p:cNvSpPr>
            <a:spLocks noGrp="1"/>
          </p:cNvSpPr>
          <p:nvPr>
            <p:ph type="title"/>
          </p:nvPr>
        </p:nvSpPr>
        <p:spPr/>
        <p:txBody>
          <a:bodyPr/>
          <a:lstStyle/>
          <a:p>
            <a:r>
              <a:rPr lang="zh-CN" altLang="en-US"/>
              <a:t>教学内容</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16</a:t>
            </a:fld>
            <a:endParaRPr lang="zh-CN" altLang="en-US"/>
          </a:p>
        </p:txBody>
      </p:sp>
    </p:spTree>
    <p:extLst>
      <p:ext uri="{BB962C8B-B14F-4D97-AF65-F5344CB8AC3E}">
        <p14:creationId xmlns:p14="http://schemas.microsoft.com/office/powerpoint/2010/main" val="3460633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活动记录（</a:t>
            </a:r>
            <a:r>
              <a:rPr lang="en-US" altLang="zh-CN" dirty="0"/>
              <a:t>activation record</a:t>
            </a:r>
            <a:r>
              <a:rPr lang="zh-CN" altLang="en-US" dirty="0"/>
              <a:t>）</a:t>
            </a:r>
          </a:p>
          <a:p>
            <a:pPr lvl="1"/>
            <a:r>
              <a:rPr lang="zh-CN" altLang="en-US" dirty="0"/>
              <a:t>过程活动记录</a:t>
            </a:r>
          </a:p>
          <a:p>
            <a:pPr lvl="2"/>
            <a:r>
              <a:rPr lang="zh-CN" altLang="en-US" dirty="0"/>
              <a:t>函数</a:t>
            </a:r>
            <a:r>
              <a:rPr lang="en-US" altLang="zh-CN" dirty="0"/>
              <a:t>/</a:t>
            </a:r>
            <a:r>
              <a:rPr lang="zh-CN" altLang="en-US" dirty="0"/>
              <a:t>过程调用或返回时，在运行栈上创建或从运行栈上消去的</a:t>
            </a:r>
            <a:r>
              <a:rPr lang="zh-CN" altLang="en-US" dirty="0">
                <a:solidFill>
                  <a:srgbClr val="FF0000"/>
                </a:solidFill>
              </a:rPr>
              <a:t>栈帧</a:t>
            </a:r>
            <a:r>
              <a:rPr lang="zh-CN" altLang="en-US" dirty="0"/>
              <a:t>（</a:t>
            </a:r>
            <a:r>
              <a:rPr lang="en-US" altLang="zh-CN" dirty="0"/>
              <a:t>frame</a:t>
            </a:r>
            <a:r>
              <a:rPr lang="zh-CN" altLang="en-US" dirty="0"/>
              <a:t>）</a:t>
            </a:r>
          </a:p>
          <a:p>
            <a:pPr lvl="2"/>
            <a:r>
              <a:rPr lang="zh-CN" altLang="en-US" dirty="0"/>
              <a:t>包含局部变量，函数实参，临时值（用于表达式计算的中间单元）等数据信息以及必要的控制信息</a:t>
            </a:r>
          </a:p>
          <a:p>
            <a:pPr lvl="2"/>
            <a:r>
              <a:rPr lang="zh-CN" altLang="en-US" dirty="0"/>
              <a:t>活动记录中的数据通常使用寄存器偏址寻址方式访问：</a:t>
            </a:r>
          </a:p>
          <a:p>
            <a:pPr lvl="1"/>
            <a:endParaRPr lang="zh-CN" altLang="en-US" dirty="0"/>
          </a:p>
        </p:txBody>
      </p:sp>
      <p:sp>
        <p:nvSpPr>
          <p:cNvPr id="3" name="标题 2"/>
          <p:cNvSpPr>
            <a:spLocks noGrp="1"/>
          </p:cNvSpPr>
          <p:nvPr>
            <p:ph type="title"/>
          </p:nvPr>
        </p:nvSpPr>
        <p:spPr/>
        <p:txBody>
          <a:bodyPr/>
          <a:lstStyle/>
          <a:p>
            <a:r>
              <a:rPr lang="zh-CN" altLang="en-US" dirty="0"/>
              <a:t>二、活动记录</a:t>
            </a:r>
          </a:p>
        </p:txBody>
      </p:sp>
      <p:sp>
        <p:nvSpPr>
          <p:cNvPr id="4" name="Line 10"/>
          <p:cNvSpPr>
            <a:spLocks noChangeShapeType="1"/>
          </p:cNvSpPr>
          <p:nvPr/>
        </p:nvSpPr>
        <p:spPr bwMode="auto">
          <a:xfrm>
            <a:off x="5410200" y="4220405"/>
            <a:ext cx="0" cy="1981200"/>
          </a:xfrm>
          <a:prstGeom prst="line">
            <a:avLst/>
          </a:prstGeom>
          <a:noFill/>
          <a:ln w="9525">
            <a:solidFill>
              <a:srgbClr val="800080"/>
            </a:solidFill>
            <a:round/>
            <a:headEnd/>
            <a:tailEnd/>
          </a:ln>
          <a:effectLst/>
        </p:spPr>
        <p:txBody>
          <a:bodyPr>
            <a:spAutoFit/>
          </a:bodyPr>
          <a:lstStyle/>
          <a:p>
            <a:endParaRPr lang="zh-CN" altLang="en-US"/>
          </a:p>
        </p:txBody>
      </p:sp>
      <p:sp>
        <p:nvSpPr>
          <p:cNvPr id="5" name="Line 11"/>
          <p:cNvSpPr>
            <a:spLocks noChangeShapeType="1"/>
          </p:cNvSpPr>
          <p:nvPr/>
        </p:nvSpPr>
        <p:spPr bwMode="auto">
          <a:xfrm>
            <a:off x="7467600" y="4220405"/>
            <a:ext cx="0" cy="1981200"/>
          </a:xfrm>
          <a:prstGeom prst="line">
            <a:avLst/>
          </a:prstGeom>
          <a:noFill/>
          <a:ln w="9525">
            <a:solidFill>
              <a:srgbClr val="800080"/>
            </a:solidFill>
            <a:round/>
            <a:headEnd/>
            <a:tailEnd/>
          </a:ln>
          <a:effectLst/>
        </p:spPr>
        <p:txBody>
          <a:bodyPr>
            <a:spAutoFit/>
          </a:bodyPr>
          <a:lstStyle/>
          <a:p>
            <a:endParaRPr lang="zh-CN" altLang="en-US"/>
          </a:p>
        </p:txBody>
      </p:sp>
      <p:sp>
        <p:nvSpPr>
          <p:cNvPr id="6" name="Line 12"/>
          <p:cNvSpPr>
            <a:spLocks noChangeShapeType="1"/>
          </p:cNvSpPr>
          <p:nvPr/>
        </p:nvSpPr>
        <p:spPr bwMode="auto">
          <a:xfrm>
            <a:off x="5410200" y="6201605"/>
            <a:ext cx="2057400" cy="0"/>
          </a:xfrm>
          <a:prstGeom prst="line">
            <a:avLst/>
          </a:prstGeom>
          <a:noFill/>
          <a:ln w="9525">
            <a:solidFill>
              <a:srgbClr val="800080"/>
            </a:solidFill>
            <a:round/>
            <a:headEnd/>
            <a:tailEnd/>
          </a:ln>
          <a:effectLst/>
        </p:spPr>
        <p:txBody>
          <a:bodyPr>
            <a:spAutoFit/>
          </a:bodyPr>
          <a:lstStyle/>
          <a:p>
            <a:endParaRPr lang="zh-CN" altLang="en-US"/>
          </a:p>
        </p:txBody>
      </p:sp>
      <p:sp>
        <p:nvSpPr>
          <p:cNvPr id="7" name="Line 13"/>
          <p:cNvSpPr>
            <a:spLocks noChangeShapeType="1"/>
          </p:cNvSpPr>
          <p:nvPr/>
        </p:nvSpPr>
        <p:spPr bwMode="auto">
          <a:xfrm>
            <a:off x="5410200" y="5439605"/>
            <a:ext cx="2057400" cy="0"/>
          </a:xfrm>
          <a:prstGeom prst="line">
            <a:avLst/>
          </a:prstGeom>
          <a:noFill/>
          <a:ln w="9525">
            <a:solidFill>
              <a:srgbClr val="800080"/>
            </a:solidFill>
            <a:round/>
            <a:headEnd/>
            <a:tailEnd/>
          </a:ln>
          <a:effectLst/>
        </p:spPr>
        <p:txBody>
          <a:bodyPr>
            <a:spAutoFit/>
          </a:bodyPr>
          <a:lstStyle/>
          <a:p>
            <a:endParaRPr lang="zh-CN" altLang="en-US"/>
          </a:p>
        </p:txBody>
      </p:sp>
      <p:sp>
        <p:nvSpPr>
          <p:cNvPr id="8" name="Line 14"/>
          <p:cNvSpPr>
            <a:spLocks noChangeShapeType="1"/>
          </p:cNvSpPr>
          <p:nvPr/>
        </p:nvSpPr>
        <p:spPr bwMode="auto">
          <a:xfrm>
            <a:off x="5410200" y="4220405"/>
            <a:ext cx="2057400" cy="0"/>
          </a:xfrm>
          <a:prstGeom prst="line">
            <a:avLst/>
          </a:prstGeom>
          <a:noFill/>
          <a:ln w="9525">
            <a:solidFill>
              <a:srgbClr val="800080"/>
            </a:solidFill>
            <a:round/>
            <a:headEnd/>
            <a:tailEnd/>
          </a:ln>
          <a:effectLst/>
        </p:spPr>
        <p:txBody>
          <a:bodyPr>
            <a:spAutoFit/>
          </a:bodyPr>
          <a:lstStyle/>
          <a:p>
            <a:endParaRPr lang="zh-CN" altLang="en-US"/>
          </a:p>
        </p:txBody>
      </p:sp>
      <p:sp>
        <p:nvSpPr>
          <p:cNvPr id="9" name="Rectangle 15"/>
          <p:cNvSpPr>
            <a:spLocks noChangeArrowheads="1"/>
          </p:cNvSpPr>
          <p:nvPr/>
        </p:nvSpPr>
        <p:spPr bwMode="auto">
          <a:xfrm>
            <a:off x="5759450" y="5592005"/>
            <a:ext cx="1422184" cy="461665"/>
          </a:xfrm>
          <a:prstGeom prst="rect">
            <a:avLst/>
          </a:prstGeom>
          <a:noFill/>
          <a:ln w="9525">
            <a:noFill/>
            <a:miter lim="800000"/>
            <a:headEnd/>
            <a:tailEnd/>
          </a:ln>
          <a:effectLst/>
        </p:spPr>
        <p:txBody>
          <a:bodyPr wrap="none">
            <a:spAutoFit/>
          </a:bodyPr>
          <a:lstStyle/>
          <a:p>
            <a:pPr>
              <a:buFont typeface="Wingdings" pitchFamily="2" charset="2"/>
              <a:buNone/>
            </a:pPr>
            <a:r>
              <a:rPr lang="zh-CN" altLang="en-US" sz="2400" b="1" dirty="0">
                <a:solidFill>
                  <a:srgbClr val="800080"/>
                </a:solidFill>
              </a:rPr>
              <a:t>控制信息</a:t>
            </a:r>
          </a:p>
        </p:txBody>
      </p:sp>
      <p:sp>
        <p:nvSpPr>
          <p:cNvPr id="10" name="Rectangle 17"/>
          <p:cNvSpPr>
            <a:spLocks noChangeArrowheads="1"/>
          </p:cNvSpPr>
          <p:nvPr/>
        </p:nvSpPr>
        <p:spPr bwMode="auto">
          <a:xfrm>
            <a:off x="5759450" y="4601405"/>
            <a:ext cx="1422184" cy="461665"/>
          </a:xfrm>
          <a:prstGeom prst="rect">
            <a:avLst/>
          </a:prstGeom>
          <a:noFill/>
          <a:ln w="9525">
            <a:noFill/>
            <a:miter lim="800000"/>
            <a:headEnd/>
            <a:tailEnd/>
          </a:ln>
          <a:effectLst/>
        </p:spPr>
        <p:txBody>
          <a:bodyPr wrap="none">
            <a:spAutoFit/>
          </a:bodyPr>
          <a:lstStyle/>
          <a:p>
            <a:pPr>
              <a:buFont typeface="Wingdings" pitchFamily="2" charset="2"/>
              <a:buNone/>
            </a:pPr>
            <a:r>
              <a:rPr lang="zh-CN" altLang="en-US" sz="2400" b="1">
                <a:solidFill>
                  <a:srgbClr val="800080"/>
                </a:solidFill>
              </a:rPr>
              <a:t>数据信息</a:t>
            </a:r>
          </a:p>
        </p:txBody>
      </p:sp>
      <p:sp>
        <p:nvSpPr>
          <p:cNvPr id="11" name="Line 18"/>
          <p:cNvSpPr>
            <a:spLocks noChangeShapeType="1"/>
          </p:cNvSpPr>
          <p:nvPr/>
        </p:nvSpPr>
        <p:spPr bwMode="auto">
          <a:xfrm flipH="1">
            <a:off x="4572000" y="6049205"/>
            <a:ext cx="8382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12" name="Rectangle 19"/>
          <p:cNvSpPr>
            <a:spLocks noChangeArrowheads="1"/>
          </p:cNvSpPr>
          <p:nvPr/>
        </p:nvSpPr>
        <p:spPr bwMode="auto">
          <a:xfrm>
            <a:off x="684213" y="5796793"/>
            <a:ext cx="4175125" cy="461665"/>
          </a:xfrm>
          <a:prstGeom prst="rect">
            <a:avLst/>
          </a:prstGeom>
          <a:noFill/>
          <a:ln w="9525">
            <a:noFill/>
            <a:miter lim="800000"/>
            <a:headEnd/>
            <a:tailEnd/>
          </a:ln>
          <a:effectLst/>
        </p:spPr>
        <p:txBody>
          <a:bodyPr>
            <a:spAutoFit/>
          </a:bodyPr>
          <a:lstStyle/>
          <a:p>
            <a:pPr>
              <a:buFont typeface="Wingdings" pitchFamily="2" charset="2"/>
              <a:buNone/>
            </a:pPr>
            <a:r>
              <a:rPr lang="en-US" altLang="zh-CN" sz="2400" b="1" dirty="0">
                <a:solidFill>
                  <a:srgbClr val="0000CC"/>
                </a:solidFill>
              </a:rPr>
              <a:t>     </a:t>
            </a:r>
            <a:r>
              <a:rPr lang="zh-CN" altLang="en-US" sz="2400" b="1" dirty="0">
                <a:solidFill>
                  <a:srgbClr val="0000CC"/>
                </a:solidFill>
              </a:rPr>
              <a:t>活动记录起始地址</a:t>
            </a:r>
          </a:p>
        </p:txBody>
      </p:sp>
      <p:sp>
        <p:nvSpPr>
          <p:cNvPr id="13" name="Line 20"/>
          <p:cNvSpPr>
            <a:spLocks noChangeShapeType="1"/>
          </p:cNvSpPr>
          <p:nvPr/>
        </p:nvSpPr>
        <p:spPr bwMode="auto">
          <a:xfrm flipH="1">
            <a:off x="4211638" y="4541080"/>
            <a:ext cx="1122362"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14" name="Rectangle 21"/>
          <p:cNvSpPr>
            <a:spLocks noChangeArrowheads="1"/>
          </p:cNvSpPr>
          <p:nvPr/>
        </p:nvSpPr>
        <p:spPr bwMode="auto">
          <a:xfrm>
            <a:off x="-315054" y="4185906"/>
            <a:ext cx="5733535" cy="830997"/>
          </a:xfrm>
          <a:prstGeom prst="rect">
            <a:avLst/>
          </a:prstGeom>
          <a:noFill/>
          <a:ln w="9525">
            <a:noFill/>
            <a:miter lim="800000"/>
            <a:headEnd/>
            <a:tailEnd/>
          </a:ln>
          <a:effectLst/>
        </p:spPr>
        <p:txBody>
          <a:bodyPr wrap="square">
            <a:spAutoFit/>
          </a:bodyPr>
          <a:lstStyle/>
          <a:p>
            <a:pPr>
              <a:buFont typeface="Wingdings" pitchFamily="2" charset="2"/>
              <a:buNone/>
            </a:pPr>
            <a:r>
              <a:rPr lang="zh-CN" altLang="en-US" sz="2400" b="1" dirty="0">
                <a:solidFill>
                  <a:srgbClr val="0000CC"/>
                </a:solidFill>
              </a:rPr>
              <a:t>    某个数据对象的地址</a:t>
            </a:r>
            <a:r>
              <a:rPr lang="en-US" altLang="zh-CN" sz="2400" dirty="0">
                <a:solidFill>
                  <a:srgbClr val="0000CC"/>
                </a:solidFill>
              </a:rPr>
              <a:t>=</a:t>
            </a:r>
            <a:r>
              <a:rPr lang="en-US" altLang="zh-CN" sz="2400" b="1" dirty="0">
                <a:solidFill>
                  <a:srgbClr val="0000CC"/>
                </a:solidFill>
              </a:rPr>
              <a:t>     </a:t>
            </a:r>
          </a:p>
          <a:p>
            <a:pPr>
              <a:buFont typeface="Wingdings" pitchFamily="2" charset="2"/>
              <a:buNone/>
            </a:pPr>
            <a:r>
              <a:rPr lang="en-US" altLang="zh-CN" sz="2400" b="1" dirty="0">
                <a:solidFill>
                  <a:srgbClr val="0000CC"/>
                </a:solidFill>
              </a:rPr>
              <a:t>    </a:t>
            </a:r>
            <a:r>
              <a:rPr lang="zh-CN" altLang="en-US" sz="2400" b="1" dirty="0">
                <a:solidFill>
                  <a:srgbClr val="0000CC"/>
                </a:solidFill>
              </a:rPr>
              <a:t>活动记录起始地址</a:t>
            </a:r>
            <a:r>
              <a:rPr lang="zh-CN" altLang="en-US" sz="2400" dirty="0">
                <a:solidFill>
                  <a:srgbClr val="0000CC"/>
                </a:solidFill>
              </a:rPr>
              <a:t>   </a:t>
            </a:r>
            <a:r>
              <a:rPr lang="en-US" altLang="zh-CN" sz="2400" dirty="0">
                <a:solidFill>
                  <a:srgbClr val="0000CC"/>
                </a:solidFill>
              </a:rPr>
              <a:t>+  </a:t>
            </a:r>
            <a:r>
              <a:rPr lang="zh-CN" altLang="en-US" sz="2400" b="1" dirty="0">
                <a:solidFill>
                  <a:srgbClr val="0000CC"/>
                </a:solidFill>
              </a:rPr>
              <a:t>偏移地址（</a:t>
            </a:r>
            <a:r>
              <a:rPr lang="en-US" altLang="zh-CN" sz="2400" i="1" dirty="0">
                <a:solidFill>
                  <a:srgbClr val="0000CC"/>
                </a:solidFill>
              </a:rPr>
              <a:t>offset</a:t>
            </a:r>
            <a:r>
              <a:rPr lang="zh-CN" altLang="en-US" sz="2400" b="1" dirty="0">
                <a:solidFill>
                  <a:srgbClr val="0000CC"/>
                </a:solidFill>
              </a:rPr>
              <a:t>）</a:t>
            </a:r>
          </a:p>
        </p:txBody>
      </p:sp>
      <p:sp>
        <p:nvSpPr>
          <p:cNvPr id="15" name="灯片编号占位符 14"/>
          <p:cNvSpPr>
            <a:spLocks noGrp="1"/>
          </p:cNvSpPr>
          <p:nvPr>
            <p:ph type="sldNum" sz="quarter" idx="4"/>
          </p:nvPr>
        </p:nvSpPr>
        <p:spPr/>
        <p:txBody>
          <a:bodyPr/>
          <a:lstStyle/>
          <a:p>
            <a:fld id="{565CE74E-AB26-4998-AD42-012C4C1AD076}" type="slidenum">
              <a:rPr lang="zh-CN" altLang="en-US" smtClean="0"/>
              <a:t>17</a:t>
            </a:fld>
            <a:endParaRPr lang="zh-CN" altLang="en-US"/>
          </a:p>
        </p:txBody>
      </p:sp>
    </p:spTree>
    <p:extLst>
      <p:ext uri="{BB962C8B-B14F-4D97-AF65-F5344CB8AC3E}">
        <p14:creationId xmlns:p14="http://schemas.microsoft.com/office/powerpoint/2010/main" val="738186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过程活动记录的</a:t>
            </a:r>
            <a:r>
              <a:rPr lang="zh-CN" altLang="en-US" dirty="0">
                <a:solidFill>
                  <a:srgbClr val="FF0000"/>
                </a:solidFill>
              </a:rPr>
              <a:t>栈式存储分配</a:t>
            </a:r>
            <a:r>
              <a:rPr lang="zh-CN" altLang="en-US" dirty="0"/>
              <a:t>举例（假定栈空间的增长方向是自下而上的）</a:t>
            </a:r>
          </a:p>
          <a:p>
            <a:endParaRPr lang="zh-CN" altLang="en-US" dirty="0"/>
          </a:p>
        </p:txBody>
      </p:sp>
      <p:sp>
        <p:nvSpPr>
          <p:cNvPr id="3" name="标题 2"/>
          <p:cNvSpPr>
            <a:spLocks noGrp="1"/>
          </p:cNvSpPr>
          <p:nvPr>
            <p:ph type="title"/>
          </p:nvPr>
        </p:nvSpPr>
        <p:spPr/>
        <p:txBody>
          <a:bodyPr/>
          <a:lstStyle/>
          <a:p>
            <a:r>
              <a:rPr lang="zh-CN" altLang="en-US" dirty="0"/>
              <a:t>二、活动记录</a:t>
            </a:r>
          </a:p>
        </p:txBody>
      </p:sp>
      <p:sp>
        <p:nvSpPr>
          <p:cNvPr id="4" name="Line 9"/>
          <p:cNvSpPr>
            <a:spLocks noChangeShapeType="1"/>
          </p:cNvSpPr>
          <p:nvPr/>
        </p:nvSpPr>
        <p:spPr bwMode="auto">
          <a:xfrm>
            <a:off x="4355558" y="2944812"/>
            <a:ext cx="0" cy="3429000"/>
          </a:xfrm>
          <a:prstGeom prst="line">
            <a:avLst/>
          </a:prstGeom>
          <a:noFill/>
          <a:ln w="9525">
            <a:solidFill>
              <a:srgbClr val="800080"/>
            </a:solidFill>
            <a:round/>
            <a:headEnd/>
            <a:tailEnd/>
          </a:ln>
          <a:effectLst/>
        </p:spPr>
        <p:txBody>
          <a:bodyPr>
            <a:spAutoFit/>
          </a:bodyPr>
          <a:lstStyle/>
          <a:p>
            <a:endParaRPr lang="zh-CN" altLang="en-US"/>
          </a:p>
        </p:txBody>
      </p:sp>
      <p:sp>
        <p:nvSpPr>
          <p:cNvPr id="5" name="Line 10"/>
          <p:cNvSpPr>
            <a:spLocks noChangeShapeType="1"/>
          </p:cNvSpPr>
          <p:nvPr/>
        </p:nvSpPr>
        <p:spPr bwMode="auto">
          <a:xfrm>
            <a:off x="6946358" y="2944812"/>
            <a:ext cx="0" cy="3429000"/>
          </a:xfrm>
          <a:prstGeom prst="line">
            <a:avLst/>
          </a:prstGeom>
          <a:noFill/>
          <a:ln w="9525">
            <a:solidFill>
              <a:srgbClr val="800080"/>
            </a:solidFill>
            <a:round/>
            <a:headEnd/>
            <a:tailEnd/>
          </a:ln>
          <a:effectLst/>
        </p:spPr>
        <p:txBody>
          <a:bodyPr>
            <a:spAutoFit/>
          </a:bodyPr>
          <a:lstStyle/>
          <a:p>
            <a:endParaRPr lang="zh-CN" altLang="en-US"/>
          </a:p>
        </p:txBody>
      </p:sp>
      <p:sp>
        <p:nvSpPr>
          <p:cNvPr id="6" name="Line 11"/>
          <p:cNvSpPr>
            <a:spLocks noChangeShapeType="1"/>
          </p:cNvSpPr>
          <p:nvPr/>
        </p:nvSpPr>
        <p:spPr bwMode="auto">
          <a:xfrm>
            <a:off x="4355558" y="6373812"/>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7" name="Line 12"/>
          <p:cNvSpPr>
            <a:spLocks noChangeShapeType="1"/>
          </p:cNvSpPr>
          <p:nvPr/>
        </p:nvSpPr>
        <p:spPr bwMode="auto">
          <a:xfrm>
            <a:off x="4355558" y="5611812"/>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8" name="Rectangle 14"/>
          <p:cNvSpPr>
            <a:spLocks noChangeArrowheads="1"/>
          </p:cNvSpPr>
          <p:nvPr/>
        </p:nvSpPr>
        <p:spPr bwMode="auto">
          <a:xfrm>
            <a:off x="4407946" y="5783262"/>
            <a:ext cx="2462212" cy="457200"/>
          </a:xfrm>
          <a:prstGeom prst="rect">
            <a:avLst/>
          </a:prstGeom>
          <a:noFill/>
          <a:ln w="9525">
            <a:noFill/>
            <a:miter lim="800000"/>
            <a:headEnd/>
            <a:tailEnd/>
          </a:ln>
          <a:effectLst/>
        </p:spPr>
        <p:txBody>
          <a:bodyPr wrap="none">
            <a:spAutoFit/>
          </a:bodyPr>
          <a:lstStyle/>
          <a:p>
            <a:pPr algn="ctr">
              <a:buFont typeface="Wingdings" pitchFamily="2" charset="2"/>
              <a:buNone/>
            </a:pPr>
            <a:r>
              <a:rPr lang="en-US" altLang="zh-CN" dirty="0">
                <a:solidFill>
                  <a:srgbClr val="800080"/>
                </a:solidFill>
              </a:rPr>
              <a:t>main </a:t>
            </a:r>
            <a:r>
              <a:rPr lang="zh-CN" altLang="en-US" b="1" dirty="0">
                <a:solidFill>
                  <a:srgbClr val="800080"/>
                </a:solidFill>
              </a:rPr>
              <a:t>的活动记录</a:t>
            </a:r>
          </a:p>
        </p:txBody>
      </p:sp>
      <p:sp>
        <p:nvSpPr>
          <p:cNvPr id="9" name="Text Box 20"/>
          <p:cNvSpPr txBox="1">
            <a:spLocks noChangeArrowheads="1"/>
          </p:cNvSpPr>
          <p:nvPr/>
        </p:nvSpPr>
        <p:spPr bwMode="auto">
          <a:xfrm>
            <a:off x="1155158" y="2182812"/>
            <a:ext cx="2057400" cy="4054475"/>
          </a:xfrm>
          <a:prstGeom prst="rect">
            <a:avLst/>
          </a:prstGeom>
          <a:noFill/>
          <a:ln w="9525">
            <a:noFill/>
            <a:miter lim="800000"/>
            <a:headEnd/>
            <a:tailEnd/>
          </a:ln>
          <a:effectLst/>
        </p:spPr>
        <p:txBody>
          <a:bodyPr>
            <a:spAutoFit/>
          </a:bodyPr>
          <a:lstStyle/>
          <a:p>
            <a:pPr>
              <a:buFont typeface="Wingdings" pitchFamily="2" charset="2"/>
              <a:buNone/>
            </a:pPr>
            <a:r>
              <a:rPr kumimoji="0" lang="en-US" altLang="zh-CN" sz="2000" dirty="0">
                <a:latin typeface="Times New Roman" panose="02020603050405020304" pitchFamily="18" charset="0"/>
              </a:rPr>
              <a:t>void p( )  {  </a:t>
            </a:r>
          </a:p>
          <a:p>
            <a:pPr>
              <a:buFont typeface="Wingdings" pitchFamily="2" charset="2"/>
              <a:buNone/>
            </a:pPr>
            <a:r>
              <a:rPr kumimoji="0" lang="en-US" altLang="zh-CN" sz="2000" dirty="0">
                <a:latin typeface="Times New Roman" panose="02020603050405020304" pitchFamily="18" charset="0"/>
              </a:rPr>
              <a:t>   …</a:t>
            </a:r>
          </a:p>
          <a:p>
            <a:pPr>
              <a:buFont typeface="Wingdings" pitchFamily="2" charset="2"/>
              <a:buNone/>
            </a:pPr>
            <a:r>
              <a:rPr kumimoji="0" lang="en-US" altLang="zh-CN" sz="2000" dirty="0">
                <a:latin typeface="Times New Roman" panose="02020603050405020304" pitchFamily="18" charset="0"/>
              </a:rPr>
              <a:t>   q( );</a:t>
            </a:r>
          </a:p>
          <a:p>
            <a:pPr>
              <a:buFont typeface="Wingdings" pitchFamily="2" charset="2"/>
              <a:buNone/>
            </a:pPr>
            <a:r>
              <a:rPr kumimoji="0" lang="en-US" altLang="zh-CN" sz="2000" dirty="0">
                <a:latin typeface="Times New Roman" panose="02020603050405020304" pitchFamily="18" charset="0"/>
              </a:rPr>
              <a:t>} </a:t>
            </a:r>
          </a:p>
          <a:p>
            <a:pPr>
              <a:buFont typeface="Wingdings" pitchFamily="2" charset="2"/>
              <a:buNone/>
            </a:pPr>
            <a:endParaRPr kumimoji="0" lang="en-US" altLang="zh-CN" sz="2000" dirty="0">
              <a:latin typeface="Times New Roman" panose="02020603050405020304" pitchFamily="18" charset="0"/>
            </a:endParaRPr>
          </a:p>
          <a:p>
            <a:pPr>
              <a:buFont typeface="Wingdings" pitchFamily="2" charset="2"/>
              <a:buNone/>
            </a:pPr>
            <a:r>
              <a:rPr kumimoji="0" lang="en-US" altLang="zh-CN" sz="2000" dirty="0">
                <a:latin typeface="Times New Roman" panose="02020603050405020304" pitchFamily="18" charset="0"/>
              </a:rPr>
              <a:t>void q( )  { </a:t>
            </a:r>
          </a:p>
          <a:p>
            <a:pPr>
              <a:buFont typeface="Wingdings" pitchFamily="2" charset="2"/>
              <a:buNone/>
            </a:pPr>
            <a:r>
              <a:rPr kumimoji="0" lang="en-US" altLang="zh-CN" sz="2000" dirty="0">
                <a:latin typeface="Times New Roman" panose="02020603050405020304" pitchFamily="18" charset="0"/>
              </a:rPr>
              <a:t>   …</a:t>
            </a:r>
          </a:p>
          <a:p>
            <a:pPr>
              <a:buFont typeface="Wingdings" pitchFamily="2" charset="2"/>
              <a:buNone/>
            </a:pPr>
            <a:r>
              <a:rPr kumimoji="0" lang="en-US" altLang="zh-CN" sz="2000" dirty="0">
                <a:latin typeface="Times New Roman" panose="02020603050405020304" pitchFamily="18" charset="0"/>
              </a:rPr>
              <a:t>   q( );</a:t>
            </a:r>
          </a:p>
          <a:p>
            <a:pPr>
              <a:buFont typeface="Wingdings" pitchFamily="2" charset="2"/>
              <a:buNone/>
            </a:pPr>
            <a:r>
              <a:rPr kumimoji="0" lang="en-US" altLang="zh-CN" sz="2000" dirty="0">
                <a:latin typeface="Times New Roman" panose="02020603050405020304" pitchFamily="18" charset="0"/>
              </a:rPr>
              <a:t>} </a:t>
            </a:r>
          </a:p>
          <a:p>
            <a:pPr>
              <a:buFont typeface="Wingdings" pitchFamily="2" charset="2"/>
              <a:buNone/>
            </a:pPr>
            <a:endParaRPr kumimoji="0" lang="en-US" altLang="zh-CN" sz="2000" dirty="0">
              <a:latin typeface="Times New Roman" panose="02020603050405020304" pitchFamily="18" charset="0"/>
            </a:endParaRPr>
          </a:p>
          <a:p>
            <a:pPr>
              <a:buFont typeface="Wingdings" pitchFamily="2" charset="2"/>
              <a:buNone/>
            </a:pPr>
            <a:r>
              <a:rPr kumimoji="0" lang="en-US" altLang="zh-CN" sz="2000" dirty="0" err="1">
                <a:latin typeface="Times New Roman" panose="02020603050405020304" pitchFamily="18" charset="0"/>
              </a:rPr>
              <a:t>int</a:t>
            </a:r>
            <a:r>
              <a:rPr kumimoji="0" lang="en-US" altLang="zh-CN" sz="2000" dirty="0">
                <a:latin typeface="Times New Roman" panose="02020603050405020304" pitchFamily="18" charset="0"/>
              </a:rPr>
              <a:t> main  {</a:t>
            </a:r>
          </a:p>
          <a:p>
            <a:pPr>
              <a:buFont typeface="Wingdings" pitchFamily="2" charset="2"/>
              <a:buNone/>
            </a:pPr>
            <a:r>
              <a:rPr kumimoji="0" lang="en-US" altLang="zh-CN" sz="2000" dirty="0">
                <a:latin typeface="Times New Roman" panose="02020603050405020304" pitchFamily="18" charset="0"/>
              </a:rPr>
              <a:t>   p( );</a:t>
            </a:r>
          </a:p>
          <a:p>
            <a:pPr>
              <a:buFont typeface="Wingdings" pitchFamily="2" charset="2"/>
              <a:buNone/>
            </a:pPr>
            <a:r>
              <a:rPr kumimoji="0" lang="en-US" altLang="zh-CN" sz="2000" dirty="0">
                <a:latin typeface="Times New Roman" panose="02020603050405020304" pitchFamily="18" charset="0"/>
              </a:rPr>
              <a:t>}</a:t>
            </a:r>
          </a:p>
        </p:txBody>
      </p:sp>
      <p:sp>
        <p:nvSpPr>
          <p:cNvPr id="10" name="Line 25"/>
          <p:cNvSpPr>
            <a:spLocks noChangeShapeType="1"/>
          </p:cNvSpPr>
          <p:nvPr/>
        </p:nvSpPr>
        <p:spPr bwMode="auto">
          <a:xfrm>
            <a:off x="4355558" y="4849812"/>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1" name="Rectangle 26"/>
          <p:cNvSpPr>
            <a:spLocks noChangeArrowheads="1"/>
          </p:cNvSpPr>
          <p:nvPr/>
        </p:nvSpPr>
        <p:spPr bwMode="auto">
          <a:xfrm>
            <a:off x="4407946" y="5021262"/>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dirty="0">
                <a:solidFill>
                  <a:srgbClr val="800080"/>
                </a:solidFill>
              </a:rPr>
              <a:t>p </a:t>
            </a:r>
            <a:r>
              <a:rPr lang="zh-CN" altLang="en-US" b="1" dirty="0">
                <a:solidFill>
                  <a:srgbClr val="800080"/>
                </a:solidFill>
              </a:rPr>
              <a:t>的活动记录</a:t>
            </a:r>
          </a:p>
        </p:txBody>
      </p:sp>
      <p:sp>
        <p:nvSpPr>
          <p:cNvPr id="12" name="Line 27"/>
          <p:cNvSpPr>
            <a:spLocks noChangeShapeType="1"/>
          </p:cNvSpPr>
          <p:nvPr/>
        </p:nvSpPr>
        <p:spPr bwMode="auto">
          <a:xfrm>
            <a:off x="4355558" y="4087812"/>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3" name="Rectangle 28"/>
          <p:cNvSpPr>
            <a:spLocks noChangeArrowheads="1"/>
          </p:cNvSpPr>
          <p:nvPr/>
        </p:nvSpPr>
        <p:spPr bwMode="auto">
          <a:xfrm>
            <a:off x="4355558" y="4259262"/>
            <a:ext cx="2514600"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dirty="0">
                <a:solidFill>
                  <a:srgbClr val="800080"/>
                </a:solidFill>
              </a:rPr>
              <a:t>q </a:t>
            </a:r>
            <a:r>
              <a:rPr lang="zh-CN" altLang="en-US" b="1" dirty="0">
                <a:solidFill>
                  <a:srgbClr val="800080"/>
                </a:solidFill>
              </a:rPr>
              <a:t>的活动记录</a:t>
            </a:r>
          </a:p>
        </p:txBody>
      </p:sp>
      <p:sp>
        <p:nvSpPr>
          <p:cNvPr id="14" name="Line 29"/>
          <p:cNvSpPr>
            <a:spLocks noChangeShapeType="1"/>
          </p:cNvSpPr>
          <p:nvPr/>
        </p:nvSpPr>
        <p:spPr bwMode="auto">
          <a:xfrm>
            <a:off x="4355558" y="3325812"/>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5" name="Rectangle 30"/>
          <p:cNvSpPr>
            <a:spLocks noChangeArrowheads="1"/>
          </p:cNvSpPr>
          <p:nvPr/>
        </p:nvSpPr>
        <p:spPr bwMode="auto">
          <a:xfrm>
            <a:off x="4407946" y="3497262"/>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dirty="0">
                <a:solidFill>
                  <a:srgbClr val="800080"/>
                </a:solidFill>
              </a:rPr>
              <a:t>q </a:t>
            </a:r>
            <a:r>
              <a:rPr lang="zh-CN" altLang="en-US" b="1" dirty="0">
                <a:solidFill>
                  <a:srgbClr val="800080"/>
                </a:solidFill>
              </a:rPr>
              <a:t>的活动记录</a:t>
            </a:r>
          </a:p>
        </p:txBody>
      </p:sp>
      <p:sp>
        <p:nvSpPr>
          <p:cNvPr id="16" name="Rectangle 31"/>
          <p:cNvSpPr>
            <a:spLocks noChangeArrowheads="1"/>
          </p:cNvSpPr>
          <p:nvPr/>
        </p:nvSpPr>
        <p:spPr bwMode="auto">
          <a:xfrm>
            <a:off x="4081650" y="2105581"/>
            <a:ext cx="3611886" cy="830997"/>
          </a:xfrm>
          <a:prstGeom prst="rect">
            <a:avLst/>
          </a:prstGeom>
          <a:noFill/>
          <a:ln w="9525">
            <a:noFill/>
            <a:miter lim="800000"/>
            <a:headEnd/>
            <a:tailEnd/>
          </a:ln>
          <a:effectLst/>
        </p:spPr>
        <p:txBody>
          <a:bodyPr wrap="none">
            <a:spAutoFit/>
          </a:bodyPr>
          <a:lstStyle/>
          <a:p>
            <a:pPr>
              <a:buFont typeface="Wingdings" pitchFamily="2" charset="2"/>
              <a:buNone/>
            </a:pPr>
            <a:r>
              <a:rPr lang="zh-CN" altLang="en-US" b="1" dirty="0">
                <a:latin typeface="Times New Roman" pitchFamily="18" charset="0"/>
              </a:rPr>
              <a:t>函数 </a:t>
            </a:r>
            <a:r>
              <a:rPr lang="en-US" altLang="zh-CN" dirty="0"/>
              <a:t>q </a:t>
            </a:r>
            <a:r>
              <a:rPr lang="zh-CN" altLang="en-US" b="1" dirty="0">
                <a:latin typeface="Times New Roman" pitchFamily="18" charset="0"/>
              </a:rPr>
              <a:t>被</a:t>
            </a:r>
            <a:r>
              <a:rPr lang="zh-CN" altLang="en-US" b="1" dirty="0">
                <a:effectLst>
                  <a:outerShdw blurRad="38100" dist="38100" dir="2700000" algn="tl">
                    <a:srgbClr val="000000">
                      <a:alpha val="43137"/>
                    </a:srgbClr>
                  </a:outerShdw>
                </a:effectLst>
                <a:latin typeface="Times New Roman" pitchFamily="18" charset="0"/>
              </a:rPr>
              <a:t>第二次</a:t>
            </a:r>
            <a:r>
              <a:rPr lang="zh-CN" altLang="en-US" b="1" dirty="0">
                <a:latin typeface="Times New Roman" pitchFamily="18" charset="0"/>
              </a:rPr>
              <a:t>激活时运</a:t>
            </a:r>
          </a:p>
          <a:p>
            <a:pPr>
              <a:buFont typeface="Wingdings" pitchFamily="2" charset="2"/>
              <a:buNone/>
            </a:pPr>
            <a:r>
              <a:rPr lang="zh-CN" altLang="en-US" b="1" dirty="0">
                <a:latin typeface="Times New Roman" pitchFamily="18" charset="0"/>
              </a:rPr>
              <a:t>行栈上活动记录分配情况</a:t>
            </a:r>
          </a:p>
        </p:txBody>
      </p:sp>
      <p:sp>
        <p:nvSpPr>
          <p:cNvPr id="17" name="灯片编号占位符 16"/>
          <p:cNvSpPr>
            <a:spLocks noGrp="1"/>
          </p:cNvSpPr>
          <p:nvPr>
            <p:ph type="sldNum" sz="quarter" idx="4"/>
          </p:nvPr>
        </p:nvSpPr>
        <p:spPr/>
        <p:txBody>
          <a:bodyPr/>
          <a:lstStyle/>
          <a:p>
            <a:fld id="{565CE74E-AB26-4998-AD42-012C4C1AD076}" type="slidenum">
              <a:rPr lang="zh-CN" altLang="en-US" smtClean="0"/>
              <a:t>18</a:t>
            </a:fld>
            <a:endParaRPr lang="zh-CN" altLang="en-US"/>
          </a:p>
        </p:txBody>
      </p:sp>
    </p:spTree>
    <p:extLst>
      <p:ext uri="{BB962C8B-B14F-4D97-AF65-F5344CB8AC3E}">
        <p14:creationId xmlns:p14="http://schemas.microsoft.com/office/powerpoint/2010/main" val="2717252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典型的过程活动记录结构</a:t>
            </a:r>
            <a:endParaRPr lang="en-US" altLang="zh-CN" dirty="0"/>
          </a:p>
          <a:p>
            <a:pPr lvl="1"/>
            <a:r>
              <a:rPr lang="zh-CN" altLang="en-US" dirty="0"/>
              <a:t>数据信息</a:t>
            </a:r>
            <a:endParaRPr lang="en-US" altLang="zh-CN" dirty="0"/>
          </a:p>
          <a:p>
            <a:pPr lvl="2"/>
            <a:r>
              <a:rPr lang="zh-CN" altLang="en-US" dirty="0"/>
              <a:t>参数区、局部数据区、动态数据区（如动态数组区）、临时数据区、过程</a:t>
            </a:r>
            <a:r>
              <a:rPr lang="en-US" altLang="zh-CN" dirty="0"/>
              <a:t>/</a:t>
            </a:r>
            <a:r>
              <a:rPr lang="zh-CN" altLang="en-US" dirty="0"/>
              <a:t>函数调用的其他信息等。</a:t>
            </a:r>
          </a:p>
        </p:txBody>
      </p:sp>
      <p:sp>
        <p:nvSpPr>
          <p:cNvPr id="3" name="标题 2"/>
          <p:cNvSpPr>
            <a:spLocks noGrp="1"/>
          </p:cNvSpPr>
          <p:nvPr>
            <p:ph type="title"/>
          </p:nvPr>
        </p:nvSpPr>
        <p:spPr/>
        <p:txBody>
          <a:bodyPr/>
          <a:lstStyle/>
          <a:p>
            <a:r>
              <a:rPr lang="zh-CN" altLang="en-US" dirty="0"/>
              <a:t>二、活动记录</a:t>
            </a:r>
          </a:p>
        </p:txBody>
      </p:sp>
      <p:sp>
        <p:nvSpPr>
          <p:cNvPr id="5" name="Line 9"/>
          <p:cNvSpPr>
            <a:spLocks noChangeShapeType="1"/>
          </p:cNvSpPr>
          <p:nvPr/>
        </p:nvSpPr>
        <p:spPr bwMode="auto">
          <a:xfrm>
            <a:off x="1728788" y="2724807"/>
            <a:ext cx="0" cy="3657600"/>
          </a:xfrm>
          <a:prstGeom prst="line">
            <a:avLst/>
          </a:prstGeom>
          <a:noFill/>
          <a:ln w="9525">
            <a:solidFill>
              <a:srgbClr val="800080"/>
            </a:solidFill>
            <a:round/>
            <a:headEnd/>
            <a:tailEnd/>
          </a:ln>
          <a:effectLst/>
        </p:spPr>
        <p:txBody>
          <a:bodyPr>
            <a:spAutoFit/>
          </a:bodyPr>
          <a:lstStyle/>
          <a:p>
            <a:endParaRPr lang="zh-CN" altLang="en-US"/>
          </a:p>
        </p:txBody>
      </p:sp>
      <p:sp>
        <p:nvSpPr>
          <p:cNvPr id="6" name="Line 10"/>
          <p:cNvSpPr>
            <a:spLocks noChangeShapeType="1"/>
          </p:cNvSpPr>
          <p:nvPr/>
        </p:nvSpPr>
        <p:spPr bwMode="auto">
          <a:xfrm>
            <a:off x="5005388" y="2724807"/>
            <a:ext cx="0" cy="3657600"/>
          </a:xfrm>
          <a:prstGeom prst="line">
            <a:avLst/>
          </a:prstGeom>
          <a:noFill/>
          <a:ln w="9525">
            <a:solidFill>
              <a:srgbClr val="800080"/>
            </a:solidFill>
            <a:round/>
            <a:headEnd/>
            <a:tailEnd/>
          </a:ln>
          <a:effectLst/>
        </p:spPr>
        <p:txBody>
          <a:bodyPr>
            <a:spAutoFit/>
          </a:bodyPr>
          <a:lstStyle/>
          <a:p>
            <a:endParaRPr lang="zh-CN" altLang="en-US"/>
          </a:p>
        </p:txBody>
      </p:sp>
      <p:sp>
        <p:nvSpPr>
          <p:cNvPr id="7" name="Line 11"/>
          <p:cNvSpPr>
            <a:spLocks noChangeShapeType="1"/>
          </p:cNvSpPr>
          <p:nvPr/>
        </p:nvSpPr>
        <p:spPr bwMode="auto">
          <a:xfrm>
            <a:off x="1728788" y="6382407"/>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8" name="Line 12"/>
          <p:cNvSpPr>
            <a:spLocks noChangeShapeType="1"/>
          </p:cNvSpPr>
          <p:nvPr/>
        </p:nvSpPr>
        <p:spPr bwMode="auto">
          <a:xfrm>
            <a:off x="1728788" y="5620407"/>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9" name="Rectangle 13"/>
          <p:cNvSpPr>
            <a:spLocks noChangeArrowheads="1"/>
          </p:cNvSpPr>
          <p:nvPr/>
        </p:nvSpPr>
        <p:spPr bwMode="auto">
          <a:xfrm>
            <a:off x="1728788" y="5772807"/>
            <a:ext cx="3200400" cy="457200"/>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solidFill>
                  <a:srgbClr val="800080"/>
                </a:solidFill>
              </a:rPr>
              <a:t>控制信息</a:t>
            </a:r>
          </a:p>
        </p:txBody>
      </p:sp>
      <p:sp>
        <p:nvSpPr>
          <p:cNvPr id="10" name="Line 15"/>
          <p:cNvSpPr>
            <a:spLocks noChangeShapeType="1"/>
          </p:cNvSpPr>
          <p:nvPr/>
        </p:nvSpPr>
        <p:spPr bwMode="auto">
          <a:xfrm>
            <a:off x="1728788" y="5010807"/>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11" name="Rectangle 16"/>
          <p:cNvSpPr>
            <a:spLocks noChangeArrowheads="1"/>
          </p:cNvSpPr>
          <p:nvPr/>
        </p:nvSpPr>
        <p:spPr bwMode="auto">
          <a:xfrm>
            <a:off x="1781175" y="5087007"/>
            <a:ext cx="3148013" cy="457200"/>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solidFill>
                  <a:srgbClr val="800080"/>
                </a:solidFill>
              </a:rPr>
              <a:t>过程实际参数</a:t>
            </a:r>
          </a:p>
        </p:txBody>
      </p:sp>
      <p:sp>
        <p:nvSpPr>
          <p:cNvPr id="12" name="Line 17"/>
          <p:cNvSpPr>
            <a:spLocks noChangeShapeType="1"/>
          </p:cNvSpPr>
          <p:nvPr/>
        </p:nvSpPr>
        <p:spPr bwMode="auto">
          <a:xfrm>
            <a:off x="1728788" y="4401207"/>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13" name="Rectangle 18"/>
          <p:cNvSpPr>
            <a:spLocks noChangeArrowheads="1"/>
          </p:cNvSpPr>
          <p:nvPr/>
        </p:nvSpPr>
        <p:spPr bwMode="auto">
          <a:xfrm>
            <a:off x="1728788" y="4477407"/>
            <a:ext cx="3276600" cy="457200"/>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solidFill>
                  <a:srgbClr val="800080"/>
                </a:solidFill>
              </a:rPr>
              <a:t>固定大小的局部数据区</a:t>
            </a:r>
          </a:p>
        </p:txBody>
      </p:sp>
      <p:sp>
        <p:nvSpPr>
          <p:cNvPr id="14" name="Line 19"/>
          <p:cNvSpPr>
            <a:spLocks noChangeShapeType="1"/>
          </p:cNvSpPr>
          <p:nvPr/>
        </p:nvSpPr>
        <p:spPr bwMode="auto">
          <a:xfrm>
            <a:off x="1728788" y="3791607"/>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15" name="Rectangle 20"/>
          <p:cNvSpPr>
            <a:spLocks noChangeArrowheads="1"/>
          </p:cNvSpPr>
          <p:nvPr/>
        </p:nvSpPr>
        <p:spPr bwMode="auto">
          <a:xfrm>
            <a:off x="1781175" y="3867807"/>
            <a:ext cx="3224213" cy="457200"/>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solidFill>
                  <a:srgbClr val="800080"/>
                </a:solidFill>
              </a:rPr>
              <a:t>动态数组区</a:t>
            </a:r>
          </a:p>
        </p:txBody>
      </p:sp>
      <p:sp>
        <p:nvSpPr>
          <p:cNvPr id="16" name="Rectangle 33"/>
          <p:cNvSpPr>
            <a:spLocks noChangeArrowheads="1"/>
          </p:cNvSpPr>
          <p:nvPr/>
        </p:nvSpPr>
        <p:spPr bwMode="auto">
          <a:xfrm>
            <a:off x="1781175" y="3258207"/>
            <a:ext cx="3148013" cy="457200"/>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solidFill>
                  <a:srgbClr val="800080"/>
                </a:solidFill>
              </a:rPr>
              <a:t>临时工作单元</a:t>
            </a:r>
          </a:p>
        </p:txBody>
      </p:sp>
      <p:sp>
        <p:nvSpPr>
          <p:cNvPr id="17" name="Rectangle 34"/>
          <p:cNvSpPr>
            <a:spLocks noChangeArrowheads="1"/>
          </p:cNvSpPr>
          <p:nvPr/>
        </p:nvSpPr>
        <p:spPr bwMode="auto">
          <a:xfrm>
            <a:off x="5378450" y="6061732"/>
            <a:ext cx="3132138"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dirty="0">
                <a:solidFill>
                  <a:srgbClr val="FF0000"/>
                </a:solidFill>
              </a:rPr>
              <a:t>FP </a:t>
            </a:r>
            <a:r>
              <a:rPr lang="zh-CN" altLang="en-US" sz="2000" b="1" dirty="0">
                <a:solidFill>
                  <a:srgbClr val="FF0000"/>
                </a:solidFill>
              </a:rPr>
              <a:t>（栈桢基址寄存器）</a:t>
            </a:r>
          </a:p>
        </p:txBody>
      </p:sp>
      <p:sp>
        <p:nvSpPr>
          <p:cNvPr id="18" name="Line 35"/>
          <p:cNvSpPr>
            <a:spLocks noChangeShapeType="1"/>
          </p:cNvSpPr>
          <p:nvPr/>
        </p:nvSpPr>
        <p:spPr bwMode="auto">
          <a:xfrm flipH="1">
            <a:off x="5005388" y="6290332"/>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19" name="Line 39"/>
          <p:cNvSpPr>
            <a:spLocks noChangeShapeType="1"/>
          </p:cNvSpPr>
          <p:nvPr/>
        </p:nvSpPr>
        <p:spPr bwMode="auto">
          <a:xfrm flipH="1">
            <a:off x="5005388" y="3029607"/>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0" name="Line 40"/>
          <p:cNvSpPr>
            <a:spLocks noChangeShapeType="1"/>
          </p:cNvSpPr>
          <p:nvPr/>
        </p:nvSpPr>
        <p:spPr bwMode="auto">
          <a:xfrm>
            <a:off x="1728788" y="3105807"/>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21" name="Rectangle 41"/>
          <p:cNvSpPr>
            <a:spLocks noChangeArrowheads="1"/>
          </p:cNvSpPr>
          <p:nvPr/>
        </p:nvSpPr>
        <p:spPr bwMode="auto">
          <a:xfrm>
            <a:off x="5451475" y="2842282"/>
            <a:ext cx="3024188"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dirty="0">
                <a:solidFill>
                  <a:srgbClr val="FF0000"/>
                </a:solidFill>
              </a:rPr>
              <a:t>TOP</a:t>
            </a:r>
            <a:r>
              <a:rPr lang="zh-CN" altLang="en-US" sz="2000" b="1" dirty="0">
                <a:solidFill>
                  <a:srgbClr val="FF0000"/>
                </a:solidFill>
              </a:rPr>
              <a:t>（栈顶指针寄存器）</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19</a:t>
            </a:fld>
            <a:endParaRPr lang="zh-CN" altLang="en-US"/>
          </a:p>
        </p:txBody>
      </p:sp>
    </p:spTree>
    <p:extLst>
      <p:ext uri="{BB962C8B-B14F-4D97-AF65-F5344CB8AC3E}">
        <p14:creationId xmlns:p14="http://schemas.microsoft.com/office/powerpoint/2010/main" val="2400380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过程活动记录</a:t>
            </a:r>
          </a:p>
        </p:txBody>
      </p:sp>
      <p:sp>
        <p:nvSpPr>
          <p:cNvPr id="3" name="标题 2"/>
          <p:cNvSpPr>
            <a:spLocks noGrp="1"/>
          </p:cNvSpPr>
          <p:nvPr>
            <p:ph type="title"/>
          </p:nvPr>
        </p:nvSpPr>
        <p:spPr/>
        <p:txBody>
          <a:bodyPr/>
          <a:lstStyle/>
          <a:p>
            <a:r>
              <a:rPr lang="zh-CN" altLang="en-US" dirty="0"/>
              <a:t>二、活动记录</a:t>
            </a:r>
          </a:p>
        </p:txBody>
      </p:sp>
      <p:sp>
        <p:nvSpPr>
          <p:cNvPr id="4" name="Rectangle 8"/>
          <p:cNvSpPr>
            <a:spLocks noChangeArrowheads="1"/>
          </p:cNvSpPr>
          <p:nvPr/>
        </p:nvSpPr>
        <p:spPr bwMode="auto">
          <a:xfrm>
            <a:off x="671512" y="1447800"/>
            <a:ext cx="6057900" cy="519113"/>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a:solidFill>
                  <a:srgbClr val="800080"/>
                </a:solidFill>
                <a:latin typeface="楷体_GB2312" pitchFamily="49" charset="-122"/>
              </a:rPr>
              <a:t> </a:t>
            </a:r>
            <a:r>
              <a:rPr lang="zh-CN" altLang="en-US" sz="2800" b="1">
                <a:latin typeface="Times New Roman" pitchFamily="18" charset="0"/>
              </a:rPr>
              <a:t>过程活动记录</a:t>
            </a:r>
            <a:r>
              <a:rPr lang="zh-CN" altLang="en-US" sz="2800" b="1">
                <a:solidFill>
                  <a:srgbClr val="800080"/>
                </a:solidFill>
                <a:latin typeface="Times New Roman" pitchFamily="18" charset="0"/>
              </a:rPr>
              <a:t>举例</a:t>
            </a:r>
            <a:endParaRPr lang="zh-CN" altLang="en-US" b="1">
              <a:solidFill>
                <a:srgbClr val="800080"/>
              </a:solidFill>
            </a:endParaRPr>
          </a:p>
        </p:txBody>
      </p:sp>
      <p:sp>
        <p:nvSpPr>
          <p:cNvPr id="5" name="Line 24"/>
          <p:cNvSpPr>
            <a:spLocks noChangeShapeType="1"/>
          </p:cNvSpPr>
          <p:nvPr/>
        </p:nvSpPr>
        <p:spPr bwMode="auto">
          <a:xfrm>
            <a:off x="3886200" y="2950520"/>
            <a:ext cx="0" cy="2971800"/>
          </a:xfrm>
          <a:prstGeom prst="line">
            <a:avLst/>
          </a:prstGeom>
          <a:noFill/>
          <a:ln w="9525">
            <a:solidFill>
              <a:srgbClr val="800080"/>
            </a:solidFill>
            <a:round/>
            <a:headEnd/>
            <a:tailEnd/>
          </a:ln>
          <a:effectLst/>
        </p:spPr>
        <p:txBody>
          <a:bodyPr>
            <a:spAutoFit/>
          </a:bodyPr>
          <a:lstStyle/>
          <a:p>
            <a:endParaRPr lang="zh-CN" altLang="en-US"/>
          </a:p>
        </p:txBody>
      </p:sp>
      <p:sp>
        <p:nvSpPr>
          <p:cNvPr id="6" name="Line 25"/>
          <p:cNvSpPr>
            <a:spLocks noChangeShapeType="1"/>
          </p:cNvSpPr>
          <p:nvPr/>
        </p:nvSpPr>
        <p:spPr bwMode="auto">
          <a:xfrm>
            <a:off x="6477000" y="2950520"/>
            <a:ext cx="0" cy="2971800"/>
          </a:xfrm>
          <a:prstGeom prst="line">
            <a:avLst/>
          </a:prstGeom>
          <a:noFill/>
          <a:ln w="9525">
            <a:solidFill>
              <a:srgbClr val="800080"/>
            </a:solidFill>
            <a:round/>
            <a:headEnd/>
            <a:tailEnd/>
          </a:ln>
          <a:effectLst/>
        </p:spPr>
        <p:txBody>
          <a:bodyPr>
            <a:spAutoFit/>
          </a:bodyPr>
          <a:lstStyle/>
          <a:p>
            <a:endParaRPr lang="zh-CN" altLang="en-US"/>
          </a:p>
        </p:txBody>
      </p:sp>
      <p:sp>
        <p:nvSpPr>
          <p:cNvPr id="7" name="Line 26"/>
          <p:cNvSpPr>
            <a:spLocks noChangeShapeType="1"/>
          </p:cNvSpPr>
          <p:nvPr/>
        </p:nvSpPr>
        <p:spPr bwMode="auto">
          <a:xfrm>
            <a:off x="3886200" y="592232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8" name="Line 27"/>
          <p:cNvSpPr>
            <a:spLocks noChangeShapeType="1"/>
          </p:cNvSpPr>
          <p:nvPr/>
        </p:nvSpPr>
        <p:spPr bwMode="auto">
          <a:xfrm>
            <a:off x="3886200" y="516032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9" name="Rectangle 28"/>
          <p:cNvSpPr>
            <a:spLocks noChangeArrowheads="1"/>
          </p:cNvSpPr>
          <p:nvPr/>
        </p:nvSpPr>
        <p:spPr bwMode="auto">
          <a:xfrm>
            <a:off x="4468813" y="5312720"/>
            <a:ext cx="1409700" cy="457200"/>
          </a:xfrm>
          <a:prstGeom prst="rect">
            <a:avLst/>
          </a:prstGeom>
          <a:noFill/>
          <a:ln w="9525">
            <a:noFill/>
            <a:miter lim="800000"/>
            <a:headEnd/>
            <a:tailEnd/>
          </a:ln>
          <a:effectLst/>
        </p:spPr>
        <p:txBody>
          <a:bodyPr wrap="none">
            <a:spAutoFit/>
          </a:bodyPr>
          <a:lstStyle/>
          <a:p>
            <a:pPr algn="ctr">
              <a:buFont typeface="Wingdings" pitchFamily="2" charset="2"/>
              <a:buNone/>
            </a:pPr>
            <a:r>
              <a:rPr lang="zh-CN" altLang="en-US" b="1">
                <a:solidFill>
                  <a:srgbClr val="800080"/>
                </a:solidFill>
              </a:rPr>
              <a:t>控制信息</a:t>
            </a:r>
          </a:p>
        </p:txBody>
      </p:sp>
      <p:sp>
        <p:nvSpPr>
          <p:cNvPr id="10" name="Text Box 29"/>
          <p:cNvSpPr txBox="1">
            <a:spLocks noChangeArrowheads="1"/>
          </p:cNvSpPr>
          <p:nvPr/>
        </p:nvSpPr>
        <p:spPr bwMode="auto">
          <a:xfrm>
            <a:off x="1395412" y="2193925"/>
            <a:ext cx="2286000" cy="1616075"/>
          </a:xfrm>
          <a:prstGeom prst="rect">
            <a:avLst/>
          </a:prstGeom>
          <a:noFill/>
          <a:ln w="9525">
            <a:noFill/>
            <a:miter lim="800000"/>
            <a:headEnd/>
            <a:tailEnd/>
          </a:ln>
          <a:effectLst/>
        </p:spPr>
        <p:txBody>
          <a:bodyPr>
            <a:spAutoFit/>
          </a:bodyPr>
          <a:lstStyle/>
          <a:p>
            <a:pPr>
              <a:buFont typeface="Wingdings" pitchFamily="2" charset="2"/>
              <a:buNone/>
            </a:pPr>
            <a:r>
              <a:rPr kumimoji="0" lang="en-US" altLang="zh-CN" sz="2000" dirty="0"/>
              <a:t>void p( </a:t>
            </a:r>
            <a:r>
              <a:rPr kumimoji="0" lang="en-US" altLang="zh-CN" sz="2000" dirty="0" err="1"/>
              <a:t>int</a:t>
            </a:r>
            <a:r>
              <a:rPr kumimoji="0" lang="en-US" altLang="zh-CN" sz="2000" dirty="0"/>
              <a:t> a)  {  </a:t>
            </a:r>
          </a:p>
          <a:p>
            <a:pPr>
              <a:buFont typeface="Wingdings" pitchFamily="2" charset="2"/>
              <a:buNone/>
            </a:pPr>
            <a:r>
              <a:rPr kumimoji="0" lang="en-US" altLang="zh-CN" sz="2000" dirty="0"/>
              <a:t>   float b;</a:t>
            </a:r>
          </a:p>
          <a:p>
            <a:pPr>
              <a:buFont typeface="Wingdings" pitchFamily="2" charset="2"/>
              <a:buNone/>
            </a:pPr>
            <a:r>
              <a:rPr kumimoji="0" lang="en-US" altLang="zh-CN" sz="2000" dirty="0"/>
              <a:t>   float c[10];</a:t>
            </a:r>
          </a:p>
          <a:p>
            <a:pPr>
              <a:buFont typeface="Wingdings" pitchFamily="2" charset="2"/>
              <a:buNone/>
            </a:pPr>
            <a:r>
              <a:rPr kumimoji="0" lang="en-US" altLang="zh-CN" sz="2000" dirty="0"/>
              <a:t>   b=c[a];</a:t>
            </a:r>
          </a:p>
          <a:p>
            <a:pPr>
              <a:buFont typeface="Wingdings" pitchFamily="2" charset="2"/>
              <a:buNone/>
            </a:pPr>
            <a:r>
              <a:rPr kumimoji="0" lang="en-US" altLang="zh-CN" sz="2000" dirty="0"/>
              <a:t>} </a:t>
            </a:r>
          </a:p>
        </p:txBody>
      </p:sp>
      <p:sp>
        <p:nvSpPr>
          <p:cNvPr id="11" name="Line 30"/>
          <p:cNvSpPr>
            <a:spLocks noChangeShapeType="1"/>
          </p:cNvSpPr>
          <p:nvPr/>
        </p:nvSpPr>
        <p:spPr bwMode="auto">
          <a:xfrm>
            <a:off x="3886200" y="455072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2" name="Rectangle 31"/>
          <p:cNvSpPr>
            <a:spLocks noChangeArrowheads="1"/>
          </p:cNvSpPr>
          <p:nvPr/>
        </p:nvSpPr>
        <p:spPr bwMode="auto">
          <a:xfrm>
            <a:off x="3938588" y="4626920"/>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dirty="0">
                <a:solidFill>
                  <a:srgbClr val="800080"/>
                </a:solidFill>
              </a:rPr>
              <a:t>a</a:t>
            </a:r>
            <a:endParaRPr lang="en-US" altLang="zh-CN" b="1" dirty="0">
              <a:solidFill>
                <a:srgbClr val="800080"/>
              </a:solidFill>
            </a:endParaRPr>
          </a:p>
        </p:txBody>
      </p:sp>
      <p:sp>
        <p:nvSpPr>
          <p:cNvPr id="13" name="Line 32"/>
          <p:cNvSpPr>
            <a:spLocks noChangeShapeType="1"/>
          </p:cNvSpPr>
          <p:nvPr/>
        </p:nvSpPr>
        <p:spPr bwMode="auto">
          <a:xfrm>
            <a:off x="3886200" y="394112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4" name="Rectangle 33"/>
          <p:cNvSpPr>
            <a:spLocks noChangeArrowheads="1"/>
          </p:cNvSpPr>
          <p:nvPr/>
        </p:nvSpPr>
        <p:spPr bwMode="auto">
          <a:xfrm>
            <a:off x="3886200" y="4017320"/>
            <a:ext cx="2514600"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dirty="0">
                <a:solidFill>
                  <a:srgbClr val="800080"/>
                </a:solidFill>
              </a:rPr>
              <a:t>b</a:t>
            </a:r>
            <a:endParaRPr lang="en-US" altLang="zh-CN" b="1" dirty="0">
              <a:solidFill>
                <a:srgbClr val="800080"/>
              </a:solidFill>
            </a:endParaRPr>
          </a:p>
        </p:txBody>
      </p:sp>
      <p:sp>
        <p:nvSpPr>
          <p:cNvPr id="15" name="Line 34"/>
          <p:cNvSpPr>
            <a:spLocks noChangeShapeType="1"/>
          </p:cNvSpPr>
          <p:nvPr/>
        </p:nvSpPr>
        <p:spPr bwMode="auto">
          <a:xfrm>
            <a:off x="3886200" y="333152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6" name="Rectangle 35"/>
          <p:cNvSpPr>
            <a:spLocks noChangeArrowheads="1"/>
          </p:cNvSpPr>
          <p:nvPr/>
        </p:nvSpPr>
        <p:spPr bwMode="auto">
          <a:xfrm>
            <a:off x="3938588" y="3407720"/>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dirty="0">
                <a:solidFill>
                  <a:srgbClr val="800080"/>
                </a:solidFill>
              </a:rPr>
              <a:t>c</a:t>
            </a:r>
            <a:endParaRPr lang="en-US" altLang="zh-CN" b="1" dirty="0">
              <a:solidFill>
                <a:srgbClr val="800080"/>
              </a:solidFill>
            </a:endParaRPr>
          </a:p>
        </p:txBody>
      </p:sp>
      <p:sp>
        <p:nvSpPr>
          <p:cNvPr id="17" name="Rectangle 36"/>
          <p:cNvSpPr>
            <a:spLocks noChangeArrowheads="1"/>
          </p:cNvSpPr>
          <p:nvPr/>
        </p:nvSpPr>
        <p:spPr bwMode="auto">
          <a:xfrm>
            <a:off x="4121425" y="2340920"/>
            <a:ext cx="2044149" cy="369332"/>
          </a:xfrm>
          <a:prstGeom prst="rect">
            <a:avLst/>
          </a:prstGeom>
          <a:noFill/>
          <a:ln w="9525">
            <a:noFill/>
            <a:miter lim="800000"/>
            <a:headEnd/>
            <a:tailEnd/>
          </a:ln>
          <a:effectLst/>
        </p:spPr>
        <p:txBody>
          <a:bodyPr wrap="none">
            <a:spAutoFit/>
          </a:bodyPr>
          <a:lstStyle/>
          <a:p>
            <a:pPr>
              <a:buFont typeface="Wingdings" pitchFamily="2" charset="2"/>
              <a:buNone/>
            </a:pPr>
            <a:r>
              <a:rPr lang="zh-CN" altLang="en-US" b="1" dirty="0">
                <a:solidFill>
                  <a:srgbClr val="FF0000"/>
                </a:solidFill>
                <a:latin typeface="Times New Roman" pitchFamily="18" charset="0"/>
              </a:rPr>
              <a:t>函数 </a:t>
            </a:r>
            <a:r>
              <a:rPr lang="en-US" altLang="zh-CN" dirty="0">
                <a:solidFill>
                  <a:srgbClr val="FF0000"/>
                </a:solidFill>
              </a:rPr>
              <a:t>p </a:t>
            </a:r>
            <a:r>
              <a:rPr lang="zh-CN" altLang="en-US" b="1" dirty="0">
                <a:solidFill>
                  <a:srgbClr val="FF0000"/>
                </a:solidFill>
                <a:latin typeface="Times New Roman" pitchFamily="18" charset="0"/>
              </a:rPr>
              <a:t>的活动记录</a:t>
            </a:r>
          </a:p>
        </p:txBody>
      </p:sp>
      <p:sp>
        <p:nvSpPr>
          <p:cNvPr id="18" name="Rectangle 37"/>
          <p:cNvSpPr>
            <a:spLocks noChangeArrowheads="1"/>
          </p:cNvSpPr>
          <p:nvPr/>
        </p:nvSpPr>
        <p:spPr bwMode="auto">
          <a:xfrm>
            <a:off x="7010400" y="5541320"/>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0</a:t>
            </a:r>
          </a:p>
        </p:txBody>
      </p:sp>
      <p:sp>
        <p:nvSpPr>
          <p:cNvPr id="19" name="Line 38"/>
          <p:cNvSpPr>
            <a:spLocks noChangeShapeType="1"/>
          </p:cNvSpPr>
          <p:nvPr/>
        </p:nvSpPr>
        <p:spPr bwMode="auto">
          <a:xfrm flipH="1">
            <a:off x="6477000" y="5769920"/>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0" name="Rectangle 39"/>
          <p:cNvSpPr>
            <a:spLocks noChangeArrowheads="1"/>
          </p:cNvSpPr>
          <p:nvPr/>
        </p:nvSpPr>
        <p:spPr bwMode="auto">
          <a:xfrm>
            <a:off x="7010400" y="4839645"/>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dirty="0"/>
              <a:t>Offset = 3</a:t>
            </a:r>
          </a:p>
        </p:txBody>
      </p:sp>
      <p:sp>
        <p:nvSpPr>
          <p:cNvPr id="21" name="Line 40"/>
          <p:cNvSpPr>
            <a:spLocks noChangeShapeType="1"/>
          </p:cNvSpPr>
          <p:nvPr/>
        </p:nvSpPr>
        <p:spPr bwMode="auto">
          <a:xfrm flipH="1">
            <a:off x="6477000" y="5068245"/>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2" name="Rectangle 41"/>
          <p:cNvSpPr>
            <a:spLocks noChangeArrowheads="1"/>
          </p:cNvSpPr>
          <p:nvPr/>
        </p:nvSpPr>
        <p:spPr bwMode="auto">
          <a:xfrm>
            <a:off x="7010400" y="4245920"/>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4</a:t>
            </a:r>
          </a:p>
        </p:txBody>
      </p:sp>
      <p:sp>
        <p:nvSpPr>
          <p:cNvPr id="23" name="Line 42"/>
          <p:cNvSpPr>
            <a:spLocks noChangeShapeType="1"/>
          </p:cNvSpPr>
          <p:nvPr/>
        </p:nvSpPr>
        <p:spPr bwMode="auto">
          <a:xfrm flipH="1">
            <a:off x="6477000" y="4474520"/>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4" name="Rectangle 43"/>
          <p:cNvSpPr>
            <a:spLocks noChangeArrowheads="1"/>
          </p:cNvSpPr>
          <p:nvPr/>
        </p:nvSpPr>
        <p:spPr bwMode="auto">
          <a:xfrm>
            <a:off x="7010400" y="3636320"/>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6</a:t>
            </a:r>
          </a:p>
        </p:txBody>
      </p:sp>
      <p:sp>
        <p:nvSpPr>
          <p:cNvPr id="25" name="Line 44"/>
          <p:cNvSpPr>
            <a:spLocks noChangeShapeType="1"/>
          </p:cNvSpPr>
          <p:nvPr/>
        </p:nvSpPr>
        <p:spPr bwMode="auto">
          <a:xfrm flipH="1">
            <a:off x="6477000" y="3864920"/>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6" name="Rectangle 45"/>
          <p:cNvSpPr>
            <a:spLocks noChangeArrowheads="1"/>
          </p:cNvSpPr>
          <p:nvPr/>
        </p:nvSpPr>
        <p:spPr bwMode="auto">
          <a:xfrm>
            <a:off x="7086600" y="3026720"/>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26</a:t>
            </a:r>
          </a:p>
        </p:txBody>
      </p:sp>
      <p:sp>
        <p:nvSpPr>
          <p:cNvPr id="27" name="Line 46"/>
          <p:cNvSpPr>
            <a:spLocks noChangeShapeType="1"/>
          </p:cNvSpPr>
          <p:nvPr/>
        </p:nvSpPr>
        <p:spPr bwMode="auto">
          <a:xfrm flipH="1">
            <a:off x="6477000" y="3255320"/>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8" name="Text Box 29"/>
          <p:cNvSpPr txBox="1">
            <a:spLocks noChangeArrowheads="1"/>
          </p:cNvSpPr>
          <p:nvPr/>
        </p:nvSpPr>
        <p:spPr bwMode="auto">
          <a:xfrm>
            <a:off x="518984" y="4626235"/>
            <a:ext cx="2931768" cy="1938992"/>
          </a:xfrm>
          <a:prstGeom prst="rect">
            <a:avLst/>
          </a:prstGeom>
          <a:noFill/>
          <a:ln w="9525">
            <a:noFill/>
            <a:miter lim="800000"/>
            <a:headEnd/>
            <a:tailEnd/>
          </a:ln>
          <a:effectLst/>
        </p:spPr>
        <p:txBody>
          <a:bodyPr wrap="square">
            <a:spAutoFit/>
          </a:bodyPr>
          <a:lstStyle/>
          <a:p>
            <a:pPr>
              <a:buFont typeface="Wingdings" pitchFamily="2" charset="2"/>
              <a:buNone/>
            </a:pPr>
            <a:r>
              <a:rPr lang="zh-CN" altLang="en-US" sz="2000" dirty="0">
                <a:solidFill>
                  <a:srgbClr val="0000CC"/>
                </a:solidFill>
              </a:rPr>
              <a:t>控制信息：</a:t>
            </a:r>
            <a:r>
              <a:rPr lang="en-US" altLang="zh-CN" sz="2000" dirty="0">
                <a:solidFill>
                  <a:srgbClr val="0000CC"/>
                </a:solidFill>
              </a:rPr>
              <a:t>3</a:t>
            </a:r>
            <a:r>
              <a:rPr lang="zh-CN" altLang="en-US" sz="2000" dirty="0">
                <a:solidFill>
                  <a:srgbClr val="0000CC"/>
                </a:solidFill>
              </a:rPr>
              <a:t>个单元</a:t>
            </a:r>
            <a:endParaRPr lang="en-US" altLang="zh-CN" sz="2000" dirty="0">
              <a:solidFill>
                <a:srgbClr val="0000CC"/>
              </a:solidFill>
            </a:endParaRPr>
          </a:p>
          <a:p>
            <a:pPr>
              <a:buFont typeface="Wingdings" pitchFamily="2" charset="2"/>
              <a:buNone/>
            </a:pPr>
            <a:r>
              <a:rPr lang="en-US" altLang="zh-CN" sz="2000" dirty="0" err="1">
                <a:solidFill>
                  <a:srgbClr val="0000CC"/>
                </a:solidFill>
              </a:rPr>
              <a:t>int</a:t>
            </a:r>
            <a:r>
              <a:rPr lang="zh-CN" altLang="en-US" sz="2000" dirty="0">
                <a:solidFill>
                  <a:srgbClr val="0000CC"/>
                </a:solidFill>
              </a:rPr>
              <a:t>型：</a:t>
            </a:r>
            <a:r>
              <a:rPr lang="en-US" altLang="zh-CN" sz="2000" dirty="0">
                <a:solidFill>
                  <a:srgbClr val="0000CC"/>
                </a:solidFill>
              </a:rPr>
              <a:t>1</a:t>
            </a:r>
            <a:r>
              <a:rPr lang="zh-CN" altLang="en-US" sz="2000" dirty="0">
                <a:solidFill>
                  <a:srgbClr val="0000CC"/>
                </a:solidFill>
              </a:rPr>
              <a:t>个单元</a:t>
            </a:r>
            <a:endParaRPr lang="en-US" altLang="zh-CN" sz="2000" dirty="0">
              <a:solidFill>
                <a:srgbClr val="0000CC"/>
              </a:solidFill>
            </a:endParaRPr>
          </a:p>
          <a:p>
            <a:pPr>
              <a:buFont typeface="Wingdings" pitchFamily="2" charset="2"/>
              <a:buNone/>
            </a:pPr>
            <a:r>
              <a:rPr lang="en-US" altLang="zh-CN" sz="2000" dirty="0">
                <a:solidFill>
                  <a:srgbClr val="0000CC"/>
                </a:solidFill>
              </a:rPr>
              <a:t>Float</a:t>
            </a:r>
            <a:r>
              <a:rPr lang="zh-CN" altLang="en-US" sz="2000" dirty="0">
                <a:solidFill>
                  <a:srgbClr val="0000CC"/>
                </a:solidFill>
              </a:rPr>
              <a:t>型：</a:t>
            </a:r>
            <a:r>
              <a:rPr lang="en-US" altLang="zh-CN" sz="2000" dirty="0">
                <a:solidFill>
                  <a:srgbClr val="0000CC"/>
                </a:solidFill>
              </a:rPr>
              <a:t>2</a:t>
            </a:r>
            <a:r>
              <a:rPr lang="zh-CN" altLang="en-US" sz="2000" dirty="0">
                <a:solidFill>
                  <a:srgbClr val="0000CC"/>
                </a:solidFill>
              </a:rPr>
              <a:t>个单元</a:t>
            </a:r>
            <a:endParaRPr lang="en-US" altLang="zh-CN" sz="2000" dirty="0">
              <a:solidFill>
                <a:srgbClr val="0000CC"/>
              </a:solidFill>
            </a:endParaRPr>
          </a:p>
          <a:p>
            <a:pPr>
              <a:buFont typeface="Wingdings" pitchFamily="2" charset="2"/>
              <a:buNone/>
            </a:pPr>
            <a:r>
              <a:rPr lang="zh-CN" altLang="en-US" sz="2000" dirty="0">
                <a:solidFill>
                  <a:srgbClr val="0000CC"/>
                </a:solidFill>
              </a:rPr>
              <a:t>数组：</a:t>
            </a:r>
            <a:r>
              <a:rPr lang="en-US" altLang="zh-CN" sz="2000" dirty="0">
                <a:solidFill>
                  <a:srgbClr val="0000CC"/>
                </a:solidFill>
              </a:rPr>
              <a:t>20</a:t>
            </a:r>
            <a:r>
              <a:rPr lang="zh-CN" altLang="en-US" sz="2000" dirty="0">
                <a:solidFill>
                  <a:srgbClr val="0000CC"/>
                </a:solidFill>
              </a:rPr>
              <a:t>个单元</a:t>
            </a:r>
            <a:endParaRPr lang="en-US" altLang="zh-CN" sz="2000" dirty="0">
              <a:solidFill>
                <a:srgbClr val="0000CC"/>
              </a:solidFill>
            </a:endParaRPr>
          </a:p>
          <a:p>
            <a:pPr>
              <a:buFont typeface="Wingdings" pitchFamily="2" charset="2"/>
              <a:buNone/>
            </a:pPr>
            <a:r>
              <a:rPr lang="en-US" altLang="zh-CN" sz="2000" dirty="0">
                <a:solidFill>
                  <a:srgbClr val="0000CC"/>
                </a:solidFill>
              </a:rPr>
              <a:t>Offset</a:t>
            </a:r>
            <a:r>
              <a:rPr lang="zh-CN" altLang="en-US" sz="2000" dirty="0">
                <a:solidFill>
                  <a:srgbClr val="0000CC"/>
                </a:solidFill>
              </a:rPr>
              <a:t>：偏移地址</a:t>
            </a:r>
            <a:endParaRPr lang="en-US" altLang="zh-CN" sz="2000" dirty="0">
              <a:solidFill>
                <a:srgbClr val="0000CC"/>
              </a:solidFill>
            </a:endParaRPr>
          </a:p>
          <a:p>
            <a:pPr>
              <a:buFont typeface="Wingdings" pitchFamily="2" charset="2"/>
              <a:buNone/>
            </a:pPr>
            <a:endParaRPr kumimoji="0" lang="en-US" altLang="zh-CN" sz="2000" dirty="0">
              <a:solidFill>
                <a:srgbClr val="0000CC"/>
              </a:solidFill>
            </a:endParaRPr>
          </a:p>
        </p:txBody>
      </p:sp>
      <p:sp>
        <p:nvSpPr>
          <p:cNvPr id="29" name="灯片编号占位符 28"/>
          <p:cNvSpPr>
            <a:spLocks noGrp="1"/>
          </p:cNvSpPr>
          <p:nvPr>
            <p:ph type="sldNum" sz="quarter" idx="4"/>
          </p:nvPr>
        </p:nvSpPr>
        <p:spPr/>
        <p:txBody>
          <a:bodyPr/>
          <a:lstStyle/>
          <a:p>
            <a:fld id="{565CE74E-AB26-4998-AD42-012C4C1AD076}" type="slidenum">
              <a:rPr lang="zh-CN" altLang="en-US" smtClean="0"/>
              <a:t>20</a:t>
            </a:fld>
            <a:endParaRPr lang="zh-CN" altLang="en-US"/>
          </a:p>
        </p:txBody>
      </p:sp>
    </p:spTree>
    <p:extLst>
      <p:ext uri="{BB962C8B-B14F-4D97-AF65-F5344CB8AC3E}">
        <p14:creationId xmlns:p14="http://schemas.microsoft.com/office/powerpoint/2010/main" val="511614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过程活动记录</a:t>
            </a:r>
          </a:p>
        </p:txBody>
      </p:sp>
      <p:sp>
        <p:nvSpPr>
          <p:cNvPr id="3" name="标题 2"/>
          <p:cNvSpPr>
            <a:spLocks noGrp="1"/>
          </p:cNvSpPr>
          <p:nvPr>
            <p:ph type="title"/>
          </p:nvPr>
        </p:nvSpPr>
        <p:spPr/>
        <p:txBody>
          <a:bodyPr/>
          <a:lstStyle/>
          <a:p>
            <a:r>
              <a:rPr lang="zh-CN" altLang="en-US" dirty="0"/>
              <a:t>二、活动记录</a:t>
            </a:r>
          </a:p>
        </p:txBody>
      </p:sp>
      <p:sp>
        <p:nvSpPr>
          <p:cNvPr id="4" name="Rectangle 4"/>
          <p:cNvSpPr>
            <a:spLocks noChangeArrowheads="1"/>
          </p:cNvSpPr>
          <p:nvPr/>
        </p:nvSpPr>
        <p:spPr bwMode="auto">
          <a:xfrm>
            <a:off x="316514" y="4683462"/>
            <a:ext cx="3848100" cy="2031325"/>
          </a:xfrm>
          <a:prstGeom prst="rect">
            <a:avLst/>
          </a:prstGeom>
          <a:noFill/>
          <a:ln w="9525">
            <a:noFill/>
            <a:miter lim="800000"/>
            <a:headEnd/>
            <a:tailEnd/>
          </a:ln>
          <a:effectLst/>
        </p:spPr>
        <p:txBody>
          <a:bodyPr>
            <a:spAutoFit/>
          </a:bodyPr>
          <a:lstStyle/>
          <a:p>
            <a:pPr>
              <a:buClrTx/>
            </a:pPr>
            <a:r>
              <a:rPr lang="zh-CN" altLang="en-US" b="1" dirty="0">
                <a:solidFill>
                  <a:srgbClr val="800080"/>
                </a:solidFill>
              </a:rPr>
              <a:t>补充</a:t>
            </a:r>
            <a:endParaRPr lang="en-US" altLang="zh-CN" b="1" dirty="0">
              <a:solidFill>
                <a:srgbClr val="800080"/>
              </a:solidFill>
            </a:endParaRPr>
          </a:p>
          <a:p>
            <a:pPr>
              <a:buClrTx/>
            </a:pPr>
            <a:r>
              <a:rPr lang="zh-CN" altLang="en-US" b="1" dirty="0">
                <a:solidFill>
                  <a:srgbClr val="800080"/>
                </a:solidFill>
              </a:rPr>
              <a:t>内情向量：一遍编译程序对于数组说明的处理是把数组的有关信息汇集在一个叫做“内情向量”的表格中。其中信息包括：数组类型、维数、各维的上下界，以及数组的首地址。</a:t>
            </a:r>
          </a:p>
        </p:txBody>
      </p:sp>
      <p:sp>
        <p:nvSpPr>
          <p:cNvPr id="5" name="Line 9"/>
          <p:cNvSpPr>
            <a:spLocks noChangeShapeType="1"/>
          </p:cNvSpPr>
          <p:nvPr/>
        </p:nvSpPr>
        <p:spPr bwMode="auto">
          <a:xfrm>
            <a:off x="4267200" y="1752600"/>
            <a:ext cx="0" cy="4708525"/>
          </a:xfrm>
          <a:prstGeom prst="line">
            <a:avLst/>
          </a:prstGeom>
          <a:noFill/>
          <a:ln w="9525">
            <a:solidFill>
              <a:srgbClr val="800080"/>
            </a:solidFill>
            <a:round/>
            <a:headEnd/>
            <a:tailEnd/>
          </a:ln>
          <a:effectLst/>
        </p:spPr>
        <p:txBody>
          <a:bodyPr>
            <a:spAutoFit/>
          </a:bodyPr>
          <a:lstStyle/>
          <a:p>
            <a:endParaRPr lang="zh-CN" altLang="en-US"/>
          </a:p>
        </p:txBody>
      </p:sp>
      <p:sp>
        <p:nvSpPr>
          <p:cNvPr id="6" name="Line 10"/>
          <p:cNvSpPr>
            <a:spLocks noChangeShapeType="1"/>
          </p:cNvSpPr>
          <p:nvPr/>
        </p:nvSpPr>
        <p:spPr bwMode="auto">
          <a:xfrm>
            <a:off x="6858000" y="1752600"/>
            <a:ext cx="0" cy="4708525"/>
          </a:xfrm>
          <a:prstGeom prst="line">
            <a:avLst/>
          </a:prstGeom>
          <a:noFill/>
          <a:ln w="9525">
            <a:solidFill>
              <a:srgbClr val="800080"/>
            </a:solidFill>
            <a:round/>
            <a:headEnd/>
            <a:tailEnd/>
          </a:ln>
          <a:effectLst/>
        </p:spPr>
        <p:txBody>
          <a:bodyPr>
            <a:spAutoFit/>
          </a:bodyPr>
          <a:lstStyle/>
          <a:p>
            <a:endParaRPr lang="zh-CN" altLang="en-US"/>
          </a:p>
        </p:txBody>
      </p:sp>
      <p:sp>
        <p:nvSpPr>
          <p:cNvPr id="7" name="Line 11"/>
          <p:cNvSpPr>
            <a:spLocks noChangeShapeType="1"/>
          </p:cNvSpPr>
          <p:nvPr/>
        </p:nvSpPr>
        <p:spPr bwMode="auto">
          <a:xfrm>
            <a:off x="4267200" y="6461125"/>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8" name="Line 12"/>
          <p:cNvSpPr>
            <a:spLocks noChangeShapeType="1"/>
          </p:cNvSpPr>
          <p:nvPr/>
        </p:nvSpPr>
        <p:spPr bwMode="auto">
          <a:xfrm>
            <a:off x="4267200" y="5699125"/>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9" name="Rectangle 13"/>
          <p:cNvSpPr>
            <a:spLocks noChangeArrowheads="1"/>
          </p:cNvSpPr>
          <p:nvPr/>
        </p:nvSpPr>
        <p:spPr bwMode="auto">
          <a:xfrm>
            <a:off x="4849813" y="5851525"/>
            <a:ext cx="1409700" cy="457200"/>
          </a:xfrm>
          <a:prstGeom prst="rect">
            <a:avLst/>
          </a:prstGeom>
          <a:noFill/>
          <a:ln w="9525">
            <a:noFill/>
            <a:miter lim="800000"/>
            <a:headEnd/>
            <a:tailEnd/>
          </a:ln>
          <a:effectLst/>
        </p:spPr>
        <p:txBody>
          <a:bodyPr wrap="none">
            <a:spAutoFit/>
          </a:bodyPr>
          <a:lstStyle/>
          <a:p>
            <a:pPr algn="ctr">
              <a:buFont typeface="Wingdings" pitchFamily="2" charset="2"/>
              <a:buNone/>
            </a:pPr>
            <a:r>
              <a:rPr lang="zh-CN" altLang="en-US" b="1">
                <a:solidFill>
                  <a:srgbClr val="800080"/>
                </a:solidFill>
              </a:rPr>
              <a:t>控制信息</a:t>
            </a:r>
          </a:p>
        </p:txBody>
      </p:sp>
      <p:sp>
        <p:nvSpPr>
          <p:cNvPr id="10" name="Text Box 14"/>
          <p:cNvSpPr txBox="1">
            <a:spLocks noChangeArrowheads="1"/>
          </p:cNvSpPr>
          <p:nvPr/>
        </p:nvSpPr>
        <p:spPr bwMode="auto">
          <a:xfrm>
            <a:off x="1252538" y="1341909"/>
            <a:ext cx="2286000" cy="2554545"/>
          </a:xfrm>
          <a:prstGeom prst="rect">
            <a:avLst/>
          </a:prstGeom>
          <a:noFill/>
          <a:ln w="9525">
            <a:noFill/>
            <a:miter lim="800000"/>
            <a:headEnd/>
            <a:tailEnd/>
          </a:ln>
          <a:effectLst/>
        </p:spPr>
        <p:txBody>
          <a:bodyPr>
            <a:spAutoFit/>
          </a:bodyPr>
          <a:lstStyle/>
          <a:p>
            <a:pPr>
              <a:buFont typeface="Wingdings" pitchFamily="2" charset="2"/>
              <a:buNone/>
            </a:pPr>
            <a:r>
              <a:rPr kumimoji="0" lang="en-US" altLang="zh-CN" sz="2000" dirty="0"/>
              <a:t>static </a:t>
            </a:r>
            <a:r>
              <a:rPr kumimoji="0" lang="en-US" altLang="zh-CN" sz="2000" dirty="0" err="1"/>
              <a:t>int</a:t>
            </a:r>
            <a:r>
              <a:rPr kumimoji="0" lang="en-US" altLang="zh-CN" sz="2000" dirty="0"/>
              <a:t> N</a:t>
            </a:r>
            <a:r>
              <a:rPr kumimoji="0" lang="zh-CN" altLang="en-US" sz="2000" dirty="0"/>
              <a:t>；</a:t>
            </a:r>
          </a:p>
          <a:p>
            <a:pPr>
              <a:buFont typeface="Wingdings" pitchFamily="2" charset="2"/>
              <a:buNone/>
            </a:pPr>
            <a:r>
              <a:rPr kumimoji="0" lang="en-US" altLang="zh-CN" sz="2000" dirty="0"/>
              <a:t>void p( </a:t>
            </a:r>
            <a:r>
              <a:rPr kumimoji="0" lang="en-US" altLang="zh-CN" sz="2000" dirty="0" err="1"/>
              <a:t>int</a:t>
            </a:r>
            <a:r>
              <a:rPr kumimoji="0" lang="en-US" altLang="zh-CN" sz="2000" dirty="0"/>
              <a:t> a)  {  </a:t>
            </a:r>
          </a:p>
          <a:p>
            <a:pPr>
              <a:buFont typeface="Wingdings" pitchFamily="2" charset="2"/>
              <a:buNone/>
            </a:pPr>
            <a:r>
              <a:rPr kumimoji="0" lang="en-US" altLang="zh-CN" sz="2000" dirty="0"/>
              <a:t>   float b;</a:t>
            </a:r>
          </a:p>
          <a:p>
            <a:pPr>
              <a:buFont typeface="Wingdings" pitchFamily="2" charset="2"/>
              <a:buNone/>
            </a:pPr>
            <a:r>
              <a:rPr kumimoji="0" lang="en-US" altLang="zh-CN" sz="2000" dirty="0"/>
              <a:t>   float c[10];</a:t>
            </a:r>
          </a:p>
          <a:p>
            <a:pPr>
              <a:buFont typeface="Wingdings" pitchFamily="2" charset="2"/>
              <a:buNone/>
            </a:pPr>
            <a:r>
              <a:rPr kumimoji="0" lang="en-US" altLang="zh-CN" sz="2000" dirty="0"/>
              <a:t>   float d[N];</a:t>
            </a:r>
          </a:p>
          <a:p>
            <a:pPr>
              <a:buFont typeface="Wingdings" pitchFamily="2" charset="2"/>
              <a:buNone/>
            </a:pPr>
            <a:r>
              <a:rPr kumimoji="0" lang="en-US" altLang="zh-CN" sz="2000" dirty="0"/>
              <a:t>   float e;</a:t>
            </a:r>
          </a:p>
          <a:p>
            <a:pPr>
              <a:buFont typeface="Wingdings" pitchFamily="2" charset="2"/>
              <a:buNone/>
            </a:pPr>
            <a:r>
              <a:rPr kumimoji="0" lang="en-US" altLang="zh-CN" sz="2000" dirty="0"/>
              <a:t>   …</a:t>
            </a:r>
          </a:p>
          <a:p>
            <a:pPr>
              <a:buFont typeface="Wingdings" pitchFamily="2" charset="2"/>
              <a:buNone/>
            </a:pPr>
            <a:r>
              <a:rPr kumimoji="0" lang="en-US" altLang="zh-CN" sz="2000" dirty="0"/>
              <a:t>} </a:t>
            </a:r>
          </a:p>
        </p:txBody>
      </p:sp>
      <p:sp>
        <p:nvSpPr>
          <p:cNvPr id="11" name="Line 15"/>
          <p:cNvSpPr>
            <a:spLocks noChangeShapeType="1"/>
          </p:cNvSpPr>
          <p:nvPr/>
        </p:nvSpPr>
        <p:spPr bwMode="auto">
          <a:xfrm>
            <a:off x="4267200" y="51816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2" name="Rectangle 16"/>
          <p:cNvSpPr>
            <a:spLocks noChangeArrowheads="1"/>
          </p:cNvSpPr>
          <p:nvPr/>
        </p:nvSpPr>
        <p:spPr bwMode="auto">
          <a:xfrm>
            <a:off x="4319588" y="5181600"/>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dirty="0">
                <a:solidFill>
                  <a:srgbClr val="800080"/>
                </a:solidFill>
              </a:rPr>
              <a:t>a</a:t>
            </a:r>
            <a:endParaRPr lang="en-US" altLang="zh-CN" b="1" dirty="0">
              <a:solidFill>
                <a:srgbClr val="800080"/>
              </a:solidFill>
            </a:endParaRPr>
          </a:p>
        </p:txBody>
      </p:sp>
      <p:sp>
        <p:nvSpPr>
          <p:cNvPr id="13" name="Line 17"/>
          <p:cNvSpPr>
            <a:spLocks noChangeShapeType="1"/>
          </p:cNvSpPr>
          <p:nvPr/>
        </p:nvSpPr>
        <p:spPr bwMode="auto">
          <a:xfrm>
            <a:off x="4267200" y="46482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4" name="Rectangle 18"/>
          <p:cNvSpPr>
            <a:spLocks noChangeArrowheads="1"/>
          </p:cNvSpPr>
          <p:nvPr/>
        </p:nvSpPr>
        <p:spPr bwMode="auto">
          <a:xfrm>
            <a:off x="4343400" y="4648200"/>
            <a:ext cx="2514600"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a:solidFill>
                  <a:srgbClr val="800080"/>
                </a:solidFill>
              </a:rPr>
              <a:t>b</a:t>
            </a:r>
            <a:endParaRPr lang="en-US" altLang="zh-CN" b="1">
              <a:solidFill>
                <a:srgbClr val="800080"/>
              </a:solidFill>
            </a:endParaRPr>
          </a:p>
        </p:txBody>
      </p:sp>
      <p:sp>
        <p:nvSpPr>
          <p:cNvPr id="15" name="Line 19"/>
          <p:cNvSpPr>
            <a:spLocks noChangeShapeType="1"/>
          </p:cNvSpPr>
          <p:nvPr/>
        </p:nvSpPr>
        <p:spPr bwMode="auto">
          <a:xfrm>
            <a:off x="4267200" y="41148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6" name="Rectangle 20"/>
          <p:cNvSpPr>
            <a:spLocks noChangeArrowheads="1"/>
          </p:cNvSpPr>
          <p:nvPr/>
        </p:nvSpPr>
        <p:spPr bwMode="auto">
          <a:xfrm>
            <a:off x="4319588" y="4114800"/>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a:solidFill>
                  <a:srgbClr val="800080"/>
                </a:solidFill>
              </a:rPr>
              <a:t>c</a:t>
            </a:r>
            <a:endParaRPr lang="en-US" altLang="zh-CN" b="1">
              <a:solidFill>
                <a:srgbClr val="800080"/>
              </a:solidFill>
            </a:endParaRPr>
          </a:p>
        </p:txBody>
      </p:sp>
      <p:sp>
        <p:nvSpPr>
          <p:cNvPr id="17" name="Rectangle 21"/>
          <p:cNvSpPr>
            <a:spLocks noChangeArrowheads="1"/>
          </p:cNvSpPr>
          <p:nvPr/>
        </p:nvSpPr>
        <p:spPr bwMode="auto">
          <a:xfrm>
            <a:off x="4191000" y="1219200"/>
            <a:ext cx="2659063" cy="457200"/>
          </a:xfrm>
          <a:prstGeom prst="rect">
            <a:avLst/>
          </a:prstGeom>
          <a:noFill/>
          <a:ln w="9525">
            <a:noFill/>
            <a:miter lim="800000"/>
            <a:headEnd/>
            <a:tailEnd/>
          </a:ln>
          <a:effectLst/>
        </p:spPr>
        <p:txBody>
          <a:bodyPr wrap="none">
            <a:spAutoFit/>
          </a:bodyPr>
          <a:lstStyle/>
          <a:p>
            <a:pPr>
              <a:buFont typeface="Wingdings" pitchFamily="2" charset="2"/>
              <a:buNone/>
            </a:pPr>
            <a:r>
              <a:rPr lang="zh-CN" altLang="en-US" b="1">
                <a:latin typeface="Times New Roman" pitchFamily="18" charset="0"/>
              </a:rPr>
              <a:t>函数 </a:t>
            </a:r>
            <a:r>
              <a:rPr lang="en-US" altLang="zh-CN"/>
              <a:t>p </a:t>
            </a:r>
            <a:r>
              <a:rPr lang="zh-CN" altLang="en-US" b="1">
                <a:latin typeface="Times New Roman" pitchFamily="18" charset="0"/>
              </a:rPr>
              <a:t>的活动记录</a:t>
            </a:r>
          </a:p>
        </p:txBody>
      </p:sp>
      <p:sp>
        <p:nvSpPr>
          <p:cNvPr id="18" name="Rectangle 22"/>
          <p:cNvSpPr>
            <a:spLocks noChangeArrowheads="1"/>
          </p:cNvSpPr>
          <p:nvPr/>
        </p:nvSpPr>
        <p:spPr bwMode="auto">
          <a:xfrm>
            <a:off x="7391400" y="6080125"/>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0</a:t>
            </a:r>
          </a:p>
        </p:txBody>
      </p:sp>
      <p:sp>
        <p:nvSpPr>
          <p:cNvPr id="19" name="Line 23"/>
          <p:cNvSpPr>
            <a:spLocks noChangeShapeType="1"/>
          </p:cNvSpPr>
          <p:nvPr/>
        </p:nvSpPr>
        <p:spPr bwMode="auto">
          <a:xfrm flipH="1">
            <a:off x="6858000" y="6308725"/>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0" name="Rectangle 24"/>
          <p:cNvSpPr>
            <a:spLocks noChangeArrowheads="1"/>
          </p:cNvSpPr>
          <p:nvPr/>
        </p:nvSpPr>
        <p:spPr bwMode="auto">
          <a:xfrm>
            <a:off x="7391400" y="5378450"/>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3</a:t>
            </a:r>
          </a:p>
        </p:txBody>
      </p:sp>
      <p:sp>
        <p:nvSpPr>
          <p:cNvPr id="21" name="Line 25"/>
          <p:cNvSpPr>
            <a:spLocks noChangeShapeType="1"/>
          </p:cNvSpPr>
          <p:nvPr/>
        </p:nvSpPr>
        <p:spPr bwMode="auto">
          <a:xfrm flipH="1">
            <a:off x="6858000" y="5607050"/>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2" name="Rectangle 26"/>
          <p:cNvSpPr>
            <a:spLocks noChangeArrowheads="1"/>
          </p:cNvSpPr>
          <p:nvPr/>
        </p:nvSpPr>
        <p:spPr bwMode="auto">
          <a:xfrm>
            <a:off x="7391400" y="4860925"/>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4</a:t>
            </a:r>
          </a:p>
        </p:txBody>
      </p:sp>
      <p:sp>
        <p:nvSpPr>
          <p:cNvPr id="23" name="Line 27"/>
          <p:cNvSpPr>
            <a:spLocks noChangeShapeType="1"/>
          </p:cNvSpPr>
          <p:nvPr/>
        </p:nvSpPr>
        <p:spPr bwMode="auto">
          <a:xfrm flipH="1">
            <a:off x="6858000" y="5089525"/>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4" name="Rectangle 28"/>
          <p:cNvSpPr>
            <a:spLocks noChangeArrowheads="1"/>
          </p:cNvSpPr>
          <p:nvPr/>
        </p:nvSpPr>
        <p:spPr bwMode="auto">
          <a:xfrm>
            <a:off x="7391400" y="4327525"/>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6</a:t>
            </a:r>
          </a:p>
        </p:txBody>
      </p:sp>
      <p:sp>
        <p:nvSpPr>
          <p:cNvPr id="25" name="Line 29"/>
          <p:cNvSpPr>
            <a:spLocks noChangeShapeType="1"/>
          </p:cNvSpPr>
          <p:nvPr/>
        </p:nvSpPr>
        <p:spPr bwMode="auto">
          <a:xfrm flipH="1">
            <a:off x="6858000" y="4556125"/>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6" name="Rectangle 30"/>
          <p:cNvSpPr>
            <a:spLocks noChangeArrowheads="1"/>
          </p:cNvSpPr>
          <p:nvPr/>
        </p:nvSpPr>
        <p:spPr bwMode="auto">
          <a:xfrm>
            <a:off x="7467600" y="3794125"/>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26</a:t>
            </a:r>
          </a:p>
        </p:txBody>
      </p:sp>
      <p:sp>
        <p:nvSpPr>
          <p:cNvPr id="27" name="Line 31"/>
          <p:cNvSpPr>
            <a:spLocks noChangeShapeType="1"/>
          </p:cNvSpPr>
          <p:nvPr/>
        </p:nvSpPr>
        <p:spPr bwMode="auto">
          <a:xfrm flipH="1">
            <a:off x="6858000" y="4022725"/>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8" name="Rectangle 32"/>
          <p:cNvSpPr>
            <a:spLocks noChangeArrowheads="1"/>
          </p:cNvSpPr>
          <p:nvPr/>
        </p:nvSpPr>
        <p:spPr bwMode="auto">
          <a:xfrm>
            <a:off x="1023938" y="3992562"/>
            <a:ext cx="2292350" cy="457200"/>
          </a:xfrm>
          <a:prstGeom prst="rect">
            <a:avLst/>
          </a:prstGeom>
          <a:noFill/>
          <a:ln w="9525">
            <a:noFill/>
            <a:miter lim="800000"/>
            <a:headEnd/>
            <a:tailEnd/>
          </a:ln>
          <a:effectLst/>
        </p:spPr>
        <p:txBody>
          <a:bodyPr wrap="none">
            <a:spAutoFit/>
          </a:bodyPr>
          <a:lstStyle/>
          <a:p>
            <a:pPr>
              <a:buFont typeface="Wingdings" pitchFamily="2" charset="2"/>
              <a:buNone/>
            </a:pPr>
            <a:r>
              <a:rPr lang="en-US" altLang="zh-CN" b="1" dirty="0">
                <a:solidFill>
                  <a:srgbClr val="800080"/>
                </a:solidFill>
              </a:rPr>
              <a:t>/*</a:t>
            </a:r>
            <a:r>
              <a:rPr lang="en-US" altLang="zh-CN" dirty="0">
                <a:solidFill>
                  <a:srgbClr val="800080"/>
                </a:solidFill>
              </a:rPr>
              <a:t>d</a:t>
            </a:r>
            <a:r>
              <a:rPr lang="zh-CN" altLang="en-US" b="1" dirty="0">
                <a:solidFill>
                  <a:srgbClr val="800080"/>
                </a:solidFill>
              </a:rPr>
              <a:t>为动态数组*</a:t>
            </a:r>
            <a:r>
              <a:rPr lang="en-US" altLang="zh-CN" b="1" dirty="0">
                <a:solidFill>
                  <a:srgbClr val="800080"/>
                </a:solidFill>
              </a:rPr>
              <a:t>/</a:t>
            </a:r>
          </a:p>
        </p:txBody>
      </p:sp>
      <p:sp>
        <p:nvSpPr>
          <p:cNvPr id="29" name="Line 33"/>
          <p:cNvSpPr>
            <a:spLocks noChangeShapeType="1"/>
          </p:cNvSpPr>
          <p:nvPr/>
        </p:nvSpPr>
        <p:spPr bwMode="auto">
          <a:xfrm>
            <a:off x="4267200" y="35814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30" name="Line 34"/>
          <p:cNvSpPr>
            <a:spLocks noChangeShapeType="1"/>
          </p:cNvSpPr>
          <p:nvPr/>
        </p:nvSpPr>
        <p:spPr bwMode="auto">
          <a:xfrm>
            <a:off x="4267200" y="30480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31" name="Rectangle 35"/>
          <p:cNvSpPr>
            <a:spLocks noChangeArrowheads="1"/>
          </p:cNvSpPr>
          <p:nvPr/>
        </p:nvSpPr>
        <p:spPr bwMode="auto">
          <a:xfrm>
            <a:off x="4319588" y="3048000"/>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solidFill>
                  <a:srgbClr val="800080"/>
                </a:solidFill>
              </a:rPr>
              <a:t>指向</a:t>
            </a:r>
            <a:r>
              <a:rPr lang="zh-CN" altLang="en-US" dirty="0">
                <a:solidFill>
                  <a:srgbClr val="800080"/>
                </a:solidFill>
              </a:rPr>
              <a:t> </a:t>
            </a:r>
            <a:r>
              <a:rPr lang="en-US" altLang="zh-CN" dirty="0">
                <a:solidFill>
                  <a:srgbClr val="800080"/>
                </a:solidFill>
              </a:rPr>
              <a:t>d </a:t>
            </a:r>
            <a:r>
              <a:rPr lang="zh-CN" altLang="en-US" b="1" dirty="0">
                <a:solidFill>
                  <a:srgbClr val="800080"/>
                </a:solidFill>
              </a:rPr>
              <a:t>的指针</a:t>
            </a:r>
          </a:p>
        </p:txBody>
      </p:sp>
      <p:sp>
        <p:nvSpPr>
          <p:cNvPr id="32" name="Rectangle 36"/>
          <p:cNvSpPr>
            <a:spLocks noChangeArrowheads="1"/>
          </p:cNvSpPr>
          <p:nvPr/>
        </p:nvSpPr>
        <p:spPr bwMode="auto">
          <a:xfrm>
            <a:off x="4331494" y="3655540"/>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solidFill>
                  <a:srgbClr val="800080"/>
                </a:solidFill>
              </a:rPr>
              <a:t>内情向量（</a:t>
            </a:r>
            <a:r>
              <a:rPr lang="en-US" altLang="zh-CN" dirty="0">
                <a:solidFill>
                  <a:srgbClr val="800080"/>
                </a:solidFill>
              </a:rPr>
              <a:t>N</a:t>
            </a:r>
            <a:r>
              <a:rPr lang="zh-CN" altLang="en-US" b="1" dirty="0">
                <a:solidFill>
                  <a:srgbClr val="800080"/>
                </a:solidFill>
              </a:rPr>
              <a:t>）</a:t>
            </a:r>
          </a:p>
        </p:txBody>
      </p:sp>
      <p:sp>
        <p:nvSpPr>
          <p:cNvPr id="33" name="Line 37"/>
          <p:cNvSpPr>
            <a:spLocks noChangeShapeType="1"/>
          </p:cNvSpPr>
          <p:nvPr/>
        </p:nvSpPr>
        <p:spPr bwMode="auto">
          <a:xfrm>
            <a:off x="4267200" y="25146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34" name="Rectangle 38"/>
          <p:cNvSpPr>
            <a:spLocks noChangeArrowheads="1"/>
          </p:cNvSpPr>
          <p:nvPr/>
        </p:nvSpPr>
        <p:spPr bwMode="auto">
          <a:xfrm>
            <a:off x="4319588" y="2514600"/>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dirty="0">
                <a:solidFill>
                  <a:srgbClr val="800080"/>
                </a:solidFill>
              </a:rPr>
              <a:t>e</a:t>
            </a:r>
            <a:endParaRPr lang="en-US" altLang="zh-CN" b="1" dirty="0">
              <a:solidFill>
                <a:srgbClr val="800080"/>
              </a:solidFill>
            </a:endParaRPr>
          </a:p>
        </p:txBody>
      </p:sp>
      <p:sp>
        <p:nvSpPr>
          <p:cNvPr id="35" name="Line 39"/>
          <p:cNvSpPr>
            <a:spLocks noChangeShapeType="1"/>
          </p:cNvSpPr>
          <p:nvPr/>
        </p:nvSpPr>
        <p:spPr bwMode="auto">
          <a:xfrm>
            <a:off x="4267200" y="19812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36" name="Rectangle 40"/>
          <p:cNvSpPr>
            <a:spLocks noChangeArrowheads="1"/>
          </p:cNvSpPr>
          <p:nvPr/>
        </p:nvSpPr>
        <p:spPr bwMode="auto">
          <a:xfrm>
            <a:off x="4319588" y="1981200"/>
            <a:ext cx="2462212" cy="457200"/>
          </a:xfrm>
          <a:prstGeom prst="rect">
            <a:avLst/>
          </a:prstGeom>
          <a:noFill/>
          <a:ln w="9525">
            <a:noFill/>
            <a:miter lim="800000"/>
            <a:headEnd/>
            <a:tailEnd/>
          </a:ln>
          <a:effectLst/>
        </p:spPr>
        <p:txBody>
          <a:bodyPr>
            <a:spAutoFit/>
          </a:bodyPr>
          <a:lstStyle/>
          <a:p>
            <a:pPr algn="ctr">
              <a:buFont typeface="Wingdings" pitchFamily="2" charset="2"/>
              <a:buNone/>
            </a:pPr>
            <a:r>
              <a:rPr lang="en-US" altLang="zh-CN" dirty="0">
                <a:solidFill>
                  <a:srgbClr val="800080"/>
                </a:solidFill>
              </a:rPr>
              <a:t>d</a:t>
            </a:r>
            <a:endParaRPr lang="en-US" altLang="zh-CN" b="1" dirty="0">
              <a:solidFill>
                <a:srgbClr val="800080"/>
              </a:solidFill>
            </a:endParaRPr>
          </a:p>
        </p:txBody>
      </p:sp>
      <p:sp>
        <p:nvSpPr>
          <p:cNvPr id="37" name="Rectangle 41"/>
          <p:cNvSpPr>
            <a:spLocks noChangeArrowheads="1"/>
          </p:cNvSpPr>
          <p:nvPr/>
        </p:nvSpPr>
        <p:spPr bwMode="auto">
          <a:xfrm>
            <a:off x="7467600" y="3276600"/>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27</a:t>
            </a:r>
          </a:p>
        </p:txBody>
      </p:sp>
      <p:sp>
        <p:nvSpPr>
          <p:cNvPr id="38" name="Line 42"/>
          <p:cNvSpPr>
            <a:spLocks noChangeShapeType="1"/>
          </p:cNvSpPr>
          <p:nvPr/>
        </p:nvSpPr>
        <p:spPr bwMode="auto">
          <a:xfrm flipH="1">
            <a:off x="6858000" y="3505200"/>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39" name="Rectangle 43"/>
          <p:cNvSpPr>
            <a:spLocks noChangeArrowheads="1"/>
          </p:cNvSpPr>
          <p:nvPr/>
        </p:nvSpPr>
        <p:spPr bwMode="auto">
          <a:xfrm>
            <a:off x="7467600" y="2727325"/>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28</a:t>
            </a:r>
          </a:p>
        </p:txBody>
      </p:sp>
      <p:sp>
        <p:nvSpPr>
          <p:cNvPr id="40" name="Line 44"/>
          <p:cNvSpPr>
            <a:spLocks noChangeShapeType="1"/>
          </p:cNvSpPr>
          <p:nvPr/>
        </p:nvSpPr>
        <p:spPr bwMode="auto">
          <a:xfrm flipH="1">
            <a:off x="6858000" y="2955925"/>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41" name="Rectangle 45"/>
          <p:cNvSpPr>
            <a:spLocks noChangeArrowheads="1"/>
          </p:cNvSpPr>
          <p:nvPr/>
        </p:nvSpPr>
        <p:spPr bwMode="auto">
          <a:xfrm>
            <a:off x="7467600" y="2209800"/>
            <a:ext cx="14478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30</a:t>
            </a:r>
          </a:p>
        </p:txBody>
      </p:sp>
      <p:sp>
        <p:nvSpPr>
          <p:cNvPr id="42" name="Line 46"/>
          <p:cNvSpPr>
            <a:spLocks noChangeShapeType="1"/>
          </p:cNvSpPr>
          <p:nvPr/>
        </p:nvSpPr>
        <p:spPr bwMode="auto">
          <a:xfrm flipH="1">
            <a:off x="6858000" y="2438400"/>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43" name="Rectangle 47"/>
          <p:cNvSpPr>
            <a:spLocks noChangeArrowheads="1"/>
          </p:cNvSpPr>
          <p:nvPr/>
        </p:nvSpPr>
        <p:spPr bwMode="auto">
          <a:xfrm>
            <a:off x="7162800" y="1676400"/>
            <a:ext cx="19050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Offset = 30+2N</a:t>
            </a:r>
          </a:p>
        </p:txBody>
      </p:sp>
      <p:sp>
        <p:nvSpPr>
          <p:cNvPr id="44" name="Line 48"/>
          <p:cNvSpPr>
            <a:spLocks noChangeShapeType="1"/>
          </p:cNvSpPr>
          <p:nvPr/>
        </p:nvSpPr>
        <p:spPr bwMode="auto">
          <a:xfrm flipH="1">
            <a:off x="6858000" y="1905000"/>
            <a:ext cx="3810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45" name="灯片编号占位符 44"/>
          <p:cNvSpPr>
            <a:spLocks noGrp="1"/>
          </p:cNvSpPr>
          <p:nvPr>
            <p:ph type="sldNum" sz="quarter" idx="4"/>
          </p:nvPr>
        </p:nvSpPr>
        <p:spPr/>
        <p:txBody>
          <a:bodyPr/>
          <a:lstStyle/>
          <a:p>
            <a:fld id="{565CE74E-AB26-4998-AD42-012C4C1AD076}" type="slidenum">
              <a:rPr lang="zh-CN" altLang="en-US" smtClean="0"/>
              <a:t>21</a:t>
            </a:fld>
            <a:endParaRPr lang="zh-CN" altLang="en-US"/>
          </a:p>
        </p:txBody>
      </p:sp>
    </p:spTree>
    <p:extLst>
      <p:ext uri="{BB962C8B-B14F-4D97-AF65-F5344CB8AC3E}">
        <p14:creationId xmlns:p14="http://schemas.microsoft.com/office/powerpoint/2010/main" val="97385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嵌套过程定义中非局部量的访问</a:t>
            </a:r>
            <a:endParaRPr lang="en-US" altLang="zh-CN" dirty="0"/>
          </a:p>
          <a:p>
            <a:pPr lvl="1"/>
            <a:r>
              <a:rPr lang="zh-CN" altLang="en-US" dirty="0"/>
              <a:t>含嵌套过程说明语言的栈式存储分配</a:t>
            </a:r>
          </a:p>
          <a:p>
            <a:pPr lvl="1"/>
            <a:r>
              <a:rPr lang="zh-CN" altLang="en-US" dirty="0"/>
              <a:t>主要问题</a:t>
            </a:r>
          </a:p>
          <a:p>
            <a:pPr lvl="2"/>
            <a:r>
              <a:rPr lang="zh-CN" altLang="en-US" dirty="0"/>
              <a:t>解决对非局部量的引用（存取）</a:t>
            </a:r>
          </a:p>
          <a:p>
            <a:pPr lvl="1"/>
            <a:r>
              <a:rPr lang="zh-CN" altLang="en-US" dirty="0"/>
              <a:t>解决方案</a:t>
            </a:r>
          </a:p>
          <a:p>
            <a:pPr lvl="2"/>
            <a:r>
              <a:rPr lang="zh-CN" altLang="en-US" dirty="0"/>
              <a:t>采用 </a:t>
            </a:r>
            <a:r>
              <a:rPr lang="en-US" altLang="zh-CN" dirty="0">
                <a:solidFill>
                  <a:srgbClr val="FF0000"/>
                </a:solidFill>
              </a:rPr>
              <a:t>Display </a:t>
            </a:r>
            <a:r>
              <a:rPr lang="zh-CN" altLang="en-US" dirty="0">
                <a:solidFill>
                  <a:srgbClr val="FF0000"/>
                </a:solidFill>
              </a:rPr>
              <a:t>表</a:t>
            </a:r>
          </a:p>
          <a:p>
            <a:pPr lvl="2"/>
            <a:r>
              <a:rPr lang="zh-CN" altLang="en-US" dirty="0"/>
              <a:t>为活动记录增加</a:t>
            </a:r>
            <a:r>
              <a:rPr lang="zh-CN" altLang="en-US" dirty="0">
                <a:solidFill>
                  <a:srgbClr val="FF0000"/>
                </a:solidFill>
              </a:rPr>
              <a:t>静态链域</a:t>
            </a:r>
          </a:p>
          <a:p>
            <a:pPr lvl="2"/>
            <a:endParaRPr lang="zh-CN" altLang="en-US" dirty="0"/>
          </a:p>
        </p:txBody>
      </p:sp>
      <p:sp>
        <p:nvSpPr>
          <p:cNvPr id="3" name="标题 2"/>
          <p:cNvSpPr>
            <a:spLocks noGrp="1"/>
          </p:cNvSpPr>
          <p:nvPr>
            <p:ph type="title"/>
          </p:nvPr>
        </p:nvSpPr>
        <p:spPr/>
        <p:txBody>
          <a:bodyPr/>
          <a:lstStyle/>
          <a:p>
            <a:r>
              <a:rPr lang="zh-CN" altLang="en-US" dirty="0"/>
              <a:t>二、活动记录</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22</a:t>
            </a:fld>
            <a:endParaRPr lang="zh-CN" altLang="en-US"/>
          </a:p>
        </p:txBody>
      </p:sp>
    </p:spTree>
    <p:extLst>
      <p:ext uri="{BB962C8B-B14F-4D97-AF65-F5344CB8AC3E}">
        <p14:creationId xmlns:p14="http://schemas.microsoft.com/office/powerpoint/2010/main" val="2528027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85000" lnSpcReduction="10000"/>
          </a:bodyPr>
          <a:lstStyle/>
          <a:p>
            <a:r>
              <a:rPr lang="zh-CN" altLang="en-US" dirty="0">
                <a:solidFill>
                  <a:srgbClr val="FF0000"/>
                </a:solidFill>
              </a:rPr>
              <a:t>嵌套过程定义中非局部量的访问（选学）</a:t>
            </a:r>
            <a:endParaRPr lang="en-US" altLang="zh-CN" dirty="0">
              <a:solidFill>
                <a:srgbClr val="FF0000"/>
              </a:solidFill>
            </a:endParaRPr>
          </a:p>
          <a:p>
            <a:pPr>
              <a:buClrTx/>
              <a:buFont typeface="Symbol" pitchFamily="18" charset="2"/>
              <a:buChar char="-"/>
            </a:pPr>
            <a:r>
              <a:rPr lang="zh-CN" altLang="en-US" sz="2800" dirty="0">
                <a:latin typeface="Times New Roman" pitchFamily="18" charset="0"/>
              </a:rPr>
              <a:t>嵌套过程语言的栈式存储分配</a:t>
            </a:r>
            <a:endParaRPr lang="zh-CN" altLang="en-US" sz="1000" dirty="0"/>
          </a:p>
          <a:p>
            <a:pPr>
              <a:buClrTx/>
              <a:buFont typeface="Symbol" pitchFamily="18" charset="2"/>
              <a:buNone/>
            </a:pPr>
            <a:endParaRPr lang="zh-CN" altLang="en-US" sz="1000" dirty="0">
              <a:solidFill>
                <a:srgbClr val="800080"/>
              </a:solidFill>
            </a:endParaRPr>
          </a:p>
          <a:p>
            <a:pPr lvl="1">
              <a:buFontTx/>
              <a:buChar char="•"/>
            </a:pPr>
            <a:r>
              <a:rPr lang="zh-CN" altLang="en-US" dirty="0"/>
              <a:t>  </a:t>
            </a:r>
            <a:r>
              <a:rPr lang="zh-CN" altLang="en-US" dirty="0">
                <a:solidFill>
                  <a:srgbClr val="FF0000"/>
                </a:solidFill>
              </a:rPr>
              <a:t>采用 </a:t>
            </a:r>
            <a:r>
              <a:rPr lang="en-US" altLang="zh-CN" dirty="0">
                <a:solidFill>
                  <a:srgbClr val="FF0000"/>
                </a:solidFill>
              </a:rPr>
              <a:t>Display </a:t>
            </a:r>
            <a:r>
              <a:rPr lang="zh-CN" altLang="en-US" dirty="0">
                <a:solidFill>
                  <a:srgbClr val="FF0000"/>
                </a:solidFill>
              </a:rPr>
              <a:t>表 </a:t>
            </a:r>
            <a:r>
              <a:rPr lang="zh-CN" altLang="en-US" dirty="0"/>
              <a:t>（或称全局 </a:t>
            </a:r>
            <a:r>
              <a:rPr lang="en-US" altLang="zh-CN" dirty="0"/>
              <a:t>Display </a:t>
            </a:r>
            <a:r>
              <a:rPr lang="zh-CN" altLang="en-US" dirty="0"/>
              <a:t>表） </a:t>
            </a:r>
            <a:endParaRPr lang="zh-CN" altLang="en-US" dirty="0">
              <a:solidFill>
                <a:srgbClr val="800080"/>
              </a:solidFill>
            </a:endParaRPr>
          </a:p>
          <a:p>
            <a:pPr lvl="1">
              <a:buFontTx/>
              <a:buNone/>
            </a:pPr>
            <a:endParaRPr lang="zh-CN" altLang="en-US" sz="1000" dirty="0">
              <a:solidFill>
                <a:srgbClr val="800080"/>
              </a:solidFill>
            </a:endParaRPr>
          </a:p>
          <a:p>
            <a:pPr lvl="1">
              <a:buFontTx/>
              <a:buNone/>
            </a:pPr>
            <a:r>
              <a:rPr lang="zh-CN" altLang="en-US" dirty="0"/>
              <a:t>    </a:t>
            </a:r>
            <a:r>
              <a:rPr lang="en-US" altLang="zh-CN" dirty="0"/>
              <a:t>Display </a:t>
            </a:r>
            <a:r>
              <a:rPr lang="zh-CN" altLang="en-US" dirty="0"/>
              <a:t>表记录各嵌套层当前过程的活动记录在运行栈</a:t>
            </a:r>
          </a:p>
          <a:p>
            <a:pPr lvl="1">
              <a:buFontTx/>
              <a:buNone/>
            </a:pPr>
            <a:r>
              <a:rPr lang="zh-CN" altLang="en-US" dirty="0"/>
              <a:t>   上的起始位置（基地址）</a:t>
            </a:r>
          </a:p>
          <a:p>
            <a:pPr>
              <a:buClrTx/>
              <a:buFont typeface="Symbol" pitchFamily="18" charset="2"/>
              <a:buNone/>
            </a:pPr>
            <a:endParaRPr lang="zh-CN" altLang="en-US" sz="1000" dirty="0">
              <a:solidFill>
                <a:srgbClr val="800080"/>
              </a:solidFill>
            </a:endParaRPr>
          </a:p>
          <a:p>
            <a:pPr lvl="1">
              <a:buFontTx/>
              <a:buNone/>
            </a:pPr>
            <a:r>
              <a:rPr lang="zh-CN" altLang="en-US" dirty="0">
                <a:latin typeface="Times New Roman" pitchFamily="18" charset="0"/>
              </a:rPr>
              <a:t>   </a:t>
            </a:r>
            <a:r>
              <a:rPr lang="zh-CN" altLang="en-US" dirty="0"/>
              <a:t>当前激活过程的层次为</a:t>
            </a:r>
            <a:r>
              <a:rPr lang="en-US" altLang="zh-CN" dirty="0"/>
              <a:t>K</a:t>
            </a:r>
            <a:r>
              <a:rPr lang="zh-CN" altLang="en-US" dirty="0"/>
              <a:t>（</a:t>
            </a:r>
            <a:r>
              <a:rPr lang="zh-CN" altLang="en-US" dirty="0">
                <a:solidFill>
                  <a:srgbClr val="FF0000"/>
                </a:solidFill>
              </a:rPr>
              <a:t>主程序的层次设为</a:t>
            </a:r>
            <a:r>
              <a:rPr lang="en-US" altLang="zh-CN" i="1" dirty="0">
                <a:solidFill>
                  <a:srgbClr val="FF0000"/>
                </a:solidFill>
              </a:rPr>
              <a:t>0</a:t>
            </a:r>
            <a:r>
              <a:rPr lang="zh-CN" altLang="en-US" dirty="0"/>
              <a:t>），</a:t>
            </a:r>
          </a:p>
          <a:p>
            <a:pPr lvl="1">
              <a:buFontTx/>
              <a:buNone/>
            </a:pPr>
            <a:r>
              <a:rPr lang="zh-CN" altLang="en-US" dirty="0"/>
              <a:t>   则对应的 </a:t>
            </a:r>
            <a:r>
              <a:rPr lang="en-US" altLang="zh-CN" dirty="0"/>
              <a:t>Display </a:t>
            </a:r>
            <a:r>
              <a:rPr lang="zh-CN" altLang="en-US" dirty="0"/>
              <a:t>表含有 </a:t>
            </a:r>
            <a:r>
              <a:rPr lang="en-US" altLang="zh-CN" dirty="0"/>
              <a:t>K+1 </a:t>
            </a:r>
            <a:r>
              <a:rPr lang="zh-CN" altLang="en-US" dirty="0"/>
              <a:t>个单元，依次存放着</a:t>
            </a:r>
          </a:p>
          <a:p>
            <a:pPr lvl="1">
              <a:buFontTx/>
              <a:buNone/>
            </a:pPr>
            <a:r>
              <a:rPr lang="zh-CN" altLang="en-US" dirty="0"/>
              <a:t>   现行层，直接外层</a:t>
            </a:r>
            <a:r>
              <a:rPr lang="en-US" altLang="zh-CN" dirty="0"/>
              <a:t>…</a:t>
            </a:r>
            <a:r>
              <a:rPr lang="zh-CN" altLang="en-US" dirty="0"/>
              <a:t>直至最外层的每一过程的最新活</a:t>
            </a:r>
          </a:p>
          <a:p>
            <a:pPr lvl="1">
              <a:buFontTx/>
              <a:buNone/>
            </a:pPr>
            <a:r>
              <a:rPr lang="zh-CN" altLang="en-US" dirty="0"/>
              <a:t>   动记录的基地址</a:t>
            </a:r>
          </a:p>
          <a:p>
            <a:pPr lvl="1">
              <a:buFontTx/>
              <a:buNone/>
            </a:pPr>
            <a:endParaRPr lang="zh-CN" altLang="en-US" sz="1000" dirty="0"/>
          </a:p>
          <a:p>
            <a:pPr lvl="1">
              <a:buFontTx/>
              <a:buNone/>
            </a:pPr>
            <a:r>
              <a:rPr lang="zh-CN" altLang="en-US" dirty="0"/>
              <a:t>   嵌套作用域规则确保每一时刻</a:t>
            </a:r>
            <a:r>
              <a:rPr lang="en-US" altLang="zh-CN" dirty="0"/>
              <a:t>Display </a:t>
            </a:r>
            <a:r>
              <a:rPr lang="zh-CN" altLang="en-US" dirty="0"/>
              <a:t>表内容的唯一性</a:t>
            </a:r>
          </a:p>
          <a:p>
            <a:pPr lvl="1">
              <a:buFontTx/>
              <a:buNone/>
            </a:pPr>
            <a:endParaRPr lang="zh-CN" altLang="en-US" sz="1000" dirty="0"/>
          </a:p>
          <a:p>
            <a:pPr lvl="1">
              <a:buFontTx/>
              <a:buNone/>
            </a:pPr>
            <a:r>
              <a:rPr lang="zh-CN" altLang="en-US" dirty="0"/>
              <a:t>    </a:t>
            </a:r>
            <a:r>
              <a:rPr lang="en-US" altLang="zh-CN" dirty="0"/>
              <a:t>Display </a:t>
            </a:r>
            <a:r>
              <a:rPr lang="zh-CN" altLang="en-US" dirty="0"/>
              <a:t>表的大小（即最多嵌套的层数）取决于实现</a:t>
            </a:r>
          </a:p>
          <a:p>
            <a:endParaRPr lang="zh-CN" altLang="en-US" dirty="0"/>
          </a:p>
        </p:txBody>
      </p:sp>
      <p:sp>
        <p:nvSpPr>
          <p:cNvPr id="3" name="标题 2"/>
          <p:cNvSpPr>
            <a:spLocks noGrp="1"/>
          </p:cNvSpPr>
          <p:nvPr>
            <p:ph type="title"/>
          </p:nvPr>
        </p:nvSpPr>
        <p:spPr/>
        <p:txBody>
          <a:bodyPr/>
          <a:lstStyle/>
          <a:p>
            <a:r>
              <a:rPr lang="zh-CN" altLang="en-US" dirty="0"/>
              <a:t>二、活动记录</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23</a:t>
            </a:fld>
            <a:endParaRPr lang="zh-CN" altLang="en-US"/>
          </a:p>
        </p:txBody>
      </p:sp>
    </p:spTree>
    <p:extLst>
      <p:ext uri="{BB962C8B-B14F-4D97-AF65-F5344CB8AC3E}">
        <p14:creationId xmlns:p14="http://schemas.microsoft.com/office/powerpoint/2010/main" val="674022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嵌套过程定义中非局部量的访问</a:t>
            </a:r>
          </a:p>
        </p:txBody>
      </p:sp>
      <p:sp>
        <p:nvSpPr>
          <p:cNvPr id="3" name="标题 2"/>
          <p:cNvSpPr>
            <a:spLocks noGrp="1"/>
          </p:cNvSpPr>
          <p:nvPr>
            <p:ph type="title"/>
          </p:nvPr>
        </p:nvSpPr>
        <p:spPr/>
        <p:txBody>
          <a:bodyPr/>
          <a:lstStyle/>
          <a:p>
            <a:r>
              <a:rPr lang="zh-CN" altLang="en-US" dirty="0"/>
              <a:t>二、活动记录</a:t>
            </a:r>
          </a:p>
        </p:txBody>
      </p:sp>
      <p:sp>
        <p:nvSpPr>
          <p:cNvPr id="4" name="Text Box 5"/>
          <p:cNvSpPr txBox="1">
            <a:spLocks noChangeArrowheads="1"/>
          </p:cNvSpPr>
          <p:nvPr/>
        </p:nvSpPr>
        <p:spPr bwMode="auto">
          <a:xfrm>
            <a:off x="6593904" y="1044575"/>
            <a:ext cx="2514600" cy="5584825"/>
          </a:xfrm>
          <a:prstGeom prst="rect">
            <a:avLst/>
          </a:prstGeom>
          <a:noFill/>
          <a:ln w="9525">
            <a:noFill/>
            <a:miter lim="800000"/>
            <a:headEnd/>
            <a:tailEnd/>
          </a:ln>
          <a:effectLst/>
        </p:spPr>
        <p:txBody>
          <a:bodyPr>
            <a:spAutoFit/>
          </a:bodyPr>
          <a:lstStyle/>
          <a:p>
            <a:pPr>
              <a:buFont typeface="Wingdings" pitchFamily="2" charset="2"/>
              <a:buNone/>
            </a:pPr>
            <a:r>
              <a:rPr kumimoji="0" lang="en-US" altLang="zh-CN" sz="1800" b="1" dirty="0">
                <a:latin typeface="Times New Roman" panose="02020603050405020304" pitchFamily="18" charset="0"/>
              </a:rPr>
              <a:t>program Main( I,O)</a:t>
            </a:r>
            <a:r>
              <a:rPr kumimoji="0" lang="zh-CN" altLang="en-US" sz="1800" b="1" dirty="0">
                <a:latin typeface="Times New Roman" panose="02020603050405020304" pitchFamily="18" charset="0"/>
              </a:rPr>
              <a:t>；</a:t>
            </a:r>
          </a:p>
          <a:p>
            <a:pPr>
              <a:buFont typeface="Wingdings" pitchFamily="2" charset="2"/>
              <a:buNone/>
            </a:pPr>
            <a:r>
              <a:rPr kumimoji="0" lang="en-US" altLang="zh-CN" sz="1800" b="1" dirty="0">
                <a:latin typeface="Times New Roman" panose="02020603050405020304" pitchFamily="18" charset="0"/>
              </a:rPr>
              <a:t>procedure P;</a:t>
            </a:r>
          </a:p>
          <a:p>
            <a:pPr>
              <a:buFont typeface="Wingdings" pitchFamily="2" charset="2"/>
              <a:buNone/>
            </a:pPr>
            <a:r>
              <a:rPr kumimoji="0" lang="en-US" altLang="zh-CN" sz="1800" b="1" dirty="0">
                <a:latin typeface="Times New Roman" panose="02020603050405020304" pitchFamily="18" charset="0"/>
              </a:rPr>
              <a:t>   procedure Q;</a:t>
            </a:r>
          </a:p>
          <a:p>
            <a:pPr>
              <a:buFont typeface="Wingdings" pitchFamily="2" charset="2"/>
              <a:buNone/>
            </a:pPr>
            <a:r>
              <a:rPr kumimoji="0" lang="en-US" altLang="zh-CN" sz="1800" b="1" dirty="0">
                <a:latin typeface="Times New Roman" panose="02020603050405020304" pitchFamily="18" charset="0"/>
              </a:rPr>
              <a:t>      procedure R;</a:t>
            </a:r>
          </a:p>
          <a:p>
            <a:pPr>
              <a:buFont typeface="Wingdings" pitchFamily="2" charset="2"/>
              <a:buNone/>
            </a:pPr>
            <a:r>
              <a:rPr kumimoji="0" lang="en-US" altLang="zh-CN" sz="1800" b="1" dirty="0">
                <a:latin typeface="Times New Roman" panose="02020603050405020304" pitchFamily="18" charset="0"/>
              </a:rPr>
              <a:t>         begin</a:t>
            </a:r>
          </a:p>
          <a:p>
            <a:pPr>
              <a:buFont typeface="Wingdings" pitchFamily="2" charset="2"/>
              <a:buNone/>
            </a:pPr>
            <a:r>
              <a:rPr kumimoji="0" lang="en-US" altLang="zh-CN" sz="1800" b="1" dirty="0">
                <a:latin typeface="Times New Roman" panose="02020603050405020304" pitchFamily="18" charset="0"/>
              </a:rPr>
              <a:t>            … R; …</a:t>
            </a:r>
          </a:p>
          <a:p>
            <a:pPr>
              <a:buFont typeface="Wingdings" pitchFamily="2" charset="2"/>
              <a:buNone/>
            </a:pPr>
            <a:r>
              <a:rPr kumimoji="0" lang="en-US" altLang="zh-CN" sz="1800" b="1" dirty="0">
                <a:latin typeface="Times New Roman" panose="02020603050405020304" pitchFamily="18" charset="0"/>
              </a:rPr>
              <a:t>         end;   /*R*/</a:t>
            </a:r>
          </a:p>
          <a:p>
            <a:pPr>
              <a:buFont typeface="Wingdings" pitchFamily="2" charset="2"/>
              <a:buNone/>
            </a:pPr>
            <a:r>
              <a:rPr kumimoji="0" lang="en-US" altLang="zh-CN" sz="1800" b="1" dirty="0">
                <a:latin typeface="Times New Roman" panose="02020603050405020304" pitchFamily="18" charset="0"/>
              </a:rPr>
              <a:t>      begin</a:t>
            </a:r>
          </a:p>
          <a:p>
            <a:pPr>
              <a:buFont typeface="Wingdings" pitchFamily="2" charset="2"/>
              <a:buNone/>
            </a:pPr>
            <a:r>
              <a:rPr kumimoji="0" lang="en-US" altLang="zh-CN" sz="1800" b="1" dirty="0">
                <a:latin typeface="Times New Roman" panose="02020603050405020304" pitchFamily="18" charset="0"/>
              </a:rPr>
              <a:t>         … R; …</a:t>
            </a:r>
          </a:p>
          <a:p>
            <a:pPr>
              <a:buFont typeface="Wingdings" pitchFamily="2" charset="2"/>
              <a:buNone/>
            </a:pPr>
            <a:r>
              <a:rPr kumimoji="0" lang="en-US" altLang="zh-CN" sz="1800" b="1" dirty="0">
                <a:latin typeface="Times New Roman" panose="02020603050405020304" pitchFamily="18" charset="0"/>
              </a:rPr>
              <a:t>      end;   /*Q*/</a:t>
            </a:r>
          </a:p>
          <a:p>
            <a:pPr>
              <a:buFont typeface="Wingdings" pitchFamily="2" charset="2"/>
              <a:buNone/>
            </a:pPr>
            <a:r>
              <a:rPr kumimoji="0" lang="en-US" altLang="zh-CN" sz="1800" b="1" dirty="0">
                <a:latin typeface="Times New Roman" panose="02020603050405020304" pitchFamily="18" charset="0"/>
              </a:rPr>
              <a:t>   begin</a:t>
            </a:r>
          </a:p>
          <a:p>
            <a:pPr>
              <a:buFont typeface="Wingdings" pitchFamily="2" charset="2"/>
              <a:buNone/>
            </a:pPr>
            <a:r>
              <a:rPr kumimoji="0" lang="en-US" altLang="zh-CN" sz="1800" b="1" dirty="0">
                <a:latin typeface="Times New Roman" panose="02020603050405020304" pitchFamily="18" charset="0"/>
              </a:rPr>
              <a:t>      … Q; …</a:t>
            </a:r>
          </a:p>
          <a:p>
            <a:pPr>
              <a:buFont typeface="Wingdings" pitchFamily="2" charset="2"/>
              <a:buNone/>
            </a:pPr>
            <a:r>
              <a:rPr kumimoji="0" lang="en-US" altLang="zh-CN" sz="1800" b="1" dirty="0">
                <a:latin typeface="Times New Roman" panose="02020603050405020304" pitchFamily="18" charset="0"/>
              </a:rPr>
              <a:t>   end;   /*P*/</a:t>
            </a:r>
          </a:p>
          <a:p>
            <a:pPr>
              <a:buFont typeface="Wingdings" pitchFamily="2" charset="2"/>
              <a:buNone/>
            </a:pPr>
            <a:r>
              <a:rPr kumimoji="0" lang="en-US" altLang="zh-CN" sz="1800" b="1" dirty="0">
                <a:latin typeface="Times New Roman" panose="02020603050405020304" pitchFamily="18" charset="0"/>
              </a:rPr>
              <a:t>procedure S;</a:t>
            </a:r>
          </a:p>
          <a:p>
            <a:pPr>
              <a:buFont typeface="Wingdings" pitchFamily="2" charset="2"/>
              <a:buNone/>
            </a:pPr>
            <a:r>
              <a:rPr kumimoji="0" lang="en-US" altLang="zh-CN" sz="1800" b="1" dirty="0">
                <a:latin typeface="Times New Roman" panose="02020603050405020304" pitchFamily="18" charset="0"/>
              </a:rPr>
              <a:t>   begin</a:t>
            </a:r>
          </a:p>
          <a:p>
            <a:pPr>
              <a:buFont typeface="Wingdings" pitchFamily="2" charset="2"/>
              <a:buNone/>
            </a:pPr>
            <a:r>
              <a:rPr kumimoji="0" lang="en-US" altLang="zh-CN" sz="1800" b="1" dirty="0">
                <a:latin typeface="Times New Roman" panose="02020603050405020304" pitchFamily="18" charset="0"/>
              </a:rPr>
              <a:t>      … P; …</a:t>
            </a:r>
          </a:p>
          <a:p>
            <a:pPr>
              <a:buFont typeface="Wingdings" pitchFamily="2" charset="2"/>
              <a:buNone/>
            </a:pPr>
            <a:r>
              <a:rPr kumimoji="0" lang="en-US" altLang="zh-CN" sz="1800" b="1" dirty="0">
                <a:latin typeface="Times New Roman" panose="02020603050405020304" pitchFamily="18" charset="0"/>
              </a:rPr>
              <a:t>   end;   /*S*/</a:t>
            </a:r>
          </a:p>
          <a:p>
            <a:pPr>
              <a:buFont typeface="Wingdings" pitchFamily="2" charset="2"/>
              <a:buNone/>
            </a:pPr>
            <a:r>
              <a:rPr kumimoji="0" lang="en-US" altLang="zh-CN" sz="1800" b="1" dirty="0">
                <a:latin typeface="Times New Roman" panose="02020603050405020304" pitchFamily="18" charset="0"/>
              </a:rPr>
              <a:t>begin</a:t>
            </a:r>
          </a:p>
          <a:p>
            <a:pPr>
              <a:buFont typeface="Wingdings" pitchFamily="2" charset="2"/>
              <a:buNone/>
            </a:pPr>
            <a:r>
              <a:rPr kumimoji="0" lang="en-US" altLang="zh-CN" sz="1800" b="1" dirty="0">
                <a:latin typeface="Times New Roman" panose="02020603050405020304" pitchFamily="18" charset="0"/>
              </a:rPr>
              <a:t>   …  S; …</a:t>
            </a:r>
          </a:p>
          <a:p>
            <a:pPr>
              <a:buFont typeface="Wingdings" pitchFamily="2" charset="2"/>
              <a:buNone/>
            </a:pPr>
            <a:r>
              <a:rPr kumimoji="0" lang="en-US" altLang="zh-CN" sz="1800" b="1" dirty="0">
                <a:latin typeface="Times New Roman" panose="02020603050405020304" pitchFamily="18" charset="0"/>
              </a:rPr>
              <a:t>end.   /*main*/</a:t>
            </a:r>
          </a:p>
        </p:txBody>
      </p:sp>
      <p:sp>
        <p:nvSpPr>
          <p:cNvPr id="5" name="Rectangle 17"/>
          <p:cNvSpPr>
            <a:spLocks noChangeArrowheads="1"/>
          </p:cNvSpPr>
          <p:nvPr/>
        </p:nvSpPr>
        <p:spPr bwMode="auto">
          <a:xfrm>
            <a:off x="1604963" y="2565400"/>
            <a:ext cx="3830637" cy="701675"/>
          </a:xfrm>
          <a:prstGeom prst="rect">
            <a:avLst/>
          </a:prstGeom>
          <a:noFill/>
          <a:ln w="9525">
            <a:noFill/>
            <a:miter lim="800000"/>
            <a:headEnd/>
            <a:tailEnd/>
          </a:ln>
          <a:effectLst/>
        </p:spPr>
        <p:txBody>
          <a:bodyPr wrap="none">
            <a:spAutoFit/>
          </a:bodyPr>
          <a:lstStyle/>
          <a:p>
            <a:pPr algn="ctr">
              <a:buFont typeface="Wingdings" pitchFamily="2" charset="2"/>
              <a:buNone/>
            </a:pPr>
            <a:r>
              <a:rPr lang="zh-CN" altLang="en-US" sz="2000" b="1" dirty="0"/>
              <a:t>过程 </a:t>
            </a:r>
            <a:r>
              <a:rPr lang="en-US" altLang="zh-CN" sz="2000" dirty="0"/>
              <a:t>R </a:t>
            </a:r>
            <a:r>
              <a:rPr lang="zh-CN" altLang="en-US" sz="2000" b="1" dirty="0"/>
              <a:t>被第二次激活后运行栈和</a:t>
            </a:r>
          </a:p>
          <a:p>
            <a:pPr algn="ctr">
              <a:buFont typeface="Wingdings" pitchFamily="2" charset="2"/>
              <a:buNone/>
            </a:pPr>
            <a:r>
              <a:rPr lang="en-US" altLang="zh-CN" sz="2000" dirty="0"/>
              <a:t>Display </a:t>
            </a:r>
            <a:r>
              <a:rPr lang="zh-CN" altLang="en-US" sz="2000" b="1" dirty="0"/>
              <a:t>寄存器 </a:t>
            </a:r>
            <a:r>
              <a:rPr lang="en-US" altLang="zh-CN" sz="2000" dirty="0">
                <a:solidFill>
                  <a:srgbClr val="800080"/>
                </a:solidFill>
              </a:rPr>
              <a:t>D[</a:t>
            </a:r>
            <a:r>
              <a:rPr lang="en-US" altLang="zh-CN" sz="2000" dirty="0" err="1">
                <a:solidFill>
                  <a:srgbClr val="800080"/>
                </a:solidFill>
              </a:rPr>
              <a:t>i</a:t>
            </a:r>
            <a:r>
              <a:rPr lang="en-US" altLang="zh-CN" sz="2000" dirty="0">
                <a:solidFill>
                  <a:srgbClr val="800080"/>
                </a:solidFill>
              </a:rPr>
              <a:t>]</a:t>
            </a:r>
            <a:r>
              <a:rPr lang="en-US" altLang="zh-CN" sz="2000" dirty="0"/>
              <a:t> </a:t>
            </a:r>
            <a:r>
              <a:rPr lang="zh-CN" altLang="en-US" sz="2000" b="1" dirty="0"/>
              <a:t>的情况</a:t>
            </a:r>
          </a:p>
        </p:txBody>
      </p:sp>
      <p:sp>
        <p:nvSpPr>
          <p:cNvPr id="6" name="Line 34"/>
          <p:cNvSpPr>
            <a:spLocks noChangeShapeType="1"/>
          </p:cNvSpPr>
          <p:nvPr/>
        </p:nvSpPr>
        <p:spPr bwMode="auto">
          <a:xfrm>
            <a:off x="2773363" y="3397250"/>
            <a:ext cx="0" cy="3340100"/>
          </a:xfrm>
          <a:prstGeom prst="line">
            <a:avLst/>
          </a:prstGeom>
          <a:noFill/>
          <a:ln w="9525">
            <a:solidFill>
              <a:srgbClr val="800080"/>
            </a:solidFill>
            <a:round/>
            <a:headEnd/>
            <a:tailEnd/>
          </a:ln>
          <a:effectLst/>
        </p:spPr>
        <p:txBody>
          <a:bodyPr>
            <a:spAutoFit/>
          </a:bodyPr>
          <a:lstStyle/>
          <a:p>
            <a:endParaRPr lang="zh-CN" altLang="en-US">
              <a:latin typeface="Times New Roman" panose="02020603050405020304" pitchFamily="18" charset="0"/>
            </a:endParaRPr>
          </a:p>
        </p:txBody>
      </p:sp>
      <p:sp>
        <p:nvSpPr>
          <p:cNvPr id="7" name="Line 35"/>
          <p:cNvSpPr>
            <a:spLocks noChangeShapeType="1"/>
          </p:cNvSpPr>
          <p:nvPr/>
        </p:nvSpPr>
        <p:spPr bwMode="auto">
          <a:xfrm>
            <a:off x="5364163" y="3397250"/>
            <a:ext cx="0" cy="3340100"/>
          </a:xfrm>
          <a:prstGeom prst="line">
            <a:avLst/>
          </a:prstGeom>
          <a:noFill/>
          <a:ln w="9525">
            <a:solidFill>
              <a:srgbClr val="800080"/>
            </a:solidFill>
            <a:round/>
            <a:headEnd/>
            <a:tailEnd/>
          </a:ln>
          <a:effectLst/>
        </p:spPr>
        <p:txBody>
          <a:bodyPr>
            <a:spAutoFit/>
          </a:bodyPr>
          <a:lstStyle/>
          <a:p>
            <a:endParaRPr lang="zh-CN" altLang="en-US">
              <a:latin typeface="Times New Roman" panose="02020603050405020304" pitchFamily="18" charset="0"/>
            </a:endParaRPr>
          </a:p>
        </p:txBody>
      </p:sp>
      <p:sp>
        <p:nvSpPr>
          <p:cNvPr id="8" name="Line 36"/>
          <p:cNvSpPr>
            <a:spLocks noChangeShapeType="1"/>
          </p:cNvSpPr>
          <p:nvPr/>
        </p:nvSpPr>
        <p:spPr bwMode="auto">
          <a:xfrm>
            <a:off x="2773363" y="6737350"/>
            <a:ext cx="2590800" cy="0"/>
          </a:xfrm>
          <a:prstGeom prst="line">
            <a:avLst/>
          </a:prstGeom>
          <a:noFill/>
          <a:ln w="9525">
            <a:solidFill>
              <a:srgbClr val="800080"/>
            </a:solidFill>
            <a:round/>
            <a:headEnd/>
            <a:tailEnd/>
          </a:ln>
          <a:effectLst/>
        </p:spPr>
        <p:txBody>
          <a:bodyPr>
            <a:spAutoFit/>
          </a:bodyPr>
          <a:lstStyle/>
          <a:p>
            <a:endParaRPr lang="zh-CN" altLang="en-US">
              <a:latin typeface="Times New Roman" panose="02020603050405020304" pitchFamily="18" charset="0"/>
            </a:endParaRPr>
          </a:p>
        </p:txBody>
      </p:sp>
      <p:sp>
        <p:nvSpPr>
          <p:cNvPr id="9" name="Line 37"/>
          <p:cNvSpPr>
            <a:spLocks noChangeShapeType="1"/>
          </p:cNvSpPr>
          <p:nvPr/>
        </p:nvSpPr>
        <p:spPr bwMode="auto">
          <a:xfrm>
            <a:off x="2773363" y="6203950"/>
            <a:ext cx="2590800" cy="0"/>
          </a:xfrm>
          <a:prstGeom prst="line">
            <a:avLst/>
          </a:prstGeom>
          <a:noFill/>
          <a:ln w="9525">
            <a:solidFill>
              <a:srgbClr val="800080"/>
            </a:solidFill>
            <a:round/>
            <a:headEnd/>
            <a:tailEnd/>
          </a:ln>
          <a:effectLst/>
        </p:spPr>
        <p:txBody>
          <a:bodyPr>
            <a:spAutoFit/>
          </a:bodyPr>
          <a:lstStyle/>
          <a:p>
            <a:endParaRPr lang="zh-CN" altLang="en-US">
              <a:latin typeface="Times New Roman" panose="02020603050405020304" pitchFamily="18" charset="0"/>
            </a:endParaRPr>
          </a:p>
        </p:txBody>
      </p:sp>
      <p:sp>
        <p:nvSpPr>
          <p:cNvPr id="10" name="Rectangle 38"/>
          <p:cNvSpPr>
            <a:spLocks noChangeArrowheads="1"/>
          </p:cNvSpPr>
          <p:nvPr/>
        </p:nvSpPr>
        <p:spPr bwMode="auto">
          <a:xfrm>
            <a:off x="2825750" y="6264275"/>
            <a:ext cx="2462213"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dirty="0">
                <a:solidFill>
                  <a:srgbClr val="800080"/>
                </a:solidFill>
                <a:latin typeface="Times New Roman" panose="02020603050405020304" pitchFamily="18" charset="0"/>
              </a:rPr>
              <a:t>main </a:t>
            </a:r>
            <a:r>
              <a:rPr lang="zh-CN" altLang="en-US" sz="2000" b="1" dirty="0">
                <a:solidFill>
                  <a:srgbClr val="800080"/>
                </a:solidFill>
                <a:latin typeface="Times New Roman" panose="02020603050405020304" pitchFamily="18" charset="0"/>
              </a:rPr>
              <a:t>的活动记录</a:t>
            </a:r>
          </a:p>
        </p:txBody>
      </p:sp>
      <p:sp>
        <p:nvSpPr>
          <p:cNvPr id="11" name="Line 39"/>
          <p:cNvSpPr>
            <a:spLocks noChangeShapeType="1"/>
          </p:cNvSpPr>
          <p:nvPr/>
        </p:nvSpPr>
        <p:spPr bwMode="auto">
          <a:xfrm>
            <a:off x="2773363" y="5670550"/>
            <a:ext cx="2590800" cy="0"/>
          </a:xfrm>
          <a:prstGeom prst="line">
            <a:avLst/>
          </a:prstGeom>
          <a:noFill/>
          <a:ln w="9525">
            <a:solidFill>
              <a:srgbClr val="800080"/>
            </a:solidFill>
            <a:round/>
            <a:headEnd/>
            <a:tailEnd/>
          </a:ln>
          <a:effectLst/>
        </p:spPr>
        <p:txBody>
          <a:bodyPr>
            <a:spAutoFit/>
          </a:bodyPr>
          <a:lstStyle/>
          <a:p>
            <a:endParaRPr lang="zh-CN" altLang="en-US">
              <a:latin typeface="Times New Roman" panose="02020603050405020304" pitchFamily="18" charset="0"/>
            </a:endParaRPr>
          </a:p>
        </p:txBody>
      </p:sp>
      <p:sp>
        <p:nvSpPr>
          <p:cNvPr id="12" name="Rectangle 40"/>
          <p:cNvSpPr>
            <a:spLocks noChangeArrowheads="1"/>
          </p:cNvSpPr>
          <p:nvPr/>
        </p:nvSpPr>
        <p:spPr bwMode="auto">
          <a:xfrm>
            <a:off x="2825750" y="5213350"/>
            <a:ext cx="2462213"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dirty="0">
                <a:solidFill>
                  <a:srgbClr val="800080"/>
                </a:solidFill>
                <a:latin typeface="Times New Roman" panose="02020603050405020304" pitchFamily="18" charset="0"/>
              </a:rPr>
              <a:t>P </a:t>
            </a:r>
            <a:r>
              <a:rPr lang="zh-CN" altLang="en-US" sz="2000" b="1" dirty="0">
                <a:solidFill>
                  <a:srgbClr val="800080"/>
                </a:solidFill>
                <a:latin typeface="Times New Roman" panose="02020603050405020304" pitchFamily="18" charset="0"/>
              </a:rPr>
              <a:t>的活动记录</a:t>
            </a:r>
          </a:p>
        </p:txBody>
      </p:sp>
      <p:sp>
        <p:nvSpPr>
          <p:cNvPr id="13" name="Line 41"/>
          <p:cNvSpPr>
            <a:spLocks noChangeShapeType="1"/>
          </p:cNvSpPr>
          <p:nvPr/>
        </p:nvSpPr>
        <p:spPr bwMode="auto">
          <a:xfrm>
            <a:off x="2773363" y="5137150"/>
            <a:ext cx="2590800" cy="0"/>
          </a:xfrm>
          <a:prstGeom prst="line">
            <a:avLst/>
          </a:prstGeom>
          <a:noFill/>
          <a:ln w="9525">
            <a:solidFill>
              <a:srgbClr val="800080"/>
            </a:solidFill>
            <a:round/>
            <a:headEnd/>
            <a:tailEnd/>
          </a:ln>
          <a:effectLst/>
        </p:spPr>
        <p:txBody>
          <a:bodyPr>
            <a:spAutoFit/>
          </a:bodyPr>
          <a:lstStyle/>
          <a:p>
            <a:endParaRPr lang="zh-CN" altLang="en-US">
              <a:latin typeface="Times New Roman" panose="02020603050405020304" pitchFamily="18" charset="0"/>
            </a:endParaRPr>
          </a:p>
        </p:txBody>
      </p:sp>
      <p:sp>
        <p:nvSpPr>
          <p:cNvPr id="14" name="Rectangle 42"/>
          <p:cNvSpPr>
            <a:spLocks noChangeArrowheads="1"/>
          </p:cNvSpPr>
          <p:nvPr/>
        </p:nvSpPr>
        <p:spPr bwMode="auto">
          <a:xfrm>
            <a:off x="2773363" y="4679950"/>
            <a:ext cx="25146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latin typeface="Times New Roman" panose="02020603050405020304" pitchFamily="18" charset="0"/>
              </a:rPr>
              <a:t>Q </a:t>
            </a:r>
            <a:r>
              <a:rPr lang="zh-CN" altLang="en-US" sz="2000" b="1">
                <a:solidFill>
                  <a:srgbClr val="800080"/>
                </a:solidFill>
                <a:latin typeface="Times New Roman" panose="02020603050405020304" pitchFamily="18" charset="0"/>
              </a:rPr>
              <a:t>的活动记录</a:t>
            </a:r>
          </a:p>
        </p:txBody>
      </p:sp>
      <p:sp>
        <p:nvSpPr>
          <p:cNvPr id="15" name="Line 43"/>
          <p:cNvSpPr>
            <a:spLocks noChangeShapeType="1"/>
          </p:cNvSpPr>
          <p:nvPr/>
        </p:nvSpPr>
        <p:spPr bwMode="auto">
          <a:xfrm>
            <a:off x="2773363" y="4603750"/>
            <a:ext cx="2590800" cy="0"/>
          </a:xfrm>
          <a:prstGeom prst="line">
            <a:avLst/>
          </a:prstGeom>
          <a:noFill/>
          <a:ln w="9525">
            <a:solidFill>
              <a:srgbClr val="800080"/>
            </a:solidFill>
            <a:round/>
            <a:headEnd/>
            <a:tailEnd/>
          </a:ln>
          <a:effectLst/>
        </p:spPr>
        <p:txBody>
          <a:bodyPr>
            <a:spAutoFit/>
          </a:bodyPr>
          <a:lstStyle/>
          <a:p>
            <a:endParaRPr lang="zh-CN" altLang="en-US">
              <a:latin typeface="Times New Roman" panose="02020603050405020304" pitchFamily="18" charset="0"/>
            </a:endParaRPr>
          </a:p>
        </p:txBody>
      </p:sp>
      <p:sp>
        <p:nvSpPr>
          <p:cNvPr id="16" name="Rectangle 44"/>
          <p:cNvSpPr>
            <a:spLocks noChangeArrowheads="1"/>
          </p:cNvSpPr>
          <p:nvPr/>
        </p:nvSpPr>
        <p:spPr bwMode="auto">
          <a:xfrm>
            <a:off x="2825750" y="4146550"/>
            <a:ext cx="2462213"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latin typeface="Times New Roman" panose="02020603050405020304" pitchFamily="18" charset="0"/>
              </a:rPr>
              <a:t>R </a:t>
            </a:r>
            <a:r>
              <a:rPr lang="zh-CN" altLang="en-US" sz="2000" b="1">
                <a:solidFill>
                  <a:srgbClr val="800080"/>
                </a:solidFill>
                <a:latin typeface="Times New Roman" panose="02020603050405020304" pitchFamily="18" charset="0"/>
              </a:rPr>
              <a:t>的活动记录</a:t>
            </a:r>
          </a:p>
        </p:txBody>
      </p:sp>
      <p:sp>
        <p:nvSpPr>
          <p:cNvPr id="17" name="Rectangle 45"/>
          <p:cNvSpPr>
            <a:spLocks noChangeArrowheads="1"/>
          </p:cNvSpPr>
          <p:nvPr/>
        </p:nvSpPr>
        <p:spPr bwMode="auto">
          <a:xfrm>
            <a:off x="2825750" y="5746750"/>
            <a:ext cx="2462213"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dirty="0">
                <a:solidFill>
                  <a:srgbClr val="800080"/>
                </a:solidFill>
                <a:latin typeface="Times New Roman" panose="02020603050405020304" pitchFamily="18" charset="0"/>
              </a:rPr>
              <a:t>S </a:t>
            </a:r>
            <a:r>
              <a:rPr lang="zh-CN" altLang="en-US" sz="2000" b="1" dirty="0">
                <a:solidFill>
                  <a:srgbClr val="800080"/>
                </a:solidFill>
                <a:latin typeface="Times New Roman" panose="02020603050405020304" pitchFamily="18" charset="0"/>
              </a:rPr>
              <a:t>的活动记录</a:t>
            </a:r>
          </a:p>
        </p:txBody>
      </p:sp>
      <p:sp>
        <p:nvSpPr>
          <p:cNvPr id="18" name="Line 46"/>
          <p:cNvSpPr>
            <a:spLocks noChangeShapeType="1"/>
          </p:cNvSpPr>
          <p:nvPr/>
        </p:nvSpPr>
        <p:spPr bwMode="auto">
          <a:xfrm>
            <a:off x="2773363" y="4070350"/>
            <a:ext cx="2590800" cy="0"/>
          </a:xfrm>
          <a:prstGeom prst="line">
            <a:avLst/>
          </a:prstGeom>
          <a:noFill/>
          <a:ln w="9525">
            <a:solidFill>
              <a:srgbClr val="800080"/>
            </a:solidFill>
            <a:round/>
            <a:headEnd/>
            <a:tailEnd/>
          </a:ln>
          <a:effectLst/>
        </p:spPr>
        <p:txBody>
          <a:bodyPr>
            <a:spAutoFit/>
          </a:bodyPr>
          <a:lstStyle/>
          <a:p>
            <a:endParaRPr lang="zh-CN" altLang="en-US">
              <a:latin typeface="Times New Roman" panose="02020603050405020304" pitchFamily="18" charset="0"/>
            </a:endParaRPr>
          </a:p>
        </p:txBody>
      </p:sp>
      <p:sp>
        <p:nvSpPr>
          <p:cNvPr id="19" name="Line 47"/>
          <p:cNvSpPr>
            <a:spLocks noChangeShapeType="1"/>
          </p:cNvSpPr>
          <p:nvPr/>
        </p:nvSpPr>
        <p:spPr bwMode="auto">
          <a:xfrm flipH="1">
            <a:off x="2239963" y="6661150"/>
            <a:ext cx="533400" cy="0"/>
          </a:xfrm>
          <a:prstGeom prst="line">
            <a:avLst/>
          </a:prstGeom>
          <a:noFill/>
          <a:ln w="9525">
            <a:solidFill>
              <a:srgbClr val="333399"/>
            </a:solidFill>
            <a:round/>
            <a:headEnd type="triangle" w="med" len="med"/>
            <a:tailEnd/>
          </a:ln>
          <a:effectLst/>
        </p:spPr>
        <p:txBody>
          <a:bodyPr>
            <a:spAutoFit/>
          </a:bodyPr>
          <a:lstStyle/>
          <a:p>
            <a:endParaRPr lang="zh-CN" altLang="en-US">
              <a:latin typeface="Times New Roman" panose="02020603050405020304" pitchFamily="18" charset="0"/>
            </a:endParaRPr>
          </a:p>
        </p:txBody>
      </p:sp>
      <p:sp>
        <p:nvSpPr>
          <p:cNvPr id="20" name="Line 48"/>
          <p:cNvSpPr>
            <a:spLocks noChangeShapeType="1"/>
          </p:cNvSpPr>
          <p:nvPr/>
        </p:nvSpPr>
        <p:spPr bwMode="auto">
          <a:xfrm flipH="1">
            <a:off x="2239963" y="3487738"/>
            <a:ext cx="533400" cy="0"/>
          </a:xfrm>
          <a:prstGeom prst="line">
            <a:avLst/>
          </a:prstGeom>
          <a:noFill/>
          <a:ln w="9525">
            <a:solidFill>
              <a:srgbClr val="333399"/>
            </a:solidFill>
            <a:round/>
            <a:headEnd type="triangle" w="med" len="med"/>
            <a:tailEnd/>
          </a:ln>
          <a:effectLst/>
        </p:spPr>
        <p:txBody>
          <a:bodyPr>
            <a:spAutoFit/>
          </a:bodyPr>
          <a:lstStyle/>
          <a:p>
            <a:endParaRPr lang="zh-CN" altLang="en-US">
              <a:latin typeface="Times New Roman" panose="02020603050405020304" pitchFamily="18" charset="0"/>
            </a:endParaRPr>
          </a:p>
        </p:txBody>
      </p:sp>
      <p:sp>
        <p:nvSpPr>
          <p:cNvPr id="21" name="Rectangle 49"/>
          <p:cNvSpPr>
            <a:spLocks noChangeArrowheads="1"/>
          </p:cNvSpPr>
          <p:nvPr/>
        </p:nvSpPr>
        <p:spPr bwMode="auto">
          <a:xfrm>
            <a:off x="1401763" y="3319463"/>
            <a:ext cx="8382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latin typeface="Times New Roman" panose="02020603050405020304" pitchFamily="18" charset="0"/>
              </a:rPr>
              <a:t>SP</a:t>
            </a:r>
            <a:endParaRPr lang="en-US" altLang="zh-CN" sz="2000" b="1">
              <a:latin typeface="Times New Roman" panose="02020603050405020304" pitchFamily="18" charset="0"/>
            </a:endParaRPr>
          </a:p>
        </p:txBody>
      </p:sp>
      <p:sp>
        <p:nvSpPr>
          <p:cNvPr id="22" name="Rectangle 50"/>
          <p:cNvSpPr>
            <a:spLocks noChangeArrowheads="1"/>
          </p:cNvSpPr>
          <p:nvPr/>
        </p:nvSpPr>
        <p:spPr bwMode="auto">
          <a:xfrm>
            <a:off x="1590675" y="6416675"/>
            <a:ext cx="668773" cy="400110"/>
          </a:xfrm>
          <a:prstGeom prst="rect">
            <a:avLst/>
          </a:prstGeom>
          <a:noFill/>
          <a:ln w="9525">
            <a:noFill/>
            <a:miter lim="800000"/>
            <a:headEnd/>
            <a:tailEnd/>
          </a:ln>
          <a:effectLst/>
        </p:spPr>
        <p:txBody>
          <a:bodyPr wrap="none">
            <a:spAutoFit/>
          </a:bodyPr>
          <a:lstStyle/>
          <a:p>
            <a:pPr>
              <a:buFont typeface="Wingdings" pitchFamily="2" charset="2"/>
              <a:buNone/>
            </a:pPr>
            <a:r>
              <a:rPr lang="en-US" altLang="zh-CN" sz="2000">
                <a:solidFill>
                  <a:srgbClr val="800080"/>
                </a:solidFill>
                <a:latin typeface="Times New Roman" panose="02020603050405020304" pitchFamily="18" charset="0"/>
              </a:rPr>
              <a:t>D[0]</a:t>
            </a:r>
          </a:p>
        </p:txBody>
      </p:sp>
      <p:sp>
        <p:nvSpPr>
          <p:cNvPr id="23" name="Line 51"/>
          <p:cNvSpPr>
            <a:spLocks noChangeShapeType="1"/>
          </p:cNvSpPr>
          <p:nvPr/>
        </p:nvSpPr>
        <p:spPr bwMode="auto">
          <a:xfrm flipH="1">
            <a:off x="2239963" y="5594350"/>
            <a:ext cx="533400" cy="0"/>
          </a:xfrm>
          <a:prstGeom prst="line">
            <a:avLst/>
          </a:prstGeom>
          <a:noFill/>
          <a:ln w="9525">
            <a:solidFill>
              <a:srgbClr val="333399"/>
            </a:solidFill>
            <a:round/>
            <a:headEnd type="triangle" w="med" len="med"/>
            <a:tailEnd/>
          </a:ln>
          <a:effectLst/>
        </p:spPr>
        <p:txBody>
          <a:bodyPr>
            <a:spAutoFit/>
          </a:bodyPr>
          <a:lstStyle/>
          <a:p>
            <a:endParaRPr lang="zh-CN" altLang="en-US">
              <a:latin typeface="Times New Roman" panose="02020603050405020304" pitchFamily="18" charset="0"/>
            </a:endParaRPr>
          </a:p>
        </p:txBody>
      </p:sp>
      <p:sp>
        <p:nvSpPr>
          <p:cNvPr id="24" name="Rectangle 52"/>
          <p:cNvSpPr>
            <a:spLocks noChangeArrowheads="1"/>
          </p:cNvSpPr>
          <p:nvPr/>
        </p:nvSpPr>
        <p:spPr bwMode="auto">
          <a:xfrm>
            <a:off x="1590675" y="5349875"/>
            <a:ext cx="668773" cy="400110"/>
          </a:xfrm>
          <a:prstGeom prst="rect">
            <a:avLst/>
          </a:prstGeom>
          <a:noFill/>
          <a:ln w="9525">
            <a:noFill/>
            <a:miter lim="800000"/>
            <a:headEnd/>
            <a:tailEnd/>
          </a:ln>
          <a:effectLst/>
        </p:spPr>
        <p:txBody>
          <a:bodyPr wrap="none">
            <a:spAutoFit/>
          </a:bodyPr>
          <a:lstStyle/>
          <a:p>
            <a:pPr>
              <a:buFont typeface="Wingdings" pitchFamily="2" charset="2"/>
              <a:buNone/>
            </a:pPr>
            <a:r>
              <a:rPr lang="en-US" altLang="zh-CN" sz="2000">
                <a:solidFill>
                  <a:srgbClr val="800080"/>
                </a:solidFill>
                <a:latin typeface="Times New Roman" panose="02020603050405020304" pitchFamily="18" charset="0"/>
              </a:rPr>
              <a:t>D[1]</a:t>
            </a:r>
          </a:p>
        </p:txBody>
      </p:sp>
      <p:sp>
        <p:nvSpPr>
          <p:cNvPr id="25" name="Line 53"/>
          <p:cNvSpPr>
            <a:spLocks noChangeShapeType="1"/>
          </p:cNvSpPr>
          <p:nvPr/>
        </p:nvSpPr>
        <p:spPr bwMode="auto">
          <a:xfrm flipH="1">
            <a:off x="2239963" y="5060950"/>
            <a:ext cx="533400" cy="0"/>
          </a:xfrm>
          <a:prstGeom prst="line">
            <a:avLst/>
          </a:prstGeom>
          <a:noFill/>
          <a:ln w="9525">
            <a:solidFill>
              <a:srgbClr val="333399"/>
            </a:solidFill>
            <a:round/>
            <a:headEnd type="triangle" w="med" len="med"/>
            <a:tailEnd/>
          </a:ln>
          <a:effectLst/>
        </p:spPr>
        <p:txBody>
          <a:bodyPr>
            <a:spAutoFit/>
          </a:bodyPr>
          <a:lstStyle/>
          <a:p>
            <a:endParaRPr lang="zh-CN" altLang="en-US">
              <a:latin typeface="Times New Roman" panose="02020603050405020304" pitchFamily="18" charset="0"/>
            </a:endParaRPr>
          </a:p>
        </p:txBody>
      </p:sp>
      <p:sp>
        <p:nvSpPr>
          <p:cNvPr id="26" name="Rectangle 54"/>
          <p:cNvSpPr>
            <a:spLocks noChangeArrowheads="1"/>
          </p:cNvSpPr>
          <p:nvPr/>
        </p:nvSpPr>
        <p:spPr bwMode="auto">
          <a:xfrm>
            <a:off x="1590675" y="4816475"/>
            <a:ext cx="668773" cy="400110"/>
          </a:xfrm>
          <a:prstGeom prst="rect">
            <a:avLst/>
          </a:prstGeom>
          <a:noFill/>
          <a:ln w="9525">
            <a:noFill/>
            <a:miter lim="800000"/>
            <a:headEnd/>
            <a:tailEnd/>
          </a:ln>
          <a:effectLst/>
        </p:spPr>
        <p:txBody>
          <a:bodyPr wrap="none">
            <a:spAutoFit/>
          </a:bodyPr>
          <a:lstStyle/>
          <a:p>
            <a:pPr>
              <a:buFont typeface="Wingdings" pitchFamily="2" charset="2"/>
              <a:buNone/>
            </a:pPr>
            <a:r>
              <a:rPr lang="en-US" altLang="zh-CN" sz="2000">
                <a:solidFill>
                  <a:srgbClr val="800080"/>
                </a:solidFill>
                <a:latin typeface="Times New Roman" panose="02020603050405020304" pitchFamily="18" charset="0"/>
              </a:rPr>
              <a:t>D[2]</a:t>
            </a:r>
          </a:p>
        </p:txBody>
      </p:sp>
      <p:sp>
        <p:nvSpPr>
          <p:cNvPr id="27" name="Line 55"/>
          <p:cNvSpPr>
            <a:spLocks noChangeShapeType="1"/>
          </p:cNvSpPr>
          <p:nvPr/>
        </p:nvSpPr>
        <p:spPr bwMode="auto">
          <a:xfrm flipH="1">
            <a:off x="2239963" y="4037013"/>
            <a:ext cx="533400" cy="0"/>
          </a:xfrm>
          <a:prstGeom prst="line">
            <a:avLst/>
          </a:prstGeom>
          <a:noFill/>
          <a:ln w="9525">
            <a:solidFill>
              <a:srgbClr val="333399"/>
            </a:solidFill>
            <a:round/>
            <a:headEnd type="triangle" w="med" len="med"/>
            <a:tailEnd/>
          </a:ln>
          <a:effectLst/>
        </p:spPr>
        <p:txBody>
          <a:bodyPr>
            <a:spAutoFit/>
          </a:bodyPr>
          <a:lstStyle/>
          <a:p>
            <a:endParaRPr lang="zh-CN" altLang="en-US">
              <a:latin typeface="Times New Roman" panose="02020603050405020304" pitchFamily="18" charset="0"/>
            </a:endParaRPr>
          </a:p>
        </p:txBody>
      </p:sp>
      <p:sp>
        <p:nvSpPr>
          <p:cNvPr id="28" name="Rectangle 56"/>
          <p:cNvSpPr>
            <a:spLocks noChangeArrowheads="1"/>
          </p:cNvSpPr>
          <p:nvPr/>
        </p:nvSpPr>
        <p:spPr bwMode="auto">
          <a:xfrm>
            <a:off x="1590675" y="3792538"/>
            <a:ext cx="668773" cy="400110"/>
          </a:xfrm>
          <a:prstGeom prst="rect">
            <a:avLst/>
          </a:prstGeom>
          <a:noFill/>
          <a:ln w="9525">
            <a:noFill/>
            <a:miter lim="800000"/>
            <a:headEnd/>
            <a:tailEnd/>
          </a:ln>
          <a:effectLst/>
        </p:spPr>
        <p:txBody>
          <a:bodyPr wrap="none">
            <a:spAutoFit/>
          </a:bodyPr>
          <a:lstStyle/>
          <a:p>
            <a:pPr>
              <a:buFont typeface="Wingdings" pitchFamily="2" charset="2"/>
              <a:buNone/>
            </a:pPr>
            <a:r>
              <a:rPr lang="en-US" altLang="zh-CN" sz="2000" dirty="0">
                <a:solidFill>
                  <a:srgbClr val="800080"/>
                </a:solidFill>
                <a:latin typeface="Times New Roman" panose="02020603050405020304" pitchFamily="18" charset="0"/>
              </a:rPr>
              <a:t>D[3]</a:t>
            </a:r>
          </a:p>
        </p:txBody>
      </p:sp>
      <p:sp>
        <p:nvSpPr>
          <p:cNvPr id="29" name="Rectangle 57"/>
          <p:cNvSpPr>
            <a:spLocks noChangeArrowheads="1"/>
          </p:cNvSpPr>
          <p:nvPr/>
        </p:nvSpPr>
        <p:spPr bwMode="auto">
          <a:xfrm>
            <a:off x="2824163" y="3648075"/>
            <a:ext cx="2462212"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latin typeface="Times New Roman" panose="02020603050405020304" pitchFamily="18" charset="0"/>
              </a:rPr>
              <a:t>R </a:t>
            </a:r>
            <a:r>
              <a:rPr lang="zh-CN" altLang="en-US" sz="2000" b="1">
                <a:solidFill>
                  <a:srgbClr val="800080"/>
                </a:solidFill>
                <a:latin typeface="Times New Roman" panose="02020603050405020304" pitchFamily="18" charset="0"/>
              </a:rPr>
              <a:t>的活动记录</a:t>
            </a:r>
          </a:p>
        </p:txBody>
      </p:sp>
      <p:sp>
        <p:nvSpPr>
          <p:cNvPr id="30" name="Line 58"/>
          <p:cNvSpPr>
            <a:spLocks noChangeShapeType="1"/>
          </p:cNvSpPr>
          <p:nvPr/>
        </p:nvSpPr>
        <p:spPr bwMode="auto">
          <a:xfrm>
            <a:off x="2771775" y="3571875"/>
            <a:ext cx="2590800" cy="0"/>
          </a:xfrm>
          <a:prstGeom prst="line">
            <a:avLst/>
          </a:prstGeom>
          <a:noFill/>
          <a:ln w="9525">
            <a:solidFill>
              <a:srgbClr val="800080"/>
            </a:solidFill>
            <a:round/>
            <a:headEnd/>
            <a:tailEnd/>
          </a:ln>
          <a:effectLst/>
        </p:spPr>
        <p:txBody>
          <a:bodyPr>
            <a:spAutoFit/>
          </a:bodyPr>
          <a:lstStyle/>
          <a:p>
            <a:endParaRPr lang="zh-CN" altLang="en-US">
              <a:latin typeface="Times New Roman" panose="02020603050405020304" pitchFamily="18" charset="0"/>
            </a:endParaRPr>
          </a:p>
        </p:txBody>
      </p:sp>
      <p:sp>
        <p:nvSpPr>
          <p:cNvPr id="32" name="Rectangle 4"/>
          <p:cNvSpPr>
            <a:spLocks noChangeArrowheads="1"/>
          </p:cNvSpPr>
          <p:nvPr/>
        </p:nvSpPr>
        <p:spPr bwMode="auto">
          <a:xfrm>
            <a:off x="876300" y="1528763"/>
            <a:ext cx="4838700" cy="1036637"/>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dirty="0">
                <a:solidFill>
                  <a:srgbClr val="800080"/>
                </a:solidFill>
                <a:latin typeface="楷体_GB2312" pitchFamily="49" charset="-122"/>
              </a:rPr>
              <a:t> </a:t>
            </a:r>
            <a:r>
              <a:rPr lang="zh-CN" altLang="en-US" sz="2800" b="1" dirty="0">
                <a:solidFill>
                  <a:srgbClr val="800080"/>
                </a:solidFill>
                <a:latin typeface="Times New Roman" pitchFamily="18" charset="0"/>
              </a:rPr>
              <a:t>嵌套过程语言的栈式分配</a:t>
            </a:r>
            <a:endParaRPr kumimoji="0" lang="zh-CN" altLang="en-US" sz="1000" b="1" dirty="0">
              <a:solidFill>
                <a:srgbClr val="800080"/>
              </a:solidFill>
            </a:endParaRPr>
          </a:p>
          <a:p>
            <a:pPr>
              <a:buClrTx/>
              <a:buFont typeface="Symbol" pitchFamily="18" charset="2"/>
              <a:buNone/>
            </a:pPr>
            <a:endParaRPr kumimoji="0" lang="zh-CN" altLang="en-US" sz="1000" b="1" dirty="0">
              <a:solidFill>
                <a:srgbClr val="800080"/>
              </a:solidFill>
            </a:endParaRPr>
          </a:p>
          <a:p>
            <a:pPr lvl="1">
              <a:buFontTx/>
              <a:buChar char="•"/>
            </a:pPr>
            <a:r>
              <a:rPr lang="zh-CN" altLang="en-US" b="1" dirty="0"/>
              <a:t>  </a:t>
            </a:r>
            <a:r>
              <a:rPr kumimoji="0" lang="en-US" altLang="zh-CN" dirty="0"/>
              <a:t>Display </a:t>
            </a:r>
            <a:r>
              <a:rPr kumimoji="0" lang="zh-CN" altLang="en-US" b="1" dirty="0"/>
              <a:t>表方案</a:t>
            </a:r>
            <a:r>
              <a:rPr kumimoji="0" lang="zh-CN" altLang="en-US" b="1" dirty="0">
                <a:solidFill>
                  <a:srgbClr val="800080"/>
                </a:solidFill>
              </a:rPr>
              <a:t>举例</a:t>
            </a:r>
            <a:endParaRPr lang="zh-CN" altLang="en-US" b="1" dirty="0">
              <a:solidFill>
                <a:srgbClr val="800080"/>
              </a:solidFill>
            </a:endParaRPr>
          </a:p>
        </p:txBody>
      </p:sp>
      <p:sp>
        <p:nvSpPr>
          <p:cNvPr id="31" name="灯片编号占位符 30"/>
          <p:cNvSpPr>
            <a:spLocks noGrp="1"/>
          </p:cNvSpPr>
          <p:nvPr>
            <p:ph type="sldNum" sz="quarter" idx="4"/>
          </p:nvPr>
        </p:nvSpPr>
        <p:spPr/>
        <p:txBody>
          <a:bodyPr/>
          <a:lstStyle/>
          <a:p>
            <a:fld id="{565CE74E-AB26-4998-AD42-012C4C1AD076}" type="slidenum">
              <a:rPr lang="zh-CN" altLang="en-US" smtClean="0"/>
              <a:t>24</a:t>
            </a:fld>
            <a:endParaRPr lang="zh-CN" altLang="en-US"/>
          </a:p>
        </p:txBody>
      </p:sp>
    </p:spTree>
    <p:extLst>
      <p:ext uri="{BB962C8B-B14F-4D97-AF65-F5344CB8AC3E}">
        <p14:creationId xmlns:p14="http://schemas.microsoft.com/office/powerpoint/2010/main" val="2433667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嵌套过程定义中非局部量的访问</a:t>
            </a:r>
          </a:p>
        </p:txBody>
      </p:sp>
      <p:sp>
        <p:nvSpPr>
          <p:cNvPr id="3" name="标题 2"/>
          <p:cNvSpPr>
            <a:spLocks noGrp="1"/>
          </p:cNvSpPr>
          <p:nvPr>
            <p:ph type="title"/>
          </p:nvPr>
        </p:nvSpPr>
        <p:spPr/>
        <p:txBody>
          <a:bodyPr/>
          <a:lstStyle/>
          <a:p>
            <a:r>
              <a:rPr lang="zh-CN" altLang="en-US" dirty="0"/>
              <a:t>二、活动记录</a:t>
            </a:r>
          </a:p>
        </p:txBody>
      </p:sp>
      <p:sp>
        <p:nvSpPr>
          <p:cNvPr id="4" name="Rectangle 4"/>
          <p:cNvSpPr>
            <a:spLocks noChangeArrowheads="1"/>
          </p:cNvSpPr>
          <p:nvPr/>
        </p:nvSpPr>
        <p:spPr bwMode="auto">
          <a:xfrm>
            <a:off x="685800" y="1843088"/>
            <a:ext cx="8458200" cy="1054135"/>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3200" b="1" dirty="0">
                <a:solidFill>
                  <a:srgbClr val="800080"/>
                </a:solidFill>
                <a:latin typeface="楷体_GB2312" pitchFamily="49" charset="-122"/>
              </a:rPr>
              <a:t> </a:t>
            </a:r>
            <a:r>
              <a:rPr lang="zh-CN" altLang="en-US" sz="3200" b="1" dirty="0">
                <a:solidFill>
                  <a:srgbClr val="800080"/>
                </a:solidFill>
                <a:latin typeface="Times New Roman" pitchFamily="18" charset="0"/>
              </a:rPr>
              <a:t>嵌套过程语言的栈式分配</a:t>
            </a:r>
            <a:endParaRPr kumimoji="0" lang="zh-CN" altLang="en-US" sz="1050" b="1" dirty="0">
              <a:solidFill>
                <a:srgbClr val="800080"/>
              </a:solidFill>
            </a:endParaRPr>
          </a:p>
          <a:p>
            <a:pPr>
              <a:buClrTx/>
              <a:buFont typeface="Symbol" pitchFamily="18" charset="2"/>
              <a:buNone/>
            </a:pPr>
            <a:endParaRPr kumimoji="0" lang="zh-CN" altLang="en-US" sz="1050" b="1" dirty="0">
              <a:solidFill>
                <a:srgbClr val="800080"/>
              </a:solidFill>
            </a:endParaRPr>
          </a:p>
          <a:p>
            <a:pPr lvl="1">
              <a:buFontTx/>
              <a:buChar char="•"/>
            </a:pPr>
            <a:r>
              <a:rPr lang="zh-CN" altLang="en-US" sz="2000" b="1" dirty="0"/>
              <a:t>  </a:t>
            </a:r>
            <a:r>
              <a:rPr kumimoji="0" lang="en-US" altLang="zh-CN" sz="2000" dirty="0">
                <a:solidFill>
                  <a:srgbClr val="800080"/>
                </a:solidFill>
              </a:rPr>
              <a:t>Display </a:t>
            </a:r>
            <a:r>
              <a:rPr kumimoji="0" lang="zh-CN" altLang="en-US" sz="2000" b="1" dirty="0">
                <a:solidFill>
                  <a:srgbClr val="800080"/>
                </a:solidFill>
              </a:rPr>
              <a:t>表的维护</a:t>
            </a:r>
            <a:r>
              <a:rPr kumimoji="0" lang="zh-CN" altLang="en-US" sz="2000" b="1" dirty="0"/>
              <a:t>（过程被调用和返回时的保存和恢复）</a:t>
            </a:r>
            <a:r>
              <a:rPr kumimoji="0" lang="zh-CN" altLang="en-US" sz="2000" b="1" dirty="0">
                <a:solidFill>
                  <a:srgbClr val="800080"/>
                </a:solidFill>
              </a:rPr>
              <a:t> </a:t>
            </a:r>
          </a:p>
        </p:txBody>
      </p:sp>
      <p:sp>
        <p:nvSpPr>
          <p:cNvPr id="5" name="Rectangle 5"/>
          <p:cNvSpPr>
            <a:spLocks noChangeArrowheads="1"/>
          </p:cNvSpPr>
          <p:nvPr/>
        </p:nvSpPr>
        <p:spPr bwMode="auto">
          <a:xfrm>
            <a:off x="1447800" y="3062288"/>
            <a:ext cx="7391400" cy="2092325"/>
          </a:xfrm>
          <a:prstGeom prst="rect">
            <a:avLst/>
          </a:prstGeom>
          <a:noFill/>
          <a:ln w="9525">
            <a:noFill/>
            <a:miter lim="800000"/>
            <a:headEnd/>
            <a:tailEnd/>
          </a:ln>
          <a:effectLst/>
        </p:spPr>
        <p:txBody>
          <a:bodyPr>
            <a:spAutoFit/>
          </a:bodyPr>
          <a:lstStyle/>
          <a:p>
            <a:pPr>
              <a:buFont typeface="Wingdings" pitchFamily="2" charset="2"/>
              <a:buNone/>
            </a:pPr>
            <a:r>
              <a:rPr lang="zh-CN" altLang="en-US" b="1" dirty="0"/>
              <a:t>方法一  极端的方法是把整个 </a:t>
            </a:r>
            <a:r>
              <a:rPr lang="en-US" altLang="zh-CN" dirty="0"/>
              <a:t>Display </a:t>
            </a:r>
            <a:r>
              <a:rPr lang="zh-CN" altLang="en-US" b="1" dirty="0"/>
              <a:t>表存入活动记录</a:t>
            </a:r>
          </a:p>
          <a:p>
            <a:pPr>
              <a:buFont typeface="Wingdings" pitchFamily="2" charset="2"/>
              <a:buNone/>
            </a:pPr>
            <a:r>
              <a:rPr lang="zh-CN" altLang="en-US" b="1" dirty="0"/>
              <a:t>             若过程为第 </a:t>
            </a:r>
            <a:r>
              <a:rPr lang="en-US" altLang="zh-CN" i="1" dirty="0"/>
              <a:t>n </a:t>
            </a:r>
            <a:r>
              <a:rPr lang="zh-CN" altLang="en-US" b="1" dirty="0"/>
              <a:t>层，则需要保存 </a:t>
            </a:r>
            <a:r>
              <a:rPr lang="en-US" altLang="zh-CN" dirty="0"/>
              <a:t>D[0] ~D[</a:t>
            </a:r>
            <a:r>
              <a:rPr lang="en-US" altLang="zh-CN" i="1" dirty="0"/>
              <a:t>n</a:t>
            </a:r>
            <a:r>
              <a:rPr lang="en-US" altLang="zh-CN" dirty="0"/>
              <a:t>] </a:t>
            </a:r>
            <a:r>
              <a:rPr lang="zh-CN" altLang="en-US" b="1" dirty="0"/>
              <a:t>）</a:t>
            </a:r>
          </a:p>
          <a:p>
            <a:pPr>
              <a:buFont typeface="Wingdings" pitchFamily="2" charset="2"/>
              <a:buNone/>
            </a:pPr>
            <a:endParaRPr lang="zh-CN" altLang="en-US" sz="1000" b="1" dirty="0"/>
          </a:p>
          <a:p>
            <a:pPr>
              <a:buFont typeface="Wingdings" pitchFamily="2" charset="2"/>
              <a:buNone/>
            </a:pPr>
            <a:r>
              <a:rPr lang="zh-CN" altLang="en-US" b="1" dirty="0"/>
              <a:t>              一个过程（处于第 </a:t>
            </a:r>
            <a:r>
              <a:rPr lang="en-US" altLang="zh-CN" i="1" dirty="0"/>
              <a:t>n </a:t>
            </a:r>
            <a:r>
              <a:rPr lang="zh-CN" altLang="en-US" b="1" dirty="0"/>
              <a:t>层）被调用时，从调用</a:t>
            </a:r>
          </a:p>
          <a:p>
            <a:pPr>
              <a:buFont typeface="Wingdings" pitchFamily="2" charset="2"/>
              <a:buNone/>
            </a:pPr>
            <a:r>
              <a:rPr lang="zh-CN" altLang="en-US" b="1" dirty="0"/>
              <a:t>              过程的 </a:t>
            </a:r>
            <a:r>
              <a:rPr lang="en-US" altLang="zh-CN" dirty="0"/>
              <a:t>Display </a:t>
            </a:r>
            <a:r>
              <a:rPr lang="zh-CN" altLang="en-US" b="1" dirty="0"/>
              <a:t>表中自下向上抄录 </a:t>
            </a:r>
            <a:r>
              <a:rPr lang="en-US" altLang="zh-CN" i="1" dirty="0"/>
              <a:t>n</a:t>
            </a:r>
            <a:r>
              <a:rPr lang="en-US" altLang="zh-CN" dirty="0"/>
              <a:t> </a:t>
            </a:r>
            <a:r>
              <a:rPr lang="zh-CN" altLang="en-US" b="1" dirty="0"/>
              <a:t>个 </a:t>
            </a:r>
            <a:r>
              <a:rPr lang="en-US" altLang="zh-CN" dirty="0"/>
              <a:t>TOP</a:t>
            </a:r>
          </a:p>
          <a:p>
            <a:pPr>
              <a:buFont typeface="Wingdings" pitchFamily="2" charset="2"/>
              <a:buNone/>
            </a:pPr>
            <a:r>
              <a:rPr lang="en-US" altLang="zh-CN" dirty="0"/>
              <a:t>              </a:t>
            </a:r>
            <a:r>
              <a:rPr lang="zh-CN" altLang="en-US" b="1" dirty="0"/>
              <a:t>值，再加上本层的 </a:t>
            </a:r>
            <a:r>
              <a:rPr lang="en-US" altLang="zh-CN" dirty="0"/>
              <a:t>TOP </a:t>
            </a:r>
            <a:r>
              <a:rPr lang="zh-CN" altLang="en-US" b="1" dirty="0"/>
              <a:t>值</a:t>
            </a:r>
          </a:p>
        </p:txBody>
      </p:sp>
      <p:sp>
        <p:nvSpPr>
          <p:cNvPr id="6" name="Rectangle 6"/>
          <p:cNvSpPr>
            <a:spLocks noChangeArrowheads="1"/>
          </p:cNvSpPr>
          <p:nvPr/>
        </p:nvSpPr>
        <p:spPr bwMode="auto">
          <a:xfrm>
            <a:off x="1447800" y="5348288"/>
            <a:ext cx="7543800" cy="822325"/>
          </a:xfrm>
          <a:prstGeom prst="rect">
            <a:avLst/>
          </a:prstGeom>
          <a:noFill/>
          <a:ln w="9525">
            <a:noFill/>
            <a:miter lim="800000"/>
            <a:headEnd/>
            <a:tailEnd/>
          </a:ln>
          <a:effectLst/>
        </p:spPr>
        <p:txBody>
          <a:bodyPr>
            <a:spAutoFit/>
          </a:bodyPr>
          <a:lstStyle/>
          <a:p>
            <a:pPr>
              <a:buFont typeface="Wingdings" pitchFamily="2" charset="2"/>
              <a:buNone/>
            </a:pPr>
            <a:r>
              <a:rPr lang="zh-CN" altLang="en-US" b="1" dirty="0"/>
              <a:t>方法二  只在活动记录保存一个的 </a:t>
            </a:r>
            <a:r>
              <a:rPr lang="en-US" altLang="zh-CN" dirty="0"/>
              <a:t>Display </a:t>
            </a:r>
            <a:r>
              <a:rPr lang="zh-CN" altLang="en-US" b="1" dirty="0"/>
              <a:t>表项，在静</a:t>
            </a:r>
          </a:p>
          <a:p>
            <a:pPr>
              <a:buFont typeface="Wingdings" pitchFamily="2" charset="2"/>
              <a:buNone/>
            </a:pPr>
            <a:r>
              <a:rPr lang="zh-CN" altLang="en-US" b="1" dirty="0"/>
              <a:t>             态存储区或专用寄存器中维护全局 </a:t>
            </a:r>
            <a:r>
              <a:rPr lang="en-US" altLang="zh-CN" dirty="0"/>
              <a:t>Display </a:t>
            </a:r>
            <a:r>
              <a:rPr lang="zh-CN" altLang="en-US" b="1" dirty="0"/>
              <a:t>表</a:t>
            </a:r>
          </a:p>
        </p:txBody>
      </p:sp>
      <p:sp>
        <p:nvSpPr>
          <p:cNvPr id="7" name="灯片编号占位符 6"/>
          <p:cNvSpPr>
            <a:spLocks noGrp="1"/>
          </p:cNvSpPr>
          <p:nvPr>
            <p:ph type="sldNum" sz="quarter" idx="4"/>
          </p:nvPr>
        </p:nvSpPr>
        <p:spPr/>
        <p:txBody>
          <a:bodyPr/>
          <a:lstStyle/>
          <a:p>
            <a:fld id="{565CE74E-AB26-4998-AD42-012C4C1AD076}" type="slidenum">
              <a:rPr lang="zh-CN" altLang="en-US" smtClean="0"/>
              <a:t>25</a:t>
            </a:fld>
            <a:endParaRPr lang="zh-CN" altLang="en-US"/>
          </a:p>
        </p:txBody>
      </p:sp>
    </p:spTree>
    <p:extLst>
      <p:ext uri="{BB962C8B-B14F-4D97-AF65-F5344CB8AC3E}">
        <p14:creationId xmlns:p14="http://schemas.microsoft.com/office/powerpoint/2010/main" val="2711855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嵌套过程定义中非局部量的访问</a:t>
            </a:r>
          </a:p>
          <a:p>
            <a:endParaRPr lang="zh-CN" altLang="en-US" dirty="0"/>
          </a:p>
        </p:txBody>
      </p:sp>
      <p:sp>
        <p:nvSpPr>
          <p:cNvPr id="3" name="标题 2"/>
          <p:cNvSpPr>
            <a:spLocks noGrp="1"/>
          </p:cNvSpPr>
          <p:nvPr>
            <p:ph type="title"/>
          </p:nvPr>
        </p:nvSpPr>
        <p:spPr/>
        <p:txBody>
          <a:bodyPr/>
          <a:lstStyle/>
          <a:p>
            <a:r>
              <a:rPr lang="zh-CN" altLang="en-US" dirty="0"/>
              <a:t>二、活动记录</a:t>
            </a:r>
          </a:p>
        </p:txBody>
      </p:sp>
      <p:sp>
        <p:nvSpPr>
          <p:cNvPr id="4" name="Rectangle 4"/>
          <p:cNvSpPr>
            <a:spLocks noChangeArrowheads="1"/>
          </p:cNvSpPr>
          <p:nvPr/>
        </p:nvSpPr>
        <p:spPr bwMode="auto">
          <a:xfrm>
            <a:off x="876300" y="1600200"/>
            <a:ext cx="4838700" cy="1036638"/>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a:solidFill>
                  <a:srgbClr val="800080"/>
                </a:solidFill>
                <a:latin typeface="楷体_GB2312" pitchFamily="49" charset="-122"/>
              </a:rPr>
              <a:t> </a:t>
            </a:r>
            <a:r>
              <a:rPr lang="zh-CN" altLang="en-US" sz="2800" b="1">
                <a:solidFill>
                  <a:srgbClr val="800080"/>
                </a:solidFill>
                <a:latin typeface="Times New Roman" pitchFamily="18" charset="0"/>
              </a:rPr>
              <a:t>嵌套过程语言的栈式分配</a:t>
            </a:r>
            <a:endParaRPr kumimoji="0" lang="zh-CN" altLang="en-US" sz="1000" b="1">
              <a:solidFill>
                <a:srgbClr val="800080"/>
              </a:solidFill>
            </a:endParaRPr>
          </a:p>
          <a:p>
            <a:pPr>
              <a:buClrTx/>
              <a:buFont typeface="Symbol" pitchFamily="18" charset="2"/>
              <a:buNone/>
            </a:pPr>
            <a:endParaRPr kumimoji="0" lang="zh-CN" altLang="en-US" sz="1000" b="1">
              <a:solidFill>
                <a:srgbClr val="800080"/>
              </a:solidFill>
            </a:endParaRPr>
          </a:p>
          <a:p>
            <a:pPr lvl="1">
              <a:buFontTx/>
              <a:buChar char="•"/>
            </a:pPr>
            <a:r>
              <a:rPr lang="zh-CN" altLang="en-US" b="1"/>
              <a:t>  </a:t>
            </a:r>
            <a:r>
              <a:rPr kumimoji="0" lang="en-US" altLang="zh-CN"/>
              <a:t>Display </a:t>
            </a:r>
            <a:r>
              <a:rPr kumimoji="0" lang="zh-CN" altLang="en-US" b="1"/>
              <a:t>表的维护</a:t>
            </a:r>
            <a:r>
              <a:rPr kumimoji="0" lang="zh-CN" altLang="en-US" b="1">
                <a:solidFill>
                  <a:srgbClr val="800080"/>
                </a:solidFill>
              </a:rPr>
              <a:t>举例</a:t>
            </a:r>
          </a:p>
        </p:txBody>
      </p:sp>
      <p:sp>
        <p:nvSpPr>
          <p:cNvPr id="5" name="Line 6"/>
          <p:cNvSpPr>
            <a:spLocks noChangeShapeType="1"/>
          </p:cNvSpPr>
          <p:nvPr/>
        </p:nvSpPr>
        <p:spPr bwMode="auto">
          <a:xfrm>
            <a:off x="2743200" y="3352800"/>
            <a:ext cx="0" cy="3429000"/>
          </a:xfrm>
          <a:prstGeom prst="line">
            <a:avLst/>
          </a:prstGeom>
          <a:noFill/>
          <a:ln w="9525">
            <a:solidFill>
              <a:srgbClr val="800080"/>
            </a:solidFill>
            <a:round/>
            <a:headEnd/>
            <a:tailEnd/>
          </a:ln>
          <a:effectLst/>
        </p:spPr>
        <p:txBody>
          <a:bodyPr>
            <a:spAutoFit/>
          </a:bodyPr>
          <a:lstStyle/>
          <a:p>
            <a:endParaRPr lang="zh-CN" altLang="en-US"/>
          </a:p>
        </p:txBody>
      </p:sp>
      <p:sp>
        <p:nvSpPr>
          <p:cNvPr id="6" name="Line 7"/>
          <p:cNvSpPr>
            <a:spLocks noChangeShapeType="1"/>
          </p:cNvSpPr>
          <p:nvPr/>
        </p:nvSpPr>
        <p:spPr bwMode="auto">
          <a:xfrm>
            <a:off x="5334000" y="3352800"/>
            <a:ext cx="0" cy="3429000"/>
          </a:xfrm>
          <a:prstGeom prst="line">
            <a:avLst/>
          </a:prstGeom>
          <a:noFill/>
          <a:ln w="9525">
            <a:solidFill>
              <a:srgbClr val="800080"/>
            </a:solidFill>
            <a:round/>
            <a:headEnd/>
            <a:tailEnd/>
          </a:ln>
          <a:effectLst/>
        </p:spPr>
        <p:txBody>
          <a:bodyPr>
            <a:spAutoFit/>
          </a:bodyPr>
          <a:lstStyle/>
          <a:p>
            <a:endParaRPr lang="zh-CN" altLang="en-US"/>
          </a:p>
        </p:txBody>
      </p:sp>
      <p:sp>
        <p:nvSpPr>
          <p:cNvPr id="7" name="Line 8"/>
          <p:cNvSpPr>
            <a:spLocks noChangeShapeType="1"/>
          </p:cNvSpPr>
          <p:nvPr/>
        </p:nvSpPr>
        <p:spPr bwMode="auto">
          <a:xfrm>
            <a:off x="2743200" y="67818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8" name="Line 9"/>
          <p:cNvSpPr>
            <a:spLocks noChangeShapeType="1"/>
          </p:cNvSpPr>
          <p:nvPr/>
        </p:nvSpPr>
        <p:spPr bwMode="auto">
          <a:xfrm>
            <a:off x="2743200" y="62484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9" name="Rectangle 10"/>
          <p:cNvSpPr>
            <a:spLocks noChangeArrowheads="1"/>
          </p:cNvSpPr>
          <p:nvPr/>
        </p:nvSpPr>
        <p:spPr bwMode="auto">
          <a:xfrm>
            <a:off x="2795588" y="6308725"/>
            <a:ext cx="2462212"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main </a:t>
            </a:r>
            <a:r>
              <a:rPr lang="zh-CN" altLang="en-US" sz="2000" b="1">
                <a:solidFill>
                  <a:srgbClr val="800080"/>
                </a:solidFill>
              </a:rPr>
              <a:t>的活动记录</a:t>
            </a:r>
          </a:p>
        </p:txBody>
      </p:sp>
      <p:sp>
        <p:nvSpPr>
          <p:cNvPr id="10" name="Line 11"/>
          <p:cNvSpPr>
            <a:spLocks noChangeShapeType="1"/>
          </p:cNvSpPr>
          <p:nvPr/>
        </p:nvSpPr>
        <p:spPr bwMode="auto">
          <a:xfrm>
            <a:off x="2743200" y="57150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1" name="Rectangle 12"/>
          <p:cNvSpPr>
            <a:spLocks noChangeArrowheads="1"/>
          </p:cNvSpPr>
          <p:nvPr/>
        </p:nvSpPr>
        <p:spPr bwMode="auto">
          <a:xfrm>
            <a:off x="2795588" y="5257800"/>
            <a:ext cx="2462212"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P </a:t>
            </a:r>
            <a:r>
              <a:rPr lang="zh-CN" altLang="en-US" sz="2000" b="1">
                <a:solidFill>
                  <a:srgbClr val="800080"/>
                </a:solidFill>
              </a:rPr>
              <a:t>的活动记录</a:t>
            </a:r>
          </a:p>
        </p:txBody>
      </p:sp>
      <p:sp>
        <p:nvSpPr>
          <p:cNvPr id="12" name="Line 13"/>
          <p:cNvSpPr>
            <a:spLocks noChangeShapeType="1"/>
          </p:cNvSpPr>
          <p:nvPr/>
        </p:nvSpPr>
        <p:spPr bwMode="auto">
          <a:xfrm>
            <a:off x="2743200" y="51816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3" name="Rectangle 14"/>
          <p:cNvSpPr>
            <a:spLocks noChangeArrowheads="1"/>
          </p:cNvSpPr>
          <p:nvPr/>
        </p:nvSpPr>
        <p:spPr bwMode="auto">
          <a:xfrm>
            <a:off x="2743200" y="4724400"/>
            <a:ext cx="25146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Q </a:t>
            </a:r>
            <a:r>
              <a:rPr lang="zh-CN" altLang="en-US" sz="2000" b="1">
                <a:solidFill>
                  <a:srgbClr val="800080"/>
                </a:solidFill>
              </a:rPr>
              <a:t>的活动记录</a:t>
            </a:r>
          </a:p>
        </p:txBody>
      </p:sp>
      <p:sp>
        <p:nvSpPr>
          <p:cNvPr id="14" name="Line 15"/>
          <p:cNvSpPr>
            <a:spLocks noChangeShapeType="1"/>
          </p:cNvSpPr>
          <p:nvPr/>
        </p:nvSpPr>
        <p:spPr bwMode="auto">
          <a:xfrm>
            <a:off x="2743200" y="46482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5" name="Rectangle 16"/>
          <p:cNvSpPr>
            <a:spLocks noChangeArrowheads="1"/>
          </p:cNvSpPr>
          <p:nvPr/>
        </p:nvSpPr>
        <p:spPr bwMode="auto">
          <a:xfrm>
            <a:off x="2795588" y="4114800"/>
            <a:ext cx="2462212"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t>Display </a:t>
            </a:r>
            <a:r>
              <a:rPr lang="zh-CN" altLang="en-US" sz="2000" b="1"/>
              <a:t>表</a:t>
            </a:r>
          </a:p>
        </p:txBody>
      </p:sp>
      <p:sp>
        <p:nvSpPr>
          <p:cNvPr id="16" name="Rectangle 17"/>
          <p:cNvSpPr>
            <a:spLocks noChangeArrowheads="1"/>
          </p:cNvSpPr>
          <p:nvPr/>
        </p:nvSpPr>
        <p:spPr bwMode="auto">
          <a:xfrm>
            <a:off x="1258888" y="2681288"/>
            <a:ext cx="4640262" cy="457200"/>
          </a:xfrm>
          <a:prstGeom prst="rect">
            <a:avLst/>
          </a:prstGeom>
          <a:noFill/>
          <a:ln w="9525">
            <a:noFill/>
            <a:miter lim="800000"/>
            <a:headEnd/>
            <a:tailEnd/>
          </a:ln>
          <a:effectLst/>
        </p:spPr>
        <p:txBody>
          <a:bodyPr wrap="none">
            <a:spAutoFit/>
          </a:bodyPr>
          <a:lstStyle/>
          <a:p>
            <a:pPr algn="ctr" eaLnBrk="0" hangingPunct="0">
              <a:buClrTx/>
              <a:buFontTx/>
              <a:buNone/>
            </a:pPr>
            <a:r>
              <a:rPr lang="zh-CN" altLang="en-US" b="1"/>
              <a:t>活动记录中保存完整的</a:t>
            </a:r>
            <a:r>
              <a:rPr lang="en-US" altLang="zh-CN"/>
              <a:t>Display </a:t>
            </a:r>
            <a:r>
              <a:rPr lang="zh-CN" altLang="en-US" b="1"/>
              <a:t>表</a:t>
            </a:r>
          </a:p>
        </p:txBody>
      </p:sp>
      <p:sp>
        <p:nvSpPr>
          <p:cNvPr id="17" name="Rectangle 22"/>
          <p:cNvSpPr>
            <a:spLocks noChangeArrowheads="1"/>
          </p:cNvSpPr>
          <p:nvPr/>
        </p:nvSpPr>
        <p:spPr bwMode="auto">
          <a:xfrm>
            <a:off x="2795588" y="5791200"/>
            <a:ext cx="2462212"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S </a:t>
            </a:r>
            <a:r>
              <a:rPr lang="zh-CN" altLang="en-US" sz="2000" b="1">
                <a:solidFill>
                  <a:srgbClr val="800080"/>
                </a:solidFill>
              </a:rPr>
              <a:t>的活动记录</a:t>
            </a:r>
          </a:p>
        </p:txBody>
      </p:sp>
      <p:sp>
        <p:nvSpPr>
          <p:cNvPr id="18" name="Line 23"/>
          <p:cNvSpPr>
            <a:spLocks noChangeShapeType="1"/>
          </p:cNvSpPr>
          <p:nvPr/>
        </p:nvSpPr>
        <p:spPr bwMode="auto">
          <a:xfrm>
            <a:off x="2743200" y="3521075"/>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9" name="Line 24"/>
          <p:cNvSpPr>
            <a:spLocks noChangeShapeType="1"/>
          </p:cNvSpPr>
          <p:nvPr/>
        </p:nvSpPr>
        <p:spPr bwMode="auto">
          <a:xfrm flipH="1" flipV="1">
            <a:off x="2209800" y="6172200"/>
            <a:ext cx="533400" cy="53340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20" name="Line 25"/>
          <p:cNvSpPr>
            <a:spLocks noChangeShapeType="1"/>
          </p:cNvSpPr>
          <p:nvPr/>
        </p:nvSpPr>
        <p:spPr bwMode="auto">
          <a:xfrm flipH="1">
            <a:off x="2209800" y="3444875"/>
            <a:ext cx="5334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21" name="Rectangle 26"/>
          <p:cNvSpPr>
            <a:spLocks noChangeArrowheads="1"/>
          </p:cNvSpPr>
          <p:nvPr/>
        </p:nvSpPr>
        <p:spPr bwMode="auto">
          <a:xfrm>
            <a:off x="1371600" y="3276600"/>
            <a:ext cx="8382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TOP</a:t>
            </a:r>
            <a:endParaRPr lang="en-US" altLang="zh-CN" sz="2000" b="1"/>
          </a:p>
        </p:txBody>
      </p:sp>
      <p:sp>
        <p:nvSpPr>
          <p:cNvPr id="22" name="Rectangle 27"/>
          <p:cNvSpPr>
            <a:spLocks noChangeArrowheads="1"/>
          </p:cNvSpPr>
          <p:nvPr/>
        </p:nvSpPr>
        <p:spPr bwMode="auto">
          <a:xfrm>
            <a:off x="1027113" y="5927725"/>
            <a:ext cx="649287" cy="396875"/>
          </a:xfrm>
          <a:prstGeom prst="rect">
            <a:avLst/>
          </a:prstGeom>
          <a:noFill/>
          <a:ln w="9525">
            <a:noFill/>
            <a:miter lim="800000"/>
            <a:headEnd/>
            <a:tailEnd/>
          </a:ln>
          <a:effectLst/>
        </p:spPr>
        <p:txBody>
          <a:bodyPr wrap="none">
            <a:spAutoFit/>
          </a:bodyPr>
          <a:lstStyle/>
          <a:p>
            <a:pPr>
              <a:buFont typeface="Wingdings" pitchFamily="2" charset="2"/>
              <a:buNone/>
            </a:pPr>
            <a:r>
              <a:rPr lang="en-US" altLang="zh-CN" sz="2000">
                <a:solidFill>
                  <a:srgbClr val="800080"/>
                </a:solidFill>
              </a:rPr>
              <a:t>D[0]</a:t>
            </a:r>
          </a:p>
        </p:txBody>
      </p:sp>
      <p:sp>
        <p:nvSpPr>
          <p:cNvPr id="23" name="Line 28"/>
          <p:cNvSpPr>
            <a:spLocks noChangeShapeType="1"/>
          </p:cNvSpPr>
          <p:nvPr/>
        </p:nvSpPr>
        <p:spPr bwMode="auto">
          <a:xfrm flipH="1">
            <a:off x="2209800" y="5638800"/>
            <a:ext cx="5334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24" name="Rectangle 29"/>
          <p:cNvSpPr>
            <a:spLocks noChangeArrowheads="1"/>
          </p:cNvSpPr>
          <p:nvPr/>
        </p:nvSpPr>
        <p:spPr bwMode="auto">
          <a:xfrm>
            <a:off x="1027113" y="5394325"/>
            <a:ext cx="649287" cy="396875"/>
          </a:xfrm>
          <a:prstGeom prst="rect">
            <a:avLst/>
          </a:prstGeom>
          <a:noFill/>
          <a:ln w="9525">
            <a:noFill/>
            <a:miter lim="800000"/>
            <a:headEnd/>
            <a:tailEnd/>
          </a:ln>
          <a:effectLst/>
        </p:spPr>
        <p:txBody>
          <a:bodyPr wrap="none">
            <a:spAutoFit/>
          </a:bodyPr>
          <a:lstStyle/>
          <a:p>
            <a:pPr>
              <a:buFont typeface="Wingdings" pitchFamily="2" charset="2"/>
              <a:buNone/>
            </a:pPr>
            <a:r>
              <a:rPr lang="en-US" altLang="zh-CN" sz="2000">
                <a:solidFill>
                  <a:srgbClr val="800080"/>
                </a:solidFill>
              </a:rPr>
              <a:t>D[1]</a:t>
            </a:r>
          </a:p>
        </p:txBody>
      </p:sp>
      <p:sp>
        <p:nvSpPr>
          <p:cNvPr id="25" name="Line 30"/>
          <p:cNvSpPr>
            <a:spLocks noChangeShapeType="1"/>
          </p:cNvSpPr>
          <p:nvPr/>
        </p:nvSpPr>
        <p:spPr bwMode="auto">
          <a:xfrm flipH="1">
            <a:off x="2209800" y="5105400"/>
            <a:ext cx="5334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26" name="Rectangle 31"/>
          <p:cNvSpPr>
            <a:spLocks noChangeArrowheads="1"/>
          </p:cNvSpPr>
          <p:nvPr/>
        </p:nvSpPr>
        <p:spPr bwMode="auto">
          <a:xfrm>
            <a:off x="1027113" y="4860925"/>
            <a:ext cx="649287" cy="396875"/>
          </a:xfrm>
          <a:prstGeom prst="rect">
            <a:avLst/>
          </a:prstGeom>
          <a:noFill/>
          <a:ln w="9525">
            <a:noFill/>
            <a:miter lim="800000"/>
            <a:headEnd/>
            <a:tailEnd/>
          </a:ln>
          <a:effectLst/>
        </p:spPr>
        <p:txBody>
          <a:bodyPr wrap="none">
            <a:spAutoFit/>
          </a:bodyPr>
          <a:lstStyle/>
          <a:p>
            <a:pPr>
              <a:buFont typeface="Wingdings" pitchFamily="2" charset="2"/>
              <a:buNone/>
            </a:pPr>
            <a:r>
              <a:rPr lang="en-US" altLang="zh-CN" sz="2000">
                <a:solidFill>
                  <a:srgbClr val="800080"/>
                </a:solidFill>
              </a:rPr>
              <a:t>D[2]</a:t>
            </a:r>
          </a:p>
        </p:txBody>
      </p:sp>
      <p:sp>
        <p:nvSpPr>
          <p:cNvPr id="27" name="Line 32"/>
          <p:cNvSpPr>
            <a:spLocks noChangeShapeType="1"/>
          </p:cNvSpPr>
          <p:nvPr/>
        </p:nvSpPr>
        <p:spPr bwMode="auto">
          <a:xfrm flipH="1">
            <a:off x="2209800" y="4587875"/>
            <a:ext cx="5334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28" name="Rectangle 33"/>
          <p:cNvSpPr>
            <a:spLocks noChangeArrowheads="1"/>
          </p:cNvSpPr>
          <p:nvPr/>
        </p:nvSpPr>
        <p:spPr bwMode="auto">
          <a:xfrm>
            <a:off x="1027113" y="4343400"/>
            <a:ext cx="649287" cy="396875"/>
          </a:xfrm>
          <a:prstGeom prst="rect">
            <a:avLst/>
          </a:prstGeom>
          <a:noFill/>
          <a:ln w="9525">
            <a:noFill/>
            <a:miter lim="800000"/>
            <a:headEnd/>
            <a:tailEnd/>
          </a:ln>
          <a:effectLst/>
        </p:spPr>
        <p:txBody>
          <a:bodyPr wrap="none">
            <a:spAutoFit/>
          </a:bodyPr>
          <a:lstStyle/>
          <a:p>
            <a:pPr>
              <a:buFont typeface="Wingdings" pitchFamily="2" charset="2"/>
              <a:buNone/>
            </a:pPr>
            <a:r>
              <a:rPr lang="en-US" altLang="zh-CN" sz="2000">
                <a:solidFill>
                  <a:srgbClr val="800080"/>
                </a:solidFill>
              </a:rPr>
              <a:t>D[3]</a:t>
            </a:r>
          </a:p>
        </p:txBody>
      </p:sp>
      <p:sp>
        <p:nvSpPr>
          <p:cNvPr id="29" name="Rectangle 34"/>
          <p:cNvSpPr>
            <a:spLocks noChangeArrowheads="1"/>
          </p:cNvSpPr>
          <p:nvPr/>
        </p:nvSpPr>
        <p:spPr bwMode="auto">
          <a:xfrm>
            <a:off x="2819400" y="3657600"/>
            <a:ext cx="25146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R </a:t>
            </a:r>
            <a:r>
              <a:rPr lang="zh-CN" altLang="en-US" sz="2000" b="1">
                <a:solidFill>
                  <a:srgbClr val="800080"/>
                </a:solidFill>
              </a:rPr>
              <a:t>的活动记录</a:t>
            </a:r>
          </a:p>
        </p:txBody>
      </p:sp>
      <p:sp>
        <p:nvSpPr>
          <p:cNvPr id="30" name="Line 35"/>
          <p:cNvSpPr>
            <a:spLocks noChangeShapeType="1"/>
          </p:cNvSpPr>
          <p:nvPr/>
        </p:nvSpPr>
        <p:spPr bwMode="auto">
          <a:xfrm>
            <a:off x="1676400" y="4038600"/>
            <a:ext cx="0" cy="2362200"/>
          </a:xfrm>
          <a:prstGeom prst="line">
            <a:avLst/>
          </a:prstGeom>
          <a:noFill/>
          <a:ln w="9525">
            <a:solidFill>
              <a:srgbClr val="800080"/>
            </a:solidFill>
            <a:round/>
            <a:headEnd/>
            <a:tailEnd/>
          </a:ln>
          <a:effectLst/>
        </p:spPr>
        <p:txBody>
          <a:bodyPr>
            <a:spAutoFit/>
          </a:bodyPr>
          <a:lstStyle/>
          <a:p>
            <a:endParaRPr lang="zh-CN" altLang="en-US"/>
          </a:p>
        </p:txBody>
      </p:sp>
      <p:sp>
        <p:nvSpPr>
          <p:cNvPr id="31" name="Line 36"/>
          <p:cNvSpPr>
            <a:spLocks noChangeShapeType="1"/>
          </p:cNvSpPr>
          <p:nvPr/>
        </p:nvSpPr>
        <p:spPr bwMode="auto">
          <a:xfrm>
            <a:off x="2362200" y="4038600"/>
            <a:ext cx="0" cy="2362200"/>
          </a:xfrm>
          <a:prstGeom prst="line">
            <a:avLst/>
          </a:prstGeom>
          <a:noFill/>
          <a:ln w="9525">
            <a:solidFill>
              <a:srgbClr val="800080"/>
            </a:solidFill>
            <a:round/>
            <a:headEnd/>
            <a:tailEnd/>
          </a:ln>
          <a:effectLst/>
        </p:spPr>
        <p:txBody>
          <a:bodyPr>
            <a:spAutoFit/>
          </a:bodyPr>
          <a:lstStyle/>
          <a:p>
            <a:endParaRPr lang="zh-CN" altLang="en-US"/>
          </a:p>
        </p:txBody>
      </p:sp>
      <p:sp>
        <p:nvSpPr>
          <p:cNvPr id="32" name="Line 37"/>
          <p:cNvSpPr>
            <a:spLocks noChangeShapeType="1"/>
          </p:cNvSpPr>
          <p:nvPr/>
        </p:nvSpPr>
        <p:spPr bwMode="auto">
          <a:xfrm>
            <a:off x="1676400" y="6400800"/>
            <a:ext cx="685800" cy="0"/>
          </a:xfrm>
          <a:prstGeom prst="line">
            <a:avLst/>
          </a:prstGeom>
          <a:noFill/>
          <a:ln w="9525">
            <a:solidFill>
              <a:srgbClr val="800080"/>
            </a:solidFill>
            <a:round/>
            <a:headEnd/>
            <a:tailEnd/>
          </a:ln>
          <a:effectLst/>
        </p:spPr>
        <p:txBody>
          <a:bodyPr>
            <a:spAutoFit/>
          </a:bodyPr>
          <a:lstStyle/>
          <a:p>
            <a:endParaRPr lang="zh-CN" altLang="en-US"/>
          </a:p>
        </p:txBody>
      </p:sp>
      <p:sp>
        <p:nvSpPr>
          <p:cNvPr id="33" name="Line 38"/>
          <p:cNvSpPr>
            <a:spLocks noChangeShapeType="1"/>
          </p:cNvSpPr>
          <p:nvPr/>
        </p:nvSpPr>
        <p:spPr bwMode="auto">
          <a:xfrm>
            <a:off x="1676400" y="5867400"/>
            <a:ext cx="685800" cy="0"/>
          </a:xfrm>
          <a:prstGeom prst="line">
            <a:avLst/>
          </a:prstGeom>
          <a:noFill/>
          <a:ln w="9525">
            <a:solidFill>
              <a:srgbClr val="800080"/>
            </a:solidFill>
            <a:round/>
            <a:headEnd/>
            <a:tailEnd/>
          </a:ln>
          <a:effectLst/>
        </p:spPr>
        <p:txBody>
          <a:bodyPr>
            <a:spAutoFit/>
          </a:bodyPr>
          <a:lstStyle/>
          <a:p>
            <a:endParaRPr lang="zh-CN" altLang="en-US"/>
          </a:p>
        </p:txBody>
      </p:sp>
      <p:sp>
        <p:nvSpPr>
          <p:cNvPr id="34" name="Line 39"/>
          <p:cNvSpPr>
            <a:spLocks noChangeShapeType="1"/>
          </p:cNvSpPr>
          <p:nvPr/>
        </p:nvSpPr>
        <p:spPr bwMode="auto">
          <a:xfrm>
            <a:off x="1676400" y="5334000"/>
            <a:ext cx="685800" cy="0"/>
          </a:xfrm>
          <a:prstGeom prst="line">
            <a:avLst/>
          </a:prstGeom>
          <a:noFill/>
          <a:ln w="9525">
            <a:solidFill>
              <a:srgbClr val="800080"/>
            </a:solidFill>
            <a:round/>
            <a:headEnd/>
            <a:tailEnd/>
          </a:ln>
          <a:effectLst/>
        </p:spPr>
        <p:txBody>
          <a:bodyPr>
            <a:spAutoFit/>
          </a:bodyPr>
          <a:lstStyle/>
          <a:p>
            <a:endParaRPr lang="zh-CN" altLang="en-US"/>
          </a:p>
        </p:txBody>
      </p:sp>
      <p:sp>
        <p:nvSpPr>
          <p:cNvPr id="35" name="Line 40"/>
          <p:cNvSpPr>
            <a:spLocks noChangeShapeType="1"/>
          </p:cNvSpPr>
          <p:nvPr/>
        </p:nvSpPr>
        <p:spPr bwMode="auto">
          <a:xfrm>
            <a:off x="1676400" y="4800600"/>
            <a:ext cx="685800" cy="0"/>
          </a:xfrm>
          <a:prstGeom prst="line">
            <a:avLst/>
          </a:prstGeom>
          <a:noFill/>
          <a:ln w="9525">
            <a:solidFill>
              <a:srgbClr val="800080"/>
            </a:solidFill>
            <a:round/>
            <a:headEnd/>
            <a:tailEnd/>
          </a:ln>
          <a:effectLst/>
        </p:spPr>
        <p:txBody>
          <a:bodyPr>
            <a:spAutoFit/>
          </a:bodyPr>
          <a:lstStyle/>
          <a:p>
            <a:endParaRPr lang="zh-CN" altLang="en-US"/>
          </a:p>
        </p:txBody>
      </p:sp>
      <p:sp>
        <p:nvSpPr>
          <p:cNvPr id="36" name="Line 41"/>
          <p:cNvSpPr>
            <a:spLocks noChangeShapeType="1"/>
          </p:cNvSpPr>
          <p:nvPr/>
        </p:nvSpPr>
        <p:spPr bwMode="auto">
          <a:xfrm>
            <a:off x="1676400" y="4267200"/>
            <a:ext cx="685800" cy="0"/>
          </a:xfrm>
          <a:prstGeom prst="line">
            <a:avLst/>
          </a:prstGeom>
          <a:noFill/>
          <a:ln w="9525">
            <a:solidFill>
              <a:srgbClr val="800080"/>
            </a:solidFill>
            <a:round/>
            <a:headEnd/>
            <a:tailEnd/>
          </a:ln>
          <a:effectLst/>
        </p:spPr>
        <p:txBody>
          <a:bodyPr>
            <a:spAutoFit/>
          </a:bodyPr>
          <a:lstStyle/>
          <a:p>
            <a:endParaRPr lang="zh-CN" altLang="en-US"/>
          </a:p>
        </p:txBody>
      </p:sp>
      <p:sp>
        <p:nvSpPr>
          <p:cNvPr id="37" name="Arc 42"/>
          <p:cNvSpPr>
            <a:spLocks/>
          </p:cNvSpPr>
          <p:nvPr/>
        </p:nvSpPr>
        <p:spPr bwMode="auto">
          <a:xfrm>
            <a:off x="835025" y="3762375"/>
            <a:ext cx="2139950" cy="885825"/>
          </a:xfrm>
          <a:custGeom>
            <a:avLst/>
            <a:gdLst>
              <a:gd name="T0" fmla="*/ 115963 w 43200"/>
              <a:gd name="T1" fmla="*/ 885825 h 31381"/>
              <a:gd name="T2" fmla="*/ 2139950 w 43200"/>
              <a:gd name="T3" fmla="*/ 609726 h 31381"/>
              <a:gd name="T4" fmla="*/ 1069975 w 43200"/>
              <a:gd name="T5" fmla="*/ 609726 h 31381"/>
              <a:gd name="T6" fmla="*/ 0 60000 65536"/>
              <a:gd name="T7" fmla="*/ 0 60000 65536"/>
              <a:gd name="T8" fmla="*/ 0 60000 65536"/>
            </a:gdLst>
            <a:ahLst/>
            <a:cxnLst>
              <a:cxn ang="T6">
                <a:pos x="T0" y="T1"/>
              </a:cxn>
              <a:cxn ang="T7">
                <a:pos x="T2" y="T3"/>
              </a:cxn>
              <a:cxn ang="T8">
                <a:pos x="T4" y="T5"/>
              </a:cxn>
            </a:cxnLst>
            <a:rect l="0" t="0" r="r" b="b"/>
            <a:pathLst>
              <a:path w="43200" h="31381" fill="none" extrusionOk="0">
                <a:moveTo>
                  <a:pt x="2341" y="31380"/>
                </a:moveTo>
                <a:cubicBezTo>
                  <a:pt x="802" y="28350"/>
                  <a:pt x="0" y="24999"/>
                  <a:pt x="0" y="21600"/>
                </a:cubicBezTo>
                <a:cubicBezTo>
                  <a:pt x="0" y="9670"/>
                  <a:pt x="9670" y="0"/>
                  <a:pt x="21600" y="0"/>
                </a:cubicBezTo>
                <a:cubicBezTo>
                  <a:pt x="33529" y="-1"/>
                  <a:pt x="43199" y="9670"/>
                  <a:pt x="43200" y="21599"/>
                </a:cubicBezTo>
              </a:path>
              <a:path w="43200" h="31381" stroke="0" extrusionOk="0">
                <a:moveTo>
                  <a:pt x="2341" y="31380"/>
                </a:moveTo>
                <a:cubicBezTo>
                  <a:pt x="802" y="28350"/>
                  <a:pt x="0" y="24999"/>
                  <a:pt x="0" y="21600"/>
                </a:cubicBezTo>
                <a:cubicBezTo>
                  <a:pt x="0" y="9670"/>
                  <a:pt x="9670" y="0"/>
                  <a:pt x="21600" y="0"/>
                </a:cubicBezTo>
                <a:cubicBezTo>
                  <a:pt x="33529" y="-1"/>
                  <a:pt x="43199" y="9670"/>
                  <a:pt x="43200" y="21599"/>
                </a:cubicBezTo>
                <a:lnTo>
                  <a:pt x="21600" y="21600"/>
                </a:lnTo>
                <a:lnTo>
                  <a:pt x="2341" y="31380"/>
                </a:lnTo>
                <a:close/>
              </a:path>
            </a:pathLst>
          </a:custGeom>
          <a:noFill/>
          <a:ln w="9525">
            <a:solidFill>
              <a:srgbClr val="333399"/>
            </a:solidFill>
            <a:round/>
            <a:headEnd type="triangle" w="med" len="med"/>
            <a:tailEnd/>
          </a:ln>
          <a:effectLst/>
        </p:spPr>
        <p:txBody>
          <a:bodyPr anchor="ctr">
            <a:spAutoFit/>
          </a:bodyPr>
          <a:lstStyle/>
          <a:p>
            <a:endParaRPr lang="zh-CN" altLang="en-US"/>
          </a:p>
        </p:txBody>
      </p:sp>
      <p:sp>
        <p:nvSpPr>
          <p:cNvPr id="38" name="Text Box 43"/>
          <p:cNvSpPr txBox="1">
            <a:spLocks noChangeArrowheads="1"/>
          </p:cNvSpPr>
          <p:nvPr/>
        </p:nvSpPr>
        <p:spPr bwMode="auto">
          <a:xfrm>
            <a:off x="6809928" y="1044575"/>
            <a:ext cx="2298576" cy="5584825"/>
          </a:xfrm>
          <a:prstGeom prst="rect">
            <a:avLst/>
          </a:prstGeom>
          <a:noFill/>
          <a:ln w="9525">
            <a:noFill/>
            <a:miter lim="800000"/>
            <a:headEnd/>
            <a:tailEnd/>
          </a:ln>
          <a:effectLst/>
        </p:spPr>
        <p:txBody>
          <a:bodyPr wrap="square">
            <a:spAutoFit/>
          </a:bodyPr>
          <a:lstStyle/>
          <a:p>
            <a:pPr>
              <a:buFont typeface="Wingdings" pitchFamily="2" charset="2"/>
              <a:buNone/>
            </a:pPr>
            <a:r>
              <a:rPr kumimoji="0" lang="en-US" altLang="zh-CN" sz="1800" b="1" dirty="0"/>
              <a:t>program Main( I,O)</a:t>
            </a:r>
            <a:r>
              <a:rPr kumimoji="0" lang="zh-CN" altLang="en-US" sz="1800" b="1" dirty="0"/>
              <a:t>；</a:t>
            </a:r>
          </a:p>
          <a:p>
            <a:pPr>
              <a:buFont typeface="Wingdings" pitchFamily="2" charset="2"/>
              <a:buNone/>
            </a:pPr>
            <a:r>
              <a:rPr kumimoji="0" lang="en-US" altLang="zh-CN" sz="1800" b="1" dirty="0"/>
              <a:t>procedure P;</a:t>
            </a:r>
          </a:p>
          <a:p>
            <a:pPr>
              <a:buFont typeface="Wingdings" pitchFamily="2" charset="2"/>
              <a:buNone/>
            </a:pPr>
            <a:r>
              <a:rPr kumimoji="0" lang="en-US" altLang="zh-CN" sz="1800" b="1" dirty="0"/>
              <a:t>   procedure Q;</a:t>
            </a:r>
          </a:p>
          <a:p>
            <a:pPr>
              <a:buFont typeface="Wingdings" pitchFamily="2" charset="2"/>
              <a:buNone/>
            </a:pPr>
            <a:r>
              <a:rPr kumimoji="0" lang="en-US" altLang="zh-CN" sz="1800" b="1" dirty="0"/>
              <a:t>      procedure R;</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R; …</a:t>
            </a:r>
          </a:p>
          <a:p>
            <a:pPr>
              <a:buFont typeface="Wingdings" pitchFamily="2" charset="2"/>
              <a:buNone/>
            </a:pPr>
            <a:r>
              <a:rPr kumimoji="0" lang="en-US" altLang="zh-CN" sz="1800" b="1" dirty="0"/>
              <a:t>         end;   /*R*/</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R; …</a:t>
            </a:r>
          </a:p>
          <a:p>
            <a:pPr>
              <a:buFont typeface="Wingdings" pitchFamily="2" charset="2"/>
              <a:buNone/>
            </a:pPr>
            <a:r>
              <a:rPr kumimoji="0" lang="en-US" altLang="zh-CN" sz="1800" b="1" dirty="0"/>
              <a:t>      end;   /*Q*/</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Q; …</a:t>
            </a:r>
          </a:p>
          <a:p>
            <a:pPr>
              <a:buFont typeface="Wingdings" pitchFamily="2" charset="2"/>
              <a:buNone/>
            </a:pPr>
            <a:r>
              <a:rPr kumimoji="0" lang="en-US" altLang="zh-CN" sz="1800" b="1" dirty="0"/>
              <a:t>   end;   /*P*/</a:t>
            </a:r>
          </a:p>
          <a:p>
            <a:pPr>
              <a:buFont typeface="Wingdings" pitchFamily="2" charset="2"/>
              <a:buNone/>
            </a:pPr>
            <a:r>
              <a:rPr kumimoji="0" lang="en-US" altLang="zh-CN" sz="1800" b="1" dirty="0"/>
              <a:t>procedure S;</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P; …</a:t>
            </a:r>
          </a:p>
          <a:p>
            <a:pPr>
              <a:buFont typeface="Wingdings" pitchFamily="2" charset="2"/>
              <a:buNone/>
            </a:pPr>
            <a:r>
              <a:rPr kumimoji="0" lang="en-US" altLang="zh-CN" sz="1800" b="1" dirty="0"/>
              <a:t>   end;   /*S*/</a:t>
            </a:r>
          </a:p>
          <a:p>
            <a:pPr>
              <a:buFont typeface="Wingdings" pitchFamily="2" charset="2"/>
              <a:buNone/>
            </a:pPr>
            <a:r>
              <a:rPr kumimoji="0" lang="en-US" altLang="zh-CN" sz="1800" b="1" dirty="0"/>
              <a:t>begin</a:t>
            </a:r>
          </a:p>
          <a:p>
            <a:pPr>
              <a:buFont typeface="Wingdings" pitchFamily="2" charset="2"/>
              <a:buNone/>
            </a:pPr>
            <a:r>
              <a:rPr kumimoji="0" lang="en-US" altLang="zh-CN" sz="1800" b="1" dirty="0"/>
              <a:t>   …  S; …</a:t>
            </a:r>
          </a:p>
          <a:p>
            <a:pPr>
              <a:buFont typeface="Wingdings" pitchFamily="2" charset="2"/>
              <a:buNone/>
            </a:pPr>
            <a:r>
              <a:rPr kumimoji="0" lang="en-US" altLang="zh-CN" sz="1800" b="1" dirty="0"/>
              <a:t>end.   /*main*/</a:t>
            </a:r>
          </a:p>
        </p:txBody>
      </p:sp>
      <p:sp>
        <p:nvSpPr>
          <p:cNvPr id="39" name="灯片编号占位符 38"/>
          <p:cNvSpPr>
            <a:spLocks noGrp="1"/>
          </p:cNvSpPr>
          <p:nvPr>
            <p:ph type="sldNum" sz="quarter" idx="4"/>
          </p:nvPr>
        </p:nvSpPr>
        <p:spPr/>
        <p:txBody>
          <a:bodyPr/>
          <a:lstStyle/>
          <a:p>
            <a:fld id="{565CE74E-AB26-4998-AD42-012C4C1AD076}" type="slidenum">
              <a:rPr lang="zh-CN" altLang="en-US" smtClean="0"/>
              <a:t>26</a:t>
            </a:fld>
            <a:endParaRPr lang="zh-CN" altLang="en-US"/>
          </a:p>
        </p:txBody>
      </p:sp>
    </p:spTree>
    <p:extLst>
      <p:ext uri="{BB962C8B-B14F-4D97-AF65-F5344CB8AC3E}">
        <p14:creationId xmlns:p14="http://schemas.microsoft.com/office/powerpoint/2010/main" val="38689554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嵌套过程定义中非局部量的访问</a:t>
            </a:r>
          </a:p>
          <a:p>
            <a:endParaRPr lang="zh-CN" altLang="en-US" dirty="0"/>
          </a:p>
        </p:txBody>
      </p:sp>
      <p:sp>
        <p:nvSpPr>
          <p:cNvPr id="3" name="标题 2"/>
          <p:cNvSpPr>
            <a:spLocks noGrp="1"/>
          </p:cNvSpPr>
          <p:nvPr>
            <p:ph type="title"/>
          </p:nvPr>
        </p:nvSpPr>
        <p:spPr/>
        <p:txBody>
          <a:bodyPr/>
          <a:lstStyle/>
          <a:p>
            <a:r>
              <a:rPr lang="zh-CN" altLang="en-US" dirty="0"/>
              <a:t>二、活动记录</a:t>
            </a:r>
          </a:p>
        </p:txBody>
      </p:sp>
      <p:sp>
        <p:nvSpPr>
          <p:cNvPr id="4" name="Rectangle 4"/>
          <p:cNvSpPr>
            <a:spLocks noChangeArrowheads="1"/>
          </p:cNvSpPr>
          <p:nvPr/>
        </p:nvSpPr>
        <p:spPr bwMode="auto">
          <a:xfrm>
            <a:off x="876300" y="1600200"/>
            <a:ext cx="4838700" cy="1036638"/>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a:solidFill>
                  <a:srgbClr val="800080"/>
                </a:solidFill>
                <a:latin typeface="楷体_GB2312" pitchFamily="49" charset="-122"/>
              </a:rPr>
              <a:t> </a:t>
            </a:r>
            <a:r>
              <a:rPr lang="zh-CN" altLang="en-US" sz="2800" b="1">
                <a:solidFill>
                  <a:srgbClr val="800080"/>
                </a:solidFill>
                <a:latin typeface="Times New Roman" pitchFamily="18" charset="0"/>
              </a:rPr>
              <a:t>嵌套过程语言的栈式分配</a:t>
            </a:r>
            <a:endParaRPr kumimoji="0" lang="zh-CN" altLang="en-US" sz="1000" b="1">
              <a:solidFill>
                <a:srgbClr val="800080"/>
              </a:solidFill>
            </a:endParaRPr>
          </a:p>
          <a:p>
            <a:pPr>
              <a:buClrTx/>
              <a:buFont typeface="Symbol" pitchFamily="18" charset="2"/>
              <a:buNone/>
            </a:pPr>
            <a:endParaRPr kumimoji="0" lang="zh-CN" altLang="en-US" sz="1000" b="1">
              <a:solidFill>
                <a:srgbClr val="800080"/>
              </a:solidFill>
            </a:endParaRPr>
          </a:p>
          <a:p>
            <a:pPr lvl="1">
              <a:buFontTx/>
              <a:buChar char="•"/>
            </a:pPr>
            <a:r>
              <a:rPr lang="zh-CN" altLang="en-US" b="1"/>
              <a:t>  </a:t>
            </a:r>
            <a:r>
              <a:rPr kumimoji="0" lang="en-US" altLang="zh-CN"/>
              <a:t>Display </a:t>
            </a:r>
            <a:r>
              <a:rPr kumimoji="0" lang="zh-CN" altLang="en-US" b="1"/>
              <a:t>表的维护</a:t>
            </a:r>
            <a:r>
              <a:rPr kumimoji="0" lang="zh-CN" altLang="en-US" b="1">
                <a:solidFill>
                  <a:srgbClr val="800080"/>
                </a:solidFill>
              </a:rPr>
              <a:t>举例</a:t>
            </a:r>
          </a:p>
        </p:txBody>
      </p:sp>
      <p:sp>
        <p:nvSpPr>
          <p:cNvPr id="5" name="Text Box 5"/>
          <p:cNvSpPr txBox="1">
            <a:spLocks noChangeArrowheads="1"/>
          </p:cNvSpPr>
          <p:nvPr/>
        </p:nvSpPr>
        <p:spPr bwMode="auto">
          <a:xfrm>
            <a:off x="6737920" y="1044575"/>
            <a:ext cx="2370584" cy="5584825"/>
          </a:xfrm>
          <a:prstGeom prst="rect">
            <a:avLst/>
          </a:prstGeom>
          <a:noFill/>
          <a:ln w="9525">
            <a:noFill/>
            <a:miter lim="800000"/>
            <a:headEnd/>
            <a:tailEnd/>
          </a:ln>
          <a:effectLst/>
        </p:spPr>
        <p:txBody>
          <a:bodyPr wrap="square">
            <a:spAutoFit/>
          </a:bodyPr>
          <a:lstStyle/>
          <a:p>
            <a:pPr>
              <a:buFont typeface="Wingdings" pitchFamily="2" charset="2"/>
              <a:buNone/>
            </a:pPr>
            <a:r>
              <a:rPr kumimoji="0" lang="en-US" altLang="zh-CN" sz="1800" b="1" dirty="0"/>
              <a:t>program Main( I,O)</a:t>
            </a:r>
            <a:r>
              <a:rPr kumimoji="0" lang="zh-CN" altLang="en-US" sz="1800" b="1" dirty="0"/>
              <a:t>；</a:t>
            </a:r>
          </a:p>
          <a:p>
            <a:pPr>
              <a:buFont typeface="Wingdings" pitchFamily="2" charset="2"/>
              <a:buNone/>
            </a:pPr>
            <a:r>
              <a:rPr kumimoji="0" lang="en-US" altLang="zh-CN" sz="1800" b="1" dirty="0"/>
              <a:t>procedure P;</a:t>
            </a:r>
          </a:p>
          <a:p>
            <a:pPr>
              <a:buFont typeface="Wingdings" pitchFamily="2" charset="2"/>
              <a:buNone/>
            </a:pPr>
            <a:r>
              <a:rPr kumimoji="0" lang="en-US" altLang="zh-CN" sz="1800" b="1" dirty="0"/>
              <a:t>   procedure Q;</a:t>
            </a:r>
          </a:p>
          <a:p>
            <a:pPr>
              <a:buFont typeface="Wingdings" pitchFamily="2" charset="2"/>
              <a:buNone/>
            </a:pPr>
            <a:r>
              <a:rPr kumimoji="0" lang="en-US" altLang="zh-CN" sz="1800" b="1" dirty="0"/>
              <a:t>      procedure R;</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P; …</a:t>
            </a:r>
            <a:endParaRPr kumimoji="0" lang="en-US" altLang="zh-CN" sz="1800" b="1" dirty="0">
              <a:solidFill>
                <a:srgbClr val="800080"/>
              </a:solidFill>
            </a:endParaRPr>
          </a:p>
          <a:p>
            <a:pPr>
              <a:buFont typeface="Wingdings" pitchFamily="2" charset="2"/>
              <a:buNone/>
            </a:pPr>
            <a:r>
              <a:rPr kumimoji="0" lang="en-US" altLang="zh-CN" sz="1800" b="1" dirty="0"/>
              <a:t>         end;   /*R*/</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R; …</a:t>
            </a:r>
          </a:p>
          <a:p>
            <a:pPr>
              <a:buFont typeface="Wingdings" pitchFamily="2" charset="2"/>
              <a:buNone/>
            </a:pPr>
            <a:r>
              <a:rPr kumimoji="0" lang="en-US" altLang="zh-CN" sz="1800" b="1" dirty="0"/>
              <a:t>      end;   /*Q*/</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Q; …</a:t>
            </a:r>
          </a:p>
          <a:p>
            <a:pPr>
              <a:buFont typeface="Wingdings" pitchFamily="2" charset="2"/>
              <a:buNone/>
            </a:pPr>
            <a:r>
              <a:rPr kumimoji="0" lang="en-US" altLang="zh-CN" sz="1800" b="1" dirty="0"/>
              <a:t>   end;   /*P*/</a:t>
            </a:r>
          </a:p>
          <a:p>
            <a:pPr>
              <a:buFont typeface="Wingdings" pitchFamily="2" charset="2"/>
              <a:buNone/>
            </a:pPr>
            <a:r>
              <a:rPr kumimoji="0" lang="en-US" altLang="zh-CN" sz="1800" b="1" dirty="0"/>
              <a:t>procedure S;</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P; …</a:t>
            </a:r>
          </a:p>
          <a:p>
            <a:pPr>
              <a:buFont typeface="Wingdings" pitchFamily="2" charset="2"/>
              <a:buNone/>
            </a:pPr>
            <a:r>
              <a:rPr kumimoji="0" lang="en-US" altLang="zh-CN" sz="1800" b="1" dirty="0"/>
              <a:t>   end;   /*S*/</a:t>
            </a:r>
          </a:p>
          <a:p>
            <a:pPr>
              <a:buFont typeface="Wingdings" pitchFamily="2" charset="2"/>
              <a:buNone/>
            </a:pPr>
            <a:r>
              <a:rPr kumimoji="0" lang="en-US" altLang="zh-CN" sz="1800" b="1" dirty="0"/>
              <a:t>begin</a:t>
            </a:r>
          </a:p>
          <a:p>
            <a:pPr>
              <a:buFont typeface="Wingdings" pitchFamily="2" charset="2"/>
              <a:buNone/>
            </a:pPr>
            <a:r>
              <a:rPr kumimoji="0" lang="en-US" altLang="zh-CN" sz="1800" b="1" dirty="0"/>
              <a:t>   …  S; …</a:t>
            </a:r>
          </a:p>
          <a:p>
            <a:pPr>
              <a:buFont typeface="Wingdings" pitchFamily="2" charset="2"/>
              <a:buNone/>
            </a:pPr>
            <a:r>
              <a:rPr kumimoji="0" lang="en-US" altLang="zh-CN" sz="1800" b="1" dirty="0"/>
              <a:t>end.   /*main*/</a:t>
            </a:r>
          </a:p>
        </p:txBody>
      </p:sp>
      <p:sp>
        <p:nvSpPr>
          <p:cNvPr id="6" name="Line 6"/>
          <p:cNvSpPr>
            <a:spLocks noChangeShapeType="1"/>
          </p:cNvSpPr>
          <p:nvPr/>
        </p:nvSpPr>
        <p:spPr bwMode="auto">
          <a:xfrm>
            <a:off x="1187450" y="3357563"/>
            <a:ext cx="31750" cy="3311525"/>
          </a:xfrm>
          <a:prstGeom prst="line">
            <a:avLst/>
          </a:prstGeom>
          <a:noFill/>
          <a:ln w="9525">
            <a:solidFill>
              <a:srgbClr val="800080"/>
            </a:solidFill>
            <a:round/>
            <a:headEnd/>
            <a:tailEnd/>
          </a:ln>
          <a:effectLst/>
        </p:spPr>
        <p:txBody>
          <a:bodyPr>
            <a:spAutoFit/>
          </a:bodyPr>
          <a:lstStyle/>
          <a:p>
            <a:endParaRPr lang="zh-CN" altLang="en-US"/>
          </a:p>
        </p:txBody>
      </p:sp>
      <p:sp>
        <p:nvSpPr>
          <p:cNvPr id="7" name="Line 7"/>
          <p:cNvSpPr>
            <a:spLocks noChangeShapeType="1"/>
          </p:cNvSpPr>
          <p:nvPr/>
        </p:nvSpPr>
        <p:spPr bwMode="auto">
          <a:xfrm>
            <a:off x="5715000" y="3357563"/>
            <a:ext cx="0" cy="3311525"/>
          </a:xfrm>
          <a:prstGeom prst="line">
            <a:avLst/>
          </a:prstGeom>
          <a:noFill/>
          <a:ln w="9525">
            <a:solidFill>
              <a:srgbClr val="800080"/>
            </a:solidFill>
            <a:round/>
            <a:headEnd/>
            <a:tailEnd/>
          </a:ln>
          <a:effectLst/>
        </p:spPr>
        <p:txBody>
          <a:bodyPr>
            <a:spAutoFit/>
          </a:bodyPr>
          <a:lstStyle/>
          <a:p>
            <a:endParaRPr lang="zh-CN" altLang="en-US"/>
          </a:p>
        </p:txBody>
      </p:sp>
      <p:sp>
        <p:nvSpPr>
          <p:cNvPr id="8" name="Line 8"/>
          <p:cNvSpPr>
            <a:spLocks noChangeShapeType="1"/>
          </p:cNvSpPr>
          <p:nvPr/>
        </p:nvSpPr>
        <p:spPr bwMode="auto">
          <a:xfrm>
            <a:off x="1219200" y="6669088"/>
            <a:ext cx="4495800" cy="0"/>
          </a:xfrm>
          <a:prstGeom prst="line">
            <a:avLst/>
          </a:prstGeom>
          <a:noFill/>
          <a:ln w="9525">
            <a:solidFill>
              <a:srgbClr val="800080"/>
            </a:solidFill>
            <a:round/>
            <a:headEnd/>
            <a:tailEnd/>
          </a:ln>
          <a:effectLst/>
        </p:spPr>
        <p:txBody>
          <a:bodyPr>
            <a:spAutoFit/>
          </a:bodyPr>
          <a:lstStyle/>
          <a:p>
            <a:endParaRPr lang="zh-CN" altLang="en-US"/>
          </a:p>
        </p:txBody>
      </p:sp>
      <p:sp>
        <p:nvSpPr>
          <p:cNvPr id="9" name="Line 9"/>
          <p:cNvSpPr>
            <a:spLocks noChangeShapeType="1"/>
          </p:cNvSpPr>
          <p:nvPr/>
        </p:nvSpPr>
        <p:spPr bwMode="auto">
          <a:xfrm>
            <a:off x="1219200" y="5983288"/>
            <a:ext cx="4495800" cy="0"/>
          </a:xfrm>
          <a:prstGeom prst="line">
            <a:avLst/>
          </a:prstGeom>
          <a:noFill/>
          <a:ln w="9525">
            <a:solidFill>
              <a:srgbClr val="800080"/>
            </a:solidFill>
            <a:round/>
            <a:headEnd/>
            <a:tailEnd/>
          </a:ln>
          <a:effectLst/>
        </p:spPr>
        <p:txBody>
          <a:bodyPr>
            <a:spAutoFit/>
          </a:bodyPr>
          <a:lstStyle/>
          <a:p>
            <a:endParaRPr lang="zh-CN" altLang="en-US"/>
          </a:p>
        </p:txBody>
      </p:sp>
      <p:sp>
        <p:nvSpPr>
          <p:cNvPr id="10" name="Rectangle 10"/>
          <p:cNvSpPr>
            <a:spLocks noChangeArrowheads="1"/>
          </p:cNvSpPr>
          <p:nvPr/>
        </p:nvSpPr>
        <p:spPr bwMode="auto">
          <a:xfrm>
            <a:off x="1219200" y="6119813"/>
            <a:ext cx="4495800" cy="396875"/>
          </a:xfrm>
          <a:prstGeom prst="rect">
            <a:avLst/>
          </a:prstGeom>
          <a:noFill/>
          <a:ln w="9525">
            <a:noFill/>
            <a:miter lim="800000"/>
            <a:headEnd/>
            <a:tailEnd/>
          </a:ln>
          <a:effectLst/>
        </p:spPr>
        <p:txBody>
          <a:bodyPr>
            <a:spAutoFit/>
          </a:bodyPr>
          <a:lstStyle/>
          <a:p>
            <a:pPr>
              <a:buFont typeface="Wingdings" pitchFamily="2" charset="2"/>
              <a:buNone/>
            </a:pPr>
            <a:r>
              <a:rPr lang="en-US" altLang="zh-CN" sz="2000">
                <a:solidFill>
                  <a:srgbClr val="800080"/>
                </a:solidFill>
              </a:rPr>
              <a:t>saved             </a:t>
            </a:r>
            <a:r>
              <a:rPr lang="en-US" altLang="zh-CN" sz="2000">
                <a:solidFill>
                  <a:srgbClr val="800080"/>
                </a:solidFill>
                <a:ea typeface="宋体" pitchFamily="2" charset="-122"/>
                <a:cs typeface="Arial" pitchFamily="34" charset="0"/>
              </a:rPr>
              <a:t>S     _     _    </a:t>
            </a:r>
            <a:r>
              <a:rPr lang="en-US" altLang="zh-CN" sz="2000">
                <a:solidFill>
                  <a:srgbClr val="800080"/>
                </a:solidFill>
                <a:ea typeface="宋体" pitchFamily="2" charset="-122"/>
              </a:rPr>
              <a:t>P    Q    R</a:t>
            </a:r>
          </a:p>
        </p:txBody>
      </p:sp>
      <p:sp>
        <p:nvSpPr>
          <p:cNvPr id="11" name="Rectangle 11"/>
          <p:cNvSpPr>
            <a:spLocks noChangeArrowheads="1"/>
          </p:cNvSpPr>
          <p:nvPr/>
        </p:nvSpPr>
        <p:spPr bwMode="auto">
          <a:xfrm>
            <a:off x="1219200" y="4576763"/>
            <a:ext cx="4495800" cy="396875"/>
          </a:xfrm>
          <a:prstGeom prst="rect">
            <a:avLst/>
          </a:prstGeom>
          <a:noFill/>
          <a:ln w="9525">
            <a:noFill/>
            <a:miter lim="800000"/>
            <a:headEnd/>
            <a:tailEnd/>
          </a:ln>
          <a:effectLst/>
        </p:spPr>
        <p:txBody>
          <a:bodyPr>
            <a:spAutoFit/>
          </a:bodyPr>
          <a:lstStyle/>
          <a:p>
            <a:pPr>
              <a:buFont typeface="Wingdings" pitchFamily="2" charset="2"/>
              <a:buNone/>
            </a:pPr>
            <a:r>
              <a:rPr lang="en-US" altLang="zh-CN" sz="2000">
                <a:solidFill>
                  <a:srgbClr val="800080"/>
                </a:solidFill>
              </a:rPr>
              <a:t>D[2]                </a:t>
            </a:r>
            <a:r>
              <a:rPr lang="en-US" altLang="zh-CN" sz="2000">
                <a:solidFill>
                  <a:srgbClr val="800080"/>
                </a:solidFill>
                <a:ea typeface="宋体" pitchFamily="2" charset="-122"/>
                <a:cs typeface="Arial" pitchFamily="34" charset="0"/>
              </a:rPr>
              <a:t>_     </a:t>
            </a:r>
            <a:r>
              <a:rPr lang="en-US" altLang="zh-CN" sz="2000">
                <a:solidFill>
                  <a:srgbClr val="800080"/>
                </a:solidFill>
                <a:ea typeface="宋体" pitchFamily="2" charset="-122"/>
              </a:rPr>
              <a:t>Q    Q    Q    Q’    Q’</a:t>
            </a:r>
          </a:p>
        </p:txBody>
      </p:sp>
      <p:sp>
        <p:nvSpPr>
          <p:cNvPr id="12" name="Rectangle 12"/>
          <p:cNvSpPr>
            <a:spLocks noChangeArrowheads="1"/>
          </p:cNvSpPr>
          <p:nvPr/>
        </p:nvSpPr>
        <p:spPr bwMode="auto">
          <a:xfrm>
            <a:off x="1219200" y="4103688"/>
            <a:ext cx="4419600" cy="396875"/>
          </a:xfrm>
          <a:prstGeom prst="rect">
            <a:avLst/>
          </a:prstGeom>
          <a:noFill/>
          <a:ln w="9525">
            <a:noFill/>
            <a:miter lim="800000"/>
            <a:headEnd/>
            <a:tailEnd/>
          </a:ln>
          <a:effectLst/>
        </p:spPr>
        <p:txBody>
          <a:bodyPr>
            <a:spAutoFit/>
          </a:bodyPr>
          <a:lstStyle/>
          <a:p>
            <a:pPr>
              <a:buFont typeface="Wingdings" pitchFamily="2" charset="2"/>
              <a:buNone/>
            </a:pPr>
            <a:r>
              <a:rPr lang="en-US" altLang="zh-CN" sz="2000">
                <a:solidFill>
                  <a:srgbClr val="800080"/>
                </a:solidFill>
              </a:rPr>
              <a:t>D[3]                </a:t>
            </a:r>
            <a:r>
              <a:rPr lang="en-US" altLang="zh-CN" sz="2000">
                <a:solidFill>
                  <a:srgbClr val="800080"/>
                </a:solidFill>
                <a:ea typeface="宋体" pitchFamily="2" charset="-122"/>
                <a:cs typeface="Arial" pitchFamily="34" charset="0"/>
              </a:rPr>
              <a:t>_     _     </a:t>
            </a:r>
            <a:r>
              <a:rPr lang="en-US" altLang="zh-CN" sz="2000">
                <a:solidFill>
                  <a:srgbClr val="800080"/>
                </a:solidFill>
                <a:ea typeface="宋体" pitchFamily="2" charset="-122"/>
              </a:rPr>
              <a:t>R    R    R    R’</a:t>
            </a:r>
          </a:p>
        </p:txBody>
      </p:sp>
      <p:sp>
        <p:nvSpPr>
          <p:cNvPr id="13" name="Line 13"/>
          <p:cNvSpPr>
            <a:spLocks noChangeShapeType="1"/>
          </p:cNvSpPr>
          <p:nvPr/>
        </p:nvSpPr>
        <p:spPr bwMode="auto">
          <a:xfrm>
            <a:off x="1219200" y="4043363"/>
            <a:ext cx="4495800" cy="0"/>
          </a:xfrm>
          <a:prstGeom prst="line">
            <a:avLst/>
          </a:prstGeom>
          <a:noFill/>
          <a:ln w="9525">
            <a:solidFill>
              <a:srgbClr val="800080"/>
            </a:solidFill>
            <a:round/>
            <a:headEnd/>
            <a:tailEnd/>
          </a:ln>
          <a:effectLst/>
        </p:spPr>
        <p:txBody>
          <a:bodyPr>
            <a:spAutoFit/>
          </a:bodyPr>
          <a:lstStyle/>
          <a:p>
            <a:endParaRPr lang="zh-CN" altLang="en-US"/>
          </a:p>
        </p:txBody>
      </p:sp>
      <p:sp>
        <p:nvSpPr>
          <p:cNvPr id="14" name="Rectangle 14"/>
          <p:cNvSpPr>
            <a:spLocks noChangeArrowheads="1"/>
          </p:cNvSpPr>
          <p:nvPr/>
        </p:nvSpPr>
        <p:spPr bwMode="auto">
          <a:xfrm>
            <a:off x="1600200" y="2819400"/>
            <a:ext cx="3414713" cy="457200"/>
          </a:xfrm>
          <a:prstGeom prst="rect">
            <a:avLst/>
          </a:prstGeom>
          <a:noFill/>
          <a:ln w="9525">
            <a:noFill/>
            <a:miter lim="800000"/>
            <a:headEnd/>
            <a:tailEnd/>
          </a:ln>
          <a:effectLst/>
        </p:spPr>
        <p:txBody>
          <a:bodyPr wrap="none">
            <a:spAutoFit/>
          </a:bodyPr>
          <a:lstStyle/>
          <a:p>
            <a:pPr algn="ctr" eaLnBrk="0" hangingPunct="0">
              <a:buClrTx/>
              <a:buFontTx/>
              <a:buNone/>
            </a:pPr>
            <a:r>
              <a:rPr lang="zh-CN" altLang="en-US" b="1"/>
              <a:t>只保存一个</a:t>
            </a:r>
            <a:r>
              <a:rPr lang="en-US" altLang="zh-CN"/>
              <a:t>Display </a:t>
            </a:r>
            <a:r>
              <a:rPr lang="zh-CN" altLang="en-US" b="1"/>
              <a:t>表项</a:t>
            </a:r>
          </a:p>
        </p:txBody>
      </p:sp>
      <p:sp>
        <p:nvSpPr>
          <p:cNvPr id="15" name="Rectangle 19"/>
          <p:cNvSpPr>
            <a:spLocks noChangeArrowheads="1"/>
          </p:cNvSpPr>
          <p:nvPr/>
        </p:nvSpPr>
        <p:spPr bwMode="auto">
          <a:xfrm>
            <a:off x="1219200" y="5510213"/>
            <a:ext cx="4495800" cy="396875"/>
          </a:xfrm>
          <a:prstGeom prst="rect">
            <a:avLst/>
          </a:prstGeom>
          <a:noFill/>
          <a:ln w="9525">
            <a:noFill/>
            <a:miter lim="800000"/>
            <a:headEnd/>
            <a:tailEnd/>
          </a:ln>
          <a:effectLst/>
        </p:spPr>
        <p:txBody>
          <a:bodyPr>
            <a:spAutoFit/>
          </a:bodyPr>
          <a:lstStyle/>
          <a:p>
            <a:pPr>
              <a:buFont typeface="Wingdings" pitchFamily="2" charset="2"/>
              <a:buNone/>
            </a:pPr>
            <a:r>
              <a:rPr lang="en-US" altLang="zh-CN" sz="2000">
                <a:solidFill>
                  <a:srgbClr val="800080"/>
                </a:solidFill>
              </a:rPr>
              <a:t>D[0]             </a:t>
            </a:r>
            <a:r>
              <a:rPr lang="en-US" altLang="zh-CN" sz="1600">
                <a:solidFill>
                  <a:srgbClr val="800080"/>
                </a:solidFill>
              </a:rPr>
              <a:t>Main Main Main Main</a:t>
            </a:r>
            <a:r>
              <a:rPr lang="en-US" altLang="zh-CN" sz="1600"/>
              <a:t> </a:t>
            </a:r>
            <a:r>
              <a:rPr lang="en-US" altLang="zh-CN" sz="1600">
                <a:solidFill>
                  <a:srgbClr val="800080"/>
                </a:solidFill>
              </a:rPr>
              <a:t>Main</a:t>
            </a:r>
            <a:r>
              <a:rPr lang="en-US" altLang="zh-CN" sz="1600"/>
              <a:t> </a:t>
            </a:r>
            <a:r>
              <a:rPr lang="en-US" altLang="zh-CN" sz="1600">
                <a:solidFill>
                  <a:srgbClr val="800080"/>
                </a:solidFill>
              </a:rPr>
              <a:t>Main</a:t>
            </a:r>
          </a:p>
        </p:txBody>
      </p:sp>
      <p:sp>
        <p:nvSpPr>
          <p:cNvPr id="16" name="Line 20"/>
          <p:cNvSpPr>
            <a:spLocks noChangeShapeType="1"/>
          </p:cNvSpPr>
          <p:nvPr/>
        </p:nvSpPr>
        <p:spPr bwMode="auto">
          <a:xfrm>
            <a:off x="1219200" y="3357563"/>
            <a:ext cx="4495800" cy="0"/>
          </a:xfrm>
          <a:prstGeom prst="line">
            <a:avLst/>
          </a:prstGeom>
          <a:noFill/>
          <a:ln w="9525">
            <a:solidFill>
              <a:srgbClr val="800080"/>
            </a:solidFill>
            <a:round/>
            <a:headEnd/>
            <a:tailEnd/>
          </a:ln>
          <a:effectLst/>
        </p:spPr>
        <p:txBody>
          <a:bodyPr>
            <a:spAutoFit/>
          </a:bodyPr>
          <a:lstStyle/>
          <a:p>
            <a:endParaRPr lang="zh-CN" altLang="en-US"/>
          </a:p>
        </p:txBody>
      </p:sp>
      <p:sp>
        <p:nvSpPr>
          <p:cNvPr id="17" name="Rectangle 21"/>
          <p:cNvSpPr>
            <a:spLocks noChangeArrowheads="1"/>
          </p:cNvSpPr>
          <p:nvPr/>
        </p:nvSpPr>
        <p:spPr bwMode="auto">
          <a:xfrm>
            <a:off x="1295400" y="3509963"/>
            <a:ext cx="4343400" cy="396875"/>
          </a:xfrm>
          <a:prstGeom prst="rect">
            <a:avLst/>
          </a:prstGeom>
          <a:noFill/>
          <a:ln w="9525">
            <a:noFill/>
            <a:miter lim="800000"/>
            <a:headEnd/>
            <a:tailEnd/>
          </a:ln>
          <a:effectLst/>
        </p:spPr>
        <p:txBody>
          <a:bodyPr>
            <a:spAutoFit/>
          </a:bodyPr>
          <a:lstStyle/>
          <a:p>
            <a:pPr>
              <a:buFont typeface="Wingdings" pitchFamily="2" charset="2"/>
              <a:buNone/>
            </a:pPr>
            <a:r>
              <a:rPr lang="en-US" altLang="zh-CN" sz="2000">
                <a:solidFill>
                  <a:srgbClr val="800080"/>
                </a:solidFill>
              </a:rPr>
              <a:t>calls </a:t>
            </a:r>
            <a:r>
              <a:rPr lang="en-US" altLang="zh-CN" sz="2000" b="1">
                <a:solidFill>
                  <a:srgbClr val="800080"/>
                </a:solidFill>
              </a:rPr>
              <a:t>              </a:t>
            </a:r>
            <a:r>
              <a:rPr lang="en-US" altLang="zh-CN" sz="2000">
                <a:solidFill>
                  <a:srgbClr val="800080"/>
                </a:solidFill>
              </a:rPr>
              <a:t>P    Q    R    P’   Q’    R’</a:t>
            </a:r>
          </a:p>
        </p:txBody>
      </p:sp>
      <p:sp>
        <p:nvSpPr>
          <p:cNvPr id="18" name="Rectangle 22"/>
          <p:cNvSpPr>
            <a:spLocks noChangeArrowheads="1"/>
          </p:cNvSpPr>
          <p:nvPr/>
        </p:nvSpPr>
        <p:spPr bwMode="auto">
          <a:xfrm>
            <a:off x="1228725" y="5048250"/>
            <a:ext cx="4495800" cy="396875"/>
          </a:xfrm>
          <a:prstGeom prst="rect">
            <a:avLst/>
          </a:prstGeom>
          <a:noFill/>
          <a:ln w="9525">
            <a:noFill/>
            <a:miter lim="800000"/>
            <a:headEnd/>
            <a:tailEnd/>
          </a:ln>
          <a:effectLst/>
        </p:spPr>
        <p:txBody>
          <a:bodyPr>
            <a:spAutoFit/>
          </a:bodyPr>
          <a:lstStyle/>
          <a:p>
            <a:pPr>
              <a:buFont typeface="Wingdings" pitchFamily="2" charset="2"/>
              <a:buNone/>
            </a:pPr>
            <a:r>
              <a:rPr lang="en-US" altLang="zh-CN" sz="2000">
                <a:solidFill>
                  <a:srgbClr val="800080"/>
                </a:solidFill>
              </a:rPr>
              <a:t>D[1]                P     P    P    P’    P’    P’</a:t>
            </a:r>
          </a:p>
        </p:txBody>
      </p:sp>
      <p:sp>
        <p:nvSpPr>
          <p:cNvPr id="19" name="灯片编号占位符 18"/>
          <p:cNvSpPr>
            <a:spLocks noGrp="1"/>
          </p:cNvSpPr>
          <p:nvPr>
            <p:ph type="sldNum" sz="quarter" idx="4"/>
          </p:nvPr>
        </p:nvSpPr>
        <p:spPr/>
        <p:txBody>
          <a:bodyPr/>
          <a:lstStyle/>
          <a:p>
            <a:fld id="{565CE74E-AB26-4998-AD42-012C4C1AD076}" type="slidenum">
              <a:rPr lang="zh-CN" altLang="en-US" smtClean="0"/>
              <a:t>27</a:t>
            </a:fld>
            <a:endParaRPr lang="zh-CN" altLang="en-US"/>
          </a:p>
        </p:txBody>
      </p:sp>
    </p:spTree>
    <p:extLst>
      <p:ext uri="{BB962C8B-B14F-4D97-AF65-F5344CB8AC3E}">
        <p14:creationId xmlns:p14="http://schemas.microsoft.com/office/powerpoint/2010/main" val="4242421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嵌套过程定义中非局部量的访问</a:t>
            </a:r>
          </a:p>
          <a:p>
            <a:endParaRPr lang="zh-CN" altLang="en-US" dirty="0"/>
          </a:p>
        </p:txBody>
      </p:sp>
      <p:sp>
        <p:nvSpPr>
          <p:cNvPr id="3" name="标题 2"/>
          <p:cNvSpPr>
            <a:spLocks noGrp="1"/>
          </p:cNvSpPr>
          <p:nvPr>
            <p:ph type="title"/>
          </p:nvPr>
        </p:nvSpPr>
        <p:spPr/>
        <p:txBody>
          <a:bodyPr/>
          <a:lstStyle/>
          <a:p>
            <a:r>
              <a:rPr lang="zh-CN" altLang="en-US"/>
              <a:t>二、活动记录</a:t>
            </a:r>
          </a:p>
        </p:txBody>
      </p:sp>
      <p:sp>
        <p:nvSpPr>
          <p:cNvPr id="4" name="Rectangle 4"/>
          <p:cNvSpPr>
            <a:spLocks noChangeArrowheads="1"/>
          </p:cNvSpPr>
          <p:nvPr/>
        </p:nvSpPr>
        <p:spPr bwMode="auto">
          <a:xfrm>
            <a:off x="636864" y="1506596"/>
            <a:ext cx="8305800" cy="4139595"/>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dirty="0">
                <a:solidFill>
                  <a:srgbClr val="800080"/>
                </a:solidFill>
                <a:latin typeface="楷体_GB2312" pitchFamily="49" charset="-122"/>
              </a:rPr>
              <a:t> </a:t>
            </a:r>
            <a:r>
              <a:rPr lang="zh-CN" altLang="en-US" sz="2800" b="1" dirty="0">
                <a:solidFill>
                  <a:srgbClr val="800080"/>
                </a:solidFill>
                <a:latin typeface="Times New Roman" pitchFamily="18" charset="0"/>
              </a:rPr>
              <a:t>嵌套过程语言的栈式分配</a:t>
            </a:r>
            <a:endParaRPr kumimoji="0" lang="zh-CN" altLang="en-US" sz="1000" b="1" dirty="0">
              <a:solidFill>
                <a:srgbClr val="800080"/>
              </a:solidFill>
            </a:endParaRPr>
          </a:p>
          <a:p>
            <a:pPr>
              <a:buClrTx/>
              <a:buFont typeface="Symbol" pitchFamily="18" charset="2"/>
              <a:buNone/>
            </a:pPr>
            <a:endParaRPr kumimoji="0" lang="zh-CN" altLang="en-US" sz="1000" b="1" dirty="0">
              <a:solidFill>
                <a:srgbClr val="800080"/>
              </a:solidFill>
            </a:endParaRPr>
          </a:p>
          <a:p>
            <a:pPr lvl="1">
              <a:buFontTx/>
              <a:buChar char="•"/>
            </a:pPr>
            <a:r>
              <a:rPr lang="zh-CN" altLang="en-US" b="1" dirty="0">
                <a:solidFill>
                  <a:srgbClr val="FF0000"/>
                </a:solidFill>
              </a:rPr>
              <a:t>  </a:t>
            </a:r>
            <a:r>
              <a:rPr kumimoji="0" lang="zh-CN" altLang="en-US" sz="2400" b="1" dirty="0">
                <a:solidFill>
                  <a:srgbClr val="FF0000"/>
                </a:solidFill>
              </a:rPr>
              <a:t>采用静态链</a:t>
            </a:r>
            <a:r>
              <a:rPr lang="zh-CN" altLang="en-US" sz="2400" dirty="0"/>
              <a:t>（</a:t>
            </a:r>
            <a:r>
              <a:rPr lang="en-US" altLang="zh-CN" sz="2400" i="1" dirty="0"/>
              <a:t>static link</a:t>
            </a:r>
            <a:r>
              <a:rPr lang="zh-CN" altLang="en-US" sz="2400" dirty="0"/>
              <a:t>）</a:t>
            </a:r>
            <a:endParaRPr lang="zh-CN" altLang="en-US" sz="2400" b="1" dirty="0">
              <a:solidFill>
                <a:srgbClr val="800080"/>
              </a:solidFill>
            </a:endParaRPr>
          </a:p>
          <a:p>
            <a:pPr lvl="1">
              <a:buFontTx/>
              <a:buNone/>
            </a:pPr>
            <a:endParaRPr kumimoji="0" lang="zh-CN" altLang="en-US" sz="1100" b="1" dirty="0">
              <a:solidFill>
                <a:srgbClr val="800080"/>
              </a:solidFill>
            </a:endParaRPr>
          </a:p>
          <a:p>
            <a:pPr lvl="1">
              <a:buFontTx/>
              <a:buNone/>
            </a:pPr>
            <a:r>
              <a:rPr kumimoji="0" lang="zh-CN" altLang="en-US" sz="2400" b="1" dirty="0"/>
              <a:t>   </a:t>
            </a:r>
            <a:r>
              <a:rPr kumimoji="0" lang="en-US" altLang="zh-CN" sz="2400" dirty="0"/>
              <a:t>Display </a:t>
            </a:r>
            <a:r>
              <a:rPr kumimoji="0" lang="zh-CN" altLang="en-US" sz="2400" b="1" dirty="0"/>
              <a:t>表的方法要用到多个存储单元或多个寄存器，</a:t>
            </a:r>
          </a:p>
          <a:p>
            <a:pPr lvl="1">
              <a:buFontTx/>
              <a:buNone/>
            </a:pPr>
            <a:r>
              <a:rPr kumimoji="0" lang="zh-CN" altLang="en-US" sz="2400" b="1" dirty="0"/>
              <a:t>   有时并不情愿这样做，一种可选的方法是采用</a:t>
            </a:r>
            <a:r>
              <a:rPr kumimoji="0" lang="zh-CN" altLang="en-US" sz="2400" b="1" dirty="0">
                <a:solidFill>
                  <a:srgbClr val="FF0000"/>
                </a:solidFill>
              </a:rPr>
              <a:t>静态链</a:t>
            </a:r>
            <a:endParaRPr kumimoji="0" lang="zh-CN" altLang="en-US" sz="2400" dirty="0">
              <a:solidFill>
                <a:srgbClr val="FF0000"/>
              </a:solidFill>
            </a:endParaRPr>
          </a:p>
          <a:p>
            <a:pPr lvl="1">
              <a:buFontTx/>
              <a:buNone/>
            </a:pPr>
            <a:endParaRPr lang="zh-CN" altLang="en-US" sz="1100" b="1" dirty="0">
              <a:solidFill>
                <a:srgbClr val="800080"/>
              </a:solidFill>
            </a:endParaRPr>
          </a:p>
          <a:p>
            <a:pPr lvl="1">
              <a:buFontTx/>
              <a:buNone/>
            </a:pPr>
            <a:r>
              <a:rPr lang="zh-CN" altLang="en-US" sz="2400" b="1" dirty="0">
                <a:latin typeface="Times New Roman" pitchFamily="18" charset="0"/>
              </a:rPr>
              <a:t>   </a:t>
            </a:r>
            <a:r>
              <a:rPr lang="zh-CN" altLang="en-US" sz="2400" b="1" dirty="0"/>
              <a:t>所有活动记录都增加一个静态链（如在</a:t>
            </a:r>
            <a:r>
              <a:rPr lang="en-US" altLang="zh-CN" sz="2400" dirty="0"/>
              <a:t>offset</a:t>
            </a:r>
            <a:r>
              <a:rPr lang="en-US" altLang="zh-CN" sz="2400" b="1" dirty="0"/>
              <a:t> </a:t>
            </a:r>
            <a:r>
              <a:rPr lang="zh-CN" altLang="en-US" sz="2400" b="1" dirty="0"/>
              <a:t>为 </a:t>
            </a:r>
            <a:r>
              <a:rPr lang="en-US" altLang="zh-CN" sz="2400" dirty="0"/>
              <a:t>0 </a:t>
            </a:r>
            <a:r>
              <a:rPr lang="zh-CN" altLang="en-US" sz="2400" b="1" dirty="0"/>
              <a:t>处）</a:t>
            </a:r>
          </a:p>
          <a:p>
            <a:pPr lvl="1">
              <a:buFontTx/>
              <a:buNone/>
            </a:pPr>
            <a:r>
              <a:rPr lang="zh-CN" altLang="en-US" sz="2400" b="1" dirty="0"/>
              <a:t>   的域，指向定义该过程的</a:t>
            </a:r>
            <a:r>
              <a:rPr lang="zh-CN" altLang="en-US" sz="2400" b="1" dirty="0">
                <a:solidFill>
                  <a:srgbClr val="FF0000"/>
                </a:solidFill>
              </a:rPr>
              <a:t>直接外过程</a:t>
            </a:r>
            <a:r>
              <a:rPr lang="zh-CN" altLang="en-US" sz="2400" b="1" dirty="0"/>
              <a:t>（或主程序）运</a:t>
            </a:r>
          </a:p>
          <a:p>
            <a:pPr lvl="1">
              <a:buFontTx/>
              <a:buNone/>
            </a:pPr>
            <a:r>
              <a:rPr lang="zh-CN" altLang="en-US" sz="2400" b="1" dirty="0"/>
              <a:t>   行时</a:t>
            </a:r>
            <a:r>
              <a:rPr lang="zh-CN" altLang="en-US" sz="2400" b="1" dirty="0">
                <a:solidFill>
                  <a:srgbClr val="FF0000"/>
                </a:solidFill>
              </a:rPr>
              <a:t>最新的</a:t>
            </a:r>
            <a:r>
              <a:rPr lang="zh-CN" altLang="en-US" sz="2400" b="1" dirty="0"/>
              <a:t>活动记录</a:t>
            </a:r>
          </a:p>
          <a:p>
            <a:pPr lvl="1">
              <a:buFontTx/>
              <a:buNone/>
            </a:pPr>
            <a:endParaRPr lang="zh-CN" altLang="en-US" sz="1100" b="1" dirty="0"/>
          </a:p>
          <a:p>
            <a:pPr lvl="1">
              <a:buFontTx/>
              <a:buNone/>
            </a:pPr>
            <a:r>
              <a:rPr lang="zh-CN" altLang="en-US" sz="2400" b="1" dirty="0"/>
              <a:t>   在过程返回时当前 </a:t>
            </a:r>
            <a:r>
              <a:rPr lang="en-US" altLang="zh-CN" sz="2400" dirty="0"/>
              <a:t>AR </a:t>
            </a:r>
            <a:r>
              <a:rPr lang="zh-CN" altLang="en-US" sz="2400" b="1" dirty="0"/>
              <a:t>要被撤销，为</a:t>
            </a:r>
            <a:r>
              <a:rPr lang="zh-CN" altLang="en-US" sz="2400" b="1" dirty="0">
                <a:solidFill>
                  <a:srgbClr val="FF0000"/>
                </a:solidFill>
              </a:rPr>
              <a:t>回卷</a:t>
            </a:r>
            <a:r>
              <a:rPr lang="zh-CN" altLang="en-US" sz="2400" b="1" dirty="0"/>
              <a:t>（</a:t>
            </a:r>
            <a:r>
              <a:rPr lang="en-US" altLang="zh-CN" sz="2400" i="1" dirty="0"/>
              <a:t>unwind</a:t>
            </a:r>
            <a:r>
              <a:rPr lang="zh-CN" altLang="en-US" sz="2400" b="1" dirty="0"/>
              <a:t>）</a:t>
            </a:r>
          </a:p>
          <a:p>
            <a:pPr lvl="1">
              <a:buFontTx/>
              <a:buNone/>
            </a:pPr>
            <a:r>
              <a:rPr lang="zh-CN" altLang="en-US" sz="2400" b="1" dirty="0"/>
              <a:t>   到调用过程的</a:t>
            </a:r>
            <a:r>
              <a:rPr lang="en-US" altLang="zh-CN" sz="2400" dirty="0"/>
              <a:t>AR</a:t>
            </a:r>
            <a:r>
              <a:rPr lang="zh-CN" altLang="en-US" sz="2400" b="1" dirty="0"/>
              <a:t>（恢复</a:t>
            </a:r>
            <a:r>
              <a:rPr kumimoji="0" lang="en-US" altLang="zh-CN" sz="2400" dirty="0"/>
              <a:t>FP</a:t>
            </a:r>
            <a:r>
              <a:rPr kumimoji="0" lang="zh-CN" altLang="en-US" sz="2400" dirty="0"/>
              <a:t>）</a:t>
            </a:r>
            <a:r>
              <a:rPr lang="zh-CN" altLang="en-US" sz="2400" b="1" dirty="0"/>
              <a:t>需要用到</a:t>
            </a:r>
            <a:r>
              <a:rPr lang="zh-CN" altLang="en-US" sz="2400" b="1" dirty="0">
                <a:solidFill>
                  <a:srgbClr val="FF0000"/>
                </a:solidFill>
              </a:rPr>
              <a:t>动态链</a:t>
            </a:r>
            <a:r>
              <a:rPr lang="zh-CN" altLang="en-US" sz="2400" b="1" dirty="0"/>
              <a:t>域</a:t>
            </a:r>
          </a:p>
        </p:txBody>
      </p:sp>
      <p:sp>
        <p:nvSpPr>
          <p:cNvPr id="5" name="灯片编号占位符 4"/>
          <p:cNvSpPr>
            <a:spLocks noGrp="1"/>
          </p:cNvSpPr>
          <p:nvPr>
            <p:ph type="sldNum" sz="quarter" idx="4"/>
          </p:nvPr>
        </p:nvSpPr>
        <p:spPr/>
        <p:txBody>
          <a:bodyPr/>
          <a:lstStyle/>
          <a:p>
            <a:fld id="{565CE74E-AB26-4998-AD42-012C4C1AD076}" type="slidenum">
              <a:rPr lang="zh-CN" altLang="en-US" smtClean="0"/>
              <a:t>28</a:t>
            </a:fld>
            <a:endParaRPr lang="zh-CN" altLang="en-US"/>
          </a:p>
        </p:txBody>
      </p:sp>
    </p:spTree>
    <p:extLst>
      <p:ext uri="{BB962C8B-B14F-4D97-AF65-F5344CB8AC3E}">
        <p14:creationId xmlns:p14="http://schemas.microsoft.com/office/powerpoint/2010/main" val="961344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嵌套过程定义中非局部量的访问</a:t>
            </a:r>
          </a:p>
        </p:txBody>
      </p:sp>
      <p:sp>
        <p:nvSpPr>
          <p:cNvPr id="3" name="标题 2"/>
          <p:cNvSpPr>
            <a:spLocks noGrp="1"/>
          </p:cNvSpPr>
          <p:nvPr>
            <p:ph type="title"/>
          </p:nvPr>
        </p:nvSpPr>
        <p:spPr/>
        <p:txBody>
          <a:bodyPr/>
          <a:lstStyle/>
          <a:p>
            <a:r>
              <a:rPr lang="zh-CN" altLang="en-US" dirty="0"/>
              <a:t>二、活动记录</a:t>
            </a:r>
          </a:p>
        </p:txBody>
      </p:sp>
      <p:sp>
        <p:nvSpPr>
          <p:cNvPr id="4" name="Rectangle 4"/>
          <p:cNvSpPr>
            <a:spLocks noChangeArrowheads="1"/>
          </p:cNvSpPr>
          <p:nvPr/>
        </p:nvSpPr>
        <p:spPr bwMode="auto">
          <a:xfrm>
            <a:off x="148281" y="1722438"/>
            <a:ext cx="5566719" cy="1054135"/>
          </a:xfrm>
          <a:prstGeom prst="rect">
            <a:avLst/>
          </a:prstGeom>
          <a:noFill/>
          <a:ln w="9525">
            <a:noFill/>
            <a:miter lim="800000"/>
            <a:headEnd/>
            <a:tailEnd/>
          </a:ln>
          <a:effectLst/>
        </p:spPr>
        <p:txBody>
          <a:bodyPr wrap="square">
            <a:spAutoFit/>
          </a:bodyPr>
          <a:lstStyle/>
          <a:p>
            <a:pPr>
              <a:buClrTx/>
              <a:buFont typeface="Symbol" pitchFamily="18" charset="2"/>
              <a:buChar char="-"/>
            </a:pPr>
            <a:r>
              <a:rPr lang="en-US" altLang="zh-CN" sz="3200" b="1" dirty="0">
                <a:solidFill>
                  <a:srgbClr val="800080"/>
                </a:solidFill>
                <a:latin typeface="楷体_GB2312" pitchFamily="49" charset="-122"/>
              </a:rPr>
              <a:t> </a:t>
            </a:r>
            <a:r>
              <a:rPr lang="zh-CN" altLang="en-US" sz="3200" b="1" dirty="0">
                <a:solidFill>
                  <a:srgbClr val="800080"/>
                </a:solidFill>
                <a:latin typeface="Times New Roman" pitchFamily="18" charset="0"/>
              </a:rPr>
              <a:t>嵌套过程语言的栈式分配</a:t>
            </a:r>
            <a:endParaRPr kumimoji="0" lang="zh-CN" altLang="en-US" sz="1050" b="1" dirty="0">
              <a:solidFill>
                <a:srgbClr val="800080"/>
              </a:solidFill>
            </a:endParaRPr>
          </a:p>
          <a:p>
            <a:pPr>
              <a:buClrTx/>
              <a:buFont typeface="Symbol" pitchFamily="18" charset="2"/>
              <a:buNone/>
            </a:pPr>
            <a:endParaRPr kumimoji="0" lang="zh-CN" altLang="en-US" sz="1050" b="1" dirty="0">
              <a:solidFill>
                <a:srgbClr val="800080"/>
              </a:solidFill>
            </a:endParaRPr>
          </a:p>
          <a:p>
            <a:pPr lvl="1">
              <a:buFontTx/>
              <a:buChar char="•"/>
            </a:pPr>
            <a:r>
              <a:rPr kumimoji="0" lang="zh-CN" altLang="en-US" sz="2000" b="1" dirty="0">
                <a:solidFill>
                  <a:srgbClr val="800080"/>
                </a:solidFill>
              </a:rPr>
              <a:t>  </a:t>
            </a:r>
            <a:r>
              <a:rPr kumimoji="0" lang="zh-CN" altLang="en-US" sz="2000" b="1" dirty="0"/>
              <a:t>采用静态链的方法</a:t>
            </a:r>
            <a:r>
              <a:rPr kumimoji="0" lang="zh-CN" altLang="en-US" sz="2000" b="1" dirty="0">
                <a:solidFill>
                  <a:srgbClr val="800080"/>
                </a:solidFill>
              </a:rPr>
              <a:t>举例</a:t>
            </a:r>
          </a:p>
        </p:txBody>
      </p:sp>
      <p:sp>
        <p:nvSpPr>
          <p:cNvPr id="5" name="Line 6"/>
          <p:cNvSpPr>
            <a:spLocks noChangeShapeType="1"/>
          </p:cNvSpPr>
          <p:nvPr/>
        </p:nvSpPr>
        <p:spPr bwMode="auto">
          <a:xfrm>
            <a:off x="2133600" y="3505200"/>
            <a:ext cx="0" cy="2971800"/>
          </a:xfrm>
          <a:prstGeom prst="line">
            <a:avLst/>
          </a:prstGeom>
          <a:noFill/>
          <a:ln w="9525">
            <a:solidFill>
              <a:srgbClr val="800080"/>
            </a:solidFill>
            <a:round/>
            <a:headEnd/>
            <a:tailEnd/>
          </a:ln>
          <a:effectLst/>
        </p:spPr>
        <p:txBody>
          <a:bodyPr>
            <a:spAutoFit/>
          </a:bodyPr>
          <a:lstStyle/>
          <a:p>
            <a:endParaRPr lang="zh-CN" altLang="en-US"/>
          </a:p>
        </p:txBody>
      </p:sp>
      <p:sp>
        <p:nvSpPr>
          <p:cNvPr id="6" name="Line 7"/>
          <p:cNvSpPr>
            <a:spLocks noChangeShapeType="1"/>
          </p:cNvSpPr>
          <p:nvPr/>
        </p:nvSpPr>
        <p:spPr bwMode="auto">
          <a:xfrm>
            <a:off x="4724400" y="3505200"/>
            <a:ext cx="0" cy="2971800"/>
          </a:xfrm>
          <a:prstGeom prst="line">
            <a:avLst/>
          </a:prstGeom>
          <a:noFill/>
          <a:ln w="9525">
            <a:solidFill>
              <a:srgbClr val="800080"/>
            </a:solidFill>
            <a:round/>
            <a:headEnd/>
            <a:tailEnd/>
          </a:ln>
          <a:effectLst/>
        </p:spPr>
        <p:txBody>
          <a:bodyPr>
            <a:spAutoFit/>
          </a:bodyPr>
          <a:lstStyle/>
          <a:p>
            <a:endParaRPr lang="zh-CN" altLang="en-US"/>
          </a:p>
        </p:txBody>
      </p:sp>
      <p:sp>
        <p:nvSpPr>
          <p:cNvPr id="7" name="Line 8"/>
          <p:cNvSpPr>
            <a:spLocks noChangeShapeType="1"/>
          </p:cNvSpPr>
          <p:nvPr/>
        </p:nvSpPr>
        <p:spPr bwMode="auto">
          <a:xfrm>
            <a:off x="2133600" y="64770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8" name="Line 9"/>
          <p:cNvSpPr>
            <a:spLocks noChangeShapeType="1"/>
          </p:cNvSpPr>
          <p:nvPr/>
        </p:nvSpPr>
        <p:spPr bwMode="auto">
          <a:xfrm>
            <a:off x="2133600" y="59436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9" name="Rectangle 10"/>
          <p:cNvSpPr>
            <a:spLocks noChangeArrowheads="1"/>
          </p:cNvSpPr>
          <p:nvPr/>
        </p:nvSpPr>
        <p:spPr bwMode="auto">
          <a:xfrm>
            <a:off x="2185988" y="6003925"/>
            <a:ext cx="2462212"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main </a:t>
            </a:r>
            <a:r>
              <a:rPr lang="zh-CN" altLang="en-US" sz="2000" b="1">
                <a:solidFill>
                  <a:srgbClr val="800080"/>
                </a:solidFill>
              </a:rPr>
              <a:t>的活动记录</a:t>
            </a:r>
          </a:p>
        </p:txBody>
      </p:sp>
      <p:sp>
        <p:nvSpPr>
          <p:cNvPr id="10" name="Line 11"/>
          <p:cNvSpPr>
            <a:spLocks noChangeShapeType="1"/>
          </p:cNvSpPr>
          <p:nvPr/>
        </p:nvSpPr>
        <p:spPr bwMode="auto">
          <a:xfrm>
            <a:off x="2133600" y="54102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1" name="Rectangle 12"/>
          <p:cNvSpPr>
            <a:spLocks noChangeArrowheads="1"/>
          </p:cNvSpPr>
          <p:nvPr/>
        </p:nvSpPr>
        <p:spPr bwMode="auto">
          <a:xfrm>
            <a:off x="2185988" y="4953000"/>
            <a:ext cx="2462212"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P </a:t>
            </a:r>
            <a:r>
              <a:rPr lang="zh-CN" altLang="en-US" sz="2000" b="1">
                <a:solidFill>
                  <a:srgbClr val="800080"/>
                </a:solidFill>
              </a:rPr>
              <a:t>的活动记录</a:t>
            </a:r>
          </a:p>
        </p:txBody>
      </p:sp>
      <p:sp>
        <p:nvSpPr>
          <p:cNvPr id="12" name="Line 13"/>
          <p:cNvSpPr>
            <a:spLocks noChangeShapeType="1"/>
          </p:cNvSpPr>
          <p:nvPr/>
        </p:nvSpPr>
        <p:spPr bwMode="auto">
          <a:xfrm>
            <a:off x="2133600" y="48768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3" name="Rectangle 14"/>
          <p:cNvSpPr>
            <a:spLocks noChangeArrowheads="1"/>
          </p:cNvSpPr>
          <p:nvPr/>
        </p:nvSpPr>
        <p:spPr bwMode="auto">
          <a:xfrm>
            <a:off x="2133600" y="4419600"/>
            <a:ext cx="25146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Q </a:t>
            </a:r>
            <a:r>
              <a:rPr lang="zh-CN" altLang="en-US" sz="2000" b="1">
                <a:solidFill>
                  <a:srgbClr val="800080"/>
                </a:solidFill>
              </a:rPr>
              <a:t>的活动记录</a:t>
            </a:r>
          </a:p>
        </p:txBody>
      </p:sp>
      <p:sp>
        <p:nvSpPr>
          <p:cNvPr id="14" name="Line 15"/>
          <p:cNvSpPr>
            <a:spLocks noChangeShapeType="1"/>
          </p:cNvSpPr>
          <p:nvPr/>
        </p:nvSpPr>
        <p:spPr bwMode="auto">
          <a:xfrm>
            <a:off x="2133600" y="43434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5" name="Rectangle 16"/>
          <p:cNvSpPr>
            <a:spLocks noChangeArrowheads="1"/>
          </p:cNvSpPr>
          <p:nvPr/>
        </p:nvSpPr>
        <p:spPr bwMode="auto">
          <a:xfrm>
            <a:off x="693318" y="2803525"/>
            <a:ext cx="5247107" cy="461665"/>
          </a:xfrm>
          <a:prstGeom prst="rect">
            <a:avLst/>
          </a:prstGeom>
          <a:noFill/>
          <a:ln w="9525">
            <a:noFill/>
            <a:miter lim="800000"/>
            <a:headEnd/>
            <a:tailEnd/>
          </a:ln>
          <a:effectLst/>
        </p:spPr>
        <p:txBody>
          <a:bodyPr wrap="square">
            <a:spAutoFit/>
          </a:bodyPr>
          <a:lstStyle/>
          <a:p>
            <a:pPr algn="ctr" eaLnBrk="0" hangingPunct="0">
              <a:buClrTx/>
              <a:buFontTx/>
              <a:buNone/>
            </a:pPr>
            <a:r>
              <a:rPr kumimoji="0" lang="zh-CN" altLang="en-US" sz="2400" b="1" dirty="0"/>
              <a:t>过程 </a:t>
            </a:r>
            <a:r>
              <a:rPr kumimoji="0" lang="en-US" altLang="zh-CN" sz="2400" dirty="0"/>
              <a:t>R</a:t>
            </a:r>
            <a:r>
              <a:rPr kumimoji="0" lang="en-US" altLang="zh-CN" sz="2400" b="1" dirty="0"/>
              <a:t> </a:t>
            </a:r>
            <a:r>
              <a:rPr kumimoji="0" lang="zh-CN" altLang="en-US" sz="2400" b="1" dirty="0"/>
              <a:t>被第一次激活后运行栈的情况</a:t>
            </a:r>
          </a:p>
        </p:txBody>
      </p:sp>
      <p:sp>
        <p:nvSpPr>
          <p:cNvPr id="16" name="Rectangle 21"/>
          <p:cNvSpPr>
            <a:spLocks noChangeArrowheads="1"/>
          </p:cNvSpPr>
          <p:nvPr/>
        </p:nvSpPr>
        <p:spPr bwMode="auto">
          <a:xfrm>
            <a:off x="2185988" y="5486400"/>
            <a:ext cx="2462212"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S </a:t>
            </a:r>
            <a:r>
              <a:rPr lang="zh-CN" altLang="en-US" sz="2000" b="1">
                <a:solidFill>
                  <a:srgbClr val="800080"/>
                </a:solidFill>
              </a:rPr>
              <a:t>的活动记录</a:t>
            </a:r>
          </a:p>
        </p:txBody>
      </p:sp>
      <p:sp>
        <p:nvSpPr>
          <p:cNvPr id="17" name="Line 22"/>
          <p:cNvSpPr>
            <a:spLocks noChangeShapeType="1"/>
          </p:cNvSpPr>
          <p:nvPr/>
        </p:nvSpPr>
        <p:spPr bwMode="auto">
          <a:xfrm>
            <a:off x="2133600" y="3810000"/>
            <a:ext cx="2590800" cy="0"/>
          </a:xfrm>
          <a:prstGeom prst="line">
            <a:avLst/>
          </a:prstGeom>
          <a:noFill/>
          <a:ln w="9525">
            <a:solidFill>
              <a:srgbClr val="800080"/>
            </a:solidFill>
            <a:round/>
            <a:headEnd/>
            <a:tailEnd/>
          </a:ln>
          <a:effectLst/>
        </p:spPr>
        <p:txBody>
          <a:bodyPr>
            <a:spAutoFit/>
          </a:bodyPr>
          <a:lstStyle/>
          <a:p>
            <a:endParaRPr lang="zh-CN" altLang="en-US"/>
          </a:p>
        </p:txBody>
      </p:sp>
      <p:sp>
        <p:nvSpPr>
          <p:cNvPr id="18" name="Line 23"/>
          <p:cNvSpPr>
            <a:spLocks noChangeShapeType="1"/>
          </p:cNvSpPr>
          <p:nvPr/>
        </p:nvSpPr>
        <p:spPr bwMode="auto">
          <a:xfrm flipH="1">
            <a:off x="1600200" y="3733800"/>
            <a:ext cx="5334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19" name="Rectangle 24"/>
          <p:cNvSpPr>
            <a:spLocks noChangeArrowheads="1"/>
          </p:cNvSpPr>
          <p:nvPr/>
        </p:nvSpPr>
        <p:spPr bwMode="auto">
          <a:xfrm>
            <a:off x="762000" y="3565525"/>
            <a:ext cx="8382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TOP</a:t>
            </a:r>
            <a:endParaRPr lang="en-US" altLang="zh-CN" sz="2000" b="1"/>
          </a:p>
        </p:txBody>
      </p:sp>
      <p:sp>
        <p:nvSpPr>
          <p:cNvPr id="20" name="Rectangle 25"/>
          <p:cNvSpPr>
            <a:spLocks noChangeArrowheads="1"/>
          </p:cNvSpPr>
          <p:nvPr/>
        </p:nvSpPr>
        <p:spPr bwMode="auto">
          <a:xfrm>
            <a:off x="2209800" y="3870325"/>
            <a:ext cx="25146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a:solidFill>
                  <a:srgbClr val="800080"/>
                </a:solidFill>
              </a:rPr>
              <a:t>R </a:t>
            </a:r>
            <a:r>
              <a:rPr lang="zh-CN" altLang="en-US" sz="2000" b="1">
                <a:solidFill>
                  <a:srgbClr val="800080"/>
                </a:solidFill>
              </a:rPr>
              <a:t>的活动记录</a:t>
            </a:r>
          </a:p>
        </p:txBody>
      </p:sp>
      <p:sp>
        <p:nvSpPr>
          <p:cNvPr id="21" name="Line 26"/>
          <p:cNvSpPr>
            <a:spLocks noChangeShapeType="1"/>
          </p:cNvSpPr>
          <p:nvPr/>
        </p:nvSpPr>
        <p:spPr bwMode="auto">
          <a:xfrm flipH="1">
            <a:off x="1828800" y="4267200"/>
            <a:ext cx="381000" cy="0"/>
          </a:xfrm>
          <a:prstGeom prst="line">
            <a:avLst/>
          </a:prstGeom>
          <a:noFill/>
          <a:ln w="9525">
            <a:solidFill>
              <a:srgbClr val="333399"/>
            </a:solidFill>
            <a:round/>
            <a:headEnd/>
            <a:tailEnd/>
          </a:ln>
          <a:effectLst/>
        </p:spPr>
        <p:txBody>
          <a:bodyPr>
            <a:spAutoFit/>
          </a:bodyPr>
          <a:lstStyle/>
          <a:p>
            <a:endParaRPr lang="zh-CN" altLang="en-US"/>
          </a:p>
        </p:txBody>
      </p:sp>
      <p:sp>
        <p:nvSpPr>
          <p:cNvPr id="22" name="Line 27"/>
          <p:cNvSpPr>
            <a:spLocks noChangeShapeType="1"/>
          </p:cNvSpPr>
          <p:nvPr/>
        </p:nvSpPr>
        <p:spPr bwMode="auto">
          <a:xfrm>
            <a:off x="1828800" y="4267200"/>
            <a:ext cx="0" cy="609600"/>
          </a:xfrm>
          <a:prstGeom prst="line">
            <a:avLst/>
          </a:prstGeom>
          <a:noFill/>
          <a:ln w="9525">
            <a:solidFill>
              <a:srgbClr val="333399"/>
            </a:solidFill>
            <a:round/>
            <a:headEnd/>
            <a:tailEnd/>
          </a:ln>
          <a:effectLst/>
        </p:spPr>
        <p:txBody>
          <a:bodyPr>
            <a:spAutoFit/>
          </a:bodyPr>
          <a:lstStyle/>
          <a:p>
            <a:endParaRPr lang="zh-CN" altLang="en-US"/>
          </a:p>
        </p:txBody>
      </p:sp>
      <p:sp>
        <p:nvSpPr>
          <p:cNvPr id="23" name="Line 28"/>
          <p:cNvSpPr>
            <a:spLocks noChangeShapeType="1"/>
          </p:cNvSpPr>
          <p:nvPr/>
        </p:nvSpPr>
        <p:spPr bwMode="auto">
          <a:xfrm flipH="1">
            <a:off x="1828800" y="4876800"/>
            <a:ext cx="3048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24" name="Line 29"/>
          <p:cNvSpPr>
            <a:spLocks noChangeShapeType="1"/>
          </p:cNvSpPr>
          <p:nvPr/>
        </p:nvSpPr>
        <p:spPr bwMode="auto">
          <a:xfrm flipH="1">
            <a:off x="1828800" y="5867400"/>
            <a:ext cx="381000" cy="0"/>
          </a:xfrm>
          <a:prstGeom prst="line">
            <a:avLst/>
          </a:prstGeom>
          <a:noFill/>
          <a:ln w="9525">
            <a:solidFill>
              <a:srgbClr val="333399"/>
            </a:solidFill>
            <a:round/>
            <a:headEnd/>
            <a:tailEnd/>
          </a:ln>
          <a:effectLst/>
        </p:spPr>
        <p:txBody>
          <a:bodyPr>
            <a:spAutoFit/>
          </a:bodyPr>
          <a:lstStyle/>
          <a:p>
            <a:endParaRPr lang="zh-CN" altLang="en-US"/>
          </a:p>
        </p:txBody>
      </p:sp>
      <p:sp>
        <p:nvSpPr>
          <p:cNvPr id="25" name="Line 30"/>
          <p:cNvSpPr>
            <a:spLocks noChangeShapeType="1"/>
          </p:cNvSpPr>
          <p:nvPr/>
        </p:nvSpPr>
        <p:spPr bwMode="auto">
          <a:xfrm>
            <a:off x="1828800" y="5867400"/>
            <a:ext cx="0" cy="609600"/>
          </a:xfrm>
          <a:prstGeom prst="line">
            <a:avLst/>
          </a:prstGeom>
          <a:noFill/>
          <a:ln w="9525">
            <a:solidFill>
              <a:srgbClr val="333399"/>
            </a:solidFill>
            <a:round/>
            <a:headEnd/>
            <a:tailEnd/>
          </a:ln>
          <a:effectLst/>
        </p:spPr>
        <p:txBody>
          <a:bodyPr>
            <a:spAutoFit/>
          </a:bodyPr>
          <a:lstStyle/>
          <a:p>
            <a:endParaRPr lang="zh-CN" altLang="en-US"/>
          </a:p>
        </p:txBody>
      </p:sp>
      <p:sp>
        <p:nvSpPr>
          <p:cNvPr id="26" name="Line 31"/>
          <p:cNvSpPr>
            <a:spLocks noChangeShapeType="1"/>
          </p:cNvSpPr>
          <p:nvPr/>
        </p:nvSpPr>
        <p:spPr bwMode="auto">
          <a:xfrm flipH="1">
            <a:off x="1600200" y="4800600"/>
            <a:ext cx="609600" cy="0"/>
          </a:xfrm>
          <a:prstGeom prst="line">
            <a:avLst/>
          </a:prstGeom>
          <a:noFill/>
          <a:ln w="9525">
            <a:solidFill>
              <a:srgbClr val="333399"/>
            </a:solidFill>
            <a:round/>
            <a:headEnd/>
            <a:tailEnd/>
          </a:ln>
          <a:effectLst/>
        </p:spPr>
        <p:txBody>
          <a:bodyPr>
            <a:spAutoFit/>
          </a:bodyPr>
          <a:lstStyle/>
          <a:p>
            <a:endParaRPr lang="zh-CN" altLang="en-US"/>
          </a:p>
        </p:txBody>
      </p:sp>
      <p:sp>
        <p:nvSpPr>
          <p:cNvPr id="27" name="Line 32"/>
          <p:cNvSpPr>
            <a:spLocks noChangeShapeType="1"/>
          </p:cNvSpPr>
          <p:nvPr/>
        </p:nvSpPr>
        <p:spPr bwMode="auto">
          <a:xfrm>
            <a:off x="1600200" y="4800600"/>
            <a:ext cx="0" cy="609600"/>
          </a:xfrm>
          <a:prstGeom prst="line">
            <a:avLst/>
          </a:prstGeom>
          <a:noFill/>
          <a:ln w="9525">
            <a:solidFill>
              <a:srgbClr val="333399"/>
            </a:solidFill>
            <a:round/>
            <a:headEnd/>
            <a:tailEnd/>
          </a:ln>
          <a:effectLst/>
        </p:spPr>
        <p:txBody>
          <a:bodyPr>
            <a:spAutoFit/>
          </a:bodyPr>
          <a:lstStyle/>
          <a:p>
            <a:endParaRPr lang="zh-CN" altLang="en-US"/>
          </a:p>
        </p:txBody>
      </p:sp>
      <p:sp>
        <p:nvSpPr>
          <p:cNvPr id="28" name="Line 33"/>
          <p:cNvSpPr>
            <a:spLocks noChangeShapeType="1"/>
          </p:cNvSpPr>
          <p:nvPr/>
        </p:nvSpPr>
        <p:spPr bwMode="auto">
          <a:xfrm flipH="1">
            <a:off x="1600200" y="5410200"/>
            <a:ext cx="5334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29" name="Line 34"/>
          <p:cNvSpPr>
            <a:spLocks noChangeShapeType="1"/>
          </p:cNvSpPr>
          <p:nvPr/>
        </p:nvSpPr>
        <p:spPr bwMode="auto">
          <a:xfrm flipH="1">
            <a:off x="1828800" y="5410200"/>
            <a:ext cx="3048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30" name="Line 35"/>
          <p:cNvSpPr>
            <a:spLocks noChangeShapeType="1"/>
          </p:cNvSpPr>
          <p:nvPr/>
        </p:nvSpPr>
        <p:spPr bwMode="auto">
          <a:xfrm flipH="1">
            <a:off x="1295400" y="5334000"/>
            <a:ext cx="914400" cy="0"/>
          </a:xfrm>
          <a:prstGeom prst="line">
            <a:avLst/>
          </a:prstGeom>
          <a:noFill/>
          <a:ln w="9525">
            <a:solidFill>
              <a:srgbClr val="333399"/>
            </a:solidFill>
            <a:round/>
            <a:headEnd/>
            <a:tailEnd/>
          </a:ln>
          <a:effectLst/>
        </p:spPr>
        <p:txBody>
          <a:bodyPr>
            <a:spAutoFit/>
          </a:bodyPr>
          <a:lstStyle/>
          <a:p>
            <a:endParaRPr lang="zh-CN" altLang="en-US"/>
          </a:p>
        </p:txBody>
      </p:sp>
      <p:sp>
        <p:nvSpPr>
          <p:cNvPr id="31" name="Line 36"/>
          <p:cNvSpPr>
            <a:spLocks noChangeShapeType="1"/>
          </p:cNvSpPr>
          <p:nvPr/>
        </p:nvSpPr>
        <p:spPr bwMode="auto">
          <a:xfrm>
            <a:off x="1295400" y="5334000"/>
            <a:ext cx="0" cy="1143000"/>
          </a:xfrm>
          <a:prstGeom prst="line">
            <a:avLst/>
          </a:prstGeom>
          <a:noFill/>
          <a:ln w="9525">
            <a:solidFill>
              <a:srgbClr val="333399"/>
            </a:solidFill>
            <a:round/>
            <a:headEnd/>
            <a:tailEnd/>
          </a:ln>
          <a:effectLst/>
        </p:spPr>
        <p:txBody>
          <a:bodyPr>
            <a:spAutoFit/>
          </a:bodyPr>
          <a:lstStyle/>
          <a:p>
            <a:endParaRPr lang="zh-CN" altLang="en-US"/>
          </a:p>
        </p:txBody>
      </p:sp>
      <p:sp>
        <p:nvSpPr>
          <p:cNvPr id="32" name="Line 37"/>
          <p:cNvSpPr>
            <a:spLocks noChangeShapeType="1"/>
          </p:cNvSpPr>
          <p:nvPr/>
        </p:nvSpPr>
        <p:spPr bwMode="auto">
          <a:xfrm flipH="1">
            <a:off x="1295400" y="6477000"/>
            <a:ext cx="8382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33" name="Rectangle 38"/>
          <p:cNvSpPr>
            <a:spLocks noChangeArrowheads="1"/>
          </p:cNvSpPr>
          <p:nvPr/>
        </p:nvSpPr>
        <p:spPr bwMode="auto">
          <a:xfrm>
            <a:off x="990600" y="4038600"/>
            <a:ext cx="609600" cy="1187450"/>
          </a:xfrm>
          <a:prstGeom prst="rect">
            <a:avLst/>
          </a:prstGeom>
          <a:noFill/>
          <a:ln w="9525">
            <a:noFill/>
            <a:miter lim="800000"/>
            <a:headEnd/>
            <a:tailEnd/>
          </a:ln>
          <a:effectLst/>
        </p:spPr>
        <p:txBody>
          <a:bodyPr>
            <a:spAutoFit/>
          </a:bodyPr>
          <a:lstStyle/>
          <a:p>
            <a:pPr algn="ctr">
              <a:buFont typeface="Wingdings" pitchFamily="2" charset="2"/>
              <a:buNone/>
            </a:pPr>
            <a:r>
              <a:rPr kumimoji="0" lang="zh-CN" altLang="en-US" b="1">
                <a:solidFill>
                  <a:srgbClr val="800080"/>
                </a:solidFill>
              </a:rPr>
              <a:t>静态链</a:t>
            </a:r>
          </a:p>
        </p:txBody>
      </p:sp>
      <p:sp>
        <p:nvSpPr>
          <p:cNvPr id="34" name="Line 39"/>
          <p:cNvSpPr>
            <a:spLocks noChangeShapeType="1"/>
          </p:cNvSpPr>
          <p:nvPr/>
        </p:nvSpPr>
        <p:spPr bwMode="auto">
          <a:xfrm flipH="1">
            <a:off x="4648200" y="4267200"/>
            <a:ext cx="381000" cy="0"/>
          </a:xfrm>
          <a:prstGeom prst="line">
            <a:avLst/>
          </a:prstGeom>
          <a:noFill/>
          <a:ln w="9525">
            <a:solidFill>
              <a:srgbClr val="333399"/>
            </a:solidFill>
            <a:round/>
            <a:headEnd/>
            <a:tailEnd/>
          </a:ln>
          <a:effectLst/>
        </p:spPr>
        <p:txBody>
          <a:bodyPr>
            <a:spAutoFit/>
          </a:bodyPr>
          <a:lstStyle/>
          <a:p>
            <a:endParaRPr lang="zh-CN" altLang="en-US"/>
          </a:p>
        </p:txBody>
      </p:sp>
      <p:sp>
        <p:nvSpPr>
          <p:cNvPr id="35" name="Line 40"/>
          <p:cNvSpPr>
            <a:spLocks noChangeShapeType="1"/>
          </p:cNvSpPr>
          <p:nvPr/>
        </p:nvSpPr>
        <p:spPr bwMode="auto">
          <a:xfrm>
            <a:off x="5029200" y="4267200"/>
            <a:ext cx="0" cy="609600"/>
          </a:xfrm>
          <a:prstGeom prst="line">
            <a:avLst/>
          </a:prstGeom>
          <a:noFill/>
          <a:ln w="9525">
            <a:solidFill>
              <a:srgbClr val="333399"/>
            </a:solidFill>
            <a:round/>
            <a:headEnd/>
            <a:tailEnd/>
          </a:ln>
          <a:effectLst/>
        </p:spPr>
        <p:txBody>
          <a:bodyPr>
            <a:spAutoFit/>
          </a:bodyPr>
          <a:lstStyle/>
          <a:p>
            <a:endParaRPr lang="zh-CN" altLang="en-US"/>
          </a:p>
        </p:txBody>
      </p:sp>
      <p:sp>
        <p:nvSpPr>
          <p:cNvPr id="36" name="Line 41"/>
          <p:cNvSpPr>
            <a:spLocks noChangeShapeType="1"/>
          </p:cNvSpPr>
          <p:nvPr/>
        </p:nvSpPr>
        <p:spPr bwMode="auto">
          <a:xfrm flipH="1">
            <a:off x="4724400" y="4876800"/>
            <a:ext cx="3048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37" name="Line 42"/>
          <p:cNvSpPr>
            <a:spLocks noChangeShapeType="1"/>
          </p:cNvSpPr>
          <p:nvPr/>
        </p:nvSpPr>
        <p:spPr bwMode="auto">
          <a:xfrm flipH="1">
            <a:off x="4648200" y="4800600"/>
            <a:ext cx="609600" cy="0"/>
          </a:xfrm>
          <a:prstGeom prst="line">
            <a:avLst/>
          </a:prstGeom>
          <a:noFill/>
          <a:ln w="9525">
            <a:solidFill>
              <a:srgbClr val="333399"/>
            </a:solidFill>
            <a:round/>
            <a:headEnd/>
            <a:tailEnd/>
          </a:ln>
          <a:effectLst/>
        </p:spPr>
        <p:txBody>
          <a:bodyPr>
            <a:spAutoFit/>
          </a:bodyPr>
          <a:lstStyle/>
          <a:p>
            <a:endParaRPr lang="zh-CN" altLang="en-US"/>
          </a:p>
        </p:txBody>
      </p:sp>
      <p:sp>
        <p:nvSpPr>
          <p:cNvPr id="38" name="Line 43"/>
          <p:cNvSpPr>
            <a:spLocks noChangeShapeType="1"/>
          </p:cNvSpPr>
          <p:nvPr/>
        </p:nvSpPr>
        <p:spPr bwMode="auto">
          <a:xfrm>
            <a:off x="5257800" y="4800600"/>
            <a:ext cx="0" cy="609600"/>
          </a:xfrm>
          <a:prstGeom prst="line">
            <a:avLst/>
          </a:prstGeom>
          <a:noFill/>
          <a:ln w="9525">
            <a:solidFill>
              <a:srgbClr val="333399"/>
            </a:solidFill>
            <a:round/>
            <a:headEnd/>
            <a:tailEnd/>
          </a:ln>
          <a:effectLst/>
        </p:spPr>
        <p:txBody>
          <a:bodyPr>
            <a:spAutoFit/>
          </a:bodyPr>
          <a:lstStyle/>
          <a:p>
            <a:endParaRPr lang="zh-CN" altLang="en-US"/>
          </a:p>
        </p:txBody>
      </p:sp>
      <p:sp>
        <p:nvSpPr>
          <p:cNvPr id="39" name="Line 44"/>
          <p:cNvSpPr>
            <a:spLocks noChangeShapeType="1"/>
          </p:cNvSpPr>
          <p:nvPr/>
        </p:nvSpPr>
        <p:spPr bwMode="auto">
          <a:xfrm flipH="1">
            <a:off x="4724400" y="5410200"/>
            <a:ext cx="5334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40" name="Line 45"/>
          <p:cNvSpPr>
            <a:spLocks noChangeShapeType="1"/>
          </p:cNvSpPr>
          <p:nvPr/>
        </p:nvSpPr>
        <p:spPr bwMode="auto">
          <a:xfrm flipH="1">
            <a:off x="4648200" y="5334000"/>
            <a:ext cx="381000" cy="0"/>
          </a:xfrm>
          <a:prstGeom prst="line">
            <a:avLst/>
          </a:prstGeom>
          <a:noFill/>
          <a:ln w="9525">
            <a:solidFill>
              <a:srgbClr val="333399"/>
            </a:solidFill>
            <a:round/>
            <a:headEnd/>
            <a:tailEnd/>
          </a:ln>
          <a:effectLst/>
        </p:spPr>
        <p:txBody>
          <a:bodyPr>
            <a:spAutoFit/>
          </a:bodyPr>
          <a:lstStyle/>
          <a:p>
            <a:endParaRPr lang="zh-CN" altLang="en-US"/>
          </a:p>
        </p:txBody>
      </p:sp>
      <p:sp>
        <p:nvSpPr>
          <p:cNvPr id="41" name="Line 46"/>
          <p:cNvSpPr>
            <a:spLocks noChangeShapeType="1"/>
          </p:cNvSpPr>
          <p:nvPr/>
        </p:nvSpPr>
        <p:spPr bwMode="auto">
          <a:xfrm>
            <a:off x="5029200" y="5334000"/>
            <a:ext cx="0" cy="609600"/>
          </a:xfrm>
          <a:prstGeom prst="line">
            <a:avLst/>
          </a:prstGeom>
          <a:noFill/>
          <a:ln w="9525">
            <a:solidFill>
              <a:srgbClr val="333399"/>
            </a:solidFill>
            <a:round/>
            <a:headEnd/>
            <a:tailEnd/>
          </a:ln>
          <a:effectLst/>
        </p:spPr>
        <p:txBody>
          <a:bodyPr>
            <a:spAutoFit/>
          </a:bodyPr>
          <a:lstStyle/>
          <a:p>
            <a:endParaRPr lang="zh-CN" altLang="en-US"/>
          </a:p>
        </p:txBody>
      </p:sp>
      <p:sp>
        <p:nvSpPr>
          <p:cNvPr id="42" name="Line 47"/>
          <p:cNvSpPr>
            <a:spLocks noChangeShapeType="1"/>
          </p:cNvSpPr>
          <p:nvPr/>
        </p:nvSpPr>
        <p:spPr bwMode="auto">
          <a:xfrm flipH="1">
            <a:off x="4724400" y="5943600"/>
            <a:ext cx="3048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43" name="Line 48"/>
          <p:cNvSpPr>
            <a:spLocks noChangeShapeType="1"/>
          </p:cNvSpPr>
          <p:nvPr/>
        </p:nvSpPr>
        <p:spPr bwMode="auto">
          <a:xfrm flipH="1">
            <a:off x="4648200" y="5867400"/>
            <a:ext cx="609600" cy="0"/>
          </a:xfrm>
          <a:prstGeom prst="line">
            <a:avLst/>
          </a:prstGeom>
          <a:noFill/>
          <a:ln w="9525">
            <a:solidFill>
              <a:srgbClr val="333399"/>
            </a:solidFill>
            <a:round/>
            <a:headEnd/>
            <a:tailEnd/>
          </a:ln>
          <a:effectLst/>
        </p:spPr>
        <p:txBody>
          <a:bodyPr>
            <a:spAutoFit/>
          </a:bodyPr>
          <a:lstStyle/>
          <a:p>
            <a:endParaRPr lang="zh-CN" altLang="en-US"/>
          </a:p>
        </p:txBody>
      </p:sp>
      <p:sp>
        <p:nvSpPr>
          <p:cNvPr id="44" name="Line 49"/>
          <p:cNvSpPr>
            <a:spLocks noChangeShapeType="1"/>
          </p:cNvSpPr>
          <p:nvPr/>
        </p:nvSpPr>
        <p:spPr bwMode="auto">
          <a:xfrm>
            <a:off x="5257800" y="5867400"/>
            <a:ext cx="0" cy="609600"/>
          </a:xfrm>
          <a:prstGeom prst="line">
            <a:avLst/>
          </a:prstGeom>
          <a:noFill/>
          <a:ln w="9525">
            <a:solidFill>
              <a:srgbClr val="333399"/>
            </a:solidFill>
            <a:round/>
            <a:headEnd/>
            <a:tailEnd/>
          </a:ln>
          <a:effectLst/>
        </p:spPr>
        <p:txBody>
          <a:bodyPr>
            <a:spAutoFit/>
          </a:bodyPr>
          <a:lstStyle/>
          <a:p>
            <a:endParaRPr lang="zh-CN" altLang="en-US"/>
          </a:p>
        </p:txBody>
      </p:sp>
      <p:sp>
        <p:nvSpPr>
          <p:cNvPr id="45" name="Line 50"/>
          <p:cNvSpPr>
            <a:spLocks noChangeShapeType="1"/>
          </p:cNvSpPr>
          <p:nvPr/>
        </p:nvSpPr>
        <p:spPr bwMode="auto">
          <a:xfrm flipH="1">
            <a:off x="4724400" y="6477000"/>
            <a:ext cx="5334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46" name="Rectangle 51"/>
          <p:cNvSpPr>
            <a:spLocks noChangeArrowheads="1"/>
          </p:cNvSpPr>
          <p:nvPr/>
        </p:nvSpPr>
        <p:spPr bwMode="auto">
          <a:xfrm>
            <a:off x="5029200" y="3505200"/>
            <a:ext cx="609600" cy="1187450"/>
          </a:xfrm>
          <a:prstGeom prst="rect">
            <a:avLst/>
          </a:prstGeom>
          <a:noFill/>
          <a:ln w="9525">
            <a:noFill/>
            <a:miter lim="800000"/>
            <a:headEnd/>
            <a:tailEnd/>
          </a:ln>
          <a:effectLst/>
        </p:spPr>
        <p:txBody>
          <a:bodyPr>
            <a:spAutoFit/>
          </a:bodyPr>
          <a:lstStyle/>
          <a:p>
            <a:pPr algn="ctr">
              <a:buFont typeface="Wingdings" pitchFamily="2" charset="2"/>
              <a:buNone/>
            </a:pPr>
            <a:r>
              <a:rPr kumimoji="0" lang="zh-CN" altLang="en-US" b="1">
                <a:solidFill>
                  <a:srgbClr val="800080"/>
                </a:solidFill>
              </a:rPr>
              <a:t>动态链</a:t>
            </a:r>
          </a:p>
        </p:txBody>
      </p:sp>
      <p:sp>
        <p:nvSpPr>
          <p:cNvPr id="47" name="Text Box 52"/>
          <p:cNvSpPr txBox="1">
            <a:spLocks noChangeArrowheads="1"/>
          </p:cNvSpPr>
          <p:nvPr/>
        </p:nvSpPr>
        <p:spPr bwMode="auto">
          <a:xfrm>
            <a:off x="6636196" y="1044575"/>
            <a:ext cx="2400300" cy="5584825"/>
          </a:xfrm>
          <a:prstGeom prst="rect">
            <a:avLst/>
          </a:prstGeom>
          <a:noFill/>
          <a:ln w="9525">
            <a:noFill/>
            <a:miter lim="800000"/>
            <a:headEnd/>
            <a:tailEnd/>
          </a:ln>
          <a:effectLst/>
        </p:spPr>
        <p:txBody>
          <a:bodyPr wrap="square">
            <a:spAutoFit/>
          </a:bodyPr>
          <a:lstStyle/>
          <a:p>
            <a:pPr>
              <a:buFont typeface="Wingdings" pitchFamily="2" charset="2"/>
              <a:buNone/>
            </a:pPr>
            <a:r>
              <a:rPr kumimoji="0" lang="en-US" altLang="zh-CN" sz="1800" b="1" dirty="0"/>
              <a:t>program Main( I,O)</a:t>
            </a:r>
            <a:r>
              <a:rPr kumimoji="0" lang="zh-CN" altLang="en-US" sz="1800" b="1" dirty="0"/>
              <a:t>；</a:t>
            </a:r>
          </a:p>
          <a:p>
            <a:pPr>
              <a:buFont typeface="Wingdings" pitchFamily="2" charset="2"/>
              <a:buNone/>
            </a:pPr>
            <a:r>
              <a:rPr kumimoji="0" lang="en-US" altLang="zh-CN" sz="1800" b="1" dirty="0"/>
              <a:t>procedure P;</a:t>
            </a:r>
          </a:p>
          <a:p>
            <a:pPr>
              <a:buFont typeface="Wingdings" pitchFamily="2" charset="2"/>
              <a:buNone/>
            </a:pPr>
            <a:r>
              <a:rPr kumimoji="0" lang="en-US" altLang="zh-CN" sz="1800" b="1" dirty="0"/>
              <a:t>   procedure Q;</a:t>
            </a:r>
          </a:p>
          <a:p>
            <a:pPr>
              <a:buFont typeface="Wingdings" pitchFamily="2" charset="2"/>
              <a:buNone/>
            </a:pPr>
            <a:r>
              <a:rPr kumimoji="0" lang="en-US" altLang="zh-CN" sz="1800" b="1" dirty="0"/>
              <a:t>      procedure R;</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R; …</a:t>
            </a:r>
          </a:p>
          <a:p>
            <a:pPr>
              <a:buFont typeface="Wingdings" pitchFamily="2" charset="2"/>
              <a:buNone/>
            </a:pPr>
            <a:r>
              <a:rPr kumimoji="0" lang="en-US" altLang="zh-CN" sz="1800" b="1" dirty="0"/>
              <a:t>         end;   /*R*/</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R; …</a:t>
            </a:r>
          </a:p>
          <a:p>
            <a:pPr>
              <a:buFont typeface="Wingdings" pitchFamily="2" charset="2"/>
              <a:buNone/>
            </a:pPr>
            <a:r>
              <a:rPr kumimoji="0" lang="en-US" altLang="zh-CN" sz="1800" b="1" dirty="0"/>
              <a:t>      end;   /*Q*/</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Q; …</a:t>
            </a:r>
          </a:p>
          <a:p>
            <a:pPr>
              <a:buFont typeface="Wingdings" pitchFamily="2" charset="2"/>
              <a:buNone/>
            </a:pPr>
            <a:r>
              <a:rPr kumimoji="0" lang="en-US" altLang="zh-CN" sz="1800" b="1" dirty="0"/>
              <a:t>   end;   /*P*/</a:t>
            </a:r>
          </a:p>
          <a:p>
            <a:pPr>
              <a:buFont typeface="Wingdings" pitchFamily="2" charset="2"/>
              <a:buNone/>
            </a:pPr>
            <a:r>
              <a:rPr kumimoji="0" lang="en-US" altLang="zh-CN" sz="1800" b="1" dirty="0"/>
              <a:t>procedure S;</a:t>
            </a:r>
          </a:p>
          <a:p>
            <a:pPr>
              <a:buFont typeface="Wingdings" pitchFamily="2" charset="2"/>
              <a:buNone/>
            </a:pPr>
            <a:r>
              <a:rPr kumimoji="0" lang="en-US" altLang="zh-CN" sz="1800" b="1" dirty="0"/>
              <a:t>   begin</a:t>
            </a:r>
          </a:p>
          <a:p>
            <a:pPr>
              <a:buFont typeface="Wingdings" pitchFamily="2" charset="2"/>
              <a:buNone/>
            </a:pPr>
            <a:r>
              <a:rPr kumimoji="0" lang="en-US" altLang="zh-CN" sz="1800" b="1" dirty="0"/>
              <a:t>      … P; …</a:t>
            </a:r>
          </a:p>
          <a:p>
            <a:pPr>
              <a:buFont typeface="Wingdings" pitchFamily="2" charset="2"/>
              <a:buNone/>
            </a:pPr>
            <a:r>
              <a:rPr kumimoji="0" lang="en-US" altLang="zh-CN" sz="1800" b="1" dirty="0"/>
              <a:t>   end;   /*S*/</a:t>
            </a:r>
          </a:p>
          <a:p>
            <a:pPr>
              <a:buFont typeface="Wingdings" pitchFamily="2" charset="2"/>
              <a:buNone/>
            </a:pPr>
            <a:r>
              <a:rPr kumimoji="0" lang="en-US" altLang="zh-CN" sz="1800" b="1" dirty="0"/>
              <a:t>begin</a:t>
            </a:r>
          </a:p>
          <a:p>
            <a:pPr>
              <a:buFont typeface="Wingdings" pitchFamily="2" charset="2"/>
              <a:buNone/>
            </a:pPr>
            <a:r>
              <a:rPr kumimoji="0" lang="en-US" altLang="zh-CN" sz="1800" b="1" dirty="0"/>
              <a:t>   …  S; …</a:t>
            </a:r>
          </a:p>
          <a:p>
            <a:pPr>
              <a:buFont typeface="Wingdings" pitchFamily="2" charset="2"/>
              <a:buNone/>
            </a:pPr>
            <a:r>
              <a:rPr kumimoji="0" lang="en-US" altLang="zh-CN" sz="1800" b="1" dirty="0"/>
              <a:t>end.   /*main*/</a:t>
            </a:r>
          </a:p>
        </p:txBody>
      </p:sp>
      <p:sp>
        <p:nvSpPr>
          <p:cNvPr id="48" name="灯片编号占位符 47"/>
          <p:cNvSpPr>
            <a:spLocks noGrp="1"/>
          </p:cNvSpPr>
          <p:nvPr>
            <p:ph type="sldNum" sz="quarter" idx="4"/>
          </p:nvPr>
        </p:nvSpPr>
        <p:spPr/>
        <p:txBody>
          <a:bodyPr/>
          <a:lstStyle/>
          <a:p>
            <a:fld id="{565CE74E-AB26-4998-AD42-012C4C1AD076}" type="slidenum">
              <a:rPr lang="zh-CN" altLang="en-US" smtClean="0"/>
              <a:t>29</a:t>
            </a:fld>
            <a:endParaRPr lang="zh-CN" altLang="en-US"/>
          </a:p>
        </p:txBody>
      </p:sp>
    </p:spTree>
    <p:extLst>
      <p:ext uri="{BB962C8B-B14F-4D97-AF65-F5344CB8AC3E}">
        <p14:creationId xmlns:p14="http://schemas.microsoft.com/office/powerpoint/2010/main" val="604331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嵌套过程定义中非局部量的访问</a:t>
            </a:r>
          </a:p>
          <a:p>
            <a:endParaRPr lang="zh-CN" altLang="en-US" dirty="0"/>
          </a:p>
        </p:txBody>
      </p:sp>
      <p:sp>
        <p:nvSpPr>
          <p:cNvPr id="3" name="标题 2"/>
          <p:cNvSpPr>
            <a:spLocks noGrp="1"/>
          </p:cNvSpPr>
          <p:nvPr>
            <p:ph type="title"/>
          </p:nvPr>
        </p:nvSpPr>
        <p:spPr/>
        <p:txBody>
          <a:bodyPr/>
          <a:lstStyle/>
          <a:p>
            <a:r>
              <a:rPr lang="zh-CN" altLang="en-US" dirty="0"/>
              <a:t>二、活动记录</a:t>
            </a:r>
          </a:p>
        </p:txBody>
      </p:sp>
      <p:sp>
        <p:nvSpPr>
          <p:cNvPr id="4" name="Rectangle 8"/>
          <p:cNvSpPr>
            <a:spLocks noChangeArrowheads="1"/>
          </p:cNvSpPr>
          <p:nvPr/>
        </p:nvSpPr>
        <p:spPr bwMode="auto">
          <a:xfrm>
            <a:off x="255372" y="1645037"/>
            <a:ext cx="8267700" cy="4108817"/>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3600" b="1" dirty="0">
                <a:solidFill>
                  <a:srgbClr val="800080"/>
                </a:solidFill>
                <a:latin typeface="楷体_GB2312" pitchFamily="49" charset="-122"/>
              </a:rPr>
              <a:t> </a:t>
            </a:r>
            <a:r>
              <a:rPr lang="zh-CN" altLang="en-US" sz="2400" b="1" dirty="0"/>
              <a:t>  一些语言（如 </a:t>
            </a:r>
            <a:r>
              <a:rPr lang="en-US" altLang="zh-CN" sz="2400" dirty="0"/>
              <a:t>C </a:t>
            </a:r>
            <a:r>
              <a:rPr lang="zh-CN" altLang="en-US" sz="2400" b="1" dirty="0"/>
              <a:t>语言）支持嵌套的块，在这些块的内</a:t>
            </a:r>
          </a:p>
          <a:p>
            <a:pPr lvl="1">
              <a:buFontTx/>
              <a:buNone/>
            </a:pPr>
            <a:r>
              <a:rPr lang="zh-CN" altLang="en-US" sz="2400" b="1" dirty="0"/>
              <a:t>   部也允许声明局部变量</a:t>
            </a:r>
            <a:r>
              <a:rPr kumimoji="0" lang="zh-CN" altLang="en-US" sz="2400" b="1" dirty="0"/>
              <a:t>，同样要解决依嵌套层次规则进</a:t>
            </a:r>
          </a:p>
          <a:p>
            <a:pPr lvl="1">
              <a:buFontTx/>
              <a:buNone/>
            </a:pPr>
            <a:r>
              <a:rPr kumimoji="0" lang="zh-CN" altLang="en-US" sz="2400" b="1" dirty="0"/>
              <a:t>   行非局部量使用（访问）的问题</a:t>
            </a:r>
            <a:endParaRPr lang="zh-CN" altLang="en-US" sz="2400" b="1" dirty="0">
              <a:solidFill>
                <a:srgbClr val="800080"/>
              </a:solidFill>
            </a:endParaRPr>
          </a:p>
          <a:p>
            <a:pPr lvl="1">
              <a:buFontTx/>
              <a:buNone/>
            </a:pPr>
            <a:r>
              <a:rPr lang="zh-CN" altLang="en-US" sz="1100" b="1" dirty="0">
                <a:solidFill>
                  <a:srgbClr val="800080"/>
                </a:solidFill>
              </a:rPr>
              <a:t>   </a:t>
            </a:r>
          </a:p>
          <a:p>
            <a:pPr lvl="1">
              <a:buFontTx/>
              <a:buNone/>
            </a:pPr>
            <a:r>
              <a:rPr lang="zh-CN" altLang="en-US" sz="2400" b="1" dirty="0">
                <a:solidFill>
                  <a:srgbClr val="800080"/>
                </a:solidFill>
              </a:rPr>
              <a:t>   方法一</a:t>
            </a:r>
            <a:r>
              <a:rPr lang="zh-CN" altLang="en-US" sz="2400" b="1" dirty="0"/>
              <a:t>   将每个块看作为内嵌的无参过程，为它创建一</a:t>
            </a:r>
          </a:p>
          <a:p>
            <a:pPr lvl="1">
              <a:buFontTx/>
              <a:buNone/>
            </a:pPr>
            <a:r>
              <a:rPr lang="zh-CN" altLang="en-US" sz="2400" b="1" dirty="0"/>
              <a:t>                 个新的活动记录，称为</a:t>
            </a:r>
            <a:r>
              <a:rPr lang="zh-CN" altLang="en-US" sz="2400" b="1" dirty="0">
                <a:solidFill>
                  <a:srgbClr val="800080"/>
                </a:solidFill>
              </a:rPr>
              <a:t>块级活动记录</a:t>
            </a:r>
          </a:p>
          <a:p>
            <a:pPr lvl="1">
              <a:buFontTx/>
              <a:buNone/>
            </a:pPr>
            <a:endParaRPr lang="zh-CN" altLang="en-US" sz="1100" b="1" dirty="0">
              <a:solidFill>
                <a:srgbClr val="800080"/>
              </a:solidFill>
            </a:endParaRPr>
          </a:p>
          <a:p>
            <a:pPr lvl="1">
              <a:buFontTx/>
              <a:buNone/>
            </a:pPr>
            <a:r>
              <a:rPr lang="zh-CN" altLang="en-US" sz="2400" b="1" dirty="0"/>
              <a:t>                 该方法代价很高</a:t>
            </a:r>
          </a:p>
          <a:p>
            <a:pPr lvl="1">
              <a:buFontTx/>
              <a:buNone/>
            </a:pPr>
            <a:endParaRPr lang="zh-CN" altLang="en-US" sz="1100" b="1" dirty="0">
              <a:solidFill>
                <a:srgbClr val="800080"/>
              </a:solidFill>
            </a:endParaRPr>
          </a:p>
          <a:p>
            <a:pPr lvl="1">
              <a:buFontTx/>
              <a:buNone/>
            </a:pPr>
            <a:r>
              <a:rPr lang="zh-CN" altLang="en-US" sz="2400" b="1" dirty="0">
                <a:solidFill>
                  <a:srgbClr val="800080"/>
                </a:solidFill>
              </a:rPr>
              <a:t>   方法二</a:t>
            </a:r>
            <a:r>
              <a:rPr lang="zh-CN" altLang="en-US" sz="2400" b="1" dirty="0"/>
              <a:t>   由于每个块中变量的相对位置在编译时就能确</a:t>
            </a:r>
          </a:p>
          <a:p>
            <a:pPr lvl="1">
              <a:buFontTx/>
              <a:buNone/>
            </a:pPr>
            <a:r>
              <a:rPr lang="zh-CN" altLang="en-US" sz="2400" b="1" dirty="0"/>
              <a:t>                 定下来，因此可以不创建块级活动记录，仅需</a:t>
            </a:r>
          </a:p>
          <a:p>
            <a:pPr lvl="1">
              <a:buFontTx/>
              <a:buNone/>
            </a:pPr>
            <a:r>
              <a:rPr lang="zh-CN" altLang="en-US" sz="2400" b="1" dirty="0"/>
              <a:t>                 要过程级的活动记录就可解决问题（见下例）</a:t>
            </a:r>
          </a:p>
        </p:txBody>
      </p:sp>
      <p:sp>
        <p:nvSpPr>
          <p:cNvPr id="5" name="灯片编号占位符 4"/>
          <p:cNvSpPr>
            <a:spLocks noGrp="1"/>
          </p:cNvSpPr>
          <p:nvPr>
            <p:ph type="sldNum" sz="quarter" idx="4"/>
          </p:nvPr>
        </p:nvSpPr>
        <p:spPr/>
        <p:txBody>
          <a:bodyPr/>
          <a:lstStyle/>
          <a:p>
            <a:fld id="{565CE74E-AB26-4998-AD42-012C4C1AD076}" type="slidenum">
              <a:rPr lang="zh-CN" altLang="en-US" smtClean="0"/>
              <a:t>30</a:t>
            </a:fld>
            <a:endParaRPr lang="zh-CN" altLang="en-US"/>
          </a:p>
        </p:txBody>
      </p:sp>
    </p:spTree>
    <p:extLst>
      <p:ext uri="{BB962C8B-B14F-4D97-AF65-F5344CB8AC3E}">
        <p14:creationId xmlns:p14="http://schemas.microsoft.com/office/powerpoint/2010/main" val="1855350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嵌套过程定义中非局部量的访问</a:t>
            </a:r>
          </a:p>
          <a:p>
            <a:endParaRPr lang="zh-CN" altLang="en-US" dirty="0"/>
          </a:p>
        </p:txBody>
      </p:sp>
      <p:sp>
        <p:nvSpPr>
          <p:cNvPr id="3" name="标题 2"/>
          <p:cNvSpPr>
            <a:spLocks noGrp="1"/>
          </p:cNvSpPr>
          <p:nvPr>
            <p:ph type="title"/>
          </p:nvPr>
        </p:nvSpPr>
        <p:spPr/>
        <p:txBody>
          <a:bodyPr/>
          <a:lstStyle/>
          <a:p>
            <a:r>
              <a:rPr lang="zh-CN" altLang="en-US" dirty="0"/>
              <a:t>二、活动记录</a:t>
            </a:r>
          </a:p>
        </p:txBody>
      </p:sp>
      <p:sp>
        <p:nvSpPr>
          <p:cNvPr id="4" name="Rectangle 4"/>
          <p:cNvSpPr>
            <a:spLocks noChangeArrowheads="1"/>
          </p:cNvSpPr>
          <p:nvPr/>
        </p:nvSpPr>
        <p:spPr bwMode="auto">
          <a:xfrm>
            <a:off x="876300" y="1722438"/>
            <a:ext cx="5295900" cy="1036637"/>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dirty="0">
                <a:solidFill>
                  <a:srgbClr val="800080"/>
                </a:solidFill>
                <a:latin typeface="楷体_GB2312" pitchFamily="49" charset="-122"/>
              </a:rPr>
              <a:t> </a:t>
            </a:r>
            <a:r>
              <a:rPr lang="zh-CN" altLang="en-US" sz="2800" b="1" dirty="0">
                <a:solidFill>
                  <a:srgbClr val="800080"/>
                </a:solidFill>
                <a:latin typeface="Times New Roman" pitchFamily="18" charset="0"/>
              </a:rPr>
              <a:t>嵌套程序块的非局部量访问</a:t>
            </a:r>
            <a:r>
              <a:rPr lang="zh-CN" altLang="en-US" dirty="0"/>
              <a:t> </a:t>
            </a:r>
            <a:endParaRPr kumimoji="0" lang="zh-CN" altLang="en-US" sz="1000" b="1" dirty="0">
              <a:solidFill>
                <a:srgbClr val="800080"/>
              </a:solidFill>
            </a:endParaRPr>
          </a:p>
          <a:p>
            <a:pPr>
              <a:buClrTx/>
              <a:buFont typeface="Symbol" pitchFamily="18" charset="2"/>
              <a:buNone/>
            </a:pPr>
            <a:endParaRPr kumimoji="0" lang="zh-CN" altLang="en-US" sz="1000" b="1" dirty="0">
              <a:solidFill>
                <a:srgbClr val="800080"/>
              </a:solidFill>
            </a:endParaRPr>
          </a:p>
          <a:p>
            <a:pPr lvl="1">
              <a:buFontTx/>
              <a:buChar char="•"/>
            </a:pPr>
            <a:r>
              <a:rPr kumimoji="0" lang="zh-CN" altLang="en-US" b="1" dirty="0">
                <a:solidFill>
                  <a:srgbClr val="800080"/>
                </a:solidFill>
              </a:rPr>
              <a:t>  </a:t>
            </a:r>
            <a:r>
              <a:rPr kumimoji="0" lang="zh-CN" altLang="en-US" b="1" dirty="0"/>
              <a:t>采用过程级活动记录的方法</a:t>
            </a:r>
            <a:r>
              <a:rPr kumimoji="0" lang="zh-CN" altLang="en-US" b="1" dirty="0">
                <a:solidFill>
                  <a:srgbClr val="800080"/>
                </a:solidFill>
              </a:rPr>
              <a:t>举例</a:t>
            </a:r>
          </a:p>
        </p:txBody>
      </p:sp>
      <p:sp>
        <p:nvSpPr>
          <p:cNvPr id="5" name="Text Box 5"/>
          <p:cNvSpPr txBox="1">
            <a:spLocks noChangeArrowheads="1"/>
          </p:cNvSpPr>
          <p:nvPr/>
        </p:nvSpPr>
        <p:spPr bwMode="auto">
          <a:xfrm>
            <a:off x="6681216" y="1524000"/>
            <a:ext cx="2427288" cy="4760913"/>
          </a:xfrm>
          <a:prstGeom prst="rect">
            <a:avLst/>
          </a:prstGeom>
          <a:noFill/>
          <a:ln w="9525">
            <a:noFill/>
            <a:miter lim="800000"/>
            <a:headEnd/>
            <a:tailEnd/>
          </a:ln>
          <a:effectLst/>
        </p:spPr>
        <p:txBody>
          <a:bodyPr wrap="square">
            <a:spAutoFit/>
          </a:bodyPr>
          <a:lstStyle/>
          <a:p>
            <a:pPr>
              <a:buFont typeface="Wingdings" pitchFamily="2" charset="2"/>
              <a:buNone/>
            </a:pPr>
            <a:r>
              <a:rPr kumimoji="0" lang="en-US" altLang="zh-CN" sz="1800" b="1" dirty="0" err="1"/>
              <a:t>int</a:t>
            </a:r>
            <a:r>
              <a:rPr kumimoji="0" lang="en-US" altLang="zh-CN" sz="1800" b="1" dirty="0"/>
              <a:t> p</a:t>
            </a:r>
            <a:r>
              <a:rPr kumimoji="0" lang="zh-CN" altLang="en-US" sz="1800" b="1" dirty="0"/>
              <a:t>（）</a:t>
            </a:r>
          </a:p>
          <a:p>
            <a:pPr>
              <a:buFont typeface="Wingdings" pitchFamily="2" charset="2"/>
              <a:buNone/>
            </a:pPr>
            <a:r>
              <a:rPr kumimoji="0" lang="en-US" altLang="zh-CN" sz="1800" b="1" dirty="0"/>
              <a:t>{</a:t>
            </a:r>
          </a:p>
          <a:p>
            <a:pPr>
              <a:buFont typeface="Wingdings" pitchFamily="2" charset="2"/>
              <a:buNone/>
            </a:pPr>
            <a:r>
              <a:rPr kumimoji="0" lang="en-US" altLang="zh-CN" sz="1800" b="1" dirty="0"/>
              <a:t>     </a:t>
            </a:r>
            <a:r>
              <a:rPr kumimoji="0" lang="en-US" altLang="zh-CN" sz="1800" b="1" dirty="0" err="1"/>
              <a:t>int</a:t>
            </a:r>
            <a:r>
              <a:rPr kumimoji="0" lang="en-US" altLang="zh-CN" sz="1800" b="1" dirty="0"/>
              <a:t> A;</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r>
              <a:rPr kumimoji="0" lang="en-US" altLang="zh-CN" sz="1800" b="1" dirty="0" err="1"/>
              <a:t>int</a:t>
            </a:r>
            <a:r>
              <a:rPr kumimoji="0" lang="en-US" altLang="zh-CN" sz="1800" b="1" dirty="0"/>
              <a:t> B,C; </a:t>
            </a:r>
          </a:p>
          <a:p>
            <a:pPr>
              <a:buFont typeface="Wingdings" pitchFamily="2" charset="2"/>
              <a:buNone/>
            </a:pPr>
            <a:r>
              <a:rPr kumimoji="0" lang="en-US" altLang="zh-CN" sz="1800" b="1" dirty="0"/>
              <a:t>           …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r>
              <a:rPr kumimoji="0" lang="en-US" altLang="zh-CN" sz="1800" b="1" dirty="0" err="1"/>
              <a:t>int</a:t>
            </a:r>
            <a:r>
              <a:rPr kumimoji="0" lang="en-US" altLang="zh-CN" sz="1800" b="1" dirty="0"/>
              <a:t> D,E,F;</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r>
              <a:rPr kumimoji="0" lang="en-US" altLang="zh-CN" sz="1800" b="1" dirty="0" err="1"/>
              <a:t>int</a:t>
            </a:r>
            <a:r>
              <a:rPr kumimoji="0" lang="en-US" altLang="zh-CN" sz="1800" b="1" dirty="0"/>
              <a:t> G;</a:t>
            </a:r>
          </a:p>
          <a:p>
            <a:pPr>
              <a:buFont typeface="Wingdings" pitchFamily="2" charset="2"/>
              <a:buNone/>
            </a:pPr>
            <a:r>
              <a:rPr kumimoji="0" lang="en-US" altLang="zh-CN" sz="1800" b="1" dirty="0"/>
              <a:t>               …  </a:t>
            </a:r>
            <a:r>
              <a:rPr kumimoji="0" lang="en-US" altLang="zh-CN" sz="1800" b="1" dirty="0">
                <a:solidFill>
                  <a:srgbClr val="800080"/>
                </a:solidFill>
              </a:rPr>
              <a:t>/*here*/</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p:txBody>
      </p:sp>
      <p:sp>
        <p:nvSpPr>
          <p:cNvPr id="6" name="Line 6"/>
          <p:cNvSpPr>
            <a:spLocks noChangeShapeType="1"/>
          </p:cNvSpPr>
          <p:nvPr/>
        </p:nvSpPr>
        <p:spPr bwMode="auto">
          <a:xfrm>
            <a:off x="2286000" y="3505200"/>
            <a:ext cx="0" cy="2971800"/>
          </a:xfrm>
          <a:prstGeom prst="line">
            <a:avLst/>
          </a:prstGeom>
          <a:noFill/>
          <a:ln w="9525">
            <a:solidFill>
              <a:srgbClr val="800080"/>
            </a:solidFill>
            <a:round/>
            <a:headEnd/>
            <a:tailEnd/>
          </a:ln>
          <a:effectLst/>
        </p:spPr>
        <p:txBody>
          <a:bodyPr>
            <a:spAutoFit/>
          </a:bodyPr>
          <a:lstStyle/>
          <a:p>
            <a:endParaRPr lang="zh-CN" altLang="en-US"/>
          </a:p>
        </p:txBody>
      </p:sp>
      <p:sp>
        <p:nvSpPr>
          <p:cNvPr id="7" name="Line 7"/>
          <p:cNvSpPr>
            <a:spLocks noChangeShapeType="1"/>
          </p:cNvSpPr>
          <p:nvPr/>
        </p:nvSpPr>
        <p:spPr bwMode="auto">
          <a:xfrm>
            <a:off x="5943600" y="4876800"/>
            <a:ext cx="0" cy="1066800"/>
          </a:xfrm>
          <a:prstGeom prst="line">
            <a:avLst/>
          </a:prstGeom>
          <a:noFill/>
          <a:ln w="9525">
            <a:solidFill>
              <a:srgbClr val="800080"/>
            </a:solidFill>
            <a:prstDash val="sysDot"/>
            <a:round/>
            <a:headEnd/>
            <a:tailEnd/>
          </a:ln>
          <a:effectLst/>
        </p:spPr>
        <p:txBody>
          <a:bodyPr>
            <a:spAutoFit/>
          </a:bodyPr>
          <a:lstStyle/>
          <a:p>
            <a:endParaRPr lang="zh-CN" altLang="en-US"/>
          </a:p>
        </p:txBody>
      </p:sp>
      <p:sp>
        <p:nvSpPr>
          <p:cNvPr id="8" name="Line 8"/>
          <p:cNvSpPr>
            <a:spLocks noChangeShapeType="1"/>
          </p:cNvSpPr>
          <p:nvPr/>
        </p:nvSpPr>
        <p:spPr bwMode="auto">
          <a:xfrm>
            <a:off x="2286000" y="6477000"/>
            <a:ext cx="3657600" cy="0"/>
          </a:xfrm>
          <a:prstGeom prst="line">
            <a:avLst/>
          </a:prstGeom>
          <a:noFill/>
          <a:ln w="9525">
            <a:solidFill>
              <a:srgbClr val="800080"/>
            </a:solidFill>
            <a:round/>
            <a:headEnd/>
            <a:tailEnd/>
          </a:ln>
          <a:effectLst/>
        </p:spPr>
        <p:txBody>
          <a:bodyPr>
            <a:spAutoFit/>
          </a:bodyPr>
          <a:lstStyle/>
          <a:p>
            <a:endParaRPr lang="zh-CN" altLang="en-US"/>
          </a:p>
        </p:txBody>
      </p:sp>
      <p:sp>
        <p:nvSpPr>
          <p:cNvPr id="9" name="Line 9"/>
          <p:cNvSpPr>
            <a:spLocks noChangeShapeType="1"/>
          </p:cNvSpPr>
          <p:nvPr/>
        </p:nvSpPr>
        <p:spPr bwMode="auto">
          <a:xfrm>
            <a:off x="2286000" y="5943600"/>
            <a:ext cx="3657600" cy="0"/>
          </a:xfrm>
          <a:prstGeom prst="line">
            <a:avLst/>
          </a:prstGeom>
          <a:noFill/>
          <a:ln w="9525">
            <a:solidFill>
              <a:srgbClr val="800080"/>
            </a:solidFill>
            <a:round/>
            <a:headEnd/>
            <a:tailEnd/>
          </a:ln>
          <a:effectLst/>
        </p:spPr>
        <p:txBody>
          <a:bodyPr>
            <a:spAutoFit/>
          </a:bodyPr>
          <a:lstStyle/>
          <a:p>
            <a:endParaRPr lang="zh-CN" altLang="en-US"/>
          </a:p>
        </p:txBody>
      </p:sp>
      <p:sp>
        <p:nvSpPr>
          <p:cNvPr id="10" name="Rectangle 10"/>
          <p:cNvSpPr>
            <a:spLocks noChangeArrowheads="1"/>
          </p:cNvSpPr>
          <p:nvPr/>
        </p:nvSpPr>
        <p:spPr bwMode="auto">
          <a:xfrm>
            <a:off x="2286000" y="6003925"/>
            <a:ext cx="3581400"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a:solidFill>
                  <a:srgbClr val="800080"/>
                </a:solidFill>
              </a:rPr>
              <a:t>存放</a:t>
            </a:r>
            <a:r>
              <a:rPr lang="zh-CN" altLang="en-US" sz="2000">
                <a:solidFill>
                  <a:srgbClr val="800080"/>
                </a:solidFill>
              </a:rPr>
              <a:t> </a:t>
            </a:r>
            <a:r>
              <a:rPr lang="en-US" altLang="zh-CN" sz="2000">
                <a:solidFill>
                  <a:srgbClr val="800080"/>
                </a:solidFill>
              </a:rPr>
              <a:t>A </a:t>
            </a:r>
            <a:r>
              <a:rPr lang="zh-CN" altLang="en-US" sz="2000" b="1">
                <a:solidFill>
                  <a:srgbClr val="800080"/>
                </a:solidFill>
              </a:rPr>
              <a:t>的空间</a:t>
            </a:r>
          </a:p>
        </p:txBody>
      </p:sp>
      <p:sp>
        <p:nvSpPr>
          <p:cNvPr id="11" name="Line 13"/>
          <p:cNvSpPr>
            <a:spLocks noChangeShapeType="1"/>
          </p:cNvSpPr>
          <p:nvPr/>
        </p:nvSpPr>
        <p:spPr bwMode="auto">
          <a:xfrm>
            <a:off x="4114800" y="4876800"/>
            <a:ext cx="1828800" cy="0"/>
          </a:xfrm>
          <a:prstGeom prst="line">
            <a:avLst/>
          </a:prstGeom>
          <a:noFill/>
          <a:ln w="9525">
            <a:solidFill>
              <a:srgbClr val="800080"/>
            </a:solidFill>
            <a:prstDash val="sysDot"/>
            <a:round/>
            <a:headEnd/>
            <a:tailEnd/>
          </a:ln>
          <a:effectLst/>
        </p:spPr>
        <p:txBody>
          <a:bodyPr>
            <a:spAutoFit/>
          </a:bodyPr>
          <a:lstStyle/>
          <a:p>
            <a:endParaRPr lang="zh-CN" altLang="en-US"/>
          </a:p>
        </p:txBody>
      </p:sp>
      <p:sp>
        <p:nvSpPr>
          <p:cNvPr id="12" name="Rectangle 14"/>
          <p:cNvSpPr>
            <a:spLocks noChangeArrowheads="1"/>
          </p:cNvSpPr>
          <p:nvPr/>
        </p:nvSpPr>
        <p:spPr bwMode="auto">
          <a:xfrm>
            <a:off x="2362200" y="4632325"/>
            <a:ext cx="1600200" cy="10064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a:solidFill>
                  <a:srgbClr val="800080"/>
                </a:solidFill>
              </a:rPr>
              <a:t>存放</a:t>
            </a:r>
          </a:p>
          <a:p>
            <a:pPr algn="ctr">
              <a:buFont typeface="Wingdings" pitchFamily="2" charset="2"/>
              <a:buNone/>
            </a:pPr>
            <a:r>
              <a:rPr lang="zh-CN" altLang="en-US" sz="2000">
                <a:solidFill>
                  <a:srgbClr val="800080"/>
                </a:solidFill>
              </a:rPr>
              <a:t> </a:t>
            </a:r>
            <a:r>
              <a:rPr lang="en-US" altLang="zh-CN" sz="2000">
                <a:solidFill>
                  <a:srgbClr val="800080"/>
                </a:solidFill>
              </a:rPr>
              <a:t>D</a:t>
            </a:r>
            <a:r>
              <a:rPr lang="zh-CN" altLang="en-US" sz="2000">
                <a:solidFill>
                  <a:srgbClr val="800080"/>
                </a:solidFill>
              </a:rPr>
              <a:t>，</a:t>
            </a:r>
            <a:r>
              <a:rPr lang="en-US" altLang="zh-CN" sz="2000">
                <a:solidFill>
                  <a:srgbClr val="800080"/>
                </a:solidFill>
              </a:rPr>
              <a:t>E</a:t>
            </a:r>
            <a:r>
              <a:rPr lang="zh-CN" altLang="en-US" sz="2000">
                <a:solidFill>
                  <a:srgbClr val="800080"/>
                </a:solidFill>
              </a:rPr>
              <a:t>，</a:t>
            </a:r>
            <a:r>
              <a:rPr lang="en-US" altLang="zh-CN" sz="2000">
                <a:solidFill>
                  <a:srgbClr val="800080"/>
                </a:solidFill>
              </a:rPr>
              <a:t>F</a:t>
            </a:r>
          </a:p>
          <a:p>
            <a:pPr algn="ctr">
              <a:buFont typeface="Wingdings" pitchFamily="2" charset="2"/>
              <a:buNone/>
            </a:pPr>
            <a:r>
              <a:rPr lang="en-US" altLang="zh-CN" sz="2000">
                <a:solidFill>
                  <a:srgbClr val="800080"/>
                </a:solidFill>
              </a:rPr>
              <a:t> </a:t>
            </a:r>
            <a:r>
              <a:rPr lang="zh-CN" altLang="en-US" sz="2000" b="1">
                <a:solidFill>
                  <a:srgbClr val="800080"/>
                </a:solidFill>
              </a:rPr>
              <a:t>的空间</a:t>
            </a:r>
          </a:p>
        </p:txBody>
      </p:sp>
      <p:sp>
        <p:nvSpPr>
          <p:cNvPr id="13" name="Line 15"/>
          <p:cNvSpPr>
            <a:spLocks noChangeShapeType="1"/>
          </p:cNvSpPr>
          <p:nvPr/>
        </p:nvSpPr>
        <p:spPr bwMode="auto">
          <a:xfrm>
            <a:off x="2286000" y="4343400"/>
            <a:ext cx="1828800" cy="0"/>
          </a:xfrm>
          <a:prstGeom prst="line">
            <a:avLst/>
          </a:prstGeom>
          <a:noFill/>
          <a:ln w="9525">
            <a:solidFill>
              <a:srgbClr val="800080"/>
            </a:solidFill>
            <a:round/>
            <a:headEnd/>
            <a:tailEnd/>
          </a:ln>
          <a:effectLst/>
        </p:spPr>
        <p:txBody>
          <a:bodyPr>
            <a:spAutoFit/>
          </a:bodyPr>
          <a:lstStyle/>
          <a:p>
            <a:endParaRPr lang="zh-CN" altLang="en-US"/>
          </a:p>
        </p:txBody>
      </p:sp>
      <p:sp>
        <p:nvSpPr>
          <p:cNvPr id="14" name="Rectangle 16"/>
          <p:cNvSpPr>
            <a:spLocks noChangeArrowheads="1"/>
          </p:cNvSpPr>
          <p:nvPr/>
        </p:nvSpPr>
        <p:spPr bwMode="auto">
          <a:xfrm>
            <a:off x="1143000" y="2803525"/>
            <a:ext cx="5257800" cy="457200"/>
          </a:xfrm>
          <a:prstGeom prst="rect">
            <a:avLst/>
          </a:prstGeom>
          <a:noFill/>
          <a:ln w="9525">
            <a:noFill/>
            <a:miter lim="800000"/>
            <a:headEnd/>
            <a:tailEnd/>
          </a:ln>
          <a:effectLst/>
        </p:spPr>
        <p:txBody>
          <a:bodyPr>
            <a:spAutoFit/>
          </a:bodyPr>
          <a:lstStyle/>
          <a:p>
            <a:pPr algn="ctr" eaLnBrk="0" hangingPunct="0">
              <a:buClrTx/>
              <a:buFontTx/>
              <a:buNone/>
            </a:pPr>
            <a:r>
              <a:rPr lang="zh-CN" altLang="en-US" b="1"/>
              <a:t>运行至</a:t>
            </a:r>
            <a:r>
              <a:rPr lang="en-US" altLang="zh-CN" b="1"/>
              <a:t>/*</a:t>
            </a:r>
            <a:r>
              <a:rPr lang="en-US" altLang="zh-CN"/>
              <a:t>here</a:t>
            </a:r>
            <a:r>
              <a:rPr lang="en-US" altLang="zh-CN" b="1"/>
              <a:t>*/</a:t>
            </a:r>
            <a:r>
              <a:rPr lang="zh-CN" altLang="en-US" b="1"/>
              <a:t>时</a:t>
            </a:r>
            <a:r>
              <a:rPr lang="en-US" altLang="zh-CN"/>
              <a:t>p</a:t>
            </a:r>
            <a:r>
              <a:rPr lang="zh-CN" altLang="en-US" b="1"/>
              <a:t>的活动记录形如：</a:t>
            </a:r>
          </a:p>
        </p:txBody>
      </p:sp>
      <p:sp>
        <p:nvSpPr>
          <p:cNvPr id="15" name="Rectangle 21"/>
          <p:cNvSpPr>
            <a:spLocks noChangeArrowheads="1"/>
          </p:cNvSpPr>
          <p:nvPr/>
        </p:nvSpPr>
        <p:spPr bwMode="auto">
          <a:xfrm>
            <a:off x="4114800" y="5089525"/>
            <a:ext cx="1752600" cy="7016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a:solidFill>
                  <a:srgbClr val="800080"/>
                </a:solidFill>
              </a:rPr>
              <a:t>曾存放过</a:t>
            </a:r>
          </a:p>
          <a:p>
            <a:pPr algn="ctr">
              <a:buFont typeface="Wingdings" pitchFamily="2" charset="2"/>
              <a:buNone/>
            </a:pPr>
            <a:r>
              <a:rPr lang="zh-CN" altLang="en-US" sz="2000">
                <a:solidFill>
                  <a:srgbClr val="800080"/>
                </a:solidFill>
              </a:rPr>
              <a:t> </a:t>
            </a:r>
            <a:r>
              <a:rPr lang="en-US" altLang="zh-CN" sz="2000">
                <a:solidFill>
                  <a:srgbClr val="800080"/>
                </a:solidFill>
              </a:rPr>
              <a:t>B,C </a:t>
            </a:r>
            <a:r>
              <a:rPr lang="zh-CN" altLang="en-US" sz="2000" b="1">
                <a:solidFill>
                  <a:srgbClr val="800080"/>
                </a:solidFill>
              </a:rPr>
              <a:t>的空间</a:t>
            </a:r>
          </a:p>
        </p:txBody>
      </p:sp>
      <p:sp>
        <p:nvSpPr>
          <p:cNvPr id="16" name="Line 22"/>
          <p:cNvSpPr>
            <a:spLocks noChangeShapeType="1"/>
          </p:cNvSpPr>
          <p:nvPr/>
        </p:nvSpPr>
        <p:spPr bwMode="auto">
          <a:xfrm>
            <a:off x="2286000" y="3810000"/>
            <a:ext cx="1828800" cy="0"/>
          </a:xfrm>
          <a:prstGeom prst="line">
            <a:avLst/>
          </a:prstGeom>
          <a:noFill/>
          <a:ln w="9525">
            <a:solidFill>
              <a:srgbClr val="800080"/>
            </a:solidFill>
            <a:round/>
            <a:headEnd/>
            <a:tailEnd/>
          </a:ln>
          <a:effectLst/>
        </p:spPr>
        <p:txBody>
          <a:bodyPr>
            <a:spAutoFit/>
          </a:bodyPr>
          <a:lstStyle/>
          <a:p>
            <a:endParaRPr lang="zh-CN" altLang="en-US"/>
          </a:p>
        </p:txBody>
      </p:sp>
      <p:sp>
        <p:nvSpPr>
          <p:cNvPr id="17" name="Line 23"/>
          <p:cNvSpPr>
            <a:spLocks noChangeShapeType="1"/>
          </p:cNvSpPr>
          <p:nvPr/>
        </p:nvSpPr>
        <p:spPr bwMode="auto">
          <a:xfrm flipH="1">
            <a:off x="1752600" y="3733800"/>
            <a:ext cx="5334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18" name="Rectangle 24"/>
          <p:cNvSpPr>
            <a:spLocks noChangeArrowheads="1"/>
          </p:cNvSpPr>
          <p:nvPr/>
        </p:nvSpPr>
        <p:spPr bwMode="auto">
          <a:xfrm>
            <a:off x="838200" y="3565525"/>
            <a:ext cx="8382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TOP</a:t>
            </a:r>
            <a:endParaRPr lang="en-US" altLang="zh-CN" sz="2000" b="1"/>
          </a:p>
        </p:txBody>
      </p:sp>
      <p:sp>
        <p:nvSpPr>
          <p:cNvPr id="19" name="Rectangle 25"/>
          <p:cNvSpPr>
            <a:spLocks noChangeArrowheads="1"/>
          </p:cNvSpPr>
          <p:nvPr/>
        </p:nvSpPr>
        <p:spPr bwMode="auto">
          <a:xfrm>
            <a:off x="2286000" y="3870325"/>
            <a:ext cx="1828800"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a:solidFill>
                  <a:srgbClr val="800080"/>
                </a:solidFill>
              </a:rPr>
              <a:t>存放</a:t>
            </a:r>
            <a:r>
              <a:rPr lang="zh-CN" altLang="en-US" sz="2000">
                <a:solidFill>
                  <a:srgbClr val="800080"/>
                </a:solidFill>
              </a:rPr>
              <a:t> </a:t>
            </a:r>
            <a:r>
              <a:rPr lang="en-US" altLang="zh-CN" sz="2000">
                <a:solidFill>
                  <a:srgbClr val="800080"/>
                </a:solidFill>
              </a:rPr>
              <a:t>G </a:t>
            </a:r>
            <a:r>
              <a:rPr lang="zh-CN" altLang="en-US" sz="2000" b="1">
                <a:solidFill>
                  <a:srgbClr val="800080"/>
                </a:solidFill>
              </a:rPr>
              <a:t>的空间</a:t>
            </a:r>
          </a:p>
        </p:txBody>
      </p:sp>
      <p:sp>
        <p:nvSpPr>
          <p:cNvPr id="20" name="Line 37"/>
          <p:cNvSpPr>
            <a:spLocks noChangeShapeType="1"/>
          </p:cNvSpPr>
          <p:nvPr/>
        </p:nvSpPr>
        <p:spPr bwMode="auto">
          <a:xfrm flipH="1">
            <a:off x="1600200" y="6477000"/>
            <a:ext cx="6096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21" name="Line 52"/>
          <p:cNvSpPr>
            <a:spLocks noChangeShapeType="1"/>
          </p:cNvSpPr>
          <p:nvPr/>
        </p:nvSpPr>
        <p:spPr bwMode="auto">
          <a:xfrm>
            <a:off x="4114800" y="3505200"/>
            <a:ext cx="0" cy="2438400"/>
          </a:xfrm>
          <a:prstGeom prst="line">
            <a:avLst/>
          </a:prstGeom>
          <a:noFill/>
          <a:ln w="9525">
            <a:solidFill>
              <a:srgbClr val="800080"/>
            </a:solidFill>
            <a:round/>
            <a:headEnd/>
            <a:tailEnd/>
          </a:ln>
          <a:effectLst/>
        </p:spPr>
        <p:txBody>
          <a:bodyPr>
            <a:spAutoFit/>
          </a:bodyPr>
          <a:lstStyle/>
          <a:p>
            <a:endParaRPr lang="zh-CN" altLang="en-US"/>
          </a:p>
        </p:txBody>
      </p:sp>
      <p:sp>
        <p:nvSpPr>
          <p:cNvPr id="22" name="Line 53"/>
          <p:cNvSpPr>
            <a:spLocks noChangeShapeType="1"/>
          </p:cNvSpPr>
          <p:nvPr/>
        </p:nvSpPr>
        <p:spPr bwMode="auto">
          <a:xfrm>
            <a:off x="5943600" y="5943600"/>
            <a:ext cx="0" cy="533400"/>
          </a:xfrm>
          <a:prstGeom prst="line">
            <a:avLst/>
          </a:prstGeom>
          <a:noFill/>
          <a:ln w="9525">
            <a:solidFill>
              <a:srgbClr val="800080"/>
            </a:solidFill>
            <a:round/>
            <a:headEnd/>
            <a:tailEnd/>
          </a:ln>
          <a:effectLst/>
        </p:spPr>
        <p:txBody>
          <a:bodyPr>
            <a:spAutoFit/>
          </a:bodyPr>
          <a:lstStyle/>
          <a:p>
            <a:endParaRPr lang="zh-CN" altLang="en-US"/>
          </a:p>
        </p:txBody>
      </p:sp>
      <p:sp>
        <p:nvSpPr>
          <p:cNvPr id="23" name="灯片编号占位符 22"/>
          <p:cNvSpPr>
            <a:spLocks noGrp="1"/>
          </p:cNvSpPr>
          <p:nvPr>
            <p:ph type="sldNum" sz="quarter" idx="4"/>
          </p:nvPr>
        </p:nvSpPr>
        <p:spPr/>
        <p:txBody>
          <a:bodyPr/>
          <a:lstStyle/>
          <a:p>
            <a:fld id="{565CE74E-AB26-4998-AD42-012C4C1AD076}" type="slidenum">
              <a:rPr lang="zh-CN" altLang="en-US" smtClean="0"/>
              <a:t>31</a:t>
            </a:fld>
            <a:endParaRPr lang="zh-CN" altLang="en-US"/>
          </a:p>
        </p:txBody>
      </p:sp>
    </p:spTree>
    <p:extLst>
      <p:ext uri="{BB962C8B-B14F-4D97-AF65-F5344CB8AC3E}">
        <p14:creationId xmlns:p14="http://schemas.microsoft.com/office/powerpoint/2010/main" val="486746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嵌套过程定义中非局部量的访问</a:t>
            </a:r>
          </a:p>
          <a:p>
            <a:endParaRPr lang="zh-CN" altLang="en-US" dirty="0"/>
          </a:p>
        </p:txBody>
      </p:sp>
      <p:sp>
        <p:nvSpPr>
          <p:cNvPr id="3" name="标题 2"/>
          <p:cNvSpPr>
            <a:spLocks noGrp="1"/>
          </p:cNvSpPr>
          <p:nvPr>
            <p:ph type="title"/>
          </p:nvPr>
        </p:nvSpPr>
        <p:spPr/>
        <p:txBody>
          <a:bodyPr/>
          <a:lstStyle/>
          <a:p>
            <a:r>
              <a:rPr lang="zh-CN" altLang="en-US" dirty="0"/>
              <a:t>二、活动记录</a:t>
            </a:r>
          </a:p>
        </p:txBody>
      </p:sp>
      <p:sp>
        <p:nvSpPr>
          <p:cNvPr id="4" name="Rectangle 4"/>
          <p:cNvSpPr>
            <a:spLocks noChangeArrowheads="1"/>
          </p:cNvSpPr>
          <p:nvPr/>
        </p:nvSpPr>
        <p:spPr bwMode="auto">
          <a:xfrm>
            <a:off x="876300" y="1722438"/>
            <a:ext cx="5295900" cy="1036637"/>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dirty="0">
                <a:solidFill>
                  <a:srgbClr val="800080"/>
                </a:solidFill>
                <a:latin typeface="楷体_GB2312" pitchFamily="49" charset="-122"/>
              </a:rPr>
              <a:t> </a:t>
            </a:r>
            <a:r>
              <a:rPr lang="zh-CN" altLang="en-US" sz="2800" b="1" dirty="0">
                <a:solidFill>
                  <a:srgbClr val="800080"/>
                </a:solidFill>
                <a:latin typeface="Times New Roman" pitchFamily="18" charset="0"/>
              </a:rPr>
              <a:t>嵌套程序块的非局部量访问</a:t>
            </a:r>
            <a:r>
              <a:rPr lang="zh-CN" altLang="en-US" dirty="0"/>
              <a:t> </a:t>
            </a:r>
            <a:endParaRPr kumimoji="0" lang="zh-CN" altLang="en-US" sz="1000" b="1" dirty="0">
              <a:solidFill>
                <a:srgbClr val="800080"/>
              </a:solidFill>
            </a:endParaRPr>
          </a:p>
          <a:p>
            <a:pPr>
              <a:buClrTx/>
              <a:buFont typeface="Symbol" pitchFamily="18" charset="2"/>
              <a:buNone/>
            </a:pPr>
            <a:endParaRPr kumimoji="0" lang="zh-CN" altLang="en-US" sz="1000" b="1" dirty="0">
              <a:solidFill>
                <a:srgbClr val="800080"/>
              </a:solidFill>
            </a:endParaRPr>
          </a:p>
          <a:p>
            <a:pPr lvl="1">
              <a:buFontTx/>
              <a:buChar char="•"/>
            </a:pPr>
            <a:r>
              <a:rPr kumimoji="0" lang="zh-CN" altLang="en-US" b="1" dirty="0">
                <a:solidFill>
                  <a:srgbClr val="800080"/>
                </a:solidFill>
              </a:rPr>
              <a:t>  </a:t>
            </a:r>
            <a:r>
              <a:rPr kumimoji="0" lang="zh-CN" altLang="en-US" b="1" dirty="0"/>
              <a:t>采用过程级活动记录的方法</a:t>
            </a:r>
            <a:r>
              <a:rPr kumimoji="0" lang="zh-CN" altLang="en-US" b="1" dirty="0">
                <a:solidFill>
                  <a:srgbClr val="800080"/>
                </a:solidFill>
              </a:rPr>
              <a:t>举例</a:t>
            </a:r>
          </a:p>
        </p:txBody>
      </p:sp>
      <p:sp>
        <p:nvSpPr>
          <p:cNvPr id="5" name="Text Box 5"/>
          <p:cNvSpPr txBox="1">
            <a:spLocks noChangeArrowheads="1"/>
          </p:cNvSpPr>
          <p:nvPr/>
        </p:nvSpPr>
        <p:spPr bwMode="auto">
          <a:xfrm>
            <a:off x="6681216" y="1524000"/>
            <a:ext cx="2427288" cy="4760913"/>
          </a:xfrm>
          <a:prstGeom prst="rect">
            <a:avLst/>
          </a:prstGeom>
          <a:noFill/>
          <a:ln w="9525">
            <a:noFill/>
            <a:miter lim="800000"/>
            <a:headEnd/>
            <a:tailEnd/>
          </a:ln>
          <a:effectLst/>
        </p:spPr>
        <p:txBody>
          <a:bodyPr wrap="square">
            <a:spAutoFit/>
          </a:bodyPr>
          <a:lstStyle/>
          <a:p>
            <a:pPr>
              <a:buFont typeface="Wingdings" pitchFamily="2" charset="2"/>
              <a:buNone/>
            </a:pPr>
            <a:r>
              <a:rPr kumimoji="0" lang="en-US" altLang="zh-CN" sz="1800" b="1" dirty="0" err="1"/>
              <a:t>int</a:t>
            </a:r>
            <a:r>
              <a:rPr kumimoji="0" lang="en-US" altLang="zh-CN" sz="1800" b="1" dirty="0"/>
              <a:t> p</a:t>
            </a:r>
            <a:r>
              <a:rPr kumimoji="0" lang="zh-CN" altLang="en-US" sz="1800" b="1" dirty="0"/>
              <a:t>（）</a:t>
            </a:r>
          </a:p>
          <a:p>
            <a:pPr>
              <a:buFont typeface="Wingdings" pitchFamily="2" charset="2"/>
              <a:buNone/>
            </a:pPr>
            <a:r>
              <a:rPr kumimoji="0" lang="en-US" altLang="zh-CN" sz="1800" b="1" dirty="0"/>
              <a:t>{</a:t>
            </a:r>
          </a:p>
          <a:p>
            <a:pPr>
              <a:buFont typeface="Wingdings" pitchFamily="2" charset="2"/>
              <a:buNone/>
            </a:pPr>
            <a:r>
              <a:rPr kumimoji="0" lang="en-US" altLang="zh-CN" sz="1800" b="1" dirty="0"/>
              <a:t>     </a:t>
            </a:r>
            <a:r>
              <a:rPr kumimoji="0" lang="en-US" altLang="zh-CN" sz="1800" b="1" dirty="0" err="1"/>
              <a:t>int</a:t>
            </a:r>
            <a:r>
              <a:rPr kumimoji="0" lang="en-US" altLang="zh-CN" sz="1800" b="1" dirty="0"/>
              <a:t> A;</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r>
              <a:rPr kumimoji="0" lang="en-US" altLang="zh-CN" sz="1800" b="1" dirty="0" err="1"/>
              <a:t>int</a:t>
            </a:r>
            <a:r>
              <a:rPr kumimoji="0" lang="en-US" altLang="zh-CN" sz="1800" b="1" dirty="0"/>
              <a:t> B,C; </a:t>
            </a:r>
          </a:p>
          <a:p>
            <a:pPr>
              <a:buFont typeface="Wingdings" pitchFamily="2" charset="2"/>
              <a:buNone/>
            </a:pPr>
            <a:r>
              <a:rPr kumimoji="0" lang="en-US" altLang="zh-CN" sz="1800" b="1" dirty="0"/>
              <a:t>           …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r>
              <a:rPr kumimoji="0" lang="en-US" altLang="zh-CN" sz="1800" b="1" dirty="0" err="1"/>
              <a:t>int</a:t>
            </a:r>
            <a:r>
              <a:rPr kumimoji="0" lang="en-US" altLang="zh-CN" sz="1800" b="1" dirty="0"/>
              <a:t> D,E,F;</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r>
              <a:rPr kumimoji="0" lang="en-US" altLang="zh-CN" sz="1800" b="1" dirty="0" err="1"/>
              <a:t>int</a:t>
            </a:r>
            <a:r>
              <a:rPr kumimoji="0" lang="en-US" altLang="zh-CN" sz="1800" b="1" dirty="0"/>
              <a:t> G;</a:t>
            </a:r>
          </a:p>
          <a:p>
            <a:pPr>
              <a:buFont typeface="Wingdings" pitchFamily="2" charset="2"/>
              <a:buNone/>
            </a:pPr>
            <a:r>
              <a:rPr kumimoji="0" lang="en-US" altLang="zh-CN" sz="1800" b="1" dirty="0"/>
              <a:t>               …  </a:t>
            </a:r>
            <a:r>
              <a:rPr kumimoji="0" lang="en-US" altLang="zh-CN" sz="1800" b="1" dirty="0">
                <a:solidFill>
                  <a:srgbClr val="800080"/>
                </a:solidFill>
              </a:rPr>
              <a:t>/*here*/</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a:p>
            <a:pPr>
              <a:buFont typeface="Wingdings" pitchFamily="2" charset="2"/>
              <a:buNone/>
            </a:pPr>
            <a:r>
              <a:rPr kumimoji="0" lang="en-US" altLang="zh-CN" sz="1800" b="1" dirty="0"/>
              <a:t> }</a:t>
            </a:r>
          </a:p>
        </p:txBody>
      </p:sp>
      <p:sp>
        <p:nvSpPr>
          <p:cNvPr id="6" name="Line 6"/>
          <p:cNvSpPr>
            <a:spLocks noChangeShapeType="1"/>
          </p:cNvSpPr>
          <p:nvPr/>
        </p:nvSpPr>
        <p:spPr bwMode="auto">
          <a:xfrm>
            <a:off x="2286000" y="3505200"/>
            <a:ext cx="0" cy="2971800"/>
          </a:xfrm>
          <a:prstGeom prst="line">
            <a:avLst/>
          </a:prstGeom>
          <a:noFill/>
          <a:ln w="9525">
            <a:solidFill>
              <a:srgbClr val="800080"/>
            </a:solidFill>
            <a:round/>
            <a:headEnd/>
            <a:tailEnd/>
          </a:ln>
          <a:effectLst/>
        </p:spPr>
        <p:txBody>
          <a:bodyPr>
            <a:spAutoFit/>
          </a:bodyPr>
          <a:lstStyle/>
          <a:p>
            <a:endParaRPr lang="zh-CN" altLang="en-US"/>
          </a:p>
        </p:txBody>
      </p:sp>
      <p:sp>
        <p:nvSpPr>
          <p:cNvPr id="7" name="Line 7"/>
          <p:cNvSpPr>
            <a:spLocks noChangeShapeType="1"/>
          </p:cNvSpPr>
          <p:nvPr/>
        </p:nvSpPr>
        <p:spPr bwMode="auto">
          <a:xfrm>
            <a:off x="5943600" y="4876800"/>
            <a:ext cx="0" cy="1066800"/>
          </a:xfrm>
          <a:prstGeom prst="line">
            <a:avLst/>
          </a:prstGeom>
          <a:noFill/>
          <a:ln w="9525">
            <a:solidFill>
              <a:srgbClr val="800080"/>
            </a:solidFill>
            <a:prstDash val="sysDot"/>
            <a:round/>
            <a:headEnd/>
            <a:tailEnd/>
          </a:ln>
          <a:effectLst/>
        </p:spPr>
        <p:txBody>
          <a:bodyPr>
            <a:spAutoFit/>
          </a:bodyPr>
          <a:lstStyle/>
          <a:p>
            <a:endParaRPr lang="zh-CN" altLang="en-US"/>
          </a:p>
        </p:txBody>
      </p:sp>
      <p:sp>
        <p:nvSpPr>
          <p:cNvPr id="8" name="Line 8"/>
          <p:cNvSpPr>
            <a:spLocks noChangeShapeType="1"/>
          </p:cNvSpPr>
          <p:nvPr/>
        </p:nvSpPr>
        <p:spPr bwMode="auto">
          <a:xfrm>
            <a:off x="2286000" y="6477000"/>
            <a:ext cx="3657600" cy="0"/>
          </a:xfrm>
          <a:prstGeom prst="line">
            <a:avLst/>
          </a:prstGeom>
          <a:noFill/>
          <a:ln w="9525">
            <a:solidFill>
              <a:srgbClr val="800080"/>
            </a:solidFill>
            <a:round/>
            <a:headEnd/>
            <a:tailEnd/>
          </a:ln>
          <a:effectLst/>
        </p:spPr>
        <p:txBody>
          <a:bodyPr>
            <a:spAutoFit/>
          </a:bodyPr>
          <a:lstStyle/>
          <a:p>
            <a:endParaRPr lang="zh-CN" altLang="en-US"/>
          </a:p>
        </p:txBody>
      </p:sp>
      <p:sp>
        <p:nvSpPr>
          <p:cNvPr id="9" name="Line 9"/>
          <p:cNvSpPr>
            <a:spLocks noChangeShapeType="1"/>
          </p:cNvSpPr>
          <p:nvPr/>
        </p:nvSpPr>
        <p:spPr bwMode="auto">
          <a:xfrm>
            <a:off x="2286000" y="5943600"/>
            <a:ext cx="3657600" cy="0"/>
          </a:xfrm>
          <a:prstGeom prst="line">
            <a:avLst/>
          </a:prstGeom>
          <a:noFill/>
          <a:ln w="9525">
            <a:solidFill>
              <a:srgbClr val="800080"/>
            </a:solidFill>
            <a:round/>
            <a:headEnd/>
            <a:tailEnd/>
          </a:ln>
          <a:effectLst/>
        </p:spPr>
        <p:txBody>
          <a:bodyPr>
            <a:spAutoFit/>
          </a:bodyPr>
          <a:lstStyle/>
          <a:p>
            <a:endParaRPr lang="zh-CN" altLang="en-US"/>
          </a:p>
        </p:txBody>
      </p:sp>
      <p:sp>
        <p:nvSpPr>
          <p:cNvPr id="10" name="Rectangle 10"/>
          <p:cNvSpPr>
            <a:spLocks noChangeArrowheads="1"/>
          </p:cNvSpPr>
          <p:nvPr/>
        </p:nvSpPr>
        <p:spPr bwMode="auto">
          <a:xfrm>
            <a:off x="2286000" y="6003925"/>
            <a:ext cx="3581400"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a:solidFill>
                  <a:srgbClr val="800080"/>
                </a:solidFill>
              </a:rPr>
              <a:t>存放</a:t>
            </a:r>
            <a:r>
              <a:rPr lang="zh-CN" altLang="en-US" sz="2000">
                <a:solidFill>
                  <a:srgbClr val="800080"/>
                </a:solidFill>
              </a:rPr>
              <a:t> </a:t>
            </a:r>
            <a:r>
              <a:rPr lang="en-US" altLang="zh-CN" sz="2000">
                <a:solidFill>
                  <a:srgbClr val="800080"/>
                </a:solidFill>
              </a:rPr>
              <a:t>A </a:t>
            </a:r>
            <a:r>
              <a:rPr lang="zh-CN" altLang="en-US" sz="2000" b="1">
                <a:solidFill>
                  <a:srgbClr val="800080"/>
                </a:solidFill>
              </a:rPr>
              <a:t>的空间</a:t>
            </a:r>
          </a:p>
        </p:txBody>
      </p:sp>
      <p:sp>
        <p:nvSpPr>
          <p:cNvPr id="11" name="Line 13"/>
          <p:cNvSpPr>
            <a:spLocks noChangeShapeType="1"/>
          </p:cNvSpPr>
          <p:nvPr/>
        </p:nvSpPr>
        <p:spPr bwMode="auto">
          <a:xfrm>
            <a:off x="4114800" y="4876800"/>
            <a:ext cx="1828800" cy="0"/>
          </a:xfrm>
          <a:prstGeom prst="line">
            <a:avLst/>
          </a:prstGeom>
          <a:noFill/>
          <a:ln w="9525">
            <a:solidFill>
              <a:srgbClr val="800080"/>
            </a:solidFill>
            <a:prstDash val="sysDot"/>
            <a:round/>
            <a:headEnd/>
            <a:tailEnd/>
          </a:ln>
          <a:effectLst/>
        </p:spPr>
        <p:txBody>
          <a:bodyPr>
            <a:spAutoFit/>
          </a:bodyPr>
          <a:lstStyle/>
          <a:p>
            <a:endParaRPr lang="zh-CN" altLang="en-US"/>
          </a:p>
        </p:txBody>
      </p:sp>
      <p:sp>
        <p:nvSpPr>
          <p:cNvPr id="12" name="Rectangle 14"/>
          <p:cNvSpPr>
            <a:spLocks noChangeArrowheads="1"/>
          </p:cNvSpPr>
          <p:nvPr/>
        </p:nvSpPr>
        <p:spPr bwMode="auto">
          <a:xfrm>
            <a:off x="2362200" y="4632325"/>
            <a:ext cx="1600200" cy="10064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a:solidFill>
                  <a:srgbClr val="800080"/>
                </a:solidFill>
              </a:rPr>
              <a:t>存放</a:t>
            </a:r>
          </a:p>
          <a:p>
            <a:pPr algn="ctr">
              <a:buFont typeface="Wingdings" pitchFamily="2" charset="2"/>
              <a:buNone/>
            </a:pPr>
            <a:r>
              <a:rPr lang="zh-CN" altLang="en-US" sz="2000">
                <a:solidFill>
                  <a:srgbClr val="800080"/>
                </a:solidFill>
              </a:rPr>
              <a:t> </a:t>
            </a:r>
            <a:r>
              <a:rPr lang="en-US" altLang="zh-CN" sz="2000">
                <a:solidFill>
                  <a:srgbClr val="800080"/>
                </a:solidFill>
              </a:rPr>
              <a:t>D</a:t>
            </a:r>
            <a:r>
              <a:rPr lang="zh-CN" altLang="en-US" sz="2000">
                <a:solidFill>
                  <a:srgbClr val="800080"/>
                </a:solidFill>
              </a:rPr>
              <a:t>，</a:t>
            </a:r>
            <a:r>
              <a:rPr lang="en-US" altLang="zh-CN" sz="2000">
                <a:solidFill>
                  <a:srgbClr val="800080"/>
                </a:solidFill>
              </a:rPr>
              <a:t>E</a:t>
            </a:r>
            <a:r>
              <a:rPr lang="zh-CN" altLang="en-US" sz="2000">
                <a:solidFill>
                  <a:srgbClr val="800080"/>
                </a:solidFill>
              </a:rPr>
              <a:t>，</a:t>
            </a:r>
            <a:r>
              <a:rPr lang="en-US" altLang="zh-CN" sz="2000">
                <a:solidFill>
                  <a:srgbClr val="800080"/>
                </a:solidFill>
              </a:rPr>
              <a:t>F</a:t>
            </a:r>
          </a:p>
          <a:p>
            <a:pPr algn="ctr">
              <a:buFont typeface="Wingdings" pitchFamily="2" charset="2"/>
              <a:buNone/>
            </a:pPr>
            <a:r>
              <a:rPr lang="en-US" altLang="zh-CN" sz="2000">
                <a:solidFill>
                  <a:srgbClr val="800080"/>
                </a:solidFill>
              </a:rPr>
              <a:t> </a:t>
            </a:r>
            <a:r>
              <a:rPr lang="zh-CN" altLang="en-US" sz="2000" b="1">
                <a:solidFill>
                  <a:srgbClr val="800080"/>
                </a:solidFill>
              </a:rPr>
              <a:t>的空间</a:t>
            </a:r>
          </a:p>
        </p:txBody>
      </p:sp>
      <p:sp>
        <p:nvSpPr>
          <p:cNvPr id="13" name="Line 15"/>
          <p:cNvSpPr>
            <a:spLocks noChangeShapeType="1"/>
          </p:cNvSpPr>
          <p:nvPr/>
        </p:nvSpPr>
        <p:spPr bwMode="auto">
          <a:xfrm>
            <a:off x="2286000" y="4343400"/>
            <a:ext cx="1828800" cy="0"/>
          </a:xfrm>
          <a:prstGeom prst="line">
            <a:avLst/>
          </a:prstGeom>
          <a:noFill/>
          <a:ln w="9525">
            <a:solidFill>
              <a:srgbClr val="800080"/>
            </a:solidFill>
            <a:round/>
            <a:headEnd/>
            <a:tailEnd/>
          </a:ln>
          <a:effectLst/>
        </p:spPr>
        <p:txBody>
          <a:bodyPr>
            <a:spAutoFit/>
          </a:bodyPr>
          <a:lstStyle/>
          <a:p>
            <a:endParaRPr lang="zh-CN" altLang="en-US"/>
          </a:p>
        </p:txBody>
      </p:sp>
      <p:sp>
        <p:nvSpPr>
          <p:cNvPr id="14" name="Rectangle 16"/>
          <p:cNvSpPr>
            <a:spLocks noChangeArrowheads="1"/>
          </p:cNvSpPr>
          <p:nvPr/>
        </p:nvSpPr>
        <p:spPr bwMode="auto">
          <a:xfrm>
            <a:off x="1143000" y="2803525"/>
            <a:ext cx="5257800" cy="457200"/>
          </a:xfrm>
          <a:prstGeom prst="rect">
            <a:avLst/>
          </a:prstGeom>
          <a:noFill/>
          <a:ln w="9525">
            <a:noFill/>
            <a:miter lim="800000"/>
            <a:headEnd/>
            <a:tailEnd/>
          </a:ln>
          <a:effectLst/>
        </p:spPr>
        <p:txBody>
          <a:bodyPr>
            <a:spAutoFit/>
          </a:bodyPr>
          <a:lstStyle/>
          <a:p>
            <a:pPr algn="ctr" eaLnBrk="0" hangingPunct="0">
              <a:buClrTx/>
              <a:buFontTx/>
              <a:buNone/>
            </a:pPr>
            <a:r>
              <a:rPr lang="zh-CN" altLang="en-US" b="1"/>
              <a:t>运行至</a:t>
            </a:r>
            <a:r>
              <a:rPr lang="en-US" altLang="zh-CN" b="1"/>
              <a:t>/*</a:t>
            </a:r>
            <a:r>
              <a:rPr lang="en-US" altLang="zh-CN"/>
              <a:t>here</a:t>
            </a:r>
            <a:r>
              <a:rPr lang="en-US" altLang="zh-CN" b="1"/>
              <a:t>*/</a:t>
            </a:r>
            <a:r>
              <a:rPr lang="zh-CN" altLang="en-US" b="1"/>
              <a:t>时</a:t>
            </a:r>
            <a:r>
              <a:rPr lang="en-US" altLang="zh-CN"/>
              <a:t>p</a:t>
            </a:r>
            <a:r>
              <a:rPr lang="zh-CN" altLang="en-US" b="1"/>
              <a:t>的活动记录形如：</a:t>
            </a:r>
          </a:p>
        </p:txBody>
      </p:sp>
      <p:sp>
        <p:nvSpPr>
          <p:cNvPr id="15" name="Rectangle 21"/>
          <p:cNvSpPr>
            <a:spLocks noChangeArrowheads="1"/>
          </p:cNvSpPr>
          <p:nvPr/>
        </p:nvSpPr>
        <p:spPr bwMode="auto">
          <a:xfrm>
            <a:off x="4114800" y="5089525"/>
            <a:ext cx="1752600" cy="7016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a:solidFill>
                  <a:srgbClr val="800080"/>
                </a:solidFill>
              </a:rPr>
              <a:t>曾存放过</a:t>
            </a:r>
          </a:p>
          <a:p>
            <a:pPr algn="ctr">
              <a:buFont typeface="Wingdings" pitchFamily="2" charset="2"/>
              <a:buNone/>
            </a:pPr>
            <a:r>
              <a:rPr lang="zh-CN" altLang="en-US" sz="2000">
                <a:solidFill>
                  <a:srgbClr val="800080"/>
                </a:solidFill>
              </a:rPr>
              <a:t> </a:t>
            </a:r>
            <a:r>
              <a:rPr lang="en-US" altLang="zh-CN" sz="2000">
                <a:solidFill>
                  <a:srgbClr val="800080"/>
                </a:solidFill>
              </a:rPr>
              <a:t>B,C </a:t>
            </a:r>
            <a:r>
              <a:rPr lang="zh-CN" altLang="en-US" sz="2000" b="1">
                <a:solidFill>
                  <a:srgbClr val="800080"/>
                </a:solidFill>
              </a:rPr>
              <a:t>的空间</a:t>
            </a:r>
          </a:p>
        </p:txBody>
      </p:sp>
      <p:sp>
        <p:nvSpPr>
          <p:cNvPr id="16" name="Line 22"/>
          <p:cNvSpPr>
            <a:spLocks noChangeShapeType="1"/>
          </p:cNvSpPr>
          <p:nvPr/>
        </p:nvSpPr>
        <p:spPr bwMode="auto">
          <a:xfrm>
            <a:off x="2286000" y="3810000"/>
            <a:ext cx="1828800" cy="0"/>
          </a:xfrm>
          <a:prstGeom prst="line">
            <a:avLst/>
          </a:prstGeom>
          <a:noFill/>
          <a:ln w="9525">
            <a:solidFill>
              <a:srgbClr val="800080"/>
            </a:solidFill>
            <a:round/>
            <a:headEnd/>
            <a:tailEnd/>
          </a:ln>
          <a:effectLst/>
        </p:spPr>
        <p:txBody>
          <a:bodyPr>
            <a:spAutoFit/>
          </a:bodyPr>
          <a:lstStyle/>
          <a:p>
            <a:endParaRPr lang="zh-CN" altLang="en-US"/>
          </a:p>
        </p:txBody>
      </p:sp>
      <p:sp>
        <p:nvSpPr>
          <p:cNvPr id="17" name="Line 23"/>
          <p:cNvSpPr>
            <a:spLocks noChangeShapeType="1"/>
          </p:cNvSpPr>
          <p:nvPr/>
        </p:nvSpPr>
        <p:spPr bwMode="auto">
          <a:xfrm flipH="1">
            <a:off x="1752600" y="3733800"/>
            <a:ext cx="5334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18" name="Rectangle 24"/>
          <p:cNvSpPr>
            <a:spLocks noChangeArrowheads="1"/>
          </p:cNvSpPr>
          <p:nvPr/>
        </p:nvSpPr>
        <p:spPr bwMode="auto">
          <a:xfrm>
            <a:off x="838200" y="3565525"/>
            <a:ext cx="8382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TOP</a:t>
            </a:r>
            <a:endParaRPr lang="en-US" altLang="zh-CN" sz="2000" b="1"/>
          </a:p>
        </p:txBody>
      </p:sp>
      <p:sp>
        <p:nvSpPr>
          <p:cNvPr id="19" name="Rectangle 25"/>
          <p:cNvSpPr>
            <a:spLocks noChangeArrowheads="1"/>
          </p:cNvSpPr>
          <p:nvPr/>
        </p:nvSpPr>
        <p:spPr bwMode="auto">
          <a:xfrm>
            <a:off x="2286000" y="3870325"/>
            <a:ext cx="1828800"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a:solidFill>
                  <a:srgbClr val="800080"/>
                </a:solidFill>
              </a:rPr>
              <a:t>存放</a:t>
            </a:r>
            <a:r>
              <a:rPr lang="zh-CN" altLang="en-US" sz="2000">
                <a:solidFill>
                  <a:srgbClr val="800080"/>
                </a:solidFill>
              </a:rPr>
              <a:t> </a:t>
            </a:r>
            <a:r>
              <a:rPr lang="en-US" altLang="zh-CN" sz="2000">
                <a:solidFill>
                  <a:srgbClr val="800080"/>
                </a:solidFill>
              </a:rPr>
              <a:t>G </a:t>
            </a:r>
            <a:r>
              <a:rPr lang="zh-CN" altLang="en-US" sz="2000" b="1">
                <a:solidFill>
                  <a:srgbClr val="800080"/>
                </a:solidFill>
              </a:rPr>
              <a:t>的空间</a:t>
            </a:r>
          </a:p>
        </p:txBody>
      </p:sp>
      <p:sp>
        <p:nvSpPr>
          <p:cNvPr id="20" name="Line 37"/>
          <p:cNvSpPr>
            <a:spLocks noChangeShapeType="1"/>
          </p:cNvSpPr>
          <p:nvPr/>
        </p:nvSpPr>
        <p:spPr bwMode="auto">
          <a:xfrm flipH="1">
            <a:off x="1600200" y="6477000"/>
            <a:ext cx="609600" cy="0"/>
          </a:xfrm>
          <a:prstGeom prst="line">
            <a:avLst/>
          </a:prstGeom>
          <a:noFill/>
          <a:ln w="9525">
            <a:solidFill>
              <a:srgbClr val="333399"/>
            </a:solidFill>
            <a:round/>
            <a:headEnd type="triangle" w="med" len="med"/>
            <a:tailEnd/>
          </a:ln>
          <a:effectLst/>
        </p:spPr>
        <p:txBody>
          <a:bodyPr>
            <a:spAutoFit/>
          </a:bodyPr>
          <a:lstStyle/>
          <a:p>
            <a:endParaRPr lang="zh-CN" altLang="en-US"/>
          </a:p>
        </p:txBody>
      </p:sp>
      <p:sp>
        <p:nvSpPr>
          <p:cNvPr id="21" name="Line 52"/>
          <p:cNvSpPr>
            <a:spLocks noChangeShapeType="1"/>
          </p:cNvSpPr>
          <p:nvPr/>
        </p:nvSpPr>
        <p:spPr bwMode="auto">
          <a:xfrm>
            <a:off x="4114800" y="3505200"/>
            <a:ext cx="0" cy="2438400"/>
          </a:xfrm>
          <a:prstGeom prst="line">
            <a:avLst/>
          </a:prstGeom>
          <a:noFill/>
          <a:ln w="9525">
            <a:solidFill>
              <a:srgbClr val="800080"/>
            </a:solidFill>
            <a:round/>
            <a:headEnd/>
            <a:tailEnd/>
          </a:ln>
          <a:effectLst/>
        </p:spPr>
        <p:txBody>
          <a:bodyPr>
            <a:spAutoFit/>
          </a:bodyPr>
          <a:lstStyle/>
          <a:p>
            <a:endParaRPr lang="zh-CN" altLang="en-US"/>
          </a:p>
        </p:txBody>
      </p:sp>
      <p:sp>
        <p:nvSpPr>
          <p:cNvPr id="22" name="Line 53"/>
          <p:cNvSpPr>
            <a:spLocks noChangeShapeType="1"/>
          </p:cNvSpPr>
          <p:nvPr/>
        </p:nvSpPr>
        <p:spPr bwMode="auto">
          <a:xfrm>
            <a:off x="5943600" y="5943600"/>
            <a:ext cx="0" cy="533400"/>
          </a:xfrm>
          <a:prstGeom prst="line">
            <a:avLst/>
          </a:prstGeom>
          <a:noFill/>
          <a:ln w="9525">
            <a:solidFill>
              <a:srgbClr val="800080"/>
            </a:solidFill>
            <a:round/>
            <a:headEnd/>
            <a:tailEnd/>
          </a:ln>
          <a:effectLst/>
        </p:spPr>
        <p:txBody>
          <a:bodyPr>
            <a:spAutoFit/>
          </a:bodyPr>
          <a:lstStyle/>
          <a:p>
            <a:endParaRPr lang="zh-CN" altLang="en-US"/>
          </a:p>
        </p:txBody>
      </p:sp>
      <p:sp>
        <p:nvSpPr>
          <p:cNvPr id="23" name="Rectangle 54"/>
          <p:cNvSpPr>
            <a:spLocks noChangeArrowheads="1"/>
          </p:cNvSpPr>
          <p:nvPr/>
        </p:nvSpPr>
        <p:spPr bwMode="auto">
          <a:xfrm>
            <a:off x="914400" y="6232525"/>
            <a:ext cx="838200" cy="396875"/>
          </a:xfrm>
          <a:prstGeom prst="rect">
            <a:avLst/>
          </a:prstGeom>
          <a:noFill/>
          <a:ln w="9525">
            <a:noFill/>
            <a:miter lim="800000"/>
            <a:headEnd/>
            <a:tailEnd/>
          </a:ln>
          <a:effectLst/>
        </p:spPr>
        <p:txBody>
          <a:bodyPr>
            <a:spAutoFit/>
          </a:bodyPr>
          <a:lstStyle/>
          <a:p>
            <a:pPr algn="ctr">
              <a:buFont typeface="Wingdings" pitchFamily="2" charset="2"/>
              <a:buNone/>
            </a:pPr>
            <a:r>
              <a:rPr lang="en-US" altLang="zh-CN" sz="2000" i="1"/>
              <a:t>SP</a:t>
            </a:r>
            <a:endParaRPr lang="en-US" altLang="zh-CN" sz="2000" b="1"/>
          </a:p>
        </p:txBody>
      </p:sp>
      <p:sp>
        <p:nvSpPr>
          <p:cNvPr id="24" name="灯片编号占位符 23"/>
          <p:cNvSpPr>
            <a:spLocks noGrp="1"/>
          </p:cNvSpPr>
          <p:nvPr>
            <p:ph type="sldNum" sz="quarter" idx="4"/>
          </p:nvPr>
        </p:nvSpPr>
        <p:spPr/>
        <p:txBody>
          <a:bodyPr/>
          <a:lstStyle/>
          <a:p>
            <a:fld id="{565CE74E-AB26-4998-AD42-012C4C1AD076}" type="slidenum">
              <a:rPr lang="zh-CN" altLang="en-US" smtClean="0"/>
              <a:t>32</a:t>
            </a:fld>
            <a:endParaRPr lang="zh-CN" altLang="en-US"/>
          </a:p>
        </p:txBody>
      </p:sp>
    </p:spTree>
    <p:extLst>
      <p:ext uri="{BB962C8B-B14F-4D97-AF65-F5344CB8AC3E}">
        <p14:creationId xmlns:p14="http://schemas.microsoft.com/office/powerpoint/2010/main" val="172655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Times New Roman" panose="02020603050405020304" pitchFamily="18" charset="0"/>
              </a:rPr>
              <a:t> 嵌套过程定义中非局部量的访问</a:t>
            </a:r>
          </a:p>
          <a:p>
            <a:endParaRPr lang="zh-CN" altLang="en-US" dirty="0">
              <a:latin typeface="Times New Roman" panose="02020603050405020304" pitchFamily="18" charset="0"/>
            </a:endParaRPr>
          </a:p>
        </p:txBody>
      </p:sp>
      <p:sp>
        <p:nvSpPr>
          <p:cNvPr id="3" name="标题 2"/>
          <p:cNvSpPr>
            <a:spLocks noGrp="1"/>
          </p:cNvSpPr>
          <p:nvPr>
            <p:ph type="title"/>
          </p:nvPr>
        </p:nvSpPr>
        <p:spPr/>
        <p:txBody>
          <a:bodyPr/>
          <a:lstStyle/>
          <a:p>
            <a:r>
              <a:rPr lang="zh-CN" altLang="en-US" dirty="0"/>
              <a:t>二、活动记录</a:t>
            </a:r>
          </a:p>
        </p:txBody>
      </p:sp>
      <p:sp>
        <p:nvSpPr>
          <p:cNvPr id="4" name="Rectangle 4"/>
          <p:cNvSpPr>
            <a:spLocks noChangeArrowheads="1"/>
          </p:cNvSpPr>
          <p:nvPr/>
        </p:nvSpPr>
        <p:spPr bwMode="auto">
          <a:xfrm>
            <a:off x="876300" y="1722438"/>
            <a:ext cx="7583488" cy="519112"/>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a:solidFill>
                  <a:srgbClr val="800080"/>
                </a:solidFill>
                <a:latin typeface="楷体_GB2312" pitchFamily="49" charset="-122"/>
              </a:rPr>
              <a:t> </a:t>
            </a:r>
            <a:r>
              <a:rPr lang="zh-CN" altLang="en-US" sz="2800" b="1">
                <a:solidFill>
                  <a:srgbClr val="800080"/>
                </a:solidFill>
                <a:latin typeface="Times New Roman" pitchFamily="18" charset="0"/>
              </a:rPr>
              <a:t>动态作用域规则 </a:t>
            </a:r>
            <a:r>
              <a:rPr lang="en-US" altLang="zh-CN" sz="2800" b="1">
                <a:solidFill>
                  <a:srgbClr val="800080"/>
                </a:solidFill>
                <a:latin typeface="Times New Roman" pitchFamily="18" charset="0"/>
              </a:rPr>
              <a:t>vs. </a:t>
            </a:r>
            <a:r>
              <a:rPr lang="zh-CN" altLang="en-US" sz="2800" b="1">
                <a:solidFill>
                  <a:srgbClr val="800080"/>
                </a:solidFill>
                <a:latin typeface="Times New Roman" pitchFamily="18" charset="0"/>
              </a:rPr>
              <a:t>静态（词法）作用域规则</a:t>
            </a:r>
            <a:endParaRPr kumimoji="0" lang="zh-CN" altLang="en-US" sz="1000" b="1">
              <a:solidFill>
                <a:srgbClr val="800080"/>
              </a:solidFill>
            </a:endParaRPr>
          </a:p>
        </p:txBody>
      </p:sp>
      <p:sp>
        <p:nvSpPr>
          <p:cNvPr id="5" name="Rectangle 9"/>
          <p:cNvSpPr>
            <a:spLocks noChangeArrowheads="1"/>
          </p:cNvSpPr>
          <p:nvPr/>
        </p:nvSpPr>
        <p:spPr bwMode="auto">
          <a:xfrm>
            <a:off x="1258888" y="2691775"/>
            <a:ext cx="3599062" cy="3477875"/>
          </a:xfrm>
          <a:prstGeom prst="rect">
            <a:avLst/>
          </a:prstGeom>
          <a:noFill/>
          <a:ln w="9525" algn="ctr">
            <a:noFill/>
            <a:miter lim="800000"/>
            <a:headEnd/>
            <a:tailEnd/>
          </a:ln>
          <a:effectLst/>
        </p:spPr>
        <p:txBody>
          <a:bodyPr wrap="none" anchor="ctr">
            <a:spAutoFit/>
          </a:bodyPr>
          <a:lstStyle/>
          <a:p>
            <a:pPr>
              <a:buFont typeface="Wingdings" pitchFamily="2" charset="2"/>
              <a:buNone/>
              <a:tabLst>
                <a:tab pos="885825" algn="l"/>
              </a:tabLst>
            </a:pPr>
            <a:r>
              <a:rPr lang="en-US" altLang="zh-CN" sz="2000" b="1" dirty="0" err="1">
                <a:latin typeface="Times New Roman" panose="02020603050405020304" pitchFamily="18" charset="0"/>
              </a:rPr>
              <a:t>var</a:t>
            </a:r>
            <a:r>
              <a:rPr lang="en-US" altLang="zh-CN" sz="2000" b="1" dirty="0">
                <a:latin typeface="Times New Roman" panose="02020603050405020304" pitchFamily="18" charset="0"/>
              </a:rPr>
              <a:t>  r:real</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procedure    show;</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     begin   write(r:5:3)  end;</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procedure small;</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     </a:t>
            </a:r>
            <a:r>
              <a:rPr lang="en-US" altLang="zh-CN" sz="2000" b="1" dirty="0" err="1">
                <a:latin typeface="Times New Roman" panose="02020603050405020304" pitchFamily="18" charset="0"/>
              </a:rPr>
              <a:t>var</a:t>
            </a:r>
            <a:r>
              <a:rPr lang="en-US" altLang="zh-CN" sz="2000" b="1" dirty="0">
                <a:latin typeface="Times New Roman" panose="02020603050405020304" pitchFamily="18" charset="0"/>
              </a:rPr>
              <a:t>   r:real;</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     begin   r:=0.125;  show  end;</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begin  </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      r:=0.25;</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     show; small; </a:t>
            </a:r>
            <a:r>
              <a:rPr lang="en-US" altLang="zh-CN" sz="2000" b="1" dirty="0" err="1">
                <a:latin typeface="Times New Roman" panose="02020603050405020304" pitchFamily="18" charset="0"/>
              </a:rPr>
              <a:t>writeln</a:t>
            </a:r>
            <a:r>
              <a:rPr lang="en-US" altLang="zh-CN" sz="2000" b="1" dirty="0">
                <a:latin typeface="Times New Roman" panose="02020603050405020304" pitchFamily="18" charset="0"/>
              </a:rPr>
              <a:t>;</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     show; small; </a:t>
            </a:r>
            <a:r>
              <a:rPr lang="en-US" altLang="zh-CN" sz="2000" b="1" dirty="0" err="1">
                <a:latin typeface="Times New Roman" panose="02020603050405020304" pitchFamily="18" charset="0"/>
              </a:rPr>
              <a:t>writeln</a:t>
            </a:r>
            <a:r>
              <a:rPr lang="en-US" altLang="zh-CN" sz="2000" b="1" dirty="0">
                <a:latin typeface="Times New Roman" panose="02020603050405020304" pitchFamily="18" charset="0"/>
              </a:rPr>
              <a:t>;</a:t>
            </a:r>
            <a:endParaRPr lang="en-US" altLang="zh-CN" sz="2000" dirty="0">
              <a:latin typeface="Times New Roman" panose="02020603050405020304" pitchFamily="18" charset="0"/>
            </a:endParaRPr>
          </a:p>
          <a:p>
            <a:pPr>
              <a:buFont typeface="Wingdings" pitchFamily="2" charset="2"/>
              <a:buNone/>
              <a:tabLst>
                <a:tab pos="885825" algn="l"/>
              </a:tabLst>
            </a:pPr>
            <a:r>
              <a:rPr lang="en-US" altLang="zh-CN" sz="2000" b="1" dirty="0">
                <a:latin typeface="Times New Roman" panose="02020603050405020304" pitchFamily="18" charset="0"/>
              </a:rPr>
              <a:t>end.</a:t>
            </a:r>
          </a:p>
        </p:txBody>
      </p:sp>
      <p:sp>
        <p:nvSpPr>
          <p:cNvPr id="6" name="Rectangle 10"/>
          <p:cNvSpPr>
            <a:spLocks noChangeArrowheads="1"/>
          </p:cNvSpPr>
          <p:nvPr/>
        </p:nvSpPr>
        <p:spPr bwMode="auto">
          <a:xfrm>
            <a:off x="5791200" y="2606357"/>
            <a:ext cx="2249334" cy="984885"/>
          </a:xfrm>
          <a:prstGeom prst="rect">
            <a:avLst/>
          </a:prstGeom>
          <a:noFill/>
          <a:ln w="9525" algn="ctr">
            <a:noFill/>
            <a:miter lim="800000"/>
            <a:headEnd/>
            <a:tailEnd/>
          </a:ln>
          <a:effectLst/>
        </p:spPr>
        <p:txBody>
          <a:bodyPr wrap="none" anchor="ctr">
            <a:spAutoFit/>
          </a:bodyPr>
          <a:lstStyle/>
          <a:p>
            <a:pPr>
              <a:buFont typeface="Wingdings" pitchFamily="2" charset="2"/>
              <a:buNone/>
              <a:tabLst>
                <a:tab pos="1295400" algn="l"/>
              </a:tabLst>
            </a:pPr>
            <a:r>
              <a:rPr lang="en-US" altLang="zh-CN" b="1">
                <a:solidFill>
                  <a:srgbClr val="800080"/>
                </a:solidFill>
                <a:latin typeface="Times New Roman" panose="02020603050405020304" pitchFamily="18" charset="0"/>
              </a:rPr>
              <a:t>lexical  scope</a:t>
            </a:r>
          </a:p>
          <a:p>
            <a:pPr lvl="1">
              <a:buFont typeface="Wingdings" pitchFamily="2" charset="2"/>
              <a:buNone/>
              <a:tabLst>
                <a:tab pos="1295400" algn="l"/>
              </a:tabLst>
            </a:pPr>
            <a:r>
              <a:rPr lang="en-US" altLang="zh-CN" sz="2000" b="1">
                <a:latin typeface="Times New Roman" panose="02020603050405020304" pitchFamily="18" charset="0"/>
              </a:rPr>
              <a:t>    0.250   0.250</a:t>
            </a:r>
            <a:endParaRPr lang="en-US" altLang="zh-CN" sz="2000">
              <a:latin typeface="Times New Roman" panose="02020603050405020304" pitchFamily="18" charset="0"/>
            </a:endParaRPr>
          </a:p>
          <a:p>
            <a:pPr lvl="1">
              <a:buFont typeface="Wingdings" pitchFamily="2" charset="2"/>
              <a:buNone/>
              <a:tabLst>
                <a:tab pos="1295400" algn="l"/>
              </a:tabLst>
            </a:pPr>
            <a:r>
              <a:rPr lang="en-US" altLang="zh-CN" sz="2000" b="1">
                <a:latin typeface="Times New Roman" panose="02020603050405020304" pitchFamily="18" charset="0"/>
              </a:rPr>
              <a:t>    0.250   0.250</a:t>
            </a:r>
          </a:p>
        </p:txBody>
      </p:sp>
      <p:sp>
        <p:nvSpPr>
          <p:cNvPr id="7" name="Rectangle 11"/>
          <p:cNvSpPr>
            <a:spLocks noChangeArrowheads="1"/>
          </p:cNvSpPr>
          <p:nvPr/>
        </p:nvSpPr>
        <p:spPr bwMode="auto">
          <a:xfrm>
            <a:off x="5795963" y="3830320"/>
            <a:ext cx="2249334" cy="984885"/>
          </a:xfrm>
          <a:prstGeom prst="rect">
            <a:avLst/>
          </a:prstGeom>
          <a:noFill/>
          <a:ln w="9525" algn="ctr">
            <a:noFill/>
            <a:miter lim="800000"/>
            <a:headEnd/>
            <a:tailEnd/>
          </a:ln>
          <a:effectLst/>
        </p:spPr>
        <p:txBody>
          <a:bodyPr wrap="none" anchor="ctr">
            <a:spAutoFit/>
          </a:bodyPr>
          <a:lstStyle/>
          <a:p>
            <a:pPr>
              <a:buFont typeface="Wingdings" pitchFamily="2" charset="2"/>
              <a:buNone/>
              <a:tabLst>
                <a:tab pos="1295400" algn="l"/>
              </a:tabLst>
            </a:pPr>
            <a:r>
              <a:rPr lang="en-US" altLang="zh-CN" b="1">
                <a:solidFill>
                  <a:srgbClr val="800080"/>
                </a:solidFill>
                <a:latin typeface="Times New Roman" panose="02020603050405020304" pitchFamily="18" charset="0"/>
              </a:rPr>
              <a:t>dynamic  scope</a:t>
            </a:r>
          </a:p>
          <a:p>
            <a:pPr lvl="1">
              <a:buFont typeface="Wingdings" pitchFamily="2" charset="2"/>
              <a:buNone/>
              <a:tabLst>
                <a:tab pos="1295400" algn="l"/>
              </a:tabLst>
            </a:pPr>
            <a:r>
              <a:rPr lang="en-US" altLang="zh-CN" sz="2000" b="1">
                <a:latin typeface="Times New Roman" panose="02020603050405020304" pitchFamily="18" charset="0"/>
              </a:rPr>
              <a:t>    0.250   0.125</a:t>
            </a:r>
            <a:endParaRPr lang="en-US" altLang="zh-CN" sz="2000">
              <a:latin typeface="Times New Roman" panose="02020603050405020304" pitchFamily="18" charset="0"/>
            </a:endParaRPr>
          </a:p>
          <a:p>
            <a:pPr lvl="1">
              <a:buFont typeface="Wingdings" pitchFamily="2" charset="2"/>
              <a:buNone/>
              <a:tabLst>
                <a:tab pos="1295400" algn="l"/>
              </a:tabLst>
            </a:pPr>
            <a:r>
              <a:rPr lang="en-US" altLang="zh-CN" sz="2000" b="1">
                <a:latin typeface="Times New Roman" panose="02020603050405020304" pitchFamily="18" charset="0"/>
              </a:rPr>
              <a:t>    0.250   0.125</a:t>
            </a:r>
          </a:p>
        </p:txBody>
      </p:sp>
      <p:sp>
        <p:nvSpPr>
          <p:cNvPr id="8" name="Rectangle 12"/>
          <p:cNvSpPr>
            <a:spLocks noChangeArrowheads="1"/>
          </p:cNvSpPr>
          <p:nvPr/>
        </p:nvSpPr>
        <p:spPr bwMode="auto">
          <a:xfrm>
            <a:off x="5773738" y="5253335"/>
            <a:ext cx="2111375" cy="923330"/>
          </a:xfrm>
          <a:prstGeom prst="rect">
            <a:avLst/>
          </a:prstGeom>
          <a:noFill/>
          <a:ln w="9525" algn="ctr">
            <a:noFill/>
            <a:miter lim="800000"/>
            <a:headEnd/>
            <a:tailEnd/>
          </a:ln>
          <a:effectLst/>
        </p:spPr>
        <p:txBody>
          <a:bodyPr anchor="ctr">
            <a:spAutoFit/>
          </a:bodyPr>
          <a:lstStyle/>
          <a:p>
            <a:pPr>
              <a:buFont typeface="Wingdings" pitchFamily="2" charset="2"/>
              <a:buNone/>
              <a:tabLst>
                <a:tab pos="1295400" algn="l"/>
              </a:tabLst>
            </a:pPr>
            <a:r>
              <a:rPr lang="zh-CN" altLang="en-US" b="1">
                <a:solidFill>
                  <a:srgbClr val="800080"/>
                </a:solidFill>
                <a:latin typeface="Times New Roman" panose="02020603050405020304" pitchFamily="18" charset="0"/>
              </a:rPr>
              <a:t>思考：</a:t>
            </a:r>
          </a:p>
          <a:p>
            <a:pPr lvl="1">
              <a:buFont typeface="Wingdings" pitchFamily="2" charset="2"/>
              <a:buNone/>
              <a:tabLst>
                <a:tab pos="1295400" algn="l"/>
              </a:tabLst>
            </a:pPr>
            <a:r>
              <a:rPr lang="zh-CN" altLang="en-US" b="1">
                <a:latin typeface="Times New Roman" panose="02020603050405020304" pitchFamily="18" charset="0"/>
              </a:rPr>
              <a:t>如何实现动态作用域规则？</a:t>
            </a:r>
          </a:p>
        </p:txBody>
      </p:sp>
      <p:sp>
        <p:nvSpPr>
          <p:cNvPr id="9" name="灯片编号占位符 8"/>
          <p:cNvSpPr>
            <a:spLocks noGrp="1"/>
          </p:cNvSpPr>
          <p:nvPr>
            <p:ph type="sldNum" sz="quarter" idx="4"/>
          </p:nvPr>
        </p:nvSpPr>
        <p:spPr/>
        <p:txBody>
          <a:bodyPr/>
          <a:lstStyle/>
          <a:p>
            <a:fld id="{565CE74E-AB26-4998-AD42-012C4C1AD076}" type="slidenum">
              <a:rPr lang="zh-CN" altLang="en-US" smtClean="0"/>
              <a:t>33</a:t>
            </a:fld>
            <a:endParaRPr lang="zh-CN" altLang="en-US"/>
          </a:p>
        </p:txBody>
      </p:sp>
    </p:spTree>
    <p:extLst>
      <p:ext uri="{BB962C8B-B14F-4D97-AF65-F5344CB8AC3E}">
        <p14:creationId xmlns:p14="http://schemas.microsoft.com/office/powerpoint/2010/main" val="348938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Bottom)">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lide(fromBottom)">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一、运行时存储组织概述</a:t>
            </a:r>
          </a:p>
          <a:p>
            <a:r>
              <a:rPr lang="zh-CN" altLang="en-US" dirty="0"/>
              <a:t>二、活动记录</a:t>
            </a:r>
          </a:p>
          <a:p>
            <a:r>
              <a:rPr lang="zh-CN" altLang="en-US" dirty="0"/>
              <a:t>三、过程调用</a:t>
            </a:r>
          </a:p>
        </p:txBody>
      </p:sp>
      <p:sp>
        <p:nvSpPr>
          <p:cNvPr id="3" name="标题 2"/>
          <p:cNvSpPr>
            <a:spLocks noGrp="1"/>
          </p:cNvSpPr>
          <p:nvPr>
            <p:ph type="title"/>
          </p:nvPr>
        </p:nvSpPr>
        <p:spPr/>
        <p:txBody>
          <a:bodyPr/>
          <a:lstStyle/>
          <a:p>
            <a:r>
              <a:rPr lang="zh-CN" altLang="en-US"/>
              <a:t>教学内容</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34</a:t>
            </a:fld>
            <a:endParaRPr lang="zh-CN" altLang="en-US"/>
          </a:p>
        </p:txBody>
      </p:sp>
    </p:spTree>
    <p:extLst>
      <p:ext uri="{BB962C8B-B14F-4D97-AF65-F5344CB8AC3E}">
        <p14:creationId xmlns:p14="http://schemas.microsoft.com/office/powerpoint/2010/main" val="728892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olidFill>
                  <a:schemeClr val="tx1"/>
                </a:solidFill>
              </a:rPr>
              <a:t> 过程调用</a:t>
            </a:r>
          </a:p>
        </p:txBody>
      </p:sp>
      <p:sp>
        <p:nvSpPr>
          <p:cNvPr id="3" name="标题 2"/>
          <p:cNvSpPr>
            <a:spLocks noGrp="1"/>
          </p:cNvSpPr>
          <p:nvPr>
            <p:ph type="title"/>
          </p:nvPr>
        </p:nvSpPr>
        <p:spPr/>
        <p:txBody>
          <a:bodyPr/>
          <a:lstStyle/>
          <a:p>
            <a:r>
              <a:rPr lang="zh-CN" altLang="en-US" dirty="0"/>
              <a:t>三、过程调用</a:t>
            </a:r>
          </a:p>
        </p:txBody>
      </p:sp>
      <p:sp>
        <p:nvSpPr>
          <p:cNvPr id="4" name="Rectangle 4"/>
          <p:cNvSpPr>
            <a:spLocks noChangeArrowheads="1"/>
          </p:cNvSpPr>
          <p:nvPr/>
        </p:nvSpPr>
        <p:spPr bwMode="auto">
          <a:xfrm>
            <a:off x="796954" y="1451295"/>
            <a:ext cx="7848600" cy="1046440"/>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dirty="0">
                <a:solidFill>
                  <a:srgbClr val="800080"/>
                </a:solidFill>
                <a:latin typeface="Times New Roman" pitchFamily="18" charset="0"/>
              </a:rPr>
              <a:t>  </a:t>
            </a:r>
            <a:r>
              <a:rPr lang="zh-CN" altLang="en-US" sz="2800" b="1" dirty="0">
                <a:solidFill>
                  <a:srgbClr val="800080"/>
                </a:solidFill>
                <a:latin typeface="Times New Roman" pitchFamily="18" charset="0"/>
              </a:rPr>
              <a:t>活动记录中与过程</a:t>
            </a:r>
            <a:r>
              <a:rPr lang="en-US" altLang="zh-CN" sz="2800" b="1" dirty="0">
                <a:solidFill>
                  <a:srgbClr val="800080"/>
                </a:solidFill>
                <a:latin typeface="Times New Roman" pitchFamily="18" charset="0"/>
              </a:rPr>
              <a:t>/</a:t>
            </a:r>
            <a:r>
              <a:rPr lang="zh-CN" altLang="en-US" sz="2800" b="1" dirty="0">
                <a:solidFill>
                  <a:srgbClr val="800080"/>
                </a:solidFill>
                <a:latin typeface="Times New Roman" pitchFamily="18" charset="0"/>
              </a:rPr>
              <a:t>函数调用相关的信息</a:t>
            </a:r>
            <a:endParaRPr kumimoji="0" lang="zh-CN" altLang="en-US" sz="1000" b="1" dirty="0">
              <a:solidFill>
                <a:srgbClr val="800080"/>
              </a:solidFill>
            </a:endParaRPr>
          </a:p>
          <a:p>
            <a:pPr>
              <a:buClrTx/>
              <a:buFont typeface="Symbol" pitchFamily="18" charset="2"/>
              <a:buNone/>
            </a:pPr>
            <a:endParaRPr kumimoji="0" lang="zh-CN" altLang="en-US" sz="1000" b="1" dirty="0">
              <a:solidFill>
                <a:srgbClr val="800080"/>
              </a:solidFill>
            </a:endParaRPr>
          </a:p>
          <a:p>
            <a:pPr lvl="1">
              <a:buFontTx/>
              <a:buChar char="•"/>
            </a:pPr>
            <a:r>
              <a:rPr kumimoji="0" lang="zh-CN" altLang="en-US" sz="2400" b="1" dirty="0">
                <a:solidFill>
                  <a:srgbClr val="800080"/>
                </a:solidFill>
              </a:rPr>
              <a:t>  </a:t>
            </a:r>
            <a:r>
              <a:rPr kumimoji="0" lang="zh-CN" altLang="en-US" sz="2400" b="1" dirty="0"/>
              <a:t>典型的活动记录</a:t>
            </a:r>
            <a:r>
              <a:rPr lang="zh-CN" altLang="en-US" sz="2400" b="1" dirty="0"/>
              <a:t>与过程</a:t>
            </a:r>
            <a:r>
              <a:rPr lang="en-US" altLang="zh-CN" sz="2400" b="1" dirty="0"/>
              <a:t>/</a:t>
            </a:r>
            <a:r>
              <a:rPr lang="zh-CN" altLang="en-US" sz="2400" b="1" dirty="0"/>
              <a:t>函数调用相关的信息</a:t>
            </a:r>
            <a:r>
              <a:rPr kumimoji="0" lang="zh-CN" altLang="en-US" sz="2400" b="1" dirty="0">
                <a:solidFill>
                  <a:srgbClr val="800080"/>
                </a:solidFill>
              </a:rPr>
              <a:t>举例</a:t>
            </a:r>
          </a:p>
        </p:txBody>
      </p:sp>
      <p:sp>
        <p:nvSpPr>
          <p:cNvPr id="5" name="Line 33"/>
          <p:cNvSpPr>
            <a:spLocks noChangeShapeType="1"/>
          </p:cNvSpPr>
          <p:nvPr/>
        </p:nvSpPr>
        <p:spPr bwMode="auto">
          <a:xfrm>
            <a:off x="1711354" y="2594295"/>
            <a:ext cx="0" cy="3733800"/>
          </a:xfrm>
          <a:prstGeom prst="line">
            <a:avLst/>
          </a:prstGeom>
          <a:noFill/>
          <a:ln w="9525">
            <a:solidFill>
              <a:srgbClr val="800080"/>
            </a:solidFill>
            <a:round/>
            <a:headEnd/>
            <a:tailEnd/>
          </a:ln>
          <a:effectLst/>
        </p:spPr>
        <p:txBody>
          <a:bodyPr>
            <a:spAutoFit/>
          </a:bodyPr>
          <a:lstStyle/>
          <a:p>
            <a:endParaRPr lang="zh-CN" altLang="en-US"/>
          </a:p>
        </p:txBody>
      </p:sp>
      <p:sp>
        <p:nvSpPr>
          <p:cNvPr id="6" name="Line 34"/>
          <p:cNvSpPr>
            <a:spLocks noChangeShapeType="1"/>
          </p:cNvSpPr>
          <p:nvPr/>
        </p:nvSpPr>
        <p:spPr bwMode="auto">
          <a:xfrm>
            <a:off x="4987954" y="2594295"/>
            <a:ext cx="0" cy="3733800"/>
          </a:xfrm>
          <a:prstGeom prst="line">
            <a:avLst/>
          </a:prstGeom>
          <a:noFill/>
          <a:ln w="9525">
            <a:solidFill>
              <a:srgbClr val="800080"/>
            </a:solidFill>
            <a:round/>
            <a:headEnd/>
            <a:tailEnd/>
          </a:ln>
          <a:effectLst/>
        </p:spPr>
        <p:txBody>
          <a:bodyPr>
            <a:spAutoFit/>
          </a:bodyPr>
          <a:lstStyle/>
          <a:p>
            <a:endParaRPr lang="zh-CN" altLang="en-US"/>
          </a:p>
        </p:txBody>
      </p:sp>
      <p:sp>
        <p:nvSpPr>
          <p:cNvPr id="7" name="Line 35"/>
          <p:cNvSpPr>
            <a:spLocks noChangeShapeType="1"/>
          </p:cNvSpPr>
          <p:nvPr/>
        </p:nvSpPr>
        <p:spPr bwMode="auto">
          <a:xfrm>
            <a:off x="1711354" y="4727895"/>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8" name="Line 36"/>
          <p:cNvSpPr>
            <a:spLocks noChangeShapeType="1"/>
          </p:cNvSpPr>
          <p:nvPr/>
        </p:nvSpPr>
        <p:spPr bwMode="auto">
          <a:xfrm>
            <a:off x="1711354" y="4194495"/>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9" name="Rectangle 37"/>
          <p:cNvSpPr>
            <a:spLocks noChangeArrowheads="1"/>
          </p:cNvSpPr>
          <p:nvPr/>
        </p:nvSpPr>
        <p:spPr bwMode="auto">
          <a:xfrm>
            <a:off x="1711354" y="4194495"/>
            <a:ext cx="3200400" cy="369332"/>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t>寄存器保存区</a:t>
            </a:r>
          </a:p>
        </p:txBody>
      </p:sp>
      <p:sp>
        <p:nvSpPr>
          <p:cNvPr id="10" name="Line 38"/>
          <p:cNvSpPr>
            <a:spLocks noChangeShapeType="1"/>
          </p:cNvSpPr>
          <p:nvPr/>
        </p:nvSpPr>
        <p:spPr bwMode="auto">
          <a:xfrm>
            <a:off x="1711354" y="3661095"/>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11" name="Rectangle 39"/>
          <p:cNvSpPr>
            <a:spLocks noChangeArrowheads="1"/>
          </p:cNvSpPr>
          <p:nvPr/>
        </p:nvSpPr>
        <p:spPr bwMode="auto">
          <a:xfrm>
            <a:off x="1763742" y="3661095"/>
            <a:ext cx="3148012" cy="369332"/>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t>过程实际参数</a:t>
            </a:r>
          </a:p>
        </p:txBody>
      </p:sp>
      <p:sp>
        <p:nvSpPr>
          <p:cNvPr id="12" name="Line 40"/>
          <p:cNvSpPr>
            <a:spLocks noChangeShapeType="1"/>
          </p:cNvSpPr>
          <p:nvPr/>
        </p:nvSpPr>
        <p:spPr bwMode="auto">
          <a:xfrm>
            <a:off x="1711354" y="3127695"/>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13" name="Rectangle 41"/>
          <p:cNvSpPr>
            <a:spLocks noChangeArrowheads="1"/>
          </p:cNvSpPr>
          <p:nvPr/>
        </p:nvSpPr>
        <p:spPr bwMode="auto">
          <a:xfrm>
            <a:off x="1711354" y="3127695"/>
            <a:ext cx="3276600" cy="457200"/>
          </a:xfrm>
          <a:prstGeom prst="rect">
            <a:avLst/>
          </a:prstGeom>
          <a:noFill/>
          <a:ln w="9525">
            <a:noFill/>
            <a:miter lim="800000"/>
            <a:headEnd/>
            <a:tailEnd/>
          </a:ln>
          <a:effectLst/>
        </p:spPr>
        <p:txBody>
          <a:bodyPr>
            <a:spAutoFit/>
          </a:bodyPr>
          <a:lstStyle/>
          <a:p>
            <a:pPr algn="ctr">
              <a:buFont typeface="Wingdings" pitchFamily="2" charset="2"/>
              <a:buNone/>
            </a:pPr>
            <a:r>
              <a:rPr lang="zh-CN" altLang="en-US" b="1"/>
              <a:t>固定大小的局部数据区</a:t>
            </a:r>
          </a:p>
        </p:txBody>
      </p:sp>
      <p:sp>
        <p:nvSpPr>
          <p:cNvPr id="14" name="Line 42"/>
          <p:cNvSpPr>
            <a:spLocks noChangeShapeType="1"/>
          </p:cNvSpPr>
          <p:nvPr/>
        </p:nvSpPr>
        <p:spPr bwMode="auto">
          <a:xfrm>
            <a:off x="1711354" y="2594295"/>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15" name="Rectangle 43"/>
          <p:cNvSpPr>
            <a:spLocks noChangeArrowheads="1"/>
          </p:cNvSpPr>
          <p:nvPr/>
        </p:nvSpPr>
        <p:spPr bwMode="auto">
          <a:xfrm>
            <a:off x="1763742" y="2594295"/>
            <a:ext cx="3224212" cy="457200"/>
          </a:xfrm>
          <a:prstGeom prst="rect">
            <a:avLst/>
          </a:prstGeom>
          <a:noFill/>
          <a:ln w="9525">
            <a:noFill/>
            <a:miter lim="800000"/>
            <a:headEnd/>
            <a:tailEnd/>
          </a:ln>
          <a:effectLst/>
        </p:spPr>
        <p:txBody>
          <a:bodyPr>
            <a:spAutoFit/>
          </a:bodyPr>
          <a:lstStyle/>
          <a:p>
            <a:pPr algn="ctr">
              <a:buFont typeface="Wingdings" pitchFamily="2" charset="2"/>
              <a:buNone/>
            </a:pPr>
            <a:r>
              <a:rPr lang="zh-CN" altLang="en-US" b="1"/>
              <a:t>动态数组区</a:t>
            </a:r>
          </a:p>
        </p:txBody>
      </p:sp>
      <p:sp>
        <p:nvSpPr>
          <p:cNvPr id="16" name="Rectangle 45"/>
          <p:cNvSpPr>
            <a:spLocks noChangeArrowheads="1"/>
          </p:cNvSpPr>
          <p:nvPr/>
        </p:nvSpPr>
        <p:spPr bwMode="auto">
          <a:xfrm>
            <a:off x="5521354" y="5550220"/>
            <a:ext cx="2173288" cy="396875"/>
          </a:xfrm>
          <a:prstGeom prst="rect">
            <a:avLst/>
          </a:prstGeom>
          <a:noFill/>
          <a:ln w="9525">
            <a:noFill/>
            <a:miter lim="800000"/>
            <a:headEnd/>
            <a:tailEnd/>
          </a:ln>
          <a:effectLst/>
        </p:spPr>
        <p:txBody>
          <a:bodyPr>
            <a:spAutoFit/>
          </a:bodyPr>
          <a:lstStyle/>
          <a:p>
            <a:pPr algn="ctr">
              <a:buFont typeface="Wingdings" pitchFamily="2" charset="2"/>
              <a:buNone/>
            </a:pPr>
            <a:r>
              <a:rPr lang="zh-CN" altLang="en-US" sz="2000" b="1">
                <a:solidFill>
                  <a:srgbClr val="800080"/>
                </a:solidFill>
              </a:rPr>
              <a:t>活动记录起始点</a:t>
            </a:r>
          </a:p>
        </p:txBody>
      </p:sp>
      <p:sp>
        <p:nvSpPr>
          <p:cNvPr id="17" name="Line 46"/>
          <p:cNvSpPr>
            <a:spLocks noChangeShapeType="1"/>
          </p:cNvSpPr>
          <p:nvPr/>
        </p:nvSpPr>
        <p:spPr bwMode="auto">
          <a:xfrm flipH="1">
            <a:off x="4987954" y="5778820"/>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18" name="Rectangle 47"/>
          <p:cNvSpPr>
            <a:spLocks noChangeArrowheads="1"/>
          </p:cNvSpPr>
          <p:nvPr/>
        </p:nvSpPr>
        <p:spPr bwMode="auto">
          <a:xfrm>
            <a:off x="5597554" y="2975295"/>
            <a:ext cx="3048000" cy="701675"/>
          </a:xfrm>
          <a:prstGeom prst="rect">
            <a:avLst/>
          </a:prstGeom>
          <a:noFill/>
          <a:ln w="9525">
            <a:noFill/>
            <a:miter lim="800000"/>
            <a:headEnd/>
            <a:tailEnd/>
          </a:ln>
          <a:effectLst/>
        </p:spPr>
        <p:txBody>
          <a:bodyPr wrap="square">
            <a:spAutoFit/>
          </a:bodyPr>
          <a:lstStyle/>
          <a:p>
            <a:pPr algn="ctr">
              <a:buFont typeface="Wingdings" pitchFamily="2" charset="2"/>
              <a:buNone/>
            </a:pPr>
            <a:r>
              <a:rPr lang="zh-CN" altLang="en-US" sz="2000" b="1" dirty="0">
                <a:solidFill>
                  <a:srgbClr val="800080"/>
                </a:solidFill>
              </a:rPr>
              <a:t>活动记录的固定大小部分结束点</a:t>
            </a:r>
          </a:p>
        </p:txBody>
      </p:sp>
      <p:sp>
        <p:nvSpPr>
          <p:cNvPr id="19" name="Line 48"/>
          <p:cNvSpPr>
            <a:spLocks noChangeShapeType="1"/>
          </p:cNvSpPr>
          <p:nvPr/>
        </p:nvSpPr>
        <p:spPr bwMode="auto">
          <a:xfrm flipH="1">
            <a:off x="4987954" y="3203895"/>
            <a:ext cx="609600" cy="0"/>
          </a:xfrm>
          <a:prstGeom prst="line">
            <a:avLst/>
          </a:prstGeom>
          <a:noFill/>
          <a:ln w="9525">
            <a:solidFill>
              <a:srgbClr val="333399"/>
            </a:solidFill>
            <a:round/>
            <a:headEnd/>
            <a:tailEnd type="triangle" w="med" len="med"/>
          </a:ln>
          <a:effectLst/>
        </p:spPr>
        <p:txBody>
          <a:bodyPr>
            <a:spAutoFit/>
          </a:bodyPr>
          <a:lstStyle/>
          <a:p>
            <a:endParaRPr lang="zh-CN" altLang="en-US"/>
          </a:p>
        </p:txBody>
      </p:sp>
      <p:sp>
        <p:nvSpPr>
          <p:cNvPr id="20" name="Line 50"/>
          <p:cNvSpPr>
            <a:spLocks noChangeShapeType="1"/>
          </p:cNvSpPr>
          <p:nvPr/>
        </p:nvSpPr>
        <p:spPr bwMode="auto">
          <a:xfrm>
            <a:off x="1711354" y="5261295"/>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21" name="Rectangle 51"/>
          <p:cNvSpPr>
            <a:spLocks noChangeArrowheads="1"/>
          </p:cNvSpPr>
          <p:nvPr/>
        </p:nvSpPr>
        <p:spPr bwMode="auto">
          <a:xfrm>
            <a:off x="1711354" y="4727895"/>
            <a:ext cx="3200400" cy="369332"/>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solidFill>
                  <a:srgbClr val="FF0000"/>
                </a:solidFill>
              </a:rPr>
              <a:t>调用程序返回地址</a:t>
            </a:r>
          </a:p>
        </p:txBody>
      </p:sp>
      <p:sp>
        <p:nvSpPr>
          <p:cNvPr id="22" name="Line 52"/>
          <p:cNvSpPr>
            <a:spLocks noChangeShapeType="1"/>
          </p:cNvSpPr>
          <p:nvPr/>
        </p:nvSpPr>
        <p:spPr bwMode="auto">
          <a:xfrm>
            <a:off x="1711354" y="5794695"/>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23" name="Rectangle 53"/>
          <p:cNvSpPr>
            <a:spLocks noChangeArrowheads="1"/>
          </p:cNvSpPr>
          <p:nvPr/>
        </p:nvSpPr>
        <p:spPr bwMode="auto">
          <a:xfrm>
            <a:off x="1711354" y="5261295"/>
            <a:ext cx="3200400" cy="369332"/>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solidFill>
                  <a:srgbClr val="FF0000"/>
                </a:solidFill>
              </a:rPr>
              <a:t>其它控制信息</a:t>
            </a:r>
          </a:p>
        </p:txBody>
      </p:sp>
      <p:sp>
        <p:nvSpPr>
          <p:cNvPr id="24" name="Line 54"/>
          <p:cNvSpPr>
            <a:spLocks noChangeShapeType="1"/>
          </p:cNvSpPr>
          <p:nvPr/>
        </p:nvSpPr>
        <p:spPr bwMode="auto">
          <a:xfrm>
            <a:off x="1711354" y="6328095"/>
            <a:ext cx="3276600" cy="0"/>
          </a:xfrm>
          <a:prstGeom prst="line">
            <a:avLst/>
          </a:prstGeom>
          <a:noFill/>
          <a:ln w="9525">
            <a:solidFill>
              <a:srgbClr val="800080"/>
            </a:solidFill>
            <a:round/>
            <a:headEnd/>
            <a:tailEnd/>
          </a:ln>
          <a:effectLst/>
        </p:spPr>
        <p:txBody>
          <a:bodyPr>
            <a:spAutoFit/>
          </a:bodyPr>
          <a:lstStyle/>
          <a:p>
            <a:endParaRPr lang="zh-CN" altLang="en-US"/>
          </a:p>
        </p:txBody>
      </p:sp>
      <p:sp>
        <p:nvSpPr>
          <p:cNvPr id="25" name="Rectangle 55"/>
          <p:cNvSpPr>
            <a:spLocks noChangeArrowheads="1"/>
          </p:cNvSpPr>
          <p:nvPr/>
        </p:nvSpPr>
        <p:spPr bwMode="auto">
          <a:xfrm>
            <a:off x="1711354" y="5794695"/>
            <a:ext cx="3248025" cy="369332"/>
          </a:xfrm>
          <a:prstGeom prst="rect">
            <a:avLst/>
          </a:prstGeom>
          <a:noFill/>
          <a:ln w="9525">
            <a:noFill/>
            <a:miter lim="800000"/>
            <a:headEnd/>
            <a:tailEnd/>
          </a:ln>
          <a:effectLst/>
        </p:spPr>
        <p:txBody>
          <a:bodyPr>
            <a:spAutoFit/>
          </a:bodyPr>
          <a:lstStyle/>
          <a:p>
            <a:pPr algn="ctr">
              <a:buFont typeface="Wingdings" pitchFamily="2" charset="2"/>
              <a:buNone/>
            </a:pPr>
            <a:r>
              <a:rPr lang="zh-CN" altLang="en-US" b="1" dirty="0"/>
              <a:t>返回值（仅适于函数）</a:t>
            </a:r>
          </a:p>
        </p:txBody>
      </p:sp>
      <p:sp>
        <p:nvSpPr>
          <p:cNvPr id="43" name="左大括号 42"/>
          <p:cNvSpPr/>
          <p:nvPr/>
        </p:nvSpPr>
        <p:spPr>
          <a:xfrm>
            <a:off x="1309816" y="4986657"/>
            <a:ext cx="453926" cy="5635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44" name="TextBox 43"/>
          <p:cNvSpPr txBox="1"/>
          <p:nvPr/>
        </p:nvSpPr>
        <p:spPr>
          <a:xfrm>
            <a:off x="201820" y="5039558"/>
            <a:ext cx="1107996" cy="369332"/>
          </a:xfrm>
          <a:prstGeom prst="rect">
            <a:avLst/>
          </a:prstGeom>
          <a:noFill/>
        </p:spPr>
        <p:txBody>
          <a:bodyPr wrap="none" rtlCol="0">
            <a:spAutoFit/>
          </a:bodyPr>
          <a:lstStyle/>
          <a:p>
            <a:r>
              <a:rPr lang="zh-CN" altLang="en-US" dirty="0"/>
              <a:t>控制信息</a:t>
            </a:r>
          </a:p>
        </p:txBody>
      </p:sp>
      <p:sp>
        <p:nvSpPr>
          <p:cNvPr id="26" name="灯片编号占位符 25"/>
          <p:cNvSpPr>
            <a:spLocks noGrp="1"/>
          </p:cNvSpPr>
          <p:nvPr>
            <p:ph type="sldNum" sz="quarter" idx="4"/>
          </p:nvPr>
        </p:nvSpPr>
        <p:spPr/>
        <p:txBody>
          <a:bodyPr/>
          <a:lstStyle/>
          <a:p>
            <a:fld id="{565CE74E-AB26-4998-AD42-012C4C1AD076}" type="slidenum">
              <a:rPr lang="zh-CN" altLang="en-US" smtClean="0"/>
              <a:t>35</a:t>
            </a:fld>
            <a:endParaRPr lang="zh-CN" altLang="en-US"/>
          </a:p>
        </p:txBody>
      </p:sp>
    </p:spTree>
    <p:extLst>
      <p:ext uri="{BB962C8B-B14F-4D97-AF65-F5344CB8AC3E}">
        <p14:creationId xmlns:p14="http://schemas.microsoft.com/office/powerpoint/2010/main" val="890485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调用程序返回地址</a:t>
            </a:r>
          </a:p>
          <a:p>
            <a:pPr lvl="1"/>
            <a:r>
              <a:rPr lang="zh-CN" altLang="en-US" dirty="0"/>
              <a:t>调用代码序列：</a:t>
            </a:r>
            <a:endParaRPr lang="en-US" altLang="zh-CN" dirty="0"/>
          </a:p>
          <a:p>
            <a:pPr lvl="2"/>
            <a:r>
              <a:rPr lang="zh-CN" altLang="en-US" dirty="0"/>
              <a:t>为活动记录在栈中分配空间，并在相应单元中填写相应信息。</a:t>
            </a:r>
            <a:endParaRPr lang="en-US" altLang="zh-CN" dirty="0"/>
          </a:p>
          <a:p>
            <a:pPr lvl="1"/>
            <a:r>
              <a:rPr lang="zh-CN" altLang="en-US" dirty="0"/>
              <a:t>返回代码序列：</a:t>
            </a:r>
            <a:endParaRPr lang="en-US" altLang="zh-CN" dirty="0"/>
          </a:p>
          <a:p>
            <a:pPr lvl="2"/>
            <a:r>
              <a:rPr lang="zh-CN" altLang="en-US" dirty="0"/>
              <a:t>恢复机器状态（寄存器取值），使调用过程在调用结束后从返回地址开始继续执行。</a:t>
            </a:r>
            <a:endParaRPr lang="en-US" altLang="zh-CN" dirty="0"/>
          </a:p>
          <a:p>
            <a:pPr lvl="1"/>
            <a:r>
              <a:rPr lang="zh-CN" altLang="en-US" dirty="0"/>
              <a:t>调用约定：</a:t>
            </a:r>
            <a:endParaRPr lang="en-US" altLang="zh-CN" dirty="0"/>
          </a:p>
          <a:p>
            <a:pPr lvl="2"/>
            <a:r>
              <a:rPr lang="zh-CN" altLang="en-US" dirty="0"/>
              <a:t>调用代码序列和返回代码序列由调用过程或被调用过程完成的分工约定。</a:t>
            </a:r>
          </a:p>
        </p:txBody>
      </p:sp>
      <p:sp>
        <p:nvSpPr>
          <p:cNvPr id="3" name="标题 2"/>
          <p:cNvSpPr>
            <a:spLocks noGrp="1"/>
          </p:cNvSpPr>
          <p:nvPr>
            <p:ph type="title"/>
          </p:nvPr>
        </p:nvSpPr>
        <p:spPr/>
        <p:txBody>
          <a:bodyPr/>
          <a:lstStyle/>
          <a:p>
            <a:r>
              <a:rPr lang="zh-CN" altLang="en-US" dirty="0"/>
              <a:t>三、过程调用</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36</a:t>
            </a:fld>
            <a:endParaRPr lang="zh-CN" altLang="en-US"/>
          </a:p>
        </p:txBody>
      </p:sp>
    </p:spTree>
    <p:extLst>
      <p:ext uri="{BB962C8B-B14F-4D97-AF65-F5344CB8AC3E}">
        <p14:creationId xmlns:p14="http://schemas.microsoft.com/office/powerpoint/2010/main" val="3375715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参数传递</a:t>
            </a:r>
          </a:p>
          <a:p>
            <a:endParaRPr lang="zh-CN" altLang="en-US" dirty="0"/>
          </a:p>
        </p:txBody>
      </p:sp>
      <p:sp>
        <p:nvSpPr>
          <p:cNvPr id="3" name="标题 2"/>
          <p:cNvSpPr>
            <a:spLocks noGrp="1"/>
          </p:cNvSpPr>
          <p:nvPr>
            <p:ph type="title"/>
          </p:nvPr>
        </p:nvSpPr>
        <p:spPr/>
        <p:txBody>
          <a:bodyPr/>
          <a:lstStyle/>
          <a:p>
            <a:r>
              <a:rPr lang="zh-CN" altLang="en-US" dirty="0"/>
              <a:t>三、过程调用</a:t>
            </a:r>
          </a:p>
        </p:txBody>
      </p:sp>
      <p:sp>
        <p:nvSpPr>
          <p:cNvPr id="4" name="Rectangle 5"/>
          <p:cNvSpPr>
            <a:spLocks noChangeArrowheads="1"/>
          </p:cNvSpPr>
          <p:nvPr/>
        </p:nvSpPr>
        <p:spPr bwMode="auto">
          <a:xfrm>
            <a:off x="570451" y="1666729"/>
            <a:ext cx="7848600" cy="4078039"/>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3600" b="1" dirty="0">
                <a:solidFill>
                  <a:srgbClr val="800080"/>
                </a:solidFill>
                <a:latin typeface="Times New Roman" pitchFamily="18" charset="0"/>
              </a:rPr>
              <a:t>  </a:t>
            </a:r>
            <a:r>
              <a:rPr lang="zh-CN" altLang="en-US" sz="3600" b="1" dirty="0">
                <a:solidFill>
                  <a:srgbClr val="800080"/>
                </a:solidFill>
                <a:latin typeface="Times New Roman" pitchFamily="18" charset="0"/>
              </a:rPr>
              <a:t>最常见的参数传递方式</a:t>
            </a:r>
            <a:endParaRPr kumimoji="0" lang="zh-CN" altLang="en-US" sz="1100" b="1" dirty="0">
              <a:solidFill>
                <a:srgbClr val="800080"/>
              </a:solidFill>
              <a:latin typeface="Times New Roman" panose="02020603050405020304" pitchFamily="18" charset="0"/>
            </a:endParaRPr>
          </a:p>
          <a:p>
            <a:pPr>
              <a:buClrTx/>
              <a:buFont typeface="Symbol" pitchFamily="18" charset="2"/>
              <a:buNone/>
            </a:pPr>
            <a:endParaRPr kumimoji="0" lang="zh-CN" altLang="en-US" sz="1100" b="1" dirty="0">
              <a:solidFill>
                <a:srgbClr val="800080"/>
              </a:solidFill>
              <a:latin typeface="Times New Roman" panose="02020603050405020304" pitchFamily="18" charset="0"/>
            </a:endParaRPr>
          </a:p>
          <a:p>
            <a:pPr lvl="1">
              <a:buFontTx/>
              <a:buChar char="•"/>
            </a:pPr>
            <a:r>
              <a:rPr kumimoji="0" lang="zh-CN" altLang="en-US" sz="2400" b="1" dirty="0">
                <a:solidFill>
                  <a:srgbClr val="800080"/>
                </a:solidFill>
                <a:latin typeface="Times New Roman" panose="02020603050405020304" pitchFamily="18" charset="0"/>
              </a:rPr>
              <a:t>  传值   </a:t>
            </a:r>
            <a:r>
              <a:rPr kumimoji="0" lang="en-US" altLang="zh-CN" sz="2400" b="1" dirty="0">
                <a:solidFill>
                  <a:srgbClr val="800080"/>
                </a:solidFill>
                <a:latin typeface="Times New Roman" panose="02020603050405020304" pitchFamily="18" charset="0"/>
              </a:rPr>
              <a:t>call-by-value</a:t>
            </a:r>
          </a:p>
          <a:p>
            <a:pPr lvl="1">
              <a:buFontTx/>
              <a:buNone/>
            </a:pPr>
            <a:r>
              <a:rPr kumimoji="0" lang="en-US" altLang="zh-CN" sz="1100" b="1" dirty="0">
                <a:solidFill>
                  <a:srgbClr val="800080"/>
                </a:solidFill>
                <a:latin typeface="Times New Roman" panose="02020603050405020304" pitchFamily="18" charset="0"/>
              </a:rPr>
              <a:t>   </a:t>
            </a:r>
          </a:p>
          <a:p>
            <a:pPr lvl="1">
              <a:buFontTx/>
              <a:buNone/>
            </a:pPr>
            <a:r>
              <a:rPr kumimoji="0" lang="en-US" altLang="zh-CN" sz="2400" b="1" dirty="0">
                <a:solidFill>
                  <a:srgbClr val="800080"/>
                </a:solidFill>
                <a:latin typeface="Times New Roman" panose="02020603050405020304" pitchFamily="18" charset="0"/>
              </a:rPr>
              <a:t>   </a:t>
            </a:r>
            <a:r>
              <a:rPr kumimoji="0" lang="zh-CN" altLang="en-US" sz="2400" b="1" dirty="0">
                <a:latin typeface="Times New Roman" panose="02020603050405020304" pitchFamily="18" charset="0"/>
              </a:rPr>
              <a:t>传递的是实际参数的</a:t>
            </a:r>
            <a:r>
              <a:rPr kumimoji="0" lang="zh-CN" altLang="en-US" sz="2400" b="1" dirty="0">
                <a:solidFill>
                  <a:srgbClr val="800080"/>
                </a:solidFill>
                <a:latin typeface="Times New Roman" panose="02020603050405020304" pitchFamily="18" charset="0"/>
              </a:rPr>
              <a:t>右值（</a:t>
            </a:r>
            <a:r>
              <a:rPr kumimoji="0" lang="en-US" altLang="zh-CN" sz="2400" i="1" dirty="0" err="1">
                <a:solidFill>
                  <a:srgbClr val="800080"/>
                </a:solidFill>
                <a:latin typeface="Times New Roman" panose="02020603050405020304" pitchFamily="18" charset="0"/>
              </a:rPr>
              <a:t>r-value</a:t>
            </a:r>
            <a:r>
              <a:rPr kumimoji="0" lang="zh-CN" altLang="en-US" sz="2400" b="1" dirty="0">
                <a:solidFill>
                  <a:srgbClr val="800080"/>
                </a:solidFill>
                <a:latin typeface="Times New Roman" panose="02020603050405020304" pitchFamily="18" charset="0"/>
              </a:rPr>
              <a:t>）</a:t>
            </a:r>
          </a:p>
          <a:p>
            <a:pPr lvl="1">
              <a:buFontTx/>
              <a:buNone/>
            </a:pPr>
            <a:endParaRPr kumimoji="0" lang="zh-CN" altLang="en-US" sz="1100" b="1" dirty="0">
              <a:solidFill>
                <a:srgbClr val="800080"/>
              </a:solidFill>
              <a:latin typeface="Times New Roman" panose="02020603050405020304" pitchFamily="18" charset="0"/>
            </a:endParaRPr>
          </a:p>
          <a:p>
            <a:pPr lvl="1">
              <a:buFontTx/>
              <a:buChar char="•"/>
            </a:pPr>
            <a:r>
              <a:rPr kumimoji="0" lang="zh-CN" altLang="en-US" sz="2400" b="1" dirty="0">
                <a:solidFill>
                  <a:srgbClr val="800080"/>
                </a:solidFill>
                <a:latin typeface="Times New Roman" panose="02020603050405020304" pitchFamily="18" charset="0"/>
              </a:rPr>
              <a:t>  传地址  </a:t>
            </a:r>
            <a:r>
              <a:rPr kumimoji="0" lang="en-US" altLang="zh-CN" sz="2400" b="1" dirty="0">
                <a:solidFill>
                  <a:srgbClr val="800080"/>
                </a:solidFill>
                <a:latin typeface="Times New Roman" panose="02020603050405020304" pitchFamily="18" charset="0"/>
              </a:rPr>
              <a:t>call-by-reference</a:t>
            </a:r>
            <a:r>
              <a:rPr kumimoji="0" lang="zh-CN" altLang="en-US" sz="2400" b="1" dirty="0">
                <a:solidFill>
                  <a:srgbClr val="800080"/>
                </a:solidFill>
                <a:latin typeface="Times New Roman" panose="02020603050405020304" pitchFamily="18" charset="0"/>
              </a:rPr>
              <a:t>（</a:t>
            </a:r>
            <a:r>
              <a:rPr kumimoji="0" lang="en-US" altLang="zh-CN" sz="2400" b="1" dirty="0">
                <a:solidFill>
                  <a:srgbClr val="800080"/>
                </a:solidFill>
                <a:latin typeface="Times New Roman" panose="02020603050405020304" pitchFamily="18" charset="0"/>
              </a:rPr>
              <a:t>-address, -location</a:t>
            </a:r>
            <a:r>
              <a:rPr kumimoji="0" lang="zh-CN" altLang="en-US" sz="2400" b="1" dirty="0">
                <a:solidFill>
                  <a:srgbClr val="800080"/>
                </a:solidFill>
                <a:latin typeface="Times New Roman" panose="02020603050405020304" pitchFamily="18" charset="0"/>
              </a:rPr>
              <a:t>）</a:t>
            </a:r>
          </a:p>
          <a:p>
            <a:pPr lvl="1">
              <a:buFontTx/>
              <a:buNone/>
            </a:pPr>
            <a:endParaRPr kumimoji="0" lang="zh-CN" altLang="en-US" sz="1100" b="1" dirty="0">
              <a:solidFill>
                <a:srgbClr val="800080"/>
              </a:solidFill>
              <a:latin typeface="Times New Roman" panose="02020603050405020304" pitchFamily="18" charset="0"/>
            </a:endParaRPr>
          </a:p>
          <a:p>
            <a:pPr lvl="1">
              <a:buFontTx/>
              <a:buNone/>
            </a:pPr>
            <a:r>
              <a:rPr kumimoji="0" lang="zh-CN" altLang="en-US" sz="2400" b="1" dirty="0">
                <a:solidFill>
                  <a:srgbClr val="800080"/>
                </a:solidFill>
                <a:latin typeface="Times New Roman" panose="02020603050405020304" pitchFamily="18" charset="0"/>
              </a:rPr>
              <a:t>   </a:t>
            </a:r>
            <a:r>
              <a:rPr kumimoji="0" lang="zh-CN" altLang="en-US" sz="2400" b="1" dirty="0">
                <a:latin typeface="Times New Roman" panose="02020603050405020304" pitchFamily="18" charset="0"/>
              </a:rPr>
              <a:t>传递的是实际参数的</a:t>
            </a:r>
            <a:r>
              <a:rPr kumimoji="0" lang="zh-CN" altLang="en-US" sz="2400" b="1" dirty="0">
                <a:solidFill>
                  <a:srgbClr val="800080"/>
                </a:solidFill>
                <a:latin typeface="Times New Roman" panose="02020603050405020304" pitchFamily="18" charset="0"/>
              </a:rPr>
              <a:t>左值（</a:t>
            </a:r>
            <a:r>
              <a:rPr kumimoji="0" lang="en-US" altLang="zh-CN" sz="2400" i="1" dirty="0">
                <a:solidFill>
                  <a:srgbClr val="800080"/>
                </a:solidFill>
                <a:latin typeface="Times New Roman" panose="02020603050405020304" pitchFamily="18" charset="0"/>
              </a:rPr>
              <a:t>l-value</a:t>
            </a:r>
            <a:r>
              <a:rPr kumimoji="0" lang="zh-CN" altLang="en-US" sz="2400" b="1" dirty="0">
                <a:solidFill>
                  <a:srgbClr val="800080"/>
                </a:solidFill>
                <a:latin typeface="Times New Roman" panose="02020603050405020304" pitchFamily="18" charset="0"/>
              </a:rPr>
              <a:t>）</a:t>
            </a:r>
          </a:p>
          <a:p>
            <a:pPr lvl="1">
              <a:buFontTx/>
              <a:buNone/>
            </a:pPr>
            <a:endParaRPr kumimoji="0" lang="zh-CN" altLang="en-US" sz="1100" b="1" dirty="0">
              <a:latin typeface="Times New Roman" panose="02020603050405020304" pitchFamily="18" charset="0"/>
            </a:endParaRPr>
          </a:p>
          <a:p>
            <a:pPr>
              <a:buClrTx/>
              <a:buFont typeface="Symbol" pitchFamily="18" charset="2"/>
              <a:buChar char="-"/>
            </a:pPr>
            <a:r>
              <a:rPr lang="zh-CN" altLang="en-US" sz="3600" b="1" dirty="0">
                <a:solidFill>
                  <a:srgbClr val="800080"/>
                </a:solidFill>
                <a:latin typeface="Times New Roman" pitchFamily="18" charset="0"/>
              </a:rPr>
              <a:t>  注</a:t>
            </a:r>
            <a:r>
              <a:rPr lang="zh-CN" altLang="en-US" sz="3600" b="1" dirty="0">
                <a:latin typeface="Times New Roman" pitchFamily="18" charset="0"/>
              </a:rPr>
              <a:t>    </a:t>
            </a:r>
            <a:r>
              <a:rPr lang="zh-CN" altLang="en-US" sz="2400" b="1" dirty="0">
                <a:latin typeface="Times New Roman" pitchFamily="18" charset="0"/>
              </a:rPr>
              <a:t>表达式的</a:t>
            </a:r>
            <a:r>
              <a:rPr lang="zh-CN" altLang="en-US" sz="2400" b="1" dirty="0">
                <a:solidFill>
                  <a:srgbClr val="FF0000"/>
                </a:solidFill>
                <a:latin typeface="Times New Roman" pitchFamily="18" charset="0"/>
              </a:rPr>
              <a:t>左</a:t>
            </a:r>
            <a:r>
              <a:rPr lang="zh-CN" altLang="en-US" sz="2400" b="1" dirty="0">
                <a:solidFill>
                  <a:srgbClr val="800080"/>
                </a:solidFill>
                <a:latin typeface="Times New Roman" pitchFamily="18" charset="0"/>
              </a:rPr>
              <a:t>值</a:t>
            </a:r>
            <a:r>
              <a:rPr lang="zh-CN" altLang="en-US" sz="2400" b="1" dirty="0">
                <a:latin typeface="Times New Roman" pitchFamily="18" charset="0"/>
              </a:rPr>
              <a:t>代表存储该表达式值的</a:t>
            </a:r>
            <a:r>
              <a:rPr lang="zh-CN" altLang="en-US" sz="2400" b="1" dirty="0">
                <a:solidFill>
                  <a:srgbClr val="FF0000"/>
                </a:solidFill>
                <a:latin typeface="Times New Roman" pitchFamily="18" charset="0"/>
              </a:rPr>
              <a:t>地址</a:t>
            </a:r>
          </a:p>
          <a:p>
            <a:pPr>
              <a:buClrTx/>
              <a:buFont typeface="Symbol" pitchFamily="18" charset="2"/>
              <a:buNone/>
            </a:pPr>
            <a:r>
              <a:rPr lang="zh-CN" altLang="en-US" sz="3600" b="1" dirty="0">
                <a:latin typeface="Times New Roman" pitchFamily="18" charset="0"/>
              </a:rPr>
              <a:t>            </a:t>
            </a:r>
            <a:r>
              <a:rPr lang="zh-CN" altLang="en-US" sz="2400" b="1" dirty="0">
                <a:latin typeface="Times New Roman" pitchFamily="18" charset="0"/>
              </a:rPr>
              <a:t>表达式的</a:t>
            </a:r>
            <a:r>
              <a:rPr lang="zh-CN" altLang="en-US" sz="2400" b="1" dirty="0">
                <a:solidFill>
                  <a:srgbClr val="FF0000"/>
                </a:solidFill>
                <a:latin typeface="Times New Roman" pitchFamily="18" charset="0"/>
              </a:rPr>
              <a:t>右</a:t>
            </a:r>
            <a:r>
              <a:rPr lang="zh-CN" altLang="en-US" sz="2400" b="1" dirty="0">
                <a:solidFill>
                  <a:srgbClr val="800080"/>
                </a:solidFill>
                <a:latin typeface="Times New Roman" pitchFamily="18" charset="0"/>
              </a:rPr>
              <a:t>值</a:t>
            </a:r>
            <a:r>
              <a:rPr lang="zh-CN" altLang="en-US" sz="2400" b="1" dirty="0">
                <a:latin typeface="Times New Roman" pitchFamily="18" charset="0"/>
              </a:rPr>
              <a:t>代表该表达式的</a:t>
            </a:r>
            <a:r>
              <a:rPr lang="zh-CN" altLang="en-US" sz="2400" b="1" dirty="0">
                <a:solidFill>
                  <a:srgbClr val="FF0000"/>
                </a:solidFill>
                <a:latin typeface="Times New Roman" pitchFamily="18" charset="0"/>
              </a:rPr>
              <a:t>值</a:t>
            </a:r>
            <a:endParaRPr kumimoji="0" lang="zh-CN" altLang="en-US" sz="2400" b="1" dirty="0">
              <a:solidFill>
                <a:srgbClr val="FF0000"/>
              </a:solidFill>
              <a:latin typeface="Times New Roman" panose="02020603050405020304" pitchFamily="18" charset="0"/>
            </a:endParaRPr>
          </a:p>
        </p:txBody>
      </p:sp>
      <p:sp>
        <p:nvSpPr>
          <p:cNvPr id="5" name="灯片编号占位符 4"/>
          <p:cNvSpPr>
            <a:spLocks noGrp="1"/>
          </p:cNvSpPr>
          <p:nvPr>
            <p:ph type="sldNum" sz="quarter" idx="4"/>
          </p:nvPr>
        </p:nvSpPr>
        <p:spPr/>
        <p:txBody>
          <a:bodyPr/>
          <a:lstStyle/>
          <a:p>
            <a:fld id="{565CE74E-AB26-4998-AD42-012C4C1AD076}" type="slidenum">
              <a:rPr lang="zh-CN" altLang="en-US" smtClean="0"/>
              <a:t>37</a:t>
            </a:fld>
            <a:endParaRPr lang="zh-CN" altLang="en-US"/>
          </a:p>
        </p:txBody>
      </p:sp>
    </p:spTree>
    <p:extLst>
      <p:ext uri="{BB962C8B-B14F-4D97-AF65-F5344CB8AC3E}">
        <p14:creationId xmlns:p14="http://schemas.microsoft.com/office/powerpoint/2010/main" val="1213447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 过程调用与参数传递</a:t>
            </a:r>
          </a:p>
          <a:p>
            <a:endParaRPr lang="zh-CN" altLang="en-US" dirty="0"/>
          </a:p>
        </p:txBody>
      </p:sp>
      <p:sp>
        <p:nvSpPr>
          <p:cNvPr id="3" name="标题 2"/>
          <p:cNvSpPr>
            <a:spLocks noGrp="1"/>
          </p:cNvSpPr>
          <p:nvPr>
            <p:ph type="title"/>
          </p:nvPr>
        </p:nvSpPr>
        <p:spPr/>
        <p:txBody>
          <a:bodyPr/>
          <a:lstStyle/>
          <a:p>
            <a:r>
              <a:rPr lang="zh-CN" altLang="en-US" dirty="0"/>
              <a:t>三、过程调用</a:t>
            </a:r>
          </a:p>
        </p:txBody>
      </p:sp>
      <p:sp>
        <p:nvSpPr>
          <p:cNvPr id="4" name="Rectangle 4"/>
          <p:cNvSpPr>
            <a:spLocks noChangeArrowheads="1"/>
          </p:cNvSpPr>
          <p:nvPr/>
        </p:nvSpPr>
        <p:spPr bwMode="auto">
          <a:xfrm>
            <a:off x="514865" y="1594021"/>
            <a:ext cx="4602163" cy="1631216"/>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dirty="0">
                <a:solidFill>
                  <a:srgbClr val="800080"/>
                </a:solidFill>
                <a:latin typeface="Times New Roman" pitchFamily="18" charset="0"/>
              </a:rPr>
              <a:t>  </a:t>
            </a:r>
            <a:r>
              <a:rPr kumimoji="0" lang="en-US" altLang="zh-CN" sz="2400" b="1" dirty="0">
                <a:solidFill>
                  <a:srgbClr val="800080"/>
                </a:solidFill>
                <a:latin typeface="Times New Roman" panose="02020603050405020304" pitchFamily="18" charset="0"/>
              </a:rPr>
              <a:t>call-by-value  </a:t>
            </a:r>
            <a:r>
              <a:rPr kumimoji="0" lang="zh-CN" altLang="en-US" sz="2400" b="1" dirty="0">
                <a:solidFill>
                  <a:srgbClr val="800080"/>
                </a:solidFill>
                <a:latin typeface="Times New Roman" panose="02020603050405020304" pitchFamily="18" charset="0"/>
              </a:rPr>
              <a:t>举例  </a:t>
            </a:r>
          </a:p>
          <a:p>
            <a:pPr lvl="1">
              <a:buFontTx/>
              <a:buNone/>
            </a:pPr>
            <a:r>
              <a:rPr lang="zh-CN" altLang="en-US" sz="2400" b="1" dirty="0">
                <a:latin typeface="Times New Roman" panose="02020603050405020304" pitchFamily="18" charset="0"/>
              </a:rPr>
              <a:t>   调用</a:t>
            </a:r>
            <a:r>
              <a:rPr lang="en-US" altLang="zh-CN" sz="2400" dirty="0">
                <a:solidFill>
                  <a:srgbClr val="FF0000"/>
                </a:solidFill>
                <a:latin typeface="Times New Roman" panose="02020603050405020304" pitchFamily="18" charset="0"/>
              </a:rPr>
              <a:t>swap(</a:t>
            </a:r>
            <a:r>
              <a:rPr lang="en-US" altLang="zh-CN" sz="2400" dirty="0" err="1">
                <a:solidFill>
                  <a:srgbClr val="FF0000"/>
                </a:solidFill>
                <a:latin typeface="Times New Roman" panose="02020603050405020304" pitchFamily="18" charset="0"/>
              </a:rPr>
              <a:t>a,b</a:t>
            </a:r>
            <a:r>
              <a:rPr lang="en-US" altLang="zh-CN" sz="2400" dirty="0">
                <a:solidFill>
                  <a:srgbClr val="FF0000"/>
                </a:solidFill>
                <a:latin typeface="Times New Roman" panose="02020603050405020304" pitchFamily="18" charset="0"/>
              </a:rPr>
              <a:t>)</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过程将不会影响</a:t>
            </a:r>
            <a:r>
              <a:rPr lang="en-US" altLang="zh-CN" sz="2400" dirty="0">
                <a:latin typeface="Times New Roman" panose="02020603050405020304" pitchFamily="18" charset="0"/>
              </a:rPr>
              <a:t>a</a:t>
            </a:r>
            <a:r>
              <a:rPr lang="zh-CN" altLang="en-US" sz="2400" b="1" dirty="0">
                <a:latin typeface="Times New Roman" panose="02020603050405020304" pitchFamily="18" charset="0"/>
              </a:rPr>
              <a:t>和</a:t>
            </a:r>
            <a:r>
              <a:rPr lang="en-US" altLang="zh-CN" sz="2400" dirty="0">
                <a:latin typeface="Times New Roman" panose="02020603050405020304" pitchFamily="18" charset="0"/>
              </a:rPr>
              <a:t>b</a:t>
            </a:r>
            <a:r>
              <a:rPr lang="zh-CN" altLang="zh-CN" sz="2400" b="1" dirty="0">
                <a:latin typeface="Times New Roman" panose="02020603050405020304" pitchFamily="18" charset="0"/>
              </a:rPr>
              <a:t>的值，其结果等价于执行下列语句序列：</a:t>
            </a:r>
            <a:endParaRPr lang="zh-CN" altLang="en-US" sz="2400" b="1" dirty="0">
              <a:latin typeface="Times New Roman" panose="02020603050405020304" pitchFamily="18" charset="0"/>
            </a:endParaRPr>
          </a:p>
        </p:txBody>
      </p:sp>
      <p:sp>
        <p:nvSpPr>
          <p:cNvPr id="5" name="Rectangle 13"/>
          <p:cNvSpPr>
            <a:spLocks noChangeArrowheads="1"/>
          </p:cNvSpPr>
          <p:nvPr/>
        </p:nvSpPr>
        <p:spPr bwMode="auto">
          <a:xfrm>
            <a:off x="889367" y="4064058"/>
            <a:ext cx="1447800" cy="2057400"/>
          </a:xfrm>
          <a:prstGeom prst="rect">
            <a:avLst/>
          </a:prstGeom>
          <a:noFill/>
          <a:ln w="9525">
            <a:noFill/>
            <a:miter lim="800000"/>
            <a:headEnd/>
            <a:tailEnd/>
          </a:ln>
          <a:effectLst/>
        </p:spPr>
        <p:txBody>
          <a:bodyPr/>
          <a:lstStyle/>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x :=a</a:t>
            </a:r>
            <a:r>
              <a:rPr lang="zh-CN" altLang="en-US" sz="2000" dirty="0">
                <a:latin typeface="Times New Roman" panose="02020603050405020304" pitchFamily="18" charset="0"/>
                <a:ea typeface="宋体" pitchFamily="2" charset="-122"/>
              </a:rPr>
              <a:t>；</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y :=b</a:t>
            </a:r>
            <a:r>
              <a:rPr lang="zh-CN" altLang="en-US" sz="2000" dirty="0">
                <a:latin typeface="Times New Roman" panose="02020603050405020304" pitchFamily="18" charset="0"/>
                <a:ea typeface="宋体" pitchFamily="2" charset="-122"/>
              </a:rPr>
              <a:t>；</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temp :=x</a:t>
            </a:r>
            <a:r>
              <a:rPr lang="zh-CN" altLang="en-US" sz="2000" dirty="0">
                <a:latin typeface="Times New Roman" panose="02020603050405020304" pitchFamily="18" charset="0"/>
                <a:ea typeface="宋体" pitchFamily="2" charset="-122"/>
              </a:rPr>
              <a:t>；</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x :=y</a:t>
            </a:r>
            <a:r>
              <a:rPr lang="zh-CN" altLang="en-US" sz="2000" dirty="0">
                <a:latin typeface="Times New Roman" panose="02020603050405020304" pitchFamily="18" charset="0"/>
                <a:ea typeface="宋体" pitchFamily="2" charset="-122"/>
              </a:rPr>
              <a:t>；</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y :=temp</a:t>
            </a:r>
          </a:p>
        </p:txBody>
      </p:sp>
      <p:sp>
        <p:nvSpPr>
          <p:cNvPr id="6" name="Rectangle 14"/>
          <p:cNvSpPr>
            <a:spLocks noChangeArrowheads="1"/>
          </p:cNvSpPr>
          <p:nvPr/>
        </p:nvSpPr>
        <p:spPr bwMode="auto">
          <a:xfrm>
            <a:off x="5334000" y="1183746"/>
            <a:ext cx="3657600" cy="2743200"/>
          </a:xfrm>
          <a:prstGeom prst="rect">
            <a:avLst/>
          </a:prstGeom>
          <a:noFill/>
          <a:ln w="9525">
            <a:noFill/>
            <a:miter lim="800000"/>
            <a:headEnd/>
            <a:tailEnd/>
          </a:ln>
          <a:effectLst/>
        </p:spPr>
        <p:txBody>
          <a:bodyPr/>
          <a:lstStyle/>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procedure  swap(</a:t>
            </a:r>
            <a:r>
              <a:rPr lang="en-US" altLang="zh-CN" sz="2000" dirty="0" err="1">
                <a:latin typeface="Times New Roman" panose="02020603050405020304" pitchFamily="18" charset="0"/>
                <a:ea typeface="宋体" pitchFamily="2" charset="-122"/>
              </a:rPr>
              <a:t>x,y:integer</a:t>
            </a:r>
            <a:r>
              <a:rPr lang="en-US" altLang="zh-CN" sz="2000" dirty="0">
                <a:latin typeface="Times New Roman" panose="02020603050405020304" pitchFamily="18" charset="0"/>
                <a:ea typeface="宋体" pitchFamily="2" charset="-122"/>
              </a:rPr>
              <a:t>);</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a:t>
            </a:r>
            <a:r>
              <a:rPr lang="en-US" altLang="zh-CN" sz="2000" dirty="0" err="1">
                <a:latin typeface="Times New Roman" panose="02020603050405020304" pitchFamily="18" charset="0"/>
                <a:ea typeface="宋体" pitchFamily="2" charset="-122"/>
              </a:rPr>
              <a:t>var</a:t>
            </a:r>
            <a:r>
              <a:rPr lang="en-US" altLang="zh-CN" sz="2000" dirty="0">
                <a:latin typeface="Times New Roman" panose="02020603050405020304" pitchFamily="18" charset="0"/>
                <a:ea typeface="宋体" pitchFamily="2" charset="-122"/>
              </a:rPr>
              <a:t>  </a:t>
            </a:r>
            <a:r>
              <a:rPr lang="en-US" altLang="zh-CN" sz="2000" dirty="0" err="1">
                <a:latin typeface="Times New Roman" panose="02020603050405020304" pitchFamily="18" charset="0"/>
                <a:ea typeface="宋体" pitchFamily="2" charset="-122"/>
              </a:rPr>
              <a:t>temp:integer</a:t>
            </a:r>
            <a:r>
              <a:rPr lang="en-US" altLang="zh-CN" sz="2000" dirty="0">
                <a:latin typeface="Times New Roman" panose="02020603050405020304" pitchFamily="18" charset="0"/>
                <a:ea typeface="宋体" pitchFamily="2" charset="-122"/>
              </a:rPr>
              <a:t>;</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begin    </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temp:=x;    </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x:=y</a:t>
            </a:r>
            <a:r>
              <a:rPr lang="zh-CN" altLang="en-US" sz="2000" dirty="0">
                <a:latin typeface="Times New Roman" panose="02020603050405020304" pitchFamily="18" charset="0"/>
                <a:ea typeface="宋体" pitchFamily="2" charset="-122"/>
              </a:rPr>
              <a:t>；     </a:t>
            </a:r>
          </a:p>
          <a:p>
            <a:pPr marL="342900" indent="-342900">
              <a:spcBef>
                <a:spcPct val="20000"/>
              </a:spcBef>
              <a:buClr>
                <a:schemeClr val="tx1"/>
              </a:buClr>
              <a:buSzPct val="75000"/>
              <a:buFont typeface="Wingdings" pitchFamily="2" charset="2"/>
              <a:buNone/>
            </a:pPr>
            <a:r>
              <a:rPr lang="zh-CN" altLang="en-US" sz="2000" dirty="0">
                <a:latin typeface="Times New Roman" panose="02020603050405020304" pitchFamily="18" charset="0"/>
                <a:ea typeface="宋体" pitchFamily="2" charset="-122"/>
              </a:rPr>
              <a:t>                  </a:t>
            </a:r>
            <a:r>
              <a:rPr lang="en-US" altLang="zh-CN" sz="2000" dirty="0">
                <a:latin typeface="Times New Roman" panose="02020603050405020304" pitchFamily="18" charset="0"/>
                <a:ea typeface="宋体" pitchFamily="2" charset="-122"/>
              </a:rPr>
              <a:t>y:=temp</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end</a:t>
            </a:r>
            <a:r>
              <a:rPr lang="zh-CN" altLang="en-US" sz="2000" dirty="0">
                <a:latin typeface="Times New Roman" panose="02020603050405020304" pitchFamily="18" charset="0"/>
                <a:ea typeface="宋体" pitchFamily="2" charset="-122"/>
              </a:rPr>
              <a:t>；</a:t>
            </a:r>
            <a:endParaRPr lang="zh-CN" altLang="en-US" dirty="0">
              <a:latin typeface="Times New Roman" panose="02020603050405020304" pitchFamily="18" charset="0"/>
              <a:ea typeface="宋体" pitchFamily="2" charset="-122"/>
            </a:endParaRPr>
          </a:p>
        </p:txBody>
      </p:sp>
      <p:sp>
        <p:nvSpPr>
          <p:cNvPr id="7" name="Rectangle 4"/>
          <p:cNvSpPr>
            <a:spLocks noChangeArrowheads="1"/>
          </p:cNvSpPr>
          <p:nvPr/>
        </p:nvSpPr>
        <p:spPr bwMode="auto">
          <a:xfrm>
            <a:off x="2699792" y="3970799"/>
            <a:ext cx="6248400" cy="2246769"/>
          </a:xfrm>
          <a:prstGeom prst="rect">
            <a:avLst/>
          </a:prstGeom>
          <a:noFill/>
          <a:ln w="9525">
            <a:solidFill>
              <a:schemeClr val="bg2"/>
            </a:solidFill>
            <a:miter lim="800000"/>
            <a:headEnd/>
            <a:tailEnd/>
          </a:ln>
          <a:effectLst/>
        </p:spPr>
        <p:txBody>
          <a:bodyPr wrap="square">
            <a:spAutoFit/>
          </a:bodyPr>
          <a:lstStyle/>
          <a:p>
            <a:pPr>
              <a:buFontTx/>
              <a:buNone/>
            </a:pPr>
            <a:r>
              <a:rPr kumimoji="0" lang="zh-CN" altLang="en-US" sz="2000" b="1" dirty="0">
                <a:solidFill>
                  <a:srgbClr val="800080"/>
                </a:solidFill>
              </a:rPr>
              <a:t>说明：</a:t>
            </a:r>
            <a:r>
              <a:rPr kumimoji="0" lang="en-US" altLang="zh-CN" sz="2000" b="1" dirty="0">
                <a:solidFill>
                  <a:srgbClr val="800080"/>
                </a:solidFill>
              </a:rPr>
              <a:t>   </a:t>
            </a:r>
          </a:p>
          <a:p>
            <a:pPr marL="342900" indent="-342900">
              <a:buFont typeface="Arial" pitchFamily="34" charset="0"/>
              <a:buChar char="•"/>
            </a:pPr>
            <a:r>
              <a:rPr lang="zh-CN" altLang="en-US" sz="2000" b="1" dirty="0"/>
              <a:t>形式参数当作过程的局部变量处理，即在被调过程的活动记录中开辟了形参的存储空间，这些存储位置用以存放实参</a:t>
            </a:r>
          </a:p>
          <a:p>
            <a:pPr marL="342900" indent="-342900">
              <a:buFont typeface="Arial" pitchFamily="34" charset="0"/>
              <a:buChar char="•"/>
            </a:pPr>
            <a:r>
              <a:rPr lang="zh-CN" altLang="en-US" sz="2000" b="1" dirty="0"/>
              <a:t>调用过程计算实参的值，将其放于对应的存储空间</a:t>
            </a:r>
          </a:p>
          <a:p>
            <a:pPr marL="342900" indent="-342900">
              <a:buFont typeface="Arial" pitchFamily="34" charset="0"/>
              <a:buChar char="•"/>
            </a:pPr>
            <a:r>
              <a:rPr lang="zh-CN" altLang="en-US" sz="2000" b="1" dirty="0"/>
              <a:t>被调用过程执行时，就像使用局部变量一样使用这些形式单元</a:t>
            </a:r>
          </a:p>
        </p:txBody>
      </p:sp>
      <p:sp>
        <p:nvSpPr>
          <p:cNvPr id="8" name="灯片编号占位符 7"/>
          <p:cNvSpPr>
            <a:spLocks noGrp="1"/>
          </p:cNvSpPr>
          <p:nvPr>
            <p:ph type="sldNum" sz="quarter" idx="4"/>
          </p:nvPr>
        </p:nvSpPr>
        <p:spPr/>
        <p:txBody>
          <a:bodyPr/>
          <a:lstStyle/>
          <a:p>
            <a:fld id="{565CE74E-AB26-4998-AD42-012C4C1AD076}" type="slidenum">
              <a:rPr lang="zh-CN" altLang="en-US" smtClean="0"/>
              <a:t>38</a:t>
            </a:fld>
            <a:endParaRPr lang="zh-CN" altLang="en-US"/>
          </a:p>
        </p:txBody>
      </p:sp>
    </p:spTree>
    <p:extLst>
      <p:ext uri="{BB962C8B-B14F-4D97-AF65-F5344CB8AC3E}">
        <p14:creationId xmlns:p14="http://schemas.microsoft.com/office/powerpoint/2010/main" val="1409135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参数传递</a:t>
            </a:r>
          </a:p>
          <a:p>
            <a:endParaRPr lang="zh-CN" altLang="en-US" dirty="0"/>
          </a:p>
        </p:txBody>
      </p:sp>
      <p:sp>
        <p:nvSpPr>
          <p:cNvPr id="3" name="标题 2"/>
          <p:cNvSpPr>
            <a:spLocks noGrp="1"/>
          </p:cNvSpPr>
          <p:nvPr>
            <p:ph type="title"/>
          </p:nvPr>
        </p:nvSpPr>
        <p:spPr/>
        <p:txBody>
          <a:bodyPr/>
          <a:lstStyle/>
          <a:p>
            <a:r>
              <a:rPr lang="zh-CN" altLang="en-US" dirty="0"/>
              <a:t>三、过程调用</a:t>
            </a:r>
          </a:p>
        </p:txBody>
      </p:sp>
      <p:sp>
        <p:nvSpPr>
          <p:cNvPr id="4" name="Rectangle 4"/>
          <p:cNvSpPr>
            <a:spLocks noChangeArrowheads="1"/>
          </p:cNvSpPr>
          <p:nvPr/>
        </p:nvSpPr>
        <p:spPr bwMode="auto">
          <a:xfrm>
            <a:off x="762000" y="1495167"/>
            <a:ext cx="4343400" cy="1431161"/>
          </a:xfrm>
          <a:prstGeom prst="rect">
            <a:avLst/>
          </a:prstGeom>
          <a:noFill/>
          <a:ln w="9525">
            <a:noFill/>
            <a:miter lim="800000"/>
            <a:headEnd/>
            <a:tailEnd/>
          </a:ln>
          <a:effectLst/>
        </p:spPr>
        <p:txBody>
          <a:bodyPr>
            <a:spAutoFit/>
          </a:bodyPr>
          <a:lstStyle/>
          <a:p>
            <a:pPr>
              <a:buClrTx/>
              <a:buFont typeface="Symbol" pitchFamily="18" charset="2"/>
              <a:buChar char="-"/>
            </a:pPr>
            <a:r>
              <a:rPr lang="en-US" altLang="zh-CN" sz="2800" b="1" dirty="0">
                <a:solidFill>
                  <a:srgbClr val="800080"/>
                </a:solidFill>
                <a:latin typeface="Times New Roman" pitchFamily="18" charset="0"/>
              </a:rPr>
              <a:t>  </a:t>
            </a:r>
            <a:r>
              <a:rPr kumimoji="0" lang="en-US" altLang="zh-CN" sz="2400" b="1" dirty="0">
                <a:solidFill>
                  <a:srgbClr val="800080"/>
                </a:solidFill>
                <a:latin typeface="Times New Roman" panose="02020603050405020304" pitchFamily="18" charset="0"/>
              </a:rPr>
              <a:t>call-by-reference  </a:t>
            </a:r>
            <a:r>
              <a:rPr kumimoji="0" lang="zh-CN" altLang="en-US" sz="2400" b="1" dirty="0">
                <a:solidFill>
                  <a:srgbClr val="800080"/>
                </a:solidFill>
                <a:latin typeface="Times New Roman" panose="02020603050405020304" pitchFamily="18" charset="0"/>
              </a:rPr>
              <a:t>举例  </a:t>
            </a:r>
          </a:p>
          <a:p>
            <a:pPr lvl="1">
              <a:buFontTx/>
              <a:buNone/>
            </a:pPr>
            <a:r>
              <a:rPr lang="zh-CN" altLang="en-US" sz="1100" b="1" dirty="0">
                <a:latin typeface="Times New Roman" panose="02020603050405020304" pitchFamily="18" charset="0"/>
              </a:rPr>
              <a:t>   </a:t>
            </a:r>
          </a:p>
          <a:p>
            <a:pPr lvl="1">
              <a:buFontTx/>
              <a:buNone/>
            </a:pPr>
            <a:r>
              <a:rPr lang="zh-CN" altLang="en-US" sz="2400" b="1" dirty="0">
                <a:latin typeface="Times New Roman" panose="02020603050405020304" pitchFamily="18" charset="0"/>
              </a:rPr>
              <a:t>   调用</a:t>
            </a:r>
            <a:r>
              <a:rPr lang="en-US" altLang="zh-CN" sz="2400" dirty="0">
                <a:latin typeface="Times New Roman" panose="02020603050405020304" pitchFamily="18" charset="0"/>
              </a:rPr>
              <a:t>swap(</a:t>
            </a:r>
            <a:r>
              <a:rPr lang="en-US" altLang="zh-CN" sz="2400" dirty="0" err="1">
                <a:latin typeface="Times New Roman" panose="02020603050405020304" pitchFamily="18" charset="0"/>
              </a:rPr>
              <a:t>a,b</a:t>
            </a:r>
            <a:r>
              <a:rPr lang="en-US" altLang="zh-CN" sz="2400" dirty="0">
                <a:latin typeface="Times New Roman" panose="02020603050405020304" pitchFamily="18" charset="0"/>
              </a:rPr>
              <a:t>)</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过程将交换 </a:t>
            </a:r>
            <a:r>
              <a:rPr lang="en-US" altLang="zh-CN" sz="2400" dirty="0">
                <a:latin typeface="Times New Roman" panose="02020603050405020304" pitchFamily="18" charset="0"/>
              </a:rPr>
              <a:t>a </a:t>
            </a:r>
            <a:r>
              <a:rPr lang="zh-CN" altLang="en-US" sz="2400" b="1" dirty="0">
                <a:latin typeface="Times New Roman" panose="02020603050405020304" pitchFamily="18" charset="0"/>
              </a:rPr>
              <a:t>和 </a:t>
            </a:r>
            <a:r>
              <a:rPr lang="en-US" altLang="zh-CN" sz="2400" dirty="0">
                <a:latin typeface="Times New Roman" panose="02020603050405020304" pitchFamily="18" charset="0"/>
              </a:rPr>
              <a:t>b </a:t>
            </a:r>
            <a:r>
              <a:rPr lang="zh-CN" altLang="zh-CN" sz="2400" b="1" dirty="0">
                <a:latin typeface="Times New Roman" panose="02020603050405020304" pitchFamily="18" charset="0"/>
              </a:rPr>
              <a:t>的值</a:t>
            </a:r>
            <a:endParaRPr lang="zh-CN" altLang="en-US" sz="2400" b="1" dirty="0">
              <a:latin typeface="Times New Roman" panose="02020603050405020304" pitchFamily="18" charset="0"/>
            </a:endParaRPr>
          </a:p>
        </p:txBody>
      </p:sp>
      <p:sp>
        <p:nvSpPr>
          <p:cNvPr id="5" name="Rectangle 14"/>
          <p:cNvSpPr>
            <a:spLocks noChangeArrowheads="1"/>
          </p:cNvSpPr>
          <p:nvPr/>
        </p:nvSpPr>
        <p:spPr bwMode="auto">
          <a:xfrm>
            <a:off x="1143000" y="3812594"/>
            <a:ext cx="3962400" cy="2743200"/>
          </a:xfrm>
          <a:prstGeom prst="rect">
            <a:avLst/>
          </a:prstGeom>
          <a:noFill/>
          <a:ln w="9525">
            <a:noFill/>
            <a:miter lim="800000"/>
            <a:headEnd/>
            <a:tailEnd/>
          </a:ln>
          <a:effectLst/>
        </p:spPr>
        <p:txBody>
          <a:bodyPr/>
          <a:lstStyle/>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procedure  swap(</a:t>
            </a:r>
            <a:r>
              <a:rPr lang="en-US" altLang="zh-CN" sz="2000" dirty="0" err="1">
                <a:latin typeface="Times New Roman" panose="02020603050405020304" pitchFamily="18" charset="0"/>
                <a:ea typeface="宋体" pitchFamily="2" charset="-122"/>
              </a:rPr>
              <a:t>var</a:t>
            </a:r>
            <a:r>
              <a:rPr lang="en-US" altLang="zh-CN" sz="2000" dirty="0">
                <a:latin typeface="Times New Roman" panose="02020603050405020304" pitchFamily="18" charset="0"/>
                <a:ea typeface="宋体" pitchFamily="2" charset="-122"/>
              </a:rPr>
              <a:t>  </a:t>
            </a:r>
            <a:r>
              <a:rPr lang="en-US" altLang="zh-CN" sz="2000" dirty="0" err="1">
                <a:latin typeface="Times New Roman" panose="02020603050405020304" pitchFamily="18" charset="0"/>
                <a:ea typeface="宋体" pitchFamily="2" charset="-122"/>
              </a:rPr>
              <a:t>x,y:integer</a:t>
            </a:r>
            <a:r>
              <a:rPr lang="en-US" altLang="zh-CN" sz="2000" dirty="0">
                <a:latin typeface="Times New Roman" panose="02020603050405020304" pitchFamily="18" charset="0"/>
                <a:ea typeface="宋体" pitchFamily="2" charset="-122"/>
              </a:rPr>
              <a:t>);</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a:t>
            </a:r>
            <a:r>
              <a:rPr lang="en-US" altLang="zh-CN" sz="2000" dirty="0" err="1">
                <a:latin typeface="Times New Roman" panose="02020603050405020304" pitchFamily="18" charset="0"/>
                <a:ea typeface="宋体" pitchFamily="2" charset="-122"/>
              </a:rPr>
              <a:t>var</a:t>
            </a:r>
            <a:r>
              <a:rPr lang="en-US" altLang="zh-CN" sz="2000" dirty="0">
                <a:latin typeface="Times New Roman" panose="02020603050405020304" pitchFamily="18" charset="0"/>
                <a:ea typeface="宋体" pitchFamily="2" charset="-122"/>
              </a:rPr>
              <a:t>  </a:t>
            </a:r>
            <a:r>
              <a:rPr lang="en-US" altLang="zh-CN" sz="2000" dirty="0" err="1">
                <a:latin typeface="Times New Roman" panose="02020603050405020304" pitchFamily="18" charset="0"/>
                <a:ea typeface="宋体" pitchFamily="2" charset="-122"/>
              </a:rPr>
              <a:t>temp:integer</a:t>
            </a:r>
            <a:r>
              <a:rPr lang="en-US" altLang="zh-CN" sz="2000" dirty="0">
                <a:latin typeface="Times New Roman" panose="02020603050405020304" pitchFamily="18" charset="0"/>
                <a:ea typeface="宋体" pitchFamily="2" charset="-122"/>
              </a:rPr>
              <a:t>;</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begin    </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temp:=x;    </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x:=y</a:t>
            </a:r>
            <a:r>
              <a:rPr lang="zh-CN" altLang="en-US" sz="2000" dirty="0">
                <a:latin typeface="Times New Roman" panose="02020603050405020304" pitchFamily="18" charset="0"/>
                <a:ea typeface="宋体" pitchFamily="2" charset="-122"/>
              </a:rPr>
              <a:t>；     </a:t>
            </a:r>
          </a:p>
          <a:p>
            <a:pPr marL="342900" indent="-342900">
              <a:spcBef>
                <a:spcPct val="20000"/>
              </a:spcBef>
              <a:buClr>
                <a:schemeClr val="tx1"/>
              </a:buClr>
              <a:buSzPct val="75000"/>
              <a:buFont typeface="Wingdings" pitchFamily="2" charset="2"/>
              <a:buNone/>
            </a:pPr>
            <a:r>
              <a:rPr lang="zh-CN" altLang="en-US" sz="2000" dirty="0">
                <a:latin typeface="Times New Roman" panose="02020603050405020304" pitchFamily="18" charset="0"/>
                <a:ea typeface="宋体" pitchFamily="2" charset="-122"/>
              </a:rPr>
              <a:t>                  </a:t>
            </a:r>
            <a:r>
              <a:rPr lang="en-US" altLang="zh-CN" sz="2000" dirty="0">
                <a:latin typeface="Times New Roman" panose="02020603050405020304" pitchFamily="18" charset="0"/>
                <a:ea typeface="宋体" pitchFamily="2" charset="-122"/>
              </a:rPr>
              <a:t>y:=temp</a:t>
            </a:r>
          </a:p>
          <a:p>
            <a:pPr marL="342900" indent="-342900">
              <a:spcBef>
                <a:spcPct val="20000"/>
              </a:spcBef>
              <a:buClr>
                <a:schemeClr val="tx1"/>
              </a:buClr>
              <a:buSzPct val="75000"/>
              <a:buFont typeface="Wingdings" pitchFamily="2" charset="2"/>
              <a:buNone/>
            </a:pPr>
            <a:r>
              <a:rPr lang="en-US" altLang="zh-CN" sz="2000" dirty="0">
                <a:latin typeface="Times New Roman" panose="02020603050405020304" pitchFamily="18" charset="0"/>
                <a:ea typeface="宋体" pitchFamily="2" charset="-122"/>
              </a:rPr>
              <a:t>         end</a:t>
            </a:r>
            <a:r>
              <a:rPr lang="zh-CN" altLang="en-US" sz="2000" dirty="0">
                <a:latin typeface="Times New Roman" panose="02020603050405020304" pitchFamily="18" charset="0"/>
                <a:ea typeface="宋体" pitchFamily="2" charset="-122"/>
              </a:rPr>
              <a:t>；</a:t>
            </a:r>
            <a:endParaRPr lang="zh-CN" altLang="en-US" dirty="0">
              <a:latin typeface="Times New Roman" panose="02020603050405020304" pitchFamily="18" charset="0"/>
              <a:ea typeface="宋体" pitchFamily="2" charset="-122"/>
            </a:endParaRPr>
          </a:p>
        </p:txBody>
      </p:sp>
      <p:sp>
        <p:nvSpPr>
          <p:cNvPr id="6" name="Rectangle 4"/>
          <p:cNvSpPr>
            <a:spLocks noChangeArrowheads="1"/>
          </p:cNvSpPr>
          <p:nvPr/>
        </p:nvSpPr>
        <p:spPr bwMode="auto">
          <a:xfrm>
            <a:off x="4962713" y="1268760"/>
            <a:ext cx="3800128" cy="4708981"/>
          </a:xfrm>
          <a:prstGeom prst="rect">
            <a:avLst/>
          </a:prstGeom>
          <a:noFill/>
          <a:ln w="9525">
            <a:solidFill>
              <a:schemeClr val="bg2"/>
            </a:solidFill>
            <a:miter lim="800000"/>
            <a:headEnd/>
            <a:tailEnd/>
          </a:ln>
          <a:effectLst/>
        </p:spPr>
        <p:txBody>
          <a:bodyPr wrap="square">
            <a:spAutoFit/>
          </a:bodyPr>
          <a:lstStyle/>
          <a:p>
            <a:pPr>
              <a:buFontTx/>
              <a:buNone/>
            </a:pPr>
            <a:r>
              <a:rPr kumimoji="0" lang="zh-CN" altLang="en-US" sz="2000" b="1" dirty="0">
                <a:solidFill>
                  <a:srgbClr val="800080"/>
                </a:solidFill>
              </a:rPr>
              <a:t>说明：</a:t>
            </a:r>
            <a:r>
              <a:rPr kumimoji="0" lang="en-US" altLang="zh-CN" sz="2000" b="1" dirty="0">
                <a:solidFill>
                  <a:srgbClr val="800080"/>
                </a:solidFill>
              </a:rPr>
              <a:t>   </a:t>
            </a:r>
          </a:p>
          <a:p>
            <a:pPr marL="342900" indent="-342900">
              <a:buFont typeface="Arial" pitchFamily="34" charset="0"/>
              <a:buChar char="•"/>
            </a:pPr>
            <a:r>
              <a:rPr lang="zh-CN" altLang="en-US" sz="2000" b="1" dirty="0"/>
              <a:t> 把实在参数的地址传递给相应的形参，即调用过程把一个指向实参的存储地址的指针传递给被调用过程相应的形参：</a:t>
            </a:r>
          </a:p>
          <a:p>
            <a:pPr marL="342900" indent="-342900">
              <a:buFont typeface="Arial" pitchFamily="34" charset="0"/>
              <a:buChar char="•"/>
            </a:pPr>
            <a:endParaRPr lang="zh-CN" altLang="en-US" sz="2000" b="1" dirty="0"/>
          </a:p>
          <a:p>
            <a:pPr marL="800100" lvl="1" indent="-342900">
              <a:buFont typeface="Arial" pitchFamily="34" charset="0"/>
              <a:buChar char="•"/>
            </a:pPr>
            <a:r>
              <a:rPr lang="zh-CN" altLang="en-US" sz="2000" b="1" dirty="0">
                <a:solidFill>
                  <a:srgbClr val="FF0000"/>
                </a:solidFill>
              </a:rPr>
              <a:t>若实在参数是一个名字，或具有左值的表达式，则传递左值。</a:t>
            </a:r>
          </a:p>
          <a:p>
            <a:pPr marL="342900" indent="-342900">
              <a:buFont typeface="Arial" pitchFamily="34" charset="0"/>
              <a:buChar char="•"/>
            </a:pPr>
            <a:endParaRPr lang="zh-CN" altLang="en-US" sz="2000" b="1" dirty="0">
              <a:solidFill>
                <a:srgbClr val="FF0000"/>
              </a:solidFill>
            </a:endParaRPr>
          </a:p>
          <a:p>
            <a:pPr marL="800100" lvl="1" indent="-342900">
              <a:buFont typeface="Arial" pitchFamily="34" charset="0"/>
              <a:buChar char="•"/>
            </a:pPr>
            <a:r>
              <a:rPr lang="zh-CN" altLang="en-US" sz="2000" b="1" dirty="0">
                <a:solidFill>
                  <a:srgbClr val="FF0000"/>
                </a:solidFill>
              </a:rPr>
              <a:t>若实在参数是无左值的表达式，则计算该表达式的值，放入一 存储单元，传此存储单元地址。</a:t>
            </a:r>
          </a:p>
        </p:txBody>
      </p:sp>
      <p:sp>
        <p:nvSpPr>
          <p:cNvPr id="7" name="灯片编号占位符 6"/>
          <p:cNvSpPr>
            <a:spLocks noGrp="1"/>
          </p:cNvSpPr>
          <p:nvPr>
            <p:ph type="sldNum" sz="quarter" idx="4"/>
          </p:nvPr>
        </p:nvSpPr>
        <p:spPr/>
        <p:txBody>
          <a:bodyPr/>
          <a:lstStyle/>
          <a:p>
            <a:fld id="{565CE74E-AB26-4998-AD42-012C4C1AD076}" type="slidenum">
              <a:rPr lang="zh-CN" altLang="en-US" smtClean="0"/>
              <a:t>39</a:t>
            </a:fld>
            <a:endParaRPr lang="zh-CN" altLang="en-US"/>
          </a:p>
        </p:txBody>
      </p:sp>
    </p:spTree>
    <p:extLst>
      <p:ext uri="{BB962C8B-B14F-4D97-AF65-F5344CB8AC3E}">
        <p14:creationId xmlns:p14="http://schemas.microsoft.com/office/powerpoint/2010/main" val="1409135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具体学习：可以参考</a:t>
            </a:r>
            <a:endParaRPr lang="en-US" altLang="zh-CN" dirty="0"/>
          </a:p>
          <a:p>
            <a:r>
              <a:rPr lang="zh-CN" altLang="en-US" dirty="0"/>
              <a:t>第</a:t>
            </a:r>
            <a:r>
              <a:rPr lang="en-US" altLang="zh-CN" dirty="0"/>
              <a:t>15</a:t>
            </a:r>
            <a:r>
              <a:rPr lang="zh-CN" altLang="en-US" dirty="0"/>
              <a:t>讲 运行存储分配</a:t>
            </a:r>
            <a:endParaRPr lang="en-US" altLang="zh-CN" dirty="0"/>
          </a:p>
          <a:p>
            <a:pPr lvl="1"/>
            <a:r>
              <a:rPr lang="en-US" altLang="zh-CN" dirty="0"/>
              <a:t>7-1</a:t>
            </a:r>
            <a:r>
              <a:rPr lang="zh-CN" altLang="en-US" dirty="0"/>
              <a:t>运行时存储分配概述</a:t>
            </a:r>
            <a:endParaRPr lang="en-US" altLang="zh-CN" dirty="0"/>
          </a:p>
          <a:p>
            <a:pPr lvl="1"/>
            <a:r>
              <a:rPr lang="en-US" altLang="zh-CN" dirty="0"/>
              <a:t>7-2</a:t>
            </a:r>
            <a:r>
              <a:rPr lang="zh-CN" altLang="en-US" dirty="0"/>
              <a:t>静态存储分配</a:t>
            </a:r>
            <a:endParaRPr lang="en-US" altLang="zh-CN" dirty="0"/>
          </a:p>
          <a:p>
            <a:pPr lvl="1"/>
            <a:r>
              <a:rPr lang="en-US" altLang="zh-CN" dirty="0"/>
              <a:t>7-3</a:t>
            </a:r>
            <a:r>
              <a:rPr lang="zh-CN" altLang="en-US" dirty="0"/>
              <a:t>栈式存储分配</a:t>
            </a:r>
            <a:endParaRPr lang="en-US" altLang="zh-CN" dirty="0"/>
          </a:p>
          <a:p>
            <a:pPr lvl="1"/>
            <a:r>
              <a:rPr lang="en-US" altLang="zh-CN" dirty="0"/>
              <a:t>7-4</a:t>
            </a:r>
            <a:r>
              <a:rPr lang="zh-CN" altLang="en-US" dirty="0"/>
              <a:t>调用序列和返回序列</a:t>
            </a:r>
            <a:endParaRPr lang="en-US" altLang="zh-CN" dirty="0"/>
          </a:p>
          <a:p>
            <a:pPr lvl="1"/>
            <a:r>
              <a:rPr lang="en-US" altLang="zh-CN" dirty="0"/>
              <a:t>7-5 </a:t>
            </a:r>
            <a:r>
              <a:rPr lang="zh-CN" altLang="en-US" dirty="0"/>
              <a:t>非局部数据的访问</a:t>
            </a:r>
          </a:p>
        </p:txBody>
      </p:sp>
      <p:sp>
        <p:nvSpPr>
          <p:cNvPr id="3" name="标题 2"/>
          <p:cNvSpPr>
            <a:spLocks noGrp="1"/>
          </p:cNvSpPr>
          <p:nvPr>
            <p:ph type="title"/>
          </p:nvPr>
        </p:nvSpPr>
        <p:spPr/>
        <p:txBody>
          <a:bodyPr/>
          <a:lstStyle/>
          <a:p>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40</a:t>
            </a:fld>
            <a:endParaRPr lang="zh-CN" altLang="en-US"/>
          </a:p>
        </p:txBody>
      </p:sp>
    </p:spTree>
    <p:extLst>
      <p:ext uri="{BB962C8B-B14F-4D97-AF65-F5344CB8AC3E}">
        <p14:creationId xmlns:p14="http://schemas.microsoft.com/office/powerpoint/2010/main" val="1127211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28650" y="2393315"/>
            <a:ext cx="7886700" cy="1263015"/>
          </a:xfrm>
        </p:spPr>
        <p:txBody>
          <a:bodyPr/>
          <a:lstStyle/>
          <a:p>
            <a:pPr algn="ctr"/>
            <a:r>
              <a:rPr lang="zh-CN" altLang="en-US"/>
              <a:t>谢谢听讲！</a:t>
            </a:r>
          </a:p>
        </p:txBody>
      </p:sp>
      <p:sp>
        <p:nvSpPr>
          <p:cNvPr id="2" name="灯片编号占位符 1"/>
          <p:cNvSpPr>
            <a:spLocks noGrp="1"/>
          </p:cNvSpPr>
          <p:nvPr>
            <p:ph type="sldNum" sz="quarter" idx="12"/>
          </p:nvPr>
        </p:nvSpPr>
        <p:spPr/>
        <p:txBody>
          <a:bodyPr/>
          <a:lstStyle/>
          <a:p>
            <a:fld id="{565CE74E-AB26-4998-AD42-012C4C1AD076}" type="slidenum">
              <a:rPr lang="zh-CN" altLang="en-US" smtClean="0"/>
              <a:t>41</a:t>
            </a:fld>
            <a:endParaRPr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TotalTime>
  <Words>4104</Words>
  <Application>Microsoft Office PowerPoint</Application>
  <PresentationFormat>全屏显示(4:3)</PresentationFormat>
  <Paragraphs>677</Paragraphs>
  <Slides>41</Slides>
  <Notes>4</Notes>
  <HiddenSlides>10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41</vt:i4>
      </vt:variant>
    </vt:vector>
  </HeadingPairs>
  <TitlesOfParts>
    <vt:vector size="51" baseType="lpstr">
      <vt:lpstr>黑体</vt:lpstr>
      <vt:lpstr>楷体_GB2312</vt:lpstr>
      <vt:lpstr>宋体</vt:lpstr>
      <vt:lpstr>微软雅黑</vt:lpstr>
      <vt:lpstr>Arial</vt:lpstr>
      <vt:lpstr>Calibri</vt:lpstr>
      <vt:lpstr>Symbol</vt:lpstr>
      <vt:lpstr>Times New Roman</vt:lpstr>
      <vt:lpstr>Wingdings</vt:lpstr>
      <vt:lpstr>Office 主题</vt:lpstr>
      <vt:lpstr>PowerPoint 演示文稿</vt:lpstr>
      <vt:lpstr>第七章~第九章学习要点</vt:lpstr>
      <vt:lpstr>PowerPoint 演示文稿</vt:lpstr>
      <vt:lpstr>PowerPoint 演示文稿</vt:lpstr>
      <vt:lpstr>教学目标</vt:lpstr>
      <vt:lpstr>教学内容</vt:lpstr>
      <vt:lpstr>一、运行时存储组织概述</vt:lpstr>
      <vt:lpstr>一、运行时存储组织概述</vt:lpstr>
      <vt:lpstr>一、运行时存储组织概述</vt:lpstr>
      <vt:lpstr>一、运行时存储组织概述</vt:lpstr>
      <vt:lpstr>一、运行时存储组织概述</vt:lpstr>
      <vt:lpstr>一、运行时存储组织概述</vt:lpstr>
      <vt:lpstr>一、运行时存储组织概述</vt:lpstr>
      <vt:lpstr>一、运行时存储组织概述</vt:lpstr>
      <vt:lpstr>一、运行时存储组织概述</vt:lpstr>
      <vt:lpstr>教学内容</vt:lpstr>
      <vt:lpstr>二、活动记录</vt:lpstr>
      <vt:lpstr>二、活动记录</vt:lpstr>
      <vt:lpstr>二、活动记录</vt:lpstr>
      <vt:lpstr>二、活动记录</vt:lpstr>
      <vt:lpstr>二、活动记录</vt:lpstr>
      <vt:lpstr>二、活动记录</vt:lpstr>
      <vt:lpstr>二、活动记录</vt:lpstr>
      <vt:lpstr>二、活动记录</vt:lpstr>
      <vt:lpstr>二、活动记录</vt:lpstr>
      <vt:lpstr>二、活动记录</vt:lpstr>
      <vt:lpstr>二、活动记录</vt:lpstr>
      <vt:lpstr>二、活动记录</vt:lpstr>
      <vt:lpstr>二、活动记录</vt:lpstr>
      <vt:lpstr>二、活动记录</vt:lpstr>
      <vt:lpstr>二、活动记录</vt:lpstr>
      <vt:lpstr>二、活动记录</vt:lpstr>
      <vt:lpstr>二、活动记录</vt:lpstr>
      <vt:lpstr>教学内容</vt:lpstr>
      <vt:lpstr>三、过程调用</vt:lpstr>
      <vt:lpstr>三、过程调用</vt:lpstr>
      <vt:lpstr>三、过程调用</vt:lpstr>
      <vt:lpstr>三、过程调用</vt:lpstr>
      <vt:lpstr>三、过程调用</vt:lpstr>
      <vt:lpstr>PowerPoint 演示文稿</vt:lpstr>
      <vt:lpstr>谢谢听讲！</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cyy-pc</dc:creator>
  <cp:lastModifiedBy>DELL</cp:lastModifiedBy>
  <cp:revision>129</cp:revision>
  <dcterms:created xsi:type="dcterms:W3CDTF">2018-04-28T06:20:00Z</dcterms:created>
  <dcterms:modified xsi:type="dcterms:W3CDTF">2024-02-20T11:44:45Z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2052-10.1.0.7346</vt:lpwstr>
  </property>
</Properties>
</file>