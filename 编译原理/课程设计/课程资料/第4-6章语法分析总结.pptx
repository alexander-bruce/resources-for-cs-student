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51"/>
  </p:notesMasterIdLst>
  <p:handoutMasterIdLst>
    <p:handoutMasterId r:id="rId52"/>
  </p:handoutMasterIdLst>
  <p:sldIdLst>
    <p:sldId id="313" r:id="rId3"/>
    <p:sldId id="438" r:id="rId4"/>
    <p:sldId id="439" r:id="rId5"/>
    <p:sldId id="440" r:id="rId6"/>
    <p:sldId id="441" r:id="rId7"/>
    <p:sldId id="442" r:id="rId8"/>
    <p:sldId id="443" r:id="rId9"/>
    <p:sldId id="444" r:id="rId10"/>
    <p:sldId id="445" r:id="rId11"/>
    <p:sldId id="479" r:id="rId12"/>
    <p:sldId id="446" r:id="rId13"/>
    <p:sldId id="447" r:id="rId14"/>
    <p:sldId id="448" r:id="rId15"/>
    <p:sldId id="449" r:id="rId16"/>
    <p:sldId id="450" r:id="rId17"/>
    <p:sldId id="451" r:id="rId18"/>
    <p:sldId id="452" r:id="rId19"/>
    <p:sldId id="453" r:id="rId20"/>
    <p:sldId id="455" r:id="rId21"/>
    <p:sldId id="456" r:id="rId22"/>
    <p:sldId id="457" r:id="rId23"/>
    <p:sldId id="459" r:id="rId24"/>
    <p:sldId id="458" r:id="rId25"/>
    <p:sldId id="460" r:id="rId26"/>
    <p:sldId id="461" r:id="rId27"/>
    <p:sldId id="469" r:id="rId28"/>
    <p:sldId id="463" r:id="rId29"/>
    <p:sldId id="464" r:id="rId30"/>
    <p:sldId id="454" r:id="rId31"/>
    <p:sldId id="465" r:id="rId32"/>
    <p:sldId id="467" r:id="rId33"/>
    <p:sldId id="468" r:id="rId34"/>
    <p:sldId id="470" r:id="rId35"/>
    <p:sldId id="471" r:id="rId36"/>
    <p:sldId id="473" r:id="rId37"/>
    <p:sldId id="474" r:id="rId38"/>
    <p:sldId id="472" r:id="rId39"/>
    <p:sldId id="483" r:id="rId40"/>
    <p:sldId id="484" r:id="rId41"/>
    <p:sldId id="475" r:id="rId42"/>
    <p:sldId id="476" r:id="rId43"/>
    <p:sldId id="480" r:id="rId44"/>
    <p:sldId id="481" r:id="rId45"/>
    <p:sldId id="482" r:id="rId46"/>
    <p:sldId id="478" r:id="rId47"/>
    <p:sldId id="477" r:id="rId48"/>
    <p:sldId id="466" r:id="rId49"/>
    <p:sldId id="303" r:id="rId50"/>
  </p:sldIdLst>
  <p:sldSz cx="9144000" cy="6858000" type="screen4x3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BDE2"/>
    <a:srgbClr val="003399"/>
    <a:srgbClr val="0000FF"/>
    <a:srgbClr val="5399FF"/>
    <a:srgbClr val="CDE1FF"/>
    <a:srgbClr val="0066FF"/>
    <a:srgbClr val="D1F3FF"/>
    <a:srgbClr val="8FD5E5"/>
    <a:srgbClr val="AFCFFF"/>
    <a:srgbClr val="86B0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5458" autoAdjust="0"/>
    <p:restoredTop sz="84426" autoAdjust="0"/>
  </p:normalViewPr>
  <p:slideViewPr>
    <p:cSldViewPr>
      <p:cViewPr varScale="1">
        <p:scale>
          <a:sx n="97" d="100"/>
          <a:sy n="97" d="100"/>
        </p:scale>
        <p:origin x="162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9" cy="72008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A165BA-8D3D-4E97-81A0-4EC078C83659}" type="datetimeFigureOut">
              <a:rPr lang="zh-CN" altLang="en-US" smtClean="0"/>
              <a:t>2022/4/27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D73C6F-4F33-46C4-9146-9E97FB636B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1389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1A3C4-6393-4ABF-B223-4720487F51B1}" type="datetimeFigureOut">
              <a:rPr lang="zh-CN" altLang="en-US" smtClean="0"/>
              <a:t>2022/4/27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DCA8F-E337-4DF5-BB18-E43B8F241E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298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8F04A-84B0-4E5D-A1A7-EE43D6EF2A6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803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S</a:t>
            </a:r>
            <a:r>
              <a:rPr lang="zh-CN" altLang="en-US" dirty="0" smtClean="0"/>
              <a:t>是</a:t>
            </a:r>
            <a:r>
              <a:rPr lang="en-US" altLang="zh-CN" dirty="0" smtClean="0"/>
              <a:t>shift</a:t>
            </a:r>
            <a:r>
              <a:rPr lang="zh-CN" altLang="en-US" dirty="0" smtClean="0"/>
              <a:t>的缩写，也就是移进，</a:t>
            </a:r>
            <a:r>
              <a:rPr lang="en-US" altLang="zh-CN" dirty="0" smtClean="0"/>
              <a:t>R</a:t>
            </a:r>
            <a:r>
              <a:rPr lang="zh-CN" altLang="en-US" dirty="0" smtClean="0"/>
              <a:t>是</a:t>
            </a:r>
            <a:r>
              <a:rPr lang="en-US" altLang="zh-CN" dirty="0" smtClean="0"/>
              <a:t>reduce</a:t>
            </a:r>
            <a:r>
              <a:rPr lang="zh-CN" altLang="en-US" dirty="0" smtClean="0"/>
              <a:t>的缩写，也就是规约。规约是推导的逆操作。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DCA8F-E337-4DF5-BB18-E43B8F241E65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25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DCA8F-E337-4DF5-BB18-E43B8F241E65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276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43D58D-8DAA-4A9F-B2AE-98FBA051F467}" type="datetimeFigureOut">
              <a:rPr lang="zh-CN" altLang="en-US" smtClean="0"/>
              <a:t>2022/4/27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93846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rgbClr val="003399"/>
                </a:solidFill>
              </a:defRPr>
            </a:lvl1pPr>
            <a:lvl2pPr marL="700088" indent="-342900">
              <a:buFont typeface="Wingdings" panose="05000000000000000000" pitchFamily="2" charset="2"/>
              <a:buChar char="p"/>
              <a:defRPr sz="2400">
                <a:solidFill>
                  <a:srgbClr val="7030A0"/>
                </a:solidFill>
              </a:defRPr>
            </a:lvl2pPr>
            <a:lvl3pPr marL="1143000" indent="-228600">
              <a:buFont typeface="Wingdings" panose="05000000000000000000" pitchFamily="2" charset="2"/>
              <a:buChar char="ü"/>
              <a:defRPr sz="1400"/>
            </a:lvl3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  <a:endParaRPr lang="en-US" altLang="zh-CN" dirty="0" smtClean="0"/>
          </a:p>
          <a:p>
            <a:pPr lvl="2"/>
            <a:endParaRPr lang="zh-CN" altLang="en-US" dirty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43D58D-8DAA-4A9F-B2AE-98FBA051F467}" type="datetimeFigureOut">
              <a:rPr lang="zh-CN" altLang="en-US" smtClean="0"/>
              <a:t>2022/4/27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9647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43D58D-8DAA-4A9F-B2AE-98FBA051F467}" type="datetimeFigureOut">
              <a:rPr lang="zh-CN" altLang="en-US" smtClean="0"/>
              <a:t>2022/4/27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25048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412875"/>
            <a:ext cx="4260850" cy="47418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81563" y="1412875"/>
            <a:ext cx="4262437" cy="47418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43D58D-8DAA-4A9F-B2AE-98FBA051F467}" type="datetimeFigureOut">
              <a:rPr lang="zh-CN" altLang="en-US" smtClean="0"/>
              <a:t>2022/4/27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239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43D58D-8DAA-4A9F-B2AE-98FBA051F467}" type="datetimeFigureOut">
              <a:rPr lang="zh-CN" altLang="en-US" smtClean="0"/>
              <a:t>2022/4/27</a:t>
            </a:fld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162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43D58D-8DAA-4A9F-B2AE-98FBA051F467}" type="datetimeFigureOut">
              <a:rPr lang="zh-CN" altLang="en-US" smtClean="0"/>
              <a:t>2022/4/27</a:t>
            </a:fld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515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A43D58D-8DAA-4A9F-B2AE-98FBA051F467}" type="datetimeFigureOut">
              <a:rPr lang="zh-CN" altLang="en-US" smtClean="0"/>
              <a:t>2022/4/27</a:t>
            </a:fld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449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43D58D-8DAA-4A9F-B2AE-98FBA051F467}" type="datetimeFigureOut">
              <a:rPr lang="zh-CN" altLang="en-US" smtClean="0"/>
              <a:t>2022/4/27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883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43D58D-8DAA-4A9F-B2AE-98FBA051F467}" type="datetimeFigureOut">
              <a:rPr lang="zh-CN" altLang="en-US" smtClean="0"/>
              <a:t>2022/4/27</a:t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43D58D-8DAA-4A9F-B2AE-98FBA051F467}" type="datetimeFigureOut">
              <a:rPr lang="zh-CN" altLang="en-US" smtClean="0"/>
              <a:t>2022/4/27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661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3425" y="476250"/>
            <a:ext cx="2203450" cy="56784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476250"/>
            <a:ext cx="6462712" cy="56784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43D58D-8DAA-4A9F-B2AE-98FBA051F467}" type="datetimeFigureOut">
              <a:rPr lang="zh-CN" altLang="en-US" smtClean="0"/>
              <a:t>2022/4/27</a:t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071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50" name="Group 2"/>
          <p:cNvGrpSpPr>
            <a:grpSpLocks/>
          </p:cNvGrpSpPr>
          <p:nvPr/>
        </p:nvGrpSpPr>
        <p:grpSpPr bwMode="auto">
          <a:xfrm>
            <a:off x="0" y="0"/>
            <a:ext cx="8872538" cy="6858000"/>
            <a:chOff x="0" y="0"/>
            <a:chExt cx="5589" cy="4320"/>
          </a:xfrm>
        </p:grpSpPr>
        <p:sp>
          <p:nvSpPr>
            <p:cNvPr id="104451" name="Rectangle 3"/>
            <p:cNvSpPr>
              <a:spLocks noChangeArrowheads="1"/>
            </p:cNvSpPr>
            <p:nvPr/>
          </p:nvSpPr>
          <p:spPr bwMode="white">
            <a:xfrm>
              <a:off x="336" y="150"/>
              <a:ext cx="5253" cy="40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 smtClean="0">
                <a:solidFill>
                  <a:srgbClr val="402000"/>
                </a:solidFill>
              </a:endParaRPr>
            </a:p>
          </p:txBody>
        </p:sp>
        <p:pic>
          <p:nvPicPr>
            <p:cNvPr id="104452" name="Picture 4" descr="minispir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ltGray">
            <a:xfrm>
              <a:off x="0" y="0"/>
              <a:ext cx="670" cy="4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445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962025" y="1925638"/>
            <a:ext cx="7772400" cy="114300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zh-CN" noProof="0" smtClean="0"/>
          </a:p>
        </p:txBody>
      </p:sp>
      <p:sp>
        <p:nvSpPr>
          <p:cNvPr id="10445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647825" y="3738563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04455" name="Rectangle 7"/>
          <p:cNvSpPr>
            <a:spLocks noGrp="1" noChangeArrowheads="1"/>
          </p:cNvSpPr>
          <p:nvPr>
            <p:ph type="dt" sz="half" idx="2"/>
          </p:nvPr>
        </p:nvSpPr>
        <p:spPr>
          <a:xfrm>
            <a:off x="962025" y="6165850"/>
            <a:ext cx="1905000" cy="392113"/>
          </a:xfrm>
        </p:spPr>
        <p:txBody>
          <a:bodyPr/>
          <a:lstStyle>
            <a:lvl1pPr>
              <a:defRPr>
                <a:solidFill>
                  <a:srgbClr val="A08366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4456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3400425" y="6165850"/>
            <a:ext cx="2895600" cy="392113"/>
          </a:xfrm>
        </p:spPr>
        <p:txBody>
          <a:bodyPr/>
          <a:lstStyle>
            <a:lvl1pPr>
              <a:defRPr>
                <a:solidFill>
                  <a:srgbClr val="A08366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4457" name="Rectangle 9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29425" y="6165850"/>
            <a:ext cx="1905000" cy="392113"/>
          </a:xfrm>
        </p:spPr>
        <p:txBody>
          <a:bodyPr/>
          <a:lstStyle>
            <a:lvl1pPr>
              <a:defRPr>
                <a:solidFill>
                  <a:srgbClr val="A08366"/>
                </a:solidFill>
              </a:defRPr>
            </a:lvl1pPr>
          </a:lstStyle>
          <a:p>
            <a:fld id="{7BD22BED-80B6-4659-A9D7-B499C76CD98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6103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43F966-61CD-451C-90D2-7919DC7943EF}" type="slidenum">
              <a:rPr lang="zh-CN" altLang="en-US">
                <a:solidFill>
                  <a:srgbClr val="A08366"/>
                </a:solidFill>
              </a:rPr>
              <a:pPr/>
              <a:t>‹#›</a:t>
            </a:fld>
            <a:endParaRPr lang="en-US" altLang="zh-CN">
              <a:solidFill>
                <a:srgbClr val="A08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476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E066B4-0F23-4CE1-ACDC-F57DD63F4A94}" type="slidenum">
              <a:rPr lang="zh-CN" altLang="en-US">
                <a:solidFill>
                  <a:srgbClr val="A08366"/>
                </a:solidFill>
              </a:rPr>
              <a:pPr/>
              <a:t>‹#›</a:t>
            </a:fld>
            <a:endParaRPr lang="en-US" altLang="zh-CN">
              <a:solidFill>
                <a:srgbClr val="A08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6608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90600" y="1125538"/>
            <a:ext cx="38100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3000" y="1125538"/>
            <a:ext cx="3810000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A5FD01-B4D5-4891-9308-F0332641FED2}" type="slidenum">
              <a:rPr lang="zh-CN" altLang="en-US">
                <a:solidFill>
                  <a:srgbClr val="A08366"/>
                </a:solidFill>
              </a:rPr>
              <a:pPr/>
              <a:t>‹#›</a:t>
            </a:fld>
            <a:endParaRPr lang="en-US" altLang="zh-CN">
              <a:solidFill>
                <a:srgbClr val="A08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1680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C245AE-58AC-49D7-A643-D75FADEB371A}" type="slidenum">
              <a:rPr lang="zh-CN" altLang="en-US">
                <a:solidFill>
                  <a:srgbClr val="A08366"/>
                </a:solidFill>
              </a:rPr>
              <a:pPr/>
              <a:t>‹#›</a:t>
            </a:fld>
            <a:endParaRPr lang="en-US" altLang="zh-CN">
              <a:solidFill>
                <a:srgbClr val="A08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679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30F667-A136-4EB9-B04D-0515861D51A0}" type="slidenum">
              <a:rPr lang="zh-CN" altLang="en-US">
                <a:solidFill>
                  <a:srgbClr val="A08366"/>
                </a:solidFill>
              </a:rPr>
              <a:pPr/>
              <a:t>‹#›</a:t>
            </a:fld>
            <a:endParaRPr lang="en-US" altLang="zh-CN">
              <a:solidFill>
                <a:srgbClr val="A08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85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710A40-4D0D-4817-AB3C-E9936D161DEF}" type="slidenum">
              <a:rPr lang="zh-CN" altLang="en-US">
                <a:solidFill>
                  <a:srgbClr val="A08366"/>
                </a:solidFill>
              </a:rPr>
              <a:pPr/>
              <a:t>‹#›</a:t>
            </a:fld>
            <a:endParaRPr lang="en-US" altLang="zh-CN">
              <a:solidFill>
                <a:srgbClr val="A08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97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E00C75-7006-40EF-BD86-C587E39A2281}" type="slidenum">
              <a:rPr lang="zh-CN" altLang="en-US">
                <a:solidFill>
                  <a:srgbClr val="A08366"/>
                </a:solidFill>
              </a:rPr>
              <a:pPr/>
              <a:t>‹#›</a:t>
            </a:fld>
            <a:endParaRPr lang="en-US" altLang="zh-CN">
              <a:solidFill>
                <a:srgbClr val="A08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1753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E498B4-5FC8-46BA-950E-09E454F3B50D}" type="slidenum">
              <a:rPr lang="zh-CN" altLang="en-US">
                <a:solidFill>
                  <a:srgbClr val="A08366"/>
                </a:solidFill>
              </a:rPr>
              <a:pPr/>
              <a:t>‹#›</a:t>
            </a:fld>
            <a:endParaRPr lang="en-US" altLang="zh-CN">
              <a:solidFill>
                <a:srgbClr val="A08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2120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4C8DE4-C31C-4A14-85A9-11934D833771}" type="slidenum">
              <a:rPr lang="zh-CN" altLang="en-US">
                <a:solidFill>
                  <a:srgbClr val="A08366"/>
                </a:solidFill>
              </a:rPr>
              <a:pPr/>
              <a:t>‹#›</a:t>
            </a:fld>
            <a:endParaRPr lang="en-US" altLang="zh-CN">
              <a:solidFill>
                <a:srgbClr val="A08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809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15138" y="260350"/>
            <a:ext cx="1947862" cy="58324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71550" y="260350"/>
            <a:ext cx="5691188" cy="58324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A08366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949354-4851-4EA7-B4B4-45C764F4C7E8}" type="slidenum">
              <a:rPr lang="zh-CN" altLang="en-US">
                <a:solidFill>
                  <a:srgbClr val="A08366"/>
                </a:solidFill>
              </a:rPr>
              <a:pPr/>
              <a:t>‹#›</a:t>
            </a:fld>
            <a:endParaRPr lang="en-US" altLang="zh-CN">
              <a:solidFill>
                <a:srgbClr val="A08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16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82100" cy="836613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  <a:ex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5" y="107950"/>
            <a:ext cx="8218486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041401"/>
            <a:ext cx="8218487" cy="5113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第三级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fld id="{AA43D58D-8DAA-4A9F-B2AE-98FBA051F467}" type="datetimeFigureOut">
              <a:rPr lang="zh-CN" altLang="en-US" smtClean="0"/>
              <a:t>2022/4/27</a:t>
            </a:fld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1B43473F-AE3F-4D1C-9C4F-7AD3C17AC1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760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Arial" panose="020B0604020202020204" pitchFamily="34" charset="0"/>
          <a:ea typeface="华文中宋" panose="02010600040101010101" pitchFamily="2" charset="-122"/>
          <a:cs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Arial" panose="020B0604020202020204" pitchFamily="34" charset="0"/>
          <a:ea typeface="华文中宋" panose="02010600040101010101" pitchFamily="2" charset="-122"/>
          <a:cs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Arial" panose="020B0604020202020204" pitchFamily="34" charset="0"/>
          <a:ea typeface="华文中宋" panose="02010600040101010101" pitchFamily="2" charset="-122"/>
          <a:cs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accent1"/>
          </a:solidFill>
          <a:latin typeface="Arial" panose="020B0604020202020204" pitchFamily="34" charset="0"/>
          <a:ea typeface="华文中宋" panose="02010600040101010101" pitchFamily="2" charset="-122"/>
          <a:cs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FF3300"/>
          </a:solidFill>
          <a:latin typeface="Arial" panose="020B0604020202020204" pitchFamily="34" charset="0"/>
          <a:ea typeface="华文中宋" panose="02010600040101010101" pitchFamily="2" charset="-122"/>
          <a:cs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FF3300"/>
          </a:solidFill>
          <a:latin typeface="Arial" panose="020B0604020202020204" pitchFamily="34" charset="0"/>
          <a:ea typeface="华文中宋" panose="02010600040101010101" pitchFamily="2" charset="-122"/>
          <a:cs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FF3300"/>
          </a:solidFill>
          <a:latin typeface="Arial" panose="020B0604020202020204" pitchFamily="34" charset="0"/>
          <a:ea typeface="华文中宋" panose="02010600040101010101" pitchFamily="2" charset="-122"/>
          <a:cs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rgbClr val="FF3300"/>
          </a:solidFill>
          <a:latin typeface="Arial" panose="020B0604020202020204" pitchFamily="34" charset="0"/>
          <a:ea typeface="华文中宋" panose="02010600040101010101" pitchFamily="2" charset="-122"/>
          <a:cs typeface="宋体" panose="02010600030101010101" pitchFamily="2" charset="-122"/>
        </a:defRPr>
      </a:lvl9pPr>
    </p:titleStyle>
    <p:bodyStyle>
      <a:lvl1pPr marL="355600" indent="-269875" algn="l" rtl="0" eaLnBrk="1" fontAlgn="base" hangingPunct="1">
        <a:spcBef>
          <a:spcPts val="1800"/>
        </a:spcBef>
        <a:spcAft>
          <a:spcPct val="0"/>
        </a:spcAft>
        <a:buClr>
          <a:srgbClr val="003399"/>
        </a:buClr>
        <a:buSzPct val="80000"/>
        <a:buFont typeface="Wingdings 2" panose="05020102010507070707" pitchFamily="18" charset="2"/>
        <a:buChar char=""/>
        <a:defRPr sz="2400" kern="1200">
          <a:solidFill>
            <a:srgbClr val="003399"/>
          </a:solidFill>
          <a:latin typeface="+mn-lt"/>
          <a:ea typeface="+mn-ea"/>
          <a:cs typeface="+mn-cs"/>
        </a:defRPr>
      </a:lvl1pPr>
      <a:lvl2pPr marL="357188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defRPr sz="2000" kern="1200">
          <a:solidFill>
            <a:srgbClr val="0066FF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 kern="1200">
          <a:solidFill>
            <a:srgbClr val="4D4D4D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200" kern="1200">
          <a:solidFill>
            <a:srgbClr val="4D4D4D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 kern="1200">
          <a:solidFill>
            <a:srgbClr val="4D4D4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>
          <a:outerShdw dist="107763" dir="2700000" algn="ctr" rotWithShape="0">
            <a:srgbClr val="000000"/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Rectangle 3"/>
          <p:cNvSpPr>
            <a:spLocks noChangeArrowheads="1"/>
          </p:cNvSpPr>
          <p:nvPr/>
        </p:nvSpPr>
        <p:spPr bwMode="ltGray">
          <a:xfrm>
            <a:off x="533400" y="238125"/>
            <a:ext cx="8339138" cy="63912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smtClean="0">
              <a:solidFill>
                <a:srgbClr val="402000"/>
              </a:solidFill>
            </a:endParaRPr>
          </a:p>
        </p:txBody>
      </p:sp>
      <p:pic>
        <p:nvPicPr>
          <p:cNvPr id="103428" name="Picture 4" descr="minispir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ltGray">
          <a:xfrm>
            <a:off x="0" y="0"/>
            <a:ext cx="10636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429" name="Line 5"/>
          <p:cNvSpPr>
            <a:spLocks noChangeShapeType="1"/>
          </p:cNvSpPr>
          <p:nvPr/>
        </p:nvSpPr>
        <p:spPr bwMode="ltGray">
          <a:xfrm>
            <a:off x="971550" y="1052513"/>
            <a:ext cx="7747000" cy="0"/>
          </a:xfrm>
          <a:prstGeom prst="line">
            <a:avLst/>
          </a:prstGeom>
          <a:noFill/>
          <a:ln w="317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402000"/>
              </a:buClr>
              <a:buSzPct val="75000"/>
              <a:buFont typeface="Monotype Sorts" pitchFamily="2" charset="2"/>
              <a:buNone/>
            </a:pPr>
            <a:endParaRPr lang="zh-CN" altLang="en-US" smtClean="0">
              <a:solidFill>
                <a:srgbClr val="402000"/>
              </a:solidFill>
            </a:endParaRPr>
          </a:p>
        </p:txBody>
      </p:sp>
      <p:sp>
        <p:nvSpPr>
          <p:cNvPr id="103430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971550" y="260350"/>
            <a:ext cx="7772400" cy="73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28398" dir="3806097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4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1125538"/>
            <a:ext cx="7772400" cy="496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343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165850"/>
            <a:ext cx="190500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buClrTx/>
              <a:buSzTx/>
              <a:buFontTx/>
              <a:buNone/>
              <a:defRPr sz="1400">
                <a:solidFill>
                  <a:schemeClr val="bg2"/>
                </a:solidFill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A08366"/>
              </a:solidFill>
            </a:endParaRPr>
          </a:p>
        </p:txBody>
      </p:sp>
      <p:sp>
        <p:nvSpPr>
          <p:cNvPr id="10343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165850"/>
            <a:ext cx="289560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buClrTx/>
              <a:buSzTx/>
              <a:buFontTx/>
              <a:buNone/>
              <a:defRPr sz="1400">
                <a:solidFill>
                  <a:schemeClr val="bg2"/>
                </a:solidFill>
              </a:defRPr>
            </a:lvl1pPr>
          </a:lstStyle>
          <a:p>
            <a:pPr fontAlgn="base">
              <a:spcAft>
                <a:spcPct val="0"/>
              </a:spcAft>
            </a:pPr>
            <a:endParaRPr lang="en-US" altLang="zh-CN" smtClean="0">
              <a:solidFill>
                <a:srgbClr val="A08366"/>
              </a:solidFill>
            </a:endParaRPr>
          </a:p>
        </p:txBody>
      </p:sp>
      <p:sp>
        <p:nvSpPr>
          <p:cNvPr id="10343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165850"/>
            <a:ext cx="190500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buClrTx/>
              <a:buSzTx/>
              <a:buFontTx/>
              <a:buNone/>
              <a:defRPr sz="1400">
                <a:solidFill>
                  <a:schemeClr val="bg2"/>
                </a:solidFill>
              </a:defRPr>
            </a:lvl1pPr>
          </a:lstStyle>
          <a:p>
            <a:pPr fontAlgn="base">
              <a:spcAft>
                <a:spcPct val="0"/>
              </a:spcAft>
            </a:pPr>
            <a:fld id="{549DBA29-7377-41F5-8AD2-88B742BF0097}" type="slidenum">
              <a:rPr lang="zh-CN" altLang="en-US" smtClean="0">
                <a:solidFill>
                  <a:srgbClr val="A08366"/>
                </a:solidFill>
              </a:rPr>
              <a:pPr fontAlgn="base">
                <a:spcAft>
                  <a:spcPct val="0"/>
                </a:spcAft>
              </a:pPr>
              <a:t>‹#›</a:t>
            </a:fld>
            <a:endParaRPr lang="en-US" altLang="zh-CN" smtClean="0">
              <a:solidFill>
                <a:srgbClr val="A08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498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Monotype Sorts" pitchFamily="2" charset="2"/>
        <a:buChar char="4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3284984"/>
            <a:ext cx="9144000" cy="122413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4294967295"/>
          </p:nvPr>
        </p:nvSpPr>
        <p:spPr>
          <a:xfrm>
            <a:off x="0" y="3111478"/>
            <a:ext cx="9144000" cy="1325634"/>
          </a:xfrm>
          <a:solidFill>
            <a:schemeClr val="bg1"/>
          </a:solidFill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sz="2600" b="1" dirty="0" smtClean="0">
                <a:solidFill>
                  <a:srgbClr val="0033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</a:t>
            </a:r>
            <a:r>
              <a:rPr lang="en-US" altLang="zh-CN" sz="2600" b="1" dirty="0" smtClean="0">
                <a:solidFill>
                  <a:srgbClr val="0033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4-6</a:t>
            </a:r>
            <a:r>
              <a:rPr lang="zh-CN" altLang="en-US" sz="2600" b="1" dirty="0" smtClean="0">
                <a:solidFill>
                  <a:srgbClr val="00339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章 总结</a:t>
            </a:r>
            <a:endParaRPr lang="zh-CN" altLang="en-US" sz="2600" b="1" dirty="0">
              <a:solidFill>
                <a:srgbClr val="003399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268760"/>
            <a:ext cx="9144000" cy="175768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 smtClean="0"/>
              <a:t>编译原理</a:t>
            </a:r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773629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核心思想： 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 smtClean="0"/>
              <a:t>核心</a:t>
            </a:r>
            <a:r>
              <a:rPr lang="zh-CN" altLang="en-US" dirty="0"/>
              <a:t>问题：识别（</a:t>
            </a:r>
            <a:r>
              <a:rPr lang="en-US" altLang="zh-CN" dirty="0"/>
              <a:t>recognition</a:t>
            </a:r>
            <a:r>
              <a:rPr lang="zh-CN" altLang="en-US" dirty="0"/>
              <a:t>）与解析（</a:t>
            </a:r>
            <a:r>
              <a:rPr lang="en-US" altLang="zh-CN" dirty="0"/>
              <a:t>parsing</a:t>
            </a:r>
            <a:r>
              <a:rPr lang="zh-CN" altLang="en-US" dirty="0"/>
              <a:t>）</a:t>
            </a:r>
          </a:p>
          <a:p>
            <a:pPr marL="357188" lvl="1" indent="0">
              <a:buNone/>
            </a:pPr>
            <a:r>
              <a:rPr lang="zh-CN" altLang="en-US" dirty="0"/>
              <a:t>   对任意</a:t>
            </a:r>
            <a:r>
              <a:rPr lang="zh-CN" altLang="en-US" dirty="0">
                <a:solidFill>
                  <a:srgbClr val="FF0000"/>
                </a:solidFill>
              </a:rPr>
              <a:t>上下文无关文法</a:t>
            </a:r>
            <a:r>
              <a:rPr lang="en-US" altLang="zh-CN" dirty="0"/>
              <a:t>G = (V</a:t>
            </a:r>
            <a:r>
              <a:rPr lang="en-US" altLang="zh-CN" baseline="-25000" dirty="0"/>
              <a:t>N</a:t>
            </a:r>
            <a:r>
              <a:rPr lang="en-US" altLang="zh-CN" dirty="0"/>
              <a:t> 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en-US" altLang="zh-CN" baseline="-25000" dirty="0"/>
              <a:t>T</a:t>
            </a:r>
            <a:r>
              <a:rPr lang="en-US" altLang="zh-CN" dirty="0"/>
              <a:t> 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zh-CN" altLang="en-US" dirty="0"/>
              <a:t>，</a:t>
            </a:r>
            <a:r>
              <a:rPr lang="en-US" altLang="zh-CN" dirty="0"/>
              <a:t>S )</a:t>
            </a:r>
            <a:r>
              <a:rPr lang="zh-CN" altLang="en-US" dirty="0"/>
              <a:t>和任意</a:t>
            </a:r>
            <a:r>
              <a:rPr lang="en-US" altLang="zh-CN" dirty="0"/>
              <a:t>w</a:t>
            </a:r>
            <a:r>
              <a:rPr lang="zh-CN" altLang="en-US" dirty="0"/>
              <a:t>∈</a:t>
            </a:r>
            <a:r>
              <a:rPr lang="en-US" altLang="zh-CN" dirty="0"/>
              <a:t>V</a:t>
            </a:r>
            <a:r>
              <a:rPr lang="en-US" altLang="zh-CN" baseline="-25000" dirty="0"/>
              <a:t>T</a:t>
            </a:r>
            <a:r>
              <a:rPr lang="en-US" altLang="zh-CN" dirty="0"/>
              <a:t> *</a:t>
            </a:r>
            <a:r>
              <a:rPr lang="zh-CN" altLang="en-US" dirty="0"/>
              <a:t>，是否有</a:t>
            </a:r>
            <a:r>
              <a:rPr lang="en-US" altLang="zh-CN" dirty="0">
                <a:solidFill>
                  <a:srgbClr val="FF0000"/>
                </a:solidFill>
              </a:rPr>
              <a:t>w</a:t>
            </a:r>
            <a:r>
              <a:rPr lang="zh-CN" altLang="en-US" dirty="0">
                <a:solidFill>
                  <a:srgbClr val="FF0000"/>
                </a:solidFill>
              </a:rPr>
              <a:t>∈</a:t>
            </a:r>
            <a:r>
              <a:rPr lang="en-US" altLang="zh-CN" dirty="0">
                <a:solidFill>
                  <a:srgbClr val="FF0000"/>
                </a:solidFill>
              </a:rPr>
              <a:t>L(G)</a:t>
            </a:r>
            <a:r>
              <a:rPr lang="zh-CN" altLang="en-US" dirty="0"/>
              <a:t>？ 若成立，则给出分析树或推导步骤；否则，进行报错处理。</a:t>
            </a:r>
            <a:endParaRPr lang="en-US" altLang="zh-CN" dirty="0"/>
          </a:p>
          <a:p>
            <a:r>
              <a:rPr lang="zh-CN" altLang="en-US" dirty="0"/>
              <a:t> 两种实现途径    </a:t>
            </a:r>
          </a:p>
          <a:p>
            <a:pPr lvl="1"/>
            <a:r>
              <a:rPr lang="zh-CN" altLang="en-US" dirty="0"/>
              <a:t>    自顶向下（</a:t>
            </a:r>
            <a:r>
              <a:rPr lang="en-US" altLang="zh-CN" dirty="0"/>
              <a:t>top-down</a:t>
            </a:r>
            <a:r>
              <a:rPr lang="zh-CN" altLang="en-US" dirty="0"/>
              <a:t>）分析</a:t>
            </a:r>
          </a:p>
          <a:p>
            <a:pPr lvl="1"/>
            <a:r>
              <a:rPr lang="zh-CN" altLang="en-US" dirty="0"/>
              <a:t>    自底向上（</a:t>
            </a:r>
            <a:r>
              <a:rPr lang="en-US" altLang="zh-CN" dirty="0"/>
              <a:t>bottom-up</a:t>
            </a:r>
            <a:r>
              <a:rPr lang="zh-CN" altLang="en-US" dirty="0"/>
              <a:t>）分析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792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自顶向下分析方法</a:t>
            </a:r>
            <a:endParaRPr lang="en-US" altLang="zh-CN" dirty="0"/>
          </a:p>
          <a:p>
            <a:pPr lvl="1"/>
            <a:r>
              <a:rPr lang="zh-CN" altLang="en-US" dirty="0" smtClean="0"/>
              <a:t>从文法</a:t>
            </a:r>
            <a:r>
              <a:rPr lang="en-US" altLang="zh-CN" dirty="0" smtClean="0"/>
              <a:t>G</a:t>
            </a:r>
            <a:r>
              <a:rPr lang="zh-CN" altLang="en-US" dirty="0"/>
              <a:t>的开始符号</a:t>
            </a:r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zh-CN" altLang="en-US" dirty="0"/>
              <a:t>出发，通过反复使用产生式对句型中的非终结符进行</a:t>
            </a:r>
            <a:r>
              <a:rPr lang="zh-CN" altLang="en-US" dirty="0">
                <a:solidFill>
                  <a:srgbClr val="FF0000"/>
                </a:solidFill>
              </a:rPr>
              <a:t>替换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推导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dirty="0"/>
              <a:t>，逐步推导</a:t>
            </a:r>
            <a:r>
              <a:rPr lang="zh-CN" altLang="en-US" dirty="0" smtClean="0"/>
              <a:t>出输入串</a:t>
            </a:r>
            <a:r>
              <a:rPr lang="en-US" altLang="zh-CN" dirty="0" smtClean="0"/>
              <a:t>r 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是一种</a:t>
            </a:r>
            <a:r>
              <a:rPr lang="zh-CN" altLang="en-US" dirty="0">
                <a:solidFill>
                  <a:srgbClr val="FF0000"/>
                </a:solidFill>
              </a:rPr>
              <a:t>产生的方法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面向目标</a:t>
            </a:r>
            <a:r>
              <a:rPr lang="zh-CN" altLang="en-US" dirty="0"/>
              <a:t>的方法。</a:t>
            </a:r>
            <a:endParaRPr lang="en-US" altLang="zh-CN" dirty="0"/>
          </a:p>
          <a:p>
            <a:r>
              <a:rPr lang="zh-CN" altLang="en-US" dirty="0"/>
              <a:t>自底向上分析方法</a:t>
            </a:r>
            <a:endParaRPr lang="en-US" altLang="zh-CN" baseline="30000" dirty="0"/>
          </a:p>
          <a:p>
            <a:pPr lvl="1"/>
            <a:r>
              <a:rPr lang="zh-CN" altLang="en-US" dirty="0" smtClean="0"/>
              <a:t>从</a:t>
            </a:r>
            <a:r>
              <a:rPr lang="zh-CN" altLang="en-US" dirty="0">
                <a:solidFill>
                  <a:srgbClr val="FF0000"/>
                </a:solidFill>
              </a:rPr>
              <a:t>给定的输入串</a:t>
            </a:r>
            <a:r>
              <a:rPr lang="en-US" altLang="zh-CN" dirty="0">
                <a:solidFill>
                  <a:srgbClr val="FF0000"/>
                </a:solidFill>
              </a:rPr>
              <a:t>r</a:t>
            </a:r>
            <a:r>
              <a:rPr lang="zh-CN" altLang="en-US" dirty="0">
                <a:solidFill>
                  <a:srgbClr val="FF0000"/>
                </a:solidFill>
              </a:rPr>
              <a:t>开始</a:t>
            </a:r>
            <a:r>
              <a:rPr lang="zh-CN" altLang="en-US" dirty="0"/>
              <a:t>，不断寻找子串与文法</a:t>
            </a:r>
            <a:r>
              <a:rPr lang="en-US" altLang="zh-CN" dirty="0"/>
              <a:t>G</a:t>
            </a:r>
            <a:r>
              <a:rPr lang="zh-CN" altLang="en-US" dirty="0"/>
              <a:t>中某个产生式</a:t>
            </a:r>
            <a:r>
              <a:rPr lang="en-US" altLang="zh-CN" dirty="0"/>
              <a:t>P</a:t>
            </a:r>
            <a:r>
              <a:rPr lang="zh-CN" altLang="en-US" dirty="0"/>
              <a:t>的候选式进行匹配，并用</a:t>
            </a:r>
            <a:r>
              <a:rPr lang="en-US" altLang="zh-CN" dirty="0"/>
              <a:t>P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左部代替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归约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zh-CN" altLang="en-US" dirty="0"/>
              <a:t>之，逐步归约到开始符号</a:t>
            </a:r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是一种</a:t>
            </a:r>
            <a:r>
              <a:rPr lang="zh-CN" altLang="en-US" dirty="0">
                <a:solidFill>
                  <a:srgbClr val="FF0000"/>
                </a:solidFill>
              </a:rPr>
              <a:t>辨认的方法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基于目标</a:t>
            </a:r>
            <a:r>
              <a:rPr lang="zh-CN" altLang="en-US" dirty="0"/>
              <a:t>的方法。</a:t>
            </a:r>
          </a:p>
          <a:p>
            <a:pPr lvl="1"/>
            <a:endParaRPr lang="en-US" altLang="zh-CN" baseline="300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645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1" dirty="0"/>
              <a:t>第四</a:t>
            </a:r>
            <a:r>
              <a:rPr lang="zh-CN" altLang="en-US" sz="3600" b="1" dirty="0" smtClean="0"/>
              <a:t>章   自顶向下</a:t>
            </a:r>
            <a:r>
              <a:rPr lang="zh-CN" altLang="en-US" sz="3600" b="1" dirty="0"/>
              <a:t>分析</a:t>
            </a:r>
            <a:r>
              <a:rPr lang="zh-CN" altLang="en-US" sz="3600" b="1" dirty="0" smtClean="0"/>
              <a:t>法</a:t>
            </a:r>
            <a:endParaRPr lang="zh-CN" altLang="en-US" sz="3600" b="1" dirty="0"/>
          </a:p>
        </p:txBody>
      </p:sp>
      <p:sp>
        <p:nvSpPr>
          <p:cNvPr id="132099" name="Text Box 3"/>
          <p:cNvSpPr txBox="1">
            <a:spLocks noChangeArrowheads="1"/>
          </p:cNvSpPr>
          <p:nvPr/>
        </p:nvSpPr>
        <p:spPr bwMode="auto">
          <a:xfrm>
            <a:off x="251466" y="1268733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FF"/>
                </a:solidFill>
                <a:latin typeface="Courier New" pitchFamily="49" charset="0"/>
                <a:ea typeface="幼圆" pitchFamily="49" charset="-122"/>
              </a:rPr>
              <a:t>一、语法分析方法</a:t>
            </a:r>
          </a:p>
        </p:txBody>
      </p:sp>
      <p:sp>
        <p:nvSpPr>
          <p:cNvPr id="132100" name="Text Box 4"/>
          <p:cNvSpPr txBox="1">
            <a:spLocks noChangeArrowheads="1"/>
          </p:cNvSpPr>
          <p:nvPr/>
        </p:nvSpPr>
        <p:spPr bwMode="auto">
          <a:xfrm>
            <a:off x="609600" y="3786503"/>
            <a:ext cx="33528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自顶向下</a:t>
            </a:r>
            <a:r>
              <a:rPr kumimoji="1"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分析法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sz="2000" b="1" dirty="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</p:txBody>
      </p:sp>
      <p:sp>
        <p:nvSpPr>
          <p:cNvPr id="132101" name="AutoShape 5"/>
          <p:cNvSpPr>
            <a:spLocks/>
          </p:cNvSpPr>
          <p:nvPr/>
        </p:nvSpPr>
        <p:spPr bwMode="auto">
          <a:xfrm>
            <a:off x="2590800" y="3481703"/>
            <a:ext cx="609600" cy="1066800"/>
          </a:xfrm>
          <a:prstGeom prst="leftBrace">
            <a:avLst>
              <a:gd name="adj1" fmla="val 14583"/>
              <a:gd name="adj2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</p:txBody>
      </p:sp>
      <p:sp>
        <p:nvSpPr>
          <p:cNvPr id="132102" name="Rectangle 6"/>
          <p:cNvSpPr>
            <a:spLocks noChangeArrowheads="1"/>
          </p:cNvSpPr>
          <p:nvPr/>
        </p:nvSpPr>
        <p:spPr bwMode="auto">
          <a:xfrm>
            <a:off x="3200400" y="3253103"/>
            <a:ext cx="33528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确定的</a:t>
            </a:r>
            <a:r>
              <a:rPr kumimoji="1" lang="zh-CN" altLang="en-US" sz="20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自顶向下</a:t>
            </a:r>
            <a:r>
              <a:rPr kumimoji="1"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分析法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sz="2000" b="1" dirty="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非确定的</a:t>
            </a:r>
            <a:r>
              <a:rPr kumimoji="1" lang="zh-CN" altLang="en-US" sz="20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自顶向下</a:t>
            </a:r>
            <a:r>
              <a:rPr kumimoji="1"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分析法</a:t>
            </a:r>
            <a:br>
              <a:rPr kumimoji="1"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</a:br>
            <a:r>
              <a:rPr kumimoji="1"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(</a:t>
            </a:r>
            <a:r>
              <a:rPr kumimoji="1"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带</a:t>
            </a:r>
            <a:r>
              <a:rPr kumimoji="1" lang="zh-CN" altLang="en-US" sz="20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回溯</a:t>
            </a:r>
            <a:r>
              <a:rPr kumimoji="1"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的</a:t>
            </a:r>
            <a:r>
              <a:rPr kumimoji="1" lang="zh-CN" altLang="en-US" sz="20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自顶向下</a:t>
            </a:r>
            <a:r>
              <a:rPr kumimoji="1"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分析法</a:t>
            </a:r>
            <a:r>
              <a:rPr kumimoji="1"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)</a:t>
            </a:r>
          </a:p>
        </p:txBody>
      </p:sp>
      <p:sp>
        <p:nvSpPr>
          <p:cNvPr id="132103" name="Rectangle 7"/>
          <p:cNvSpPr>
            <a:spLocks noChangeArrowheads="1"/>
          </p:cNvSpPr>
          <p:nvPr/>
        </p:nvSpPr>
        <p:spPr bwMode="auto">
          <a:xfrm>
            <a:off x="6629400" y="2872103"/>
            <a:ext cx="205740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递归下降分析法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000" b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/>
            </a:r>
            <a:br>
              <a:rPr kumimoji="1" lang="zh-CN" altLang="en-US" sz="2000" b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</a:br>
            <a:r>
              <a:rPr kumimoji="1" lang="zh-CN" altLang="en-US" sz="2000" b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预测分析法</a:t>
            </a:r>
          </a:p>
        </p:txBody>
      </p:sp>
      <p:sp>
        <p:nvSpPr>
          <p:cNvPr id="132104" name="AutoShape 8"/>
          <p:cNvSpPr>
            <a:spLocks/>
          </p:cNvSpPr>
          <p:nvPr/>
        </p:nvSpPr>
        <p:spPr bwMode="auto">
          <a:xfrm>
            <a:off x="5943600" y="2948303"/>
            <a:ext cx="609600" cy="1066800"/>
          </a:xfrm>
          <a:prstGeom prst="leftBrace">
            <a:avLst>
              <a:gd name="adj1" fmla="val 14583"/>
              <a:gd name="adj2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781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4.1 </a:t>
            </a:r>
            <a:r>
              <a:rPr lang="zh-CN" altLang="en-US" dirty="0" smtClean="0"/>
              <a:t>确定的自顶向下分析思想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862499"/>
            <a:ext cx="8218487" cy="5113338"/>
          </a:xfrm>
        </p:spPr>
        <p:txBody>
          <a:bodyPr/>
          <a:lstStyle/>
          <a:p>
            <a:r>
              <a:rPr lang="zh-CN" altLang="en-US" dirty="0" smtClean="0"/>
              <a:t>三个例子：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1045112" y="1467513"/>
            <a:ext cx="8004964" cy="2224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8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00088" indent="-3429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400" kern="1200">
                <a:solidFill>
                  <a:srgbClr val="7030A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/>
              <a:t>例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每个产生的</a:t>
            </a:r>
            <a:r>
              <a:rPr lang="zh-CN" altLang="en-US" dirty="0" smtClean="0">
                <a:solidFill>
                  <a:srgbClr val="FF0000"/>
                </a:solidFill>
              </a:rPr>
              <a:t>右部</a:t>
            </a:r>
            <a:r>
              <a:rPr lang="zh-CN" altLang="en-US" dirty="0" smtClean="0"/>
              <a:t>都是由</a:t>
            </a:r>
            <a:r>
              <a:rPr lang="zh-CN" altLang="en-US" dirty="0" smtClean="0">
                <a:solidFill>
                  <a:srgbClr val="FF0000"/>
                </a:solidFill>
              </a:rPr>
              <a:t>终结符号</a:t>
            </a:r>
            <a:r>
              <a:rPr lang="zh-CN" altLang="en-US" dirty="0" smtClean="0"/>
              <a:t>开始。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如果两个产生式有</a:t>
            </a:r>
            <a:r>
              <a:rPr lang="zh-CN" altLang="en-US" dirty="0" smtClean="0">
                <a:solidFill>
                  <a:srgbClr val="FF0000"/>
                </a:solidFill>
              </a:rPr>
              <a:t>相同的左部</a:t>
            </a:r>
            <a:r>
              <a:rPr lang="zh-CN" altLang="en-US" dirty="0" smtClean="0"/>
              <a:t>，那么它们的</a:t>
            </a:r>
            <a:r>
              <a:rPr lang="zh-CN" altLang="en-US" dirty="0" smtClean="0">
                <a:solidFill>
                  <a:srgbClr val="FF0000"/>
                </a:solidFill>
              </a:rPr>
              <a:t>右部</a:t>
            </a:r>
            <a:r>
              <a:rPr lang="zh-CN" altLang="en-US" dirty="0" smtClean="0"/>
              <a:t>由</a:t>
            </a:r>
            <a:r>
              <a:rPr lang="zh-CN" altLang="en-US" dirty="0" smtClean="0">
                <a:solidFill>
                  <a:srgbClr val="FF0000"/>
                </a:solidFill>
              </a:rPr>
              <a:t>不同的终结符</a:t>
            </a:r>
            <a:r>
              <a:rPr lang="zh-CN" altLang="en-US" dirty="0" smtClean="0"/>
              <a:t>开始。</a:t>
            </a:r>
            <a:endParaRPr lang="zh-CN" altLang="en-US" dirty="0"/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1045112" y="3532871"/>
            <a:ext cx="8004964" cy="2224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8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00088" indent="-3429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400" kern="1200">
                <a:solidFill>
                  <a:srgbClr val="7030A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/>
              <a:t>例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en-US" altLang="zh-CN" dirty="0"/>
              <a:t>1,</a:t>
            </a:r>
            <a:r>
              <a:rPr lang="zh-CN" altLang="en-US" dirty="0"/>
              <a:t>产生式右部不全由终结符开始。</a:t>
            </a:r>
          </a:p>
          <a:p>
            <a:pPr lvl="1"/>
            <a:r>
              <a:rPr lang="en-US" altLang="zh-CN" dirty="0"/>
              <a:t>2,</a:t>
            </a:r>
            <a:r>
              <a:rPr lang="zh-CN" altLang="en-US" dirty="0"/>
              <a:t>相同左部的产生式其右部由不同终结符或非终结符开始。</a:t>
            </a:r>
          </a:p>
          <a:p>
            <a:pPr lvl="1"/>
            <a:r>
              <a:rPr lang="en-US" altLang="zh-CN" dirty="0"/>
              <a:t>3,</a:t>
            </a:r>
            <a:r>
              <a:rPr lang="zh-CN" altLang="en-US" dirty="0"/>
              <a:t>文法无空产生式。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971555" y="5933667"/>
            <a:ext cx="8004964" cy="924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8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00088" indent="-3429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400" kern="1200">
                <a:solidFill>
                  <a:srgbClr val="7030A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/>
              <a:t>例</a:t>
            </a:r>
            <a:r>
              <a:rPr lang="en-US" altLang="zh-CN" dirty="0" smtClean="0"/>
              <a:t>3</a:t>
            </a:r>
            <a:r>
              <a:rPr lang="zh-CN" altLang="en-US" dirty="0" smtClean="0"/>
              <a:t>：引入了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首符号集</a:t>
            </a: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FIRST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非终结符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后跟符号集</a:t>
            </a:r>
            <a:r>
              <a:rPr lang="en-US" altLang="zh-CN" dirty="0" smtClean="0">
                <a:solidFill>
                  <a:srgbClr val="99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FOLLOW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948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定义：首符号集</a:t>
            </a:r>
            <a:r>
              <a:rPr lang="en-US" altLang="zh-CN" dirty="0"/>
              <a:t>FIRST</a:t>
            </a:r>
            <a:endParaRPr lang="zh-CN" altLang="en-US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827088" y="1268733"/>
            <a:ext cx="7777162" cy="2303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00088" indent="-3429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400" b="1" kern="1200">
                <a:solidFill>
                  <a:srgbClr val="7030A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dirty="0" smtClean="0"/>
              <a:t>设</a:t>
            </a:r>
            <a:r>
              <a:rPr lang="en-US" altLang="zh-CN" dirty="0" smtClean="0"/>
              <a:t>G=（V</a:t>
            </a:r>
            <a:r>
              <a:rPr lang="en-US" altLang="zh-CN" sz="1800" dirty="0" smtClean="0"/>
              <a:t>N</a:t>
            </a:r>
            <a:r>
              <a:rPr lang="en-US" altLang="zh-CN" dirty="0" smtClean="0"/>
              <a:t>、V</a:t>
            </a:r>
            <a:r>
              <a:rPr lang="en-US" altLang="zh-CN" sz="1800" dirty="0" smtClean="0"/>
              <a:t>T</a:t>
            </a:r>
            <a:r>
              <a:rPr lang="en-US" altLang="zh-CN" dirty="0" smtClean="0"/>
              <a:t>、P、S）</a:t>
            </a:r>
            <a:r>
              <a:rPr lang="zh-CN" altLang="en-US" dirty="0" smtClean="0"/>
              <a:t>是上下文无关文法，则该文法的</a:t>
            </a:r>
            <a:r>
              <a:rPr lang="zh-CN" altLang="en-US" dirty="0" smtClean="0">
                <a:solidFill>
                  <a:srgbClr val="FF0000"/>
                </a:solidFill>
              </a:rPr>
              <a:t>符号串</a:t>
            </a:r>
            <a:r>
              <a:rPr lang="zh-CN" altLang="en-US" dirty="0" smtClean="0">
                <a:solidFill>
                  <a:srgbClr val="FF0000"/>
                </a:solidFill>
                <a:sym typeface="Symbol" pitchFamily="18" charset="2"/>
              </a:rPr>
              <a:t></a:t>
            </a:r>
            <a:r>
              <a:rPr lang="zh-CN" altLang="en-US" dirty="0" smtClean="0">
                <a:sym typeface="Symbol" pitchFamily="18" charset="2"/>
              </a:rPr>
              <a:t>的</a:t>
            </a:r>
            <a:r>
              <a:rPr lang="zh-CN" altLang="en-US" dirty="0" smtClean="0">
                <a:solidFill>
                  <a:srgbClr val="FF0000"/>
                </a:solidFill>
                <a:sym typeface="Symbol" pitchFamily="18" charset="2"/>
              </a:rPr>
              <a:t>开始符号集</a:t>
            </a:r>
            <a:r>
              <a:rPr lang="zh-CN" altLang="en-US" dirty="0" smtClean="0">
                <a:sym typeface="Symbol" pitchFamily="18" charset="2"/>
              </a:rPr>
              <a:t>为：</a:t>
            </a:r>
          </a:p>
          <a:p>
            <a:pPr lvl="1">
              <a:lnSpc>
                <a:spcPct val="13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FIRST（ </a:t>
            </a:r>
            <a:r>
              <a:rPr lang="zh-CN" altLang="en-US" dirty="0" smtClean="0">
                <a:solidFill>
                  <a:srgbClr val="FF0000"/>
                </a:solidFill>
                <a:sym typeface="Symbol" pitchFamily="18" charset="2"/>
              </a:rPr>
              <a:t></a:t>
            </a:r>
            <a:r>
              <a:rPr lang="en-US" altLang="zh-CN" dirty="0" smtClean="0">
                <a:solidFill>
                  <a:srgbClr val="FF0000"/>
                </a:solidFill>
              </a:rPr>
              <a:t> ）</a:t>
            </a:r>
            <a:r>
              <a:rPr lang="en-US" altLang="zh-CN" dirty="0"/>
              <a:t>={</a:t>
            </a:r>
            <a:r>
              <a:rPr lang="en-US" altLang="zh-CN" dirty="0" smtClean="0"/>
              <a:t>a| </a:t>
            </a:r>
            <a:r>
              <a:rPr lang="zh-CN" altLang="en-US" dirty="0" smtClean="0">
                <a:sym typeface="Symbol" pitchFamily="18" charset="2"/>
              </a:rPr>
              <a:t>  </a:t>
            </a:r>
            <a:r>
              <a:rPr lang="en-US" altLang="zh-CN" baseline="30000" dirty="0" smtClean="0">
                <a:sym typeface="Symbol" pitchFamily="18" charset="2"/>
              </a:rPr>
              <a:t>*</a:t>
            </a:r>
            <a:r>
              <a:rPr lang="zh-CN" altLang="en-US" dirty="0" smtClean="0">
                <a:sym typeface="Symbol" pitchFamily="18" charset="2"/>
              </a:rPr>
              <a:t>   </a:t>
            </a:r>
            <a:r>
              <a:rPr lang="en-US" altLang="zh-CN" dirty="0" smtClean="0"/>
              <a:t>a</a:t>
            </a:r>
            <a:r>
              <a:rPr lang="en-US" altLang="zh-CN" dirty="0" smtClean="0">
                <a:sym typeface="Symbol" pitchFamily="18" charset="2"/>
              </a:rPr>
              <a:t>，</a:t>
            </a:r>
            <a:r>
              <a:rPr lang="en-US" altLang="zh-CN" dirty="0" err="1" smtClean="0"/>
              <a:t>a</a:t>
            </a:r>
            <a:r>
              <a:rPr lang="en-US" altLang="zh-CN" dirty="0" err="1" smtClean="0">
                <a:sym typeface="Symbol" pitchFamily="18" charset="2"/>
              </a:rPr>
              <a:t></a:t>
            </a:r>
            <a:r>
              <a:rPr lang="en-US" altLang="zh-CN" dirty="0" err="1" smtClean="0"/>
              <a:t>V</a:t>
            </a:r>
            <a:r>
              <a:rPr lang="en-US" altLang="zh-CN" sz="1600" dirty="0" err="1" smtClean="0"/>
              <a:t>T</a:t>
            </a:r>
            <a:r>
              <a:rPr lang="en-US" altLang="zh-CN" dirty="0" smtClean="0">
                <a:sym typeface="Symbol" pitchFamily="18" charset="2"/>
              </a:rPr>
              <a:t>，</a:t>
            </a:r>
            <a:r>
              <a:rPr lang="zh-CN" altLang="en-US" dirty="0" smtClean="0">
                <a:sym typeface="Symbol" pitchFamily="18" charset="2"/>
              </a:rPr>
              <a:t>、</a:t>
            </a:r>
            <a:r>
              <a:rPr lang="en-US" altLang="zh-CN" dirty="0" smtClean="0">
                <a:sym typeface="Symbol" pitchFamily="18" charset="2"/>
              </a:rPr>
              <a:t>V</a:t>
            </a:r>
            <a:r>
              <a:rPr lang="en-US" altLang="zh-CN" baseline="30000" dirty="0" smtClean="0">
                <a:sym typeface="Symbol" pitchFamily="18" charset="2"/>
              </a:rPr>
              <a:t>*</a:t>
            </a:r>
            <a:r>
              <a:rPr lang="en-US" altLang="zh-CN" dirty="0" smtClean="0"/>
              <a:t>}</a:t>
            </a:r>
          </a:p>
          <a:p>
            <a:pPr lvl="1">
              <a:lnSpc>
                <a:spcPct val="130000"/>
              </a:lnSpc>
            </a:pPr>
            <a:r>
              <a:rPr lang="zh-CN" altLang="en-US" dirty="0" smtClean="0"/>
              <a:t>若</a:t>
            </a:r>
            <a:r>
              <a:rPr lang="zh-CN" altLang="en-US" dirty="0" smtClean="0">
                <a:sym typeface="Symbol" pitchFamily="18" charset="2"/>
              </a:rPr>
              <a:t>  </a:t>
            </a:r>
            <a:r>
              <a:rPr lang="en-US" altLang="zh-CN" baseline="30000" dirty="0" smtClean="0">
                <a:sym typeface="Symbol" pitchFamily="18" charset="2"/>
              </a:rPr>
              <a:t>*</a:t>
            </a:r>
            <a:r>
              <a:rPr lang="zh-CN" altLang="en-US" dirty="0" smtClean="0">
                <a:sym typeface="Symbol" pitchFamily="18" charset="2"/>
              </a:rPr>
              <a:t>   ，则 </a:t>
            </a:r>
            <a:r>
              <a:rPr lang="zh-CN" altLang="en-US" dirty="0" smtClean="0">
                <a:solidFill>
                  <a:srgbClr val="FF0000"/>
                </a:solidFill>
                <a:sym typeface="Symbol" pitchFamily="18" charset="2"/>
              </a:rPr>
              <a:t> </a:t>
            </a:r>
            <a:r>
              <a:rPr lang="en-US" altLang="zh-CN" dirty="0" smtClean="0">
                <a:solidFill>
                  <a:srgbClr val="FF0000"/>
                </a:solidFill>
                <a:sym typeface="Symbol" pitchFamily="18" charset="2"/>
              </a:rPr>
              <a:t> </a:t>
            </a:r>
            <a:r>
              <a:rPr lang="en-US" altLang="zh-CN" dirty="0" smtClean="0">
                <a:solidFill>
                  <a:srgbClr val="FF0000"/>
                </a:solidFill>
              </a:rPr>
              <a:t>FIRST（ </a:t>
            </a:r>
            <a:r>
              <a:rPr lang="zh-CN" altLang="en-US" dirty="0" smtClean="0">
                <a:solidFill>
                  <a:srgbClr val="FF0000"/>
                </a:solidFill>
                <a:sym typeface="Symbol" pitchFamily="18" charset="2"/>
              </a:rPr>
              <a:t></a:t>
            </a:r>
            <a:r>
              <a:rPr lang="en-US" altLang="zh-CN" dirty="0" smtClean="0">
                <a:solidFill>
                  <a:srgbClr val="FF0000"/>
                </a:solidFill>
              </a:rPr>
              <a:t> ）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endParaRPr lang="zh-CN" altLang="en-US" b="0" dirty="0" smtClean="0"/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4483100" y="2780033"/>
            <a:ext cx="304800" cy="76200"/>
          </a:xfrm>
          <a:prstGeom prst="rightArrow">
            <a:avLst>
              <a:gd name="adj1" fmla="val 50000"/>
              <a:gd name="adj2" fmla="val 1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2174876" y="3289621"/>
            <a:ext cx="304800" cy="76200"/>
          </a:xfrm>
          <a:prstGeom prst="rightArrow">
            <a:avLst>
              <a:gd name="adj1" fmla="val 50000"/>
              <a:gd name="adj2" fmla="val 1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827088" y="3578057"/>
            <a:ext cx="7848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3333CC"/>
                </a:solidFill>
                <a:latin typeface="Arial" pitchFamily="34" charset="0"/>
              </a:rPr>
              <a:t>称</a:t>
            </a:r>
            <a:r>
              <a:rPr lang="en-US" altLang="zh-CN" sz="2800" b="1" dirty="0">
                <a:solidFill>
                  <a:srgbClr val="3333CC"/>
                </a:solidFill>
                <a:latin typeface="Arial" pitchFamily="34" charset="0"/>
              </a:rPr>
              <a:t>FIRST(α) </a:t>
            </a:r>
            <a:r>
              <a:rPr lang="zh-CN" altLang="en-US" sz="2800" b="1" dirty="0">
                <a:solidFill>
                  <a:srgbClr val="3333CC"/>
                </a:solidFill>
                <a:latin typeface="Arial" pitchFamily="34" charset="0"/>
              </a:rPr>
              <a:t>为</a:t>
            </a:r>
            <a:r>
              <a:rPr lang="en-US" altLang="zh-CN" sz="2800" b="1" dirty="0">
                <a:solidFill>
                  <a:srgbClr val="3333CC"/>
                </a:solidFill>
                <a:latin typeface="Arial" pitchFamily="34" charset="0"/>
              </a:rPr>
              <a:t>α</a:t>
            </a:r>
            <a:r>
              <a:rPr lang="zh-CN" altLang="en-US" sz="2800" b="1" dirty="0">
                <a:solidFill>
                  <a:srgbClr val="3333CC"/>
                </a:solidFill>
                <a:latin typeface="Arial" pitchFamily="34" charset="0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Arial" pitchFamily="34" charset="0"/>
              </a:rPr>
              <a:t>开始符号集</a:t>
            </a:r>
            <a:r>
              <a:rPr lang="zh-CN" altLang="en-US" sz="2800" b="1" dirty="0">
                <a:solidFill>
                  <a:srgbClr val="3333CC"/>
                </a:solidFill>
                <a:latin typeface="Arial" pitchFamily="34" charset="0"/>
              </a:rPr>
              <a:t>或</a:t>
            </a:r>
            <a:r>
              <a:rPr lang="zh-CN" altLang="en-US" sz="2800" b="1" dirty="0">
                <a:solidFill>
                  <a:srgbClr val="FF0000"/>
                </a:solidFill>
                <a:latin typeface="Arial" pitchFamily="34" charset="0"/>
              </a:rPr>
              <a:t>首字符集</a:t>
            </a:r>
            <a:r>
              <a:rPr lang="zh-CN" altLang="en-US" sz="2800" b="1" dirty="0">
                <a:solidFill>
                  <a:srgbClr val="3333CC"/>
                </a:solidFill>
                <a:latin typeface="Arial" pitchFamily="34" charset="0"/>
              </a:rPr>
              <a:t>。</a:t>
            </a:r>
            <a:endParaRPr lang="en-US" altLang="zh-CN" sz="2800" b="1" dirty="0">
              <a:solidFill>
                <a:srgbClr val="3333CC"/>
              </a:solidFill>
              <a:latin typeface="宋体" pitchFamily="2" charset="-122"/>
              <a:sym typeface="Symbol" pitchFamily="18" charset="2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251466" y="4869178"/>
            <a:ext cx="8424222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kumimoji="1"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Arial" charset="0"/>
              </a:rPr>
              <a:t>设</a:t>
            </a:r>
            <a:r>
              <a:rPr lang="en-US" altLang="zh-CN" sz="2800" b="1" dirty="0">
                <a:solidFill>
                  <a:srgbClr val="0000FF"/>
                </a:solidFill>
                <a:latin typeface="Arial" charset="0"/>
              </a:rPr>
              <a:t>α</a:t>
            </a:r>
            <a:r>
              <a:rPr lang="zh-CN" altLang="en-US" sz="2800" b="1" dirty="0">
                <a:solidFill>
                  <a:srgbClr val="0000FF"/>
                </a:solidFill>
                <a:latin typeface="Arial" charset="0"/>
              </a:rPr>
              <a:t>是文法</a:t>
            </a:r>
            <a:r>
              <a:rPr lang="en-US" altLang="zh-CN" sz="2800" b="1" dirty="0">
                <a:solidFill>
                  <a:srgbClr val="0000FF"/>
                </a:solidFill>
                <a:latin typeface="Arial" charset="0"/>
              </a:rPr>
              <a:t>G</a:t>
            </a:r>
            <a:r>
              <a:rPr lang="zh-CN" altLang="en-US" sz="2800" b="1" dirty="0">
                <a:solidFill>
                  <a:srgbClr val="0000FF"/>
                </a:solidFill>
                <a:latin typeface="Arial" charset="0"/>
              </a:rPr>
              <a:t>的任一符号串，定义</a:t>
            </a:r>
            <a:r>
              <a:rPr lang="en-US" altLang="zh-CN" sz="2800" b="1" dirty="0">
                <a:solidFill>
                  <a:srgbClr val="0000FF"/>
                </a:solidFill>
                <a:latin typeface="Arial" charset="0"/>
              </a:rPr>
              <a:t>α</a:t>
            </a:r>
            <a:r>
              <a:rPr lang="zh-CN" altLang="en-US" sz="2800" b="1" dirty="0">
                <a:solidFill>
                  <a:srgbClr val="0000FF"/>
                </a:solidFill>
                <a:latin typeface="Arial" charset="0"/>
              </a:rPr>
              <a:t>的首符号</a:t>
            </a:r>
            <a:r>
              <a:rPr lang="zh-CN" altLang="en-US" sz="2800" b="1" dirty="0" smtClean="0">
                <a:solidFill>
                  <a:srgbClr val="0000FF"/>
                </a:solidFill>
                <a:latin typeface="Arial" charset="0"/>
              </a:rPr>
              <a:t>集</a:t>
            </a:r>
            <a:r>
              <a:rPr lang="en-US" altLang="zh-CN" sz="2800" b="1" dirty="0" smtClean="0">
                <a:solidFill>
                  <a:srgbClr val="0000FF"/>
                </a:solidFill>
                <a:latin typeface="Arial" charset="0"/>
              </a:rPr>
              <a:t>FIRST(α</a:t>
            </a:r>
            <a:r>
              <a:rPr lang="en-US" altLang="zh-CN" sz="2800" b="1" dirty="0">
                <a:solidFill>
                  <a:srgbClr val="0000FF"/>
                </a:solidFill>
                <a:latin typeface="Arial" charset="0"/>
              </a:rPr>
              <a:t>)</a:t>
            </a:r>
            <a:r>
              <a:rPr lang="zh-CN" altLang="en-US" sz="2800" b="1" dirty="0">
                <a:solidFill>
                  <a:srgbClr val="0000FF"/>
                </a:solidFill>
                <a:latin typeface="Arial" charset="0"/>
              </a:rPr>
              <a:t>是由</a:t>
            </a:r>
            <a:r>
              <a:rPr lang="en-US" altLang="zh-CN" sz="2800" b="1" dirty="0">
                <a:solidFill>
                  <a:srgbClr val="0000FF"/>
                </a:solidFill>
                <a:latin typeface="Arial" charset="0"/>
              </a:rPr>
              <a:t>α</a:t>
            </a:r>
            <a:r>
              <a:rPr lang="zh-CN" altLang="en-US" sz="2800" b="1" dirty="0">
                <a:solidFill>
                  <a:srgbClr val="0000FF"/>
                </a:solidFill>
                <a:latin typeface="Arial" charset="0"/>
              </a:rPr>
              <a:t>推导出来</a:t>
            </a:r>
            <a:r>
              <a:rPr lang="zh-CN" altLang="en-US" sz="2800" b="1" dirty="0" smtClean="0">
                <a:solidFill>
                  <a:srgbClr val="0000FF"/>
                </a:solidFill>
                <a:latin typeface="Arial" charset="0"/>
              </a:rPr>
              <a:t>的</a:t>
            </a:r>
            <a:r>
              <a:rPr lang="zh-CN" altLang="en-US" sz="2800" b="1" dirty="0" smtClean="0">
                <a:solidFill>
                  <a:srgbClr val="FF0000"/>
                </a:solidFill>
                <a:latin typeface="Arial" charset="0"/>
              </a:rPr>
              <a:t>符号串</a:t>
            </a:r>
            <a:r>
              <a:rPr lang="zh-CN" altLang="en-US" sz="2800" b="1" dirty="0">
                <a:solidFill>
                  <a:srgbClr val="0000FF"/>
                </a:solidFill>
                <a:latin typeface="Arial" charset="0"/>
              </a:rPr>
              <a:t>中作为</a:t>
            </a:r>
            <a:r>
              <a:rPr lang="zh-CN" altLang="en-US" sz="2800" b="1" dirty="0">
                <a:solidFill>
                  <a:srgbClr val="FF0000"/>
                </a:solidFill>
                <a:latin typeface="Arial" charset="0"/>
              </a:rPr>
              <a:t>第一个符号</a:t>
            </a:r>
            <a:r>
              <a:rPr lang="zh-CN" altLang="en-US" sz="2800" b="1" dirty="0">
                <a:solidFill>
                  <a:srgbClr val="0000FF"/>
                </a:solidFill>
                <a:latin typeface="Arial" charset="0"/>
              </a:rPr>
              <a:t>的所有</a:t>
            </a:r>
            <a:r>
              <a:rPr lang="zh-CN" altLang="en-US" sz="2800" b="1" dirty="0">
                <a:solidFill>
                  <a:srgbClr val="FF0000"/>
                </a:solidFill>
                <a:latin typeface="Arial" charset="0"/>
              </a:rPr>
              <a:t>终结符</a:t>
            </a:r>
            <a:r>
              <a:rPr lang="zh-CN" altLang="en-US" sz="2800" b="1" dirty="0">
                <a:solidFill>
                  <a:srgbClr val="0000FF"/>
                </a:solidFill>
                <a:latin typeface="Arial" charset="0"/>
              </a:rPr>
              <a:t>的集合；如果</a:t>
            </a:r>
            <a:r>
              <a:rPr lang="en-US" altLang="zh-CN" sz="2800" b="1" dirty="0">
                <a:solidFill>
                  <a:srgbClr val="0000FF"/>
                </a:solidFill>
                <a:latin typeface="Arial" charset="0"/>
              </a:rPr>
              <a:t>α</a:t>
            </a:r>
            <a:r>
              <a:rPr lang="en-US" altLang="zh-CN" sz="2800" b="1" dirty="0">
                <a:solidFill>
                  <a:srgbClr val="0000FF"/>
                </a:solidFill>
                <a:latin typeface="宋体" charset="-122"/>
                <a:sym typeface="Symbol" pitchFamily="18" charset="2"/>
              </a:rPr>
              <a:t></a:t>
            </a:r>
            <a:r>
              <a:rPr lang="en-US" altLang="zh-CN" sz="2800" b="1" baseline="30000" dirty="0">
                <a:solidFill>
                  <a:srgbClr val="0000FF"/>
                </a:solidFill>
              </a:rPr>
              <a:t>*</a:t>
            </a:r>
            <a:r>
              <a:rPr lang="en-US" altLang="zh-CN" sz="2800" b="1" dirty="0">
                <a:solidFill>
                  <a:srgbClr val="0000FF"/>
                </a:solidFill>
                <a:latin typeface="宋体" charset="-122"/>
                <a:sym typeface="Symbol" pitchFamily="18" charset="2"/>
              </a:rPr>
              <a:t>ε，</a:t>
            </a:r>
            <a:r>
              <a:rPr lang="zh-CN" altLang="en-US" sz="2800" b="1" dirty="0">
                <a:solidFill>
                  <a:srgbClr val="0000FF"/>
                </a:solidFill>
                <a:latin typeface="宋体" charset="-122"/>
                <a:sym typeface="Symbol" pitchFamily="18" charset="2"/>
              </a:rPr>
              <a:t>则</a:t>
            </a:r>
            <a:r>
              <a:rPr lang="en-US" altLang="zh-CN" sz="2800" b="1" dirty="0">
                <a:solidFill>
                  <a:srgbClr val="0000FF"/>
                </a:solidFill>
                <a:latin typeface="宋体" charset="-122"/>
                <a:sym typeface="Symbol" pitchFamily="18" charset="2"/>
              </a:rPr>
              <a:t>ε∈ </a:t>
            </a:r>
            <a:r>
              <a:rPr lang="en-US" altLang="zh-CN" sz="2800" b="1" dirty="0">
                <a:solidFill>
                  <a:srgbClr val="0000FF"/>
                </a:solidFill>
                <a:latin typeface="Arial" charset="0"/>
              </a:rPr>
              <a:t>FIRST(α</a:t>
            </a:r>
            <a:r>
              <a:rPr lang="en-US" altLang="zh-CN" sz="2800" b="1" dirty="0" smtClean="0">
                <a:solidFill>
                  <a:srgbClr val="0000FF"/>
                </a:solidFill>
                <a:latin typeface="Arial" charset="0"/>
              </a:rPr>
              <a:t>)</a:t>
            </a:r>
            <a:r>
              <a:rPr lang="zh-CN" altLang="en-US" sz="2800" b="1" dirty="0" smtClean="0">
                <a:solidFill>
                  <a:srgbClr val="0000FF"/>
                </a:solidFill>
                <a:latin typeface="Arial" charset="0"/>
              </a:rPr>
              <a:t>。</a:t>
            </a:r>
            <a:endParaRPr lang="en-US" altLang="zh-CN" sz="2800" b="1" dirty="0">
              <a:solidFill>
                <a:srgbClr val="0000FF"/>
              </a:solidFill>
              <a:latin typeface="宋体" charset="-122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01424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定义</a:t>
            </a:r>
            <a:r>
              <a:rPr lang="en-US" altLang="zh-CN" dirty="0" smtClean="0"/>
              <a:t>:</a:t>
            </a:r>
            <a:r>
              <a:rPr lang="zh-CN" altLang="en-US" dirty="0"/>
              <a:t>后跟符号</a:t>
            </a:r>
            <a:r>
              <a:rPr lang="zh-CN" altLang="en-US" dirty="0" smtClean="0"/>
              <a:t>集</a:t>
            </a:r>
            <a:r>
              <a:rPr lang="en-US" altLang="zh-CN" dirty="0" smtClean="0"/>
              <a:t>FOLLOW</a:t>
            </a:r>
            <a:endParaRPr lang="zh-CN" alt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914400" y="1268733"/>
            <a:ext cx="7848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00088" indent="-3429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400" b="1" kern="1200">
                <a:solidFill>
                  <a:srgbClr val="7030A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 smtClean="0"/>
              <a:t>设</a:t>
            </a:r>
            <a:r>
              <a:rPr lang="en-US" altLang="zh-CN" dirty="0" smtClean="0"/>
              <a:t>G=（V</a:t>
            </a:r>
            <a:r>
              <a:rPr lang="en-US" altLang="zh-CN" baseline="-25000" dirty="0" smtClean="0"/>
              <a:t>N</a:t>
            </a:r>
            <a:r>
              <a:rPr lang="en-US" altLang="zh-CN" dirty="0" smtClean="0"/>
              <a:t>、V</a:t>
            </a:r>
            <a:r>
              <a:rPr lang="en-US" altLang="zh-CN" baseline="-25000" dirty="0" smtClean="0"/>
              <a:t>T</a:t>
            </a:r>
            <a:r>
              <a:rPr lang="en-US" altLang="zh-CN" dirty="0" smtClean="0"/>
              <a:t>、P、S）</a:t>
            </a:r>
            <a:r>
              <a:rPr lang="zh-CN" altLang="en-US" dirty="0" smtClean="0"/>
              <a:t>是上下文无关文法，</a:t>
            </a:r>
            <a:r>
              <a:rPr lang="en-US" altLang="zh-CN" dirty="0" smtClean="0"/>
              <a:t>A</a:t>
            </a:r>
            <a:r>
              <a:rPr lang="en-US" altLang="zh-CN" dirty="0" smtClean="0">
                <a:sym typeface="Symbol" pitchFamily="18" charset="2"/>
              </a:rPr>
              <a:t></a:t>
            </a:r>
            <a:r>
              <a:rPr lang="en-US" altLang="zh-CN" dirty="0" smtClean="0"/>
              <a:t>V</a:t>
            </a:r>
            <a:r>
              <a:rPr lang="en-US" altLang="zh-CN" baseline="-25000" dirty="0" smtClean="0"/>
              <a:t>N</a:t>
            </a:r>
            <a:r>
              <a:rPr lang="en-US" altLang="zh-CN" dirty="0" smtClean="0"/>
              <a:t> ，S</a:t>
            </a:r>
            <a:r>
              <a:rPr lang="zh-CN" altLang="en-US" dirty="0" smtClean="0"/>
              <a:t>是开始符号，则文法符号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的后跟符号集为：</a:t>
            </a:r>
          </a:p>
          <a:p>
            <a:pPr lvl="1"/>
            <a:r>
              <a:rPr lang="en-US" altLang="zh-CN" dirty="0" smtClean="0"/>
              <a:t>FOLLOW（A）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 smtClean="0"/>
              <a:t>={</a:t>
            </a:r>
            <a:r>
              <a:rPr lang="en-US" altLang="zh-CN" dirty="0" err="1" smtClean="0"/>
              <a:t>a|S</a:t>
            </a:r>
            <a:r>
              <a:rPr lang="en-US" altLang="zh-CN" dirty="0" smtClean="0"/>
              <a:t> </a:t>
            </a:r>
            <a:r>
              <a:rPr lang="en-US" altLang="zh-CN" baseline="30000" dirty="0" smtClean="0">
                <a:sym typeface="Symbol" pitchFamily="18" charset="2"/>
              </a:rPr>
              <a:t>*</a:t>
            </a:r>
            <a:r>
              <a:rPr lang="en-US" altLang="zh-CN" dirty="0" smtClean="0">
                <a:sym typeface="Symbol" pitchFamily="18" charset="2"/>
              </a:rPr>
              <a:t>  A </a:t>
            </a:r>
            <a:r>
              <a:rPr lang="zh-CN" altLang="en-US" dirty="0" smtClean="0">
                <a:sym typeface="Symbol" pitchFamily="18" charset="2"/>
              </a:rPr>
              <a:t>且 </a:t>
            </a:r>
            <a:r>
              <a:rPr lang="en-US" altLang="zh-CN" dirty="0" err="1" smtClean="0"/>
              <a:t>a</a:t>
            </a:r>
            <a:r>
              <a:rPr lang="en-US" altLang="zh-CN" dirty="0" err="1" smtClean="0">
                <a:sym typeface="Symbol" pitchFamily="18" charset="2"/>
              </a:rPr>
              <a:t></a:t>
            </a:r>
            <a:r>
              <a:rPr lang="en-US" altLang="zh-CN" dirty="0" err="1" smtClean="0"/>
              <a:t>V</a:t>
            </a:r>
            <a:r>
              <a:rPr lang="en-US" altLang="zh-CN" baseline="-25000" dirty="0" err="1" smtClean="0"/>
              <a:t>T</a:t>
            </a:r>
            <a:r>
              <a:rPr lang="en-US" altLang="zh-CN" dirty="0" err="1" smtClean="0"/>
              <a:t>，a</a:t>
            </a:r>
            <a:r>
              <a:rPr lang="en-US" altLang="zh-CN" dirty="0" err="1" smtClean="0">
                <a:sym typeface="Symbol" pitchFamily="18" charset="2"/>
              </a:rPr>
              <a:t></a:t>
            </a:r>
            <a:r>
              <a:rPr lang="en-US" altLang="zh-CN" dirty="0" err="1" smtClean="0"/>
              <a:t>FIRST</a:t>
            </a:r>
            <a:r>
              <a:rPr lang="en-US" altLang="zh-CN" dirty="0" smtClean="0"/>
              <a:t>（</a:t>
            </a:r>
            <a:r>
              <a:rPr lang="en-US" altLang="zh-CN" dirty="0" smtClean="0">
                <a:sym typeface="Symbol" pitchFamily="18" charset="2"/>
              </a:rPr>
              <a:t></a:t>
            </a:r>
            <a:r>
              <a:rPr lang="en-US" altLang="zh-CN" dirty="0" smtClean="0"/>
              <a:t>），</a:t>
            </a:r>
            <a:r>
              <a:rPr lang="en-US" altLang="zh-CN" dirty="0" smtClean="0">
                <a:sym typeface="Symbol" pitchFamily="18" charset="2"/>
              </a:rPr>
              <a:t></a:t>
            </a:r>
            <a:r>
              <a:rPr lang="en-US" altLang="zh-CN" dirty="0" smtClean="0"/>
              <a:t>V</a:t>
            </a:r>
            <a:r>
              <a:rPr lang="en-US" altLang="zh-CN" baseline="-25000" dirty="0" smtClean="0"/>
              <a:t>T</a:t>
            </a:r>
            <a:r>
              <a:rPr lang="en-US" altLang="zh-CN" baseline="30000" dirty="0" smtClean="0"/>
              <a:t>*</a:t>
            </a:r>
            <a:r>
              <a:rPr lang="en-US" altLang="zh-CN" dirty="0" smtClean="0"/>
              <a:t>，</a:t>
            </a:r>
            <a:r>
              <a:rPr lang="en-US" altLang="zh-CN" dirty="0" smtClean="0">
                <a:sym typeface="Symbol" pitchFamily="18" charset="2"/>
              </a:rPr>
              <a:t></a:t>
            </a:r>
            <a:r>
              <a:rPr lang="en-US" altLang="zh-CN" dirty="0" smtClean="0"/>
              <a:t>V</a:t>
            </a:r>
            <a:r>
              <a:rPr lang="en-US" altLang="zh-CN" baseline="30000" dirty="0" smtClean="0"/>
              <a:t>+</a:t>
            </a:r>
            <a:r>
              <a:rPr lang="en-US" altLang="zh-CN" dirty="0" smtClean="0"/>
              <a:t> </a:t>
            </a:r>
            <a:r>
              <a:rPr lang="zh-CN" altLang="en-US" dirty="0" smtClean="0"/>
              <a:t>}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若</a:t>
            </a:r>
            <a:r>
              <a:rPr lang="en-US" altLang="zh-CN" dirty="0" smtClean="0"/>
              <a:t>S </a:t>
            </a:r>
            <a:r>
              <a:rPr lang="en-US" altLang="zh-CN" baseline="30000" dirty="0" smtClean="0">
                <a:sym typeface="Symbol" pitchFamily="18" charset="2"/>
              </a:rPr>
              <a:t>*</a:t>
            </a:r>
            <a:r>
              <a:rPr lang="en-US" altLang="zh-CN" dirty="0" smtClean="0">
                <a:sym typeface="Symbol" pitchFamily="18" charset="2"/>
              </a:rPr>
              <a:t>  A，</a:t>
            </a:r>
            <a:r>
              <a:rPr lang="zh-CN" altLang="en-US" dirty="0" smtClean="0">
                <a:sym typeface="Symbol" pitchFamily="18" charset="2"/>
              </a:rPr>
              <a:t>且</a:t>
            </a:r>
            <a:r>
              <a:rPr lang="en-US" altLang="zh-CN" dirty="0" smtClean="0">
                <a:sym typeface="Symbol" pitchFamily="18" charset="2"/>
              </a:rPr>
              <a:t></a:t>
            </a:r>
            <a:r>
              <a:rPr lang="en-US" altLang="zh-CN" dirty="0" smtClean="0"/>
              <a:t> </a:t>
            </a:r>
            <a:r>
              <a:rPr lang="en-US" altLang="zh-CN" baseline="30000" dirty="0" smtClean="0">
                <a:sym typeface="Symbol" pitchFamily="18" charset="2"/>
              </a:rPr>
              <a:t>*</a:t>
            </a:r>
            <a:r>
              <a:rPr lang="en-US" altLang="zh-CN" dirty="0" smtClean="0">
                <a:sym typeface="Symbol" pitchFamily="18" charset="2"/>
              </a:rPr>
              <a:t>  </a:t>
            </a:r>
            <a:r>
              <a:rPr lang="zh-CN" altLang="en-US" dirty="0" smtClean="0">
                <a:sym typeface="Symbol" pitchFamily="18" charset="2"/>
              </a:rPr>
              <a:t>，则# </a:t>
            </a:r>
            <a:r>
              <a:rPr lang="en-US" altLang="zh-CN" dirty="0" smtClean="0">
                <a:sym typeface="Symbol" pitchFamily="18" charset="2"/>
              </a:rPr>
              <a:t> </a:t>
            </a:r>
            <a:r>
              <a:rPr lang="en-US" altLang="zh-CN" dirty="0" smtClean="0"/>
              <a:t>FOLLOW（A）</a:t>
            </a:r>
            <a:r>
              <a:rPr lang="zh-CN" altLang="en-US" dirty="0" smtClean="0"/>
              <a:t> </a:t>
            </a:r>
          </a:p>
          <a:p>
            <a:endParaRPr lang="zh-CN" altLang="en-US" dirty="0" smtClean="0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2202983" y="4356472"/>
            <a:ext cx="304800" cy="76200"/>
          </a:xfrm>
          <a:prstGeom prst="rightArrow">
            <a:avLst>
              <a:gd name="adj1" fmla="val 50000"/>
              <a:gd name="adj2" fmla="val 1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7" name="AutoShape 11"/>
          <p:cNvSpPr>
            <a:spLocks noChangeArrowheads="1"/>
          </p:cNvSpPr>
          <p:nvPr/>
        </p:nvSpPr>
        <p:spPr bwMode="auto">
          <a:xfrm>
            <a:off x="2171500" y="3429671"/>
            <a:ext cx="304800" cy="76200"/>
          </a:xfrm>
          <a:prstGeom prst="rightArrow">
            <a:avLst>
              <a:gd name="adj1" fmla="val 50000"/>
              <a:gd name="adj2" fmla="val 1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8" name="AutoShape 12"/>
          <p:cNvSpPr>
            <a:spLocks noChangeArrowheads="1"/>
          </p:cNvSpPr>
          <p:nvPr/>
        </p:nvSpPr>
        <p:spPr bwMode="auto">
          <a:xfrm>
            <a:off x="3946761" y="4353699"/>
            <a:ext cx="304800" cy="76200"/>
          </a:xfrm>
          <a:prstGeom prst="rightArrow">
            <a:avLst>
              <a:gd name="adj1" fmla="val 50000"/>
              <a:gd name="adj2" fmla="val 10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685800" y="4869178"/>
            <a:ext cx="830580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 smtClean="0">
                <a:solidFill>
                  <a:srgbClr val="3333CC"/>
                </a:solidFill>
                <a:latin typeface="Arial" pitchFamily="34" charset="0"/>
              </a:rPr>
              <a:t> 设</a:t>
            </a:r>
            <a:r>
              <a:rPr lang="en-US" altLang="zh-CN" sz="2400" b="1" dirty="0" smtClean="0">
                <a:solidFill>
                  <a:srgbClr val="3333CC"/>
                </a:solidFill>
                <a:latin typeface="Arial" pitchFamily="34" charset="0"/>
              </a:rPr>
              <a:t>A</a:t>
            </a:r>
            <a:r>
              <a:rPr lang="zh-CN" altLang="en-US" sz="2400" b="1" dirty="0" smtClean="0">
                <a:solidFill>
                  <a:srgbClr val="3333CC"/>
                </a:solidFill>
                <a:latin typeface="Arial" pitchFamily="34" charset="0"/>
              </a:rPr>
              <a:t>为一个非终结符号，定义</a:t>
            </a:r>
            <a:r>
              <a:rPr lang="en-US" altLang="zh-CN" sz="2400" b="1" dirty="0" smtClean="0">
                <a:solidFill>
                  <a:srgbClr val="3333CC"/>
                </a:solidFill>
                <a:latin typeface="Arial" pitchFamily="34" charset="0"/>
              </a:rPr>
              <a:t>A</a:t>
            </a:r>
            <a:r>
              <a:rPr lang="zh-CN" altLang="en-US" sz="2400" b="1" dirty="0" smtClean="0">
                <a:solidFill>
                  <a:srgbClr val="3333CC"/>
                </a:solidFill>
                <a:latin typeface="Arial" pitchFamily="34" charset="0"/>
              </a:rPr>
              <a:t>的后随符号集</a:t>
            </a:r>
            <a:r>
              <a:rPr lang="en-US" altLang="zh-CN" sz="2400" b="1" dirty="0" smtClean="0">
                <a:solidFill>
                  <a:srgbClr val="3333CC"/>
                </a:solidFill>
                <a:latin typeface="Arial" pitchFamily="34" charset="0"/>
              </a:rPr>
              <a:t>FOLLOW(A)</a:t>
            </a:r>
            <a:r>
              <a:rPr lang="zh-CN" altLang="en-US" sz="2400" b="1" dirty="0" smtClean="0">
                <a:solidFill>
                  <a:srgbClr val="3333CC"/>
                </a:solidFill>
                <a:latin typeface="Arial" pitchFamily="34" charset="0"/>
              </a:rPr>
              <a:t>为任意句型中紧跟在</a:t>
            </a:r>
            <a:r>
              <a:rPr lang="en-US" altLang="zh-CN" sz="2400" b="1" dirty="0" smtClean="0">
                <a:solidFill>
                  <a:srgbClr val="3333CC"/>
                </a:solidFill>
                <a:latin typeface="Arial" pitchFamily="34" charset="0"/>
              </a:rPr>
              <a:t>A</a:t>
            </a:r>
            <a:r>
              <a:rPr lang="zh-CN" altLang="en-US" sz="2400" b="1" dirty="0" smtClean="0">
                <a:solidFill>
                  <a:srgbClr val="3333CC"/>
                </a:solidFill>
                <a:latin typeface="Arial" pitchFamily="34" charset="0"/>
              </a:rPr>
              <a:t>之后出现的所有</a:t>
            </a:r>
            <a:r>
              <a:rPr lang="zh-CN" altLang="en-US" sz="2400" b="1" dirty="0" smtClean="0">
                <a:solidFill>
                  <a:srgbClr val="FF0000"/>
                </a:solidFill>
                <a:latin typeface="Arial" pitchFamily="34" charset="0"/>
              </a:rPr>
              <a:t>终结符号</a:t>
            </a:r>
            <a:r>
              <a:rPr lang="zh-CN" altLang="en-US" sz="2400" b="1" dirty="0" smtClean="0">
                <a:solidFill>
                  <a:srgbClr val="3333CC"/>
                </a:solidFill>
                <a:latin typeface="Arial" pitchFamily="34" charset="0"/>
              </a:rPr>
              <a:t>的集合。</a:t>
            </a:r>
          </a:p>
        </p:txBody>
      </p:sp>
    </p:spTree>
    <p:extLst>
      <p:ext uri="{BB962C8B-B14F-4D97-AF65-F5344CB8AC3E}">
        <p14:creationId xmlns:p14="http://schemas.microsoft.com/office/powerpoint/2010/main" val="2962608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LL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LL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）的含义</a:t>
            </a:r>
            <a:endParaRPr lang="en-US" altLang="zh-CN" dirty="0"/>
          </a:p>
          <a:p>
            <a:pPr lvl="1"/>
            <a:r>
              <a:rPr lang="zh-CN" altLang="en-US" dirty="0"/>
              <a:t>第一个“</a:t>
            </a:r>
            <a:r>
              <a:rPr lang="en-US" altLang="zh-CN" dirty="0"/>
              <a:t>L”, </a:t>
            </a:r>
            <a:r>
              <a:rPr lang="zh-CN" altLang="en-US" dirty="0"/>
              <a:t>代表从左（</a:t>
            </a:r>
            <a:r>
              <a:rPr lang="en-US" altLang="zh-CN" dirty="0"/>
              <a:t>Left</a:t>
            </a:r>
            <a:r>
              <a:rPr lang="zh-CN" altLang="en-US" dirty="0"/>
              <a:t>）向右扫描单词</a:t>
            </a:r>
          </a:p>
          <a:p>
            <a:pPr lvl="1"/>
            <a:r>
              <a:rPr lang="zh-CN" altLang="en-US" dirty="0"/>
              <a:t> 第二个“</a:t>
            </a:r>
            <a:r>
              <a:rPr lang="en-US" altLang="zh-CN" dirty="0"/>
              <a:t>L”,</a:t>
            </a:r>
            <a:r>
              <a:rPr lang="zh-CN" altLang="en-US" dirty="0"/>
              <a:t>代表产生的是最左（</a:t>
            </a:r>
            <a:r>
              <a:rPr lang="en-US" altLang="zh-CN" dirty="0"/>
              <a:t>Leftmost</a:t>
            </a:r>
            <a:r>
              <a:rPr lang="zh-CN" altLang="en-US" dirty="0"/>
              <a:t>）  推导</a:t>
            </a:r>
          </a:p>
          <a:p>
            <a:pPr lvl="1"/>
            <a:r>
              <a:rPr lang="zh-CN" altLang="en-US" dirty="0"/>
              <a:t>“</a:t>
            </a:r>
            <a:r>
              <a:rPr lang="en-US" altLang="zh-CN" dirty="0"/>
              <a:t>1”</a:t>
            </a:r>
            <a:r>
              <a:rPr lang="zh-CN" altLang="en-US" dirty="0"/>
              <a:t>代表向前查看（</a:t>
            </a:r>
            <a:r>
              <a:rPr lang="en-US" altLang="zh-CN" dirty="0" err="1"/>
              <a:t>lookahead</a:t>
            </a:r>
            <a:r>
              <a:rPr lang="zh-CN" altLang="en-US" dirty="0"/>
              <a:t>）一个单词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7419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4.2</a:t>
            </a:r>
            <a:r>
              <a:rPr lang="zh-CN" altLang="en-US" dirty="0" smtClean="0"/>
              <a:t>、</a:t>
            </a:r>
            <a:r>
              <a:rPr lang="en-US" altLang="zh-CN" dirty="0"/>
              <a:t>LL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判别文法是否是</a:t>
                </a:r>
                <a:r>
                  <a:rPr lang="en-US" altLang="zh-CN" dirty="0" smtClean="0"/>
                  <a:t>LL</a:t>
                </a:r>
                <a:r>
                  <a:rPr lang="zh-CN" altLang="en-US" dirty="0" smtClean="0"/>
                  <a:t>（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）文法</a:t>
                </a:r>
                <a:endParaRPr lang="en-US" altLang="zh-CN" dirty="0" smtClean="0"/>
              </a:p>
              <a:p>
                <a:r>
                  <a:rPr lang="zh-CN" altLang="en-US" dirty="0" smtClean="0">
                    <a:solidFill>
                      <a:srgbClr val="FF0000"/>
                    </a:solidFill>
                  </a:rPr>
                  <a:t>定义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SELECT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集：</a:t>
                </a:r>
                <a:r>
                  <a:rPr lang="zh-CN" altLang="en-US" dirty="0"/>
                  <a:t>给定</a:t>
                </a:r>
                <a:r>
                  <a:rPr lang="zh-CN" altLang="en-US" dirty="0" smtClean="0"/>
                  <a:t>上下文无关文法的产生式，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→</a:t>
                </a:r>
                <a:r>
                  <a:rPr lang="el-GR" altLang="zh-CN" dirty="0" smtClean="0"/>
                  <a:t>α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∈</a:t>
                </a:r>
                <a:r>
                  <a:rPr lang="en-US" altLang="zh-CN" dirty="0" smtClean="0"/>
                  <a:t>V</a:t>
                </a:r>
                <a:r>
                  <a:rPr lang="en-US" altLang="zh-CN" baseline="-25000" dirty="0" smtClean="0"/>
                  <a:t>N</a:t>
                </a:r>
                <a:r>
                  <a:rPr lang="zh-CN" altLang="en-US" baseline="-25000" dirty="0" smtClean="0"/>
                  <a:t>，</a:t>
                </a:r>
                <a:r>
                  <a:rPr lang="el-GR" altLang="zh-CN" dirty="0"/>
                  <a:t> </a:t>
                </a:r>
                <a:r>
                  <a:rPr lang="el-GR" altLang="zh-CN" dirty="0" smtClean="0"/>
                  <a:t>α</a:t>
                </a:r>
                <a:r>
                  <a:rPr lang="zh-CN" altLang="en-US" dirty="0" smtClean="0"/>
                  <a:t>∈</a:t>
                </a:r>
                <a:r>
                  <a:rPr lang="en-US" altLang="zh-CN" dirty="0" smtClean="0"/>
                  <a:t>V</a:t>
                </a:r>
                <a:r>
                  <a:rPr lang="zh-CN" altLang="en-US" dirty="0" smtClean="0"/>
                  <a:t>*。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/>
                      </a:rPr>
                      <m:t>𝛂</m:t>
                    </m:r>
                    <m:r>
                      <a:rPr lang="zh-CN" altLang="en-US" i="1" smtClean="0">
                        <a:latin typeface="Cambria Math"/>
                      </a:rPr>
                      <m:t>⇏</m:t>
                    </m:r>
                    <m:r>
                      <a:rPr lang="zh-CN" altLang="en-US" i="1" smtClean="0">
                        <a:latin typeface="Cambria Math"/>
                      </a:rPr>
                      <m:t>𝜺</m:t>
                    </m:r>
                  </m:oMath>
                </a14:m>
                <a:r>
                  <a:rPr lang="zh-CN" altLang="en-US" baseline="-25000" dirty="0" smtClean="0"/>
                  <a:t>，</a:t>
                </a:r>
                <a:r>
                  <a:rPr lang="zh-CN" altLang="en-US" dirty="0" smtClean="0"/>
                  <a:t>则</a:t>
                </a:r>
                <a:endParaRPr lang="en-US" altLang="zh-CN" dirty="0" smtClean="0"/>
              </a:p>
              <a:p>
                <a:pPr lvl="1"/>
                <a:r>
                  <a:rPr lang="en-US" altLang="zh-CN" dirty="0" smtClean="0">
                    <a:solidFill>
                      <a:srgbClr val="FF0000"/>
                    </a:solidFill>
                  </a:rPr>
                  <a:t>SELECT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（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A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→</a:t>
                </a:r>
                <a:r>
                  <a:rPr lang="el-GR" altLang="zh-CN" dirty="0">
                    <a:solidFill>
                      <a:srgbClr val="FF0000"/>
                    </a:solidFill>
                  </a:rPr>
                  <a:t> α 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）</a:t>
                </a:r>
                <a:r>
                  <a:rPr lang="en-US" altLang="zh-CN" dirty="0" smtClean="0"/>
                  <a:t>=FIRST(</a:t>
                </a:r>
                <a:r>
                  <a:rPr lang="el-GR" altLang="zh-CN" dirty="0"/>
                  <a:t>α</a:t>
                </a:r>
                <a:r>
                  <a:rPr lang="en-US" altLang="zh-CN" dirty="0" smtClean="0"/>
                  <a:t>)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如果</a:t>
                </a:r>
                <a:r>
                  <a:rPr lang="el-GR" altLang="zh-CN" dirty="0" smtClean="0"/>
                  <a:t>α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altLang="zh-CN" i="0" smtClean="0"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r>
                  <a:rPr lang="zh-CN" altLang="en-US" dirty="0" smtClean="0"/>
                  <a:t>*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/>
                      </a:rPr>
                      <m:t>𝜺</m:t>
                    </m:r>
                  </m:oMath>
                </a14:m>
                <a:r>
                  <a:rPr lang="zh-CN" altLang="en-US" dirty="0" smtClean="0"/>
                  <a:t>，则</a:t>
                </a:r>
                <a:endParaRPr lang="en-US" altLang="zh-CN" dirty="0" smtClean="0"/>
              </a:p>
              <a:p>
                <a:pPr lvl="1"/>
                <a:r>
                  <a:rPr lang="en-US" altLang="zh-CN" dirty="0" smtClean="0">
                    <a:solidFill>
                      <a:srgbClr val="FF0000"/>
                    </a:solidFill>
                  </a:rPr>
                  <a:t>SELECT(A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→</a:t>
                </a:r>
                <a:r>
                  <a:rPr lang="el-GR" altLang="zh-CN" dirty="0">
                    <a:solidFill>
                      <a:srgbClr val="FF0000"/>
                    </a:solidFill>
                  </a:rPr>
                  <a:t> α </a:t>
                </a:r>
                <a:r>
                  <a:rPr lang="en-US" altLang="zh-CN" dirty="0" smtClean="0">
                    <a:solidFill>
                      <a:srgbClr val="FF0000"/>
                    </a:solidFill>
                  </a:rPr>
                  <a:t>)</a:t>
                </a:r>
                <a:r>
                  <a:rPr lang="en-US" altLang="zh-CN" dirty="0" smtClean="0"/>
                  <a:t>=</a:t>
                </a:r>
                <a:r>
                  <a:rPr lang="en-US" altLang="zh-CN" dirty="0"/>
                  <a:t> (</a:t>
                </a:r>
                <a:r>
                  <a:rPr lang="en-US" altLang="zh-CN" dirty="0" smtClean="0"/>
                  <a:t>FIRST(</a:t>
                </a:r>
                <a:r>
                  <a:rPr lang="el-GR" altLang="zh-CN" dirty="0"/>
                  <a:t>α</a:t>
                </a:r>
                <a:r>
                  <a:rPr lang="en-US" altLang="zh-CN" dirty="0" smtClean="0"/>
                  <a:t>)-{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/>
                      </a:rPr>
                      <m:t>𝜺</m:t>
                    </m:r>
                  </m:oMath>
                </a14:m>
                <a:r>
                  <a:rPr lang="en-US" altLang="zh-CN" dirty="0" smtClean="0"/>
                  <a:t>})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/>
                        <a:ea typeface="Cambria Math"/>
                      </a:rPr>
                      <m:t>⋃</m:t>
                    </m:r>
                  </m:oMath>
                </a14:m>
                <a:r>
                  <a:rPr lang="en-US" altLang="zh-CN" dirty="0" smtClean="0"/>
                  <a:t>FOLLOW(A)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549" r="-33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656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4.2</a:t>
            </a:r>
            <a:r>
              <a:rPr lang="zh-CN" altLang="en-US" dirty="0" smtClean="0"/>
              <a:t>、</a:t>
            </a:r>
            <a:r>
              <a:rPr lang="en-US" altLang="zh-CN" dirty="0"/>
              <a:t>LL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）分析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判别文法是否是</a:t>
                </a:r>
                <a:r>
                  <a:rPr lang="en-US" altLang="zh-CN" dirty="0" smtClean="0"/>
                  <a:t>LL</a:t>
                </a:r>
                <a:r>
                  <a:rPr lang="zh-CN" altLang="en-US" dirty="0" smtClean="0"/>
                  <a:t>（</a:t>
                </a: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）文法</a:t>
                </a:r>
                <a:endParaRPr lang="en-US" altLang="zh-CN" dirty="0" smtClean="0"/>
              </a:p>
              <a:p>
                <a:r>
                  <a:rPr lang="zh-CN" altLang="en-US" dirty="0" smtClean="0">
                    <a:solidFill>
                      <a:srgbClr val="FF0000"/>
                    </a:solidFill>
                  </a:rPr>
                  <a:t>判定条件：</a:t>
                </a:r>
                <a:r>
                  <a:rPr lang="zh-CN" altLang="en-US" dirty="0"/>
                  <a:t>一个</a:t>
                </a:r>
                <a:r>
                  <a:rPr lang="zh-CN" altLang="en-US" dirty="0" smtClean="0"/>
                  <a:t>上下文无关文法是</a:t>
                </a:r>
                <a:r>
                  <a:rPr lang="en-US" altLang="zh-CN" dirty="0" smtClean="0"/>
                  <a:t>LL(1)</a:t>
                </a:r>
                <a:r>
                  <a:rPr lang="zh-CN" altLang="en-US" dirty="0" smtClean="0"/>
                  <a:t>的充分必要条件是，对每个非终结符的两个不同产生式，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→</a:t>
                </a:r>
                <a:r>
                  <a:rPr lang="el-GR" altLang="zh-CN" dirty="0" smtClean="0"/>
                  <a:t>α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→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/>
                      </a:rPr>
                      <m:t>𝜷</m:t>
                    </m:r>
                    <m:r>
                      <a:rPr lang="zh-CN" altLang="en-US" b="1" i="1" smtClean="0">
                        <a:latin typeface="Cambria Math"/>
                      </a:rPr>
                      <m:t>，</m:t>
                    </m:r>
                  </m:oMath>
                </a14:m>
                <a:r>
                  <a:rPr lang="en-US" altLang="zh-CN" dirty="0" smtClean="0">
                    <a:solidFill>
                      <a:srgbClr val="FF0000"/>
                    </a:solidFill>
                  </a:rPr>
                  <a:t>  </a:t>
                </a:r>
                <a:r>
                  <a:rPr lang="zh-CN" altLang="en-US" dirty="0" smtClean="0">
                    <a:solidFill>
                      <a:srgbClr val="FF0000"/>
                    </a:solidFill>
                  </a:rPr>
                  <a:t>须满足：</a:t>
                </a:r>
                <a:endParaRPr lang="en-US" altLang="zh-CN" dirty="0" smtClean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altLang="zh-CN" dirty="0">
                    <a:solidFill>
                      <a:srgbClr val="FF0000"/>
                    </a:solidFill>
                  </a:rPr>
                  <a:t>SELECT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（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A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→</a:t>
                </a:r>
                <a:r>
                  <a:rPr lang="el-GR" altLang="zh-CN" dirty="0">
                    <a:solidFill>
                      <a:srgbClr val="FF0000"/>
                    </a:solidFill>
                  </a:rPr>
                  <a:t> α 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）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rgbClr val="FF0000"/>
                        </a:solidFill>
                        <a:latin typeface="Cambria Math"/>
                      </a:rPr>
                      <m:t>∩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SELECT(A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→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rgbClr val="FF0000"/>
                        </a:solidFill>
                        <a:latin typeface="Cambria Math"/>
                      </a:rPr>
                      <m:t>𝜷</m:t>
                    </m:r>
                  </m:oMath>
                </a14:m>
                <a:r>
                  <a:rPr lang="el-GR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)=</a:t>
                </a:r>
                <a14:m>
                  <m:oMath xmlns:m="http://schemas.openxmlformats.org/officeDocument/2006/math">
                    <m:r>
                      <a:rPr lang="en-US" altLang="zh-CN" dirty="0">
                        <a:solidFill>
                          <a:srgbClr val="FF0000"/>
                        </a:solidFill>
                        <a:latin typeface="Cambria Math"/>
                      </a:rPr>
                      <m:t>∅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。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zh-CN" altLang="en-US" dirty="0"/>
                  <a:t>其中</a:t>
                </a:r>
                <a:r>
                  <a:rPr lang="el-GR" altLang="zh-CN" dirty="0"/>
                  <a:t>α</a:t>
                </a:r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/>
                      </a:rPr>
                      <m:t>𝜷</m:t>
                    </m:r>
                  </m:oMath>
                </a14:m>
                <a:r>
                  <a:rPr lang="zh-CN" altLang="en-US" dirty="0" smtClean="0"/>
                  <a:t>不能同时推导出</a:t>
                </a:r>
                <a:r>
                  <a:rPr lang="zh-CN" altLang="en-US" dirty="0" smtClean="0">
                    <a:sym typeface="Symbol" pitchFamily="18" charset="2"/>
                  </a:rPr>
                  <a:t>*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/>
                        <a:sym typeface="Symbol" pitchFamily="18" charset="2"/>
                      </a:rPr>
                      <m:t>𝜺</m:t>
                    </m:r>
                  </m:oMath>
                </a14:m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549" r="-13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045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4.3</a:t>
            </a:r>
            <a:r>
              <a:rPr lang="zh-CN" altLang="en-US" dirty="0" smtClean="0"/>
              <a:t>非</a:t>
            </a:r>
            <a:r>
              <a:rPr lang="en-US" altLang="zh-CN" dirty="0"/>
              <a:t>LL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）和</a:t>
            </a:r>
            <a:r>
              <a:rPr lang="en-US" altLang="zh-CN" dirty="0"/>
              <a:t>LL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）等价</a:t>
            </a:r>
            <a:r>
              <a:rPr lang="zh-CN" altLang="en-US" dirty="0" smtClean="0"/>
              <a:t>变换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相同左部的产生式中</a:t>
            </a:r>
            <a:r>
              <a:rPr lang="zh-CN" altLang="en-US" dirty="0">
                <a:solidFill>
                  <a:srgbClr val="FF0000"/>
                </a:solidFill>
              </a:rPr>
              <a:t>含有左公共因子</a:t>
            </a:r>
            <a:r>
              <a:rPr lang="zh-CN" altLang="en-US" dirty="0"/>
              <a:t>的文法不是</a:t>
            </a:r>
            <a:r>
              <a:rPr lang="en-US" altLang="zh-CN" dirty="0"/>
              <a:t>LL（1）</a:t>
            </a:r>
            <a:r>
              <a:rPr lang="zh-CN" altLang="en-US" dirty="0"/>
              <a:t>文法</a:t>
            </a:r>
            <a:endParaRPr lang="en-US" altLang="zh-CN" dirty="0"/>
          </a:p>
          <a:p>
            <a:pPr lvl="1"/>
            <a:r>
              <a:rPr lang="zh-CN" altLang="en-US" dirty="0"/>
              <a:t>不同可选右部包含</a:t>
            </a:r>
            <a:r>
              <a:rPr lang="zh-CN" altLang="en-US" dirty="0">
                <a:solidFill>
                  <a:srgbClr val="FF0000"/>
                </a:solidFill>
              </a:rPr>
              <a:t>相同的前缀</a:t>
            </a:r>
            <a:r>
              <a:rPr lang="zh-CN" altLang="en-US" dirty="0"/>
              <a:t>，则在</a:t>
            </a:r>
            <a:r>
              <a:rPr lang="zh-CN" altLang="en-US" dirty="0">
                <a:solidFill>
                  <a:srgbClr val="FF0000"/>
                </a:solidFill>
              </a:rPr>
              <a:t>最左推导</a:t>
            </a:r>
            <a:r>
              <a:rPr lang="zh-CN" altLang="en-US" dirty="0"/>
              <a:t>过程中，对同一输入符号</a:t>
            </a:r>
            <a:r>
              <a:rPr lang="zh-CN" altLang="en-US" dirty="0">
                <a:solidFill>
                  <a:srgbClr val="FF0000"/>
                </a:solidFill>
              </a:rPr>
              <a:t>不能</a:t>
            </a:r>
            <a:r>
              <a:rPr lang="zh-CN" altLang="en-US" dirty="0" smtClean="0">
                <a:solidFill>
                  <a:srgbClr val="FF0000"/>
                </a:solidFill>
              </a:rPr>
              <a:t>唯一的</a:t>
            </a:r>
            <a:r>
              <a:rPr lang="zh-CN" altLang="en-US" dirty="0" smtClean="0"/>
              <a:t>确定</a:t>
            </a:r>
            <a:r>
              <a:rPr lang="zh-CN" altLang="en-US" dirty="0"/>
              <a:t>应该使用的产生式，于是只能尝试，造成回溯</a:t>
            </a:r>
          </a:p>
          <a:p>
            <a:r>
              <a:rPr lang="zh-CN" altLang="en-US" dirty="0" smtClean="0"/>
              <a:t>产生</a:t>
            </a:r>
            <a:r>
              <a:rPr lang="zh-CN" altLang="en-US" dirty="0"/>
              <a:t>式中</a:t>
            </a:r>
            <a:r>
              <a:rPr lang="zh-CN" altLang="en-US" dirty="0">
                <a:solidFill>
                  <a:srgbClr val="FF0000"/>
                </a:solidFill>
              </a:rPr>
              <a:t>含有左递归</a:t>
            </a:r>
            <a:r>
              <a:rPr lang="zh-CN" altLang="en-US" dirty="0"/>
              <a:t>的文法不是</a:t>
            </a:r>
            <a:r>
              <a:rPr lang="en-US" altLang="zh-CN" dirty="0"/>
              <a:t>LL（1）</a:t>
            </a:r>
            <a:r>
              <a:rPr lang="zh-CN" altLang="en-US" dirty="0" smtClean="0"/>
              <a:t>文法</a:t>
            </a:r>
            <a:endParaRPr lang="en-US" altLang="zh-CN" dirty="0" smtClean="0"/>
          </a:p>
          <a:p>
            <a:pPr lvl="1"/>
            <a:r>
              <a:rPr lang="zh-CN" altLang="en-US" dirty="0">
                <a:solidFill>
                  <a:srgbClr val="000000"/>
                </a:solidFill>
              </a:rPr>
              <a:t>对文法中一切左递归的消除要求文法中不含回路即无</a:t>
            </a:r>
            <a:r>
              <a:rPr lang="en-US" altLang="zh-CN" dirty="0">
                <a:solidFill>
                  <a:srgbClr val="000000"/>
                </a:solidFill>
              </a:rPr>
              <a:t>A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</a:t>
            </a:r>
            <a:r>
              <a:rPr lang="en-US" altLang="zh-CN" baseline="30000" dirty="0">
                <a:solidFill>
                  <a:srgbClr val="000000"/>
                </a:solidFill>
              </a:rPr>
              <a:t>+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 A</a:t>
            </a:r>
            <a:r>
              <a:rPr lang="zh-CN" altLang="en-US" dirty="0">
                <a:solidFill>
                  <a:srgbClr val="000000"/>
                </a:solidFill>
                <a:sym typeface="Symbol" pitchFamily="18" charset="2"/>
              </a:rPr>
              <a:t>的推导。满足这个要求的充分条件是</a:t>
            </a:r>
            <a:r>
              <a:rPr lang="en-US" altLang="zh-CN" dirty="0">
                <a:solidFill>
                  <a:srgbClr val="000000"/>
                </a:solidFill>
                <a:sym typeface="Symbol" pitchFamily="18" charset="2"/>
              </a:rPr>
              <a:t>:</a:t>
            </a:r>
            <a:r>
              <a:rPr lang="zh-CN" altLang="en-US" dirty="0">
                <a:solidFill>
                  <a:srgbClr val="FF0000"/>
                </a:solidFill>
                <a:sym typeface="Symbol" pitchFamily="18" charset="2"/>
              </a:rPr>
              <a:t>文法中不包含形如</a:t>
            </a:r>
            <a:r>
              <a:rPr lang="en-US" altLang="zh-CN" dirty="0">
                <a:solidFill>
                  <a:srgbClr val="FF0000"/>
                </a:solidFill>
                <a:sym typeface="Symbol" pitchFamily="18" charset="2"/>
              </a:rPr>
              <a:t>A </a:t>
            </a:r>
            <a:r>
              <a:rPr lang="en-US" altLang="zh-CN" dirty="0">
                <a:solidFill>
                  <a:srgbClr val="FF0000"/>
                </a:solidFill>
              </a:rPr>
              <a:t> A </a:t>
            </a:r>
            <a:r>
              <a:rPr lang="zh-CN" altLang="en-US" dirty="0">
                <a:solidFill>
                  <a:srgbClr val="FF0000"/>
                </a:solidFill>
                <a:sym typeface="Symbol" pitchFamily="18" charset="2"/>
              </a:rPr>
              <a:t>的有害规则和 </a:t>
            </a:r>
            <a:r>
              <a:rPr lang="en-US" altLang="zh-CN" dirty="0">
                <a:solidFill>
                  <a:srgbClr val="FF0000"/>
                </a:solidFill>
                <a:sym typeface="Symbol" pitchFamily="18" charset="2"/>
              </a:rPr>
              <a:t>A </a:t>
            </a:r>
            <a:r>
              <a:rPr lang="zh-CN" altLang="en-US" dirty="0">
                <a:solidFill>
                  <a:srgbClr val="FF0000"/>
                </a:solidFill>
              </a:rPr>
              <a:t>的空产生</a:t>
            </a:r>
            <a:r>
              <a:rPr lang="zh-CN" altLang="en-US" dirty="0" smtClean="0">
                <a:solidFill>
                  <a:srgbClr val="FF0000"/>
                </a:solidFill>
              </a:rPr>
              <a:t>式。</a:t>
            </a:r>
            <a:endParaRPr lang="zh-CN" altLang="en-US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4075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68313" y="1041401"/>
            <a:ext cx="8218487" cy="5113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8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00088" indent="-342900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sz="2400" kern="1200">
                <a:solidFill>
                  <a:srgbClr val="7030A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14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mtClean="0"/>
              <a:t> 提取左公因子规则</a:t>
            </a:r>
          </a:p>
          <a:p>
            <a:endParaRPr lang="zh-CN" altLang="en-US" dirty="0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971555" y="1988822"/>
            <a:ext cx="7451725" cy="3960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SzPct val="75000"/>
              <a:buFont typeface="Symbol" pitchFamily="18" charset="2"/>
              <a:buChar char="-"/>
            </a:pPr>
            <a:r>
              <a:rPr lang="en-US" altLang="zh-CN" sz="2800" b="1" dirty="0"/>
              <a:t> </a:t>
            </a:r>
            <a:r>
              <a:rPr lang="zh-CN" altLang="en-US" sz="2800" b="1" dirty="0">
                <a:latin typeface="楷体_GB2312" pitchFamily="49" charset="-122"/>
              </a:rPr>
              <a:t>一般含有左公因子的产生式形如</a:t>
            </a:r>
            <a:r>
              <a:rPr lang="zh-CN" altLang="en-US" sz="2800" dirty="0">
                <a:latin typeface="楷体_GB2312" pitchFamily="49" charset="-122"/>
              </a:rPr>
              <a:t> </a:t>
            </a:r>
            <a:r>
              <a:rPr lang="zh-CN" altLang="en-US" sz="2800" b="1" dirty="0"/>
              <a:t> </a:t>
            </a:r>
          </a:p>
          <a:p>
            <a:pPr marL="342900" indent="-342900">
              <a:spcBef>
                <a:spcPct val="20000"/>
              </a:spcBef>
              <a:buSzPct val="75000"/>
              <a:buFont typeface="Symbol" pitchFamily="18" charset="2"/>
              <a:buNone/>
            </a:pPr>
            <a:endParaRPr lang="zh-CN" altLang="en-US" sz="1000" b="1" dirty="0"/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zh-CN" altLang="en-US" sz="2800" b="1" dirty="0"/>
              <a:t>          </a:t>
            </a:r>
            <a:r>
              <a:rPr lang="en-US" altLang="zh-CN" sz="2800" dirty="0"/>
              <a:t>P </a:t>
            </a:r>
            <a:r>
              <a:rPr lang="en-US" altLang="zh-CN" sz="2800" b="1" dirty="0">
                <a:sym typeface="Symbol" pitchFamily="18" charset="2"/>
              </a:rPr>
              <a:t></a:t>
            </a:r>
            <a:r>
              <a:rPr lang="en-US" altLang="zh-CN" sz="2800" b="1" dirty="0">
                <a:ea typeface="宋体" pitchFamily="2" charset="-122"/>
              </a:rPr>
              <a:t> </a:t>
            </a:r>
            <a:r>
              <a:rPr lang="en-US" altLang="zh-CN" sz="2800" b="1" dirty="0"/>
              <a:t>αβ</a:t>
            </a:r>
            <a:r>
              <a:rPr lang="en-US" altLang="zh-CN" sz="2800" b="1" baseline="-25000" dirty="0">
                <a:ea typeface="宋体" pitchFamily="2" charset="-122"/>
              </a:rPr>
              <a:t>1</a:t>
            </a:r>
            <a:r>
              <a:rPr lang="en-US" altLang="zh-CN" sz="2800" b="1" dirty="0">
                <a:sym typeface="Symbol" pitchFamily="18" charset="2"/>
              </a:rPr>
              <a:t></a:t>
            </a:r>
            <a:r>
              <a:rPr lang="en-US" altLang="zh-CN" sz="2800" b="1" dirty="0"/>
              <a:t>αβ</a:t>
            </a:r>
            <a:r>
              <a:rPr lang="en-US" altLang="zh-CN" sz="2800" b="1" baseline="-25000" dirty="0">
                <a:ea typeface="宋体" pitchFamily="2" charset="-122"/>
              </a:rPr>
              <a:t>2</a:t>
            </a:r>
            <a:r>
              <a:rPr lang="en-US" altLang="zh-CN" sz="2800" b="1" dirty="0">
                <a:sym typeface="Symbol" pitchFamily="18" charset="2"/>
              </a:rPr>
              <a:t>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…</a:t>
            </a:r>
            <a:r>
              <a:rPr lang="en-US" altLang="zh-CN" sz="2800" b="1" dirty="0">
                <a:sym typeface="Symbol" pitchFamily="18" charset="2"/>
              </a:rPr>
              <a:t></a:t>
            </a:r>
            <a:r>
              <a:rPr lang="en-US" altLang="zh-CN" sz="2800" b="1" dirty="0"/>
              <a:t>αβ</a:t>
            </a:r>
            <a:r>
              <a:rPr lang="en-US" altLang="zh-CN" sz="2800" b="1" baseline="-25000" dirty="0">
                <a:ea typeface="宋体" pitchFamily="2" charset="-122"/>
              </a:rPr>
              <a:t>m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800" b="1" baseline="-25000" dirty="0">
                <a:ea typeface="宋体" pitchFamily="2" charset="-122"/>
              </a:rPr>
              <a:t>                          </a:t>
            </a:r>
            <a:r>
              <a:rPr lang="en-US" altLang="zh-CN" sz="2800" b="1" dirty="0">
                <a:sym typeface="Symbol" pitchFamily="18" charset="2"/>
              </a:rPr>
              <a:t></a:t>
            </a:r>
            <a:r>
              <a:rPr lang="el-GR" altLang="zh-CN" sz="2800" b="1" dirty="0">
                <a:latin typeface="楷体_GB2312" pitchFamily="49" charset="-122"/>
              </a:rPr>
              <a:t>γ</a:t>
            </a:r>
            <a:r>
              <a:rPr lang="en-US" altLang="zh-CN" sz="2800" b="1" baseline="-25000" dirty="0">
                <a:ea typeface="宋体" pitchFamily="2" charset="-122"/>
              </a:rPr>
              <a:t>1</a:t>
            </a:r>
            <a:r>
              <a:rPr lang="en-US" altLang="zh-CN" sz="2800" b="1" dirty="0">
                <a:sym typeface="Symbol" pitchFamily="18" charset="2"/>
              </a:rPr>
              <a:t></a:t>
            </a:r>
            <a:r>
              <a:rPr lang="el-GR" altLang="zh-CN" sz="2800" b="1" dirty="0">
                <a:latin typeface="楷体_GB2312" pitchFamily="49" charset="-122"/>
              </a:rPr>
              <a:t>γ</a:t>
            </a:r>
            <a:r>
              <a:rPr lang="en-US" altLang="zh-CN" sz="2800" b="1" dirty="0">
                <a:ea typeface="宋体" pitchFamily="2" charset="-122"/>
              </a:rPr>
              <a:t> </a:t>
            </a:r>
            <a:r>
              <a:rPr lang="en-US" altLang="zh-CN" sz="2800" b="1" baseline="-25000" dirty="0">
                <a:ea typeface="宋体" pitchFamily="2" charset="-122"/>
              </a:rPr>
              <a:t>2</a:t>
            </a:r>
            <a:r>
              <a:rPr lang="en-US" altLang="zh-CN" sz="2800" b="1" dirty="0">
                <a:sym typeface="Symbol" pitchFamily="18" charset="2"/>
              </a:rPr>
              <a:t>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…</a:t>
            </a:r>
            <a:r>
              <a:rPr lang="en-US" altLang="zh-CN" sz="2800" b="1" dirty="0">
                <a:sym typeface="Symbol" pitchFamily="18" charset="2"/>
              </a:rPr>
              <a:t></a:t>
            </a:r>
            <a:r>
              <a:rPr lang="el-GR" altLang="zh-CN" sz="2800" b="1" dirty="0">
                <a:latin typeface="楷体_GB2312" pitchFamily="49" charset="-122"/>
              </a:rPr>
              <a:t>γ</a:t>
            </a:r>
            <a:r>
              <a:rPr lang="en-US" altLang="zh-CN" sz="2800" b="1" baseline="-25000" dirty="0">
                <a:ea typeface="宋体" pitchFamily="2" charset="-122"/>
              </a:rPr>
              <a:t>n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endParaRPr lang="en-US" altLang="zh-CN" sz="1000" b="1" dirty="0">
              <a:latin typeface="楷体_GB2312" pitchFamily="49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800" b="1" dirty="0">
                <a:latin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</a:rPr>
              <a:t>其中，每个</a:t>
            </a:r>
            <a:r>
              <a:rPr lang="el-GR" altLang="zh-CN" sz="2800" b="1" dirty="0">
                <a:latin typeface="楷体_GB2312" pitchFamily="49" charset="-122"/>
              </a:rPr>
              <a:t>γ</a:t>
            </a:r>
            <a:r>
              <a:rPr lang="zh-CN" altLang="en-US" sz="2800" b="1" dirty="0">
                <a:latin typeface="楷体_GB2312" pitchFamily="49" charset="-122"/>
              </a:rPr>
              <a:t>不以</a:t>
            </a:r>
            <a:r>
              <a:rPr lang="en-US" altLang="zh-CN" sz="2800" b="1" dirty="0"/>
              <a:t>α</a:t>
            </a:r>
            <a:r>
              <a:rPr lang="zh-CN" altLang="en-US" sz="2800" b="1" dirty="0">
                <a:latin typeface="楷体_GB2312" pitchFamily="49" charset="-122"/>
              </a:rPr>
              <a:t>开头</a:t>
            </a:r>
            <a:r>
              <a:rPr lang="en-US" altLang="zh-CN" sz="2800" b="1" dirty="0">
                <a:latin typeface="楷体_GB2312" pitchFamily="49" charset="-122"/>
              </a:rPr>
              <a:t>.</a:t>
            </a:r>
            <a:r>
              <a:rPr lang="zh-CN" altLang="en-US" sz="2800" b="1" dirty="0"/>
              <a:t>提取左公共因子，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zh-CN" altLang="en-US" sz="2800" b="1" dirty="0"/>
              <a:t>  产生式改写成：</a:t>
            </a:r>
            <a:endParaRPr lang="zh-CN" altLang="en-US" sz="1000" b="1" dirty="0"/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kumimoji="0" lang="zh-CN" altLang="en-US" sz="2800" dirty="0">
                <a:solidFill>
                  <a:schemeClr val="tx1"/>
                </a:solidFill>
                <a:ea typeface="宋体" pitchFamily="2" charset="-122"/>
              </a:rPr>
              <a:t>          </a:t>
            </a:r>
            <a:r>
              <a:rPr kumimoji="0" lang="en-US" altLang="zh-CN" sz="2800" dirty="0">
                <a:solidFill>
                  <a:schemeClr val="tx1"/>
                </a:solidFill>
                <a:ea typeface="宋体" pitchFamily="2" charset="-122"/>
              </a:rPr>
              <a:t>P</a:t>
            </a:r>
            <a:r>
              <a:rPr lang="en-US" altLang="zh-CN" sz="2800" dirty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US" altLang="zh-CN" sz="2800" b="1" dirty="0">
                <a:sym typeface="Symbol" pitchFamily="18" charset="2"/>
              </a:rPr>
              <a:t></a:t>
            </a:r>
            <a:r>
              <a:rPr lang="en-US" altLang="zh-CN" sz="2800" dirty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US" altLang="zh-CN" sz="2800" b="1" dirty="0"/>
              <a:t>α</a:t>
            </a:r>
            <a:r>
              <a:rPr lang="en-US" altLang="zh-CN" sz="2800" dirty="0"/>
              <a:t>Q</a:t>
            </a:r>
            <a:r>
              <a:rPr lang="en-US" altLang="zh-CN" sz="2800" b="1" dirty="0">
                <a:sym typeface="Symbol" pitchFamily="18" charset="2"/>
              </a:rPr>
              <a:t></a:t>
            </a:r>
            <a:r>
              <a:rPr lang="el-GR" altLang="zh-CN" sz="2800" b="1" dirty="0">
                <a:latin typeface="楷体_GB2312" pitchFamily="49" charset="-122"/>
              </a:rPr>
              <a:t>γ</a:t>
            </a:r>
            <a:r>
              <a:rPr lang="en-US" altLang="zh-CN" sz="2800" b="1" baseline="-25000" dirty="0">
                <a:ea typeface="宋体" pitchFamily="2" charset="-122"/>
              </a:rPr>
              <a:t>1</a:t>
            </a:r>
            <a:r>
              <a:rPr lang="en-US" altLang="zh-CN" sz="2800" b="1" dirty="0">
                <a:sym typeface="Symbol" pitchFamily="18" charset="2"/>
              </a:rPr>
              <a:t></a:t>
            </a:r>
            <a:r>
              <a:rPr lang="el-GR" altLang="zh-CN" sz="2800" b="1" dirty="0">
                <a:latin typeface="楷体_GB2312" pitchFamily="49" charset="-122"/>
              </a:rPr>
              <a:t>γ</a:t>
            </a:r>
            <a:r>
              <a:rPr lang="en-US" altLang="zh-CN" sz="2800" b="1" dirty="0">
                <a:ea typeface="宋体" pitchFamily="2" charset="-122"/>
              </a:rPr>
              <a:t> </a:t>
            </a:r>
            <a:r>
              <a:rPr lang="en-US" altLang="zh-CN" sz="2800" b="1" baseline="-25000" dirty="0">
                <a:ea typeface="宋体" pitchFamily="2" charset="-122"/>
              </a:rPr>
              <a:t>2</a:t>
            </a:r>
            <a:r>
              <a:rPr lang="en-US" altLang="zh-CN" sz="2800" b="1" dirty="0">
                <a:sym typeface="Symbol" pitchFamily="18" charset="2"/>
              </a:rPr>
              <a:t>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…</a:t>
            </a:r>
            <a:r>
              <a:rPr lang="en-US" altLang="zh-CN" sz="2800" b="1" dirty="0">
                <a:sym typeface="Symbol" pitchFamily="18" charset="2"/>
              </a:rPr>
              <a:t></a:t>
            </a:r>
            <a:r>
              <a:rPr lang="el-GR" altLang="zh-CN" sz="2800" b="1" dirty="0">
                <a:latin typeface="楷体_GB2312" pitchFamily="49" charset="-122"/>
              </a:rPr>
              <a:t>γ</a:t>
            </a:r>
            <a:r>
              <a:rPr lang="en-US" altLang="zh-CN" sz="2800" b="1" baseline="-25000" dirty="0">
                <a:ea typeface="宋体" pitchFamily="2" charset="-122"/>
              </a:rPr>
              <a:t>n</a:t>
            </a:r>
            <a:endParaRPr lang="en-US" altLang="zh-CN" sz="2800" dirty="0">
              <a:solidFill>
                <a:schemeClr val="tx1"/>
              </a:solidFill>
              <a:ea typeface="宋体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800" dirty="0">
                <a:solidFill>
                  <a:schemeClr val="tx1"/>
                </a:solidFill>
                <a:ea typeface="宋体" pitchFamily="2" charset="-122"/>
              </a:rPr>
              <a:t>          </a:t>
            </a:r>
            <a:r>
              <a:rPr lang="en-US" altLang="zh-CN" sz="2800" dirty="0"/>
              <a:t>Q </a:t>
            </a:r>
            <a:r>
              <a:rPr lang="en-US" altLang="zh-CN" sz="2800" b="1" dirty="0">
                <a:sym typeface="Symbol" pitchFamily="18" charset="2"/>
              </a:rPr>
              <a:t></a:t>
            </a:r>
            <a:r>
              <a:rPr lang="en-US" altLang="zh-CN" sz="2800" dirty="0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US" altLang="zh-CN" sz="2800" b="1" dirty="0"/>
              <a:t>β</a:t>
            </a:r>
            <a:r>
              <a:rPr lang="en-US" altLang="zh-CN" sz="2800" b="1" baseline="-25000" dirty="0">
                <a:ea typeface="宋体" pitchFamily="2" charset="-122"/>
              </a:rPr>
              <a:t>1</a:t>
            </a:r>
            <a:r>
              <a:rPr lang="en-US" altLang="zh-CN" sz="2800" b="1" dirty="0">
                <a:sym typeface="Symbol" pitchFamily="18" charset="2"/>
              </a:rPr>
              <a:t></a:t>
            </a:r>
            <a:r>
              <a:rPr lang="en-US" altLang="zh-CN" sz="2800" b="1" dirty="0"/>
              <a:t>β</a:t>
            </a:r>
            <a:r>
              <a:rPr lang="en-US" altLang="zh-CN" sz="2800" b="1" baseline="-25000" dirty="0">
                <a:ea typeface="宋体" pitchFamily="2" charset="-122"/>
              </a:rPr>
              <a:t>2</a:t>
            </a:r>
            <a:r>
              <a:rPr lang="en-US" altLang="zh-CN" sz="2800" b="1" dirty="0">
                <a:sym typeface="Symbol" pitchFamily="18" charset="2"/>
              </a:rPr>
              <a:t></a:t>
            </a:r>
            <a:r>
              <a:rPr lang="en-US" altLang="zh-CN" sz="2800" b="1" dirty="0">
                <a:latin typeface="Times New Roman" pitchFamily="18" charset="0"/>
                <a:ea typeface="宋体" pitchFamily="2" charset="-122"/>
              </a:rPr>
              <a:t>…</a:t>
            </a:r>
            <a:r>
              <a:rPr lang="en-US" altLang="zh-CN" sz="2800" b="1" dirty="0">
                <a:sym typeface="Symbol" pitchFamily="18" charset="2"/>
              </a:rPr>
              <a:t></a:t>
            </a:r>
            <a:r>
              <a:rPr lang="en-US" altLang="zh-CN" sz="2800" b="1" dirty="0"/>
              <a:t>β</a:t>
            </a:r>
            <a:r>
              <a:rPr lang="en-US" altLang="zh-CN" sz="2800" b="1" baseline="-25000" dirty="0">
                <a:ea typeface="宋体" pitchFamily="2" charset="-122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93358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68313" y="1041401"/>
            <a:ext cx="8218487" cy="5113338"/>
          </a:xfrm>
        </p:spPr>
        <p:txBody>
          <a:bodyPr/>
          <a:lstStyle/>
          <a:p>
            <a:r>
              <a:rPr lang="zh-CN" altLang="en-US" dirty="0" smtClean="0"/>
              <a:t>消除左递归</a:t>
            </a:r>
            <a:endParaRPr lang="en-US" altLang="zh-CN" dirty="0" smtClean="0"/>
          </a:p>
          <a:p>
            <a:pPr lvl="1"/>
            <a:r>
              <a:rPr lang="zh-CN" altLang="en-US" dirty="0"/>
              <a:t>左递归消除规则</a:t>
            </a:r>
          </a:p>
          <a:p>
            <a:pPr lvl="1"/>
            <a:endParaRPr lang="zh-CN" altLang="en-US" dirty="0"/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971555" y="1988822"/>
            <a:ext cx="7632700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SzPct val="75000"/>
              <a:buFont typeface="Symbol" pitchFamily="18" charset="2"/>
              <a:buChar char="-"/>
            </a:pPr>
            <a:r>
              <a:rPr lang="zh-CN" altLang="en-US" sz="2800" b="1" dirty="0" smtClean="0">
                <a:solidFill>
                  <a:srgbClr val="800080"/>
                </a:solidFill>
              </a:rPr>
              <a:t>简单直接左递归消除</a:t>
            </a:r>
            <a:endParaRPr lang="zh-CN" altLang="en-US" sz="2800" b="1" dirty="0">
              <a:solidFill>
                <a:srgbClr val="800080"/>
              </a:solidFill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endParaRPr lang="zh-CN" altLang="en-US" sz="1000" b="1" dirty="0"/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zh-CN" altLang="en-US" sz="2800" b="1" dirty="0"/>
              <a:t>    对形如 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zh-CN" altLang="en-US" sz="2800" b="1" dirty="0"/>
              <a:t>             </a:t>
            </a:r>
            <a:r>
              <a:rPr lang="en-US" altLang="zh-CN" sz="2800" dirty="0"/>
              <a:t>P </a:t>
            </a:r>
            <a:r>
              <a:rPr lang="en-US" altLang="zh-CN" sz="2800" b="1" dirty="0">
                <a:sym typeface="Symbol" pitchFamily="18" charset="2"/>
              </a:rPr>
              <a:t></a:t>
            </a:r>
            <a:r>
              <a:rPr lang="en-US" altLang="zh-CN" sz="2800" dirty="0"/>
              <a:t> P </a:t>
            </a:r>
            <a:r>
              <a:rPr lang="en-US" altLang="zh-CN" sz="2800" b="1" dirty="0" err="1"/>
              <a:t>α</a:t>
            </a:r>
            <a:r>
              <a:rPr lang="en-US" altLang="zh-CN" sz="2800" b="1" dirty="0" err="1">
                <a:sym typeface="Symbol" pitchFamily="18" charset="2"/>
              </a:rPr>
              <a:t></a:t>
            </a:r>
            <a:r>
              <a:rPr lang="en-US" altLang="zh-CN" sz="2800" b="1" dirty="0" err="1"/>
              <a:t>β</a:t>
            </a:r>
            <a:r>
              <a:rPr lang="en-US" altLang="zh-CN" sz="2800" b="1" dirty="0"/>
              <a:t> 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的产生式，其中</a:t>
            </a:r>
            <a:r>
              <a:rPr lang="en-US" altLang="zh-CN" sz="2800" b="1" dirty="0"/>
              <a:t>α</a:t>
            </a:r>
            <a:r>
              <a:rPr lang="zh-CN" altLang="en-US" sz="2800" b="1" dirty="0"/>
              <a:t>非</a:t>
            </a:r>
            <a:r>
              <a:rPr lang="zh-CN" altLang="en-US" sz="2400" b="1" dirty="0">
                <a:sym typeface="Symbol" pitchFamily="18" charset="2"/>
              </a:rPr>
              <a:t>， </a:t>
            </a:r>
            <a:r>
              <a:rPr lang="en-US" altLang="zh-CN" sz="2800" b="1" dirty="0" smtClean="0"/>
              <a:t>β</a:t>
            </a:r>
            <a:r>
              <a:rPr lang="zh-CN" altLang="en-US" sz="2800" b="1" dirty="0"/>
              <a:t>不以 </a:t>
            </a:r>
            <a:r>
              <a:rPr lang="en-US" altLang="zh-CN" sz="2800" dirty="0"/>
              <a:t>P </a:t>
            </a:r>
            <a:r>
              <a:rPr lang="zh-CN" altLang="en-US" sz="2800" b="1" dirty="0"/>
              <a:t>打头，                  </a:t>
            </a:r>
            <a:endParaRPr lang="zh-CN" altLang="en-US" sz="2800" dirty="0"/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zh-CN" altLang="en-US" sz="2800" b="1" dirty="0"/>
              <a:t>    可改写为：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zh-CN" altLang="en-US" sz="2800" b="1" dirty="0"/>
              <a:t>             </a:t>
            </a:r>
            <a:r>
              <a:rPr lang="en-US" altLang="zh-CN" sz="2800" dirty="0"/>
              <a:t>P </a:t>
            </a:r>
            <a:r>
              <a:rPr lang="en-US" altLang="zh-CN" sz="2800" b="1" dirty="0">
                <a:sym typeface="Symbol" pitchFamily="18" charset="2"/>
              </a:rPr>
              <a:t></a:t>
            </a:r>
            <a:r>
              <a:rPr lang="en-US" altLang="zh-CN" sz="2800" dirty="0"/>
              <a:t> </a:t>
            </a:r>
            <a:r>
              <a:rPr lang="en-US" altLang="zh-CN" sz="2800" b="1" dirty="0"/>
              <a:t> </a:t>
            </a:r>
            <a:r>
              <a:rPr lang="en-US" altLang="zh-CN" sz="2800" b="1" dirty="0" err="1"/>
              <a:t>β</a:t>
            </a:r>
            <a:r>
              <a:rPr lang="en-US" altLang="zh-CN" sz="2800" dirty="0" err="1"/>
              <a:t>Q</a:t>
            </a:r>
            <a:endParaRPr lang="en-US" altLang="zh-CN" sz="2800" dirty="0"/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800" dirty="0"/>
              <a:t>             Q </a:t>
            </a:r>
            <a:r>
              <a:rPr lang="en-US" altLang="zh-CN" sz="2800" b="1" dirty="0">
                <a:sym typeface="Symbol" pitchFamily="18" charset="2"/>
              </a:rPr>
              <a:t></a:t>
            </a:r>
            <a:r>
              <a:rPr lang="en-US" altLang="zh-CN" sz="2800" dirty="0"/>
              <a:t> </a:t>
            </a:r>
            <a:r>
              <a:rPr lang="en-US" altLang="zh-CN" sz="2800" b="1" dirty="0" err="1"/>
              <a:t>α</a:t>
            </a:r>
            <a:r>
              <a:rPr lang="en-US" altLang="zh-CN" sz="2800" dirty="0" err="1"/>
              <a:t>Q</a:t>
            </a:r>
            <a:r>
              <a:rPr lang="en-US" altLang="zh-CN" sz="2800" dirty="0"/>
              <a:t> </a:t>
            </a:r>
            <a:r>
              <a:rPr lang="en-US" altLang="zh-CN" sz="2800" b="1" dirty="0">
                <a:sym typeface="Symbol" pitchFamily="18" charset="2"/>
              </a:rPr>
              <a:t></a:t>
            </a:r>
            <a:r>
              <a:rPr lang="en-US" altLang="zh-CN" sz="2800" b="1" dirty="0"/>
              <a:t> </a:t>
            </a:r>
            <a:r>
              <a:rPr lang="en-US" altLang="zh-CN" sz="2400" b="1" dirty="0">
                <a:sym typeface="Symbol" pitchFamily="18" charset="2"/>
              </a:rPr>
              <a:t>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400" b="1" dirty="0">
                <a:sym typeface="Symbol" pitchFamily="18" charset="2"/>
              </a:rPr>
              <a:t>    </a:t>
            </a:r>
            <a:r>
              <a:rPr lang="zh-CN" altLang="en-US" sz="2800" b="1" dirty="0">
                <a:sym typeface="Symbol" pitchFamily="18" charset="2"/>
              </a:rPr>
              <a:t>其中</a:t>
            </a:r>
            <a:r>
              <a:rPr lang="en-US" altLang="zh-CN" sz="2800" dirty="0"/>
              <a:t>Q</a:t>
            </a:r>
            <a:r>
              <a:rPr lang="zh-CN" altLang="en-US" sz="2800" b="1" dirty="0"/>
              <a:t>为新增加的</a:t>
            </a:r>
            <a:r>
              <a:rPr lang="zh-CN" altLang="en-US" sz="2800" b="1" dirty="0" smtClean="0"/>
              <a:t>非终结符</a:t>
            </a:r>
            <a:endParaRPr lang="en-US" altLang="zh-CN" sz="2800" b="1" dirty="0" smtClean="0"/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endParaRPr lang="zh-CN" altLang="en-US" sz="2800" b="1" dirty="0"/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705879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11"/>
          <p:cNvSpPr>
            <a:spLocks noChangeArrowheads="1"/>
          </p:cNvSpPr>
          <p:nvPr/>
        </p:nvSpPr>
        <p:spPr bwMode="auto">
          <a:xfrm>
            <a:off x="967083" y="1209099"/>
            <a:ext cx="7632700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SzPct val="75000"/>
              <a:buFont typeface="Symbol" pitchFamily="18" charset="2"/>
              <a:buChar char="-"/>
            </a:pPr>
            <a:r>
              <a:rPr lang="zh-CN" altLang="en-US" sz="2800" b="1" dirty="0" smtClean="0">
                <a:solidFill>
                  <a:srgbClr val="800080"/>
                </a:solidFill>
              </a:rPr>
              <a:t>简单直接左递归消除</a:t>
            </a:r>
            <a:endParaRPr lang="zh-CN" altLang="en-US" sz="2800" b="1" dirty="0">
              <a:solidFill>
                <a:srgbClr val="800080"/>
              </a:solidFill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endParaRPr lang="zh-CN" altLang="en-US" sz="1000" b="1" dirty="0"/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zh-CN" altLang="en-US" sz="2800" b="1" dirty="0"/>
              <a:t>    对形如 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zh-CN" altLang="en-US" sz="2800" b="1" dirty="0"/>
              <a:t>             </a:t>
            </a:r>
            <a:r>
              <a:rPr lang="en-US" altLang="zh-CN" sz="2800" dirty="0"/>
              <a:t>P </a:t>
            </a:r>
            <a:r>
              <a:rPr lang="en-US" altLang="zh-CN" sz="2800" b="1" dirty="0">
                <a:sym typeface="Symbol" pitchFamily="18" charset="2"/>
              </a:rPr>
              <a:t></a:t>
            </a:r>
            <a:r>
              <a:rPr lang="en-US" altLang="zh-CN" sz="2800" dirty="0"/>
              <a:t> P </a:t>
            </a:r>
            <a:r>
              <a:rPr lang="en-US" altLang="zh-CN" sz="2800" b="1" dirty="0" err="1"/>
              <a:t>α</a:t>
            </a:r>
            <a:r>
              <a:rPr lang="en-US" altLang="zh-CN" sz="2800" b="1" dirty="0" err="1">
                <a:sym typeface="Symbol" pitchFamily="18" charset="2"/>
              </a:rPr>
              <a:t></a:t>
            </a:r>
            <a:r>
              <a:rPr lang="en-US" altLang="zh-CN" sz="2800" b="1" dirty="0" err="1"/>
              <a:t>β</a:t>
            </a:r>
            <a:r>
              <a:rPr lang="en-US" altLang="zh-CN" sz="2800" b="1" dirty="0"/>
              <a:t> 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的产生式，其中</a:t>
            </a:r>
            <a:r>
              <a:rPr lang="en-US" altLang="zh-CN" sz="2800" b="1" dirty="0"/>
              <a:t>α</a:t>
            </a:r>
            <a:r>
              <a:rPr lang="zh-CN" altLang="en-US" sz="2800" b="1" dirty="0"/>
              <a:t>非</a:t>
            </a:r>
            <a:r>
              <a:rPr lang="zh-CN" altLang="en-US" sz="2400" b="1" dirty="0">
                <a:sym typeface="Symbol" pitchFamily="18" charset="2"/>
              </a:rPr>
              <a:t>， </a:t>
            </a:r>
            <a:r>
              <a:rPr lang="en-US" altLang="zh-CN" sz="2800" b="1" dirty="0" smtClean="0"/>
              <a:t>β</a:t>
            </a:r>
            <a:r>
              <a:rPr lang="zh-CN" altLang="en-US" sz="2800" b="1" dirty="0"/>
              <a:t>不以 </a:t>
            </a:r>
            <a:r>
              <a:rPr lang="en-US" altLang="zh-CN" sz="2800" dirty="0"/>
              <a:t>P </a:t>
            </a:r>
            <a:r>
              <a:rPr lang="zh-CN" altLang="en-US" sz="2800" b="1" dirty="0"/>
              <a:t>打头，                  </a:t>
            </a:r>
            <a:endParaRPr lang="zh-CN" altLang="en-US" sz="2800" dirty="0"/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zh-CN" altLang="en-US" sz="2800" b="1" dirty="0"/>
              <a:t>    可改写为：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zh-CN" altLang="en-US" sz="2800" b="1" dirty="0"/>
              <a:t>             </a:t>
            </a:r>
            <a:r>
              <a:rPr lang="en-US" altLang="zh-CN" sz="2800" dirty="0"/>
              <a:t>P </a:t>
            </a:r>
            <a:r>
              <a:rPr lang="en-US" altLang="zh-CN" sz="2800" b="1" dirty="0">
                <a:sym typeface="Symbol" pitchFamily="18" charset="2"/>
              </a:rPr>
              <a:t></a:t>
            </a:r>
            <a:r>
              <a:rPr lang="en-US" altLang="zh-CN" sz="2800" dirty="0"/>
              <a:t> </a:t>
            </a:r>
            <a:r>
              <a:rPr lang="en-US" altLang="zh-CN" sz="2800" b="1" dirty="0"/>
              <a:t> </a:t>
            </a:r>
            <a:r>
              <a:rPr lang="en-US" altLang="zh-CN" sz="2800" b="1" dirty="0" err="1"/>
              <a:t>β</a:t>
            </a:r>
            <a:r>
              <a:rPr lang="en-US" altLang="zh-CN" sz="2800" dirty="0" err="1"/>
              <a:t>Q</a:t>
            </a:r>
            <a:endParaRPr lang="en-US" altLang="zh-CN" sz="2800" dirty="0"/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800" dirty="0"/>
              <a:t>             Q </a:t>
            </a:r>
            <a:r>
              <a:rPr lang="en-US" altLang="zh-CN" sz="2800" b="1" dirty="0">
                <a:sym typeface="Symbol" pitchFamily="18" charset="2"/>
              </a:rPr>
              <a:t></a:t>
            </a:r>
            <a:r>
              <a:rPr lang="en-US" altLang="zh-CN" sz="2800" dirty="0"/>
              <a:t> </a:t>
            </a:r>
            <a:r>
              <a:rPr lang="en-US" altLang="zh-CN" sz="2800" b="1" dirty="0" err="1"/>
              <a:t>α</a:t>
            </a:r>
            <a:r>
              <a:rPr lang="en-US" altLang="zh-CN" sz="2800" dirty="0" err="1"/>
              <a:t>Q</a:t>
            </a:r>
            <a:r>
              <a:rPr lang="en-US" altLang="zh-CN" sz="2800" dirty="0"/>
              <a:t> </a:t>
            </a:r>
            <a:r>
              <a:rPr lang="en-US" altLang="zh-CN" sz="2800" b="1" dirty="0">
                <a:sym typeface="Symbol" pitchFamily="18" charset="2"/>
              </a:rPr>
              <a:t></a:t>
            </a:r>
            <a:r>
              <a:rPr lang="en-US" altLang="zh-CN" sz="2800" b="1" dirty="0"/>
              <a:t> </a:t>
            </a:r>
            <a:r>
              <a:rPr lang="en-US" altLang="zh-CN" sz="2400" b="1" dirty="0">
                <a:sym typeface="Symbol" pitchFamily="18" charset="2"/>
              </a:rPr>
              <a:t>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400" b="1" dirty="0">
                <a:sym typeface="Symbol" pitchFamily="18" charset="2"/>
              </a:rPr>
              <a:t>    </a:t>
            </a:r>
            <a:r>
              <a:rPr lang="zh-CN" altLang="en-US" sz="2800" b="1" dirty="0">
                <a:sym typeface="Symbol" pitchFamily="18" charset="2"/>
              </a:rPr>
              <a:t>其中</a:t>
            </a:r>
            <a:r>
              <a:rPr lang="en-US" altLang="zh-CN" sz="2800" dirty="0"/>
              <a:t>Q</a:t>
            </a:r>
            <a:r>
              <a:rPr lang="zh-CN" altLang="en-US" sz="2800" b="1" dirty="0"/>
              <a:t>为新增加的</a:t>
            </a:r>
            <a:r>
              <a:rPr lang="zh-CN" altLang="en-US" sz="2800" b="1" dirty="0" smtClean="0"/>
              <a:t>非终结符</a:t>
            </a:r>
            <a:endParaRPr lang="en-US" altLang="zh-CN" sz="2800" b="1" dirty="0" smtClean="0"/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</a:pPr>
            <a:endParaRPr lang="zh-CN" altLang="en-US" sz="2800" b="1" dirty="0"/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itchFamily="2" charset="2"/>
              <a:buChar char="l"/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826606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4.4</a:t>
            </a:r>
            <a:r>
              <a:rPr lang="zh-CN" altLang="en-US" dirty="0" smtClean="0"/>
              <a:t>、</a:t>
            </a:r>
            <a:r>
              <a:rPr lang="zh-CN" altLang="en-US" dirty="0"/>
              <a:t>不确定的自顶向下分析思想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68313" y="1041401"/>
            <a:ext cx="8218487" cy="5113338"/>
          </a:xfrm>
        </p:spPr>
        <p:txBody>
          <a:bodyPr/>
          <a:lstStyle/>
          <a:p>
            <a:r>
              <a:rPr lang="zh-CN" altLang="en-US" dirty="0" smtClean="0"/>
              <a:t>不确定的自顶向下分析思想又称为带回溯的自顶向下分析。</a:t>
            </a:r>
            <a:endParaRPr lang="en-US" altLang="zh-CN" dirty="0" smtClean="0"/>
          </a:p>
          <a:p>
            <a:r>
              <a:rPr lang="zh-CN" altLang="en-US" dirty="0" smtClean="0"/>
              <a:t>回溯的原因：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在文法中当关于某个非终结点符的产生式有多个候选时，而面临当前的输入符无法确定选用唯一的产生式，从而引起回溯。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648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4.4</a:t>
            </a:r>
            <a:r>
              <a:rPr lang="zh-CN" altLang="en-US" dirty="0" smtClean="0"/>
              <a:t>、</a:t>
            </a:r>
            <a:r>
              <a:rPr lang="zh-CN" altLang="en-US" dirty="0"/>
              <a:t>不确定的自顶向下分析思想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回溯的三种常见例子：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由于相同左部的产生式的右部</a:t>
                </a:r>
                <a:r>
                  <a:rPr lang="en-US" altLang="zh-CN" dirty="0" smtClean="0"/>
                  <a:t>FIRST</a:t>
                </a:r>
                <a:r>
                  <a:rPr lang="zh-CN" altLang="en-US" dirty="0" smtClean="0"/>
                  <a:t>集交集不为空而引起回溯。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由于相同左部非终结符的右部存在能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/>
                      </a:rPr>
                      <m:t>⟹</m:t>
                    </m:r>
                  </m:oMath>
                </a14:m>
                <a:r>
                  <a:rPr lang="zh-CN" altLang="en-US" dirty="0" smtClean="0"/>
                  <a:t>*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/>
                      </a:rPr>
                      <m:t>𝜺</m:t>
                    </m:r>
                    <m:r>
                      <a:rPr lang="zh-CN" altLang="en-US" b="1" i="1" dirty="0" smtClean="0">
                        <a:latin typeface="Cambria Math"/>
                      </a:rPr>
                      <m:t>的</m:t>
                    </m:r>
                    <m:r>
                      <a:rPr lang="zh-CN" altLang="en-US" i="1" dirty="0">
                        <a:latin typeface="Cambria Math"/>
                      </a:rPr>
                      <m:t>产生式</m:t>
                    </m:r>
                  </m:oMath>
                </a14:m>
                <a:r>
                  <a:rPr lang="zh-CN" altLang="en-US" dirty="0" smtClean="0"/>
                  <a:t>，且该非终结符的</a:t>
                </a:r>
                <a:r>
                  <a:rPr lang="en-US" altLang="zh-CN" dirty="0" smtClean="0"/>
                  <a:t>FOLLOW</a:t>
                </a:r>
                <a:r>
                  <a:rPr lang="zh-CN" altLang="en-US" dirty="0" smtClean="0"/>
                  <a:t>集中含有其他产生式右部</a:t>
                </a:r>
                <a:r>
                  <a:rPr lang="en-US" altLang="zh-CN" dirty="0" smtClean="0"/>
                  <a:t>FIRST</a:t>
                </a:r>
                <a:r>
                  <a:rPr lang="zh-CN" altLang="en-US" dirty="0" smtClean="0"/>
                  <a:t>集的元素。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由于文法的左递归而引起回溯。</a:t>
                </a:r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549" r="-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994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4.5</a:t>
            </a:r>
            <a:r>
              <a:rPr lang="zh-CN" altLang="en-US" dirty="0" smtClean="0"/>
              <a:t>、</a:t>
            </a:r>
            <a:r>
              <a:rPr lang="en-US" altLang="zh-CN" dirty="0" smtClean="0"/>
              <a:t>LL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）分析实现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递归下降 </a:t>
            </a:r>
            <a:r>
              <a:rPr lang="en-US" altLang="zh-CN" dirty="0"/>
              <a:t>LL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）分析程序</a:t>
            </a:r>
          </a:p>
          <a:p>
            <a:pPr lvl="1"/>
            <a:r>
              <a:rPr lang="zh-CN" altLang="en-US" dirty="0" smtClean="0"/>
              <a:t>每个</a:t>
            </a:r>
            <a:r>
              <a:rPr lang="zh-CN" altLang="en-US" dirty="0"/>
              <a:t>非终结符对应一个分析子程序</a:t>
            </a:r>
          </a:p>
          <a:p>
            <a:r>
              <a:rPr lang="zh-CN" altLang="en-US" dirty="0"/>
              <a:t>表驱动 </a:t>
            </a:r>
            <a:r>
              <a:rPr lang="en-US" altLang="zh-CN" dirty="0"/>
              <a:t>LL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）分析程序</a:t>
            </a:r>
          </a:p>
          <a:p>
            <a:pPr lvl="1"/>
            <a:r>
              <a:rPr lang="zh-CN" altLang="en-US" dirty="0" smtClean="0"/>
              <a:t>借助于</a:t>
            </a:r>
            <a:r>
              <a:rPr lang="zh-CN" altLang="en-US" dirty="0"/>
              <a:t>预测分析表和一个下推栈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329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4.5.1</a:t>
            </a:r>
            <a:r>
              <a:rPr lang="zh-CN" altLang="en-US" dirty="0" smtClean="0"/>
              <a:t>递归</a:t>
            </a:r>
            <a:r>
              <a:rPr lang="zh-CN" altLang="en-US" dirty="0"/>
              <a:t>下降分析法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工作原理</a:t>
            </a:r>
            <a:endParaRPr lang="en-US" altLang="zh-CN" dirty="0" smtClean="0"/>
          </a:p>
          <a:p>
            <a:pPr lvl="1"/>
            <a:r>
              <a:rPr lang="zh-CN" altLang="en-US" dirty="0"/>
              <a:t>每个</a:t>
            </a:r>
            <a:r>
              <a:rPr lang="zh-CN" altLang="en-US" dirty="0">
                <a:solidFill>
                  <a:srgbClr val="FF0000"/>
                </a:solidFill>
              </a:rPr>
              <a:t>非终结符</a:t>
            </a:r>
            <a:r>
              <a:rPr lang="zh-CN" altLang="en-US" dirty="0"/>
              <a:t>都对应一个</a:t>
            </a:r>
            <a:r>
              <a:rPr lang="zh-CN" altLang="en-US" dirty="0">
                <a:solidFill>
                  <a:srgbClr val="FF0000"/>
                </a:solidFill>
              </a:rPr>
              <a:t>子程序</a:t>
            </a:r>
            <a:r>
              <a:rPr lang="zh-CN" altLang="en-US" dirty="0"/>
              <a:t>。该</a:t>
            </a:r>
            <a:r>
              <a:rPr lang="zh-CN" altLang="en-US" dirty="0" smtClean="0"/>
              <a:t>子程序的</a:t>
            </a:r>
            <a:r>
              <a:rPr lang="zh-CN" altLang="en-US" dirty="0"/>
              <a:t>行为根据</a:t>
            </a:r>
            <a:r>
              <a:rPr lang="zh-CN" altLang="en-US" dirty="0">
                <a:solidFill>
                  <a:srgbClr val="FF0000"/>
                </a:solidFill>
              </a:rPr>
              <a:t>语法描述</a:t>
            </a:r>
            <a:r>
              <a:rPr lang="zh-CN" altLang="en-US" dirty="0"/>
              <a:t>来明确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根据</a:t>
            </a:r>
            <a:r>
              <a:rPr lang="zh-CN" altLang="en-US" dirty="0"/>
              <a:t>下一个</a:t>
            </a:r>
            <a:r>
              <a:rPr lang="zh-CN" altLang="en-US" dirty="0" smtClean="0">
                <a:solidFill>
                  <a:srgbClr val="FF0000"/>
                </a:solidFill>
              </a:rPr>
              <a:t>输入</a:t>
            </a:r>
            <a:r>
              <a:rPr lang="zh-CN" altLang="en-US" dirty="0">
                <a:solidFill>
                  <a:srgbClr val="FF0000"/>
                </a:solidFill>
              </a:rPr>
              <a:t>符号</a:t>
            </a:r>
            <a:r>
              <a:rPr lang="zh-CN" altLang="en-US" dirty="0"/>
              <a:t>来</a:t>
            </a:r>
            <a:r>
              <a:rPr lang="zh-CN" altLang="en-US" dirty="0">
                <a:solidFill>
                  <a:srgbClr val="FF0000"/>
                </a:solidFill>
              </a:rPr>
              <a:t>确定</a:t>
            </a:r>
            <a:r>
              <a:rPr lang="zh-CN" altLang="en-US" dirty="0"/>
              <a:t>按照哪一个</a:t>
            </a:r>
            <a:r>
              <a:rPr lang="zh-CN" altLang="en-US" dirty="0">
                <a:solidFill>
                  <a:srgbClr val="FF0000"/>
                </a:solidFill>
              </a:rPr>
              <a:t>产生式</a:t>
            </a:r>
            <a:r>
              <a:rPr lang="zh-CN" altLang="en-US" dirty="0"/>
              <a:t>进行处理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再</a:t>
            </a:r>
            <a:r>
              <a:rPr lang="zh-CN" altLang="en-US" dirty="0"/>
              <a:t>根据该产生式的</a:t>
            </a:r>
            <a:r>
              <a:rPr lang="zh-CN" altLang="en-US" dirty="0">
                <a:solidFill>
                  <a:srgbClr val="FF0000"/>
                </a:solidFill>
              </a:rPr>
              <a:t>右端</a:t>
            </a:r>
            <a:r>
              <a:rPr lang="zh-CN" altLang="en-US" dirty="0" smtClean="0"/>
              <a:t>，每</a:t>
            </a:r>
            <a:r>
              <a:rPr lang="zh-CN" altLang="en-US" dirty="0"/>
              <a:t>遇到一个</a:t>
            </a:r>
            <a:r>
              <a:rPr lang="zh-CN" altLang="en-US" dirty="0">
                <a:solidFill>
                  <a:srgbClr val="FF0000"/>
                </a:solidFill>
              </a:rPr>
              <a:t>终结符</a:t>
            </a:r>
            <a:r>
              <a:rPr lang="zh-CN" altLang="en-US" dirty="0"/>
              <a:t>，则</a:t>
            </a:r>
            <a:r>
              <a:rPr lang="zh-CN" altLang="en-US" dirty="0">
                <a:solidFill>
                  <a:srgbClr val="FF0000"/>
                </a:solidFill>
              </a:rPr>
              <a:t>判断</a:t>
            </a:r>
            <a:r>
              <a:rPr lang="zh-CN" altLang="en-US" dirty="0"/>
              <a:t>当前读入的单词</a:t>
            </a:r>
            <a:r>
              <a:rPr lang="zh-CN" altLang="en-US" dirty="0" smtClean="0"/>
              <a:t>是否与</a:t>
            </a:r>
            <a:r>
              <a:rPr lang="zh-CN" altLang="en-US" dirty="0"/>
              <a:t>该终结符相</a:t>
            </a:r>
            <a:r>
              <a:rPr lang="zh-CN" altLang="en-US" dirty="0">
                <a:solidFill>
                  <a:srgbClr val="FF0000"/>
                </a:solidFill>
              </a:rPr>
              <a:t>匹配</a:t>
            </a:r>
            <a:r>
              <a:rPr lang="zh-CN" altLang="en-US" dirty="0"/>
              <a:t>，若匹配，再</a:t>
            </a:r>
            <a:r>
              <a:rPr lang="zh-CN" altLang="en-US" dirty="0">
                <a:solidFill>
                  <a:srgbClr val="FF0000"/>
                </a:solidFill>
              </a:rPr>
              <a:t>读取</a:t>
            </a:r>
            <a:r>
              <a:rPr lang="zh-CN" altLang="en-US" dirty="0"/>
              <a:t>下一个</a:t>
            </a:r>
            <a:r>
              <a:rPr lang="zh-CN" altLang="en-US" dirty="0" smtClean="0"/>
              <a:t>单词继续</a:t>
            </a:r>
            <a:r>
              <a:rPr lang="zh-CN" altLang="en-US" dirty="0"/>
              <a:t>分析；不匹配，则进行出错处理</a:t>
            </a:r>
          </a:p>
          <a:p>
            <a:pPr lvl="1"/>
            <a:r>
              <a:rPr lang="zh-CN" altLang="en-US" dirty="0" smtClean="0"/>
              <a:t>每</a:t>
            </a:r>
            <a:r>
              <a:rPr lang="zh-CN" altLang="en-US" dirty="0">
                <a:solidFill>
                  <a:srgbClr val="FF0000"/>
                </a:solidFill>
              </a:rPr>
              <a:t>遇到</a:t>
            </a:r>
            <a:r>
              <a:rPr lang="zh-CN" altLang="en-US" dirty="0"/>
              <a:t>一个</a:t>
            </a:r>
            <a:r>
              <a:rPr lang="zh-CN" altLang="en-US" dirty="0">
                <a:solidFill>
                  <a:srgbClr val="FF0000"/>
                </a:solidFill>
              </a:rPr>
              <a:t>非终结符</a:t>
            </a:r>
            <a:r>
              <a:rPr lang="zh-CN" altLang="en-US" dirty="0"/>
              <a:t>，则</a:t>
            </a:r>
            <a:r>
              <a:rPr lang="zh-CN" altLang="en-US" dirty="0">
                <a:solidFill>
                  <a:srgbClr val="FF0000"/>
                </a:solidFill>
              </a:rPr>
              <a:t>调用</a:t>
            </a:r>
            <a:r>
              <a:rPr lang="zh-CN" altLang="en-US" dirty="0"/>
              <a:t>相应的</a:t>
            </a:r>
            <a:r>
              <a:rPr lang="zh-CN" altLang="en-US" dirty="0">
                <a:solidFill>
                  <a:srgbClr val="FF0000"/>
                </a:solidFill>
              </a:rPr>
              <a:t>子程序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8117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每个</a:t>
            </a:r>
            <a:r>
              <a:rPr lang="zh-CN" altLang="en-US" dirty="0">
                <a:solidFill>
                  <a:srgbClr val="FF0000"/>
                </a:solidFill>
              </a:rPr>
              <a:t>函数名</a:t>
            </a:r>
            <a:r>
              <a:rPr lang="zh-CN" altLang="en-US" dirty="0"/>
              <a:t>是相应的</a:t>
            </a:r>
            <a:r>
              <a:rPr lang="zh-CN" altLang="en-US" dirty="0">
                <a:solidFill>
                  <a:srgbClr val="FF0000"/>
                </a:solidFill>
              </a:rPr>
              <a:t>非终结符</a:t>
            </a:r>
            <a:r>
              <a:rPr lang="en-US" altLang="zh-CN" dirty="0"/>
              <a:t>,</a:t>
            </a:r>
            <a:r>
              <a:rPr lang="zh-CN" altLang="en-US" dirty="0">
                <a:solidFill>
                  <a:srgbClr val="FF0000"/>
                </a:solidFill>
              </a:rPr>
              <a:t>函数体</a:t>
            </a:r>
            <a:r>
              <a:rPr lang="zh-CN" altLang="en-US" dirty="0"/>
              <a:t>则是根据规则</a:t>
            </a:r>
            <a:r>
              <a:rPr lang="zh-CN" altLang="en-US" dirty="0">
                <a:solidFill>
                  <a:srgbClr val="FF0000"/>
                </a:solidFill>
              </a:rPr>
              <a:t>右部符号串</a:t>
            </a:r>
            <a:r>
              <a:rPr lang="zh-CN" altLang="en-US" dirty="0"/>
              <a:t>的结构编写。</a:t>
            </a:r>
          </a:p>
          <a:p>
            <a:r>
              <a:rPr lang="zh-CN" altLang="en-US" dirty="0"/>
              <a:t>当遇到</a:t>
            </a:r>
            <a:r>
              <a:rPr lang="zh-CN" altLang="en-US" dirty="0">
                <a:solidFill>
                  <a:srgbClr val="FF0000"/>
                </a:solidFill>
              </a:rPr>
              <a:t>终结符</a:t>
            </a:r>
            <a:r>
              <a:rPr lang="en-US" altLang="zh-CN" dirty="0">
                <a:solidFill>
                  <a:srgbClr val="FF0000"/>
                </a:solidFill>
              </a:rPr>
              <a:t>a </a:t>
            </a:r>
            <a:r>
              <a:rPr lang="zh-CN" altLang="en-US" dirty="0"/>
              <a:t>时</a:t>
            </a:r>
            <a:r>
              <a:rPr lang="en-US" altLang="zh-CN" dirty="0"/>
              <a:t>,</a:t>
            </a:r>
            <a:r>
              <a:rPr lang="zh-CN" altLang="en-US" dirty="0"/>
              <a:t>则编写语句</a:t>
            </a:r>
          </a:p>
          <a:p>
            <a:pPr lvl="1"/>
            <a:r>
              <a:rPr lang="en-US" altLang="zh-CN" dirty="0" smtClean="0"/>
              <a:t>if </a:t>
            </a:r>
            <a:r>
              <a:rPr lang="en-US" altLang="zh-CN" dirty="0"/>
              <a:t>(</a:t>
            </a:r>
            <a:r>
              <a:rPr lang="zh-CN" altLang="en-US" dirty="0"/>
              <a:t>当前读来的输入符号</a:t>
            </a:r>
            <a:r>
              <a:rPr lang="en-US" altLang="zh-CN" dirty="0"/>
              <a:t>==a) </a:t>
            </a:r>
            <a:r>
              <a:rPr lang="zh-CN" altLang="en-US" dirty="0"/>
              <a:t>读下一个输入符号</a:t>
            </a:r>
            <a:r>
              <a:rPr lang="en-US" altLang="zh-CN" dirty="0"/>
              <a:t>;</a:t>
            </a:r>
          </a:p>
          <a:p>
            <a:r>
              <a:rPr lang="zh-CN" altLang="en-US" dirty="0"/>
              <a:t>当遇到</a:t>
            </a:r>
            <a:r>
              <a:rPr lang="zh-CN" altLang="en-US" dirty="0">
                <a:solidFill>
                  <a:srgbClr val="FF0000"/>
                </a:solidFill>
              </a:rPr>
              <a:t>非终结符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 </a:t>
            </a:r>
            <a:r>
              <a:rPr lang="zh-CN" altLang="en-US" dirty="0"/>
              <a:t>时</a:t>
            </a:r>
            <a:r>
              <a:rPr lang="en-US" altLang="zh-CN" dirty="0"/>
              <a:t>,</a:t>
            </a:r>
            <a:r>
              <a:rPr lang="zh-CN" altLang="en-US" dirty="0"/>
              <a:t>则编写语句调用</a:t>
            </a:r>
            <a:r>
              <a:rPr lang="en-US" altLang="zh-CN" dirty="0">
                <a:solidFill>
                  <a:srgbClr val="FF0000"/>
                </a:solidFill>
              </a:rPr>
              <a:t>A();</a:t>
            </a:r>
          </a:p>
          <a:p>
            <a:r>
              <a:rPr lang="zh-CN" altLang="en-US" dirty="0"/>
              <a:t>当遇到</a:t>
            </a:r>
            <a:r>
              <a:rPr lang="en-US" altLang="zh-CN" dirty="0"/>
              <a:t>A →ε</a:t>
            </a:r>
            <a:r>
              <a:rPr lang="zh-CN" altLang="en-US" dirty="0"/>
              <a:t>规则时</a:t>
            </a:r>
            <a:r>
              <a:rPr lang="en-US" altLang="zh-CN" dirty="0"/>
              <a:t>,</a:t>
            </a:r>
            <a:r>
              <a:rPr lang="zh-CN" altLang="en-US" dirty="0"/>
              <a:t>则编写语句</a:t>
            </a:r>
          </a:p>
          <a:p>
            <a:pPr lvl="1"/>
            <a:r>
              <a:rPr lang="en-US" altLang="zh-CN" dirty="0" smtClean="0"/>
              <a:t>if </a:t>
            </a:r>
            <a:r>
              <a:rPr lang="en-US" altLang="zh-CN" dirty="0"/>
              <a:t>(</a:t>
            </a:r>
            <a:r>
              <a:rPr lang="zh-CN" altLang="en-US" dirty="0"/>
              <a:t>当前读来的输入符号    </a:t>
            </a:r>
            <a:r>
              <a:rPr lang="en-US" altLang="zh-CN" dirty="0"/>
              <a:t>FOLLOW(A) )  error() ;</a:t>
            </a:r>
          </a:p>
          <a:p>
            <a:r>
              <a:rPr lang="zh-CN" altLang="en-US" dirty="0"/>
              <a:t>当某个</a:t>
            </a:r>
            <a:r>
              <a:rPr lang="zh-CN" altLang="en-US" dirty="0">
                <a:solidFill>
                  <a:srgbClr val="FF0000"/>
                </a:solidFill>
              </a:rPr>
              <a:t>非终结符</a:t>
            </a:r>
            <a:r>
              <a:rPr lang="zh-CN" altLang="en-US" dirty="0"/>
              <a:t>的规则有</a:t>
            </a:r>
            <a:r>
              <a:rPr lang="zh-CN" altLang="en-US" dirty="0">
                <a:solidFill>
                  <a:srgbClr val="FF0000"/>
                </a:solidFill>
              </a:rPr>
              <a:t>多个候选式</a:t>
            </a:r>
            <a:r>
              <a:rPr lang="zh-CN" altLang="en-US" dirty="0"/>
              <a:t>时</a:t>
            </a:r>
            <a:r>
              <a:rPr lang="en-US" altLang="zh-CN" dirty="0"/>
              <a:t>,</a:t>
            </a:r>
            <a:r>
              <a:rPr lang="zh-CN" altLang="en-US" dirty="0"/>
              <a:t>按</a:t>
            </a:r>
            <a:r>
              <a:rPr lang="en-US" altLang="zh-CN" dirty="0"/>
              <a:t>LL(1)</a:t>
            </a:r>
            <a:r>
              <a:rPr lang="zh-CN" altLang="en-US" dirty="0"/>
              <a:t>文法的条件能</a:t>
            </a:r>
            <a:r>
              <a:rPr lang="zh-CN" altLang="en-US" dirty="0">
                <a:solidFill>
                  <a:srgbClr val="FF0000"/>
                </a:solidFill>
              </a:rPr>
              <a:t>唯一</a:t>
            </a:r>
            <a:r>
              <a:rPr lang="zh-CN" altLang="en-US" dirty="0"/>
              <a:t>地选择一个候选式进行推导。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130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4.5.2 </a:t>
            </a:r>
            <a:r>
              <a:rPr lang="zh-CN" altLang="en-US" dirty="0" smtClean="0"/>
              <a:t>表驱动</a:t>
            </a:r>
            <a:r>
              <a:rPr lang="en-US" altLang="zh-CN" dirty="0" smtClean="0"/>
              <a:t>LL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）分析程序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工作原理：利用</a:t>
            </a:r>
            <a:r>
              <a:rPr lang="zh-CN" altLang="en-US" dirty="0">
                <a:solidFill>
                  <a:srgbClr val="FF0000"/>
                </a:solidFill>
              </a:rPr>
              <a:t>预测分析表</a:t>
            </a:r>
            <a:r>
              <a:rPr lang="zh-CN" altLang="en-US" dirty="0"/>
              <a:t>和一个</a:t>
            </a:r>
            <a:r>
              <a:rPr lang="zh-CN" altLang="en-US" dirty="0">
                <a:solidFill>
                  <a:srgbClr val="FF0000"/>
                </a:solidFill>
              </a:rPr>
              <a:t>下推栈</a:t>
            </a:r>
            <a:r>
              <a:rPr lang="zh-CN" altLang="en-US" dirty="0"/>
              <a:t>实现</a:t>
            </a:r>
          </a:p>
          <a:p>
            <a:r>
              <a:rPr lang="zh-CN" altLang="en-US" dirty="0" smtClean="0"/>
              <a:t> </a:t>
            </a:r>
            <a:r>
              <a:rPr lang="zh-CN" altLang="en-US" dirty="0"/>
              <a:t>初始时，</a:t>
            </a:r>
            <a:r>
              <a:rPr lang="zh-CN" altLang="en-US" dirty="0">
                <a:solidFill>
                  <a:srgbClr val="FF0000"/>
                </a:solidFill>
              </a:rPr>
              <a:t>下推栈</a:t>
            </a:r>
            <a:r>
              <a:rPr lang="zh-CN" altLang="en-US" dirty="0"/>
              <a:t>只包含</a:t>
            </a:r>
            <a:r>
              <a:rPr lang="en-US" altLang="zh-CN" dirty="0">
                <a:solidFill>
                  <a:srgbClr val="FF0000"/>
                </a:solidFill>
              </a:rPr>
              <a:t>#</a:t>
            </a:r>
            <a:r>
              <a:rPr lang="zh-CN" altLang="en-US" dirty="0"/>
              <a:t>；首先将文法</a:t>
            </a:r>
            <a:r>
              <a:rPr lang="zh-CN" altLang="en-US" dirty="0">
                <a:solidFill>
                  <a:srgbClr val="FF0000"/>
                </a:solidFill>
              </a:rPr>
              <a:t>开始</a:t>
            </a:r>
            <a:r>
              <a:rPr lang="zh-CN" altLang="en-US" dirty="0" smtClean="0">
                <a:solidFill>
                  <a:srgbClr val="FF0000"/>
                </a:solidFill>
              </a:rPr>
              <a:t>符号</a:t>
            </a:r>
            <a:r>
              <a:rPr lang="zh-CN" altLang="en-US" dirty="0">
                <a:solidFill>
                  <a:srgbClr val="FF0000"/>
                </a:solidFill>
              </a:rPr>
              <a:t>入栈</a:t>
            </a:r>
            <a:r>
              <a:rPr lang="zh-CN" altLang="en-US" dirty="0"/>
              <a:t>；之后依如下步骤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 若栈顶</a:t>
            </a:r>
            <a:r>
              <a:rPr lang="zh-CN" altLang="en-US" dirty="0" smtClean="0"/>
              <a:t>为终结符</a:t>
            </a:r>
            <a:r>
              <a:rPr lang="zh-CN" altLang="en-US" dirty="0"/>
              <a:t>，则判断当前读入的单词是否与该</a:t>
            </a:r>
            <a:r>
              <a:rPr lang="zh-CN" altLang="en-US" dirty="0" smtClean="0"/>
              <a:t>终结符相</a:t>
            </a:r>
            <a:r>
              <a:rPr lang="zh-CN" altLang="en-US" dirty="0"/>
              <a:t>匹配，若匹配，再读取下一 单词继续分析</a:t>
            </a:r>
            <a:r>
              <a:rPr lang="zh-CN" altLang="en-US" dirty="0" smtClean="0"/>
              <a:t>；不匹配，则</a:t>
            </a:r>
            <a:r>
              <a:rPr lang="zh-CN" altLang="en-US" dirty="0"/>
              <a:t>进行出错处理</a:t>
            </a:r>
            <a:r>
              <a:rPr lang="zh-CN" altLang="en-US" dirty="0" smtClean="0"/>
              <a:t>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）若栈顶为</a:t>
            </a:r>
            <a:r>
              <a:rPr lang="zh-CN" altLang="en-US" dirty="0" smtClean="0"/>
              <a:t>非终结符</a:t>
            </a:r>
            <a:r>
              <a:rPr lang="zh-CN" altLang="en-US" dirty="0"/>
              <a:t>，则根据该非终结符和当前输入单词查</a:t>
            </a:r>
            <a:r>
              <a:rPr lang="zh-CN" altLang="en-US" dirty="0" smtClean="0"/>
              <a:t>预测分析</a:t>
            </a:r>
            <a:r>
              <a:rPr lang="zh-CN" altLang="en-US" dirty="0"/>
              <a:t>表，若相应表项中是产生式（</a:t>
            </a:r>
            <a:r>
              <a:rPr lang="zh-CN" altLang="en-US" dirty="0">
                <a:solidFill>
                  <a:srgbClr val="FF0000"/>
                </a:solidFill>
              </a:rPr>
              <a:t>唯一的</a:t>
            </a:r>
            <a:r>
              <a:rPr lang="zh-CN" altLang="en-US" dirty="0" smtClean="0"/>
              <a:t>）， </a:t>
            </a:r>
            <a:r>
              <a:rPr lang="zh-CN" altLang="en-US" dirty="0"/>
              <a:t>则将此非终结符出栈，并把产生式</a:t>
            </a:r>
            <a:r>
              <a:rPr lang="zh-CN" altLang="en-US" dirty="0">
                <a:solidFill>
                  <a:srgbClr val="FF0000"/>
                </a:solidFill>
              </a:rPr>
              <a:t>右部</a:t>
            </a:r>
            <a:r>
              <a:rPr lang="zh-CN" altLang="en-US" dirty="0"/>
              <a:t>符号</a:t>
            </a:r>
            <a:r>
              <a:rPr lang="zh-CN" altLang="en-US" dirty="0" smtClean="0">
                <a:solidFill>
                  <a:srgbClr val="FF0000"/>
                </a:solidFill>
              </a:rPr>
              <a:t>从右</a:t>
            </a:r>
            <a:r>
              <a:rPr lang="zh-CN" altLang="en-US" dirty="0">
                <a:solidFill>
                  <a:srgbClr val="FF0000"/>
                </a:solidFill>
              </a:rPr>
              <a:t>至左</a:t>
            </a:r>
            <a:r>
              <a:rPr lang="zh-CN" altLang="en-US" dirty="0"/>
              <a:t>入栈；若表项为空，则进行出错处理；</a:t>
            </a:r>
          </a:p>
          <a:p>
            <a:pPr lvl="1"/>
            <a:r>
              <a:rPr lang="zh-CN" altLang="en-US" dirty="0" smtClean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）重复（</a:t>
            </a:r>
            <a:r>
              <a:rPr lang="en-US" altLang="zh-CN" dirty="0"/>
              <a:t>1</a:t>
            </a:r>
            <a:r>
              <a:rPr lang="zh-CN" altLang="en-US" dirty="0"/>
              <a:t>）和（</a:t>
            </a:r>
            <a:r>
              <a:rPr lang="en-US" altLang="zh-CN" dirty="0"/>
              <a:t>2</a:t>
            </a:r>
            <a:r>
              <a:rPr lang="zh-CN" altLang="en-US" dirty="0"/>
              <a:t>），直到栈顶为 </a:t>
            </a:r>
            <a:r>
              <a:rPr lang="en-US" altLang="zh-CN" dirty="0"/>
              <a:t># </a:t>
            </a:r>
            <a:r>
              <a:rPr lang="zh-CN" altLang="en-US" dirty="0"/>
              <a:t>同时</a:t>
            </a:r>
            <a:r>
              <a:rPr lang="zh-CN" altLang="en-US" dirty="0" smtClean="0"/>
              <a:t>输入也</a:t>
            </a:r>
            <a:r>
              <a:rPr lang="zh-CN" altLang="en-US" dirty="0"/>
              <a:t>遇到结束符 </a:t>
            </a:r>
            <a:r>
              <a:rPr lang="en-US" altLang="zh-CN" dirty="0"/>
              <a:t># </a:t>
            </a:r>
            <a:r>
              <a:rPr lang="zh-CN" altLang="en-US" dirty="0"/>
              <a:t>时，分析结束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845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4.5.2 </a:t>
            </a:r>
            <a:r>
              <a:rPr lang="zh-CN" altLang="en-US" dirty="0" smtClean="0"/>
              <a:t>表</a:t>
            </a:r>
            <a:r>
              <a:rPr lang="zh-CN" altLang="en-US" dirty="0"/>
              <a:t>驱动</a:t>
            </a:r>
            <a:r>
              <a:rPr lang="en-US" altLang="zh-CN" dirty="0"/>
              <a:t>LL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）分析程序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 预测分析表</a:t>
            </a:r>
          </a:p>
          <a:p>
            <a:pPr lvl="1"/>
            <a:r>
              <a:rPr lang="zh-CN" altLang="en-US" dirty="0"/>
              <a:t>表驱动分析程序需要的</a:t>
            </a:r>
            <a:r>
              <a:rPr lang="zh-CN" altLang="en-US" dirty="0">
                <a:solidFill>
                  <a:srgbClr val="FF0000"/>
                </a:solidFill>
              </a:rPr>
              <a:t>二维表</a:t>
            </a:r>
            <a:r>
              <a:rPr lang="en-US" altLang="zh-CN" dirty="0">
                <a:solidFill>
                  <a:srgbClr val="FF0000"/>
                </a:solidFill>
              </a:rPr>
              <a:t>M</a:t>
            </a:r>
          </a:p>
          <a:p>
            <a:pPr lvl="1"/>
            <a:r>
              <a:rPr lang="en-US" altLang="zh-CN" dirty="0" smtClean="0"/>
              <a:t> </a:t>
            </a:r>
            <a:r>
              <a:rPr lang="zh-CN" altLang="en-US" dirty="0"/>
              <a:t>表的每</a:t>
            </a:r>
            <a:r>
              <a:rPr lang="zh-CN" altLang="en-US" dirty="0">
                <a:solidFill>
                  <a:srgbClr val="FF0000"/>
                </a:solidFill>
              </a:rPr>
              <a:t>一行 </a:t>
            </a:r>
            <a:r>
              <a:rPr lang="en-US" altLang="zh-CN" dirty="0">
                <a:solidFill>
                  <a:srgbClr val="FF0000"/>
                </a:solidFill>
              </a:rPr>
              <a:t>A </a:t>
            </a:r>
            <a:r>
              <a:rPr lang="zh-CN" altLang="en-US" dirty="0"/>
              <a:t>对应一个</a:t>
            </a:r>
            <a:r>
              <a:rPr lang="zh-CN" altLang="en-US" dirty="0">
                <a:solidFill>
                  <a:srgbClr val="FF0000"/>
                </a:solidFill>
              </a:rPr>
              <a:t>非终结符</a:t>
            </a:r>
          </a:p>
          <a:p>
            <a:pPr lvl="1"/>
            <a:r>
              <a:rPr lang="zh-CN" altLang="en-US" dirty="0" smtClean="0"/>
              <a:t> </a:t>
            </a:r>
            <a:r>
              <a:rPr lang="zh-CN" altLang="en-US" dirty="0"/>
              <a:t>表的每一</a:t>
            </a:r>
            <a:r>
              <a:rPr lang="zh-CN" altLang="en-US" dirty="0">
                <a:solidFill>
                  <a:srgbClr val="FF0000"/>
                </a:solidFill>
              </a:rPr>
              <a:t>列 </a:t>
            </a:r>
            <a:r>
              <a:rPr lang="en-US" altLang="zh-CN" dirty="0">
                <a:solidFill>
                  <a:srgbClr val="FF0000"/>
                </a:solidFill>
              </a:rPr>
              <a:t>a </a:t>
            </a:r>
            <a:r>
              <a:rPr lang="zh-CN" altLang="en-US" dirty="0"/>
              <a:t>对应某个</a:t>
            </a:r>
            <a:r>
              <a:rPr lang="zh-CN" altLang="en-US" dirty="0">
                <a:solidFill>
                  <a:srgbClr val="FF0000"/>
                </a:solidFill>
              </a:rPr>
              <a:t>终结符</a:t>
            </a:r>
            <a:r>
              <a:rPr lang="zh-CN" altLang="en-US" dirty="0"/>
              <a:t>或输入</a:t>
            </a:r>
            <a:r>
              <a:rPr lang="zh-CN" altLang="en-US" dirty="0">
                <a:solidFill>
                  <a:srgbClr val="FF0000"/>
                </a:solidFill>
              </a:rPr>
              <a:t>结束符 </a:t>
            </a:r>
            <a:r>
              <a:rPr lang="en-US" altLang="zh-CN" dirty="0">
                <a:solidFill>
                  <a:srgbClr val="FF0000"/>
                </a:solidFill>
              </a:rPr>
              <a:t>#</a:t>
            </a:r>
          </a:p>
          <a:p>
            <a:pPr lvl="1"/>
            <a:r>
              <a:rPr lang="en-US" altLang="zh-CN" dirty="0" smtClean="0"/>
              <a:t> </a:t>
            </a:r>
            <a:r>
              <a:rPr lang="zh-CN" altLang="en-US" dirty="0"/>
              <a:t>表中的项 </a:t>
            </a:r>
            <a:r>
              <a:rPr lang="en-US" altLang="zh-CN" dirty="0">
                <a:solidFill>
                  <a:srgbClr val="FF0000"/>
                </a:solidFill>
              </a:rPr>
              <a:t>M(</a:t>
            </a:r>
            <a:r>
              <a:rPr lang="en-US" altLang="zh-CN" dirty="0" err="1">
                <a:solidFill>
                  <a:srgbClr val="FF0000"/>
                </a:solidFill>
              </a:rPr>
              <a:t>A,a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 </a:t>
            </a:r>
            <a:r>
              <a:rPr lang="zh-CN" altLang="en-US" dirty="0"/>
              <a:t>表示</a:t>
            </a:r>
            <a:r>
              <a:rPr lang="zh-CN" altLang="en-US" dirty="0">
                <a:solidFill>
                  <a:srgbClr val="FF0000"/>
                </a:solidFill>
              </a:rPr>
              <a:t>栈顶</a:t>
            </a:r>
            <a:r>
              <a:rPr lang="zh-CN" altLang="en-US" dirty="0"/>
              <a:t>为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/>
              <a:t>，下一个输入</a:t>
            </a:r>
            <a:r>
              <a:rPr lang="zh-CN" altLang="en-US" dirty="0" smtClean="0"/>
              <a:t>符号</a:t>
            </a:r>
            <a:r>
              <a:rPr lang="zh-CN" altLang="en-US" dirty="0"/>
              <a:t>为</a:t>
            </a:r>
            <a:r>
              <a:rPr lang="en-US" altLang="zh-CN" dirty="0"/>
              <a:t>a</a:t>
            </a:r>
            <a:r>
              <a:rPr lang="zh-CN" altLang="en-US" dirty="0"/>
              <a:t>时，可选的</a:t>
            </a:r>
            <a:r>
              <a:rPr lang="zh-CN" altLang="en-US" dirty="0">
                <a:solidFill>
                  <a:srgbClr val="FF0000"/>
                </a:solidFill>
              </a:rPr>
              <a:t>产生式集合</a:t>
            </a:r>
          </a:p>
          <a:p>
            <a:pPr lvl="1"/>
            <a:r>
              <a:rPr lang="zh-CN" altLang="en-US" dirty="0" smtClean="0"/>
              <a:t> </a:t>
            </a:r>
            <a:r>
              <a:rPr lang="zh-CN" altLang="en-US" dirty="0"/>
              <a:t>对于</a:t>
            </a:r>
            <a:r>
              <a:rPr lang="en-US" altLang="zh-CN" dirty="0"/>
              <a:t>LL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）文法，可以构造出一个 </a:t>
            </a:r>
            <a:r>
              <a:rPr lang="en-US" altLang="zh-CN" dirty="0">
                <a:solidFill>
                  <a:srgbClr val="FF0000"/>
                </a:solidFill>
              </a:rPr>
              <a:t>M(</a:t>
            </a:r>
            <a:r>
              <a:rPr lang="en-US" altLang="zh-CN" dirty="0" err="1">
                <a:solidFill>
                  <a:srgbClr val="FF0000"/>
                </a:solidFill>
              </a:rPr>
              <a:t>A,a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 </a:t>
            </a:r>
            <a:r>
              <a:rPr lang="zh-CN" altLang="en-US" dirty="0" smtClean="0"/>
              <a:t>最多</a:t>
            </a:r>
            <a:r>
              <a:rPr lang="zh-CN" altLang="en-US" dirty="0"/>
              <a:t>只包含一个产生式的预测分析表，可</a:t>
            </a:r>
            <a:r>
              <a:rPr lang="zh-CN" altLang="en-US" dirty="0" smtClean="0"/>
              <a:t>称之为</a:t>
            </a:r>
            <a:r>
              <a:rPr lang="en-US" altLang="zh-CN" dirty="0" smtClean="0">
                <a:solidFill>
                  <a:srgbClr val="FF0000"/>
                </a:solidFill>
              </a:rPr>
              <a:t>LL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分析</a:t>
            </a:r>
            <a:r>
              <a:rPr lang="zh-CN" altLang="en-US" dirty="0" smtClean="0"/>
              <a:t>表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  </a:t>
            </a:r>
            <a:r>
              <a:rPr lang="en-US" altLang="zh-CN" dirty="0">
                <a:solidFill>
                  <a:srgbClr val="FF0000"/>
                </a:solidFill>
              </a:rPr>
              <a:t>M(</a:t>
            </a:r>
            <a:r>
              <a:rPr lang="en-US" altLang="zh-CN" dirty="0" err="1">
                <a:solidFill>
                  <a:srgbClr val="FF0000"/>
                </a:solidFill>
              </a:rPr>
              <a:t>A,a</a:t>
            </a:r>
            <a:r>
              <a:rPr lang="en-US" altLang="zh-CN" dirty="0">
                <a:solidFill>
                  <a:srgbClr val="FF0000"/>
                </a:solidFill>
              </a:rPr>
              <a:t>) </a:t>
            </a:r>
            <a:r>
              <a:rPr lang="zh-CN" altLang="en-US" dirty="0">
                <a:solidFill>
                  <a:srgbClr val="FF0000"/>
                </a:solidFill>
              </a:rPr>
              <a:t>不含产生式时</a:t>
            </a:r>
            <a:r>
              <a:rPr lang="zh-CN" altLang="en-US" dirty="0"/>
              <a:t>，对应一个出错位置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307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预测分析表</a:t>
            </a:r>
            <a:endParaRPr lang="zh-CN" altLang="en-US" dirty="0"/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6" y="1268733"/>
            <a:ext cx="7183534" cy="4998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5576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468313" y="1041401"/>
            <a:ext cx="8218487" cy="5113338"/>
          </a:xfrm>
        </p:spPr>
        <p:txBody>
          <a:bodyPr/>
          <a:lstStyle/>
          <a:p>
            <a:r>
              <a:rPr lang="zh-CN" altLang="en-US" dirty="0"/>
              <a:t> 预测分析表的构造算法</a:t>
            </a:r>
          </a:p>
          <a:p>
            <a:pPr marL="687388" lvl="1">
              <a:buSzPct val="75000"/>
              <a:buFont typeface="Symbol" pitchFamily="18" charset="2"/>
              <a:buChar char="-"/>
            </a:pPr>
            <a:r>
              <a:rPr lang="zh-CN" altLang="en-US" dirty="0"/>
              <a:t>对文法 </a:t>
            </a:r>
            <a:r>
              <a:rPr lang="en-US" altLang="zh-CN" dirty="0"/>
              <a:t>G </a:t>
            </a:r>
            <a:r>
              <a:rPr lang="zh-CN" altLang="en-US" dirty="0"/>
              <a:t>的每个产生式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itchFamily="18" charset="2"/>
              </a:rPr>
              <a:t></a:t>
            </a:r>
            <a:r>
              <a:rPr lang="en-US" altLang="zh-CN" i="1" dirty="0">
                <a:sym typeface="Symbol" pitchFamily="18" charset="2"/>
              </a:rPr>
              <a:t> </a:t>
            </a:r>
            <a:r>
              <a:rPr lang="zh-CN" altLang="en-US" dirty="0"/>
              <a:t>执行如下步骤：</a:t>
            </a:r>
          </a:p>
          <a:p>
            <a:pPr marL="687388" lvl="1">
              <a:buSzPct val="75000"/>
              <a:buFont typeface="Symbol" pitchFamily="18" charset="2"/>
              <a:buNone/>
            </a:pPr>
            <a:endParaRPr lang="zh-CN" altLang="en-US" sz="600" dirty="0"/>
          </a:p>
          <a:p>
            <a:pPr marL="687388" lvl="1">
              <a:buSzPct val="75000"/>
              <a:buFont typeface="Symbol" pitchFamily="18" charset="2"/>
              <a:buNone/>
            </a:pPr>
            <a:r>
              <a:rPr lang="zh-CN" altLang="en-US" dirty="0">
                <a:latin typeface="楷体_GB2312" pitchFamily="49" charset="-122"/>
              </a:rPr>
              <a:t>  </a:t>
            </a:r>
            <a:r>
              <a:rPr lang="zh-CN" altLang="en-US" sz="2000" dirty="0"/>
              <a:t>对每个  </a:t>
            </a:r>
            <a:r>
              <a:rPr lang="en-US" altLang="zh-CN" sz="2000" dirty="0"/>
              <a:t>a </a:t>
            </a:r>
            <a:r>
              <a:rPr lang="en-US" altLang="zh-CN" sz="2000" dirty="0">
                <a:sym typeface="Symbol" pitchFamily="18" charset="2"/>
              </a:rPr>
              <a:t> </a:t>
            </a:r>
            <a:r>
              <a:rPr lang="en-US" altLang="zh-CN" sz="2000" i="1" dirty="0" smtClean="0"/>
              <a:t>SELECT</a:t>
            </a:r>
            <a:r>
              <a:rPr lang="en-US" altLang="zh-CN" sz="2000" dirty="0" smtClean="0"/>
              <a:t>(</a:t>
            </a:r>
            <a:r>
              <a:rPr lang="en-US" altLang="zh-CN" sz="2000" i="1" dirty="0" smtClean="0"/>
              <a:t>A</a:t>
            </a:r>
            <a:r>
              <a:rPr lang="en-US" altLang="zh-CN" sz="2000" dirty="0">
                <a:sym typeface="Symbol" pitchFamily="18" charset="2"/>
              </a:rPr>
              <a:t></a:t>
            </a:r>
            <a:r>
              <a:rPr lang="en-US" altLang="zh-CN" sz="2000" i="1" dirty="0">
                <a:sym typeface="Symbol" pitchFamily="18" charset="2"/>
              </a:rPr>
              <a:t></a:t>
            </a:r>
            <a:r>
              <a:rPr lang="en-US" altLang="zh-CN" sz="2000" dirty="0"/>
              <a:t>)</a:t>
            </a:r>
            <a:r>
              <a:rPr lang="zh-CN" altLang="en-US" sz="2000" dirty="0"/>
              <a:t>，将 </a:t>
            </a:r>
            <a:r>
              <a:rPr lang="en-US" altLang="zh-CN" sz="2000" i="1" dirty="0"/>
              <a:t>A</a:t>
            </a:r>
            <a:r>
              <a:rPr lang="en-US" altLang="zh-CN" sz="2000" dirty="0">
                <a:sym typeface="Symbol" pitchFamily="18" charset="2"/>
              </a:rPr>
              <a:t> </a:t>
            </a:r>
            <a:r>
              <a:rPr lang="zh-CN" altLang="en-US" sz="2000" dirty="0"/>
              <a:t>加入 </a:t>
            </a:r>
            <a:r>
              <a:rPr lang="en-US" altLang="zh-CN" sz="2000" i="1" dirty="0">
                <a:sym typeface="Symbol" pitchFamily="18" charset="2"/>
              </a:rPr>
              <a:t>M</a:t>
            </a:r>
            <a:r>
              <a:rPr lang="en-US" altLang="zh-CN" sz="2000" dirty="0"/>
              <a:t>[</a:t>
            </a:r>
            <a:r>
              <a:rPr lang="en-US" altLang="zh-CN" sz="2000" i="1" dirty="0" err="1"/>
              <a:t>A</a:t>
            </a:r>
            <a:r>
              <a:rPr lang="en-US" altLang="zh-CN" sz="2000" dirty="0" err="1"/>
              <a:t>,a</a:t>
            </a:r>
            <a:r>
              <a:rPr lang="en-US" altLang="zh-CN" sz="2000" dirty="0"/>
              <a:t>]</a:t>
            </a:r>
          </a:p>
          <a:p>
            <a:pPr marL="687388" lvl="1">
              <a:buSzPct val="75000"/>
              <a:buFont typeface="Symbol" pitchFamily="18" charset="2"/>
              <a:buNone/>
            </a:pPr>
            <a:endParaRPr lang="zh-CN" altLang="zh-CN" sz="600" dirty="0"/>
          </a:p>
          <a:p>
            <a:pPr marL="687388" lvl="1">
              <a:buSzPct val="75000"/>
              <a:buFont typeface="Symbol" pitchFamily="18" charset="2"/>
              <a:buChar char="-"/>
            </a:pPr>
            <a:r>
              <a:rPr lang="zh-CN" altLang="zh-CN" dirty="0"/>
              <a:t>把所有无定义的</a:t>
            </a:r>
            <a:r>
              <a:rPr lang="zh-CN" altLang="en-US" dirty="0"/>
              <a:t> </a:t>
            </a:r>
            <a:r>
              <a:rPr lang="en-US" altLang="zh-CN" i="1" dirty="0">
                <a:sym typeface="Symbol" pitchFamily="18" charset="2"/>
              </a:rPr>
              <a:t>M</a:t>
            </a:r>
            <a:r>
              <a:rPr lang="en-US" altLang="zh-CN" dirty="0"/>
              <a:t>[</a:t>
            </a:r>
            <a:r>
              <a:rPr lang="en-US" altLang="zh-CN" i="1" dirty="0" err="1"/>
              <a:t>A</a:t>
            </a:r>
            <a:r>
              <a:rPr lang="en-US" altLang="zh-CN" dirty="0" err="1"/>
              <a:t>,a</a:t>
            </a:r>
            <a:r>
              <a:rPr lang="en-US" altLang="zh-CN" dirty="0"/>
              <a:t>] </a:t>
            </a:r>
            <a:r>
              <a:rPr lang="zh-CN" altLang="zh-CN" dirty="0"/>
              <a:t>标上“出错标志”</a:t>
            </a:r>
            <a:endParaRPr lang="zh-CN" altLang="en-US" dirty="0"/>
          </a:p>
          <a:p>
            <a:pPr marL="687388" lvl="1">
              <a:buSzPct val="75000"/>
              <a:buFont typeface="Symbol" pitchFamily="18" charset="2"/>
              <a:buNone/>
            </a:pPr>
            <a:endParaRPr lang="zh-CN" altLang="en-US" sz="600" dirty="0"/>
          </a:p>
          <a:p>
            <a:pPr marL="687388" lvl="1">
              <a:buClr>
                <a:schemeClr val="tx1"/>
              </a:buClr>
              <a:buSzPct val="75000"/>
            </a:pPr>
            <a:r>
              <a:rPr lang="zh-CN" altLang="en-US" dirty="0">
                <a:solidFill>
                  <a:srgbClr val="800080"/>
                </a:solidFill>
              </a:rPr>
              <a:t>可以证明</a:t>
            </a:r>
            <a:r>
              <a:rPr lang="en-US" altLang="zh-CN" dirty="0"/>
              <a:t>: </a:t>
            </a:r>
            <a:r>
              <a:rPr lang="zh-CN" altLang="en-US" dirty="0"/>
              <a:t>一个文法 </a:t>
            </a:r>
            <a:r>
              <a:rPr lang="en-US" altLang="zh-CN" dirty="0"/>
              <a:t>G </a:t>
            </a:r>
            <a:r>
              <a:rPr lang="zh-CN" altLang="en-US" dirty="0"/>
              <a:t>的预测分析表不含多重入口，当且仅当该文法是 </a:t>
            </a:r>
            <a:r>
              <a:rPr lang="en-US" altLang="zh-CN" dirty="0"/>
              <a:t>LL(1) </a:t>
            </a:r>
            <a:r>
              <a:rPr lang="zh-CN" altLang="en-US" dirty="0"/>
              <a:t>文法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5394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5</a:t>
            </a:r>
            <a:r>
              <a:rPr lang="zh-CN" altLang="en-US" dirty="0" smtClean="0"/>
              <a:t>章   自底向上</a:t>
            </a:r>
            <a:r>
              <a:rPr lang="zh-CN" altLang="en-US" dirty="0"/>
              <a:t>优先分析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主导思想：“移进</a:t>
            </a:r>
            <a:r>
              <a:rPr lang="en-US" altLang="zh-CN" dirty="0"/>
              <a:t>—</a:t>
            </a:r>
            <a:r>
              <a:rPr lang="zh-CN" altLang="en-US" dirty="0"/>
              <a:t>规约”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自底向上分析</a:t>
            </a:r>
            <a:r>
              <a:rPr lang="zh-CN" altLang="en-US" dirty="0"/>
              <a:t>法则是要</a:t>
            </a:r>
            <a:r>
              <a:rPr lang="zh-CN" altLang="en-US" dirty="0">
                <a:solidFill>
                  <a:srgbClr val="FF0000"/>
                </a:solidFill>
              </a:rPr>
              <a:t>找到</a:t>
            </a:r>
            <a:r>
              <a:rPr lang="zh-CN" altLang="en-US" dirty="0"/>
              <a:t>输入符号串的</a:t>
            </a:r>
            <a:r>
              <a:rPr lang="zh-CN" altLang="en-US" dirty="0">
                <a:solidFill>
                  <a:srgbClr val="FF0000"/>
                </a:solidFill>
              </a:rPr>
              <a:t>句柄</a:t>
            </a:r>
            <a:r>
              <a:rPr lang="zh-CN" altLang="en-US" dirty="0"/>
              <a:t>，每次都对句柄进行</a:t>
            </a:r>
            <a:r>
              <a:rPr lang="zh-CN" altLang="en-US" dirty="0">
                <a:solidFill>
                  <a:srgbClr val="FF0000"/>
                </a:solidFill>
              </a:rPr>
              <a:t>规约</a:t>
            </a:r>
            <a:r>
              <a:rPr lang="zh-CN" altLang="en-US" dirty="0"/>
              <a:t>，从而得到一个规范规约的过程。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709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5.1</a:t>
            </a:r>
            <a:r>
              <a:rPr lang="zh-CN" altLang="en-US" dirty="0" smtClean="0"/>
              <a:t>、</a:t>
            </a:r>
            <a:r>
              <a:rPr lang="zh-CN" altLang="en-US" dirty="0"/>
              <a:t>自底向上语法分析思想</a:t>
            </a: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577219" y="1268733"/>
            <a:ext cx="800100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</a:pPr>
            <a:r>
              <a:rPr lang="zh-CN" altLang="en-US" sz="2600" b="1" dirty="0" smtClean="0">
                <a:solidFill>
                  <a:schemeClr val="accent2"/>
                </a:solidFill>
                <a:latin typeface="宋体" pitchFamily="2" charset="-122"/>
              </a:rPr>
              <a:t>实现思想：</a:t>
            </a:r>
            <a:r>
              <a:rPr lang="zh-CN" altLang="en-US" sz="2600" b="1" dirty="0" smtClean="0">
                <a:solidFill>
                  <a:schemeClr val="accent2"/>
                </a:solidFill>
                <a:latin typeface="Arial" charset="0"/>
              </a:rPr>
              <a:t>“</a:t>
            </a:r>
            <a:r>
              <a:rPr lang="zh-CN" altLang="en-US" sz="2600" b="1" dirty="0" smtClean="0">
                <a:solidFill>
                  <a:schemeClr val="accent2"/>
                </a:solidFill>
                <a:latin typeface="宋体" pitchFamily="2" charset="-122"/>
              </a:rPr>
              <a:t>移进</a:t>
            </a:r>
            <a:r>
              <a:rPr lang="en-US" altLang="zh-CN" sz="2600" b="1" dirty="0" smtClean="0">
                <a:solidFill>
                  <a:schemeClr val="accent2"/>
                </a:solidFill>
                <a:latin typeface="宋体" pitchFamily="2" charset="-122"/>
              </a:rPr>
              <a:t>-</a:t>
            </a:r>
            <a:r>
              <a:rPr lang="zh-CN" altLang="en-US" sz="2600" b="1" dirty="0" smtClean="0">
                <a:solidFill>
                  <a:schemeClr val="accent2"/>
                </a:solidFill>
                <a:latin typeface="宋体" pitchFamily="2" charset="-122"/>
              </a:rPr>
              <a:t>归约</a:t>
            </a:r>
            <a:r>
              <a:rPr lang="zh-CN" altLang="en-US" sz="2600" b="1" dirty="0" smtClean="0">
                <a:solidFill>
                  <a:schemeClr val="accent2"/>
                </a:solidFill>
                <a:latin typeface="Arial" charset="0"/>
              </a:rPr>
              <a:t>”</a:t>
            </a:r>
            <a:r>
              <a:rPr lang="zh-CN" altLang="en-US" sz="2600" b="1" dirty="0" smtClean="0">
                <a:solidFill>
                  <a:schemeClr val="accent2"/>
                </a:solidFill>
                <a:latin typeface="宋体" pitchFamily="2" charset="-122"/>
              </a:rPr>
              <a:t>方法</a:t>
            </a:r>
          </a:p>
          <a:p>
            <a:pPr lvl="1" algn="just" eaLnBrk="1" hangingPunct="1">
              <a:lnSpc>
                <a:spcPct val="105000"/>
              </a:lnSpc>
              <a:spcBef>
                <a:spcPct val="0"/>
              </a:spcBef>
            </a:pPr>
            <a:r>
              <a:rPr lang="zh-CN" altLang="en-US" dirty="0" smtClean="0">
                <a:latin typeface="宋体" pitchFamily="2" charset="-122"/>
              </a:rPr>
              <a:t>设置一个栈，将输入符号逐个</a:t>
            </a:r>
            <a:r>
              <a:rPr lang="zh-CN" altLang="en-US" b="1" dirty="0" smtClean="0">
                <a:solidFill>
                  <a:srgbClr val="FF0000"/>
                </a:solidFill>
                <a:latin typeface="宋体" pitchFamily="2" charset="-122"/>
              </a:rPr>
              <a:t>移进</a:t>
            </a:r>
            <a:r>
              <a:rPr lang="zh-CN" altLang="en-US" dirty="0" smtClean="0">
                <a:latin typeface="宋体" pitchFamily="2" charset="-122"/>
              </a:rPr>
              <a:t>栈中，栈顶形成</a:t>
            </a:r>
            <a:r>
              <a:rPr lang="zh-CN" altLang="en-US" b="1" dirty="0" smtClean="0">
                <a:solidFill>
                  <a:srgbClr val="0000FF"/>
                </a:solidFill>
                <a:latin typeface="宋体" pitchFamily="2" charset="-122"/>
              </a:rPr>
              <a:t>某</a:t>
            </a:r>
            <a:r>
              <a:rPr lang="zh-CN" altLang="en-US" dirty="0" smtClean="0">
                <a:latin typeface="宋体" pitchFamily="2" charset="-122"/>
              </a:rPr>
              <a:t>产生式的右部时，就用左部去代替，称为</a:t>
            </a:r>
            <a:r>
              <a:rPr lang="zh-CN" altLang="en-US" b="1" dirty="0" smtClean="0">
                <a:solidFill>
                  <a:srgbClr val="FF0000"/>
                </a:solidFill>
                <a:latin typeface="宋体" pitchFamily="2" charset="-122"/>
              </a:rPr>
              <a:t>归约</a:t>
            </a:r>
            <a:r>
              <a:rPr lang="zh-CN" altLang="en-US" dirty="0" smtClean="0">
                <a:latin typeface="宋体" pitchFamily="2" charset="-122"/>
              </a:rPr>
              <a:t>。重复这一过程，直到栈中</a:t>
            </a:r>
            <a:r>
              <a:rPr lang="zh-CN" altLang="en-US" dirty="0" smtClean="0">
                <a:solidFill>
                  <a:srgbClr val="FF0000"/>
                </a:solidFill>
                <a:latin typeface="宋体" pitchFamily="2" charset="-122"/>
              </a:rPr>
              <a:t>只剩下</a:t>
            </a:r>
            <a:r>
              <a:rPr lang="zh-CN" altLang="en-US" dirty="0" smtClean="0">
                <a:latin typeface="宋体" pitchFamily="2" charset="-122"/>
              </a:rPr>
              <a:t>文法的</a:t>
            </a:r>
            <a:r>
              <a:rPr lang="zh-CN" altLang="en-US" dirty="0" smtClean="0">
                <a:solidFill>
                  <a:srgbClr val="FF0000"/>
                </a:solidFill>
                <a:latin typeface="宋体" pitchFamily="2" charset="-122"/>
              </a:rPr>
              <a:t>开始符号</a:t>
            </a:r>
            <a:r>
              <a:rPr lang="zh-CN" altLang="en-US" dirty="0" smtClean="0">
                <a:latin typeface="宋体" pitchFamily="2" charset="-122"/>
              </a:rPr>
              <a:t>，就确认输入串是文法的</a:t>
            </a:r>
            <a:r>
              <a:rPr lang="zh-CN" altLang="en-US" dirty="0" smtClean="0">
                <a:solidFill>
                  <a:srgbClr val="FF0000"/>
                </a:solidFill>
                <a:latin typeface="宋体" pitchFamily="2" charset="-122"/>
              </a:rPr>
              <a:t>句子</a:t>
            </a:r>
            <a:r>
              <a:rPr lang="zh-CN" altLang="en-US" dirty="0" smtClean="0">
                <a:latin typeface="宋体" pitchFamily="2" charset="-122"/>
              </a:rPr>
              <a:t>，分析成功；否则出错。</a:t>
            </a:r>
          </a:p>
          <a:p>
            <a:pPr lvl="1" algn="just" eaLnBrk="1" hangingPunct="1">
              <a:lnSpc>
                <a:spcPct val="105000"/>
              </a:lnSpc>
              <a:spcBef>
                <a:spcPct val="0"/>
              </a:spcBef>
            </a:pPr>
            <a:r>
              <a:rPr lang="zh-CN" altLang="en-US" dirty="0" smtClean="0">
                <a:latin typeface="宋体" pitchFamily="2" charset="-122"/>
              </a:rPr>
              <a:t>语法树：从</a:t>
            </a:r>
            <a:r>
              <a:rPr lang="zh-CN" altLang="en-US" dirty="0" smtClean="0">
                <a:solidFill>
                  <a:srgbClr val="FF0000"/>
                </a:solidFill>
                <a:sym typeface="Symbol" pitchFamily="18" charset="2"/>
              </a:rPr>
              <a:t>树叶</a:t>
            </a:r>
            <a:r>
              <a:rPr lang="zh-CN" altLang="en-US" dirty="0" smtClean="0">
                <a:solidFill>
                  <a:srgbClr val="FF0000"/>
                </a:solidFill>
                <a:latin typeface="宋体" pitchFamily="2" charset="-122"/>
              </a:rPr>
              <a:t>开始</a:t>
            </a:r>
            <a:r>
              <a:rPr lang="zh-CN" altLang="en-US" dirty="0" smtClean="0">
                <a:latin typeface="宋体" pitchFamily="2" charset="-122"/>
              </a:rPr>
              <a:t>，逐步向上归约</a:t>
            </a:r>
            <a:r>
              <a:rPr lang="zh-CN" altLang="en-US" dirty="0" smtClean="0">
                <a:solidFill>
                  <a:srgbClr val="000000"/>
                </a:solidFill>
                <a:sym typeface="Symbol" pitchFamily="18" charset="2"/>
              </a:rPr>
              <a:t>构造分析树</a:t>
            </a:r>
            <a:r>
              <a:rPr lang="zh-CN" altLang="en-US" dirty="0" smtClean="0">
                <a:latin typeface="宋体" pitchFamily="2" charset="-122"/>
              </a:rPr>
              <a:t>，直到</a:t>
            </a:r>
            <a:r>
              <a:rPr lang="zh-CN" altLang="en-US" dirty="0" smtClean="0">
                <a:solidFill>
                  <a:srgbClr val="FF0000"/>
                </a:solidFill>
                <a:latin typeface="宋体" pitchFamily="2" charset="-122"/>
              </a:rPr>
              <a:t>形成根结</a:t>
            </a:r>
            <a:r>
              <a:rPr lang="zh-CN" altLang="en-US" dirty="0" smtClean="0">
                <a:latin typeface="宋体" pitchFamily="2" charset="-122"/>
              </a:rPr>
              <a:t>。是推导的逆过程</a:t>
            </a:r>
            <a:r>
              <a:rPr lang="zh-CN" altLang="en-US" dirty="0" smtClean="0">
                <a:solidFill>
                  <a:srgbClr val="000000"/>
                </a:solidFill>
                <a:sym typeface="Symbol" pitchFamily="18" charset="2"/>
              </a:rPr>
              <a:t>。</a:t>
            </a:r>
            <a:endParaRPr lang="zh-CN" altLang="en-US" dirty="0" smtClean="0">
              <a:solidFill>
                <a:srgbClr val="000000"/>
              </a:solidFill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</a:pPr>
            <a:r>
              <a:rPr lang="zh-CN" altLang="en-US" sz="2600" b="1" dirty="0" smtClean="0">
                <a:solidFill>
                  <a:schemeClr val="accent2"/>
                </a:solidFill>
                <a:latin typeface="宋体" pitchFamily="2" charset="-122"/>
              </a:rPr>
              <a:t>核心</a:t>
            </a:r>
          </a:p>
          <a:p>
            <a:pPr lvl="1" eaLnBrk="1" hangingPunct="1">
              <a:lnSpc>
                <a:spcPct val="105000"/>
              </a:lnSpc>
              <a:spcBef>
                <a:spcPct val="0"/>
              </a:spcBef>
            </a:pPr>
            <a:r>
              <a:rPr lang="zh-CN" altLang="en-US" b="1" dirty="0" smtClean="0">
                <a:solidFill>
                  <a:srgbClr val="000000"/>
                </a:solidFill>
              </a:rPr>
              <a:t>寻找</a:t>
            </a:r>
            <a:r>
              <a:rPr lang="zh-CN" altLang="en-US" b="1" dirty="0" smtClean="0">
                <a:solidFill>
                  <a:srgbClr val="0000FF"/>
                </a:solidFill>
              </a:rPr>
              <a:t>句柄</a:t>
            </a:r>
            <a:r>
              <a:rPr lang="zh-CN" altLang="en-US" dirty="0" smtClean="0">
                <a:solidFill>
                  <a:srgbClr val="000000"/>
                </a:solidFill>
              </a:rPr>
              <a:t>进行规约。</a:t>
            </a:r>
            <a:r>
              <a:rPr lang="zh-CN" altLang="en-US" dirty="0" smtClean="0">
                <a:latin typeface="宋体" pitchFamily="2" charset="-122"/>
              </a:rPr>
              <a:t>用不同的方法寻找句柄，就可获得不同的分析方法。</a:t>
            </a:r>
          </a:p>
        </p:txBody>
      </p:sp>
    </p:spTree>
    <p:extLst>
      <p:ext uri="{BB962C8B-B14F-4D97-AF65-F5344CB8AC3E}">
        <p14:creationId xmlns:p14="http://schemas.microsoft.com/office/powerpoint/2010/main" val="147388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句型、短语、直接短语和句柄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45317" y="1988822"/>
            <a:ext cx="8081963" cy="3808413"/>
          </a:xfrm>
          <a:prstGeom prst="rect">
            <a:avLst/>
          </a:prstGeom>
          <a:solidFill>
            <a:schemeClr val="bg1"/>
          </a:solidFill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55600" indent="-269875" algn="l" rtl="0" eaLnBrk="1" fontAlgn="base" hangingPunct="1">
              <a:spcBef>
                <a:spcPts val="1800"/>
              </a:spcBef>
              <a:spcAft>
                <a:spcPct val="0"/>
              </a:spcAft>
              <a:buClr>
                <a:srgbClr val="003399"/>
              </a:buClr>
              <a:buSzPct val="80000"/>
              <a:buFont typeface="Wingdings 2" panose="05020102010507070707" pitchFamily="18" charset="2"/>
              <a:buChar char=""/>
              <a:defRPr sz="2400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357188" algn="l" rtl="0" eaLnBrk="1" fontAlgn="base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defRPr sz="2000" kern="1200">
                <a:solidFill>
                  <a:srgbClr val="0066FF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600" dirty="0" smtClean="0">
                <a:latin typeface="宋体" pitchFamily="2" charset="-122"/>
              </a:rPr>
              <a:t>有文法</a:t>
            </a:r>
            <a:r>
              <a:rPr lang="en-US" altLang="zh-CN" sz="2600" dirty="0" smtClean="0">
                <a:latin typeface="宋体" pitchFamily="2" charset="-122"/>
              </a:rPr>
              <a:t>G</a:t>
            </a:r>
            <a:r>
              <a:rPr lang="zh-CN" altLang="en-US" sz="2600" dirty="0" smtClean="0">
                <a:latin typeface="宋体" pitchFamily="2" charset="-122"/>
              </a:rPr>
              <a:t>，开始符号为</a:t>
            </a:r>
            <a:r>
              <a:rPr lang="en-US" altLang="zh-CN" sz="2600" dirty="0" smtClean="0">
                <a:latin typeface="宋体" pitchFamily="2" charset="-122"/>
              </a:rPr>
              <a:t>S, </a:t>
            </a:r>
            <a:r>
              <a:rPr lang="zh-CN" altLang="en-US" sz="2600" dirty="0" smtClean="0">
                <a:latin typeface="宋体" pitchFamily="2" charset="-122"/>
              </a:rPr>
              <a:t>如果有</a:t>
            </a:r>
            <a:r>
              <a:rPr lang="en-US" altLang="zh-CN" sz="2600" dirty="0" smtClean="0">
                <a:latin typeface="宋体" pitchFamily="2" charset="-122"/>
              </a:rPr>
              <a:t>S=&gt;xβy,</a:t>
            </a:r>
            <a:r>
              <a:rPr lang="zh-CN" altLang="en-US" sz="2600" dirty="0" smtClean="0">
                <a:latin typeface="宋体" pitchFamily="2" charset="-122"/>
              </a:rPr>
              <a:t>则</a:t>
            </a:r>
            <a:r>
              <a:rPr lang="en-US" altLang="zh-CN" sz="2600" dirty="0" smtClean="0">
                <a:latin typeface="宋体" pitchFamily="2" charset="-122"/>
              </a:rPr>
              <a:t>xβy</a:t>
            </a:r>
            <a:r>
              <a:rPr lang="zh-CN" altLang="en-US" sz="2600" dirty="0" smtClean="0">
                <a:latin typeface="宋体" pitchFamily="2" charset="-122"/>
              </a:rPr>
              <a:t>是文法</a:t>
            </a:r>
            <a:r>
              <a:rPr lang="en-US" altLang="zh-CN" sz="2600" dirty="0" smtClean="0">
                <a:latin typeface="宋体" pitchFamily="2" charset="-122"/>
              </a:rPr>
              <a:t>G</a:t>
            </a:r>
            <a:r>
              <a:rPr lang="zh-CN" altLang="en-US" sz="2600" dirty="0" smtClean="0">
                <a:latin typeface="宋体" pitchFamily="2" charset="-122"/>
              </a:rPr>
              <a:t>的</a:t>
            </a:r>
            <a:r>
              <a:rPr lang="zh-CN" altLang="en-US" sz="2600" b="1" i="1" dirty="0" smtClean="0">
                <a:solidFill>
                  <a:schemeClr val="accent2"/>
                </a:solidFill>
                <a:latin typeface="宋体" pitchFamily="2" charset="-122"/>
              </a:rPr>
              <a:t>句型</a:t>
            </a:r>
            <a:r>
              <a:rPr lang="zh-CN" altLang="en-US" sz="2600" dirty="0" smtClean="0">
                <a:latin typeface="宋体" pitchFamily="2" charset="-122"/>
              </a:rPr>
              <a:t>，</a:t>
            </a:r>
            <a:r>
              <a:rPr lang="en-US" altLang="zh-CN" sz="2600" dirty="0" err="1" smtClean="0">
                <a:latin typeface="宋体" pitchFamily="2" charset="-122"/>
              </a:rPr>
              <a:t>x,y</a:t>
            </a:r>
            <a:r>
              <a:rPr lang="zh-CN" altLang="en-US" sz="2600" dirty="0" smtClean="0">
                <a:latin typeface="宋体" pitchFamily="2" charset="-122"/>
              </a:rPr>
              <a:t>是任意的符号串</a:t>
            </a:r>
          </a:p>
          <a:p>
            <a:pPr>
              <a:spcBef>
                <a:spcPct val="50000"/>
              </a:spcBef>
            </a:pPr>
            <a:r>
              <a:rPr lang="zh-CN" altLang="en-US" sz="2600" dirty="0" smtClean="0">
                <a:latin typeface="宋体" pitchFamily="2" charset="-122"/>
              </a:rPr>
              <a:t>如果有</a:t>
            </a:r>
            <a:r>
              <a:rPr lang="en-US" altLang="zh-CN" sz="2600" dirty="0" smtClean="0">
                <a:latin typeface="宋体" pitchFamily="2" charset="-122"/>
              </a:rPr>
              <a:t>S=&gt;</a:t>
            </a:r>
            <a:r>
              <a:rPr lang="en-US" altLang="zh-CN" sz="2600" dirty="0" err="1" smtClean="0">
                <a:latin typeface="宋体" pitchFamily="2" charset="-122"/>
              </a:rPr>
              <a:t>xAy</a:t>
            </a:r>
            <a:r>
              <a:rPr lang="en-US" altLang="zh-CN" sz="2600" dirty="0" smtClean="0">
                <a:latin typeface="宋体" pitchFamily="2" charset="-122"/>
              </a:rPr>
              <a:t>, </a:t>
            </a:r>
            <a:r>
              <a:rPr lang="zh-CN" altLang="en-US" sz="2600" dirty="0" smtClean="0">
                <a:latin typeface="宋体" pitchFamily="2" charset="-122"/>
              </a:rPr>
              <a:t>且有</a:t>
            </a:r>
            <a:r>
              <a:rPr lang="en-US" altLang="zh-CN" sz="2600" dirty="0" smtClean="0">
                <a:latin typeface="宋体" pitchFamily="2" charset="-122"/>
              </a:rPr>
              <a:t>A=&gt;β,</a:t>
            </a:r>
            <a:r>
              <a:rPr lang="zh-CN" altLang="en-US" sz="2600" dirty="0" smtClean="0">
                <a:latin typeface="宋体" pitchFamily="2" charset="-122"/>
              </a:rPr>
              <a:t>则</a:t>
            </a:r>
            <a:r>
              <a:rPr lang="en-US" altLang="zh-CN" sz="2600" dirty="0" smtClean="0">
                <a:latin typeface="宋体" pitchFamily="2" charset="-122"/>
              </a:rPr>
              <a:t>β</a:t>
            </a:r>
            <a:r>
              <a:rPr lang="zh-CN" altLang="en-US" sz="2600" dirty="0" smtClean="0">
                <a:latin typeface="宋体" pitchFamily="2" charset="-122"/>
              </a:rPr>
              <a:t>是句型</a:t>
            </a:r>
            <a:r>
              <a:rPr lang="en-US" altLang="zh-CN" sz="2600" dirty="0" smtClean="0">
                <a:latin typeface="宋体" pitchFamily="2" charset="-122"/>
              </a:rPr>
              <a:t>xβy</a:t>
            </a:r>
            <a:r>
              <a:rPr lang="zh-CN" altLang="en-US" sz="2600" dirty="0" smtClean="0">
                <a:latin typeface="宋体" pitchFamily="2" charset="-122"/>
              </a:rPr>
              <a:t>相对于非终结符</a:t>
            </a:r>
            <a:r>
              <a:rPr lang="en-US" altLang="zh-CN" sz="2600" dirty="0" smtClean="0">
                <a:latin typeface="宋体" pitchFamily="2" charset="-122"/>
              </a:rPr>
              <a:t>A</a:t>
            </a:r>
            <a:r>
              <a:rPr lang="zh-CN" altLang="en-US" sz="2600" dirty="0" smtClean="0">
                <a:latin typeface="宋体" pitchFamily="2" charset="-122"/>
              </a:rPr>
              <a:t>的</a:t>
            </a:r>
            <a:r>
              <a:rPr lang="zh-CN" altLang="en-US" sz="2600" b="1" i="1" dirty="0" smtClean="0">
                <a:solidFill>
                  <a:schemeClr val="accent2"/>
                </a:solidFill>
                <a:latin typeface="宋体" pitchFamily="2" charset="-122"/>
              </a:rPr>
              <a:t>短语</a:t>
            </a:r>
            <a:endParaRPr lang="zh-CN" altLang="en-US" sz="2600" dirty="0" smtClean="0">
              <a:solidFill>
                <a:schemeClr val="accent2"/>
              </a:solidFill>
              <a:latin typeface="宋体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600" dirty="0" smtClean="0">
                <a:latin typeface="宋体" pitchFamily="2" charset="-122"/>
              </a:rPr>
              <a:t>如果有</a:t>
            </a:r>
            <a:r>
              <a:rPr lang="en-US" altLang="zh-CN" sz="2600" dirty="0" smtClean="0">
                <a:latin typeface="宋体" pitchFamily="2" charset="-122"/>
              </a:rPr>
              <a:t>S=&gt;</a:t>
            </a:r>
            <a:r>
              <a:rPr lang="en-US" altLang="zh-CN" sz="2600" dirty="0" err="1" smtClean="0">
                <a:latin typeface="宋体" pitchFamily="2" charset="-122"/>
              </a:rPr>
              <a:t>xAy</a:t>
            </a:r>
            <a:r>
              <a:rPr lang="en-US" altLang="zh-CN" sz="2600" dirty="0" smtClean="0">
                <a:latin typeface="宋体" pitchFamily="2" charset="-122"/>
              </a:rPr>
              <a:t>, </a:t>
            </a:r>
            <a:r>
              <a:rPr lang="zh-CN" altLang="en-US" sz="2600" dirty="0" smtClean="0">
                <a:latin typeface="宋体" pitchFamily="2" charset="-122"/>
              </a:rPr>
              <a:t>且有</a:t>
            </a:r>
            <a:r>
              <a:rPr lang="en-US" altLang="zh-CN" sz="2600" dirty="0" smtClean="0">
                <a:latin typeface="宋体" pitchFamily="2" charset="-122"/>
              </a:rPr>
              <a:t>A→β,</a:t>
            </a:r>
            <a:r>
              <a:rPr lang="zh-CN" altLang="en-US" sz="2600" dirty="0" smtClean="0">
                <a:latin typeface="宋体" pitchFamily="2" charset="-122"/>
              </a:rPr>
              <a:t>则</a:t>
            </a:r>
            <a:r>
              <a:rPr lang="en-US" altLang="zh-CN" sz="2600" dirty="0" smtClean="0">
                <a:latin typeface="宋体" pitchFamily="2" charset="-122"/>
              </a:rPr>
              <a:t>β</a:t>
            </a:r>
            <a:r>
              <a:rPr lang="zh-CN" altLang="en-US" sz="2600" dirty="0" smtClean="0">
                <a:latin typeface="宋体" pitchFamily="2" charset="-122"/>
              </a:rPr>
              <a:t>是句型</a:t>
            </a:r>
            <a:r>
              <a:rPr lang="en-US" altLang="zh-CN" sz="2600" dirty="0" smtClean="0">
                <a:latin typeface="宋体" pitchFamily="2" charset="-122"/>
              </a:rPr>
              <a:t>xβy</a:t>
            </a:r>
            <a:r>
              <a:rPr lang="zh-CN" altLang="en-US" sz="2600" dirty="0" smtClean="0">
                <a:latin typeface="宋体" pitchFamily="2" charset="-122"/>
              </a:rPr>
              <a:t>相对于</a:t>
            </a:r>
            <a:r>
              <a:rPr lang="en-US" altLang="zh-CN" sz="2600" dirty="0" smtClean="0">
                <a:latin typeface="宋体" pitchFamily="2" charset="-122"/>
              </a:rPr>
              <a:t>A→β</a:t>
            </a:r>
            <a:r>
              <a:rPr lang="zh-CN" altLang="en-US" sz="2600" dirty="0" smtClean="0">
                <a:latin typeface="宋体" pitchFamily="2" charset="-122"/>
              </a:rPr>
              <a:t>的</a:t>
            </a:r>
            <a:r>
              <a:rPr lang="zh-CN" altLang="en-US" sz="2600" b="1" i="1" dirty="0" smtClean="0">
                <a:solidFill>
                  <a:schemeClr val="accent2"/>
                </a:solidFill>
                <a:latin typeface="宋体" pitchFamily="2" charset="-122"/>
              </a:rPr>
              <a:t>直接短语</a:t>
            </a:r>
            <a:endParaRPr lang="zh-CN" altLang="en-US" sz="2600" dirty="0" smtClean="0">
              <a:solidFill>
                <a:schemeClr val="accent2"/>
              </a:solidFill>
              <a:latin typeface="宋体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600" dirty="0" smtClean="0">
                <a:latin typeface="宋体" pitchFamily="2" charset="-122"/>
              </a:rPr>
              <a:t>位于</a:t>
            </a:r>
            <a:r>
              <a:rPr lang="zh-CN" altLang="en-US" sz="2600" b="1" dirty="0" smtClean="0">
                <a:solidFill>
                  <a:srgbClr val="9933CC"/>
                </a:solidFill>
                <a:latin typeface="宋体" pitchFamily="2" charset="-122"/>
              </a:rPr>
              <a:t>一个</a:t>
            </a:r>
            <a:r>
              <a:rPr lang="zh-CN" altLang="en-US" sz="2600" dirty="0" smtClean="0">
                <a:latin typeface="宋体" pitchFamily="2" charset="-122"/>
              </a:rPr>
              <a:t>句型最左边的直接短语称为</a:t>
            </a:r>
            <a:r>
              <a:rPr lang="zh-CN" altLang="en-US" sz="2600" b="1" i="1" dirty="0" smtClean="0">
                <a:solidFill>
                  <a:schemeClr val="accent2"/>
                </a:solidFill>
                <a:latin typeface="宋体" pitchFamily="2" charset="-122"/>
              </a:rPr>
              <a:t>句柄</a:t>
            </a:r>
            <a:r>
              <a:rPr lang="zh-CN" altLang="en-US" sz="2600" dirty="0" smtClean="0">
                <a:latin typeface="宋体" pitchFamily="2" charset="-122"/>
              </a:rPr>
              <a:t>。</a:t>
            </a:r>
            <a:endParaRPr lang="en-US" altLang="zh-CN" sz="2600" dirty="0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56563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5.2 </a:t>
            </a:r>
            <a:r>
              <a:rPr lang="zh-CN" altLang="en-US" dirty="0" smtClean="0"/>
              <a:t>优先分析方法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自底向上分析方法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优先分析和</a:t>
            </a:r>
            <a:r>
              <a:rPr lang="en-US" altLang="zh-CN" dirty="0" smtClean="0"/>
              <a:t>LR</a:t>
            </a:r>
            <a:r>
              <a:rPr lang="zh-CN" altLang="en-US" dirty="0" smtClean="0"/>
              <a:t>分析</a:t>
            </a:r>
            <a:endParaRPr lang="en-US" altLang="zh-CN" dirty="0" smtClean="0"/>
          </a:p>
          <a:p>
            <a:r>
              <a:rPr lang="zh-CN" altLang="en-US" dirty="0" smtClean="0"/>
              <a:t>优先分析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简单优先分析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算符优先分析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9627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简单优先分析关系</a:t>
            </a:r>
            <a:r>
              <a:rPr lang="zh-CN" altLang="en-US" dirty="0" smtClean="0"/>
              <a:t>：先</a:t>
            </a:r>
            <a:r>
              <a:rPr lang="zh-CN" altLang="en-US" dirty="0"/>
              <a:t>确定文法中</a:t>
            </a:r>
            <a:r>
              <a:rPr lang="zh-CN" altLang="en-US" dirty="0">
                <a:solidFill>
                  <a:srgbClr val="FF0000"/>
                </a:solidFill>
              </a:rPr>
              <a:t>所有文法</a:t>
            </a:r>
            <a:r>
              <a:rPr lang="zh-CN" altLang="en-US" dirty="0" smtClean="0">
                <a:solidFill>
                  <a:srgbClr val="FF0000"/>
                </a:solidFill>
              </a:rPr>
              <a:t>符号（包括终结符和非终结符）</a:t>
            </a:r>
            <a:r>
              <a:rPr lang="zh-CN" altLang="en-US" dirty="0" smtClean="0"/>
              <a:t>之间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优先关系</a:t>
            </a:r>
            <a:r>
              <a:rPr lang="zh-CN" altLang="en-US" dirty="0"/>
              <a:t>，然后根据这种优先关系寻找句柄进行</a:t>
            </a:r>
            <a:r>
              <a:rPr lang="zh-CN" altLang="en-US" dirty="0" smtClean="0"/>
              <a:t>归约。</a:t>
            </a:r>
            <a:endParaRPr lang="zh-CN" altLang="en-US" dirty="0"/>
          </a:p>
          <a:p>
            <a:pPr lvl="1"/>
            <a:r>
              <a:rPr lang="zh-CN" altLang="en-US" dirty="0"/>
              <a:t>其规约过程</a:t>
            </a:r>
            <a:r>
              <a:rPr lang="zh-CN" altLang="en-US" dirty="0">
                <a:solidFill>
                  <a:srgbClr val="FF0000"/>
                </a:solidFill>
              </a:rPr>
              <a:t>是</a:t>
            </a:r>
            <a:r>
              <a:rPr lang="zh-CN" altLang="en-US" dirty="0"/>
              <a:t>规范规约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算符</a:t>
            </a:r>
            <a:r>
              <a:rPr lang="zh-CN" altLang="en-US" dirty="0" smtClean="0">
                <a:solidFill>
                  <a:srgbClr val="FF0000"/>
                </a:solidFill>
              </a:rPr>
              <a:t>优先分析关系</a:t>
            </a:r>
            <a:r>
              <a:rPr lang="zh-CN" altLang="en-US" dirty="0" smtClean="0"/>
              <a:t>：首先</a:t>
            </a:r>
            <a:r>
              <a:rPr lang="zh-CN" altLang="en-US" dirty="0"/>
              <a:t>找出</a:t>
            </a:r>
            <a:r>
              <a:rPr lang="zh-CN" altLang="en-US" dirty="0" smtClean="0"/>
              <a:t>所有</a:t>
            </a:r>
            <a:r>
              <a:rPr lang="zh-CN" altLang="en-US" dirty="0" smtClean="0">
                <a:solidFill>
                  <a:srgbClr val="FF0000"/>
                </a:solidFill>
              </a:rPr>
              <a:t>终结符</a:t>
            </a:r>
            <a:r>
              <a:rPr lang="zh-CN" altLang="en-US" dirty="0">
                <a:solidFill>
                  <a:srgbClr val="FF0000"/>
                </a:solidFill>
              </a:rPr>
              <a:t>之间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优先关系</a:t>
            </a:r>
            <a:r>
              <a:rPr lang="zh-CN" altLang="en-US" dirty="0"/>
              <a:t>，然后根据优先关系对输入串进行分析，</a:t>
            </a:r>
            <a:r>
              <a:rPr lang="zh-CN" altLang="en-US" dirty="0">
                <a:solidFill>
                  <a:srgbClr val="FF0000"/>
                </a:solidFill>
              </a:rPr>
              <a:t>找到“句柄”</a:t>
            </a:r>
            <a:r>
              <a:rPr lang="zh-CN" altLang="en-US" dirty="0"/>
              <a:t>就归约，但并不考虑归约到哪个非终结符名</a:t>
            </a:r>
          </a:p>
          <a:p>
            <a:pPr lvl="1"/>
            <a:r>
              <a:rPr lang="zh-CN" altLang="en-US" dirty="0"/>
              <a:t>其规约过程</a:t>
            </a:r>
            <a:r>
              <a:rPr lang="zh-CN" altLang="en-US" dirty="0">
                <a:solidFill>
                  <a:srgbClr val="FF0000"/>
                </a:solidFill>
              </a:rPr>
              <a:t>不是</a:t>
            </a:r>
            <a:r>
              <a:rPr lang="zh-CN" altLang="en-US" dirty="0"/>
              <a:t>规范规约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35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5.3  </a:t>
            </a:r>
            <a:r>
              <a:rPr lang="zh-CN" altLang="en-US" dirty="0" smtClean="0"/>
              <a:t>优先关系及优先关系表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三种优先关系</a:t>
            </a:r>
            <a:endParaRPr lang="en-US" altLang="zh-CN" dirty="0" smtClean="0"/>
          </a:p>
          <a:p>
            <a:r>
              <a:rPr lang="zh-CN" altLang="en-US" dirty="0" smtClean="0"/>
              <a:t>两种优先关系表</a:t>
            </a:r>
            <a:endParaRPr lang="zh-CN" alt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215" y="2241772"/>
            <a:ext cx="3871087" cy="3334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6" y="2708911"/>
            <a:ext cx="4372855" cy="207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71555" y="5589267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简单优先关系分析表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012178" y="571028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算符优先关系分析表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104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 </a:t>
            </a:r>
            <a:r>
              <a:rPr lang="zh-CN" altLang="en-US" dirty="0"/>
              <a:t>优先关系及优先关系表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算符</a:t>
            </a:r>
            <a:r>
              <a:rPr lang="zh-CN" altLang="en-US" dirty="0"/>
              <a:t>优先关系表的构造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方法一：由定义直接构造</a:t>
            </a:r>
            <a:endParaRPr lang="en-US" altLang="zh-CN" dirty="0"/>
          </a:p>
          <a:p>
            <a:pPr lvl="1">
              <a:lnSpc>
                <a:spcPct val="140000"/>
              </a:lnSpc>
            </a:pPr>
            <a:r>
              <a:rPr lang="zh-CN" altLang="en-US" dirty="0"/>
              <a:t>方法二：形式化算法构造</a:t>
            </a:r>
          </a:p>
          <a:p>
            <a:pPr lvl="1">
              <a:lnSpc>
                <a:spcPct val="140000"/>
              </a:lnSpc>
            </a:pPr>
            <a:r>
              <a:rPr lang="zh-CN" altLang="en-US" dirty="0"/>
              <a:t>方法二：由关系图法构造</a:t>
            </a:r>
          </a:p>
          <a:p>
            <a:r>
              <a:rPr lang="zh-CN" altLang="en-US" dirty="0" smtClean="0"/>
              <a:t>简单了解最左素短语和优先函数</a:t>
            </a:r>
            <a:endParaRPr lang="en-US" altLang="zh-CN" dirty="0" smtClean="0"/>
          </a:p>
          <a:p>
            <a:pPr lvl="1"/>
            <a:r>
              <a:rPr lang="zh-CN" altLang="en-US" b="1" dirty="0">
                <a:latin typeface="Times New Roman" panose="02020603050405020304" pitchFamily="18" charset="0"/>
              </a:rPr>
              <a:t>定义：</a:t>
            </a:r>
            <a:r>
              <a:rPr lang="en-US" altLang="zh-CN" b="1" dirty="0">
                <a:latin typeface="Times New Roman" panose="02020603050405020304" pitchFamily="18" charset="0"/>
              </a:rPr>
              <a:t>OPG</a:t>
            </a:r>
            <a:r>
              <a:rPr lang="zh-CN" altLang="en-US" b="1" dirty="0">
                <a:latin typeface="Times New Roman" panose="02020603050405020304" pitchFamily="18" charset="0"/>
              </a:rPr>
              <a:t>文法的句型的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素短语</a:t>
            </a:r>
            <a:r>
              <a:rPr lang="zh-CN" altLang="en-US" b="1" dirty="0">
                <a:latin typeface="Times New Roman" panose="02020603050405020304" pitchFamily="18" charset="0"/>
              </a:rPr>
              <a:t>是一个短语，它至少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包含一个终结符</a:t>
            </a:r>
            <a:r>
              <a:rPr lang="zh-CN" altLang="en-US" b="1" dirty="0">
                <a:latin typeface="Times New Roman" panose="02020603050405020304" pitchFamily="18" charset="0"/>
              </a:rPr>
              <a:t>，且除自身外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不再包含其他</a:t>
            </a:r>
            <a:r>
              <a:rPr lang="zh-CN" altLang="en-US" b="1" dirty="0">
                <a:latin typeface="Times New Roman" panose="02020603050405020304" pitchFamily="18" charset="0"/>
              </a:rPr>
              <a:t>素短语。处于句型最左边的素短语为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最左素短语</a:t>
            </a:r>
            <a:r>
              <a:rPr lang="zh-CN" altLang="en-US" b="1" dirty="0">
                <a:latin typeface="Times New Roman" panose="02020603050405020304" pitchFamily="18" charset="0"/>
              </a:rPr>
              <a:t>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8797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6.1 LR</a:t>
            </a:r>
            <a:r>
              <a:rPr lang="zh-CN" altLang="en-US" dirty="0" smtClean="0"/>
              <a:t>分析</a:t>
            </a:r>
            <a:endParaRPr lang="zh-CN" altLang="en-US" dirty="0"/>
          </a:p>
        </p:txBody>
      </p:sp>
      <p:sp>
        <p:nvSpPr>
          <p:cNvPr id="4" name="Text Box 13"/>
          <p:cNvSpPr txBox="1">
            <a:spLocks noChangeArrowheads="1"/>
          </p:cNvSpPr>
          <p:nvPr/>
        </p:nvSpPr>
        <p:spPr bwMode="auto">
          <a:xfrm>
            <a:off x="755650" y="1333500"/>
            <a:ext cx="5761038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Tx/>
            </a:pPr>
            <a:r>
              <a:rPr lang="zh-CN" altLang="en-US" sz="3200" b="1" dirty="0" smtClean="0">
                <a:solidFill>
                  <a:srgbClr val="800080"/>
                </a:solidFill>
                <a:latin typeface="楷体_GB2312" pitchFamily="49" charset="-122"/>
              </a:rPr>
              <a:t>四</a:t>
            </a:r>
            <a:r>
              <a:rPr lang="zh-CN" altLang="en-US" sz="3200" b="1" dirty="0">
                <a:solidFill>
                  <a:srgbClr val="800080"/>
                </a:solidFill>
                <a:latin typeface="楷体_GB2312" pitchFamily="49" charset="-122"/>
              </a:rPr>
              <a:t>种 </a:t>
            </a:r>
            <a:r>
              <a:rPr lang="en-US" altLang="zh-CN" sz="3200" dirty="0">
                <a:solidFill>
                  <a:srgbClr val="800080"/>
                </a:solidFill>
              </a:rPr>
              <a:t>LR</a:t>
            </a:r>
            <a:r>
              <a:rPr lang="en-US" altLang="zh-CN" dirty="0">
                <a:solidFill>
                  <a:srgbClr val="800080"/>
                </a:solidFill>
              </a:rPr>
              <a:t> </a:t>
            </a:r>
            <a:r>
              <a:rPr lang="zh-CN" altLang="en-US" sz="3200" b="1" dirty="0">
                <a:solidFill>
                  <a:srgbClr val="800080"/>
                </a:solidFill>
                <a:latin typeface="楷体_GB2312" pitchFamily="49" charset="-122"/>
              </a:rPr>
              <a:t>分析技术</a:t>
            </a:r>
          </a:p>
          <a:p>
            <a:pPr>
              <a:buClrTx/>
              <a:buFont typeface="Wingdings" pitchFamily="2" charset="2"/>
              <a:buNone/>
            </a:pPr>
            <a:endParaRPr lang="zh-CN" altLang="en-US" sz="10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>
              <a:buClrTx/>
              <a:buFont typeface="Wingdings" pitchFamily="2" charset="2"/>
              <a:buNone/>
            </a:pPr>
            <a:endParaRPr lang="zh-CN" altLang="en-US" sz="1000" b="1" dirty="0">
              <a:solidFill>
                <a:srgbClr val="800080"/>
              </a:solidFill>
              <a:latin typeface="楷体_GB2312" pitchFamily="49" charset="-122"/>
            </a:endParaRPr>
          </a:p>
          <a:p>
            <a:pPr lvl="1">
              <a:buClrTx/>
              <a:buFont typeface="Symbol" pitchFamily="18" charset="2"/>
              <a:buChar char="-"/>
            </a:pPr>
            <a:r>
              <a:rPr lang="zh-CN" altLang="en-US" sz="2800" b="1" dirty="0">
                <a:solidFill>
                  <a:srgbClr val="800080"/>
                </a:solidFill>
              </a:rPr>
              <a:t> </a:t>
            </a:r>
            <a:r>
              <a:rPr lang="en-US" altLang="zh-CN" sz="2800" dirty="0">
                <a:solidFill>
                  <a:srgbClr val="800080"/>
                </a:solidFill>
              </a:rPr>
              <a:t>LR</a:t>
            </a:r>
            <a:r>
              <a:rPr lang="zh-CN" altLang="en-US" sz="2800" dirty="0">
                <a:solidFill>
                  <a:srgbClr val="800080"/>
                </a:solidFill>
              </a:rPr>
              <a:t>（</a:t>
            </a:r>
            <a:r>
              <a:rPr lang="en-US" altLang="zh-CN" sz="2800" dirty="0">
                <a:solidFill>
                  <a:srgbClr val="800080"/>
                </a:solidFill>
              </a:rPr>
              <a:t>0</a:t>
            </a:r>
            <a:r>
              <a:rPr lang="zh-CN" altLang="en-US" sz="2800" dirty="0">
                <a:solidFill>
                  <a:srgbClr val="800080"/>
                </a:solidFill>
              </a:rPr>
              <a:t>）</a:t>
            </a:r>
            <a:r>
              <a:rPr lang="zh-CN" altLang="en-US" sz="2800" b="1" dirty="0">
                <a:solidFill>
                  <a:srgbClr val="800080"/>
                </a:solidFill>
              </a:rPr>
              <a:t>分析</a:t>
            </a:r>
          </a:p>
          <a:p>
            <a:pPr lvl="1">
              <a:buClrTx/>
              <a:buFont typeface="Symbol" pitchFamily="18" charset="2"/>
              <a:buChar char="-"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itchFamily="18" charset="2"/>
              <a:buNone/>
            </a:pPr>
            <a:r>
              <a:rPr lang="zh-CN" altLang="en-US" b="1" dirty="0">
                <a:solidFill>
                  <a:srgbClr val="800080"/>
                </a:solidFill>
              </a:rPr>
              <a:t>   </a:t>
            </a:r>
            <a:r>
              <a:rPr lang="zh-CN" altLang="en-US" b="1" dirty="0"/>
              <a:t>适用于 </a:t>
            </a:r>
            <a:r>
              <a:rPr lang="en-US" altLang="zh-CN" dirty="0">
                <a:solidFill>
                  <a:srgbClr val="800080"/>
                </a:solidFill>
              </a:rPr>
              <a:t>LR</a:t>
            </a:r>
            <a:r>
              <a:rPr lang="zh-CN" altLang="en-US" dirty="0">
                <a:solidFill>
                  <a:srgbClr val="800080"/>
                </a:solidFill>
              </a:rPr>
              <a:t>（</a:t>
            </a:r>
            <a:r>
              <a:rPr lang="en-US" altLang="zh-CN" dirty="0">
                <a:solidFill>
                  <a:srgbClr val="800080"/>
                </a:solidFill>
              </a:rPr>
              <a:t>0</a:t>
            </a:r>
            <a:r>
              <a:rPr lang="zh-CN" altLang="en-US" dirty="0">
                <a:solidFill>
                  <a:srgbClr val="800080"/>
                </a:solidFill>
              </a:rPr>
              <a:t>）</a:t>
            </a:r>
            <a:r>
              <a:rPr lang="zh-CN" altLang="en-US" b="1" dirty="0">
                <a:solidFill>
                  <a:srgbClr val="800080"/>
                </a:solidFill>
              </a:rPr>
              <a:t>文法</a:t>
            </a:r>
          </a:p>
          <a:p>
            <a:pPr lvl="1">
              <a:buClrTx/>
              <a:buFont typeface="Symbol" pitchFamily="18" charset="2"/>
              <a:buChar char="-"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itchFamily="18" charset="2"/>
              <a:buChar char="-"/>
            </a:pPr>
            <a:r>
              <a:rPr lang="zh-CN" altLang="en-US" sz="2800" b="1" dirty="0">
                <a:solidFill>
                  <a:srgbClr val="800080"/>
                </a:solidFill>
              </a:rPr>
              <a:t> </a:t>
            </a:r>
            <a:r>
              <a:rPr lang="en-US" altLang="zh-CN" sz="2800" dirty="0">
                <a:solidFill>
                  <a:srgbClr val="800080"/>
                </a:solidFill>
              </a:rPr>
              <a:t>SLR</a:t>
            </a:r>
            <a:r>
              <a:rPr lang="zh-CN" altLang="en-US" sz="2800" dirty="0">
                <a:solidFill>
                  <a:srgbClr val="800080"/>
                </a:solidFill>
              </a:rPr>
              <a:t>（</a:t>
            </a:r>
            <a:r>
              <a:rPr lang="en-US" altLang="zh-CN" sz="2800" dirty="0">
                <a:solidFill>
                  <a:srgbClr val="800080"/>
                </a:solidFill>
              </a:rPr>
              <a:t>1</a:t>
            </a:r>
            <a:r>
              <a:rPr lang="zh-CN" altLang="en-US" sz="2800" dirty="0">
                <a:solidFill>
                  <a:srgbClr val="800080"/>
                </a:solidFill>
              </a:rPr>
              <a:t>）</a:t>
            </a:r>
            <a:r>
              <a:rPr lang="zh-CN" altLang="en-US" sz="2800" b="1" dirty="0">
                <a:solidFill>
                  <a:srgbClr val="800080"/>
                </a:solidFill>
              </a:rPr>
              <a:t>分析</a:t>
            </a:r>
          </a:p>
          <a:p>
            <a:pPr lvl="1">
              <a:buClrTx/>
              <a:buFont typeface="Symbol" pitchFamily="18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itchFamily="18" charset="2"/>
              <a:buNone/>
            </a:pPr>
            <a:r>
              <a:rPr lang="zh-CN" altLang="en-US" b="1" dirty="0"/>
              <a:t>   适用于 </a:t>
            </a:r>
            <a:r>
              <a:rPr lang="en-US" altLang="zh-CN" dirty="0">
                <a:solidFill>
                  <a:srgbClr val="800080"/>
                </a:solidFill>
              </a:rPr>
              <a:t>SLR</a:t>
            </a:r>
            <a:r>
              <a:rPr lang="zh-CN" altLang="en-US" dirty="0">
                <a:solidFill>
                  <a:srgbClr val="800080"/>
                </a:solidFill>
              </a:rPr>
              <a:t>（</a:t>
            </a:r>
            <a:r>
              <a:rPr lang="en-US" altLang="zh-CN" dirty="0">
                <a:solidFill>
                  <a:srgbClr val="800080"/>
                </a:solidFill>
              </a:rPr>
              <a:t>1</a:t>
            </a:r>
            <a:r>
              <a:rPr lang="zh-CN" altLang="en-US" dirty="0">
                <a:solidFill>
                  <a:srgbClr val="800080"/>
                </a:solidFill>
              </a:rPr>
              <a:t>）</a:t>
            </a:r>
            <a:r>
              <a:rPr lang="zh-CN" altLang="en-US" b="1" dirty="0">
                <a:solidFill>
                  <a:srgbClr val="800080"/>
                </a:solidFill>
              </a:rPr>
              <a:t>文法</a:t>
            </a:r>
          </a:p>
          <a:p>
            <a:pPr lvl="1">
              <a:buClrTx/>
              <a:buFont typeface="Symbol" pitchFamily="18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itchFamily="18" charset="2"/>
              <a:buChar char="-"/>
            </a:pPr>
            <a:r>
              <a:rPr lang="zh-CN" altLang="en-US" sz="2800" b="1" dirty="0">
                <a:solidFill>
                  <a:srgbClr val="800080"/>
                </a:solidFill>
              </a:rPr>
              <a:t> </a:t>
            </a:r>
            <a:r>
              <a:rPr lang="en-US" altLang="zh-CN" sz="2800" dirty="0">
                <a:solidFill>
                  <a:srgbClr val="800080"/>
                </a:solidFill>
              </a:rPr>
              <a:t>LR</a:t>
            </a:r>
            <a:r>
              <a:rPr lang="zh-CN" altLang="en-US" sz="2800" dirty="0">
                <a:solidFill>
                  <a:srgbClr val="800080"/>
                </a:solidFill>
              </a:rPr>
              <a:t>（</a:t>
            </a:r>
            <a:r>
              <a:rPr lang="en-US" altLang="zh-CN" sz="2800" dirty="0">
                <a:solidFill>
                  <a:srgbClr val="800080"/>
                </a:solidFill>
              </a:rPr>
              <a:t>1</a:t>
            </a:r>
            <a:r>
              <a:rPr lang="zh-CN" altLang="en-US" sz="2800" dirty="0">
                <a:solidFill>
                  <a:srgbClr val="800080"/>
                </a:solidFill>
              </a:rPr>
              <a:t>）</a:t>
            </a:r>
            <a:r>
              <a:rPr lang="zh-CN" altLang="en-US" sz="2800" b="1" dirty="0">
                <a:solidFill>
                  <a:srgbClr val="800080"/>
                </a:solidFill>
              </a:rPr>
              <a:t>分析</a:t>
            </a:r>
          </a:p>
          <a:p>
            <a:pPr lvl="1">
              <a:buClrTx/>
              <a:buFont typeface="Symbol" pitchFamily="18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itchFamily="18" charset="2"/>
              <a:buNone/>
            </a:pPr>
            <a:r>
              <a:rPr lang="zh-CN" altLang="en-US" b="1" dirty="0"/>
              <a:t>   适用于 </a:t>
            </a:r>
            <a:r>
              <a:rPr lang="en-US" altLang="zh-CN" dirty="0">
                <a:solidFill>
                  <a:srgbClr val="800080"/>
                </a:solidFill>
              </a:rPr>
              <a:t>LR</a:t>
            </a:r>
            <a:r>
              <a:rPr lang="zh-CN" altLang="en-US" dirty="0">
                <a:solidFill>
                  <a:srgbClr val="800080"/>
                </a:solidFill>
              </a:rPr>
              <a:t>（</a:t>
            </a:r>
            <a:r>
              <a:rPr lang="en-US" altLang="zh-CN" dirty="0">
                <a:solidFill>
                  <a:srgbClr val="800080"/>
                </a:solidFill>
              </a:rPr>
              <a:t>1</a:t>
            </a:r>
            <a:r>
              <a:rPr lang="zh-CN" altLang="en-US" dirty="0">
                <a:solidFill>
                  <a:srgbClr val="800080"/>
                </a:solidFill>
              </a:rPr>
              <a:t>）</a:t>
            </a:r>
            <a:r>
              <a:rPr lang="zh-CN" altLang="en-US" b="1" dirty="0">
                <a:solidFill>
                  <a:srgbClr val="800080"/>
                </a:solidFill>
              </a:rPr>
              <a:t>文法</a:t>
            </a:r>
          </a:p>
          <a:p>
            <a:pPr lvl="1">
              <a:buClrTx/>
              <a:buFont typeface="Symbol" pitchFamily="18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itchFamily="18" charset="2"/>
              <a:buChar char="-"/>
            </a:pPr>
            <a:r>
              <a:rPr lang="zh-CN" altLang="en-US" sz="2800" b="1" dirty="0">
                <a:solidFill>
                  <a:srgbClr val="800080"/>
                </a:solidFill>
              </a:rPr>
              <a:t> </a:t>
            </a:r>
            <a:r>
              <a:rPr lang="en-US" altLang="zh-CN" sz="2800" dirty="0">
                <a:solidFill>
                  <a:srgbClr val="800080"/>
                </a:solidFill>
              </a:rPr>
              <a:t>LALR</a:t>
            </a:r>
            <a:r>
              <a:rPr lang="zh-CN" altLang="en-US" sz="2800" dirty="0">
                <a:solidFill>
                  <a:srgbClr val="800080"/>
                </a:solidFill>
              </a:rPr>
              <a:t>（</a:t>
            </a:r>
            <a:r>
              <a:rPr lang="en-US" altLang="zh-CN" sz="2800" dirty="0">
                <a:solidFill>
                  <a:srgbClr val="800080"/>
                </a:solidFill>
              </a:rPr>
              <a:t>1</a:t>
            </a:r>
            <a:r>
              <a:rPr lang="zh-CN" altLang="en-US" sz="2800" dirty="0">
                <a:solidFill>
                  <a:srgbClr val="800080"/>
                </a:solidFill>
              </a:rPr>
              <a:t>）</a:t>
            </a:r>
            <a:r>
              <a:rPr lang="zh-CN" altLang="en-US" sz="2800" b="1" dirty="0">
                <a:solidFill>
                  <a:srgbClr val="800080"/>
                </a:solidFill>
              </a:rPr>
              <a:t>分析</a:t>
            </a:r>
          </a:p>
          <a:p>
            <a:pPr lvl="1">
              <a:buClrTx/>
              <a:buFont typeface="Symbol" pitchFamily="18" charset="2"/>
              <a:buNone/>
            </a:pPr>
            <a:endParaRPr lang="zh-CN" altLang="en-US" sz="1000" b="1" dirty="0">
              <a:solidFill>
                <a:srgbClr val="800080"/>
              </a:solidFill>
            </a:endParaRPr>
          </a:p>
          <a:p>
            <a:pPr lvl="1">
              <a:buClrTx/>
              <a:buFont typeface="Symbol" pitchFamily="18" charset="2"/>
              <a:buNone/>
            </a:pPr>
            <a:r>
              <a:rPr lang="zh-CN" altLang="en-US" b="1" dirty="0"/>
              <a:t>   适用于 </a:t>
            </a:r>
            <a:r>
              <a:rPr lang="en-US" altLang="zh-CN" dirty="0">
                <a:solidFill>
                  <a:srgbClr val="800080"/>
                </a:solidFill>
              </a:rPr>
              <a:t>LALR</a:t>
            </a:r>
            <a:r>
              <a:rPr lang="zh-CN" altLang="en-US" dirty="0">
                <a:solidFill>
                  <a:srgbClr val="800080"/>
                </a:solidFill>
              </a:rPr>
              <a:t>（</a:t>
            </a:r>
            <a:r>
              <a:rPr lang="en-US" altLang="zh-CN" dirty="0">
                <a:solidFill>
                  <a:srgbClr val="800080"/>
                </a:solidFill>
              </a:rPr>
              <a:t>1</a:t>
            </a:r>
            <a:r>
              <a:rPr lang="zh-CN" altLang="en-US" dirty="0">
                <a:solidFill>
                  <a:srgbClr val="800080"/>
                </a:solidFill>
              </a:rPr>
              <a:t>）</a:t>
            </a:r>
            <a:r>
              <a:rPr lang="zh-CN" altLang="en-US" b="1" dirty="0">
                <a:solidFill>
                  <a:srgbClr val="800080"/>
                </a:solidFill>
              </a:rPr>
              <a:t>文法</a:t>
            </a:r>
          </a:p>
        </p:txBody>
      </p:sp>
      <p:sp>
        <p:nvSpPr>
          <p:cNvPr id="5" name="AutoShape 20"/>
          <p:cNvSpPr>
            <a:spLocks/>
          </p:cNvSpPr>
          <p:nvPr/>
        </p:nvSpPr>
        <p:spPr bwMode="auto">
          <a:xfrm>
            <a:off x="5724525" y="3058797"/>
            <a:ext cx="2016125" cy="609600"/>
          </a:xfrm>
          <a:prstGeom prst="borderCallout2">
            <a:avLst>
              <a:gd name="adj1" fmla="val 18750"/>
              <a:gd name="adj2" fmla="val -3778"/>
              <a:gd name="adj3" fmla="val 18750"/>
              <a:gd name="adj4" fmla="val -58111"/>
              <a:gd name="adj5" fmla="val 79949"/>
              <a:gd name="adj6" fmla="val -141417"/>
            </a:avLst>
          </a:prstGeom>
          <a:noFill/>
          <a:ln w="9525" cap="rnd" algn="ctr">
            <a:solidFill>
              <a:srgbClr val="00008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kumimoji="0" lang="en-US" altLang="zh-CN" i="1" dirty="0">
                <a:solidFill>
                  <a:srgbClr val="800080"/>
                </a:solidFill>
              </a:rPr>
              <a:t>S</a:t>
            </a:r>
            <a:r>
              <a:rPr kumimoji="0" lang="en-US" altLang="zh-CN" i="1" dirty="0"/>
              <a:t>i</a:t>
            </a:r>
            <a:r>
              <a:rPr lang="en-US" altLang="zh-CN" i="1" dirty="0"/>
              <a:t>mple</a:t>
            </a:r>
            <a:r>
              <a:rPr lang="en-US" altLang="zh-CN" i="1" dirty="0">
                <a:solidFill>
                  <a:srgbClr val="800080"/>
                </a:solidFill>
              </a:rPr>
              <a:t> LR(1)</a:t>
            </a:r>
          </a:p>
        </p:txBody>
      </p:sp>
      <p:sp>
        <p:nvSpPr>
          <p:cNvPr id="6" name="AutoShape 23"/>
          <p:cNvSpPr>
            <a:spLocks/>
          </p:cNvSpPr>
          <p:nvPr/>
        </p:nvSpPr>
        <p:spPr bwMode="auto">
          <a:xfrm>
            <a:off x="5727700" y="5346384"/>
            <a:ext cx="2660650" cy="609600"/>
          </a:xfrm>
          <a:prstGeom prst="borderCallout2">
            <a:avLst>
              <a:gd name="adj1" fmla="val 18750"/>
              <a:gd name="adj2" fmla="val -2866"/>
              <a:gd name="adj3" fmla="val 18750"/>
              <a:gd name="adj4" fmla="val -44509"/>
              <a:gd name="adj5" fmla="val 69532"/>
              <a:gd name="adj6" fmla="val -104296"/>
            </a:avLst>
          </a:prstGeom>
          <a:noFill/>
          <a:ln w="9525" cap="rnd" algn="ctr">
            <a:solidFill>
              <a:srgbClr val="00008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kumimoji="0" lang="en-US" altLang="zh-CN" i="1">
                <a:solidFill>
                  <a:srgbClr val="800080"/>
                </a:solidFill>
              </a:rPr>
              <a:t>L</a:t>
            </a:r>
            <a:r>
              <a:rPr kumimoji="0" lang="en-US" altLang="zh-CN" i="1"/>
              <a:t>o</a:t>
            </a:r>
            <a:r>
              <a:rPr lang="en-US" altLang="zh-CN" i="1"/>
              <a:t>ok</a:t>
            </a:r>
            <a:r>
              <a:rPr lang="en-US" altLang="zh-CN" i="1">
                <a:solidFill>
                  <a:srgbClr val="800080"/>
                </a:solidFill>
              </a:rPr>
              <a:t>A</a:t>
            </a:r>
            <a:r>
              <a:rPr lang="en-US" altLang="zh-CN" i="1"/>
              <a:t>head</a:t>
            </a:r>
            <a:r>
              <a:rPr lang="en-US" altLang="zh-CN" i="1">
                <a:solidFill>
                  <a:srgbClr val="800080"/>
                </a:solidFill>
              </a:rPr>
              <a:t>  LR(1)</a:t>
            </a:r>
          </a:p>
        </p:txBody>
      </p:sp>
      <p:sp>
        <p:nvSpPr>
          <p:cNvPr id="7" name="AutoShape 24"/>
          <p:cNvSpPr>
            <a:spLocks/>
          </p:cNvSpPr>
          <p:nvPr/>
        </p:nvSpPr>
        <p:spPr bwMode="auto">
          <a:xfrm>
            <a:off x="5148263" y="1941197"/>
            <a:ext cx="3455987" cy="609600"/>
          </a:xfrm>
          <a:prstGeom prst="borderCallout2">
            <a:avLst>
              <a:gd name="adj1" fmla="val 18750"/>
              <a:gd name="adj2" fmla="val -2204"/>
              <a:gd name="adj3" fmla="val 18750"/>
              <a:gd name="adj4" fmla="val -22231"/>
              <a:gd name="adj5" fmla="val 79949"/>
              <a:gd name="adj6" fmla="val -52963"/>
            </a:avLst>
          </a:prstGeom>
          <a:noFill/>
          <a:ln w="9525" cap="rnd" algn="ctr">
            <a:solidFill>
              <a:srgbClr val="00008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kumimoji="0" lang="en-US" altLang="zh-CN" i="1">
                <a:solidFill>
                  <a:srgbClr val="800080"/>
                </a:solidFill>
              </a:rPr>
              <a:t>“0” </a:t>
            </a:r>
            <a:r>
              <a:rPr kumimoji="0" lang="en-US" altLang="zh-CN" b="1">
                <a:solidFill>
                  <a:srgbClr val="800080"/>
                </a:solidFill>
                <a:sym typeface="Symbol" pitchFamily="18" charset="2"/>
              </a:rPr>
              <a:t> </a:t>
            </a:r>
            <a:r>
              <a:rPr kumimoji="0" lang="zh-CN" altLang="en-US" b="1">
                <a:solidFill>
                  <a:srgbClr val="800080"/>
                </a:solidFill>
                <a:sym typeface="Symbol" pitchFamily="18" charset="2"/>
              </a:rPr>
              <a:t>向前查看 </a:t>
            </a:r>
            <a:r>
              <a:rPr kumimoji="0" lang="en-US" altLang="zh-CN" i="1">
                <a:solidFill>
                  <a:srgbClr val="800080"/>
                </a:solidFill>
                <a:sym typeface="Symbol" pitchFamily="18" charset="2"/>
              </a:rPr>
              <a:t>0 </a:t>
            </a:r>
            <a:r>
              <a:rPr kumimoji="0" lang="zh-CN" altLang="en-US" b="1">
                <a:solidFill>
                  <a:srgbClr val="800080"/>
                </a:solidFill>
                <a:sym typeface="Symbol" pitchFamily="18" charset="2"/>
              </a:rPr>
              <a:t>个符号</a:t>
            </a:r>
            <a:endParaRPr lang="zh-CN" altLang="en-US" b="1">
              <a:solidFill>
                <a:srgbClr val="800080"/>
              </a:solidFill>
              <a:sym typeface="Symbol" pitchFamily="18" charset="2"/>
            </a:endParaRPr>
          </a:p>
        </p:txBody>
      </p:sp>
      <p:grpSp>
        <p:nvGrpSpPr>
          <p:cNvPr id="8" name="Group 28"/>
          <p:cNvGrpSpPr>
            <a:grpSpLocks/>
          </p:cNvGrpSpPr>
          <p:nvPr/>
        </p:nvGrpSpPr>
        <p:grpSpPr bwMode="auto">
          <a:xfrm>
            <a:off x="3563938" y="3919222"/>
            <a:ext cx="5111750" cy="1873250"/>
            <a:chOff x="2245" y="2659"/>
            <a:chExt cx="3220" cy="1180"/>
          </a:xfrm>
        </p:grpSpPr>
        <p:sp>
          <p:nvSpPr>
            <p:cNvPr id="9" name="AutoShape 25"/>
            <p:cNvSpPr>
              <a:spLocks/>
            </p:cNvSpPr>
            <p:nvPr/>
          </p:nvSpPr>
          <p:spPr bwMode="auto">
            <a:xfrm>
              <a:off x="3288" y="2795"/>
              <a:ext cx="2177" cy="384"/>
            </a:xfrm>
            <a:prstGeom prst="borderCallout2">
              <a:avLst>
                <a:gd name="adj1" fmla="val 18750"/>
                <a:gd name="adj2" fmla="val -2204"/>
                <a:gd name="adj3" fmla="val 18750"/>
                <a:gd name="adj4" fmla="val -22370"/>
                <a:gd name="adj5" fmla="val 84116"/>
                <a:gd name="adj6" fmla="val -53329"/>
              </a:avLst>
            </a:prstGeom>
            <a:noFill/>
            <a:ln w="9525" cap="rnd" algn="ctr">
              <a:solidFill>
                <a:srgbClr val="000080"/>
              </a:solidFill>
              <a:prstDash val="sysDot"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buFont typeface="Wingdings" pitchFamily="2" charset="2"/>
                <a:buNone/>
              </a:pPr>
              <a:r>
                <a:rPr kumimoji="0" lang="en-US" altLang="zh-CN" i="1" dirty="0">
                  <a:solidFill>
                    <a:srgbClr val="800080"/>
                  </a:solidFill>
                </a:rPr>
                <a:t>“1” </a:t>
              </a:r>
              <a:r>
                <a:rPr kumimoji="0" lang="en-US" altLang="zh-CN" b="1" dirty="0">
                  <a:solidFill>
                    <a:srgbClr val="800080"/>
                  </a:solidFill>
                  <a:sym typeface="Symbol" pitchFamily="18" charset="2"/>
                </a:rPr>
                <a:t> </a:t>
              </a:r>
              <a:r>
                <a:rPr kumimoji="0" lang="zh-CN" altLang="en-US" b="1" dirty="0">
                  <a:solidFill>
                    <a:srgbClr val="800080"/>
                  </a:solidFill>
                  <a:sym typeface="Symbol" pitchFamily="18" charset="2"/>
                </a:rPr>
                <a:t>向前查看 </a:t>
              </a:r>
              <a:r>
                <a:rPr kumimoji="0" lang="en-US" altLang="zh-CN" i="1" dirty="0">
                  <a:solidFill>
                    <a:srgbClr val="800080"/>
                  </a:solidFill>
                  <a:sym typeface="Symbol" pitchFamily="18" charset="2"/>
                </a:rPr>
                <a:t>1 </a:t>
              </a:r>
              <a:r>
                <a:rPr kumimoji="0" lang="zh-CN" altLang="en-US" b="1" dirty="0">
                  <a:solidFill>
                    <a:srgbClr val="800080"/>
                  </a:solidFill>
                  <a:sym typeface="Symbol" pitchFamily="18" charset="2"/>
                </a:rPr>
                <a:t>个符号</a:t>
              </a:r>
              <a:endParaRPr lang="zh-CN" altLang="en-US" b="1" dirty="0">
                <a:solidFill>
                  <a:srgbClr val="800080"/>
                </a:solidFill>
                <a:sym typeface="Symbol" pitchFamily="18" charset="2"/>
              </a:endParaRPr>
            </a:p>
          </p:txBody>
        </p:sp>
        <p:sp>
          <p:nvSpPr>
            <p:cNvPr id="10" name="Line 26"/>
            <p:cNvSpPr>
              <a:spLocks noChangeShapeType="1"/>
            </p:cNvSpPr>
            <p:nvPr/>
          </p:nvSpPr>
          <p:spPr bwMode="auto">
            <a:xfrm>
              <a:off x="2245" y="2659"/>
              <a:ext cx="1043" cy="181"/>
            </a:xfrm>
            <a:prstGeom prst="line">
              <a:avLst/>
            </a:prstGeom>
            <a:noFill/>
            <a:ln w="9525" cap="rnd">
              <a:solidFill>
                <a:srgbClr val="000080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27"/>
            <p:cNvSpPr>
              <a:spLocks noChangeShapeType="1"/>
            </p:cNvSpPr>
            <p:nvPr/>
          </p:nvSpPr>
          <p:spPr bwMode="auto">
            <a:xfrm flipV="1">
              <a:off x="2336" y="3113"/>
              <a:ext cx="952" cy="726"/>
            </a:xfrm>
            <a:prstGeom prst="line">
              <a:avLst/>
            </a:prstGeom>
            <a:noFill/>
            <a:ln w="9525" cap="rnd">
              <a:solidFill>
                <a:srgbClr val="000080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2891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6.1 LR</a:t>
            </a:r>
            <a:r>
              <a:rPr lang="zh-CN" altLang="en-US" dirty="0"/>
              <a:t>分析概述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LR </a:t>
            </a:r>
            <a:r>
              <a:rPr lang="zh-CN" altLang="en-US" dirty="0" smtClean="0"/>
              <a:t>分析方法是</a:t>
            </a:r>
            <a:r>
              <a:rPr lang="zh-CN" altLang="en-US" dirty="0"/>
              <a:t>一种</a:t>
            </a:r>
            <a:r>
              <a:rPr lang="zh-CN" altLang="en-US" dirty="0">
                <a:solidFill>
                  <a:srgbClr val="FF0000"/>
                </a:solidFill>
              </a:rPr>
              <a:t>表驱动</a:t>
            </a:r>
            <a:r>
              <a:rPr lang="zh-CN" altLang="en-US" dirty="0"/>
              <a:t>的移</a:t>
            </a:r>
            <a:r>
              <a:rPr lang="zh-CN" altLang="en-US" dirty="0" smtClean="0"/>
              <a:t>进归约分析方法</a:t>
            </a:r>
            <a:endParaRPr lang="zh-CN" altLang="en-US" dirty="0"/>
          </a:p>
          <a:p>
            <a:r>
              <a:rPr lang="en-US" altLang="zh-CN" dirty="0"/>
              <a:t>LR</a:t>
            </a:r>
            <a:r>
              <a:rPr lang="zh-CN" altLang="en-US" dirty="0"/>
              <a:t>分析器</a:t>
            </a:r>
            <a:r>
              <a:rPr lang="zh-CN" altLang="en-US" dirty="0" smtClean="0"/>
              <a:t>组成：</a:t>
            </a:r>
            <a:endParaRPr lang="en-US" altLang="zh-CN" dirty="0" smtClean="0"/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总</a:t>
            </a:r>
            <a:r>
              <a:rPr lang="zh-CN" altLang="en-US" b="1" dirty="0">
                <a:solidFill>
                  <a:srgbClr val="FF0000"/>
                </a:solidFill>
              </a:rPr>
              <a:t>控程序</a:t>
            </a:r>
            <a:r>
              <a:rPr lang="zh-CN" altLang="en-US" b="1" dirty="0" smtClean="0">
                <a:solidFill>
                  <a:srgbClr val="FF0000"/>
                </a:solidFill>
              </a:rPr>
              <a:t>：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/>
              <a:t>对</a:t>
            </a:r>
            <a:r>
              <a:rPr lang="zh-CN" altLang="en-US" dirty="0"/>
              <a:t>所有的</a:t>
            </a:r>
            <a:r>
              <a:rPr lang="en-US" altLang="zh-CN" dirty="0"/>
              <a:t>LR</a:t>
            </a:r>
            <a:r>
              <a:rPr lang="zh-CN" altLang="en-US" dirty="0"/>
              <a:t>分析器总控程序都是相同的。</a:t>
            </a:r>
          </a:p>
          <a:p>
            <a:r>
              <a:rPr lang="zh-CN" altLang="en-US" b="1" dirty="0">
                <a:solidFill>
                  <a:srgbClr val="FF0000"/>
                </a:solidFill>
              </a:rPr>
              <a:t>分析</a:t>
            </a:r>
            <a:r>
              <a:rPr lang="zh-CN" altLang="en-US" b="1" dirty="0" smtClean="0">
                <a:solidFill>
                  <a:srgbClr val="FF0000"/>
                </a:solidFill>
              </a:rPr>
              <a:t>表：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/>
              <a:t>不同</a:t>
            </a:r>
            <a:r>
              <a:rPr lang="zh-CN" altLang="en-US" dirty="0"/>
              <a:t>文法的分析表不同，同一文法采用的</a:t>
            </a:r>
            <a:r>
              <a:rPr lang="en-US" altLang="zh-CN" dirty="0"/>
              <a:t>LR</a:t>
            </a:r>
            <a:r>
              <a:rPr lang="zh-CN" altLang="en-US" dirty="0"/>
              <a:t>分析器不同时，分析表也不同。</a:t>
            </a:r>
          </a:p>
          <a:p>
            <a:pPr lvl="1"/>
            <a:r>
              <a:rPr lang="zh-CN" altLang="en-US" dirty="0"/>
              <a:t>分为动作表</a:t>
            </a:r>
            <a:r>
              <a:rPr lang="en-US" altLang="zh-CN" dirty="0"/>
              <a:t>(ACTION)</a:t>
            </a:r>
            <a:r>
              <a:rPr lang="zh-CN" altLang="en-US" dirty="0"/>
              <a:t>和状态转换表</a:t>
            </a:r>
            <a:r>
              <a:rPr lang="en-US" altLang="zh-CN" dirty="0"/>
              <a:t>(GOTO)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分析栈</a:t>
            </a:r>
            <a:r>
              <a:rPr lang="zh-CN" altLang="en-US" dirty="0" smtClean="0">
                <a:solidFill>
                  <a:srgbClr val="FF0000"/>
                </a:solidFill>
              </a:rPr>
              <a:t>：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dirty="0" smtClean="0"/>
              <a:t>文法</a:t>
            </a:r>
            <a:r>
              <a:rPr lang="zh-CN" altLang="en-US" dirty="0"/>
              <a:t>符号栈和状态栈</a:t>
            </a:r>
          </a:p>
        </p:txBody>
      </p:sp>
    </p:spTree>
    <p:extLst>
      <p:ext uri="{BB962C8B-B14F-4D97-AF65-F5344CB8AC3E}">
        <p14:creationId xmlns:p14="http://schemas.microsoft.com/office/powerpoint/2010/main" val="1562197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6.1 LR</a:t>
            </a:r>
            <a:r>
              <a:rPr lang="zh-CN" altLang="en-US" dirty="0"/>
              <a:t>分析概述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302761" y="2962276"/>
            <a:ext cx="2000250" cy="660400"/>
          </a:xfrm>
          <a:prstGeom prst="rect">
            <a:avLst/>
          </a:prstGeom>
          <a:noFill/>
          <a:ln w="222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r>
              <a:rPr kumimoji="1" lang="zh-CN" altLang="en-US" sz="2800" b="1" dirty="0">
                <a:solidFill>
                  <a:srgbClr val="FF0000"/>
                </a:solidFill>
                <a:latin typeface="Times New Roman" charset="0"/>
              </a:rPr>
              <a:t>总控程序</a:t>
            </a:r>
          </a:p>
        </p:txBody>
      </p:sp>
      <p:sp>
        <p:nvSpPr>
          <p:cNvPr id="5" name="Freeform 6"/>
          <p:cNvSpPr>
            <a:spLocks/>
          </p:cNvSpPr>
          <p:nvPr/>
        </p:nvSpPr>
        <p:spPr bwMode="auto">
          <a:xfrm>
            <a:off x="3483611" y="2809876"/>
            <a:ext cx="819150" cy="685800"/>
          </a:xfrm>
          <a:custGeom>
            <a:avLst/>
            <a:gdLst>
              <a:gd name="T0" fmla="*/ 19990 w 20000"/>
              <a:gd name="T1" fmla="*/ 19954 h 20000"/>
              <a:gd name="T2" fmla="*/ 9319 w 20000"/>
              <a:gd name="T3" fmla="*/ 19954 h 20000"/>
              <a:gd name="T4" fmla="*/ 9319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90" y="19954"/>
                </a:moveTo>
                <a:lnTo>
                  <a:pt x="9319" y="19954"/>
                </a:lnTo>
                <a:lnTo>
                  <a:pt x="9319" y="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6" name="Freeform 7"/>
          <p:cNvSpPr>
            <a:spLocks/>
          </p:cNvSpPr>
          <p:nvPr/>
        </p:nvSpPr>
        <p:spPr bwMode="auto">
          <a:xfrm>
            <a:off x="5328286" y="2203451"/>
            <a:ext cx="514350" cy="758825"/>
          </a:xfrm>
          <a:custGeom>
            <a:avLst/>
            <a:gdLst>
              <a:gd name="T0" fmla="*/ 0 w 420"/>
              <a:gd name="T1" fmla="*/ 855 h 855"/>
              <a:gd name="T2" fmla="*/ 0 w 420"/>
              <a:gd name="T3" fmla="*/ 570 h 855"/>
              <a:gd name="T4" fmla="*/ 420 w 420"/>
              <a:gd name="T5" fmla="*/ 570 h 855"/>
              <a:gd name="T6" fmla="*/ 420 w 420"/>
              <a:gd name="T7" fmla="*/ 0 h 855"/>
              <a:gd name="T8" fmla="*/ 0 60000 65536"/>
              <a:gd name="T9" fmla="*/ 0 60000 65536"/>
              <a:gd name="T10" fmla="*/ 0 60000 65536"/>
              <a:gd name="T11" fmla="*/ 0 60000 65536"/>
              <a:gd name="T12" fmla="*/ 0 w 420"/>
              <a:gd name="T13" fmla="*/ 0 h 855"/>
              <a:gd name="T14" fmla="*/ 420 w 420"/>
              <a:gd name="T15" fmla="*/ 855 h 85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0" h="855">
                <a:moveTo>
                  <a:pt x="0" y="855"/>
                </a:moveTo>
                <a:lnTo>
                  <a:pt x="0" y="570"/>
                </a:lnTo>
                <a:lnTo>
                  <a:pt x="420" y="570"/>
                </a:lnTo>
                <a:lnTo>
                  <a:pt x="420" y="0"/>
                </a:lnTo>
              </a:path>
            </a:pathLst>
          </a:custGeom>
          <a:noFill/>
          <a:ln w="222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964249" y="4438651"/>
            <a:ext cx="15621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rgbClr val="0000FF"/>
                </a:solidFill>
                <a:latin typeface="Times New Roman" charset="0"/>
              </a:rPr>
              <a:t>状态</a:t>
            </a: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2188211" y="4438651"/>
            <a:ext cx="14430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rgbClr val="0000FF"/>
                </a:solidFill>
                <a:latin typeface="Times New Roman" charset="0"/>
              </a:rPr>
              <a:t>符号</a:t>
            </a:r>
          </a:p>
        </p:txBody>
      </p:sp>
      <p:graphicFrame>
        <p:nvGraphicFramePr>
          <p:cNvPr id="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269877"/>
              </p:ext>
            </p:extLst>
          </p:nvPr>
        </p:nvGraphicFramePr>
        <p:xfrm>
          <a:off x="719774" y="1893888"/>
          <a:ext cx="3197225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2" name="WPS文字 文档" r:id="rId3" imgW="1709280" imgH="1498320" progId="WPS.Document.6">
                  <p:embed/>
                </p:oleObj>
              </mc:Choice>
              <mc:Fallback>
                <p:oleObj name="WPS文字 文档" r:id="rId3" imgW="1709280" imgH="1498320" progId="WPS.Document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774" y="1893888"/>
                        <a:ext cx="3197225" cy="266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631792" y="4876802"/>
            <a:ext cx="12779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/>
            <a:r>
              <a:rPr kumimoji="1" lang="zh-CN" altLang="en-US" sz="2800" b="1" dirty="0">
                <a:solidFill>
                  <a:srgbClr val="FF0000"/>
                </a:solidFill>
                <a:latin typeface="Times New Roman" charset="0"/>
              </a:rPr>
              <a:t>分析栈</a:t>
            </a:r>
            <a:endParaRPr kumimoji="1" lang="zh-CN" altLang="en-US" sz="2400" b="1" dirty="0">
              <a:solidFill>
                <a:srgbClr val="FF0000"/>
              </a:solidFill>
              <a:latin typeface="Times New Roman" charset="0"/>
            </a:endParaRPr>
          </a:p>
        </p:txBody>
      </p:sp>
      <p:grpSp>
        <p:nvGrpSpPr>
          <p:cNvPr id="11" name="Group 14"/>
          <p:cNvGrpSpPr>
            <a:grpSpLocks/>
          </p:cNvGrpSpPr>
          <p:nvPr/>
        </p:nvGrpSpPr>
        <p:grpSpPr bwMode="auto">
          <a:xfrm>
            <a:off x="4132899" y="4559301"/>
            <a:ext cx="3654425" cy="1147762"/>
            <a:chOff x="2688" y="3408"/>
            <a:chExt cx="1940" cy="723"/>
          </a:xfrm>
        </p:grpSpPr>
        <p:grpSp>
          <p:nvGrpSpPr>
            <p:cNvPr id="12" name="Group 15"/>
            <p:cNvGrpSpPr>
              <a:grpSpLocks/>
            </p:cNvGrpSpPr>
            <p:nvPr/>
          </p:nvGrpSpPr>
          <p:grpSpPr bwMode="auto">
            <a:xfrm>
              <a:off x="2688" y="3408"/>
              <a:ext cx="1940" cy="339"/>
              <a:chOff x="7200" y="5340"/>
              <a:chExt cx="1591" cy="468"/>
            </a:xfrm>
          </p:grpSpPr>
          <p:sp>
            <p:nvSpPr>
              <p:cNvPr id="14" name="Rectangle 16"/>
              <p:cNvSpPr>
                <a:spLocks noChangeArrowheads="1"/>
              </p:cNvSpPr>
              <p:nvPr/>
            </p:nvSpPr>
            <p:spPr bwMode="auto">
              <a:xfrm>
                <a:off x="7200" y="5340"/>
                <a:ext cx="1591" cy="468"/>
              </a:xfrm>
              <a:prstGeom prst="rect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algn="just"/>
                <a:r>
                  <a:rPr kumimoji="1" lang="en-US" altLang="zh-CN" sz="2800" b="1" dirty="0">
                    <a:solidFill>
                      <a:srgbClr val="0000FF"/>
                    </a:solidFill>
                    <a:latin typeface="Times New Roman" charset="0"/>
                  </a:rPr>
                  <a:t>ACTION         GOTO   </a:t>
                </a:r>
                <a:endParaRPr kumimoji="1" lang="en-US" altLang="zh-CN" b="1" dirty="0">
                  <a:solidFill>
                    <a:srgbClr val="0000FF"/>
                  </a:solidFill>
                  <a:latin typeface="Times New Roman" charset="0"/>
                </a:endParaRPr>
              </a:p>
            </p:txBody>
          </p:sp>
          <p:sp>
            <p:nvSpPr>
              <p:cNvPr id="15" name="Line 17"/>
              <p:cNvSpPr>
                <a:spLocks noChangeShapeType="1"/>
              </p:cNvSpPr>
              <p:nvPr/>
            </p:nvSpPr>
            <p:spPr bwMode="auto">
              <a:xfrm>
                <a:off x="8100" y="5340"/>
                <a:ext cx="0" cy="468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rgbClr val="0000FF"/>
                  </a:solidFill>
                </a:endParaRPr>
              </a:p>
            </p:txBody>
          </p:sp>
        </p:grpSp>
        <p:sp>
          <p:nvSpPr>
            <p:cNvPr id="13" name="Rectangle 18"/>
            <p:cNvSpPr>
              <a:spLocks noChangeArrowheads="1"/>
            </p:cNvSpPr>
            <p:nvPr/>
          </p:nvSpPr>
          <p:spPr bwMode="auto">
            <a:xfrm>
              <a:off x="3234" y="3747"/>
              <a:ext cx="768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sz="2800" b="1" dirty="0">
                  <a:solidFill>
                    <a:srgbClr val="FF0000"/>
                  </a:solidFill>
                  <a:latin typeface="Times New Roman" charset="0"/>
                </a:rPr>
                <a:t> LR</a:t>
              </a:r>
              <a:r>
                <a:rPr kumimoji="1" lang="zh-CN" altLang="en-US" sz="2800" b="1" dirty="0">
                  <a:solidFill>
                    <a:srgbClr val="FF0000"/>
                  </a:solidFill>
                  <a:latin typeface="Times New Roman" charset="0"/>
                </a:rPr>
                <a:t>分析表</a:t>
              </a:r>
              <a:endParaRPr kumimoji="1" lang="zh-CN" altLang="en-US" sz="2400" b="1" dirty="0">
                <a:solidFill>
                  <a:srgbClr val="FF0000"/>
                </a:solidFill>
                <a:latin typeface="Times New Roman" charset="0"/>
              </a:endParaRPr>
            </a:p>
          </p:txBody>
        </p:sp>
      </p:grpSp>
      <p:grpSp>
        <p:nvGrpSpPr>
          <p:cNvPr id="16" name="Group 19"/>
          <p:cNvGrpSpPr>
            <a:grpSpLocks/>
          </p:cNvGrpSpPr>
          <p:nvPr/>
        </p:nvGrpSpPr>
        <p:grpSpPr bwMode="auto">
          <a:xfrm>
            <a:off x="4599624" y="1573213"/>
            <a:ext cx="3838575" cy="647700"/>
            <a:chOff x="2736" y="1539"/>
            <a:chExt cx="2418" cy="412"/>
          </a:xfrm>
        </p:grpSpPr>
        <p:sp>
          <p:nvSpPr>
            <p:cNvPr id="17" name="Rectangle 20"/>
            <p:cNvSpPr>
              <a:spLocks noChangeArrowheads="1"/>
            </p:cNvSpPr>
            <p:nvPr/>
          </p:nvSpPr>
          <p:spPr bwMode="auto">
            <a:xfrm>
              <a:off x="2736" y="1539"/>
              <a:ext cx="1527" cy="412"/>
            </a:xfrm>
            <a:prstGeom prst="rect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just"/>
              <a:r>
                <a:rPr kumimoji="1" lang="en-US" altLang="zh-CN" sz="2800" b="1" dirty="0">
                  <a:solidFill>
                    <a:srgbClr val="0000FF"/>
                  </a:solidFill>
                  <a:latin typeface="Times New Roman" charset="0"/>
                </a:rPr>
                <a:t>a</a:t>
              </a:r>
              <a:r>
                <a:rPr kumimoji="1" lang="en-US" altLang="zh-CN" sz="2800" b="1" baseline="-25000" dirty="0">
                  <a:solidFill>
                    <a:srgbClr val="0000FF"/>
                  </a:solidFill>
                  <a:latin typeface="Times New Roman" charset="0"/>
                </a:rPr>
                <a:t>1</a:t>
              </a:r>
              <a:r>
                <a:rPr kumimoji="1" lang="en-US" altLang="zh-CN" sz="2800" b="1" dirty="0">
                  <a:solidFill>
                    <a:srgbClr val="0000FF"/>
                  </a:solidFill>
                  <a:latin typeface="Times New Roman" charset="0"/>
                </a:rPr>
                <a:t>a</a:t>
              </a:r>
              <a:r>
                <a:rPr kumimoji="1" lang="en-US" altLang="zh-CN" sz="2800" b="1" baseline="-25000" dirty="0">
                  <a:solidFill>
                    <a:srgbClr val="0000FF"/>
                  </a:solidFill>
                  <a:latin typeface="Times New Roman" charset="0"/>
                </a:rPr>
                <a:t>2</a:t>
              </a:r>
              <a:r>
                <a:rPr kumimoji="1" lang="en-US" altLang="zh-CN" sz="2800" b="1" dirty="0">
                  <a:solidFill>
                    <a:srgbClr val="0000FF"/>
                  </a:solidFill>
                  <a:latin typeface="Times New Roman" charset="0"/>
                  <a:sym typeface="Symbol" pitchFamily="18" charset="2"/>
                </a:rPr>
                <a:t></a:t>
              </a:r>
              <a:r>
                <a:rPr kumimoji="1" lang="en-US" altLang="zh-CN" sz="2800" b="1" dirty="0">
                  <a:solidFill>
                    <a:srgbClr val="0000FF"/>
                  </a:solidFill>
                  <a:latin typeface="Times New Roman" charset="0"/>
                </a:rPr>
                <a:t>a</a:t>
              </a:r>
              <a:r>
                <a:rPr kumimoji="1" lang="en-US" altLang="zh-CN" sz="2800" b="1" baseline="-25000" dirty="0">
                  <a:solidFill>
                    <a:srgbClr val="0000FF"/>
                  </a:solidFill>
                  <a:latin typeface="Times New Roman" charset="0"/>
                </a:rPr>
                <a:t>i </a:t>
              </a:r>
              <a:r>
                <a:rPr kumimoji="1" lang="en-US" altLang="zh-CN" sz="2800" b="1" dirty="0">
                  <a:solidFill>
                    <a:srgbClr val="0000FF"/>
                  </a:solidFill>
                  <a:latin typeface="Times New Roman" charset="0"/>
                  <a:sym typeface="Symbol" pitchFamily="18" charset="2"/>
                </a:rPr>
                <a:t></a:t>
              </a:r>
              <a:r>
                <a:rPr kumimoji="1" lang="en-US" altLang="zh-CN" sz="2800" b="1" baseline="-25000" dirty="0">
                  <a:solidFill>
                    <a:srgbClr val="0000FF"/>
                  </a:solidFill>
                  <a:latin typeface="Times New Roman" charset="0"/>
                </a:rPr>
                <a:t> </a:t>
              </a:r>
              <a:r>
                <a:rPr kumimoji="1" lang="en-US" altLang="zh-CN" sz="2800" b="1" dirty="0">
                  <a:solidFill>
                    <a:srgbClr val="0000FF"/>
                  </a:solidFill>
                  <a:latin typeface="Times New Roman" charset="0"/>
                </a:rPr>
                <a:t>a</a:t>
              </a:r>
              <a:r>
                <a:rPr kumimoji="1" lang="en-US" altLang="zh-CN" sz="2800" b="1" baseline="-25000" dirty="0">
                  <a:solidFill>
                    <a:srgbClr val="0000FF"/>
                  </a:solidFill>
                  <a:latin typeface="Times New Roman" charset="0"/>
                </a:rPr>
                <a:t>n</a:t>
              </a:r>
              <a:r>
                <a:rPr kumimoji="1" lang="en-US" altLang="zh-CN" sz="2800" b="1" dirty="0">
                  <a:solidFill>
                    <a:srgbClr val="0000FF"/>
                  </a:solidFill>
                  <a:latin typeface="宋体" charset="-122"/>
                </a:rPr>
                <a:t>#</a:t>
              </a:r>
              <a:endParaRPr kumimoji="1" lang="en-US" altLang="zh-CN" sz="2400" b="1" baseline="-25000" dirty="0">
                <a:solidFill>
                  <a:srgbClr val="0000FF"/>
                </a:solidFill>
                <a:latin typeface="宋体" charset="-122"/>
              </a:endParaRPr>
            </a:p>
          </p:txBody>
        </p:sp>
        <p:sp>
          <p:nvSpPr>
            <p:cNvPr id="18" name="Rectangle 21"/>
            <p:cNvSpPr>
              <a:spLocks noChangeArrowheads="1"/>
            </p:cNvSpPr>
            <p:nvPr/>
          </p:nvSpPr>
          <p:spPr bwMode="auto">
            <a:xfrm>
              <a:off x="4386" y="1539"/>
              <a:ext cx="768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zh-CN" altLang="en-US" sz="2800" b="1">
                  <a:solidFill>
                    <a:srgbClr val="0000FF"/>
                  </a:solidFill>
                  <a:latin typeface="Times New Roman" charset="0"/>
                </a:rPr>
                <a:t>输入串</a:t>
              </a:r>
            </a:p>
          </p:txBody>
        </p:sp>
      </p:grpSp>
      <p:grpSp>
        <p:nvGrpSpPr>
          <p:cNvPr id="19" name="Group 22"/>
          <p:cNvGrpSpPr>
            <a:grpSpLocks/>
          </p:cNvGrpSpPr>
          <p:nvPr/>
        </p:nvGrpSpPr>
        <p:grpSpPr bwMode="auto">
          <a:xfrm>
            <a:off x="6326824" y="3157538"/>
            <a:ext cx="2214562" cy="609600"/>
            <a:chOff x="4077" y="2544"/>
            <a:chExt cx="1395" cy="384"/>
          </a:xfrm>
        </p:grpSpPr>
        <p:sp>
          <p:nvSpPr>
            <p:cNvPr id="20" name="Line 23"/>
            <p:cNvSpPr>
              <a:spLocks noChangeShapeType="1"/>
            </p:cNvSpPr>
            <p:nvPr/>
          </p:nvSpPr>
          <p:spPr bwMode="auto">
            <a:xfrm>
              <a:off x="4077" y="2738"/>
              <a:ext cx="693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1" name="Rectangle 24"/>
            <p:cNvSpPr>
              <a:spLocks noChangeArrowheads="1"/>
            </p:cNvSpPr>
            <p:nvPr/>
          </p:nvSpPr>
          <p:spPr bwMode="auto">
            <a:xfrm>
              <a:off x="4704" y="2544"/>
              <a:ext cx="768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sz="2400" b="1" dirty="0">
                  <a:solidFill>
                    <a:srgbClr val="0000FF"/>
                  </a:solidFill>
                  <a:latin typeface="Times New Roman" charset="0"/>
                </a:rPr>
                <a:t> </a:t>
              </a:r>
              <a:r>
                <a:rPr kumimoji="1" lang="zh-CN" altLang="en-US" sz="2800" b="1" dirty="0">
                  <a:solidFill>
                    <a:srgbClr val="0000FF"/>
                  </a:solidFill>
                  <a:latin typeface="Times New Roman" charset="0"/>
                </a:rPr>
                <a:t>输出</a:t>
              </a:r>
              <a:endParaRPr kumimoji="1" lang="zh-CN" altLang="en-US" sz="2400" b="1" dirty="0">
                <a:solidFill>
                  <a:srgbClr val="0000FF"/>
                </a:solidFill>
                <a:latin typeface="Times New Roman" charset="0"/>
              </a:endParaRPr>
            </a:p>
          </p:txBody>
        </p:sp>
      </p:grpSp>
      <p:grpSp>
        <p:nvGrpSpPr>
          <p:cNvPr id="22" name="Group 25"/>
          <p:cNvGrpSpPr>
            <a:grpSpLocks/>
          </p:cNvGrpSpPr>
          <p:nvPr/>
        </p:nvGrpSpPr>
        <p:grpSpPr bwMode="auto">
          <a:xfrm>
            <a:off x="4712336" y="3622676"/>
            <a:ext cx="1822450" cy="944562"/>
            <a:chOff x="3042" y="3075"/>
            <a:chExt cx="1148" cy="336"/>
          </a:xfrm>
        </p:grpSpPr>
        <p:sp>
          <p:nvSpPr>
            <p:cNvPr id="23" name="Freeform 26"/>
            <p:cNvSpPr>
              <a:spLocks/>
            </p:cNvSpPr>
            <p:nvPr/>
          </p:nvSpPr>
          <p:spPr bwMode="auto">
            <a:xfrm>
              <a:off x="3570" y="3219"/>
              <a:ext cx="620" cy="192"/>
            </a:xfrm>
            <a:custGeom>
              <a:avLst/>
              <a:gdLst>
                <a:gd name="T0" fmla="*/ 0 w 630"/>
                <a:gd name="T1" fmla="*/ 0 h 285"/>
                <a:gd name="T2" fmla="*/ 630 w 630"/>
                <a:gd name="T3" fmla="*/ 0 h 285"/>
                <a:gd name="T4" fmla="*/ 630 w 630"/>
                <a:gd name="T5" fmla="*/ 285 h 285"/>
                <a:gd name="T6" fmla="*/ 0 60000 65536"/>
                <a:gd name="T7" fmla="*/ 0 60000 65536"/>
                <a:gd name="T8" fmla="*/ 0 60000 65536"/>
                <a:gd name="T9" fmla="*/ 0 w 630"/>
                <a:gd name="T10" fmla="*/ 0 h 285"/>
                <a:gd name="T11" fmla="*/ 630 w 630"/>
                <a:gd name="T12" fmla="*/ 285 h 2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0" h="285">
                  <a:moveTo>
                    <a:pt x="0" y="0"/>
                  </a:moveTo>
                  <a:lnTo>
                    <a:pt x="630" y="0"/>
                  </a:lnTo>
                  <a:lnTo>
                    <a:pt x="630" y="285"/>
                  </a:lnTo>
                </a:path>
              </a:pathLst>
            </a:custGeom>
            <a:noFill/>
            <a:ln w="222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4" name="Line 27"/>
            <p:cNvSpPr>
              <a:spLocks noChangeShapeType="1"/>
            </p:cNvSpPr>
            <p:nvPr/>
          </p:nvSpPr>
          <p:spPr bwMode="auto">
            <a:xfrm>
              <a:off x="3570" y="3075"/>
              <a:ext cx="0" cy="144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5" name="Line 28"/>
            <p:cNvSpPr>
              <a:spLocks noChangeShapeType="1"/>
            </p:cNvSpPr>
            <p:nvPr/>
          </p:nvSpPr>
          <p:spPr bwMode="auto">
            <a:xfrm flipH="1">
              <a:off x="3042" y="3219"/>
              <a:ext cx="52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" name="Line 29"/>
            <p:cNvSpPr>
              <a:spLocks noChangeShapeType="1"/>
            </p:cNvSpPr>
            <p:nvPr/>
          </p:nvSpPr>
          <p:spPr bwMode="auto">
            <a:xfrm>
              <a:off x="3042" y="3219"/>
              <a:ext cx="0" cy="19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rgbClr val="0000FF"/>
                </a:solidFill>
              </a:endParaRPr>
            </a:p>
          </p:txBody>
        </p:sp>
      </p:grpSp>
      <p:sp>
        <p:nvSpPr>
          <p:cNvPr id="27" name="Text Box 30"/>
          <p:cNvSpPr txBox="1">
            <a:spLocks noChangeArrowheads="1"/>
          </p:cNvSpPr>
          <p:nvPr/>
        </p:nvSpPr>
        <p:spPr bwMode="auto">
          <a:xfrm>
            <a:off x="1108711" y="6070601"/>
            <a:ext cx="6624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</a:rPr>
              <a:t>LR</a:t>
            </a:r>
            <a:r>
              <a:rPr lang="zh-CN" altLang="en-US" sz="2800" b="1" dirty="0">
                <a:solidFill>
                  <a:srgbClr val="0000FF"/>
                </a:solidFill>
              </a:rPr>
              <a:t>分析器的工作过程</a:t>
            </a:r>
          </a:p>
        </p:txBody>
      </p:sp>
      <p:sp>
        <p:nvSpPr>
          <p:cNvPr id="28" name="Line 31"/>
          <p:cNvSpPr>
            <a:spLocks noChangeShapeType="1"/>
          </p:cNvSpPr>
          <p:nvPr/>
        </p:nvSpPr>
        <p:spPr bwMode="auto">
          <a:xfrm>
            <a:off x="532449" y="2759076"/>
            <a:ext cx="719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29" name="Text Box 32"/>
          <p:cNvSpPr txBox="1">
            <a:spLocks noChangeArrowheads="1"/>
          </p:cNvSpPr>
          <p:nvPr/>
        </p:nvSpPr>
        <p:spPr bwMode="auto">
          <a:xfrm>
            <a:off x="99061" y="2608263"/>
            <a:ext cx="504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0000FF"/>
                </a:solidFill>
              </a:rPr>
              <a:t>SP</a:t>
            </a:r>
          </a:p>
        </p:txBody>
      </p:sp>
    </p:spTree>
    <p:extLst>
      <p:ext uri="{BB962C8B-B14F-4D97-AF65-F5344CB8AC3E}">
        <p14:creationId xmlns:p14="http://schemas.microsoft.com/office/powerpoint/2010/main" val="46936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6.1 LR</a:t>
            </a:r>
            <a:r>
              <a:rPr lang="zh-CN" altLang="en-US" dirty="0"/>
              <a:t>分析概述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467" y="1041401"/>
            <a:ext cx="8641068" cy="5113338"/>
          </a:xfrm>
        </p:spPr>
        <p:txBody>
          <a:bodyPr/>
          <a:lstStyle/>
          <a:p>
            <a:r>
              <a:rPr kumimoji="1" lang="en-US" altLang="zh-CN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LR</a:t>
            </a:r>
            <a:r>
              <a:rPr kumimoji="1"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分析的</a:t>
            </a:r>
            <a:r>
              <a:rPr kumimoji="1" lang="zh-CN" altLang="en-US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核心</a:t>
            </a:r>
            <a:r>
              <a:rPr kumimoji="1"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部分是一张</a:t>
            </a:r>
            <a:r>
              <a:rPr kumimoji="1" lang="zh-CN" altLang="en-US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分析</a:t>
            </a:r>
            <a:r>
              <a:rPr kumimoji="1" lang="zh-CN" altLang="en-US" b="1" dirty="0" smtClean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表（</a:t>
            </a:r>
            <a:r>
              <a:rPr kumimoji="1" lang="en-US" altLang="zh-CN" b="1" dirty="0" smtClean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ACTION+GOTO</a:t>
            </a:r>
            <a:r>
              <a:rPr kumimoji="1" lang="en-US" altLang="zh-CN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)</a:t>
            </a:r>
            <a:r>
              <a:rPr kumimoji="1"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，为二维表结构。</a:t>
            </a:r>
          </a:p>
          <a:p>
            <a:pPr>
              <a:lnSpc>
                <a:spcPct val="9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en-US" altLang="zh-CN" b="1" dirty="0" smtClean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GOTO[</a:t>
            </a:r>
            <a:r>
              <a:rPr lang="en-US" altLang="zh-CN" b="1" dirty="0" err="1" smtClean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S</a:t>
            </a:r>
            <a:r>
              <a:rPr lang="en-US" altLang="zh-CN" b="1" baseline="-25000" dirty="0" err="1" smtClean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lang="en-US" altLang="zh-CN" b="1" dirty="0" err="1" smtClean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,X</a:t>
            </a:r>
            <a:r>
              <a:rPr lang="en-US" altLang="zh-CN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]</a:t>
            </a:r>
            <a:r>
              <a:rPr lang="zh-CN" altLang="en-US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＝</a:t>
            </a:r>
            <a:r>
              <a:rPr lang="en-US" altLang="zh-CN" b="1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S</a:t>
            </a:r>
            <a:r>
              <a:rPr lang="en-US" altLang="zh-CN" b="1" baseline="-25000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j</a:t>
            </a:r>
            <a:r>
              <a:rPr lang="en-US" altLang="zh-CN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 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规定了栈顶状态为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S</a:t>
            </a:r>
            <a:r>
              <a:rPr lang="en-US" altLang="zh-CN" b="1" baseline="-25000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 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面临</a:t>
            </a:r>
            <a:r>
              <a:rPr lang="zh-CN" altLang="en-US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文法符号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 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X∈V</a:t>
            </a:r>
            <a:r>
              <a:rPr lang="en-US" altLang="zh-CN" b="1" baseline="-25000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N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sym typeface="Symbol" pitchFamily="18" charset="2"/>
              </a:rPr>
              <a:t>∪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V</a:t>
            </a:r>
            <a:r>
              <a:rPr lang="en-US" altLang="zh-CN" b="1" baseline="-25000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T 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时，应转移到下一状态</a:t>
            </a:r>
            <a:r>
              <a:rPr lang="en-US" altLang="zh-CN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S</a:t>
            </a:r>
            <a:r>
              <a:rPr lang="en-US" altLang="zh-CN" b="1" baseline="-25000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j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。</a:t>
            </a:r>
          </a:p>
          <a:p>
            <a:pPr>
              <a:lnSpc>
                <a:spcPct val="9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en-US" altLang="zh-CN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ACTION[</a:t>
            </a:r>
            <a:r>
              <a:rPr lang="en-US" altLang="zh-CN" b="1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S</a:t>
            </a:r>
            <a:r>
              <a:rPr lang="en-US" altLang="zh-CN" b="1" baseline="-25000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j</a:t>
            </a:r>
            <a:r>
              <a:rPr lang="en-US" altLang="zh-CN" b="1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,a</a:t>
            </a:r>
            <a:r>
              <a:rPr lang="en-US" altLang="zh-CN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] 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规定了当栈顶状态为</a:t>
            </a:r>
            <a:r>
              <a:rPr lang="en-US" altLang="zh-CN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S</a:t>
            </a:r>
            <a:r>
              <a:rPr lang="en-US" altLang="zh-CN" b="1" baseline="-25000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j</a:t>
            </a:r>
            <a:r>
              <a:rPr lang="en-US" altLang="zh-CN" b="1" baseline="-25000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 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(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行标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)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面临</a:t>
            </a:r>
            <a:r>
              <a:rPr lang="zh-CN" altLang="en-US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输入符号 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a(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列标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)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时应执行的动作</a:t>
            </a:r>
            <a:r>
              <a:rPr lang="zh-CN" altLang="en-US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。动作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有</a:t>
            </a:r>
            <a:r>
              <a:rPr lang="zh-CN" altLang="en-US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移进、归约、接受和报错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四种。</a:t>
            </a:r>
          </a:p>
        </p:txBody>
      </p:sp>
    </p:spTree>
    <p:extLst>
      <p:ext uri="{BB962C8B-B14F-4D97-AF65-F5344CB8AC3E}">
        <p14:creationId xmlns:p14="http://schemas.microsoft.com/office/powerpoint/2010/main" val="156941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6.2 LR</a:t>
            </a:r>
            <a:r>
              <a:rPr lang="zh-CN" altLang="en-US" dirty="0"/>
              <a:t>（</a:t>
            </a:r>
            <a:r>
              <a:rPr lang="en-US" altLang="zh-CN" dirty="0"/>
              <a:t>0</a:t>
            </a:r>
            <a:r>
              <a:rPr lang="zh-CN" altLang="en-US" dirty="0"/>
              <a:t>）分析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文法</a:t>
            </a:r>
            <a:r>
              <a:rPr lang="en-US" altLang="zh-CN" dirty="0"/>
              <a:t>G</a:t>
            </a:r>
            <a:r>
              <a:rPr lang="zh-CN" altLang="en-US" dirty="0" smtClean="0"/>
              <a:t>的</a:t>
            </a:r>
            <a:r>
              <a:rPr lang="en-US" altLang="zh-CN" dirty="0" smtClean="0"/>
              <a:t>LR</a:t>
            </a:r>
            <a:r>
              <a:rPr lang="zh-CN" altLang="en-US" dirty="0" smtClean="0"/>
              <a:t>（</a:t>
            </a:r>
            <a:r>
              <a:rPr lang="en-US" altLang="zh-CN" dirty="0" smtClean="0"/>
              <a:t>0</a:t>
            </a:r>
            <a:r>
              <a:rPr lang="zh-CN" altLang="en-US" dirty="0" smtClean="0"/>
              <a:t>）分析表</a:t>
            </a:r>
            <a:endParaRPr lang="zh-CN" altLang="en-US" dirty="0"/>
          </a:p>
        </p:txBody>
      </p:sp>
      <p:graphicFrame>
        <p:nvGraphicFramePr>
          <p:cNvPr id="7" name="Group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826227"/>
              </p:ext>
            </p:extLst>
          </p:nvPr>
        </p:nvGraphicFramePr>
        <p:xfrm>
          <a:off x="720725" y="1988822"/>
          <a:ext cx="5867400" cy="43891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状态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GOTO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a    c    e    b    d    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S  A  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S2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                    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acc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Courier New" pitchFamily="49" charset="0"/>
                        <a:ea typeface="幼圆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Courier New" pitchFamily="49" charset="0"/>
                        <a:ea typeface="幼圆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             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   S5        S6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Courier New" pitchFamily="49" charset="0"/>
                        <a:ea typeface="幼圆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r2 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r2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r2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r2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r2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Courier New" pitchFamily="49" charset="0"/>
                        <a:ea typeface="幼圆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Courier New" pitchFamily="49" charset="0"/>
                        <a:ea typeface="幼圆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                  S8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  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r3 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r3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r3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r3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r3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r3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Courier New" pitchFamily="49" charset="0"/>
                        <a:ea typeface="幼圆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Courier New" pitchFamily="49" charset="0"/>
                        <a:ea typeface="幼圆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        S9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Courier New" pitchFamily="49" charset="0"/>
                        <a:ea typeface="幼圆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r4 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r4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r4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r4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r4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Courier New" pitchFamily="49" charset="0"/>
                        <a:ea typeface="幼圆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Courier New" pitchFamily="49" charset="0"/>
                        <a:ea typeface="幼圆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r1 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Courier New" pitchFamily="49" charset="0"/>
                        <a:ea typeface="幼圆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 Box 72"/>
          <p:cNvSpPr txBox="1">
            <a:spLocks noChangeArrowheads="1"/>
          </p:cNvSpPr>
          <p:nvPr/>
        </p:nvSpPr>
        <p:spPr bwMode="auto">
          <a:xfrm>
            <a:off x="6746954" y="3190464"/>
            <a:ext cx="2251075" cy="3444875"/>
          </a:xfrm>
          <a:prstGeom prst="rect">
            <a:avLst/>
          </a:prstGeom>
          <a:ln/>
          <a:ex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zh-CN" sz="2000" b="1" dirty="0" err="1">
                <a:solidFill>
                  <a:srgbClr val="0000FF"/>
                </a:solidFill>
                <a:latin typeface="幼圆" pitchFamily="49" charset="-122"/>
                <a:ea typeface="幼圆" pitchFamily="49" charset="-122"/>
              </a:rPr>
              <a:t>S</a:t>
            </a:r>
            <a:r>
              <a:rPr lang="en-US" altLang="zh-CN" sz="2000" b="1" baseline="-25000" dirty="0" err="1">
                <a:solidFill>
                  <a:srgbClr val="0000FF"/>
                </a:solidFill>
                <a:latin typeface="幼圆" pitchFamily="49" charset="-122"/>
                <a:ea typeface="幼圆" pitchFamily="49" charset="-122"/>
              </a:rPr>
              <a:t>j</a:t>
            </a:r>
            <a:r>
              <a:rPr lang="en-US" altLang="zh-CN" sz="2000" b="1" dirty="0">
                <a:solidFill>
                  <a:srgbClr val="0000FF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幼圆" pitchFamily="49" charset="-122"/>
                <a:ea typeface="幼圆" pitchFamily="49" charset="-122"/>
              </a:rPr>
              <a:t>表示把当前输入符号 </a:t>
            </a:r>
            <a:r>
              <a:rPr lang="en-US" altLang="zh-CN" sz="2000" b="1" dirty="0">
                <a:solidFill>
                  <a:srgbClr val="0000FF"/>
                </a:solidFill>
                <a:latin typeface="幼圆" pitchFamily="49" charset="-122"/>
                <a:ea typeface="幼圆" pitchFamily="49" charset="-122"/>
              </a:rPr>
              <a:t>a </a:t>
            </a:r>
            <a:r>
              <a:rPr lang="zh-CN" altLang="en-US" sz="2000" b="1" dirty="0">
                <a:solidFill>
                  <a:srgbClr val="0000FF"/>
                </a:solidFill>
                <a:latin typeface="幼圆" pitchFamily="49" charset="-122"/>
                <a:ea typeface="幼圆" pitchFamily="49" charset="-122"/>
              </a:rPr>
              <a:t>及下一个状态 </a:t>
            </a:r>
            <a:r>
              <a:rPr lang="en-US" altLang="zh-CN" sz="2000" b="1" dirty="0">
                <a:solidFill>
                  <a:srgbClr val="0000FF"/>
                </a:solidFill>
                <a:latin typeface="幼圆" pitchFamily="49" charset="-122"/>
                <a:ea typeface="幼圆" pitchFamily="49" charset="-122"/>
              </a:rPr>
              <a:t>j </a:t>
            </a:r>
            <a:r>
              <a:rPr lang="zh-CN" altLang="en-US" sz="2000" b="1" dirty="0">
                <a:solidFill>
                  <a:srgbClr val="0000FF"/>
                </a:solidFill>
                <a:latin typeface="幼圆" pitchFamily="49" charset="-122"/>
                <a:ea typeface="幼圆" pitchFamily="49" charset="-122"/>
              </a:rPr>
              <a:t>移入分析栈中。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zh-CN" sz="2000" b="1" dirty="0" err="1">
                <a:solidFill>
                  <a:srgbClr val="0000FF"/>
                </a:solidFill>
                <a:latin typeface="幼圆" pitchFamily="49" charset="-122"/>
                <a:ea typeface="幼圆" pitchFamily="49" charset="-122"/>
              </a:rPr>
              <a:t>r</a:t>
            </a:r>
            <a:r>
              <a:rPr lang="en-US" altLang="zh-CN" sz="2000" b="1" baseline="-25000" dirty="0" err="1">
                <a:solidFill>
                  <a:srgbClr val="0000FF"/>
                </a:solidFill>
                <a:latin typeface="幼圆" pitchFamily="49" charset="-122"/>
                <a:ea typeface="幼圆" pitchFamily="49" charset="-122"/>
              </a:rPr>
              <a:t>j</a:t>
            </a:r>
            <a:r>
              <a:rPr lang="en-US" altLang="zh-CN" sz="2000" b="1" dirty="0">
                <a:solidFill>
                  <a:srgbClr val="0000FF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幼圆" pitchFamily="49" charset="-122"/>
                <a:ea typeface="幼圆" pitchFamily="49" charset="-122"/>
              </a:rPr>
              <a:t>表示按第 </a:t>
            </a:r>
            <a:r>
              <a:rPr lang="en-US" altLang="zh-CN" sz="2000" b="1" dirty="0">
                <a:solidFill>
                  <a:srgbClr val="0000FF"/>
                </a:solidFill>
                <a:latin typeface="幼圆" pitchFamily="49" charset="-122"/>
                <a:ea typeface="幼圆" pitchFamily="49" charset="-122"/>
              </a:rPr>
              <a:t>j </a:t>
            </a:r>
            <a:r>
              <a:rPr lang="zh-CN" altLang="en-US" sz="2000" b="1" dirty="0">
                <a:solidFill>
                  <a:srgbClr val="0000FF"/>
                </a:solidFill>
                <a:latin typeface="幼圆" pitchFamily="49" charset="-122"/>
                <a:ea typeface="幼圆" pitchFamily="49" charset="-122"/>
              </a:rPr>
              <a:t>条规则归约。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zh-CN" sz="2000" b="1" dirty="0" err="1">
                <a:solidFill>
                  <a:srgbClr val="0000FF"/>
                </a:solidFill>
                <a:latin typeface="幼圆" pitchFamily="49" charset="-122"/>
                <a:ea typeface="幼圆" pitchFamily="49" charset="-122"/>
              </a:rPr>
              <a:t>acc</a:t>
            </a:r>
            <a:r>
              <a:rPr lang="en-US" altLang="zh-CN" sz="2000" b="1" dirty="0">
                <a:solidFill>
                  <a:srgbClr val="0000FF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zh-CN" altLang="en-US" sz="2000" b="1" dirty="0">
                <a:solidFill>
                  <a:srgbClr val="0000FF"/>
                </a:solidFill>
                <a:latin typeface="幼圆" pitchFamily="49" charset="-122"/>
                <a:ea typeface="幼圆" pitchFamily="49" charset="-122"/>
              </a:rPr>
              <a:t>表示接受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zh-CN" altLang="en-US" sz="2000" b="1" dirty="0">
                <a:solidFill>
                  <a:srgbClr val="0000FF"/>
                </a:solidFill>
                <a:latin typeface="幼圆" pitchFamily="49" charset="-122"/>
                <a:ea typeface="幼圆" pitchFamily="49" charset="-122"/>
              </a:rPr>
              <a:t>空白格表示分析动作是调用出错处理程序。</a:t>
            </a:r>
          </a:p>
        </p:txBody>
      </p:sp>
      <p:sp>
        <p:nvSpPr>
          <p:cNvPr id="6" name="Text Box 59"/>
          <p:cNvSpPr txBox="1">
            <a:spLocks noChangeArrowheads="1"/>
          </p:cNvSpPr>
          <p:nvPr/>
        </p:nvSpPr>
        <p:spPr bwMode="auto">
          <a:xfrm>
            <a:off x="6746954" y="1007790"/>
            <a:ext cx="1584325" cy="1323439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文法：</a:t>
            </a:r>
            <a:r>
              <a:rPr lang="en-US" altLang="zh-CN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S→aAcBe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A→b|Ab</a:t>
            </a:r>
            <a:endParaRPr lang="en-US" altLang="zh-CN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fontAlgn="ctr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B→d</a:t>
            </a:r>
            <a:endParaRPr lang="en-US" altLang="zh-CN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989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Text Box 2"/>
          <p:cNvSpPr txBox="1">
            <a:spLocks noChangeArrowheads="1"/>
          </p:cNvSpPr>
          <p:nvPr/>
        </p:nvSpPr>
        <p:spPr bwMode="auto">
          <a:xfrm>
            <a:off x="609600" y="1524000"/>
            <a:ext cx="822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第三步、构造分析表。</a:t>
            </a:r>
            <a:endParaRPr kumimoji="1" lang="zh-CN" altLang="en-US" sz="2000" b="1" baseline="-30000">
              <a:solidFill>
                <a:srgbClr val="3333CC"/>
              </a:solidFill>
              <a:latin typeface="Courier New" pitchFamily="49" charset="0"/>
              <a:ea typeface="幼圆" pitchFamily="49" charset="-122"/>
            </a:endParaRPr>
          </a:p>
        </p:txBody>
      </p:sp>
      <p:graphicFrame>
        <p:nvGraphicFramePr>
          <p:cNvPr id="348267" name="Group 107"/>
          <p:cNvGraphicFramePr>
            <a:graphicFrameLocks noGrp="1"/>
          </p:cNvGraphicFramePr>
          <p:nvPr/>
        </p:nvGraphicFramePr>
        <p:xfrm>
          <a:off x="609600" y="3352800"/>
          <a:ext cx="5029200" cy="3169920"/>
        </p:xfrm>
        <a:graphic>
          <a:graphicData uri="http://schemas.openxmlformats.org/drawingml/2006/table">
            <a:tbl>
              <a:tblPr/>
              <a:tblGrid>
                <a:gridCol w="439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7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状态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GOTO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a    (    )    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S3   S2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            acc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Courier New" pitchFamily="49" charset="0"/>
                        <a:ea typeface="幼圆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S3   S2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r2   r2   r2   r2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Courier New" pitchFamily="49" charset="0"/>
                        <a:ea typeface="幼圆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       S5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Courier New" pitchFamily="49" charset="0"/>
                        <a:ea typeface="幼圆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r1   r1   r1   r1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Courier New" pitchFamily="49" charset="0"/>
                        <a:ea typeface="幼圆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48230" name="Rectangle 70"/>
          <p:cNvSpPr>
            <a:spLocks noChangeArrowheads="1"/>
          </p:cNvSpPr>
          <p:nvPr/>
        </p:nvSpPr>
        <p:spPr bwMode="auto">
          <a:xfrm>
            <a:off x="7067550" y="239713"/>
            <a:ext cx="1364476" cy="400110"/>
          </a:xfrm>
          <a:prstGeom prst="rect">
            <a:avLst/>
          </a:prstGeom>
          <a:solidFill>
            <a:schemeClr val="accent1"/>
          </a:solidFill>
          <a:ln w="9525">
            <a:solidFill>
              <a:srgbClr val="33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kumimoji="1" lang="en-US" altLang="zh-CN" sz="2000" b="1" baseline="-30000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1</a:t>
            </a:r>
            <a:r>
              <a:rPr kumimoji="1"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:S’→</a:t>
            </a:r>
            <a:r>
              <a:rPr kumimoji="1" lang="en-US" altLang="zh-CN" sz="20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S∙</a:t>
            </a:r>
            <a:endParaRPr kumimoji="1" lang="en-US" altLang="zh-CN" sz="2000" b="1" dirty="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</p:txBody>
      </p:sp>
      <p:sp>
        <p:nvSpPr>
          <p:cNvPr id="348231" name="Rectangle 71"/>
          <p:cNvSpPr>
            <a:spLocks noChangeArrowheads="1"/>
          </p:cNvSpPr>
          <p:nvPr/>
        </p:nvSpPr>
        <p:spPr bwMode="auto">
          <a:xfrm>
            <a:off x="7081838" y="1038225"/>
            <a:ext cx="1210588" cy="400110"/>
          </a:xfrm>
          <a:prstGeom prst="rect">
            <a:avLst/>
          </a:prstGeom>
          <a:solidFill>
            <a:schemeClr val="accent1"/>
          </a:solidFill>
          <a:ln w="9525">
            <a:solidFill>
              <a:srgbClr val="33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kumimoji="1" lang="en-US" altLang="zh-CN" sz="2000" b="1" baseline="-30000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3</a:t>
            </a:r>
            <a:r>
              <a:rPr kumimoji="1"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:S→</a:t>
            </a:r>
            <a:r>
              <a:rPr kumimoji="1" lang="en-US" altLang="zh-CN" sz="20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a∙</a:t>
            </a:r>
            <a:endParaRPr kumimoji="1" lang="en-US" altLang="zh-CN" sz="2000" b="1" dirty="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</p:txBody>
      </p:sp>
      <p:sp>
        <p:nvSpPr>
          <p:cNvPr id="348232" name="Rectangle 72"/>
          <p:cNvSpPr>
            <a:spLocks noChangeArrowheads="1"/>
          </p:cNvSpPr>
          <p:nvPr/>
        </p:nvSpPr>
        <p:spPr bwMode="auto">
          <a:xfrm>
            <a:off x="7067550" y="2220913"/>
            <a:ext cx="1518364" cy="400110"/>
          </a:xfrm>
          <a:prstGeom prst="rect">
            <a:avLst/>
          </a:prstGeom>
          <a:solidFill>
            <a:schemeClr val="accent1"/>
          </a:solidFill>
          <a:ln w="9525">
            <a:solidFill>
              <a:srgbClr val="33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kumimoji="1" lang="en-US" altLang="zh-CN" sz="2000" b="1" baseline="-30000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4</a:t>
            </a:r>
            <a:r>
              <a:rPr kumimoji="1"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:S→(</a:t>
            </a:r>
            <a:r>
              <a:rPr kumimoji="1" lang="en-US" altLang="zh-CN" sz="20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S∙)</a:t>
            </a:r>
            <a:endParaRPr kumimoji="1" lang="en-US" altLang="zh-CN" sz="2000" b="1" dirty="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</p:txBody>
      </p:sp>
      <p:sp>
        <p:nvSpPr>
          <p:cNvPr id="348233" name="Rectangle 73"/>
          <p:cNvSpPr>
            <a:spLocks noChangeArrowheads="1"/>
          </p:cNvSpPr>
          <p:nvPr/>
        </p:nvSpPr>
        <p:spPr bwMode="auto">
          <a:xfrm>
            <a:off x="7072313" y="3048000"/>
            <a:ext cx="1518364" cy="400110"/>
          </a:xfrm>
          <a:prstGeom prst="rect">
            <a:avLst/>
          </a:prstGeom>
          <a:solidFill>
            <a:schemeClr val="accent1"/>
          </a:solidFill>
          <a:ln w="9525">
            <a:solidFill>
              <a:srgbClr val="3333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kumimoji="1" lang="en-US" altLang="zh-CN" sz="2000" b="1" baseline="-30000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5</a:t>
            </a:r>
            <a:r>
              <a:rPr kumimoji="1"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:S→(S</a:t>
            </a:r>
            <a:r>
              <a:rPr kumimoji="1" lang="en-US" altLang="zh-CN" sz="20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)∙</a:t>
            </a:r>
            <a:endParaRPr kumimoji="1" lang="en-US" altLang="zh-CN" sz="2000" b="1" dirty="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</p:txBody>
      </p:sp>
      <p:graphicFrame>
        <p:nvGraphicFramePr>
          <p:cNvPr id="348234" name="Group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378343"/>
              </p:ext>
            </p:extLst>
          </p:nvPr>
        </p:nvGraphicFramePr>
        <p:xfrm>
          <a:off x="4157663" y="239713"/>
          <a:ext cx="1752600" cy="118872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:S’→∙S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S→∙(A)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S→∙a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348242" name="AutoShape 82"/>
          <p:cNvCxnSpPr>
            <a:cxnSpLocks noChangeShapeType="1"/>
            <a:endCxn id="348230" idx="1"/>
          </p:cNvCxnSpPr>
          <p:nvPr/>
        </p:nvCxnSpPr>
        <p:spPr bwMode="auto">
          <a:xfrm>
            <a:off x="5910263" y="438150"/>
            <a:ext cx="1157287" cy="1618"/>
          </a:xfrm>
          <a:prstGeom prst="straightConnector1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243" name="AutoShape 83"/>
          <p:cNvCxnSpPr>
            <a:cxnSpLocks noChangeShapeType="1"/>
          </p:cNvCxnSpPr>
          <p:nvPr/>
        </p:nvCxnSpPr>
        <p:spPr bwMode="auto">
          <a:xfrm>
            <a:off x="5033963" y="1425575"/>
            <a:ext cx="0" cy="415925"/>
          </a:xfrm>
          <a:prstGeom prst="straightConnector1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244" name="AutoShape 84"/>
          <p:cNvCxnSpPr>
            <a:cxnSpLocks noChangeShapeType="1"/>
            <a:endCxn id="348231" idx="1"/>
          </p:cNvCxnSpPr>
          <p:nvPr/>
        </p:nvCxnSpPr>
        <p:spPr bwMode="auto">
          <a:xfrm>
            <a:off x="5910263" y="1228725"/>
            <a:ext cx="1171575" cy="9555"/>
          </a:xfrm>
          <a:prstGeom prst="straightConnector1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348245" name="Group 8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505898"/>
              </p:ext>
            </p:extLst>
          </p:nvPr>
        </p:nvGraphicFramePr>
        <p:xfrm>
          <a:off x="4157663" y="1841500"/>
          <a:ext cx="1752600" cy="118872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2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:S’→(∙S)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S→∙(S)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defRPr kumimoji="1">
                          <a:solidFill>
                            <a:srgbClr val="080808"/>
                          </a:solidFill>
                          <a:latin typeface="Tahoma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幼圆" pitchFamily="49" charset="-122"/>
                        </a:rPr>
                        <a:t>   S→∙a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348253" name="AutoShape 93"/>
          <p:cNvCxnSpPr>
            <a:cxnSpLocks noChangeShapeType="1"/>
            <a:endCxn id="348232" idx="1"/>
          </p:cNvCxnSpPr>
          <p:nvPr/>
        </p:nvCxnSpPr>
        <p:spPr bwMode="auto">
          <a:xfrm flipV="1">
            <a:off x="5910263" y="2420968"/>
            <a:ext cx="1157287" cy="14257"/>
          </a:xfrm>
          <a:prstGeom prst="straightConnector1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254" name="AutoShape 94"/>
          <p:cNvCxnSpPr>
            <a:cxnSpLocks noChangeShapeType="1"/>
            <a:stCxn id="348232" idx="2"/>
            <a:endCxn id="348233" idx="0"/>
          </p:cNvCxnSpPr>
          <p:nvPr/>
        </p:nvCxnSpPr>
        <p:spPr bwMode="auto">
          <a:xfrm>
            <a:off x="7826732" y="2621023"/>
            <a:ext cx="4763" cy="426977"/>
          </a:xfrm>
          <a:prstGeom prst="straightConnector1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255" name="AutoShape 95"/>
          <p:cNvCxnSpPr>
            <a:cxnSpLocks noChangeShapeType="1"/>
          </p:cNvCxnSpPr>
          <p:nvPr/>
        </p:nvCxnSpPr>
        <p:spPr bwMode="auto">
          <a:xfrm flipH="1">
            <a:off x="5033963" y="2830513"/>
            <a:ext cx="876300" cy="196850"/>
          </a:xfrm>
          <a:prstGeom prst="curvedConnector4">
            <a:avLst>
              <a:gd name="adj1" fmla="val -26088"/>
              <a:gd name="adj2" fmla="val 216130"/>
            </a:avLst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8256" name="Text Box 96"/>
          <p:cNvSpPr txBox="1">
            <a:spLocks noChangeArrowheads="1"/>
          </p:cNvSpPr>
          <p:nvPr/>
        </p:nvSpPr>
        <p:spPr bwMode="auto">
          <a:xfrm>
            <a:off x="6275388" y="76200"/>
            <a:ext cx="36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幼圆" pitchFamily="49" charset="-122"/>
              </a:rPr>
              <a:t>S</a:t>
            </a:r>
          </a:p>
        </p:txBody>
      </p:sp>
      <p:sp>
        <p:nvSpPr>
          <p:cNvPr id="348257" name="Text Box 97"/>
          <p:cNvSpPr txBox="1">
            <a:spLocks noChangeArrowheads="1"/>
          </p:cNvSpPr>
          <p:nvPr/>
        </p:nvSpPr>
        <p:spPr bwMode="auto">
          <a:xfrm>
            <a:off x="6291263" y="849313"/>
            <a:ext cx="36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幼圆" pitchFamily="49" charset="-122"/>
              </a:rPr>
              <a:t>a</a:t>
            </a:r>
          </a:p>
        </p:txBody>
      </p:sp>
      <p:sp>
        <p:nvSpPr>
          <p:cNvPr id="348258" name="Text Box 98"/>
          <p:cNvSpPr txBox="1">
            <a:spLocks noChangeArrowheads="1"/>
          </p:cNvSpPr>
          <p:nvPr/>
        </p:nvSpPr>
        <p:spPr bwMode="auto">
          <a:xfrm>
            <a:off x="4552950" y="1368425"/>
            <a:ext cx="36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幼圆" pitchFamily="49" charset="-122"/>
              </a:rPr>
              <a:t>(</a:t>
            </a:r>
          </a:p>
        </p:txBody>
      </p:sp>
      <p:sp>
        <p:nvSpPr>
          <p:cNvPr id="348259" name="Text Box 99"/>
          <p:cNvSpPr txBox="1">
            <a:spLocks noChangeArrowheads="1"/>
          </p:cNvSpPr>
          <p:nvPr/>
        </p:nvSpPr>
        <p:spPr bwMode="auto">
          <a:xfrm>
            <a:off x="6243638" y="2359025"/>
            <a:ext cx="36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幼圆" pitchFamily="49" charset="-122"/>
              </a:rPr>
              <a:t>S</a:t>
            </a:r>
          </a:p>
        </p:txBody>
      </p:sp>
      <p:sp>
        <p:nvSpPr>
          <p:cNvPr id="348260" name="Text Box 100"/>
          <p:cNvSpPr txBox="1">
            <a:spLocks noChangeArrowheads="1"/>
          </p:cNvSpPr>
          <p:nvPr/>
        </p:nvSpPr>
        <p:spPr bwMode="auto">
          <a:xfrm>
            <a:off x="6034088" y="2971800"/>
            <a:ext cx="36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幼圆" pitchFamily="49" charset="-122"/>
              </a:rPr>
              <a:t>(</a:t>
            </a:r>
          </a:p>
        </p:txBody>
      </p:sp>
      <p:sp>
        <p:nvSpPr>
          <p:cNvPr id="348261" name="Text Box 101"/>
          <p:cNvSpPr txBox="1">
            <a:spLocks noChangeArrowheads="1"/>
          </p:cNvSpPr>
          <p:nvPr/>
        </p:nvSpPr>
        <p:spPr bwMode="auto">
          <a:xfrm>
            <a:off x="7858125" y="2590800"/>
            <a:ext cx="36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幼圆" pitchFamily="49" charset="-122"/>
              </a:rPr>
              <a:t>)</a:t>
            </a:r>
          </a:p>
        </p:txBody>
      </p:sp>
      <p:cxnSp>
        <p:nvCxnSpPr>
          <p:cNvPr id="348262" name="AutoShape 102"/>
          <p:cNvCxnSpPr>
            <a:cxnSpLocks noChangeShapeType="1"/>
            <a:endCxn id="348231" idx="2"/>
          </p:cNvCxnSpPr>
          <p:nvPr/>
        </p:nvCxnSpPr>
        <p:spPr bwMode="auto">
          <a:xfrm flipV="1">
            <a:off x="5910263" y="1438335"/>
            <a:ext cx="1776869" cy="601604"/>
          </a:xfrm>
          <a:prstGeom prst="straightConnector1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8263" name="Text Box 103"/>
          <p:cNvSpPr txBox="1">
            <a:spLocks noChangeArrowheads="1"/>
          </p:cNvSpPr>
          <p:nvPr/>
        </p:nvSpPr>
        <p:spPr bwMode="auto">
          <a:xfrm>
            <a:off x="6396038" y="1368425"/>
            <a:ext cx="366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幼圆" pitchFamily="49" charset="-122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288268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Text Box 1026"/>
          <p:cNvSpPr txBox="1">
            <a:spLocks noChangeArrowheads="1"/>
          </p:cNvSpPr>
          <p:nvPr/>
        </p:nvSpPr>
        <p:spPr bwMode="auto">
          <a:xfrm>
            <a:off x="468315" y="1268733"/>
            <a:ext cx="8229600" cy="3046988"/>
          </a:xfrm>
          <a:prstGeom prst="rect">
            <a:avLst/>
          </a:prstGeom>
          <a:ln/>
          <a:ex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Tx/>
              <a:buAutoNum type="arabicPeriod"/>
            </a:pPr>
            <a:r>
              <a:rPr lang="zh-CN" altLang="en-US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第一种已知句子构建不确定的有限自动机，并确定化。</a:t>
            </a:r>
            <a:endParaRPr lang="en-US" altLang="zh-CN" b="1" dirty="0" smtClean="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Tx/>
              <a:buAutoNum type="arabicPeriod"/>
            </a:pPr>
            <a:r>
              <a:rPr lang="zh-CN" altLang="en-US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第二种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方法是求出文法的所有项目</a:t>
            </a:r>
            <a:r>
              <a:rPr lang="zh-CN" altLang="en-US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，构造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识别活前缀的 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NFA 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再确定化为 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DFA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。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Tx/>
              <a:buAutoNum type="arabicPeriod"/>
            </a:pPr>
            <a:r>
              <a:rPr lang="zh-CN" altLang="en-US" b="1" dirty="0" smtClean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第三种</a:t>
            </a:r>
            <a:r>
              <a:rPr lang="zh-CN" altLang="en-US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方法是把拓广文法的第一个项目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{S′→·S}</a:t>
            </a:r>
            <a:r>
              <a:rPr lang="zh-CN" altLang="en-US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作为初态集的核，通过求核的闭包和转换函数，求出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LR(0)</a:t>
            </a:r>
            <a:r>
              <a:rPr lang="zh-CN" altLang="en-US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项目集规范族，再由转换函数建立状态之间的连接关系得到识别活前缀的 </a:t>
            </a:r>
            <a:r>
              <a:rPr lang="en-US" altLang="zh-CN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DFA</a:t>
            </a:r>
            <a:r>
              <a:rPr lang="zh-CN" altLang="en-US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。</a:t>
            </a:r>
          </a:p>
        </p:txBody>
      </p:sp>
      <p:sp>
        <p:nvSpPr>
          <p:cNvPr id="369668" name="Text Box 1028"/>
          <p:cNvSpPr txBox="1">
            <a:spLocks noChangeArrowheads="1"/>
          </p:cNvSpPr>
          <p:nvPr/>
        </p:nvSpPr>
        <p:spPr bwMode="auto">
          <a:xfrm>
            <a:off x="609600" y="4869178"/>
            <a:ext cx="8229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第一</a:t>
            </a:r>
            <a:r>
              <a:rPr kumimoji="1" lang="zh-CN" altLang="en-US" sz="2400" b="1" dirty="0" smtClean="0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种方法：是特殊情况，复杂文法计算很难。</a:t>
            </a:r>
            <a:endParaRPr kumimoji="1" lang="en-US" altLang="zh-CN" sz="2400" b="1" dirty="0" smtClean="0">
              <a:solidFill>
                <a:srgbClr val="3333CC"/>
              </a:solidFill>
              <a:latin typeface="Courier New" pitchFamily="49" charset="0"/>
              <a:ea typeface="幼圆" pitchFamily="49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后两种方法</a:t>
            </a:r>
            <a:r>
              <a:rPr kumimoji="1" lang="zh-CN" altLang="en-US" sz="2400" b="1" dirty="0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都较为直观，但</a:t>
            </a:r>
            <a:r>
              <a:rPr kumimoji="1" lang="zh-CN" altLang="en-US" sz="2400" b="1" dirty="0" smtClean="0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第二种</a:t>
            </a:r>
            <a:r>
              <a:rPr kumimoji="1" lang="zh-CN" altLang="en-US" sz="2400" b="1" dirty="0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方法先构造识别活前缀的 </a:t>
            </a:r>
            <a:r>
              <a:rPr kumimoji="1" lang="en-US" altLang="zh-CN" sz="2400" b="1" dirty="0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NFA </a:t>
            </a:r>
            <a:r>
              <a:rPr kumimoji="1" lang="zh-CN" altLang="en-US" sz="2400" b="1" dirty="0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再确定化为 </a:t>
            </a:r>
            <a:r>
              <a:rPr kumimoji="1" lang="en-US" altLang="zh-CN" sz="2400" b="1" dirty="0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DFA</a:t>
            </a:r>
            <a:r>
              <a:rPr kumimoji="1" lang="zh-CN" altLang="en-US" sz="2400" b="1" dirty="0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，工作量较大</a:t>
            </a:r>
            <a:r>
              <a:rPr kumimoji="1" lang="zh-CN" altLang="en-US" sz="2400" b="1" dirty="0" smtClean="0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。</a:t>
            </a:r>
            <a:endParaRPr kumimoji="1" lang="en-US" altLang="zh-CN" sz="2400" b="1" dirty="0" smtClean="0">
              <a:solidFill>
                <a:srgbClr val="3333CC"/>
              </a:solidFill>
              <a:latin typeface="Courier New" pitchFamily="49" charset="0"/>
              <a:ea typeface="幼圆" pitchFamily="49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第三种</a:t>
            </a:r>
            <a:r>
              <a:rPr kumimoji="1" lang="zh-CN" altLang="en-US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方法构造较简单不易出错。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468315" y="107950"/>
            <a:ext cx="8218486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accent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accent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accent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accent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zh-CN" altLang="en-US" b="1" dirty="0">
                <a:latin typeface="宋体" pitchFamily="2" charset="-122"/>
              </a:rPr>
              <a:t>构造识别文法活前缀</a:t>
            </a:r>
            <a:r>
              <a:rPr lang="en-US" altLang="zh-CN" b="1" dirty="0">
                <a:latin typeface="宋体" pitchFamily="2" charset="-122"/>
              </a:rPr>
              <a:t>DFA</a:t>
            </a:r>
            <a:r>
              <a:rPr lang="zh-CN" altLang="en-US" b="1" dirty="0">
                <a:latin typeface="宋体" pitchFamily="2" charset="-122"/>
              </a:rPr>
              <a:t>的三种方法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55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latin typeface="宋体" pitchFamily="2" charset="-122"/>
              </a:rPr>
              <a:t>LR(0)</a:t>
            </a:r>
            <a:r>
              <a:rPr lang="zh-CN" altLang="en-US" sz="3200" b="1" dirty="0" smtClean="0">
                <a:latin typeface="宋体" pitchFamily="2" charset="-122"/>
              </a:rPr>
              <a:t>项目</a:t>
            </a:r>
            <a:endParaRPr lang="zh-CN" altLang="en-US" sz="3200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>
                <a:solidFill>
                  <a:srgbClr val="40458C"/>
                </a:solidFill>
              </a:rPr>
              <a:t>Page </a:t>
            </a:r>
            <a:fld id="{17B091AB-45E7-4310-993E-CB8C7499C5EB}" type="slidenum">
              <a:rPr lang="en-US" altLang="zh-CN">
                <a:solidFill>
                  <a:srgbClr val="40458C"/>
                </a:solidFill>
              </a:rPr>
              <a:pPr/>
              <a:t>38</a:t>
            </a:fld>
            <a:endParaRPr lang="en-US" altLang="zh-CN">
              <a:solidFill>
                <a:srgbClr val="40458C"/>
              </a:solidFill>
            </a:endParaRPr>
          </a:p>
        </p:txBody>
      </p:sp>
      <p:sp>
        <p:nvSpPr>
          <p:cNvPr id="332804" name="Text Box 4"/>
          <p:cNvSpPr txBox="1">
            <a:spLocks noChangeArrowheads="1"/>
          </p:cNvSpPr>
          <p:nvPr/>
        </p:nvSpPr>
        <p:spPr bwMode="auto">
          <a:xfrm>
            <a:off x="598169" y="1268733"/>
            <a:ext cx="8229600" cy="5001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Tx/>
              <a:buAutoNum type="arabicParenR"/>
            </a:pPr>
            <a:r>
              <a:rPr lang="zh-CN" altLang="en-US" sz="22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归约项目</a:t>
            </a: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：形如 </a:t>
            </a:r>
            <a:r>
              <a:rPr lang="en-US" altLang="zh-CN" sz="2200" b="1" dirty="0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A→</a:t>
            </a:r>
            <a:r>
              <a:rPr lang="en-US" altLang="zh-CN" sz="2200" b="1" dirty="0" smtClean="0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α∙</a:t>
            </a:r>
            <a:r>
              <a:rPr lang="en-US" altLang="zh-CN" sz="2200" b="1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 </a:t>
            </a: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的项目，其中，</a:t>
            </a:r>
            <a:r>
              <a:rPr lang="zh-CN" altLang="en-US" sz="2200" b="1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sym typeface="Symbol" pitchFamily="18" charset="2"/>
              </a:rPr>
              <a:t></a:t>
            </a:r>
            <a:r>
              <a:rPr lang="en-US" altLang="zh-CN" sz="2200" b="1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(V</a:t>
            </a:r>
            <a:r>
              <a:rPr lang="en-US" altLang="zh-CN" sz="2200" b="1" baseline="-30000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T</a:t>
            </a:r>
            <a:r>
              <a:rPr lang="en-US" altLang="zh-CN" sz="2200" b="1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sym typeface="Symbol" pitchFamily="18" charset="2"/>
              </a:rPr>
              <a:t></a:t>
            </a:r>
            <a:r>
              <a:rPr lang="en-US" altLang="zh-CN" sz="2200" b="1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V</a:t>
            </a:r>
            <a:r>
              <a:rPr lang="en-US" altLang="zh-CN" sz="2200" b="1" baseline="-30000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N</a:t>
            </a:r>
            <a:r>
              <a:rPr lang="en-US" altLang="zh-CN" sz="2200" b="1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)</a:t>
            </a:r>
            <a:r>
              <a:rPr lang="en-US" altLang="zh-CN" sz="2200" b="1" baseline="30000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*</a:t>
            </a: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。</a:t>
            </a:r>
            <a:b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</a:b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它表示栈顶已形成句柄 </a:t>
            </a:r>
            <a:r>
              <a:rPr lang="en-US" altLang="zh-CN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α,</a:t>
            </a: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下一步动作应该是归约。</a:t>
            </a:r>
            <a:endParaRPr lang="zh-CN" altLang="en-US" sz="2200" b="1" dirty="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Tx/>
              <a:buAutoNum type="arabicParenR"/>
            </a:pPr>
            <a:r>
              <a:rPr lang="zh-CN" altLang="en-US" sz="22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移进项目</a:t>
            </a: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：形如 </a:t>
            </a:r>
            <a:r>
              <a:rPr lang="en-US" altLang="zh-CN" sz="2200" b="1" dirty="0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A→</a:t>
            </a:r>
            <a:r>
              <a:rPr lang="en-US" altLang="zh-CN" sz="2200" b="1" dirty="0" smtClean="0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α∙aβ</a:t>
            </a: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的项目。其中，</a:t>
            </a:r>
            <a:r>
              <a:rPr lang="en-US" altLang="zh-CN" sz="2200" b="1" dirty="0" err="1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a</a:t>
            </a:r>
            <a:r>
              <a:rPr lang="en-US" altLang="zh-CN" sz="2200" b="1" dirty="0" err="1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sym typeface="Symbol" pitchFamily="18" charset="2"/>
              </a:rPr>
              <a:t></a:t>
            </a:r>
            <a:r>
              <a:rPr lang="en-US" altLang="zh-CN" sz="2200" b="1" dirty="0" err="1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V</a:t>
            </a:r>
            <a:r>
              <a:rPr lang="en-US" altLang="zh-CN" sz="2200" b="1" baseline="-30000" dirty="0" err="1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T</a:t>
            </a:r>
            <a:r>
              <a:rPr lang="zh-CN" altLang="en-US" sz="2200" b="1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，</a:t>
            </a: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sym typeface="Symbol" pitchFamily="18" charset="2"/>
              </a:rPr>
              <a:t></a:t>
            </a:r>
            <a:r>
              <a:rPr lang="en-US" altLang="zh-CN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,β</a:t>
            </a:r>
            <a:r>
              <a:rPr lang="en-US" altLang="zh-CN" sz="2200" b="1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sym typeface="Symbol" pitchFamily="18" charset="2"/>
              </a:rPr>
              <a:t></a:t>
            </a:r>
            <a:r>
              <a:rPr lang="en-US" altLang="zh-CN" sz="2200" b="1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(V</a:t>
            </a:r>
            <a:r>
              <a:rPr lang="en-US" altLang="zh-CN" sz="2200" b="1" baseline="-30000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T</a:t>
            </a:r>
            <a:r>
              <a:rPr lang="en-US" altLang="zh-CN" sz="2200" b="1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sym typeface="Symbol" pitchFamily="18" charset="2"/>
              </a:rPr>
              <a:t></a:t>
            </a:r>
            <a:r>
              <a:rPr lang="en-US" altLang="zh-CN" sz="2200" b="1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V</a:t>
            </a:r>
            <a:r>
              <a:rPr lang="en-US" altLang="zh-CN" sz="2200" b="1" baseline="-30000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N</a:t>
            </a:r>
            <a:r>
              <a:rPr lang="en-US" altLang="zh-CN" sz="2200" b="1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)</a:t>
            </a:r>
            <a:r>
              <a:rPr lang="en-US" altLang="zh-CN" sz="2200" b="1" baseline="30000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*</a:t>
            </a:r>
            <a:r>
              <a:rPr lang="en-US" altLang="zh-CN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	</a:t>
            </a: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。</a:t>
            </a:r>
            <a:b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</a:b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它表示期待从输入串中移进一个符号，已待形成句柄。</a:t>
            </a:r>
            <a:endParaRPr lang="zh-CN" altLang="en-US" sz="2200" b="1" dirty="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Tx/>
              <a:buAutoNum type="arabicParenR"/>
            </a:pPr>
            <a:r>
              <a:rPr lang="zh-CN" altLang="en-US" sz="22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待约项目</a:t>
            </a: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：形如 </a:t>
            </a:r>
            <a:r>
              <a:rPr lang="en-US" altLang="zh-CN" sz="2200" b="1" dirty="0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A→</a:t>
            </a:r>
            <a:r>
              <a:rPr lang="en-US" altLang="zh-CN" sz="2200" b="1" dirty="0" smtClean="0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α∙Bβ</a:t>
            </a: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的项目。其中，</a:t>
            </a:r>
            <a:r>
              <a:rPr lang="en-US" altLang="zh-CN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B</a:t>
            </a:r>
            <a:r>
              <a:rPr lang="en-US" altLang="zh-CN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sym typeface="Symbol" pitchFamily="18" charset="2"/>
              </a:rPr>
              <a:t></a:t>
            </a:r>
            <a:r>
              <a:rPr lang="en-US" altLang="zh-CN" sz="2200" b="1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V</a:t>
            </a:r>
            <a:r>
              <a:rPr lang="en-US" altLang="zh-CN" sz="2200" b="1" baseline="-30000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N</a:t>
            </a:r>
            <a:r>
              <a:rPr lang="zh-CN" altLang="en-US" sz="2200" b="1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，</a:t>
            </a: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sym typeface="Symbol" pitchFamily="18" charset="2"/>
              </a:rPr>
              <a:t></a:t>
            </a:r>
            <a:r>
              <a:rPr lang="en-US" altLang="zh-CN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,β</a:t>
            </a:r>
            <a:r>
              <a:rPr lang="en-US" altLang="zh-CN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sym typeface="Symbol" pitchFamily="18" charset="2"/>
              </a:rPr>
              <a:t></a:t>
            </a:r>
            <a:r>
              <a:rPr lang="en-US" altLang="zh-CN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(V</a:t>
            </a:r>
            <a:r>
              <a:rPr lang="en-US" altLang="zh-CN" sz="2200" b="1" baseline="-30000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T</a:t>
            </a:r>
            <a:r>
              <a:rPr lang="en-US" altLang="zh-CN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  <a:sym typeface="Symbol" pitchFamily="18" charset="2"/>
              </a:rPr>
              <a:t></a:t>
            </a:r>
            <a:r>
              <a:rPr lang="en-US" altLang="zh-CN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V</a:t>
            </a:r>
            <a:r>
              <a:rPr lang="en-US" altLang="zh-CN" sz="2200" b="1" baseline="-30000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N</a:t>
            </a:r>
            <a:r>
              <a:rPr lang="en-US" altLang="zh-CN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)</a:t>
            </a:r>
            <a:r>
              <a:rPr lang="en-US" altLang="zh-CN" sz="2200" b="1" baseline="30000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*</a:t>
            </a: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。</a:t>
            </a:r>
            <a:b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</a:b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它表示期待从输入串中进行归约而得到 </a:t>
            </a:r>
            <a:r>
              <a:rPr lang="en-US" altLang="zh-CN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B</a:t>
            </a: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，然后进一步得到 </a:t>
            </a:r>
            <a:r>
              <a:rPr lang="en-US" altLang="zh-CN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A </a:t>
            </a: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的全部右部。</a:t>
            </a:r>
            <a:endParaRPr lang="zh-CN" altLang="en-US" sz="2200" b="1" dirty="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Tx/>
              <a:buAutoNum type="arabicParenR"/>
            </a:pPr>
            <a:r>
              <a:rPr lang="zh-CN" altLang="en-US" sz="22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接受项目</a:t>
            </a: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：形如 </a:t>
            </a:r>
            <a:r>
              <a:rPr lang="en-US" altLang="zh-CN" sz="2200" b="1" dirty="0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S’→</a:t>
            </a:r>
            <a:r>
              <a:rPr lang="en-US" altLang="zh-CN" sz="2200" b="1" dirty="0" smtClean="0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α∙</a:t>
            </a:r>
            <a:r>
              <a:rPr lang="en-US" altLang="zh-CN" sz="2200" b="1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 </a:t>
            </a: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的项目。</a:t>
            </a:r>
            <a:r>
              <a:rPr lang="en-US" altLang="zh-CN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S’</a:t>
            </a: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是文法开始符，以 </a:t>
            </a:r>
            <a:r>
              <a:rPr lang="en-US" altLang="zh-CN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S’</a:t>
            </a:r>
            <a:r>
              <a:rPr lang="zh-CN" altLang="en-US" sz="2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为左部的规则只有一个（通过对一般文法拓广得到的），所以，该归约项目是一个特殊的归约项目，它表示整个句子已分析完毕，可以接受。</a:t>
            </a:r>
            <a:r>
              <a:rPr lang="zh-CN" altLang="en-US" sz="22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9766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0" name="Rectangle 4"/>
          <p:cNvSpPr>
            <a:spLocks noGrp="1" noChangeArrowheads="1"/>
          </p:cNvSpPr>
          <p:nvPr>
            <p:ph type="title"/>
          </p:nvPr>
        </p:nvSpPr>
        <p:spPr>
          <a:xfrm>
            <a:off x="561896" y="922129"/>
            <a:ext cx="8218486" cy="711200"/>
          </a:xfrm>
        </p:spPr>
        <p:txBody>
          <a:bodyPr/>
          <a:lstStyle/>
          <a:p>
            <a:r>
              <a:rPr lang="en-US" altLang="zh-CN" sz="3200" b="1" dirty="0">
                <a:solidFill>
                  <a:schemeClr val="tx1"/>
                </a:solidFill>
                <a:latin typeface="宋体" pitchFamily="2" charset="-122"/>
              </a:rPr>
              <a:t>【</a:t>
            </a: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</a:rPr>
              <a:t>例</a:t>
            </a:r>
            <a:r>
              <a:rPr lang="en-US" altLang="zh-CN" sz="3200" b="1" dirty="0">
                <a:solidFill>
                  <a:schemeClr val="tx1"/>
                </a:solidFill>
                <a:latin typeface="宋体" pitchFamily="2" charset="-122"/>
              </a:rPr>
              <a:t>】</a:t>
            </a:r>
            <a:endParaRPr lang="en-US" altLang="zh-CN" sz="3200" b="1" dirty="0">
              <a:solidFill>
                <a:schemeClr val="tx1"/>
              </a:solidFill>
            </a:endParaRPr>
          </a:p>
        </p:txBody>
      </p:sp>
      <p:sp>
        <p:nvSpPr>
          <p:cNvPr id="331779" name="Text Box 3"/>
          <p:cNvSpPr txBox="1">
            <a:spLocks noChangeArrowheads="1"/>
          </p:cNvSpPr>
          <p:nvPr/>
        </p:nvSpPr>
        <p:spPr bwMode="auto">
          <a:xfrm>
            <a:off x="609600" y="1633329"/>
            <a:ext cx="8229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例如，产生式 </a:t>
            </a:r>
            <a:r>
              <a:rPr lang="en-US" altLang="zh-CN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A→XYZ </a:t>
            </a:r>
            <a:r>
              <a:rPr lang="zh-CN" altLang="en-US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有四个 </a:t>
            </a:r>
            <a:r>
              <a:rPr lang="en-US" altLang="zh-CN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LR(0) </a:t>
            </a:r>
            <a:r>
              <a:rPr lang="zh-CN" altLang="en-US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项目：</a:t>
            </a:r>
            <a:br>
              <a:rPr lang="zh-CN" altLang="en-US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</a:br>
            <a:r>
              <a:rPr lang="zh-CN" altLang="en-US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       </a:t>
            </a:r>
            <a:r>
              <a:rPr lang="en-US" altLang="zh-CN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A→∙XYZ</a:t>
            </a:r>
            <a:br>
              <a:rPr lang="en-US" altLang="zh-CN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</a:br>
            <a:r>
              <a:rPr lang="en-US" altLang="zh-CN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       A→X∙YZ</a:t>
            </a:r>
            <a:br>
              <a:rPr lang="en-US" altLang="zh-CN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</a:br>
            <a:r>
              <a:rPr lang="en-US" altLang="zh-CN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       A→XY∙Z</a:t>
            </a:r>
            <a:br>
              <a:rPr lang="en-US" altLang="zh-CN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</a:br>
            <a:r>
              <a:rPr lang="en-US" altLang="zh-CN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       A→XYZ∙</a:t>
            </a:r>
          </a:p>
        </p:txBody>
      </p:sp>
      <p:sp>
        <p:nvSpPr>
          <p:cNvPr id="331782" name="Rectangle 6"/>
          <p:cNvSpPr>
            <a:spLocks noChangeArrowheads="1"/>
          </p:cNvSpPr>
          <p:nvPr/>
        </p:nvSpPr>
        <p:spPr bwMode="auto">
          <a:xfrm>
            <a:off x="5943600" y="2090529"/>
            <a:ext cx="2895600" cy="1200329"/>
          </a:xfrm>
          <a:prstGeom prst="rect">
            <a:avLst/>
          </a:prstGeom>
          <a:ln/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一个规则可对应的</a:t>
            </a:r>
            <a:r>
              <a:rPr kumimoji="1"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幼圆" pitchFamily="49" charset="-122"/>
              </a:rPr>
              <a:t>项目个数</a:t>
            </a: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是它的右部</a:t>
            </a:r>
            <a:r>
              <a:rPr kumimoji="1" lang="zh-CN" altLang="en-US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符号长度加</a:t>
            </a:r>
            <a:r>
              <a:rPr kumimoji="1" lang="en-US" altLang="zh-CN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1</a:t>
            </a: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。</a:t>
            </a:r>
          </a:p>
        </p:txBody>
      </p:sp>
      <p:sp>
        <p:nvSpPr>
          <p:cNvPr id="331783" name="Text Box 7"/>
          <p:cNvSpPr txBox="1">
            <a:spLocks noChangeArrowheads="1"/>
          </p:cNvSpPr>
          <p:nvPr/>
        </p:nvSpPr>
        <p:spPr bwMode="auto">
          <a:xfrm>
            <a:off x="322328" y="3528941"/>
            <a:ext cx="8229600" cy="1815882"/>
          </a:xfrm>
          <a:prstGeom prst="rect">
            <a:avLst/>
          </a:prstGeom>
          <a:ln/>
          <a:ex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幼圆" pitchFamily="49" charset="-122"/>
              </a:rPr>
              <a:t>每个项目的含义与圆点的位置有关</a:t>
            </a:r>
            <a:r>
              <a:rPr kumimoji="1" lang="en-US" altLang="zh-CN" sz="2800" b="1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幼圆" pitchFamily="49" charset="-122"/>
              </a:rPr>
              <a:t>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  圆点</a:t>
            </a:r>
            <a:r>
              <a:rPr kumimoji="1" lang="zh-CN" altLang="en-US" sz="28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的左部</a:t>
            </a:r>
            <a:r>
              <a:rPr kumimoji="1" lang="zh-CN" altLang="en-US" sz="28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表示分析过程的某时刻用该产生式归约时句柄已识别过的部分，</a:t>
            </a:r>
            <a:r>
              <a:rPr kumimoji="1" lang="zh-CN" altLang="en-US" sz="28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圆点右部</a:t>
            </a:r>
            <a:r>
              <a:rPr kumimoji="1" lang="zh-CN" altLang="en-US" sz="28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表示待识别的部分</a:t>
            </a:r>
            <a:r>
              <a:rPr kumimoji="1" lang="zh-CN" altLang="en-US" sz="28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。</a:t>
            </a:r>
            <a:endParaRPr kumimoji="1" lang="zh-CN" altLang="en-US" sz="2800" dirty="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68315" y="107950"/>
            <a:ext cx="8218486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accent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accent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accent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accent1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rgbClr val="FF3300"/>
                </a:solidFill>
                <a:latin typeface="Arial" panose="020B0604020202020204" pitchFamily="34" charset="0"/>
                <a:ea typeface="华文中宋" panose="02010600040101010101" pitchFamily="2" charset="-122"/>
                <a:cs typeface="宋体" panose="02010600030101010101" pitchFamily="2" charset="-122"/>
              </a:defRPr>
            </a:lvl9pPr>
          </a:lstStyle>
          <a:p>
            <a:r>
              <a:rPr lang="en-US" altLang="zh-CN" b="1" dirty="0" smtClean="0"/>
              <a:t>6.2.4 LR(0)</a:t>
            </a:r>
            <a:r>
              <a:rPr lang="zh-CN" altLang="en-US" b="1" dirty="0" smtClean="0"/>
              <a:t>项目集规范族的构造</a:t>
            </a:r>
            <a:endParaRPr lang="zh-CN" altLang="en-US" b="1" dirty="0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322328" y="5589267"/>
            <a:ext cx="8364472" cy="1077218"/>
          </a:xfrm>
          <a:prstGeom prst="rect">
            <a:avLst/>
          </a:prstGeom>
          <a:ln/>
          <a:ex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一个 </a:t>
            </a:r>
            <a:r>
              <a:rPr kumimoji="1" lang="en-US" altLang="zh-CN" sz="3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LR(0)</a:t>
            </a:r>
            <a:r>
              <a:rPr kumimoji="1" lang="zh-CN" altLang="en-US" sz="3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项目的直观意义在于它</a:t>
            </a:r>
            <a:r>
              <a:rPr kumimoji="1" lang="zh-CN" altLang="en-US" sz="32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指明了</a:t>
            </a:r>
            <a:r>
              <a:rPr kumimoji="1" lang="zh-CN" altLang="en-US" sz="32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对文法规范句型活前缀的</a:t>
            </a:r>
            <a:r>
              <a:rPr kumimoji="1" lang="zh-CN" altLang="en-US" sz="32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不同识别状态</a:t>
            </a:r>
            <a:r>
              <a:rPr kumimoji="1" lang="zh-CN" altLang="en-US" sz="32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27161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 smtClean="0">
                <a:latin typeface="宋体" pitchFamily="2" charset="-122"/>
              </a:rPr>
              <a:t>6.3 </a:t>
            </a:r>
            <a:r>
              <a:rPr lang="en-US" altLang="zh-CN" sz="3200" b="1" dirty="0">
                <a:latin typeface="宋体" pitchFamily="2" charset="-122"/>
              </a:rPr>
              <a:t>SLR(1)</a:t>
            </a:r>
            <a:r>
              <a:rPr lang="zh-CN" altLang="en-US" sz="3200" b="1" dirty="0">
                <a:latin typeface="宋体" pitchFamily="2" charset="-122"/>
              </a:rPr>
              <a:t>分析法</a:t>
            </a:r>
          </a:p>
        </p:txBody>
      </p:sp>
      <p:sp>
        <p:nvSpPr>
          <p:cNvPr id="126979" name="Text Box 3"/>
          <p:cNvSpPr txBox="1">
            <a:spLocks noChangeArrowheads="1"/>
          </p:cNvSpPr>
          <p:nvPr/>
        </p:nvSpPr>
        <p:spPr bwMode="auto">
          <a:xfrm>
            <a:off x="609600" y="1268733"/>
            <a:ext cx="822960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　　由于大多数适用的</a:t>
            </a:r>
            <a:r>
              <a:rPr kumimoji="1" lang="zh-CN" altLang="en-US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程序设计语言的文法不能满足 </a:t>
            </a:r>
            <a:r>
              <a:rPr kumimoji="1" lang="en-US" altLang="zh-CN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LR(0) </a:t>
            </a:r>
            <a:r>
              <a:rPr kumimoji="1" lang="zh-CN" altLang="en-US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文法的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条件</a:t>
            </a:r>
            <a:r>
              <a:rPr kumimoji="1" lang="zh-CN" altLang="en-US" sz="24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。</a:t>
            </a:r>
            <a:endParaRPr kumimoji="1" lang="en-US" altLang="zh-CN" sz="2400" b="1" dirty="0" smtClean="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 </a:t>
            </a:r>
            <a:r>
              <a:rPr kumimoji="1" lang="en-US" altLang="zh-CN" sz="24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  </a:t>
            </a:r>
            <a:r>
              <a:rPr kumimoji="1" lang="zh-CN" altLang="en-US" sz="24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对于 </a:t>
            </a:r>
            <a:r>
              <a:rPr kumimoji="1" lang="en-US" altLang="zh-CN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LR(0) </a:t>
            </a: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规范族中有冲突的项目集</a:t>
            </a:r>
            <a:r>
              <a:rPr kumimoji="1" lang="en-US" altLang="zh-CN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(</a:t>
            </a: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状态</a:t>
            </a:r>
            <a:r>
              <a:rPr kumimoji="1" lang="en-US" altLang="zh-CN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)</a:t>
            </a:r>
            <a:r>
              <a:rPr kumimoji="1" lang="zh-CN" altLang="en-US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用向前查看一个符号的办法进行处理</a:t>
            </a: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，以解决冲突</a:t>
            </a:r>
            <a:r>
              <a:rPr kumimoji="1" lang="zh-CN" altLang="en-US" sz="24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。</a:t>
            </a:r>
            <a:endParaRPr kumimoji="1" lang="en-US" altLang="zh-CN" sz="2400" b="1" dirty="0" smtClean="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   只</a:t>
            </a: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对有冲突的状态才向前查看一个符号，以确定做那种动作，因而称这种分析方法为</a:t>
            </a:r>
            <a:r>
              <a:rPr kumimoji="1" lang="zh-CN" altLang="en-US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简单的 </a:t>
            </a:r>
            <a:r>
              <a:rPr kumimoji="1" lang="en-US" altLang="zh-CN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LR(1)</a:t>
            </a:r>
            <a:r>
              <a:rPr kumimoji="1" lang="zh-CN" altLang="en-US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分析法，用 </a:t>
            </a:r>
            <a:r>
              <a:rPr kumimoji="1" lang="en-US" altLang="zh-CN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SLR(1)</a:t>
            </a:r>
            <a:r>
              <a:rPr kumimoji="1" lang="zh-CN" altLang="en-US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表示</a:t>
            </a: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。</a:t>
            </a:r>
            <a:b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</a:b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　　</a:t>
            </a:r>
            <a:r>
              <a:rPr kumimoji="1" lang="en-US" altLang="zh-CN" sz="24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SLR(1) </a:t>
            </a:r>
            <a:r>
              <a:rPr kumimoji="1" lang="zh-CN" altLang="en-US" sz="24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分析法是为理解 </a:t>
            </a:r>
            <a:r>
              <a:rPr kumimoji="1" lang="en-US" altLang="zh-CN" sz="24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LR(1) </a:t>
            </a:r>
            <a:r>
              <a:rPr kumimoji="1" lang="zh-CN" altLang="en-US" sz="24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分析法做准备的。</a:t>
            </a:r>
            <a:endParaRPr kumimoji="1" lang="en-US" altLang="zh-CN" sz="2400" b="1" dirty="0" smtClean="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en-US" altLang="zh-CN" sz="2400" b="1" dirty="0">
              <a:solidFill>
                <a:srgbClr val="FF0000"/>
              </a:solidFill>
              <a:latin typeface="Courier New" pitchFamily="49" charset="0"/>
              <a:ea typeface="幼圆" pitchFamily="49" charset="-122"/>
            </a:endParaRPr>
          </a:p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600" b="1" dirty="0" smtClean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引入了</a:t>
            </a:r>
            <a:r>
              <a:rPr kumimoji="1" lang="en-US" altLang="zh-CN" sz="3600" b="1" dirty="0" smtClean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FOLLOW</a:t>
            </a:r>
            <a:r>
              <a:rPr kumimoji="1" lang="zh-CN" altLang="en-US" sz="3600" b="1" dirty="0" smtClean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集</a:t>
            </a:r>
            <a:endParaRPr kumimoji="1" lang="en-US" altLang="zh-CN" sz="3600" b="1" dirty="0" smtClean="0">
              <a:solidFill>
                <a:srgbClr val="FF0000"/>
              </a:solidFill>
              <a:latin typeface="Courier New" pitchFamily="49" charset="0"/>
              <a:ea typeface="幼圆" pitchFamily="49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 dirty="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2014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 smtClean="0">
                <a:latin typeface="宋体" pitchFamily="2" charset="-122"/>
              </a:rPr>
              <a:t>6.4 LR(1</a:t>
            </a:r>
            <a:r>
              <a:rPr lang="en-US" altLang="zh-CN" sz="3200" b="1" dirty="0">
                <a:latin typeface="宋体" pitchFamily="2" charset="-122"/>
              </a:rPr>
              <a:t>)</a:t>
            </a:r>
            <a:r>
              <a:rPr lang="zh-CN" altLang="en-US" sz="3200" b="1" dirty="0">
                <a:latin typeface="宋体" pitchFamily="2" charset="-122"/>
              </a:rPr>
              <a:t>分析法</a:t>
            </a:r>
          </a:p>
        </p:txBody>
      </p:sp>
      <p:sp>
        <p:nvSpPr>
          <p:cNvPr id="126979" name="Text Box 3"/>
          <p:cNvSpPr txBox="1">
            <a:spLocks noChangeArrowheads="1"/>
          </p:cNvSpPr>
          <p:nvPr/>
        </p:nvSpPr>
        <p:spPr bwMode="auto">
          <a:xfrm>
            <a:off x="251466" y="980502"/>
            <a:ext cx="8229600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　　</a:t>
            </a:r>
            <a:r>
              <a:rPr kumimoji="1" lang="en-US" altLang="zh-CN" sz="3200" b="1" dirty="0" smtClean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FOLLOW</a:t>
            </a:r>
            <a:r>
              <a:rPr kumimoji="1" lang="zh-CN" altLang="en-US" sz="3200" b="1" dirty="0" smtClean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集交集不为空时。</a:t>
            </a:r>
            <a:endParaRPr kumimoji="1" lang="en-US" altLang="zh-CN" sz="3200" b="1" dirty="0" smtClean="0">
              <a:solidFill>
                <a:srgbClr val="FF0000"/>
              </a:solidFill>
              <a:latin typeface="Courier New" pitchFamily="49" charset="0"/>
              <a:ea typeface="幼圆" pitchFamily="49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en-US" altLang="zh-CN" sz="2400" b="1" dirty="0" smtClean="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sz="2400" b="1" dirty="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251466" y="1700591"/>
            <a:ext cx="8218487" cy="5113338"/>
          </a:xfrm>
        </p:spPr>
        <p:txBody>
          <a:bodyPr/>
          <a:lstStyle/>
          <a:p>
            <a:pPr>
              <a:buClrTx/>
            </a:pPr>
            <a:r>
              <a:rPr lang="en-US" altLang="zh-CN" sz="2400" dirty="0">
                <a:solidFill>
                  <a:srgbClr val="800080"/>
                </a:solidFill>
              </a:rPr>
              <a:t>LR</a:t>
            </a:r>
            <a:r>
              <a:rPr lang="zh-CN" altLang="en-US" sz="2400" dirty="0">
                <a:solidFill>
                  <a:srgbClr val="800080"/>
                </a:solidFill>
              </a:rPr>
              <a:t>（</a:t>
            </a:r>
            <a:r>
              <a:rPr lang="en-US" altLang="zh-CN" sz="2400" dirty="0">
                <a:solidFill>
                  <a:srgbClr val="800080"/>
                </a:solidFill>
              </a:rPr>
              <a:t>1</a:t>
            </a:r>
            <a:r>
              <a:rPr lang="zh-CN" altLang="en-US" sz="2400" dirty="0">
                <a:solidFill>
                  <a:srgbClr val="800080"/>
                </a:solidFill>
              </a:rPr>
              <a:t>）</a:t>
            </a:r>
            <a:r>
              <a:rPr lang="zh-CN" altLang="en-US" sz="2400" b="1" dirty="0">
                <a:solidFill>
                  <a:srgbClr val="800080"/>
                </a:solidFill>
              </a:rPr>
              <a:t>项目</a:t>
            </a:r>
          </a:p>
          <a:p>
            <a:pPr lvl="1">
              <a:buFont typeface="Symbol" pitchFamily="18" charset="2"/>
              <a:buChar char="-"/>
            </a:pPr>
            <a:r>
              <a:rPr lang="zh-CN" altLang="en-US" sz="2000" dirty="0" smtClean="0"/>
              <a:t> </a:t>
            </a:r>
            <a:r>
              <a:rPr lang="zh-CN" altLang="en-US" sz="2000" b="1" dirty="0"/>
              <a:t>在 </a:t>
            </a:r>
            <a:r>
              <a:rPr lang="en-US" altLang="zh-CN" sz="2000" dirty="0"/>
              <a:t>LR</a:t>
            </a:r>
            <a:r>
              <a:rPr lang="zh-CN" altLang="en-US" sz="2000" b="1" dirty="0"/>
              <a:t>（</a:t>
            </a:r>
            <a:r>
              <a:rPr lang="en-US" altLang="zh-CN" sz="2000" dirty="0"/>
              <a:t>0</a:t>
            </a:r>
            <a:r>
              <a:rPr lang="zh-CN" altLang="en-US" sz="2000" b="1" dirty="0"/>
              <a:t>）项目基础上</a:t>
            </a:r>
            <a:r>
              <a:rPr lang="zh-CN" altLang="en-US" sz="2000" b="1" dirty="0">
                <a:solidFill>
                  <a:srgbClr val="800080"/>
                </a:solidFill>
              </a:rPr>
              <a:t>增加一个</a:t>
            </a:r>
            <a:r>
              <a:rPr lang="zh-CN" altLang="en-US" sz="2000" b="1" dirty="0" smtClean="0">
                <a:solidFill>
                  <a:srgbClr val="800080"/>
                </a:solidFill>
              </a:rPr>
              <a:t>终结符，</a:t>
            </a:r>
            <a:r>
              <a:rPr lang="zh-CN" altLang="en-US" sz="2000" b="1" dirty="0" smtClean="0"/>
              <a:t>   </a:t>
            </a:r>
            <a:r>
              <a:rPr lang="zh-CN" altLang="en-US" sz="2000" b="1" dirty="0"/>
              <a:t>所增加的终结符称为</a:t>
            </a:r>
            <a:r>
              <a:rPr lang="zh-CN" altLang="en-US" sz="2000" b="1" dirty="0">
                <a:solidFill>
                  <a:srgbClr val="800080"/>
                </a:solidFill>
              </a:rPr>
              <a:t>向前搜索符</a:t>
            </a:r>
            <a:r>
              <a:rPr lang="zh-CN" altLang="en-US" sz="2000" b="1" dirty="0"/>
              <a:t>（</a:t>
            </a:r>
            <a:r>
              <a:rPr lang="en-US" altLang="zh-CN" sz="2000" i="1" dirty="0" err="1"/>
              <a:t>lookahead</a:t>
            </a:r>
            <a:r>
              <a:rPr lang="zh-CN" altLang="en-US" sz="2000" b="1" dirty="0" smtClean="0"/>
              <a:t>），  </a:t>
            </a:r>
            <a:r>
              <a:rPr lang="zh-CN" altLang="en-US" sz="2000" b="1" dirty="0"/>
              <a:t>表示</a:t>
            </a:r>
            <a:r>
              <a:rPr lang="zh-CN" altLang="en-US" sz="2000" b="1" dirty="0">
                <a:solidFill>
                  <a:srgbClr val="800080"/>
                </a:solidFill>
              </a:rPr>
              <a:t>产生式右端完整匹配</a:t>
            </a:r>
            <a:r>
              <a:rPr lang="zh-CN" altLang="en-US" sz="2000" b="1" dirty="0"/>
              <a:t>后所允许在余留</a:t>
            </a:r>
            <a:r>
              <a:rPr lang="zh-CN" altLang="en-US" sz="2000" b="1" dirty="0" smtClean="0"/>
              <a:t>符号 </a:t>
            </a:r>
            <a:r>
              <a:rPr lang="zh-CN" altLang="en-US" sz="2000" b="1" dirty="0"/>
              <a:t>串中的下一个</a:t>
            </a:r>
            <a:r>
              <a:rPr lang="zh-CN" altLang="en-US" sz="2000" b="1" dirty="0" smtClean="0"/>
              <a:t>终结符。</a:t>
            </a:r>
            <a:endParaRPr lang="zh-CN" altLang="en-US" sz="2000" b="1" dirty="0"/>
          </a:p>
          <a:p>
            <a:pPr lvl="1">
              <a:buFont typeface="Symbol" pitchFamily="18" charset="2"/>
              <a:buChar char="-"/>
            </a:pPr>
            <a:r>
              <a:rPr lang="zh-CN" altLang="en-US" sz="2000" dirty="0" smtClean="0"/>
              <a:t> </a:t>
            </a:r>
            <a:r>
              <a:rPr lang="en-US" altLang="zh-CN" sz="2000" dirty="0"/>
              <a:t>LR</a:t>
            </a:r>
            <a:r>
              <a:rPr lang="zh-CN" altLang="en-US" sz="2000" b="1" dirty="0"/>
              <a:t>（</a:t>
            </a:r>
            <a:r>
              <a:rPr lang="en-US" altLang="zh-CN" sz="2000" dirty="0"/>
              <a:t>1</a:t>
            </a:r>
            <a:r>
              <a:rPr lang="zh-CN" altLang="en-US" sz="2000" b="1" dirty="0"/>
              <a:t>）项目形如：</a:t>
            </a:r>
          </a:p>
          <a:p>
            <a:pPr lvl="1">
              <a:buFont typeface="Symbol" pitchFamily="18" charset="2"/>
              <a:buNone/>
            </a:pPr>
            <a:endParaRPr lang="zh-CN" altLang="en-US" sz="800" b="1" dirty="0"/>
          </a:p>
          <a:p>
            <a:pPr lvl="1">
              <a:buFont typeface="Symbol" pitchFamily="18" charset="2"/>
              <a:buNone/>
            </a:pPr>
            <a:r>
              <a:rPr lang="zh-CN" altLang="en-US" sz="1800" b="1" dirty="0"/>
              <a:t>                 </a:t>
            </a:r>
            <a:r>
              <a:rPr lang="en-US" altLang="zh-CN" sz="2000" b="1" dirty="0">
                <a:solidFill>
                  <a:srgbClr val="800080"/>
                </a:solidFill>
                <a:sym typeface="Symbol" pitchFamily="18" charset="2"/>
              </a:rPr>
              <a:t>A </a:t>
            </a:r>
            <a:r>
              <a:rPr lang="en-US" altLang="zh-CN" sz="2000" dirty="0">
                <a:solidFill>
                  <a:srgbClr val="800080"/>
                </a:solidFill>
                <a:sym typeface="Symbol" pitchFamily="18" charset="2"/>
              </a:rPr>
              <a:t></a:t>
            </a:r>
            <a:r>
              <a:rPr lang="en-US" altLang="zh-CN" sz="2000" dirty="0">
                <a:solidFill>
                  <a:srgbClr val="800080"/>
                </a:solidFill>
              </a:rPr>
              <a:t> </a:t>
            </a:r>
            <a:r>
              <a:rPr lang="en-US" altLang="zh-CN" sz="2000" b="1" dirty="0">
                <a:solidFill>
                  <a:srgbClr val="800080"/>
                </a:solidFill>
                <a:sym typeface="Symbol" pitchFamily="18" charset="2"/>
              </a:rPr>
              <a:t> </a:t>
            </a:r>
            <a:r>
              <a:rPr lang="en-US" altLang="zh-CN" sz="2000" b="1" dirty="0" smtClean="0">
                <a:solidFill>
                  <a:srgbClr val="800080"/>
                </a:solidFill>
              </a:rPr>
              <a:t>∙</a:t>
            </a:r>
            <a:r>
              <a:rPr lang="en-US" altLang="zh-CN" sz="2000" b="1" dirty="0" smtClean="0">
                <a:solidFill>
                  <a:srgbClr val="800080"/>
                </a:solidFill>
                <a:sym typeface="Symbol" pitchFamily="18" charset="2"/>
              </a:rPr>
              <a:t> </a:t>
            </a:r>
            <a:r>
              <a:rPr lang="en-US" altLang="zh-CN" sz="2000" b="1" dirty="0">
                <a:solidFill>
                  <a:srgbClr val="800080"/>
                </a:solidFill>
                <a:sym typeface="Symbol" pitchFamily="18" charset="2"/>
              </a:rPr>
              <a:t>,  a</a:t>
            </a:r>
          </a:p>
          <a:p>
            <a:pPr lvl="1">
              <a:buFont typeface="Symbol" pitchFamily="18" charset="2"/>
              <a:buNone/>
            </a:pPr>
            <a:endParaRPr lang="en-US" altLang="zh-CN" sz="800" b="1" dirty="0"/>
          </a:p>
          <a:p>
            <a:pPr lvl="1">
              <a:buFont typeface="Symbol" pitchFamily="18" charset="2"/>
              <a:buNone/>
            </a:pPr>
            <a:r>
              <a:rPr lang="en-US" altLang="zh-CN" sz="2000" b="1" dirty="0"/>
              <a:t>   </a:t>
            </a:r>
            <a:r>
              <a:rPr lang="en-US" altLang="zh-CN" sz="2000" b="1" dirty="0">
                <a:sym typeface="Symbol" pitchFamily="18" charset="2"/>
              </a:rPr>
              <a:t>A </a:t>
            </a:r>
            <a:r>
              <a:rPr lang="en-US" altLang="zh-CN" sz="2000" dirty="0">
                <a:sym typeface="Symbol" pitchFamily="18" charset="2"/>
              </a:rPr>
              <a:t></a:t>
            </a:r>
            <a:r>
              <a:rPr lang="en-US" altLang="zh-CN" sz="2000" dirty="0"/>
              <a:t> </a:t>
            </a:r>
            <a:r>
              <a:rPr lang="en-US" altLang="zh-CN" sz="2000" b="1" dirty="0">
                <a:sym typeface="Symbol" pitchFamily="18" charset="2"/>
              </a:rPr>
              <a:t> </a:t>
            </a:r>
            <a:r>
              <a:rPr lang="en-US" altLang="zh-CN" sz="2000" b="1" dirty="0" smtClean="0">
                <a:sym typeface="Symbol" pitchFamily="18" charset="2"/>
              </a:rPr>
              <a:t>∙</a:t>
            </a:r>
            <a:r>
              <a:rPr lang="en-US" altLang="zh-CN" sz="2000" b="1" dirty="0" smtClean="0"/>
              <a:t> </a:t>
            </a:r>
            <a:r>
              <a:rPr lang="en-US" altLang="zh-CN" sz="2000" b="1" dirty="0">
                <a:sym typeface="Symbol" pitchFamily="18" charset="2"/>
              </a:rPr>
              <a:t> </a:t>
            </a:r>
            <a:r>
              <a:rPr lang="zh-CN" altLang="en-US" sz="2000" b="1" dirty="0">
                <a:sym typeface="Symbol" pitchFamily="18" charset="2"/>
              </a:rPr>
              <a:t>同 </a:t>
            </a:r>
            <a:r>
              <a:rPr lang="en-US" altLang="zh-CN" sz="2000" dirty="0"/>
              <a:t>LR</a:t>
            </a:r>
            <a:r>
              <a:rPr lang="zh-CN" altLang="en-US" sz="2000" b="1" dirty="0"/>
              <a:t>（</a:t>
            </a:r>
            <a:r>
              <a:rPr lang="en-US" altLang="zh-CN" sz="2000" dirty="0"/>
              <a:t>0</a:t>
            </a:r>
            <a:r>
              <a:rPr lang="zh-CN" altLang="en-US" sz="2000" b="1" dirty="0"/>
              <a:t>）项目， </a:t>
            </a:r>
            <a:r>
              <a:rPr lang="en-US" altLang="zh-CN" sz="2000" b="1" dirty="0">
                <a:sym typeface="Symbol" pitchFamily="18" charset="2"/>
              </a:rPr>
              <a:t>a </a:t>
            </a:r>
            <a:r>
              <a:rPr lang="zh-CN" altLang="en-US" sz="2000" b="1" dirty="0"/>
              <a:t>为向前搜索</a:t>
            </a:r>
            <a:r>
              <a:rPr lang="zh-CN" altLang="en-US" sz="2000" b="1" dirty="0" smtClean="0"/>
              <a:t>符，</a:t>
            </a:r>
            <a:r>
              <a:rPr lang="en-US" altLang="zh-CN" sz="2000" dirty="0" smtClean="0">
                <a:sym typeface="Symbol" pitchFamily="18" charset="2"/>
              </a:rPr>
              <a:t> </a:t>
            </a:r>
            <a:r>
              <a:rPr lang="zh-CN" altLang="en-US" sz="2000" dirty="0" smtClean="0">
                <a:sym typeface="Symbol" pitchFamily="18" charset="2"/>
              </a:rPr>
              <a:t>且</a:t>
            </a:r>
            <a:r>
              <a:rPr lang="en-US" altLang="zh-CN" sz="2000" dirty="0" smtClean="0">
                <a:sym typeface="Symbol" pitchFamily="18" charset="2"/>
              </a:rPr>
              <a:t>a </a:t>
            </a:r>
            <a:r>
              <a:rPr lang="zh-CN" altLang="en-US" sz="2000" dirty="0">
                <a:sym typeface="Symbol" pitchFamily="18" charset="2"/>
              </a:rPr>
              <a:t>或为终结符，或为输入结束标志符 </a:t>
            </a:r>
            <a:r>
              <a:rPr lang="en-US" altLang="zh-CN" sz="2000" dirty="0">
                <a:sym typeface="Symbol" pitchFamily="18" charset="2"/>
              </a:rPr>
              <a:t>#</a:t>
            </a:r>
          </a:p>
          <a:p>
            <a:pPr lvl="1">
              <a:buFont typeface="Symbol" pitchFamily="18" charset="2"/>
              <a:buChar char="-"/>
            </a:pPr>
            <a:r>
              <a:rPr lang="zh-CN" altLang="en-US" sz="2000" dirty="0"/>
              <a:t>设文法 </a:t>
            </a:r>
            <a:r>
              <a:rPr lang="en-US" altLang="zh-CN" sz="2000" dirty="0"/>
              <a:t>G[S] </a:t>
            </a:r>
            <a:r>
              <a:rPr lang="zh-CN" altLang="en-US" sz="2000" dirty="0"/>
              <a:t>的增广文法为 </a:t>
            </a:r>
            <a:r>
              <a:rPr lang="en-US" altLang="zh-CN" sz="2000" dirty="0"/>
              <a:t>G’ [S’], </a:t>
            </a:r>
            <a:r>
              <a:rPr lang="zh-CN" altLang="en-US" sz="2000" dirty="0"/>
              <a:t>则 </a:t>
            </a:r>
            <a:r>
              <a:rPr lang="en-US" altLang="zh-CN" sz="2000" dirty="0"/>
              <a:t>G’</a:t>
            </a:r>
            <a:r>
              <a:rPr lang="zh-CN" altLang="en-US" sz="2000" dirty="0"/>
              <a:t>的 </a:t>
            </a:r>
            <a:r>
              <a:rPr lang="en-US" altLang="zh-CN" sz="2000" dirty="0"/>
              <a:t>LR</a:t>
            </a: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 smtClean="0"/>
              <a:t>）项目集簇的初态：</a:t>
            </a:r>
            <a:r>
              <a:rPr lang="zh-CN" altLang="en-US" sz="2000" dirty="0" smtClean="0">
                <a:solidFill>
                  <a:srgbClr val="FF0000"/>
                </a:solidFill>
              </a:rPr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I</a:t>
            </a:r>
            <a:r>
              <a:rPr lang="en-US" altLang="zh-CN" sz="2000" baseline="-25000" dirty="0">
                <a:solidFill>
                  <a:srgbClr val="FF0000"/>
                </a:solidFill>
              </a:rPr>
              <a:t>0</a:t>
            </a:r>
            <a:r>
              <a:rPr lang="en-US" altLang="zh-CN" sz="2000" dirty="0">
                <a:solidFill>
                  <a:srgbClr val="FF0000"/>
                </a:solidFill>
              </a:rPr>
              <a:t> = CLOSURE( { [S’</a:t>
            </a:r>
            <a:r>
              <a:rPr lang="en-US" altLang="zh-CN" sz="2000" dirty="0">
                <a:solidFill>
                  <a:srgbClr val="FF0000"/>
                </a:solidFill>
                <a:sym typeface="Symbol" pitchFamily="18" charset="2"/>
              </a:rPr>
              <a:t>.</a:t>
            </a:r>
            <a:r>
              <a:rPr lang="en-US" altLang="zh-CN" sz="2000" dirty="0">
                <a:solidFill>
                  <a:srgbClr val="FF0000"/>
                </a:solidFill>
              </a:rPr>
              <a:t>S</a:t>
            </a:r>
            <a:r>
              <a:rPr lang="zh-CN" altLang="en-US" sz="2000" dirty="0">
                <a:solidFill>
                  <a:srgbClr val="FF0000"/>
                </a:solidFill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</a:rPr>
              <a:t>#] } </a:t>
            </a:r>
            <a:r>
              <a:rPr lang="en-US" altLang="zh-CN" sz="2000" dirty="0" smtClean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7307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7" name="Rectangle 10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latin typeface="宋体" pitchFamily="2" charset="-122"/>
              </a:rPr>
              <a:t>LR(0)</a:t>
            </a:r>
            <a:r>
              <a:rPr lang="zh-CN" altLang="en-US" sz="3200" b="1" dirty="0">
                <a:latin typeface="宋体" pitchFamily="2" charset="-122"/>
              </a:rPr>
              <a:t>分析表的构造</a:t>
            </a:r>
            <a:endParaRPr lang="zh-CN" altLang="en-US" sz="3200" dirty="0"/>
          </a:p>
        </p:txBody>
      </p:sp>
      <p:sp>
        <p:nvSpPr>
          <p:cNvPr id="344066" name="Text Box 1026"/>
          <p:cNvSpPr txBox="1">
            <a:spLocks noChangeArrowheads="1"/>
          </p:cNvSpPr>
          <p:nvPr/>
        </p:nvSpPr>
        <p:spPr bwMode="auto">
          <a:xfrm>
            <a:off x="609600" y="1066800"/>
            <a:ext cx="82296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Monotype Sorts" pitchFamily="2" charset="2"/>
              <a:buNone/>
            </a:pP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令 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C={I</a:t>
            </a:r>
            <a:r>
              <a:rPr kumimoji="1" lang="en-US" altLang="zh-CN" sz="2000" b="1" baseline="-30000">
                <a:solidFill>
                  <a:srgbClr val="000000"/>
                </a:solidFill>
                <a:latin typeface="宋体" pitchFamily="2" charset="-122"/>
              </a:rPr>
              <a:t>0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，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I</a:t>
            </a:r>
            <a:r>
              <a:rPr kumimoji="1" lang="en-US" altLang="zh-CN" sz="2000" b="1" baseline="-30000">
                <a:solidFill>
                  <a:srgbClr val="000000"/>
                </a:solidFill>
                <a:latin typeface="宋体" pitchFamily="2" charset="-122"/>
              </a:rPr>
              <a:t>1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，</a:t>
            </a:r>
            <a:r>
              <a:rPr kumimoji="1" lang="en-US" altLang="zh-CN" sz="2000" b="1">
                <a:solidFill>
                  <a:srgbClr val="000000"/>
                </a:solidFill>
                <a:latin typeface="Courier New"/>
              </a:rPr>
              <a:t>…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，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I</a:t>
            </a:r>
            <a:r>
              <a:rPr kumimoji="1" lang="en-US" altLang="zh-CN" sz="2000" b="1" baseline="-30000">
                <a:solidFill>
                  <a:srgbClr val="000000"/>
                </a:solidFill>
                <a:latin typeface="宋体" pitchFamily="2" charset="-122"/>
              </a:rPr>
              <a:t>m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}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为 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DFA 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的状态集，以 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I</a:t>
            </a:r>
            <a:r>
              <a:rPr kumimoji="1" lang="en-US" altLang="zh-CN" sz="2000" b="1" baseline="-30000">
                <a:solidFill>
                  <a:srgbClr val="000000"/>
                </a:solidFill>
                <a:latin typeface="宋体" pitchFamily="2" charset="-122"/>
              </a:rPr>
              <a:t>0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=Closure({S</a:t>
            </a:r>
            <a:r>
              <a:rPr kumimoji="1" lang="en-US" altLang="zh-CN" sz="2000" b="1">
                <a:solidFill>
                  <a:srgbClr val="000000"/>
                </a:solidFill>
                <a:latin typeface="Courier New"/>
              </a:rPr>
              <a:t>’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→</a:t>
            </a:r>
            <a:r>
              <a:rPr kumimoji="1" lang="en-US" altLang="zh-CN" sz="2000" b="1">
                <a:solidFill>
                  <a:srgbClr val="000000"/>
                </a:solidFill>
                <a:latin typeface="Courier New"/>
              </a:rPr>
              <a:t>·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S}) 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为初态。用 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k 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表示状态 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I</a:t>
            </a:r>
            <a:r>
              <a:rPr kumimoji="1" lang="en-US" altLang="zh-CN" sz="2000" b="1" baseline="-30000">
                <a:solidFill>
                  <a:srgbClr val="000000"/>
                </a:solidFill>
                <a:latin typeface="宋体" pitchFamily="2" charset="-122"/>
              </a:rPr>
              <a:t>K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，作为行；全部终结符和结束符（＃）作为 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ACTION 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部分的列，全部非终结符作为 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GOTO 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部分的列。</a:t>
            </a:r>
            <a:endParaRPr kumimoji="1" lang="zh-CN" altLang="en-US" sz="200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</p:txBody>
      </p:sp>
      <p:sp>
        <p:nvSpPr>
          <p:cNvPr id="344068" name="Text Box 1028"/>
          <p:cNvSpPr txBox="1">
            <a:spLocks noChangeArrowheads="1"/>
          </p:cNvSpPr>
          <p:nvPr/>
        </p:nvSpPr>
        <p:spPr bwMode="auto">
          <a:xfrm>
            <a:off x="609600" y="2209800"/>
            <a:ext cx="8229600" cy="3416320"/>
          </a:xfrm>
          <a:prstGeom prst="rect">
            <a:avLst/>
          </a:prstGeom>
          <a:ln/>
          <a:ex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Monotype Sorts" pitchFamily="2" charset="2"/>
              <a:buAutoNum type="arabicParenR"/>
            </a:pP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若 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A→</a:t>
            </a:r>
            <a:r>
              <a:rPr lang="en-US" altLang="zh-CN" sz="20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α∙aβ 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属于 </a:t>
            </a:r>
            <a:r>
              <a:rPr lang="en-US" altLang="zh-CN" sz="2000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lang="en-US" altLang="zh-CN" sz="2000" b="1" baseline="-25000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k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且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GO(</a:t>
            </a:r>
            <a:r>
              <a:rPr lang="en-US" altLang="zh-CN" sz="2000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lang="en-US" altLang="zh-CN" sz="2000" b="1" baseline="-25000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k</a:t>
            </a:r>
            <a:r>
              <a:rPr lang="en-US" altLang="zh-CN" sz="2000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,a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)=</a:t>
            </a:r>
            <a:r>
              <a:rPr lang="en-US" altLang="zh-CN" sz="2000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lang="en-US" altLang="zh-CN" sz="2000" b="1" baseline="-25000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j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，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a 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为终结符，</a:t>
            </a:r>
            <a:b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</a:b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置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ACTION[</a:t>
            </a:r>
            <a:r>
              <a:rPr lang="en-US" altLang="zh-CN" sz="2000" b="1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k,a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]=</a:t>
            </a:r>
            <a:r>
              <a:rPr lang="en-US" altLang="zh-CN" sz="2000" b="1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S</a:t>
            </a:r>
            <a:r>
              <a:rPr lang="en-US" altLang="zh-CN" sz="2000" b="1" baseline="-25000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j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，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“把（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j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，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a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）移进栈”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。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Monotype Sorts" pitchFamily="2" charset="2"/>
              <a:buAutoNum type="arabicParenR"/>
            </a:pP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若 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A→</a:t>
            </a:r>
            <a:r>
              <a:rPr lang="en-US" altLang="zh-CN" sz="20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α∙ 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属于 </a:t>
            </a:r>
            <a:r>
              <a:rPr lang="en-US" altLang="zh-CN" sz="2000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lang="en-US" altLang="zh-CN" sz="2000" b="1" baseline="-25000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k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，那么对任何终结符 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a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（或结束符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#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），</a:t>
            </a:r>
            <a:b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</a:b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置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ACTION[</a:t>
            </a:r>
            <a:r>
              <a:rPr lang="en-US" altLang="zh-CN" sz="2000" b="1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k,a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]=</a:t>
            </a:r>
            <a:r>
              <a:rPr lang="en-US" altLang="zh-CN" sz="2000" b="1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r</a:t>
            </a:r>
            <a:r>
              <a:rPr lang="en-US" altLang="zh-CN" sz="2000" b="1" baseline="-25000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j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，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“用第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j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条规则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A→α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进行归约”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。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Monotype Sorts" pitchFamily="2" charset="2"/>
              <a:buAutoNum type="arabicParenR"/>
            </a:pP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若 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GO(</a:t>
            </a:r>
            <a:r>
              <a:rPr lang="en-US" altLang="zh-CN" sz="2000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lang="en-US" altLang="zh-CN" sz="2000" b="1" baseline="-25000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k</a:t>
            </a:r>
            <a:r>
              <a:rPr lang="en-US" altLang="zh-CN" sz="2000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,A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)=</a:t>
            </a:r>
            <a:r>
              <a:rPr lang="en-US" altLang="zh-CN" sz="2000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lang="en-US" altLang="zh-CN" sz="2000" b="1" baseline="-25000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j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，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A 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为非终结符，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置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GOTO[k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，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A]=j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。表示当前状态为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k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时，遇文法符号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A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时状态应转向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j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，因此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A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移入文法符号栈，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j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移入状态栈。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Monotype Sorts" pitchFamily="2" charset="2"/>
              <a:buAutoNum type="arabicParenR"/>
            </a:pP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若 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S’→S· 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属于 </a:t>
            </a:r>
            <a:r>
              <a:rPr lang="en-US" altLang="zh-CN" sz="2000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lang="en-US" altLang="zh-CN" sz="2000" b="1" baseline="-25000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k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，</a:t>
            </a:r>
            <a:b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</a:b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置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ACTION[k,#]=</a:t>
            </a:r>
            <a:r>
              <a:rPr lang="en-US" altLang="zh-CN" sz="2000" b="1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acc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，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“接受”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。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Monotype Sorts" pitchFamily="2" charset="2"/>
              <a:buAutoNum type="arabicParenR"/>
            </a:pP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分析表中凡未用上述规则填入信息的空白均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置上“报错标志”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。</a:t>
            </a:r>
          </a:p>
        </p:txBody>
      </p:sp>
      <p:sp>
        <p:nvSpPr>
          <p:cNvPr id="344069" name="Text Box 1029"/>
          <p:cNvSpPr txBox="1">
            <a:spLocks noChangeArrowheads="1"/>
          </p:cNvSpPr>
          <p:nvPr/>
        </p:nvSpPr>
        <p:spPr bwMode="auto">
          <a:xfrm>
            <a:off x="609600" y="5638800"/>
            <a:ext cx="82296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Monotype Sorts" pitchFamily="2" charset="2"/>
              <a:buNone/>
            </a:pPr>
            <a:r>
              <a:rPr kumimoji="1" lang="zh-CN" altLang="en-US" sz="2000" b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如果按上述方法构造的分析表的</a:t>
            </a:r>
            <a:r>
              <a:rPr kumimoji="1" lang="zh-CN" altLang="en-US" sz="2000" b="1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每个入口都是唯一一种动作</a:t>
            </a:r>
            <a:r>
              <a:rPr kumimoji="1" lang="zh-CN" altLang="en-US" sz="2000" b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（不含多重定义），则称所构造的分析表是</a:t>
            </a:r>
            <a:r>
              <a:rPr kumimoji="1" lang="en-US" altLang="zh-CN" sz="2000" b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LR(0)</a:t>
            </a:r>
            <a:r>
              <a:rPr kumimoji="1" lang="zh-CN" altLang="en-US" sz="2000" b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分析表</a:t>
            </a:r>
            <a:r>
              <a:rPr kumimoji="1" lang="zh-CN" altLang="en-US" sz="2000" b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。能用</a:t>
            </a:r>
            <a:r>
              <a:rPr kumimoji="1" lang="en-US" altLang="zh-CN" sz="2000" b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LR(0)</a:t>
            </a:r>
            <a:r>
              <a:rPr kumimoji="1" lang="zh-CN" altLang="en-US" sz="2000" b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分析表的分析器称为</a:t>
            </a:r>
            <a:r>
              <a:rPr kumimoji="1" lang="en-US" altLang="zh-CN" sz="2000" b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LR(0)</a:t>
            </a:r>
            <a:r>
              <a:rPr kumimoji="1" lang="zh-CN" altLang="en-US" sz="2000" b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分析器；能构造</a:t>
            </a:r>
            <a:r>
              <a:rPr kumimoji="1" lang="en-US" altLang="zh-CN" sz="2000" b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LR(0)</a:t>
            </a:r>
            <a:r>
              <a:rPr kumimoji="1" lang="zh-CN" altLang="en-US" sz="2000" b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分析表的文法称为</a:t>
            </a:r>
            <a:r>
              <a:rPr kumimoji="1" lang="en-US" altLang="zh-CN" sz="2000" b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LR(0)</a:t>
            </a:r>
            <a:r>
              <a:rPr kumimoji="1" lang="zh-CN" altLang="en-US" sz="2000" b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文法。</a:t>
            </a:r>
            <a:endParaRPr kumimoji="1" lang="zh-CN" altLang="en-US" sz="200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572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>
                <a:latin typeface="宋体" pitchFamily="2" charset="-122"/>
              </a:rPr>
              <a:t>SLR(1)</a:t>
            </a:r>
            <a:r>
              <a:rPr lang="zh-CN" altLang="en-US" sz="3200" b="1">
                <a:latin typeface="宋体" pitchFamily="2" charset="-122"/>
              </a:rPr>
              <a:t>分析表的构造 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86052" name="Text Box 4"/>
          <p:cNvSpPr txBox="1">
            <a:spLocks noChangeArrowheads="1"/>
          </p:cNvSpPr>
          <p:nvPr/>
        </p:nvSpPr>
        <p:spPr bwMode="auto">
          <a:xfrm>
            <a:off x="5257800" y="152400"/>
            <a:ext cx="3581400" cy="1311275"/>
          </a:xfrm>
          <a:prstGeom prst="rect">
            <a:avLst/>
          </a:prstGeom>
          <a:ln/>
          <a:ex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SLR(1)</a:t>
            </a:r>
            <a:r>
              <a:rPr kumimoji="1" lang="zh-CN" altLang="en-US" sz="20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分析表的构造过程与 </a:t>
            </a:r>
            <a:r>
              <a:rPr kumimoji="1" lang="en-US" altLang="zh-CN" sz="20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LR(0)</a:t>
            </a:r>
            <a:r>
              <a:rPr kumimoji="1" lang="zh-CN" altLang="en-US" sz="20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分析表的构造过程基本相同。只需注意第</a:t>
            </a:r>
            <a:r>
              <a:rPr kumimoji="1" lang="en-US" altLang="zh-CN" sz="20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(2)</a:t>
            </a:r>
            <a:r>
              <a:rPr kumimoji="1" lang="zh-CN" altLang="en-US" sz="20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步的区别。</a:t>
            </a:r>
            <a:endParaRPr kumimoji="1" lang="zh-CN" altLang="en-US" sz="2400" dirty="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</p:txBody>
      </p:sp>
      <p:sp>
        <p:nvSpPr>
          <p:cNvPr id="386053" name="Text Box 5"/>
          <p:cNvSpPr txBox="1">
            <a:spLocks noChangeArrowheads="1"/>
          </p:cNvSpPr>
          <p:nvPr/>
        </p:nvSpPr>
        <p:spPr bwMode="auto">
          <a:xfrm>
            <a:off x="609600" y="1524000"/>
            <a:ext cx="82296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Monotype Sorts" pitchFamily="2" charset="2"/>
              <a:buNone/>
            </a:pP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令 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C={I</a:t>
            </a:r>
            <a:r>
              <a:rPr kumimoji="1" lang="en-US" altLang="zh-CN" sz="2000" b="1" baseline="-30000">
                <a:solidFill>
                  <a:srgbClr val="000000"/>
                </a:solidFill>
                <a:latin typeface="宋体" pitchFamily="2" charset="-122"/>
              </a:rPr>
              <a:t>0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，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I</a:t>
            </a:r>
            <a:r>
              <a:rPr kumimoji="1" lang="en-US" altLang="zh-CN" sz="2000" b="1" baseline="-30000">
                <a:solidFill>
                  <a:srgbClr val="000000"/>
                </a:solidFill>
                <a:latin typeface="宋体" pitchFamily="2" charset="-122"/>
              </a:rPr>
              <a:t>1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，</a:t>
            </a:r>
            <a:r>
              <a:rPr kumimoji="1" lang="en-US" altLang="zh-CN" sz="2000" b="1">
                <a:solidFill>
                  <a:srgbClr val="000000"/>
                </a:solidFill>
                <a:latin typeface="Courier New"/>
              </a:rPr>
              <a:t>…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，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I</a:t>
            </a:r>
            <a:r>
              <a:rPr kumimoji="1" lang="en-US" altLang="zh-CN" sz="2000" b="1" baseline="-30000">
                <a:solidFill>
                  <a:srgbClr val="000000"/>
                </a:solidFill>
                <a:latin typeface="宋体" pitchFamily="2" charset="-122"/>
              </a:rPr>
              <a:t>m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}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为 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DFA 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的状态集，以 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I</a:t>
            </a:r>
            <a:r>
              <a:rPr kumimoji="1" lang="en-US" altLang="zh-CN" sz="2000" b="1" baseline="-30000">
                <a:solidFill>
                  <a:srgbClr val="000000"/>
                </a:solidFill>
                <a:latin typeface="宋体" pitchFamily="2" charset="-122"/>
              </a:rPr>
              <a:t>0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=Closure({S</a:t>
            </a:r>
            <a:r>
              <a:rPr kumimoji="1" lang="en-US" altLang="zh-CN" sz="2000" b="1">
                <a:solidFill>
                  <a:srgbClr val="000000"/>
                </a:solidFill>
                <a:latin typeface="Courier New"/>
              </a:rPr>
              <a:t>’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→</a:t>
            </a:r>
            <a:r>
              <a:rPr kumimoji="1" lang="en-US" altLang="zh-CN" sz="2000" b="1">
                <a:solidFill>
                  <a:srgbClr val="000000"/>
                </a:solidFill>
                <a:latin typeface="Courier New"/>
              </a:rPr>
              <a:t>·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S}) 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为初态。用 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k 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表示状态 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I</a:t>
            </a:r>
            <a:r>
              <a:rPr kumimoji="1" lang="en-US" altLang="zh-CN" sz="2000" b="1" baseline="-30000">
                <a:solidFill>
                  <a:srgbClr val="000000"/>
                </a:solidFill>
                <a:latin typeface="宋体" pitchFamily="2" charset="-122"/>
              </a:rPr>
              <a:t>K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，作为行；全部终结符和结束符作为 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ACTION 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部分的列，全部非终结符作为 </a:t>
            </a:r>
            <a:r>
              <a:rPr kumimoji="1" lang="en-US" altLang="zh-CN" sz="2000" b="1">
                <a:solidFill>
                  <a:srgbClr val="000000"/>
                </a:solidFill>
                <a:latin typeface="宋体" pitchFamily="2" charset="-122"/>
              </a:rPr>
              <a:t>GOTO </a:t>
            </a:r>
            <a:r>
              <a:rPr kumimoji="1" lang="zh-CN" altLang="en-US" sz="2000" b="1">
                <a:solidFill>
                  <a:srgbClr val="000000"/>
                </a:solidFill>
                <a:latin typeface="宋体" pitchFamily="2" charset="-122"/>
              </a:rPr>
              <a:t>部分的列。</a:t>
            </a:r>
            <a:endParaRPr kumimoji="1" lang="zh-CN" altLang="en-US" sz="200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</p:txBody>
      </p:sp>
      <p:sp>
        <p:nvSpPr>
          <p:cNvPr id="386054" name="Text Box 6"/>
          <p:cNvSpPr txBox="1">
            <a:spLocks noChangeArrowheads="1"/>
          </p:cNvSpPr>
          <p:nvPr/>
        </p:nvSpPr>
        <p:spPr bwMode="auto">
          <a:xfrm>
            <a:off x="609600" y="2593975"/>
            <a:ext cx="8229600" cy="3108543"/>
          </a:xfrm>
          <a:prstGeom prst="rect">
            <a:avLst/>
          </a:prstGeom>
          <a:ln/>
          <a:ex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Monotype Sorts" pitchFamily="2" charset="2"/>
              <a:buAutoNum type="arabicParenR"/>
            </a:pP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若 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A→</a:t>
            </a:r>
            <a:r>
              <a:rPr lang="en-US" altLang="zh-CN" sz="20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α∙aβ 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属于 </a:t>
            </a:r>
            <a:r>
              <a:rPr lang="en-US" altLang="zh-CN" sz="2000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lang="en-US" altLang="zh-CN" sz="2000" b="1" baseline="-25000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k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，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GO(</a:t>
            </a:r>
            <a:r>
              <a:rPr lang="en-US" altLang="zh-CN" sz="2000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lang="en-US" altLang="zh-CN" sz="2000" b="1" baseline="-25000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k</a:t>
            </a:r>
            <a:r>
              <a:rPr lang="en-US" altLang="zh-CN" sz="2000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,a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)=</a:t>
            </a:r>
            <a:r>
              <a:rPr lang="en-US" altLang="zh-CN" sz="2000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lang="en-US" altLang="zh-CN" sz="2000" b="1" baseline="-25000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j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，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a 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为终结符，</a:t>
            </a:r>
            <a:b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</a:b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置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ACTION[</a:t>
            </a:r>
            <a:r>
              <a:rPr lang="en-US" altLang="zh-CN" sz="2000" b="1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k,a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]=</a:t>
            </a:r>
            <a:r>
              <a:rPr lang="en-US" altLang="zh-CN" sz="2000" b="1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S</a:t>
            </a:r>
            <a:r>
              <a:rPr lang="en-US" altLang="zh-CN" sz="2000" b="1" baseline="-25000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j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，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“把（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j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，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a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）移进栈”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。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Monotype Sorts" pitchFamily="2" charset="2"/>
              <a:buAutoNum type="arabicParenR"/>
            </a:pP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若 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A→</a:t>
            </a:r>
            <a:r>
              <a:rPr lang="en-US" altLang="zh-CN" sz="2000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α∙ 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属于 </a:t>
            </a:r>
            <a:r>
              <a:rPr lang="en-US" altLang="zh-CN" sz="2000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lang="en-US" altLang="zh-CN" sz="2000" b="1" baseline="-25000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k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，</a:t>
            </a:r>
            <a:r>
              <a:rPr lang="zh-CN" altLang="en-US" sz="20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对任何</a:t>
            </a:r>
            <a:r>
              <a:rPr lang="en-US" altLang="zh-CN" sz="2000" b="1" dirty="0" err="1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a∈V</a:t>
            </a:r>
            <a:r>
              <a:rPr lang="en-US" altLang="zh-CN" sz="2000" b="1" baseline="-30000" dirty="0" err="1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T</a:t>
            </a:r>
            <a:r>
              <a:rPr lang="zh-CN" altLang="en-US" sz="20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（或结束符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#</a:t>
            </a:r>
            <a:r>
              <a:rPr lang="zh-CN" altLang="en-US" sz="20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）属于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FOLLOW(A)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，</a:t>
            </a:r>
            <a:b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</a:b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置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ACTION[</a:t>
            </a:r>
            <a:r>
              <a:rPr lang="en-US" altLang="zh-CN" sz="2000" b="1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k,a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]=</a:t>
            </a:r>
            <a:r>
              <a:rPr lang="en-US" altLang="zh-CN" sz="2000" b="1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r</a:t>
            </a:r>
            <a:r>
              <a:rPr lang="en-US" altLang="zh-CN" sz="2000" b="1" baseline="-25000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j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，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“用第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j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条规则</a:t>
            </a:r>
            <a:r>
              <a:rPr lang="en-US" altLang="zh-CN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A→α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进行归约”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。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Monotype Sorts" pitchFamily="2" charset="2"/>
              <a:buAutoNum type="arabicParenR"/>
            </a:pP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若 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GO(</a:t>
            </a:r>
            <a:r>
              <a:rPr lang="en-US" altLang="zh-CN" sz="2000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lang="en-US" altLang="zh-CN" sz="2000" b="1" baseline="-25000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k</a:t>
            </a:r>
            <a:r>
              <a:rPr lang="en-US" altLang="zh-CN" sz="2000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,A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)=</a:t>
            </a:r>
            <a:r>
              <a:rPr lang="en-US" altLang="zh-CN" sz="2000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lang="en-US" altLang="zh-CN" sz="2000" b="1" baseline="-25000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j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，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A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为非终结符，</a:t>
            </a:r>
            <a:b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</a:b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置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GOTO[k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，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A]=j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。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Monotype Sorts" pitchFamily="2" charset="2"/>
              <a:buAutoNum type="arabicParenR"/>
            </a:pP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若 </a:t>
            </a:r>
            <a:r>
              <a:rPr lang="en-US" altLang="zh-CN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S’→S· 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属于 </a:t>
            </a:r>
            <a:r>
              <a:rPr lang="en-US" altLang="zh-CN" sz="2000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lang="en-US" altLang="zh-CN" sz="2000" b="1" baseline="-25000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k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，</a:t>
            </a:r>
            <a:b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</a:b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置 </a:t>
            </a:r>
            <a:r>
              <a:rPr lang="en-US" altLang="zh-CN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ACTION[k</a:t>
            </a:r>
            <a:r>
              <a:rPr lang="en-US" altLang="zh-CN" sz="2000" b="1" dirty="0" smtClean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,#]=</a:t>
            </a:r>
            <a:r>
              <a:rPr lang="en-US" altLang="zh-CN" sz="2000" b="1" dirty="0" err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acc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，</a:t>
            </a:r>
            <a:r>
              <a:rPr lang="zh-CN" altLang="en-US" sz="2000" b="1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“接受”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。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Monotype Sorts" pitchFamily="2" charset="2"/>
              <a:buAutoNum type="arabicParenR"/>
            </a:pP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分析表中凡未用上述规则填入信息的空白均</a:t>
            </a:r>
            <a:r>
              <a:rPr lang="zh-CN" altLang="en-US" sz="2000" b="1" dirty="0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置上“报错标志”</a:t>
            </a:r>
            <a:r>
              <a:rPr lang="zh-CN" altLang="en-US" sz="20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。</a:t>
            </a:r>
          </a:p>
        </p:txBody>
      </p:sp>
      <p:sp>
        <p:nvSpPr>
          <p:cNvPr id="386055" name="Text Box 7"/>
          <p:cNvSpPr txBox="1">
            <a:spLocks noChangeArrowheads="1"/>
          </p:cNvSpPr>
          <p:nvPr/>
        </p:nvSpPr>
        <p:spPr bwMode="auto">
          <a:xfrm>
            <a:off x="609600" y="5967413"/>
            <a:ext cx="82296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B2B2B2"/>
              </a:buClr>
              <a:buFont typeface="Monotype Sorts" pitchFamily="2" charset="2"/>
              <a:buNone/>
            </a:pPr>
            <a:r>
              <a:rPr kumimoji="1" lang="zh-CN" altLang="en-US" sz="2000" b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如果按上述方法构造的分析表的每个入口都是唯一一种动作，则称所构造的分析表是 </a:t>
            </a:r>
            <a:r>
              <a:rPr kumimoji="1" lang="en-US" altLang="zh-CN" sz="2000" b="1">
                <a:solidFill>
                  <a:srgbClr val="3333CC"/>
                </a:solidFill>
                <a:latin typeface="Courier New" pitchFamily="49" charset="0"/>
                <a:ea typeface="幼圆" pitchFamily="49" charset="-122"/>
              </a:rPr>
              <a:t>S</a:t>
            </a:r>
            <a:r>
              <a:rPr kumimoji="1" lang="en-US" altLang="zh-CN" sz="2000" b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LR(1) </a:t>
            </a:r>
            <a:r>
              <a:rPr kumimoji="1" lang="zh-CN" altLang="en-US" sz="2000" b="1">
                <a:solidFill>
                  <a:srgbClr val="0000CC"/>
                </a:solidFill>
                <a:latin typeface="Courier New" pitchFamily="49" charset="0"/>
                <a:ea typeface="幼圆" pitchFamily="49" charset="-122"/>
              </a:rPr>
              <a:t>分析表</a:t>
            </a:r>
            <a:r>
              <a:rPr kumimoji="1" lang="zh-CN" altLang="en-US" sz="2000" b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。</a:t>
            </a:r>
            <a:endParaRPr kumimoji="1" lang="zh-CN" altLang="en-US" sz="200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5784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latin typeface="宋体" pitchFamily="2" charset="-122"/>
              </a:rPr>
              <a:t>LR(1)</a:t>
            </a:r>
            <a:r>
              <a:rPr lang="zh-CN" altLang="en-US" sz="3200" b="1" dirty="0">
                <a:latin typeface="宋体" pitchFamily="2" charset="-122"/>
              </a:rPr>
              <a:t>分析表的构造</a:t>
            </a:r>
            <a:endParaRPr lang="zh-CN" altLang="en-US" dirty="0"/>
          </a:p>
        </p:txBody>
      </p:sp>
      <p:sp>
        <p:nvSpPr>
          <p:cNvPr id="414722" name="Text Box 2"/>
          <p:cNvSpPr txBox="1">
            <a:spLocks noChangeArrowheads="1"/>
          </p:cNvSpPr>
          <p:nvPr/>
        </p:nvSpPr>
        <p:spPr bwMode="auto">
          <a:xfrm>
            <a:off x="525117" y="1268733"/>
            <a:ext cx="8229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lvl="1"/>
            <a:r>
              <a:rPr lang="zh-CN" altLang="en-US" sz="2400" b="1" dirty="0" smtClean="0"/>
              <a:t>假定</a:t>
            </a:r>
            <a:r>
              <a:rPr lang="en-US" altLang="zh-CN" sz="2400" b="1" dirty="0"/>
              <a:t>C</a:t>
            </a:r>
            <a:r>
              <a:rPr lang="en-US" altLang="zh-CN" sz="2400" dirty="0"/>
              <a:t>={I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, I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,…</a:t>
            </a:r>
            <a:r>
              <a:rPr lang="zh-CN" altLang="en-US" sz="2400" dirty="0"/>
              <a:t>，</a:t>
            </a:r>
            <a:r>
              <a:rPr lang="en-US" altLang="zh-CN" sz="2400" dirty="0"/>
              <a:t>I</a:t>
            </a:r>
            <a:r>
              <a:rPr lang="en-US" altLang="zh-CN" sz="2400" baseline="-25000" dirty="0"/>
              <a:t>n</a:t>
            </a:r>
            <a:r>
              <a:rPr lang="en-US" altLang="zh-CN" sz="2400" dirty="0"/>
              <a:t>}</a:t>
            </a:r>
            <a:r>
              <a:rPr lang="zh-CN" altLang="en-US" sz="2400" b="1" dirty="0"/>
              <a:t>，令状态</a:t>
            </a:r>
            <a:r>
              <a:rPr lang="en-US" altLang="zh-CN" sz="2400" dirty="0" err="1"/>
              <a:t>I</a:t>
            </a:r>
            <a:r>
              <a:rPr lang="en-US" altLang="zh-CN" sz="2400" baseline="-25000" dirty="0" err="1"/>
              <a:t>k</a:t>
            </a:r>
            <a:r>
              <a:rPr lang="zh-CN" altLang="en-US" sz="2400" b="1" dirty="0"/>
              <a:t>对应的 </a:t>
            </a:r>
            <a:r>
              <a:rPr lang="en-US" altLang="zh-CN" sz="2400" dirty="0"/>
              <a:t>LR</a:t>
            </a: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zh-CN" altLang="en-US" sz="2400" b="1" dirty="0"/>
              <a:t>分析表 的栈顶状态为</a:t>
            </a:r>
            <a:r>
              <a:rPr lang="en-US" altLang="zh-CN" sz="2400" dirty="0"/>
              <a:t>k</a:t>
            </a:r>
            <a:r>
              <a:rPr lang="zh-CN" altLang="en-US" sz="2400" b="1" dirty="0"/>
              <a:t>；令含有项目</a:t>
            </a:r>
            <a:r>
              <a:rPr lang="en-US" altLang="zh-CN" sz="2400" dirty="0"/>
              <a:t>[</a:t>
            </a:r>
            <a:r>
              <a:rPr lang="en-US" altLang="zh-CN" sz="2400" i="1" dirty="0"/>
              <a:t>S’</a:t>
            </a:r>
            <a:r>
              <a:rPr lang="en-US" altLang="zh-CN" sz="2400" dirty="0">
                <a:sym typeface="Symbol" pitchFamily="18" charset="2"/>
              </a:rPr>
              <a:t></a:t>
            </a:r>
            <a:r>
              <a:rPr lang="en-US" altLang="zh-CN" sz="2400" dirty="0"/>
              <a:t>.</a:t>
            </a:r>
            <a:r>
              <a:rPr lang="en-US" altLang="zh-CN" sz="2400" i="1" dirty="0"/>
              <a:t>S</a:t>
            </a:r>
            <a:r>
              <a:rPr lang="zh-CN" altLang="en-US" sz="2400" i="1" dirty="0"/>
              <a:t>，</a:t>
            </a:r>
            <a:r>
              <a:rPr lang="en-US" altLang="zh-CN" sz="2400" i="1" dirty="0"/>
              <a:t># </a:t>
            </a:r>
            <a:r>
              <a:rPr lang="en-US" altLang="zh-CN" sz="2400" dirty="0"/>
              <a:t>]</a:t>
            </a:r>
            <a:r>
              <a:rPr lang="zh-CN" altLang="en-US" sz="2400" b="1" dirty="0"/>
              <a:t>的状态为</a:t>
            </a:r>
            <a:r>
              <a:rPr lang="en-US" altLang="zh-CN" sz="2400" dirty="0"/>
              <a:t>I</a:t>
            </a:r>
            <a:r>
              <a:rPr lang="en-US" altLang="zh-CN" sz="2400" baseline="-25000" dirty="0"/>
              <a:t>0</a:t>
            </a:r>
            <a:r>
              <a:rPr lang="en-US" altLang="zh-CN" sz="2400" b="1" dirty="0"/>
              <a:t>, </a:t>
            </a:r>
            <a:r>
              <a:rPr lang="zh-CN" altLang="en-US" sz="2400" b="1" dirty="0"/>
              <a:t>因此 </a:t>
            </a:r>
            <a:r>
              <a:rPr lang="en-US" altLang="zh-CN" sz="2400" dirty="0"/>
              <a:t>0 </a:t>
            </a:r>
            <a:r>
              <a:rPr lang="zh-CN" altLang="en-US" sz="2400" b="1" dirty="0"/>
              <a:t>为初态。</a:t>
            </a:r>
            <a:r>
              <a:rPr lang="en-US" altLang="zh-CN" sz="2400" dirty="0"/>
              <a:t>ACTION </a:t>
            </a:r>
            <a:r>
              <a:rPr lang="zh-CN" altLang="en-US" sz="2400" b="1" dirty="0"/>
              <a:t>表项和 </a:t>
            </a:r>
            <a:r>
              <a:rPr lang="en-US" altLang="zh-CN" sz="2400" dirty="0"/>
              <a:t>GOTO </a:t>
            </a:r>
            <a:r>
              <a:rPr lang="zh-CN" altLang="en-US" sz="2400" b="1" dirty="0"/>
              <a:t>表项可按如下方 法构造：</a:t>
            </a:r>
          </a:p>
        </p:txBody>
      </p:sp>
      <p:sp>
        <p:nvSpPr>
          <p:cNvPr id="414723" name="Text Box 3"/>
          <p:cNvSpPr txBox="1">
            <a:spLocks noChangeArrowheads="1"/>
          </p:cNvSpPr>
          <p:nvPr/>
        </p:nvSpPr>
        <p:spPr bwMode="auto">
          <a:xfrm>
            <a:off x="609600" y="2593975"/>
            <a:ext cx="8229600" cy="4293483"/>
          </a:xfrm>
          <a:prstGeom prst="rect">
            <a:avLst/>
          </a:prstGeom>
          <a:ln/>
          <a:ex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lvl="1">
              <a:buClrTx/>
              <a:buFont typeface="Symbol" pitchFamily="18" charset="2"/>
              <a:buNone/>
            </a:pPr>
            <a:endParaRPr lang="zh-CN" altLang="en-US" sz="900" b="1" dirty="0"/>
          </a:p>
          <a:p>
            <a:pPr marL="457200" lvl="1">
              <a:buAutoNum type="arabicParenR"/>
            </a:pPr>
            <a:r>
              <a:rPr kumimoji="0" lang="zh-CN" altLang="en-US" b="1" dirty="0" smtClean="0"/>
              <a:t>若</a:t>
            </a:r>
            <a:r>
              <a:rPr kumimoji="0" lang="zh-CN" altLang="en-US" b="1" dirty="0"/>
              <a:t>项目</a:t>
            </a:r>
            <a:r>
              <a:rPr kumimoji="0" lang="en-US" altLang="zh-CN" dirty="0">
                <a:solidFill>
                  <a:srgbClr val="FF0000"/>
                </a:solidFill>
              </a:rPr>
              <a:t>[A</a:t>
            </a:r>
            <a:r>
              <a:rPr lang="en-US" altLang="zh-CN" dirty="0">
                <a:solidFill>
                  <a:srgbClr val="FF0000"/>
                </a:solidFill>
                <a:sym typeface="Symbol" pitchFamily="18" charset="2"/>
              </a:rPr>
              <a:t></a:t>
            </a:r>
            <a:r>
              <a:rPr kumimoji="0" lang="en-US" altLang="zh-CN" b="1" dirty="0">
                <a:solidFill>
                  <a:srgbClr val="FF0000"/>
                </a:solidFill>
              </a:rPr>
              <a:t>α.</a:t>
            </a:r>
            <a:r>
              <a:rPr kumimoji="0" lang="en-US" altLang="zh-CN" dirty="0">
                <a:solidFill>
                  <a:srgbClr val="FF0000"/>
                </a:solidFill>
              </a:rPr>
              <a:t>a</a:t>
            </a:r>
            <a:r>
              <a:rPr kumimoji="0" lang="en-US" altLang="zh-CN" b="1" dirty="0">
                <a:solidFill>
                  <a:srgbClr val="FF0000"/>
                </a:solidFill>
              </a:rPr>
              <a:t>β, </a:t>
            </a:r>
            <a:r>
              <a:rPr kumimoji="0" lang="en-US" altLang="zh-CN" dirty="0">
                <a:solidFill>
                  <a:srgbClr val="FF0000"/>
                </a:solidFill>
              </a:rPr>
              <a:t>b]</a:t>
            </a:r>
            <a:r>
              <a:rPr kumimoji="0" lang="zh-CN" altLang="en-US" b="1" dirty="0"/>
              <a:t>属于 </a:t>
            </a:r>
            <a:r>
              <a:rPr kumimoji="0" lang="en-US" altLang="zh-CN" dirty="0" err="1"/>
              <a:t>I</a:t>
            </a:r>
            <a:r>
              <a:rPr kumimoji="0" lang="en-US" altLang="zh-CN" baseline="-25000" dirty="0" err="1"/>
              <a:t>k</a:t>
            </a:r>
            <a:r>
              <a:rPr kumimoji="0" lang="en-US" altLang="zh-CN" baseline="-25000" dirty="0"/>
              <a:t> </a:t>
            </a:r>
            <a:r>
              <a:rPr kumimoji="0" lang="zh-CN" altLang="en-US" b="1" dirty="0"/>
              <a:t>且 </a:t>
            </a:r>
            <a:r>
              <a:rPr kumimoji="0" lang="en-US" altLang="zh-CN" dirty="0"/>
              <a:t>GO (</a:t>
            </a:r>
            <a:r>
              <a:rPr kumimoji="0" lang="en-US" altLang="zh-CN" dirty="0" err="1"/>
              <a:t>I</a:t>
            </a:r>
            <a:r>
              <a:rPr kumimoji="0" lang="en-US" altLang="zh-CN" baseline="-25000" dirty="0" err="1"/>
              <a:t>k</a:t>
            </a:r>
            <a:r>
              <a:rPr kumimoji="0" lang="en-US" altLang="zh-CN" dirty="0"/>
              <a:t>, a)= </a:t>
            </a:r>
            <a:r>
              <a:rPr kumimoji="0" lang="en-US" altLang="zh-CN" dirty="0" err="1"/>
              <a:t>I</a:t>
            </a:r>
            <a:r>
              <a:rPr kumimoji="0" lang="en-US" altLang="zh-CN" baseline="-25000" dirty="0" err="1"/>
              <a:t>j</a:t>
            </a:r>
            <a:r>
              <a:rPr kumimoji="0" lang="en-US" altLang="zh-CN" dirty="0"/>
              <a:t>, a </a:t>
            </a:r>
            <a:r>
              <a:rPr kumimoji="0" lang="zh-CN" altLang="en-US" b="1" dirty="0"/>
              <a:t>为终结符，则</a:t>
            </a:r>
            <a:r>
              <a:rPr kumimoji="0" lang="zh-CN" altLang="en-US" b="1" dirty="0" smtClean="0"/>
              <a:t>置</a:t>
            </a:r>
            <a:r>
              <a:rPr kumimoji="0" lang="zh-CN" altLang="en-US" dirty="0" smtClean="0"/>
              <a:t> </a:t>
            </a:r>
            <a:r>
              <a:rPr kumimoji="0" lang="en-US" altLang="zh-CN" dirty="0"/>
              <a:t>ACTION[k, a] </a:t>
            </a:r>
            <a:r>
              <a:rPr kumimoji="0" lang="zh-CN" altLang="en-US" b="1" dirty="0"/>
              <a:t>为“把状态</a:t>
            </a:r>
            <a:r>
              <a:rPr kumimoji="0" lang="en-US" altLang="zh-CN" dirty="0"/>
              <a:t>j</a:t>
            </a:r>
            <a:r>
              <a:rPr kumimoji="0" lang="zh-CN" altLang="en-US" b="1" dirty="0"/>
              <a:t>和符号</a:t>
            </a:r>
            <a:r>
              <a:rPr kumimoji="0" lang="en-US" altLang="zh-CN" dirty="0"/>
              <a:t>a</a:t>
            </a:r>
            <a:r>
              <a:rPr kumimoji="0" lang="zh-CN" altLang="en-US" b="1" dirty="0"/>
              <a:t>移进栈”，简记为“</a:t>
            </a:r>
            <a:r>
              <a:rPr kumimoji="0" lang="en-US" altLang="zh-CN" dirty="0" err="1"/>
              <a:t>sj</a:t>
            </a:r>
            <a:r>
              <a:rPr kumimoji="0" lang="en-US" altLang="zh-CN" b="1" dirty="0" smtClean="0"/>
              <a:t>”</a:t>
            </a:r>
          </a:p>
          <a:p>
            <a:pPr marL="457200" lvl="1">
              <a:buAutoNum type="arabicParenR"/>
            </a:pPr>
            <a:r>
              <a:rPr kumimoji="0" lang="en-US" altLang="zh-CN" b="1" dirty="0" smtClean="0"/>
              <a:t>  </a:t>
            </a:r>
            <a:r>
              <a:rPr kumimoji="0" lang="zh-CN" altLang="en-US" b="1" dirty="0"/>
              <a:t>若项目</a:t>
            </a:r>
            <a:r>
              <a:rPr kumimoji="0" lang="en-US" altLang="zh-CN" dirty="0"/>
              <a:t>[A</a:t>
            </a:r>
            <a:r>
              <a:rPr lang="en-US" altLang="zh-CN" dirty="0">
                <a:sym typeface="Symbol" pitchFamily="18" charset="2"/>
              </a:rPr>
              <a:t></a:t>
            </a:r>
            <a:r>
              <a:rPr kumimoji="0" lang="en-US" altLang="zh-CN" b="1" dirty="0"/>
              <a:t>α. , </a:t>
            </a:r>
            <a:r>
              <a:rPr kumimoji="0" lang="en-US" altLang="zh-CN" dirty="0"/>
              <a:t>b]</a:t>
            </a:r>
            <a:r>
              <a:rPr kumimoji="0" lang="en-US" altLang="zh-CN" b="1" dirty="0"/>
              <a:t> </a:t>
            </a:r>
            <a:r>
              <a:rPr kumimoji="0" lang="zh-CN" altLang="en-US" b="1" dirty="0"/>
              <a:t>属于</a:t>
            </a:r>
            <a:r>
              <a:rPr kumimoji="0" lang="en-US" altLang="zh-CN" dirty="0" err="1"/>
              <a:t>I</a:t>
            </a:r>
            <a:r>
              <a:rPr kumimoji="0" lang="en-US" altLang="zh-CN" baseline="-25000" dirty="0" err="1"/>
              <a:t>k</a:t>
            </a:r>
            <a:r>
              <a:rPr kumimoji="0" lang="en-US" altLang="zh-CN" b="1" dirty="0"/>
              <a:t>, </a:t>
            </a:r>
            <a:r>
              <a:rPr kumimoji="0" lang="zh-CN" altLang="en-US" b="1" dirty="0"/>
              <a:t>那么置</a:t>
            </a:r>
            <a:r>
              <a:rPr kumimoji="0" lang="en-US" altLang="zh-CN" dirty="0"/>
              <a:t>ACTION[k, b]</a:t>
            </a:r>
            <a:r>
              <a:rPr kumimoji="0" lang="zh-CN" altLang="en-US" b="1" dirty="0"/>
              <a:t>为“用产生式</a:t>
            </a:r>
            <a:r>
              <a:rPr kumimoji="0"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</a:t>
            </a:r>
            <a:r>
              <a:rPr kumimoji="0" lang="en-US" altLang="zh-CN" b="1" dirty="0" smtClean="0"/>
              <a:t>α </a:t>
            </a:r>
            <a:r>
              <a:rPr kumimoji="0" lang="zh-CN" altLang="en-US" b="1" dirty="0"/>
              <a:t>进行归约”，简记为“</a:t>
            </a:r>
            <a:r>
              <a:rPr kumimoji="0" lang="en-US" altLang="zh-CN" dirty="0" err="1"/>
              <a:t>rj</a:t>
            </a:r>
            <a:r>
              <a:rPr kumimoji="0" lang="en-US" altLang="zh-CN" b="1" dirty="0"/>
              <a:t>”; </a:t>
            </a:r>
            <a:r>
              <a:rPr kumimoji="0" lang="zh-CN" altLang="en-US" b="1" dirty="0"/>
              <a:t>这里，假定</a:t>
            </a:r>
            <a:r>
              <a:rPr kumimoji="0" lang="en-US" altLang="zh-CN" dirty="0"/>
              <a:t>A</a:t>
            </a:r>
            <a:r>
              <a:rPr lang="en-US" altLang="zh-CN" dirty="0">
                <a:sym typeface="Symbol" pitchFamily="18" charset="2"/>
              </a:rPr>
              <a:t></a:t>
            </a:r>
            <a:r>
              <a:rPr kumimoji="0" lang="en-US" altLang="zh-CN" b="1" dirty="0"/>
              <a:t>α</a:t>
            </a:r>
            <a:r>
              <a:rPr kumimoji="0" lang="zh-CN" altLang="en-US" b="1" dirty="0"/>
              <a:t>为文法</a:t>
            </a:r>
            <a:r>
              <a:rPr kumimoji="0" lang="en-US" altLang="zh-CN" i="1" dirty="0"/>
              <a:t>G’</a:t>
            </a:r>
            <a:r>
              <a:rPr kumimoji="0" lang="zh-CN" altLang="en-US" b="1" dirty="0"/>
              <a:t>的第</a:t>
            </a:r>
            <a:r>
              <a:rPr kumimoji="0" lang="en-US" altLang="zh-CN" dirty="0"/>
              <a:t>j</a:t>
            </a:r>
            <a:r>
              <a:rPr kumimoji="0" lang="zh-CN" altLang="en-US" b="1" dirty="0"/>
              <a:t>个产生</a:t>
            </a:r>
            <a:r>
              <a:rPr kumimoji="0" lang="zh-CN" altLang="en-US" b="1" dirty="0" smtClean="0"/>
              <a:t>式</a:t>
            </a:r>
            <a:endParaRPr kumimoji="0" lang="en-US" altLang="zh-CN" b="1" dirty="0" smtClean="0"/>
          </a:p>
          <a:p>
            <a:pPr marL="457200" lvl="1">
              <a:buAutoNum type="arabicParenR"/>
            </a:pPr>
            <a:r>
              <a:rPr kumimoji="0" lang="zh-CN" altLang="en-US" dirty="0" smtClean="0"/>
              <a:t>  </a:t>
            </a:r>
            <a:r>
              <a:rPr kumimoji="0" lang="zh-CN" altLang="en-US" b="1" dirty="0"/>
              <a:t>若项目</a:t>
            </a:r>
            <a:r>
              <a:rPr kumimoji="0" lang="en-US" altLang="zh-CN" dirty="0"/>
              <a:t>[</a:t>
            </a:r>
            <a:r>
              <a:rPr kumimoji="0" lang="en-US" altLang="zh-CN" i="1" dirty="0"/>
              <a:t>S’</a:t>
            </a:r>
            <a:r>
              <a:rPr lang="en-US" altLang="zh-CN" dirty="0">
                <a:sym typeface="Symbol" pitchFamily="18" charset="2"/>
              </a:rPr>
              <a:t></a:t>
            </a:r>
            <a:r>
              <a:rPr kumimoji="0" lang="en-US" altLang="zh-CN" i="1" dirty="0"/>
              <a:t>S</a:t>
            </a:r>
            <a:r>
              <a:rPr kumimoji="0" lang="en-US" altLang="zh-CN" b="1" dirty="0"/>
              <a:t>.</a:t>
            </a:r>
            <a:r>
              <a:rPr kumimoji="0" lang="en-US" altLang="zh-CN" dirty="0"/>
              <a:t>, #]</a:t>
            </a:r>
            <a:r>
              <a:rPr kumimoji="0" lang="en-US" altLang="zh-CN" b="1" dirty="0"/>
              <a:t> </a:t>
            </a:r>
            <a:r>
              <a:rPr kumimoji="0" lang="zh-CN" altLang="en-US" b="1" dirty="0"/>
              <a:t>属于</a:t>
            </a:r>
            <a:r>
              <a:rPr kumimoji="0" lang="en-US" altLang="zh-CN" dirty="0" err="1"/>
              <a:t>I</a:t>
            </a:r>
            <a:r>
              <a:rPr kumimoji="0" lang="en-US" altLang="zh-CN" baseline="-25000" dirty="0" err="1"/>
              <a:t>k</a:t>
            </a:r>
            <a:r>
              <a:rPr kumimoji="0" lang="en-US" altLang="zh-CN" b="1" dirty="0"/>
              <a:t>, </a:t>
            </a:r>
            <a:r>
              <a:rPr kumimoji="0" lang="zh-CN" altLang="en-US" b="1" dirty="0"/>
              <a:t>则置</a:t>
            </a:r>
            <a:r>
              <a:rPr kumimoji="0" lang="en-US" altLang="zh-CN" dirty="0"/>
              <a:t>ACTION[k, #]</a:t>
            </a:r>
            <a:r>
              <a:rPr kumimoji="0" lang="zh-CN" altLang="en-US" b="1" dirty="0"/>
              <a:t>为“接受”，记为“</a:t>
            </a:r>
            <a:r>
              <a:rPr kumimoji="0" lang="en-US" altLang="zh-CN" dirty="0" err="1"/>
              <a:t>acc</a:t>
            </a:r>
            <a:r>
              <a:rPr kumimoji="0" lang="en-US" altLang="zh-CN" b="1" dirty="0" smtClean="0"/>
              <a:t>”</a:t>
            </a:r>
          </a:p>
          <a:p>
            <a:pPr marL="457200" lvl="1">
              <a:buAutoNum type="arabicParenR"/>
            </a:pPr>
            <a:r>
              <a:rPr kumimoji="0" lang="en-US" altLang="zh-CN" b="1" dirty="0" smtClean="0"/>
              <a:t> </a:t>
            </a:r>
            <a:r>
              <a:rPr kumimoji="0" lang="zh-CN" altLang="en-US" b="1" dirty="0"/>
              <a:t>若</a:t>
            </a:r>
            <a:r>
              <a:rPr kumimoji="0" lang="en-US" altLang="zh-CN" dirty="0"/>
              <a:t>GO (</a:t>
            </a:r>
            <a:r>
              <a:rPr kumimoji="0" lang="en-US" altLang="zh-CN" dirty="0" err="1"/>
              <a:t>I</a:t>
            </a:r>
            <a:r>
              <a:rPr kumimoji="0" lang="en-US" altLang="zh-CN" baseline="-25000" dirty="0" err="1"/>
              <a:t>k</a:t>
            </a:r>
            <a:r>
              <a:rPr kumimoji="0" lang="en-US" altLang="zh-CN" dirty="0"/>
              <a:t>, A)= </a:t>
            </a:r>
            <a:r>
              <a:rPr kumimoji="0" lang="en-US" altLang="zh-CN" dirty="0" err="1"/>
              <a:t>I</a:t>
            </a:r>
            <a:r>
              <a:rPr kumimoji="0" lang="en-US" altLang="zh-CN" baseline="-25000" dirty="0" err="1"/>
              <a:t>j</a:t>
            </a:r>
            <a:r>
              <a:rPr kumimoji="0" lang="en-US" altLang="zh-CN" b="1" dirty="0"/>
              <a:t>,</a:t>
            </a:r>
            <a:r>
              <a:rPr kumimoji="0" lang="en-US" altLang="zh-CN" dirty="0"/>
              <a:t> A</a:t>
            </a:r>
            <a:r>
              <a:rPr kumimoji="0" lang="zh-CN" altLang="en-US" b="1" dirty="0"/>
              <a:t>为非终结符，则置</a:t>
            </a:r>
            <a:r>
              <a:rPr kumimoji="0" lang="en-US" altLang="zh-CN" dirty="0"/>
              <a:t>GOTO(k, A)=j</a:t>
            </a:r>
            <a:r>
              <a:rPr kumimoji="0" lang="en-US" altLang="zh-CN" b="1" dirty="0" smtClean="0"/>
              <a:t>;</a:t>
            </a:r>
          </a:p>
          <a:p>
            <a:pPr marL="457200" lvl="1">
              <a:buAutoNum type="arabicParenR"/>
            </a:pPr>
            <a:r>
              <a:rPr kumimoji="0" lang="en-US" altLang="zh-CN" b="1" dirty="0" smtClean="0"/>
              <a:t> </a:t>
            </a:r>
            <a:r>
              <a:rPr kumimoji="0" lang="zh-CN" altLang="en-US" b="1" dirty="0"/>
              <a:t>分析表中凡不能用上述规则填入信息的空白格均置上</a:t>
            </a:r>
            <a:r>
              <a:rPr kumimoji="0" lang="zh-CN" altLang="en-US" b="1" dirty="0" smtClean="0"/>
              <a:t>“出错标志”</a:t>
            </a:r>
            <a:endParaRPr lang="zh-CN" altLang="en-US" sz="2800" b="1" dirty="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</p:txBody>
      </p:sp>
      <p:sp>
        <p:nvSpPr>
          <p:cNvPr id="414725" name="AutoShape 5"/>
          <p:cNvSpPr>
            <a:spLocks noChangeArrowheads="1"/>
          </p:cNvSpPr>
          <p:nvPr/>
        </p:nvSpPr>
        <p:spPr bwMode="auto">
          <a:xfrm>
            <a:off x="-8283" y="3276600"/>
            <a:ext cx="533400" cy="381000"/>
          </a:xfrm>
          <a:prstGeom prst="irregularSeal1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40458C"/>
              </a:solidFill>
              <a:latin typeface="Courier New" pitchFamily="49" charset="0"/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818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1" name="Rectangle 10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dirty="0">
                <a:latin typeface="宋体" pitchFamily="2" charset="-122"/>
              </a:rPr>
              <a:t>LR(1)</a:t>
            </a:r>
            <a:r>
              <a:rPr lang="zh-CN" altLang="en-US" sz="3200" b="1" dirty="0">
                <a:latin typeface="宋体" pitchFamily="2" charset="-122"/>
              </a:rPr>
              <a:t>与</a:t>
            </a:r>
            <a:r>
              <a:rPr lang="en-US" altLang="zh-CN" sz="3200" b="1" dirty="0">
                <a:latin typeface="宋体" pitchFamily="2" charset="-122"/>
              </a:rPr>
              <a:t>LR(0)</a:t>
            </a:r>
            <a:r>
              <a:rPr lang="zh-CN" altLang="en-US" sz="3200" b="1" dirty="0">
                <a:latin typeface="宋体" pitchFamily="2" charset="-122"/>
              </a:rPr>
              <a:t>及</a:t>
            </a:r>
            <a:r>
              <a:rPr lang="en-US" altLang="zh-CN" sz="3200" b="1" dirty="0">
                <a:latin typeface="宋体" pitchFamily="2" charset="-122"/>
              </a:rPr>
              <a:t>SLR(1)</a:t>
            </a:r>
            <a:r>
              <a:rPr lang="zh-CN" altLang="en-US" sz="3200" b="1" dirty="0">
                <a:latin typeface="宋体" pitchFamily="2" charset="-122"/>
              </a:rPr>
              <a:t>方法的区别</a:t>
            </a:r>
            <a:endParaRPr lang="zh-CN" altLang="en-US" sz="3200" dirty="0">
              <a:latin typeface="宋体" pitchFamily="2" charset="-122"/>
            </a:endParaRPr>
          </a:p>
        </p:txBody>
      </p:sp>
      <p:sp>
        <p:nvSpPr>
          <p:cNvPr id="447490" name="Text Box 1026"/>
          <p:cNvSpPr txBox="1">
            <a:spLocks noChangeArrowheads="1"/>
          </p:cNvSpPr>
          <p:nvPr/>
        </p:nvSpPr>
        <p:spPr bwMode="auto">
          <a:xfrm>
            <a:off x="609600" y="1524000"/>
            <a:ext cx="8229600" cy="111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区别体现在构造分析表算法的</a:t>
            </a:r>
            <a:r>
              <a:rPr kumimoji="1" lang="zh-CN" altLang="en-US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步骤</a:t>
            </a:r>
            <a:r>
              <a:rPr kumimoji="1" lang="en-US" altLang="zh-CN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(2)</a:t>
            </a: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上。</a:t>
            </a:r>
          </a:p>
          <a:p>
            <a:pPr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若项目 </a:t>
            </a:r>
            <a:r>
              <a:rPr kumimoji="1" lang="en-US" altLang="zh-CN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A→α· </a:t>
            </a: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属于 </a:t>
            </a:r>
            <a:r>
              <a:rPr kumimoji="1" lang="en-US" altLang="zh-CN" sz="2400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I</a:t>
            </a:r>
            <a:r>
              <a:rPr kumimoji="1" lang="en-US" altLang="zh-CN" sz="2400" b="1" baseline="-30000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k</a:t>
            </a: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，则当用产生式 </a:t>
            </a:r>
            <a:r>
              <a:rPr kumimoji="1" lang="en-US" altLang="zh-CN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A→α </a:t>
            </a: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归约时：</a:t>
            </a:r>
          </a:p>
        </p:txBody>
      </p:sp>
      <p:sp>
        <p:nvSpPr>
          <p:cNvPr id="447492" name="Text Box 1028"/>
          <p:cNvSpPr txBox="1">
            <a:spLocks noChangeArrowheads="1"/>
          </p:cNvSpPr>
          <p:nvPr/>
        </p:nvSpPr>
        <p:spPr bwMode="auto">
          <a:xfrm>
            <a:off x="609600" y="2687638"/>
            <a:ext cx="8229600" cy="3086100"/>
          </a:xfrm>
          <a:prstGeom prst="rect">
            <a:avLst/>
          </a:prstGeom>
          <a:ln/>
          <a:ex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Tx/>
              <a:buAutoNum type="arabicPeriod"/>
            </a:pP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LR(0)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无论面临什么输入符号都进行归约动作；</a:t>
            </a:r>
          </a:p>
          <a:p>
            <a:pPr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Tx/>
              <a:buAutoNum type="arabicPeriod"/>
            </a:pP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SLR(1)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则是仅当面临的输入符号</a:t>
            </a:r>
            <a:r>
              <a:rPr lang="en-US" altLang="zh-CN" b="1" dirty="0" err="1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a∈FOLLOW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(A)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时进行归约动作，而不判断栈里的符号串所构成的活前缀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βα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是否存在着把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α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归约为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A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的规范句型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——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其前缀是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βAa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；</a:t>
            </a:r>
          </a:p>
          <a:p>
            <a:pPr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Tx/>
              <a:buAutoNum type="arabicPeriod"/>
            </a:pP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LR(1)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则明确指出了当 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α 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后跟终结符 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a ( 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即存在规范句型其前缀为 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βAa )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时，才容许把 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α 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归约为 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A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。</a:t>
            </a:r>
          </a:p>
        </p:txBody>
      </p:sp>
      <p:sp>
        <p:nvSpPr>
          <p:cNvPr id="447493" name="Rectangle 1029"/>
          <p:cNvSpPr>
            <a:spLocks noChangeArrowheads="1"/>
          </p:cNvSpPr>
          <p:nvPr/>
        </p:nvSpPr>
        <p:spPr bwMode="auto">
          <a:xfrm>
            <a:off x="571500" y="5943600"/>
            <a:ext cx="8496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因此，</a:t>
            </a:r>
            <a:r>
              <a:rPr kumimoji="1" lang="en-US" altLang="zh-CN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LR(1)</a:t>
            </a: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比</a:t>
            </a:r>
            <a:r>
              <a:rPr kumimoji="1" lang="en-US" altLang="zh-CN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SLR(1)</a:t>
            </a: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更精确，解决的冲突也多于</a:t>
            </a:r>
            <a:r>
              <a:rPr kumimoji="1" lang="en-US" altLang="zh-CN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SLR(1)</a:t>
            </a:r>
            <a:r>
              <a:rPr kumimoji="1" lang="zh-CN" altLang="en-US" sz="2400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80217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latin typeface="宋体" pitchFamily="2" charset="-122"/>
              </a:rPr>
              <a:t>6.5 LALR(1</a:t>
            </a:r>
            <a:r>
              <a:rPr lang="en-US" altLang="zh-CN" b="1" dirty="0">
                <a:latin typeface="宋体" pitchFamily="2" charset="-122"/>
              </a:rPr>
              <a:t>)</a:t>
            </a:r>
            <a:r>
              <a:rPr lang="zh-CN" altLang="en-US" b="1" dirty="0">
                <a:latin typeface="宋体" pitchFamily="2" charset="-122"/>
              </a:rPr>
              <a:t>分析法</a:t>
            </a:r>
            <a:endParaRPr lang="zh-CN" altLang="en-US" sz="3200" b="1" dirty="0"/>
          </a:p>
        </p:txBody>
      </p:sp>
      <p:sp>
        <p:nvSpPr>
          <p:cNvPr id="424963" name="Text Box 3"/>
          <p:cNvSpPr txBox="1">
            <a:spLocks noChangeArrowheads="1"/>
          </p:cNvSpPr>
          <p:nvPr/>
        </p:nvSpPr>
        <p:spPr bwMode="auto">
          <a:xfrm>
            <a:off x="606287" y="2708911"/>
            <a:ext cx="82296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4572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其基本思想是，为了减少项目集的个数，将</a:t>
            </a:r>
            <a:r>
              <a:rPr kumimoji="1" lang="en-US" altLang="zh-CN" sz="24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LR(1)</a:t>
            </a:r>
            <a:r>
              <a:rPr kumimoji="1" lang="zh-CN" altLang="en-US" sz="2400" b="1" dirty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项目集规范族中的所有</a:t>
            </a:r>
            <a:r>
              <a:rPr kumimoji="1" lang="zh-CN" altLang="en-US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同心的项目集合</a:t>
            </a:r>
            <a:r>
              <a:rPr kumimoji="1" lang="zh-CN" altLang="en-US" sz="2400" b="1" dirty="0" smtClean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并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Courier New" pitchFamily="49" charset="0"/>
                <a:ea typeface="幼圆" pitchFamily="49" charset="-122"/>
              </a:rPr>
              <a:t>。</a:t>
            </a:r>
            <a:endParaRPr kumimoji="1" lang="zh-CN" altLang="en-US" sz="2400" b="1" dirty="0">
              <a:solidFill>
                <a:srgbClr val="000000"/>
              </a:solidFill>
              <a:latin typeface="Courier New" pitchFamily="49" charset="0"/>
              <a:ea typeface="幼圆" pitchFamily="49" charset="-122"/>
            </a:endParaRPr>
          </a:p>
          <a:p>
            <a:pPr indent="4572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3333FF"/>
                </a:solidFill>
                <a:latin typeface="Courier New" pitchFamily="49" charset="0"/>
                <a:ea typeface="幼圆" pitchFamily="49" charset="-122"/>
              </a:rPr>
              <a:t>所谓同心集是指</a:t>
            </a:r>
            <a:r>
              <a:rPr kumimoji="1" lang="zh-CN" altLang="en-US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搜索符不同</a:t>
            </a:r>
            <a:r>
              <a:rPr kumimoji="1" lang="zh-CN" altLang="en-US" sz="2400" b="1" dirty="0">
                <a:solidFill>
                  <a:srgbClr val="3333FF"/>
                </a:solidFill>
                <a:latin typeface="Courier New" pitchFamily="49" charset="0"/>
                <a:ea typeface="幼圆" pitchFamily="49" charset="-122"/>
              </a:rPr>
              <a:t>而 </a:t>
            </a:r>
            <a:r>
              <a:rPr kumimoji="1" lang="en-US" altLang="zh-CN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LR(0) </a:t>
            </a:r>
            <a:r>
              <a:rPr kumimoji="1" lang="zh-CN" altLang="en-US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项目</a:t>
            </a:r>
            <a:r>
              <a:rPr kumimoji="1" lang="zh-CN" altLang="en-US" sz="2400" b="1" dirty="0">
                <a:solidFill>
                  <a:srgbClr val="3333FF"/>
                </a:solidFill>
                <a:latin typeface="Courier New" pitchFamily="49" charset="0"/>
                <a:ea typeface="幼圆" pitchFamily="49" charset="-122"/>
              </a:rPr>
              <a:t>相同的 </a:t>
            </a:r>
            <a:r>
              <a:rPr kumimoji="1" lang="en-US" altLang="zh-CN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LR(1) </a:t>
            </a:r>
            <a:r>
              <a:rPr kumimoji="1" lang="zh-CN" altLang="en-US" sz="2400" b="1" dirty="0">
                <a:solidFill>
                  <a:srgbClr val="FF0000"/>
                </a:solidFill>
                <a:latin typeface="Courier New" pitchFamily="49" charset="0"/>
                <a:ea typeface="幼圆" pitchFamily="49" charset="-122"/>
              </a:rPr>
              <a:t>项目集</a:t>
            </a:r>
            <a:r>
              <a:rPr kumimoji="1" lang="zh-CN" altLang="en-US" sz="2400" b="1" dirty="0">
                <a:solidFill>
                  <a:srgbClr val="3333FF"/>
                </a:solidFill>
                <a:latin typeface="Courier New" pitchFamily="49" charset="0"/>
                <a:ea typeface="幼圆" pitchFamily="49" charset="-122"/>
              </a:rPr>
              <a:t>。 </a:t>
            </a:r>
          </a:p>
        </p:txBody>
      </p:sp>
      <p:sp>
        <p:nvSpPr>
          <p:cNvPr id="2" name="矩形 1"/>
          <p:cNvSpPr/>
          <p:nvPr/>
        </p:nvSpPr>
        <p:spPr>
          <a:xfrm>
            <a:off x="54167" y="1268733"/>
            <a:ext cx="44823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宋体" pitchFamily="2" charset="-122"/>
              </a:rPr>
              <a:t>同心集、合并同心集</a:t>
            </a:r>
            <a:r>
              <a:rPr lang="zh-CN" altLang="en-US" sz="3600" b="1" dirty="0">
                <a:solidFill>
                  <a:srgbClr val="FF0000"/>
                </a:solidFill>
              </a:rPr>
              <a:t> 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20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个文法是 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LR(0) 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文法，一定也是 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SLR(1) 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文法</a:t>
            </a:r>
            <a:r>
              <a:rPr lang="zh-CN" altLang="en-US" b="1" dirty="0" smtClean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，也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是 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LR(1) 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文法和 </a:t>
            </a:r>
            <a:r>
              <a:rPr lang="en-US" altLang="zh-CN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LALR(1) </a:t>
            </a:r>
            <a:r>
              <a:rPr lang="zh-CN" altLang="en-US" b="1" dirty="0">
                <a:solidFill>
                  <a:srgbClr val="40458C"/>
                </a:solidFill>
                <a:latin typeface="Courier New" pitchFamily="49" charset="0"/>
                <a:ea typeface="幼圆" pitchFamily="49" charset="-122"/>
              </a:rPr>
              <a:t>文法。</a:t>
            </a:r>
          </a:p>
          <a:p>
            <a:endParaRPr lang="zh-CN" alt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371600" y="3200400"/>
            <a:ext cx="5699125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LR(0) 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itchFamily="2" charset="-122"/>
                <a:sym typeface="SymbolPS" charset="2"/>
              </a:rPr>
              <a:t> 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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itchFamily="2" charset="-122"/>
                <a:sym typeface="SymbolPS" charset="2"/>
              </a:rPr>
              <a:t> 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SLR(1)  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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itchFamily="2" charset="-122"/>
                <a:sym typeface="SymbolPS" charset="2"/>
              </a:rPr>
              <a:t>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LALR(1)  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itchFamily="2" charset="-122"/>
                <a:sym typeface="Symbol" pitchFamily="18" charset="2"/>
              </a:rPr>
              <a:t></a:t>
            </a:r>
            <a:r>
              <a:rPr kumimoji="1" lang="en-US" altLang="zh-CN" sz="2400" b="1" dirty="0">
                <a:solidFill>
                  <a:srgbClr val="FF0000"/>
                </a:solidFill>
                <a:latin typeface="宋体" pitchFamily="2" charset="-122"/>
                <a:sym typeface="SymbolPS" charset="2"/>
              </a:rPr>
              <a:t>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LR(1)</a:t>
            </a:r>
          </a:p>
        </p:txBody>
      </p:sp>
    </p:spTree>
    <p:extLst>
      <p:ext uri="{BB962C8B-B14F-4D97-AF65-F5344CB8AC3E}">
        <p14:creationId xmlns:p14="http://schemas.microsoft.com/office/powerpoint/2010/main" val="3318389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420888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 smtClean="0">
                <a:solidFill>
                  <a:srgbClr val="0066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谢谢！</a:t>
            </a:r>
            <a:endParaRPr lang="en-US" altLang="zh-CN" sz="7200" dirty="0" smtClean="0">
              <a:solidFill>
                <a:srgbClr val="0066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115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000120141114A01PWBG">
  <a:themeElements>
    <a:clrScheme name="自定义 1">
      <a:dk1>
        <a:srgbClr val="3F3F3F"/>
      </a:dk1>
      <a:lt1>
        <a:sysClr val="window" lastClr="FFFFFF"/>
      </a:lt1>
      <a:dk2>
        <a:srgbClr val="3F3F3F"/>
      </a:dk2>
      <a:lt2>
        <a:srgbClr val="FFFFFF"/>
      </a:lt2>
      <a:accent1>
        <a:srgbClr val="E64823"/>
      </a:accent1>
      <a:accent2>
        <a:srgbClr val="F8931D"/>
      </a:accent2>
      <a:accent3>
        <a:srgbClr val="CE8D3E"/>
      </a:accent3>
      <a:accent4>
        <a:srgbClr val="EC7016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微软雅黑">
      <a:majorFont>
        <a:latin typeface="Arial"/>
        <a:ea typeface="微软雅黑"/>
        <a:cs typeface=""/>
      </a:majorFont>
      <a:minorFont>
        <a:latin typeface="Arial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笔记本型模板">
  <a:themeElements>
    <a:clrScheme name="1_笔记本型模板 1">
      <a:dk1>
        <a:srgbClr val="402000"/>
      </a:dk1>
      <a:lt1>
        <a:srgbClr val="FBFAE2"/>
      </a:lt1>
      <a:dk2>
        <a:srgbClr val="996633"/>
      </a:dk2>
      <a:lt2>
        <a:srgbClr val="A08366"/>
      </a:lt2>
      <a:accent1>
        <a:srgbClr val="CE9964"/>
      </a:accent1>
      <a:accent2>
        <a:srgbClr val="CD3333"/>
      </a:accent2>
      <a:accent3>
        <a:srgbClr val="FDFCEE"/>
      </a:accent3>
      <a:accent4>
        <a:srgbClr val="351A00"/>
      </a:accent4>
      <a:accent5>
        <a:srgbClr val="E3CAB8"/>
      </a:accent5>
      <a:accent6>
        <a:srgbClr val="BA2D2D"/>
      </a:accent6>
      <a:hlink>
        <a:srgbClr val="9A7F32"/>
      </a:hlink>
      <a:folHlink>
        <a:srgbClr val="ECA07A"/>
      </a:folHlink>
    </a:clrScheme>
    <a:fontScheme name="1_笔记本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C66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75000"/>
          <a:buFont typeface="Monotype Sorts" pitchFamily="2" charset="2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C66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Pct val="75000"/>
          <a:buFont typeface="Monotype Sorts" pitchFamily="2" charset="2"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笔记本型模板 1">
        <a:dk1>
          <a:srgbClr val="402000"/>
        </a:dk1>
        <a:lt1>
          <a:srgbClr val="FBFAE2"/>
        </a:lt1>
        <a:dk2>
          <a:srgbClr val="996633"/>
        </a:dk2>
        <a:lt2>
          <a:srgbClr val="A08366"/>
        </a:lt2>
        <a:accent1>
          <a:srgbClr val="CE9964"/>
        </a:accent1>
        <a:accent2>
          <a:srgbClr val="CD3333"/>
        </a:accent2>
        <a:accent3>
          <a:srgbClr val="FDFCEE"/>
        </a:accent3>
        <a:accent4>
          <a:srgbClr val="351A00"/>
        </a:accent4>
        <a:accent5>
          <a:srgbClr val="E3CAB8"/>
        </a:accent5>
        <a:accent6>
          <a:srgbClr val="BA2D2D"/>
        </a:accent6>
        <a:hlink>
          <a:srgbClr val="9A7F32"/>
        </a:hlink>
        <a:folHlink>
          <a:srgbClr val="ECA0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笔记本型模板 2">
        <a:dk1>
          <a:srgbClr val="402000"/>
        </a:dk1>
        <a:lt1>
          <a:srgbClr val="FFFFFF"/>
        </a:lt1>
        <a:dk2>
          <a:srgbClr val="996633"/>
        </a:dk2>
        <a:lt2>
          <a:srgbClr val="A08366"/>
        </a:lt2>
        <a:accent1>
          <a:srgbClr val="CE9964"/>
        </a:accent1>
        <a:accent2>
          <a:srgbClr val="CD3333"/>
        </a:accent2>
        <a:accent3>
          <a:srgbClr val="FFFFFF"/>
        </a:accent3>
        <a:accent4>
          <a:srgbClr val="351A00"/>
        </a:accent4>
        <a:accent5>
          <a:srgbClr val="E3CAB8"/>
        </a:accent5>
        <a:accent6>
          <a:srgbClr val="BA2D2D"/>
        </a:accent6>
        <a:hlink>
          <a:srgbClr val="9A7F32"/>
        </a:hlink>
        <a:folHlink>
          <a:srgbClr val="ECA0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笔记本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笔记本型模板 4">
        <a:dk1>
          <a:srgbClr val="1C1C1C"/>
        </a:dk1>
        <a:lt1>
          <a:srgbClr val="FFFFFF"/>
        </a:lt1>
        <a:dk2>
          <a:srgbClr val="000066"/>
        </a:dk2>
        <a:lt2>
          <a:srgbClr val="666699"/>
        </a:lt2>
        <a:accent1>
          <a:srgbClr val="FF5050"/>
        </a:accent1>
        <a:accent2>
          <a:srgbClr val="009999"/>
        </a:accent2>
        <a:accent3>
          <a:srgbClr val="FFFFFF"/>
        </a:accent3>
        <a:accent4>
          <a:srgbClr val="161616"/>
        </a:accent4>
        <a:accent5>
          <a:srgbClr val="FFB3B3"/>
        </a:accent5>
        <a:accent6>
          <a:srgbClr val="008A8A"/>
        </a:accent6>
        <a:hlink>
          <a:srgbClr val="3366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A000120151104A05PPBG</Template>
  <TotalTime>9248</TotalTime>
  <Words>4050</Words>
  <Application>Microsoft Office PowerPoint</Application>
  <PresentationFormat>全屏显示(4:3)</PresentationFormat>
  <Paragraphs>383</Paragraphs>
  <Slides>48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7" baseType="lpstr">
      <vt:lpstr>Monotype Sorts</vt:lpstr>
      <vt:lpstr>SymbolPS</vt:lpstr>
      <vt:lpstr>华文中宋</vt:lpstr>
      <vt:lpstr>楷体_GB2312</vt:lpstr>
      <vt:lpstr>宋体</vt:lpstr>
      <vt:lpstr>微软雅黑</vt:lpstr>
      <vt:lpstr>幼圆</vt:lpstr>
      <vt:lpstr>Arial</vt:lpstr>
      <vt:lpstr>Calibri</vt:lpstr>
      <vt:lpstr>Cambria Math</vt:lpstr>
      <vt:lpstr>Courier New</vt:lpstr>
      <vt:lpstr>Symbol</vt:lpstr>
      <vt:lpstr>Tahoma</vt:lpstr>
      <vt:lpstr>Times New Roman</vt:lpstr>
      <vt:lpstr>Wingdings</vt:lpstr>
      <vt:lpstr>Wingdings 2</vt:lpstr>
      <vt:lpstr>A000120141114A01PWBG</vt:lpstr>
      <vt:lpstr>1_笔记本型模板</vt:lpstr>
      <vt:lpstr>WPS文字 文档</vt:lpstr>
      <vt:lpstr>第4-6章 总结</vt:lpstr>
      <vt:lpstr>PowerPoint 演示文稿</vt:lpstr>
      <vt:lpstr>PowerPoint 演示文稿</vt:lpstr>
      <vt:lpstr>第四章   自顶向下分析法</vt:lpstr>
      <vt:lpstr>4.1 确定的自顶向下分析思想</vt:lpstr>
      <vt:lpstr>定义：首符号集FIRST</vt:lpstr>
      <vt:lpstr>定义:后跟符号集FOLLOW</vt:lpstr>
      <vt:lpstr>4.2、LL（1）分析</vt:lpstr>
      <vt:lpstr>4.2、LL（1）分析</vt:lpstr>
      <vt:lpstr>4.2、LL（1）分析</vt:lpstr>
      <vt:lpstr>4.3非LL（1）和LL（1）等价变换</vt:lpstr>
      <vt:lpstr>PowerPoint 演示文稿</vt:lpstr>
      <vt:lpstr>PowerPoint 演示文稿</vt:lpstr>
      <vt:lpstr>PowerPoint 演示文稿</vt:lpstr>
      <vt:lpstr>4.4、不确定的自顶向下分析思想</vt:lpstr>
      <vt:lpstr>4.4、不确定的自顶向下分析思想</vt:lpstr>
      <vt:lpstr>4.5、LL（1）分析实现</vt:lpstr>
      <vt:lpstr>4.5.1递归下降分析法</vt:lpstr>
      <vt:lpstr>PowerPoint 演示文稿</vt:lpstr>
      <vt:lpstr>4.5.2 表驱动LL（1）分析程序</vt:lpstr>
      <vt:lpstr>4.5.2 表驱动LL（1）分析程序</vt:lpstr>
      <vt:lpstr>预测分析表</vt:lpstr>
      <vt:lpstr>PowerPoint 演示文稿</vt:lpstr>
      <vt:lpstr>第5章   自底向上优先分析</vt:lpstr>
      <vt:lpstr>5.1、自底向上语法分析思想</vt:lpstr>
      <vt:lpstr>PowerPoint 演示文稿</vt:lpstr>
      <vt:lpstr>5.2 优先分析方法</vt:lpstr>
      <vt:lpstr>PowerPoint 演示文稿</vt:lpstr>
      <vt:lpstr>5.3  优先关系及优先关系表</vt:lpstr>
      <vt:lpstr>5.3  优先关系及优先关系表</vt:lpstr>
      <vt:lpstr>6.1 LR分析</vt:lpstr>
      <vt:lpstr>6.1 LR分析概述</vt:lpstr>
      <vt:lpstr>6.1 LR分析概述</vt:lpstr>
      <vt:lpstr>6.1 LR分析概述</vt:lpstr>
      <vt:lpstr>6.2 LR（0）分析</vt:lpstr>
      <vt:lpstr>PowerPoint 演示文稿</vt:lpstr>
      <vt:lpstr>PowerPoint 演示文稿</vt:lpstr>
      <vt:lpstr>LR(0)项目</vt:lpstr>
      <vt:lpstr>【例】</vt:lpstr>
      <vt:lpstr>6.3 SLR(1)分析法</vt:lpstr>
      <vt:lpstr>6.4 LR(1)分析法</vt:lpstr>
      <vt:lpstr>LR(0)分析表的构造</vt:lpstr>
      <vt:lpstr>SLR(1)分析表的构造 </vt:lpstr>
      <vt:lpstr>LR(1)分析表的构造</vt:lpstr>
      <vt:lpstr>LR(1)与LR(0)及SLR(1)方法的区别</vt:lpstr>
      <vt:lpstr>6.5 LALR(1)分析法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nd4</dc:creator>
  <cp:lastModifiedBy>DELL</cp:lastModifiedBy>
  <cp:revision>501</cp:revision>
  <cp:lastPrinted>2017-04-14T15:22:47Z</cp:lastPrinted>
  <dcterms:created xsi:type="dcterms:W3CDTF">2015-01-15T01:53:08Z</dcterms:created>
  <dcterms:modified xsi:type="dcterms:W3CDTF">2022-04-27T08:04:51Z</dcterms:modified>
</cp:coreProperties>
</file>