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4" r:id="rId4"/>
    <p:sldId id="265" r:id="rId5"/>
    <p:sldId id="266" r:id="rId6"/>
    <p:sldId id="261" r:id="rId7"/>
    <p:sldId id="257" r:id="rId8"/>
    <p:sldId id="258" r:id="rId9"/>
    <p:sldId id="262" r:id="rId10"/>
    <p:sldId id="263" r:id="rId11"/>
    <p:sldId id="267" r:id="rId12"/>
    <p:sldId id="268" r:id="rId13"/>
    <p:sldId id="272" r:id="rId14"/>
    <p:sldId id="275" r:id="rId15"/>
    <p:sldId id="324" r:id="rId16"/>
    <p:sldId id="274" r:id="rId17"/>
    <p:sldId id="273" r:id="rId18"/>
    <p:sldId id="321" r:id="rId19"/>
    <p:sldId id="325" r:id="rId20"/>
    <p:sldId id="326" r:id="rId21"/>
    <p:sldId id="320" r:id="rId22"/>
    <p:sldId id="323" r:id="rId23"/>
    <p:sldId id="259" r:id="rId24"/>
    <p:sldId id="832" r:id="rId25"/>
    <p:sldId id="327" r:id="rId26"/>
    <p:sldId id="328" r:id="rId27"/>
    <p:sldId id="329" r:id="rId28"/>
    <p:sldId id="330" r:id="rId29"/>
    <p:sldId id="331" r:id="rId30"/>
    <p:sldId id="332" r:id="rId31"/>
    <p:sldId id="333" r:id="rId32"/>
    <p:sldId id="825" r:id="rId33"/>
    <p:sldId id="826" r:id="rId34"/>
    <p:sldId id="827" r:id="rId35"/>
    <p:sldId id="828" r:id="rId36"/>
    <p:sldId id="829" r:id="rId37"/>
    <p:sldId id="830" r:id="rId38"/>
    <p:sldId id="831"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54" autoAdjust="0"/>
    <p:restoredTop sz="94660"/>
  </p:normalViewPr>
  <p:slideViewPr>
    <p:cSldViewPr snapToGrid="0">
      <p:cViewPr varScale="1">
        <p:scale>
          <a:sx n="108" d="100"/>
          <a:sy n="108" d="100"/>
        </p:scale>
        <p:origin x="76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7CE709-83AB-4E61-85D4-E733E828F19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5471AE6-5478-49F0-A977-C6DDE875F5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804948D-858A-4A47-99A3-745E7E6CF4E8}"/>
              </a:ext>
            </a:extLst>
          </p:cNvPr>
          <p:cNvSpPr>
            <a:spLocks noGrp="1"/>
          </p:cNvSpPr>
          <p:nvPr>
            <p:ph type="dt" sz="half" idx="10"/>
          </p:nvPr>
        </p:nvSpPr>
        <p:spPr/>
        <p:txBody>
          <a:bodyPr/>
          <a:lstStyle/>
          <a:p>
            <a:fld id="{A5FBD8DE-7B07-4449-A07F-A363D85A8EC9}" type="datetimeFigureOut">
              <a:rPr lang="zh-CN" altLang="en-US" smtClean="0"/>
              <a:t>2024/4/4</a:t>
            </a:fld>
            <a:endParaRPr lang="zh-CN" altLang="en-US"/>
          </a:p>
        </p:txBody>
      </p:sp>
      <p:sp>
        <p:nvSpPr>
          <p:cNvPr id="5" name="页脚占位符 4">
            <a:extLst>
              <a:ext uri="{FF2B5EF4-FFF2-40B4-BE49-F238E27FC236}">
                <a16:creationId xmlns:a16="http://schemas.microsoft.com/office/drawing/2014/main" id="{D03BEA98-01E0-4D82-89A8-39DBA24556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D1D6BB-C080-49FB-9BF4-7CF31E8AF36E}"/>
              </a:ext>
            </a:extLst>
          </p:cNvPr>
          <p:cNvSpPr>
            <a:spLocks noGrp="1"/>
          </p:cNvSpPr>
          <p:nvPr>
            <p:ph type="sldNum" sz="quarter" idx="12"/>
          </p:nvPr>
        </p:nvSpPr>
        <p:spPr/>
        <p:txBody>
          <a:bodyPr/>
          <a:lstStyle/>
          <a:p>
            <a:fld id="{87B2F79C-94E6-47F2-AA24-4C0AAB6ADF03}" type="slidenum">
              <a:rPr lang="zh-CN" altLang="en-US" smtClean="0"/>
              <a:t>‹#›</a:t>
            </a:fld>
            <a:endParaRPr lang="zh-CN" altLang="en-US"/>
          </a:p>
        </p:txBody>
      </p:sp>
    </p:spTree>
    <p:extLst>
      <p:ext uri="{BB962C8B-B14F-4D97-AF65-F5344CB8AC3E}">
        <p14:creationId xmlns:p14="http://schemas.microsoft.com/office/powerpoint/2010/main" val="1651182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7296C0-1164-4BD2-BB5E-DB431C5785C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411744E-438F-40AD-9DBE-A9A5A600492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7DD4516-2E1F-47E1-A24E-4977769D0650}"/>
              </a:ext>
            </a:extLst>
          </p:cNvPr>
          <p:cNvSpPr>
            <a:spLocks noGrp="1"/>
          </p:cNvSpPr>
          <p:nvPr>
            <p:ph type="dt" sz="half" idx="10"/>
          </p:nvPr>
        </p:nvSpPr>
        <p:spPr/>
        <p:txBody>
          <a:bodyPr/>
          <a:lstStyle/>
          <a:p>
            <a:fld id="{A5FBD8DE-7B07-4449-A07F-A363D85A8EC9}" type="datetimeFigureOut">
              <a:rPr lang="zh-CN" altLang="en-US" smtClean="0"/>
              <a:t>2024/4/4</a:t>
            </a:fld>
            <a:endParaRPr lang="zh-CN" altLang="en-US"/>
          </a:p>
        </p:txBody>
      </p:sp>
      <p:sp>
        <p:nvSpPr>
          <p:cNvPr id="5" name="页脚占位符 4">
            <a:extLst>
              <a:ext uri="{FF2B5EF4-FFF2-40B4-BE49-F238E27FC236}">
                <a16:creationId xmlns:a16="http://schemas.microsoft.com/office/drawing/2014/main" id="{37782C04-3EAE-4737-B702-A27FAC59E1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2468B2C-C783-4EF1-BB67-84447A75AF6A}"/>
              </a:ext>
            </a:extLst>
          </p:cNvPr>
          <p:cNvSpPr>
            <a:spLocks noGrp="1"/>
          </p:cNvSpPr>
          <p:nvPr>
            <p:ph type="sldNum" sz="quarter" idx="12"/>
          </p:nvPr>
        </p:nvSpPr>
        <p:spPr/>
        <p:txBody>
          <a:bodyPr/>
          <a:lstStyle/>
          <a:p>
            <a:fld id="{87B2F79C-94E6-47F2-AA24-4C0AAB6ADF03}" type="slidenum">
              <a:rPr lang="zh-CN" altLang="en-US" smtClean="0"/>
              <a:t>‹#›</a:t>
            </a:fld>
            <a:endParaRPr lang="zh-CN" altLang="en-US"/>
          </a:p>
        </p:txBody>
      </p:sp>
    </p:spTree>
    <p:extLst>
      <p:ext uri="{BB962C8B-B14F-4D97-AF65-F5344CB8AC3E}">
        <p14:creationId xmlns:p14="http://schemas.microsoft.com/office/powerpoint/2010/main" val="3300387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6605CD-EE20-4E93-9A29-305A222D3CE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975918D-958F-4E48-A66A-4A42CC4DDE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47D520C-E7FB-45D3-866D-20CBB1B7B309}"/>
              </a:ext>
            </a:extLst>
          </p:cNvPr>
          <p:cNvSpPr>
            <a:spLocks noGrp="1"/>
          </p:cNvSpPr>
          <p:nvPr>
            <p:ph type="dt" sz="half" idx="10"/>
          </p:nvPr>
        </p:nvSpPr>
        <p:spPr/>
        <p:txBody>
          <a:bodyPr/>
          <a:lstStyle/>
          <a:p>
            <a:fld id="{A5FBD8DE-7B07-4449-A07F-A363D85A8EC9}" type="datetimeFigureOut">
              <a:rPr lang="zh-CN" altLang="en-US" smtClean="0"/>
              <a:t>2024/4/4</a:t>
            </a:fld>
            <a:endParaRPr lang="zh-CN" altLang="en-US"/>
          </a:p>
        </p:txBody>
      </p:sp>
      <p:sp>
        <p:nvSpPr>
          <p:cNvPr id="5" name="页脚占位符 4">
            <a:extLst>
              <a:ext uri="{FF2B5EF4-FFF2-40B4-BE49-F238E27FC236}">
                <a16:creationId xmlns:a16="http://schemas.microsoft.com/office/drawing/2014/main" id="{13D846D2-7C20-401D-87C4-130E9E633B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16E6B76-4D40-463D-A1C2-EA8AD409D3EA}"/>
              </a:ext>
            </a:extLst>
          </p:cNvPr>
          <p:cNvSpPr>
            <a:spLocks noGrp="1"/>
          </p:cNvSpPr>
          <p:nvPr>
            <p:ph type="sldNum" sz="quarter" idx="12"/>
          </p:nvPr>
        </p:nvSpPr>
        <p:spPr/>
        <p:txBody>
          <a:bodyPr/>
          <a:lstStyle/>
          <a:p>
            <a:fld id="{87B2F79C-94E6-47F2-AA24-4C0AAB6ADF03}" type="slidenum">
              <a:rPr lang="zh-CN" altLang="en-US" smtClean="0"/>
              <a:t>‹#›</a:t>
            </a:fld>
            <a:endParaRPr lang="zh-CN" altLang="en-US"/>
          </a:p>
        </p:txBody>
      </p:sp>
    </p:spTree>
    <p:extLst>
      <p:ext uri="{BB962C8B-B14F-4D97-AF65-F5344CB8AC3E}">
        <p14:creationId xmlns:p14="http://schemas.microsoft.com/office/powerpoint/2010/main" val="4251764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C8362A-50FA-425C-90E3-EBAAA45AB72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18E2E86-3705-4462-8135-E0B2D62A16E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A5E861B-E6F9-45DE-9759-B3CF857AB74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B5963BA-1806-45E9-BE3A-EB2E2CD4381A}"/>
              </a:ext>
            </a:extLst>
          </p:cNvPr>
          <p:cNvSpPr>
            <a:spLocks noGrp="1"/>
          </p:cNvSpPr>
          <p:nvPr>
            <p:ph type="dt" sz="half" idx="10"/>
          </p:nvPr>
        </p:nvSpPr>
        <p:spPr/>
        <p:txBody>
          <a:bodyPr/>
          <a:lstStyle/>
          <a:p>
            <a:fld id="{A5FBD8DE-7B07-4449-A07F-A363D85A8EC9}" type="datetimeFigureOut">
              <a:rPr lang="zh-CN" altLang="en-US" smtClean="0"/>
              <a:t>2024/4/4</a:t>
            </a:fld>
            <a:endParaRPr lang="zh-CN" altLang="en-US"/>
          </a:p>
        </p:txBody>
      </p:sp>
      <p:sp>
        <p:nvSpPr>
          <p:cNvPr id="6" name="页脚占位符 5">
            <a:extLst>
              <a:ext uri="{FF2B5EF4-FFF2-40B4-BE49-F238E27FC236}">
                <a16:creationId xmlns:a16="http://schemas.microsoft.com/office/drawing/2014/main" id="{6C11F598-0D59-4149-8462-D5B68166925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0AE369-6EE2-4ED0-9E9C-185977DC2590}"/>
              </a:ext>
            </a:extLst>
          </p:cNvPr>
          <p:cNvSpPr>
            <a:spLocks noGrp="1"/>
          </p:cNvSpPr>
          <p:nvPr>
            <p:ph type="sldNum" sz="quarter" idx="12"/>
          </p:nvPr>
        </p:nvSpPr>
        <p:spPr/>
        <p:txBody>
          <a:bodyPr/>
          <a:lstStyle/>
          <a:p>
            <a:fld id="{87B2F79C-94E6-47F2-AA24-4C0AAB6ADF03}" type="slidenum">
              <a:rPr lang="zh-CN" altLang="en-US" smtClean="0"/>
              <a:t>‹#›</a:t>
            </a:fld>
            <a:endParaRPr lang="zh-CN" altLang="en-US"/>
          </a:p>
        </p:txBody>
      </p:sp>
    </p:spTree>
    <p:extLst>
      <p:ext uri="{BB962C8B-B14F-4D97-AF65-F5344CB8AC3E}">
        <p14:creationId xmlns:p14="http://schemas.microsoft.com/office/powerpoint/2010/main" val="4003200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31B93A-E452-40BC-B931-AAC60BF603B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E8D09-2989-428A-ADDA-EDC484B3D3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71B9A5B-6D00-4BCD-A2AB-358CE0480AF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013728E-CBAE-4026-89AE-BAE13CB63D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8857C73-2A09-4C20-A65E-2C03D5F4371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72D4530-2E15-4F87-8966-0A81227C7DE2}"/>
              </a:ext>
            </a:extLst>
          </p:cNvPr>
          <p:cNvSpPr>
            <a:spLocks noGrp="1"/>
          </p:cNvSpPr>
          <p:nvPr>
            <p:ph type="dt" sz="half" idx="10"/>
          </p:nvPr>
        </p:nvSpPr>
        <p:spPr/>
        <p:txBody>
          <a:bodyPr/>
          <a:lstStyle/>
          <a:p>
            <a:fld id="{A5FBD8DE-7B07-4449-A07F-A363D85A8EC9}" type="datetimeFigureOut">
              <a:rPr lang="zh-CN" altLang="en-US" smtClean="0"/>
              <a:t>2024/4/4</a:t>
            </a:fld>
            <a:endParaRPr lang="zh-CN" altLang="en-US"/>
          </a:p>
        </p:txBody>
      </p:sp>
      <p:sp>
        <p:nvSpPr>
          <p:cNvPr id="8" name="页脚占位符 7">
            <a:extLst>
              <a:ext uri="{FF2B5EF4-FFF2-40B4-BE49-F238E27FC236}">
                <a16:creationId xmlns:a16="http://schemas.microsoft.com/office/drawing/2014/main" id="{39035473-2C5A-4EB2-A1DF-79EAAE7DB68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C7BFFFB-14E7-4F55-AE7F-E048C28355F8}"/>
              </a:ext>
            </a:extLst>
          </p:cNvPr>
          <p:cNvSpPr>
            <a:spLocks noGrp="1"/>
          </p:cNvSpPr>
          <p:nvPr>
            <p:ph type="sldNum" sz="quarter" idx="12"/>
          </p:nvPr>
        </p:nvSpPr>
        <p:spPr/>
        <p:txBody>
          <a:bodyPr/>
          <a:lstStyle/>
          <a:p>
            <a:fld id="{87B2F79C-94E6-47F2-AA24-4C0AAB6ADF03}" type="slidenum">
              <a:rPr lang="zh-CN" altLang="en-US" smtClean="0"/>
              <a:t>‹#›</a:t>
            </a:fld>
            <a:endParaRPr lang="zh-CN" altLang="en-US"/>
          </a:p>
        </p:txBody>
      </p:sp>
    </p:spTree>
    <p:extLst>
      <p:ext uri="{BB962C8B-B14F-4D97-AF65-F5344CB8AC3E}">
        <p14:creationId xmlns:p14="http://schemas.microsoft.com/office/powerpoint/2010/main" val="4249759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83DFC1-6AAC-47E2-9BC6-4D1967926AF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9D467F3-6DF2-40A5-98B6-1E7BF370E3E7}"/>
              </a:ext>
            </a:extLst>
          </p:cNvPr>
          <p:cNvSpPr>
            <a:spLocks noGrp="1"/>
          </p:cNvSpPr>
          <p:nvPr>
            <p:ph type="dt" sz="half" idx="10"/>
          </p:nvPr>
        </p:nvSpPr>
        <p:spPr/>
        <p:txBody>
          <a:bodyPr/>
          <a:lstStyle/>
          <a:p>
            <a:fld id="{A5FBD8DE-7B07-4449-A07F-A363D85A8EC9}" type="datetimeFigureOut">
              <a:rPr lang="zh-CN" altLang="en-US" smtClean="0"/>
              <a:t>2024/4/4</a:t>
            </a:fld>
            <a:endParaRPr lang="zh-CN" altLang="en-US"/>
          </a:p>
        </p:txBody>
      </p:sp>
      <p:sp>
        <p:nvSpPr>
          <p:cNvPr id="4" name="页脚占位符 3">
            <a:extLst>
              <a:ext uri="{FF2B5EF4-FFF2-40B4-BE49-F238E27FC236}">
                <a16:creationId xmlns:a16="http://schemas.microsoft.com/office/drawing/2014/main" id="{6AE9C634-9D07-4A1A-B821-F7803017212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1497A3B-A345-4176-9BB0-7598DBDA0F62}"/>
              </a:ext>
            </a:extLst>
          </p:cNvPr>
          <p:cNvSpPr>
            <a:spLocks noGrp="1"/>
          </p:cNvSpPr>
          <p:nvPr>
            <p:ph type="sldNum" sz="quarter" idx="12"/>
          </p:nvPr>
        </p:nvSpPr>
        <p:spPr/>
        <p:txBody>
          <a:bodyPr/>
          <a:lstStyle/>
          <a:p>
            <a:fld id="{87B2F79C-94E6-47F2-AA24-4C0AAB6ADF03}" type="slidenum">
              <a:rPr lang="zh-CN" altLang="en-US" smtClean="0"/>
              <a:t>‹#›</a:t>
            </a:fld>
            <a:endParaRPr lang="zh-CN" altLang="en-US"/>
          </a:p>
        </p:txBody>
      </p:sp>
    </p:spTree>
    <p:extLst>
      <p:ext uri="{BB962C8B-B14F-4D97-AF65-F5344CB8AC3E}">
        <p14:creationId xmlns:p14="http://schemas.microsoft.com/office/powerpoint/2010/main" val="1945353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963CCF3-B47B-45BD-AB3B-AC0D400230E5}"/>
              </a:ext>
            </a:extLst>
          </p:cNvPr>
          <p:cNvSpPr>
            <a:spLocks noGrp="1"/>
          </p:cNvSpPr>
          <p:nvPr>
            <p:ph type="dt" sz="half" idx="10"/>
          </p:nvPr>
        </p:nvSpPr>
        <p:spPr/>
        <p:txBody>
          <a:bodyPr/>
          <a:lstStyle/>
          <a:p>
            <a:fld id="{A5FBD8DE-7B07-4449-A07F-A363D85A8EC9}" type="datetimeFigureOut">
              <a:rPr lang="zh-CN" altLang="en-US" smtClean="0"/>
              <a:t>2024/4/4</a:t>
            </a:fld>
            <a:endParaRPr lang="zh-CN" altLang="en-US"/>
          </a:p>
        </p:txBody>
      </p:sp>
      <p:sp>
        <p:nvSpPr>
          <p:cNvPr id="3" name="页脚占位符 2">
            <a:extLst>
              <a:ext uri="{FF2B5EF4-FFF2-40B4-BE49-F238E27FC236}">
                <a16:creationId xmlns:a16="http://schemas.microsoft.com/office/drawing/2014/main" id="{19AAF75D-9459-4213-8500-BD1E9350C48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CF1B4E6-61AE-40E6-81AF-8CD5A4C7CD44}"/>
              </a:ext>
            </a:extLst>
          </p:cNvPr>
          <p:cNvSpPr>
            <a:spLocks noGrp="1"/>
          </p:cNvSpPr>
          <p:nvPr>
            <p:ph type="sldNum" sz="quarter" idx="12"/>
          </p:nvPr>
        </p:nvSpPr>
        <p:spPr/>
        <p:txBody>
          <a:bodyPr/>
          <a:lstStyle/>
          <a:p>
            <a:fld id="{87B2F79C-94E6-47F2-AA24-4C0AAB6ADF03}" type="slidenum">
              <a:rPr lang="zh-CN" altLang="en-US" smtClean="0"/>
              <a:t>‹#›</a:t>
            </a:fld>
            <a:endParaRPr lang="zh-CN" altLang="en-US"/>
          </a:p>
        </p:txBody>
      </p:sp>
    </p:spTree>
    <p:extLst>
      <p:ext uri="{BB962C8B-B14F-4D97-AF65-F5344CB8AC3E}">
        <p14:creationId xmlns:p14="http://schemas.microsoft.com/office/powerpoint/2010/main" val="1986798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8AF015-FC69-44ED-8A6A-CFDA4F459BF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372F25A-5D7E-4AF4-B9ED-FBA40BDB6E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299CF68-4F94-405E-8F76-F994E35577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5DFA65-55D6-42A4-AD73-7B393A2520E5}"/>
              </a:ext>
            </a:extLst>
          </p:cNvPr>
          <p:cNvSpPr>
            <a:spLocks noGrp="1"/>
          </p:cNvSpPr>
          <p:nvPr>
            <p:ph type="dt" sz="half" idx="10"/>
          </p:nvPr>
        </p:nvSpPr>
        <p:spPr/>
        <p:txBody>
          <a:bodyPr/>
          <a:lstStyle/>
          <a:p>
            <a:fld id="{A5FBD8DE-7B07-4449-A07F-A363D85A8EC9}" type="datetimeFigureOut">
              <a:rPr lang="zh-CN" altLang="en-US" smtClean="0"/>
              <a:t>2024/4/4</a:t>
            </a:fld>
            <a:endParaRPr lang="zh-CN" altLang="en-US"/>
          </a:p>
        </p:txBody>
      </p:sp>
      <p:sp>
        <p:nvSpPr>
          <p:cNvPr id="6" name="页脚占位符 5">
            <a:extLst>
              <a:ext uri="{FF2B5EF4-FFF2-40B4-BE49-F238E27FC236}">
                <a16:creationId xmlns:a16="http://schemas.microsoft.com/office/drawing/2014/main" id="{0E65B6CC-366C-47F1-9CE6-3961FD7481A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CF2E3A-2AA6-4F91-93CA-C739377748B9}"/>
              </a:ext>
            </a:extLst>
          </p:cNvPr>
          <p:cNvSpPr>
            <a:spLocks noGrp="1"/>
          </p:cNvSpPr>
          <p:nvPr>
            <p:ph type="sldNum" sz="quarter" idx="12"/>
          </p:nvPr>
        </p:nvSpPr>
        <p:spPr/>
        <p:txBody>
          <a:bodyPr/>
          <a:lstStyle/>
          <a:p>
            <a:fld id="{87B2F79C-94E6-47F2-AA24-4C0AAB6ADF03}" type="slidenum">
              <a:rPr lang="zh-CN" altLang="en-US" smtClean="0"/>
              <a:t>‹#›</a:t>
            </a:fld>
            <a:endParaRPr lang="zh-CN" altLang="en-US"/>
          </a:p>
        </p:txBody>
      </p:sp>
    </p:spTree>
    <p:extLst>
      <p:ext uri="{BB962C8B-B14F-4D97-AF65-F5344CB8AC3E}">
        <p14:creationId xmlns:p14="http://schemas.microsoft.com/office/powerpoint/2010/main" val="108606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399702-9CB8-4093-B26E-81DD36BA89E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797FD6F-AFBB-45EE-A0C4-62AE3C3773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A8C5EFD-9BD7-4171-9EE8-8CB2B82202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58BCD36-130D-4369-9305-1A754B18329D}"/>
              </a:ext>
            </a:extLst>
          </p:cNvPr>
          <p:cNvSpPr>
            <a:spLocks noGrp="1"/>
          </p:cNvSpPr>
          <p:nvPr>
            <p:ph type="dt" sz="half" idx="10"/>
          </p:nvPr>
        </p:nvSpPr>
        <p:spPr/>
        <p:txBody>
          <a:bodyPr/>
          <a:lstStyle/>
          <a:p>
            <a:fld id="{A5FBD8DE-7B07-4449-A07F-A363D85A8EC9}" type="datetimeFigureOut">
              <a:rPr lang="zh-CN" altLang="en-US" smtClean="0"/>
              <a:t>2024/4/4</a:t>
            </a:fld>
            <a:endParaRPr lang="zh-CN" altLang="en-US"/>
          </a:p>
        </p:txBody>
      </p:sp>
      <p:sp>
        <p:nvSpPr>
          <p:cNvPr id="6" name="页脚占位符 5">
            <a:extLst>
              <a:ext uri="{FF2B5EF4-FFF2-40B4-BE49-F238E27FC236}">
                <a16:creationId xmlns:a16="http://schemas.microsoft.com/office/drawing/2014/main" id="{79C02873-287B-457E-8914-20134D19EE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C8DA0F0-A20E-43A2-B510-EC5AE9E5714D}"/>
              </a:ext>
            </a:extLst>
          </p:cNvPr>
          <p:cNvSpPr>
            <a:spLocks noGrp="1"/>
          </p:cNvSpPr>
          <p:nvPr>
            <p:ph type="sldNum" sz="quarter" idx="12"/>
          </p:nvPr>
        </p:nvSpPr>
        <p:spPr/>
        <p:txBody>
          <a:bodyPr/>
          <a:lstStyle/>
          <a:p>
            <a:fld id="{87B2F79C-94E6-47F2-AA24-4C0AAB6ADF03}" type="slidenum">
              <a:rPr lang="zh-CN" altLang="en-US" smtClean="0"/>
              <a:t>‹#›</a:t>
            </a:fld>
            <a:endParaRPr lang="zh-CN" altLang="en-US"/>
          </a:p>
        </p:txBody>
      </p:sp>
    </p:spTree>
    <p:extLst>
      <p:ext uri="{BB962C8B-B14F-4D97-AF65-F5344CB8AC3E}">
        <p14:creationId xmlns:p14="http://schemas.microsoft.com/office/powerpoint/2010/main" val="218387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BA7C0F-43F1-418C-8B43-AC7F9718714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B40537D-110C-42A4-82D6-62C97E30BAB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6277E4B-466B-4CAA-A7C9-EB635D2BA1BD}"/>
              </a:ext>
            </a:extLst>
          </p:cNvPr>
          <p:cNvSpPr>
            <a:spLocks noGrp="1"/>
          </p:cNvSpPr>
          <p:nvPr>
            <p:ph type="dt" sz="half" idx="10"/>
          </p:nvPr>
        </p:nvSpPr>
        <p:spPr/>
        <p:txBody>
          <a:bodyPr/>
          <a:lstStyle/>
          <a:p>
            <a:fld id="{A5FBD8DE-7B07-4449-A07F-A363D85A8EC9}" type="datetimeFigureOut">
              <a:rPr lang="zh-CN" altLang="en-US" smtClean="0"/>
              <a:t>2024/4/4</a:t>
            </a:fld>
            <a:endParaRPr lang="zh-CN" altLang="en-US"/>
          </a:p>
        </p:txBody>
      </p:sp>
      <p:sp>
        <p:nvSpPr>
          <p:cNvPr id="5" name="页脚占位符 4">
            <a:extLst>
              <a:ext uri="{FF2B5EF4-FFF2-40B4-BE49-F238E27FC236}">
                <a16:creationId xmlns:a16="http://schemas.microsoft.com/office/drawing/2014/main" id="{E216D00D-AB5B-4755-AF82-1AD009C55B9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B5F363-72E6-4AD1-8C3D-52C8D38390E0}"/>
              </a:ext>
            </a:extLst>
          </p:cNvPr>
          <p:cNvSpPr>
            <a:spLocks noGrp="1"/>
          </p:cNvSpPr>
          <p:nvPr>
            <p:ph type="sldNum" sz="quarter" idx="12"/>
          </p:nvPr>
        </p:nvSpPr>
        <p:spPr/>
        <p:txBody>
          <a:bodyPr/>
          <a:lstStyle/>
          <a:p>
            <a:fld id="{87B2F79C-94E6-47F2-AA24-4C0AAB6ADF03}" type="slidenum">
              <a:rPr lang="zh-CN" altLang="en-US" smtClean="0"/>
              <a:t>‹#›</a:t>
            </a:fld>
            <a:endParaRPr lang="zh-CN" altLang="en-US"/>
          </a:p>
        </p:txBody>
      </p:sp>
    </p:spTree>
    <p:extLst>
      <p:ext uri="{BB962C8B-B14F-4D97-AF65-F5344CB8AC3E}">
        <p14:creationId xmlns:p14="http://schemas.microsoft.com/office/powerpoint/2010/main" val="2452645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CAD60E0-8B02-4050-B50A-87AE2738CB7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53098AC-8C20-4C6B-8FB8-4A4449358EC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910EF1F-E502-497B-8D2B-12B0B599BD11}"/>
              </a:ext>
            </a:extLst>
          </p:cNvPr>
          <p:cNvSpPr>
            <a:spLocks noGrp="1"/>
          </p:cNvSpPr>
          <p:nvPr>
            <p:ph type="dt" sz="half" idx="10"/>
          </p:nvPr>
        </p:nvSpPr>
        <p:spPr/>
        <p:txBody>
          <a:bodyPr/>
          <a:lstStyle/>
          <a:p>
            <a:fld id="{A5FBD8DE-7B07-4449-A07F-A363D85A8EC9}" type="datetimeFigureOut">
              <a:rPr lang="zh-CN" altLang="en-US" smtClean="0"/>
              <a:t>2024/4/4</a:t>
            </a:fld>
            <a:endParaRPr lang="zh-CN" altLang="en-US"/>
          </a:p>
        </p:txBody>
      </p:sp>
      <p:sp>
        <p:nvSpPr>
          <p:cNvPr id="5" name="页脚占位符 4">
            <a:extLst>
              <a:ext uri="{FF2B5EF4-FFF2-40B4-BE49-F238E27FC236}">
                <a16:creationId xmlns:a16="http://schemas.microsoft.com/office/drawing/2014/main" id="{91ADF063-202A-43B4-B04B-7F5C3CECC26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11FDB34-CE55-45ED-BAA8-EA41810F388A}"/>
              </a:ext>
            </a:extLst>
          </p:cNvPr>
          <p:cNvSpPr>
            <a:spLocks noGrp="1"/>
          </p:cNvSpPr>
          <p:nvPr>
            <p:ph type="sldNum" sz="quarter" idx="12"/>
          </p:nvPr>
        </p:nvSpPr>
        <p:spPr/>
        <p:txBody>
          <a:bodyPr/>
          <a:lstStyle/>
          <a:p>
            <a:fld id="{87B2F79C-94E6-47F2-AA24-4C0AAB6ADF03}" type="slidenum">
              <a:rPr lang="zh-CN" altLang="en-US" smtClean="0"/>
              <a:t>‹#›</a:t>
            </a:fld>
            <a:endParaRPr lang="zh-CN" altLang="en-US"/>
          </a:p>
        </p:txBody>
      </p:sp>
    </p:spTree>
    <p:extLst>
      <p:ext uri="{BB962C8B-B14F-4D97-AF65-F5344CB8AC3E}">
        <p14:creationId xmlns:p14="http://schemas.microsoft.com/office/powerpoint/2010/main" val="1969894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F44419C-0B60-40BF-8360-924DCDC27A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D4AB9C-2A0D-470D-9135-A905D483C4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01E98CF-6068-4A8F-9EAB-FF280867D2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FBD8DE-7B07-4449-A07F-A363D85A8EC9}" type="datetimeFigureOut">
              <a:rPr lang="zh-CN" altLang="en-US" smtClean="0"/>
              <a:t>2024/4/4</a:t>
            </a:fld>
            <a:endParaRPr lang="zh-CN" altLang="en-US"/>
          </a:p>
        </p:txBody>
      </p:sp>
      <p:sp>
        <p:nvSpPr>
          <p:cNvPr id="5" name="页脚占位符 4">
            <a:extLst>
              <a:ext uri="{FF2B5EF4-FFF2-40B4-BE49-F238E27FC236}">
                <a16:creationId xmlns:a16="http://schemas.microsoft.com/office/drawing/2014/main" id="{4CD110A4-8ED8-44D6-AFEF-E14F1AE211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D86FE33-8BC7-451C-97F9-A8EF21F9C2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2F79C-94E6-47F2-AA24-4C0AAB6ADF03}" type="slidenum">
              <a:rPr lang="zh-CN" altLang="en-US" smtClean="0"/>
              <a:t>‹#›</a:t>
            </a:fld>
            <a:endParaRPr lang="zh-CN" altLang="en-US"/>
          </a:p>
        </p:txBody>
      </p:sp>
    </p:spTree>
    <p:extLst>
      <p:ext uri="{BB962C8B-B14F-4D97-AF65-F5344CB8AC3E}">
        <p14:creationId xmlns:p14="http://schemas.microsoft.com/office/powerpoint/2010/main" val="3403345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A%20Spy%20in%20the%20Metro.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366D0E-AFD8-4B03-ABD5-D88F2D6473B0}"/>
              </a:ext>
            </a:extLst>
          </p:cNvPr>
          <p:cNvSpPr>
            <a:spLocks noGrp="1"/>
          </p:cNvSpPr>
          <p:nvPr>
            <p:ph type="ctrTitle"/>
          </p:nvPr>
        </p:nvSpPr>
        <p:spPr/>
        <p:txBody>
          <a:bodyPr>
            <a:normAutofit/>
          </a:bodyPr>
          <a:lstStyle/>
          <a:p>
            <a:r>
              <a:rPr lang="en-US" altLang="zh-CN"/>
              <a:t>Dynamic Programming</a:t>
            </a:r>
            <a:br>
              <a:rPr lang="en-US" altLang="zh-CN"/>
            </a:br>
            <a:r>
              <a:rPr lang="en-US" altLang="zh-CN" sz="3600"/>
              <a:t>Part 1</a:t>
            </a:r>
            <a:endParaRPr lang="zh-CN" altLang="en-US" sz="3600"/>
          </a:p>
        </p:txBody>
      </p:sp>
      <p:sp>
        <p:nvSpPr>
          <p:cNvPr id="3" name="副标题 2">
            <a:extLst>
              <a:ext uri="{FF2B5EF4-FFF2-40B4-BE49-F238E27FC236}">
                <a16:creationId xmlns:a16="http://schemas.microsoft.com/office/drawing/2014/main" id="{DAF935BE-A1B0-406A-A51D-801EC803AFC2}"/>
              </a:ext>
            </a:extLst>
          </p:cNvPr>
          <p:cNvSpPr>
            <a:spLocks noGrp="1"/>
          </p:cNvSpPr>
          <p:nvPr>
            <p:ph type="subTitle" idx="1"/>
          </p:nvPr>
        </p:nvSpPr>
        <p:spPr/>
        <p:txBody>
          <a:bodyPr/>
          <a:lstStyle/>
          <a:p>
            <a:r>
              <a:rPr lang="en-US" altLang="zh-CN"/>
              <a:t>Xu Yanyan</a:t>
            </a:r>
            <a:endParaRPr lang="zh-CN" altLang="en-US"/>
          </a:p>
        </p:txBody>
      </p:sp>
    </p:spTree>
    <p:extLst>
      <p:ext uri="{BB962C8B-B14F-4D97-AF65-F5344CB8AC3E}">
        <p14:creationId xmlns:p14="http://schemas.microsoft.com/office/powerpoint/2010/main" val="2788797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B12155-CAF5-4670-BD1A-79CE7D608072}"/>
              </a:ext>
            </a:extLst>
          </p:cNvPr>
          <p:cNvSpPr>
            <a:spLocks noGrp="1"/>
          </p:cNvSpPr>
          <p:nvPr>
            <p:ph type="title"/>
          </p:nvPr>
        </p:nvSpPr>
        <p:spPr/>
        <p:txBody>
          <a:bodyPr/>
          <a:lstStyle/>
          <a:p>
            <a:r>
              <a:rPr lang="en-US" altLang="zh-CN"/>
              <a:t>Sharing repeated subproblems</a:t>
            </a:r>
            <a:endParaRPr lang="zh-CN" altLang="en-US"/>
          </a:p>
        </p:txBody>
      </p:sp>
      <p:sp>
        <p:nvSpPr>
          <p:cNvPr id="3" name="内容占位符 2">
            <a:extLst>
              <a:ext uri="{FF2B5EF4-FFF2-40B4-BE49-F238E27FC236}">
                <a16:creationId xmlns:a16="http://schemas.microsoft.com/office/drawing/2014/main" id="{5C049BCA-444E-4253-A4F2-385517F324FB}"/>
              </a:ext>
            </a:extLst>
          </p:cNvPr>
          <p:cNvSpPr>
            <a:spLocks noGrp="1"/>
          </p:cNvSpPr>
          <p:nvPr>
            <p:ph idx="1"/>
          </p:nvPr>
        </p:nvSpPr>
        <p:spPr/>
        <p:txBody>
          <a:bodyPr/>
          <a:lstStyle/>
          <a:p>
            <a:pPr algn="just"/>
            <a:r>
              <a:rPr lang="en-US" altLang="zh-CN"/>
              <a:t>For some problems, the branched recursion may end up evaluating the same sub-problem many times over. In such cases it may be worth saving the solutions to these </a:t>
            </a:r>
            <a:r>
              <a:rPr lang="en-US" altLang="zh-CN">
                <a:solidFill>
                  <a:srgbClr val="FF0000"/>
                </a:solidFill>
              </a:rPr>
              <a:t>overlapping subproblems</a:t>
            </a:r>
            <a:r>
              <a:rPr lang="en-US" altLang="zh-CN"/>
              <a:t>, a technique commonly known as </a:t>
            </a:r>
            <a:r>
              <a:rPr lang="en-US" altLang="zh-CN">
                <a:solidFill>
                  <a:srgbClr val="FF0000"/>
                </a:solidFill>
              </a:rPr>
              <a:t>memoization</a:t>
            </a:r>
            <a:r>
              <a:rPr lang="en-US" altLang="zh-CN"/>
              <a:t>. Followed to the limit, it leads to bottom-up divide-and-conquer algorithms such as </a:t>
            </a:r>
            <a:r>
              <a:rPr lang="en-US" altLang="zh-CN" sz="3200" b="1">
                <a:solidFill>
                  <a:srgbClr val="FF0000"/>
                </a:solidFill>
              </a:rPr>
              <a:t>dynamic programming</a:t>
            </a:r>
            <a:r>
              <a:rPr lang="en-US" altLang="zh-CN"/>
              <a:t>.</a:t>
            </a:r>
            <a:endParaRPr lang="zh-CN" altLang="en-US"/>
          </a:p>
        </p:txBody>
      </p:sp>
    </p:spTree>
    <p:extLst>
      <p:ext uri="{BB962C8B-B14F-4D97-AF65-F5344CB8AC3E}">
        <p14:creationId xmlns:p14="http://schemas.microsoft.com/office/powerpoint/2010/main" val="2565226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C4D2F-E46B-4EA3-B368-68F601AF5F63}"/>
              </a:ext>
            </a:extLst>
          </p:cNvPr>
          <p:cNvSpPr>
            <a:spLocks noGrp="1"/>
          </p:cNvSpPr>
          <p:nvPr>
            <p:ph type="title"/>
          </p:nvPr>
        </p:nvSpPr>
        <p:spPr/>
        <p:txBody>
          <a:bodyPr/>
          <a:lstStyle/>
          <a:p>
            <a:r>
              <a:rPr lang="en-US" altLang="zh-CN"/>
              <a:t>An simple example--Fibonacci sequence</a:t>
            </a:r>
            <a:endParaRPr lang="zh-CN" altLang="en-US"/>
          </a:p>
        </p:txBody>
      </p:sp>
      <p:pic>
        <p:nvPicPr>
          <p:cNvPr id="5" name="图片 4">
            <a:extLst>
              <a:ext uri="{FF2B5EF4-FFF2-40B4-BE49-F238E27FC236}">
                <a16:creationId xmlns:a16="http://schemas.microsoft.com/office/drawing/2014/main" id="{21967620-0F25-4822-B430-F0EEE4CCD7DF}"/>
              </a:ext>
            </a:extLst>
          </p:cNvPr>
          <p:cNvPicPr>
            <a:picLocks noChangeAspect="1"/>
          </p:cNvPicPr>
          <p:nvPr/>
        </p:nvPicPr>
        <p:blipFill>
          <a:blip r:embed="rId2"/>
          <a:stretch>
            <a:fillRect/>
          </a:stretch>
        </p:blipFill>
        <p:spPr>
          <a:xfrm>
            <a:off x="969387" y="1517619"/>
            <a:ext cx="4781397" cy="1119050"/>
          </a:xfrm>
          <a:prstGeom prst="rect">
            <a:avLst/>
          </a:prstGeom>
        </p:spPr>
      </p:pic>
      <p:pic>
        <p:nvPicPr>
          <p:cNvPr id="7" name="图片 6">
            <a:extLst>
              <a:ext uri="{FF2B5EF4-FFF2-40B4-BE49-F238E27FC236}">
                <a16:creationId xmlns:a16="http://schemas.microsoft.com/office/drawing/2014/main" id="{DD544B8E-3CC3-4DEB-A335-F401E6DB4ACE}"/>
              </a:ext>
            </a:extLst>
          </p:cNvPr>
          <p:cNvPicPr>
            <a:picLocks noChangeAspect="1"/>
          </p:cNvPicPr>
          <p:nvPr/>
        </p:nvPicPr>
        <p:blipFill>
          <a:blip r:embed="rId3"/>
          <a:stretch>
            <a:fillRect/>
          </a:stretch>
        </p:blipFill>
        <p:spPr>
          <a:xfrm>
            <a:off x="969387" y="3035915"/>
            <a:ext cx="9828554" cy="1983511"/>
          </a:xfrm>
          <a:prstGeom prst="rect">
            <a:avLst/>
          </a:prstGeom>
        </p:spPr>
      </p:pic>
      <p:sp>
        <p:nvSpPr>
          <p:cNvPr id="9" name="文本框 8">
            <a:extLst>
              <a:ext uri="{FF2B5EF4-FFF2-40B4-BE49-F238E27FC236}">
                <a16:creationId xmlns:a16="http://schemas.microsoft.com/office/drawing/2014/main" id="{FA729830-296B-49D2-AE15-7FBEC4C33E1A}"/>
              </a:ext>
            </a:extLst>
          </p:cNvPr>
          <p:cNvSpPr txBox="1"/>
          <p:nvPr/>
        </p:nvSpPr>
        <p:spPr>
          <a:xfrm>
            <a:off x="5985769" y="1892478"/>
            <a:ext cx="3433439" cy="461665"/>
          </a:xfrm>
          <a:prstGeom prst="rect">
            <a:avLst/>
          </a:prstGeom>
          <a:noFill/>
        </p:spPr>
        <p:txBody>
          <a:bodyPr wrap="square">
            <a:spAutoFit/>
          </a:bodyPr>
          <a:lstStyle/>
          <a:p>
            <a:r>
              <a:rPr lang="en-US" altLang="zh-CN" sz="2400" b="0" i="0">
                <a:solidFill>
                  <a:srgbClr val="202122"/>
                </a:solidFill>
                <a:effectLst/>
                <a:latin typeface="Arial" panose="020B0604020202020204" pitchFamily="34" charset="0"/>
              </a:rPr>
              <a:t>a naïve implementation</a:t>
            </a:r>
            <a:endParaRPr lang="zh-CN" altLang="en-US" sz="2400"/>
          </a:p>
        </p:txBody>
      </p:sp>
      <p:sp>
        <p:nvSpPr>
          <p:cNvPr id="11" name="文本框 10">
            <a:extLst>
              <a:ext uri="{FF2B5EF4-FFF2-40B4-BE49-F238E27FC236}">
                <a16:creationId xmlns:a16="http://schemas.microsoft.com/office/drawing/2014/main" id="{E67C7434-12DA-450C-B149-8505CABA9B24}"/>
              </a:ext>
            </a:extLst>
          </p:cNvPr>
          <p:cNvSpPr txBox="1"/>
          <p:nvPr/>
        </p:nvSpPr>
        <p:spPr>
          <a:xfrm>
            <a:off x="1049784" y="5418672"/>
            <a:ext cx="9177292" cy="461665"/>
          </a:xfrm>
          <a:prstGeom prst="rect">
            <a:avLst/>
          </a:prstGeom>
          <a:noFill/>
        </p:spPr>
        <p:txBody>
          <a:bodyPr wrap="square">
            <a:spAutoFit/>
          </a:bodyPr>
          <a:lstStyle/>
          <a:p>
            <a:r>
              <a:rPr lang="en-US" altLang="zh-CN" sz="2400"/>
              <a:t>overlapping subproblems, </a:t>
            </a:r>
            <a:r>
              <a:rPr lang="en-US" altLang="zh-CN" sz="2400" b="1">
                <a:solidFill>
                  <a:srgbClr val="FF0000"/>
                </a:solidFill>
              </a:rPr>
              <a:t>an exponential time algorithm O(2</a:t>
            </a:r>
            <a:r>
              <a:rPr lang="en-US" altLang="zh-CN" sz="2400" b="1" baseline="30000">
                <a:solidFill>
                  <a:srgbClr val="FF0000"/>
                </a:solidFill>
              </a:rPr>
              <a:t>n</a:t>
            </a:r>
            <a:r>
              <a:rPr lang="en-US" altLang="zh-CN" sz="2400" b="1">
                <a:solidFill>
                  <a:srgbClr val="FF0000"/>
                </a:solidFill>
              </a:rPr>
              <a:t>)</a:t>
            </a:r>
            <a:endParaRPr lang="zh-CN" altLang="en-US" sz="2400" b="1">
              <a:solidFill>
                <a:srgbClr val="FF0000"/>
              </a:solidFill>
            </a:endParaRPr>
          </a:p>
        </p:txBody>
      </p:sp>
    </p:spTree>
    <p:extLst>
      <p:ext uri="{BB962C8B-B14F-4D97-AF65-F5344CB8AC3E}">
        <p14:creationId xmlns:p14="http://schemas.microsoft.com/office/powerpoint/2010/main" val="753622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A24411-B97E-4DD5-9B64-C1197C717C0F}"/>
              </a:ext>
            </a:extLst>
          </p:cNvPr>
          <p:cNvSpPr>
            <a:spLocks noGrp="1"/>
          </p:cNvSpPr>
          <p:nvPr>
            <p:ph type="title"/>
          </p:nvPr>
        </p:nvSpPr>
        <p:spPr/>
        <p:txBody>
          <a:bodyPr/>
          <a:lstStyle/>
          <a:p>
            <a:r>
              <a:rPr lang="en-US" altLang="zh-CN"/>
              <a:t>Top-down approach</a:t>
            </a:r>
            <a:endParaRPr lang="zh-CN" altLang="en-US"/>
          </a:p>
        </p:txBody>
      </p:sp>
      <p:sp>
        <p:nvSpPr>
          <p:cNvPr id="3" name="内容占位符 2">
            <a:extLst>
              <a:ext uri="{FF2B5EF4-FFF2-40B4-BE49-F238E27FC236}">
                <a16:creationId xmlns:a16="http://schemas.microsoft.com/office/drawing/2014/main" id="{1A608ECE-61FA-4095-8114-DAE8E0BE3A8F}"/>
              </a:ext>
            </a:extLst>
          </p:cNvPr>
          <p:cNvSpPr>
            <a:spLocks noGrp="1"/>
          </p:cNvSpPr>
          <p:nvPr>
            <p:ph idx="1"/>
          </p:nvPr>
        </p:nvSpPr>
        <p:spPr/>
        <p:txBody>
          <a:bodyPr>
            <a:normAutofit/>
          </a:bodyPr>
          <a:lstStyle/>
          <a:p>
            <a:r>
              <a:rPr lang="en-US" altLang="zh-CN" sz="2400"/>
              <a:t>Suppose we have a simple map object, m, which maps each value of fib that has already been calculated to its result, and we modify our function to use it and update it. The resulting function requires only </a:t>
            </a:r>
            <a:r>
              <a:rPr lang="en-US" altLang="zh-CN" sz="2400">
                <a:solidFill>
                  <a:srgbClr val="FF0000"/>
                </a:solidFill>
              </a:rPr>
              <a:t>O(n) time </a:t>
            </a:r>
            <a:r>
              <a:rPr lang="en-US" altLang="zh-CN" sz="2400"/>
              <a:t>instead of exponential time</a:t>
            </a:r>
            <a:r>
              <a:rPr lang="en-US" altLang="zh-CN" sz="2400">
                <a:solidFill>
                  <a:srgbClr val="FF0000"/>
                </a:solidFill>
              </a:rPr>
              <a:t> </a:t>
            </a:r>
            <a:r>
              <a:rPr lang="en-US" altLang="zh-CN" sz="2400"/>
              <a:t>(but requires O(n) space).</a:t>
            </a:r>
          </a:p>
          <a:p>
            <a:r>
              <a:rPr lang="en-US" altLang="zh-CN" sz="2400"/>
              <a:t>This technique of saving values that have already been calculated is called </a:t>
            </a:r>
            <a:r>
              <a:rPr lang="en-US" altLang="zh-CN" sz="2400">
                <a:solidFill>
                  <a:srgbClr val="FF0000"/>
                </a:solidFill>
              </a:rPr>
              <a:t>memorization</a:t>
            </a:r>
            <a:r>
              <a:rPr lang="en-US" altLang="zh-CN" sz="2400"/>
              <a:t>.</a:t>
            </a:r>
            <a:endParaRPr lang="zh-CN" altLang="en-US" sz="2400"/>
          </a:p>
        </p:txBody>
      </p:sp>
      <p:pic>
        <p:nvPicPr>
          <p:cNvPr id="6" name="图片 5">
            <a:extLst>
              <a:ext uri="{FF2B5EF4-FFF2-40B4-BE49-F238E27FC236}">
                <a16:creationId xmlns:a16="http://schemas.microsoft.com/office/drawing/2014/main" id="{C4C5D227-1780-4DD8-B54F-CE7D6DFA3B4C}"/>
              </a:ext>
            </a:extLst>
          </p:cNvPr>
          <p:cNvPicPr>
            <a:picLocks noChangeAspect="1"/>
          </p:cNvPicPr>
          <p:nvPr/>
        </p:nvPicPr>
        <p:blipFill>
          <a:blip r:embed="rId2"/>
          <a:stretch>
            <a:fillRect/>
          </a:stretch>
        </p:blipFill>
        <p:spPr>
          <a:xfrm>
            <a:off x="3172889" y="3750339"/>
            <a:ext cx="7607059" cy="2561561"/>
          </a:xfrm>
          <a:prstGeom prst="rect">
            <a:avLst/>
          </a:prstGeom>
        </p:spPr>
      </p:pic>
    </p:spTree>
    <p:extLst>
      <p:ext uri="{BB962C8B-B14F-4D97-AF65-F5344CB8AC3E}">
        <p14:creationId xmlns:p14="http://schemas.microsoft.com/office/powerpoint/2010/main" val="1782312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6459D1-C62A-4322-A0C2-AF84A0D3E6CE}"/>
              </a:ext>
            </a:extLst>
          </p:cNvPr>
          <p:cNvSpPr>
            <a:spLocks noGrp="1"/>
          </p:cNvSpPr>
          <p:nvPr>
            <p:ph type="title"/>
          </p:nvPr>
        </p:nvSpPr>
        <p:spPr/>
        <p:txBody>
          <a:bodyPr/>
          <a:lstStyle/>
          <a:p>
            <a:r>
              <a:rPr lang="en-US" altLang="zh-CN"/>
              <a:t>Bottom-up approach</a:t>
            </a:r>
            <a:endParaRPr lang="zh-CN" altLang="en-US"/>
          </a:p>
        </p:txBody>
      </p:sp>
      <p:sp>
        <p:nvSpPr>
          <p:cNvPr id="3" name="内容占位符 2">
            <a:extLst>
              <a:ext uri="{FF2B5EF4-FFF2-40B4-BE49-F238E27FC236}">
                <a16:creationId xmlns:a16="http://schemas.microsoft.com/office/drawing/2014/main" id="{EC8D3240-F242-4C40-B55E-E66C544DEA1B}"/>
              </a:ext>
            </a:extLst>
          </p:cNvPr>
          <p:cNvSpPr>
            <a:spLocks noGrp="1"/>
          </p:cNvSpPr>
          <p:nvPr>
            <p:ph idx="1"/>
          </p:nvPr>
        </p:nvSpPr>
        <p:spPr/>
        <p:txBody>
          <a:bodyPr/>
          <a:lstStyle/>
          <a:p>
            <a:r>
              <a:rPr lang="en-US" altLang="zh-CN"/>
              <a:t>In the bottom-up approach, we calculate the smaller values of fib first, then build larger values from them. This method also uses </a:t>
            </a:r>
            <a:r>
              <a:rPr lang="en-US" altLang="zh-CN">
                <a:solidFill>
                  <a:srgbClr val="FF0000"/>
                </a:solidFill>
              </a:rPr>
              <a:t>O(n) time </a:t>
            </a:r>
            <a:r>
              <a:rPr lang="en-US" altLang="zh-CN"/>
              <a:t>since it contains a loop that repeats n − 1 times, but it only takes constant (O(1)) space, in contrast to the top-down approach which requires O(n) space to store the map.</a:t>
            </a:r>
            <a:endParaRPr lang="zh-CN" altLang="en-US"/>
          </a:p>
        </p:txBody>
      </p:sp>
      <p:pic>
        <p:nvPicPr>
          <p:cNvPr id="5" name="图片 4">
            <a:extLst>
              <a:ext uri="{FF2B5EF4-FFF2-40B4-BE49-F238E27FC236}">
                <a16:creationId xmlns:a16="http://schemas.microsoft.com/office/drawing/2014/main" id="{2FFDC282-6B02-47F2-8CDE-B365630FD19C}"/>
              </a:ext>
            </a:extLst>
          </p:cNvPr>
          <p:cNvPicPr>
            <a:picLocks noChangeAspect="1"/>
          </p:cNvPicPr>
          <p:nvPr/>
        </p:nvPicPr>
        <p:blipFill>
          <a:blip r:embed="rId2"/>
          <a:stretch>
            <a:fillRect/>
          </a:stretch>
        </p:blipFill>
        <p:spPr>
          <a:xfrm>
            <a:off x="1109367" y="4001294"/>
            <a:ext cx="5777723" cy="2630325"/>
          </a:xfrm>
          <a:prstGeom prst="rect">
            <a:avLst/>
          </a:prstGeom>
        </p:spPr>
      </p:pic>
    </p:spTree>
    <p:extLst>
      <p:ext uri="{BB962C8B-B14F-4D97-AF65-F5344CB8AC3E}">
        <p14:creationId xmlns:p14="http://schemas.microsoft.com/office/powerpoint/2010/main" val="1546663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471F2F-080C-446F-B4E7-B64E9DFAD257}"/>
              </a:ext>
            </a:extLst>
          </p:cNvPr>
          <p:cNvSpPr>
            <a:spLocks noGrp="1"/>
          </p:cNvSpPr>
          <p:nvPr>
            <p:ph type="title"/>
          </p:nvPr>
        </p:nvSpPr>
        <p:spPr/>
        <p:txBody>
          <a:bodyPr/>
          <a:lstStyle/>
          <a:p>
            <a:r>
              <a:rPr lang="en-US" altLang="zh-CN"/>
              <a:t>Overlapping subproblems</a:t>
            </a:r>
            <a:endParaRPr lang="zh-CN" altLang="en-US"/>
          </a:p>
        </p:txBody>
      </p:sp>
      <p:sp>
        <p:nvSpPr>
          <p:cNvPr id="3" name="内容占位符 2">
            <a:extLst>
              <a:ext uri="{FF2B5EF4-FFF2-40B4-BE49-F238E27FC236}">
                <a16:creationId xmlns:a16="http://schemas.microsoft.com/office/drawing/2014/main" id="{A7EA1B4A-AA7D-4E09-8305-3A2797064227}"/>
              </a:ext>
            </a:extLst>
          </p:cNvPr>
          <p:cNvSpPr>
            <a:spLocks noGrp="1"/>
          </p:cNvSpPr>
          <p:nvPr>
            <p:ph idx="1"/>
          </p:nvPr>
        </p:nvSpPr>
        <p:spPr/>
        <p:txBody>
          <a:bodyPr>
            <a:normAutofit fontScale="92500" lnSpcReduction="20000"/>
          </a:bodyPr>
          <a:lstStyle/>
          <a:p>
            <a:r>
              <a:rPr lang="en-US" altLang="zh-CN">
                <a:solidFill>
                  <a:srgbClr val="FF0000"/>
                </a:solidFill>
              </a:rPr>
              <a:t>Overlapping subproblems </a:t>
            </a:r>
            <a:r>
              <a:rPr lang="en-US" altLang="zh-CN"/>
              <a:t>means that the space of subproblems must be small, that is, any recursive algorithm solving the problem should solve the same subproblems over and over, rather than generating new subproblems.</a:t>
            </a:r>
          </a:p>
          <a:p>
            <a:pPr marL="0" indent="0">
              <a:buNone/>
            </a:pPr>
            <a:endParaRPr lang="en-US" altLang="zh-CN"/>
          </a:p>
          <a:p>
            <a:r>
              <a:rPr lang="en-US" altLang="zh-CN"/>
              <a:t>For example, consider the recursive formulation for generating the Fibonacci series: F</a:t>
            </a:r>
            <a:r>
              <a:rPr lang="en-US" altLang="zh-CN" baseline="-25000"/>
              <a:t>i </a:t>
            </a:r>
            <a:r>
              <a:rPr lang="en-US" altLang="zh-CN"/>
              <a:t>= F</a:t>
            </a:r>
            <a:r>
              <a:rPr lang="en-US" altLang="zh-CN" baseline="-25000"/>
              <a:t>i−1 </a:t>
            </a:r>
            <a:r>
              <a:rPr lang="en-US" altLang="zh-CN"/>
              <a:t>+ F</a:t>
            </a:r>
            <a:r>
              <a:rPr lang="en-US" altLang="zh-CN" baseline="-25000"/>
              <a:t>i−2</a:t>
            </a:r>
            <a:r>
              <a:rPr lang="en-US" altLang="zh-CN"/>
              <a:t>, with base case F</a:t>
            </a:r>
            <a:r>
              <a:rPr lang="en-US" altLang="zh-CN" baseline="-25000"/>
              <a:t>1</a:t>
            </a:r>
            <a:r>
              <a:rPr lang="en-US" altLang="zh-CN"/>
              <a:t> = F</a:t>
            </a:r>
            <a:r>
              <a:rPr lang="en-US" altLang="zh-CN" baseline="-25000"/>
              <a:t>2</a:t>
            </a:r>
            <a:r>
              <a:rPr lang="en-US" altLang="zh-CN"/>
              <a:t> = 1. Then F</a:t>
            </a:r>
            <a:r>
              <a:rPr lang="en-US" altLang="zh-CN" baseline="-25000"/>
              <a:t>43</a:t>
            </a:r>
            <a:r>
              <a:rPr lang="en-US" altLang="zh-CN"/>
              <a:t> = F</a:t>
            </a:r>
            <a:r>
              <a:rPr lang="en-US" altLang="zh-CN" baseline="-25000"/>
              <a:t>42</a:t>
            </a:r>
            <a:r>
              <a:rPr lang="en-US" altLang="zh-CN"/>
              <a:t> + F</a:t>
            </a:r>
            <a:r>
              <a:rPr lang="en-US" altLang="zh-CN" baseline="-25000"/>
              <a:t>41</a:t>
            </a:r>
            <a:r>
              <a:rPr lang="en-US" altLang="zh-CN"/>
              <a:t>, and F</a:t>
            </a:r>
            <a:r>
              <a:rPr lang="en-US" altLang="zh-CN" baseline="-25000"/>
              <a:t>42</a:t>
            </a:r>
            <a:r>
              <a:rPr lang="en-US" altLang="zh-CN"/>
              <a:t> = F</a:t>
            </a:r>
            <a:r>
              <a:rPr lang="en-US" altLang="zh-CN" baseline="-25000"/>
              <a:t>41</a:t>
            </a:r>
            <a:r>
              <a:rPr lang="en-US" altLang="zh-CN"/>
              <a:t> + F</a:t>
            </a:r>
            <a:r>
              <a:rPr lang="en-US" altLang="zh-CN" baseline="-25000"/>
              <a:t>40</a:t>
            </a:r>
            <a:r>
              <a:rPr lang="en-US" altLang="zh-CN"/>
              <a:t>. Now F</a:t>
            </a:r>
            <a:r>
              <a:rPr lang="en-US" altLang="zh-CN" baseline="-25000"/>
              <a:t>41</a:t>
            </a:r>
            <a:r>
              <a:rPr lang="en-US" altLang="zh-CN"/>
              <a:t> is being solved in the recursive subtrees of both F</a:t>
            </a:r>
            <a:r>
              <a:rPr lang="en-US" altLang="zh-CN" baseline="-25000"/>
              <a:t>43</a:t>
            </a:r>
            <a:r>
              <a:rPr lang="en-US" altLang="zh-CN"/>
              <a:t> as well as F</a:t>
            </a:r>
            <a:r>
              <a:rPr lang="en-US" altLang="zh-CN" baseline="-25000"/>
              <a:t>42</a:t>
            </a:r>
            <a:r>
              <a:rPr lang="en-US" altLang="zh-CN"/>
              <a:t>. Even though the total number of subproblems is actually small (only 43 of them), we end up solving the same problems over and over if we adopt a naive recursive solution. </a:t>
            </a:r>
            <a:r>
              <a:rPr lang="en-US" altLang="zh-CN">
                <a:solidFill>
                  <a:srgbClr val="FF0000"/>
                </a:solidFill>
              </a:rPr>
              <a:t>Dynamic programming takes account of this fact and solves each sub-problem only once.</a:t>
            </a:r>
            <a:endParaRPr lang="zh-CN" altLang="en-US">
              <a:solidFill>
                <a:srgbClr val="FF0000"/>
              </a:solidFill>
            </a:endParaRPr>
          </a:p>
        </p:txBody>
      </p:sp>
    </p:spTree>
    <p:extLst>
      <p:ext uri="{BB962C8B-B14F-4D97-AF65-F5344CB8AC3E}">
        <p14:creationId xmlns:p14="http://schemas.microsoft.com/office/powerpoint/2010/main" val="2326733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0EA3EF-72B5-4884-9EC7-AD3F7C27E53E}"/>
              </a:ext>
            </a:extLst>
          </p:cNvPr>
          <p:cNvSpPr>
            <a:spLocks noGrp="1"/>
          </p:cNvSpPr>
          <p:nvPr>
            <p:ph type="title"/>
          </p:nvPr>
        </p:nvSpPr>
        <p:spPr/>
        <p:txBody>
          <a:bodyPr/>
          <a:lstStyle/>
          <a:p>
            <a:r>
              <a:rPr lang="en-US" altLang="zh-CN"/>
              <a:t>Optimal substructure</a:t>
            </a:r>
            <a:endParaRPr lang="zh-CN" altLang="en-US"/>
          </a:p>
        </p:txBody>
      </p:sp>
      <p:sp>
        <p:nvSpPr>
          <p:cNvPr id="3" name="内容占位符 2">
            <a:extLst>
              <a:ext uri="{FF2B5EF4-FFF2-40B4-BE49-F238E27FC236}">
                <a16:creationId xmlns:a16="http://schemas.microsoft.com/office/drawing/2014/main" id="{F1DED26B-6112-4321-8EE4-E8D3EA33F0B3}"/>
              </a:ext>
            </a:extLst>
          </p:cNvPr>
          <p:cNvSpPr>
            <a:spLocks noGrp="1"/>
          </p:cNvSpPr>
          <p:nvPr>
            <p:ph idx="1"/>
          </p:nvPr>
        </p:nvSpPr>
        <p:spPr/>
        <p:txBody>
          <a:bodyPr>
            <a:normAutofit fontScale="92500"/>
          </a:bodyPr>
          <a:lstStyle/>
          <a:p>
            <a:r>
              <a:rPr lang="en-US" altLang="zh-CN"/>
              <a:t>In computer science, if a problem can be solved optimally by breaking it into sub-problems and then recursively finding the optimal solutions to the sub-problems, then it is said to have </a:t>
            </a:r>
            <a:r>
              <a:rPr lang="en-US" altLang="zh-CN">
                <a:solidFill>
                  <a:srgbClr val="FF0000"/>
                </a:solidFill>
              </a:rPr>
              <a:t>optimal substructure</a:t>
            </a:r>
            <a:r>
              <a:rPr lang="en-US" altLang="zh-CN"/>
              <a:t>.</a:t>
            </a:r>
          </a:p>
          <a:p>
            <a:pPr marL="0" indent="0">
              <a:buNone/>
            </a:pPr>
            <a:endParaRPr lang="en-US" altLang="zh-CN"/>
          </a:p>
          <a:p>
            <a:r>
              <a:rPr lang="en-US" altLang="zh-CN"/>
              <a:t>For example, given a graph G=(V,E), the shortest path </a:t>
            </a:r>
            <a:r>
              <a:rPr lang="en-US" altLang="zh-CN" i="1"/>
              <a:t>p </a:t>
            </a:r>
            <a:r>
              <a:rPr lang="en-US" altLang="zh-CN"/>
              <a:t>from a vertex </a:t>
            </a:r>
            <a:r>
              <a:rPr lang="en-US" altLang="zh-CN" i="1"/>
              <a:t>u</a:t>
            </a:r>
            <a:r>
              <a:rPr lang="en-US" altLang="zh-CN"/>
              <a:t> to a vertex </a:t>
            </a:r>
            <a:r>
              <a:rPr lang="en-US" altLang="zh-CN" i="1"/>
              <a:t>v</a:t>
            </a:r>
            <a:r>
              <a:rPr lang="en-US" altLang="zh-CN"/>
              <a:t> exhibits optimal substructure: take any intermediate vertex </a:t>
            </a:r>
            <a:r>
              <a:rPr lang="en-US" altLang="zh-CN" i="1"/>
              <a:t>w</a:t>
            </a:r>
            <a:r>
              <a:rPr lang="en-US" altLang="zh-CN"/>
              <a:t> on this shortest path </a:t>
            </a:r>
            <a:r>
              <a:rPr lang="en-US" altLang="zh-CN" i="1"/>
              <a:t>p</a:t>
            </a:r>
            <a:r>
              <a:rPr lang="en-US" altLang="zh-CN"/>
              <a:t>. If </a:t>
            </a:r>
            <a:r>
              <a:rPr lang="en-US" altLang="zh-CN" i="1"/>
              <a:t>p</a:t>
            </a:r>
            <a:r>
              <a:rPr lang="en-US" altLang="zh-CN"/>
              <a:t> is truly the shortest path, then it can be split into sub-paths </a:t>
            </a:r>
            <a:r>
              <a:rPr lang="en-US" altLang="zh-CN" i="1"/>
              <a:t>p1</a:t>
            </a:r>
            <a:r>
              <a:rPr lang="en-US" altLang="zh-CN"/>
              <a:t> from </a:t>
            </a:r>
            <a:r>
              <a:rPr lang="en-US" altLang="zh-CN" i="1"/>
              <a:t>u</a:t>
            </a:r>
            <a:r>
              <a:rPr lang="en-US" altLang="zh-CN"/>
              <a:t> to </a:t>
            </a:r>
            <a:r>
              <a:rPr lang="en-US" altLang="zh-CN" i="1"/>
              <a:t>w</a:t>
            </a:r>
            <a:r>
              <a:rPr lang="en-US" altLang="zh-CN"/>
              <a:t> and </a:t>
            </a:r>
            <a:r>
              <a:rPr lang="en-US" altLang="zh-CN" i="1"/>
              <a:t>p2</a:t>
            </a:r>
            <a:r>
              <a:rPr lang="en-US" altLang="zh-CN"/>
              <a:t> from </a:t>
            </a:r>
            <a:r>
              <a:rPr lang="en-US" altLang="zh-CN" i="1"/>
              <a:t>w</a:t>
            </a:r>
            <a:r>
              <a:rPr lang="en-US" altLang="zh-CN"/>
              <a:t> to </a:t>
            </a:r>
            <a:r>
              <a:rPr lang="en-US" altLang="zh-CN" i="1"/>
              <a:t>v</a:t>
            </a:r>
            <a:r>
              <a:rPr lang="en-US" altLang="zh-CN"/>
              <a:t> such that these, in turn, are indeed the shortest paths between the corresponding vertices. Hence, one can easily formulate the solution for finding shortest paths in a recursive manner.</a:t>
            </a:r>
          </a:p>
        </p:txBody>
      </p:sp>
    </p:spTree>
    <p:extLst>
      <p:ext uri="{BB962C8B-B14F-4D97-AF65-F5344CB8AC3E}">
        <p14:creationId xmlns:p14="http://schemas.microsoft.com/office/powerpoint/2010/main" val="2235979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E69BB2-3364-4B32-8862-F23E50FF9643}"/>
              </a:ext>
            </a:extLst>
          </p:cNvPr>
          <p:cNvSpPr>
            <a:spLocks noGrp="1"/>
          </p:cNvSpPr>
          <p:nvPr>
            <p:ph type="title"/>
          </p:nvPr>
        </p:nvSpPr>
        <p:spPr/>
        <p:txBody>
          <a:bodyPr/>
          <a:lstStyle/>
          <a:p>
            <a:r>
              <a:rPr lang="en-US" altLang="zh-CN"/>
              <a:t>DP &amp;&amp; D&amp;C</a:t>
            </a:r>
            <a:endParaRPr lang="zh-CN" altLang="en-US"/>
          </a:p>
        </p:txBody>
      </p:sp>
      <p:sp>
        <p:nvSpPr>
          <p:cNvPr id="3" name="内容占位符 2">
            <a:extLst>
              <a:ext uri="{FF2B5EF4-FFF2-40B4-BE49-F238E27FC236}">
                <a16:creationId xmlns:a16="http://schemas.microsoft.com/office/drawing/2014/main" id="{8E154A82-5DA1-4AD6-B597-7070D138C0B4}"/>
              </a:ext>
            </a:extLst>
          </p:cNvPr>
          <p:cNvSpPr>
            <a:spLocks noGrp="1"/>
          </p:cNvSpPr>
          <p:nvPr>
            <p:ph idx="1"/>
          </p:nvPr>
        </p:nvSpPr>
        <p:spPr/>
        <p:txBody>
          <a:bodyPr/>
          <a:lstStyle/>
          <a:p>
            <a:r>
              <a:rPr lang="en-US" altLang="zh-CN"/>
              <a:t>There are two key attributes that a problem must have in order for </a:t>
            </a:r>
            <a:r>
              <a:rPr lang="en-US" altLang="zh-CN" b="1">
                <a:solidFill>
                  <a:srgbClr val="FF0000"/>
                </a:solidFill>
              </a:rPr>
              <a:t>dynamic programming (DP) </a:t>
            </a:r>
            <a:r>
              <a:rPr lang="en-US" altLang="zh-CN"/>
              <a:t>to be applicable: </a:t>
            </a:r>
            <a:r>
              <a:rPr lang="en-US" altLang="zh-CN">
                <a:solidFill>
                  <a:srgbClr val="FF0000"/>
                </a:solidFill>
              </a:rPr>
              <a:t>optimal substructure </a:t>
            </a:r>
            <a:r>
              <a:rPr lang="en-US" altLang="zh-CN"/>
              <a:t>and </a:t>
            </a:r>
            <a:r>
              <a:rPr lang="en-US" altLang="zh-CN">
                <a:solidFill>
                  <a:srgbClr val="FF0000"/>
                </a:solidFill>
              </a:rPr>
              <a:t>overlapping sub-problems</a:t>
            </a:r>
            <a:r>
              <a:rPr lang="en-US" altLang="zh-CN"/>
              <a:t>. </a:t>
            </a:r>
          </a:p>
          <a:p>
            <a:pPr marL="0" indent="0">
              <a:buNone/>
            </a:pPr>
            <a:endParaRPr lang="en-US" altLang="zh-CN"/>
          </a:p>
          <a:p>
            <a:r>
              <a:rPr lang="en-US" altLang="zh-CN"/>
              <a:t>If a problem can be solved by combining optimal solutions to </a:t>
            </a:r>
            <a:r>
              <a:rPr lang="en-US" altLang="zh-CN">
                <a:solidFill>
                  <a:srgbClr val="FF0000"/>
                </a:solidFill>
              </a:rPr>
              <a:t>non-overlapping sub-problems</a:t>
            </a:r>
            <a:r>
              <a:rPr lang="en-US" altLang="zh-CN"/>
              <a:t>, the strategy is called "</a:t>
            </a:r>
            <a:r>
              <a:rPr lang="en-US" altLang="zh-CN" b="1">
                <a:solidFill>
                  <a:srgbClr val="FF0000"/>
                </a:solidFill>
              </a:rPr>
              <a:t>divide and conquer (D&amp;C)</a:t>
            </a:r>
            <a:r>
              <a:rPr lang="en-US" altLang="zh-CN"/>
              <a:t>"  instead.</a:t>
            </a:r>
            <a:endParaRPr lang="zh-CN" altLang="en-US"/>
          </a:p>
        </p:txBody>
      </p:sp>
    </p:spTree>
    <p:extLst>
      <p:ext uri="{BB962C8B-B14F-4D97-AF65-F5344CB8AC3E}">
        <p14:creationId xmlns:p14="http://schemas.microsoft.com/office/powerpoint/2010/main" val="826303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545E3D-5548-429F-980B-2D710596C2FC}"/>
              </a:ext>
            </a:extLst>
          </p:cNvPr>
          <p:cNvSpPr>
            <a:spLocks noGrp="1"/>
          </p:cNvSpPr>
          <p:nvPr>
            <p:ph type="title"/>
          </p:nvPr>
        </p:nvSpPr>
        <p:spPr/>
        <p:txBody>
          <a:bodyPr/>
          <a:lstStyle/>
          <a:p>
            <a:r>
              <a:rPr lang="en-US" altLang="zh-CN">
                <a:solidFill>
                  <a:srgbClr val="202122"/>
                </a:solidFill>
                <a:latin typeface="Arial" panose="020B0604020202020204" pitchFamily="34" charset="0"/>
              </a:rPr>
              <a:t>S</a:t>
            </a:r>
            <a:r>
              <a:rPr lang="en-US" altLang="zh-CN" b="0" i="0">
                <a:solidFill>
                  <a:srgbClr val="202122"/>
                </a:solidFill>
                <a:effectLst/>
                <a:latin typeface="Arial" panose="020B0604020202020204" pitchFamily="34" charset="0"/>
              </a:rPr>
              <a:t>olve each sub-problem only once</a:t>
            </a:r>
            <a:endParaRPr lang="zh-CN" altLang="en-US"/>
          </a:p>
        </p:txBody>
      </p:sp>
      <p:sp>
        <p:nvSpPr>
          <p:cNvPr id="3" name="内容占位符 2">
            <a:extLst>
              <a:ext uri="{FF2B5EF4-FFF2-40B4-BE49-F238E27FC236}">
                <a16:creationId xmlns:a16="http://schemas.microsoft.com/office/drawing/2014/main" id="{B4F02F0E-A369-4EB7-BFD3-8324D658A6F5}"/>
              </a:ext>
            </a:extLst>
          </p:cNvPr>
          <p:cNvSpPr>
            <a:spLocks noGrp="1"/>
          </p:cNvSpPr>
          <p:nvPr>
            <p:ph idx="1"/>
          </p:nvPr>
        </p:nvSpPr>
        <p:spPr/>
        <p:txBody>
          <a:bodyPr/>
          <a:lstStyle/>
          <a:p>
            <a:r>
              <a:rPr lang="en-US" altLang="zh-CN">
                <a:solidFill>
                  <a:srgbClr val="FF0000"/>
                </a:solidFill>
              </a:rPr>
              <a:t>Top-down approach: </a:t>
            </a:r>
            <a:r>
              <a:rPr lang="en-US" altLang="zh-CN"/>
              <a:t>This is the direct fall-out of the recursive formulation of any problem. If the solution to any problem can be formulated recursively using the solution to its subproblems, and if its subproblems are overlapping, then one can easily </a:t>
            </a:r>
            <a:r>
              <a:rPr lang="en-US" altLang="zh-CN">
                <a:solidFill>
                  <a:srgbClr val="FF0000"/>
                </a:solidFill>
              </a:rPr>
              <a:t>memorize</a:t>
            </a:r>
            <a:r>
              <a:rPr lang="en-US" altLang="zh-CN"/>
              <a:t> or store the solutions to the subproblems </a:t>
            </a:r>
            <a:r>
              <a:rPr lang="en-US" altLang="zh-CN">
                <a:solidFill>
                  <a:srgbClr val="FF0000"/>
                </a:solidFill>
              </a:rPr>
              <a:t>in a table. </a:t>
            </a:r>
            <a:r>
              <a:rPr lang="en-US" altLang="zh-CN"/>
              <a:t>Whenever we attempt to solve a new subproblem, we first check the table to see if it is already solved. If a solution has been recorded, we can use it directly, otherwise we solve the subproblem and add its solution to the table.</a:t>
            </a:r>
            <a:endParaRPr lang="zh-CN" altLang="en-US"/>
          </a:p>
        </p:txBody>
      </p:sp>
    </p:spTree>
    <p:extLst>
      <p:ext uri="{BB962C8B-B14F-4D97-AF65-F5344CB8AC3E}">
        <p14:creationId xmlns:p14="http://schemas.microsoft.com/office/powerpoint/2010/main" val="4086180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5861BCE-29B1-4FC1-B8B4-8E2FFF0908B6}"/>
              </a:ext>
            </a:extLst>
          </p:cNvPr>
          <p:cNvSpPr>
            <a:spLocks noGrp="1"/>
          </p:cNvSpPr>
          <p:nvPr>
            <p:ph idx="1"/>
          </p:nvPr>
        </p:nvSpPr>
        <p:spPr/>
        <p:txBody>
          <a:bodyPr/>
          <a:lstStyle/>
          <a:p>
            <a:r>
              <a:rPr lang="en-US" altLang="zh-CN" dirty="0">
                <a:solidFill>
                  <a:srgbClr val="FF0000"/>
                </a:solidFill>
              </a:rPr>
              <a:t>Bottom-up approach: </a:t>
            </a:r>
            <a:r>
              <a:rPr lang="en-US" altLang="zh-CN" dirty="0"/>
              <a:t>Once we formulate the solution to a problem recursively as in terms of its subproblems, we can try reformulating the problem in a bottom-up fashion: try solving the subproblems first and use their solutions to build-on and arrive at solutions to bigger subproblems. This is also usually done</a:t>
            </a:r>
            <a:r>
              <a:rPr lang="en-US" altLang="zh-CN" dirty="0">
                <a:solidFill>
                  <a:srgbClr val="FF0000"/>
                </a:solidFill>
              </a:rPr>
              <a:t> in a tabular form </a:t>
            </a:r>
            <a:r>
              <a:rPr lang="en-US" altLang="zh-CN" dirty="0"/>
              <a:t>by </a:t>
            </a:r>
            <a:r>
              <a:rPr lang="en-US" altLang="zh-CN" dirty="0">
                <a:solidFill>
                  <a:srgbClr val="FF0000"/>
                </a:solidFill>
              </a:rPr>
              <a:t>iteratively generating solutions </a:t>
            </a:r>
            <a:r>
              <a:rPr lang="en-US" altLang="zh-CN" dirty="0"/>
              <a:t>to bigger and bigger subproblems by using the solutions to small subproblems. For example, if we already know the values of F</a:t>
            </a:r>
            <a:r>
              <a:rPr lang="en-US" altLang="zh-CN" baseline="-25000" dirty="0"/>
              <a:t>41</a:t>
            </a:r>
            <a:r>
              <a:rPr lang="en-US" altLang="zh-CN" dirty="0"/>
              <a:t> and F</a:t>
            </a:r>
            <a:r>
              <a:rPr lang="en-US" altLang="zh-CN" baseline="-25000" dirty="0"/>
              <a:t>40</a:t>
            </a:r>
            <a:r>
              <a:rPr lang="en-US" altLang="zh-CN" dirty="0"/>
              <a:t>, we can directly calculate the value of F</a:t>
            </a:r>
            <a:r>
              <a:rPr lang="en-US" altLang="zh-CN" baseline="-25000" dirty="0"/>
              <a:t>42</a:t>
            </a:r>
            <a:r>
              <a:rPr lang="en-US" altLang="zh-CN" dirty="0"/>
              <a:t>.</a:t>
            </a:r>
            <a:endParaRPr lang="zh-CN" altLang="en-US" dirty="0"/>
          </a:p>
        </p:txBody>
      </p:sp>
    </p:spTree>
    <p:extLst>
      <p:ext uri="{BB962C8B-B14F-4D97-AF65-F5344CB8AC3E}">
        <p14:creationId xmlns:p14="http://schemas.microsoft.com/office/powerpoint/2010/main" val="3509620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3E8059-1E01-4B70-AE80-574A13524BCC}"/>
              </a:ext>
            </a:extLst>
          </p:cNvPr>
          <p:cNvSpPr>
            <a:spLocks noGrp="1"/>
          </p:cNvSpPr>
          <p:nvPr>
            <p:ph type="title"/>
          </p:nvPr>
        </p:nvSpPr>
        <p:spPr/>
        <p:txBody>
          <a:bodyPr/>
          <a:lstStyle/>
          <a:p>
            <a:r>
              <a:rPr lang="en-US" altLang="zh-CN"/>
              <a:t>Examples</a:t>
            </a:r>
            <a:endParaRPr lang="zh-CN" altLang="en-US"/>
          </a:p>
        </p:txBody>
      </p:sp>
      <p:sp>
        <p:nvSpPr>
          <p:cNvPr id="3" name="内容占位符 2">
            <a:extLst>
              <a:ext uri="{FF2B5EF4-FFF2-40B4-BE49-F238E27FC236}">
                <a16:creationId xmlns:a16="http://schemas.microsoft.com/office/drawing/2014/main" id="{43D47D14-3292-419C-9058-0AF32973B7E1}"/>
              </a:ext>
            </a:extLst>
          </p:cNvPr>
          <p:cNvSpPr>
            <a:spLocks noGrp="1"/>
          </p:cNvSpPr>
          <p:nvPr>
            <p:ph idx="1"/>
          </p:nvPr>
        </p:nvSpPr>
        <p:spPr/>
        <p:txBody>
          <a:bodyPr>
            <a:normAutofit lnSpcReduction="10000"/>
          </a:bodyPr>
          <a:lstStyle/>
          <a:p>
            <a:r>
              <a:rPr lang="en-US" altLang="zh-CN" dirty="0">
                <a:solidFill>
                  <a:srgbClr val="FF0000"/>
                </a:solidFill>
              </a:rPr>
              <a:t>The number triangle problem</a:t>
            </a:r>
          </a:p>
          <a:p>
            <a:r>
              <a:rPr lang="en-US" altLang="zh-CN" dirty="0">
                <a:solidFill>
                  <a:srgbClr val="FF0000"/>
                </a:solidFill>
              </a:rPr>
              <a:t>Dynamic programming on DAG</a:t>
            </a:r>
          </a:p>
          <a:p>
            <a:pPr lvl="1"/>
            <a:r>
              <a:rPr lang="en-US" altLang="zh-CN" dirty="0">
                <a:solidFill>
                  <a:srgbClr val="FF0000"/>
                </a:solidFill>
              </a:rPr>
              <a:t>Stacking Boxes</a:t>
            </a:r>
          </a:p>
          <a:p>
            <a:pPr lvl="1"/>
            <a:r>
              <a:rPr lang="en-US" altLang="zh-CN" dirty="0">
                <a:solidFill>
                  <a:srgbClr val="FF0000"/>
                </a:solidFill>
              </a:rPr>
              <a:t>A Coin Problem</a:t>
            </a:r>
            <a:r>
              <a:rPr lang="zh-CN" altLang="en-US" dirty="0">
                <a:solidFill>
                  <a:srgbClr val="FF0000"/>
                </a:solidFill>
              </a:rPr>
              <a:t> </a:t>
            </a:r>
            <a:endParaRPr lang="en-US" altLang="zh-CN" dirty="0">
              <a:solidFill>
                <a:srgbClr val="FF0000"/>
              </a:solidFill>
            </a:endParaRPr>
          </a:p>
          <a:p>
            <a:pPr lvl="1"/>
            <a:r>
              <a:rPr lang="en-US" altLang="zh-CN" dirty="0">
                <a:solidFill>
                  <a:srgbClr val="FF0000"/>
                </a:solidFill>
              </a:rPr>
              <a:t>A Spy in the Metro</a:t>
            </a:r>
          </a:p>
          <a:p>
            <a:r>
              <a:rPr lang="en-US" altLang="zh-CN" dirty="0"/>
              <a:t>Multi-stage decision problems</a:t>
            </a:r>
          </a:p>
          <a:p>
            <a:pPr lvl="1"/>
            <a:r>
              <a:rPr lang="en-US" altLang="zh-CN" dirty="0"/>
              <a:t>Unidirectional TSP</a:t>
            </a:r>
          </a:p>
          <a:p>
            <a:pPr lvl="1"/>
            <a:r>
              <a:rPr lang="en-US" altLang="zh-CN" b="1" dirty="0"/>
              <a:t>0-1</a:t>
            </a:r>
            <a:r>
              <a:rPr lang="zh-CN" altLang="en-US" b="1" dirty="0"/>
              <a:t> </a:t>
            </a:r>
            <a:r>
              <a:rPr lang="en-US" altLang="zh-CN" b="1" dirty="0"/>
              <a:t>knapsack problem</a:t>
            </a:r>
          </a:p>
          <a:p>
            <a:r>
              <a:rPr lang="en-US" altLang="zh-CN" dirty="0"/>
              <a:t>Dynamic programming on linear structure</a:t>
            </a:r>
          </a:p>
          <a:p>
            <a:pPr lvl="1"/>
            <a:r>
              <a:rPr lang="en-US" altLang="zh-CN" dirty="0"/>
              <a:t>The longest common subsequence problem</a:t>
            </a:r>
          </a:p>
          <a:p>
            <a:pPr lvl="1"/>
            <a:r>
              <a:rPr lang="en-US" altLang="zh-CN" dirty="0"/>
              <a:t>The longest increasing subsequence problem</a:t>
            </a:r>
            <a:endParaRPr lang="zh-CN" altLang="en-US" dirty="0"/>
          </a:p>
        </p:txBody>
      </p:sp>
    </p:spTree>
    <p:extLst>
      <p:ext uri="{BB962C8B-B14F-4D97-AF65-F5344CB8AC3E}">
        <p14:creationId xmlns:p14="http://schemas.microsoft.com/office/powerpoint/2010/main" val="2700586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The number triangle problem</a:t>
            </a:r>
          </a:p>
        </p:txBody>
      </p:sp>
      <p:sp>
        <p:nvSpPr>
          <p:cNvPr id="3" name="内容占位符 2"/>
          <p:cNvSpPr>
            <a:spLocks noGrp="1"/>
          </p:cNvSpPr>
          <p:nvPr>
            <p:ph idx="1"/>
          </p:nvPr>
        </p:nvSpPr>
        <p:spPr/>
        <p:txBody>
          <a:bodyPr/>
          <a:lstStyle/>
          <a:p>
            <a:pPr marL="0" indent="0">
              <a:buNone/>
            </a:pPr>
            <a:r>
              <a:rPr lang="en-US" altLang="zh-CN" dirty="0"/>
              <a:t>The figure below shows a number triangle. Write a program that calculates the maximum sum of numbers passed on a route that starts at the top and ends somewhere on the base. Each step can go either diagonally down to the left or diagonally down to the right.</a:t>
            </a:r>
            <a:endParaRPr lang="zh-CN" altLang="en-US" dirty="0"/>
          </a:p>
        </p:txBody>
      </p:sp>
      <p:pic>
        <p:nvPicPr>
          <p:cNvPr id="5" name="图片 4">
            <a:extLst>
              <a:ext uri="{FF2B5EF4-FFF2-40B4-BE49-F238E27FC236}">
                <a16:creationId xmlns:a16="http://schemas.microsoft.com/office/drawing/2014/main" id="{9A32E95E-1264-40C6-8C7A-A15A53C33DD2}"/>
              </a:ext>
            </a:extLst>
          </p:cNvPr>
          <p:cNvPicPr>
            <a:picLocks noChangeAspect="1"/>
          </p:cNvPicPr>
          <p:nvPr/>
        </p:nvPicPr>
        <p:blipFill>
          <a:blip r:embed="rId2"/>
          <a:stretch>
            <a:fillRect/>
          </a:stretch>
        </p:blipFill>
        <p:spPr>
          <a:xfrm>
            <a:off x="1907950" y="3562165"/>
            <a:ext cx="5038095" cy="2685714"/>
          </a:xfrm>
          <a:prstGeom prst="rect">
            <a:avLst/>
          </a:prstGeom>
        </p:spPr>
      </p:pic>
      <p:sp>
        <p:nvSpPr>
          <p:cNvPr id="6" name="文本框 5">
            <a:extLst>
              <a:ext uri="{FF2B5EF4-FFF2-40B4-BE49-F238E27FC236}">
                <a16:creationId xmlns:a16="http://schemas.microsoft.com/office/drawing/2014/main" id="{02BF69CB-0DAB-48A0-8A6D-10FE2FC7DE05}"/>
              </a:ext>
            </a:extLst>
          </p:cNvPr>
          <p:cNvSpPr txBox="1"/>
          <p:nvPr/>
        </p:nvSpPr>
        <p:spPr>
          <a:xfrm>
            <a:off x="7285985" y="5564404"/>
            <a:ext cx="4658188" cy="523220"/>
          </a:xfrm>
          <a:prstGeom prst="rect">
            <a:avLst/>
          </a:prstGeom>
          <a:noFill/>
        </p:spPr>
        <p:txBody>
          <a:bodyPr wrap="square">
            <a:spAutoFit/>
          </a:bodyPr>
          <a:lstStyle/>
          <a:p>
            <a:r>
              <a:rPr lang="zh-CN" altLang="zh-CN" sz="2800" dirty="0">
                <a:latin typeface="楷体_GB2312" pitchFamily="1" charset="-122"/>
                <a:ea typeface="楷体_GB2312" pitchFamily="1" charset="-122"/>
              </a:rPr>
              <a:t>2</a:t>
            </a:r>
            <a:r>
              <a:rPr lang="zh-CN" altLang="zh-CN" sz="2800" baseline="30000" dirty="0">
                <a:latin typeface="楷体_GB2312" pitchFamily="1" charset="-122"/>
                <a:ea typeface="楷体_GB2312" pitchFamily="1" charset="-122"/>
              </a:rPr>
              <a:t>30</a:t>
            </a:r>
            <a:r>
              <a:rPr lang="zh-CN" altLang="zh-CN" sz="2800" dirty="0">
                <a:latin typeface="楷体_GB2312" pitchFamily="1" charset="-122"/>
                <a:ea typeface="楷体_GB2312" pitchFamily="1" charset="-122"/>
              </a:rPr>
              <a:t>= 1024</a:t>
            </a:r>
            <a:r>
              <a:rPr lang="zh-CN" altLang="zh-CN" sz="2800" baseline="30000" dirty="0">
                <a:latin typeface="楷体_GB2312" pitchFamily="1" charset="-122"/>
                <a:ea typeface="楷体_GB2312" pitchFamily="1" charset="-122"/>
              </a:rPr>
              <a:t>3</a:t>
            </a:r>
            <a:r>
              <a:rPr lang="zh-CN" altLang="zh-CN" sz="2800" dirty="0">
                <a:latin typeface="楷体_GB2312" pitchFamily="1" charset="-122"/>
                <a:ea typeface="楷体_GB2312" pitchFamily="1" charset="-122"/>
              </a:rPr>
              <a:t> &gt; 10</a:t>
            </a:r>
            <a:r>
              <a:rPr lang="zh-CN" altLang="zh-CN" sz="2800" baseline="30000" dirty="0">
                <a:latin typeface="楷体_GB2312" pitchFamily="1" charset="-122"/>
                <a:ea typeface="楷体_GB2312" pitchFamily="1" charset="-122"/>
              </a:rPr>
              <a:t>9</a:t>
            </a:r>
            <a:r>
              <a:rPr lang="zh-CN" altLang="zh-CN" sz="2800" dirty="0">
                <a:latin typeface="楷体_GB2312" pitchFamily="1" charset="-122"/>
                <a:ea typeface="楷体_GB2312" pitchFamily="1" charset="-122"/>
              </a:rPr>
              <a:t>=1</a:t>
            </a:r>
            <a:r>
              <a:rPr lang="en-US" altLang="zh-CN" sz="2800" dirty="0">
                <a:latin typeface="楷体_GB2312" pitchFamily="1" charset="-122"/>
                <a:ea typeface="楷体_GB2312" pitchFamily="1" charset="-122"/>
              </a:rPr>
              <a:t>billion</a:t>
            </a:r>
            <a:endParaRPr lang="zh-CN" altLang="en-US" sz="2800" dirty="0"/>
          </a:p>
        </p:txBody>
      </p:sp>
    </p:spTree>
    <p:extLst>
      <p:ext uri="{BB962C8B-B14F-4D97-AF65-F5344CB8AC3E}">
        <p14:creationId xmlns:p14="http://schemas.microsoft.com/office/powerpoint/2010/main" val="942517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3C8FD85-2273-449D-A2D7-FE9B5EBAC306}"/>
              </a:ext>
            </a:extLst>
          </p:cNvPr>
          <p:cNvSpPr>
            <a:spLocks noGrp="1"/>
          </p:cNvSpPr>
          <p:nvPr>
            <p:ph type="title"/>
          </p:nvPr>
        </p:nvSpPr>
        <p:spPr/>
        <p:txBody>
          <a:bodyPr/>
          <a:lstStyle/>
          <a:p>
            <a:r>
              <a:rPr lang="en-US" altLang="zh-CN"/>
              <a:t>State &amp; Solution</a:t>
            </a:r>
            <a:endParaRPr lang="zh-CN" altLang="en-US"/>
          </a:p>
        </p:txBody>
      </p:sp>
      <p:sp>
        <p:nvSpPr>
          <p:cNvPr id="3" name="内容占位符 2"/>
          <p:cNvSpPr>
            <a:spLocks noGrp="1"/>
          </p:cNvSpPr>
          <p:nvPr>
            <p:ph idx="1"/>
          </p:nvPr>
        </p:nvSpPr>
        <p:spPr>
          <a:xfrm>
            <a:off x="838200" y="1825625"/>
            <a:ext cx="10515600" cy="1931270"/>
          </a:xfrm>
        </p:spPr>
        <p:txBody>
          <a:bodyPr>
            <a:normAutofit/>
          </a:bodyPr>
          <a:lstStyle/>
          <a:p>
            <a:r>
              <a:rPr lang="en-US" altLang="zh-CN"/>
              <a:t>Consider the position (i, j) as a state, and then define the function d(i, j) as the maximum sum that can be obtained starting from (i, j) (including (i,j) itself).</a:t>
            </a:r>
          </a:p>
          <a:p>
            <a:r>
              <a:rPr lang="en-US" altLang="zh-CN"/>
              <a:t>Then, the solution of the problem is d(1,1).</a:t>
            </a:r>
            <a:endParaRPr lang="zh-CN" altLang="en-US" dirty="0"/>
          </a:p>
        </p:txBody>
      </p:sp>
      <p:pic>
        <p:nvPicPr>
          <p:cNvPr id="5" name="图片 4">
            <a:extLst>
              <a:ext uri="{FF2B5EF4-FFF2-40B4-BE49-F238E27FC236}">
                <a16:creationId xmlns:a16="http://schemas.microsoft.com/office/drawing/2014/main" id="{C25E5EB7-BC28-42F0-80A4-B87BF49111AF}"/>
              </a:ext>
            </a:extLst>
          </p:cNvPr>
          <p:cNvPicPr>
            <a:picLocks noChangeAspect="1"/>
          </p:cNvPicPr>
          <p:nvPr/>
        </p:nvPicPr>
        <p:blipFill>
          <a:blip r:embed="rId2"/>
          <a:stretch>
            <a:fillRect/>
          </a:stretch>
        </p:blipFill>
        <p:spPr>
          <a:xfrm>
            <a:off x="3257791" y="3561587"/>
            <a:ext cx="5676417" cy="3101105"/>
          </a:xfrm>
          <a:prstGeom prst="rect">
            <a:avLst/>
          </a:prstGeom>
        </p:spPr>
      </p:pic>
    </p:spTree>
    <p:extLst>
      <p:ext uri="{BB962C8B-B14F-4D97-AF65-F5344CB8AC3E}">
        <p14:creationId xmlns:p14="http://schemas.microsoft.com/office/powerpoint/2010/main" val="921996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Brute force</a:t>
            </a:r>
            <a:endParaRPr lang="zh-CN" altLang="en-US" dirty="0"/>
          </a:p>
        </p:txBody>
      </p:sp>
      <p:sp>
        <p:nvSpPr>
          <p:cNvPr id="3" name="内容占位符 2"/>
          <p:cNvSpPr>
            <a:spLocks noGrp="1"/>
          </p:cNvSpPr>
          <p:nvPr>
            <p:ph idx="1"/>
          </p:nvPr>
        </p:nvSpPr>
        <p:spPr>
          <a:xfrm>
            <a:off x="943622" y="1401716"/>
            <a:ext cx="10515600" cy="2027284"/>
          </a:xfrm>
        </p:spPr>
        <p:txBody>
          <a:bodyPr/>
          <a:lstStyle/>
          <a:p>
            <a:pPr marL="0" indent="0">
              <a:buNone/>
            </a:pPr>
            <a:r>
              <a:rPr lang="en-US" altLang="zh-CN" dirty="0" err="1"/>
              <a:t>int</a:t>
            </a:r>
            <a:r>
              <a:rPr lang="en-US" altLang="zh-CN" dirty="0"/>
              <a:t> solve(</a:t>
            </a:r>
            <a:r>
              <a:rPr lang="en-US" altLang="zh-CN" dirty="0" err="1"/>
              <a:t>int</a:t>
            </a:r>
            <a:r>
              <a:rPr lang="en-US" altLang="zh-CN" dirty="0"/>
              <a:t> </a:t>
            </a:r>
            <a:r>
              <a:rPr lang="en-US" altLang="zh-CN" dirty="0" err="1"/>
              <a:t>i</a:t>
            </a:r>
            <a:r>
              <a:rPr lang="en-US" altLang="zh-CN" dirty="0"/>
              <a:t>, </a:t>
            </a:r>
            <a:r>
              <a:rPr lang="en-US" altLang="zh-CN" dirty="0" err="1"/>
              <a:t>int</a:t>
            </a:r>
            <a:r>
              <a:rPr lang="en-US" altLang="zh-CN" dirty="0"/>
              <a:t> j){</a:t>
            </a:r>
          </a:p>
          <a:p>
            <a:pPr marL="0" indent="0">
              <a:buNone/>
            </a:pPr>
            <a:r>
              <a:rPr lang="pt-BR" altLang="zh-CN" dirty="0"/>
              <a:t>	return </a:t>
            </a:r>
            <a:r>
              <a:rPr lang="pt-BR" altLang="zh-CN" i="1" dirty="0"/>
              <a:t>a</a:t>
            </a:r>
            <a:r>
              <a:rPr lang="pt-BR" altLang="zh-CN" dirty="0"/>
              <a:t>[i][j] + (i == </a:t>
            </a:r>
            <a:r>
              <a:rPr lang="pt-BR" altLang="zh-CN" i="1" dirty="0"/>
              <a:t>n</a:t>
            </a:r>
            <a:r>
              <a:rPr lang="pt-BR" altLang="zh-CN" dirty="0"/>
              <a:t> ? 0 : </a:t>
            </a:r>
            <a:r>
              <a:rPr lang="pt-BR" altLang="zh-CN" i="1" dirty="0"/>
              <a:t>max</a:t>
            </a:r>
            <a:r>
              <a:rPr lang="pt-BR" altLang="zh-CN" dirty="0"/>
              <a:t>(solve(i + 1, j), solve(i + 1, j + 1)));</a:t>
            </a:r>
          </a:p>
          <a:p>
            <a:pPr marL="0" indent="0">
              <a:buNone/>
            </a:pPr>
            <a:r>
              <a:rPr lang="en-US" altLang="zh-CN"/>
              <a:t>}</a:t>
            </a:r>
            <a:endParaRPr lang="en-US" altLang="zh-CN" dirty="0"/>
          </a:p>
        </p:txBody>
      </p:sp>
      <p:pic>
        <p:nvPicPr>
          <p:cNvPr id="8" name="图片 7">
            <a:extLst>
              <a:ext uri="{FF2B5EF4-FFF2-40B4-BE49-F238E27FC236}">
                <a16:creationId xmlns:a16="http://schemas.microsoft.com/office/drawing/2014/main" id="{4594F65C-2188-4FE4-8A55-7D7252485D90}"/>
              </a:ext>
            </a:extLst>
          </p:cNvPr>
          <p:cNvPicPr>
            <a:picLocks noChangeAspect="1"/>
          </p:cNvPicPr>
          <p:nvPr/>
        </p:nvPicPr>
        <p:blipFill>
          <a:blip r:embed="rId2"/>
          <a:stretch>
            <a:fillRect/>
          </a:stretch>
        </p:blipFill>
        <p:spPr>
          <a:xfrm>
            <a:off x="6291570" y="2370613"/>
            <a:ext cx="4868031" cy="2891756"/>
          </a:xfrm>
          <a:prstGeom prst="rect">
            <a:avLst/>
          </a:prstGeom>
        </p:spPr>
      </p:pic>
      <p:sp>
        <p:nvSpPr>
          <p:cNvPr id="10" name="文本框 9">
            <a:extLst>
              <a:ext uri="{FF2B5EF4-FFF2-40B4-BE49-F238E27FC236}">
                <a16:creationId xmlns:a16="http://schemas.microsoft.com/office/drawing/2014/main" id="{5A26A510-DCF0-4A4D-B6BB-B6F679EBBABB}"/>
              </a:ext>
            </a:extLst>
          </p:cNvPr>
          <p:cNvSpPr txBox="1"/>
          <p:nvPr/>
        </p:nvSpPr>
        <p:spPr>
          <a:xfrm>
            <a:off x="7683993" y="5572962"/>
            <a:ext cx="2800535" cy="369332"/>
          </a:xfrm>
          <a:prstGeom prst="rect">
            <a:avLst/>
          </a:prstGeom>
          <a:noFill/>
        </p:spPr>
        <p:txBody>
          <a:bodyPr wrap="square">
            <a:spAutoFit/>
          </a:bodyPr>
          <a:lstStyle/>
          <a:p>
            <a:r>
              <a:rPr lang="en-US" altLang="zh-CN">
                <a:solidFill>
                  <a:srgbClr val="FF0000"/>
                </a:solidFill>
              </a:rPr>
              <a:t>Overlapping subproblems</a:t>
            </a:r>
            <a:endParaRPr lang="zh-CN" altLang="en-US">
              <a:solidFill>
                <a:srgbClr val="FF0000"/>
              </a:solidFill>
            </a:endParaRPr>
          </a:p>
        </p:txBody>
      </p:sp>
      <p:sp>
        <p:nvSpPr>
          <p:cNvPr id="7" name="文本框 6">
            <a:extLst>
              <a:ext uri="{FF2B5EF4-FFF2-40B4-BE49-F238E27FC236}">
                <a16:creationId xmlns:a16="http://schemas.microsoft.com/office/drawing/2014/main" id="{682FE3DD-74A9-4430-9352-4D942E2F7843}"/>
              </a:ext>
            </a:extLst>
          </p:cNvPr>
          <p:cNvSpPr txBox="1"/>
          <p:nvPr/>
        </p:nvSpPr>
        <p:spPr>
          <a:xfrm>
            <a:off x="943622" y="4552350"/>
            <a:ext cx="4658188" cy="523220"/>
          </a:xfrm>
          <a:prstGeom prst="rect">
            <a:avLst/>
          </a:prstGeom>
          <a:noFill/>
        </p:spPr>
        <p:txBody>
          <a:bodyPr wrap="square">
            <a:spAutoFit/>
          </a:bodyPr>
          <a:lstStyle/>
          <a:p>
            <a:r>
              <a:rPr lang="zh-CN" altLang="zh-CN" sz="2800" dirty="0">
                <a:latin typeface="楷体_GB2312" pitchFamily="1" charset="-122"/>
                <a:ea typeface="楷体_GB2312" pitchFamily="1" charset="-122"/>
              </a:rPr>
              <a:t>2</a:t>
            </a:r>
            <a:r>
              <a:rPr lang="zh-CN" altLang="zh-CN" sz="2800" baseline="30000" dirty="0">
                <a:latin typeface="楷体_GB2312" pitchFamily="1" charset="-122"/>
                <a:ea typeface="楷体_GB2312" pitchFamily="1" charset="-122"/>
              </a:rPr>
              <a:t>30</a:t>
            </a:r>
            <a:r>
              <a:rPr lang="zh-CN" altLang="zh-CN" sz="2800" dirty="0">
                <a:latin typeface="楷体_GB2312" pitchFamily="1" charset="-122"/>
                <a:ea typeface="楷体_GB2312" pitchFamily="1" charset="-122"/>
              </a:rPr>
              <a:t>= 1024</a:t>
            </a:r>
            <a:r>
              <a:rPr lang="zh-CN" altLang="zh-CN" sz="2800" baseline="30000" dirty="0">
                <a:latin typeface="楷体_GB2312" pitchFamily="1" charset="-122"/>
                <a:ea typeface="楷体_GB2312" pitchFamily="1" charset="-122"/>
              </a:rPr>
              <a:t>3</a:t>
            </a:r>
            <a:r>
              <a:rPr lang="zh-CN" altLang="zh-CN" sz="2800" dirty="0">
                <a:latin typeface="楷体_GB2312" pitchFamily="1" charset="-122"/>
                <a:ea typeface="楷体_GB2312" pitchFamily="1" charset="-122"/>
              </a:rPr>
              <a:t> &gt; 10</a:t>
            </a:r>
            <a:r>
              <a:rPr lang="zh-CN" altLang="zh-CN" sz="2800" baseline="30000" dirty="0">
                <a:latin typeface="楷体_GB2312" pitchFamily="1" charset="-122"/>
                <a:ea typeface="楷体_GB2312" pitchFamily="1" charset="-122"/>
              </a:rPr>
              <a:t>9</a:t>
            </a:r>
            <a:r>
              <a:rPr lang="zh-CN" altLang="zh-CN" sz="2800" dirty="0">
                <a:latin typeface="楷体_GB2312" pitchFamily="1" charset="-122"/>
                <a:ea typeface="楷体_GB2312" pitchFamily="1" charset="-122"/>
              </a:rPr>
              <a:t>=1</a:t>
            </a:r>
            <a:r>
              <a:rPr lang="en-US" altLang="zh-CN" sz="2800" dirty="0">
                <a:latin typeface="楷体_GB2312" pitchFamily="1" charset="-122"/>
                <a:ea typeface="楷体_GB2312" pitchFamily="1" charset="-122"/>
              </a:rPr>
              <a:t>billion</a:t>
            </a:r>
            <a:endParaRPr lang="zh-CN" altLang="en-US" sz="2800" dirty="0"/>
          </a:p>
        </p:txBody>
      </p:sp>
    </p:spTree>
    <p:extLst>
      <p:ext uri="{BB962C8B-B14F-4D97-AF65-F5344CB8AC3E}">
        <p14:creationId xmlns:p14="http://schemas.microsoft.com/office/powerpoint/2010/main" val="146274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4E6EE6-9784-4FC0-B20E-C6BD64460369}"/>
              </a:ext>
            </a:extLst>
          </p:cNvPr>
          <p:cNvSpPr>
            <a:spLocks noGrp="1"/>
          </p:cNvSpPr>
          <p:nvPr>
            <p:ph type="title"/>
          </p:nvPr>
        </p:nvSpPr>
        <p:spPr/>
        <p:txBody>
          <a:bodyPr/>
          <a:lstStyle/>
          <a:p>
            <a:r>
              <a:rPr lang="en-US" altLang="zh-CN"/>
              <a:t>Dynamic Programming ?</a:t>
            </a:r>
            <a:endParaRPr lang="zh-CN" altLang="en-US"/>
          </a:p>
        </p:txBody>
      </p:sp>
      <p:sp>
        <p:nvSpPr>
          <p:cNvPr id="3" name="内容占位符 2">
            <a:extLst>
              <a:ext uri="{FF2B5EF4-FFF2-40B4-BE49-F238E27FC236}">
                <a16:creationId xmlns:a16="http://schemas.microsoft.com/office/drawing/2014/main" id="{3D556A3E-78AF-41D9-B75C-1A9DE2242E27}"/>
              </a:ext>
            </a:extLst>
          </p:cNvPr>
          <p:cNvSpPr>
            <a:spLocks noGrp="1"/>
          </p:cNvSpPr>
          <p:nvPr>
            <p:ph idx="1"/>
          </p:nvPr>
        </p:nvSpPr>
        <p:spPr/>
        <p:txBody>
          <a:bodyPr/>
          <a:lstStyle/>
          <a:p>
            <a:r>
              <a:rPr lang="en-US" altLang="zh-CN"/>
              <a:t>Overlapping subproblems  √</a:t>
            </a:r>
          </a:p>
          <a:p>
            <a:r>
              <a:rPr lang="en-US" altLang="zh-CN"/>
              <a:t>Optimal substructure √</a:t>
            </a:r>
            <a:endParaRPr lang="zh-CN" altLang="en-US"/>
          </a:p>
        </p:txBody>
      </p:sp>
    </p:spTree>
    <p:extLst>
      <p:ext uri="{BB962C8B-B14F-4D97-AF65-F5344CB8AC3E}">
        <p14:creationId xmlns:p14="http://schemas.microsoft.com/office/powerpoint/2010/main" val="3586939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312801"/>
            <a:ext cx="10515600" cy="1325563"/>
          </a:xfrm>
        </p:spPr>
        <p:txBody>
          <a:bodyPr/>
          <a:lstStyle/>
          <a:p>
            <a:r>
              <a:rPr lang="en-US" altLang="zh-CN" b="1"/>
              <a:t>The core of dynamic programming is the “</a:t>
            </a:r>
            <a:r>
              <a:rPr lang="en-US" altLang="zh-CN" b="1">
                <a:solidFill>
                  <a:srgbClr val="FF0000"/>
                </a:solidFill>
              </a:rPr>
              <a:t>state transition equation</a:t>
            </a:r>
            <a:r>
              <a:rPr lang="en-US" altLang="zh-CN" b="1"/>
              <a:t>”.</a:t>
            </a:r>
            <a:endParaRPr lang="zh-CN" altLang="en-US" b="1" dirty="0"/>
          </a:p>
        </p:txBody>
      </p:sp>
    </p:spTree>
    <p:extLst>
      <p:ext uri="{BB962C8B-B14F-4D97-AF65-F5344CB8AC3E}">
        <p14:creationId xmlns:p14="http://schemas.microsoft.com/office/powerpoint/2010/main" val="3027770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State transition equation</a:t>
            </a:r>
            <a:endParaRPr lang="zh-CN" altLang="en-US" dirty="0"/>
          </a:p>
        </p:txBody>
      </p:sp>
      <p:sp>
        <p:nvSpPr>
          <p:cNvPr id="3" name="内容占位符 2"/>
          <p:cNvSpPr>
            <a:spLocks noGrp="1"/>
          </p:cNvSpPr>
          <p:nvPr>
            <p:ph idx="1"/>
          </p:nvPr>
        </p:nvSpPr>
        <p:spPr>
          <a:xfrm>
            <a:off x="838200" y="2354989"/>
            <a:ext cx="10088183" cy="885362"/>
          </a:xfrm>
        </p:spPr>
        <p:txBody>
          <a:bodyPr>
            <a:normAutofit/>
          </a:bodyPr>
          <a:lstStyle/>
          <a:p>
            <a:pPr marL="0" indent="0">
              <a:buNone/>
            </a:pPr>
            <a:r>
              <a:rPr lang="en-US" altLang="zh-CN" sz="4800" dirty="0"/>
              <a:t>d(</a:t>
            </a:r>
            <a:r>
              <a:rPr lang="en-US" altLang="zh-CN" sz="4800" dirty="0" err="1"/>
              <a:t>i,j</a:t>
            </a:r>
            <a:r>
              <a:rPr lang="en-US" altLang="zh-CN" sz="4800" dirty="0"/>
              <a:t>) = a(</a:t>
            </a:r>
            <a:r>
              <a:rPr lang="en-US" altLang="zh-CN" sz="4800" dirty="0" err="1"/>
              <a:t>i,j</a:t>
            </a:r>
            <a:r>
              <a:rPr lang="en-US" altLang="zh-CN" sz="4800" dirty="0"/>
              <a:t>) + max{d(i+1,j),d(i+1,j+1)}</a:t>
            </a:r>
            <a:endParaRPr lang="zh-CN" altLang="en-US" sz="4800" dirty="0"/>
          </a:p>
        </p:txBody>
      </p:sp>
    </p:spTree>
    <p:extLst>
      <p:ext uri="{BB962C8B-B14F-4D97-AF65-F5344CB8AC3E}">
        <p14:creationId xmlns:p14="http://schemas.microsoft.com/office/powerpoint/2010/main" val="4134885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t>M</a:t>
            </a:r>
            <a:r>
              <a:rPr lang="en-US" altLang="zh-CN" sz="4400" b="1"/>
              <a:t>emorization</a:t>
            </a:r>
            <a:endParaRPr lang="zh-CN" altLang="en-US" b="1" dirty="0"/>
          </a:p>
        </p:txBody>
      </p:sp>
      <p:sp>
        <p:nvSpPr>
          <p:cNvPr id="3" name="内容占位符 2"/>
          <p:cNvSpPr>
            <a:spLocks noGrp="1"/>
          </p:cNvSpPr>
          <p:nvPr>
            <p:ph idx="1"/>
          </p:nvPr>
        </p:nvSpPr>
        <p:spPr/>
        <p:txBody>
          <a:bodyPr>
            <a:normAutofit/>
          </a:bodyPr>
          <a:lstStyle/>
          <a:p>
            <a:r>
              <a:rPr lang="en-US" altLang="zh-CN" sz="4000"/>
              <a:t>If d(i,j) is saved after it is calculated, then it can be directly used next time, so that repeated calculations can be avoided.</a:t>
            </a:r>
          </a:p>
          <a:p>
            <a:endParaRPr lang="en-US" altLang="zh-CN" sz="4000"/>
          </a:p>
          <a:p>
            <a:r>
              <a:rPr lang="en-US" altLang="zh-CN" sz="4000">
                <a:solidFill>
                  <a:srgbClr val="FF0000"/>
                </a:solidFill>
              </a:rPr>
              <a:t>O(n</a:t>
            </a:r>
            <a:r>
              <a:rPr lang="en-US" altLang="zh-CN" sz="4000" baseline="30000">
                <a:solidFill>
                  <a:srgbClr val="FF0000"/>
                </a:solidFill>
              </a:rPr>
              <a:t>2</a:t>
            </a:r>
            <a:r>
              <a:rPr lang="en-US" altLang="zh-CN" sz="4000">
                <a:solidFill>
                  <a:srgbClr val="FF0000"/>
                </a:solidFill>
              </a:rPr>
              <a:t>) </a:t>
            </a:r>
            <a:r>
              <a:rPr lang="en-US" altLang="zh-CN" sz="4000"/>
              <a:t>(the total number of states is n(n+1)/2)</a:t>
            </a:r>
            <a:endParaRPr lang="zh-CN" altLang="en-US" sz="4000" dirty="0"/>
          </a:p>
        </p:txBody>
      </p:sp>
    </p:spTree>
    <p:extLst>
      <p:ext uri="{BB962C8B-B14F-4D97-AF65-F5344CB8AC3E}">
        <p14:creationId xmlns:p14="http://schemas.microsoft.com/office/powerpoint/2010/main" val="2537537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A24411-B97E-4DD5-9B64-C1197C717C0F}"/>
              </a:ext>
            </a:extLst>
          </p:cNvPr>
          <p:cNvSpPr>
            <a:spLocks noGrp="1"/>
          </p:cNvSpPr>
          <p:nvPr>
            <p:ph type="title"/>
          </p:nvPr>
        </p:nvSpPr>
        <p:spPr/>
        <p:txBody>
          <a:bodyPr/>
          <a:lstStyle/>
          <a:p>
            <a:r>
              <a:rPr lang="en-US" altLang="zh-CN"/>
              <a:t>Top-down approach</a:t>
            </a:r>
            <a:endParaRPr lang="zh-CN" altLang="en-US"/>
          </a:p>
        </p:txBody>
      </p:sp>
      <p:sp>
        <p:nvSpPr>
          <p:cNvPr id="7" name="内容占位符 2">
            <a:extLst>
              <a:ext uri="{FF2B5EF4-FFF2-40B4-BE49-F238E27FC236}">
                <a16:creationId xmlns:a16="http://schemas.microsoft.com/office/drawing/2014/main" id="{2934991F-9254-4167-B9E0-E6255A406C02}"/>
              </a:ext>
            </a:extLst>
          </p:cNvPr>
          <p:cNvSpPr>
            <a:spLocks noGrp="1"/>
          </p:cNvSpPr>
          <p:nvPr>
            <p:ph idx="1"/>
          </p:nvPr>
        </p:nvSpPr>
        <p:spPr>
          <a:xfrm>
            <a:off x="838200" y="1790965"/>
            <a:ext cx="10515600" cy="4351338"/>
          </a:xfrm>
        </p:spPr>
        <p:txBody>
          <a:bodyPr>
            <a:normAutofit lnSpcReduction="10000"/>
          </a:bodyPr>
          <a:lstStyle/>
          <a:p>
            <a:r>
              <a:rPr lang="en-US" altLang="zh-CN"/>
              <a:t>First, memset</a:t>
            </a:r>
            <a:r>
              <a:rPr lang="en-US" altLang="zh-CN" dirty="0"/>
              <a:t>(d,-1,sizeof(</a:t>
            </a:r>
            <a:r>
              <a:rPr lang="en-US" altLang="zh-CN"/>
              <a:t>d))</a:t>
            </a:r>
          </a:p>
          <a:p>
            <a:r>
              <a:rPr lang="en-US" altLang="zh-CN"/>
              <a:t>Then,</a:t>
            </a:r>
            <a:r>
              <a:rPr lang="zh-CN" altLang="en-US"/>
              <a:t> </a:t>
            </a:r>
            <a:r>
              <a:rPr lang="en-US" altLang="zh-CN"/>
              <a:t>recursion</a:t>
            </a:r>
          </a:p>
          <a:p>
            <a:pPr marL="0" indent="0">
              <a:buNone/>
            </a:pPr>
            <a:r>
              <a:rPr lang="en-US" altLang="zh-CN" sz="2400"/>
              <a:t>int </a:t>
            </a:r>
            <a:r>
              <a:rPr lang="en-US" altLang="zh-CN" sz="2400" dirty="0"/>
              <a:t>solve(</a:t>
            </a:r>
            <a:r>
              <a:rPr lang="en-US" altLang="zh-CN" sz="2400" dirty="0" err="1"/>
              <a:t>int</a:t>
            </a:r>
            <a:r>
              <a:rPr lang="en-US" altLang="zh-CN" sz="2400" dirty="0"/>
              <a:t> </a:t>
            </a:r>
            <a:r>
              <a:rPr lang="en-US" altLang="zh-CN" sz="2400" dirty="0" err="1"/>
              <a:t>i</a:t>
            </a:r>
            <a:r>
              <a:rPr lang="en-US" altLang="zh-CN" sz="2400" dirty="0"/>
              <a:t>, </a:t>
            </a:r>
            <a:r>
              <a:rPr lang="en-US" altLang="zh-CN" sz="2400" dirty="0" err="1"/>
              <a:t>int</a:t>
            </a:r>
            <a:r>
              <a:rPr lang="en-US" altLang="zh-CN" sz="2400" dirty="0"/>
              <a:t> j){</a:t>
            </a:r>
          </a:p>
          <a:p>
            <a:pPr marL="0" indent="0">
              <a:buNone/>
            </a:pPr>
            <a:r>
              <a:rPr lang="en-US" altLang="zh-CN" sz="2400" dirty="0"/>
              <a:t>	if(d[</a:t>
            </a:r>
            <a:r>
              <a:rPr lang="en-US" altLang="zh-CN" sz="2400" dirty="0" err="1"/>
              <a:t>i</a:t>
            </a:r>
            <a:r>
              <a:rPr lang="en-US" altLang="zh-CN" sz="2400" dirty="0"/>
              <a:t>][j] &gt;= 0) return d[</a:t>
            </a:r>
            <a:r>
              <a:rPr lang="en-US" altLang="zh-CN" sz="2400" dirty="0" err="1"/>
              <a:t>i</a:t>
            </a:r>
            <a:r>
              <a:rPr lang="en-US" altLang="zh-CN" sz="2400" dirty="0"/>
              <a:t>][j];</a:t>
            </a:r>
          </a:p>
          <a:p>
            <a:pPr marL="0" indent="0">
              <a:buNone/>
            </a:pPr>
            <a:r>
              <a:rPr lang="pt-BR" altLang="zh-CN" sz="2400" dirty="0"/>
              <a:t>	return d[i][j] = </a:t>
            </a:r>
            <a:r>
              <a:rPr lang="pt-BR" altLang="zh-CN" sz="2400" i="1" dirty="0"/>
              <a:t>a</a:t>
            </a:r>
            <a:r>
              <a:rPr lang="pt-BR" altLang="zh-CN" sz="2400" dirty="0"/>
              <a:t>[i][j] + (i == </a:t>
            </a:r>
            <a:r>
              <a:rPr lang="pt-BR" altLang="zh-CN" sz="2400" i="1" dirty="0"/>
              <a:t>n</a:t>
            </a:r>
            <a:r>
              <a:rPr lang="pt-BR" altLang="zh-CN" sz="2400" dirty="0"/>
              <a:t> ? 0 : </a:t>
            </a:r>
            <a:r>
              <a:rPr lang="pt-BR" altLang="zh-CN" sz="2400" i="1" dirty="0"/>
              <a:t>max</a:t>
            </a:r>
            <a:r>
              <a:rPr lang="pt-BR" altLang="zh-CN" sz="2400" dirty="0"/>
              <a:t>(solve(i + 1, j), solve(i + 1, j + 1)));</a:t>
            </a:r>
          </a:p>
          <a:p>
            <a:pPr marL="0" indent="0">
              <a:buNone/>
            </a:pPr>
            <a:r>
              <a:rPr lang="en-US" altLang="zh-CN" sz="2400" dirty="0"/>
              <a:t>}</a:t>
            </a:r>
          </a:p>
          <a:p>
            <a:r>
              <a:rPr lang="en-US" altLang="zh-CN"/>
              <a:t>d(i,j) is computed only once.</a:t>
            </a:r>
            <a:r>
              <a:rPr lang="zh-CN" altLang="en-US"/>
              <a:t> </a:t>
            </a:r>
            <a:r>
              <a:rPr lang="en-US" altLang="zh-CN">
                <a:solidFill>
                  <a:srgbClr val="FF0000"/>
                </a:solidFill>
              </a:rPr>
              <a:t>O</a:t>
            </a:r>
            <a:r>
              <a:rPr lang="en-US" altLang="zh-CN" dirty="0">
                <a:solidFill>
                  <a:srgbClr val="FF0000"/>
                </a:solidFill>
              </a:rPr>
              <a:t>(</a:t>
            </a:r>
            <a:r>
              <a:rPr lang="en-US" altLang="zh-CN">
                <a:solidFill>
                  <a:srgbClr val="FF0000"/>
                </a:solidFill>
              </a:rPr>
              <a:t>n</a:t>
            </a:r>
            <a:r>
              <a:rPr lang="en-US" altLang="zh-CN" baseline="30000">
                <a:solidFill>
                  <a:srgbClr val="FF0000"/>
                </a:solidFill>
              </a:rPr>
              <a:t>2</a:t>
            </a:r>
            <a:r>
              <a:rPr lang="en-US" altLang="zh-CN">
                <a:solidFill>
                  <a:srgbClr val="FF0000"/>
                </a:solidFill>
              </a:rPr>
              <a:t>)</a:t>
            </a:r>
          </a:p>
          <a:p>
            <a:pPr marL="0" indent="0">
              <a:buNone/>
            </a:pPr>
            <a:r>
              <a:rPr lang="en-US" altLang="zh-CN" sz="2400"/>
              <a:t>There is no need to determine the order of calculation of each state in advance (recursion is used, and it implies the order), but it is necessary to judge "</a:t>
            </a:r>
            <a:r>
              <a:rPr lang="en-US" altLang="zh-CN" sz="2400">
                <a:solidFill>
                  <a:srgbClr val="FF0000"/>
                </a:solidFill>
              </a:rPr>
              <a:t>whether it has been calculated</a:t>
            </a:r>
            <a:r>
              <a:rPr lang="en-US" altLang="zh-CN" sz="2400"/>
              <a:t>" for each state.</a:t>
            </a:r>
            <a:endParaRPr lang="zh-CN" altLang="en-US" sz="2400" dirty="0"/>
          </a:p>
        </p:txBody>
      </p:sp>
      <p:pic>
        <p:nvPicPr>
          <p:cNvPr id="9" name="图片 8">
            <a:extLst>
              <a:ext uri="{FF2B5EF4-FFF2-40B4-BE49-F238E27FC236}">
                <a16:creationId xmlns:a16="http://schemas.microsoft.com/office/drawing/2014/main" id="{5E4A18DD-66B6-4736-B297-754E7EFD58AD}"/>
              </a:ext>
            </a:extLst>
          </p:cNvPr>
          <p:cNvPicPr>
            <a:picLocks noChangeAspect="1"/>
          </p:cNvPicPr>
          <p:nvPr/>
        </p:nvPicPr>
        <p:blipFill>
          <a:blip r:embed="rId2"/>
          <a:stretch>
            <a:fillRect/>
          </a:stretch>
        </p:blipFill>
        <p:spPr>
          <a:xfrm>
            <a:off x="7384251" y="527844"/>
            <a:ext cx="4091557" cy="2901156"/>
          </a:xfrm>
          <a:prstGeom prst="rect">
            <a:avLst/>
          </a:prstGeom>
        </p:spPr>
      </p:pic>
    </p:spTree>
    <p:extLst>
      <p:ext uri="{BB962C8B-B14F-4D97-AF65-F5344CB8AC3E}">
        <p14:creationId xmlns:p14="http://schemas.microsoft.com/office/powerpoint/2010/main" val="3545175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6459D1-C62A-4322-A0C2-AF84A0D3E6CE}"/>
              </a:ext>
            </a:extLst>
          </p:cNvPr>
          <p:cNvSpPr>
            <a:spLocks noGrp="1"/>
          </p:cNvSpPr>
          <p:nvPr>
            <p:ph type="title"/>
          </p:nvPr>
        </p:nvSpPr>
        <p:spPr/>
        <p:txBody>
          <a:bodyPr/>
          <a:lstStyle/>
          <a:p>
            <a:r>
              <a:rPr lang="en-US" altLang="zh-CN"/>
              <a:t>Bottom-up approach</a:t>
            </a:r>
            <a:endParaRPr lang="zh-CN" altLang="en-US"/>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CE85DCD-72DA-4311-8DB7-672CCBF690A6}"/>
                  </a:ext>
                </a:extLst>
              </p:cNvPr>
              <p:cNvSpPr>
                <a:spLocks noGrp="1"/>
              </p:cNvSpPr>
              <p:nvPr>
                <p:ph idx="1"/>
              </p:nvPr>
            </p:nvSpPr>
            <p:spPr>
              <a:xfrm>
                <a:off x="838200" y="1825625"/>
                <a:ext cx="10515600" cy="4351338"/>
              </a:xfrm>
            </p:spPr>
            <p:txBody>
              <a:bodyPr/>
              <a:lstStyle/>
              <a:p>
                <a:r>
                  <a:rPr lang="en-US" altLang="zh-CN"/>
                  <a:t>Recurrence:</a:t>
                </a:r>
                <a:endParaRPr lang="en-US" altLang="zh-CN" dirty="0"/>
              </a:p>
              <a:p>
                <a:pPr marL="0" indent="0">
                  <a:buNone/>
                </a:pPr>
                <a:r>
                  <a:rPr lang="en-US" altLang="zh-CN" dirty="0"/>
                  <a:t>d</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r>
                      <a:rPr lang="en-US" altLang="zh-CN"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𝑎</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r>
                              <a:rPr lang="en-US" altLang="zh-CN" i="1" smtClean="0">
                                <a:latin typeface="Cambria Math" panose="02040503050406030204" pitchFamily="18" charset="0"/>
                              </a:rPr>
                              <m:t>,  </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e>
                          <m:e>
                            <m:r>
                              <a:rPr lang="en-US" altLang="zh-CN" i="1" smtClean="0">
                                <a:latin typeface="Cambria Math" panose="02040503050406030204" pitchFamily="18" charset="0"/>
                              </a:rPr>
                              <m:t>&amp;</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max</m:t>
                            </m:r>
                            <m:r>
                              <a:rPr lang="en-US" altLang="zh-CN" b="0" i="1" smtClean="0">
                                <a:latin typeface="Cambria Math" panose="02040503050406030204" pitchFamily="18" charset="0"/>
                              </a:rPr>
                              <m:t>⁡{</m:t>
                            </m:r>
                            <m:r>
                              <a:rPr lang="en-US" altLang="zh-CN" b="0" i="1" smtClean="0">
                                <a:latin typeface="Cambria Math" panose="02040503050406030204" pitchFamily="18" charset="0"/>
                              </a:rPr>
                              <m:t>𝑑</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+1,</m:t>
                            </m:r>
                            <m:r>
                              <a:rPr lang="en-US" altLang="zh-CN" b="0" i="1" smtClean="0">
                                <a:latin typeface="Cambria Math" panose="02040503050406030204" pitchFamily="18" charset="0"/>
                              </a:rPr>
                              <m:t>𝑗</m:t>
                            </m:r>
                            <m:r>
                              <a:rPr lang="en-US" altLang="zh-CN" b="0" i="1" smtClean="0">
                                <a:latin typeface="Cambria Math" panose="02040503050406030204" pitchFamily="18" charset="0"/>
                              </a:rPr>
                              <m:t>+1)}  1≤</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&lt;</m:t>
                            </m:r>
                            <m:r>
                              <a:rPr lang="en-US" altLang="zh-CN" b="0" i="1" smtClean="0">
                                <a:latin typeface="Cambria Math" panose="02040503050406030204" pitchFamily="18" charset="0"/>
                                <a:ea typeface="Cambria Math" panose="02040503050406030204" pitchFamily="18" charset="0"/>
                              </a:rPr>
                              <m:t>𝑛</m:t>
                            </m:r>
                          </m:e>
                        </m:eqArr>
                      </m:e>
                    </m:d>
                  </m:oMath>
                </a14:m>
                <a:endParaRPr lang="en-US" altLang="zh-CN" dirty="0"/>
              </a:p>
              <a:p>
                <a:pPr marL="0" indent="0">
                  <a:buNone/>
                </a:pPr>
                <a:r>
                  <a:rPr lang="en-US" altLang="zh-CN" dirty="0" err="1"/>
                  <a:t>int</a:t>
                </a:r>
                <a:r>
                  <a:rPr lang="en-US" altLang="zh-CN" dirty="0"/>
                  <a:t> </a:t>
                </a:r>
                <a:r>
                  <a:rPr lang="en-US" altLang="zh-CN" dirty="0" err="1"/>
                  <a:t>i</a:t>
                </a:r>
                <a:r>
                  <a:rPr lang="en-US" altLang="zh-CN" dirty="0"/>
                  <a:t>, j;</a:t>
                </a:r>
              </a:p>
              <a:p>
                <a:pPr marL="0" indent="0">
                  <a:buNone/>
                </a:pPr>
                <a:r>
                  <a:rPr lang="pt-BR" altLang="zh-CN" dirty="0"/>
                  <a:t>for (j = 1; j &lt;= </a:t>
                </a:r>
                <a:r>
                  <a:rPr lang="pt-BR" altLang="zh-CN" i="1" dirty="0"/>
                  <a:t>n</a:t>
                </a:r>
                <a:r>
                  <a:rPr lang="pt-BR" altLang="zh-CN" dirty="0"/>
                  <a:t>; j++) </a:t>
                </a:r>
                <a:r>
                  <a:rPr lang="pt-BR" altLang="zh-CN" i="1" dirty="0"/>
                  <a:t>d</a:t>
                </a:r>
                <a:r>
                  <a:rPr lang="pt-BR" altLang="zh-CN" dirty="0"/>
                  <a:t>[</a:t>
                </a:r>
                <a:r>
                  <a:rPr lang="pt-BR" altLang="zh-CN" i="1" dirty="0"/>
                  <a:t>n</a:t>
                </a:r>
                <a:r>
                  <a:rPr lang="pt-BR" altLang="zh-CN" dirty="0"/>
                  <a:t>][j] = </a:t>
                </a:r>
                <a:r>
                  <a:rPr lang="pt-BR" altLang="zh-CN" i="1" dirty="0"/>
                  <a:t>a</a:t>
                </a:r>
                <a:r>
                  <a:rPr lang="pt-BR" altLang="zh-CN" dirty="0"/>
                  <a:t>[</a:t>
                </a:r>
                <a:r>
                  <a:rPr lang="pt-BR" altLang="zh-CN" i="1" dirty="0"/>
                  <a:t>n</a:t>
                </a:r>
                <a:r>
                  <a:rPr lang="pt-BR" altLang="zh-CN" dirty="0"/>
                  <a:t>][j];</a:t>
                </a:r>
              </a:p>
              <a:p>
                <a:pPr marL="0" indent="0">
                  <a:buNone/>
                </a:pPr>
                <a:r>
                  <a:rPr lang="nn-NO" altLang="zh-CN" dirty="0"/>
                  <a:t>for (i = </a:t>
                </a:r>
                <a:r>
                  <a:rPr lang="nn-NO" altLang="zh-CN" i="1" dirty="0"/>
                  <a:t>n</a:t>
                </a:r>
                <a:r>
                  <a:rPr lang="nn-NO" altLang="zh-CN" dirty="0"/>
                  <a:t> - 1; i &gt;= 1; i--)</a:t>
                </a:r>
              </a:p>
              <a:p>
                <a:pPr marL="0" indent="0">
                  <a:buNone/>
                </a:pPr>
                <a:r>
                  <a:rPr lang="en-US" altLang="zh-CN" dirty="0"/>
                  <a:t>	for (j = 1; j &lt;= </a:t>
                </a:r>
                <a:r>
                  <a:rPr lang="en-US" altLang="zh-CN" dirty="0" err="1"/>
                  <a:t>i</a:t>
                </a:r>
                <a:r>
                  <a:rPr lang="en-US" altLang="zh-CN" dirty="0"/>
                  <a:t>; j++)</a:t>
                </a:r>
              </a:p>
              <a:p>
                <a:pPr marL="0" indent="0">
                  <a:buNone/>
                </a:pPr>
                <a:r>
                  <a:rPr lang="en-US" altLang="zh-CN" i="1" dirty="0"/>
                  <a:t>		</a:t>
                </a:r>
                <a:r>
                  <a:rPr lang="pl-PL" altLang="zh-CN" i="1" dirty="0"/>
                  <a:t>d</a:t>
                </a:r>
                <a:r>
                  <a:rPr lang="pl-PL" altLang="zh-CN" dirty="0"/>
                  <a:t>[i][j] = </a:t>
                </a:r>
                <a:r>
                  <a:rPr lang="pl-PL" altLang="zh-CN" i="1" dirty="0"/>
                  <a:t>a</a:t>
                </a:r>
                <a:r>
                  <a:rPr lang="pl-PL" altLang="zh-CN" dirty="0"/>
                  <a:t>[i][j] + </a:t>
                </a:r>
                <a:r>
                  <a:rPr lang="pl-PL" altLang="zh-CN" i="1" dirty="0"/>
                  <a:t>max</a:t>
                </a:r>
                <a:r>
                  <a:rPr lang="pl-PL" altLang="zh-CN" dirty="0"/>
                  <a:t>(</a:t>
                </a:r>
                <a:r>
                  <a:rPr lang="pl-PL" altLang="zh-CN" i="1" dirty="0"/>
                  <a:t>d</a:t>
                </a:r>
                <a:r>
                  <a:rPr lang="pl-PL" altLang="zh-CN" dirty="0"/>
                  <a:t>[i + 1][j], </a:t>
                </a:r>
                <a:r>
                  <a:rPr lang="pl-PL" altLang="zh-CN" i="1" dirty="0"/>
                  <a:t>d</a:t>
                </a:r>
                <a:r>
                  <a:rPr lang="pl-PL" altLang="zh-CN" dirty="0"/>
                  <a:t>[i + 1][j + 1]);</a:t>
                </a:r>
                <a:r>
                  <a:rPr lang="en-US" altLang="zh-CN" dirty="0"/>
                  <a:t> //</a:t>
                </a:r>
                <a:r>
                  <a:rPr lang="en-US" altLang="zh-CN" dirty="0">
                    <a:solidFill>
                      <a:srgbClr val="FF0000"/>
                    </a:solidFill>
                  </a:rPr>
                  <a:t>O</a:t>
                </a:r>
                <a:r>
                  <a:rPr lang="en-US" altLang="zh-CN">
                    <a:solidFill>
                      <a:srgbClr val="FF0000"/>
                    </a:solidFill>
                  </a:rPr>
                  <a:t>(n</a:t>
                </a:r>
                <a:r>
                  <a:rPr lang="en-US" altLang="zh-CN" baseline="30000">
                    <a:solidFill>
                      <a:srgbClr val="FF0000"/>
                    </a:solidFill>
                  </a:rPr>
                  <a:t>2</a:t>
                </a:r>
                <a:r>
                  <a:rPr lang="en-US" altLang="zh-CN" dirty="0">
                    <a:solidFill>
                      <a:srgbClr val="FF0000"/>
                    </a:solidFill>
                  </a:rPr>
                  <a:t>)</a:t>
                </a:r>
              </a:p>
              <a:p>
                <a:pPr marL="0" indent="0">
                  <a:buNone/>
                </a:pPr>
                <a:endParaRPr lang="zh-CN" altLang="en-US" dirty="0"/>
              </a:p>
            </p:txBody>
          </p:sp>
        </mc:Choice>
        <mc:Fallback xmlns="">
          <p:sp>
            <p:nvSpPr>
              <p:cNvPr id="6" name="内容占位符 2">
                <a:extLst>
                  <a:ext uri="{FF2B5EF4-FFF2-40B4-BE49-F238E27FC236}">
                    <a16:creationId xmlns:a16="http://schemas.microsoft.com/office/drawing/2014/main" id="{4CE85DCD-72DA-4311-8DB7-672CCBF690A6}"/>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217" t="-25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01913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a:t>Top-down approach &amp; </a:t>
            </a:r>
            <a:r>
              <a:rPr lang="en-US" altLang="zh-CN" sz="4000" b="1" dirty="0">
                <a:solidFill>
                  <a:srgbClr val="FF0000"/>
                </a:solidFill>
              </a:rPr>
              <a:t>Bottom-up approach</a:t>
            </a:r>
            <a:endParaRPr lang="zh-CN" altLang="en-US" sz="4000" b="1" dirty="0">
              <a:solidFill>
                <a:srgbClr val="FF0000"/>
              </a:solidFill>
            </a:endParaRPr>
          </a:p>
        </p:txBody>
      </p:sp>
      <p:sp>
        <p:nvSpPr>
          <p:cNvPr id="3" name="内容占位符 2"/>
          <p:cNvSpPr>
            <a:spLocks noGrp="1"/>
          </p:cNvSpPr>
          <p:nvPr>
            <p:ph idx="1"/>
          </p:nvPr>
        </p:nvSpPr>
        <p:spPr/>
        <p:txBody>
          <a:bodyPr/>
          <a:lstStyle/>
          <a:p>
            <a:r>
              <a:rPr lang="en-US" altLang="zh-CN" dirty="0"/>
              <a:t>In practical applications, a </a:t>
            </a:r>
            <a:r>
              <a:rPr lang="en-US" altLang="zh-CN" dirty="0">
                <a:solidFill>
                  <a:srgbClr val="FF0000"/>
                </a:solidFill>
              </a:rPr>
              <a:t>bottom-up dynamic programming </a:t>
            </a:r>
            <a:r>
              <a:rPr lang="en-US" altLang="zh-CN" dirty="0"/>
              <a:t>is usually better than a top-down memo approach by a constant factor, because the former does not require the cost of recursion.</a:t>
            </a:r>
          </a:p>
          <a:p>
            <a:pPr marL="0" indent="0">
              <a:buNone/>
            </a:pPr>
            <a:endParaRPr lang="en-US" altLang="zh-CN" dirty="0"/>
          </a:p>
          <a:p>
            <a:r>
              <a:rPr lang="en-US" altLang="zh-CN" dirty="0"/>
              <a:t>In most cases, the time complexity =</a:t>
            </a:r>
            <a:r>
              <a:rPr lang="en-US" altLang="zh-CN" dirty="0">
                <a:solidFill>
                  <a:srgbClr val="FF0000"/>
                </a:solidFill>
              </a:rPr>
              <a:t> the number of states * the number of decisions at each state * the decision time</a:t>
            </a:r>
          </a:p>
        </p:txBody>
      </p:sp>
    </p:spTree>
    <p:extLst>
      <p:ext uri="{BB962C8B-B14F-4D97-AF65-F5344CB8AC3E}">
        <p14:creationId xmlns:p14="http://schemas.microsoft.com/office/powerpoint/2010/main" val="319224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Dynamic programming &amp; Optimization problems</a:t>
            </a:r>
            <a:endParaRPr lang="zh-CN" altLang="en-US" dirty="0"/>
          </a:p>
        </p:txBody>
      </p:sp>
      <p:sp>
        <p:nvSpPr>
          <p:cNvPr id="3" name="内容占位符 2"/>
          <p:cNvSpPr>
            <a:spLocks noGrp="1"/>
          </p:cNvSpPr>
          <p:nvPr>
            <p:ph idx="1"/>
          </p:nvPr>
        </p:nvSpPr>
        <p:spPr/>
        <p:txBody>
          <a:bodyPr/>
          <a:lstStyle/>
          <a:p>
            <a:r>
              <a:rPr lang="en-US" altLang="zh-CN"/>
              <a:t>Dynamic programming is usually applied to "optimization problems". There may be many optimal solutions for such problems, and we only need to find an optimal solution (maximum or minimum).</a:t>
            </a:r>
          </a:p>
        </p:txBody>
      </p:sp>
    </p:spTree>
    <p:extLst>
      <p:ext uri="{BB962C8B-B14F-4D97-AF65-F5344CB8AC3E}">
        <p14:creationId xmlns:p14="http://schemas.microsoft.com/office/powerpoint/2010/main" val="1829026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Four steps of dynamic programming</a:t>
            </a:r>
            <a:endParaRPr lang="zh-CN" altLang="en-US" dirty="0"/>
          </a:p>
        </p:txBody>
      </p:sp>
      <p:sp>
        <p:nvSpPr>
          <p:cNvPr id="3" name="内容占位符 2"/>
          <p:cNvSpPr>
            <a:spLocks noGrp="1"/>
          </p:cNvSpPr>
          <p:nvPr>
            <p:ph idx="1"/>
          </p:nvPr>
        </p:nvSpPr>
        <p:spPr/>
        <p:txBody>
          <a:bodyPr>
            <a:normAutofit lnSpcReduction="10000"/>
          </a:bodyPr>
          <a:lstStyle/>
          <a:p>
            <a:pPr marL="514350" indent="-514350">
              <a:buFont typeface="+mj-lt"/>
              <a:buAutoNum type="arabicPeriod"/>
            </a:pPr>
            <a:r>
              <a:rPr lang="en-US" altLang="zh-CN" dirty="0"/>
              <a:t>Describe the structure of the optimal solution. (</a:t>
            </a:r>
            <a:r>
              <a:rPr lang="en-US" altLang="zh-CN" dirty="0">
                <a:solidFill>
                  <a:srgbClr val="FF0000"/>
                </a:solidFill>
              </a:rPr>
              <a:t>State</a:t>
            </a:r>
            <a:r>
              <a:rPr lang="en-US" altLang="zh-CN" dirty="0"/>
              <a:t>)</a:t>
            </a:r>
          </a:p>
          <a:p>
            <a:pPr marL="514350" indent="-514350">
              <a:buFont typeface="+mj-lt"/>
              <a:buAutoNum type="arabicPeriod"/>
            </a:pPr>
            <a:r>
              <a:rPr lang="en-US" altLang="zh-CN" dirty="0"/>
              <a:t>Recursively define the value of the optimal solution. (</a:t>
            </a:r>
            <a:r>
              <a:rPr lang="en-US" altLang="zh-CN" dirty="0">
                <a:solidFill>
                  <a:srgbClr val="FF0000"/>
                </a:solidFill>
              </a:rPr>
              <a:t>State transition equation</a:t>
            </a:r>
            <a:r>
              <a:rPr lang="en-US" altLang="zh-CN" dirty="0"/>
              <a:t>) </a:t>
            </a:r>
            <a:r>
              <a:rPr lang="en-US" altLang="zh-CN" dirty="0">
                <a:solidFill>
                  <a:srgbClr val="0000FF"/>
                </a:solidFill>
              </a:rPr>
              <a:t>Top-down analysis</a:t>
            </a:r>
          </a:p>
          <a:p>
            <a:pPr marL="514350" indent="-514350">
              <a:buFont typeface="+mj-lt"/>
              <a:buAutoNum type="arabicPeriod"/>
            </a:pPr>
            <a:r>
              <a:rPr lang="en-US" altLang="zh-CN" dirty="0"/>
              <a:t>Calculate the value of the optimal solution in a </a:t>
            </a:r>
            <a:r>
              <a:rPr lang="en-US" altLang="zh-CN" dirty="0">
                <a:solidFill>
                  <a:srgbClr val="FF0000"/>
                </a:solidFill>
              </a:rPr>
              <a:t>bottom-up approach</a:t>
            </a:r>
            <a:r>
              <a:rPr lang="en-US" altLang="zh-CN" dirty="0"/>
              <a:t>. </a:t>
            </a:r>
            <a:r>
              <a:rPr lang="en-US" altLang="zh-CN" dirty="0">
                <a:solidFill>
                  <a:srgbClr val="0000FF"/>
                </a:solidFill>
              </a:rPr>
              <a:t>Bottom-up computing</a:t>
            </a:r>
          </a:p>
          <a:p>
            <a:pPr marL="514350" indent="-514350">
              <a:buFont typeface="+mj-lt"/>
              <a:buAutoNum type="arabicPeriod"/>
            </a:pPr>
            <a:r>
              <a:rPr lang="en-US" altLang="zh-CN" dirty="0"/>
              <a:t>Construct an optimal solution (path) from the calculated result.</a:t>
            </a:r>
          </a:p>
          <a:p>
            <a:pPr marL="0" indent="0">
              <a:buNone/>
            </a:pPr>
            <a:r>
              <a:rPr lang="en-US" altLang="zh-CN" dirty="0"/>
              <a:t>The first three steps constitute the basis of dynamic programming. Step 4 can be omitted when only the value of the optimal solution is required. If step 4 is required, it is sometimes necessary to record additional information in the calculation of step 3 to simplify step 4.</a:t>
            </a:r>
          </a:p>
          <a:p>
            <a:pPr marL="514350" indent="-514350">
              <a:buFont typeface="+mj-lt"/>
              <a:buAutoNum type="arabicPeriod"/>
            </a:pPr>
            <a:endParaRPr lang="zh-CN" altLang="en-US" dirty="0"/>
          </a:p>
        </p:txBody>
      </p:sp>
    </p:spTree>
    <p:extLst>
      <p:ext uri="{BB962C8B-B14F-4D97-AF65-F5344CB8AC3E}">
        <p14:creationId xmlns:p14="http://schemas.microsoft.com/office/powerpoint/2010/main" val="33208570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1715578-E164-4593-AAAF-E739C0AC9394}"/>
              </a:ext>
            </a:extLst>
          </p:cNvPr>
          <p:cNvSpPr>
            <a:spLocks noGrp="1"/>
          </p:cNvSpPr>
          <p:nvPr>
            <p:ph type="title"/>
          </p:nvPr>
        </p:nvSpPr>
        <p:spPr>
          <a:xfrm>
            <a:off x="731668" y="2043004"/>
            <a:ext cx="10515600" cy="1552452"/>
          </a:xfrm>
        </p:spPr>
        <p:txBody>
          <a:bodyPr>
            <a:normAutofit fontScale="90000"/>
          </a:bodyPr>
          <a:lstStyle/>
          <a:p>
            <a:pPr marL="0" indent="0"/>
            <a:r>
              <a:rPr lang="en-US" altLang="zh-CN" dirty="0"/>
              <a:t>Exercise</a:t>
            </a:r>
            <a:br>
              <a:rPr lang="en-US" altLang="zh-CN" dirty="0"/>
            </a:br>
            <a:r>
              <a:rPr lang="en-US" altLang="zh-CN" b="0" i="0" u="none" strike="noStrike" dirty="0">
                <a:solidFill>
                  <a:srgbClr val="FC5531"/>
                </a:solidFill>
                <a:effectLst/>
                <a:latin typeface="PingFang SC"/>
              </a:rPr>
              <a:t>http://acm.hdu.edu.cn/showproblem.php?pid=1176</a:t>
            </a:r>
            <a:endParaRPr lang="zh-CN" altLang="en-US" dirty="0"/>
          </a:p>
        </p:txBody>
      </p:sp>
      <p:pic>
        <p:nvPicPr>
          <p:cNvPr id="7" name="图片 6">
            <a:extLst>
              <a:ext uri="{FF2B5EF4-FFF2-40B4-BE49-F238E27FC236}">
                <a16:creationId xmlns:a16="http://schemas.microsoft.com/office/drawing/2014/main" id="{6C98B3C5-3EED-4DCB-984D-53A20FA907F5}"/>
              </a:ext>
            </a:extLst>
          </p:cNvPr>
          <p:cNvPicPr>
            <a:picLocks noChangeAspect="1"/>
          </p:cNvPicPr>
          <p:nvPr/>
        </p:nvPicPr>
        <p:blipFill>
          <a:blip r:embed="rId2"/>
          <a:stretch>
            <a:fillRect/>
          </a:stretch>
        </p:blipFill>
        <p:spPr>
          <a:xfrm>
            <a:off x="4314086" y="4077348"/>
            <a:ext cx="2800350" cy="514350"/>
          </a:xfrm>
          <a:prstGeom prst="rect">
            <a:avLst/>
          </a:prstGeom>
        </p:spPr>
      </p:pic>
    </p:spTree>
    <p:extLst>
      <p:ext uri="{BB962C8B-B14F-4D97-AF65-F5344CB8AC3E}">
        <p14:creationId xmlns:p14="http://schemas.microsoft.com/office/powerpoint/2010/main" val="3364829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A2467E-5B65-4633-AEBA-2F87D5335455}"/>
              </a:ext>
            </a:extLst>
          </p:cNvPr>
          <p:cNvSpPr>
            <a:spLocks noGrp="1"/>
          </p:cNvSpPr>
          <p:nvPr>
            <p:ph type="title"/>
          </p:nvPr>
        </p:nvSpPr>
        <p:spPr/>
        <p:txBody>
          <a:bodyPr/>
          <a:lstStyle/>
          <a:p>
            <a:r>
              <a:rPr lang="en-US" altLang="zh-CN"/>
              <a:t>Dynamic programming on DAG</a:t>
            </a:r>
            <a:endParaRPr lang="zh-CN" altLang="en-US"/>
          </a:p>
        </p:txBody>
      </p:sp>
      <p:sp>
        <p:nvSpPr>
          <p:cNvPr id="3" name="内容占位符 2">
            <a:extLst>
              <a:ext uri="{FF2B5EF4-FFF2-40B4-BE49-F238E27FC236}">
                <a16:creationId xmlns:a16="http://schemas.microsoft.com/office/drawing/2014/main" id="{59499EDA-6368-4B0F-A1E8-98412821C5DB}"/>
              </a:ext>
            </a:extLst>
          </p:cNvPr>
          <p:cNvSpPr>
            <a:spLocks noGrp="1"/>
          </p:cNvSpPr>
          <p:nvPr>
            <p:ph idx="1"/>
          </p:nvPr>
        </p:nvSpPr>
        <p:spPr/>
        <p:txBody>
          <a:bodyPr/>
          <a:lstStyle/>
          <a:p>
            <a:pPr marL="0" indent="0">
              <a:buNone/>
            </a:pPr>
            <a:r>
              <a:rPr lang="en-US" altLang="zh-CN" dirty="0"/>
              <a:t>Dynamic programming </a:t>
            </a:r>
            <a:r>
              <a:rPr lang="en-US" altLang="zh-CN" dirty="0">
                <a:solidFill>
                  <a:srgbClr val="FF0000"/>
                </a:solidFill>
              </a:rPr>
              <a:t>on a directed acyclic graph </a:t>
            </a:r>
            <a:r>
              <a:rPr lang="en-US" altLang="zh-CN" dirty="0"/>
              <a:t>is the basis for learning dynamic programming. Many problems can be transformed into the longest path, shortest path, or path counting problems on DAG.</a:t>
            </a:r>
          </a:p>
          <a:p>
            <a:pPr lvl="1"/>
            <a:r>
              <a:rPr lang="en-US" altLang="zh-CN" dirty="0"/>
              <a:t>Stacking Boxes</a:t>
            </a:r>
          </a:p>
          <a:p>
            <a:pPr lvl="1"/>
            <a:r>
              <a:rPr lang="en-US" altLang="zh-CN" dirty="0"/>
              <a:t>A Coin Problem</a:t>
            </a:r>
          </a:p>
          <a:p>
            <a:pPr lvl="1"/>
            <a:r>
              <a:rPr lang="en-US" altLang="zh-CN" dirty="0"/>
              <a:t>A Spy in the Metro (Uva1025)</a:t>
            </a:r>
          </a:p>
          <a:p>
            <a:endParaRPr lang="zh-CN" altLang="en-US" dirty="0"/>
          </a:p>
        </p:txBody>
      </p:sp>
    </p:spTree>
    <p:extLst>
      <p:ext uri="{BB962C8B-B14F-4D97-AF65-F5344CB8AC3E}">
        <p14:creationId xmlns:p14="http://schemas.microsoft.com/office/powerpoint/2010/main" val="1381417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D73A7926-A2BE-4C7E-AC46-6D69D806F23D}"/>
              </a:ext>
            </a:extLst>
          </p:cNvPr>
          <p:cNvSpPr>
            <a:spLocks noGrp="1"/>
          </p:cNvSpPr>
          <p:nvPr>
            <p:ph type="title"/>
          </p:nvPr>
        </p:nvSpPr>
        <p:spPr/>
        <p:txBody>
          <a:bodyPr/>
          <a:lstStyle/>
          <a:p>
            <a:r>
              <a:rPr lang="en-US" altLang="zh-CN" dirty="0"/>
              <a:t>Stacking Boxes</a:t>
            </a:r>
            <a:endParaRPr lang="zh-CN" altLang="en-US" dirty="0"/>
          </a:p>
        </p:txBody>
      </p:sp>
      <p:sp>
        <p:nvSpPr>
          <p:cNvPr id="8" name="内容占位符 7">
            <a:extLst>
              <a:ext uri="{FF2B5EF4-FFF2-40B4-BE49-F238E27FC236}">
                <a16:creationId xmlns:a16="http://schemas.microsoft.com/office/drawing/2014/main" id="{745C420A-9562-4931-BEB4-65590C1722F4}"/>
              </a:ext>
            </a:extLst>
          </p:cNvPr>
          <p:cNvSpPr>
            <a:spLocks noGrp="1"/>
          </p:cNvSpPr>
          <p:nvPr>
            <p:ph idx="1"/>
          </p:nvPr>
        </p:nvSpPr>
        <p:spPr/>
        <p:txBody>
          <a:bodyPr/>
          <a:lstStyle/>
          <a:p>
            <a:r>
              <a:rPr lang="en-US" altLang="zh-CN"/>
              <a:t>A box(2,3) represents a box with length 2 and width 3. The box X(a,b) nests in the box Y(c,d) if and only if a&lt;c &amp;&amp; b&lt;d, or b&lt;c &amp;&amp; a&lt;d. You are to determine </a:t>
            </a:r>
            <a:r>
              <a:rPr lang="en-US" altLang="zh-CN">
                <a:solidFill>
                  <a:srgbClr val="FF0000"/>
                </a:solidFill>
              </a:rPr>
              <a:t>the longest nesting string of boxes</a:t>
            </a:r>
            <a:r>
              <a:rPr lang="en-US" altLang="zh-CN"/>
              <a:t>, that is a sequence of boxes b</a:t>
            </a:r>
            <a:r>
              <a:rPr lang="en-US" altLang="zh-CN" baseline="-25000"/>
              <a:t>1</a:t>
            </a:r>
            <a:r>
              <a:rPr lang="en-US" altLang="zh-CN"/>
              <a:t>, b</a:t>
            </a:r>
            <a:r>
              <a:rPr lang="en-US" altLang="zh-CN" baseline="-25000"/>
              <a:t>2</a:t>
            </a:r>
            <a:r>
              <a:rPr lang="en-US" altLang="zh-CN"/>
              <a:t>, . . . , b</a:t>
            </a:r>
            <a:r>
              <a:rPr lang="en-US" altLang="zh-CN" baseline="-25000"/>
              <a:t>k</a:t>
            </a:r>
            <a:r>
              <a:rPr lang="en-US" altLang="zh-CN"/>
              <a:t> such that each box b</a:t>
            </a:r>
            <a:r>
              <a:rPr lang="en-US" altLang="zh-CN" baseline="-25000"/>
              <a:t>i</a:t>
            </a:r>
            <a:r>
              <a:rPr lang="en-US" altLang="zh-CN"/>
              <a:t> nests in box b</a:t>
            </a:r>
            <a:r>
              <a:rPr lang="en-US" altLang="zh-CN" baseline="-25000"/>
              <a:t>i+1 </a:t>
            </a:r>
            <a:r>
              <a:rPr lang="en-US" altLang="zh-CN"/>
              <a:t>(1 ≤ i &lt; k).</a:t>
            </a:r>
          </a:p>
          <a:p>
            <a:r>
              <a:rPr lang="en-US" altLang="zh-CN"/>
              <a:t>If there is more than one longest nesting string, you should output the lexicographically smallest one.</a:t>
            </a:r>
          </a:p>
          <a:p>
            <a:r>
              <a:rPr lang="en-US" altLang="zh-CN"/>
              <a:t>The longest path on a DAG</a:t>
            </a:r>
            <a:endParaRPr lang="zh-CN" altLang="en-US"/>
          </a:p>
        </p:txBody>
      </p:sp>
    </p:spTree>
    <p:extLst>
      <p:ext uri="{BB962C8B-B14F-4D97-AF65-F5344CB8AC3E}">
        <p14:creationId xmlns:p14="http://schemas.microsoft.com/office/powerpoint/2010/main" val="1444988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CA2B03-F5C2-4858-9E98-C4331BE625A4}"/>
              </a:ext>
            </a:extLst>
          </p:cNvPr>
          <p:cNvSpPr>
            <a:spLocks noGrp="1"/>
          </p:cNvSpPr>
          <p:nvPr>
            <p:ph type="title"/>
          </p:nvPr>
        </p:nvSpPr>
        <p:spPr/>
        <p:txBody>
          <a:bodyPr/>
          <a:lstStyle/>
          <a:p>
            <a:r>
              <a:rPr lang="en-US" altLang="zh-CN"/>
              <a:t>Input &amp; Output</a:t>
            </a:r>
            <a:endParaRPr lang="zh-CN" altLang="en-US"/>
          </a:p>
        </p:txBody>
      </p:sp>
      <p:sp>
        <p:nvSpPr>
          <p:cNvPr id="3" name="内容占位符 2">
            <a:extLst>
              <a:ext uri="{FF2B5EF4-FFF2-40B4-BE49-F238E27FC236}">
                <a16:creationId xmlns:a16="http://schemas.microsoft.com/office/drawing/2014/main" id="{7EE6930A-B49E-4647-B799-EEB2FC277DDB}"/>
              </a:ext>
            </a:extLst>
          </p:cNvPr>
          <p:cNvSpPr>
            <a:spLocks noGrp="1"/>
          </p:cNvSpPr>
          <p:nvPr>
            <p:ph idx="1"/>
          </p:nvPr>
        </p:nvSpPr>
        <p:spPr>
          <a:xfrm>
            <a:off x="838200" y="1452763"/>
            <a:ext cx="10515600" cy="3279035"/>
          </a:xfrm>
        </p:spPr>
        <p:txBody>
          <a:bodyPr>
            <a:normAutofit lnSpcReduction="10000"/>
          </a:bodyPr>
          <a:lstStyle/>
          <a:p>
            <a:r>
              <a:rPr lang="en-US" altLang="zh-CN"/>
              <a:t> The input begins with a line consisting of the number of boxes n. This line is followed by n lines, one line per box, with x and y of each box.</a:t>
            </a:r>
          </a:p>
          <a:p>
            <a:r>
              <a:rPr lang="en-US" altLang="zh-CN"/>
              <a:t> Output the length of the longest nesting string on one line followed on the next line by a list of the boxes that comprise this string in order. The “smallest” or “innermost” box of the nesting string should be listed first, the next box (if there is one) should be listed second, etc.</a:t>
            </a:r>
            <a:endParaRPr lang="zh-CN" altLang="en-US"/>
          </a:p>
        </p:txBody>
      </p:sp>
      <p:pic>
        <p:nvPicPr>
          <p:cNvPr id="5" name="图片 4">
            <a:extLst>
              <a:ext uri="{FF2B5EF4-FFF2-40B4-BE49-F238E27FC236}">
                <a16:creationId xmlns:a16="http://schemas.microsoft.com/office/drawing/2014/main" id="{8E0E40BD-0F86-475F-8AA2-4DDFC56049EE}"/>
              </a:ext>
            </a:extLst>
          </p:cNvPr>
          <p:cNvPicPr>
            <a:picLocks noChangeAspect="1"/>
          </p:cNvPicPr>
          <p:nvPr/>
        </p:nvPicPr>
        <p:blipFill>
          <a:blip r:embed="rId2"/>
          <a:stretch>
            <a:fillRect/>
          </a:stretch>
        </p:blipFill>
        <p:spPr>
          <a:xfrm>
            <a:off x="1040772" y="4530970"/>
            <a:ext cx="1552381" cy="1961905"/>
          </a:xfrm>
          <a:prstGeom prst="rect">
            <a:avLst/>
          </a:prstGeom>
        </p:spPr>
      </p:pic>
      <p:pic>
        <p:nvPicPr>
          <p:cNvPr id="7" name="图片 6">
            <a:extLst>
              <a:ext uri="{FF2B5EF4-FFF2-40B4-BE49-F238E27FC236}">
                <a16:creationId xmlns:a16="http://schemas.microsoft.com/office/drawing/2014/main" id="{2F9C46B2-ABD4-4C8A-93C8-E3BF2306FAD1}"/>
              </a:ext>
            </a:extLst>
          </p:cNvPr>
          <p:cNvPicPr>
            <a:picLocks noChangeAspect="1"/>
          </p:cNvPicPr>
          <p:nvPr/>
        </p:nvPicPr>
        <p:blipFill>
          <a:blip r:embed="rId3"/>
          <a:stretch>
            <a:fillRect/>
          </a:stretch>
        </p:blipFill>
        <p:spPr>
          <a:xfrm>
            <a:off x="2795725" y="4492256"/>
            <a:ext cx="1857143" cy="1009524"/>
          </a:xfrm>
          <a:prstGeom prst="rect">
            <a:avLst/>
          </a:prstGeom>
        </p:spPr>
      </p:pic>
    </p:spTree>
    <p:extLst>
      <p:ext uri="{BB962C8B-B14F-4D97-AF65-F5344CB8AC3E}">
        <p14:creationId xmlns:p14="http://schemas.microsoft.com/office/powerpoint/2010/main" val="1624806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F162C4-C141-451A-97A7-C94AB7EE5510}"/>
              </a:ext>
            </a:extLst>
          </p:cNvPr>
          <p:cNvSpPr>
            <a:spLocks noGrp="1"/>
          </p:cNvSpPr>
          <p:nvPr>
            <p:ph type="title"/>
          </p:nvPr>
        </p:nvSpPr>
        <p:spPr/>
        <p:txBody>
          <a:bodyPr/>
          <a:lstStyle/>
          <a:p>
            <a:r>
              <a:rPr lang="en-US" altLang="zh-CN" b="1"/>
              <a:t>state &amp; state transition equation</a:t>
            </a:r>
            <a:endParaRPr lang="zh-CN" altLang="en-US"/>
          </a:p>
        </p:txBody>
      </p:sp>
      <p:sp>
        <p:nvSpPr>
          <p:cNvPr id="3" name="内容占位符 2">
            <a:extLst>
              <a:ext uri="{FF2B5EF4-FFF2-40B4-BE49-F238E27FC236}">
                <a16:creationId xmlns:a16="http://schemas.microsoft.com/office/drawing/2014/main" id="{D7AC3758-9363-45C5-A574-EF945932C09A}"/>
              </a:ext>
            </a:extLst>
          </p:cNvPr>
          <p:cNvSpPr>
            <a:spLocks noGrp="1"/>
          </p:cNvSpPr>
          <p:nvPr>
            <p:ph idx="1"/>
          </p:nvPr>
        </p:nvSpPr>
        <p:spPr/>
        <p:txBody>
          <a:bodyPr/>
          <a:lstStyle/>
          <a:p>
            <a:r>
              <a:rPr lang="en-US" altLang="zh-CN"/>
              <a:t>Consider box i as a state, and then define the function d(i) as the length of the longest path starting from i.</a:t>
            </a:r>
          </a:p>
          <a:p>
            <a:r>
              <a:rPr lang="en-US" altLang="zh-CN"/>
              <a:t>d(i) = max{d(j)+1 | (i,j)∈E}</a:t>
            </a:r>
          </a:p>
          <a:p>
            <a:pPr marL="0" indent="0">
              <a:buNone/>
            </a:pPr>
            <a:endParaRPr lang="zh-CN" altLang="en-US"/>
          </a:p>
        </p:txBody>
      </p:sp>
      <p:sp>
        <p:nvSpPr>
          <p:cNvPr id="4" name="文本框 3">
            <a:extLst>
              <a:ext uri="{FF2B5EF4-FFF2-40B4-BE49-F238E27FC236}">
                <a16:creationId xmlns:a16="http://schemas.microsoft.com/office/drawing/2014/main" id="{B6305A54-C575-41ED-BDCA-651651A30564}"/>
              </a:ext>
            </a:extLst>
          </p:cNvPr>
          <p:cNvSpPr txBox="1"/>
          <p:nvPr/>
        </p:nvSpPr>
        <p:spPr>
          <a:xfrm>
            <a:off x="838200" y="4081054"/>
            <a:ext cx="9601940" cy="461665"/>
          </a:xfrm>
          <a:prstGeom prst="rect">
            <a:avLst/>
          </a:prstGeom>
          <a:noFill/>
        </p:spPr>
        <p:txBody>
          <a:bodyPr wrap="square">
            <a:spAutoFit/>
          </a:bodyPr>
          <a:lstStyle/>
          <a:p>
            <a:r>
              <a:rPr lang="en-US" altLang="zh-CN" sz="2400">
                <a:solidFill>
                  <a:srgbClr val="FF0000"/>
                </a:solidFill>
              </a:rPr>
              <a:t>O(n</a:t>
            </a:r>
            <a:r>
              <a:rPr lang="en-US" altLang="zh-CN" sz="2400" baseline="30000">
                <a:solidFill>
                  <a:srgbClr val="FF0000"/>
                </a:solidFill>
              </a:rPr>
              <a:t>2</a:t>
            </a:r>
            <a:r>
              <a:rPr lang="en-US" altLang="zh-CN" sz="2400">
                <a:solidFill>
                  <a:srgbClr val="FF0000"/>
                </a:solidFill>
              </a:rPr>
              <a:t>) </a:t>
            </a:r>
            <a:r>
              <a:rPr lang="en-US" altLang="zh-CN" sz="2400"/>
              <a:t>(the number of states * the number of decisions at each state)</a:t>
            </a:r>
            <a:endParaRPr lang="zh-CN" altLang="en-US" sz="2400" dirty="0"/>
          </a:p>
        </p:txBody>
      </p:sp>
    </p:spTree>
    <p:extLst>
      <p:ext uri="{BB962C8B-B14F-4D97-AF65-F5344CB8AC3E}">
        <p14:creationId xmlns:p14="http://schemas.microsoft.com/office/powerpoint/2010/main" val="3502061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9BF41B-51FA-49F1-8A45-B26AFC22229D}"/>
              </a:ext>
            </a:extLst>
          </p:cNvPr>
          <p:cNvSpPr>
            <a:spLocks noGrp="1"/>
          </p:cNvSpPr>
          <p:nvPr>
            <p:ph type="title"/>
          </p:nvPr>
        </p:nvSpPr>
        <p:spPr/>
        <p:txBody>
          <a:bodyPr/>
          <a:lstStyle/>
          <a:p>
            <a:r>
              <a:rPr lang="en-US" altLang="zh-CN"/>
              <a:t>Top-down approach (M</a:t>
            </a:r>
            <a:r>
              <a:rPr lang="en-US" altLang="zh-CN" sz="4400"/>
              <a:t>emorization)</a:t>
            </a:r>
            <a:endParaRPr lang="zh-CN" altLang="en-US"/>
          </a:p>
        </p:txBody>
      </p:sp>
      <p:sp>
        <p:nvSpPr>
          <p:cNvPr id="5" name="文本框 4">
            <a:extLst>
              <a:ext uri="{FF2B5EF4-FFF2-40B4-BE49-F238E27FC236}">
                <a16:creationId xmlns:a16="http://schemas.microsoft.com/office/drawing/2014/main" id="{3F85C688-79BA-4951-9D5B-53CCD7BE3297}"/>
              </a:ext>
            </a:extLst>
          </p:cNvPr>
          <p:cNvSpPr txBox="1"/>
          <p:nvPr/>
        </p:nvSpPr>
        <p:spPr>
          <a:xfrm>
            <a:off x="953608" y="1850928"/>
            <a:ext cx="6565777" cy="3539430"/>
          </a:xfrm>
          <a:prstGeom prst="rect">
            <a:avLst/>
          </a:prstGeom>
          <a:noFill/>
        </p:spPr>
        <p:txBody>
          <a:bodyPr wrap="square">
            <a:spAutoFit/>
          </a:bodyPr>
          <a:lstStyle/>
          <a:p>
            <a:r>
              <a:rPr lang="zh-CN" altLang="en-US" sz="2800"/>
              <a:t>int dp(int i) {</a:t>
            </a:r>
          </a:p>
          <a:p>
            <a:r>
              <a:rPr lang="zh-CN" altLang="en-US" sz="2800"/>
              <a:t>  int&amp; ans = d[i];  // to simplify the code</a:t>
            </a:r>
          </a:p>
          <a:p>
            <a:r>
              <a:rPr lang="zh-CN" altLang="en-US" sz="2800"/>
              <a:t>  if(ans &gt; 0) return ans;</a:t>
            </a:r>
          </a:p>
          <a:p>
            <a:r>
              <a:rPr lang="zh-CN" altLang="en-US" sz="2800"/>
              <a:t>  ans = 1;</a:t>
            </a:r>
          </a:p>
          <a:p>
            <a:r>
              <a:rPr lang="zh-CN" altLang="en-US" sz="2800"/>
              <a:t>  for(int j = 1; j &lt;= n; j++) </a:t>
            </a:r>
          </a:p>
          <a:p>
            <a:r>
              <a:rPr lang="zh-CN" altLang="en-US" sz="2800"/>
              <a:t>  	if(G[i][j]) ans = max(ans, dp(j)+1);</a:t>
            </a:r>
          </a:p>
          <a:p>
            <a:r>
              <a:rPr lang="zh-CN" altLang="en-US" sz="2800"/>
              <a:t>  return ans</a:t>
            </a:r>
            <a:r>
              <a:rPr lang="en-US" altLang="zh-CN" sz="2800"/>
              <a:t>;</a:t>
            </a:r>
            <a:endParaRPr lang="zh-CN" altLang="en-US" sz="2800"/>
          </a:p>
          <a:p>
            <a:r>
              <a:rPr lang="zh-CN" altLang="en-US" sz="2800"/>
              <a:t>}</a:t>
            </a:r>
          </a:p>
        </p:txBody>
      </p:sp>
    </p:spTree>
    <p:extLst>
      <p:ext uri="{BB962C8B-B14F-4D97-AF65-F5344CB8AC3E}">
        <p14:creationId xmlns:p14="http://schemas.microsoft.com/office/powerpoint/2010/main" val="2637779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D69508-A8DD-4DA3-BC29-ADC2372E0E81}"/>
              </a:ext>
            </a:extLst>
          </p:cNvPr>
          <p:cNvSpPr>
            <a:spLocks noGrp="1"/>
          </p:cNvSpPr>
          <p:nvPr>
            <p:ph type="title"/>
          </p:nvPr>
        </p:nvSpPr>
        <p:spPr/>
        <p:txBody>
          <a:bodyPr/>
          <a:lstStyle/>
          <a:p>
            <a:r>
              <a:rPr lang="en-US" altLang="zh-CN"/>
              <a:t>Output the lexicographically smallest solution</a:t>
            </a:r>
            <a:endParaRPr lang="zh-CN" altLang="en-US"/>
          </a:p>
        </p:txBody>
      </p:sp>
      <p:sp>
        <p:nvSpPr>
          <p:cNvPr id="5" name="文本框 4">
            <a:extLst>
              <a:ext uri="{FF2B5EF4-FFF2-40B4-BE49-F238E27FC236}">
                <a16:creationId xmlns:a16="http://schemas.microsoft.com/office/drawing/2014/main" id="{95A08A43-A493-4D48-8405-F021B8FCA431}"/>
              </a:ext>
            </a:extLst>
          </p:cNvPr>
          <p:cNvSpPr txBox="1"/>
          <p:nvPr/>
        </p:nvSpPr>
        <p:spPr>
          <a:xfrm>
            <a:off x="838200" y="2090625"/>
            <a:ext cx="7135427" cy="3539430"/>
          </a:xfrm>
          <a:prstGeom prst="rect">
            <a:avLst/>
          </a:prstGeom>
          <a:noFill/>
        </p:spPr>
        <p:txBody>
          <a:bodyPr wrap="square">
            <a:spAutoFit/>
          </a:bodyPr>
          <a:lstStyle/>
          <a:p>
            <a:r>
              <a:rPr lang="zh-CN" altLang="en-US" sz="2800"/>
              <a:t>void print_ans(int i) {</a:t>
            </a:r>
          </a:p>
          <a:p>
            <a:r>
              <a:rPr lang="zh-CN" altLang="en-US" sz="2800"/>
              <a:t>  printf("%d ", i);</a:t>
            </a:r>
          </a:p>
          <a:p>
            <a:r>
              <a:rPr lang="zh-CN" altLang="en-US" sz="2800"/>
              <a:t>  for(int j = 1; j &lt;= n; j++) </a:t>
            </a:r>
          </a:p>
          <a:p>
            <a:r>
              <a:rPr lang="zh-CN" altLang="en-US" sz="2800"/>
              <a:t>  if(G[i][j] &amp;&amp; d[i] == d[j]+1) {</a:t>
            </a:r>
          </a:p>
          <a:p>
            <a:r>
              <a:rPr lang="zh-CN" altLang="en-US" sz="2800"/>
              <a:t>    print_ans(j);</a:t>
            </a:r>
          </a:p>
          <a:p>
            <a:r>
              <a:rPr lang="zh-CN" altLang="en-US" sz="2800"/>
              <a:t>    break;</a:t>
            </a:r>
          </a:p>
          <a:p>
            <a:r>
              <a:rPr lang="zh-CN" altLang="en-US" sz="2800"/>
              <a:t>  }</a:t>
            </a:r>
          </a:p>
          <a:p>
            <a:r>
              <a:rPr lang="zh-CN" altLang="en-US" sz="2800"/>
              <a:t>}</a:t>
            </a:r>
          </a:p>
        </p:txBody>
      </p:sp>
    </p:spTree>
    <p:extLst>
      <p:ext uri="{BB962C8B-B14F-4D97-AF65-F5344CB8AC3E}">
        <p14:creationId xmlns:p14="http://schemas.microsoft.com/office/powerpoint/2010/main" val="1798459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8AFB2D-6209-448B-B572-5344F79DA7C9}"/>
              </a:ext>
            </a:extLst>
          </p:cNvPr>
          <p:cNvSpPr>
            <a:spLocks noGrp="1"/>
          </p:cNvSpPr>
          <p:nvPr>
            <p:ph type="title"/>
          </p:nvPr>
        </p:nvSpPr>
        <p:spPr/>
        <p:txBody>
          <a:bodyPr/>
          <a:lstStyle/>
          <a:p>
            <a:r>
              <a:rPr lang="en-US" altLang="zh-CN"/>
              <a:t>A Coin Problem</a:t>
            </a:r>
            <a:endParaRPr lang="zh-CN" altLang="en-US"/>
          </a:p>
        </p:txBody>
      </p:sp>
      <p:sp>
        <p:nvSpPr>
          <p:cNvPr id="3" name="内容占位符 2">
            <a:extLst>
              <a:ext uri="{FF2B5EF4-FFF2-40B4-BE49-F238E27FC236}">
                <a16:creationId xmlns:a16="http://schemas.microsoft.com/office/drawing/2014/main" id="{65779944-634F-4B0E-AB4B-C226EDCDAF83}"/>
              </a:ext>
            </a:extLst>
          </p:cNvPr>
          <p:cNvSpPr>
            <a:spLocks noGrp="1"/>
          </p:cNvSpPr>
          <p:nvPr>
            <p:ph idx="1"/>
          </p:nvPr>
        </p:nvSpPr>
        <p:spPr/>
        <p:txBody>
          <a:bodyPr/>
          <a:lstStyle/>
          <a:p>
            <a:r>
              <a:rPr lang="en-US" altLang="zh-CN"/>
              <a:t>There are n kinds of coins with denominations of V</a:t>
            </a:r>
            <a:r>
              <a:rPr lang="en-US" altLang="zh-CN" baseline="-25000"/>
              <a:t>1</a:t>
            </a:r>
            <a:r>
              <a:rPr lang="en-US" altLang="zh-CN"/>
              <a:t>, V</a:t>
            </a:r>
            <a:r>
              <a:rPr lang="en-US" altLang="zh-CN" baseline="-25000"/>
              <a:t>2</a:t>
            </a:r>
            <a:r>
              <a:rPr lang="en-US" altLang="zh-CN"/>
              <a:t>,...,V</a:t>
            </a:r>
            <a:r>
              <a:rPr lang="en-US" altLang="zh-CN" baseline="-25000"/>
              <a:t>n</a:t>
            </a:r>
            <a:r>
              <a:rPr lang="en-US" altLang="zh-CN"/>
              <a:t>, and there are unlimited numbers of each kind of coin. Given a non-negative integer S, calculate how many coins can be used so that the sum of their values is equal to S. Output the minimum and maximum number of coins. (1≤n≤100, 1≤S≤10000, 1≤V</a:t>
            </a:r>
            <a:r>
              <a:rPr lang="en-US" altLang="zh-CN" baseline="-25000"/>
              <a:t>i</a:t>
            </a:r>
            <a:r>
              <a:rPr lang="en-US" altLang="zh-CN"/>
              <a:t> ≤S)</a:t>
            </a:r>
          </a:p>
          <a:p>
            <a:endParaRPr lang="zh-CN" altLang="en-US"/>
          </a:p>
        </p:txBody>
      </p:sp>
    </p:spTree>
    <p:extLst>
      <p:ext uri="{BB962C8B-B14F-4D97-AF65-F5344CB8AC3E}">
        <p14:creationId xmlns:p14="http://schemas.microsoft.com/office/powerpoint/2010/main" val="4189044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FF607A-D3C3-4875-A9F9-D4E21841F96E}"/>
              </a:ext>
            </a:extLst>
          </p:cNvPr>
          <p:cNvSpPr>
            <a:spLocks noGrp="1"/>
          </p:cNvSpPr>
          <p:nvPr>
            <p:ph type="title"/>
          </p:nvPr>
        </p:nvSpPr>
        <p:spPr/>
        <p:txBody>
          <a:bodyPr/>
          <a:lstStyle/>
          <a:p>
            <a:r>
              <a:rPr lang="en-US" altLang="zh-CN" b="1"/>
              <a:t>state &amp; state transition equation</a:t>
            </a:r>
            <a:endParaRPr lang="zh-CN" altLang="en-US"/>
          </a:p>
        </p:txBody>
      </p:sp>
      <p:sp>
        <p:nvSpPr>
          <p:cNvPr id="3" name="内容占位符 2">
            <a:extLst>
              <a:ext uri="{FF2B5EF4-FFF2-40B4-BE49-F238E27FC236}">
                <a16:creationId xmlns:a16="http://schemas.microsoft.com/office/drawing/2014/main" id="{947D76B4-AAED-4130-A1D2-C9F374BB1261}"/>
              </a:ext>
            </a:extLst>
          </p:cNvPr>
          <p:cNvSpPr>
            <a:spLocks noGrp="1"/>
          </p:cNvSpPr>
          <p:nvPr>
            <p:ph idx="1"/>
          </p:nvPr>
        </p:nvSpPr>
        <p:spPr/>
        <p:txBody>
          <a:bodyPr>
            <a:normAutofit lnSpcReduction="10000"/>
          </a:bodyPr>
          <a:lstStyle/>
          <a:p>
            <a:r>
              <a:rPr lang="en-US" altLang="zh-CN"/>
              <a:t>Regarding each value of money as a vertex, it means "how much more money is needed“. Then, </a:t>
            </a:r>
            <a:r>
              <a:rPr lang="en-US" altLang="zh-CN">
                <a:solidFill>
                  <a:srgbClr val="FF0000"/>
                </a:solidFill>
              </a:rPr>
              <a:t>the initial state is S, and the target state is 0</a:t>
            </a:r>
            <a:r>
              <a:rPr lang="en-US" altLang="zh-CN"/>
              <a:t>. If it is currently at state i, every time a coin j is used, the state will transition to state i-V</a:t>
            </a:r>
            <a:r>
              <a:rPr lang="en-US" altLang="zh-CN" baseline="-25000"/>
              <a:t>j</a:t>
            </a:r>
            <a:r>
              <a:rPr lang="en-US" altLang="zh-CN"/>
              <a:t>.</a:t>
            </a:r>
          </a:p>
          <a:p>
            <a:r>
              <a:rPr lang="en-US" altLang="zh-CN"/>
              <a:t>The function d(i) means the length of the longest or shortest path starting from i to 0.</a:t>
            </a:r>
          </a:p>
          <a:p>
            <a:r>
              <a:rPr lang="sv-SE" altLang="zh-CN">
                <a:solidFill>
                  <a:srgbClr val="FF0000"/>
                </a:solidFill>
              </a:rPr>
              <a:t>d(i) = max{d(i – V[j]) + 1 | (i,V[j])∈E}</a:t>
            </a:r>
          </a:p>
          <a:p>
            <a:r>
              <a:rPr lang="sv-SE" altLang="zh-CN">
                <a:solidFill>
                  <a:srgbClr val="FF0000"/>
                </a:solidFill>
              </a:rPr>
              <a:t>d(i) = min{d(i – V[j]) + 1 | (i,V[j])∈E};</a:t>
            </a:r>
          </a:p>
          <a:p>
            <a:r>
              <a:rPr lang="sv-SE" altLang="zh-CN">
                <a:solidFill>
                  <a:srgbClr val="FF0000"/>
                </a:solidFill>
              </a:rPr>
              <a:t>maxv[i] = max(maxv[i], maxv[i – V[j]] + 1);</a:t>
            </a:r>
          </a:p>
          <a:p>
            <a:r>
              <a:rPr lang="sv-SE" altLang="zh-CN">
                <a:solidFill>
                  <a:srgbClr val="FF0000"/>
                </a:solidFill>
              </a:rPr>
              <a:t>minv[i] = min(minv[i], minv[i – V[j]] + 1);         </a:t>
            </a:r>
            <a:r>
              <a:rPr lang="sv-SE" altLang="zh-CN">
                <a:solidFill>
                  <a:srgbClr val="0000FF"/>
                </a:solidFill>
              </a:rPr>
              <a:t>O(S*n)</a:t>
            </a:r>
          </a:p>
          <a:p>
            <a:endParaRPr lang="sv-SE" altLang="zh-CN">
              <a:solidFill>
                <a:srgbClr val="FF0000"/>
              </a:solidFill>
            </a:endParaRPr>
          </a:p>
          <a:p>
            <a:endParaRPr lang="zh-CN" altLang="en-US"/>
          </a:p>
        </p:txBody>
      </p:sp>
    </p:spTree>
    <p:extLst>
      <p:ext uri="{BB962C8B-B14F-4D97-AF65-F5344CB8AC3E}">
        <p14:creationId xmlns:p14="http://schemas.microsoft.com/office/powerpoint/2010/main" val="952563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533F2D-DD74-48EF-AFDB-FCBC33A4ABCF}"/>
              </a:ext>
            </a:extLst>
          </p:cNvPr>
          <p:cNvSpPr>
            <a:spLocks noGrp="1"/>
          </p:cNvSpPr>
          <p:nvPr>
            <p:ph type="title"/>
          </p:nvPr>
        </p:nvSpPr>
        <p:spPr/>
        <p:txBody>
          <a:bodyPr/>
          <a:lstStyle/>
          <a:p>
            <a:r>
              <a:rPr lang="en-US" altLang="zh-CN"/>
              <a:t>Example</a:t>
            </a:r>
            <a:endParaRPr lang="zh-CN" altLang="en-US"/>
          </a:p>
        </p:txBody>
      </p:sp>
      <p:sp>
        <p:nvSpPr>
          <p:cNvPr id="3" name="内容占位符 2">
            <a:extLst>
              <a:ext uri="{FF2B5EF4-FFF2-40B4-BE49-F238E27FC236}">
                <a16:creationId xmlns:a16="http://schemas.microsoft.com/office/drawing/2014/main" id="{914DD152-13EA-4895-9765-78680366393D}"/>
              </a:ext>
            </a:extLst>
          </p:cNvPr>
          <p:cNvSpPr>
            <a:spLocks noGrp="1"/>
          </p:cNvSpPr>
          <p:nvPr>
            <p:ph idx="1"/>
          </p:nvPr>
        </p:nvSpPr>
        <p:spPr>
          <a:xfrm>
            <a:off x="838200" y="1825625"/>
            <a:ext cx="10515600" cy="571346"/>
          </a:xfrm>
        </p:spPr>
        <p:txBody>
          <a:bodyPr/>
          <a:lstStyle/>
          <a:p>
            <a:pPr marL="0" indent="0">
              <a:buNone/>
            </a:pPr>
            <a:r>
              <a:rPr lang="en-US" altLang="zh-CN"/>
              <a:t>int V[5] = {1, 5, 10, 25, 50};  //5</a:t>
            </a:r>
            <a:r>
              <a:rPr lang="zh-CN" altLang="en-US"/>
              <a:t> </a:t>
            </a:r>
            <a:r>
              <a:rPr lang="en-US" altLang="zh-CN"/>
              <a:t>denominations</a:t>
            </a:r>
          </a:p>
          <a:p>
            <a:pPr marL="0" indent="0">
              <a:buNone/>
            </a:pPr>
            <a:endParaRPr lang="zh-CN" altLang="en-US"/>
          </a:p>
          <a:p>
            <a:pPr marL="0" indent="0">
              <a:buNone/>
            </a:pPr>
            <a:endParaRPr lang="zh-CN" altLang="en-US"/>
          </a:p>
        </p:txBody>
      </p:sp>
      <p:pic>
        <p:nvPicPr>
          <p:cNvPr id="5" name="图片 4">
            <a:extLst>
              <a:ext uri="{FF2B5EF4-FFF2-40B4-BE49-F238E27FC236}">
                <a16:creationId xmlns:a16="http://schemas.microsoft.com/office/drawing/2014/main" id="{DA8A75B6-8277-40B6-8FFD-D19D36377F6E}"/>
              </a:ext>
            </a:extLst>
          </p:cNvPr>
          <p:cNvPicPr>
            <a:picLocks noChangeAspect="1"/>
          </p:cNvPicPr>
          <p:nvPr/>
        </p:nvPicPr>
        <p:blipFill>
          <a:blip r:embed="rId2"/>
          <a:stretch>
            <a:fillRect/>
          </a:stretch>
        </p:blipFill>
        <p:spPr>
          <a:xfrm>
            <a:off x="1629077" y="2783149"/>
            <a:ext cx="6323809" cy="1066667"/>
          </a:xfrm>
          <a:prstGeom prst="rect">
            <a:avLst/>
          </a:prstGeom>
        </p:spPr>
      </p:pic>
      <p:sp>
        <p:nvSpPr>
          <p:cNvPr id="6" name="文本框 5">
            <a:extLst>
              <a:ext uri="{FF2B5EF4-FFF2-40B4-BE49-F238E27FC236}">
                <a16:creationId xmlns:a16="http://schemas.microsoft.com/office/drawing/2014/main" id="{46BAC56C-4C43-499A-89DF-0386068EB095}"/>
              </a:ext>
            </a:extLst>
          </p:cNvPr>
          <p:cNvSpPr txBox="1"/>
          <p:nvPr/>
        </p:nvSpPr>
        <p:spPr>
          <a:xfrm>
            <a:off x="568170" y="3198167"/>
            <a:ext cx="994300" cy="461665"/>
          </a:xfrm>
          <a:prstGeom prst="rect">
            <a:avLst/>
          </a:prstGeom>
          <a:noFill/>
        </p:spPr>
        <p:txBody>
          <a:bodyPr wrap="square" rtlCol="0">
            <a:spAutoFit/>
          </a:bodyPr>
          <a:lstStyle/>
          <a:p>
            <a:r>
              <a:rPr lang="en-US" altLang="zh-CN" sz="2400"/>
              <a:t>minv[i]</a:t>
            </a:r>
            <a:endParaRPr lang="zh-CN" altLang="en-US" sz="2400"/>
          </a:p>
        </p:txBody>
      </p:sp>
    </p:spTree>
    <p:extLst>
      <p:ext uri="{BB962C8B-B14F-4D97-AF65-F5344CB8AC3E}">
        <p14:creationId xmlns:p14="http://schemas.microsoft.com/office/powerpoint/2010/main" val="32287508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63EB91-A12D-4BAC-AE4F-ED6C378E04DA}"/>
              </a:ext>
            </a:extLst>
          </p:cNvPr>
          <p:cNvSpPr>
            <a:spLocks noGrp="1"/>
          </p:cNvSpPr>
          <p:nvPr>
            <p:ph type="title"/>
          </p:nvPr>
        </p:nvSpPr>
        <p:spPr/>
        <p:txBody>
          <a:bodyPr/>
          <a:lstStyle/>
          <a:p>
            <a:r>
              <a:rPr lang="en-US" altLang="zh-CN"/>
              <a:t>Top-down approach</a:t>
            </a:r>
            <a:endParaRPr lang="zh-CN" altLang="en-US"/>
          </a:p>
        </p:txBody>
      </p:sp>
      <p:pic>
        <p:nvPicPr>
          <p:cNvPr id="5" name="图片 4">
            <a:extLst>
              <a:ext uri="{FF2B5EF4-FFF2-40B4-BE49-F238E27FC236}">
                <a16:creationId xmlns:a16="http://schemas.microsoft.com/office/drawing/2014/main" id="{C169BF68-A4D0-4FC8-B155-C645D4236C9A}"/>
              </a:ext>
            </a:extLst>
          </p:cNvPr>
          <p:cNvPicPr>
            <a:picLocks noChangeAspect="1"/>
          </p:cNvPicPr>
          <p:nvPr/>
        </p:nvPicPr>
        <p:blipFill>
          <a:blip r:embed="rId2"/>
          <a:stretch>
            <a:fillRect/>
          </a:stretch>
        </p:blipFill>
        <p:spPr>
          <a:xfrm>
            <a:off x="196000" y="1805190"/>
            <a:ext cx="11800000" cy="3247619"/>
          </a:xfrm>
          <a:prstGeom prst="rect">
            <a:avLst/>
          </a:prstGeom>
        </p:spPr>
      </p:pic>
      <p:sp>
        <p:nvSpPr>
          <p:cNvPr id="3" name="文本框 2">
            <a:extLst>
              <a:ext uri="{FF2B5EF4-FFF2-40B4-BE49-F238E27FC236}">
                <a16:creationId xmlns:a16="http://schemas.microsoft.com/office/drawing/2014/main" id="{7120E491-AA34-4550-56EE-D721F985ED95}"/>
              </a:ext>
            </a:extLst>
          </p:cNvPr>
          <p:cNvSpPr txBox="1"/>
          <p:nvPr/>
        </p:nvSpPr>
        <p:spPr>
          <a:xfrm>
            <a:off x="3400147" y="3468547"/>
            <a:ext cx="1198486" cy="369332"/>
          </a:xfrm>
          <a:prstGeom prst="rect">
            <a:avLst/>
          </a:prstGeom>
          <a:noFill/>
        </p:spPr>
        <p:txBody>
          <a:bodyPr wrap="square" rtlCol="0">
            <a:spAutoFit/>
          </a:bodyPr>
          <a:lstStyle/>
          <a:p>
            <a:r>
              <a:rPr lang="en-US" altLang="zh-CN"/>
              <a:t>// no path</a:t>
            </a:r>
            <a:endParaRPr lang="zh-CN" altLang="en-US"/>
          </a:p>
        </p:txBody>
      </p:sp>
    </p:spTree>
    <p:extLst>
      <p:ext uri="{BB962C8B-B14F-4D97-AF65-F5344CB8AC3E}">
        <p14:creationId xmlns:p14="http://schemas.microsoft.com/office/powerpoint/2010/main" val="40008998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5E5C94-E08C-4960-B86E-9C667BB1D3B5}"/>
              </a:ext>
            </a:extLst>
          </p:cNvPr>
          <p:cNvSpPr>
            <a:spLocks noGrp="1"/>
          </p:cNvSpPr>
          <p:nvPr>
            <p:ph type="title"/>
          </p:nvPr>
        </p:nvSpPr>
        <p:spPr/>
        <p:txBody>
          <a:bodyPr/>
          <a:lstStyle/>
          <a:p>
            <a:r>
              <a:rPr lang="en-US" altLang="zh-CN"/>
              <a:t>Bottom-up approach</a:t>
            </a:r>
            <a:endParaRPr lang="zh-CN" altLang="en-US"/>
          </a:p>
        </p:txBody>
      </p:sp>
      <p:pic>
        <p:nvPicPr>
          <p:cNvPr id="5" name="图片 4">
            <a:extLst>
              <a:ext uri="{FF2B5EF4-FFF2-40B4-BE49-F238E27FC236}">
                <a16:creationId xmlns:a16="http://schemas.microsoft.com/office/drawing/2014/main" id="{2421F28E-CBE6-4943-A281-2D78758E5266}"/>
              </a:ext>
            </a:extLst>
          </p:cNvPr>
          <p:cNvPicPr>
            <a:picLocks noChangeAspect="1"/>
          </p:cNvPicPr>
          <p:nvPr/>
        </p:nvPicPr>
        <p:blipFill>
          <a:blip r:embed="rId2"/>
          <a:stretch>
            <a:fillRect/>
          </a:stretch>
        </p:blipFill>
        <p:spPr>
          <a:xfrm>
            <a:off x="915438" y="1690688"/>
            <a:ext cx="7733333" cy="4742857"/>
          </a:xfrm>
          <a:prstGeom prst="rect">
            <a:avLst/>
          </a:prstGeom>
        </p:spPr>
      </p:pic>
    </p:spTree>
    <p:extLst>
      <p:ext uri="{BB962C8B-B14F-4D97-AF65-F5344CB8AC3E}">
        <p14:creationId xmlns:p14="http://schemas.microsoft.com/office/powerpoint/2010/main" val="24336926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F47315-87B3-42ED-B502-70FC27FBEBDD}"/>
              </a:ext>
            </a:extLst>
          </p:cNvPr>
          <p:cNvSpPr>
            <a:spLocks noGrp="1"/>
          </p:cNvSpPr>
          <p:nvPr>
            <p:ph type="title"/>
          </p:nvPr>
        </p:nvSpPr>
        <p:spPr/>
        <p:txBody>
          <a:bodyPr/>
          <a:lstStyle/>
          <a:p>
            <a:r>
              <a:rPr lang="en-US" altLang="zh-CN"/>
              <a:t>Print the path (recursion)</a:t>
            </a:r>
            <a:endParaRPr lang="zh-CN" altLang="en-US"/>
          </a:p>
        </p:txBody>
      </p:sp>
      <p:sp>
        <p:nvSpPr>
          <p:cNvPr id="3" name="内容占位符 2">
            <a:extLst>
              <a:ext uri="{FF2B5EF4-FFF2-40B4-BE49-F238E27FC236}">
                <a16:creationId xmlns:a16="http://schemas.microsoft.com/office/drawing/2014/main" id="{FDBDBFC9-1C4C-436B-BE42-A37FE234F811}"/>
              </a:ext>
            </a:extLst>
          </p:cNvPr>
          <p:cNvSpPr>
            <a:spLocks noGrp="1"/>
          </p:cNvSpPr>
          <p:nvPr>
            <p:ph idx="1"/>
          </p:nvPr>
        </p:nvSpPr>
        <p:spPr/>
        <p:txBody>
          <a:bodyPr/>
          <a:lstStyle/>
          <a:p>
            <a:pPr marL="0" indent="0">
              <a:buNone/>
            </a:pPr>
            <a:r>
              <a:rPr lang="en-US" altLang="zh-CN"/>
              <a:t>void print_ans(int* d, int S) {  //print_ans(min,S) or print_ans(max,S)</a:t>
            </a:r>
          </a:p>
          <a:p>
            <a:pPr marL="0" indent="0">
              <a:buNone/>
            </a:pPr>
            <a:r>
              <a:rPr lang="en-US" altLang="zh-CN"/>
              <a:t>  for(int i = 1; i &lt;= n; i++)</a:t>
            </a:r>
          </a:p>
          <a:p>
            <a:pPr marL="0" indent="0">
              <a:buNone/>
            </a:pPr>
            <a:r>
              <a:rPr lang="en-US" altLang="zh-CN"/>
              <a:t>    if(S&gt;=V[i] &amp;&amp; d[S]==d[S-V[i]]+1) {</a:t>
            </a:r>
          </a:p>
          <a:p>
            <a:pPr marL="0" indent="0">
              <a:buNone/>
            </a:pPr>
            <a:r>
              <a:rPr lang="en-US" altLang="zh-CN"/>
              <a:t>      printf("%d ", i);</a:t>
            </a:r>
          </a:p>
          <a:p>
            <a:pPr marL="0" indent="0">
              <a:buNone/>
            </a:pPr>
            <a:r>
              <a:rPr lang="en-US" altLang="zh-CN"/>
              <a:t>      print_ans(d, S-V[i]);</a:t>
            </a:r>
          </a:p>
          <a:p>
            <a:pPr marL="0" indent="0">
              <a:buNone/>
            </a:pPr>
            <a:r>
              <a:rPr lang="en-US" altLang="zh-CN"/>
              <a:t>      break;</a:t>
            </a:r>
          </a:p>
          <a:p>
            <a:pPr marL="0" indent="0">
              <a:buNone/>
            </a:pPr>
            <a:r>
              <a:rPr lang="en-US" altLang="zh-CN"/>
              <a:t>    }</a:t>
            </a:r>
          </a:p>
          <a:p>
            <a:pPr marL="0" indent="0">
              <a:buNone/>
            </a:pPr>
            <a:r>
              <a:rPr lang="en-US" altLang="zh-CN"/>
              <a:t>}</a:t>
            </a:r>
            <a:endParaRPr lang="zh-CN" altLang="en-US"/>
          </a:p>
        </p:txBody>
      </p:sp>
    </p:spTree>
    <p:extLst>
      <p:ext uri="{BB962C8B-B14F-4D97-AF65-F5344CB8AC3E}">
        <p14:creationId xmlns:p14="http://schemas.microsoft.com/office/powerpoint/2010/main" val="21255343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23AF01-283F-4481-912E-133BF844A6B4}"/>
              </a:ext>
            </a:extLst>
          </p:cNvPr>
          <p:cNvSpPr>
            <a:spLocks noGrp="1"/>
          </p:cNvSpPr>
          <p:nvPr>
            <p:ph type="title"/>
          </p:nvPr>
        </p:nvSpPr>
        <p:spPr/>
        <p:txBody>
          <a:bodyPr/>
          <a:lstStyle/>
          <a:p>
            <a:r>
              <a:rPr lang="en-US" altLang="zh-CN"/>
              <a:t>Print the path (iteration)</a:t>
            </a:r>
            <a:endParaRPr lang="zh-CN" altLang="en-US"/>
          </a:p>
        </p:txBody>
      </p:sp>
      <p:pic>
        <p:nvPicPr>
          <p:cNvPr id="5" name="图片 4">
            <a:extLst>
              <a:ext uri="{FF2B5EF4-FFF2-40B4-BE49-F238E27FC236}">
                <a16:creationId xmlns:a16="http://schemas.microsoft.com/office/drawing/2014/main" id="{F2F3BE99-89FB-4426-8373-F8A20320FA93}"/>
              </a:ext>
            </a:extLst>
          </p:cNvPr>
          <p:cNvPicPr>
            <a:picLocks noChangeAspect="1"/>
          </p:cNvPicPr>
          <p:nvPr/>
        </p:nvPicPr>
        <p:blipFill>
          <a:blip r:embed="rId2"/>
          <a:stretch>
            <a:fillRect/>
          </a:stretch>
        </p:blipFill>
        <p:spPr>
          <a:xfrm>
            <a:off x="838200" y="1588294"/>
            <a:ext cx="5580952" cy="4800000"/>
          </a:xfrm>
          <a:prstGeom prst="rect">
            <a:avLst/>
          </a:prstGeom>
        </p:spPr>
      </p:pic>
      <p:pic>
        <p:nvPicPr>
          <p:cNvPr id="7" name="图片 6">
            <a:extLst>
              <a:ext uri="{FF2B5EF4-FFF2-40B4-BE49-F238E27FC236}">
                <a16:creationId xmlns:a16="http://schemas.microsoft.com/office/drawing/2014/main" id="{6CA823FE-3DFF-40D0-B1DC-E9D4C4BDCC30}"/>
              </a:ext>
            </a:extLst>
          </p:cNvPr>
          <p:cNvPicPr>
            <a:picLocks noChangeAspect="1"/>
          </p:cNvPicPr>
          <p:nvPr/>
        </p:nvPicPr>
        <p:blipFill>
          <a:blip r:embed="rId3"/>
          <a:stretch>
            <a:fillRect/>
          </a:stretch>
        </p:blipFill>
        <p:spPr>
          <a:xfrm>
            <a:off x="6627640" y="1425248"/>
            <a:ext cx="5133333" cy="2409524"/>
          </a:xfrm>
          <a:prstGeom prst="rect">
            <a:avLst/>
          </a:prstGeom>
        </p:spPr>
      </p:pic>
      <p:sp>
        <p:nvSpPr>
          <p:cNvPr id="9" name="文本框 8">
            <a:extLst>
              <a:ext uri="{FF2B5EF4-FFF2-40B4-BE49-F238E27FC236}">
                <a16:creationId xmlns:a16="http://schemas.microsoft.com/office/drawing/2014/main" id="{11A09584-4663-4073-8160-812E57D4EAC8}"/>
              </a:ext>
            </a:extLst>
          </p:cNvPr>
          <p:cNvSpPr txBox="1"/>
          <p:nvPr/>
        </p:nvSpPr>
        <p:spPr>
          <a:xfrm>
            <a:off x="7308910" y="3393159"/>
            <a:ext cx="3770791" cy="830997"/>
          </a:xfrm>
          <a:prstGeom prst="rect">
            <a:avLst/>
          </a:prstGeom>
          <a:noFill/>
        </p:spPr>
        <p:txBody>
          <a:bodyPr wrap="square">
            <a:spAutoFit/>
          </a:bodyPr>
          <a:lstStyle/>
          <a:p>
            <a:r>
              <a:rPr lang="en-US" altLang="zh-CN" sz="2400">
                <a:solidFill>
                  <a:srgbClr val="FF0000"/>
                </a:solidFill>
              </a:rPr>
              <a:t>print_ans(min_coin,S) </a:t>
            </a:r>
            <a:r>
              <a:rPr lang="en-US" altLang="zh-CN" sz="2400"/>
              <a:t>or</a:t>
            </a:r>
            <a:r>
              <a:rPr lang="en-US" altLang="zh-CN" sz="2400">
                <a:solidFill>
                  <a:srgbClr val="FF0000"/>
                </a:solidFill>
              </a:rPr>
              <a:t> print_ans(max_coin,S)</a:t>
            </a:r>
            <a:endParaRPr lang="zh-CN" altLang="en-US" sz="2400">
              <a:solidFill>
                <a:srgbClr val="FF0000"/>
              </a:solidFill>
            </a:endParaRPr>
          </a:p>
        </p:txBody>
      </p:sp>
      <p:sp>
        <p:nvSpPr>
          <p:cNvPr id="11" name="文本框 10">
            <a:extLst>
              <a:ext uri="{FF2B5EF4-FFF2-40B4-BE49-F238E27FC236}">
                <a16:creationId xmlns:a16="http://schemas.microsoft.com/office/drawing/2014/main" id="{945A3354-97CD-4E4B-9F79-93FFDCC0B4D1}"/>
              </a:ext>
            </a:extLst>
          </p:cNvPr>
          <p:cNvSpPr txBox="1"/>
          <p:nvPr/>
        </p:nvSpPr>
        <p:spPr>
          <a:xfrm>
            <a:off x="7308909" y="4894895"/>
            <a:ext cx="3264395" cy="461665"/>
          </a:xfrm>
          <a:prstGeom prst="rect">
            <a:avLst/>
          </a:prstGeom>
          <a:noFill/>
        </p:spPr>
        <p:txBody>
          <a:bodyPr wrap="square">
            <a:spAutoFit/>
          </a:bodyPr>
          <a:lstStyle/>
          <a:p>
            <a:r>
              <a:rPr lang="zh-CN" altLang="en-US" sz="2400" b="1">
                <a:solidFill>
                  <a:schemeClr val="accent1"/>
                </a:solidFill>
              </a:rPr>
              <a:t>Trade space for time</a:t>
            </a:r>
          </a:p>
        </p:txBody>
      </p:sp>
    </p:spTree>
    <p:extLst>
      <p:ext uri="{BB962C8B-B14F-4D97-AF65-F5344CB8AC3E}">
        <p14:creationId xmlns:p14="http://schemas.microsoft.com/office/powerpoint/2010/main" val="9242697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507B64-DA53-46D8-B997-D4C34DB6526F}"/>
              </a:ext>
            </a:extLst>
          </p:cNvPr>
          <p:cNvSpPr>
            <a:spLocks noGrp="1"/>
          </p:cNvSpPr>
          <p:nvPr>
            <p:ph type="title"/>
          </p:nvPr>
        </p:nvSpPr>
        <p:spPr>
          <a:xfrm>
            <a:off x="838200" y="2103437"/>
            <a:ext cx="10515600" cy="1325563"/>
          </a:xfrm>
        </p:spPr>
        <p:txBody>
          <a:bodyPr/>
          <a:lstStyle/>
          <a:p>
            <a:pPr algn="ctr"/>
            <a:r>
              <a:rPr lang="en-US" altLang="zh-CN">
                <a:hlinkClick r:id="rId2" action="ppaction://hlinkfile"/>
              </a:rPr>
              <a:t>A Spy in the Metro</a:t>
            </a:r>
            <a:endParaRPr lang="zh-CN" altLang="en-US"/>
          </a:p>
        </p:txBody>
      </p:sp>
      <p:sp>
        <p:nvSpPr>
          <p:cNvPr id="4" name="文本框 3">
            <a:extLst>
              <a:ext uri="{FF2B5EF4-FFF2-40B4-BE49-F238E27FC236}">
                <a16:creationId xmlns:a16="http://schemas.microsoft.com/office/drawing/2014/main" id="{DA1D195E-89E9-4855-8451-0C85766898C8}"/>
              </a:ext>
            </a:extLst>
          </p:cNvPr>
          <p:cNvSpPr txBox="1"/>
          <p:nvPr/>
        </p:nvSpPr>
        <p:spPr>
          <a:xfrm>
            <a:off x="3524435" y="3429000"/>
            <a:ext cx="5344357" cy="646331"/>
          </a:xfrm>
          <a:prstGeom prst="rect">
            <a:avLst/>
          </a:prstGeom>
          <a:noFill/>
        </p:spPr>
        <p:txBody>
          <a:bodyPr wrap="square">
            <a:spAutoFit/>
          </a:bodyPr>
          <a:lstStyle/>
          <a:p>
            <a:r>
              <a:rPr lang="sv-SE" altLang="zh-CN">
                <a:solidFill>
                  <a:srgbClr val="FF0000"/>
                </a:solidFill>
              </a:rPr>
              <a:t>O(n*T), n*T the number of states; </a:t>
            </a:r>
            <a:r>
              <a:rPr lang="en-US" altLang="zh-CN">
                <a:solidFill>
                  <a:srgbClr val="FF0000"/>
                </a:solidFill>
              </a:rPr>
              <a:t>the number of decisions at each state is 3</a:t>
            </a:r>
            <a:endParaRPr lang="zh-CN" altLang="en-US"/>
          </a:p>
        </p:txBody>
      </p:sp>
    </p:spTree>
    <p:extLst>
      <p:ext uri="{BB962C8B-B14F-4D97-AF65-F5344CB8AC3E}">
        <p14:creationId xmlns:p14="http://schemas.microsoft.com/office/powerpoint/2010/main" val="388623236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2558</TotalTime>
  <Words>2574</Words>
  <Application>Microsoft Office PowerPoint</Application>
  <PresentationFormat>宽屏</PresentationFormat>
  <Paragraphs>154</Paragraphs>
  <Slides>38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38</vt:i4>
      </vt:variant>
    </vt:vector>
  </HeadingPairs>
  <TitlesOfParts>
    <vt:vector size="45" baseType="lpstr">
      <vt:lpstr>PingFang SC</vt:lpstr>
      <vt:lpstr>等线</vt:lpstr>
      <vt:lpstr>等线 Light</vt:lpstr>
      <vt:lpstr>楷体_GB2312</vt:lpstr>
      <vt:lpstr>Arial</vt:lpstr>
      <vt:lpstr>Cambria Math</vt:lpstr>
      <vt:lpstr>Office 主题​​</vt:lpstr>
      <vt:lpstr>Dynamic Programming Part 1</vt:lpstr>
      <vt:lpstr>Sharing repeated subproblems</vt:lpstr>
      <vt:lpstr>An simple example--Fibonacci sequence</vt:lpstr>
      <vt:lpstr>Top-down approach</vt:lpstr>
      <vt:lpstr>Bottom-up approach</vt:lpstr>
      <vt:lpstr>Overlapping subproblems</vt:lpstr>
      <vt:lpstr>Optimal substructure</vt:lpstr>
      <vt:lpstr>DP &amp;&amp; D&amp;C</vt:lpstr>
      <vt:lpstr>Solve each sub-problem only once</vt:lpstr>
      <vt:lpstr>PowerPoint 演示文稿</vt:lpstr>
      <vt:lpstr>Examples</vt:lpstr>
      <vt:lpstr>The number triangle problem</vt:lpstr>
      <vt:lpstr>State &amp; Solution</vt:lpstr>
      <vt:lpstr>Brute force</vt:lpstr>
      <vt:lpstr>Dynamic Programming ?</vt:lpstr>
      <vt:lpstr>The core of dynamic programming is the “state transition equation”.</vt:lpstr>
      <vt:lpstr>State transition equation</vt:lpstr>
      <vt:lpstr>Memorization</vt:lpstr>
      <vt:lpstr>Top-down approach</vt:lpstr>
      <vt:lpstr>Bottom-up approach</vt:lpstr>
      <vt:lpstr>Top-down approach &amp; Bottom-up approach</vt:lpstr>
      <vt:lpstr>Dynamic programming &amp; Optimization problems</vt:lpstr>
      <vt:lpstr>Four steps of dynamic programming</vt:lpstr>
      <vt:lpstr>Exercise http://acm.hdu.edu.cn/showproblem.php?pid=1176</vt:lpstr>
      <vt:lpstr>Dynamic programming on DAG</vt:lpstr>
      <vt:lpstr>Stacking Boxes</vt:lpstr>
      <vt:lpstr>Input &amp; Output</vt:lpstr>
      <vt:lpstr>state &amp; state transition equation</vt:lpstr>
      <vt:lpstr>Top-down approach (Memorization)</vt:lpstr>
      <vt:lpstr>Output the lexicographically smallest solution</vt:lpstr>
      <vt:lpstr>A Coin Problem</vt:lpstr>
      <vt:lpstr>state &amp; state transition equation</vt:lpstr>
      <vt:lpstr>Example</vt:lpstr>
      <vt:lpstr>Top-down approach</vt:lpstr>
      <vt:lpstr>Bottom-up approach</vt:lpstr>
      <vt:lpstr>Print the path (recursion)</vt:lpstr>
      <vt:lpstr>Print the path (iteration)</vt:lpstr>
      <vt:lpstr>A Spy in the Metro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Programming</dc:title>
  <dc:creator>Xu Yanyan</dc:creator>
  <cp:lastModifiedBy>艳艳 徐</cp:lastModifiedBy>
  <cp:revision>222</cp:revision>
  <dcterms:created xsi:type="dcterms:W3CDTF">2021-02-22T08:32:59Z</dcterms:created>
  <dcterms:modified xsi:type="dcterms:W3CDTF">2024-04-04T12:47:02Z</dcterms:modified>
</cp:coreProperties>
</file>