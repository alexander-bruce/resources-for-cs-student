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80" r:id="rId3"/>
    <p:sldId id="257" r:id="rId4"/>
    <p:sldId id="258" r:id="rId5"/>
    <p:sldId id="259" r:id="rId6"/>
    <p:sldId id="260" r:id="rId7"/>
    <p:sldId id="261" r:id="rId8"/>
    <p:sldId id="262" r:id="rId9"/>
    <p:sldId id="263" r:id="rId10"/>
    <p:sldId id="264" r:id="rId11"/>
    <p:sldId id="265" r:id="rId12"/>
    <p:sldId id="266" r:id="rId13"/>
    <p:sldId id="267" r:id="rId14"/>
    <p:sldId id="269" r:id="rId15"/>
    <p:sldId id="271" r:id="rId16"/>
    <p:sldId id="272" r:id="rId17"/>
    <p:sldId id="273" r:id="rId18"/>
    <p:sldId id="274" r:id="rId19"/>
    <p:sldId id="282" r:id="rId20"/>
    <p:sldId id="281" r:id="rId21"/>
    <p:sldId id="268" r:id="rId22"/>
    <p:sldId id="276" r:id="rId23"/>
    <p:sldId id="277" r:id="rId24"/>
    <p:sldId id="279"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284" y="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FC08B78-956D-4ED7-BEDE-BF1A49709A78}"/>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4BD1C0D5-26C2-4737-9764-659FA4C9B1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609121BF-0FBC-42B6-A793-79C560922E12}"/>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A3FFC931-7949-4E79-8A8D-309F639D187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BB064E-3F83-4BA0-902C-8A23EE5E5FE2}"/>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9062564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F2C38CA-A504-413B-9C22-4BAC9BB7FCD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931DE9B-CDD1-4DA2-A38E-1A356D0C573B}"/>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BFB3C71-549B-4405-B071-91DF7D299ACF}"/>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C05AF9A3-DBE7-4417-9833-87B46AEBD5F0}"/>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52B9AAE-3206-4729-B4A9-979EFB7BB195}"/>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18675727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D7C1B13-B000-4B94-901E-5EC5A6362C06}"/>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3FBC3091-613F-4110-8BE8-2BDE4C5E638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7DB0301B-98A0-4745-837C-8A82FFE24BB0}"/>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BFBE4225-87AE-4C49-AABF-175FB15B007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F177C71-4AAB-4002-ACE7-B430F4EB4257}"/>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195616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7EEA5B-8C66-44A4-B0F8-96B7DE6C985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E0B9DCF-257C-4371-9AB2-2A4E3B67FEAB}"/>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1560376-F273-4491-9C96-44677661A8EB}"/>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3B84A650-4B47-48BD-98F2-6DECF17752F0}"/>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6947F146-6936-4BAC-8E50-C383E5ECC1F7}"/>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9805E9FC-AEAE-413B-B47F-83B1F55A8989}"/>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37666201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C493590-F9FC-4A69-988D-0892B5B8168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3962A0CF-B039-4382-A92C-57A8CA30893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E737ADB4-3C0F-4CDE-9029-EF737DBC8D2D}"/>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E5E8392-C7E1-4A37-AC3E-F1280994BF4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1B5662AF-D6CB-4A4F-A367-E9C2AE464703}"/>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0EF0BE52-1EA7-4932-B417-B32C81E6BC7C}"/>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8" name="页脚占位符 7">
            <a:extLst>
              <a:ext uri="{FF2B5EF4-FFF2-40B4-BE49-F238E27FC236}">
                <a16:creationId xmlns:a16="http://schemas.microsoft.com/office/drawing/2014/main" id="{5AD93C87-6961-4E56-AA18-1828AEE11783}"/>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76BA1EE-99F4-4B1E-9279-8A362B5204BD}"/>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30440482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FB4BF83-7C29-4974-8526-3EC1C140225B}"/>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4A809797-AB1C-4092-80C2-115B8D2701F7}"/>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4" name="页脚占位符 3">
            <a:extLst>
              <a:ext uri="{FF2B5EF4-FFF2-40B4-BE49-F238E27FC236}">
                <a16:creationId xmlns:a16="http://schemas.microsoft.com/office/drawing/2014/main" id="{DE107280-298D-4AC1-A9C7-887834CB33A6}"/>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9799EBF-1B0E-4233-947D-399F27D50861}"/>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3222858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9E40F6E-838F-4F29-BA3C-E23CD2F5CE35}"/>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3" name="页脚占位符 2">
            <a:extLst>
              <a:ext uri="{FF2B5EF4-FFF2-40B4-BE49-F238E27FC236}">
                <a16:creationId xmlns:a16="http://schemas.microsoft.com/office/drawing/2014/main" id="{3316E770-12DD-47A7-97F2-B9BD28AE0A9C}"/>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D4276EF4-5C52-4112-9A30-51B858EE0E82}"/>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8467720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C310CBB-F564-4638-BD37-9D132E638F3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8990D28-9E87-4938-8C87-EE0F1A9F9A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8C0152E2-62BE-4025-B5D2-168C3E546E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B81F8C67-006E-4498-8E6A-31352BE30220}"/>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2A069A6D-973B-4A46-AA1A-57183F2292F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977B207-58FA-49B4-9A42-D99FE05650E3}"/>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7710924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2AE9BA-E289-496F-94EC-A10C324D51EB}"/>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6BBFA77-EFFB-4949-AA68-433A202523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8AC3BF3-AD88-4399-A411-9F2646BEB8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99C4AA1-8376-48C3-A379-D9BBF12BD927}"/>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6" name="页脚占位符 5">
            <a:extLst>
              <a:ext uri="{FF2B5EF4-FFF2-40B4-BE49-F238E27FC236}">
                <a16:creationId xmlns:a16="http://schemas.microsoft.com/office/drawing/2014/main" id="{067DBE97-2BB7-4B52-BEBE-FCCF6EE80924}"/>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8F3638F-4E4D-463B-9C7F-A569AA752831}"/>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3501846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14E694-D203-408A-BAB3-B58FCE4C8275}"/>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06148689-12C2-41F5-BD5B-72CDD4874FC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A63A5E7-D359-4105-9499-B60635D8603E}"/>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29B30C72-4C7B-4285-8F11-F3703069A35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8D95A6B4-6433-4FE4-8E8A-893CD401829D}"/>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38403506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D2FA5FE3-4DE1-43F7-B476-2988B22AAD75}"/>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3E6A90C-62B2-4FFD-AF34-69358518F0DA}"/>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F593EAFC-E946-4AC9-AFA8-53E6141E9591}"/>
              </a:ext>
            </a:extLst>
          </p:cNvPr>
          <p:cNvSpPr>
            <a:spLocks noGrp="1"/>
          </p:cNvSpPr>
          <p:nvPr>
            <p:ph type="dt" sz="half" idx="10"/>
          </p:nvPr>
        </p:nvSpPr>
        <p:spPr/>
        <p:txBody>
          <a:body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27671882-6A1F-4260-B987-7FBD001EC14A}"/>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FB07F4AC-E3B9-4E07-BC61-27EB4D7C4132}"/>
              </a:ext>
            </a:extLst>
          </p:cNvPr>
          <p:cNvSpPr>
            <a:spLocks noGrp="1"/>
          </p:cNvSpPr>
          <p:nvPr>
            <p:ph type="sldNum" sz="quarter" idx="12"/>
          </p:nvPr>
        </p:nvSpPr>
        <p:spPr/>
        <p:txBody>
          <a:body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17319537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36729F4A-B465-405C-A7F6-3DDA39F406B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9AE16FDA-CF0C-43A2-8ADB-644C36B4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29C840AD-A3A6-4089-8767-80ED745DE5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D58DD2-2182-45A0-84E0-BA22EDE2A08C}" type="datetimeFigureOut">
              <a:rPr lang="zh-CN" altLang="en-US" smtClean="0"/>
              <a:t>2024/5/24</a:t>
            </a:fld>
            <a:endParaRPr lang="zh-CN" altLang="en-US"/>
          </a:p>
        </p:txBody>
      </p:sp>
      <p:sp>
        <p:nvSpPr>
          <p:cNvPr id="5" name="页脚占位符 4">
            <a:extLst>
              <a:ext uri="{FF2B5EF4-FFF2-40B4-BE49-F238E27FC236}">
                <a16:creationId xmlns:a16="http://schemas.microsoft.com/office/drawing/2014/main" id="{8D08D461-3A37-4200-A13B-EEA7419DABF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F256FD6B-2F20-45EC-B188-8393C805648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58A653-2A4D-4B7E-97FC-16387DFD5F1E}" type="slidenum">
              <a:rPr lang="zh-CN" altLang="en-US" smtClean="0"/>
              <a:t>‹#›</a:t>
            </a:fld>
            <a:endParaRPr lang="zh-CN" altLang="en-US"/>
          </a:p>
        </p:txBody>
      </p:sp>
    </p:spTree>
    <p:extLst>
      <p:ext uri="{BB962C8B-B14F-4D97-AF65-F5344CB8AC3E}">
        <p14:creationId xmlns:p14="http://schemas.microsoft.com/office/powerpoint/2010/main" val="103816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2%20Brute%20Force/division.pdf"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2%20Brute%20Force/Maximum%20Product.pdf"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hyperlink" Target="2%20Brute%20Force/fraction%20split.pdf" TargetMode="Externa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97FDEDD-DC2E-40A5-8F4D-933431F74F04}"/>
              </a:ext>
            </a:extLst>
          </p:cNvPr>
          <p:cNvSpPr>
            <a:spLocks noGrp="1"/>
          </p:cNvSpPr>
          <p:nvPr>
            <p:ph type="ctrTitle"/>
          </p:nvPr>
        </p:nvSpPr>
        <p:spPr/>
        <p:txBody>
          <a:bodyPr/>
          <a:lstStyle/>
          <a:p>
            <a:r>
              <a:rPr lang="en-US" altLang="zh-CN"/>
              <a:t>Brute Force</a:t>
            </a:r>
            <a:endParaRPr lang="zh-CN" altLang="en-US"/>
          </a:p>
        </p:txBody>
      </p:sp>
      <p:sp>
        <p:nvSpPr>
          <p:cNvPr id="3" name="副标题 2">
            <a:extLst>
              <a:ext uri="{FF2B5EF4-FFF2-40B4-BE49-F238E27FC236}">
                <a16:creationId xmlns:a16="http://schemas.microsoft.com/office/drawing/2014/main" id="{72BB3154-3713-4C6A-A266-38686418697B}"/>
              </a:ext>
            </a:extLst>
          </p:cNvPr>
          <p:cNvSpPr>
            <a:spLocks noGrp="1"/>
          </p:cNvSpPr>
          <p:nvPr>
            <p:ph type="subTitle" idx="1"/>
          </p:nvPr>
        </p:nvSpPr>
        <p:spPr/>
        <p:txBody>
          <a:bodyPr/>
          <a:lstStyle/>
          <a:p>
            <a:r>
              <a:rPr lang="en-US" altLang="zh-CN"/>
              <a:t>Yanyan Xu</a:t>
            </a:r>
            <a:endParaRPr lang="zh-CN" altLang="en-US"/>
          </a:p>
        </p:txBody>
      </p:sp>
    </p:spTree>
    <p:extLst>
      <p:ext uri="{BB962C8B-B14F-4D97-AF65-F5344CB8AC3E}">
        <p14:creationId xmlns:p14="http://schemas.microsoft.com/office/powerpoint/2010/main" val="2407839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A8E15A-F5E9-442E-933D-AA94898CAAB3}"/>
              </a:ext>
            </a:extLst>
          </p:cNvPr>
          <p:cNvSpPr>
            <a:spLocks noGrp="1"/>
          </p:cNvSpPr>
          <p:nvPr>
            <p:ph type="title"/>
          </p:nvPr>
        </p:nvSpPr>
        <p:spPr/>
        <p:txBody>
          <a:bodyPr/>
          <a:lstStyle/>
          <a:p>
            <a:r>
              <a:rPr lang="en-US" altLang="zh-CN"/>
              <a:t>Outline</a:t>
            </a:r>
            <a:endParaRPr lang="zh-CN" altLang="en-US"/>
          </a:p>
        </p:txBody>
      </p:sp>
      <p:sp>
        <p:nvSpPr>
          <p:cNvPr id="3" name="内容占位符 2">
            <a:extLst>
              <a:ext uri="{FF2B5EF4-FFF2-40B4-BE49-F238E27FC236}">
                <a16:creationId xmlns:a16="http://schemas.microsoft.com/office/drawing/2014/main" id="{1B9B70BF-AA03-4AF5-A66B-21D78683AC4F}"/>
              </a:ext>
            </a:extLst>
          </p:cNvPr>
          <p:cNvSpPr>
            <a:spLocks noGrp="1"/>
          </p:cNvSpPr>
          <p:nvPr>
            <p:ph idx="1"/>
          </p:nvPr>
        </p:nvSpPr>
        <p:spPr/>
        <p:txBody>
          <a:bodyPr/>
          <a:lstStyle/>
          <a:p>
            <a:pPr marL="514350" indent="-514350">
              <a:buFont typeface="+mj-lt"/>
              <a:buAutoNum type="arabicPeriod"/>
            </a:pPr>
            <a:r>
              <a:rPr lang="en-US" altLang="zh-CN"/>
              <a:t>What is “Brute Force”?</a:t>
            </a:r>
          </a:p>
          <a:p>
            <a:pPr marL="514350" indent="-514350">
              <a:buFont typeface="+mj-lt"/>
              <a:buAutoNum type="arabicPeriod"/>
            </a:pPr>
            <a:endParaRPr lang="en-US" altLang="zh-CN"/>
          </a:p>
          <a:p>
            <a:pPr marL="514350" indent="-514350">
              <a:buFont typeface="+mj-lt"/>
              <a:buAutoNum type="arabicPeriod"/>
            </a:pPr>
            <a:r>
              <a:rPr lang="en-US" altLang="zh-CN"/>
              <a:t>Examples</a:t>
            </a:r>
          </a:p>
          <a:p>
            <a:pPr marL="457200" lvl="1" indent="0">
              <a:buNone/>
            </a:pPr>
            <a:r>
              <a:rPr lang="en-US" altLang="zh-CN"/>
              <a:t>2.1 Simple enumeration</a:t>
            </a:r>
          </a:p>
          <a:p>
            <a:pPr marL="457200" lvl="1" indent="0">
              <a:buNone/>
            </a:pPr>
            <a:r>
              <a:rPr lang="en-US" altLang="zh-CN"/>
              <a:t>2.2 Permutation</a:t>
            </a:r>
          </a:p>
          <a:p>
            <a:pPr marL="457200" lvl="1" indent="0">
              <a:buNone/>
            </a:pPr>
            <a:r>
              <a:rPr lang="en-US" altLang="zh-CN"/>
              <a:t>2.3 Subset Generation</a:t>
            </a:r>
          </a:p>
          <a:p>
            <a:pPr marL="971550" lvl="1" indent="-514350">
              <a:buFont typeface="+mj-lt"/>
              <a:buAutoNum type="arabicPeriod"/>
            </a:pPr>
            <a:endParaRPr lang="zh-CN" altLang="en-US"/>
          </a:p>
        </p:txBody>
      </p:sp>
    </p:spTree>
    <p:extLst>
      <p:ext uri="{BB962C8B-B14F-4D97-AF65-F5344CB8AC3E}">
        <p14:creationId xmlns:p14="http://schemas.microsoft.com/office/powerpoint/2010/main" val="4557111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F98C3D1-9680-48F8-BE55-6C978F6EABD5}"/>
              </a:ext>
            </a:extLst>
          </p:cNvPr>
          <p:cNvSpPr>
            <a:spLocks noGrp="1"/>
          </p:cNvSpPr>
          <p:nvPr>
            <p:ph type="title"/>
          </p:nvPr>
        </p:nvSpPr>
        <p:spPr/>
        <p:txBody>
          <a:bodyPr/>
          <a:lstStyle/>
          <a:p>
            <a:r>
              <a:rPr lang="en-US" altLang="zh-CN" dirty="0"/>
              <a:t>1 What is “Brute Force”?</a:t>
            </a:r>
            <a:endParaRPr lang="zh-CN" altLang="en-US" dirty="0"/>
          </a:p>
        </p:txBody>
      </p:sp>
      <p:sp>
        <p:nvSpPr>
          <p:cNvPr id="3" name="内容占位符 2">
            <a:extLst>
              <a:ext uri="{FF2B5EF4-FFF2-40B4-BE49-F238E27FC236}">
                <a16:creationId xmlns:a16="http://schemas.microsoft.com/office/drawing/2014/main" id="{097FCE8B-6694-49BD-94E1-3D092B10D594}"/>
              </a:ext>
            </a:extLst>
          </p:cNvPr>
          <p:cNvSpPr>
            <a:spLocks noGrp="1"/>
          </p:cNvSpPr>
          <p:nvPr>
            <p:ph idx="1"/>
          </p:nvPr>
        </p:nvSpPr>
        <p:spPr/>
        <p:txBody>
          <a:bodyPr/>
          <a:lstStyle/>
          <a:p>
            <a:r>
              <a:rPr lang="en-US" altLang="zh-CN" dirty="0"/>
              <a:t>Brute force</a:t>
            </a:r>
            <a:r>
              <a:rPr lang="zh-CN" altLang="en-US" dirty="0"/>
              <a:t>是一种非常通用的解决问题的技术，包括系统地列举解决方案的所有可能的候选者，并检查每个候选者是否满足问题的陈述。</a:t>
            </a:r>
          </a:p>
        </p:txBody>
      </p:sp>
    </p:spTree>
    <p:extLst>
      <p:ext uri="{BB962C8B-B14F-4D97-AF65-F5344CB8AC3E}">
        <p14:creationId xmlns:p14="http://schemas.microsoft.com/office/powerpoint/2010/main" val="7405346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951A3D-4790-4ED7-B1E6-18065528AD8D}"/>
              </a:ext>
            </a:extLst>
          </p:cNvPr>
          <p:cNvSpPr>
            <a:spLocks noGrp="1"/>
          </p:cNvSpPr>
          <p:nvPr>
            <p:ph type="title"/>
          </p:nvPr>
        </p:nvSpPr>
        <p:spPr/>
        <p:txBody>
          <a:bodyPr/>
          <a:lstStyle/>
          <a:p>
            <a:r>
              <a:rPr lang="en-US" altLang="zh-CN" dirty="0"/>
              <a:t>Characteristics</a:t>
            </a:r>
            <a:endParaRPr lang="zh-CN" altLang="en-US" dirty="0"/>
          </a:p>
        </p:txBody>
      </p:sp>
      <p:sp>
        <p:nvSpPr>
          <p:cNvPr id="3" name="内容占位符 2">
            <a:extLst>
              <a:ext uri="{FF2B5EF4-FFF2-40B4-BE49-F238E27FC236}">
                <a16:creationId xmlns:a16="http://schemas.microsoft.com/office/drawing/2014/main" id="{4EF110FA-F579-4F37-9423-AD4F236D1BF0}"/>
              </a:ext>
            </a:extLst>
          </p:cNvPr>
          <p:cNvSpPr>
            <a:spLocks noGrp="1"/>
          </p:cNvSpPr>
          <p:nvPr>
            <p:ph idx="1"/>
          </p:nvPr>
        </p:nvSpPr>
        <p:spPr/>
        <p:txBody>
          <a:bodyPr/>
          <a:lstStyle/>
          <a:p>
            <a:r>
              <a:rPr lang="zh-CN" altLang="en-US" dirty="0">
                <a:solidFill>
                  <a:srgbClr val="FF0000"/>
                </a:solidFill>
              </a:rPr>
              <a:t>虽然暴力算法实现起来很简单，如果存在的话，它总能找到解决方案，但它的成本与候选解决方案的数量成正比</a:t>
            </a:r>
            <a:r>
              <a:rPr lang="en-US" altLang="zh-CN" dirty="0">
                <a:solidFill>
                  <a:srgbClr val="FF0000"/>
                </a:solidFill>
              </a:rPr>
              <a:t>——</a:t>
            </a:r>
            <a:r>
              <a:rPr lang="zh-CN" altLang="en-US" dirty="0">
                <a:solidFill>
                  <a:srgbClr val="FF0000"/>
                </a:solidFill>
              </a:rPr>
              <a:t>在许多实际问题中，候选解决方案往往会随着问题规模的增加而迅速增长。详尽的</a:t>
            </a:r>
            <a:endParaRPr lang="en-US" altLang="zh-CN" dirty="0">
              <a:solidFill>
                <a:srgbClr val="FF0000"/>
              </a:solidFill>
            </a:endParaRPr>
          </a:p>
        </p:txBody>
      </p:sp>
    </p:spTree>
    <p:extLst>
      <p:ext uri="{BB962C8B-B14F-4D97-AF65-F5344CB8AC3E}">
        <p14:creationId xmlns:p14="http://schemas.microsoft.com/office/powerpoint/2010/main" val="27250065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863E311-63F1-4E18-9F8A-84A608BBD247}"/>
              </a:ext>
            </a:extLst>
          </p:cNvPr>
          <p:cNvSpPr>
            <a:spLocks noGrp="1"/>
          </p:cNvSpPr>
          <p:nvPr>
            <p:ph type="title"/>
          </p:nvPr>
        </p:nvSpPr>
        <p:spPr/>
        <p:txBody>
          <a:bodyPr/>
          <a:lstStyle/>
          <a:p>
            <a:r>
              <a:rPr lang="en-US" altLang="zh-CN"/>
              <a:t>When to use brute force</a:t>
            </a:r>
            <a:endParaRPr lang="zh-CN" altLang="en-US"/>
          </a:p>
        </p:txBody>
      </p:sp>
      <p:sp>
        <p:nvSpPr>
          <p:cNvPr id="3" name="内容占位符 2">
            <a:extLst>
              <a:ext uri="{FF2B5EF4-FFF2-40B4-BE49-F238E27FC236}">
                <a16:creationId xmlns:a16="http://schemas.microsoft.com/office/drawing/2014/main" id="{A68172D0-4376-45CE-8FB2-E2FACCA5523C}"/>
              </a:ext>
            </a:extLst>
          </p:cNvPr>
          <p:cNvSpPr>
            <a:spLocks noGrp="1"/>
          </p:cNvSpPr>
          <p:nvPr>
            <p:ph idx="1"/>
          </p:nvPr>
        </p:nvSpPr>
        <p:spPr/>
        <p:txBody>
          <a:bodyPr/>
          <a:lstStyle/>
          <a:p>
            <a:r>
              <a:rPr lang="zh-CN" altLang="en-US" dirty="0"/>
              <a:t>当问题大小有限时，或者当存在可用于将候选解决方案集减少到可管理的大小的特定问题启发法时，通常会使用蛮力。</a:t>
            </a:r>
            <a:endParaRPr lang="en-US" altLang="zh-CN" dirty="0"/>
          </a:p>
          <a:p>
            <a:r>
              <a:rPr lang="zh-CN" altLang="en-US" dirty="0"/>
              <a:t>当实现的简单性比速度更重要时，也会使用该方法。</a:t>
            </a:r>
            <a:endParaRPr lang="en-US" altLang="zh-CN" dirty="0"/>
          </a:p>
          <a:p>
            <a:r>
              <a:rPr lang="zh-CN" altLang="en-US" dirty="0"/>
              <a:t>例如，在关键应用中，算法中的任何错误都会产生非常严重的后果；或者当使用计算机来证明数学定理时。</a:t>
            </a:r>
            <a:endParaRPr lang="en-US" altLang="zh-CN" dirty="0"/>
          </a:p>
          <a:p>
            <a:r>
              <a:rPr lang="zh-CN" altLang="en-US" dirty="0"/>
              <a:t>在对其他算法进行基准测试时，它也可用作基准方法。</a:t>
            </a:r>
            <a:endParaRPr lang="en-US" altLang="zh-CN" dirty="0"/>
          </a:p>
        </p:txBody>
      </p:sp>
    </p:spTree>
    <p:extLst>
      <p:ext uri="{BB962C8B-B14F-4D97-AF65-F5344CB8AC3E}">
        <p14:creationId xmlns:p14="http://schemas.microsoft.com/office/powerpoint/2010/main" val="1360739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5B9A56-69DA-44EF-A233-1BBDC64DF977}"/>
              </a:ext>
            </a:extLst>
          </p:cNvPr>
          <p:cNvSpPr>
            <a:spLocks noGrp="1"/>
          </p:cNvSpPr>
          <p:nvPr>
            <p:ph type="title"/>
          </p:nvPr>
        </p:nvSpPr>
        <p:spPr/>
        <p:txBody>
          <a:bodyPr/>
          <a:lstStyle/>
          <a:p>
            <a:r>
              <a:rPr lang="en-US" altLang="zh-CN"/>
              <a:t>2 Examples</a:t>
            </a:r>
            <a:endParaRPr lang="zh-CN" altLang="en-US"/>
          </a:p>
        </p:txBody>
      </p:sp>
      <p:sp>
        <p:nvSpPr>
          <p:cNvPr id="3" name="内容占位符 2">
            <a:extLst>
              <a:ext uri="{FF2B5EF4-FFF2-40B4-BE49-F238E27FC236}">
                <a16:creationId xmlns:a16="http://schemas.microsoft.com/office/drawing/2014/main" id="{5BAB23F2-8D02-452F-8A6F-D4FA142BB042}"/>
              </a:ext>
            </a:extLst>
          </p:cNvPr>
          <p:cNvSpPr>
            <a:spLocks noGrp="1"/>
          </p:cNvSpPr>
          <p:nvPr>
            <p:ph idx="1"/>
          </p:nvPr>
        </p:nvSpPr>
        <p:spPr/>
        <p:txBody>
          <a:bodyPr/>
          <a:lstStyle/>
          <a:p>
            <a:r>
              <a:rPr lang="en-US" altLang="zh-CN"/>
              <a:t>2.1 Simple enumeration</a:t>
            </a:r>
          </a:p>
          <a:p>
            <a:endParaRPr lang="en-US" altLang="zh-CN"/>
          </a:p>
          <a:p>
            <a:r>
              <a:rPr lang="en-US" altLang="zh-CN"/>
              <a:t>2.2 Permutation</a:t>
            </a:r>
          </a:p>
          <a:p>
            <a:endParaRPr lang="en-US" altLang="zh-CN"/>
          </a:p>
          <a:p>
            <a:r>
              <a:rPr lang="en-US" altLang="zh-CN"/>
              <a:t>2.3 Subset Generation</a:t>
            </a:r>
            <a:endParaRPr lang="zh-CN" altLang="en-US"/>
          </a:p>
        </p:txBody>
      </p:sp>
    </p:spTree>
    <p:extLst>
      <p:ext uri="{BB962C8B-B14F-4D97-AF65-F5344CB8AC3E}">
        <p14:creationId xmlns:p14="http://schemas.microsoft.com/office/powerpoint/2010/main" val="170873321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E6E66E-2691-4E08-B7F5-3E24050C1EC8}"/>
              </a:ext>
            </a:extLst>
          </p:cNvPr>
          <p:cNvSpPr>
            <a:spLocks noGrp="1"/>
          </p:cNvSpPr>
          <p:nvPr>
            <p:ph type="title"/>
          </p:nvPr>
        </p:nvSpPr>
        <p:spPr/>
        <p:txBody>
          <a:bodyPr/>
          <a:lstStyle/>
          <a:p>
            <a:r>
              <a:rPr lang="en-US" altLang="zh-CN"/>
              <a:t>2.1</a:t>
            </a:r>
            <a:r>
              <a:rPr lang="zh-CN" altLang="en-US"/>
              <a:t> </a:t>
            </a:r>
            <a:r>
              <a:rPr lang="en-US" altLang="zh-CN"/>
              <a:t>Simple enumeration</a:t>
            </a:r>
            <a:endParaRPr lang="zh-CN" altLang="en-US"/>
          </a:p>
        </p:txBody>
      </p:sp>
      <p:sp>
        <p:nvSpPr>
          <p:cNvPr id="3" name="内容占位符 2">
            <a:extLst>
              <a:ext uri="{FF2B5EF4-FFF2-40B4-BE49-F238E27FC236}">
                <a16:creationId xmlns:a16="http://schemas.microsoft.com/office/drawing/2014/main" id="{A528B496-59DD-4E75-9530-6948EEDE4CC1}"/>
              </a:ext>
            </a:extLst>
          </p:cNvPr>
          <p:cNvSpPr>
            <a:spLocks noGrp="1"/>
          </p:cNvSpPr>
          <p:nvPr>
            <p:ph idx="1"/>
          </p:nvPr>
        </p:nvSpPr>
        <p:spPr/>
        <p:txBody>
          <a:bodyPr/>
          <a:lstStyle/>
          <a:p>
            <a:r>
              <a:rPr lang="en-US" altLang="zh-CN"/>
              <a:t>Binary Number (hdu 3711)</a:t>
            </a:r>
          </a:p>
          <a:p>
            <a:r>
              <a:rPr lang="en-US" altLang="zh-CN"/>
              <a:t>Division (UVa 725)</a:t>
            </a:r>
          </a:p>
          <a:p>
            <a:r>
              <a:rPr lang="en-US" altLang="zh-CN"/>
              <a:t>Maximum Product (UVa 11059)</a:t>
            </a:r>
          </a:p>
          <a:p>
            <a:r>
              <a:rPr lang="en-US" altLang="zh-CN"/>
              <a:t>Fraction Split (UVa 10976) </a:t>
            </a:r>
            <a:endParaRPr lang="zh-CN" altLang="en-US"/>
          </a:p>
        </p:txBody>
      </p:sp>
    </p:spTree>
    <p:extLst>
      <p:ext uri="{BB962C8B-B14F-4D97-AF65-F5344CB8AC3E}">
        <p14:creationId xmlns:p14="http://schemas.microsoft.com/office/powerpoint/2010/main" val="2650080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0A515D01-1B54-4C6C-9243-6F5F7EFAC4E8}"/>
              </a:ext>
            </a:extLst>
          </p:cNvPr>
          <p:cNvPicPr>
            <a:picLocks noChangeAspect="1"/>
          </p:cNvPicPr>
          <p:nvPr/>
        </p:nvPicPr>
        <p:blipFill>
          <a:blip r:embed="rId2"/>
          <a:stretch>
            <a:fillRect/>
          </a:stretch>
        </p:blipFill>
        <p:spPr>
          <a:xfrm>
            <a:off x="246404" y="1029810"/>
            <a:ext cx="11699192" cy="5828190"/>
          </a:xfrm>
          <a:prstGeom prst="rect">
            <a:avLst/>
          </a:prstGeom>
        </p:spPr>
      </p:pic>
      <p:sp>
        <p:nvSpPr>
          <p:cNvPr id="8" name="文本框 7">
            <a:extLst>
              <a:ext uri="{FF2B5EF4-FFF2-40B4-BE49-F238E27FC236}">
                <a16:creationId xmlns:a16="http://schemas.microsoft.com/office/drawing/2014/main" id="{F70B6148-F028-49D8-B820-C31C4061C0BF}"/>
              </a:ext>
            </a:extLst>
          </p:cNvPr>
          <p:cNvSpPr txBox="1"/>
          <p:nvPr/>
        </p:nvSpPr>
        <p:spPr>
          <a:xfrm>
            <a:off x="3879543" y="213064"/>
            <a:ext cx="3533312" cy="707886"/>
          </a:xfrm>
          <a:prstGeom prst="rect">
            <a:avLst/>
          </a:prstGeom>
          <a:noFill/>
        </p:spPr>
        <p:txBody>
          <a:bodyPr wrap="square" rtlCol="0">
            <a:spAutoFit/>
          </a:bodyPr>
          <a:lstStyle/>
          <a:p>
            <a:pPr algn="ctr"/>
            <a:r>
              <a:rPr lang="en-US" altLang="zh-CN" sz="4000">
                <a:solidFill>
                  <a:srgbClr val="FF0000"/>
                </a:solidFill>
              </a:rPr>
              <a:t>Binary Number </a:t>
            </a:r>
            <a:endParaRPr lang="zh-CN" altLang="en-US" sz="4000">
              <a:solidFill>
                <a:srgbClr val="FF0000"/>
              </a:solidFill>
            </a:endParaRPr>
          </a:p>
        </p:txBody>
      </p:sp>
    </p:spTree>
    <p:extLst>
      <p:ext uri="{BB962C8B-B14F-4D97-AF65-F5344CB8AC3E}">
        <p14:creationId xmlns:p14="http://schemas.microsoft.com/office/powerpoint/2010/main" val="40658698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EC10E29A-00EC-4A6B-828E-59DE40165865}"/>
              </a:ext>
            </a:extLst>
          </p:cNvPr>
          <p:cNvPicPr>
            <a:picLocks noChangeAspect="1"/>
          </p:cNvPicPr>
          <p:nvPr/>
        </p:nvPicPr>
        <p:blipFill>
          <a:blip r:embed="rId2"/>
          <a:stretch>
            <a:fillRect/>
          </a:stretch>
        </p:blipFill>
        <p:spPr>
          <a:xfrm>
            <a:off x="5079585" y="55142"/>
            <a:ext cx="2032830" cy="6747716"/>
          </a:xfrm>
          <a:prstGeom prst="rect">
            <a:avLst/>
          </a:prstGeom>
        </p:spPr>
      </p:pic>
    </p:spTree>
    <p:extLst>
      <p:ext uri="{BB962C8B-B14F-4D97-AF65-F5344CB8AC3E}">
        <p14:creationId xmlns:p14="http://schemas.microsoft.com/office/powerpoint/2010/main" val="9393279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F70B6148-F028-49D8-B820-C31C4061C0BF}"/>
              </a:ext>
            </a:extLst>
          </p:cNvPr>
          <p:cNvSpPr txBox="1"/>
          <p:nvPr/>
        </p:nvSpPr>
        <p:spPr>
          <a:xfrm>
            <a:off x="3719745" y="2201662"/>
            <a:ext cx="3533312" cy="830997"/>
          </a:xfrm>
          <a:prstGeom prst="rect">
            <a:avLst/>
          </a:prstGeom>
          <a:noFill/>
        </p:spPr>
        <p:txBody>
          <a:bodyPr wrap="square" rtlCol="0">
            <a:spAutoFit/>
          </a:bodyPr>
          <a:lstStyle/>
          <a:p>
            <a:pPr algn="ctr"/>
            <a:r>
              <a:rPr lang="en-US" altLang="zh-CN" sz="4800">
                <a:solidFill>
                  <a:srgbClr val="FF0000"/>
                </a:solidFill>
                <a:hlinkClick r:id="rId2" action="ppaction://hlinkfile"/>
              </a:rPr>
              <a:t>Division</a:t>
            </a:r>
            <a:endParaRPr lang="zh-CN" altLang="en-US" sz="4800">
              <a:solidFill>
                <a:srgbClr val="FF0000"/>
              </a:solidFill>
            </a:endParaRPr>
          </a:p>
        </p:txBody>
      </p:sp>
    </p:spTree>
    <p:extLst>
      <p:ext uri="{BB962C8B-B14F-4D97-AF65-F5344CB8AC3E}">
        <p14:creationId xmlns:p14="http://schemas.microsoft.com/office/powerpoint/2010/main" val="37713611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F70B6148-F028-49D8-B820-C31C4061C0BF}"/>
              </a:ext>
            </a:extLst>
          </p:cNvPr>
          <p:cNvSpPr txBox="1"/>
          <p:nvPr/>
        </p:nvSpPr>
        <p:spPr>
          <a:xfrm>
            <a:off x="2370339" y="2166151"/>
            <a:ext cx="7173156" cy="1107996"/>
          </a:xfrm>
          <a:prstGeom prst="rect">
            <a:avLst/>
          </a:prstGeom>
          <a:noFill/>
        </p:spPr>
        <p:txBody>
          <a:bodyPr wrap="square" rtlCol="0">
            <a:spAutoFit/>
          </a:bodyPr>
          <a:lstStyle/>
          <a:p>
            <a:pPr algn="ctr"/>
            <a:r>
              <a:rPr lang="en-US" altLang="zh-CN" sz="6600">
                <a:solidFill>
                  <a:srgbClr val="FF0000"/>
                </a:solidFill>
                <a:hlinkClick r:id="rId2" action="ppaction://hlinkfile"/>
              </a:rPr>
              <a:t>Maximum Product</a:t>
            </a:r>
            <a:endParaRPr lang="zh-CN" altLang="en-US" sz="4800">
              <a:solidFill>
                <a:srgbClr val="FF0000"/>
              </a:solidFill>
            </a:endParaRPr>
          </a:p>
        </p:txBody>
      </p:sp>
    </p:spTree>
    <p:extLst>
      <p:ext uri="{BB962C8B-B14F-4D97-AF65-F5344CB8AC3E}">
        <p14:creationId xmlns:p14="http://schemas.microsoft.com/office/powerpoint/2010/main" val="6671648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a:extLst>
              <a:ext uri="{FF2B5EF4-FFF2-40B4-BE49-F238E27FC236}">
                <a16:creationId xmlns:a16="http://schemas.microsoft.com/office/drawing/2014/main" id="{F70B6148-F028-49D8-B820-C31C4061C0BF}"/>
              </a:ext>
            </a:extLst>
          </p:cNvPr>
          <p:cNvSpPr txBox="1"/>
          <p:nvPr/>
        </p:nvSpPr>
        <p:spPr>
          <a:xfrm>
            <a:off x="2769833" y="2228295"/>
            <a:ext cx="6125591" cy="1107996"/>
          </a:xfrm>
          <a:prstGeom prst="rect">
            <a:avLst/>
          </a:prstGeom>
          <a:noFill/>
        </p:spPr>
        <p:txBody>
          <a:bodyPr wrap="square" rtlCol="0">
            <a:spAutoFit/>
          </a:bodyPr>
          <a:lstStyle/>
          <a:p>
            <a:pPr algn="ctr"/>
            <a:r>
              <a:rPr lang="en-US" altLang="zh-CN" sz="6600">
                <a:solidFill>
                  <a:srgbClr val="FF0000"/>
                </a:solidFill>
                <a:hlinkClick r:id="rId2" action="ppaction://hlinkfile"/>
              </a:rPr>
              <a:t>Fraction Split</a:t>
            </a:r>
            <a:endParaRPr lang="zh-CN" altLang="en-US" sz="4800">
              <a:solidFill>
                <a:srgbClr val="FF0000"/>
              </a:solidFill>
            </a:endParaRPr>
          </a:p>
        </p:txBody>
      </p:sp>
    </p:spTree>
    <p:extLst>
      <p:ext uri="{BB962C8B-B14F-4D97-AF65-F5344CB8AC3E}">
        <p14:creationId xmlns:p14="http://schemas.microsoft.com/office/powerpoint/2010/main" val="995650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B369455-1782-486F-8CD7-DEBD615D1A50}"/>
              </a:ext>
            </a:extLst>
          </p:cNvPr>
          <p:cNvSpPr>
            <a:spLocks noGrp="1"/>
          </p:cNvSpPr>
          <p:nvPr>
            <p:ph type="title"/>
          </p:nvPr>
        </p:nvSpPr>
        <p:spPr/>
        <p:txBody>
          <a:bodyPr/>
          <a:lstStyle/>
          <a:p>
            <a:r>
              <a:rPr lang="en-US" altLang="zh-CN"/>
              <a:t>2.2 Permutation</a:t>
            </a:r>
            <a:endParaRPr lang="zh-CN" altLang="en-US"/>
          </a:p>
        </p:txBody>
      </p:sp>
      <p:sp>
        <p:nvSpPr>
          <p:cNvPr id="3" name="内容占位符 2">
            <a:extLst>
              <a:ext uri="{FF2B5EF4-FFF2-40B4-BE49-F238E27FC236}">
                <a16:creationId xmlns:a16="http://schemas.microsoft.com/office/drawing/2014/main" id="{AF5A75A2-A4A7-4661-9209-EB423B72A6E5}"/>
              </a:ext>
            </a:extLst>
          </p:cNvPr>
          <p:cNvSpPr>
            <a:spLocks noGrp="1"/>
          </p:cNvSpPr>
          <p:nvPr>
            <p:ph idx="1"/>
          </p:nvPr>
        </p:nvSpPr>
        <p:spPr/>
        <p:txBody>
          <a:bodyPr/>
          <a:lstStyle/>
          <a:p>
            <a:r>
              <a:rPr lang="en-US" altLang="zh-CN" dirty="0"/>
              <a:t>Permutations of 1~n</a:t>
            </a:r>
          </a:p>
          <a:p>
            <a:r>
              <a:rPr lang="en-US" altLang="zh-CN" dirty="0"/>
              <a:t>Permutations with repetition</a:t>
            </a:r>
          </a:p>
          <a:p>
            <a:r>
              <a:rPr lang="en-US" altLang="zh-CN" dirty="0"/>
              <a:t>The decision tree</a:t>
            </a:r>
          </a:p>
          <a:p>
            <a:r>
              <a:rPr lang="en-US" altLang="zh-CN" i="1" dirty="0" err="1"/>
              <a:t>next_permution</a:t>
            </a:r>
            <a:r>
              <a:rPr lang="en-US" altLang="zh-CN" dirty="0"/>
              <a:t> in STL</a:t>
            </a:r>
          </a:p>
          <a:p>
            <a:r>
              <a:rPr lang="en-US" altLang="zh-CN" dirty="0">
                <a:solidFill>
                  <a:srgbClr val="FF0000"/>
                </a:solidFill>
              </a:rPr>
              <a:t>Not less than O(n!)</a:t>
            </a:r>
            <a:endParaRPr lang="zh-CN" altLang="en-US" dirty="0">
              <a:solidFill>
                <a:srgbClr val="FF0000"/>
              </a:solidFill>
            </a:endParaRPr>
          </a:p>
        </p:txBody>
      </p:sp>
    </p:spTree>
    <p:extLst>
      <p:ext uri="{BB962C8B-B14F-4D97-AF65-F5344CB8AC3E}">
        <p14:creationId xmlns:p14="http://schemas.microsoft.com/office/powerpoint/2010/main" val="27273909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EBF4200-F24C-4EB8-AC66-FAA4641C6890}"/>
              </a:ext>
            </a:extLst>
          </p:cNvPr>
          <p:cNvSpPr>
            <a:spLocks noGrp="1"/>
          </p:cNvSpPr>
          <p:nvPr>
            <p:ph type="title"/>
          </p:nvPr>
        </p:nvSpPr>
        <p:spPr/>
        <p:txBody>
          <a:bodyPr/>
          <a:lstStyle/>
          <a:p>
            <a:r>
              <a:rPr lang="en-US" altLang="zh-CN" dirty="0"/>
              <a:t>Permutations of 1~n</a:t>
            </a:r>
            <a:endParaRPr lang="zh-CN" altLang="en-US" dirty="0"/>
          </a:p>
        </p:txBody>
      </p:sp>
      <p:sp>
        <p:nvSpPr>
          <p:cNvPr id="3" name="内容占位符 2">
            <a:extLst>
              <a:ext uri="{FF2B5EF4-FFF2-40B4-BE49-F238E27FC236}">
                <a16:creationId xmlns:a16="http://schemas.microsoft.com/office/drawing/2014/main" id="{84245ECE-E311-4284-AF97-5A0D1D2FCF7C}"/>
              </a:ext>
            </a:extLst>
          </p:cNvPr>
          <p:cNvSpPr>
            <a:spLocks noGrp="1"/>
          </p:cNvSpPr>
          <p:nvPr>
            <p:ph idx="1"/>
          </p:nvPr>
        </p:nvSpPr>
        <p:spPr/>
        <p:txBody>
          <a:bodyPr>
            <a:normAutofit fontScale="85000" lnSpcReduction="20000"/>
          </a:bodyPr>
          <a:lstStyle/>
          <a:p>
            <a:pPr marL="514350" indent="-514350" eaLnBrk="1" hangingPunct="1">
              <a:buFontTx/>
              <a:buAutoNum type="arabicPeriod"/>
            </a:pPr>
            <a:r>
              <a:rPr lang="zh-CN" altLang="en-US" sz="2800" dirty="0"/>
              <a:t>输入</a:t>
            </a:r>
            <a:r>
              <a:rPr lang="en-US" altLang="zh-CN" sz="2800" dirty="0"/>
              <a:t>n</a:t>
            </a:r>
            <a:r>
              <a:rPr lang="zh-CN" altLang="en-US" sz="2800" dirty="0"/>
              <a:t>；按字典顺序输出</a:t>
            </a:r>
            <a:r>
              <a:rPr lang="en-US" altLang="zh-CN" sz="2800" dirty="0"/>
              <a:t>n</a:t>
            </a:r>
            <a:r>
              <a:rPr lang="zh-CN" altLang="en-US" sz="2800" dirty="0"/>
              <a:t>从小到大的所有排列</a:t>
            </a:r>
            <a:endParaRPr lang="en-US" altLang="zh-CN" sz="2800" dirty="0"/>
          </a:p>
          <a:p>
            <a:pPr marL="514350" indent="-514350" eaLnBrk="1" hangingPunct="1">
              <a:buFontTx/>
              <a:buAutoNum type="arabicPeriod"/>
            </a:pPr>
            <a:r>
              <a:rPr lang="zh-CN" altLang="en-US" sz="2800" dirty="0"/>
              <a:t>使用递归：首先输出所有排列，从</a:t>
            </a:r>
            <a:r>
              <a:rPr lang="en-US" altLang="zh-CN" sz="2800" dirty="0"/>
              <a:t>1</a:t>
            </a:r>
            <a:r>
              <a:rPr lang="zh-CN" altLang="en-US" sz="2800" dirty="0"/>
              <a:t>开始，然后是</a:t>
            </a:r>
            <a:r>
              <a:rPr lang="en-US" altLang="zh-CN" sz="2800" dirty="0"/>
              <a:t>2</a:t>
            </a:r>
            <a:r>
              <a:rPr lang="zh-CN" altLang="en-US" sz="2800" dirty="0"/>
              <a:t>，然后是</a:t>
            </a:r>
            <a:r>
              <a:rPr lang="en-US" altLang="zh-CN" sz="2800" dirty="0"/>
              <a:t>3…</a:t>
            </a:r>
          </a:p>
          <a:p>
            <a:pPr marL="514350" indent="-514350" eaLnBrk="1" hangingPunct="1">
              <a:buFontTx/>
              <a:buAutoNum type="arabicPeriod"/>
            </a:pPr>
            <a:r>
              <a:rPr lang="en-US" altLang="zh-CN" sz="2800" dirty="0"/>
              <a:t>//A</a:t>
            </a:r>
            <a:r>
              <a:rPr lang="zh-CN" altLang="en-US" sz="2800" dirty="0"/>
              <a:t>是所确定的前缀序列；</a:t>
            </a:r>
            <a:r>
              <a:rPr lang="en-US" altLang="zh-CN" sz="2800" dirty="0"/>
              <a:t>S</a:t>
            </a:r>
            <a:r>
              <a:rPr lang="zh-CN" altLang="en-US" sz="2800" dirty="0"/>
              <a:t>是要排列的元素集</a:t>
            </a:r>
            <a:endParaRPr lang="en-US" altLang="zh-CN" sz="2800" dirty="0"/>
          </a:p>
          <a:p>
            <a:pPr marL="514350" indent="-514350" eaLnBrk="1" hangingPunct="1">
              <a:buFontTx/>
              <a:buAutoNum type="arabicPeriod"/>
            </a:pPr>
            <a:r>
              <a:rPr lang="en-US" altLang="zh-CN" sz="2800" dirty="0"/>
              <a:t>void </a:t>
            </a:r>
            <a:r>
              <a:rPr lang="en-US" altLang="zh-CN" sz="2800" dirty="0" err="1"/>
              <a:t>print_permutation</a:t>
            </a:r>
            <a:r>
              <a:rPr lang="en-US" altLang="zh-CN" sz="2800" dirty="0"/>
              <a:t>(A,</a:t>
            </a:r>
            <a:r>
              <a:rPr lang="zh-CN" altLang="en-US" dirty="0"/>
              <a:t> </a:t>
            </a:r>
            <a:r>
              <a:rPr lang="en-US" altLang="zh-CN" sz="2800" dirty="0"/>
              <a:t>S)</a:t>
            </a:r>
          </a:p>
          <a:p>
            <a:pPr marL="514350" indent="-514350" eaLnBrk="1" hangingPunct="1">
              <a:buFontTx/>
              <a:buNone/>
            </a:pPr>
            <a:r>
              <a:rPr lang="en-US" altLang="zh-CN" sz="2800" dirty="0"/>
              <a:t>{</a:t>
            </a:r>
          </a:p>
          <a:p>
            <a:pPr marL="514350" indent="-514350" eaLnBrk="1" hangingPunct="1">
              <a:buFontTx/>
              <a:buNone/>
            </a:pPr>
            <a:r>
              <a:rPr lang="en-US" altLang="zh-CN" sz="2800" dirty="0"/>
              <a:t>	if(S is empty) Output A;</a:t>
            </a:r>
          </a:p>
          <a:p>
            <a:pPr marL="514350" indent="-514350" eaLnBrk="1" hangingPunct="1">
              <a:buFontTx/>
              <a:buNone/>
            </a:pPr>
            <a:r>
              <a:rPr lang="en-US" altLang="zh-CN" sz="2800" dirty="0"/>
              <a:t>	else Select each element v in S from small to large</a:t>
            </a:r>
          </a:p>
          <a:p>
            <a:pPr marL="514350" indent="-514350" eaLnBrk="1" hangingPunct="1">
              <a:buFontTx/>
              <a:buNone/>
            </a:pPr>
            <a:r>
              <a:rPr lang="en-US" altLang="zh-CN" sz="2800" dirty="0"/>
              <a:t>	{</a:t>
            </a:r>
          </a:p>
          <a:p>
            <a:pPr marL="514350" indent="-514350" eaLnBrk="1" hangingPunct="1">
              <a:buFontTx/>
              <a:buNone/>
            </a:pPr>
            <a:r>
              <a:rPr lang="en-US" altLang="zh-CN" sz="2800" dirty="0"/>
              <a:t>		</a:t>
            </a:r>
            <a:r>
              <a:rPr lang="en-US" altLang="zh-CN" sz="2800" dirty="0" err="1"/>
              <a:t>print_permutation</a:t>
            </a:r>
            <a:r>
              <a:rPr lang="en-US" altLang="zh-CN" sz="2800" dirty="0"/>
              <a:t>(</a:t>
            </a:r>
            <a:r>
              <a:rPr lang="en-US" altLang="zh-CN" sz="2800" dirty="0" err="1"/>
              <a:t>A+v,S</a:t>
            </a:r>
            <a:r>
              <a:rPr lang="en-US" altLang="zh-CN" sz="2800" dirty="0"/>
              <a:t>-{v})</a:t>
            </a:r>
          </a:p>
          <a:p>
            <a:pPr marL="514350" indent="-514350" eaLnBrk="1" hangingPunct="1">
              <a:buFontTx/>
              <a:buNone/>
            </a:pPr>
            <a:r>
              <a:rPr lang="en-US" altLang="zh-CN" sz="2800" dirty="0"/>
              <a:t>	}</a:t>
            </a:r>
          </a:p>
          <a:p>
            <a:pPr marL="514350" indent="-514350" eaLnBrk="1" hangingPunct="1">
              <a:buFontTx/>
              <a:buNone/>
            </a:pPr>
            <a:r>
              <a:rPr lang="en-US" altLang="zh-CN" sz="2800" dirty="0"/>
              <a:t>}</a:t>
            </a:r>
            <a:endParaRPr lang="zh-CN" altLang="en-US" sz="2800" dirty="0"/>
          </a:p>
        </p:txBody>
      </p:sp>
    </p:spTree>
    <p:extLst>
      <p:ext uri="{BB962C8B-B14F-4D97-AF65-F5344CB8AC3E}">
        <p14:creationId xmlns:p14="http://schemas.microsoft.com/office/powerpoint/2010/main" val="315002935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标题 1">
            <a:extLst>
              <a:ext uri="{FF2B5EF4-FFF2-40B4-BE49-F238E27FC236}">
                <a16:creationId xmlns:a16="http://schemas.microsoft.com/office/drawing/2014/main" id="{DFAAC831-28FD-456F-9ECB-61299D6F130C}"/>
              </a:ext>
            </a:extLst>
          </p:cNvPr>
          <p:cNvSpPr>
            <a:spLocks noGrp="1" noChangeArrowheads="1"/>
          </p:cNvSpPr>
          <p:nvPr>
            <p:ph type="title"/>
          </p:nvPr>
        </p:nvSpPr>
        <p:spPr/>
        <p:txBody>
          <a:bodyPr/>
          <a:lstStyle/>
          <a:p>
            <a:r>
              <a:rPr lang="en-US" altLang="zh-CN"/>
              <a:t>Permutations with repetition</a:t>
            </a:r>
          </a:p>
        </p:txBody>
      </p:sp>
      <p:sp>
        <p:nvSpPr>
          <p:cNvPr id="63491" name="内容占位符 2">
            <a:extLst>
              <a:ext uri="{FF2B5EF4-FFF2-40B4-BE49-F238E27FC236}">
                <a16:creationId xmlns:a16="http://schemas.microsoft.com/office/drawing/2014/main" id="{4621C23E-81ED-42C4-9963-7DF82C537B58}"/>
              </a:ext>
            </a:extLst>
          </p:cNvPr>
          <p:cNvSpPr>
            <a:spLocks noGrp="1" noChangeArrowheads="1"/>
          </p:cNvSpPr>
          <p:nvPr>
            <p:ph idx="1"/>
          </p:nvPr>
        </p:nvSpPr>
        <p:spPr/>
        <p:txBody>
          <a:bodyPr/>
          <a:lstStyle/>
          <a:p>
            <a:pPr eaLnBrk="1" hangingPunct="1"/>
            <a:r>
              <a:rPr lang="en-US" altLang="zh-CN" dirty="0"/>
              <a:t>Input array P (There are repeated elements in P);</a:t>
            </a:r>
          </a:p>
          <a:p>
            <a:pPr eaLnBrk="1" hangingPunct="1"/>
            <a:r>
              <a:rPr lang="en-US" altLang="zh-CN" dirty="0"/>
              <a:t>Output its permutations</a:t>
            </a:r>
            <a:r>
              <a:rPr lang="zh-CN" altLang="en-US" dirty="0"/>
              <a:t> </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标题 1">
            <a:extLst>
              <a:ext uri="{FF2B5EF4-FFF2-40B4-BE49-F238E27FC236}">
                <a16:creationId xmlns:a16="http://schemas.microsoft.com/office/drawing/2014/main" id="{F3FCDD03-FEA5-4115-B393-060E2622D602}"/>
              </a:ext>
            </a:extLst>
          </p:cNvPr>
          <p:cNvSpPr>
            <a:spLocks noGrp="1" noChangeArrowheads="1"/>
          </p:cNvSpPr>
          <p:nvPr>
            <p:ph type="title"/>
          </p:nvPr>
        </p:nvSpPr>
        <p:spPr>
          <a:xfrm>
            <a:off x="838200" y="365125"/>
            <a:ext cx="10729404" cy="1325563"/>
          </a:xfrm>
        </p:spPr>
        <p:txBody>
          <a:bodyPr/>
          <a:lstStyle/>
          <a:p>
            <a:r>
              <a:rPr lang="en-US" altLang="zh-CN"/>
              <a:t>The decision tree-the procedure of recursion</a:t>
            </a:r>
            <a:endParaRPr lang="zh-CN" altLang="en-US"/>
          </a:p>
        </p:txBody>
      </p:sp>
      <p:sp>
        <p:nvSpPr>
          <p:cNvPr id="4" name="内容占位符 3">
            <a:extLst>
              <a:ext uri="{FF2B5EF4-FFF2-40B4-BE49-F238E27FC236}">
                <a16:creationId xmlns:a16="http://schemas.microsoft.com/office/drawing/2014/main" id="{7E5D2493-F232-4FB4-8FC4-BA30DC65DBE0}"/>
              </a:ext>
            </a:extLst>
          </p:cNvPr>
          <p:cNvSpPr>
            <a:spLocks noGrp="1"/>
          </p:cNvSpPr>
          <p:nvPr>
            <p:ph idx="1"/>
          </p:nvPr>
        </p:nvSpPr>
        <p:spPr>
          <a:xfrm>
            <a:off x="838200" y="1600200"/>
            <a:ext cx="10515600" cy="1089734"/>
          </a:xfrm>
        </p:spPr>
        <p:txBody>
          <a:bodyPr>
            <a:noAutofit/>
          </a:bodyPr>
          <a:lstStyle/>
          <a:p>
            <a:pPr marL="0" indent="0">
              <a:buNone/>
              <a:defRPr/>
            </a:pPr>
            <a:r>
              <a:rPr lang="en-US" altLang="zh-CN" sz="2400"/>
              <a:t>If the solution of a problem can be obtained by multiple steps, and each step has several choices, and it can be achieved by recursive enumeration, then its procedure can be described using a decision tree.</a:t>
            </a:r>
            <a:endParaRPr lang="zh-CN" altLang="en-US" sz="2400" dirty="0"/>
          </a:p>
        </p:txBody>
      </p:sp>
      <p:pic>
        <p:nvPicPr>
          <p:cNvPr id="64516" name="图片 4">
            <a:extLst>
              <a:ext uri="{FF2B5EF4-FFF2-40B4-BE49-F238E27FC236}">
                <a16:creationId xmlns:a16="http://schemas.microsoft.com/office/drawing/2014/main" id="{C881F9A9-88F9-4B1E-B697-8B1AC7D80EA1}"/>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38300" y="2802384"/>
            <a:ext cx="8915400" cy="388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标题 1">
            <a:extLst>
              <a:ext uri="{FF2B5EF4-FFF2-40B4-BE49-F238E27FC236}">
                <a16:creationId xmlns:a16="http://schemas.microsoft.com/office/drawing/2014/main" id="{2C5AF7D6-B753-491C-8FAF-6638075FD563}"/>
              </a:ext>
            </a:extLst>
          </p:cNvPr>
          <p:cNvSpPr>
            <a:spLocks noGrp="1" noChangeArrowheads="1"/>
          </p:cNvSpPr>
          <p:nvPr>
            <p:ph type="title"/>
          </p:nvPr>
        </p:nvSpPr>
        <p:spPr/>
        <p:txBody>
          <a:bodyPr/>
          <a:lstStyle/>
          <a:p>
            <a:pPr eaLnBrk="1" hangingPunct="1"/>
            <a:r>
              <a:rPr lang="en-US" altLang="zh-CN"/>
              <a:t>Analysis of the decision tree</a:t>
            </a:r>
            <a:endParaRPr lang="zh-CN" altLang="en-US"/>
          </a:p>
        </p:txBody>
      </p:sp>
      <p:sp>
        <p:nvSpPr>
          <p:cNvPr id="2" name="内容占位符 1">
            <a:extLst>
              <a:ext uri="{FF2B5EF4-FFF2-40B4-BE49-F238E27FC236}">
                <a16:creationId xmlns:a16="http://schemas.microsoft.com/office/drawing/2014/main" id="{1F342839-ADCE-4E8D-851F-22D195F49B80}"/>
              </a:ext>
            </a:extLst>
          </p:cNvPr>
          <p:cNvSpPr>
            <a:spLocks noGrp="1"/>
          </p:cNvSpPr>
          <p:nvPr>
            <p:ph idx="1"/>
          </p:nvPr>
        </p:nvSpPr>
        <p:spPr>
          <a:xfrm>
            <a:off x="838200" y="1452762"/>
            <a:ext cx="10515600" cy="5116713"/>
          </a:xfrm>
        </p:spPr>
        <p:txBody>
          <a:bodyPr>
            <a:normAutofit fontScale="85000" lnSpcReduction="20000"/>
          </a:bodyPr>
          <a:lstStyle/>
          <a:p>
            <a:pPr marL="0" indent="0">
              <a:buNone/>
            </a:pPr>
            <a:r>
              <a:rPr lang="en-US" altLang="zh-CN"/>
              <a:t>depth 0   1 node</a:t>
            </a:r>
          </a:p>
          <a:p>
            <a:pPr marL="0" indent="0">
              <a:buNone/>
            </a:pPr>
            <a:r>
              <a:rPr lang="en-US" altLang="zh-CN"/>
              <a:t>depth 1   n nodes</a:t>
            </a:r>
          </a:p>
          <a:p>
            <a:pPr marL="0" indent="0">
              <a:buNone/>
            </a:pPr>
            <a:r>
              <a:rPr lang="en-US" altLang="zh-CN"/>
              <a:t>depth 2   n*(n-1) nodes</a:t>
            </a:r>
          </a:p>
          <a:p>
            <a:pPr marL="0" indent="0">
              <a:buNone/>
            </a:pPr>
            <a:r>
              <a:rPr lang="en-US" altLang="zh-CN"/>
              <a:t>depth 3   n*(n-1)*(n-2) nodes</a:t>
            </a:r>
          </a:p>
          <a:p>
            <a:pPr marL="0" indent="0">
              <a:buNone/>
            </a:pPr>
            <a:r>
              <a:rPr lang="en-US" altLang="zh-CN"/>
              <a:t>…</a:t>
            </a:r>
          </a:p>
          <a:p>
            <a:pPr marL="0" indent="0">
              <a:buNone/>
            </a:pPr>
            <a:r>
              <a:rPr lang="en-US" altLang="zh-CN"/>
              <a:t>depth n   n! nodes</a:t>
            </a:r>
          </a:p>
          <a:p>
            <a:pPr marL="0" indent="0">
              <a:buNone/>
            </a:pPr>
            <a:r>
              <a:rPr lang="en-US" altLang="zh-CN"/>
              <a:t>n*(n-1)*(n-2)*…*(n-k) = </a:t>
            </a:r>
          </a:p>
          <a:p>
            <a:pPr marL="0" indent="0">
              <a:buNone/>
            </a:pPr>
            <a:r>
              <a:rPr lang="en-US" altLang="zh-CN"/>
              <a:t> </a:t>
            </a:r>
          </a:p>
          <a:p>
            <a:pPr marL="0" indent="0">
              <a:buNone/>
            </a:pPr>
            <a:r>
              <a:rPr lang="en-US" altLang="zh-CN"/>
              <a:t> </a:t>
            </a:r>
          </a:p>
          <a:p>
            <a:pPr marL="0" indent="0">
              <a:buNone/>
            </a:pPr>
            <a:r>
              <a:rPr lang="en-US" altLang="zh-CN"/>
              <a:t>T(n)&lt;n!*e=O(n!)</a:t>
            </a:r>
          </a:p>
          <a:p>
            <a:pPr marL="0" indent="0">
              <a:buNone/>
            </a:pPr>
            <a:r>
              <a:rPr lang="en-US" altLang="zh-CN"/>
              <a:t>e≈2.718 Both depth n and depth n-1 have n! nodes, so the number of nodes from depth 0 to depth n-2 &lt; n!, that is, </a:t>
            </a:r>
            <a:r>
              <a:rPr lang="en-US" altLang="zh-CN">
                <a:solidFill>
                  <a:srgbClr val="FF0000"/>
                </a:solidFill>
              </a:rPr>
              <a:t>in most cases, the number of nodes from the last two layers in a decision tree plays a decisive role.</a:t>
            </a:r>
          </a:p>
          <a:p>
            <a:pPr marL="0" indent="0">
              <a:buNone/>
            </a:pPr>
            <a:endParaRPr lang="zh-CN" altLang="en-US"/>
          </a:p>
        </p:txBody>
      </p:sp>
      <p:pic>
        <p:nvPicPr>
          <p:cNvPr id="7" name="图片 6">
            <a:extLst>
              <a:ext uri="{FF2B5EF4-FFF2-40B4-BE49-F238E27FC236}">
                <a16:creationId xmlns:a16="http://schemas.microsoft.com/office/drawing/2014/main" id="{31709E13-90C1-42A9-B647-DD4470472773}"/>
              </a:ext>
            </a:extLst>
          </p:cNvPr>
          <p:cNvPicPr>
            <a:picLocks noChangeAspect="1"/>
          </p:cNvPicPr>
          <p:nvPr/>
        </p:nvPicPr>
        <p:blipFill>
          <a:blip r:embed="rId2"/>
          <a:stretch>
            <a:fillRect/>
          </a:stretch>
        </p:blipFill>
        <p:spPr>
          <a:xfrm>
            <a:off x="916377" y="3732886"/>
            <a:ext cx="3389293" cy="741935"/>
          </a:xfrm>
          <a:prstGeom prst="rect">
            <a:avLst/>
          </a:prstGeom>
        </p:spPr>
      </p:pic>
      <p:pic>
        <p:nvPicPr>
          <p:cNvPr id="9" name="图片 8">
            <a:extLst>
              <a:ext uri="{FF2B5EF4-FFF2-40B4-BE49-F238E27FC236}">
                <a16:creationId xmlns:a16="http://schemas.microsoft.com/office/drawing/2014/main" id="{C2A53895-A279-4B4E-B5FB-3C1CDBAC624E}"/>
              </a:ext>
            </a:extLst>
          </p:cNvPr>
          <p:cNvPicPr>
            <a:picLocks noChangeAspect="1"/>
          </p:cNvPicPr>
          <p:nvPr/>
        </p:nvPicPr>
        <p:blipFill>
          <a:blip r:embed="rId3"/>
          <a:stretch>
            <a:fillRect/>
          </a:stretch>
        </p:blipFill>
        <p:spPr>
          <a:xfrm>
            <a:off x="6096000" y="3755797"/>
            <a:ext cx="1195738" cy="839115"/>
          </a:xfrm>
          <a:prstGeom prst="rect">
            <a:avLst/>
          </a:prstGeom>
        </p:spPr>
      </p:pic>
      <p:sp>
        <p:nvSpPr>
          <p:cNvPr id="3" name="文本框 2">
            <a:extLst>
              <a:ext uri="{FF2B5EF4-FFF2-40B4-BE49-F238E27FC236}">
                <a16:creationId xmlns:a16="http://schemas.microsoft.com/office/drawing/2014/main" id="{0B0B59DF-A3A2-4404-9580-6A6BF8ED5E95}"/>
              </a:ext>
            </a:extLst>
          </p:cNvPr>
          <p:cNvSpPr txBox="1"/>
          <p:nvPr/>
        </p:nvSpPr>
        <p:spPr>
          <a:xfrm>
            <a:off x="8478174" y="4011118"/>
            <a:ext cx="1988599" cy="369332"/>
          </a:xfrm>
          <a:prstGeom prst="rect">
            <a:avLst/>
          </a:prstGeom>
          <a:noFill/>
        </p:spPr>
        <p:txBody>
          <a:bodyPr wrap="square" rtlCol="0">
            <a:spAutoFit/>
          </a:bodyPr>
          <a:lstStyle/>
          <a:p>
            <a:r>
              <a:rPr lang="en-US" altLang="zh-CN">
                <a:solidFill>
                  <a:srgbClr val="7030A0"/>
                </a:solidFill>
              </a:rPr>
              <a:t>CalculateLimit.cpp</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a:extLst>
              <a:ext uri="{FF2B5EF4-FFF2-40B4-BE49-F238E27FC236}">
                <a16:creationId xmlns:a16="http://schemas.microsoft.com/office/drawing/2014/main" id="{53824D38-7E41-49AB-85E9-DA45548C889F}"/>
              </a:ext>
            </a:extLst>
          </p:cNvPr>
          <p:cNvSpPr>
            <a:spLocks noGrp="1"/>
          </p:cNvSpPr>
          <p:nvPr>
            <p:ph type="title"/>
          </p:nvPr>
        </p:nvSpPr>
        <p:spPr/>
        <p:txBody>
          <a:bodyPr/>
          <a:lstStyle/>
          <a:p>
            <a:r>
              <a:rPr lang="en-US" altLang="zh-CN" i="1"/>
              <a:t>next_permution </a:t>
            </a:r>
            <a:r>
              <a:rPr lang="en-US" altLang="zh-CN"/>
              <a:t>in STL</a:t>
            </a:r>
            <a:endParaRPr lang="zh-CN" altLang="en-US"/>
          </a:p>
        </p:txBody>
      </p:sp>
      <p:sp>
        <p:nvSpPr>
          <p:cNvPr id="5" name="内容占位符 4">
            <a:extLst>
              <a:ext uri="{FF2B5EF4-FFF2-40B4-BE49-F238E27FC236}">
                <a16:creationId xmlns:a16="http://schemas.microsoft.com/office/drawing/2014/main" id="{982A0978-0C3A-46A1-AB9E-470441DEF714}"/>
              </a:ext>
            </a:extLst>
          </p:cNvPr>
          <p:cNvSpPr>
            <a:spLocks noGrp="1"/>
          </p:cNvSpPr>
          <p:nvPr>
            <p:ph idx="1"/>
          </p:nvPr>
        </p:nvSpPr>
        <p:spPr>
          <a:xfrm>
            <a:off x="554115" y="1793289"/>
            <a:ext cx="10515600" cy="4358936"/>
          </a:xfrm>
        </p:spPr>
        <p:txBody>
          <a:bodyPr/>
          <a:lstStyle/>
          <a:p>
            <a:pPr>
              <a:spcBef>
                <a:spcPct val="0"/>
              </a:spcBef>
            </a:pPr>
            <a:r>
              <a:rPr lang="en-US" altLang="zh-CN" sz="2800" i="1" dirty="0" err="1"/>
              <a:t>next_permutation</a:t>
            </a:r>
            <a:r>
              <a:rPr lang="en-US" altLang="zh-CN" sz="2800" i="1" dirty="0"/>
              <a:t> </a:t>
            </a:r>
            <a:r>
              <a:rPr lang="en-US" altLang="zh-CN" sz="2800" dirty="0"/>
              <a:t>is also suitable for “</a:t>
            </a:r>
            <a:r>
              <a:rPr lang="en-US" altLang="zh-CN" dirty="0"/>
              <a:t>Permutations with repetition”</a:t>
            </a:r>
          </a:p>
          <a:p>
            <a:pPr>
              <a:spcBef>
                <a:spcPct val="0"/>
              </a:spcBef>
            </a:pPr>
            <a:endParaRPr lang="en-US" altLang="zh-CN" sz="2800" dirty="0"/>
          </a:p>
          <a:p>
            <a:pPr>
              <a:spcBef>
                <a:spcPct val="0"/>
              </a:spcBef>
            </a:pPr>
            <a:r>
              <a:rPr lang="en-US" altLang="zh-CN" dirty="0"/>
              <a:t>Conclusion: </a:t>
            </a:r>
            <a:r>
              <a:rPr lang="en-US" altLang="zh-CN" dirty="0">
                <a:solidFill>
                  <a:srgbClr val="FF0000"/>
                </a:solidFill>
              </a:rPr>
              <a:t>recursion</a:t>
            </a:r>
            <a:r>
              <a:rPr lang="en-US" altLang="zh-CN" dirty="0"/>
              <a:t> or </a:t>
            </a:r>
            <a:r>
              <a:rPr lang="en-US" altLang="zh-CN" b="1" i="1" dirty="0" err="1">
                <a:solidFill>
                  <a:srgbClr val="FF0000"/>
                </a:solidFill>
              </a:rPr>
              <a:t>next_permution</a:t>
            </a:r>
            <a:r>
              <a:rPr lang="en-US" altLang="zh-CN" b="1" i="1" dirty="0">
                <a:solidFill>
                  <a:srgbClr val="FF0000"/>
                </a:solidFill>
              </a:rPr>
              <a:t> </a:t>
            </a:r>
            <a:endParaRPr lang="en-US" altLang="zh-CN" sz="2800" b="1" dirty="0">
              <a:solidFill>
                <a:srgbClr val="FF00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文本框 6">
            <a:extLst>
              <a:ext uri="{FF2B5EF4-FFF2-40B4-BE49-F238E27FC236}">
                <a16:creationId xmlns:a16="http://schemas.microsoft.com/office/drawing/2014/main" id="{9D83592A-7EDB-682C-0FD1-7888092DB3CB}"/>
              </a:ext>
            </a:extLst>
          </p:cNvPr>
          <p:cNvSpPr txBox="1"/>
          <p:nvPr/>
        </p:nvSpPr>
        <p:spPr>
          <a:xfrm>
            <a:off x="2626562" y="245902"/>
            <a:ext cx="8594812" cy="523220"/>
          </a:xfrm>
          <a:prstGeom prst="rect">
            <a:avLst/>
          </a:prstGeom>
          <a:noFill/>
        </p:spPr>
        <p:txBody>
          <a:bodyPr wrap="square">
            <a:spAutoFit/>
          </a:bodyPr>
          <a:lstStyle/>
          <a:p>
            <a:pPr algn="ctr"/>
            <a:r>
              <a:rPr lang="en-US" altLang="zh-CN" sz="2800" b="0" i="0" dirty="0" err="1">
                <a:effectLst/>
                <a:latin typeface="-apple-system"/>
              </a:rPr>
              <a:t>ChatGPT</a:t>
            </a:r>
            <a:r>
              <a:rPr lang="en-US" altLang="zh-CN" sz="2800" b="0" i="0" dirty="0">
                <a:effectLst/>
                <a:latin typeface="-apple-system"/>
              </a:rPr>
              <a:t>: Program to display permutations of 1~n in C++</a:t>
            </a:r>
            <a:endParaRPr lang="zh-CN" altLang="en-US" sz="2800" dirty="0"/>
          </a:p>
        </p:txBody>
      </p:sp>
      <p:pic>
        <p:nvPicPr>
          <p:cNvPr id="3" name="图片 2">
            <a:extLst>
              <a:ext uri="{FF2B5EF4-FFF2-40B4-BE49-F238E27FC236}">
                <a16:creationId xmlns:a16="http://schemas.microsoft.com/office/drawing/2014/main" id="{30C461C6-058D-4958-925E-F02EFFCD9CCF}"/>
              </a:ext>
            </a:extLst>
          </p:cNvPr>
          <p:cNvPicPr>
            <a:picLocks noChangeAspect="1"/>
          </p:cNvPicPr>
          <p:nvPr/>
        </p:nvPicPr>
        <p:blipFill>
          <a:blip r:embed="rId2"/>
          <a:stretch>
            <a:fillRect/>
          </a:stretch>
        </p:blipFill>
        <p:spPr>
          <a:xfrm>
            <a:off x="3764264" y="769122"/>
            <a:ext cx="4663471" cy="6088878"/>
          </a:xfrm>
          <a:prstGeom prst="rect">
            <a:avLst/>
          </a:prstGeom>
        </p:spPr>
      </p:pic>
    </p:spTree>
    <p:extLst>
      <p:ext uri="{BB962C8B-B14F-4D97-AF65-F5344CB8AC3E}">
        <p14:creationId xmlns:p14="http://schemas.microsoft.com/office/powerpoint/2010/main" val="36834149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9AC08558-03C1-5513-436A-02CE995878E7}"/>
              </a:ext>
            </a:extLst>
          </p:cNvPr>
          <p:cNvPicPr>
            <a:picLocks noChangeAspect="1"/>
          </p:cNvPicPr>
          <p:nvPr/>
        </p:nvPicPr>
        <p:blipFill>
          <a:blip r:embed="rId2"/>
          <a:stretch>
            <a:fillRect/>
          </a:stretch>
        </p:blipFill>
        <p:spPr>
          <a:xfrm>
            <a:off x="4295567" y="769122"/>
            <a:ext cx="4790476" cy="5933333"/>
          </a:xfrm>
          <a:prstGeom prst="rect">
            <a:avLst/>
          </a:prstGeom>
        </p:spPr>
      </p:pic>
      <p:sp>
        <p:nvSpPr>
          <p:cNvPr id="7" name="文本框 6">
            <a:extLst>
              <a:ext uri="{FF2B5EF4-FFF2-40B4-BE49-F238E27FC236}">
                <a16:creationId xmlns:a16="http://schemas.microsoft.com/office/drawing/2014/main" id="{9D83592A-7EDB-682C-0FD1-7888092DB3CB}"/>
              </a:ext>
            </a:extLst>
          </p:cNvPr>
          <p:cNvSpPr txBox="1"/>
          <p:nvPr/>
        </p:nvSpPr>
        <p:spPr>
          <a:xfrm>
            <a:off x="2626562" y="245902"/>
            <a:ext cx="8594812" cy="523220"/>
          </a:xfrm>
          <a:prstGeom prst="rect">
            <a:avLst/>
          </a:prstGeom>
          <a:noFill/>
        </p:spPr>
        <p:txBody>
          <a:bodyPr wrap="square">
            <a:spAutoFit/>
          </a:bodyPr>
          <a:lstStyle/>
          <a:p>
            <a:pPr algn="ctr"/>
            <a:r>
              <a:rPr lang="en-US" altLang="zh-CN" sz="2800" b="0" i="0" dirty="0" err="1">
                <a:effectLst/>
                <a:latin typeface="-apple-system"/>
              </a:rPr>
              <a:t>ChatGPT</a:t>
            </a:r>
            <a:r>
              <a:rPr lang="en-US" altLang="zh-CN" sz="2800" b="0" i="0" dirty="0">
                <a:effectLst/>
                <a:latin typeface="-apple-system"/>
              </a:rPr>
              <a:t>: Program to display permutations of 1~n in C++</a:t>
            </a:r>
            <a:endParaRPr lang="zh-CN" altLang="en-US" sz="2800" dirty="0"/>
          </a:p>
        </p:txBody>
      </p:sp>
    </p:spTree>
    <p:extLst>
      <p:ext uri="{BB962C8B-B14F-4D97-AF65-F5344CB8AC3E}">
        <p14:creationId xmlns:p14="http://schemas.microsoft.com/office/powerpoint/2010/main" val="34690406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270FC59-8F89-41A9-B06C-69C795757108}"/>
              </a:ext>
            </a:extLst>
          </p:cNvPr>
          <p:cNvSpPr>
            <a:spLocks noGrp="1"/>
          </p:cNvSpPr>
          <p:nvPr>
            <p:ph type="title"/>
          </p:nvPr>
        </p:nvSpPr>
        <p:spPr/>
        <p:txBody>
          <a:bodyPr/>
          <a:lstStyle/>
          <a:p>
            <a:r>
              <a:rPr lang="en-US" altLang="zh-CN"/>
              <a:t>2.3 Subset Generation</a:t>
            </a:r>
            <a:endParaRPr lang="zh-CN" altLang="en-US"/>
          </a:p>
        </p:txBody>
      </p:sp>
      <p:sp>
        <p:nvSpPr>
          <p:cNvPr id="3" name="内容占位符 2">
            <a:extLst>
              <a:ext uri="{FF2B5EF4-FFF2-40B4-BE49-F238E27FC236}">
                <a16:creationId xmlns:a16="http://schemas.microsoft.com/office/drawing/2014/main" id="{AC125B1D-7237-4E25-B2C4-3D466B796452}"/>
              </a:ext>
            </a:extLst>
          </p:cNvPr>
          <p:cNvSpPr>
            <a:spLocks noGrp="1"/>
          </p:cNvSpPr>
          <p:nvPr>
            <p:ph idx="1"/>
          </p:nvPr>
        </p:nvSpPr>
        <p:spPr/>
        <p:txBody>
          <a:bodyPr/>
          <a:lstStyle/>
          <a:p>
            <a:pPr marL="0" indent="0">
              <a:buNone/>
            </a:pPr>
            <a:r>
              <a:rPr lang="zh-CN" altLang="en-US" dirty="0"/>
              <a:t>给定一个集合，找出它的所有子集。集合中没有重复的元素。</a:t>
            </a:r>
            <a:r>
              <a:rPr lang="en-US" altLang="zh-CN" dirty="0"/>
              <a:t>Incremental construction</a:t>
            </a:r>
          </a:p>
          <a:p>
            <a:r>
              <a:rPr lang="en-US" altLang="zh-CN" dirty="0"/>
              <a:t>Bit vector method</a:t>
            </a:r>
          </a:p>
          <a:p>
            <a:r>
              <a:rPr lang="en-US" altLang="zh-CN" dirty="0"/>
              <a:t>Binary method</a:t>
            </a:r>
          </a:p>
          <a:p>
            <a:r>
              <a:rPr lang="en-US" altLang="zh-CN" dirty="0">
                <a:solidFill>
                  <a:srgbClr val="FF0000"/>
                </a:solidFill>
              </a:rPr>
              <a:t>Not less than O(2</a:t>
            </a:r>
            <a:r>
              <a:rPr lang="en-US" altLang="zh-CN" baseline="30000" dirty="0">
                <a:solidFill>
                  <a:srgbClr val="FF0000"/>
                </a:solidFill>
              </a:rPr>
              <a:t>n</a:t>
            </a:r>
            <a:r>
              <a:rPr lang="en-US" altLang="zh-CN" dirty="0">
                <a:solidFill>
                  <a:srgbClr val="FF0000"/>
                </a:solidFill>
              </a:rPr>
              <a:t>)</a:t>
            </a:r>
            <a:endParaRPr lang="zh-CN" altLang="en-US" dirty="0">
              <a:solidFill>
                <a:srgbClr val="FF0000"/>
              </a:solidFill>
            </a:endParaRPr>
          </a:p>
          <a:p>
            <a:endParaRPr lang="zh-CN" altLang="en-US" dirty="0"/>
          </a:p>
        </p:txBody>
      </p:sp>
    </p:spTree>
    <p:extLst>
      <p:ext uri="{BB962C8B-B14F-4D97-AF65-F5344CB8AC3E}">
        <p14:creationId xmlns:p14="http://schemas.microsoft.com/office/powerpoint/2010/main" val="5091569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标题 1">
            <a:extLst>
              <a:ext uri="{FF2B5EF4-FFF2-40B4-BE49-F238E27FC236}">
                <a16:creationId xmlns:a16="http://schemas.microsoft.com/office/drawing/2014/main" id="{DB33100A-AB43-41A0-B5C0-3583D281B3F9}"/>
              </a:ext>
            </a:extLst>
          </p:cNvPr>
          <p:cNvSpPr>
            <a:spLocks noGrp="1" noChangeArrowheads="1"/>
          </p:cNvSpPr>
          <p:nvPr>
            <p:ph type="title"/>
          </p:nvPr>
        </p:nvSpPr>
        <p:spPr/>
        <p:txBody>
          <a:bodyPr/>
          <a:lstStyle/>
          <a:p>
            <a:r>
              <a:rPr lang="en-US" altLang="zh-CN"/>
              <a:t>Incremental construction</a:t>
            </a:r>
          </a:p>
        </p:txBody>
      </p:sp>
      <p:sp>
        <p:nvSpPr>
          <p:cNvPr id="3" name="内容占位符 2">
            <a:extLst>
              <a:ext uri="{FF2B5EF4-FFF2-40B4-BE49-F238E27FC236}">
                <a16:creationId xmlns:a16="http://schemas.microsoft.com/office/drawing/2014/main" id="{730C97BE-58C3-4107-86AD-C5C5E06D6CC0}"/>
              </a:ext>
            </a:extLst>
          </p:cNvPr>
          <p:cNvSpPr>
            <a:spLocks noGrp="1"/>
          </p:cNvSpPr>
          <p:nvPr>
            <p:ph idx="1"/>
          </p:nvPr>
        </p:nvSpPr>
        <p:spPr/>
        <p:txBody>
          <a:bodyPr/>
          <a:lstStyle/>
          <a:p>
            <a:r>
              <a:rPr lang="en-US" altLang="zh-CN" dirty="0"/>
              <a:t>Select one element at a time and place it in the set.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标题 1">
            <a:extLst>
              <a:ext uri="{FF2B5EF4-FFF2-40B4-BE49-F238E27FC236}">
                <a16:creationId xmlns:a16="http://schemas.microsoft.com/office/drawing/2014/main" id="{8AAB0BD6-C7DE-4864-A862-56E8957BE6D3}"/>
              </a:ext>
            </a:extLst>
          </p:cNvPr>
          <p:cNvSpPr>
            <a:spLocks noGrp="1" noChangeArrowheads="1"/>
          </p:cNvSpPr>
          <p:nvPr>
            <p:ph type="title"/>
          </p:nvPr>
        </p:nvSpPr>
        <p:spPr/>
        <p:txBody>
          <a:bodyPr/>
          <a:lstStyle/>
          <a:p>
            <a:r>
              <a:rPr lang="en-US" altLang="zh-CN"/>
              <a:t>Bit</a:t>
            </a:r>
            <a:r>
              <a:rPr lang="zh-CN" altLang="en-US"/>
              <a:t> </a:t>
            </a:r>
            <a:r>
              <a:rPr lang="en-US" altLang="zh-CN"/>
              <a:t>vector</a:t>
            </a:r>
            <a:r>
              <a:rPr lang="zh-CN" altLang="en-US"/>
              <a:t> </a:t>
            </a:r>
            <a:r>
              <a:rPr lang="en-US" altLang="zh-CN"/>
              <a:t>method</a:t>
            </a:r>
            <a:endParaRPr lang="zh-CN" altLang="en-US"/>
          </a:p>
        </p:txBody>
      </p:sp>
      <p:sp>
        <p:nvSpPr>
          <p:cNvPr id="4" name="内容占位符 3">
            <a:extLst>
              <a:ext uri="{FF2B5EF4-FFF2-40B4-BE49-F238E27FC236}">
                <a16:creationId xmlns:a16="http://schemas.microsoft.com/office/drawing/2014/main" id="{95290E4E-2635-4961-A144-603BE80FD7C4}"/>
              </a:ext>
            </a:extLst>
          </p:cNvPr>
          <p:cNvSpPr>
            <a:spLocks noGrp="1"/>
          </p:cNvSpPr>
          <p:nvPr>
            <p:ph idx="1"/>
          </p:nvPr>
        </p:nvSpPr>
        <p:spPr/>
        <p:txBody>
          <a:bodyPr/>
          <a:lstStyle/>
          <a:p>
            <a:r>
              <a:rPr lang="en-US" altLang="zh-CN"/>
              <a:t> Construct a bit vector B[i] instead of directly constructing subset A itself.</a:t>
            </a:r>
            <a:endParaRPr lang="zh-CN" altLang="en-US"/>
          </a:p>
        </p:txBody>
      </p:sp>
      <p:pic>
        <p:nvPicPr>
          <p:cNvPr id="6" name="图片 5">
            <a:extLst>
              <a:ext uri="{FF2B5EF4-FFF2-40B4-BE49-F238E27FC236}">
                <a16:creationId xmlns:a16="http://schemas.microsoft.com/office/drawing/2014/main" id="{E300A65B-980F-4A3D-AFCB-C88C0556678E}"/>
              </a:ext>
            </a:extLst>
          </p:cNvPr>
          <p:cNvPicPr>
            <a:picLocks noChangeAspect="1"/>
          </p:cNvPicPr>
          <p:nvPr/>
        </p:nvPicPr>
        <p:blipFill>
          <a:blip r:embed="rId2"/>
          <a:stretch>
            <a:fillRect/>
          </a:stretch>
        </p:blipFill>
        <p:spPr>
          <a:xfrm>
            <a:off x="3080551" y="2403012"/>
            <a:ext cx="6330771" cy="4335343"/>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标题 1">
            <a:extLst>
              <a:ext uri="{FF2B5EF4-FFF2-40B4-BE49-F238E27FC236}">
                <a16:creationId xmlns:a16="http://schemas.microsoft.com/office/drawing/2014/main" id="{E9C19843-AC1F-4C44-B772-08A040FCD71F}"/>
              </a:ext>
            </a:extLst>
          </p:cNvPr>
          <p:cNvSpPr>
            <a:spLocks noGrp="1" noChangeArrowheads="1"/>
          </p:cNvSpPr>
          <p:nvPr>
            <p:ph type="title"/>
          </p:nvPr>
        </p:nvSpPr>
        <p:spPr/>
        <p:txBody>
          <a:bodyPr/>
          <a:lstStyle/>
          <a:p>
            <a:r>
              <a:rPr lang="en-US" altLang="zh-CN"/>
              <a:t>Binary method</a:t>
            </a:r>
            <a:endParaRPr lang="zh-CN" altLang="en-US"/>
          </a:p>
        </p:txBody>
      </p:sp>
      <p:pic>
        <p:nvPicPr>
          <p:cNvPr id="3" name="图片 2">
            <a:extLst>
              <a:ext uri="{FF2B5EF4-FFF2-40B4-BE49-F238E27FC236}">
                <a16:creationId xmlns:a16="http://schemas.microsoft.com/office/drawing/2014/main" id="{DA9FF9E4-2E77-4E4A-989F-352F0C353A72}"/>
              </a:ext>
            </a:extLst>
          </p:cNvPr>
          <p:cNvPicPr>
            <a:picLocks noChangeAspect="1"/>
          </p:cNvPicPr>
          <p:nvPr/>
        </p:nvPicPr>
        <p:blipFill>
          <a:blip r:embed="rId2"/>
          <a:stretch>
            <a:fillRect/>
          </a:stretch>
        </p:blipFill>
        <p:spPr>
          <a:xfrm>
            <a:off x="733644" y="1599588"/>
            <a:ext cx="9428571" cy="4990476"/>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1267</TotalTime>
  <Words>688</Words>
  <Application>Microsoft Office PowerPoint</Application>
  <PresentationFormat>宽屏</PresentationFormat>
  <Paragraphs>85</Paragraphs>
  <Slides>24</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24</vt:i4>
      </vt:variant>
    </vt:vector>
  </HeadingPairs>
  <TitlesOfParts>
    <vt:vector size="29" baseType="lpstr">
      <vt:lpstr>-apple-system</vt:lpstr>
      <vt:lpstr>等线</vt:lpstr>
      <vt:lpstr>等线 Light</vt:lpstr>
      <vt:lpstr>Arial</vt:lpstr>
      <vt:lpstr>Office 主题​​</vt:lpstr>
      <vt:lpstr>Brute Force</vt:lpstr>
      <vt:lpstr>Outline</vt:lpstr>
      <vt:lpstr>1 What is “Brute Force”?</vt:lpstr>
      <vt:lpstr>Characteristics</vt:lpstr>
      <vt:lpstr>When to use brute force</vt:lpstr>
      <vt:lpstr>2 Examples</vt:lpstr>
      <vt:lpstr>2.1 Simple enumeration</vt:lpstr>
      <vt:lpstr>PowerPoint 演示文稿</vt:lpstr>
      <vt:lpstr>PowerPoint 演示文稿</vt:lpstr>
      <vt:lpstr>PowerPoint 演示文稿</vt:lpstr>
      <vt:lpstr>PowerPoint 演示文稿</vt:lpstr>
      <vt:lpstr>PowerPoint 演示文稿</vt:lpstr>
      <vt:lpstr>2.2 Permutation</vt:lpstr>
      <vt:lpstr>Permutations of 1~n</vt:lpstr>
      <vt:lpstr>Permutations with repetition</vt:lpstr>
      <vt:lpstr>The decision tree-the procedure of recursion</vt:lpstr>
      <vt:lpstr>Analysis of the decision tree</vt:lpstr>
      <vt:lpstr>next_permution in STL</vt:lpstr>
      <vt:lpstr>PowerPoint 演示文稿</vt:lpstr>
      <vt:lpstr>PowerPoint 演示文稿</vt:lpstr>
      <vt:lpstr>2.3 Subset Generation</vt:lpstr>
      <vt:lpstr>Incremental construction</vt:lpstr>
      <vt:lpstr>Bit vector method</vt:lpstr>
      <vt:lpstr>Binary method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Brute Force</dc:title>
  <dc:creator>Xu Yanyan</dc:creator>
  <cp:lastModifiedBy>俊翔 黄</cp:lastModifiedBy>
  <cp:revision>94</cp:revision>
  <dcterms:created xsi:type="dcterms:W3CDTF">2021-01-22T13:18:55Z</dcterms:created>
  <dcterms:modified xsi:type="dcterms:W3CDTF">2024-05-24T15:14:42Z</dcterms:modified>
</cp:coreProperties>
</file>