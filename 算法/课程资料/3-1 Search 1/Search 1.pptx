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5" r:id="rId5"/>
    <p:sldId id="264" r:id="rId6"/>
    <p:sldId id="266" r:id="rId7"/>
    <p:sldId id="258" r:id="rId8"/>
    <p:sldId id="259" r:id="rId9"/>
    <p:sldId id="261" r:id="rId10"/>
    <p:sldId id="260" r:id="rId11"/>
    <p:sldId id="262" r:id="rId12"/>
    <p:sldId id="282" r:id="rId13"/>
    <p:sldId id="267" r:id="rId14"/>
    <p:sldId id="280" r:id="rId15"/>
    <p:sldId id="281" r:id="rId16"/>
    <p:sldId id="283" r:id="rId17"/>
    <p:sldId id="268" r:id="rId18"/>
    <p:sldId id="272" r:id="rId19"/>
    <p:sldId id="273" r:id="rId20"/>
    <p:sldId id="269" r:id="rId21"/>
    <p:sldId id="274" r:id="rId22"/>
    <p:sldId id="275" r:id="rId23"/>
    <p:sldId id="270" r:id="rId24"/>
    <p:sldId id="277" r:id="rId25"/>
    <p:sldId id="276" r:id="rId26"/>
    <p:sldId id="278" r:id="rId27"/>
    <p:sldId id="279" r:id="rId28"/>
    <p:sldId id="271"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33C36B-64F1-47FC-9765-935C362C6B5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19F6AFB-6A44-4743-99FB-CA22769F4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CF1D58C-51DB-4687-B2BB-5580608E91D0}"/>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67BBCC11-597B-4D5A-9C9C-AFB20C743E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9991E3-0E02-4E54-95B6-7CDA3315A417}"/>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926492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2AB0BE-8FBF-45EB-8A38-BC22A1EEAE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60D4A06-2E8E-4481-85CD-CA8B031C8CA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C013C3-99F5-4742-9E5F-04A33E9BBFED}"/>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8A2BA8F4-626D-4B2B-A085-C0554B6757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6D3EA8-38B1-4D4C-B56D-EB1D878A045E}"/>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1975513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0D50B0-C495-477E-9D0C-34B4DF1608F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3ADE31A-332F-4783-9959-2D3EFFA553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ED74A2B-4140-4740-8E58-3B676C1C3297}"/>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57A108D7-A3ED-4AC0-BCB4-EF12E5B7F5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79BFBE-CD17-48B6-8B71-98A19FD99BBE}"/>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81824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EDE281-3D87-45F9-9F80-AB033DE29C5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4E69BC1-56E9-407F-981C-9B27D9DE5B0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C433FD8-1228-4C3A-BE7F-77CE8B1A9FC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0C6B020-5812-4A50-8C71-D8DBCF6D958E}"/>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6" name="页脚占位符 5">
            <a:extLst>
              <a:ext uri="{FF2B5EF4-FFF2-40B4-BE49-F238E27FC236}">
                <a16:creationId xmlns:a16="http://schemas.microsoft.com/office/drawing/2014/main" id="{8B0E073A-570C-43E6-898E-FD2B1D142B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6D25C8D-9DF2-454E-9D40-02B8751D4190}"/>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661937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C5F25-1E1E-4EE4-9F87-493DC1D63AB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7F02DD4-EE09-46C7-ADBC-4174628FE2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B7D441A-6C98-4AB1-AA08-61F97BC4CA1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ADE18EE-A7C9-4BA5-AFEB-593C7A9C55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2A844-2D8B-4DE9-A15D-A158EBBE6DF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9126145-E026-487D-8806-972A9C67A347}"/>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8" name="页脚占位符 7">
            <a:extLst>
              <a:ext uri="{FF2B5EF4-FFF2-40B4-BE49-F238E27FC236}">
                <a16:creationId xmlns:a16="http://schemas.microsoft.com/office/drawing/2014/main" id="{4289529B-24FC-4944-99D0-2D38AD0995E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F2DCF85-312D-45C5-AC04-45562AE83A2B}"/>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1234499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FA1617-FC97-4B51-B5C8-FFCEC21DD35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1629121-FE50-4291-A645-72B5BEC69EC6}"/>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4" name="页脚占位符 3">
            <a:extLst>
              <a:ext uri="{FF2B5EF4-FFF2-40B4-BE49-F238E27FC236}">
                <a16:creationId xmlns:a16="http://schemas.microsoft.com/office/drawing/2014/main" id="{3197B53A-E1D3-445A-9331-F7A209DBE8A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1CCE609-2E43-4C24-9E47-5B6124A136FF}"/>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2135234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58154BD-46BB-4F36-8A9A-C7A03676A131}"/>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3" name="页脚占位符 2">
            <a:extLst>
              <a:ext uri="{FF2B5EF4-FFF2-40B4-BE49-F238E27FC236}">
                <a16:creationId xmlns:a16="http://schemas.microsoft.com/office/drawing/2014/main" id="{D512B33E-3A76-452C-9164-F6B18DC3FF7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8258CF7-DF0B-4775-8175-AA55D02EE684}"/>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3352937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CFEFDB-FFA4-497D-A62D-146E4FA28E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2A160D4-ED83-4077-9AC6-278254B4C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4B7673C-4958-4C4C-926B-67C836F0D1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978F097-4E0C-4958-8374-6CD8F85A41EC}"/>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6" name="页脚占位符 5">
            <a:extLst>
              <a:ext uri="{FF2B5EF4-FFF2-40B4-BE49-F238E27FC236}">
                <a16:creationId xmlns:a16="http://schemas.microsoft.com/office/drawing/2014/main" id="{2DBD5EC8-B76D-4D69-9E49-BD375437B0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5DC58-3525-4310-9841-B95FBA1C1264}"/>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1360019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02CE7D-2DAF-44CA-AF98-6127EA97A14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52DCF24-9DB6-4C65-B246-DFF91B1EF0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F1E7D5B-968A-4357-9DBD-02C0D75086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6F5109A-97B4-4C28-9991-0574CF32A9C7}"/>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6" name="页脚占位符 5">
            <a:extLst>
              <a:ext uri="{FF2B5EF4-FFF2-40B4-BE49-F238E27FC236}">
                <a16:creationId xmlns:a16="http://schemas.microsoft.com/office/drawing/2014/main" id="{B3332BEC-CA1C-4868-B990-D55C2231A0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08CA00A-F026-4ACB-B4FE-619ADC721ADD}"/>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530531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A4E088-8C89-4663-A27B-ACC5AAD243B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5C42DC-E028-4A4F-8657-822A2B0A483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FEF4475-2ABE-4B74-B856-2C96325BA6C5}"/>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2455FD90-55B3-4C6E-BE67-2DC5C82675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842D276-2973-474D-AC4A-3E03738A90C6}"/>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2694958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F51D28-A0E6-416C-816B-05D7616559B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C482776-43F5-4A55-B0F9-1FE42D5DF38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706C60-B6EF-4D12-AC9F-A352463F8840}"/>
              </a:ext>
            </a:extLst>
          </p:cNvPr>
          <p:cNvSpPr>
            <a:spLocks noGrp="1"/>
          </p:cNvSpPr>
          <p:nvPr>
            <p:ph type="dt" sz="half" idx="10"/>
          </p:nvPr>
        </p:nvSpPr>
        <p:spPr/>
        <p:txBody>
          <a:bodyPr/>
          <a:lstStyle/>
          <a:p>
            <a:fld id="{E24D4826-0196-49EA-B980-12144A29B7F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46851F3C-FCF9-4AF0-8AB1-54EA2954F7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BF3CFE-1BDD-47D3-BB4E-32F492B1210E}"/>
              </a:ext>
            </a:extLst>
          </p:cNvPr>
          <p:cNvSpPr>
            <a:spLocks noGrp="1"/>
          </p:cNvSpPr>
          <p:nvPr>
            <p:ph type="sldNum" sz="quarter" idx="12"/>
          </p:nvPr>
        </p:nvSpPr>
        <p:spPr/>
        <p:txBody>
          <a:body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2656060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AEF8859-45FA-4B65-9B04-25F9DF68CD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70EE7C0-180E-425D-80F1-E84828B4B6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AB4C11-3474-4D01-B3D5-CB7355513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4D4826-0196-49EA-B980-12144A29B7F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999795B0-714D-4CC6-A0CA-4223F2A458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F762917-F2D6-4FDE-B48A-5EBD8F3109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E6DCAD-8944-4BAD-A4C6-1E528C8D5C69}" type="slidenum">
              <a:rPr lang="zh-CN" altLang="en-US" smtClean="0"/>
              <a:t>‹#›</a:t>
            </a:fld>
            <a:endParaRPr lang="zh-CN" altLang="en-US"/>
          </a:p>
        </p:txBody>
      </p:sp>
    </p:spTree>
    <p:extLst>
      <p:ext uri="{BB962C8B-B14F-4D97-AF65-F5344CB8AC3E}">
        <p14:creationId xmlns:p14="http://schemas.microsoft.com/office/powerpoint/2010/main" val="1496539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luogu.com.cn/problem/P1135"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Oil%20Deposits.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Abbott's%20Revenge.pdf" TargetMode="Externa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Ordering%20Tasks.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Play%20on%20Words.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2D5525-AD3D-4B2C-B4DE-80F23BDDD957}"/>
              </a:ext>
            </a:extLst>
          </p:cNvPr>
          <p:cNvSpPr>
            <a:spLocks noGrp="1"/>
          </p:cNvSpPr>
          <p:nvPr>
            <p:ph type="ctrTitle"/>
          </p:nvPr>
        </p:nvSpPr>
        <p:spPr/>
        <p:txBody>
          <a:bodyPr/>
          <a:lstStyle/>
          <a:p>
            <a:r>
              <a:rPr lang="en-US" altLang="zh-CN"/>
              <a:t>Search</a:t>
            </a:r>
            <a:br>
              <a:rPr lang="en-US" altLang="zh-CN"/>
            </a:br>
            <a:r>
              <a:rPr lang="en-US" altLang="zh-CN" sz="3600"/>
              <a:t>part 1</a:t>
            </a:r>
            <a:endParaRPr lang="zh-CN" altLang="en-US" sz="3600"/>
          </a:p>
        </p:txBody>
      </p:sp>
      <p:sp>
        <p:nvSpPr>
          <p:cNvPr id="3" name="副标题 2">
            <a:extLst>
              <a:ext uri="{FF2B5EF4-FFF2-40B4-BE49-F238E27FC236}">
                <a16:creationId xmlns:a16="http://schemas.microsoft.com/office/drawing/2014/main" id="{3D997E34-9F2C-46C1-9BE0-BFD0C2B71970}"/>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1689718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0E457C-44A3-4CFF-BA49-DCCA7B76A615}"/>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1D41033C-3590-46BF-B15C-676459A52C8C}"/>
              </a:ext>
            </a:extLst>
          </p:cNvPr>
          <p:cNvSpPr>
            <a:spLocks noGrp="1"/>
          </p:cNvSpPr>
          <p:nvPr>
            <p:ph idx="1"/>
          </p:nvPr>
        </p:nvSpPr>
        <p:spPr/>
        <p:txBody>
          <a:bodyPr/>
          <a:lstStyle/>
          <a:p>
            <a:pPr marL="514350" indent="-514350">
              <a:buFont typeface="+mj-lt"/>
              <a:buAutoNum type="arabicPeriod"/>
            </a:pPr>
            <a:r>
              <a:rPr lang="en-US" altLang="zh-CN" dirty="0"/>
              <a:t>BFS (breath-first search)</a:t>
            </a:r>
          </a:p>
          <a:p>
            <a:pPr marL="514350" indent="-514350">
              <a:buFont typeface="+mj-lt"/>
              <a:buAutoNum type="arabicPeriod"/>
            </a:pPr>
            <a:r>
              <a:rPr lang="en-US" altLang="zh-CN" b="1" dirty="0"/>
              <a:t>DFS (depth-first search)</a:t>
            </a:r>
          </a:p>
          <a:p>
            <a:pPr marL="514350" indent="-514350">
              <a:buFont typeface="+mj-lt"/>
              <a:buAutoNum type="arabicPeriod"/>
            </a:pPr>
            <a:r>
              <a:rPr lang="en-US" altLang="zh-CN" dirty="0"/>
              <a:t>Examples</a:t>
            </a:r>
            <a:endParaRPr lang="zh-CN" altLang="en-US" dirty="0"/>
          </a:p>
        </p:txBody>
      </p:sp>
    </p:spTree>
    <p:extLst>
      <p:ext uri="{BB962C8B-B14F-4D97-AF65-F5344CB8AC3E}">
        <p14:creationId xmlns:p14="http://schemas.microsoft.com/office/powerpoint/2010/main" val="4110635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E2B3E-FD18-4141-A242-91DD9A94B056}"/>
              </a:ext>
            </a:extLst>
          </p:cNvPr>
          <p:cNvSpPr>
            <a:spLocks noGrp="1"/>
          </p:cNvSpPr>
          <p:nvPr>
            <p:ph type="title"/>
          </p:nvPr>
        </p:nvSpPr>
        <p:spPr/>
        <p:txBody>
          <a:bodyPr/>
          <a:lstStyle/>
          <a:p>
            <a:r>
              <a:rPr lang="en-US" altLang="zh-CN" dirty="0"/>
              <a:t>1 BFS</a:t>
            </a:r>
            <a:endParaRPr lang="zh-CN" altLang="en-US" dirty="0"/>
          </a:p>
        </p:txBody>
      </p:sp>
      <p:sp>
        <p:nvSpPr>
          <p:cNvPr id="3" name="内容占位符 2">
            <a:extLst>
              <a:ext uri="{FF2B5EF4-FFF2-40B4-BE49-F238E27FC236}">
                <a16:creationId xmlns:a16="http://schemas.microsoft.com/office/drawing/2014/main" id="{C8B341F7-05A9-4322-8B1B-BF091FE897AA}"/>
              </a:ext>
            </a:extLst>
          </p:cNvPr>
          <p:cNvSpPr>
            <a:spLocks noGrp="1"/>
          </p:cNvSpPr>
          <p:nvPr>
            <p:ph idx="1"/>
          </p:nvPr>
        </p:nvSpPr>
        <p:spPr/>
        <p:txBody>
          <a:bodyPr/>
          <a:lstStyle/>
          <a:p>
            <a:r>
              <a:rPr lang="en-US" altLang="zh-CN" dirty="0"/>
              <a:t>In breadth-first search when we visit a vertex, we next visit all vertices adjacent to v.  The resulting tree is called a breadth-first search tree. BFS can be implemented by </a:t>
            </a:r>
            <a:r>
              <a:rPr lang="en-US" altLang="zh-CN" b="1" dirty="0">
                <a:solidFill>
                  <a:srgbClr val="FF0000"/>
                </a:solidFill>
              </a:rPr>
              <a:t>a queue </a:t>
            </a:r>
            <a:r>
              <a:rPr lang="en-US" altLang="zh-CN" dirty="0"/>
              <a:t>to store unexamined vertices.</a:t>
            </a:r>
          </a:p>
          <a:p>
            <a:r>
              <a:rPr lang="zh-CN" altLang="en-US" dirty="0"/>
              <a:t>在广度优先搜索中，当我们访问一个顶点时，我们接下来访问与</a:t>
            </a:r>
            <a:r>
              <a:rPr lang="en-US" altLang="zh-CN" dirty="0"/>
              <a:t>v</a:t>
            </a:r>
            <a:r>
              <a:rPr lang="zh-CN" altLang="en-US" dirty="0"/>
              <a:t>相邻的所有顶点。得到的树被称为广度优先搜索树。</a:t>
            </a:r>
            <a:r>
              <a:rPr lang="en-US" altLang="zh-CN" dirty="0"/>
              <a:t>BFS</a:t>
            </a:r>
            <a:r>
              <a:rPr lang="zh-CN" altLang="en-US" dirty="0"/>
              <a:t>可以通过队列来实现，以存储未检查的顶点。</a:t>
            </a:r>
            <a:endParaRPr lang="en-US" altLang="zh-CN" dirty="0"/>
          </a:p>
          <a:p>
            <a:endParaRPr lang="zh-CN" altLang="en-US" dirty="0"/>
          </a:p>
        </p:txBody>
      </p:sp>
    </p:spTree>
    <p:extLst>
      <p:ext uri="{BB962C8B-B14F-4D97-AF65-F5344CB8AC3E}">
        <p14:creationId xmlns:p14="http://schemas.microsoft.com/office/powerpoint/2010/main" val="1184643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4C95D-8CD0-4946-852E-3D4E171B87C0}"/>
              </a:ext>
            </a:extLst>
          </p:cNvPr>
          <p:cNvSpPr>
            <a:spLocks noGrp="1"/>
          </p:cNvSpPr>
          <p:nvPr>
            <p:ph type="title"/>
          </p:nvPr>
        </p:nvSpPr>
        <p:spPr/>
        <p:txBody>
          <a:bodyPr/>
          <a:lstStyle/>
          <a:p>
            <a:r>
              <a:rPr lang="en-US" altLang="zh-CN" dirty="0"/>
              <a:t>queue</a:t>
            </a:r>
            <a:endParaRPr lang="zh-CN" altLang="en-US" dirty="0"/>
          </a:p>
        </p:txBody>
      </p:sp>
      <p:pic>
        <p:nvPicPr>
          <p:cNvPr id="4" name="图片 3">
            <a:extLst>
              <a:ext uri="{FF2B5EF4-FFF2-40B4-BE49-F238E27FC236}">
                <a16:creationId xmlns:a16="http://schemas.microsoft.com/office/drawing/2014/main" id="{5F835345-79CA-4494-904D-1469CF8796C8}"/>
              </a:ext>
            </a:extLst>
          </p:cNvPr>
          <p:cNvPicPr>
            <a:picLocks noChangeAspect="1"/>
          </p:cNvPicPr>
          <p:nvPr/>
        </p:nvPicPr>
        <p:blipFill>
          <a:blip r:embed="rId2"/>
          <a:stretch>
            <a:fillRect/>
          </a:stretch>
        </p:blipFill>
        <p:spPr>
          <a:xfrm>
            <a:off x="683071" y="1613147"/>
            <a:ext cx="6067425" cy="3276600"/>
          </a:xfrm>
          <a:prstGeom prst="rect">
            <a:avLst/>
          </a:prstGeom>
        </p:spPr>
      </p:pic>
      <p:sp>
        <p:nvSpPr>
          <p:cNvPr id="7" name="文本框 6">
            <a:extLst>
              <a:ext uri="{FF2B5EF4-FFF2-40B4-BE49-F238E27FC236}">
                <a16:creationId xmlns:a16="http://schemas.microsoft.com/office/drawing/2014/main" id="{76414EEF-0114-4ED1-816B-439C103AFE99}"/>
              </a:ext>
            </a:extLst>
          </p:cNvPr>
          <p:cNvSpPr txBox="1"/>
          <p:nvPr/>
        </p:nvSpPr>
        <p:spPr>
          <a:xfrm>
            <a:off x="934374" y="5244853"/>
            <a:ext cx="6094520" cy="369332"/>
          </a:xfrm>
          <a:prstGeom prst="rect">
            <a:avLst/>
          </a:prstGeom>
          <a:noFill/>
        </p:spPr>
        <p:txBody>
          <a:bodyPr wrap="square">
            <a:spAutoFit/>
          </a:bodyPr>
          <a:lstStyle/>
          <a:p>
            <a:r>
              <a:rPr lang="zh-CN" altLang="en-US" dirty="0"/>
              <a:t>https://cplusplus.com/reference/queue/queue/</a:t>
            </a:r>
          </a:p>
        </p:txBody>
      </p:sp>
      <p:sp>
        <p:nvSpPr>
          <p:cNvPr id="9" name="文本框 8">
            <a:extLst>
              <a:ext uri="{FF2B5EF4-FFF2-40B4-BE49-F238E27FC236}">
                <a16:creationId xmlns:a16="http://schemas.microsoft.com/office/drawing/2014/main" id="{2B5E1326-AF34-4DBD-9DF5-9242F68837B9}"/>
              </a:ext>
            </a:extLst>
          </p:cNvPr>
          <p:cNvSpPr txBox="1"/>
          <p:nvPr/>
        </p:nvSpPr>
        <p:spPr>
          <a:xfrm>
            <a:off x="934374" y="5768437"/>
            <a:ext cx="6094520" cy="369332"/>
          </a:xfrm>
          <a:prstGeom prst="rect">
            <a:avLst/>
          </a:prstGeom>
          <a:noFill/>
        </p:spPr>
        <p:txBody>
          <a:bodyPr wrap="square">
            <a:spAutoFit/>
          </a:bodyPr>
          <a:lstStyle/>
          <a:p>
            <a:r>
              <a:rPr lang="zh-CN" altLang="en-US" dirty="0"/>
              <a:t>https://zh.cppreference.com/w/cpp/container/queue</a:t>
            </a:r>
          </a:p>
        </p:txBody>
      </p:sp>
    </p:spTree>
    <p:extLst>
      <p:ext uri="{BB962C8B-B14F-4D97-AF65-F5344CB8AC3E}">
        <p14:creationId xmlns:p14="http://schemas.microsoft.com/office/powerpoint/2010/main" val="3703684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EDA8F42-C438-4568-A8A6-C9B6640E5B9E}"/>
              </a:ext>
            </a:extLst>
          </p:cNvPr>
          <p:cNvPicPr>
            <a:picLocks noChangeAspect="1"/>
          </p:cNvPicPr>
          <p:nvPr/>
        </p:nvPicPr>
        <p:blipFill>
          <a:blip r:embed="rId2"/>
          <a:stretch>
            <a:fillRect/>
          </a:stretch>
        </p:blipFill>
        <p:spPr>
          <a:xfrm>
            <a:off x="2354412" y="0"/>
            <a:ext cx="7483176" cy="6858000"/>
          </a:xfrm>
          <a:prstGeom prst="rect">
            <a:avLst/>
          </a:prstGeom>
        </p:spPr>
      </p:pic>
    </p:spTree>
    <p:extLst>
      <p:ext uri="{BB962C8B-B14F-4D97-AF65-F5344CB8AC3E}">
        <p14:creationId xmlns:p14="http://schemas.microsoft.com/office/powerpoint/2010/main" val="465066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9117C-69B4-4149-80DF-DAAA573807EC}"/>
              </a:ext>
            </a:extLst>
          </p:cNvPr>
          <p:cNvSpPr>
            <a:spLocks noGrp="1"/>
          </p:cNvSpPr>
          <p:nvPr>
            <p:ph type="title"/>
          </p:nvPr>
        </p:nvSpPr>
        <p:spPr/>
        <p:txBody>
          <a:bodyPr/>
          <a:lstStyle/>
          <a:p>
            <a:r>
              <a:rPr lang="en-US" altLang="zh-CN"/>
              <a:t>Time complexity of BFS</a:t>
            </a:r>
            <a:endParaRPr lang="zh-CN" altLang="en-US"/>
          </a:p>
        </p:txBody>
      </p:sp>
      <p:sp>
        <p:nvSpPr>
          <p:cNvPr id="3" name="内容占位符 2">
            <a:extLst>
              <a:ext uri="{FF2B5EF4-FFF2-40B4-BE49-F238E27FC236}">
                <a16:creationId xmlns:a16="http://schemas.microsoft.com/office/drawing/2014/main" id="{264B665F-A264-45CC-A021-B017D0E90AEC}"/>
              </a:ext>
            </a:extLst>
          </p:cNvPr>
          <p:cNvSpPr>
            <a:spLocks noGrp="1"/>
          </p:cNvSpPr>
          <p:nvPr>
            <p:ph idx="1"/>
          </p:nvPr>
        </p:nvSpPr>
        <p:spPr/>
        <p:txBody>
          <a:bodyPr/>
          <a:lstStyle/>
          <a:p>
            <a:r>
              <a:rPr lang="en-US" altLang="zh-CN" dirty="0"/>
              <a:t>The time complexity of BFS when applied to a graph (directed or undirected) with n vertices and</a:t>
            </a:r>
            <a:r>
              <a:rPr lang="zh-CN" altLang="en-US" dirty="0"/>
              <a:t> </a:t>
            </a:r>
            <a:r>
              <a:rPr lang="en-US" altLang="zh-CN" dirty="0"/>
              <a:t>m</a:t>
            </a:r>
            <a:r>
              <a:rPr lang="zh-CN" altLang="en-US" dirty="0"/>
              <a:t> </a:t>
            </a:r>
            <a:r>
              <a:rPr lang="en-US" altLang="zh-CN" dirty="0"/>
              <a:t>edges is </a:t>
            </a:r>
            <a:r>
              <a:rPr lang="el-GR" altLang="zh-CN" dirty="0">
                <a:solidFill>
                  <a:srgbClr val="FF0000"/>
                </a:solidFill>
              </a:rPr>
              <a:t>Θ</a:t>
            </a:r>
            <a:r>
              <a:rPr lang="en-US" altLang="zh-CN" dirty="0">
                <a:solidFill>
                  <a:srgbClr val="FF0000"/>
                </a:solidFill>
              </a:rPr>
              <a:t>(</a:t>
            </a:r>
            <a:r>
              <a:rPr lang="en-US" altLang="zh-CN" dirty="0" err="1">
                <a:solidFill>
                  <a:srgbClr val="FF0000"/>
                </a:solidFill>
              </a:rPr>
              <a:t>n+m</a:t>
            </a:r>
            <a:r>
              <a:rPr lang="en-US" altLang="zh-CN" dirty="0">
                <a:solidFill>
                  <a:srgbClr val="FF0000"/>
                </a:solidFill>
              </a:rPr>
              <a:t>)</a:t>
            </a:r>
            <a:r>
              <a:rPr lang="en-US" altLang="zh-CN" dirty="0"/>
              <a:t>. If the graph is connected or</a:t>
            </a:r>
            <a:r>
              <a:rPr lang="zh-CN" altLang="en-US" dirty="0"/>
              <a:t> </a:t>
            </a:r>
            <a:r>
              <a:rPr lang="en-US" altLang="zh-CN" dirty="0" err="1"/>
              <a:t>m≥n</a:t>
            </a:r>
            <a:r>
              <a:rPr lang="en-US" altLang="zh-CN" dirty="0"/>
              <a:t>, then the time complexity is simply O(m).</a:t>
            </a:r>
          </a:p>
          <a:p>
            <a:r>
              <a:rPr lang="zh-CN" altLang="en-US" dirty="0"/>
              <a:t>当应用于具有</a:t>
            </a:r>
            <a:r>
              <a:rPr lang="en-US" altLang="zh-CN" dirty="0"/>
              <a:t>n</a:t>
            </a:r>
            <a:r>
              <a:rPr lang="zh-CN" altLang="en-US" dirty="0"/>
              <a:t>个顶点和</a:t>
            </a:r>
            <a:r>
              <a:rPr lang="en-US" altLang="zh-CN" dirty="0"/>
              <a:t>m</a:t>
            </a:r>
            <a:r>
              <a:rPr lang="zh-CN" altLang="en-US" dirty="0"/>
              <a:t>条边的图（有向或无向）时，</a:t>
            </a:r>
            <a:r>
              <a:rPr lang="en-US" altLang="zh-CN" dirty="0"/>
              <a:t>BFS</a:t>
            </a:r>
            <a:r>
              <a:rPr lang="zh-CN" altLang="en-US" dirty="0"/>
              <a:t>的时间复杂度为</a:t>
            </a:r>
            <a:r>
              <a:rPr lang="el-GR" altLang="zh-CN" dirty="0"/>
              <a:t>θ</a:t>
            </a:r>
            <a:r>
              <a:rPr lang="zh-CN" altLang="el-GR" dirty="0"/>
              <a:t>（</a:t>
            </a:r>
            <a:r>
              <a:rPr lang="en-US" altLang="zh-CN" dirty="0" err="1"/>
              <a:t>n+m</a:t>
            </a:r>
            <a:r>
              <a:rPr lang="zh-CN" altLang="en-US" dirty="0"/>
              <a:t>）。如果图是连通的或者</a:t>
            </a:r>
            <a:r>
              <a:rPr lang="en-US" altLang="zh-CN" dirty="0" err="1"/>
              <a:t>m≥n</a:t>
            </a:r>
            <a:r>
              <a:rPr lang="zh-CN" altLang="en-US" dirty="0"/>
              <a:t>，则时间复杂度简单地为</a:t>
            </a:r>
            <a:r>
              <a:rPr lang="en-US" altLang="zh-CN" dirty="0"/>
              <a:t>O</a:t>
            </a:r>
            <a:r>
              <a:rPr lang="zh-CN" altLang="en-US" dirty="0"/>
              <a:t>（</a:t>
            </a:r>
            <a:r>
              <a:rPr lang="en-US" altLang="zh-CN" dirty="0"/>
              <a:t>m</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2603963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DC74C2-BA2D-439F-8BB0-FDCDFAE8B2FA}"/>
              </a:ext>
            </a:extLst>
          </p:cNvPr>
          <p:cNvSpPr>
            <a:spLocks noGrp="1"/>
          </p:cNvSpPr>
          <p:nvPr>
            <p:ph type="title"/>
          </p:nvPr>
        </p:nvSpPr>
        <p:spPr/>
        <p:txBody>
          <a:bodyPr/>
          <a:lstStyle/>
          <a:p>
            <a:r>
              <a:rPr lang="en-US" altLang="zh-CN" dirty="0"/>
              <a:t>2 DFS</a:t>
            </a:r>
            <a:endParaRPr lang="zh-CN" altLang="en-US" dirty="0"/>
          </a:p>
        </p:txBody>
      </p:sp>
      <p:sp>
        <p:nvSpPr>
          <p:cNvPr id="3" name="内容占位符 2">
            <a:extLst>
              <a:ext uri="{FF2B5EF4-FFF2-40B4-BE49-F238E27FC236}">
                <a16:creationId xmlns:a16="http://schemas.microsoft.com/office/drawing/2014/main" id="{1E92EE8D-F14F-4AA8-B40C-EFA7C83800F5}"/>
              </a:ext>
            </a:extLst>
          </p:cNvPr>
          <p:cNvSpPr>
            <a:spLocks noGrp="1"/>
          </p:cNvSpPr>
          <p:nvPr>
            <p:ph idx="1"/>
          </p:nvPr>
        </p:nvSpPr>
        <p:spPr/>
        <p:txBody>
          <a:bodyPr/>
          <a:lstStyle/>
          <a:p>
            <a:r>
              <a:rPr lang="en-US" altLang="zh-CN" dirty="0"/>
              <a:t>DFS continues the search in the forward (deeper) direction. It can be written using </a:t>
            </a:r>
            <a:r>
              <a:rPr lang="en-US" altLang="zh-CN" b="1" dirty="0">
                <a:solidFill>
                  <a:srgbClr val="FF0000"/>
                </a:solidFill>
              </a:rPr>
              <a:t>recursion</a:t>
            </a:r>
            <a:r>
              <a:rPr lang="en-US" altLang="zh-CN" dirty="0"/>
              <a:t> or </a:t>
            </a:r>
            <a:r>
              <a:rPr lang="en-US" altLang="zh-CN" dirty="0">
                <a:solidFill>
                  <a:srgbClr val="FF0000"/>
                </a:solidFill>
              </a:rPr>
              <a:t>a stack</a:t>
            </a:r>
            <a:r>
              <a:rPr lang="en-US" altLang="zh-CN" dirty="0"/>
              <a:t>.</a:t>
            </a:r>
          </a:p>
          <a:p>
            <a:r>
              <a:rPr lang="en-US" altLang="zh-CN" dirty="0"/>
              <a:t>DFS</a:t>
            </a:r>
            <a:r>
              <a:rPr lang="zh-CN" altLang="en-US" dirty="0"/>
              <a:t>继续向前（更深）方向搜索。它可以使用递归或堆栈编写。</a:t>
            </a:r>
          </a:p>
        </p:txBody>
      </p:sp>
    </p:spTree>
    <p:extLst>
      <p:ext uri="{BB962C8B-B14F-4D97-AF65-F5344CB8AC3E}">
        <p14:creationId xmlns:p14="http://schemas.microsoft.com/office/powerpoint/2010/main" val="193165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58D23D3-C505-4BA1-B032-C3E906FF4AF7}"/>
              </a:ext>
            </a:extLst>
          </p:cNvPr>
          <p:cNvPicPr>
            <a:picLocks noChangeAspect="1"/>
          </p:cNvPicPr>
          <p:nvPr/>
        </p:nvPicPr>
        <p:blipFill>
          <a:blip r:embed="rId2"/>
          <a:stretch>
            <a:fillRect/>
          </a:stretch>
        </p:blipFill>
        <p:spPr>
          <a:xfrm>
            <a:off x="993176" y="0"/>
            <a:ext cx="10528250" cy="6715956"/>
          </a:xfrm>
          <a:prstGeom prst="rect">
            <a:avLst/>
          </a:prstGeom>
        </p:spPr>
      </p:pic>
    </p:spTree>
    <p:extLst>
      <p:ext uri="{BB962C8B-B14F-4D97-AF65-F5344CB8AC3E}">
        <p14:creationId xmlns:p14="http://schemas.microsoft.com/office/powerpoint/2010/main" val="3127498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296B3AC-F238-4723-A97D-C158F61DA890}"/>
              </a:ext>
            </a:extLst>
          </p:cNvPr>
          <p:cNvSpPr>
            <a:spLocks noGrp="1"/>
          </p:cNvSpPr>
          <p:nvPr>
            <p:ph idx="1"/>
          </p:nvPr>
        </p:nvSpPr>
        <p:spPr>
          <a:xfrm>
            <a:off x="838200" y="532660"/>
            <a:ext cx="10515600" cy="5644303"/>
          </a:xfrm>
        </p:spPr>
        <p:txBody>
          <a:bodyPr/>
          <a:lstStyle/>
          <a:p>
            <a:r>
              <a:rPr lang="zh-CN" altLang="en-US" dirty="0"/>
              <a:t>当搜索完成时，如果所有顶点都可以从起始顶点到达，则构建一个称为深度优先搜索生成树的生成树，其边是在向前方向上检查的边，即在探索未访问的顶点时。</a:t>
            </a:r>
            <a:endParaRPr lang="en-US" altLang="zh-CN" dirty="0"/>
          </a:p>
          <a:p>
            <a:pPr marL="0" indent="0">
              <a:buNone/>
            </a:pPr>
            <a:endParaRPr lang="en-US" altLang="zh-CN" dirty="0"/>
          </a:p>
          <a:p>
            <a:r>
              <a:rPr lang="zh-CN" altLang="en-US" dirty="0"/>
              <a:t>如果不是所有顶点都可以从起始顶点到达，那么搜索结果将是生成树林。搜索完成后，用</a:t>
            </a:r>
            <a:r>
              <a:rPr lang="en-US" altLang="zh-CN" dirty="0" err="1"/>
              <a:t>predfn</a:t>
            </a:r>
            <a:r>
              <a:rPr lang="zh-CN" altLang="en-US" dirty="0"/>
              <a:t>和</a:t>
            </a:r>
            <a:r>
              <a:rPr lang="en-US" altLang="zh-CN" dirty="0" err="1"/>
              <a:t>postdfn</a:t>
            </a:r>
            <a:r>
              <a:rPr lang="zh-CN" altLang="en-US" dirty="0"/>
              <a:t>数字标记每个顶点。</a:t>
            </a:r>
            <a:endParaRPr lang="en-US" altLang="zh-CN" dirty="0"/>
          </a:p>
          <a:p>
            <a:endParaRPr lang="zh-CN" altLang="en-US" dirty="0"/>
          </a:p>
        </p:txBody>
      </p:sp>
    </p:spTree>
    <p:extLst>
      <p:ext uri="{BB962C8B-B14F-4D97-AF65-F5344CB8AC3E}">
        <p14:creationId xmlns:p14="http://schemas.microsoft.com/office/powerpoint/2010/main" val="3501995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9998EA-F02C-4756-BFE4-DDC1BC528F68}"/>
              </a:ext>
            </a:extLst>
          </p:cNvPr>
          <p:cNvSpPr>
            <a:spLocks noGrp="1"/>
          </p:cNvSpPr>
          <p:nvPr>
            <p:ph type="title"/>
          </p:nvPr>
        </p:nvSpPr>
        <p:spPr/>
        <p:txBody>
          <a:bodyPr/>
          <a:lstStyle/>
          <a:p>
            <a:r>
              <a:rPr lang="en-US" altLang="zh-CN"/>
              <a:t>An example of DFS traversal of an undirected graph</a:t>
            </a:r>
            <a:endParaRPr lang="zh-CN" altLang="en-US"/>
          </a:p>
        </p:txBody>
      </p:sp>
      <p:pic>
        <p:nvPicPr>
          <p:cNvPr id="5" name="图片 4">
            <a:extLst>
              <a:ext uri="{FF2B5EF4-FFF2-40B4-BE49-F238E27FC236}">
                <a16:creationId xmlns:a16="http://schemas.microsoft.com/office/drawing/2014/main" id="{54B672D6-AC5B-4CC7-BF49-95A09BA72981}"/>
              </a:ext>
            </a:extLst>
          </p:cNvPr>
          <p:cNvPicPr>
            <a:picLocks noChangeAspect="1"/>
          </p:cNvPicPr>
          <p:nvPr/>
        </p:nvPicPr>
        <p:blipFill>
          <a:blip r:embed="rId2"/>
          <a:stretch>
            <a:fillRect/>
          </a:stretch>
        </p:blipFill>
        <p:spPr>
          <a:xfrm>
            <a:off x="853143" y="1690688"/>
            <a:ext cx="8214722" cy="4804978"/>
          </a:xfrm>
          <a:prstGeom prst="rect">
            <a:avLst/>
          </a:prstGeom>
        </p:spPr>
      </p:pic>
    </p:spTree>
    <p:extLst>
      <p:ext uri="{BB962C8B-B14F-4D97-AF65-F5344CB8AC3E}">
        <p14:creationId xmlns:p14="http://schemas.microsoft.com/office/powerpoint/2010/main" val="295420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DC7DC7-4722-49EA-88D6-A8A1A893F075}"/>
              </a:ext>
            </a:extLst>
          </p:cNvPr>
          <p:cNvSpPr>
            <a:spLocks noGrp="1"/>
          </p:cNvSpPr>
          <p:nvPr>
            <p:ph type="title"/>
          </p:nvPr>
        </p:nvSpPr>
        <p:spPr/>
        <p:txBody>
          <a:bodyPr/>
          <a:lstStyle/>
          <a:p>
            <a:r>
              <a:rPr lang="en-US" altLang="zh-CN"/>
              <a:t>Time complexity of DFS</a:t>
            </a:r>
            <a:endParaRPr lang="zh-CN" altLang="en-US"/>
          </a:p>
        </p:txBody>
      </p:sp>
      <p:sp>
        <p:nvSpPr>
          <p:cNvPr id="3" name="内容占位符 2">
            <a:extLst>
              <a:ext uri="{FF2B5EF4-FFF2-40B4-BE49-F238E27FC236}">
                <a16:creationId xmlns:a16="http://schemas.microsoft.com/office/drawing/2014/main" id="{A6722A63-12FC-49AB-8C94-5A9F0E52262F}"/>
              </a:ext>
            </a:extLst>
          </p:cNvPr>
          <p:cNvSpPr>
            <a:spLocks noGrp="1"/>
          </p:cNvSpPr>
          <p:nvPr>
            <p:ph idx="1"/>
          </p:nvPr>
        </p:nvSpPr>
        <p:spPr/>
        <p:txBody>
          <a:bodyPr/>
          <a:lstStyle/>
          <a:p>
            <a:r>
              <a:rPr lang="en-US" altLang="zh-CN"/>
              <a:t>The number of procedure calls is exactly n since once the procedure is invoked on vertex v, it will be marked visited and hence no more calls on v will take place. </a:t>
            </a:r>
            <a:r>
              <a:rPr lang="el-GR" altLang="zh-CN">
                <a:solidFill>
                  <a:srgbClr val="FF0000"/>
                </a:solidFill>
              </a:rPr>
              <a:t>Θ</a:t>
            </a:r>
            <a:r>
              <a:rPr lang="en-US" altLang="zh-CN">
                <a:solidFill>
                  <a:srgbClr val="FF0000"/>
                </a:solidFill>
              </a:rPr>
              <a:t>(n)</a:t>
            </a:r>
          </a:p>
          <a:p>
            <a:r>
              <a:rPr lang="en-US" altLang="zh-CN"/>
              <a:t>Procedure </a:t>
            </a:r>
            <a:r>
              <a:rPr lang="en-US" altLang="zh-CN" i="1"/>
              <a:t>dfs</a:t>
            </a:r>
            <a:r>
              <a:rPr lang="en-US" altLang="zh-CN"/>
              <a:t>: the total number of times this step is executed is equal to the number of edges in the case of directed graphs and twice the number of edges in the case of undirected graphs. </a:t>
            </a:r>
            <a:r>
              <a:rPr lang="el-GR" altLang="zh-CN">
                <a:solidFill>
                  <a:srgbClr val="FF0000"/>
                </a:solidFill>
              </a:rPr>
              <a:t>Θ</a:t>
            </a:r>
            <a:r>
              <a:rPr lang="en-US" altLang="zh-CN">
                <a:solidFill>
                  <a:srgbClr val="FF0000"/>
                </a:solidFill>
              </a:rPr>
              <a:t>(m)</a:t>
            </a:r>
          </a:p>
          <a:p>
            <a:r>
              <a:rPr lang="el-GR" altLang="zh-CN">
                <a:solidFill>
                  <a:srgbClr val="FF0000"/>
                </a:solidFill>
              </a:rPr>
              <a:t>Θ</a:t>
            </a:r>
            <a:r>
              <a:rPr lang="en-US" altLang="zh-CN">
                <a:solidFill>
                  <a:srgbClr val="FF0000"/>
                </a:solidFill>
              </a:rPr>
              <a:t>(m+n)</a:t>
            </a:r>
          </a:p>
          <a:p>
            <a:endParaRPr lang="zh-CN" altLang="en-US"/>
          </a:p>
        </p:txBody>
      </p:sp>
    </p:spTree>
    <p:extLst>
      <p:ext uri="{BB962C8B-B14F-4D97-AF65-F5344CB8AC3E}">
        <p14:creationId xmlns:p14="http://schemas.microsoft.com/office/powerpoint/2010/main" val="829166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3F05775-43F1-4A04-AD4A-3649EE561B29}"/>
              </a:ext>
            </a:extLst>
          </p:cNvPr>
          <p:cNvSpPr txBox="1"/>
          <p:nvPr/>
        </p:nvSpPr>
        <p:spPr>
          <a:xfrm>
            <a:off x="3047260" y="2692555"/>
            <a:ext cx="6094520" cy="1477328"/>
          </a:xfrm>
          <a:prstGeom prst="rect">
            <a:avLst/>
          </a:prstGeom>
          <a:noFill/>
        </p:spPr>
        <p:txBody>
          <a:bodyPr wrap="square">
            <a:spAutoFit/>
          </a:bodyPr>
          <a:lstStyle/>
          <a:p>
            <a:r>
              <a:rPr lang="zh-CN" altLang="en-US" dirty="0"/>
              <a:t>void dfs(int step){</a:t>
            </a:r>
          </a:p>
          <a:p>
            <a:r>
              <a:rPr lang="zh-CN" altLang="en-US" dirty="0"/>
              <a:t>	special case          //usually end the recursion</a:t>
            </a:r>
          </a:p>
          <a:p>
            <a:r>
              <a:rPr lang="zh-CN" altLang="en-US" dirty="0"/>
              <a:t>	for(i=1;i&lt;=n;i++)  // enumerate all cases</a:t>
            </a:r>
          </a:p>
          <a:p>
            <a:r>
              <a:rPr lang="zh-CN" altLang="en-US" dirty="0"/>
              <a:t>		in every case, dfs(step+1);</a:t>
            </a:r>
          </a:p>
          <a:p>
            <a:r>
              <a:rPr lang="zh-CN" altLang="en-US" dirty="0"/>
              <a:t>}</a:t>
            </a:r>
          </a:p>
        </p:txBody>
      </p:sp>
    </p:spTree>
    <p:extLst>
      <p:ext uri="{BB962C8B-B14F-4D97-AF65-F5344CB8AC3E}">
        <p14:creationId xmlns:p14="http://schemas.microsoft.com/office/powerpoint/2010/main" val="2576368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7D7122-9E7B-448B-A781-E0AA3DC806E1}"/>
              </a:ext>
            </a:extLst>
          </p:cNvPr>
          <p:cNvSpPr>
            <a:spLocks noGrp="1"/>
          </p:cNvSpPr>
          <p:nvPr>
            <p:ph type="title"/>
          </p:nvPr>
        </p:nvSpPr>
        <p:spPr/>
        <p:txBody>
          <a:bodyPr/>
          <a:lstStyle/>
          <a:p>
            <a:r>
              <a:rPr lang="en-US" altLang="zh-CN"/>
              <a:t>3 Examples</a:t>
            </a:r>
            <a:endParaRPr lang="zh-CN" altLang="en-US"/>
          </a:p>
        </p:txBody>
      </p:sp>
      <p:sp>
        <p:nvSpPr>
          <p:cNvPr id="3" name="内容占位符 2">
            <a:extLst>
              <a:ext uri="{FF2B5EF4-FFF2-40B4-BE49-F238E27FC236}">
                <a16:creationId xmlns:a16="http://schemas.microsoft.com/office/drawing/2014/main" id="{C5F36290-AD12-4C78-9093-C3DF74DE435F}"/>
              </a:ext>
            </a:extLst>
          </p:cNvPr>
          <p:cNvSpPr>
            <a:spLocks noGrp="1"/>
          </p:cNvSpPr>
          <p:nvPr>
            <p:ph idx="1"/>
          </p:nvPr>
        </p:nvSpPr>
        <p:spPr/>
        <p:txBody>
          <a:bodyPr/>
          <a:lstStyle/>
          <a:p>
            <a:r>
              <a:rPr lang="en-US" altLang="zh-CN" dirty="0"/>
              <a:t>A Strange Elevator (</a:t>
            </a:r>
            <a:r>
              <a:rPr lang="en-US" altLang="zh-CN" dirty="0">
                <a:hlinkClick r:id="rId2"/>
              </a:rPr>
              <a:t>https://www.luogu.com.cn/problem/P1135</a:t>
            </a:r>
            <a:r>
              <a:rPr lang="en-US" altLang="zh-CN" dirty="0"/>
              <a:t>)</a:t>
            </a:r>
          </a:p>
          <a:p>
            <a:r>
              <a:rPr lang="en-US" altLang="zh-CN" dirty="0"/>
              <a:t>Permutation</a:t>
            </a:r>
          </a:p>
          <a:p>
            <a:r>
              <a:rPr lang="en-US" altLang="zh-CN" dirty="0"/>
              <a:t>Oil Deposits (UVa 572)</a:t>
            </a:r>
          </a:p>
          <a:p>
            <a:r>
              <a:rPr lang="en-US" altLang="zh-CN" dirty="0"/>
              <a:t>Abbott’s Revenge (UVa 816)</a:t>
            </a:r>
          </a:p>
          <a:p>
            <a:r>
              <a:rPr lang="en-US" altLang="zh-CN" dirty="0"/>
              <a:t>Ordering Tasks (UVa 10305)</a:t>
            </a:r>
          </a:p>
          <a:p>
            <a:r>
              <a:rPr lang="en-US" altLang="zh-CN" dirty="0"/>
              <a:t>Play on Words (UVa 10129) (optimal)</a:t>
            </a:r>
          </a:p>
          <a:p>
            <a:endParaRPr lang="zh-CN" altLang="en-US" dirty="0"/>
          </a:p>
        </p:txBody>
      </p:sp>
    </p:spTree>
    <p:extLst>
      <p:ext uri="{BB962C8B-B14F-4D97-AF65-F5344CB8AC3E}">
        <p14:creationId xmlns:p14="http://schemas.microsoft.com/office/powerpoint/2010/main" val="1832462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7450AD-3F74-4D46-8B39-6F9440C575C3}"/>
              </a:ext>
            </a:extLst>
          </p:cNvPr>
          <p:cNvSpPr>
            <a:spLocks noGrp="1"/>
          </p:cNvSpPr>
          <p:nvPr>
            <p:ph type="title"/>
          </p:nvPr>
        </p:nvSpPr>
        <p:spPr/>
        <p:txBody>
          <a:bodyPr/>
          <a:lstStyle/>
          <a:p>
            <a:r>
              <a:rPr lang="en-US" altLang="zh-CN" dirty="0"/>
              <a:t>A Strange Elevator</a:t>
            </a:r>
            <a:endParaRPr lang="zh-CN" altLang="en-US" dirty="0"/>
          </a:p>
        </p:txBody>
      </p:sp>
      <p:sp>
        <p:nvSpPr>
          <p:cNvPr id="3" name="内容占位符 2">
            <a:extLst>
              <a:ext uri="{FF2B5EF4-FFF2-40B4-BE49-F238E27FC236}">
                <a16:creationId xmlns:a16="http://schemas.microsoft.com/office/drawing/2014/main" id="{2D9D5296-E33C-4175-96D7-05D545463BC7}"/>
              </a:ext>
            </a:extLst>
          </p:cNvPr>
          <p:cNvSpPr>
            <a:spLocks noGrp="1"/>
          </p:cNvSpPr>
          <p:nvPr>
            <p:ph idx="1"/>
          </p:nvPr>
        </p:nvSpPr>
        <p:spPr/>
        <p:txBody>
          <a:bodyPr>
            <a:normAutofit/>
          </a:bodyPr>
          <a:lstStyle/>
          <a:p>
            <a:pPr marL="0" indent="0">
              <a:buNone/>
            </a:pPr>
            <a:r>
              <a:rPr lang="zh-CN" altLang="en-US" dirty="0"/>
              <a:t>一栋楼里有一部奇怪的电梯。大楼的每一层都可以使用电梯。第</a:t>
            </a:r>
            <a:r>
              <a:rPr lang="en-US" altLang="zh-CN" dirty="0" err="1"/>
              <a:t>i</a:t>
            </a:r>
            <a:r>
              <a:rPr lang="zh-CN" altLang="en-US" dirty="0"/>
              <a:t>层（</a:t>
            </a:r>
            <a:r>
              <a:rPr lang="en-US" altLang="zh-CN" dirty="0"/>
              <a:t>1&lt;=</a:t>
            </a:r>
            <a:r>
              <a:rPr lang="en-US" altLang="zh-CN" dirty="0" err="1"/>
              <a:t>i</a:t>
            </a:r>
            <a:r>
              <a:rPr lang="en-US" altLang="zh-CN" dirty="0"/>
              <a:t>&lt;=N</a:t>
            </a:r>
            <a:r>
              <a:rPr lang="zh-CN" altLang="en-US" dirty="0"/>
              <a:t>，</a:t>
            </a:r>
            <a:r>
              <a:rPr lang="en-US" altLang="zh-CN" dirty="0"/>
              <a:t>1&lt;=N&lt;=200</a:t>
            </a:r>
            <a:r>
              <a:rPr lang="zh-CN" altLang="en-US" dirty="0"/>
              <a:t>）上有一个数字</a:t>
            </a:r>
            <a:r>
              <a:rPr lang="en-US" altLang="zh-CN" dirty="0"/>
              <a:t>ki</a:t>
            </a:r>
            <a:r>
              <a:rPr lang="zh-CN" altLang="en-US" dirty="0"/>
              <a:t>（</a:t>
            </a:r>
            <a:r>
              <a:rPr lang="en-US" altLang="zh-CN" dirty="0"/>
              <a:t>1&lt;=ki&lt;=N</a:t>
            </a:r>
            <a:r>
              <a:rPr lang="zh-CN" altLang="en-US" dirty="0"/>
              <a:t>）。电梯只有两个按钮：上下，电梯上下的楼层数等于当前楼层的楼层数。例如，如果建筑有</a:t>
            </a:r>
            <a:r>
              <a:rPr lang="en-US" altLang="zh-CN" dirty="0"/>
              <a:t>5</a:t>
            </a:r>
            <a:r>
              <a:rPr lang="zh-CN" altLang="en-US" dirty="0"/>
              <a:t>层，</a:t>
            </a:r>
            <a:r>
              <a:rPr lang="en-US" altLang="zh-CN" dirty="0"/>
              <a:t>3</a:t>
            </a:r>
            <a:r>
              <a:rPr lang="zh-CN" altLang="en-US" dirty="0"/>
              <a:t>，</a:t>
            </a:r>
            <a:r>
              <a:rPr lang="en-US" altLang="zh-CN" dirty="0"/>
              <a:t>3</a:t>
            </a:r>
            <a:r>
              <a:rPr lang="zh-CN" altLang="en-US" dirty="0"/>
              <a:t>，</a:t>
            </a:r>
            <a:r>
              <a:rPr lang="en-US" altLang="zh-CN" dirty="0"/>
              <a:t>1</a:t>
            </a:r>
            <a:r>
              <a:rPr lang="zh-CN" altLang="en-US" dirty="0"/>
              <a:t>，</a:t>
            </a:r>
            <a:r>
              <a:rPr lang="en-US" altLang="zh-CN" dirty="0"/>
              <a:t>2</a:t>
            </a:r>
            <a:r>
              <a:rPr lang="zh-CN" altLang="en-US" dirty="0"/>
              <a:t>，</a:t>
            </a:r>
            <a:r>
              <a:rPr lang="en-US" altLang="zh-CN" dirty="0"/>
              <a:t>5</a:t>
            </a:r>
            <a:r>
              <a:rPr lang="zh-CN" altLang="en-US" dirty="0"/>
              <a:t>表示</a:t>
            </a:r>
            <a:r>
              <a:rPr lang="en-US" altLang="zh-CN" dirty="0"/>
              <a:t>k1=3</a:t>
            </a:r>
            <a:r>
              <a:rPr lang="zh-CN" altLang="en-US" dirty="0"/>
              <a:t>，</a:t>
            </a:r>
            <a:r>
              <a:rPr lang="en-US" altLang="zh-CN" dirty="0"/>
              <a:t>k2=3</a:t>
            </a:r>
            <a:r>
              <a:rPr lang="zh-CN" altLang="en-US" dirty="0"/>
              <a:t>，</a:t>
            </a:r>
            <a:r>
              <a:rPr lang="en-US" altLang="zh-CN" dirty="0"/>
              <a:t>k3=1</a:t>
            </a:r>
            <a:r>
              <a:rPr lang="zh-CN" altLang="en-US" dirty="0"/>
              <a:t>，</a:t>
            </a:r>
            <a:r>
              <a:rPr lang="en-US" altLang="zh-CN" dirty="0"/>
              <a:t>k4=2</a:t>
            </a:r>
            <a:r>
              <a:rPr lang="zh-CN" altLang="en-US" dirty="0"/>
              <a:t>，</a:t>
            </a:r>
            <a:r>
              <a:rPr lang="en-US" altLang="zh-CN" dirty="0"/>
              <a:t>k5=5</a:t>
            </a:r>
            <a:r>
              <a:rPr lang="zh-CN" altLang="en-US" dirty="0"/>
              <a:t>，那么如果您在</a:t>
            </a:r>
            <a:r>
              <a:rPr lang="en-US" altLang="zh-CN" dirty="0"/>
              <a:t>1</a:t>
            </a:r>
            <a:r>
              <a:rPr lang="zh-CN" altLang="en-US" dirty="0"/>
              <a:t>层，按“向上”键将到达</a:t>
            </a:r>
            <a:r>
              <a:rPr lang="en-US" altLang="zh-CN" dirty="0"/>
              <a:t>4</a:t>
            </a:r>
            <a:r>
              <a:rPr lang="zh-CN" altLang="en-US" dirty="0"/>
              <a:t>层，而按“向下”键则不起作用（没有</a:t>
            </a:r>
            <a:r>
              <a:rPr lang="en-US" altLang="zh-CN" dirty="0"/>
              <a:t>-2</a:t>
            </a:r>
            <a:r>
              <a:rPr lang="zh-CN" altLang="en-US" dirty="0"/>
              <a:t>层）。问题是，从</a:t>
            </a:r>
            <a:r>
              <a:rPr lang="en-US" altLang="zh-CN" dirty="0"/>
              <a:t>A</a:t>
            </a:r>
            <a:r>
              <a:rPr lang="zh-CN" altLang="en-US" dirty="0"/>
              <a:t>层到</a:t>
            </a:r>
            <a:r>
              <a:rPr lang="en-US" altLang="zh-CN" dirty="0"/>
              <a:t>B</a:t>
            </a:r>
            <a:r>
              <a:rPr lang="zh-CN" altLang="en-US" dirty="0"/>
              <a:t>层（</a:t>
            </a:r>
            <a:r>
              <a:rPr lang="en-US" altLang="zh-CN" dirty="0"/>
              <a:t>1&lt;=A</a:t>
            </a:r>
            <a:r>
              <a:rPr lang="zh-CN" altLang="en-US" dirty="0"/>
              <a:t>，</a:t>
            </a:r>
            <a:r>
              <a:rPr lang="en-US" altLang="zh-CN" dirty="0"/>
              <a:t>B&lt;=N</a:t>
            </a:r>
            <a:r>
              <a:rPr lang="zh-CN" altLang="en-US" dirty="0"/>
              <a:t>），你至少需要按下多少次按钮？</a:t>
            </a:r>
            <a:endParaRPr lang="en-US" altLang="zh-CN" dirty="0"/>
          </a:p>
        </p:txBody>
      </p:sp>
    </p:spTree>
    <p:extLst>
      <p:ext uri="{BB962C8B-B14F-4D97-AF65-F5344CB8AC3E}">
        <p14:creationId xmlns:p14="http://schemas.microsoft.com/office/powerpoint/2010/main" val="2604248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17ED86-E5C7-487B-8218-66F313FDBEAB}"/>
              </a:ext>
            </a:extLst>
          </p:cNvPr>
          <p:cNvSpPr>
            <a:spLocks noGrp="1"/>
          </p:cNvSpPr>
          <p:nvPr>
            <p:ph idx="1"/>
          </p:nvPr>
        </p:nvSpPr>
        <p:spPr>
          <a:xfrm>
            <a:off x="838200" y="928980"/>
            <a:ext cx="10515600" cy="4351338"/>
          </a:xfrm>
        </p:spPr>
        <p:txBody>
          <a:bodyPr/>
          <a:lstStyle/>
          <a:p>
            <a:pPr marL="0" indent="0">
              <a:buNone/>
            </a:pPr>
            <a:r>
              <a:rPr lang="en-US" altLang="zh-CN" dirty="0"/>
              <a:t>Input sample</a:t>
            </a:r>
          </a:p>
          <a:p>
            <a:pPr marL="0" indent="0">
              <a:buNone/>
            </a:pPr>
            <a:r>
              <a:rPr lang="en-US" altLang="zh-CN" dirty="0"/>
              <a:t>5 1 5</a:t>
            </a:r>
          </a:p>
          <a:p>
            <a:pPr marL="0" indent="0">
              <a:buNone/>
            </a:pPr>
            <a:r>
              <a:rPr lang="en-US" altLang="zh-CN" dirty="0"/>
              <a:t>3 3 1 2 5</a:t>
            </a:r>
          </a:p>
          <a:p>
            <a:pPr marL="0" indent="0">
              <a:buNone/>
            </a:pPr>
            <a:endParaRPr lang="en-US" altLang="zh-CN" dirty="0"/>
          </a:p>
          <a:p>
            <a:pPr marL="0" indent="0">
              <a:buNone/>
            </a:pPr>
            <a:r>
              <a:rPr lang="en-US" altLang="zh-CN" dirty="0"/>
              <a:t>Output sample</a:t>
            </a:r>
          </a:p>
          <a:p>
            <a:pPr marL="0" indent="0">
              <a:buNone/>
            </a:pPr>
            <a:r>
              <a:rPr lang="en-US" altLang="zh-CN" dirty="0"/>
              <a:t>3</a:t>
            </a:r>
          </a:p>
          <a:p>
            <a:pPr marL="0" indent="0">
              <a:buNone/>
            </a:pPr>
            <a:endParaRPr lang="en-US" altLang="zh-CN" dirty="0"/>
          </a:p>
          <a:p>
            <a:pPr marL="0" indent="0">
              <a:buNone/>
            </a:pPr>
            <a:r>
              <a:rPr lang="en-US" altLang="zh-CN" i="1" dirty="0"/>
              <a:t>If B cannot be reached, output -1.</a:t>
            </a:r>
          </a:p>
          <a:p>
            <a:pPr marL="0" indent="0">
              <a:buNone/>
            </a:pPr>
            <a:endParaRPr lang="zh-CN" altLang="en-US" dirty="0"/>
          </a:p>
        </p:txBody>
      </p:sp>
      <p:sp>
        <p:nvSpPr>
          <p:cNvPr id="5" name="文本框 4">
            <a:extLst>
              <a:ext uri="{FF2B5EF4-FFF2-40B4-BE49-F238E27FC236}">
                <a16:creationId xmlns:a16="http://schemas.microsoft.com/office/drawing/2014/main" id="{18FD3EBE-92F1-4ADE-AAB1-8D66EC0A55CB}"/>
              </a:ext>
            </a:extLst>
          </p:cNvPr>
          <p:cNvSpPr txBox="1"/>
          <p:nvPr/>
        </p:nvSpPr>
        <p:spPr>
          <a:xfrm>
            <a:off x="8205186" y="3429000"/>
            <a:ext cx="2749859" cy="369332"/>
          </a:xfrm>
          <a:prstGeom prst="rect">
            <a:avLst/>
          </a:prstGeom>
          <a:noFill/>
        </p:spPr>
        <p:txBody>
          <a:bodyPr wrap="square">
            <a:spAutoFit/>
          </a:bodyPr>
          <a:lstStyle/>
          <a:p>
            <a:r>
              <a:rPr lang="zh-CN" altLang="en-US" dirty="0"/>
              <a:t>Implicit graph searching</a:t>
            </a:r>
          </a:p>
        </p:txBody>
      </p:sp>
    </p:spTree>
    <p:extLst>
      <p:ext uri="{BB962C8B-B14F-4D97-AF65-F5344CB8AC3E}">
        <p14:creationId xmlns:p14="http://schemas.microsoft.com/office/powerpoint/2010/main" val="1848884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66268A7-EEB6-4BB9-86DA-307753D0CD80}"/>
              </a:ext>
            </a:extLst>
          </p:cNvPr>
          <p:cNvPicPr>
            <a:picLocks noChangeAspect="1"/>
          </p:cNvPicPr>
          <p:nvPr/>
        </p:nvPicPr>
        <p:blipFill>
          <a:blip r:embed="rId2"/>
          <a:stretch>
            <a:fillRect/>
          </a:stretch>
        </p:blipFill>
        <p:spPr>
          <a:xfrm>
            <a:off x="989306" y="414337"/>
            <a:ext cx="4762500" cy="6029325"/>
          </a:xfrm>
          <a:prstGeom prst="rect">
            <a:avLst/>
          </a:prstGeom>
        </p:spPr>
      </p:pic>
      <p:pic>
        <p:nvPicPr>
          <p:cNvPr id="7" name="图片 6">
            <a:extLst>
              <a:ext uri="{FF2B5EF4-FFF2-40B4-BE49-F238E27FC236}">
                <a16:creationId xmlns:a16="http://schemas.microsoft.com/office/drawing/2014/main" id="{ACF6B9E0-4D00-46AF-AD96-290E684A7A61}"/>
              </a:ext>
            </a:extLst>
          </p:cNvPr>
          <p:cNvPicPr>
            <a:picLocks noChangeAspect="1"/>
          </p:cNvPicPr>
          <p:nvPr/>
        </p:nvPicPr>
        <p:blipFill>
          <a:blip r:embed="rId3"/>
          <a:stretch>
            <a:fillRect/>
          </a:stretch>
        </p:blipFill>
        <p:spPr>
          <a:xfrm>
            <a:off x="6096000" y="2318182"/>
            <a:ext cx="3990975" cy="1600200"/>
          </a:xfrm>
          <a:prstGeom prst="rect">
            <a:avLst/>
          </a:prstGeom>
        </p:spPr>
      </p:pic>
    </p:spTree>
    <p:extLst>
      <p:ext uri="{BB962C8B-B14F-4D97-AF65-F5344CB8AC3E}">
        <p14:creationId xmlns:p14="http://schemas.microsoft.com/office/powerpoint/2010/main" val="1278196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6A16B3-74D1-4DBF-B239-2027D57CEEE2}"/>
              </a:ext>
            </a:extLst>
          </p:cNvPr>
          <p:cNvSpPr>
            <a:spLocks noGrp="1"/>
          </p:cNvSpPr>
          <p:nvPr>
            <p:ph type="title"/>
          </p:nvPr>
        </p:nvSpPr>
        <p:spPr>
          <a:xfrm>
            <a:off x="713912" y="1607999"/>
            <a:ext cx="10515600" cy="1325563"/>
          </a:xfrm>
        </p:spPr>
        <p:txBody>
          <a:bodyPr/>
          <a:lstStyle/>
          <a:p>
            <a:pPr algn="ctr"/>
            <a:r>
              <a:rPr lang="en-US" altLang="zh-CN">
                <a:hlinkClick r:id="rId2" action="ppaction://hlinkfile"/>
              </a:rPr>
              <a:t>Oil Deposits</a:t>
            </a:r>
            <a:endParaRPr lang="zh-CN" altLang="en-US"/>
          </a:p>
        </p:txBody>
      </p:sp>
      <p:sp>
        <p:nvSpPr>
          <p:cNvPr id="4" name="文本框 3">
            <a:extLst>
              <a:ext uri="{FF2B5EF4-FFF2-40B4-BE49-F238E27FC236}">
                <a16:creationId xmlns:a16="http://schemas.microsoft.com/office/drawing/2014/main" id="{A4853C65-705B-451D-926C-2D3CB05FC852}"/>
              </a:ext>
            </a:extLst>
          </p:cNvPr>
          <p:cNvSpPr txBox="1"/>
          <p:nvPr/>
        </p:nvSpPr>
        <p:spPr>
          <a:xfrm>
            <a:off x="3284738" y="3577701"/>
            <a:ext cx="5157926" cy="369332"/>
          </a:xfrm>
          <a:prstGeom prst="rect">
            <a:avLst/>
          </a:prstGeom>
          <a:noFill/>
        </p:spPr>
        <p:txBody>
          <a:bodyPr wrap="square" rtlCol="0">
            <a:spAutoFit/>
          </a:bodyPr>
          <a:lstStyle/>
          <a:p>
            <a:pPr algn="ctr"/>
            <a:r>
              <a:rPr lang="en-US" altLang="zh-CN">
                <a:solidFill>
                  <a:srgbClr val="FF0000"/>
                </a:solidFill>
              </a:rPr>
              <a:t>DFS,</a:t>
            </a:r>
            <a:r>
              <a:rPr lang="zh-CN" altLang="en-US">
                <a:solidFill>
                  <a:srgbClr val="FF0000"/>
                </a:solidFill>
              </a:rPr>
              <a:t> </a:t>
            </a:r>
            <a:r>
              <a:rPr lang="en-US" altLang="zh-CN">
                <a:solidFill>
                  <a:srgbClr val="FF0000"/>
                </a:solidFill>
              </a:rPr>
              <a:t>connected blocks</a:t>
            </a:r>
            <a:endParaRPr lang="zh-CN" altLang="en-US">
              <a:solidFill>
                <a:srgbClr val="FF0000"/>
              </a:solidFill>
            </a:endParaRPr>
          </a:p>
        </p:txBody>
      </p:sp>
    </p:spTree>
    <p:extLst>
      <p:ext uri="{BB962C8B-B14F-4D97-AF65-F5344CB8AC3E}">
        <p14:creationId xmlns:p14="http://schemas.microsoft.com/office/powerpoint/2010/main" val="4264925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5471D-F240-4E47-814F-9B2ED7FFDA5E}"/>
              </a:ext>
            </a:extLst>
          </p:cNvPr>
          <p:cNvSpPr>
            <a:spLocks noGrp="1"/>
          </p:cNvSpPr>
          <p:nvPr>
            <p:ph type="title"/>
          </p:nvPr>
        </p:nvSpPr>
        <p:spPr/>
        <p:txBody>
          <a:bodyPr/>
          <a:lstStyle/>
          <a:p>
            <a:r>
              <a:rPr lang="en-US" altLang="zh-CN"/>
              <a:t>BFS--maze, the shortest path</a:t>
            </a:r>
            <a:endParaRPr lang="zh-CN" altLang="en-US"/>
          </a:p>
        </p:txBody>
      </p:sp>
      <p:pic>
        <p:nvPicPr>
          <p:cNvPr id="5" name="图片 4">
            <a:extLst>
              <a:ext uri="{FF2B5EF4-FFF2-40B4-BE49-F238E27FC236}">
                <a16:creationId xmlns:a16="http://schemas.microsoft.com/office/drawing/2014/main" id="{B91D6906-C3F2-44C2-AA69-06190639EC7B}"/>
              </a:ext>
            </a:extLst>
          </p:cNvPr>
          <p:cNvPicPr>
            <a:picLocks noChangeAspect="1"/>
          </p:cNvPicPr>
          <p:nvPr/>
        </p:nvPicPr>
        <p:blipFill>
          <a:blip r:embed="rId2"/>
          <a:stretch>
            <a:fillRect/>
          </a:stretch>
        </p:blipFill>
        <p:spPr>
          <a:xfrm>
            <a:off x="1575047" y="1486501"/>
            <a:ext cx="8723809" cy="4285714"/>
          </a:xfrm>
          <a:prstGeom prst="rect">
            <a:avLst/>
          </a:prstGeom>
        </p:spPr>
      </p:pic>
      <p:sp>
        <p:nvSpPr>
          <p:cNvPr id="6" name="文本框 5">
            <a:extLst>
              <a:ext uri="{FF2B5EF4-FFF2-40B4-BE49-F238E27FC236}">
                <a16:creationId xmlns:a16="http://schemas.microsoft.com/office/drawing/2014/main" id="{4FE7CFB6-E913-4060-AA6D-3124E86A9EFE}"/>
              </a:ext>
            </a:extLst>
          </p:cNvPr>
          <p:cNvSpPr txBox="1"/>
          <p:nvPr/>
        </p:nvSpPr>
        <p:spPr>
          <a:xfrm>
            <a:off x="1695635" y="5903650"/>
            <a:ext cx="3284738" cy="369332"/>
          </a:xfrm>
          <a:prstGeom prst="rect">
            <a:avLst/>
          </a:prstGeom>
          <a:noFill/>
        </p:spPr>
        <p:txBody>
          <a:bodyPr wrap="square" rtlCol="0">
            <a:spAutoFit/>
          </a:bodyPr>
          <a:lstStyle/>
          <a:p>
            <a:r>
              <a:rPr lang="en-US" altLang="zh-CN"/>
              <a:t>The shortest path</a:t>
            </a:r>
            <a:endParaRPr lang="zh-CN" altLang="en-US"/>
          </a:p>
        </p:txBody>
      </p:sp>
      <p:sp>
        <p:nvSpPr>
          <p:cNvPr id="9" name="文本框 8">
            <a:extLst>
              <a:ext uri="{FF2B5EF4-FFF2-40B4-BE49-F238E27FC236}">
                <a16:creationId xmlns:a16="http://schemas.microsoft.com/office/drawing/2014/main" id="{29C4C50D-7DB5-483F-80ED-6D88190CF313}"/>
              </a:ext>
            </a:extLst>
          </p:cNvPr>
          <p:cNvSpPr txBox="1"/>
          <p:nvPr/>
        </p:nvSpPr>
        <p:spPr>
          <a:xfrm>
            <a:off x="6010183" y="5846853"/>
            <a:ext cx="5325862" cy="369332"/>
          </a:xfrm>
          <a:prstGeom prst="rect">
            <a:avLst/>
          </a:prstGeom>
          <a:noFill/>
        </p:spPr>
        <p:txBody>
          <a:bodyPr wrap="square" rtlCol="0">
            <a:spAutoFit/>
          </a:bodyPr>
          <a:lstStyle/>
          <a:p>
            <a:r>
              <a:rPr lang="en-US" altLang="zh-CN" dirty="0"/>
              <a:t>The order of entering the queue (up down left right)</a:t>
            </a:r>
            <a:endParaRPr lang="zh-CN" altLang="en-US" dirty="0"/>
          </a:p>
        </p:txBody>
      </p:sp>
    </p:spTree>
    <p:extLst>
      <p:ext uri="{BB962C8B-B14F-4D97-AF65-F5344CB8AC3E}">
        <p14:creationId xmlns:p14="http://schemas.microsoft.com/office/powerpoint/2010/main" val="510318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520DA04-206A-417E-900A-94A7FA5CFAA3}"/>
              </a:ext>
            </a:extLst>
          </p:cNvPr>
          <p:cNvPicPr>
            <a:picLocks noChangeAspect="1"/>
          </p:cNvPicPr>
          <p:nvPr/>
        </p:nvPicPr>
        <p:blipFill>
          <a:blip r:embed="rId2"/>
          <a:stretch>
            <a:fillRect/>
          </a:stretch>
        </p:blipFill>
        <p:spPr>
          <a:xfrm>
            <a:off x="1438857" y="1952809"/>
            <a:ext cx="9314286" cy="2952381"/>
          </a:xfrm>
          <a:prstGeom prst="rect">
            <a:avLst/>
          </a:prstGeom>
        </p:spPr>
      </p:pic>
      <p:sp>
        <p:nvSpPr>
          <p:cNvPr id="6" name="标题 5">
            <a:extLst>
              <a:ext uri="{FF2B5EF4-FFF2-40B4-BE49-F238E27FC236}">
                <a16:creationId xmlns:a16="http://schemas.microsoft.com/office/drawing/2014/main" id="{3086DF9D-D06B-4D5E-804C-B744B36BA993}"/>
              </a:ext>
            </a:extLst>
          </p:cNvPr>
          <p:cNvSpPr>
            <a:spLocks noGrp="1"/>
          </p:cNvSpPr>
          <p:nvPr>
            <p:ph type="title"/>
          </p:nvPr>
        </p:nvSpPr>
        <p:spPr/>
        <p:txBody>
          <a:bodyPr/>
          <a:lstStyle/>
          <a:p>
            <a:r>
              <a:rPr lang="en-US" altLang="zh-CN"/>
              <a:t>BFS Tree</a:t>
            </a:r>
            <a:endParaRPr lang="zh-CN" altLang="en-US"/>
          </a:p>
        </p:txBody>
      </p:sp>
    </p:spTree>
    <p:extLst>
      <p:ext uri="{BB962C8B-B14F-4D97-AF65-F5344CB8AC3E}">
        <p14:creationId xmlns:p14="http://schemas.microsoft.com/office/powerpoint/2010/main" val="1248790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6A16B3-74D1-4DBF-B239-2027D57CEEE2}"/>
              </a:ext>
            </a:extLst>
          </p:cNvPr>
          <p:cNvSpPr>
            <a:spLocks noGrp="1"/>
          </p:cNvSpPr>
          <p:nvPr>
            <p:ph type="title"/>
          </p:nvPr>
        </p:nvSpPr>
        <p:spPr>
          <a:xfrm>
            <a:off x="634012" y="-11350"/>
            <a:ext cx="10515600" cy="1325563"/>
          </a:xfrm>
        </p:spPr>
        <p:txBody>
          <a:bodyPr/>
          <a:lstStyle/>
          <a:p>
            <a:pPr algn="ctr"/>
            <a:r>
              <a:rPr lang="en-US" altLang="zh-CN">
                <a:hlinkClick r:id="rId2" action="ppaction://hlinkfile"/>
              </a:rPr>
              <a:t>Abbott’s Revenge</a:t>
            </a:r>
            <a:endParaRPr lang="zh-CN" altLang="en-US"/>
          </a:p>
        </p:txBody>
      </p:sp>
      <p:pic>
        <p:nvPicPr>
          <p:cNvPr id="5" name="图片 4">
            <a:extLst>
              <a:ext uri="{FF2B5EF4-FFF2-40B4-BE49-F238E27FC236}">
                <a16:creationId xmlns:a16="http://schemas.microsoft.com/office/drawing/2014/main" id="{97B64CF5-81A8-4FED-9026-3EF90E8EED9C}"/>
              </a:ext>
            </a:extLst>
          </p:cNvPr>
          <p:cNvPicPr>
            <a:picLocks noChangeAspect="1"/>
          </p:cNvPicPr>
          <p:nvPr/>
        </p:nvPicPr>
        <p:blipFill>
          <a:blip r:embed="rId3"/>
          <a:stretch>
            <a:fillRect/>
          </a:stretch>
        </p:blipFill>
        <p:spPr>
          <a:xfrm>
            <a:off x="8420921" y="367916"/>
            <a:ext cx="3563192" cy="4281250"/>
          </a:xfrm>
          <a:prstGeom prst="rect">
            <a:avLst/>
          </a:prstGeom>
        </p:spPr>
      </p:pic>
      <p:pic>
        <p:nvPicPr>
          <p:cNvPr id="7" name="图片 6">
            <a:extLst>
              <a:ext uri="{FF2B5EF4-FFF2-40B4-BE49-F238E27FC236}">
                <a16:creationId xmlns:a16="http://schemas.microsoft.com/office/drawing/2014/main" id="{DED49C4F-E9AB-4B9F-98CB-CC8DCCCD29A3}"/>
              </a:ext>
            </a:extLst>
          </p:cNvPr>
          <p:cNvPicPr>
            <a:picLocks noChangeAspect="1"/>
          </p:cNvPicPr>
          <p:nvPr/>
        </p:nvPicPr>
        <p:blipFill>
          <a:blip r:embed="rId4"/>
          <a:stretch>
            <a:fillRect/>
          </a:stretch>
        </p:blipFill>
        <p:spPr>
          <a:xfrm>
            <a:off x="634012" y="543751"/>
            <a:ext cx="2961905" cy="4314286"/>
          </a:xfrm>
          <a:prstGeom prst="rect">
            <a:avLst/>
          </a:prstGeom>
        </p:spPr>
      </p:pic>
      <p:pic>
        <p:nvPicPr>
          <p:cNvPr id="9" name="图片 8">
            <a:extLst>
              <a:ext uri="{FF2B5EF4-FFF2-40B4-BE49-F238E27FC236}">
                <a16:creationId xmlns:a16="http://schemas.microsoft.com/office/drawing/2014/main" id="{B56FF06C-7AF4-4506-81F8-031CEF588224}"/>
              </a:ext>
            </a:extLst>
          </p:cNvPr>
          <p:cNvPicPr>
            <a:picLocks noChangeAspect="1"/>
          </p:cNvPicPr>
          <p:nvPr/>
        </p:nvPicPr>
        <p:blipFill>
          <a:blip r:embed="rId5"/>
          <a:stretch>
            <a:fillRect/>
          </a:stretch>
        </p:blipFill>
        <p:spPr>
          <a:xfrm>
            <a:off x="1405607" y="4589248"/>
            <a:ext cx="10152381" cy="1942857"/>
          </a:xfrm>
          <a:prstGeom prst="rect">
            <a:avLst/>
          </a:prstGeom>
        </p:spPr>
      </p:pic>
    </p:spTree>
    <p:extLst>
      <p:ext uri="{BB962C8B-B14F-4D97-AF65-F5344CB8AC3E}">
        <p14:creationId xmlns:p14="http://schemas.microsoft.com/office/powerpoint/2010/main" val="1886596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211586-6E37-4825-AE32-0C4D2C324628}"/>
              </a:ext>
            </a:extLst>
          </p:cNvPr>
          <p:cNvSpPr>
            <a:spLocks noGrp="1"/>
          </p:cNvSpPr>
          <p:nvPr>
            <p:ph type="title"/>
          </p:nvPr>
        </p:nvSpPr>
        <p:spPr/>
        <p:txBody>
          <a:bodyPr/>
          <a:lstStyle/>
          <a:p>
            <a:r>
              <a:rPr lang="en-US" altLang="zh-CN" dirty="0"/>
              <a:t>DFS--topological sorting</a:t>
            </a:r>
            <a:endParaRPr lang="zh-CN" altLang="en-US" dirty="0"/>
          </a:p>
        </p:txBody>
      </p:sp>
      <p:sp>
        <p:nvSpPr>
          <p:cNvPr id="3" name="内容占位符 2">
            <a:extLst>
              <a:ext uri="{FF2B5EF4-FFF2-40B4-BE49-F238E27FC236}">
                <a16:creationId xmlns:a16="http://schemas.microsoft.com/office/drawing/2014/main" id="{997CBC3A-25B0-4B5D-9923-CD9489A9F090}"/>
              </a:ext>
            </a:extLst>
          </p:cNvPr>
          <p:cNvSpPr>
            <a:spLocks noGrp="1"/>
          </p:cNvSpPr>
          <p:nvPr>
            <p:ph idx="1"/>
          </p:nvPr>
        </p:nvSpPr>
        <p:spPr/>
        <p:txBody>
          <a:bodyPr/>
          <a:lstStyle/>
          <a:p>
            <a:r>
              <a:rPr lang="zh-CN" altLang="en-US" dirty="0"/>
              <a:t>给定有向无环图（简称</a:t>
            </a:r>
            <a:r>
              <a:rPr lang="en-US" altLang="zh-CN" dirty="0"/>
              <a:t>DAG</a:t>
            </a:r>
            <a:r>
              <a:rPr lang="zh-CN" altLang="en-US" dirty="0"/>
              <a:t>）</a:t>
            </a:r>
            <a:r>
              <a:rPr lang="en-US" altLang="zh-CN" dirty="0"/>
              <a:t>G=</a:t>
            </a:r>
            <a:r>
              <a:rPr lang="zh-CN" altLang="en-US" dirty="0"/>
              <a:t>（</a:t>
            </a:r>
            <a:r>
              <a:rPr lang="en-US" altLang="zh-CN" dirty="0"/>
              <a:t>V</a:t>
            </a:r>
            <a:r>
              <a:rPr lang="zh-CN" altLang="en-US" dirty="0"/>
              <a:t>，</a:t>
            </a:r>
            <a:r>
              <a:rPr lang="en-US" altLang="zh-CN" dirty="0"/>
              <a:t>E</a:t>
            </a:r>
            <a:r>
              <a:rPr lang="zh-CN" altLang="en-US" dirty="0"/>
              <a:t>），拓扑排序的问题是找到其顶点的线性排序，使得如果（</a:t>
            </a:r>
            <a:r>
              <a:rPr lang="en-US" altLang="zh-CN" dirty="0"/>
              <a:t>V</a:t>
            </a:r>
            <a:r>
              <a:rPr lang="zh-CN" altLang="en-US" dirty="0"/>
              <a:t>，</a:t>
            </a:r>
            <a:r>
              <a:rPr lang="en-US" altLang="zh-CN" dirty="0"/>
              <a:t>w</a:t>
            </a:r>
            <a:r>
              <a:rPr lang="zh-CN" altLang="en-US" dirty="0"/>
              <a:t>）∈</a:t>
            </a:r>
            <a:r>
              <a:rPr lang="en-US" altLang="zh-CN" dirty="0"/>
              <a:t>E</a:t>
            </a:r>
            <a:r>
              <a:rPr lang="zh-CN" altLang="en-US" dirty="0"/>
              <a:t>，则</a:t>
            </a:r>
            <a:r>
              <a:rPr lang="en-US" altLang="zh-CN" dirty="0"/>
              <a:t>V</a:t>
            </a:r>
            <a:r>
              <a:rPr lang="zh-CN" altLang="en-US" dirty="0"/>
              <a:t>出现在排序中的</a:t>
            </a:r>
            <a:r>
              <a:rPr lang="en-US" altLang="zh-CN" dirty="0"/>
              <a:t>w</a:t>
            </a:r>
            <a:r>
              <a:rPr lang="zh-CN" altLang="en-US" dirty="0"/>
              <a:t>之前。</a:t>
            </a:r>
            <a:endParaRPr lang="en-US" altLang="zh-CN" dirty="0"/>
          </a:p>
          <a:p>
            <a:r>
              <a:rPr lang="zh-CN" altLang="en-US" dirty="0"/>
              <a:t>我们假设</a:t>
            </a:r>
            <a:r>
              <a:rPr lang="en-US" altLang="zh-CN" dirty="0" err="1"/>
              <a:t>dag</a:t>
            </a:r>
            <a:r>
              <a:rPr lang="zh-CN" altLang="en-US" dirty="0"/>
              <a:t>只有一个顶点，比如</a:t>
            </a:r>
            <a:r>
              <a:rPr lang="en-US" altLang="zh-CN" dirty="0"/>
              <a:t>s</a:t>
            </a:r>
            <a:r>
              <a:rPr lang="zh-CN" altLang="en-US" dirty="0"/>
              <a:t>，为</a:t>
            </a:r>
            <a:r>
              <a:rPr lang="en-US" altLang="zh-CN" dirty="0"/>
              <a:t>0</a:t>
            </a:r>
            <a:r>
              <a:rPr lang="zh-CN" altLang="en-US" dirty="0"/>
              <a:t>次幂。如果不是，我们可以简单地将一个新的顶点</a:t>
            </a:r>
            <a:r>
              <a:rPr lang="en-US" altLang="zh-CN" dirty="0"/>
              <a:t>s</a:t>
            </a:r>
            <a:r>
              <a:rPr lang="zh-CN" altLang="en-US" dirty="0"/>
              <a:t>和来自</a:t>
            </a:r>
            <a:r>
              <a:rPr lang="en-US" altLang="zh-CN" dirty="0"/>
              <a:t>s</a:t>
            </a:r>
            <a:r>
              <a:rPr lang="zh-CN" altLang="en-US" dirty="0"/>
              <a:t>的边添加到</a:t>
            </a:r>
            <a:r>
              <a:rPr lang="en-US" altLang="zh-CN" dirty="0"/>
              <a:t>0</a:t>
            </a:r>
            <a:r>
              <a:rPr lang="zh-CN" altLang="en-US" dirty="0"/>
              <a:t>次幂的所有顶点（见图（</a:t>
            </a:r>
            <a:r>
              <a:rPr lang="en-US" altLang="zh-CN" dirty="0"/>
              <a:t>b</a:t>
            </a:r>
            <a:r>
              <a:rPr lang="zh-CN" altLang="en-US" dirty="0"/>
              <a:t>））。</a:t>
            </a:r>
            <a:endParaRPr lang="en-US" altLang="zh-CN" dirty="0"/>
          </a:p>
          <a:p>
            <a:pPr marL="0" indent="0">
              <a:buNone/>
            </a:pPr>
            <a:endParaRPr lang="en-US" altLang="zh-CN" dirty="0"/>
          </a:p>
          <a:p>
            <a:endParaRPr lang="zh-CN" altLang="en-US" dirty="0"/>
          </a:p>
        </p:txBody>
      </p:sp>
      <p:pic>
        <p:nvPicPr>
          <p:cNvPr id="5" name="图片 4">
            <a:extLst>
              <a:ext uri="{FF2B5EF4-FFF2-40B4-BE49-F238E27FC236}">
                <a16:creationId xmlns:a16="http://schemas.microsoft.com/office/drawing/2014/main" id="{C034B70D-B870-4A11-BDB4-0EE5F7235CDD}"/>
              </a:ext>
            </a:extLst>
          </p:cNvPr>
          <p:cNvPicPr>
            <a:picLocks noChangeAspect="1"/>
          </p:cNvPicPr>
          <p:nvPr/>
        </p:nvPicPr>
        <p:blipFill>
          <a:blip r:embed="rId2"/>
          <a:stretch>
            <a:fillRect/>
          </a:stretch>
        </p:blipFill>
        <p:spPr>
          <a:xfrm>
            <a:off x="4634388" y="4700958"/>
            <a:ext cx="6719412" cy="1998895"/>
          </a:xfrm>
          <a:prstGeom prst="rect">
            <a:avLst/>
          </a:prstGeom>
        </p:spPr>
      </p:pic>
    </p:spTree>
    <p:extLst>
      <p:ext uri="{BB962C8B-B14F-4D97-AF65-F5344CB8AC3E}">
        <p14:creationId xmlns:p14="http://schemas.microsoft.com/office/powerpoint/2010/main" val="1444596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784A754-B148-48F9-85C0-7683AE49655F}"/>
              </a:ext>
            </a:extLst>
          </p:cNvPr>
          <p:cNvSpPr>
            <a:spLocks noGrp="1"/>
          </p:cNvSpPr>
          <p:nvPr>
            <p:ph idx="1"/>
          </p:nvPr>
        </p:nvSpPr>
        <p:spPr/>
        <p:txBody>
          <a:bodyPr/>
          <a:lstStyle/>
          <a:p>
            <a:r>
              <a:rPr lang="zh-CN" altLang="en-US" dirty="0"/>
              <a:t>我们简单地从顶点</a:t>
            </a:r>
            <a:r>
              <a:rPr lang="en-US" altLang="zh-CN" dirty="0"/>
              <a:t>s</a:t>
            </a:r>
            <a:r>
              <a:rPr lang="zh-CN" altLang="en-US" dirty="0"/>
              <a:t>开始对</a:t>
            </a:r>
            <a:r>
              <a:rPr lang="en-US" altLang="zh-CN" dirty="0"/>
              <a:t>G</a:t>
            </a:r>
            <a:r>
              <a:rPr lang="zh-CN" altLang="en-US" dirty="0"/>
              <a:t>进行深度优先搜索。当遍历完成时，计数器</a:t>
            </a:r>
            <a:r>
              <a:rPr lang="en-US" altLang="zh-CN" dirty="0" err="1"/>
              <a:t>postdfn</a:t>
            </a:r>
            <a:r>
              <a:rPr lang="zh-CN" altLang="en-US" dirty="0"/>
              <a:t>的值定义了</a:t>
            </a:r>
            <a:r>
              <a:rPr lang="en-US" altLang="zh-CN" dirty="0" err="1"/>
              <a:t>dag</a:t>
            </a:r>
            <a:r>
              <a:rPr lang="zh-CN" altLang="en-US" dirty="0"/>
              <a:t>中顶点的反向拓扑排序。</a:t>
            </a:r>
            <a:endParaRPr lang="en-US" altLang="zh-CN" dirty="0"/>
          </a:p>
          <a:p>
            <a:r>
              <a:rPr lang="zh-CN" altLang="en-US" dirty="0"/>
              <a:t>为了获得排序，我们可以在计数器</a:t>
            </a:r>
            <a:r>
              <a:rPr lang="en-US" altLang="zh-CN" dirty="0" err="1"/>
              <a:t>postdfn</a:t>
            </a:r>
            <a:r>
              <a:rPr lang="zh-CN" altLang="en-US" dirty="0"/>
              <a:t>增加之后向算法</a:t>
            </a:r>
            <a:r>
              <a:rPr lang="en-US" altLang="zh-CN" dirty="0"/>
              <a:t>DFS</a:t>
            </a:r>
            <a:r>
              <a:rPr lang="zh-CN" altLang="en-US" dirty="0"/>
              <a:t>添加一个输出步骤。将得到的输出反转以获得所需的拓扑排序。</a:t>
            </a:r>
          </a:p>
        </p:txBody>
      </p:sp>
    </p:spTree>
    <p:extLst>
      <p:ext uri="{BB962C8B-B14F-4D97-AF65-F5344CB8AC3E}">
        <p14:creationId xmlns:p14="http://schemas.microsoft.com/office/powerpoint/2010/main" val="4193695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6A16B3-74D1-4DBF-B239-2027D57CEEE2}"/>
              </a:ext>
            </a:extLst>
          </p:cNvPr>
          <p:cNvSpPr>
            <a:spLocks noGrp="1"/>
          </p:cNvSpPr>
          <p:nvPr>
            <p:ph type="title"/>
          </p:nvPr>
        </p:nvSpPr>
        <p:spPr>
          <a:xfrm>
            <a:off x="838200" y="1944210"/>
            <a:ext cx="10515600" cy="1325563"/>
          </a:xfrm>
        </p:spPr>
        <p:txBody>
          <a:bodyPr/>
          <a:lstStyle/>
          <a:p>
            <a:pPr algn="ctr"/>
            <a:r>
              <a:rPr lang="en-US" altLang="zh-CN">
                <a:hlinkClick r:id="rId2" action="ppaction://hlinkfile"/>
              </a:rPr>
              <a:t>Ordering Tasks</a:t>
            </a:r>
            <a:endParaRPr lang="zh-CN" altLang="en-US"/>
          </a:p>
        </p:txBody>
      </p:sp>
    </p:spTree>
    <p:extLst>
      <p:ext uri="{BB962C8B-B14F-4D97-AF65-F5344CB8AC3E}">
        <p14:creationId xmlns:p14="http://schemas.microsoft.com/office/powerpoint/2010/main" val="2565788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8BAD12-C5A7-41F5-943E-CFE6C40B3A64}"/>
              </a:ext>
            </a:extLst>
          </p:cNvPr>
          <p:cNvSpPr>
            <a:spLocks noGrp="1"/>
          </p:cNvSpPr>
          <p:nvPr>
            <p:ph type="title"/>
          </p:nvPr>
        </p:nvSpPr>
        <p:spPr/>
        <p:txBody>
          <a:bodyPr/>
          <a:lstStyle/>
          <a:p>
            <a:r>
              <a:rPr lang="en-US" altLang="zh-CN" b="0" i="0">
                <a:solidFill>
                  <a:srgbClr val="000000"/>
                </a:solidFill>
                <a:effectLst/>
                <a:latin typeface="Linux Libertine"/>
              </a:rPr>
              <a:t>Seven Bridges of Königsberg</a:t>
            </a:r>
            <a:endParaRPr lang="zh-CN" altLang="en-US"/>
          </a:p>
        </p:txBody>
      </p:sp>
      <p:pic>
        <p:nvPicPr>
          <p:cNvPr id="5" name="图片 4">
            <a:extLst>
              <a:ext uri="{FF2B5EF4-FFF2-40B4-BE49-F238E27FC236}">
                <a16:creationId xmlns:a16="http://schemas.microsoft.com/office/drawing/2014/main" id="{C32741BD-4188-44EB-BD39-D9DA2663B514}"/>
              </a:ext>
            </a:extLst>
          </p:cNvPr>
          <p:cNvPicPr>
            <a:picLocks noChangeAspect="1"/>
          </p:cNvPicPr>
          <p:nvPr/>
        </p:nvPicPr>
        <p:blipFill>
          <a:blip r:embed="rId2"/>
          <a:stretch>
            <a:fillRect/>
          </a:stretch>
        </p:blipFill>
        <p:spPr>
          <a:xfrm>
            <a:off x="726255" y="1581381"/>
            <a:ext cx="8076190" cy="1847619"/>
          </a:xfrm>
          <a:prstGeom prst="rect">
            <a:avLst/>
          </a:prstGeom>
        </p:spPr>
      </p:pic>
      <p:sp>
        <p:nvSpPr>
          <p:cNvPr id="6" name="文本框 5">
            <a:extLst>
              <a:ext uri="{FF2B5EF4-FFF2-40B4-BE49-F238E27FC236}">
                <a16:creationId xmlns:a16="http://schemas.microsoft.com/office/drawing/2014/main" id="{70781202-3533-4360-A586-F3E21246111A}"/>
              </a:ext>
            </a:extLst>
          </p:cNvPr>
          <p:cNvSpPr txBox="1"/>
          <p:nvPr/>
        </p:nvSpPr>
        <p:spPr>
          <a:xfrm>
            <a:off x="479394" y="3429000"/>
            <a:ext cx="11105965" cy="646331"/>
          </a:xfrm>
          <a:prstGeom prst="rect">
            <a:avLst/>
          </a:prstGeom>
          <a:noFill/>
        </p:spPr>
        <p:txBody>
          <a:bodyPr wrap="square" rtlCol="0">
            <a:spAutoFit/>
          </a:bodyPr>
          <a:lstStyle/>
          <a:p>
            <a:r>
              <a:rPr lang="zh-CN" altLang="en-US" dirty="0"/>
              <a:t>柯尼斯堡的七座桥是历史上著名的数学问题。</a:t>
            </a:r>
            <a:r>
              <a:rPr lang="en-US" altLang="zh-CN" dirty="0"/>
              <a:t>1736</a:t>
            </a:r>
            <a:r>
              <a:rPr lang="zh-CN" altLang="en-US" dirty="0"/>
              <a:t>年</a:t>
            </a:r>
            <a:r>
              <a:rPr lang="en-US" altLang="zh-CN" dirty="0"/>
              <a:t>Leonhard Euler</a:t>
            </a:r>
            <a:r>
              <a:rPr lang="zh-CN" altLang="en-US" dirty="0"/>
              <a:t>对它的负分解奠定了图论的基础，预示了拓扑学的思想。</a:t>
            </a:r>
          </a:p>
        </p:txBody>
      </p:sp>
      <p:sp>
        <p:nvSpPr>
          <p:cNvPr id="7" name="文本框 6">
            <a:extLst>
              <a:ext uri="{FF2B5EF4-FFF2-40B4-BE49-F238E27FC236}">
                <a16:creationId xmlns:a16="http://schemas.microsoft.com/office/drawing/2014/main" id="{56737299-78EA-4855-88F6-D7BF980A4A71}"/>
              </a:ext>
            </a:extLst>
          </p:cNvPr>
          <p:cNvSpPr txBox="1"/>
          <p:nvPr/>
        </p:nvSpPr>
        <p:spPr>
          <a:xfrm>
            <a:off x="479393" y="4157191"/>
            <a:ext cx="11105965" cy="369332"/>
          </a:xfrm>
          <a:prstGeom prst="rect">
            <a:avLst/>
          </a:prstGeom>
          <a:noFill/>
        </p:spPr>
        <p:txBody>
          <a:bodyPr wrap="square" rtlCol="0">
            <a:spAutoFit/>
          </a:bodyPr>
          <a:lstStyle/>
          <a:p>
            <a:r>
              <a:rPr lang="zh-CN" altLang="en-US" dirty="0"/>
              <a:t>问题是设计一条穿过城市的步道，穿过每座桥一次，而且只有一次。</a:t>
            </a:r>
          </a:p>
        </p:txBody>
      </p:sp>
      <p:sp>
        <p:nvSpPr>
          <p:cNvPr id="8" name="文本框 7">
            <a:extLst>
              <a:ext uri="{FF2B5EF4-FFF2-40B4-BE49-F238E27FC236}">
                <a16:creationId xmlns:a16="http://schemas.microsoft.com/office/drawing/2014/main" id="{B76E2779-AEB3-4E04-AF74-E2096F00A8A8}"/>
              </a:ext>
            </a:extLst>
          </p:cNvPr>
          <p:cNvSpPr txBox="1"/>
          <p:nvPr/>
        </p:nvSpPr>
        <p:spPr>
          <a:xfrm>
            <a:off x="443143" y="4549676"/>
            <a:ext cx="11105965" cy="1477328"/>
          </a:xfrm>
          <a:prstGeom prst="rect">
            <a:avLst/>
          </a:prstGeom>
          <a:noFill/>
        </p:spPr>
        <p:txBody>
          <a:bodyPr wrap="square" rtlCol="0">
            <a:spAutoFit/>
          </a:bodyPr>
          <a:lstStyle/>
          <a:p>
            <a:r>
              <a:rPr lang="en-US" altLang="zh-CN"/>
              <a:t>Euler</a:t>
            </a:r>
            <a:r>
              <a:rPr lang="zh-CN" altLang="en-US"/>
              <a:t>观察到（除了在行走的端点），无论何时通过桥进入顶点，都会通过桥离开顶点。换句话说，在图中的任何行走过程中，一个人进入非终点顶点的次数等于离开该顶点的次数。现在，如果每座桥都经过了一次，那么对于每一块陆地（除了选择的起点和终点），接触该陆地的桥梁数量必须是偶数。然而，原始问题中的所有四个地块都被奇数座桥所触及（一座被</a:t>
            </a:r>
            <a:r>
              <a:rPr lang="en-US" altLang="zh-CN"/>
              <a:t>5</a:t>
            </a:r>
            <a:r>
              <a:rPr lang="zh-CN" altLang="en-US"/>
              <a:t>座桥所碰触，其他三座分别被</a:t>
            </a:r>
            <a:r>
              <a:rPr lang="en-US" altLang="zh-CN"/>
              <a:t>3</a:t>
            </a:r>
            <a:r>
              <a:rPr lang="zh-CN" altLang="en-US"/>
              <a:t>座桥所触碰）。由于最多两块土地可以作为步行的终点，因此步行穿过每座桥的命题一度导致矛盾。</a:t>
            </a:r>
            <a:endParaRPr lang="zh-CN" altLang="en-US" dirty="0"/>
          </a:p>
        </p:txBody>
      </p:sp>
    </p:spTree>
    <p:extLst>
      <p:ext uri="{BB962C8B-B14F-4D97-AF65-F5344CB8AC3E}">
        <p14:creationId xmlns:p14="http://schemas.microsoft.com/office/powerpoint/2010/main" val="3244691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EA7BD6-E6A0-4F19-92FC-D7F14EF486C2}"/>
              </a:ext>
            </a:extLst>
          </p:cNvPr>
          <p:cNvSpPr>
            <a:spLocks noGrp="1"/>
          </p:cNvSpPr>
          <p:nvPr>
            <p:ph type="title"/>
          </p:nvPr>
        </p:nvSpPr>
        <p:spPr/>
        <p:txBody>
          <a:bodyPr/>
          <a:lstStyle/>
          <a:p>
            <a:r>
              <a:rPr lang="en-US" altLang="zh-CN"/>
              <a:t>Eulerian path and Eulerian cycle</a:t>
            </a:r>
            <a:endParaRPr lang="zh-CN" altLang="en-US"/>
          </a:p>
        </p:txBody>
      </p:sp>
      <p:sp>
        <p:nvSpPr>
          <p:cNvPr id="3" name="内容占位符 2">
            <a:extLst>
              <a:ext uri="{FF2B5EF4-FFF2-40B4-BE49-F238E27FC236}">
                <a16:creationId xmlns:a16="http://schemas.microsoft.com/office/drawing/2014/main" id="{75868CB0-45F8-4269-948C-E8D1CBD8045E}"/>
              </a:ext>
            </a:extLst>
          </p:cNvPr>
          <p:cNvSpPr>
            <a:spLocks noGrp="1"/>
          </p:cNvSpPr>
          <p:nvPr>
            <p:ph idx="1"/>
          </p:nvPr>
        </p:nvSpPr>
        <p:spPr/>
        <p:txBody>
          <a:bodyPr/>
          <a:lstStyle/>
          <a:p>
            <a:r>
              <a:rPr lang="zh-CN" altLang="en-US" dirty="0"/>
              <a:t>对于欧拉路径的存在，零个或两个顶点具有奇数阶是必要的。如果不存在奇数阶顶点，则所有欧拉路径都是回路。如果恰好有两个奇数阶的顶点，则所有欧拉路径都从其中一个顶点开始，到另一个顶点结束。</a:t>
            </a:r>
            <a:endParaRPr lang="en-US" altLang="zh-CN" dirty="0"/>
          </a:p>
          <a:p>
            <a:r>
              <a:rPr lang="zh-CN" altLang="en-US" dirty="0"/>
              <a:t>欧拉证明了欧拉环存在的一个必要条件是图中的所有顶点都具有偶度。</a:t>
            </a:r>
            <a:endParaRPr lang="en-US" altLang="zh-CN" dirty="0"/>
          </a:p>
        </p:txBody>
      </p:sp>
    </p:spTree>
    <p:extLst>
      <p:ext uri="{BB962C8B-B14F-4D97-AF65-F5344CB8AC3E}">
        <p14:creationId xmlns:p14="http://schemas.microsoft.com/office/powerpoint/2010/main" val="767694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07CC1D-295E-4DA0-8685-D4B54D40839F}"/>
              </a:ext>
            </a:extLst>
          </p:cNvPr>
          <p:cNvSpPr>
            <a:spLocks noGrp="1"/>
          </p:cNvSpPr>
          <p:nvPr>
            <p:ph type="title"/>
          </p:nvPr>
        </p:nvSpPr>
        <p:spPr/>
        <p:txBody>
          <a:bodyPr/>
          <a:lstStyle/>
          <a:p>
            <a:r>
              <a:rPr lang="en-US" altLang="zh-CN"/>
              <a:t>Properties</a:t>
            </a:r>
            <a:endParaRPr lang="zh-CN" altLang="en-US"/>
          </a:p>
        </p:txBody>
      </p:sp>
      <p:sp>
        <p:nvSpPr>
          <p:cNvPr id="3" name="内容占位符 2">
            <a:extLst>
              <a:ext uri="{FF2B5EF4-FFF2-40B4-BE49-F238E27FC236}">
                <a16:creationId xmlns:a16="http://schemas.microsoft.com/office/drawing/2014/main" id="{DAE291C5-3F03-4FA6-BD49-92BD92E9B4EE}"/>
              </a:ext>
            </a:extLst>
          </p:cNvPr>
          <p:cNvSpPr>
            <a:spLocks noGrp="1"/>
          </p:cNvSpPr>
          <p:nvPr>
            <p:ph idx="1"/>
          </p:nvPr>
        </p:nvSpPr>
        <p:spPr/>
        <p:txBody>
          <a:bodyPr>
            <a:normAutofit/>
          </a:bodyPr>
          <a:lstStyle/>
          <a:p>
            <a:pPr algn="l">
              <a:buFont typeface="Arial" panose="020B0604020202020204" pitchFamily="34" charset="0"/>
              <a:buChar char="•"/>
            </a:pPr>
            <a:r>
              <a:rPr lang="zh-CN" altLang="en-US" b="0" i="0" dirty="0">
                <a:solidFill>
                  <a:srgbClr val="FF0000"/>
                </a:solidFill>
                <a:effectLst/>
                <a:latin typeface="Arial" panose="020B0604020202020204" pitchFamily="34" charset="0"/>
              </a:rPr>
              <a:t>无向图有一个欧拉环当且仅当每个顶点都有偶度，且其所有非零度的顶点都属于一个连通分量。无向图具有欧拉路径当且仅当恰好零个或两个顶点具有奇数阶，并且其所有具有非零阶的顶点都属于单个连通分量。</a:t>
            </a:r>
            <a:endParaRPr lang="en-US" altLang="zh-CN" b="0" i="0" dirty="0">
              <a:solidFill>
                <a:srgbClr val="FF0000"/>
              </a:solidFill>
              <a:effectLst/>
              <a:latin typeface="Arial" panose="020B0604020202020204" pitchFamily="34" charset="0"/>
            </a:endParaRPr>
          </a:p>
          <a:p>
            <a:pPr algn="l">
              <a:buFont typeface="Arial" panose="020B0604020202020204" pitchFamily="34" charset="0"/>
              <a:buChar char="•"/>
            </a:pPr>
            <a:r>
              <a:rPr lang="zh-CN" altLang="en-US" b="0" i="0" dirty="0">
                <a:solidFill>
                  <a:srgbClr val="FF0000"/>
                </a:solidFill>
                <a:effectLst/>
                <a:latin typeface="Arial" panose="020B0604020202020204" pitchFamily="34" charset="0"/>
              </a:rPr>
              <a:t>有向图具有欧拉环当且仅当每个顶点的入度和出度相等，并且其所有非零度的顶点都属于单个强连通分量。有向图具有欧拉路径当且仅当至多一个顶点具有（出度）−（入度）</a:t>
            </a:r>
            <a:r>
              <a:rPr lang="en-US" altLang="zh-CN" b="0" i="0" dirty="0">
                <a:solidFill>
                  <a:srgbClr val="FF0000"/>
                </a:solidFill>
                <a:effectLst/>
                <a:latin typeface="Arial" panose="020B0604020202020204" pitchFamily="34" charset="0"/>
              </a:rPr>
              <a:t>=1</a:t>
            </a:r>
            <a:r>
              <a:rPr lang="zh-CN" altLang="en-US" b="0" i="0" dirty="0">
                <a:solidFill>
                  <a:srgbClr val="FF0000"/>
                </a:solidFill>
                <a:effectLst/>
                <a:latin typeface="Arial" panose="020B0604020202020204" pitchFamily="34" charset="0"/>
              </a:rPr>
              <a:t>，至多一个节点具有（入度（</a:t>
            </a:r>
            <a:r>
              <a:rPr lang="en-US" altLang="zh-CN" b="0" i="0" dirty="0">
                <a:solidFill>
                  <a:srgbClr val="FF0000"/>
                </a:solidFill>
                <a:effectLst/>
                <a:latin typeface="Arial" panose="020B0604020202020204" pitchFamily="34" charset="0"/>
              </a:rPr>
              <a:t>in degree</a:t>
            </a:r>
            <a:r>
              <a:rPr lang="zh-CN" altLang="en-US" b="0" i="0" dirty="0">
                <a:solidFill>
                  <a:srgbClr val="FF0000"/>
                </a:solidFill>
                <a:effectLst/>
                <a:latin typeface="Arial" panose="020B0604020202020204" pitchFamily="34" charset="0"/>
              </a:rPr>
              <a:t>）−（出度（</a:t>
            </a:r>
            <a:r>
              <a:rPr lang="en-US" altLang="zh-CN" b="0" i="0" dirty="0">
                <a:solidFill>
                  <a:srgbClr val="FF0000"/>
                </a:solidFill>
                <a:effectLst/>
                <a:latin typeface="Arial" panose="020B0604020202020204" pitchFamily="34" charset="0"/>
              </a:rPr>
              <a:t>out degree</a:t>
            </a:r>
            <a:r>
              <a:rPr lang="zh-CN" altLang="en-US" b="0" i="0" dirty="0">
                <a:solidFill>
                  <a:srgbClr val="FF0000"/>
                </a:solidFill>
                <a:effectLst/>
                <a:latin typeface="Arial" panose="020B0604020202020204" pitchFamily="34" charset="0"/>
              </a:rPr>
              <a:t>））</a:t>
            </a:r>
            <a:r>
              <a:rPr lang="en-US" altLang="zh-CN" b="0" i="0" dirty="0">
                <a:solidFill>
                  <a:srgbClr val="FF0000"/>
                </a:solidFill>
                <a:effectLst/>
                <a:latin typeface="Arial" panose="020B0604020202020204" pitchFamily="34" charset="0"/>
              </a:rPr>
              <a:t>=1</a:t>
            </a:r>
            <a:r>
              <a:rPr lang="zh-CN" altLang="en-US" b="0" i="0" dirty="0">
                <a:solidFill>
                  <a:srgbClr val="FF0000"/>
                </a:solidFill>
                <a:effectLst/>
                <a:latin typeface="Arial" panose="020B0604020202020204" pitchFamily="34" charset="0"/>
              </a:rPr>
              <a:t>，其他每个顶点具有相等的入度和出度，并且其所有具有非零度的顶点都属于底层无向图的单个连通分量。</a:t>
            </a:r>
            <a:endParaRPr lang="en-US" altLang="zh-CN" b="0" i="0" dirty="0">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656802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346796-62C7-45A2-8EEC-1ED85060CA1A}"/>
              </a:ext>
            </a:extLst>
          </p:cNvPr>
          <p:cNvSpPr>
            <a:spLocks noGrp="1"/>
          </p:cNvSpPr>
          <p:nvPr>
            <p:ph type="title"/>
          </p:nvPr>
        </p:nvSpPr>
        <p:spPr/>
        <p:txBody>
          <a:bodyPr/>
          <a:lstStyle/>
          <a:p>
            <a:r>
              <a:rPr lang="en-US" altLang="zh-CN">
                <a:solidFill>
                  <a:srgbClr val="FF0000"/>
                </a:solidFill>
              </a:rPr>
              <a:t>DFS</a:t>
            </a:r>
            <a:r>
              <a:rPr lang="en-US" altLang="zh-CN"/>
              <a:t> for Eulerian path and Eulerian cycle</a:t>
            </a:r>
            <a:endParaRPr lang="zh-CN" altLang="en-US"/>
          </a:p>
        </p:txBody>
      </p:sp>
      <p:pic>
        <p:nvPicPr>
          <p:cNvPr id="5" name="图片 4">
            <a:extLst>
              <a:ext uri="{FF2B5EF4-FFF2-40B4-BE49-F238E27FC236}">
                <a16:creationId xmlns:a16="http://schemas.microsoft.com/office/drawing/2014/main" id="{375024F4-BD07-40FF-B9E7-8944F6CE1C92}"/>
              </a:ext>
            </a:extLst>
          </p:cNvPr>
          <p:cNvPicPr>
            <a:picLocks noChangeAspect="1"/>
          </p:cNvPicPr>
          <p:nvPr/>
        </p:nvPicPr>
        <p:blipFill>
          <a:blip r:embed="rId2"/>
          <a:stretch>
            <a:fillRect/>
          </a:stretch>
        </p:blipFill>
        <p:spPr>
          <a:xfrm>
            <a:off x="735176" y="1844101"/>
            <a:ext cx="9514286" cy="2885714"/>
          </a:xfrm>
          <a:prstGeom prst="rect">
            <a:avLst/>
          </a:prstGeom>
        </p:spPr>
      </p:pic>
      <p:sp>
        <p:nvSpPr>
          <p:cNvPr id="6" name="文本框 5">
            <a:extLst>
              <a:ext uri="{FF2B5EF4-FFF2-40B4-BE49-F238E27FC236}">
                <a16:creationId xmlns:a16="http://schemas.microsoft.com/office/drawing/2014/main" id="{335C85F5-8ADA-4F12-888C-8426429A9B75}"/>
              </a:ext>
            </a:extLst>
          </p:cNvPr>
          <p:cNvSpPr txBox="1"/>
          <p:nvPr/>
        </p:nvSpPr>
        <p:spPr>
          <a:xfrm>
            <a:off x="5566299" y="3529783"/>
            <a:ext cx="5009337" cy="369332"/>
          </a:xfrm>
          <a:prstGeom prst="rect">
            <a:avLst/>
          </a:prstGeom>
          <a:noFill/>
        </p:spPr>
        <p:txBody>
          <a:bodyPr wrap="square" rtlCol="0">
            <a:spAutoFit/>
          </a:bodyPr>
          <a:lstStyle/>
          <a:p>
            <a:r>
              <a:rPr lang="en-US" altLang="zh-CN"/>
              <a:t>// when using, reverse with a stack; push (u,v)</a:t>
            </a:r>
            <a:endParaRPr lang="zh-CN" altLang="en-US"/>
          </a:p>
        </p:txBody>
      </p:sp>
    </p:spTree>
    <p:extLst>
      <p:ext uri="{BB962C8B-B14F-4D97-AF65-F5344CB8AC3E}">
        <p14:creationId xmlns:p14="http://schemas.microsoft.com/office/powerpoint/2010/main" val="49299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6A16B3-74D1-4DBF-B239-2027D57CEEE2}"/>
              </a:ext>
            </a:extLst>
          </p:cNvPr>
          <p:cNvSpPr>
            <a:spLocks noGrp="1"/>
          </p:cNvSpPr>
          <p:nvPr>
            <p:ph type="title"/>
          </p:nvPr>
        </p:nvSpPr>
        <p:spPr>
          <a:xfrm>
            <a:off x="554115" y="1847698"/>
            <a:ext cx="10515600" cy="1277244"/>
          </a:xfrm>
        </p:spPr>
        <p:txBody>
          <a:bodyPr/>
          <a:lstStyle/>
          <a:p>
            <a:pPr algn="ctr"/>
            <a:r>
              <a:rPr lang="en-US" altLang="zh-CN">
                <a:hlinkClick r:id="rId2" action="ppaction://hlinkfile"/>
              </a:rPr>
              <a:t>Play on Words</a:t>
            </a:r>
            <a:endParaRPr lang="zh-CN" altLang="en-US"/>
          </a:p>
        </p:txBody>
      </p:sp>
      <p:sp>
        <p:nvSpPr>
          <p:cNvPr id="5" name="文本框 4">
            <a:extLst>
              <a:ext uri="{FF2B5EF4-FFF2-40B4-BE49-F238E27FC236}">
                <a16:creationId xmlns:a16="http://schemas.microsoft.com/office/drawing/2014/main" id="{88FB169D-93F2-4288-AF63-0612DB8E733F}"/>
              </a:ext>
            </a:extLst>
          </p:cNvPr>
          <p:cNvSpPr txBox="1"/>
          <p:nvPr/>
        </p:nvSpPr>
        <p:spPr>
          <a:xfrm>
            <a:off x="3969798" y="3211015"/>
            <a:ext cx="4376691" cy="646331"/>
          </a:xfrm>
          <a:prstGeom prst="rect">
            <a:avLst/>
          </a:prstGeom>
          <a:noFill/>
        </p:spPr>
        <p:txBody>
          <a:bodyPr wrap="square" rtlCol="0">
            <a:spAutoFit/>
          </a:bodyPr>
          <a:lstStyle/>
          <a:p>
            <a:r>
              <a:rPr lang="en-US" altLang="zh-CN">
                <a:solidFill>
                  <a:srgbClr val="FF0000"/>
                </a:solidFill>
              </a:rPr>
              <a:t>1 Connected (DFS or Union-Find Set)</a:t>
            </a:r>
          </a:p>
          <a:p>
            <a:r>
              <a:rPr lang="en-US" altLang="zh-CN">
                <a:solidFill>
                  <a:srgbClr val="FF0000"/>
                </a:solidFill>
              </a:rPr>
              <a:t>2 Degree</a:t>
            </a:r>
            <a:endParaRPr lang="zh-CN" altLang="en-US">
              <a:solidFill>
                <a:srgbClr val="FF0000"/>
              </a:solidFill>
            </a:endParaRPr>
          </a:p>
        </p:txBody>
      </p:sp>
    </p:spTree>
    <p:extLst>
      <p:ext uri="{BB962C8B-B14F-4D97-AF65-F5344CB8AC3E}">
        <p14:creationId xmlns:p14="http://schemas.microsoft.com/office/powerpoint/2010/main" val="382351724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3642</TotalTime>
  <Words>1436</Words>
  <Application>Microsoft Office PowerPoint</Application>
  <PresentationFormat>宽屏</PresentationFormat>
  <Paragraphs>77</Paragraphs>
  <Slides>28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28</vt:i4>
      </vt:variant>
    </vt:vector>
  </HeadingPairs>
  <TitlesOfParts>
    <vt:vector size="33" baseType="lpstr">
      <vt:lpstr>Linux Libertine</vt:lpstr>
      <vt:lpstr>等线</vt:lpstr>
      <vt:lpstr>等线 Light</vt:lpstr>
      <vt:lpstr>Arial</vt:lpstr>
      <vt:lpstr>Office 主题​​</vt:lpstr>
      <vt:lpstr>Search part 1</vt:lpstr>
      <vt:lpstr>Outline</vt:lpstr>
      <vt:lpstr>1 BFS</vt:lpstr>
      <vt:lpstr>queue</vt:lpstr>
      <vt:lpstr>PowerPoint 演示文稿</vt:lpstr>
      <vt:lpstr>Time complexity of BFS</vt:lpstr>
      <vt:lpstr>2 DFS</vt:lpstr>
      <vt:lpstr>PowerPoint 演示文稿</vt:lpstr>
      <vt:lpstr>PowerPoint 演示文稿</vt:lpstr>
      <vt:lpstr>An example of DFS traversal of an undirected graph</vt:lpstr>
      <vt:lpstr>Time complexity of DFS</vt:lpstr>
      <vt:lpstr>PowerPoint 演示文稿</vt:lpstr>
      <vt:lpstr>3 Examples</vt:lpstr>
      <vt:lpstr>A Strange Elevator</vt:lpstr>
      <vt:lpstr>PowerPoint 演示文稿</vt:lpstr>
      <vt:lpstr>PowerPoint 演示文稿</vt:lpstr>
      <vt:lpstr>Oil Deposits</vt:lpstr>
      <vt:lpstr>BFS--maze, the shortest path</vt:lpstr>
      <vt:lpstr>BFS Tree</vt:lpstr>
      <vt:lpstr>Abbott’s Revenge</vt:lpstr>
      <vt:lpstr>DFS--topological sorting</vt:lpstr>
      <vt:lpstr>PowerPoint 演示文稿</vt:lpstr>
      <vt:lpstr>Ordering Tasks</vt:lpstr>
      <vt:lpstr>Seven Bridges of Königsberg</vt:lpstr>
      <vt:lpstr>Eulerian path and Eulerian cycle</vt:lpstr>
      <vt:lpstr>Properties</vt:lpstr>
      <vt:lpstr>DFS for Eulerian path and Eulerian cycle</vt:lpstr>
      <vt:lpstr>Play 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 Yanyan</dc:creator>
  <cp:lastModifiedBy>俊翔 黄</cp:lastModifiedBy>
  <cp:revision>129</cp:revision>
  <dcterms:created xsi:type="dcterms:W3CDTF">2021-01-27T14:28:13Z</dcterms:created>
  <dcterms:modified xsi:type="dcterms:W3CDTF">2024-05-25T07:25:37Z</dcterms:modified>
</cp:coreProperties>
</file>