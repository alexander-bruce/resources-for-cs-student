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555" r:id="rId3"/>
    <p:sldId id="258" r:id="rId4"/>
    <p:sldId id="264" r:id="rId5"/>
    <p:sldId id="388" r:id="rId6"/>
    <p:sldId id="265" r:id="rId7"/>
    <p:sldId id="263" r:id="rId8"/>
    <p:sldId id="525" r:id="rId9"/>
    <p:sldId id="361" r:id="rId10"/>
    <p:sldId id="389" r:id="rId11"/>
    <p:sldId id="523" r:id="rId12"/>
    <p:sldId id="352" r:id="rId13"/>
    <p:sldId id="515" r:id="rId14"/>
    <p:sldId id="353" r:id="rId15"/>
    <p:sldId id="524" r:id="rId16"/>
    <p:sldId id="380" r:id="rId17"/>
    <p:sldId id="554" r:id="rId18"/>
    <p:sldId id="376" r:id="rId19"/>
    <p:sldId id="377" r:id="rId20"/>
    <p:sldId id="378" r:id="rId21"/>
    <p:sldId id="379" r:id="rId22"/>
    <p:sldId id="274" r:id="rId23"/>
    <p:sldId id="275" r:id="rId24"/>
    <p:sldId id="556" r:id="rId25"/>
    <p:sldId id="519" r:id="rId26"/>
    <p:sldId id="526" r:id="rId27"/>
    <p:sldId id="527" r:id="rId28"/>
    <p:sldId id="528" r:id="rId29"/>
    <p:sldId id="529" r:id="rId30"/>
    <p:sldId id="520" r:id="rId31"/>
    <p:sldId id="530" r:id="rId32"/>
    <p:sldId id="531" r:id="rId33"/>
    <p:sldId id="535" r:id="rId34"/>
    <p:sldId id="386" r:id="rId35"/>
    <p:sldId id="553" r:id="rId36"/>
    <p:sldId id="536" r:id="rId37"/>
    <p:sldId id="552" r:id="rId38"/>
    <p:sldId id="557" r:id="rId39"/>
    <p:sldId id="371" r:id="rId4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8CFB11-A474-4037-92C3-6A96DA592FEF}" type="datetimeFigureOut">
              <a:rPr lang="zh-CN" altLang="en-US" smtClean="0"/>
              <a:t>2024/4/17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C97EEE-B9B4-43CE-BA0C-48B2D1726773}" type="slidenum">
              <a:rPr lang="zh-CN" altLang="en-US" smtClean="0"/>
              <a:t>‹#›</a:t>
            </a:fld>
            <a:endParaRPr lang="zh-CN" altLang="en-US"/>
          </a:p>
        </p:txBody>
      </p:sp>
    </p:spTree>
    <p:extLst>
      <p:ext uri="{BB962C8B-B14F-4D97-AF65-F5344CB8AC3E}">
        <p14:creationId xmlns:p14="http://schemas.microsoft.com/office/powerpoint/2010/main" val="1782228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FE74C3-BE1E-4FDA-B2BF-F5CABD9EC32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8414A93-03CD-41B0-91EF-9F89B49089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601CB88-104E-4041-9593-0364358049E3}"/>
              </a:ext>
            </a:extLst>
          </p:cNvPr>
          <p:cNvSpPr>
            <a:spLocks noGrp="1"/>
          </p:cNvSpPr>
          <p:nvPr>
            <p:ph type="dt" sz="half" idx="10"/>
          </p:nvPr>
        </p:nvSpPr>
        <p:spPr/>
        <p:txBody>
          <a:bodyPr/>
          <a:lstStyle/>
          <a:p>
            <a:fld id="{19091380-234D-4686-9A97-71ADE720DC22}" type="datetime1">
              <a:rPr lang="zh-CN" altLang="en-US" smtClean="0"/>
              <a:t>2024/4/17</a:t>
            </a:fld>
            <a:endParaRPr lang="zh-CN" altLang="en-US"/>
          </a:p>
        </p:txBody>
      </p:sp>
      <p:sp>
        <p:nvSpPr>
          <p:cNvPr id="5" name="页脚占位符 4">
            <a:extLst>
              <a:ext uri="{FF2B5EF4-FFF2-40B4-BE49-F238E27FC236}">
                <a16:creationId xmlns:a16="http://schemas.microsoft.com/office/drawing/2014/main" id="{CF16315D-AFAA-4980-9819-6534D5CAE936}"/>
              </a:ext>
            </a:extLst>
          </p:cNvPr>
          <p:cNvSpPr>
            <a:spLocks noGrp="1"/>
          </p:cNvSpPr>
          <p:nvPr>
            <p:ph type="ftr" sz="quarter" idx="11"/>
          </p:nvPr>
        </p:nvSpPr>
        <p:spPr/>
        <p:txBody>
          <a:bodyPr/>
          <a:lstStyle/>
          <a:p>
            <a:r>
              <a:rPr lang="zh-CN" altLang="en-US"/>
              <a:t>华东理工大学 罗勇军</a:t>
            </a:r>
          </a:p>
        </p:txBody>
      </p:sp>
      <p:sp>
        <p:nvSpPr>
          <p:cNvPr id="6" name="灯片编号占位符 5">
            <a:extLst>
              <a:ext uri="{FF2B5EF4-FFF2-40B4-BE49-F238E27FC236}">
                <a16:creationId xmlns:a16="http://schemas.microsoft.com/office/drawing/2014/main" id="{C5CDB79D-F8FD-4605-B404-0A84510A198B}"/>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1579750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5E719E-23D3-47FD-839B-203CBF92D87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7803645-37D3-4EDD-9200-E560C33C336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3ABE395-7C27-47EB-9B39-141339C966A0}"/>
              </a:ext>
            </a:extLst>
          </p:cNvPr>
          <p:cNvSpPr>
            <a:spLocks noGrp="1"/>
          </p:cNvSpPr>
          <p:nvPr>
            <p:ph type="dt" sz="half" idx="10"/>
          </p:nvPr>
        </p:nvSpPr>
        <p:spPr/>
        <p:txBody>
          <a:bodyPr/>
          <a:lstStyle/>
          <a:p>
            <a:fld id="{37433FD5-15C1-426F-945B-A9464337B736}" type="datetime1">
              <a:rPr lang="zh-CN" altLang="en-US" smtClean="0"/>
              <a:t>2024/4/17</a:t>
            </a:fld>
            <a:endParaRPr lang="zh-CN" altLang="en-US"/>
          </a:p>
        </p:txBody>
      </p:sp>
      <p:sp>
        <p:nvSpPr>
          <p:cNvPr id="5" name="页脚占位符 4">
            <a:extLst>
              <a:ext uri="{FF2B5EF4-FFF2-40B4-BE49-F238E27FC236}">
                <a16:creationId xmlns:a16="http://schemas.microsoft.com/office/drawing/2014/main" id="{E37E058E-0A79-4BC7-8808-FCA05AA07F2B}"/>
              </a:ext>
            </a:extLst>
          </p:cNvPr>
          <p:cNvSpPr>
            <a:spLocks noGrp="1"/>
          </p:cNvSpPr>
          <p:nvPr>
            <p:ph type="ftr" sz="quarter" idx="11"/>
          </p:nvPr>
        </p:nvSpPr>
        <p:spPr/>
        <p:txBody>
          <a:bodyPr/>
          <a:lstStyle/>
          <a:p>
            <a:r>
              <a:rPr lang="zh-CN" altLang="en-US"/>
              <a:t>华东理工大学 罗勇军</a:t>
            </a:r>
          </a:p>
        </p:txBody>
      </p:sp>
      <p:sp>
        <p:nvSpPr>
          <p:cNvPr id="6" name="灯片编号占位符 5">
            <a:extLst>
              <a:ext uri="{FF2B5EF4-FFF2-40B4-BE49-F238E27FC236}">
                <a16:creationId xmlns:a16="http://schemas.microsoft.com/office/drawing/2014/main" id="{ACF20585-5CC9-42E1-9691-1780E38898B7}"/>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1672161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FB95CF-A2F3-4DB3-8B9B-B5A15A4F079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668E97E6-45A3-431D-90EC-74E70EC9B8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AF24651-B974-490D-ADA3-BD93E52E2313}"/>
              </a:ext>
            </a:extLst>
          </p:cNvPr>
          <p:cNvSpPr>
            <a:spLocks noGrp="1"/>
          </p:cNvSpPr>
          <p:nvPr>
            <p:ph type="dt" sz="half" idx="10"/>
          </p:nvPr>
        </p:nvSpPr>
        <p:spPr/>
        <p:txBody>
          <a:bodyPr/>
          <a:lstStyle/>
          <a:p>
            <a:fld id="{5A35AC5E-8BCE-4047-A373-DA47F65D4DEE}" type="datetime1">
              <a:rPr lang="zh-CN" altLang="en-US" smtClean="0"/>
              <a:t>2024/4/17</a:t>
            </a:fld>
            <a:endParaRPr lang="zh-CN" altLang="en-US"/>
          </a:p>
        </p:txBody>
      </p:sp>
      <p:sp>
        <p:nvSpPr>
          <p:cNvPr id="5" name="页脚占位符 4">
            <a:extLst>
              <a:ext uri="{FF2B5EF4-FFF2-40B4-BE49-F238E27FC236}">
                <a16:creationId xmlns:a16="http://schemas.microsoft.com/office/drawing/2014/main" id="{F62087D7-E624-474A-97FD-9337901EA964}"/>
              </a:ext>
            </a:extLst>
          </p:cNvPr>
          <p:cNvSpPr>
            <a:spLocks noGrp="1"/>
          </p:cNvSpPr>
          <p:nvPr>
            <p:ph type="ftr" sz="quarter" idx="11"/>
          </p:nvPr>
        </p:nvSpPr>
        <p:spPr/>
        <p:txBody>
          <a:bodyPr/>
          <a:lstStyle/>
          <a:p>
            <a:r>
              <a:rPr lang="zh-CN" altLang="en-US"/>
              <a:t>华东理工大学 罗勇军</a:t>
            </a:r>
          </a:p>
        </p:txBody>
      </p:sp>
      <p:sp>
        <p:nvSpPr>
          <p:cNvPr id="6" name="灯片编号占位符 5">
            <a:extLst>
              <a:ext uri="{FF2B5EF4-FFF2-40B4-BE49-F238E27FC236}">
                <a16:creationId xmlns:a16="http://schemas.microsoft.com/office/drawing/2014/main" id="{BDC309BF-F8DE-4469-B753-69CF4D47791A}"/>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2862561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2C7CB6-6364-416E-BC11-15804AA6919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33FA0C0-9455-4CF5-8F1F-A05BB585DAE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D2CB45D-96E7-40D8-9A8D-6F28DD8FC75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B3513F1-0F43-4B9E-873A-CFD9DF940E55}"/>
              </a:ext>
            </a:extLst>
          </p:cNvPr>
          <p:cNvSpPr>
            <a:spLocks noGrp="1"/>
          </p:cNvSpPr>
          <p:nvPr>
            <p:ph type="dt" sz="half" idx="10"/>
          </p:nvPr>
        </p:nvSpPr>
        <p:spPr/>
        <p:txBody>
          <a:bodyPr/>
          <a:lstStyle/>
          <a:p>
            <a:fld id="{1D56B9DF-63E2-4D7B-9554-8039D32F4740}" type="datetime1">
              <a:rPr lang="zh-CN" altLang="en-US" smtClean="0"/>
              <a:t>2024/4/17</a:t>
            </a:fld>
            <a:endParaRPr lang="zh-CN" altLang="en-US"/>
          </a:p>
        </p:txBody>
      </p:sp>
      <p:sp>
        <p:nvSpPr>
          <p:cNvPr id="6" name="页脚占位符 5">
            <a:extLst>
              <a:ext uri="{FF2B5EF4-FFF2-40B4-BE49-F238E27FC236}">
                <a16:creationId xmlns:a16="http://schemas.microsoft.com/office/drawing/2014/main" id="{71A56703-3DF2-494C-9E6B-77E1ECC290BE}"/>
              </a:ext>
            </a:extLst>
          </p:cNvPr>
          <p:cNvSpPr>
            <a:spLocks noGrp="1"/>
          </p:cNvSpPr>
          <p:nvPr>
            <p:ph type="ftr" sz="quarter" idx="11"/>
          </p:nvPr>
        </p:nvSpPr>
        <p:spPr/>
        <p:txBody>
          <a:bodyPr/>
          <a:lstStyle/>
          <a:p>
            <a:r>
              <a:rPr lang="zh-CN" altLang="en-US"/>
              <a:t>华东理工大学 罗勇军</a:t>
            </a:r>
          </a:p>
        </p:txBody>
      </p:sp>
      <p:sp>
        <p:nvSpPr>
          <p:cNvPr id="7" name="灯片编号占位符 6">
            <a:extLst>
              <a:ext uri="{FF2B5EF4-FFF2-40B4-BE49-F238E27FC236}">
                <a16:creationId xmlns:a16="http://schemas.microsoft.com/office/drawing/2014/main" id="{80F162C8-81F2-4EA9-AEC3-32059D2D241C}"/>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3277678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C611FA-6024-4450-8519-BD266187B244}"/>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8907EE1-3194-4B7B-BD9D-4535D11108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8F5AB7E-A7EB-4818-84FD-9AF639601AE6}"/>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88879A2-D71C-449E-9A04-8E5CABA0AE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5E6F23C-4380-4F63-AB22-69AF54CF0DA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A8E1901-C27B-4F5F-9B6C-2C949A0D043E}"/>
              </a:ext>
            </a:extLst>
          </p:cNvPr>
          <p:cNvSpPr>
            <a:spLocks noGrp="1"/>
          </p:cNvSpPr>
          <p:nvPr>
            <p:ph type="dt" sz="half" idx="10"/>
          </p:nvPr>
        </p:nvSpPr>
        <p:spPr/>
        <p:txBody>
          <a:bodyPr/>
          <a:lstStyle/>
          <a:p>
            <a:fld id="{9DF3352A-9F68-4551-AD80-0A2626074E32}" type="datetime1">
              <a:rPr lang="zh-CN" altLang="en-US" smtClean="0"/>
              <a:t>2024/4/17</a:t>
            </a:fld>
            <a:endParaRPr lang="zh-CN" altLang="en-US"/>
          </a:p>
        </p:txBody>
      </p:sp>
      <p:sp>
        <p:nvSpPr>
          <p:cNvPr id="8" name="页脚占位符 7">
            <a:extLst>
              <a:ext uri="{FF2B5EF4-FFF2-40B4-BE49-F238E27FC236}">
                <a16:creationId xmlns:a16="http://schemas.microsoft.com/office/drawing/2014/main" id="{240AD1F4-B793-48D7-AF18-2AF92E428387}"/>
              </a:ext>
            </a:extLst>
          </p:cNvPr>
          <p:cNvSpPr>
            <a:spLocks noGrp="1"/>
          </p:cNvSpPr>
          <p:nvPr>
            <p:ph type="ftr" sz="quarter" idx="11"/>
          </p:nvPr>
        </p:nvSpPr>
        <p:spPr/>
        <p:txBody>
          <a:bodyPr/>
          <a:lstStyle/>
          <a:p>
            <a:r>
              <a:rPr lang="zh-CN" altLang="en-US"/>
              <a:t>华东理工大学 罗勇军</a:t>
            </a:r>
          </a:p>
        </p:txBody>
      </p:sp>
      <p:sp>
        <p:nvSpPr>
          <p:cNvPr id="9" name="灯片编号占位符 8">
            <a:extLst>
              <a:ext uri="{FF2B5EF4-FFF2-40B4-BE49-F238E27FC236}">
                <a16:creationId xmlns:a16="http://schemas.microsoft.com/office/drawing/2014/main" id="{2977C2D3-54BE-488A-BADA-71A18521C172}"/>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1932451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A93380-92D5-4A1B-96A0-7D4213E6C20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6D8E708-CC46-4DDB-823E-C1A1209F8FBD}"/>
              </a:ext>
            </a:extLst>
          </p:cNvPr>
          <p:cNvSpPr>
            <a:spLocks noGrp="1"/>
          </p:cNvSpPr>
          <p:nvPr>
            <p:ph type="dt" sz="half" idx="10"/>
          </p:nvPr>
        </p:nvSpPr>
        <p:spPr/>
        <p:txBody>
          <a:bodyPr/>
          <a:lstStyle/>
          <a:p>
            <a:fld id="{42A659E8-92BA-4D5F-91D3-F31881A5DFD7}" type="datetime1">
              <a:rPr lang="zh-CN" altLang="en-US" smtClean="0"/>
              <a:t>2024/4/17</a:t>
            </a:fld>
            <a:endParaRPr lang="zh-CN" altLang="en-US"/>
          </a:p>
        </p:txBody>
      </p:sp>
      <p:sp>
        <p:nvSpPr>
          <p:cNvPr id="4" name="页脚占位符 3">
            <a:extLst>
              <a:ext uri="{FF2B5EF4-FFF2-40B4-BE49-F238E27FC236}">
                <a16:creationId xmlns:a16="http://schemas.microsoft.com/office/drawing/2014/main" id="{4F925D70-BD66-4BE5-BFF2-674F2DC3CAD1}"/>
              </a:ext>
            </a:extLst>
          </p:cNvPr>
          <p:cNvSpPr>
            <a:spLocks noGrp="1"/>
          </p:cNvSpPr>
          <p:nvPr>
            <p:ph type="ftr" sz="quarter" idx="11"/>
          </p:nvPr>
        </p:nvSpPr>
        <p:spPr/>
        <p:txBody>
          <a:bodyPr/>
          <a:lstStyle/>
          <a:p>
            <a:r>
              <a:rPr lang="zh-CN" altLang="en-US"/>
              <a:t>华东理工大学 罗勇军</a:t>
            </a:r>
          </a:p>
        </p:txBody>
      </p:sp>
      <p:sp>
        <p:nvSpPr>
          <p:cNvPr id="5" name="灯片编号占位符 4">
            <a:extLst>
              <a:ext uri="{FF2B5EF4-FFF2-40B4-BE49-F238E27FC236}">
                <a16:creationId xmlns:a16="http://schemas.microsoft.com/office/drawing/2014/main" id="{AB9E7361-9083-4F13-A530-AEBB30D12700}"/>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1889613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911168A-BF5E-418E-9BA2-C715C297C452}"/>
              </a:ext>
            </a:extLst>
          </p:cNvPr>
          <p:cNvSpPr>
            <a:spLocks noGrp="1"/>
          </p:cNvSpPr>
          <p:nvPr>
            <p:ph type="dt" sz="half" idx="10"/>
          </p:nvPr>
        </p:nvSpPr>
        <p:spPr/>
        <p:txBody>
          <a:bodyPr/>
          <a:lstStyle/>
          <a:p>
            <a:fld id="{7C91D9BB-9518-41F3-A9EF-5B895C97DDE7}" type="datetime1">
              <a:rPr lang="zh-CN" altLang="en-US" smtClean="0"/>
              <a:t>2024/4/17</a:t>
            </a:fld>
            <a:endParaRPr lang="zh-CN" altLang="en-US"/>
          </a:p>
        </p:txBody>
      </p:sp>
      <p:sp>
        <p:nvSpPr>
          <p:cNvPr id="3" name="页脚占位符 2">
            <a:extLst>
              <a:ext uri="{FF2B5EF4-FFF2-40B4-BE49-F238E27FC236}">
                <a16:creationId xmlns:a16="http://schemas.microsoft.com/office/drawing/2014/main" id="{1C266FE5-38F5-4063-98BC-6E6CAAA47689}"/>
              </a:ext>
            </a:extLst>
          </p:cNvPr>
          <p:cNvSpPr>
            <a:spLocks noGrp="1"/>
          </p:cNvSpPr>
          <p:nvPr>
            <p:ph type="ftr" sz="quarter" idx="11"/>
          </p:nvPr>
        </p:nvSpPr>
        <p:spPr/>
        <p:txBody>
          <a:bodyPr/>
          <a:lstStyle/>
          <a:p>
            <a:r>
              <a:rPr lang="zh-CN" altLang="en-US"/>
              <a:t>华东理工大学 罗勇军</a:t>
            </a:r>
          </a:p>
        </p:txBody>
      </p:sp>
      <p:sp>
        <p:nvSpPr>
          <p:cNvPr id="4" name="灯片编号占位符 3">
            <a:extLst>
              <a:ext uri="{FF2B5EF4-FFF2-40B4-BE49-F238E27FC236}">
                <a16:creationId xmlns:a16="http://schemas.microsoft.com/office/drawing/2014/main" id="{BD36AE1B-2A81-4BBE-8E6F-0E376693F876}"/>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1727378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127597-6C40-4007-9989-3826A10C6CC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5463319-D02E-4CA5-9853-A219EBBF1F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5DA2A57-CBD9-4774-BB6B-82281FBC30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E829E9F-EA46-4D95-B45E-1F46C1C49598}"/>
              </a:ext>
            </a:extLst>
          </p:cNvPr>
          <p:cNvSpPr>
            <a:spLocks noGrp="1"/>
          </p:cNvSpPr>
          <p:nvPr>
            <p:ph type="dt" sz="half" idx="10"/>
          </p:nvPr>
        </p:nvSpPr>
        <p:spPr/>
        <p:txBody>
          <a:bodyPr/>
          <a:lstStyle/>
          <a:p>
            <a:fld id="{4AB7B26E-D71A-4D98-8901-D2BAB664AEC0}" type="datetime1">
              <a:rPr lang="zh-CN" altLang="en-US" smtClean="0"/>
              <a:t>2024/4/17</a:t>
            </a:fld>
            <a:endParaRPr lang="zh-CN" altLang="en-US"/>
          </a:p>
        </p:txBody>
      </p:sp>
      <p:sp>
        <p:nvSpPr>
          <p:cNvPr id="6" name="页脚占位符 5">
            <a:extLst>
              <a:ext uri="{FF2B5EF4-FFF2-40B4-BE49-F238E27FC236}">
                <a16:creationId xmlns:a16="http://schemas.microsoft.com/office/drawing/2014/main" id="{30FB46E0-6AFB-4FCB-9055-A3C0CB041024}"/>
              </a:ext>
            </a:extLst>
          </p:cNvPr>
          <p:cNvSpPr>
            <a:spLocks noGrp="1"/>
          </p:cNvSpPr>
          <p:nvPr>
            <p:ph type="ftr" sz="quarter" idx="11"/>
          </p:nvPr>
        </p:nvSpPr>
        <p:spPr/>
        <p:txBody>
          <a:bodyPr/>
          <a:lstStyle/>
          <a:p>
            <a:r>
              <a:rPr lang="zh-CN" altLang="en-US"/>
              <a:t>华东理工大学 罗勇军</a:t>
            </a:r>
          </a:p>
        </p:txBody>
      </p:sp>
      <p:sp>
        <p:nvSpPr>
          <p:cNvPr id="7" name="灯片编号占位符 6">
            <a:extLst>
              <a:ext uri="{FF2B5EF4-FFF2-40B4-BE49-F238E27FC236}">
                <a16:creationId xmlns:a16="http://schemas.microsoft.com/office/drawing/2014/main" id="{A1346969-FD6B-4D1F-89FD-0C8EBCC1999B}"/>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2174407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CA1383-B422-4680-A0F8-5DFD729A08E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A9BC39B-2D77-4B0B-9ACF-C366DF3EAD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3E619F4-8857-4618-8AE4-83F851D8F4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D924A66-E039-41AF-A5C2-5BD5E6ECC361}"/>
              </a:ext>
            </a:extLst>
          </p:cNvPr>
          <p:cNvSpPr>
            <a:spLocks noGrp="1"/>
          </p:cNvSpPr>
          <p:nvPr>
            <p:ph type="dt" sz="half" idx="10"/>
          </p:nvPr>
        </p:nvSpPr>
        <p:spPr/>
        <p:txBody>
          <a:bodyPr/>
          <a:lstStyle/>
          <a:p>
            <a:fld id="{B17A7E55-A4F6-4999-A40B-CDAE68B284C1}" type="datetime1">
              <a:rPr lang="zh-CN" altLang="en-US" smtClean="0"/>
              <a:t>2024/4/17</a:t>
            </a:fld>
            <a:endParaRPr lang="zh-CN" altLang="en-US"/>
          </a:p>
        </p:txBody>
      </p:sp>
      <p:sp>
        <p:nvSpPr>
          <p:cNvPr id="6" name="页脚占位符 5">
            <a:extLst>
              <a:ext uri="{FF2B5EF4-FFF2-40B4-BE49-F238E27FC236}">
                <a16:creationId xmlns:a16="http://schemas.microsoft.com/office/drawing/2014/main" id="{8A4BC89A-CEFA-425F-B0AB-2A15CE260149}"/>
              </a:ext>
            </a:extLst>
          </p:cNvPr>
          <p:cNvSpPr>
            <a:spLocks noGrp="1"/>
          </p:cNvSpPr>
          <p:nvPr>
            <p:ph type="ftr" sz="quarter" idx="11"/>
          </p:nvPr>
        </p:nvSpPr>
        <p:spPr/>
        <p:txBody>
          <a:bodyPr/>
          <a:lstStyle/>
          <a:p>
            <a:r>
              <a:rPr lang="zh-CN" altLang="en-US"/>
              <a:t>华东理工大学 罗勇军</a:t>
            </a:r>
          </a:p>
        </p:txBody>
      </p:sp>
      <p:sp>
        <p:nvSpPr>
          <p:cNvPr id="7" name="灯片编号占位符 6">
            <a:extLst>
              <a:ext uri="{FF2B5EF4-FFF2-40B4-BE49-F238E27FC236}">
                <a16:creationId xmlns:a16="http://schemas.microsoft.com/office/drawing/2014/main" id="{91205E3E-00AF-4B8D-BEE8-C526559A0A7C}"/>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1622055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66994A-4F47-4A8C-85EB-6828F8EA5A8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E1C5012-C01F-48DE-94EC-956BD273975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113E8F8-E8F8-4CF0-BD5A-754BD5DCCF34}"/>
              </a:ext>
            </a:extLst>
          </p:cNvPr>
          <p:cNvSpPr>
            <a:spLocks noGrp="1"/>
          </p:cNvSpPr>
          <p:nvPr>
            <p:ph type="dt" sz="half" idx="10"/>
          </p:nvPr>
        </p:nvSpPr>
        <p:spPr/>
        <p:txBody>
          <a:bodyPr/>
          <a:lstStyle/>
          <a:p>
            <a:fld id="{53031DD8-3BE4-41EA-B85F-25CE94CE7E75}" type="datetime1">
              <a:rPr lang="zh-CN" altLang="en-US" smtClean="0"/>
              <a:t>2024/4/17</a:t>
            </a:fld>
            <a:endParaRPr lang="zh-CN" altLang="en-US"/>
          </a:p>
        </p:txBody>
      </p:sp>
      <p:sp>
        <p:nvSpPr>
          <p:cNvPr id="5" name="页脚占位符 4">
            <a:extLst>
              <a:ext uri="{FF2B5EF4-FFF2-40B4-BE49-F238E27FC236}">
                <a16:creationId xmlns:a16="http://schemas.microsoft.com/office/drawing/2014/main" id="{2700D0BF-26C3-4A56-A3C7-2ED586A6AE47}"/>
              </a:ext>
            </a:extLst>
          </p:cNvPr>
          <p:cNvSpPr>
            <a:spLocks noGrp="1"/>
          </p:cNvSpPr>
          <p:nvPr>
            <p:ph type="ftr" sz="quarter" idx="11"/>
          </p:nvPr>
        </p:nvSpPr>
        <p:spPr/>
        <p:txBody>
          <a:bodyPr/>
          <a:lstStyle/>
          <a:p>
            <a:r>
              <a:rPr lang="zh-CN" altLang="en-US"/>
              <a:t>华东理工大学 罗勇军</a:t>
            </a:r>
          </a:p>
        </p:txBody>
      </p:sp>
      <p:sp>
        <p:nvSpPr>
          <p:cNvPr id="6" name="灯片编号占位符 5">
            <a:extLst>
              <a:ext uri="{FF2B5EF4-FFF2-40B4-BE49-F238E27FC236}">
                <a16:creationId xmlns:a16="http://schemas.microsoft.com/office/drawing/2014/main" id="{115E7682-BEAE-437B-8780-F5016D6A2805}"/>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2703089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15CC12D-03AC-4DB4-9D58-9D0DBC1479E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CC51A0C4-5809-4033-8E3F-A8B0B43E338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F26E71E-661E-4BC2-9C53-99F2F7DD9906}"/>
              </a:ext>
            </a:extLst>
          </p:cNvPr>
          <p:cNvSpPr>
            <a:spLocks noGrp="1"/>
          </p:cNvSpPr>
          <p:nvPr>
            <p:ph type="dt" sz="half" idx="10"/>
          </p:nvPr>
        </p:nvSpPr>
        <p:spPr/>
        <p:txBody>
          <a:bodyPr/>
          <a:lstStyle/>
          <a:p>
            <a:fld id="{EFC770E4-4BB3-464C-8C1F-E5AB05B66E11}" type="datetime1">
              <a:rPr lang="zh-CN" altLang="en-US" smtClean="0"/>
              <a:t>2024/4/17</a:t>
            </a:fld>
            <a:endParaRPr lang="zh-CN" altLang="en-US"/>
          </a:p>
        </p:txBody>
      </p:sp>
      <p:sp>
        <p:nvSpPr>
          <p:cNvPr id="5" name="页脚占位符 4">
            <a:extLst>
              <a:ext uri="{FF2B5EF4-FFF2-40B4-BE49-F238E27FC236}">
                <a16:creationId xmlns:a16="http://schemas.microsoft.com/office/drawing/2014/main" id="{1868A5A8-46D3-4E9C-AA2D-74555DDC5DD5}"/>
              </a:ext>
            </a:extLst>
          </p:cNvPr>
          <p:cNvSpPr>
            <a:spLocks noGrp="1"/>
          </p:cNvSpPr>
          <p:nvPr>
            <p:ph type="ftr" sz="quarter" idx="11"/>
          </p:nvPr>
        </p:nvSpPr>
        <p:spPr/>
        <p:txBody>
          <a:bodyPr/>
          <a:lstStyle/>
          <a:p>
            <a:r>
              <a:rPr lang="zh-CN" altLang="en-US"/>
              <a:t>华东理工大学 罗勇军</a:t>
            </a:r>
          </a:p>
        </p:txBody>
      </p:sp>
      <p:sp>
        <p:nvSpPr>
          <p:cNvPr id="6" name="灯片编号占位符 5">
            <a:extLst>
              <a:ext uri="{FF2B5EF4-FFF2-40B4-BE49-F238E27FC236}">
                <a16:creationId xmlns:a16="http://schemas.microsoft.com/office/drawing/2014/main" id="{4BB1C9CF-9E8A-4283-A9AB-D7B2F8D9D20C}"/>
              </a:ext>
            </a:extLst>
          </p:cNvPr>
          <p:cNvSpPr>
            <a:spLocks noGrp="1"/>
          </p:cNvSpPr>
          <p:nvPr>
            <p:ph type="sldNum" sz="quarter" idx="12"/>
          </p:nvPr>
        </p:nvSpPr>
        <p:spPr/>
        <p:txBody>
          <a:body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826600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1031604-5912-4115-B09C-86E853762C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C4E87EC-8BA5-438E-AAE0-E98A4D5D26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41A3949-B522-40E7-878E-BA86016C5F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6DBBC4-B19E-4219-9E86-C6A5D6ADB37A}" type="datetime1">
              <a:rPr lang="zh-CN" altLang="en-US" smtClean="0"/>
              <a:t>2024/4/17</a:t>
            </a:fld>
            <a:endParaRPr lang="zh-CN" altLang="en-US"/>
          </a:p>
        </p:txBody>
      </p:sp>
      <p:sp>
        <p:nvSpPr>
          <p:cNvPr id="5" name="页脚占位符 4">
            <a:extLst>
              <a:ext uri="{FF2B5EF4-FFF2-40B4-BE49-F238E27FC236}">
                <a16:creationId xmlns:a16="http://schemas.microsoft.com/office/drawing/2014/main" id="{5EBAAADC-80B5-480B-9307-C10F894DFE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华东理工大学 罗勇军</a:t>
            </a:r>
          </a:p>
        </p:txBody>
      </p:sp>
      <p:sp>
        <p:nvSpPr>
          <p:cNvPr id="6" name="灯片编号占位符 5">
            <a:extLst>
              <a:ext uri="{FF2B5EF4-FFF2-40B4-BE49-F238E27FC236}">
                <a16:creationId xmlns:a16="http://schemas.microsoft.com/office/drawing/2014/main" id="{533DF350-80E3-4A4A-B02D-0BEF4B5C92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A97C4F-3492-475D-9B19-3B9F90CC0E27}" type="slidenum">
              <a:rPr lang="zh-CN" altLang="en-US" smtClean="0"/>
              <a:t>‹#›</a:t>
            </a:fld>
            <a:endParaRPr lang="zh-CN" altLang="en-US"/>
          </a:p>
        </p:txBody>
      </p:sp>
    </p:spTree>
    <p:extLst>
      <p:ext uri="{BB962C8B-B14F-4D97-AF65-F5344CB8AC3E}">
        <p14:creationId xmlns:p14="http://schemas.microsoft.com/office/powerpoint/2010/main" val="21814726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orse%20Racing.pdf"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Physical%20Examination.pdf"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7.png"/><Relationship Id="rId4" Type="http://schemas.openxmlformats.org/officeDocument/2006/relationships/image" Target="../media/image9.emf"/></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4.xml.rels><?xml version="1.0" encoding="UTF-8" standalone="yes"?>
<Relationships xmlns="http://schemas.openxmlformats.org/package/2006/relationships"><Relationship Id="rId2" Type="http://schemas.openxmlformats.org/officeDocument/2006/relationships/hyperlink" Target="http://www.cplusplus.com/reference/queue/priority_queue/"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cplusplus.com/reference/algorithm/" TargetMode="External"/><Relationship Id="rId2" Type="http://schemas.openxmlformats.org/officeDocument/2006/relationships/hyperlink" Target="https://cplusplus.com/reference/stl/"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Entropy.pdf"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Add%20All.pdf"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Gone%20Fishing.pdf"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99CD26-DE4A-4C5C-A434-7BEA4B7F630B}"/>
              </a:ext>
            </a:extLst>
          </p:cNvPr>
          <p:cNvSpPr>
            <a:spLocks noGrp="1"/>
          </p:cNvSpPr>
          <p:nvPr>
            <p:ph type="ctrTitle"/>
          </p:nvPr>
        </p:nvSpPr>
        <p:spPr/>
        <p:txBody>
          <a:bodyPr/>
          <a:lstStyle/>
          <a:p>
            <a:r>
              <a:rPr lang="en-US" altLang="zh-CN" dirty="0"/>
              <a:t>The Greedy Approach</a:t>
            </a:r>
            <a:endParaRPr lang="zh-CN" altLang="en-US" sz="3600" dirty="0"/>
          </a:p>
        </p:txBody>
      </p:sp>
      <p:sp>
        <p:nvSpPr>
          <p:cNvPr id="3" name="副标题 2">
            <a:extLst>
              <a:ext uri="{FF2B5EF4-FFF2-40B4-BE49-F238E27FC236}">
                <a16:creationId xmlns:a16="http://schemas.microsoft.com/office/drawing/2014/main" id="{6CB23BCE-929C-4235-B6FF-239832128CDF}"/>
              </a:ext>
            </a:extLst>
          </p:cNvPr>
          <p:cNvSpPr>
            <a:spLocks noGrp="1"/>
          </p:cNvSpPr>
          <p:nvPr>
            <p:ph type="subTitle" idx="1"/>
          </p:nvPr>
        </p:nvSpPr>
        <p:spPr>
          <a:xfrm>
            <a:off x="1524000" y="3903879"/>
            <a:ext cx="9144000" cy="1655762"/>
          </a:xfrm>
        </p:spPr>
        <p:txBody>
          <a:bodyPr/>
          <a:lstStyle/>
          <a:p>
            <a:r>
              <a:rPr lang="en-US" altLang="zh-CN" dirty="0"/>
              <a:t>Xu </a:t>
            </a:r>
            <a:r>
              <a:rPr lang="en-US" altLang="zh-CN" dirty="0" err="1"/>
              <a:t>Yanyan</a:t>
            </a:r>
            <a:endParaRPr lang="zh-CN" altLang="en-US" dirty="0"/>
          </a:p>
        </p:txBody>
      </p:sp>
    </p:spTree>
    <p:extLst>
      <p:ext uri="{BB962C8B-B14F-4D97-AF65-F5344CB8AC3E}">
        <p14:creationId xmlns:p14="http://schemas.microsoft.com/office/powerpoint/2010/main" val="449864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079E37A8-617A-464F-A47D-81390CB7F679}"/>
              </a:ext>
            </a:extLst>
          </p:cNvPr>
          <p:cNvSpPr txBox="1"/>
          <p:nvPr/>
        </p:nvSpPr>
        <p:spPr>
          <a:xfrm>
            <a:off x="946028" y="5865465"/>
            <a:ext cx="6094520" cy="369332"/>
          </a:xfrm>
          <a:prstGeom prst="rect">
            <a:avLst/>
          </a:prstGeom>
          <a:noFill/>
        </p:spPr>
        <p:txBody>
          <a:bodyPr wrap="square">
            <a:spAutoFit/>
          </a:bodyPr>
          <a:lstStyle/>
          <a:p>
            <a:r>
              <a:rPr lang="zh-CN" altLang="en-US" dirty="0"/>
              <a:t>https://acm.hdu.edu.cn/showproblem.php?pid=1009</a:t>
            </a:r>
          </a:p>
        </p:txBody>
      </p:sp>
      <p:pic>
        <p:nvPicPr>
          <p:cNvPr id="7" name="图片 6">
            <a:extLst>
              <a:ext uri="{FF2B5EF4-FFF2-40B4-BE49-F238E27FC236}">
                <a16:creationId xmlns:a16="http://schemas.microsoft.com/office/drawing/2014/main" id="{3E786865-9CC0-417A-8BCD-C7C399E9B257}"/>
              </a:ext>
            </a:extLst>
          </p:cNvPr>
          <p:cNvPicPr>
            <a:picLocks noChangeAspect="1"/>
          </p:cNvPicPr>
          <p:nvPr/>
        </p:nvPicPr>
        <p:blipFill>
          <a:blip r:embed="rId2"/>
          <a:stretch>
            <a:fillRect/>
          </a:stretch>
        </p:blipFill>
        <p:spPr>
          <a:xfrm>
            <a:off x="608675" y="1690688"/>
            <a:ext cx="3619500" cy="3914775"/>
          </a:xfrm>
          <a:prstGeom prst="rect">
            <a:avLst/>
          </a:prstGeom>
        </p:spPr>
      </p:pic>
      <p:sp>
        <p:nvSpPr>
          <p:cNvPr id="8" name="标题 7">
            <a:extLst>
              <a:ext uri="{FF2B5EF4-FFF2-40B4-BE49-F238E27FC236}">
                <a16:creationId xmlns:a16="http://schemas.microsoft.com/office/drawing/2014/main" id="{614A6831-68A9-465B-9C4F-62A40C4E78EA}"/>
              </a:ext>
            </a:extLst>
          </p:cNvPr>
          <p:cNvSpPr>
            <a:spLocks noGrp="1"/>
          </p:cNvSpPr>
          <p:nvPr>
            <p:ph type="title"/>
          </p:nvPr>
        </p:nvSpPr>
        <p:spPr/>
        <p:txBody>
          <a:bodyPr/>
          <a:lstStyle/>
          <a:p>
            <a:r>
              <a:rPr lang="en-US" altLang="zh-CN" dirty="0"/>
              <a:t>Example</a:t>
            </a:r>
            <a:endParaRPr lang="zh-CN" altLang="en-US" dirty="0"/>
          </a:p>
        </p:txBody>
      </p:sp>
    </p:spTree>
    <p:extLst>
      <p:ext uri="{BB962C8B-B14F-4D97-AF65-F5344CB8AC3E}">
        <p14:creationId xmlns:p14="http://schemas.microsoft.com/office/powerpoint/2010/main" val="3219484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a:extLst>
              <a:ext uri="{FF2B5EF4-FFF2-40B4-BE49-F238E27FC236}">
                <a16:creationId xmlns:a16="http://schemas.microsoft.com/office/drawing/2014/main" id="{43498AF1-0CC6-472C-A5B1-AFF01AAA587E}"/>
              </a:ext>
            </a:extLst>
          </p:cNvPr>
          <p:cNvSpPr>
            <a:spLocks noGrp="1"/>
          </p:cNvSpPr>
          <p:nvPr>
            <p:ph type="title"/>
          </p:nvPr>
        </p:nvSpPr>
        <p:spPr/>
        <p:txBody>
          <a:bodyPr/>
          <a:lstStyle/>
          <a:p>
            <a:pPr eaLnBrk="1" hangingPunct="1"/>
            <a:r>
              <a:rPr lang="en-US" altLang="zh-CN"/>
              <a:t>The Greedy Approach</a:t>
            </a:r>
            <a:endParaRPr lang="zh-CN" altLang="en-US"/>
          </a:p>
        </p:txBody>
      </p:sp>
      <p:sp>
        <p:nvSpPr>
          <p:cNvPr id="78851" name="内容占位符 2">
            <a:extLst>
              <a:ext uri="{FF2B5EF4-FFF2-40B4-BE49-F238E27FC236}">
                <a16:creationId xmlns:a16="http://schemas.microsoft.com/office/drawing/2014/main" id="{4162F737-4B0C-4751-A4BB-33FB969EB5F6}"/>
              </a:ext>
            </a:extLst>
          </p:cNvPr>
          <p:cNvSpPr>
            <a:spLocks noGrp="1"/>
          </p:cNvSpPr>
          <p:nvPr>
            <p:ph idx="1"/>
          </p:nvPr>
        </p:nvSpPr>
        <p:spPr/>
        <p:txBody>
          <a:bodyPr>
            <a:normAutofit fontScale="92500" lnSpcReduction="10000"/>
          </a:bodyPr>
          <a:lstStyle/>
          <a:p>
            <a:pPr eaLnBrk="1" hangingPunct="1"/>
            <a:r>
              <a:rPr lang="en-US" altLang="zh-CN" dirty="0">
                <a:latin typeface="Times New Roman" panose="02020603050405020304" pitchFamily="18" charset="0"/>
                <a:cs typeface="Times New Roman" panose="02020603050405020304" pitchFamily="18" charset="0"/>
              </a:rPr>
              <a:t>Algorithms for optimization problems typically go through a sequence of steps, with a set of </a:t>
            </a:r>
            <a:r>
              <a:rPr lang="en-US" altLang="zh-CN" dirty="0">
                <a:solidFill>
                  <a:srgbClr val="FF0000"/>
                </a:solidFill>
                <a:latin typeface="Times New Roman" panose="02020603050405020304" pitchFamily="18" charset="0"/>
                <a:cs typeface="Times New Roman" panose="02020603050405020304" pitchFamily="18" charset="0"/>
              </a:rPr>
              <a:t>choices</a:t>
            </a:r>
            <a:r>
              <a:rPr lang="en-US" altLang="zh-CN" dirty="0">
                <a:latin typeface="Times New Roman" panose="02020603050405020304" pitchFamily="18" charset="0"/>
                <a:cs typeface="Times New Roman" panose="02020603050405020304" pitchFamily="18" charset="0"/>
              </a:rPr>
              <a:t> at each step.</a:t>
            </a:r>
          </a:p>
          <a:p>
            <a:pPr eaLnBrk="1" hangingPunct="1"/>
            <a:r>
              <a:rPr lang="en-US" altLang="zh-CN" dirty="0">
                <a:latin typeface="Times New Roman" panose="02020603050405020304" pitchFamily="18" charset="0"/>
                <a:cs typeface="Times New Roman" panose="02020603050405020304" pitchFamily="18" charset="0"/>
              </a:rPr>
              <a:t>A </a:t>
            </a:r>
            <a:r>
              <a:rPr lang="en-US" altLang="zh-CN" i="1" dirty="0">
                <a:solidFill>
                  <a:srgbClr val="FF0000"/>
                </a:solidFill>
                <a:latin typeface="Times New Roman" panose="02020603050405020304" pitchFamily="18" charset="0"/>
                <a:cs typeface="Times New Roman" panose="02020603050405020304" pitchFamily="18" charset="0"/>
              </a:rPr>
              <a:t>greedy algorithm</a:t>
            </a:r>
            <a:r>
              <a:rPr lang="en-US" altLang="zh-CN" dirty="0">
                <a:solidFill>
                  <a:srgbClr val="FF0000"/>
                </a:solidFill>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always makes the choice that looks </a:t>
            </a:r>
            <a:r>
              <a:rPr lang="en-US" altLang="zh-CN" dirty="0">
                <a:solidFill>
                  <a:srgbClr val="66FF33"/>
                </a:solidFill>
                <a:latin typeface="Times New Roman" panose="02020603050405020304" pitchFamily="18" charset="0"/>
                <a:cs typeface="Times New Roman" panose="02020603050405020304" pitchFamily="18" charset="0"/>
              </a:rPr>
              <a:t>best at the moment</a:t>
            </a:r>
            <a:r>
              <a:rPr lang="en-US" altLang="zh-CN" dirty="0">
                <a:latin typeface="Times New Roman" panose="02020603050405020304" pitchFamily="18" charset="0"/>
                <a:cs typeface="Times New Roman" panose="02020603050405020304" pitchFamily="18" charset="0"/>
              </a:rPr>
              <a:t>.</a:t>
            </a:r>
          </a:p>
          <a:p>
            <a:pPr eaLnBrk="1" hangingPunct="1"/>
            <a:r>
              <a:rPr lang="en-US" altLang="zh-CN" dirty="0">
                <a:latin typeface="Times New Roman" panose="02020603050405020304" pitchFamily="18" charset="0"/>
                <a:cs typeface="Times New Roman" panose="02020603050405020304" pitchFamily="18" charset="0"/>
              </a:rPr>
              <a:t>It makes a </a:t>
            </a:r>
            <a:r>
              <a:rPr lang="en-US" altLang="zh-CN" dirty="0">
                <a:solidFill>
                  <a:srgbClr val="3333CC"/>
                </a:solidFill>
                <a:latin typeface="Times New Roman" panose="02020603050405020304" pitchFamily="18" charset="0"/>
                <a:cs typeface="Times New Roman" panose="02020603050405020304" pitchFamily="18" charset="0"/>
              </a:rPr>
              <a:t>locally</a:t>
            </a:r>
            <a:r>
              <a:rPr lang="en-US" altLang="zh-CN" dirty="0">
                <a:latin typeface="Times New Roman" panose="02020603050405020304" pitchFamily="18" charset="0"/>
                <a:cs typeface="Times New Roman" panose="02020603050405020304" pitchFamily="18" charset="0"/>
              </a:rPr>
              <a:t> optimal choice in the hope that this choice will lead to a </a:t>
            </a:r>
            <a:r>
              <a:rPr lang="en-US" altLang="zh-CN" dirty="0">
                <a:solidFill>
                  <a:srgbClr val="3333CC"/>
                </a:solidFill>
                <a:latin typeface="Times New Roman" panose="02020603050405020304" pitchFamily="18" charset="0"/>
                <a:cs typeface="Times New Roman" panose="02020603050405020304" pitchFamily="18" charset="0"/>
              </a:rPr>
              <a:t>globally</a:t>
            </a:r>
            <a:r>
              <a:rPr lang="en-US" altLang="zh-CN" dirty="0">
                <a:latin typeface="Times New Roman" panose="02020603050405020304" pitchFamily="18" charset="0"/>
                <a:cs typeface="Times New Roman" panose="02020603050405020304" pitchFamily="18" charset="0"/>
              </a:rPr>
              <a:t> optimal solution.</a:t>
            </a:r>
          </a:p>
          <a:p>
            <a:pPr eaLnBrk="1" hangingPunct="1"/>
            <a:r>
              <a:rPr lang="en-US" altLang="zh-CN" dirty="0">
                <a:latin typeface="Times New Roman" panose="02020603050405020304" pitchFamily="18" charset="0"/>
                <a:cs typeface="Times New Roman" panose="02020603050405020304" pitchFamily="18" charset="0"/>
              </a:rPr>
              <a:t>Greedy algorithms do not always yield optimal solutions (travelling salesman problem), but for many problems they do.</a:t>
            </a:r>
          </a:p>
          <a:p>
            <a:pPr eaLnBrk="1" hangingPunct="1"/>
            <a:r>
              <a:rPr lang="en-US" altLang="zh-CN" dirty="0">
                <a:latin typeface="Times New Roman" panose="02020603050405020304" pitchFamily="18" charset="0"/>
                <a:cs typeface="Times New Roman" panose="02020603050405020304" pitchFamily="18" charset="0"/>
              </a:rPr>
              <a:t>If a greedy algorithm can be proven to yield the global optimum for a given problem class, it typically becomes the method of choice because it is faster than other optimization methods like dynamic programming which makes decisions based on all the decisions made in the previous stage. </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287C98-D872-4E9D-BC8F-7D6A6E1FBEBE}"/>
              </a:ext>
            </a:extLst>
          </p:cNvPr>
          <p:cNvSpPr>
            <a:spLocks noGrp="1"/>
          </p:cNvSpPr>
          <p:nvPr>
            <p:ph type="title"/>
          </p:nvPr>
        </p:nvSpPr>
        <p:spPr/>
        <p:txBody>
          <a:bodyPr/>
          <a:lstStyle/>
          <a:p>
            <a:r>
              <a:rPr lang="en-US" altLang="zh-CN" dirty="0"/>
              <a:t>Example (optimal ): the change-making problem</a:t>
            </a:r>
            <a:endParaRPr lang="zh-CN" altLang="en-US" dirty="0"/>
          </a:p>
        </p:txBody>
      </p:sp>
      <p:sp>
        <p:nvSpPr>
          <p:cNvPr id="3" name="内容占位符 2">
            <a:extLst>
              <a:ext uri="{FF2B5EF4-FFF2-40B4-BE49-F238E27FC236}">
                <a16:creationId xmlns:a16="http://schemas.microsoft.com/office/drawing/2014/main" id="{E6D0AC3C-7BDD-4C0A-A692-60B8B949E591}"/>
              </a:ext>
            </a:extLst>
          </p:cNvPr>
          <p:cNvSpPr>
            <a:spLocks noGrp="1"/>
          </p:cNvSpPr>
          <p:nvPr>
            <p:ph idx="1"/>
          </p:nvPr>
        </p:nvSpPr>
        <p:spPr/>
        <p:txBody>
          <a:bodyPr/>
          <a:lstStyle/>
          <a:p>
            <a:r>
              <a:rPr lang="en-US" altLang="zh-CN" dirty="0"/>
              <a:t>Greedy algorithms determine minimum number of coins to give while making change. </a:t>
            </a:r>
          </a:p>
          <a:p>
            <a:r>
              <a:rPr lang="en-US" altLang="zh-CN" dirty="0"/>
              <a:t>In general, the change-making problem requires </a:t>
            </a:r>
            <a:r>
              <a:rPr lang="en-US" altLang="zh-CN" dirty="0">
                <a:solidFill>
                  <a:srgbClr val="FF0000"/>
                </a:solidFill>
              </a:rPr>
              <a:t>dynamic programming</a:t>
            </a:r>
            <a:r>
              <a:rPr lang="en-US" altLang="zh-CN" dirty="0"/>
              <a:t> to find an optimal solution; however, most currency systems, including the RMB, Euro and US Dollar, are special cases where </a:t>
            </a:r>
            <a:r>
              <a:rPr lang="en-US" altLang="zh-CN" dirty="0">
                <a:solidFill>
                  <a:srgbClr val="FF0000"/>
                </a:solidFill>
              </a:rPr>
              <a:t>the greedy strategy </a:t>
            </a:r>
            <a:r>
              <a:rPr lang="en-US" altLang="zh-CN" dirty="0"/>
              <a:t>does find an optimal solution.</a:t>
            </a:r>
            <a:endParaRPr lang="zh-CN" altLang="en-US" dirty="0"/>
          </a:p>
        </p:txBody>
      </p:sp>
      <p:pic>
        <p:nvPicPr>
          <p:cNvPr id="5" name="图片 4">
            <a:extLst>
              <a:ext uri="{FF2B5EF4-FFF2-40B4-BE49-F238E27FC236}">
                <a16:creationId xmlns:a16="http://schemas.microsoft.com/office/drawing/2014/main" id="{1032F4E3-360A-4124-8B5D-F5ABE12971A5}"/>
              </a:ext>
            </a:extLst>
          </p:cNvPr>
          <p:cNvPicPr>
            <a:picLocks noChangeAspect="1"/>
          </p:cNvPicPr>
          <p:nvPr/>
        </p:nvPicPr>
        <p:blipFill>
          <a:blip r:embed="rId2"/>
          <a:stretch>
            <a:fillRect/>
          </a:stretch>
        </p:blipFill>
        <p:spPr>
          <a:xfrm>
            <a:off x="1154097" y="4281056"/>
            <a:ext cx="3562905" cy="2576944"/>
          </a:xfrm>
          <a:prstGeom prst="rect">
            <a:avLst/>
          </a:prstGeom>
        </p:spPr>
      </p:pic>
      <p:sp>
        <p:nvSpPr>
          <p:cNvPr id="7" name="文本框 6">
            <a:extLst>
              <a:ext uri="{FF2B5EF4-FFF2-40B4-BE49-F238E27FC236}">
                <a16:creationId xmlns:a16="http://schemas.microsoft.com/office/drawing/2014/main" id="{BBFE834E-F189-43F7-9D88-C9F0C86596EE}"/>
              </a:ext>
            </a:extLst>
          </p:cNvPr>
          <p:cNvSpPr txBox="1"/>
          <p:nvPr/>
        </p:nvSpPr>
        <p:spPr>
          <a:xfrm>
            <a:off x="5032899" y="4560448"/>
            <a:ext cx="6094520" cy="523220"/>
          </a:xfrm>
          <a:prstGeom prst="rect">
            <a:avLst/>
          </a:prstGeom>
          <a:noFill/>
        </p:spPr>
        <p:txBody>
          <a:bodyPr wrap="square">
            <a:spAutoFit/>
          </a:bodyPr>
          <a:lstStyle/>
          <a:p>
            <a:r>
              <a:rPr lang="en-US" altLang="zh-CN" sz="2800">
                <a:solidFill>
                  <a:srgbClr val="0000FF"/>
                </a:solidFill>
              </a:rPr>
              <a:t>{</a:t>
            </a:r>
            <a:r>
              <a:rPr lang="zh-CN" altLang="en-US" sz="2800">
                <a:solidFill>
                  <a:srgbClr val="0000FF"/>
                </a:solidFill>
              </a:rPr>
              <a:t>1</a:t>
            </a:r>
            <a:r>
              <a:rPr lang="en-US" altLang="zh-CN" sz="2800">
                <a:solidFill>
                  <a:srgbClr val="0000FF"/>
                </a:solidFill>
              </a:rPr>
              <a:t>,</a:t>
            </a:r>
            <a:r>
              <a:rPr lang="zh-CN" altLang="en-US" sz="2800">
                <a:solidFill>
                  <a:srgbClr val="0000FF"/>
                </a:solidFill>
              </a:rPr>
              <a:t>2</a:t>
            </a:r>
            <a:r>
              <a:rPr lang="en-US" altLang="zh-CN" sz="2800">
                <a:solidFill>
                  <a:srgbClr val="0000FF"/>
                </a:solidFill>
              </a:rPr>
              <a:t>,</a:t>
            </a:r>
            <a:r>
              <a:rPr lang="zh-CN" altLang="en-US" sz="2800">
                <a:solidFill>
                  <a:srgbClr val="0000FF"/>
                </a:solidFill>
              </a:rPr>
              <a:t>4</a:t>
            </a:r>
            <a:r>
              <a:rPr lang="en-US" altLang="zh-CN" sz="2800">
                <a:solidFill>
                  <a:srgbClr val="0000FF"/>
                </a:solidFill>
              </a:rPr>
              <a:t>,</a:t>
            </a:r>
            <a:r>
              <a:rPr lang="zh-CN" altLang="en-US" sz="2800">
                <a:solidFill>
                  <a:srgbClr val="0000FF"/>
                </a:solidFill>
              </a:rPr>
              <a:t>5</a:t>
            </a:r>
            <a:r>
              <a:rPr lang="en-US" altLang="zh-CN" sz="2800">
                <a:solidFill>
                  <a:srgbClr val="0000FF"/>
                </a:solidFill>
              </a:rPr>
              <a:t>,</a:t>
            </a:r>
            <a:r>
              <a:rPr lang="zh-CN" altLang="en-US" sz="2800">
                <a:solidFill>
                  <a:srgbClr val="0000FF"/>
                </a:solidFill>
              </a:rPr>
              <a:t>6</a:t>
            </a:r>
            <a:r>
              <a:rPr lang="en-US" altLang="zh-CN" sz="2800">
                <a:solidFill>
                  <a:srgbClr val="0000FF"/>
                </a:solidFill>
              </a:rPr>
              <a:t>}, 9 (greedy, 6,2,1) (dp, 4,5)</a:t>
            </a:r>
            <a:endParaRPr lang="zh-CN" altLang="en-US" sz="2800">
              <a:solidFill>
                <a:srgbClr val="0000FF"/>
              </a:solidFill>
            </a:endParaRPr>
          </a:p>
        </p:txBody>
      </p:sp>
    </p:spTree>
    <p:extLst>
      <p:ext uri="{BB962C8B-B14F-4D97-AF65-F5344CB8AC3E}">
        <p14:creationId xmlns:p14="http://schemas.microsoft.com/office/powerpoint/2010/main" val="29046976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D86A090-D5B7-401A-8FB5-FCAB414B05E4}"/>
              </a:ext>
            </a:extLst>
          </p:cNvPr>
          <p:cNvSpPr>
            <a:spLocks noGrp="1"/>
          </p:cNvSpPr>
          <p:nvPr>
            <p:ph idx="1"/>
          </p:nvPr>
        </p:nvSpPr>
        <p:spPr>
          <a:xfrm>
            <a:off x="838200" y="417250"/>
            <a:ext cx="10515600" cy="5759713"/>
          </a:xfrm>
        </p:spPr>
        <p:txBody>
          <a:bodyPr>
            <a:normAutofit fontScale="70000" lnSpcReduction="20000"/>
          </a:bodyPr>
          <a:lstStyle/>
          <a:p>
            <a:pPr marL="0" indent="0">
              <a:buNone/>
            </a:pPr>
            <a:r>
              <a:rPr lang="en-US" altLang="zh-CN"/>
              <a:t>#include &lt;iostream&gt;</a:t>
            </a:r>
          </a:p>
          <a:p>
            <a:pPr marL="0" indent="0">
              <a:buNone/>
            </a:pPr>
            <a:r>
              <a:rPr lang="en-US" altLang="zh-CN"/>
              <a:t>using namespace std;</a:t>
            </a:r>
          </a:p>
          <a:p>
            <a:pPr marL="0" indent="0">
              <a:buNone/>
            </a:pPr>
            <a:r>
              <a:rPr lang="en-US" altLang="zh-CN"/>
              <a:t>#define NUM 3</a:t>
            </a:r>
          </a:p>
          <a:p>
            <a:pPr marL="0" indent="0">
              <a:buNone/>
            </a:pPr>
            <a:r>
              <a:rPr lang="en-US" altLang="zh-CN"/>
              <a:t>const int Value[NUM] = {5, 2, 1};  // descending order</a:t>
            </a:r>
          </a:p>
          <a:p>
            <a:pPr marL="0" indent="0">
              <a:buNone/>
            </a:pPr>
            <a:r>
              <a:rPr lang="en-US" altLang="zh-CN"/>
              <a:t>int main(){  </a:t>
            </a:r>
          </a:p>
          <a:p>
            <a:pPr marL="0" indent="0">
              <a:buNone/>
            </a:pPr>
            <a:r>
              <a:rPr lang="en-US" altLang="zh-CN"/>
              <a:t>    int i, money;</a:t>
            </a:r>
          </a:p>
          <a:p>
            <a:pPr marL="0" indent="0">
              <a:buNone/>
            </a:pPr>
            <a:r>
              <a:rPr lang="en-US" altLang="zh-CN"/>
              <a:t>    int ans[NUM]={0};</a:t>
            </a:r>
          </a:p>
          <a:p>
            <a:pPr marL="0" indent="0">
              <a:buNone/>
            </a:pPr>
            <a:r>
              <a:rPr lang="en-US" altLang="zh-CN"/>
              <a:t>    cin &gt;&gt; money;</a:t>
            </a:r>
          </a:p>
          <a:p>
            <a:pPr marL="0" indent="0">
              <a:buNone/>
            </a:pPr>
            <a:r>
              <a:rPr lang="en-US" altLang="zh-CN"/>
              <a:t>    for(i= 0; i &lt; NUM; i++){</a:t>
            </a:r>
          </a:p>
          <a:p>
            <a:pPr marL="0" indent="0">
              <a:buNone/>
            </a:pPr>
            <a:r>
              <a:rPr lang="en-US" altLang="zh-CN"/>
              <a:t>        ans[i] = money/Value[i];</a:t>
            </a:r>
          </a:p>
          <a:p>
            <a:pPr marL="0" indent="0">
              <a:buNone/>
            </a:pPr>
            <a:r>
              <a:rPr lang="en-US" altLang="zh-CN"/>
              <a:t>        money = money - ans[i]*Value[i];</a:t>
            </a:r>
          </a:p>
          <a:p>
            <a:pPr marL="0" indent="0">
              <a:buNone/>
            </a:pPr>
            <a:r>
              <a:rPr lang="en-US" altLang="zh-CN"/>
              <a:t>    }</a:t>
            </a:r>
          </a:p>
          <a:p>
            <a:pPr marL="0" indent="0">
              <a:buNone/>
            </a:pPr>
            <a:r>
              <a:rPr lang="en-US" altLang="zh-CN"/>
              <a:t>    for(i= 0; i &lt; NUM; i++)</a:t>
            </a:r>
          </a:p>
          <a:p>
            <a:pPr marL="0" indent="0">
              <a:buNone/>
            </a:pPr>
            <a:r>
              <a:rPr lang="en-US" altLang="zh-CN"/>
              <a:t>        cout&lt;&lt;Value[i]&lt;&lt;" "&lt;&lt;ans[i]&lt;&lt;endl;</a:t>
            </a:r>
          </a:p>
          <a:p>
            <a:pPr marL="0" indent="0">
              <a:buNone/>
            </a:pPr>
            <a:r>
              <a:rPr lang="en-US" altLang="zh-CN"/>
              <a:t>    return 0;</a:t>
            </a:r>
          </a:p>
          <a:p>
            <a:pPr marL="0" indent="0">
              <a:buNone/>
            </a:pPr>
            <a:r>
              <a:rPr lang="en-US" altLang="zh-CN"/>
              <a:t>}</a:t>
            </a:r>
          </a:p>
        </p:txBody>
      </p:sp>
    </p:spTree>
    <p:extLst>
      <p:ext uri="{BB962C8B-B14F-4D97-AF65-F5344CB8AC3E}">
        <p14:creationId xmlns:p14="http://schemas.microsoft.com/office/powerpoint/2010/main" val="3173472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E427D0-FC05-42B7-9D7F-7C0E128EAA2B}"/>
              </a:ext>
            </a:extLst>
          </p:cNvPr>
          <p:cNvSpPr>
            <a:spLocks noGrp="1"/>
          </p:cNvSpPr>
          <p:nvPr>
            <p:ph type="title"/>
          </p:nvPr>
        </p:nvSpPr>
        <p:spPr/>
        <p:txBody>
          <a:bodyPr/>
          <a:lstStyle/>
          <a:p>
            <a:r>
              <a:rPr lang="en-US" altLang="zh-CN" dirty="0"/>
              <a:t>Example (not optimal)</a:t>
            </a:r>
            <a:endParaRPr lang="zh-CN" altLang="en-US" dirty="0"/>
          </a:p>
        </p:txBody>
      </p:sp>
      <p:pic>
        <p:nvPicPr>
          <p:cNvPr id="5" name="内容占位符 4">
            <a:extLst>
              <a:ext uri="{FF2B5EF4-FFF2-40B4-BE49-F238E27FC236}">
                <a16:creationId xmlns:a16="http://schemas.microsoft.com/office/drawing/2014/main" id="{3F1E3854-14AC-4628-85DC-1FB6AA0754E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43468" y="2416075"/>
            <a:ext cx="2857500" cy="1714500"/>
          </a:xfrm>
        </p:spPr>
      </p:pic>
    </p:spTree>
    <p:extLst>
      <p:ext uri="{BB962C8B-B14F-4D97-AF65-F5344CB8AC3E}">
        <p14:creationId xmlns:p14="http://schemas.microsoft.com/office/powerpoint/2010/main" val="17488936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D0BEC4-333D-4FF8-8F7D-24C7C94ED978}"/>
              </a:ext>
            </a:extLst>
          </p:cNvPr>
          <p:cNvSpPr>
            <a:spLocks noGrp="1"/>
          </p:cNvSpPr>
          <p:nvPr>
            <p:ph type="title"/>
          </p:nvPr>
        </p:nvSpPr>
        <p:spPr/>
        <p:txBody>
          <a:bodyPr/>
          <a:lstStyle/>
          <a:p>
            <a:r>
              <a:rPr lang="en-US" altLang="zh-CN"/>
              <a:t>Applications</a:t>
            </a:r>
            <a:endParaRPr lang="zh-CN" altLang="en-US"/>
          </a:p>
        </p:txBody>
      </p:sp>
      <p:sp>
        <p:nvSpPr>
          <p:cNvPr id="3" name="内容占位符 2">
            <a:extLst>
              <a:ext uri="{FF2B5EF4-FFF2-40B4-BE49-F238E27FC236}">
                <a16:creationId xmlns:a16="http://schemas.microsoft.com/office/drawing/2014/main" id="{AFBCC440-8F2C-412F-9603-10BBE2448DC9}"/>
              </a:ext>
            </a:extLst>
          </p:cNvPr>
          <p:cNvSpPr>
            <a:spLocks noGrp="1"/>
          </p:cNvSpPr>
          <p:nvPr>
            <p:ph idx="1"/>
          </p:nvPr>
        </p:nvSpPr>
        <p:spPr/>
        <p:txBody>
          <a:bodyPr>
            <a:normAutofit lnSpcReduction="10000"/>
          </a:bodyPr>
          <a:lstStyle/>
          <a:p>
            <a:r>
              <a:rPr lang="en-US" altLang="zh-CN" dirty="0"/>
              <a:t>Examples of such greedy algorithms are </a:t>
            </a:r>
            <a:r>
              <a:rPr lang="en-US" altLang="zh-CN" dirty="0">
                <a:solidFill>
                  <a:srgbClr val="FF0000"/>
                </a:solidFill>
              </a:rPr>
              <a:t>Kruskal's algorithm </a:t>
            </a:r>
            <a:r>
              <a:rPr lang="en-US" altLang="zh-CN" dirty="0"/>
              <a:t>and </a:t>
            </a:r>
            <a:r>
              <a:rPr lang="en-US" altLang="zh-CN" dirty="0">
                <a:solidFill>
                  <a:srgbClr val="FF0000"/>
                </a:solidFill>
              </a:rPr>
              <a:t>Prim's algorithm </a:t>
            </a:r>
            <a:r>
              <a:rPr lang="en-US" altLang="zh-CN" dirty="0"/>
              <a:t>for finding </a:t>
            </a:r>
            <a:r>
              <a:rPr lang="en-US" altLang="zh-CN" dirty="0">
                <a:solidFill>
                  <a:srgbClr val="FF0000"/>
                </a:solidFill>
              </a:rPr>
              <a:t>minimum spanning trees</a:t>
            </a:r>
            <a:r>
              <a:rPr lang="en-US" altLang="zh-CN" dirty="0"/>
              <a:t>, and the algorithm for finding </a:t>
            </a:r>
            <a:r>
              <a:rPr lang="en-US" altLang="zh-CN" dirty="0">
                <a:solidFill>
                  <a:srgbClr val="FF0000"/>
                </a:solidFill>
              </a:rPr>
              <a:t>optimum Huffman trees</a:t>
            </a:r>
            <a:r>
              <a:rPr lang="en-US" altLang="zh-CN" dirty="0"/>
              <a:t>.</a:t>
            </a:r>
          </a:p>
          <a:p>
            <a:r>
              <a:rPr lang="en-US" altLang="zh-CN" dirty="0">
                <a:solidFill>
                  <a:srgbClr val="FF0000"/>
                </a:solidFill>
              </a:rPr>
              <a:t>Dijkstra's algorithm </a:t>
            </a:r>
            <a:r>
              <a:rPr lang="en-US" altLang="zh-CN" dirty="0"/>
              <a:t>and the related </a:t>
            </a:r>
            <a:r>
              <a:rPr lang="en-US" altLang="zh-CN" dirty="0">
                <a:solidFill>
                  <a:srgbClr val="7030A0"/>
                </a:solidFill>
              </a:rPr>
              <a:t>A* search algorithm </a:t>
            </a:r>
            <a:r>
              <a:rPr lang="en-US" altLang="zh-CN" dirty="0"/>
              <a:t>are verifiably optimal greedy algorithms for graph search and shortest path finding.</a:t>
            </a:r>
          </a:p>
          <a:p>
            <a:pPr lvl="1"/>
            <a:r>
              <a:rPr lang="en-US" altLang="zh-CN" dirty="0"/>
              <a:t>A* search is conditionally optimal, requiring an "</a:t>
            </a:r>
            <a:r>
              <a:rPr lang="en-US" altLang="zh-CN" dirty="0">
                <a:solidFill>
                  <a:srgbClr val="0000FF"/>
                </a:solidFill>
              </a:rPr>
              <a:t>admissible heuristic</a:t>
            </a:r>
            <a:r>
              <a:rPr lang="en-US" altLang="zh-CN" dirty="0"/>
              <a:t>" that will not overestimate path costs.</a:t>
            </a:r>
          </a:p>
          <a:p>
            <a:r>
              <a:rPr lang="en-US" altLang="zh-CN" dirty="0"/>
              <a:t>The </a:t>
            </a:r>
            <a:r>
              <a:rPr lang="en-US" altLang="zh-CN" b="1" dirty="0">
                <a:solidFill>
                  <a:srgbClr val="7030A0"/>
                </a:solidFill>
              </a:rPr>
              <a:t>activity selection problem </a:t>
            </a:r>
            <a:r>
              <a:rPr lang="en-US" altLang="zh-CN" dirty="0"/>
              <a:t>is characteristic to this class of problems, where the goal is to pick the maximum number of activities that do not clash with each other.</a:t>
            </a:r>
          </a:p>
        </p:txBody>
      </p:sp>
    </p:spTree>
    <p:extLst>
      <p:ext uri="{BB962C8B-B14F-4D97-AF65-F5344CB8AC3E}">
        <p14:creationId xmlns:p14="http://schemas.microsoft.com/office/powerpoint/2010/main" val="28611965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B2B6B6-49B6-44BC-BDAC-8C6C605F79DD}"/>
              </a:ext>
            </a:extLst>
          </p:cNvPr>
          <p:cNvSpPr>
            <a:spLocks noGrp="1"/>
          </p:cNvSpPr>
          <p:nvPr>
            <p:ph type="title"/>
          </p:nvPr>
        </p:nvSpPr>
        <p:spPr/>
        <p:txBody>
          <a:bodyPr/>
          <a:lstStyle/>
          <a:p>
            <a:r>
              <a:rPr lang="en-US" altLang="zh-CN" dirty="0"/>
              <a:t>Two easy problems</a:t>
            </a:r>
            <a:endParaRPr lang="zh-CN" altLang="en-US" dirty="0"/>
          </a:p>
        </p:txBody>
      </p:sp>
      <p:sp>
        <p:nvSpPr>
          <p:cNvPr id="3" name="内容占位符 2">
            <a:extLst>
              <a:ext uri="{FF2B5EF4-FFF2-40B4-BE49-F238E27FC236}">
                <a16:creationId xmlns:a16="http://schemas.microsoft.com/office/drawing/2014/main" id="{CA0C92E8-8C1A-46DB-B578-867E5A4827B1}"/>
              </a:ext>
            </a:extLst>
          </p:cNvPr>
          <p:cNvSpPr>
            <a:spLocks noGrp="1"/>
          </p:cNvSpPr>
          <p:nvPr>
            <p:ph idx="1"/>
          </p:nvPr>
        </p:nvSpPr>
        <p:spPr/>
        <p:txBody>
          <a:bodyPr/>
          <a:lstStyle/>
          <a:p>
            <a:r>
              <a:rPr lang="en-US" altLang="zh-CN" dirty="0"/>
              <a:t>Given n items, the weight and value of the </a:t>
            </a:r>
            <a:r>
              <a:rPr lang="en-US" altLang="zh-CN" dirty="0" err="1"/>
              <a:t>i-th</a:t>
            </a:r>
            <a:r>
              <a:rPr lang="en-US" altLang="zh-CN" dirty="0"/>
              <a:t> item are w[</a:t>
            </a:r>
            <a:r>
              <a:rPr lang="en-US" altLang="zh-CN" dirty="0" err="1"/>
              <a:t>i</a:t>
            </a:r>
            <a:r>
              <a:rPr lang="en-US" altLang="zh-CN" dirty="0"/>
              <a:t>] and v[</a:t>
            </a:r>
            <a:r>
              <a:rPr lang="en-US" altLang="zh-CN" dirty="0" err="1"/>
              <a:t>i</a:t>
            </a:r>
            <a:r>
              <a:rPr lang="en-US" altLang="zh-CN" dirty="0"/>
              <a:t>] respectively. Compute the total value as high as possible under the condition that the total weight does not exceed C. </a:t>
            </a:r>
            <a:r>
              <a:rPr lang="en-US" altLang="zh-CN" dirty="0">
                <a:solidFill>
                  <a:srgbClr val="FF0000"/>
                </a:solidFill>
              </a:rPr>
              <a:t>Each item can be taken away proportionally</a:t>
            </a:r>
            <a:r>
              <a:rPr lang="en-US" altLang="zh-CN" dirty="0"/>
              <a:t>.</a:t>
            </a:r>
          </a:p>
          <a:p>
            <a:r>
              <a:rPr lang="en-US" altLang="zh-CN" dirty="0"/>
              <a:t>Given n persons, the weight of the </a:t>
            </a:r>
            <a:r>
              <a:rPr lang="en-US" altLang="zh-CN" dirty="0" err="1"/>
              <a:t>i-th</a:t>
            </a:r>
            <a:r>
              <a:rPr lang="en-US" altLang="zh-CN" dirty="0"/>
              <a:t> person is w[</a:t>
            </a:r>
            <a:r>
              <a:rPr lang="en-US" altLang="zh-CN" dirty="0" err="1"/>
              <a:t>i</a:t>
            </a:r>
            <a:r>
              <a:rPr lang="en-US" altLang="zh-CN" dirty="0"/>
              <a:t>]. The maximum load capacity of a ship is C, and it can only take two persons once at most. Load everyone with the least number of ships.</a:t>
            </a:r>
            <a:endParaRPr lang="zh-CN" altLang="en-US" dirty="0"/>
          </a:p>
        </p:txBody>
      </p:sp>
    </p:spTree>
    <p:extLst>
      <p:ext uri="{BB962C8B-B14F-4D97-AF65-F5344CB8AC3E}">
        <p14:creationId xmlns:p14="http://schemas.microsoft.com/office/powerpoint/2010/main" val="1501084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3">
            <a:extLst>
              <a:ext uri="{FF2B5EF4-FFF2-40B4-BE49-F238E27FC236}">
                <a16:creationId xmlns:a16="http://schemas.microsoft.com/office/drawing/2014/main" id="{58B0C30D-FB15-4AA0-BCEF-C0A16C7B6F16}"/>
              </a:ext>
            </a:extLst>
          </p:cNvPr>
          <p:cNvSpPr>
            <a:spLocks noGrp="1" noChangeArrowheads="1"/>
          </p:cNvSpPr>
          <p:nvPr>
            <p:ph type="title"/>
          </p:nvPr>
        </p:nvSpPr>
        <p:spPr/>
        <p:txBody>
          <a:bodyPr/>
          <a:lstStyle/>
          <a:p>
            <a:r>
              <a:rPr lang="en-US" altLang="zh-CN"/>
              <a:t>Problems</a:t>
            </a:r>
            <a:endParaRPr lang="zh-CN" altLang="en-US"/>
          </a:p>
        </p:txBody>
      </p:sp>
      <p:sp>
        <p:nvSpPr>
          <p:cNvPr id="87043" name="内容占位符 2">
            <a:extLst>
              <a:ext uri="{FF2B5EF4-FFF2-40B4-BE49-F238E27FC236}">
                <a16:creationId xmlns:a16="http://schemas.microsoft.com/office/drawing/2014/main" id="{B2B363F1-543E-46FA-A27D-B65B93B58F8D}"/>
              </a:ext>
            </a:extLst>
          </p:cNvPr>
          <p:cNvSpPr>
            <a:spLocks noGrp="1" noChangeArrowheads="1"/>
          </p:cNvSpPr>
          <p:nvPr>
            <p:ph idx="1"/>
          </p:nvPr>
        </p:nvSpPr>
        <p:spPr/>
        <p:txBody>
          <a:bodyPr/>
          <a:lstStyle/>
          <a:p>
            <a:r>
              <a:rPr lang="en-US" altLang="zh-CN" dirty="0"/>
              <a:t>The activity selection problem</a:t>
            </a:r>
          </a:p>
          <a:p>
            <a:r>
              <a:rPr lang="en-US" altLang="zh-CN" dirty="0"/>
              <a:t>Tian Ji -- The Horse Racing</a:t>
            </a:r>
          </a:p>
          <a:p>
            <a:r>
              <a:rPr lang="en-US" altLang="zh-CN" dirty="0"/>
              <a:t>Physical Examination</a:t>
            </a:r>
          </a:p>
          <a:p>
            <a:r>
              <a:rPr lang="en-US" altLang="zh-CN" dirty="0"/>
              <a:t>Solving problems by using Huffman coding</a:t>
            </a:r>
          </a:p>
          <a:p>
            <a:pPr lvl="1"/>
            <a:r>
              <a:rPr lang="en-US" altLang="zh-CN" dirty="0"/>
              <a:t>Entropy</a:t>
            </a:r>
          </a:p>
          <a:p>
            <a:pPr lvl="1"/>
            <a:r>
              <a:rPr lang="en-US" altLang="zh-CN" dirty="0"/>
              <a:t>Add All</a:t>
            </a:r>
          </a:p>
          <a:p>
            <a:r>
              <a:rPr lang="en-US" altLang="zh-CN" dirty="0"/>
              <a:t>Gone</a:t>
            </a:r>
            <a:r>
              <a:rPr lang="zh-CN" altLang="en-US" dirty="0"/>
              <a:t> </a:t>
            </a:r>
            <a:r>
              <a:rPr lang="en-US" altLang="zh-CN" dirty="0"/>
              <a:t>Fishing</a:t>
            </a:r>
          </a:p>
          <a:p>
            <a:endParaRPr lang="en-US" altLang="zh-C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3F963A-30E5-4B86-91E3-AE9EAF2BA9C2}"/>
              </a:ext>
            </a:extLst>
          </p:cNvPr>
          <p:cNvSpPr>
            <a:spLocks noGrp="1"/>
          </p:cNvSpPr>
          <p:nvPr>
            <p:ph type="title"/>
          </p:nvPr>
        </p:nvSpPr>
        <p:spPr/>
        <p:txBody>
          <a:bodyPr/>
          <a:lstStyle/>
          <a:p>
            <a:r>
              <a:rPr lang="en-US" altLang="zh-CN"/>
              <a:t>The activity selection problem</a:t>
            </a:r>
            <a:endParaRPr lang="zh-CN" altLang="en-US"/>
          </a:p>
        </p:txBody>
      </p:sp>
      <p:sp>
        <p:nvSpPr>
          <p:cNvPr id="3" name="内容占位符 2">
            <a:extLst>
              <a:ext uri="{FF2B5EF4-FFF2-40B4-BE49-F238E27FC236}">
                <a16:creationId xmlns:a16="http://schemas.microsoft.com/office/drawing/2014/main" id="{915A5AE2-95BA-46A3-9DF5-5B7ADA01D1AD}"/>
              </a:ext>
            </a:extLst>
          </p:cNvPr>
          <p:cNvSpPr>
            <a:spLocks noGrp="1"/>
          </p:cNvSpPr>
          <p:nvPr>
            <p:ph idx="1"/>
          </p:nvPr>
        </p:nvSpPr>
        <p:spPr/>
        <p:txBody>
          <a:bodyPr>
            <a:normAutofit/>
          </a:bodyPr>
          <a:lstStyle/>
          <a:p>
            <a:r>
              <a:rPr lang="en-US" altLang="zh-CN" dirty="0"/>
              <a:t>The activity selection problem is a </a:t>
            </a:r>
            <a:r>
              <a:rPr lang="en-US" altLang="zh-CN" dirty="0">
                <a:solidFill>
                  <a:srgbClr val="FF0000"/>
                </a:solidFill>
              </a:rPr>
              <a:t>combinatorial optimization </a:t>
            </a:r>
            <a:r>
              <a:rPr lang="en-US" altLang="zh-CN" dirty="0"/>
              <a:t>problem concerning the selection of non-conflicting activities to perform within a given time frame, given a set of activities each marked by </a:t>
            </a:r>
            <a:r>
              <a:rPr lang="en-US" altLang="zh-CN" dirty="0">
                <a:solidFill>
                  <a:srgbClr val="FF0000"/>
                </a:solidFill>
              </a:rPr>
              <a:t>a start time (</a:t>
            </a:r>
            <a:r>
              <a:rPr lang="en-US" altLang="zh-CN" dirty="0" err="1">
                <a:solidFill>
                  <a:srgbClr val="FF0000"/>
                </a:solidFill>
              </a:rPr>
              <a:t>si</a:t>
            </a:r>
            <a:r>
              <a:rPr lang="en-US" altLang="zh-CN" dirty="0">
                <a:solidFill>
                  <a:srgbClr val="FF0000"/>
                </a:solidFill>
              </a:rPr>
              <a:t>) </a:t>
            </a:r>
            <a:r>
              <a:rPr lang="en-US" altLang="zh-CN" dirty="0"/>
              <a:t>and </a:t>
            </a:r>
            <a:r>
              <a:rPr lang="en-US" altLang="zh-CN" dirty="0">
                <a:solidFill>
                  <a:srgbClr val="FF0000"/>
                </a:solidFill>
              </a:rPr>
              <a:t>finish time (fi)</a:t>
            </a:r>
            <a:r>
              <a:rPr lang="en-US" altLang="zh-CN" dirty="0"/>
              <a:t>. </a:t>
            </a:r>
          </a:p>
          <a:p>
            <a:r>
              <a:rPr lang="en-US" altLang="zh-CN" dirty="0"/>
              <a:t>The problem is to select the </a:t>
            </a:r>
            <a:r>
              <a:rPr lang="en-US" altLang="zh-CN" dirty="0">
                <a:solidFill>
                  <a:srgbClr val="FF0000"/>
                </a:solidFill>
              </a:rPr>
              <a:t>maximum number of activities </a:t>
            </a:r>
            <a:r>
              <a:rPr lang="en-US" altLang="zh-CN" dirty="0"/>
              <a:t>that can be performed by a single person or machine, assuming that a person can only work on a single activity at a time.</a:t>
            </a:r>
          </a:p>
          <a:p>
            <a:r>
              <a:rPr lang="en-US" altLang="zh-CN" dirty="0"/>
              <a:t>A classic application of this problem is in scheduling a room for multiple competing events, each having its own time limit (start and finish time).</a:t>
            </a:r>
            <a:endParaRPr lang="zh-CN" altLang="en-US" dirty="0"/>
          </a:p>
        </p:txBody>
      </p:sp>
    </p:spTree>
    <p:extLst>
      <p:ext uri="{BB962C8B-B14F-4D97-AF65-F5344CB8AC3E}">
        <p14:creationId xmlns:p14="http://schemas.microsoft.com/office/powerpoint/2010/main" val="707089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4155D1-1F84-4FCF-93FB-6FA88BCBE768}"/>
              </a:ext>
            </a:extLst>
          </p:cNvPr>
          <p:cNvSpPr>
            <a:spLocks noGrp="1"/>
          </p:cNvSpPr>
          <p:nvPr>
            <p:ph type="title"/>
          </p:nvPr>
        </p:nvSpPr>
        <p:spPr/>
        <p:txBody>
          <a:bodyPr/>
          <a:lstStyle/>
          <a:p>
            <a:r>
              <a:rPr lang="en-US" altLang="zh-CN"/>
              <a:t>Formal definition</a:t>
            </a:r>
            <a:endParaRPr lang="zh-CN" altLang="en-US"/>
          </a:p>
        </p:txBody>
      </p:sp>
      <p:sp>
        <p:nvSpPr>
          <p:cNvPr id="3" name="内容占位符 2">
            <a:extLst>
              <a:ext uri="{FF2B5EF4-FFF2-40B4-BE49-F238E27FC236}">
                <a16:creationId xmlns:a16="http://schemas.microsoft.com/office/drawing/2014/main" id="{6B29898A-8232-40A4-A467-F48CD8385824}"/>
              </a:ext>
            </a:extLst>
          </p:cNvPr>
          <p:cNvSpPr>
            <a:spLocks noGrp="1"/>
          </p:cNvSpPr>
          <p:nvPr>
            <p:ph idx="1"/>
          </p:nvPr>
        </p:nvSpPr>
        <p:spPr/>
        <p:txBody>
          <a:bodyPr/>
          <a:lstStyle/>
          <a:p>
            <a:r>
              <a:rPr lang="en-US" altLang="zh-CN" dirty="0"/>
              <a:t>Assume there exist </a:t>
            </a:r>
            <a:r>
              <a:rPr lang="en-US" altLang="zh-CN" i="1" dirty="0"/>
              <a:t>n</a:t>
            </a:r>
            <a:r>
              <a:rPr lang="en-US" altLang="zh-CN" dirty="0"/>
              <a:t> activities with each of them being represented by a start time </a:t>
            </a:r>
            <a:r>
              <a:rPr lang="en-US" altLang="zh-CN" i="1" dirty="0" err="1"/>
              <a:t>si</a:t>
            </a:r>
            <a:r>
              <a:rPr lang="en-US" altLang="zh-CN" dirty="0"/>
              <a:t> and finish time </a:t>
            </a:r>
            <a:r>
              <a:rPr lang="en-US" altLang="zh-CN" i="1" dirty="0"/>
              <a:t>fi</a:t>
            </a:r>
            <a:r>
              <a:rPr lang="en-US" altLang="zh-CN" dirty="0"/>
              <a:t>. Two activities </a:t>
            </a:r>
            <a:r>
              <a:rPr lang="en-US" altLang="zh-CN" i="1" dirty="0" err="1"/>
              <a:t>i</a:t>
            </a:r>
            <a:r>
              <a:rPr lang="en-US" altLang="zh-CN" dirty="0"/>
              <a:t> and </a:t>
            </a:r>
            <a:r>
              <a:rPr lang="en-US" altLang="zh-CN" i="1" dirty="0"/>
              <a:t>j</a:t>
            </a:r>
            <a:r>
              <a:rPr lang="en-US" altLang="zh-CN" dirty="0"/>
              <a:t> are said to be non-conflicting if </a:t>
            </a:r>
            <a:r>
              <a:rPr lang="en-US" altLang="zh-CN" i="1" dirty="0" err="1"/>
              <a:t>si</a:t>
            </a:r>
            <a:r>
              <a:rPr lang="en-US" altLang="zh-CN" i="1" dirty="0"/>
              <a:t> ≥ fj </a:t>
            </a:r>
            <a:r>
              <a:rPr lang="en-US" altLang="zh-CN" dirty="0"/>
              <a:t>or </a:t>
            </a:r>
            <a:r>
              <a:rPr lang="en-US" altLang="zh-CN" i="1" dirty="0" err="1"/>
              <a:t>sj</a:t>
            </a:r>
            <a:r>
              <a:rPr lang="en-US" altLang="zh-CN" i="1" dirty="0"/>
              <a:t> ≥ fi</a:t>
            </a:r>
            <a:r>
              <a:rPr lang="en-US" altLang="zh-CN" dirty="0"/>
              <a:t>. The activity selection problem consists in finding the maximal solution set (S) of non-conflicting activities.</a:t>
            </a:r>
            <a:endParaRPr lang="zh-CN" altLang="en-US" dirty="0"/>
          </a:p>
        </p:txBody>
      </p:sp>
    </p:spTree>
    <p:extLst>
      <p:ext uri="{BB962C8B-B14F-4D97-AF65-F5344CB8AC3E}">
        <p14:creationId xmlns:p14="http://schemas.microsoft.com/office/powerpoint/2010/main" val="864885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BBA09E75-F157-480B-AD79-3198CB370A31}"/>
              </a:ext>
            </a:extLst>
          </p:cNvPr>
          <p:cNvSpPr>
            <a:spLocks noChangeArrowheads="1"/>
          </p:cNvSpPr>
          <p:nvPr/>
        </p:nvSpPr>
        <p:spPr bwMode="auto">
          <a:xfrm>
            <a:off x="1869018" y="1218194"/>
            <a:ext cx="77771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dirty="0">
                <a:solidFill>
                  <a:srgbClr val="000000"/>
                </a:solidFill>
                <a:latin typeface="Arial" panose="020B0604020202020204" pitchFamily="34" charset="0"/>
              </a:rPr>
              <a:t>For example: there are 11 activities.</a:t>
            </a:r>
            <a:endParaRPr lang="zh-CN" altLang="zh-CN" sz="2800" dirty="0">
              <a:solidFill>
                <a:srgbClr val="000000"/>
              </a:solidFill>
              <a:latin typeface="Arial" panose="020B0604020202020204" pitchFamily="34" charset="0"/>
            </a:endParaRPr>
          </a:p>
        </p:txBody>
      </p:sp>
      <p:grpSp>
        <p:nvGrpSpPr>
          <p:cNvPr id="100355" name="Group 3">
            <a:extLst>
              <a:ext uri="{FF2B5EF4-FFF2-40B4-BE49-F238E27FC236}">
                <a16:creationId xmlns:a16="http://schemas.microsoft.com/office/drawing/2014/main" id="{27FBE00E-8F40-4286-8734-598BD55EC24A}"/>
              </a:ext>
            </a:extLst>
          </p:cNvPr>
          <p:cNvGrpSpPr>
            <a:grpSpLocks/>
          </p:cNvGrpSpPr>
          <p:nvPr/>
        </p:nvGrpSpPr>
        <p:grpSpPr bwMode="auto">
          <a:xfrm>
            <a:off x="2027237" y="2674144"/>
            <a:ext cx="8137525" cy="1509712"/>
            <a:chOff x="0" y="0"/>
            <a:chExt cx="2044" cy="1444"/>
          </a:xfrm>
        </p:grpSpPr>
        <p:grpSp>
          <p:nvGrpSpPr>
            <p:cNvPr id="100356" name="Group 4">
              <a:extLst>
                <a:ext uri="{FF2B5EF4-FFF2-40B4-BE49-F238E27FC236}">
                  <a16:creationId xmlns:a16="http://schemas.microsoft.com/office/drawing/2014/main" id="{43BBF873-1A2E-4582-877A-855D77D5D3C8}"/>
                </a:ext>
              </a:extLst>
            </p:cNvPr>
            <p:cNvGrpSpPr>
              <a:grpSpLocks/>
            </p:cNvGrpSpPr>
            <p:nvPr/>
          </p:nvGrpSpPr>
          <p:grpSpPr bwMode="auto">
            <a:xfrm>
              <a:off x="2" y="2"/>
              <a:ext cx="2040" cy="1440"/>
              <a:chOff x="0" y="0"/>
              <a:chExt cx="2040" cy="1440"/>
            </a:xfrm>
          </p:grpSpPr>
          <p:grpSp>
            <p:nvGrpSpPr>
              <p:cNvPr id="100358" name="Group 5">
                <a:extLst>
                  <a:ext uri="{FF2B5EF4-FFF2-40B4-BE49-F238E27FC236}">
                    <a16:creationId xmlns:a16="http://schemas.microsoft.com/office/drawing/2014/main" id="{B56441F0-C020-4B07-ABF6-3DFE2EAA2AC6}"/>
                  </a:ext>
                </a:extLst>
              </p:cNvPr>
              <p:cNvGrpSpPr>
                <a:grpSpLocks/>
              </p:cNvGrpSpPr>
              <p:nvPr/>
            </p:nvGrpSpPr>
            <p:grpSpPr bwMode="auto">
              <a:xfrm>
                <a:off x="0" y="0"/>
                <a:ext cx="170" cy="480"/>
                <a:chOff x="0" y="0"/>
                <a:chExt cx="170" cy="480"/>
              </a:xfrm>
            </p:grpSpPr>
            <p:sp>
              <p:nvSpPr>
                <p:cNvPr id="100464" name="Rectangle 6">
                  <a:extLst>
                    <a:ext uri="{FF2B5EF4-FFF2-40B4-BE49-F238E27FC236}">
                      <a16:creationId xmlns:a16="http://schemas.microsoft.com/office/drawing/2014/main" id="{DD1ED0F4-E6F6-4B8E-8CC9-965609A47455}"/>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i="1">
                      <a:solidFill>
                        <a:srgbClr val="000000"/>
                      </a:solidFill>
                    </a:rPr>
                    <a:t>i</a:t>
                  </a:r>
                  <a:endParaRPr lang="zh-CN" altLang="zh-CN" sz="2400" b="1">
                    <a:solidFill>
                      <a:srgbClr val="000000"/>
                    </a:solidFill>
                  </a:endParaRPr>
                </a:p>
                <a:p>
                  <a:pPr algn="ctr">
                    <a:spcBef>
                      <a:spcPct val="0"/>
                    </a:spcBef>
                    <a:buFontTx/>
                    <a:buNone/>
                  </a:pPr>
                  <a:endParaRPr lang="zh-CN" altLang="zh-CN" sz="2400" b="1">
                    <a:solidFill>
                      <a:srgbClr val="000000"/>
                    </a:solidFill>
                  </a:endParaRPr>
                </a:p>
              </p:txBody>
            </p:sp>
            <p:sp>
              <p:nvSpPr>
                <p:cNvPr id="100465" name="Rectangle 7">
                  <a:extLst>
                    <a:ext uri="{FF2B5EF4-FFF2-40B4-BE49-F238E27FC236}">
                      <a16:creationId xmlns:a16="http://schemas.microsoft.com/office/drawing/2014/main" id="{24A85BAD-40A8-437F-A01D-A40DDB7886CD}"/>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59" name="Group 8">
                <a:extLst>
                  <a:ext uri="{FF2B5EF4-FFF2-40B4-BE49-F238E27FC236}">
                    <a16:creationId xmlns:a16="http://schemas.microsoft.com/office/drawing/2014/main" id="{F5D66437-D75E-4894-B6D5-A61011AC916A}"/>
                  </a:ext>
                </a:extLst>
              </p:cNvPr>
              <p:cNvGrpSpPr>
                <a:grpSpLocks/>
              </p:cNvGrpSpPr>
              <p:nvPr/>
            </p:nvGrpSpPr>
            <p:grpSpPr bwMode="auto">
              <a:xfrm>
                <a:off x="170" y="0"/>
                <a:ext cx="170" cy="480"/>
                <a:chOff x="0" y="0"/>
                <a:chExt cx="170" cy="480"/>
              </a:xfrm>
            </p:grpSpPr>
            <p:sp>
              <p:nvSpPr>
                <p:cNvPr id="100462" name="Rectangle 9">
                  <a:extLst>
                    <a:ext uri="{FF2B5EF4-FFF2-40B4-BE49-F238E27FC236}">
                      <a16:creationId xmlns:a16="http://schemas.microsoft.com/office/drawing/2014/main" id="{650C07B8-9714-4CB3-B2D0-CA9B1AC11D8A}"/>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a:solidFill>
                        <a:srgbClr val="000000"/>
                      </a:solidFill>
                    </a:rPr>
                    <a:t>1</a:t>
                  </a:r>
                </a:p>
                <a:p>
                  <a:pPr algn="ctr">
                    <a:spcBef>
                      <a:spcPct val="0"/>
                    </a:spcBef>
                    <a:buFontTx/>
                    <a:buNone/>
                  </a:pPr>
                  <a:endParaRPr lang="zh-CN" altLang="zh-CN" sz="2400" b="1">
                    <a:solidFill>
                      <a:srgbClr val="000000"/>
                    </a:solidFill>
                  </a:endParaRPr>
                </a:p>
              </p:txBody>
            </p:sp>
            <p:sp>
              <p:nvSpPr>
                <p:cNvPr id="100463" name="Rectangle 10">
                  <a:extLst>
                    <a:ext uri="{FF2B5EF4-FFF2-40B4-BE49-F238E27FC236}">
                      <a16:creationId xmlns:a16="http://schemas.microsoft.com/office/drawing/2014/main" id="{3D9F2C31-3057-4269-B8C4-BA6B6C0FFDAB}"/>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60" name="Group 11">
                <a:extLst>
                  <a:ext uri="{FF2B5EF4-FFF2-40B4-BE49-F238E27FC236}">
                    <a16:creationId xmlns:a16="http://schemas.microsoft.com/office/drawing/2014/main" id="{2A9DE7CD-6217-440C-B02F-09EF3338CB2E}"/>
                  </a:ext>
                </a:extLst>
              </p:cNvPr>
              <p:cNvGrpSpPr>
                <a:grpSpLocks/>
              </p:cNvGrpSpPr>
              <p:nvPr/>
            </p:nvGrpSpPr>
            <p:grpSpPr bwMode="auto">
              <a:xfrm>
                <a:off x="340" y="0"/>
                <a:ext cx="170" cy="480"/>
                <a:chOff x="0" y="0"/>
                <a:chExt cx="170" cy="480"/>
              </a:xfrm>
            </p:grpSpPr>
            <p:sp>
              <p:nvSpPr>
                <p:cNvPr id="100460" name="Rectangle 12">
                  <a:extLst>
                    <a:ext uri="{FF2B5EF4-FFF2-40B4-BE49-F238E27FC236}">
                      <a16:creationId xmlns:a16="http://schemas.microsoft.com/office/drawing/2014/main" id="{0B9F7C07-3FC5-4A5D-A341-C5EFB3304EC7}"/>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a:solidFill>
                        <a:srgbClr val="000000"/>
                      </a:solidFill>
                    </a:rPr>
                    <a:t>2</a:t>
                  </a:r>
                </a:p>
                <a:p>
                  <a:pPr algn="ctr">
                    <a:spcBef>
                      <a:spcPct val="0"/>
                    </a:spcBef>
                    <a:buFontTx/>
                    <a:buNone/>
                  </a:pPr>
                  <a:endParaRPr lang="zh-CN" altLang="zh-CN" sz="2400" b="1">
                    <a:solidFill>
                      <a:srgbClr val="000000"/>
                    </a:solidFill>
                  </a:endParaRPr>
                </a:p>
              </p:txBody>
            </p:sp>
            <p:sp>
              <p:nvSpPr>
                <p:cNvPr id="100461" name="Rectangle 13">
                  <a:extLst>
                    <a:ext uri="{FF2B5EF4-FFF2-40B4-BE49-F238E27FC236}">
                      <a16:creationId xmlns:a16="http://schemas.microsoft.com/office/drawing/2014/main" id="{0A21493E-9C27-442E-8718-A83590725096}"/>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61" name="Group 14">
                <a:extLst>
                  <a:ext uri="{FF2B5EF4-FFF2-40B4-BE49-F238E27FC236}">
                    <a16:creationId xmlns:a16="http://schemas.microsoft.com/office/drawing/2014/main" id="{5F8661A3-BB55-45CD-AF40-B2157020016E}"/>
                  </a:ext>
                </a:extLst>
              </p:cNvPr>
              <p:cNvGrpSpPr>
                <a:grpSpLocks/>
              </p:cNvGrpSpPr>
              <p:nvPr/>
            </p:nvGrpSpPr>
            <p:grpSpPr bwMode="auto">
              <a:xfrm>
                <a:off x="510" y="0"/>
                <a:ext cx="170" cy="480"/>
                <a:chOff x="0" y="0"/>
                <a:chExt cx="170" cy="480"/>
              </a:xfrm>
            </p:grpSpPr>
            <p:sp>
              <p:nvSpPr>
                <p:cNvPr id="100458" name="Rectangle 15">
                  <a:extLst>
                    <a:ext uri="{FF2B5EF4-FFF2-40B4-BE49-F238E27FC236}">
                      <a16:creationId xmlns:a16="http://schemas.microsoft.com/office/drawing/2014/main" id="{24A9EBF8-20B2-4F7D-B159-548EA6740BE1}"/>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a:solidFill>
                        <a:srgbClr val="000000"/>
                      </a:solidFill>
                    </a:rPr>
                    <a:t>3</a:t>
                  </a:r>
                </a:p>
                <a:p>
                  <a:pPr algn="ctr">
                    <a:spcBef>
                      <a:spcPct val="0"/>
                    </a:spcBef>
                    <a:buFontTx/>
                    <a:buNone/>
                  </a:pPr>
                  <a:endParaRPr lang="zh-CN" altLang="zh-CN" sz="2400" b="1">
                    <a:solidFill>
                      <a:srgbClr val="000000"/>
                    </a:solidFill>
                  </a:endParaRPr>
                </a:p>
              </p:txBody>
            </p:sp>
            <p:sp>
              <p:nvSpPr>
                <p:cNvPr id="100459" name="Rectangle 16">
                  <a:extLst>
                    <a:ext uri="{FF2B5EF4-FFF2-40B4-BE49-F238E27FC236}">
                      <a16:creationId xmlns:a16="http://schemas.microsoft.com/office/drawing/2014/main" id="{861D0609-8D42-41F9-BC36-B0F0B8A7D7C9}"/>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62" name="Group 17">
                <a:extLst>
                  <a:ext uri="{FF2B5EF4-FFF2-40B4-BE49-F238E27FC236}">
                    <a16:creationId xmlns:a16="http://schemas.microsoft.com/office/drawing/2014/main" id="{4E09C9A8-121B-4CB6-9818-AA60B57F44B9}"/>
                  </a:ext>
                </a:extLst>
              </p:cNvPr>
              <p:cNvGrpSpPr>
                <a:grpSpLocks/>
              </p:cNvGrpSpPr>
              <p:nvPr/>
            </p:nvGrpSpPr>
            <p:grpSpPr bwMode="auto">
              <a:xfrm>
                <a:off x="680" y="0"/>
                <a:ext cx="170" cy="480"/>
                <a:chOff x="0" y="0"/>
                <a:chExt cx="170" cy="480"/>
              </a:xfrm>
            </p:grpSpPr>
            <p:sp>
              <p:nvSpPr>
                <p:cNvPr id="100456" name="Rectangle 18">
                  <a:extLst>
                    <a:ext uri="{FF2B5EF4-FFF2-40B4-BE49-F238E27FC236}">
                      <a16:creationId xmlns:a16="http://schemas.microsoft.com/office/drawing/2014/main" id="{175ECD4D-AB2B-4FBD-86C7-EE4ED7E644A4}"/>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a:solidFill>
                        <a:srgbClr val="000000"/>
                      </a:solidFill>
                    </a:rPr>
                    <a:t>4</a:t>
                  </a:r>
                </a:p>
                <a:p>
                  <a:pPr algn="ctr">
                    <a:spcBef>
                      <a:spcPct val="0"/>
                    </a:spcBef>
                    <a:buFontTx/>
                    <a:buNone/>
                  </a:pPr>
                  <a:endParaRPr lang="zh-CN" altLang="zh-CN" sz="2400" b="1">
                    <a:solidFill>
                      <a:srgbClr val="000000"/>
                    </a:solidFill>
                  </a:endParaRPr>
                </a:p>
              </p:txBody>
            </p:sp>
            <p:sp>
              <p:nvSpPr>
                <p:cNvPr id="100457" name="Rectangle 19">
                  <a:extLst>
                    <a:ext uri="{FF2B5EF4-FFF2-40B4-BE49-F238E27FC236}">
                      <a16:creationId xmlns:a16="http://schemas.microsoft.com/office/drawing/2014/main" id="{50AB8B4A-AB5B-4882-A38D-3D6CC86EBAA0}"/>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63" name="Group 20">
                <a:extLst>
                  <a:ext uri="{FF2B5EF4-FFF2-40B4-BE49-F238E27FC236}">
                    <a16:creationId xmlns:a16="http://schemas.microsoft.com/office/drawing/2014/main" id="{7C7CA1F1-29F0-4C16-9557-E5F917DE10BD}"/>
                  </a:ext>
                </a:extLst>
              </p:cNvPr>
              <p:cNvGrpSpPr>
                <a:grpSpLocks/>
              </p:cNvGrpSpPr>
              <p:nvPr/>
            </p:nvGrpSpPr>
            <p:grpSpPr bwMode="auto">
              <a:xfrm>
                <a:off x="850" y="0"/>
                <a:ext cx="170" cy="480"/>
                <a:chOff x="0" y="0"/>
                <a:chExt cx="170" cy="480"/>
              </a:xfrm>
            </p:grpSpPr>
            <p:sp>
              <p:nvSpPr>
                <p:cNvPr id="100454" name="Rectangle 21">
                  <a:extLst>
                    <a:ext uri="{FF2B5EF4-FFF2-40B4-BE49-F238E27FC236}">
                      <a16:creationId xmlns:a16="http://schemas.microsoft.com/office/drawing/2014/main" id="{617B595B-C124-48FA-85A7-BEE4DA050D26}"/>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a:solidFill>
                        <a:srgbClr val="000000"/>
                      </a:solidFill>
                    </a:rPr>
                    <a:t>5</a:t>
                  </a:r>
                </a:p>
                <a:p>
                  <a:pPr algn="ctr">
                    <a:spcBef>
                      <a:spcPct val="0"/>
                    </a:spcBef>
                    <a:buFontTx/>
                    <a:buNone/>
                  </a:pPr>
                  <a:endParaRPr lang="zh-CN" altLang="zh-CN" sz="2400" b="1">
                    <a:solidFill>
                      <a:srgbClr val="000000"/>
                    </a:solidFill>
                  </a:endParaRPr>
                </a:p>
              </p:txBody>
            </p:sp>
            <p:sp>
              <p:nvSpPr>
                <p:cNvPr id="100455" name="Rectangle 22">
                  <a:extLst>
                    <a:ext uri="{FF2B5EF4-FFF2-40B4-BE49-F238E27FC236}">
                      <a16:creationId xmlns:a16="http://schemas.microsoft.com/office/drawing/2014/main" id="{FBC4AA3D-728F-4953-9061-AF264C8C30C9}"/>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64" name="Group 23">
                <a:extLst>
                  <a:ext uri="{FF2B5EF4-FFF2-40B4-BE49-F238E27FC236}">
                    <a16:creationId xmlns:a16="http://schemas.microsoft.com/office/drawing/2014/main" id="{D45984A7-586C-49E8-982C-E784347D0B65}"/>
                  </a:ext>
                </a:extLst>
              </p:cNvPr>
              <p:cNvGrpSpPr>
                <a:grpSpLocks/>
              </p:cNvGrpSpPr>
              <p:nvPr/>
            </p:nvGrpSpPr>
            <p:grpSpPr bwMode="auto">
              <a:xfrm>
                <a:off x="1020" y="0"/>
                <a:ext cx="170" cy="480"/>
                <a:chOff x="0" y="0"/>
                <a:chExt cx="170" cy="480"/>
              </a:xfrm>
            </p:grpSpPr>
            <p:sp>
              <p:nvSpPr>
                <p:cNvPr id="100452" name="Rectangle 24">
                  <a:extLst>
                    <a:ext uri="{FF2B5EF4-FFF2-40B4-BE49-F238E27FC236}">
                      <a16:creationId xmlns:a16="http://schemas.microsoft.com/office/drawing/2014/main" id="{A94F8292-5371-4B7A-BF1C-5F394D7C28EB}"/>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a:solidFill>
                        <a:srgbClr val="000000"/>
                      </a:solidFill>
                    </a:rPr>
                    <a:t>6</a:t>
                  </a:r>
                </a:p>
                <a:p>
                  <a:pPr algn="ctr">
                    <a:spcBef>
                      <a:spcPct val="0"/>
                    </a:spcBef>
                    <a:buFontTx/>
                    <a:buNone/>
                  </a:pPr>
                  <a:endParaRPr lang="zh-CN" altLang="zh-CN" sz="2400" b="1">
                    <a:solidFill>
                      <a:srgbClr val="000000"/>
                    </a:solidFill>
                  </a:endParaRPr>
                </a:p>
              </p:txBody>
            </p:sp>
            <p:sp>
              <p:nvSpPr>
                <p:cNvPr id="100453" name="Rectangle 25">
                  <a:extLst>
                    <a:ext uri="{FF2B5EF4-FFF2-40B4-BE49-F238E27FC236}">
                      <a16:creationId xmlns:a16="http://schemas.microsoft.com/office/drawing/2014/main" id="{8C711E53-7B32-4B3D-9618-AE40D6749F65}"/>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65" name="Group 26">
                <a:extLst>
                  <a:ext uri="{FF2B5EF4-FFF2-40B4-BE49-F238E27FC236}">
                    <a16:creationId xmlns:a16="http://schemas.microsoft.com/office/drawing/2014/main" id="{113D2F54-2DBA-451A-9504-7207731B24BA}"/>
                  </a:ext>
                </a:extLst>
              </p:cNvPr>
              <p:cNvGrpSpPr>
                <a:grpSpLocks/>
              </p:cNvGrpSpPr>
              <p:nvPr/>
            </p:nvGrpSpPr>
            <p:grpSpPr bwMode="auto">
              <a:xfrm>
                <a:off x="1190" y="0"/>
                <a:ext cx="170" cy="480"/>
                <a:chOff x="0" y="0"/>
                <a:chExt cx="170" cy="480"/>
              </a:xfrm>
            </p:grpSpPr>
            <p:sp>
              <p:nvSpPr>
                <p:cNvPr id="100450" name="Rectangle 27">
                  <a:extLst>
                    <a:ext uri="{FF2B5EF4-FFF2-40B4-BE49-F238E27FC236}">
                      <a16:creationId xmlns:a16="http://schemas.microsoft.com/office/drawing/2014/main" id="{41A91807-9159-454C-BDB2-31C0A7F3FF7C}"/>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a:solidFill>
                        <a:srgbClr val="000000"/>
                      </a:solidFill>
                    </a:rPr>
                    <a:t>7</a:t>
                  </a:r>
                </a:p>
                <a:p>
                  <a:pPr algn="ctr">
                    <a:spcBef>
                      <a:spcPct val="0"/>
                    </a:spcBef>
                    <a:buFontTx/>
                    <a:buNone/>
                  </a:pPr>
                  <a:endParaRPr lang="zh-CN" altLang="zh-CN" sz="2400" b="1">
                    <a:solidFill>
                      <a:srgbClr val="000000"/>
                    </a:solidFill>
                  </a:endParaRPr>
                </a:p>
              </p:txBody>
            </p:sp>
            <p:sp>
              <p:nvSpPr>
                <p:cNvPr id="100451" name="Rectangle 28">
                  <a:extLst>
                    <a:ext uri="{FF2B5EF4-FFF2-40B4-BE49-F238E27FC236}">
                      <a16:creationId xmlns:a16="http://schemas.microsoft.com/office/drawing/2014/main" id="{64C2DC46-5739-41D1-B710-93CD8136C2A4}"/>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66" name="Group 29">
                <a:extLst>
                  <a:ext uri="{FF2B5EF4-FFF2-40B4-BE49-F238E27FC236}">
                    <a16:creationId xmlns:a16="http://schemas.microsoft.com/office/drawing/2014/main" id="{A34BDABC-F05D-481B-A898-E158DF3D508B}"/>
                  </a:ext>
                </a:extLst>
              </p:cNvPr>
              <p:cNvGrpSpPr>
                <a:grpSpLocks/>
              </p:cNvGrpSpPr>
              <p:nvPr/>
            </p:nvGrpSpPr>
            <p:grpSpPr bwMode="auto">
              <a:xfrm>
                <a:off x="1360" y="0"/>
                <a:ext cx="170" cy="480"/>
                <a:chOff x="0" y="0"/>
                <a:chExt cx="170" cy="480"/>
              </a:xfrm>
            </p:grpSpPr>
            <p:sp>
              <p:nvSpPr>
                <p:cNvPr id="100448" name="Rectangle 30">
                  <a:extLst>
                    <a:ext uri="{FF2B5EF4-FFF2-40B4-BE49-F238E27FC236}">
                      <a16:creationId xmlns:a16="http://schemas.microsoft.com/office/drawing/2014/main" id="{77871719-B4FB-4DD0-B91F-189B35C81DB8}"/>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a:solidFill>
                        <a:srgbClr val="000000"/>
                      </a:solidFill>
                    </a:rPr>
                    <a:t>8</a:t>
                  </a:r>
                </a:p>
                <a:p>
                  <a:pPr algn="ctr">
                    <a:spcBef>
                      <a:spcPct val="0"/>
                    </a:spcBef>
                    <a:buFontTx/>
                    <a:buNone/>
                  </a:pPr>
                  <a:endParaRPr lang="zh-CN" altLang="zh-CN" sz="2400" b="1">
                    <a:solidFill>
                      <a:srgbClr val="000000"/>
                    </a:solidFill>
                  </a:endParaRPr>
                </a:p>
              </p:txBody>
            </p:sp>
            <p:sp>
              <p:nvSpPr>
                <p:cNvPr id="100449" name="Rectangle 31">
                  <a:extLst>
                    <a:ext uri="{FF2B5EF4-FFF2-40B4-BE49-F238E27FC236}">
                      <a16:creationId xmlns:a16="http://schemas.microsoft.com/office/drawing/2014/main" id="{91C7C12E-E513-4B93-9297-D8105418557F}"/>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67" name="Group 32">
                <a:extLst>
                  <a:ext uri="{FF2B5EF4-FFF2-40B4-BE49-F238E27FC236}">
                    <a16:creationId xmlns:a16="http://schemas.microsoft.com/office/drawing/2014/main" id="{C2D8DE72-3ECE-442A-834E-5D764810D41D}"/>
                  </a:ext>
                </a:extLst>
              </p:cNvPr>
              <p:cNvGrpSpPr>
                <a:grpSpLocks/>
              </p:cNvGrpSpPr>
              <p:nvPr/>
            </p:nvGrpSpPr>
            <p:grpSpPr bwMode="auto">
              <a:xfrm>
                <a:off x="1530" y="0"/>
                <a:ext cx="170" cy="480"/>
                <a:chOff x="0" y="0"/>
                <a:chExt cx="170" cy="480"/>
              </a:xfrm>
            </p:grpSpPr>
            <p:sp>
              <p:nvSpPr>
                <p:cNvPr id="100446" name="Rectangle 33">
                  <a:extLst>
                    <a:ext uri="{FF2B5EF4-FFF2-40B4-BE49-F238E27FC236}">
                      <a16:creationId xmlns:a16="http://schemas.microsoft.com/office/drawing/2014/main" id="{ADBF0485-7F70-4F03-AA5F-C41ADF332A98}"/>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a:solidFill>
                        <a:srgbClr val="000000"/>
                      </a:solidFill>
                    </a:rPr>
                    <a:t>9</a:t>
                  </a:r>
                </a:p>
                <a:p>
                  <a:pPr algn="ctr">
                    <a:spcBef>
                      <a:spcPct val="0"/>
                    </a:spcBef>
                    <a:buFontTx/>
                    <a:buNone/>
                  </a:pPr>
                  <a:endParaRPr lang="zh-CN" altLang="zh-CN" sz="2400" b="1">
                    <a:solidFill>
                      <a:srgbClr val="000000"/>
                    </a:solidFill>
                  </a:endParaRPr>
                </a:p>
              </p:txBody>
            </p:sp>
            <p:sp>
              <p:nvSpPr>
                <p:cNvPr id="100447" name="Rectangle 34">
                  <a:extLst>
                    <a:ext uri="{FF2B5EF4-FFF2-40B4-BE49-F238E27FC236}">
                      <a16:creationId xmlns:a16="http://schemas.microsoft.com/office/drawing/2014/main" id="{76E2DDF5-AF41-44A7-9967-FE4D946BB401}"/>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68" name="Group 35">
                <a:extLst>
                  <a:ext uri="{FF2B5EF4-FFF2-40B4-BE49-F238E27FC236}">
                    <a16:creationId xmlns:a16="http://schemas.microsoft.com/office/drawing/2014/main" id="{6B9C4C3F-CDD9-4537-9A9B-A95B9110ADA8}"/>
                  </a:ext>
                </a:extLst>
              </p:cNvPr>
              <p:cNvGrpSpPr>
                <a:grpSpLocks/>
              </p:cNvGrpSpPr>
              <p:nvPr/>
            </p:nvGrpSpPr>
            <p:grpSpPr bwMode="auto">
              <a:xfrm>
                <a:off x="1700" y="0"/>
                <a:ext cx="170" cy="480"/>
                <a:chOff x="0" y="0"/>
                <a:chExt cx="170" cy="480"/>
              </a:xfrm>
            </p:grpSpPr>
            <p:sp>
              <p:nvSpPr>
                <p:cNvPr id="100444" name="Rectangle 36">
                  <a:extLst>
                    <a:ext uri="{FF2B5EF4-FFF2-40B4-BE49-F238E27FC236}">
                      <a16:creationId xmlns:a16="http://schemas.microsoft.com/office/drawing/2014/main" id="{19D27604-3A9D-4E0E-B87E-5E53B8E6BC9E}"/>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a:solidFill>
                        <a:srgbClr val="000000"/>
                      </a:solidFill>
                    </a:rPr>
                    <a:t>10</a:t>
                  </a:r>
                </a:p>
                <a:p>
                  <a:pPr algn="ctr">
                    <a:spcBef>
                      <a:spcPct val="0"/>
                    </a:spcBef>
                    <a:buFontTx/>
                    <a:buNone/>
                  </a:pPr>
                  <a:endParaRPr lang="zh-CN" altLang="zh-CN" sz="2400" b="1">
                    <a:solidFill>
                      <a:srgbClr val="000000"/>
                    </a:solidFill>
                  </a:endParaRPr>
                </a:p>
              </p:txBody>
            </p:sp>
            <p:sp>
              <p:nvSpPr>
                <p:cNvPr id="100445" name="Rectangle 37">
                  <a:extLst>
                    <a:ext uri="{FF2B5EF4-FFF2-40B4-BE49-F238E27FC236}">
                      <a16:creationId xmlns:a16="http://schemas.microsoft.com/office/drawing/2014/main" id="{06AE7050-FA67-4D07-92F8-56015E13ECAC}"/>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69" name="Group 38">
                <a:extLst>
                  <a:ext uri="{FF2B5EF4-FFF2-40B4-BE49-F238E27FC236}">
                    <a16:creationId xmlns:a16="http://schemas.microsoft.com/office/drawing/2014/main" id="{6CC0935D-212B-4112-A396-56D937EF9A64}"/>
                  </a:ext>
                </a:extLst>
              </p:cNvPr>
              <p:cNvGrpSpPr>
                <a:grpSpLocks/>
              </p:cNvGrpSpPr>
              <p:nvPr/>
            </p:nvGrpSpPr>
            <p:grpSpPr bwMode="auto">
              <a:xfrm>
                <a:off x="1870" y="0"/>
                <a:ext cx="170" cy="480"/>
                <a:chOff x="0" y="0"/>
                <a:chExt cx="170" cy="480"/>
              </a:xfrm>
            </p:grpSpPr>
            <p:sp>
              <p:nvSpPr>
                <p:cNvPr id="100442" name="Rectangle 39">
                  <a:extLst>
                    <a:ext uri="{FF2B5EF4-FFF2-40B4-BE49-F238E27FC236}">
                      <a16:creationId xmlns:a16="http://schemas.microsoft.com/office/drawing/2014/main" id="{3AC09D62-B662-46F2-985C-F861C22C5DE0}"/>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a:solidFill>
                        <a:srgbClr val="000000"/>
                      </a:solidFill>
                    </a:rPr>
                    <a:t>11</a:t>
                  </a:r>
                </a:p>
                <a:p>
                  <a:pPr algn="ctr">
                    <a:spcBef>
                      <a:spcPct val="0"/>
                    </a:spcBef>
                    <a:buFontTx/>
                    <a:buNone/>
                  </a:pPr>
                  <a:endParaRPr lang="zh-CN" altLang="zh-CN" sz="2400" b="1">
                    <a:solidFill>
                      <a:srgbClr val="000000"/>
                    </a:solidFill>
                  </a:endParaRPr>
                </a:p>
              </p:txBody>
            </p:sp>
            <p:sp>
              <p:nvSpPr>
                <p:cNvPr id="100443" name="Rectangle 40">
                  <a:extLst>
                    <a:ext uri="{FF2B5EF4-FFF2-40B4-BE49-F238E27FC236}">
                      <a16:creationId xmlns:a16="http://schemas.microsoft.com/office/drawing/2014/main" id="{A48E5503-3DF6-4BDC-B542-72E8C7C58EB5}"/>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70" name="Group 41">
                <a:extLst>
                  <a:ext uri="{FF2B5EF4-FFF2-40B4-BE49-F238E27FC236}">
                    <a16:creationId xmlns:a16="http://schemas.microsoft.com/office/drawing/2014/main" id="{00B0F9DC-A25B-4D49-8B35-85DA32B3E69F}"/>
                  </a:ext>
                </a:extLst>
              </p:cNvPr>
              <p:cNvGrpSpPr>
                <a:grpSpLocks/>
              </p:cNvGrpSpPr>
              <p:nvPr/>
            </p:nvGrpSpPr>
            <p:grpSpPr bwMode="auto">
              <a:xfrm>
                <a:off x="0" y="480"/>
                <a:ext cx="170" cy="480"/>
                <a:chOff x="0" y="0"/>
                <a:chExt cx="170" cy="480"/>
              </a:xfrm>
            </p:grpSpPr>
            <p:sp>
              <p:nvSpPr>
                <p:cNvPr id="100440" name="Rectangle 42">
                  <a:extLst>
                    <a:ext uri="{FF2B5EF4-FFF2-40B4-BE49-F238E27FC236}">
                      <a16:creationId xmlns:a16="http://schemas.microsoft.com/office/drawing/2014/main" id="{63EB8B5E-6C2D-44C8-A983-A7D95A85CF8F}"/>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i="1">
                      <a:solidFill>
                        <a:srgbClr val="000000"/>
                      </a:solidFill>
                    </a:rPr>
                    <a:t>s</a:t>
                  </a:r>
                  <a:r>
                    <a:rPr lang="zh-CN" altLang="zh-CN" sz="2400" b="1" i="1" baseline="-30000">
                      <a:solidFill>
                        <a:srgbClr val="000000"/>
                      </a:solidFill>
                    </a:rPr>
                    <a:t>i</a:t>
                  </a:r>
                  <a:endParaRPr lang="zh-CN" altLang="zh-CN" sz="2400" b="1">
                    <a:solidFill>
                      <a:srgbClr val="000000"/>
                    </a:solidFill>
                  </a:endParaRPr>
                </a:p>
                <a:p>
                  <a:pPr algn="ctr">
                    <a:spcBef>
                      <a:spcPct val="0"/>
                    </a:spcBef>
                    <a:buFontTx/>
                    <a:buNone/>
                  </a:pPr>
                  <a:endParaRPr lang="zh-CN" altLang="zh-CN" sz="2400" b="1">
                    <a:solidFill>
                      <a:srgbClr val="000000"/>
                    </a:solidFill>
                  </a:endParaRPr>
                </a:p>
              </p:txBody>
            </p:sp>
            <p:sp>
              <p:nvSpPr>
                <p:cNvPr id="100441" name="Rectangle 43">
                  <a:extLst>
                    <a:ext uri="{FF2B5EF4-FFF2-40B4-BE49-F238E27FC236}">
                      <a16:creationId xmlns:a16="http://schemas.microsoft.com/office/drawing/2014/main" id="{315D0EB8-71F0-4946-AD9D-282017B732A9}"/>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71" name="Group 44">
                <a:extLst>
                  <a:ext uri="{FF2B5EF4-FFF2-40B4-BE49-F238E27FC236}">
                    <a16:creationId xmlns:a16="http://schemas.microsoft.com/office/drawing/2014/main" id="{C8CECFFF-4E43-40FE-B76E-77B331BE7C04}"/>
                  </a:ext>
                </a:extLst>
              </p:cNvPr>
              <p:cNvGrpSpPr>
                <a:grpSpLocks/>
              </p:cNvGrpSpPr>
              <p:nvPr/>
            </p:nvGrpSpPr>
            <p:grpSpPr bwMode="auto">
              <a:xfrm>
                <a:off x="170" y="480"/>
                <a:ext cx="170" cy="480"/>
                <a:chOff x="0" y="0"/>
                <a:chExt cx="170" cy="480"/>
              </a:xfrm>
            </p:grpSpPr>
            <p:sp>
              <p:nvSpPr>
                <p:cNvPr id="100438" name="Rectangle 45">
                  <a:extLst>
                    <a:ext uri="{FF2B5EF4-FFF2-40B4-BE49-F238E27FC236}">
                      <a16:creationId xmlns:a16="http://schemas.microsoft.com/office/drawing/2014/main" id="{13EACB7D-0E10-4F9F-89EE-989181C6CE88}"/>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a:solidFill>
                        <a:srgbClr val="000000"/>
                      </a:solidFill>
                    </a:rPr>
                    <a:t>1</a:t>
                  </a:r>
                </a:p>
                <a:p>
                  <a:pPr algn="ctr">
                    <a:spcBef>
                      <a:spcPct val="0"/>
                    </a:spcBef>
                    <a:buFontTx/>
                    <a:buNone/>
                  </a:pPr>
                  <a:endParaRPr lang="zh-CN" altLang="zh-CN" sz="2400" b="1">
                    <a:solidFill>
                      <a:srgbClr val="000000"/>
                    </a:solidFill>
                  </a:endParaRPr>
                </a:p>
              </p:txBody>
            </p:sp>
            <p:sp>
              <p:nvSpPr>
                <p:cNvPr id="100439" name="Rectangle 46">
                  <a:extLst>
                    <a:ext uri="{FF2B5EF4-FFF2-40B4-BE49-F238E27FC236}">
                      <a16:creationId xmlns:a16="http://schemas.microsoft.com/office/drawing/2014/main" id="{C6F2AB74-12BF-4175-95F4-BE66C5EEE33E}"/>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72" name="Group 47">
                <a:extLst>
                  <a:ext uri="{FF2B5EF4-FFF2-40B4-BE49-F238E27FC236}">
                    <a16:creationId xmlns:a16="http://schemas.microsoft.com/office/drawing/2014/main" id="{E699978B-B263-451F-83C1-3E81F560E1EE}"/>
                  </a:ext>
                </a:extLst>
              </p:cNvPr>
              <p:cNvGrpSpPr>
                <a:grpSpLocks/>
              </p:cNvGrpSpPr>
              <p:nvPr/>
            </p:nvGrpSpPr>
            <p:grpSpPr bwMode="auto">
              <a:xfrm>
                <a:off x="340" y="480"/>
                <a:ext cx="170" cy="480"/>
                <a:chOff x="0" y="0"/>
                <a:chExt cx="170" cy="480"/>
              </a:xfrm>
            </p:grpSpPr>
            <p:sp>
              <p:nvSpPr>
                <p:cNvPr id="100436" name="Rectangle 48">
                  <a:extLst>
                    <a:ext uri="{FF2B5EF4-FFF2-40B4-BE49-F238E27FC236}">
                      <a16:creationId xmlns:a16="http://schemas.microsoft.com/office/drawing/2014/main" id="{70E10393-60D6-4E97-8086-D0EA024291E7}"/>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a:solidFill>
                        <a:srgbClr val="000000"/>
                      </a:solidFill>
                    </a:rPr>
                    <a:t>3</a:t>
                  </a:r>
                </a:p>
                <a:p>
                  <a:pPr algn="ctr">
                    <a:spcBef>
                      <a:spcPct val="0"/>
                    </a:spcBef>
                    <a:buFontTx/>
                    <a:buNone/>
                  </a:pPr>
                  <a:endParaRPr lang="zh-CN" altLang="zh-CN" sz="2400" b="1">
                    <a:solidFill>
                      <a:srgbClr val="000000"/>
                    </a:solidFill>
                  </a:endParaRPr>
                </a:p>
              </p:txBody>
            </p:sp>
            <p:sp>
              <p:nvSpPr>
                <p:cNvPr id="100437" name="Rectangle 49">
                  <a:extLst>
                    <a:ext uri="{FF2B5EF4-FFF2-40B4-BE49-F238E27FC236}">
                      <a16:creationId xmlns:a16="http://schemas.microsoft.com/office/drawing/2014/main" id="{F268DDDA-AED9-414B-831B-91F9D5B9D1BB}"/>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73" name="Group 50">
                <a:extLst>
                  <a:ext uri="{FF2B5EF4-FFF2-40B4-BE49-F238E27FC236}">
                    <a16:creationId xmlns:a16="http://schemas.microsoft.com/office/drawing/2014/main" id="{6E7B1F10-CAD4-4115-8DC6-B977BA53CB93}"/>
                  </a:ext>
                </a:extLst>
              </p:cNvPr>
              <p:cNvGrpSpPr>
                <a:grpSpLocks/>
              </p:cNvGrpSpPr>
              <p:nvPr/>
            </p:nvGrpSpPr>
            <p:grpSpPr bwMode="auto">
              <a:xfrm>
                <a:off x="510" y="480"/>
                <a:ext cx="170" cy="480"/>
                <a:chOff x="0" y="0"/>
                <a:chExt cx="170" cy="480"/>
              </a:xfrm>
            </p:grpSpPr>
            <p:sp>
              <p:nvSpPr>
                <p:cNvPr id="100434" name="Rectangle 51">
                  <a:extLst>
                    <a:ext uri="{FF2B5EF4-FFF2-40B4-BE49-F238E27FC236}">
                      <a16:creationId xmlns:a16="http://schemas.microsoft.com/office/drawing/2014/main" id="{B97C1B2C-738F-487F-907B-9E2385D49168}"/>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a:solidFill>
                        <a:srgbClr val="000000"/>
                      </a:solidFill>
                    </a:rPr>
                    <a:t>0</a:t>
                  </a:r>
                </a:p>
                <a:p>
                  <a:pPr algn="ctr">
                    <a:spcBef>
                      <a:spcPct val="0"/>
                    </a:spcBef>
                    <a:buFontTx/>
                    <a:buNone/>
                  </a:pPr>
                  <a:endParaRPr lang="zh-CN" altLang="zh-CN" sz="2400" b="1">
                    <a:solidFill>
                      <a:srgbClr val="000000"/>
                    </a:solidFill>
                  </a:endParaRPr>
                </a:p>
              </p:txBody>
            </p:sp>
            <p:sp>
              <p:nvSpPr>
                <p:cNvPr id="100435" name="Rectangle 52">
                  <a:extLst>
                    <a:ext uri="{FF2B5EF4-FFF2-40B4-BE49-F238E27FC236}">
                      <a16:creationId xmlns:a16="http://schemas.microsoft.com/office/drawing/2014/main" id="{8B707710-FF64-430C-B64D-F507EC08651B}"/>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74" name="Group 53">
                <a:extLst>
                  <a:ext uri="{FF2B5EF4-FFF2-40B4-BE49-F238E27FC236}">
                    <a16:creationId xmlns:a16="http://schemas.microsoft.com/office/drawing/2014/main" id="{A0F311E5-E0F8-4C66-AB91-3FD6FA6F1021}"/>
                  </a:ext>
                </a:extLst>
              </p:cNvPr>
              <p:cNvGrpSpPr>
                <a:grpSpLocks/>
              </p:cNvGrpSpPr>
              <p:nvPr/>
            </p:nvGrpSpPr>
            <p:grpSpPr bwMode="auto">
              <a:xfrm>
                <a:off x="680" y="480"/>
                <a:ext cx="170" cy="480"/>
                <a:chOff x="0" y="0"/>
                <a:chExt cx="170" cy="480"/>
              </a:xfrm>
            </p:grpSpPr>
            <p:sp>
              <p:nvSpPr>
                <p:cNvPr id="100432" name="Rectangle 54">
                  <a:extLst>
                    <a:ext uri="{FF2B5EF4-FFF2-40B4-BE49-F238E27FC236}">
                      <a16:creationId xmlns:a16="http://schemas.microsoft.com/office/drawing/2014/main" id="{B0508AC8-2437-49BC-9DDD-270B9651824C}"/>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a:solidFill>
                        <a:srgbClr val="000000"/>
                      </a:solidFill>
                    </a:rPr>
                    <a:t>5</a:t>
                  </a:r>
                </a:p>
                <a:p>
                  <a:pPr algn="ctr">
                    <a:spcBef>
                      <a:spcPct val="0"/>
                    </a:spcBef>
                    <a:buFontTx/>
                    <a:buNone/>
                  </a:pPr>
                  <a:endParaRPr lang="zh-CN" altLang="zh-CN" sz="2400" b="1">
                    <a:solidFill>
                      <a:srgbClr val="000000"/>
                    </a:solidFill>
                  </a:endParaRPr>
                </a:p>
              </p:txBody>
            </p:sp>
            <p:sp>
              <p:nvSpPr>
                <p:cNvPr id="100433" name="Rectangle 55">
                  <a:extLst>
                    <a:ext uri="{FF2B5EF4-FFF2-40B4-BE49-F238E27FC236}">
                      <a16:creationId xmlns:a16="http://schemas.microsoft.com/office/drawing/2014/main" id="{47FDC707-3277-4C40-868E-ABAB0611EF6E}"/>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75" name="Group 56">
                <a:extLst>
                  <a:ext uri="{FF2B5EF4-FFF2-40B4-BE49-F238E27FC236}">
                    <a16:creationId xmlns:a16="http://schemas.microsoft.com/office/drawing/2014/main" id="{3FF7ED38-2014-406E-B14D-9E281824DC18}"/>
                  </a:ext>
                </a:extLst>
              </p:cNvPr>
              <p:cNvGrpSpPr>
                <a:grpSpLocks/>
              </p:cNvGrpSpPr>
              <p:nvPr/>
            </p:nvGrpSpPr>
            <p:grpSpPr bwMode="auto">
              <a:xfrm>
                <a:off x="850" y="480"/>
                <a:ext cx="170" cy="480"/>
                <a:chOff x="0" y="0"/>
                <a:chExt cx="170" cy="480"/>
              </a:xfrm>
            </p:grpSpPr>
            <p:sp>
              <p:nvSpPr>
                <p:cNvPr id="100430" name="Rectangle 57">
                  <a:extLst>
                    <a:ext uri="{FF2B5EF4-FFF2-40B4-BE49-F238E27FC236}">
                      <a16:creationId xmlns:a16="http://schemas.microsoft.com/office/drawing/2014/main" id="{F2A773C9-552E-4A32-9B15-61B4E993EDA1}"/>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a:solidFill>
                        <a:srgbClr val="000000"/>
                      </a:solidFill>
                    </a:rPr>
                    <a:t>3</a:t>
                  </a:r>
                </a:p>
                <a:p>
                  <a:pPr algn="ctr">
                    <a:spcBef>
                      <a:spcPct val="0"/>
                    </a:spcBef>
                    <a:buFontTx/>
                    <a:buNone/>
                  </a:pPr>
                  <a:endParaRPr lang="zh-CN" altLang="zh-CN" sz="2400" b="1">
                    <a:solidFill>
                      <a:srgbClr val="000000"/>
                    </a:solidFill>
                  </a:endParaRPr>
                </a:p>
              </p:txBody>
            </p:sp>
            <p:sp>
              <p:nvSpPr>
                <p:cNvPr id="100431" name="Rectangle 58">
                  <a:extLst>
                    <a:ext uri="{FF2B5EF4-FFF2-40B4-BE49-F238E27FC236}">
                      <a16:creationId xmlns:a16="http://schemas.microsoft.com/office/drawing/2014/main" id="{2A0E144D-1753-448A-B8E8-3D1ECFBE0F65}"/>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76" name="Group 59">
                <a:extLst>
                  <a:ext uri="{FF2B5EF4-FFF2-40B4-BE49-F238E27FC236}">
                    <a16:creationId xmlns:a16="http://schemas.microsoft.com/office/drawing/2014/main" id="{CB368CB4-53C4-4A47-975D-0BAE0ADEF0D9}"/>
                  </a:ext>
                </a:extLst>
              </p:cNvPr>
              <p:cNvGrpSpPr>
                <a:grpSpLocks/>
              </p:cNvGrpSpPr>
              <p:nvPr/>
            </p:nvGrpSpPr>
            <p:grpSpPr bwMode="auto">
              <a:xfrm>
                <a:off x="1020" y="480"/>
                <a:ext cx="170" cy="480"/>
                <a:chOff x="0" y="0"/>
                <a:chExt cx="170" cy="480"/>
              </a:xfrm>
            </p:grpSpPr>
            <p:sp>
              <p:nvSpPr>
                <p:cNvPr id="100428" name="Rectangle 60">
                  <a:extLst>
                    <a:ext uri="{FF2B5EF4-FFF2-40B4-BE49-F238E27FC236}">
                      <a16:creationId xmlns:a16="http://schemas.microsoft.com/office/drawing/2014/main" id="{2E9E4D5A-04D8-49AA-B371-B8280A7BD214}"/>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a:solidFill>
                        <a:srgbClr val="000000"/>
                      </a:solidFill>
                    </a:rPr>
                    <a:t>5</a:t>
                  </a:r>
                </a:p>
                <a:p>
                  <a:pPr algn="ctr">
                    <a:spcBef>
                      <a:spcPct val="0"/>
                    </a:spcBef>
                    <a:buFontTx/>
                    <a:buNone/>
                  </a:pPr>
                  <a:endParaRPr lang="zh-CN" altLang="zh-CN" sz="2400" b="1">
                    <a:solidFill>
                      <a:srgbClr val="000000"/>
                    </a:solidFill>
                  </a:endParaRPr>
                </a:p>
              </p:txBody>
            </p:sp>
            <p:sp>
              <p:nvSpPr>
                <p:cNvPr id="100429" name="Rectangle 61">
                  <a:extLst>
                    <a:ext uri="{FF2B5EF4-FFF2-40B4-BE49-F238E27FC236}">
                      <a16:creationId xmlns:a16="http://schemas.microsoft.com/office/drawing/2014/main" id="{80E4899E-70E1-4E79-94B9-EC442E87387F}"/>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77" name="Group 62">
                <a:extLst>
                  <a:ext uri="{FF2B5EF4-FFF2-40B4-BE49-F238E27FC236}">
                    <a16:creationId xmlns:a16="http://schemas.microsoft.com/office/drawing/2014/main" id="{698A1796-3B1F-4E22-B158-C74D70F8BA16}"/>
                  </a:ext>
                </a:extLst>
              </p:cNvPr>
              <p:cNvGrpSpPr>
                <a:grpSpLocks/>
              </p:cNvGrpSpPr>
              <p:nvPr/>
            </p:nvGrpSpPr>
            <p:grpSpPr bwMode="auto">
              <a:xfrm>
                <a:off x="1190" y="480"/>
                <a:ext cx="170" cy="480"/>
                <a:chOff x="0" y="0"/>
                <a:chExt cx="170" cy="480"/>
              </a:xfrm>
            </p:grpSpPr>
            <p:sp>
              <p:nvSpPr>
                <p:cNvPr id="100426" name="Rectangle 63">
                  <a:extLst>
                    <a:ext uri="{FF2B5EF4-FFF2-40B4-BE49-F238E27FC236}">
                      <a16:creationId xmlns:a16="http://schemas.microsoft.com/office/drawing/2014/main" id="{CA8F3963-AB5F-4A37-963B-275721405906}"/>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a:solidFill>
                        <a:srgbClr val="000000"/>
                      </a:solidFill>
                    </a:rPr>
                    <a:t>6</a:t>
                  </a:r>
                </a:p>
                <a:p>
                  <a:pPr algn="ctr">
                    <a:spcBef>
                      <a:spcPct val="0"/>
                    </a:spcBef>
                    <a:buFontTx/>
                    <a:buNone/>
                  </a:pPr>
                  <a:endParaRPr lang="zh-CN" altLang="zh-CN" sz="2400" b="1">
                    <a:solidFill>
                      <a:srgbClr val="000000"/>
                    </a:solidFill>
                  </a:endParaRPr>
                </a:p>
              </p:txBody>
            </p:sp>
            <p:sp>
              <p:nvSpPr>
                <p:cNvPr id="100427" name="Rectangle 64">
                  <a:extLst>
                    <a:ext uri="{FF2B5EF4-FFF2-40B4-BE49-F238E27FC236}">
                      <a16:creationId xmlns:a16="http://schemas.microsoft.com/office/drawing/2014/main" id="{47E6DE51-FE4C-4CBF-8F75-E33F1BDFC560}"/>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78" name="Group 65">
                <a:extLst>
                  <a:ext uri="{FF2B5EF4-FFF2-40B4-BE49-F238E27FC236}">
                    <a16:creationId xmlns:a16="http://schemas.microsoft.com/office/drawing/2014/main" id="{A375E4D9-8E9B-4130-84B3-C794FF8CA24C}"/>
                  </a:ext>
                </a:extLst>
              </p:cNvPr>
              <p:cNvGrpSpPr>
                <a:grpSpLocks/>
              </p:cNvGrpSpPr>
              <p:nvPr/>
            </p:nvGrpSpPr>
            <p:grpSpPr bwMode="auto">
              <a:xfrm>
                <a:off x="1360" y="480"/>
                <a:ext cx="170" cy="480"/>
                <a:chOff x="0" y="0"/>
                <a:chExt cx="170" cy="480"/>
              </a:xfrm>
            </p:grpSpPr>
            <p:sp>
              <p:nvSpPr>
                <p:cNvPr id="100424" name="Rectangle 66">
                  <a:extLst>
                    <a:ext uri="{FF2B5EF4-FFF2-40B4-BE49-F238E27FC236}">
                      <a16:creationId xmlns:a16="http://schemas.microsoft.com/office/drawing/2014/main" id="{FA773FC0-1A38-4139-914F-C577B32803DF}"/>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a:solidFill>
                        <a:srgbClr val="000000"/>
                      </a:solidFill>
                    </a:rPr>
                    <a:t>8</a:t>
                  </a:r>
                </a:p>
                <a:p>
                  <a:pPr algn="ctr">
                    <a:spcBef>
                      <a:spcPct val="0"/>
                    </a:spcBef>
                    <a:buFontTx/>
                    <a:buNone/>
                  </a:pPr>
                  <a:endParaRPr lang="zh-CN" altLang="zh-CN" sz="2400" b="1">
                    <a:solidFill>
                      <a:srgbClr val="000000"/>
                    </a:solidFill>
                  </a:endParaRPr>
                </a:p>
              </p:txBody>
            </p:sp>
            <p:sp>
              <p:nvSpPr>
                <p:cNvPr id="100425" name="Rectangle 67">
                  <a:extLst>
                    <a:ext uri="{FF2B5EF4-FFF2-40B4-BE49-F238E27FC236}">
                      <a16:creationId xmlns:a16="http://schemas.microsoft.com/office/drawing/2014/main" id="{861149D8-E173-42CA-9BF5-1306DE976994}"/>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79" name="Group 68">
                <a:extLst>
                  <a:ext uri="{FF2B5EF4-FFF2-40B4-BE49-F238E27FC236}">
                    <a16:creationId xmlns:a16="http://schemas.microsoft.com/office/drawing/2014/main" id="{72323504-AED9-42FA-BCEA-3B6866308510}"/>
                  </a:ext>
                </a:extLst>
              </p:cNvPr>
              <p:cNvGrpSpPr>
                <a:grpSpLocks/>
              </p:cNvGrpSpPr>
              <p:nvPr/>
            </p:nvGrpSpPr>
            <p:grpSpPr bwMode="auto">
              <a:xfrm>
                <a:off x="1530" y="480"/>
                <a:ext cx="170" cy="480"/>
                <a:chOff x="0" y="0"/>
                <a:chExt cx="170" cy="480"/>
              </a:xfrm>
            </p:grpSpPr>
            <p:sp>
              <p:nvSpPr>
                <p:cNvPr id="100422" name="Rectangle 69">
                  <a:extLst>
                    <a:ext uri="{FF2B5EF4-FFF2-40B4-BE49-F238E27FC236}">
                      <a16:creationId xmlns:a16="http://schemas.microsoft.com/office/drawing/2014/main" id="{92828C03-2B06-482D-86A7-7E73B21A590F}"/>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a:solidFill>
                        <a:srgbClr val="000000"/>
                      </a:solidFill>
                    </a:rPr>
                    <a:t>8</a:t>
                  </a:r>
                </a:p>
                <a:p>
                  <a:pPr algn="ctr">
                    <a:spcBef>
                      <a:spcPct val="0"/>
                    </a:spcBef>
                    <a:buFontTx/>
                    <a:buNone/>
                  </a:pPr>
                  <a:endParaRPr lang="zh-CN" altLang="zh-CN" sz="2400" b="1">
                    <a:solidFill>
                      <a:srgbClr val="000000"/>
                    </a:solidFill>
                  </a:endParaRPr>
                </a:p>
              </p:txBody>
            </p:sp>
            <p:sp>
              <p:nvSpPr>
                <p:cNvPr id="100423" name="Rectangle 70">
                  <a:extLst>
                    <a:ext uri="{FF2B5EF4-FFF2-40B4-BE49-F238E27FC236}">
                      <a16:creationId xmlns:a16="http://schemas.microsoft.com/office/drawing/2014/main" id="{33D252DE-469D-4A5A-BDEB-E302824D7E6F}"/>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80" name="Group 71">
                <a:extLst>
                  <a:ext uri="{FF2B5EF4-FFF2-40B4-BE49-F238E27FC236}">
                    <a16:creationId xmlns:a16="http://schemas.microsoft.com/office/drawing/2014/main" id="{D685C5FA-1174-4D9D-A1BA-700BF9264968}"/>
                  </a:ext>
                </a:extLst>
              </p:cNvPr>
              <p:cNvGrpSpPr>
                <a:grpSpLocks/>
              </p:cNvGrpSpPr>
              <p:nvPr/>
            </p:nvGrpSpPr>
            <p:grpSpPr bwMode="auto">
              <a:xfrm>
                <a:off x="1700" y="480"/>
                <a:ext cx="170" cy="480"/>
                <a:chOff x="0" y="0"/>
                <a:chExt cx="170" cy="480"/>
              </a:xfrm>
            </p:grpSpPr>
            <p:sp>
              <p:nvSpPr>
                <p:cNvPr id="100420" name="Rectangle 72">
                  <a:extLst>
                    <a:ext uri="{FF2B5EF4-FFF2-40B4-BE49-F238E27FC236}">
                      <a16:creationId xmlns:a16="http://schemas.microsoft.com/office/drawing/2014/main" id="{A2E05B20-47C5-4134-BD2A-3DB38ACF63B1}"/>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a:solidFill>
                        <a:srgbClr val="000000"/>
                      </a:solidFill>
                    </a:rPr>
                    <a:t>2</a:t>
                  </a:r>
                </a:p>
                <a:p>
                  <a:pPr algn="ctr">
                    <a:spcBef>
                      <a:spcPct val="0"/>
                    </a:spcBef>
                    <a:buFontTx/>
                    <a:buNone/>
                  </a:pPr>
                  <a:endParaRPr lang="zh-CN" altLang="zh-CN" sz="2400" b="1">
                    <a:solidFill>
                      <a:srgbClr val="000000"/>
                    </a:solidFill>
                  </a:endParaRPr>
                </a:p>
              </p:txBody>
            </p:sp>
            <p:sp>
              <p:nvSpPr>
                <p:cNvPr id="100421" name="Rectangle 73">
                  <a:extLst>
                    <a:ext uri="{FF2B5EF4-FFF2-40B4-BE49-F238E27FC236}">
                      <a16:creationId xmlns:a16="http://schemas.microsoft.com/office/drawing/2014/main" id="{C4E3EA69-199D-41CC-A417-6AC9D220C3ED}"/>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81" name="Group 74">
                <a:extLst>
                  <a:ext uri="{FF2B5EF4-FFF2-40B4-BE49-F238E27FC236}">
                    <a16:creationId xmlns:a16="http://schemas.microsoft.com/office/drawing/2014/main" id="{2C9FCCFC-720C-4AD5-8FC5-77D83F448EDA}"/>
                  </a:ext>
                </a:extLst>
              </p:cNvPr>
              <p:cNvGrpSpPr>
                <a:grpSpLocks/>
              </p:cNvGrpSpPr>
              <p:nvPr/>
            </p:nvGrpSpPr>
            <p:grpSpPr bwMode="auto">
              <a:xfrm>
                <a:off x="1870" y="480"/>
                <a:ext cx="170" cy="480"/>
                <a:chOff x="0" y="0"/>
                <a:chExt cx="170" cy="480"/>
              </a:xfrm>
            </p:grpSpPr>
            <p:sp>
              <p:nvSpPr>
                <p:cNvPr id="100418" name="Rectangle 75">
                  <a:extLst>
                    <a:ext uri="{FF2B5EF4-FFF2-40B4-BE49-F238E27FC236}">
                      <a16:creationId xmlns:a16="http://schemas.microsoft.com/office/drawing/2014/main" id="{1106E37C-A937-45BF-85E3-557BE2DF8E84}"/>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a:solidFill>
                        <a:srgbClr val="000000"/>
                      </a:solidFill>
                    </a:rPr>
                    <a:t>12</a:t>
                  </a:r>
                </a:p>
                <a:p>
                  <a:pPr algn="ctr">
                    <a:spcBef>
                      <a:spcPct val="0"/>
                    </a:spcBef>
                    <a:buFontTx/>
                    <a:buNone/>
                  </a:pPr>
                  <a:endParaRPr lang="zh-CN" altLang="zh-CN" sz="2400" b="1">
                    <a:solidFill>
                      <a:srgbClr val="000000"/>
                    </a:solidFill>
                  </a:endParaRPr>
                </a:p>
              </p:txBody>
            </p:sp>
            <p:sp>
              <p:nvSpPr>
                <p:cNvPr id="100419" name="Rectangle 76">
                  <a:extLst>
                    <a:ext uri="{FF2B5EF4-FFF2-40B4-BE49-F238E27FC236}">
                      <a16:creationId xmlns:a16="http://schemas.microsoft.com/office/drawing/2014/main" id="{24B9A64F-6F1F-4A33-978A-977698323E6C}"/>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82" name="Group 77">
                <a:extLst>
                  <a:ext uri="{FF2B5EF4-FFF2-40B4-BE49-F238E27FC236}">
                    <a16:creationId xmlns:a16="http://schemas.microsoft.com/office/drawing/2014/main" id="{7AB51D80-B0AE-4545-973E-5247A42FF6E9}"/>
                  </a:ext>
                </a:extLst>
              </p:cNvPr>
              <p:cNvGrpSpPr>
                <a:grpSpLocks/>
              </p:cNvGrpSpPr>
              <p:nvPr/>
            </p:nvGrpSpPr>
            <p:grpSpPr bwMode="auto">
              <a:xfrm>
                <a:off x="0" y="960"/>
                <a:ext cx="170" cy="480"/>
                <a:chOff x="0" y="0"/>
                <a:chExt cx="170" cy="480"/>
              </a:xfrm>
            </p:grpSpPr>
            <p:sp>
              <p:nvSpPr>
                <p:cNvPr id="100416" name="Rectangle 78">
                  <a:extLst>
                    <a:ext uri="{FF2B5EF4-FFF2-40B4-BE49-F238E27FC236}">
                      <a16:creationId xmlns:a16="http://schemas.microsoft.com/office/drawing/2014/main" id="{17D32E59-18B8-470D-8F10-D0F626D013A1}"/>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i="1">
                      <a:solidFill>
                        <a:srgbClr val="000000"/>
                      </a:solidFill>
                    </a:rPr>
                    <a:t>f</a:t>
                  </a:r>
                  <a:r>
                    <a:rPr lang="zh-CN" altLang="zh-CN" sz="2400" b="1" i="1" baseline="-30000">
                      <a:solidFill>
                        <a:srgbClr val="000000"/>
                      </a:solidFill>
                    </a:rPr>
                    <a:t>i</a:t>
                  </a:r>
                  <a:endParaRPr lang="zh-CN" altLang="zh-CN" sz="2400" b="1">
                    <a:solidFill>
                      <a:srgbClr val="000000"/>
                    </a:solidFill>
                  </a:endParaRPr>
                </a:p>
                <a:p>
                  <a:pPr algn="ctr">
                    <a:spcBef>
                      <a:spcPct val="0"/>
                    </a:spcBef>
                    <a:buFontTx/>
                    <a:buNone/>
                  </a:pPr>
                  <a:endParaRPr lang="zh-CN" altLang="zh-CN" sz="2400" b="1">
                    <a:solidFill>
                      <a:srgbClr val="000000"/>
                    </a:solidFill>
                  </a:endParaRPr>
                </a:p>
              </p:txBody>
            </p:sp>
            <p:sp>
              <p:nvSpPr>
                <p:cNvPr id="100417" name="Rectangle 79">
                  <a:extLst>
                    <a:ext uri="{FF2B5EF4-FFF2-40B4-BE49-F238E27FC236}">
                      <a16:creationId xmlns:a16="http://schemas.microsoft.com/office/drawing/2014/main" id="{97D473C8-BBCC-4759-BE0E-2CAD733D8BD4}"/>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83" name="Group 80">
                <a:extLst>
                  <a:ext uri="{FF2B5EF4-FFF2-40B4-BE49-F238E27FC236}">
                    <a16:creationId xmlns:a16="http://schemas.microsoft.com/office/drawing/2014/main" id="{9B435CD7-9981-472F-A9B1-F042BCB2DAF1}"/>
                  </a:ext>
                </a:extLst>
              </p:cNvPr>
              <p:cNvGrpSpPr>
                <a:grpSpLocks/>
              </p:cNvGrpSpPr>
              <p:nvPr/>
            </p:nvGrpSpPr>
            <p:grpSpPr bwMode="auto">
              <a:xfrm>
                <a:off x="170" y="960"/>
                <a:ext cx="170" cy="480"/>
                <a:chOff x="0" y="0"/>
                <a:chExt cx="170" cy="480"/>
              </a:xfrm>
            </p:grpSpPr>
            <p:sp>
              <p:nvSpPr>
                <p:cNvPr id="100414" name="Rectangle 81">
                  <a:extLst>
                    <a:ext uri="{FF2B5EF4-FFF2-40B4-BE49-F238E27FC236}">
                      <a16:creationId xmlns:a16="http://schemas.microsoft.com/office/drawing/2014/main" id="{FF19E2F8-042E-478F-810D-B61D28D9480D}"/>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a:solidFill>
                        <a:srgbClr val="000000"/>
                      </a:solidFill>
                    </a:rPr>
                    <a:t>4</a:t>
                  </a:r>
                </a:p>
                <a:p>
                  <a:pPr algn="ctr">
                    <a:spcBef>
                      <a:spcPct val="0"/>
                    </a:spcBef>
                    <a:buFontTx/>
                    <a:buNone/>
                  </a:pPr>
                  <a:endParaRPr lang="zh-CN" altLang="zh-CN" sz="2400" b="1">
                    <a:solidFill>
                      <a:srgbClr val="000000"/>
                    </a:solidFill>
                  </a:endParaRPr>
                </a:p>
              </p:txBody>
            </p:sp>
            <p:sp>
              <p:nvSpPr>
                <p:cNvPr id="100415" name="Rectangle 82">
                  <a:extLst>
                    <a:ext uri="{FF2B5EF4-FFF2-40B4-BE49-F238E27FC236}">
                      <a16:creationId xmlns:a16="http://schemas.microsoft.com/office/drawing/2014/main" id="{FEBD600E-1E5A-487E-9CC2-DFAC8EC4C662}"/>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84" name="Group 83">
                <a:extLst>
                  <a:ext uri="{FF2B5EF4-FFF2-40B4-BE49-F238E27FC236}">
                    <a16:creationId xmlns:a16="http://schemas.microsoft.com/office/drawing/2014/main" id="{B6E0C110-580C-4221-9AA8-55DE1D188658}"/>
                  </a:ext>
                </a:extLst>
              </p:cNvPr>
              <p:cNvGrpSpPr>
                <a:grpSpLocks/>
              </p:cNvGrpSpPr>
              <p:nvPr/>
            </p:nvGrpSpPr>
            <p:grpSpPr bwMode="auto">
              <a:xfrm>
                <a:off x="340" y="960"/>
                <a:ext cx="170" cy="480"/>
                <a:chOff x="0" y="0"/>
                <a:chExt cx="170" cy="480"/>
              </a:xfrm>
            </p:grpSpPr>
            <p:sp>
              <p:nvSpPr>
                <p:cNvPr id="100412" name="Rectangle 84">
                  <a:extLst>
                    <a:ext uri="{FF2B5EF4-FFF2-40B4-BE49-F238E27FC236}">
                      <a16:creationId xmlns:a16="http://schemas.microsoft.com/office/drawing/2014/main" id="{329DF299-5882-49B1-AB2F-FDF3BDC3F1DA}"/>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a:solidFill>
                        <a:srgbClr val="000000"/>
                      </a:solidFill>
                    </a:rPr>
                    <a:t>5</a:t>
                  </a:r>
                </a:p>
                <a:p>
                  <a:pPr algn="ctr">
                    <a:spcBef>
                      <a:spcPct val="0"/>
                    </a:spcBef>
                    <a:buFontTx/>
                    <a:buNone/>
                  </a:pPr>
                  <a:endParaRPr lang="zh-CN" altLang="zh-CN" sz="2400" b="1">
                    <a:solidFill>
                      <a:srgbClr val="000000"/>
                    </a:solidFill>
                  </a:endParaRPr>
                </a:p>
              </p:txBody>
            </p:sp>
            <p:sp>
              <p:nvSpPr>
                <p:cNvPr id="100413" name="Rectangle 85">
                  <a:extLst>
                    <a:ext uri="{FF2B5EF4-FFF2-40B4-BE49-F238E27FC236}">
                      <a16:creationId xmlns:a16="http://schemas.microsoft.com/office/drawing/2014/main" id="{E38243D0-3C85-4F8E-9414-BEC75F053F68}"/>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85" name="Group 86">
                <a:extLst>
                  <a:ext uri="{FF2B5EF4-FFF2-40B4-BE49-F238E27FC236}">
                    <a16:creationId xmlns:a16="http://schemas.microsoft.com/office/drawing/2014/main" id="{8BE7F227-692C-4E0D-AF58-A9F0DA4ED48F}"/>
                  </a:ext>
                </a:extLst>
              </p:cNvPr>
              <p:cNvGrpSpPr>
                <a:grpSpLocks/>
              </p:cNvGrpSpPr>
              <p:nvPr/>
            </p:nvGrpSpPr>
            <p:grpSpPr bwMode="auto">
              <a:xfrm>
                <a:off x="510" y="960"/>
                <a:ext cx="170" cy="480"/>
                <a:chOff x="0" y="0"/>
                <a:chExt cx="170" cy="480"/>
              </a:xfrm>
            </p:grpSpPr>
            <p:sp>
              <p:nvSpPr>
                <p:cNvPr id="100410" name="Rectangle 87">
                  <a:extLst>
                    <a:ext uri="{FF2B5EF4-FFF2-40B4-BE49-F238E27FC236}">
                      <a16:creationId xmlns:a16="http://schemas.microsoft.com/office/drawing/2014/main" id="{E4C395CB-2133-47CC-9BD4-A2F8A43B8824}"/>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a:solidFill>
                        <a:srgbClr val="000000"/>
                      </a:solidFill>
                    </a:rPr>
                    <a:t>6</a:t>
                  </a:r>
                </a:p>
                <a:p>
                  <a:pPr algn="ctr">
                    <a:spcBef>
                      <a:spcPct val="0"/>
                    </a:spcBef>
                    <a:buFontTx/>
                    <a:buNone/>
                  </a:pPr>
                  <a:endParaRPr lang="zh-CN" altLang="zh-CN" sz="2400" b="1">
                    <a:solidFill>
                      <a:srgbClr val="000000"/>
                    </a:solidFill>
                  </a:endParaRPr>
                </a:p>
              </p:txBody>
            </p:sp>
            <p:sp>
              <p:nvSpPr>
                <p:cNvPr id="100411" name="Rectangle 88">
                  <a:extLst>
                    <a:ext uri="{FF2B5EF4-FFF2-40B4-BE49-F238E27FC236}">
                      <a16:creationId xmlns:a16="http://schemas.microsoft.com/office/drawing/2014/main" id="{8967ABAE-7046-43DE-AD06-08D02811F8E9}"/>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86" name="Group 89">
                <a:extLst>
                  <a:ext uri="{FF2B5EF4-FFF2-40B4-BE49-F238E27FC236}">
                    <a16:creationId xmlns:a16="http://schemas.microsoft.com/office/drawing/2014/main" id="{18ABACC7-CAA2-4625-861F-184B221C1D33}"/>
                  </a:ext>
                </a:extLst>
              </p:cNvPr>
              <p:cNvGrpSpPr>
                <a:grpSpLocks/>
              </p:cNvGrpSpPr>
              <p:nvPr/>
            </p:nvGrpSpPr>
            <p:grpSpPr bwMode="auto">
              <a:xfrm>
                <a:off x="680" y="960"/>
                <a:ext cx="170" cy="480"/>
                <a:chOff x="0" y="0"/>
                <a:chExt cx="170" cy="480"/>
              </a:xfrm>
            </p:grpSpPr>
            <p:sp>
              <p:nvSpPr>
                <p:cNvPr id="100408" name="Rectangle 90">
                  <a:extLst>
                    <a:ext uri="{FF2B5EF4-FFF2-40B4-BE49-F238E27FC236}">
                      <a16:creationId xmlns:a16="http://schemas.microsoft.com/office/drawing/2014/main" id="{30C6404D-761B-4438-8073-54313D6B23F9}"/>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a:solidFill>
                        <a:srgbClr val="000000"/>
                      </a:solidFill>
                    </a:rPr>
                    <a:t>7</a:t>
                  </a:r>
                </a:p>
                <a:p>
                  <a:pPr algn="ctr">
                    <a:spcBef>
                      <a:spcPct val="0"/>
                    </a:spcBef>
                    <a:buFontTx/>
                    <a:buNone/>
                  </a:pPr>
                  <a:endParaRPr lang="zh-CN" altLang="zh-CN" sz="2400" b="1">
                    <a:solidFill>
                      <a:srgbClr val="000000"/>
                    </a:solidFill>
                  </a:endParaRPr>
                </a:p>
              </p:txBody>
            </p:sp>
            <p:sp>
              <p:nvSpPr>
                <p:cNvPr id="100409" name="Rectangle 91">
                  <a:extLst>
                    <a:ext uri="{FF2B5EF4-FFF2-40B4-BE49-F238E27FC236}">
                      <a16:creationId xmlns:a16="http://schemas.microsoft.com/office/drawing/2014/main" id="{806D079C-13EA-461B-A8ED-51A1E69709F8}"/>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87" name="Group 92">
                <a:extLst>
                  <a:ext uri="{FF2B5EF4-FFF2-40B4-BE49-F238E27FC236}">
                    <a16:creationId xmlns:a16="http://schemas.microsoft.com/office/drawing/2014/main" id="{C1C8E44B-77D6-4451-B81E-2918B48F751B}"/>
                  </a:ext>
                </a:extLst>
              </p:cNvPr>
              <p:cNvGrpSpPr>
                <a:grpSpLocks/>
              </p:cNvGrpSpPr>
              <p:nvPr/>
            </p:nvGrpSpPr>
            <p:grpSpPr bwMode="auto">
              <a:xfrm>
                <a:off x="850" y="960"/>
                <a:ext cx="170" cy="480"/>
                <a:chOff x="0" y="0"/>
                <a:chExt cx="170" cy="480"/>
              </a:xfrm>
            </p:grpSpPr>
            <p:sp>
              <p:nvSpPr>
                <p:cNvPr id="100406" name="Rectangle 93">
                  <a:extLst>
                    <a:ext uri="{FF2B5EF4-FFF2-40B4-BE49-F238E27FC236}">
                      <a16:creationId xmlns:a16="http://schemas.microsoft.com/office/drawing/2014/main" id="{E23BD4E8-41C2-4750-8214-EF68B085F5FE}"/>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a:solidFill>
                        <a:srgbClr val="000000"/>
                      </a:solidFill>
                    </a:rPr>
                    <a:t>8</a:t>
                  </a:r>
                </a:p>
                <a:p>
                  <a:pPr algn="ctr">
                    <a:spcBef>
                      <a:spcPct val="0"/>
                    </a:spcBef>
                    <a:buFontTx/>
                    <a:buNone/>
                  </a:pPr>
                  <a:endParaRPr lang="zh-CN" altLang="zh-CN" sz="2400" b="1">
                    <a:solidFill>
                      <a:srgbClr val="000000"/>
                    </a:solidFill>
                  </a:endParaRPr>
                </a:p>
              </p:txBody>
            </p:sp>
            <p:sp>
              <p:nvSpPr>
                <p:cNvPr id="100407" name="Rectangle 94">
                  <a:extLst>
                    <a:ext uri="{FF2B5EF4-FFF2-40B4-BE49-F238E27FC236}">
                      <a16:creationId xmlns:a16="http://schemas.microsoft.com/office/drawing/2014/main" id="{2DAAA8D5-691C-47EB-9247-5CC8768861DA}"/>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88" name="Group 95">
                <a:extLst>
                  <a:ext uri="{FF2B5EF4-FFF2-40B4-BE49-F238E27FC236}">
                    <a16:creationId xmlns:a16="http://schemas.microsoft.com/office/drawing/2014/main" id="{3CD0F594-7659-4233-AB7C-E9F0F7812561}"/>
                  </a:ext>
                </a:extLst>
              </p:cNvPr>
              <p:cNvGrpSpPr>
                <a:grpSpLocks/>
              </p:cNvGrpSpPr>
              <p:nvPr/>
            </p:nvGrpSpPr>
            <p:grpSpPr bwMode="auto">
              <a:xfrm>
                <a:off x="1020" y="960"/>
                <a:ext cx="170" cy="480"/>
                <a:chOff x="0" y="0"/>
                <a:chExt cx="170" cy="480"/>
              </a:xfrm>
            </p:grpSpPr>
            <p:sp>
              <p:nvSpPr>
                <p:cNvPr id="100404" name="Rectangle 96">
                  <a:extLst>
                    <a:ext uri="{FF2B5EF4-FFF2-40B4-BE49-F238E27FC236}">
                      <a16:creationId xmlns:a16="http://schemas.microsoft.com/office/drawing/2014/main" id="{F8C8FA3F-E482-427F-A5E6-08C14BF9A05A}"/>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a:solidFill>
                        <a:srgbClr val="000000"/>
                      </a:solidFill>
                    </a:rPr>
                    <a:t>9</a:t>
                  </a:r>
                </a:p>
                <a:p>
                  <a:pPr algn="ctr">
                    <a:spcBef>
                      <a:spcPct val="0"/>
                    </a:spcBef>
                    <a:buFontTx/>
                    <a:buNone/>
                  </a:pPr>
                  <a:endParaRPr lang="zh-CN" altLang="zh-CN" sz="2400" b="1">
                    <a:solidFill>
                      <a:srgbClr val="000000"/>
                    </a:solidFill>
                  </a:endParaRPr>
                </a:p>
              </p:txBody>
            </p:sp>
            <p:sp>
              <p:nvSpPr>
                <p:cNvPr id="100405" name="Rectangle 97">
                  <a:extLst>
                    <a:ext uri="{FF2B5EF4-FFF2-40B4-BE49-F238E27FC236}">
                      <a16:creationId xmlns:a16="http://schemas.microsoft.com/office/drawing/2014/main" id="{2B6F7698-EA44-42E2-9476-87E075D7EB28}"/>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89" name="Group 98">
                <a:extLst>
                  <a:ext uri="{FF2B5EF4-FFF2-40B4-BE49-F238E27FC236}">
                    <a16:creationId xmlns:a16="http://schemas.microsoft.com/office/drawing/2014/main" id="{B03DE799-B0A9-455F-9067-7CDBF91397D9}"/>
                  </a:ext>
                </a:extLst>
              </p:cNvPr>
              <p:cNvGrpSpPr>
                <a:grpSpLocks/>
              </p:cNvGrpSpPr>
              <p:nvPr/>
            </p:nvGrpSpPr>
            <p:grpSpPr bwMode="auto">
              <a:xfrm>
                <a:off x="1190" y="960"/>
                <a:ext cx="170" cy="480"/>
                <a:chOff x="0" y="0"/>
                <a:chExt cx="170" cy="480"/>
              </a:xfrm>
            </p:grpSpPr>
            <p:sp>
              <p:nvSpPr>
                <p:cNvPr id="100402" name="Rectangle 99">
                  <a:extLst>
                    <a:ext uri="{FF2B5EF4-FFF2-40B4-BE49-F238E27FC236}">
                      <a16:creationId xmlns:a16="http://schemas.microsoft.com/office/drawing/2014/main" id="{1C909DBC-F6C6-49AF-8F01-62C39673B0D1}"/>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a:solidFill>
                        <a:srgbClr val="000000"/>
                      </a:solidFill>
                    </a:rPr>
                    <a:t>10</a:t>
                  </a:r>
                </a:p>
                <a:p>
                  <a:pPr algn="ctr">
                    <a:spcBef>
                      <a:spcPct val="0"/>
                    </a:spcBef>
                    <a:buFontTx/>
                    <a:buNone/>
                  </a:pPr>
                  <a:endParaRPr lang="zh-CN" altLang="zh-CN" sz="2400" b="1">
                    <a:solidFill>
                      <a:srgbClr val="000000"/>
                    </a:solidFill>
                  </a:endParaRPr>
                </a:p>
              </p:txBody>
            </p:sp>
            <p:sp>
              <p:nvSpPr>
                <p:cNvPr id="100403" name="Rectangle 100">
                  <a:extLst>
                    <a:ext uri="{FF2B5EF4-FFF2-40B4-BE49-F238E27FC236}">
                      <a16:creationId xmlns:a16="http://schemas.microsoft.com/office/drawing/2014/main" id="{A573AF5C-D19A-487E-8C5F-742E3B8B9D4A}"/>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90" name="Group 101">
                <a:extLst>
                  <a:ext uri="{FF2B5EF4-FFF2-40B4-BE49-F238E27FC236}">
                    <a16:creationId xmlns:a16="http://schemas.microsoft.com/office/drawing/2014/main" id="{6BCBBD58-7530-4744-AE60-C444C769BB9D}"/>
                  </a:ext>
                </a:extLst>
              </p:cNvPr>
              <p:cNvGrpSpPr>
                <a:grpSpLocks/>
              </p:cNvGrpSpPr>
              <p:nvPr/>
            </p:nvGrpSpPr>
            <p:grpSpPr bwMode="auto">
              <a:xfrm>
                <a:off x="1360" y="960"/>
                <a:ext cx="170" cy="480"/>
                <a:chOff x="0" y="0"/>
                <a:chExt cx="170" cy="480"/>
              </a:xfrm>
            </p:grpSpPr>
            <p:sp>
              <p:nvSpPr>
                <p:cNvPr id="100400" name="Rectangle 102">
                  <a:extLst>
                    <a:ext uri="{FF2B5EF4-FFF2-40B4-BE49-F238E27FC236}">
                      <a16:creationId xmlns:a16="http://schemas.microsoft.com/office/drawing/2014/main" id="{EAA7629E-81F7-4684-99FC-71FD7B47DCF4}"/>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a:solidFill>
                        <a:srgbClr val="000000"/>
                      </a:solidFill>
                    </a:rPr>
                    <a:t>11</a:t>
                  </a:r>
                </a:p>
                <a:p>
                  <a:pPr algn="ctr">
                    <a:spcBef>
                      <a:spcPct val="0"/>
                    </a:spcBef>
                    <a:buFontTx/>
                    <a:buNone/>
                  </a:pPr>
                  <a:endParaRPr lang="zh-CN" altLang="zh-CN" sz="2400" b="1">
                    <a:solidFill>
                      <a:srgbClr val="000000"/>
                    </a:solidFill>
                  </a:endParaRPr>
                </a:p>
              </p:txBody>
            </p:sp>
            <p:sp>
              <p:nvSpPr>
                <p:cNvPr id="100401" name="Rectangle 103">
                  <a:extLst>
                    <a:ext uri="{FF2B5EF4-FFF2-40B4-BE49-F238E27FC236}">
                      <a16:creationId xmlns:a16="http://schemas.microsoft.com/office/drawing/2014/main" id="{732CCAEA-7FF3-40E9-BC5F-F2CA17F8F273}"/>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91" name="Group 104">
                <a:extLst>
                  <a:ext uri="{FF2B5EF4-FFF2-40B4-BE49-F238E27FC236}">
                    <a16:creationId xmlns:a16="http://schemas.microsoft.com/office/drawing/2014/main" id="{1021F0AC-C68D-4E03-A825-946E0293C91E}"/>
                  </a:ext>
                </a:extLst>
              </p:cNvPr>
              <p:cNvGrpSpPr>
                <a:grpSpLocks/>
              </p:cNvGrpSpPr>
              <p:nvPr/>
            </p:nvGrpSpPr>
            <p:grpSpPr bwMode="auto">
              <a:xfrm>
                <a:off x="1530" y="960"/>
                <a:ext cx="170" cy="480"/>
                <a:chOff x="0" y="0"/>
                <a:chExt cx="170" cy="480"/>
              </a:xfrm>
            </p:grpSpPr>
            <p:sp>
              <p:nvSpPr>
                <p:cNvPr id="100398" name="Rectangle 105">
                  <a:extLst>
                    <a:ext uri="{FF2B5EF4-FFF2-40B4-BE49-F238E27FC236}">
                      <a16:creationId xmlns:a16="http://schemas.microsoft.com/office/drawing/2014/main" id="{609AEB39-B5F3-4491-B29D-57F24870872B}"/>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a:solidFill>
                        <a:srgbClr val="000000"/>
                      </a:solidFill>
                    </a:rPr>
                    <a:t>12</a:t>
                  </a:r>
                </a:p>
                <a:p>
                  <a:pPr algn="ctr">
                    <a:spcBef>
                      <a:spcPct val="0"/>
                    </a:spcBef>
                    <a:buFontTx/>
                    <a:buNone/>
                  </a:pPr>
                  <a:endParaRPr lang="zh-CN" altLang="zh-CN" sz="2400" b="1">
                    <a:solidFill>
                      <a:srgbClr val="000000"/>
                    </a:solidFill>
                  </a:endParaRPr>
                </a:p>
              </p:txBody>
            </p:sp>
            <p:sp>
              <p:nvSpPr>
                <p:cNvPr id="100399" name="Rectangle 106">
                  <a:extLst>
                    <a:ext uri="{FF2B5EF4-FFF2-40B4-BE49-F238E27FC236}">
                      <a16:creationId xmlns:a16="http://schemas.microsoft.com/office/drawing/2014/main" id="{7E715C4B-CDC0-4678-88FA-AD86B4F98F66}"/>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92" name="Group 107">
                <a:extLst>
                  <a:ext uri="{FF2B5EF4-FFF2-40B4-BE49-F238E27FC236}">
                    <a16:creationId xmlns:a16="http://schemas.microsoft.com/office/drawing/2014/main" id="{57D2B688-B53D-451C-A2E6-9AB553359203}"/>
                  </a:ext>
                </a:extLst>
              </p:cNvPr>
              <p:cNvGrpSpPr>
                <a:grpSpLocks/>
              </p:cNvGrpSpPr>
              <p:nvPr/>
            </p:nvGrpSpPr>
            <p:grpSpPr bwMode="auto">
              <a:xfrm>
                <a:off x="1700" y="960"/>
                <a:ext cx="170" cy="480"/>
                <a:chOff x="0" y="0"/>
                <a:chExt cx="170" cy="480"/>
              </a:xfrm>
            </p:grpSpPr>
            <p:sp>
              <p:nvSpPr>
                <p:cNvPr id="100396" name="Rectangle 108">
                  <a:extLst>
                    <a:ext uri="{FF2B5EF4-FFF2-40B4-BE49-F238E27FC236}">
                      <a16:creationId xmlns:a16="http://schemas.microsoft.com/office/drawing/2014/main" id="{0227DCF9-DD87-4BE7-B1E8-59490816343F}"/>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a:solidFill>
                        <a:srgbClr val="000000"/>
                      </a:solidFill>
                    </a:rPr>
                    <a:t>13</a:t>
                  </a:r>
                </a:p>
                <a:p>
                  <a:pPr algn="ctr">
                    <a:spcBef>
                      <a:spcPct val="0"/>
                    </a:spcBef>
                    <a:buFontTx/>
                    <a:buNone/>
                  </a:pPr>
                  <a:endParaRPr lang="zh-CN" altLang="zh-CN" sz="2400" b="1">
                    <a:solidFill>
                      <a:srgbClr val="000000"/>
                    </a:solidFill>
                  </a:endParaRPr>
                </a:p>
              </p:txBody>
            </p:sp>
            <p:sp>
              <p:nvSpPr>
                <p:cNvPr id="100397" name="Rectangle 109">
                  <a:extLst>
                    <a:ext uri="{FF2B5EF4-FFF2-40B4-BE49-F238E27FC236}">
                      <a16:creationId xmlns:a16="http://schemas.microsoft.com/office/drawing/2014/main" id="{974026E2-2E5D-4374-90C5-730C415CF4AF}"/>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nvGrpSpPr>
              <p:cNvPr id="100393" name="Group 110">
                <a:extLst>
                  <a:ext uri="{FF2B5EF4-FFF2-40B4-BE49-F238E27FC236}">
                    <a16:creationId xmlns:a16="http://schemas.microsoft.com/office/drawing/2014/main" id="{634C4417-D6E8-4548-BD28-4AFFC8D3E91D}"/>
                  </a:ext>
                </a:extLst>
              </p:cNvPr>
              <p:cNvGrpSpPr>
                <a:grpSpLocks/>
              </p:cNvGrpSpPr>
              <p:nvPr/>
            </p:nvGrpSpPr>
            <p:grpSpPr bwMode="auto">
              <a:xfrm>
                <a:off x="1870" y="960"/>
                <a:ext cx="170" cy="480"/>
                <a:chOff x="0" y="0"/>
                <a:chExt cx="170" cy="480"/>
              </a:xfrm>
            </p:grpSpPr>
            <p:sp>
              <p:nvSpPr>
                <p:cNvPr id="100394" name="Rectangle 111">
                  <a:extLst>
                    <a:ext uri="{FF2B5EF4-FFF2-40B4-BE49-F238E27FC236}">
                      <a16:creationId xmlns:a16="http://schemas.microsoft.com/office/drawing/2014/main" id="{4FF90A45-2179-480A-85A1-134BEF7C029D}"/>
                    </a:ext>
                  </a:extLst>
                </p:cNvPr>
                <p:cNvSpPr>
                  <a:spLocks noChangeArrowheads="1"/>
                </p:cNvSpPr>
                <p:nvPr/>
              </p:nvSpPr>
              <p:spPr bwMode="auto">
                <a:xfrm>
                  <a:off x="0" y="0"/>
                  <a:ext cx="17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nchor="ct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zh-CN" sz="2400" b="1">
                      <a:solidFill>
                        <a:srgbClr val="000000"/>
                      </a:solidFill>
                    </a:rPr>
                    <a:t>14</a:t>
                  </a:r>
                </a:p>
                <a:p>
                  <a:pPr algn="ctr">
                    <a:spcBef>
                      <a:spcPct val="0"/>
                    </a:spcBef>
                    <a:buFontTx/>
                    <a:buNone/>
                  </a:pPr>
                  <a:endParaRPr lang="zh-CN" altLang="zh-CN" sz="2400" b="1">
                    <a:solidFill>
                      <a:srgbClr val="000000"/>
                    </a:solidFill>
                  </a:endParaRPr>
                </a:p>
              </p:txBody>
            </p:sp>
            <p:sp>
              <p:nvSpPr>
                <p:cNvPr id="100395" name="Rectangle 112">
                  <a:extLst>
                    <a:ext uri="{FF2B5EF4-FFF2-40B4-BE49-F238E27FC236}">
                      <a16:creationId xmlns:a16="http://schemas.microsoft.com/office/drawing/2014/main" id="{E81ABABC-9FDB-42B9-ABDD-890887FECF8C}"/>
                    </a:ext>
                  </a:extLst>
                </p:cNvPr>
                <p:cNvSpPr>
                  <a:spLocks noChangeArrowheads="1"/>
                </p:cNvSpPr>
                <p:nvPr/>
              </p:nvSpPr>
              <p:spPr bwMode="auto">
                <a:xfrm>
                  <a:off x="0" y="0"/>
                  <a:ext cx="17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grpSp>
        <p:sp>
          <p:nvSpPr>
            <p:cNvPr id="100357" name="Rectangle 113">
              <a:extLst>
                <a:ext uri="{FF2B5EF4-FFF2-40B4-BE49-F238E27FC236}">
                  <a16:creationId xmlns:a16="http://schemas.microsoft.com/office/drawing/2014/main" id="{1239B851-06B4-4824-BF96-806EBBAAC1FD}"/>
                </a:ext>
              </a:extLst>
            </p:cNvPr>
            <p:cNvSpPr>
              <a:spLocks noChangeArrowheads="1"/>
            </p:cNvSpPr>
            <p:nvPr/>
          </p:nvSpPr>
          <p:spPr bwMode="auto">
            <a:xfrm>
              <a:off x="0" y="0"/>
              <a:ext cx="2044" cy="1444"/>
            </a:xfrm>
            <a:prstGeom prst="rect">
              <a:avLst/>
            </a:prstGeom>
            <a:noFill/>
            <a:ln w="6350">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28800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lang="zh-CN" altLang="en-US" sz="1800">
                <a:solidFill>
                  <a:srgbClr val="3333CC"/>
                </a:solidFill>
                <a:latin typeface="Arial" panose="020B0604020202020204" pitchFamily="34" charset="0"/>
                <a:ea typeface="华文行楷" panose="02010800040101010101" pitchFamily="2" charset="-122"/>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D88078-87C0-46BE-876E-451041F99A43}"/>
              </a:ext>
            </a:extLst>
          </p:cNvPr>
          <p:cNvSpPr>
            <a:spLocks noGrp="1"/>
          </p:cNvSpPr>
          <p:nvPr>
            <p:ph type="title"/>
          </p:nvPr>
        </p:nvSpPr>
        <p:spPr/>
        <p:txBody>
          <a:bodyPr/>
          <a:lstStyle/>
          <a:p>
            <a:r>
              <a:rPr lang="en-US" altLang="zh-CN"/>
              <a:t>Greedy Choice</a:t>
            </a:r>
            <a:endParaRPr lang="zh-CN" altLang="en-US"/>
          </a:p>
        </p:txBody>
      </p:sp>
      <p:sp>
        <p:nvSpPr>
          <p:cNvPr id="4" name="内容占位符 3">
            <a:extLst>
              <a:ext uri="{FF2B5EF4-FFF2-40B4-BE49-F238E27FC236}">
                <a16:creationId xmlns:a16="http://schemas.microsoft.com/office/drawing/2014/main" id="{26429257-2B6B-440A-B09E-56EEE5D45621}"/>
              </a:ext>
            </a:extLst>
          </p:cNvPr>
          <p:cNvSpPr>
            <a:spLocks noGrp="1"/>
          </p:cNvSpPr>
          <p:nvPr>
            <p:ph idx="1"/>
          </p:nvPr>
        </p:nvSpPr>
        <p:spPr/>
        <p:txBody>
          <a:bodyPr/>
          <a:lstStyle/>
          <a:p>
            <a:pPr marL="514350" indent="-514350" algn="just">
              <a:spcBef>
                <a:spcPct val="50000"/>
              </a:spcBef>
              <a:buFont typeface="+mj-lt"/>
              <a:buAutoNum type="arabicPeriod"/>
            </a:pPr>
            <a:r>
              <a:rPr lang="en-US" altLang="zh-CN" sz="2800">
                <a:latin typeface="Times New Roman" panose="02020603050405020304" pitchFamily="18" charset="0"/>
                <a:ea typeface="宋体" panose="02010600030101010101" pitchFamily="2" charset="-122"/>
              </a:rPr>
              <a:t>Earliest start time</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 </a:t>
            </a:r>
            <a:r>
              <a:rPr lang="en-US" altLang="zh-CN">
                <a:solidFill>
                  <a:srgbClr val="FF0000"/>
                </a:solidFill>
                <a:latin typeface="Times New Roman" panose="02020603050405020304" pitchFamily="18" charset="0"/>
                <a:ea typeface="宋体" panose="02010600030101010101" pitchFamily="2" charset="-122"/>
                <a:sym typeface="+mn-ea"/>
              </a:rPr>
              <a:t>wrong. </a:t>
            </a:r>
            <a:r>
              <a:rPr lang="en-US" altLang="zh-CN">
                <a:latin typeface="Times New Roman" panose="02020603050405020304" pitchFamily="18" charset="0"/>
                <a:ea typeface="宋体" panose="02010600030101010101" pitchFamily="2" charset="-122"/>
                <a:sym typeface="+mn-ea"/>
              </a:rPr>
              <a:t>I</a:t>
            </a:r>
            <a:r>
              <a:rPr lang="en-US" altLang="zh-CN" sz="2800">
                <a:latin typeface="Times New Roman" panose="02020603050405020304" pitchFamily="18" charset="0"/>
                <a:ea typeface="宋体" panose="02010600030101010101" pitchFamily="2" charset="-122"/>
                <a:sym typeface="+mn-ea"/>
              </a:rPr>
              <a:t>f an activity does not terminate (for example, the first one), the following activities cannot start.</a:t>
            </a:r>
            <a:endParaRPr lang="zh-CN" altLang="en-US" sz="2800">
              <a:latin typeface="Times New Roman" panose="02020603050405020304" pitchFamily="18" charset="0"/>
              <a:ea typeface="宋体" panose="02010600030101010101" pitchFamily="2" charset="-122"/>
            </a:endParaRPr>
          </a:p>
          <a:p>
            <a:pPr marL="514350" indent="-514350" algn="just">
              <a:spcBef>
                <a:spcPct val="50000"/>
              </a:spcBef>
              <a:buFont typeface="+mj-lt"/>
              <a:buAutoNum type="arabicPeriod"/>
            </a:pPr>
            <a:r>
              <a:rPr lang="en-US" altLang="zh-CN" sz="2800" b="1">
                <a:latin typeface="Times New Roman" panose="02020603050405020304" pitchFamily="18" charset="0"/>
                <a:ea typeface="宋体" panose="02010600030101010101" pitchFamily="2" charset="-122"/>
              </a:rPr>
              <a:t>Earliest finish time</a:t>
            </a:r>
            <a:r>
              <a:rPr lang="en-US" altLang="zh-CN" b="1">
                <a:latin typeface="Times New Roman" panose="02020603050405020304" pitchFamily="18" charset="0"/>
                <a:ea typeface="宋体" panose="02010600030101010101" pitchFamily="2" charset="-122"/>
              </a:rPr>
              <a:t>:</a:t>
            </a:r>
            <a:r>
              <a:rPr lang="zh-CN" altLang="en-US" b="1">
                <a:latin typeface="Times New Roman" panose="02020603050405020304" pitchFamily="18" charset="0"/>
                <a:ea typeface="宋体" panose="02010600030101010101" pitchFamily="2" charset="-122"/>
              </a:rPr>
              <a:t> </a:t>
            </a:r>
            <a:r>
              <a:rPr lang="en-US" altLang="zh-CN" b="1">
                <a:solidFill>
                  <a:srgbClr val="FF0000"/>
                </a:solidFill>
                <a:latin typeface="Times New Roman" panose="02020603050405020304" pitchFamily="18" charset="0"/>
                <a:ea typeface="宋体" panose="02010600030101010101" pitchFamily="2" charset="-122"/>
                <a:sym typeface="+mn-ea"/>
              </a:rPr>
              <a:t>right</a:t>
            </a:r>
            <a:endParaRPr lang="zh-CN" altLang="en-US" sz="2800" b="1">
              <a:latin typeface="Times New Roman" panose="02020603050405020304" pitchFamily="18" charset="0"/>
              <a:ea typeface="宋体" panose="02010600030101010101" pitchFamily="2" charset="-122"/>
            </a:endParaRPr>
          </a:p>
          <a:p>
            <a:pPr marL="514350" indent="-514350" algn="just">
              <a:spcBef>
                <a:spcPct val="50000"/>
              </a:spcBef>
              <a:buFont typeface="+mj-lt"/>
              <a:buAutoNum type="arabicPeriod"/>
            </a:pPr>
            <a:r>
              <a:rPr lang="en-US" altLang="zh-CN">
                <a:latin typeface="Times New Roman" panose="02020603050405020304" pitchFamily="18" charset="0"/>
                <a:ea typeface="宋体" panose="02010600030101010101" pitchFamily="2" charset="-122"/>
              </a:rPr>
              <a:t>The</a:t>
            </a:r>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shortest: </a:t>
            </a:r>
            <a:r>
              <a:rPr lang="en-US" altLang="zh-CN">
                <a:solidFill>
                  <a:srgbClr val="FF0000"/>
                </a:solidFill>
                <a:latin typeface="Times New Roman" panose="02020603050405020304" pitchFamily="18" charset="0"/>
                <a:ea typeface="宋体" panose="02010600030101010101" pitchFamily="2" charset="-122"/>
              </a:rPr>
              <a:t>wrong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1378" name="Group 2">
            <a:extLst>
              <a:ext uri="{FF2B5EF4-FFF2-40B4-BE49-F238E27FC236}">
                <a16:creationId xmlns:a16="http://schemas.microsoft.com/office/drawing/2014/main" id="{9480DFA4-C2AD-4CD5-B4FF-23EEA9D36E75}"/>
              </a:ext>
            </a:extLst>
          </p:cNvPr>
          <p:cNvGrpSpPr>
            <a:grpSpLocks/>
          </p:cNvGrpSpPr>
          <p:nvPr/>
        </p:nvGrpSpPr>
        <p:grpSpPr bwMode="auto">
          <a:xfrm>
            <a:off x="2063750" y="476250"/>
            <a:ext cx="8604251" cy="6381750"/>
            <a:chOff x="0" y="0"/>
            <a:chExt cx="5420" cy="3447"/>
          </a:xfrm>
        </p:grpSpPr>
        <p:sp>
          <p:nvSpPr>
            <p:cNvPr id="101379" name="Line 3">
              <a:extLst>
                <a:ext uri="{FF2B5EF4-FFF2-40B4-BE49-F238E27FC236}">
                  <a16:creationId xmlns:a16="http://schemas.microsoft.com/office/drawing/2014/main" id="{E684F09A-59AE-4BE3-95D9-86C0394FAEF1}"/>
                </a:ext>
              </a:extLst>
            </p:cNvPr>
            <p:cNvSpPr>
              <a:spLocks noChangeShapeType="1"/>
            </p:cNvSpPr>
            <p:nvPr/>
          </p:nvSpPr>
          <p:spPr bwMode="auto">
            <a:xfrm flipV="1">
              <a:off x="1126" y="53"/>
              <a:ext cx="0" cy="293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380" name="Line 4">
              <a:extLst>
                <a:ext uri="{FF2B5EF4-FFF2-40B4-BE49-F238E27FC236}">
                  <a16:creationId xmlns:a16="http://schemas.microsoft.com/office/drawing/2014/main" id="{EA821406-1E85-444C-B947-3F7FA7826BB2}"/>
                </a:ext>
              </a:extLst>
            </p:cNvPr>
            <p:cNvSpPr>
              <a:spLocks noChangeShapeType="1"/>
            </p:cNvSpPr>
            <p:nvPr/>
          </p:nvSpPr>
          <p:spPr bwMode="auto">
            <a:xfrm flipV="1">
              <a:off x="26" y="2998"/>
              <a:ext cx="4064"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01381" name="Text Box 5">
              <a:extLst>
                <a:ext uri="{FF2B5EF4-FFF2-40B4-BE49-F238E27FC236}">
                  <a16:creationId xmlns:a16="http://schemas.microsoft.com/office/drawing/2014/main" id="{5CB91211-F502-48CB-9A72-F5FE4EE68F4E}"/>
                </a:ext>
              </a:extLst>
            </p:cNvPr>
            <p:cNvSpPr txBox="1">
              <a:spLocks noChangeArrowheads="1"/>
            </p:cNvSpPr>
            <p:nvPr/>
          </p:nvSpPr>
          <p:spPr bwMode="auto">
            <a:xfrm>
              <a:off x="0" y="3017"/>
              <a:ext cx="4006" cy="180"/>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r>
                <a:rPr lang="zh-CN" altLang="zh-CN" sz="1800" b="1">
                  <a:solidFill>
                    <a:srgbClr val="000000"/>
                  </a:solidFill>
                </a:rPr>
                <a:t>0     1      2      3     4      5      6     7     8      9    10    11    12   13   14</a:t>
              </a:r>
            </a:p>
          </p:txBody>
        </p:sp>
        <p:sp>
          <p:nvSpPr>
            <p:cNvPr id="101382" name="Line 6">
              <a:extLst>
                <a:ext uri="{FF2B5EF4-FFF2-40B4-BE49-F238E27FC236}">
                  <a16:creationId xmlns:a16="http://schemas.microsoft.com/office/drawing/2014/main" id="{295B227C-CD82-464B-8097-56D649A3CF64}"/>
                </a:ext>
              </a:extLst>
            </p:cNvPr>
            <p:cNvSpPr>
              <a:spLocks noChangeShapeType="1"/>
            </p:cNvSpPr>
            <p:nvPr/>
          </p:nvSpPr>
          <p:spPr bwMode="auto">
            <a:xfrm flipH="1" flipV="1">
              <a:off x="26" y="0"/>
              <a:ext cx="0" cy="2995"/>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01383" name="Line 7">
              <a:extLst>
                <a:ext uri="{FF2B5EF4-FFF2-40B4-BE49-F238E27FC236}">
                  <a16:creationId xmlns:a16="http://schemas.microsoft.com/office/drawing/2014/main" id="{1ACB335F-9A98-4335-B760-1333A0BB5F69}"/>
                </a:ext>
              </a:extLst>
            </p:cNvPr>
            <p:cNvSpPr>
              <a:spLocks noChangeShapeType="1"/>
            </p:cNvSpPr>
            <p:nvPr/>
          </p:nvSpPr>
          <p:spPr bwMode="auto">
            <a:xfrm flipV="1">
              <a:off x="314" y="55"/>
              <a:ext cx="0" cy="29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384" name="Line 8">
              <a:extLst>
                <a:ext uri="{FF2B5EF4-FFF2-40B4-BE49-F238E27FC236}">
                  <a16:creationId xmlns:a16="http://schemas.microsoft.com/office/drawing/2014/main" id="{CC20AE05-3F89-465B-AE25-34FA537A0080}"/>
                </a:ext>
              </a:extLst>
            </p:cNvPr>
            <p:cNvSpPr>
              <a:spLocks noChangeShapeType="1"/>
            </p:cNvSpPr>
            <p:nvPr/>
          </p:nvSpPr>
          <p:spPr bwMode="auto">
            <a:xfrm flipV="1">
              <a:off x="593" y="54"/>
              <a:ext cx="0" cy="293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385" name="Line 9">
              <a:extLst>
                <a:ext uri="{FF2B5EF4-FFF2-40B4-BE49-F238E27FC236}">
                  <a16:creationId xmlns:a16="http://schemas.microsoft.com/office/drawing/2014/main" id="{067E08BE-6CC1-4D2B-A5EA-B0F101A22DD2}"/>
                </a:ext>
              </a:extLst>
            </p:cNvPr>
            <p:cNvSpPr>
              <a:spLocks noChangeShapeType="1"/>
            </p:cNvSpPr>
            <p:nvPr/>
          </p:nvSpPr>
          <p:spPr bwMode="auto">
            <a:xfrm flipV="1">
              <a:off x="855" y="54"/>
              <a:ext cx="0" cy="293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386" name="Line 10">
              <a:extLst>
                <a:ext uri="{FF2B5EF4-FFF2-40B4-BE49-F238E27FC236}">
                  <a16:creationId xmlns:a16="http://schemas.microsoft.com/office/drawing/2014/main" id="{9913A265-07D8-4EB0-842B-01D772038932}"/>
                </a:ext>
              </a:extLst>
            </p:cNvPr>
            <p:cNvSpPr>
              <a:spLocks noChangeShapeType="1"/>
            </p:cNvSpPr>
            <p:nvPr/>
          </p:nvSpPr>
          <p:spPr bwMode="auto">
            <a:xfrm flipV="1">
              <a:off x="1396" y="54"/>
              <a:ext cx="0" cy="293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387" name="Line 11">
              <a:extLst>
                <a:ext uri="{FF2B5EF4-FFF2-40B4-BE49-F238E27FC236}">
                  <a16:creationId xmlns:a16="http://schemas.microsoft.com/office/drawing/2014/main" id="{E1C66D4D-A322-48B0-887C-CA01327BC1E8}"/>
                </a:ext>
              </a:extLst>
            </p:cNvPr>
            <p:cNvSpPr>
              <a:spLocks noChangeShapeType="1"/>
            </p:cNvSpPr>
            <p:nvPr/>
          </p:nvSpPr>
          <p:spPr bwMode="auto">
            <a:xfrm flipV="1">
              <a:off x="1667" y="54"/>
              <a:ext cx="0" cy="293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388" name="Line 12">
              <a:extLst>
                <a:ext uri="{FF2B5EF4-FFF2-40B4-BE49-F238E27FC236}">
                  <a16:creationId xmlns:a16="http://schemas.microsoft.com/office/drawing/2014/main" id="{84E8F132-A644-4714-BC6B-1C8C0054981D}"/>
                </a:ext>
              </a:extLst>
            </p:cNvPr>
            <p:cNvSpPr>
              <a:spLocks noChangeShapeType="1"/>
            </p:cNvSpPr>
            <p:nvPr/>
          </p:nvSpPr>
          <p:spPr bwMode="auto">
            <a:xfrm flipV="1">
              <a:off x="1937" y="53"/>
              <a:ext cx="0" cy="293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389" name="Line 13">
              <a:extLst>
                <a:ext uri="{FF2B5EF4-FFF2-40B4-BE49-F238E27FC236}">
                  <a16:creationId xmlns:a16="http://schemas.microsoft.com/office/drawing/2014/main" id="{AF996846-8F7C-4BEC-8264-DA62D7BCF282}"/>
                </a:ext>
              </a:extLst>
            </p:cNvPr>
            <p:cNvSpPr>
              <a:spLocks noChangeShapeType="1"/>
            </p:cNvSpPr>
            <p:nvPr/>
          </p:nvSpPr>
          <p:spPr bwMode="auto">
            <a:xfrm flipV="1">
              <a:off x="2208" y="55"/>
              <a:ext cx="0" cy="293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390" name="Line 14">
              <a:extLst>
                <a:ext uri="{FF2B5EF4-FFF2-40B4-BE49-F238E27FC236}">
                  <a16:creationId xmlns:a16="http://schemas.microsoft.com/office/drawing/2014/main" id="{088C6652-360E-4729-B9A8-08E0173BAC8E}"/>
                </a:ext>
              </a:extLst>
            </p:cNvPr>
            <p:cNvSpPr>
              <a:spLocks noChangeShapeType="1"/>
            </p:cNvSpPr>
            <p:nvPr/>
          </p:nvSpPr>
          <p:spPr bwMode="auto">
            <a:xfrm flipV="1">
              <a:off x="2478" y="55"/>
              <a:ext cx="0" cy="293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391" name="Line 15">
              <a:extLst>
                <a:ext uri="{FF2B5EF4-FFF2-40B4-BE49-F238E27FC236}">
                  <a16:creationId xmlns:a16="http://schemas.microsoft.com/office/drawing/2014/main" id="{DB214D37-9F27-479A-BD91-1F5AA130A676}"/>
                </a:ext>
              </a:extLst>
            </p:cNvPr>
            <p:cNvSpPr>
              <a:spLocks noChangeShapeType="1"/>
            </p:cNvSpPr>
            <p:nvPr/>
          </p:nvSpPr>
          <p:spPr bwMode="auto">
            <a:xfrm flipV="1">
              <a:off x="2757" y="55"/>
              <a:ext cx="0" cy="29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392" name="Line 16">
              <a:extLst>
                <a:ext uri="{FF2B5EF4-FFF2-40B4-BE49-F238E27FC236}">
                  <a16:creationId xmlns:a16="http://schemas.microsoft.com/office/drawing/2014/main" id="{5B0C230C-0A50-4073-A65E-E63697AF9D6C}"/>
                </a:ext>
              </a:extLst>
            </p:cNvPr>
            <p:cNvSpPr>
              <a:spLocks noChangeShapeType="1"/>
            </p:cNvSpPr>
            <p:nvPr/>
          </p:nvSpPr>
          <p:spPr bwMode="auto">
            <a:xfrm flipV="1">
              <a:off x="3036" y="55"/>
              <a:ext cx="0" cy="293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393" name="Line 17">
              <a:extLst>
                <a:ext uri="{FF2B5EF4-FFF2-40B4-BE49-F238E27FC236}">
                  <a16:creationId xmlns:a16="http://schemas.microsoft.com/office/drawing/2014/main" id="{C6781821-AACE-466C-95E8-1651BC66BE14}"/>
                </a:ext>
              </a:extLst>
            </p:cNvPr>
            <p:cNvSpPr>
              <a:spLocks noChangeShapeType="1"/>
            </p:cNvSpPr>
            <p:nvPr/>
          </p:nvSpPr>
          <p:spPr bwMode="auto">
            <a:xfrm flipV="1">
              <a:off x="3306" y="54"/>
              <a:ext cx="0" cy="293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394" name="Line 18">
              <a:extLst>
                <a:ext uri="{FF2B5EF4-FFF2-40B4-BE49-F238E27FC236}">
                  <a16:creationId xmlns:a16="http://schemas.microsoft.com/office/drawing/2014/main" id="{9A4DE163-EFBE-4139-99CE-510CFD1073DC}"/>
                </a:ext>
              </a:extLst>
            </p:cNvPr>
            <p:cNvSpPr>
              <a:spLocks noChangeShapeType="1"/>
            </p:cNvSpPr>
            <p:nvPr/>
          </p:nvSpPr>
          <p:spPr bwMode="auto">
            <a:xfrm flipV="1">
              <a:off x="3573" y="54"/>
              <a:ext cx="0" cy="293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395" name="Line 19">
              <a:extLst>
                <a:ext uri="{FF2B5EF4-FFF2-40B4-BE49-F238E27FC236}">
                  <a16:creationId xmlns:a16="http://schemas.microsoft.com/office/drawing/2014/main" id="{19D1C3F7-3158-4AF9-9E13-1C07BFF8C008}"/>
                </a:ext>
              </a:extLst>
            </p:cNvPr>
            <p:cNvSpPr>
              <a:spLocks noChangeShapeType="1"/>
            </p:cNvSpPr>
            <p:nvPr/>
          </p:nvSpPr>
          <p:spPr bwMode="auto">
            <a:xfrm flipV="1">
              <a:off x="3831" y="52"/>
              <a:ext cx="0" cy="293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396" name="Text Box 20">
              <a:extLst>
                <a:ext uri="{FF2B5EF4-FFF2-40B4-BE49-F238E27FC236}">
                  <a16:creationId xmlns:a16="http://schemas.microsoft.com/office/drawing/2014/main" id="{817823EC-60B3-4F94-AC21-3FC83BCD87E6}"/>
                </a:ext>
              </a:extLst>
            </p:cNvPr>
            <p:cNvSpPr txBox="1">
              <a:spLocks noChangeArrowheads="1"/>
            </p:cNvSpPr>
            <p:nvPr/>
          </p:nvSpPr>
          <p:spPr bwMode="auto">
            <a:xfrm>
              <a:off x="309" y="578"/>
              <a:ext cx="812" cy="117"/>
            </a:xfrm>
            <a:prstGeom prst="rect">
              <a:avLst/>
            </a:prstGeom>
            <a:solidFill>
              <a:srgbClr val="969696"/>
            </a:solidFill>
            <a:ln w="12700">
              <a:solidFill>
                <a:srgbClr val="000000"/>
              </a:solidFill>
              <a:miter lim="800000"/>
              <a:headEnd/>
              <a:tailEnd/>
            </a:ln>
          </p:spPr>
          <p:txBody>
            <a:bodyPr tIns="0" bIns="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a:lnSpc>
                  <a:spcPct val="80000"/>
                </a:lnSpc>
                <a:spcBef>
                  <a:spcPct val="0"/>
                </a:spcBef>
                <a:buFontTx/>
                <a:buNone/>
              </a:pPr>
              <a:r>
                <a:rPr lang="zh-CN" altLang="zh-CN" sz="1800" b="1">
                  <a:solidFill>
                    <a:srgbClr val="000000"/>
                  </a:solidFill>
                </a:rPr>
                <a:t>1</a:t>
              </a:r>
            </a:p>
          </p:txBody>
        </p:sp>
        <p:sp>
          <p:nvSpPr>
            <p:cNvPr id="101397" name="Line 21">
              <a:extLst>
                <a:ext uri="{FF2B5EF4-FFF2-40B4-BE49-F238E27FC236}">
                  <a16:creationId xmlns:a16="http://schemas.microsoft.com/office/drawing/2014/main" id="{1F28113B-9DDD-4B63-B528-FAEC1BB877DA}"/>
                </a:ext>
              </a:extLst>
            </p:cNvPr>
            <p:cNvSpPr>
              <a:spLocks noChangeShapeType="1"/>
            </p:cNvSpPr>
            <p:nvPr/>
          </p:nvSpPr>
          <p:spPr bwMode="auto">
            <a:xfrm flipH="1" flipV="1">
              <a:off x="844" y="491"/>
              <a:ext cx="270" cy="197"/>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01398" name="Text Box 22">
              <a:extLst>
                <a:ext uri="{FF2B5EF4-FFF2-40B4-BE49-F238E27FC236}">
                  <a16:creationId xmlns:a16="http://schemas.microsoft.com/office/drawing/2014/main" id="{4C6EDDB5-D555-4DB1-9D1D-66CB17020631}"/>
                </a:ext>
              </a:extLst>
            </p:cNvPr>
            <p:cNvSpPr txBox="1">
              <a:spLocks noChangeArrowheads="1"/>
            </p:cNvSpPr>
            <p:nvPr/>
          </p:nvSpPr>
          <p:spPr bwMode="auto">
            <a:xfrm>
              <a:off x="26" y="164"/>
              <a:ext cx="1629" cy="117"/>
            </a:xfrm>
            <a:prstGeom prst="rect">
              <a:avLst/>
            </a:prstGeom>
            <a:solidFill>
              <a:srgbClr val="969696"/>
            </a:solidFill>
            <a:ln w="12700">
              <a:solidFill>
                <a:srgbClr val="000000"/>
              </a:solidFill>
              <a:miter lim="800000"/>
              <a:headEnd/>
              <a:tailEnd/>
            </a:ln>
          </p:spPr>
          <p:txBody>
            <a:bodyPr tIns="0" bIns="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a:lnSpc>
                  <a:spcPct val="80000"/>
                </a:lnSpc>
                <a:spcBef>
                  <a:spcPct val="0"/>
                </a:spcBef>
                <a:buFontTx/>
                <a:buNone/>
              </a:pPr>
              <a:r>
                <a:rPr lang="zh-CN" altLang="zh-CN" sz="1800" b="1">
                  <a:solidFill>
                    <a:srgbClr val="000000"/>
                  </a:solidFill>
                </a:rPr>
                <a:t>3</a:t>
              </a:r>
            </a:p>
          </p:txBody>
        </p:sp>
        <p:sp>
          <p:nvSpPr>
            <p:cNvPr id="101399" name="Line 23">
              <a:extLst>
                <a:ext uri="{FF2B5EF4-FFF2-40B4-BE49-F238E27FC236}">
                  <a16:creationId xmlns:a16="http://schemas.microsoft.com/office/drawing/2014/main" id="{080D44EF-6DBE-4261-BCCA-D0AA1A1D6324}"/>
                </a:ext>
              </a:extLst>
            </p:cNvPr>
            <p:cNvSpPr>
              <a:spLocks noChangeShapeType="1"/>
            </p:cNvSpPr>
            <p:nvPr/>
          </p:nvSpPr>
          <p:spPr bwMode="auto">
            <a:xfrm flipH="1" flipV="1">
              <a:off x="13" y="278"/>
              <a:ext cx="1114" cy="423"/>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01400" name="Text Box 24">
              <a:extLst>
                <a:ext uri="{FF2B5EF4-FFF2-40B4-BE49-F238E27FC236}">
                  <a16:creationId xmlns:a16="http://schemas.microsoft.com/office/drawing/2014/main" id="{0A76E591-4B1C-4419-9CD9-AE4AEAC102B9}"/>
                </a:ext>
              </a:extLst>
            </p:cNvPr>
            <p:cNvSpPr txBox="1">
              <a:spLocks noChangeArrowheads="1"/>
            </p:cNvSpPr>
            <p:nvPr/>
          </p:nvSpPr>
          <p:spPr bwMode="auto">
            <a:xfrm>
              <a:off x="309" y="807"/>
              <a:ext cx="812" cy="117"/>
            </a:xfrm>
            <a:prstGeom prst="rect">
              <a:avLst/>
            </a:prstGeom>
            <a:solidFill>
              <a:srgbClr val="969696"/>
            </a:solidFill>
            <a:ln w="12700">
              <a:solidFill>
                <a:srgbClr val="000000"/>
              </a:solidFill>
              <a:miter lim="800000"/>
              <a:headEnd/>
              <a:tailEnd/>
            </a:ln>
          </p:spPr>
          <p:txBody>
            <a:bodyPr tIns="0" bIns="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a:lnSpc>
                  <a:spcPct val="80000"/>
                </a:lnSpc>
                <a:spcBef>
                  <a:spcPct val="0"/>
                </a:spcBef>
                <a:buFontTx/>
                <a:buNone/>
              </a:pPr>
              <a:r>
                <a:rPr lang="zh-CN" altLang="zh-CN" sz="1800" b="1">
                  <a:solidFill>
                    <a:srgbClr val="000000"/>
                  </a:solidFill>
                </a:rPr>
                <a:t>1</a:t>
              </a:r>
            </a:p>
          </p:txBody>
        </p:sp>
        <p:sp>
          <p:nvSpPr>
            <p:cNvPr id="101401" name="Text Box 25">
              <a:extLst>
                <a:ext uri="{FF2B5EF4-FFF2-40B4-BE49-F238E27FC236}">
                  <a16:creationId xmlns:a16="http://schemas.microsoft.com/office/drawing/2014/main" id="{D70A5C75-4389-4539-82F4-3322DF39C27F}"/>
                </a:ext>
              </a:extLst>
            </p:cNvPr>
            <p:cNvSpPr txBox="1">
              <a:spLocks noChangeArrowheads="1"/>
            </p:cNvSpPr>
            <p:nvPr/>
          </p:nvSpPr>
          <p:spPr bwMode="auto">
            <a:xfrm>
              <a:off x="850" y="371"/>
              <a:ext cx="535" cy="117"/>
            </a:xfrm>
            <a:prstGeom prst="rect">
              <a:avLst/>
            </a:prstGeom>
            <a:solidFill>
              <a:srgbClr val="969696"/>
            </a:solidFill>
            <a:ln w="12700">
              <a:solidFill>
                <a:srgbClr val="000000"/>
              </a:solidFill>
              <a:miter lim="800000"/>
              <a:headEnd/>
              <a:tailEnd/>
            </a:ln>
          </p:spPr>
          <p:txBody>
            <a:bodyPr tIns="0" bIns="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a:lnSpc>
                  <a:spcPct val="80000"/>
                </a:lnSpc>
                <a:spcBef>
                  <a:spcPct val="0"/>
                </a:spcBef>
                <a:buFontTx/>
                <a:buNone/>
              </a:pPr>
              <a:r>
                <a:rPr lang="zh-CN" altLang="zh-CN" sz="1800" b="1">
                  <a:solidFill>
                    <a:srgbClr val="000000"/>
                  </a:solidFill>
                </a:rPr>
                <a:t>2</a:t>
              </a:r>
            </a:p>
          </p:txBody>
        </p:sp>
        <p:sp>
          <p:nvSpPr>
            <p:cNvPr id="101402" name="Line 26">
              <a:extLst>
                <a:ext uri="{FF2B5EF4-FFF2-40B4-BE49-F238E27FC236}">
                  <a16:creationId xmlns:a16="http://schemas.microsoft.com/office/drawing/2014/main" id="{DE72AF72-1244-48D4-BE75-6D8DEBC05001}"/>
                </a:ext>
              </a:extLst>
            </p:cNvPr>
            <p:cNvSpPr>
              <a:spLocks noChangeShapeType="1"/>
            </p:cNvSpPr>
            <p:nvPr/>
          </p:nvSpPr>
          <p:spPr bwMode="auto">
            <a:xfrm flipV="1">
              <a:off x="1127" y="576"/>
              <a:ext cx="258" cy="118"/>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01403" name="Text Box 27">
              <a:extLst>
                <a:ext uri="{FF2B5EF4-FFF2-40B4-BE49-F238E27FC236}">
                  <a16:creationId xmlns:a16="http://schemas.microsoft.com/office/drawing/2014/main" id="{91C60DA1-6645-40BD-B794-F9497F1053D3}"/>
                </a:ext>
              </a:extLst>
            </p:cNvPr>
            <p:cNvSpPr txBox="1">
              <a:spLocks noChangeArrowheads="1"/>
            </p:cNvSpPr>
            <p:nvPr/>
          </p:nvSpPr>
          <p:spPr bwMode="auto">
            <a:xfrm>
              <a:off x="309" y="1686"/>
              <a:ext cx="812" cy="117"/>
            </a:xfrm>
            <a:prstGeom prst="rect">
              <a:avLst/>
            </a:prstGeom>
            <a:solidFill>
              <a:srgbClr val="969696"/>
            </a:solidFill>
            <a:ln w="12700">
              <a:solidFill>
                <a:srgbClr val="000000"/>
              </a:solidFill>
              <a:miter lim="800000"/>
              <a:headEnd/>
              <a:tailEnd/>
            </a:ln>
          </p:spPr>
          <p:txBody>
            <a:bodyPr tIns="0" bIns="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a:lnSpc>
                  <a:spcPct val="80000"/>
                </a:lnSpc>
                <a:spcBef>
                  <a:spcPct val="0"/>
                </a:spcBef>
                <a:buFontTx/>
                <a:buNone/>
              </a:pPr>
              <a:r>
                <a:rPr lang="zh-CN" altLang="zh-CN" sz="1800" b="1">
                  <a:solidFill>
                    <a:srgbClr val="000000"/>
                  </a:solidFill>
                </a:rPr>
                <a:t>1</a:t>
              </a:r>
            </a:p>
          </p:txBody>
        </p:sp>
        <p:sp>
          <p:nvSpPr>
            <p:cNvPr id="101404" name="Text Box 28">
              <a:extLst>
                <a:ext uri="{FF2B5EF4-FFF2-40B4-BE49-F238E27FC236}">
                  <a16:creationId xmlns:a16="http://schemas.microsoft.com/office/drawing/2014/main" id="{EFB41833-2D83-46ED-98C4-24F48902E35D}"/>
                </a:ext>
              </a:extLst>
            </p:cNvPr>
            <p:cNvSpPr txBox="1">
              <a:spLocks noChangeArrowheads="1"/>
            </p:cNvSpPr>
            <p:nvPr/>
          </p:nvSpPr>
          <p:spPr bwMode="auto">
            <a:xfrm>
              <a:off x="1398" y="1681"/>
              <a:ext cx="534" cy="117"/>
            </a:xfrm>
            <a:prstGeom prst="rect">
              <a:avLst/>
            </a:prstGeom>
            <a:solidFill>
              <a:srgbClr val="969696"/>
            </a:solidFill>
            <a:ln w="12700">
              <a:solidFill>
                <a:srgbClr val="000000"/>
              </a:solidFill>
              <a:miter lim="800000"/>
              <a:headEnd/>
              <a:tailEnd/>
            </a:ln>
          </p:spPr>
          <p:txBody>
            <a:bodyPr tIns="0" bIns="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a:lnSpc>
                  <a:spcPct val="80000"/>
                </a:lnSpc>
                <a:spcBef>
                  <a:spcPct val="0"/>
                </a:spcBef>
                <a:buFontTx/>
                <a:buNone/>
              </a:pPr>
              <a:r>
                <a:rPr lang="zh-CN" altLang="zh-CN" sz="1800" b="1">
                  <a:solidFill>
                    <a:srgbClr val="000000"/>
                  </a:solidFill>
                </a:rPr>
                <a:t>4</a:t>
              </a:r>
            </a:p>
          </p:txBody>
        </p:sp>
        <p:sp>
          <p:nvSpPr>
            <p:cNvPr id="101405" name="Text Box 29">
              <a:extLst>
                <a:ext uri="{FF2B5EF4-FFF2-40B4-BE49-F238E27FC236}">
                  <a16:creationId xmlns:a16="http://schemas.microsoft.com/office/drawing/2014/main" id="{152114F2-95B5-46B2-BBAC-B0ED075090A9}"/>
                </a:ext>
              </a:extLst>
            </p:cNvPr>
            <p:cNvSpPr txBox="1">
              <a:spLocks noChangeArrowheads="1"/>
            </p:cNvSpPr>
            <p:nvPr/>
          </p:nvSpPr>
          <p:spPr bwMode="auto">
            <a:xfrm>
              <a:off x="850" y="1467"/>
              <a:ext cx="1076" cy="118"/>
            </a:xfrm>
            <a:prstGeom prst="rect">
              <a:avLst/>
            </a:prstGeom>
            <a:solidFill>
              <a:srgbClr val="969696"/>
            </a:solidFill>
            <a:ln w="12700">
              <a:solidFill>
                <a:srgbClr val="000000"/>
              </a:solidFill>
              <a:miter lim="800000"/>
              <a:headEnd/>
              <a:tailEnd/>
            </a:ln>
          </p:spPr>
          <p:txBody>
            <a:bodyPr tIns="0" bIns="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a:lnSpc>
                  <a:spcPct val="80000"/>
                </a:lnSpc>
                <a:spcBef>
                  <a:spcPct val="0"/>
                </a:spcBef>
                <a:buFontTx/>
                <a:buNone/>
              </a:pPr>
              <a:r>
                <a:rPr lang="zh-CN" altLang="zh-CN" sz="1800" b="1">
                  <a:solidFill>
                    <a:srgbClr val="000000"/>
                  </a:solidFill>
                </a:rPr>
                <a:t>5</a:t>
              </a:r>
            </a:p>
          </p:txBody>
        </p:sp>
        <p:sp>
          <p:nvSpPr>
            <p:cNvPr id="101406" name="Line 30">
              <a:extLst>
                <a:ext uri="{FF2B5EF4-FFF2-40B4-BE49-F238E27FC236}">
                  <a16:creationId xmlns:a16="http://schemas.microsoft.com/office/drawing/2014/main" id="{952F3C88-CAAF-41A1-ACEE-9B1B8CC01A45}"/>
                </a:ext>
              </a:extLst>
            </p:cNvPr>
            <p:cNvSpPr>
              <a:spLocks noChangeShapeType="1"/>
            </p:cNvSpPr>
            <p:nvPr/>
          </p:nvSpPr>
          <p:spPr bwMode="auto">
            <a:xfrm flipH="1" flipV="1">
              <a:off x="850" y="1592"/>
              <a:ext cx="1056" cy="197"/>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01407" name="Text Box 31">
              <a:extLst>
                <a:ext uri="{FF2B5EF4-FFF2-40B4-BE49-F238E27FC236}">
                  <a16:creationId xmlns:a16="http://schemas.microsoft.com/office/drawing/2014/main" id="{4BFABE36-E8ED-4F6D-8446-79B2C5BD0F94}"/>
                </a:ext>
              </a:extLst>
            </p:cNvPr>
            <p:cNvSpPr txBox="1">
              <a:spLocks noChangeArrowheads="1"/>
            </p:cNvSpPr>
            <p:nvPr/>
          </p:nvSpPr>
          <p:spPr bwMode="auto">
            <a:xfrm>
              <a:off x="1391" y="1250"/>
              <a:ext cx="1076" cy="117"/>
            </a:xfrm>
            <a:prstGeom prst="rect">
              <a:avLst/>
            </a:prstGeom>
            <a:solidFill>
              <a:srgbClr val="969696"/>
            </a:solidFill>
            <a:ln w="12700">
              <a:solidFill>
                <a:srgbClr val="000000"/>
              </a:solidFill>
              <a:miter lim="800000"/>
              <a:headEnd/>
              <a:tailEnd/>
            </a:ln>
          </p:spPr>
          <p:txBody>
            <a:bodyPr tIns="0" bIns="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a:lnSpc>
                  <a:spcPct val="80000"/>
                </a:lnSpc>
                <a:spcBef>
                  <a:spcPct val="0"/>
                </a:spcBef>
                <a:buFontTx/>
                <a:buNone/>
              </a:pPr>
              <a:r>
                <a:rPr lang="zh-CN" altLang="zh-CN" sz="1800" b="1">
                  <a:solidFill>
                    <a:srgbClr val="000000"/>
                  </a:solidFill>
                </a:rPr>
                <a:t>6</a:t>
              </a:r>
            </a:p>
          </p:txBody>
        </p:sp>
        <p:sp>
          <p:nvSpPr>
            <p:cNvPr id="101408" name="Text Box 32">
              <a:extLst>
                <a:ext uri="{FF2B5EF4-FFF2-40B4-BE49-F238E27FC236}">
                  <a16:creationId xmlns:a16="http://schemas.microsoft.com/office/drawing/2014/main" id="{94C66E42-4967-435F-B3F8-6B0303603AE2}"/>
                </a:ext>
              </a:extLst>
            </p:cNvPr>
            <p:cNvSpPr txBox="1">
              <a:spLocks noChangeArrowheads="1"/>
            </p:cNvSpPr>
            <p:nvPr/>
          </p:nvSpPr>
          <p:spPr bwMode="auto">
            <a:xfrm>
              <a:off x="1668" y="1030"/>
              <a:ext cx="1088" cy="118"/>
            </a:xfrm>
            <a:prstGeom prst="rect">
              <a:avLst/>
            </a:prstGeom>
            <a:solidFill>
              <a:srgbClr val="969696"/>
            </a:solidFill>
            <a:ln w="12700">
              <a:solidFill>
                <a:srgbClr val="000000"/>
              </a:solidFill>
              <a:miter lim="800000"/>
              <a:headEnd/>
              <a:tailEnd/>
            </a:ln>
          </p:spPr>
          <p:txBody>
            <a:bodyPr tIns="0" bIns="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a:lnSpc>
                  <a:spcPct val="80000"/>
                </a:lnSpc>
                <a:spcBef>
                  <a:spcPct val="0"/>
                </a:spcBef>
                <a:buFontTx/>
                <a:buNone/>
              </a:pPr>
              <a:r>
                <a:rPr lang="zh-CN" altLang="zh-CN" sz="1800" b="1">
                  <a:solidFill>
                    <a:srgbClr val="000000"/>
                  </a:solidFill>
                </a:rPr>
                <a:t>7</a:t>
              </a:r>
            </a:p>
          </p:txBody>
        </p:sp>
        <p:sp>
          <p:nvSpPr>
            <p:cNvPr id="101409" name="Line 33">
              <a:extLst>
                <a:ext uri="{FF2B5EF4-FFF2-40B4-BE49-F238E27FC236}">
                  <a16:creationId xmlns:a16="http://schemas.microsoft.com/office/drawing/2014/main" id="{393AE004-6721-497C-8BAE-FCED8EE49C9B}"/>
                </a:ext>
              </a:extLst>
            </p:cNvPr>
            <p:cNvSpPr>
              <a:spLocks noChangeShapeType="1"/>
            </p:cNvSpPr>
            <p:nvPr/>
          </p:nvSpPr>
          <p:spPr bwMode="auto">
            <a:xfrm flipH="1" flipV="1">
              <a:off x="1385" y="1364"/>
              <a:ext cx="528" cy="422"/>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01410" name="Line 34">
              <a:extLst>
                <a:ext uri="{FF2B5EF4-FFF2-40B4-BE49-F238E27FC236}">
                  <a16:creationId xmlns:a16="http://schemas.microsoft.com/office/drawing/2014/main" id="{5EAF57F3-26D6-4AAF-B5C5-FF5869EAED66}"/>
                </a:ext>
              </a:extLst>
            </p:cNvPr>
            <p:cNvSpPr>
              <a:spLocks noChangeShapeType="1"/>
            </p:cNvSpPr>
            <p:nvPr/>
          </p:nvSpPr>
          <p:spPr bwMode="auto">
            <a:xfrm flipH="1" flipV="1">
              <a:off x="1662" y="1150"/>
              <a:ext cx="257" cy="636"/>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01411" name="Text Box 35">
              <a:extLst>
                <a:ext uri="{FF2B5EF4-FFF2-40B4-BE49-F238E27FC236}">
                  <a16:creationId xmlns:a16="http://schemas.microsoft.com/office/drawing/2014/main" id="{08195CBA-C3B9-4E45-8CAE-9727CAD39A08}"/>
                </a:ext>
              </a:extLst>
            </p:cNvPr>
            <p:cNvSpPr txBox="1">
              <a:spLocks noChangeArrowheads="1"/>
            </p:cNvSpPr>
            <p:nvPr/>
          </p:nvSpPr>
          <p:spPr bwMode="auto">
            <a:xfrm>
              <a:off x="1391" y="813"/>
              <a:ext cx="535" cy="117"/>
            </a:xfrm>
            <a:prstGeom prst="rect">
              <a:avLst/>
            </a:prstGeom>
            <a:solidFill>
              <a:srgbClr val="969696"/>
            </a:solidFill>
            <a:ln w="12700">
              <a:solidFill>
                <a:srgbClr val="000000"/>
              </a:solidFill>
              <a:miter lim="800000"/>
              <a:headEnd/>
              <a:tailEnd/>
            </a:ln>
          </p:spPr>
          <p:txBody>
            <a:bodyPr tIns="0" bIns="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a:lnSpc>
                  <a:spcPct val="80000"/>
                </a:lnSpc>
                <a:spcBef>
                  <a:spcPct val="0"/>
                </a:spcBef>
                <a:buFontTx/>
                <a:buNone/>
              </a:pPr>
              <a:r>
                <a:rPr lang="zh-CN" altLang="zh-CN" sz="1800" b="1">
                  <a:solidFill>
                    <a:srgbClr val="000000"/>
                  </a:solidFill>
                </a:rPr>
                <a:t>4</a:t>
              </a:r>
            </a:p>
          </p:txBody>
        </p:sp>
        <p:sp>
          <p:nvSpPr>
            <p:cNvPr id="101412" name="Text Box 36">
              <a:extLst>
                <a:ext uri="{FF2B5EF4-FFF2-40B4-BE49-F238E27FC236}">
                  <a16:creationId xmlns:a16="http://schemas.microsoft.com/office/drawing/2014/main" id="{E658ABC1-2EE4-4256-A0CE-8878AB484B9E}"/>
                </a:ext>
              </a:extLst>
            </p:cNvPr>
            <p:cNvSpPr txBox="1">
              <a:spLocks noChangeArrowheads="1"/>
            </p:cNvSpPr>
            <p:nvPr/>
          </p:nvSpPr>
          <p:spPr bwMode="auto">
            <a:xfrm>
              <a:off x="2209" y="1680"/>
              <a:ext cx="824" cy="117"/>
            </a:xfrm>
            <a:prstGeom prst="rect">
              <a:avLst/>
            </a:prstGeom>
            <a:solidFill>
              <a:srgbClr val="969696"/>
            </a:solidFill>
            <a:ln w="12700">
              <a:solidFill>
                <a:srgbClr val="000000"/>
              </a:solidFill>
              <a:miter lim="800000"/>
              <a:headEnd/>
              <a:tailEnd/>
            </a:ln>
          </p:spPr>
          <p:txBody>
            <a:bodyPr tIns="0" bIns="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a:lnSpc>
                  <a:spcPct val="80000"/>
                </a:lnSpc>
                <a:spcBef>
                  <a:spcPct val="0"/>
                </a:spcBef>
                <a:buFontTx/>
                <a:buNone/>
              </a:pPr>
              <a:r>
                <a:rPr lang="zh-CN" altLang="zh-CN" sz="1800" b="1">
                  <a:solidFill>
                    <a:srgbClr val="000000"/>
                  </a:solidFill>
                </a:rPr>
                <a:t>8</a:t>
              </a:r>
            </a:p>
          </p:txBody>
        </p:sp>
        <p:sp>
          <p:nvSpPr>
            <p:cNvPr id="101413" name="Line 37">
              <a:extLst>
                <a:ext uri="{FF2B5EF4-FFF2-40B4-BE49-F238E27FC236}">
                  <a16:creationId xmlns:a16="http://schemas.microsoft.com/office/drawing/2014/main" id="{FFD4ED69-398C-4F62-9EE2-050B9695410F}"/>
                </a:ext>
              </a:extLst>
            </p:cNvPr>
            <p:cNvSpPr>
              <a:spLocks noChangeShapeType="1"/>
            </p:cNvSpPr>
            <p:nvPr/>
          </p:nvSpPr>
          <p:spPr bwMode="auto">
            <a:xfrm flipV="1">
              <a:off x="1939" y="1675"/>
              <a:ext cx="264" cy="117"/>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01414" name="Text Box 38">
              <a:extLst>
                <a:ext uri="{FF2B5EF4-FFF2-40B4-BE49-F238E27FC236}">
                  <a16:creationId xmlns:a16="http://schemas.microsoft.com/office/drawing/2014/main" id="{02B0CF76-9086-4C29-9679-5515E211B4FA}"/>
                </a:ext>
              </a:extLst>
            </p:cNvPr>
            <p:cNvSpPr txBox="1">
              <a:spLocks noChangeArrowheads="1"/>
            </p:cNvSpPr>
            <p:nvPr/>
          </p:nvSpPr>
          <p:spPr bwMode="auto">
            <a:xfrm>
              <a:off x="309" y="1914"/>
              <a:ext cx="812" cy="117"/>
            </a:xfrm>
            <a:prstGeom prst="rect">
              <a:avLst/>
            </a:prstGeom>
            <a:solidFill>
              <a:srgbClr val="969696"/>
            </a:solidFill>
            <a:ln w="12700">
              <a:solidFill>
                <a:srgbClr val="000000"/>
              </a:solidFill>
              <a:miter lim="800000"/>
              <a:headEnd/>
              <a:tailEnd/>
            </a:ln>
          </p:spPr>
          <p:txBody>
            <a:bodyPr tIns="0" bIns="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a:lnSpc>
                  <a:spcPct val="80000"/>
                </a:lnSpc>
                <a:spcBef>
                  <a:spcPct val="0"/>
                </a:spcBef>
                <a:buFontTx/>
                <a:buNone/>
              </a:pPr>
              <a:r>
                <a:rPr lang="zh-CN" altLang="zh-CN" sz="1800" b="1">
                  <a:solidFill>
                    <a:srgbClr val="000000"/>
                  </a:solidFill>
                </a:rPr>
                <a:t>1</a:t>
              </a:r>
            </a:p>
          </p:txBody>
        </p:sp>
        <p:sp>
          <p:nvSpPr>
            <p:cNvPr id="101415" name="Text Box 39">
              <a:extLst>
                <a:ext uri="{FF2B5EF4-FFF2-40B4-BE49-F238E27FC236}">
                  <a16:creationId xmlns:a16="http://schemas.microsoft.com/office/drawing/2014/main" id="{0A228D97-34DF-4CDB-AC92-990AB6D76561}"/>
                </a:ext>
              </a:extLst>
            </p:cNvPr>
            <p:cNvSpPr txBox="1">
              <a:spLocks noChangeArrowheads="1"/>
            </p:cNvSpPr>
            <p:nvPr/>
          </p:nvSpPr>
          <p:spPr bwMode="auto">
            <a:xfrm>
              <a:off x="1391" y="1909"/>
              <a:ext cx="535" cy="118"/>
            </a:xfrm>
            <a:prstGeom prst="rect">
              <a:avLst/>
            </a:prstGeom>
            <a:solidFill>
              <a:srgbClr val="969696"/>
            </a:solidFill>
            <a:ln w="12700">
              <a:solidFill>
                <a:srgbClr val="000000"/>
              </a:solidFill>
              <a:miter lim="800000"/>
              <a:headEnd/>
              <a:tailEnd/>
            </a:ln>
          </p:spPr>
          <p:txBody>
            <a:bodyPr tIns="0" bIns="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a:lnSpc>
                  <a:spcPct val="80000"/>
                </a:lnSpc>
                <a:spcBef>
                  <a:spcPct val="0"/>
                </a:spcBef>
                <a:buFontTx/>
                <a:buNone/>
              </a:pPr>
              <a:r>
                <a:rPr lang="zh-CN" altLang="zh-CN" sz="1800" b="1">
                  <a:solidFill>
                    <a:srgbClr val="000000"/>
                  </a:solidFill>
                </a:rPr>
                <a:t>4</a:t>
              </a:r>
            </a:p>
          </p:txBody>
        </p:sp>
        <p:sp>
          <p:nvSpPr>
            <p:cNvPr id="101416" name="Text Box 40">
              <a:extLst>
                <a:ext uri="{FF2B5EF4-FFF2-40B4-BE49-F238E27FC236}">
                  <a16:creationId xmlns:a16="http://schemas.microsoft.com/office/drawing/2014/main" id="{C53D68DD-1583-4CDA-A7D4-F9619D102524}"/>
                </a:ext>
              </a:extLst>
            </p:cNvPr>
            <p:cNvSpPr txBox="1">
              <a:spLocks noChangeArrowheads="1"/>
            </p:cNvSpPr>
            <p:nvPr/>
          </p:nvSpPr>
          <p:spPr bwMode="auto">
            <a:xfrm>
              <a:off x="2209" y="1908"/>
              <a:ext cx="824" cy="117"/>
            </a:xfrm>
            <a:prstGeom prst="rect">
              <a:avLst/>
            </a:prstGeom>
            <a:solidFill>
              <a:srgbClr val="969696"/>
            </a:solidFill>
            <a:ln w="12700">
              <a:solidFill>
                <a:srgbClr val="000000"/>
              </a:solidFill>
              <a:miter lim="800000"/>
              <a:headEnd/>
              <a:tailEnd/>
            </a:ln>
          </p:spPr>
          <p:txBody>
            <a:bodyPr tIns="0" bIns="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a:lnSpc>
                  <a:spcPct val="80000"/>
                </a:lnSpc>
                <a:spcBef>
                  <a:spcPct val="0"/>
                </a:spcBef>
                <a:buFontTx/>
                <a:buNone/>
              </a:pPr>
              <a:r>
                <a:rPr lang="zh-CN" altLang="zh-CN" sz="1800" b="1">
                  <a:solidFill>
                    <a:srgbClr val="000000"/>
                  </a:solidFill>
                </a:rPr>
                <a:t>8</a:t>
              </a:r>
            </a:p>
          </p:txBody>
        </p:sp>
        <p:sp>
          <p:nvSpPr>
            <p:cNvPr id="101417" name="Text Box 41">
              <a:extLst>
                <a:ext uri="{FF2B5EF4-FFF2-40B4-BE49-F238E27FC236}">
                  <a16:creationId xmlns:a16="http://schemas.microsoft.com/office/drawing/2014/main" id="{00BA400F-FAE3-4B34-87E2-841030E7F8A8}"/>
                </a:ext>
              </a:extLst>
            </p:cNvPr>
            <p:cNvSpPr txBox="1">
              <a:spLocks noChangeArrowheads="1"/>
            </p:cNvSpPr>
            <p:nvPr/>
          </p:nvSpPr>
          <p:spPr bwMode="auto">
            <a:xfrm>
              <a:off x="316" y="2563"/>
              <a:ext cx="811" cy="118"/>
            </a:xfrm>
            <a:prstGeom prst="rect">
              <a:avLst/>
            </a:prstGeom>
            <a:solidFill>
              <a:srgbClr val="969696"/>
            </a:solidFill>
            <a:ln w="12700">
              <a:solidFill>
                <a:srgbClr val="000000"/>
              </a:solidFill>
              <a:miter lim="800000"/>
              <a:headEnd/>
              <a:tailEnd/>
            </a:ln>
          </p:spPr>
          <p:txBody>
            <a:bodyPr tIns="0" bIns="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a:lnSpc>
                  <a:spcPct val="80000"/>
                </a:lnSpc>
                <a:spcBef>
                  <a:spcPct val="0"/>
                </a:spcBef>
                <a:buFontTx/>
                <a:buNone/>
              </a:pPr>
              <a:r>
                <a:rPr lang="zh-CN" altLang="zh-CN" sz="1800" b="1">
                  <a:solidFill>
                    <a:srgbClr val="000000"/>
                  </a:solidFill>
                </a:rPr>
                <a:t>1</a:t>
              </a:r>
            </a:p>
          </p:txBody>
        </p:sp>
        <p:sp>
          <p:nvSpPr>
            <p:cNvPr id="101418" name="Text Box 42">
              <a:extLst>
                <a:ext uri="{FF2B5EF4-FFF2-40B4-BE49-F238E27FC236}">
                  <a16:creationId xmlns:a16="http://schemas.microsoft.com/office/drawing/2014/main" id="{21DE21B6-52C6-4900-869F-AFB5A55C3B8E}"/>
                </a:ext>
              </a:extLst>
            </p:cNvPr>
            <p:cNvSpPr txBox="1">
              <a:spLocks noChangeArrowheads="1"/>
            </p:cNvSpPr>
            <p:nvPr/>
          </p:nvSpPr>
          <p:spPr bwMode="auto">
            <a:xfrm>
              <a:off x="1398" y="2559"/>
              <a:ext cx="534" cy="117"/>
            </a:xfrm>
            <a:prstGeom prst="rect">
              <a:avLst/>
            </a:prstGeom>
            <a:solidFill>
              <a:srgbClr val="969696"/>
            </a:solidFill>
            <a:ln w="12700">
              <a:solidFill>
                <a:srgbClr val="000000"/>
              </a:solidFill>
              <a:miter lim="800000"/>
              <a:headEnd/>
              <a:tailEnd/>
            </a:ln>
          </p:spPr>
          <p:txBody>
            <a:bodyPr tIns="0" bIns="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a:lnSpc>
                  <a:spcPct val="80000"/>
                </a:lnSpc>
                <a:spcBef>
                  <a:spcPct val="0"/>
                </a:spcBef>
                <a:buFontTx/>
                <a:buNone/>
              </a:pPr>
              <a:r>
                <a:rPr lang="zh-CN" altLang="zh-CN" sz="1800" b="1">
                  <a:solidFill>
                    <a:srgbClr val="000000"/>
                  </a:solidFill>
                </a:rPr>
                <a:t>4</a:t>
              </a:r>
            </a:p>
          </p:txBody>
        </p:sp>
        <p:sp>
          <p:nvSpPr>
            <p:cNvPr id="101419" name="Text Box 43">
              <a:extLst>
                <a:ext uri="{FF2B5EF4-FFF2-40B4-BE49-F238E27FC236}">
                  <a16:creationId xmlns:a16="http://schemas.microsoft.com/office/drawing/2014/main" id="{0FA66FD1-03D9-453B-B868-6C0238729D6C}"/>
                </a:ext>
              </a:extLst>
            </p:cNvPr>
            <p:cNvSpPr txBox="1">
              <a:spLocks noChangeArrowheads="1"/>
            </p:cNvSpPr>
            <p:nvPr/>
          </p:nvSpPr>
          <p:spPr bwMode="auto">
            <a:xfrm>
              <a:off x="2209" y="2557"/>
              <a:ext cx="824" cy="118"/>
            </a:xfrm>
            <a:prstGeom prst="rect">
              <a:avLst/>
            </a:prstGeom>
            <a:solidFill>
              <a:srgbClr val="969696"/>
            </a:solidFill>
            <a:ln w="12700">
              <a:solidFill>
                <a:srgbClr val="000000"/>
              </a:solidFill>
              <a:miter lim="800000"/>
              <a:headEnd/>
              <a:tailEnd/>
            </a:ln>
          </p:spPr>
          <p:txBody>
            <a:bodyPr tIns="0" bIns="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a:lnSpc>
                  <a:spcPct val="80000"/>
                </a:lnSpc>
                <a:spcBef>
                  <a:spcPct val="0"/>
                </a:spcBef>
                <a:buFontTx/>
                <a:buNone/>
              </a:pPr>
              <a:r>
                <a:rPr lang="zh-CN" altLang="zh-CN" sz="1800" b="1">
                  <a:solidFill>
                    <a:srgbClr val="000000"/>
                  </a:solidFill>
                </a:rPr>
                <a:t>8</a:t>
              </a:r>
            </a:p>
          </p:txBody>
        </p:sp>
        <p:sp>
          <p:nvSpPr>
            <p:cNvPr id="101420" name="Text Box 44">
              <a:extLst>
                <a:ext uri="{FF2B5EF4-FFF2-40B4-BE49-F238E27FC236}">
                  <a16:creationId xmlns:a16="http://schemas.microsoft.com/office/drawing/2014/main" id="{71E13602-4595-417A-B721-12FEDD4F425D}"/>
                </a:ext>
              </a:extLst>
            </p:cNvPr>
            <p:cNvSpPr txBox="1">
              <a:spLocks noChangeArrowheads="1"/>
            </p:cNvSpPr>
            <p:nvPr/>
          </p:nvSpPr>
          <p:spPr bwMode="auto">
            <a:xfrm>
              <a:off x="2209" y="2346"/>
              <a:ext cx="1092" cy="117"/>
            </a:xfrm>
            <a:prstGeom prst="rect">
              <a:avLst/>
            </a:prstGeom>
            <a:solidFill>
              <a:srgbClr val="969696"/>
            </a:solidFill>
            <a:ln w="12700">
              <a:solidFill>
                <a:srgbClr val="000000"/>
              </a:solidFill>
              <a:miter lim="800000"/>
              <a:headEnd/>
              <a:tailEnd/>
            </a:ln>
          </p:spPr>
          <p:txBody>
            <a:bodyPr tIns="0" bIns="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a:lnSpc>
                  <a:spcPct val="80000"/>
                </a:lnSpc>
                <a:spcBef>
                  <a:spcPct val="0"/>
                </a:spcBef>
                <a:buFontTx/>
                <a:buNone/>
              </a:pPr>
              <a:r>
                <a:rPr lang="zh-CN" altLang="zh-CN" sz="1800" b="1">
                  <a:solidFill>
                    <a:srgbClr val="000000"/>
                  </a:solidFill>
                </a:rPr>
                <a:t>9</a:t>
              </a:r>
            </a:p>
          </p:txBody>
        </p:sp>
        <p:sp>
          <p:nvSpPr>
            <p:cNvPr id="101421" name="Line 45">
              <a:extLst>
                <a:ext uri="{FF2B5EF4-FFF2-40B4-BE49-F238E27FC236}">
                  <a16:creationId xmlns:a16="http://schemas.microsoft.com/office/drawing/2014/main" id="{1960BADC-B065-49B3-8AA7-A10D875C7E9D}"/>
                </a:ext>
              </a:extLst>
            </p:cNvPr>
            <p:cNvSpPr>
              <a:spLocks noChangeShapeType="1"/>
            </p:cNvSpPr>
            <p:nvPr/>
          </p:nvSpPr>
          <p:spPr bwMode="auto">
            <a:xfrm flipH="1" flipV="1">
              <a:off x="2196" y="2469"/>
              <a:ext cx="824" cy="199"/>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01422" name="Text Box 46">
              <a:extLst>
                <a:ext uri="{FF2B5EF4-FFF2-40B4-BE49-F238E27FC236}">
                  <a16:creationId xmlns:a16="http://schemas.microsoft.com/office/drawing/2014/main" id="{F0EF0601-C580-4293-B0C4-6947A374D590}"/>
                </a:ext>
              </a:extLst>
            </p:cNvPr>
            <p:cNvSpPr txBox="1">
              <a:spLocks noChangeArrowheads="1"/>
            </p:cNvSpPr>
            <p:nvPr/>
          </p:nvSpPr>
          <p:spPr bwMode="auto">
            <a:xfrm>
              <a:off x="593" y="2128"/>
              <a:ext cx="2956" cy="117"/>
            </a:xfrm>
            <a:prstGeom prst="rect">
              <a:avLst/>
            </a:prstGeom>
            <a:solidFill>
              <a:srgbClr val="969696"/>
            </a:solidFill>
            <a:ln w="12700">
              <a:solidFill>
                <a:srgbClr val="000000"/>
              </a:solidFill>
              <a:miter lim="800000"/>
              <a:headEnd/>
              <a:tailEnd/>
            </a:ln>
          </p:spPr>
          <p:txBody>
            <a:bodyPr tIns="0" bIns="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a:lnSpc>
                  <a:spcPct val="80000"/>
                </a:lnSpc>
                <a:spcBef>
                  <a:spcPct val="0"/>
                </a:spcBef>
                <a:buFontTx/>
                <a:buNone/>
              </a:pPr>
              <a:r>
                <a:rPr lang="zh-CN" altLang="zh-CN" sz="1800" b="1">
                  <a:solidFill>
                    <a:srgbClr val="000000"/>
                  </a:solidFill>
                </a:rPr>
                <a:t>10</a:t>
              </a:r>
            </a:p>
          </p:txBody>
        </p:sp>
        <p:sp>
          <p:nvSpPr>
            <p:cNvPr id="101423" name="Line 47">
              <a:extLst>
                <a:ext uri="{FF2B5EF4-FFF2-40B4-BE49-F238E27FC236}">
                  <a16:creationId xmlns:a16="http://schemas.microsoft.com/office/drawing/2014/main" id="{59B946EE-C130-4A15-90A8-64C8F4E1F32E}"/>
                </a:ext>
              </a:extLst>
            </p:cNvPr>
            <p:cNvSpPr>
              <a:spLocks noChangeShapeType="1"/>
            </p:cNvSpPr>
            <p:nvPr/>
          </p:nvSpPr>
          <p:spPr bwMode="auto">
            <a:xfrm flipH="1" flipV="1">
              <a:off x="586" y="2252"/>
              <a:ext cx="2454" cy="423"/>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01424" name="Text Box 48">
              <a:extLst>
                <a:ext uri="{FF2B5EF4-FFF2-40B4-BE49-F238E27FC236}">
                  <a16:creationId xmlns:a16="http://schemas.microsoft.com/office/drawing/2014/main" id="{783B4DB2-F03B-4A86-ABF9-E941A530F04D}"/>
                </a:ext>
              </a:extLst>
            </p:cNvPr>
            <p:cNvSpPr txBox="1">
              <a:spLocks noChangeArrowheads="1"/>
            </p:cNvSpPr>
            <p:nvPr/>
          </p:nvSpPr>
          <p:spPr bwMode="auto">
            <a:xfrm>
              <a:off x="3310" y="2559"/>
              <a:ext cx="516" cy="117"/>
            </a:xfrm>
            <a:prstGeom prst="rect">
              <a:avLst/>
            </a:prstGeom>
            <a:solidFill>
              <a:srgbClr val="969696"/>
            </a:solidFill>
            <a:ln w="12700">
              <a:solidFill>
                <a:srgbClr val="000000"/>
              </a:solidFill>
              <a:miter lim="800000"/>
              <a:headEnd/>
              <a:tailEnd/>
            </a:ln>
          </p:spPr>
          <p:txBody>
            <a:bodyPr tIns="0" bIns="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a:lnSpc>
                  <a:spcPct val="80000"/>
                </a:lnSpc>
                <a:spcBef>
                  <a:spcPct val="0"/>
                </a:spcBef>
                <a:buFontTx/>
                <a:buNone/>
              </a:pPr>
              <a:r>
                <a:rPr lang="zh-CN" altLang="zh-CN" sz="1800" b="1">
                  <a:solidFill>
                    <a:srgbClr val="000000"/>
                  </a:solidFill>
                </a:rPr>
                <a:t>11</a:t>
              </a:r>
            </a:p>
          </p:txBody>
        </p:sp>
        <p:sp>
          <p:nvSpPr>
            <p:cNvPr id="101425" name="Line 49">
              <a:extLst>
                <a:ext uri="{FF2B5EF4-FFF2-40B4-BE49-F238E27FC236}">
                  <a16:creationId xmlns:a16="http://schemas.microsoft.com/office/drawing/2014/main" id="{9012D13D-DE39-45F4-B3C3-4489426F6EE0}"/>
                </a:ext>
              </a:extLst>
            </p:cNvPr>
            <p:cNvSpPr>
              <a:spLocks noChangeShapeType="1"/>
            </p:cNvSpPr>
            <p:nvPr/>
          </p:nvSpPr>
          <p:spPr bwMode="auto">
            <a:xfrm flipV="1">
              <a:off x="3033" y="2555"/>
              <a:ext cx="277" cy="117"/>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01426" name="Text Box 50">
              <a:extLst>
                <a:ext uri="{FF2B5EF4-FFF2-40B4-BE49-F238E27FC236}">
                  <a16:creationId xmlns:a16="http://schemas.microsoft.com/office/drawing/2014/main" id="{56E14904-C400-439D-8CA4-AFB3F1396650}"/>
                </a:ext>
              </a:extLst>
            </p:cNvPr>
            <p:cNvSpPr txBox="1">
              <a:spLocks noChangeArrowheads="1"/>
            </p:cNvSpPr>
            <p:nvPr/>
          </p:nvSpPr>
          <p:spPr bwMode="auto">
            <a:xfrm>
              <a:off x="316" y="2787"/>
              <a:ext cx="811" cy="118"/>
            </a:xfrm>
            <a:prstGeom prst="rect">
              <a:avLst/>
            </a:prstGeom>
            <a:solidFill>
              <a:srgbClr val="969696"/>
            </a:solidFill>
            <a:ln w="12700">
              <a:solidFill>
                <a:srgbClr val="000000"/>
              </a:solidFill>
              <a:miter lim="800000"/>
              <a:headEnd/>
              <a:tailEnd/>
            </a:ln>
          </p:spPr>
          <p:txBody>
            <a:bodyPr tIns="0" bIns="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a:lnSpc>
                  <a:spcPct val="80000"/>
                </a:lnSpc>
                <a:spcBef>
                  <a:spcPct val="0"/>
                </a:spcBef>
                <a:buFontTx/>
                <a:buNone/>
              </a:pPr>
              <a:r>
                <a:rPr lang="zh-CN" altLang="zh-CN" sz="1800" b="1">
                  <a:solidFill>
                    <a:srgbClr val="000000"/>
                  </a:solidFill>
                </a:rPr>
                <a:t>1</a:t>
              </a:r>
            </a:p>
          </p:txBody>
        </p:sp>
        <p:sp>
          <p:nvSpPr>
            <p:cNvPr id="101427" name="Text Box 51">
              <a:extLst>
                <a:ext uri="{FF2B5EF4-FFF2-40B4-BE49-F238E27FC236}">
                  <a16:creationId xmlns:a16="http://schemas.microsoft.com/office/drawing/2014/main" id="{B46C0F24-FC9A-4031-9685-4B1600A7C416}"/>
                </a:ext>
              </a:extLst>
            </p:cNvPr>
            <p:cNvSpPr txBox="1">
              <a:spLocks noChangeArrowheads="1"/>
            </p:cNvSpPr>
            <p:nvPr/>
          </p:nvSpPr>
          <p:spPr bwMode="auto">
            <a:xfrm>
              <a:off x="1398" y="2782"/>
              <a:ext cx="534" cy="118"/>
            </a:xfrm>
            <a:prstGeom prst="rect">
              <a:avLst/>
            </a:prstGeom>
            <a:solidFill>
              <a:srgbClr val="969696"/>
            </a:solidFill>
            <a:ln w="12700">
              <a:solidFill>
                <a:srgbClr val="000000"/>
              </a:solidFill>
              <a:miter lim="800000"/>
              <a:headEnd/>
              <a:tailEnd/>
            </a:ln>
          </p:spPr>
          <p:txBody>
            <a:bodyPr tIns="0" bIns="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a:lnSpc>
                  <a:spcPct val="80000"/>
                </a:lnSpc>
                <a:spcBef>
                  <a:spcPct val="0"/>
                </a:spcBef>
                <a:buFontTx/>
                <a:buNone/>
              </a:pPr>
              <a:r>
                <a:rPr lang="zh-CN" altLang="zh-CN" sz="1800" b="1">
                  <a:solidFill>
                    <a:srgbClr val="000000"/>
                  </a:solidFill>
                </a:rPr>
                <a:t>4</a:t>
              </a:r>
            </a:p>
          </p:txBody>
        </p:sp>
        <p:sp>
          <p:nvSpPr>
            <p:cNvPr id="101428" name="Text Box 52">
              <a:extLst>
                <a:ext uri="{FF2B5EF4-FFF2-40B4-BE49-F238E27FC236}">
                  <a16:creationId xmlns:a16="http://schemas.microsoft.com/office/drawing/2014/main" id="{184B465A-235A-41C4-BC57-EEB66B23EA43}"/>
                </a:ext>
              </a:extLst>
            </p:cNvPr>
            <p:cNvSpPr txBox="1">
              <a:spLocks noChangeArrowheads="1"/>
            </p:cNvSpPr>
            <p:nvPr/>
          </p:nvSpPr>
          <p:spPr bwMode="auto">
            <a:xfrm>
              <a:off x="2209" y="2781"/>
              <a:ext cx="824" cy="118"/>
            </a:xfrm>
            <a:prstGeom prst="rect">
              <a:avLst/>
            </a:prstGeom>
            <a:solidFill>
              <a:srgbClr val="969696"/>
            </a:solidFill>
            <a:ln w="12700">
              <a:solidFill>
                <a:srgbClr val="000000"/>
              </a:solidFill>
              <a:miter lim="800000"/>
              <a:headEnd/>
              <a:tailEnd/>
            </a:ln>
          </p:spPr>
          <p:txBody>
            <a:bodyPr tIns="0" bIns="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a:lnSpc>
                  <a:spcPct val="80000"/>
                </a:lnSpc>
                <a:spcBef>
                  <a:spcPct val="0"/>
                </a:spcBef>
                <a:buFontTx/>
                <a:buNone/>
              </a:pPr>
              <a:r>
                <a:rPr lang="zh-CN" altLang="zh-CN" sz="1800" b="1">
                  <a:solidFill>
                    <a:srgbClr val="000000"/>
                  </a:solidFill>
                </a:rPr>
                <a:t>8</a:t>
              </a:r>
            </a:p>
          </p:txBody>
        </p:sp>
        <p:sp>
          <p:nvSpPr>
            <p:cNvPr id="101429" name="Text Box 53">
              <a:extLst>
                <a:ext uri="{FF2B5EF4-FFF2-40B4-BE49-F238E27FC236}">
                  <a16:creationId xmlns:a16="http://schemas.microsoft.com/office/drawing/2014/main" id="{79EC02F9-B3FE-47D6-8478-2A4579176AA1}"/>
                </a:ext>
              </a:extLst>
            </p:cNvPr>
            <p:cNvSpPr txBox="1">
              <a:spLocks noChangeArrowheads="1"/>
            </p:cNvSpPr>
            <p:nvPr/>
          </p:nvSpPr>
          <p:spPr bwMode="auto">
            <a:xfrm>
              <a:off x="3317" y="2782"/>
              <a:ext cx="515" cy="118"/>
            </a:xfrm>
            <a:prstGeom prst="rect">
              <a:avLst/>
            </a:prstGeom>
            <a:solidFill>
              <a:srgbClr val="969696"/>
            </a:solidFill>
            <a:ln w="12700">
              <a:solidFill>
                <a:srgbClr val="000000"/>
              </a:solidFill>
              <a:miter lim="800000"/>
              <a:headEnd/>
              <a:tailEnd/>
            </a:ln>
          </p:spPr>
          <p:txBody>
            <a:bodyPr tIns="0" bIns="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a:lnSpc>
                  <a:spcPct val="80000"/>
                </a:lnSpc>
                <a:spcBef>
                  <a:spcPct val="0"/>
                </a:spcBef>
                <a:buFontTx/>
                <a:buNone/>
              </a:pPr>
              <a:r>
                <a:rPr lang="zh-CN" altLang="zh-CN" sz="1800" b="1">
                  <a:solidFill>
                    <a:srgbClr val="000000"/>
                  </a:solidFill>
                </a:rPr>
                <a:t>11</a:t>
              </a:r>
            </a:p>
          </p:txBody>
        </p:sp>
        <p:sp>
          <p:nvSpPr>
            <p:cNvPr id="101430" name="Text Box 54">
              <a:extLst>
                <a:ext uri="{FF2B5EF4-FFF2-40B4-BE49-F238E27FC236}">
                  <a16:creationId xmlns:a16="http://schemas.microsoft.com/office/drawing/2014/main" id="{B50002F7-C3C4-4E1D-A3D0-2E2E24A9E9D0}"/>
                </a:ext>
              </a:extLst>
            </p:cNvPr>
            <p:cNvSpPr txBox="1">
              <a:spLocks noChangeArrowheads="1"/>
            </p:cNvSpPr>
            <p:nvPr/>
          </p:nvSpPr>
          <p:spPr bwMode="auto">
            <a:xfrm>
              <a:off x="1494" y="3260"/>
              <a:ext cx="2634" cy="187"/>
            </a:xfrm>
            <a:prstGeom prst="rect">
              <a:avLst/>
            </a:prstGeom>
            <a:noFill/>
            <a:ln>
              <a:noFill/>
            </a:ln>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a:spcBef>
                  <a:spcPct val="0"/>
                </a:spcBef>
                <a:buFontTx/>
                <a:buNone/>
              </a:pPr>
              <a:endParaRPr lang="zh-CN" altLang="zh-CN" sz="1800" b="1">
                <a:solidFill>
                  <a:srgbClr val="000000"/>
                </a:solidFill>
              </a:endParaRPr>
            </a:p>
          </p:txBody>
        </p:sp>
        <p:sp>
          <p:nvSpPr>
            <p:cNvPr id="101431" name="Text Box 55">
              <a:extLst>
                <a:ext uri="{FF2B5EF4-FFF2-40B4-BE49-F238E27FC236}">
                  <a16:creationId xmlns:a16="http://schemas.microsoft.com/office/drawing/2014/main" id="{7E967301-3296-4C42-AA62-D2BB69E81606}"/>
                </a:ext>
              </a:extLst>
            </p:cNvPr>
            <p:cNvSpPr txBox="1">
              <a:spLocks noChangeArrowheads="1"/>
            </p:cNvSpPr>
            <p:nvPr/>
          </p:nvSpPr>
          <p:spPr bwMode="auto">
            <a:xfrm>
              <a:off x="1391" y="578"/>
              <a:ext cx="535" cy="117"/>
            </a:xfrm>
            <a:prstGeom prst="rect">
              <a:avLst/>
            </a:prstGeom>
            <a:solidFill>
              <a:srgbClr val="969696"/>
            </a:solidFill>
            <a:ln w="12700">
              <a:solidFill>
                <a:srgbClr val="000000"/>
              </a:solidFill>
              <a:miter lim="800000"/>
              <a:headEnd/>
              <a:tailEnd/>
            </a:ln>
          </p:spPr>
          <p:txBody>
            <a:bodyPr tIns="0" bIns="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a:lnSpc>
                  <a:spcPct val="80000"/>
                </a:lnSpc>
                <a:spcBef>
                  <a:spcPct val="0"/>
                </a:spcBef>
                <a:buFontTx/>
                <a:buNone/>
              </a:pPr>
              <a:r>
                <a:rPr lang="zh-CN" altLang="zh-CN" sz="1800" b="1">
                  <a:solidFill>
                    <a:srgbClr val="000000"/>
                  </a:solidFill>
                </a:rPr>
                <a:t>4</a:t>
              </a:r>
            </a:p>
          </p:txBody>
        </p:sp>
        <p:sp>
          <p:nvSpPr>
            <p:cNvPr id="101432" name="Line 56">
              <a:extLst>
                <a:ext uri="{FF2B5EF4-FFF2-40B4-BE49-F238E27FC236}">
                  <a16:creationId xmlns:a16="http://schemas.microsoft.com/office/drawing/2014/main" id="{19B70F82-3CAA-4B05-AA5C-D845D3E647B1}"/>
                </a:ext>
              </a:extLst>
            </p:cNvPr>
            <p:cNvSpPr>
              <a:spLocks noChangeShapeType="1"/>
            </p:cNvSpPr>
            <p:nvPr/>
          </p:nvSpPr>
          <p:spPr bwMode="auto">
            <a:xfrm>
              <a:off x="31" y="754"/>
              <a:ext cx="4734"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33" name="Text Box 57">
              <a:extLst>
                <a:ext uri="{FF2B5EF4-FFF2-40B4-BE49-F238E27FC236}">
                  <a16:creationId xmlns:a16="http://schemas.microsoft.com/office/drawing/2014/main" id="{66168863-83A7-40BA-BA6B-75212ADB3FCE}"/>
                </a:ext>
              </a:extLst>
            </p:cNvPr>
            <p:cNvSpPr txBox="1">
              <a:spLocks noChangeArrowheads="1"/>
            </p:cNvSpPr>
            <p:nvPr/>
          </p:nvSpPr>
          <p:spPr bwMode="auto">
            <a:xfrm>
              <a:off x="3908" y="317"/>
              <a:ext cx="1201" cy="278"/>
            </a:xfrm>
            <a:prstGeom prst="rect">
              <a:avLst/>
            </a:prstGeom>
            <a:noFill/>
            <a:ln>
              <a:noFill/>
            </a:ln>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a:lnSpc>
                  <a:spcPct val="96000"/>
                </a:lnSpc>
                <a:spcBef>
                  <a:spcPct val="0"/>
                </a:spcBef>
                <a:buFontTx/>
                <a:buNone/>
              </a:pPr>
              <a:r>
                <a:rPr lang="en-US" altLang="zh-CN" sz="1800" b="1">
                  <a:solidFill>
                    <a:srgbClr val="000000"/>
                  </a:solidFill>
                </a:rPr>
                <a:t>2, 3 conflict with 1</a:t>
              </a:r>
              <a:endParaRPr lang="zh-CN" altLang="zh-CN" sz="1800" b="1">
                <a:solidFill>
                  <a:srgbClr val="000000"/>
                </a:solidFill>
              </a:endParaRPr>
            </a:p>
          </p:txBody>
        </p:sp>
        <p:sp>
          <p:nvSpPr>
            <p:cNvPr id="101434" name="Line 58">
              <a:extLst>
                <a:ext uri="{FF2B5EF4-FFF2-40B4-BE49-F238E27FC236}">
                  <a16:creationId xmlns:a16="http://schemas.microsoft.com/office/drawing/2014/main" id="{8DE5075F-8729-410F-92D9-83CCEFDB1689}"/>
                </a:ext>
              </a:extLst>
            </p:cNvPr>
            <p:cNvSpPr>
              <a:spLocks noChangeShapeType="1"/>
            </p:cNvSpPr>
            <p:nvPr/>
          </p:nvSpPr>
          <p:spPr bwMode="auto">
            <a:xfrm>
              <a:off x="44" y="988"/>
              <a:ext cx="4733"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35" name="Text Box 59">
              <a:extLst>
                <a:ext uri="{FF2B5EF4-FFF2-40B4-BE49-F238E27FC236}">
                  <a16:creationId xmlns:a16="http://schemas.microsoft.com/office/drawing/2014/main" id="{82CBBEBB-F877-4C8E-8347-81099533B90C}"/>
                </a:ext>
              </a:extLst>
            </p:cNvPr>
            <p:cNvSpPr txBox="1">
              <a:spLocks noChangeArrowheads="1"/>
            </p:cNvSpPr>
            <p:nvPr/>
          </p:nvSpPr>
          <p:spPr bwMode="auto">
            <a:xfrm>
              <a:off x="3908" y="790"/>
              <a:ext cx="1367" cy="122"/>
            </a:xfrm>
            <a:prstGeom prst="rect">
              <a:avLst/>
            </a:prstGeom>
            <a:noFill/>
            <a:ln>
              <a:noFill/>
            </a:ln>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a:lnSpc>
                  <a:spcPct val="96000"/>
                </a:lnSpc>
                <a:spcBef>
                  <a:spcPct val="0"/>
                </a:spcBef>
                <a:buFontTx/>
                <a:buNone/>
              </a:pPr>
              <a:r>
                <a:rPr lang="en-US" altLang="zh-CN" sz="1800" b="1">
                  <a:solidFill>
                    <a:srgbClr val="000000"/>
                  </a:solidFill>
                </a:rPr>
                <a:t>4, 1 not conflict</a:t>
              </a:r>
              <a:endParaRPr lang="zh-CN" altLang="zh-CN" sz="1800" b="1">
                <a:solidFill>
                  <a:srgbClr val="000000"/>
                </a:solidFill>
              </a:endParaRPr>
            </a:p>
          </p:txBody>
        </p:sp>
        <p:sp>
          <p:nvSpPr>
            <p:cNvPr id="101436" name="Line 60">
              <a:extLst>
                <a:ext uri="{FF2B5EF4-FFF2-40B4-BE49-F238E27FC236}">
                  <a16:creationId xmlns:a16="http://schemas.microsoft.com/office/drawing/2014/main" id="{E0BC18C7-E679-4BE9-815F-B4C16320B76A}"/>
                </a:ext>
              </a:extLst>
            </p:cNvPr>
            <p:cNvSpPr>
              <a:spLocks noChangeShapeType="1"/>
            </p:cNvSpPr>
            <p:nvPr/>
          </p:nvSpPr>
          <p:spPr bwMode="auto">
            <a:xfrm>
              <a:off x="44" y="1851"/>
              <a:ext cx="4733"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37" name="Text Box 61">
              <a:extLst>
                <a:ext uri="{FF2B5EF4-FFF2-40B4-BE49-F238E27FC236}">
                  <a16:creationId xmlns:a16="http://schemas.microsoft.com/office/drawing/2014/main" id="{4A88DD5A-F34C-45F3-B388-178747CB92E4}"/>
                </a:ext>
              </a:extLst>
            </p:cNvPr>
            <p:cNvSpPr txBox="1">
              <a:spLocks noChangeArrowheads="1"/>
            </p:cNvSpPr>
            <p:nvPr/>
          </p:nvSpPr>
          <p:spPr bwMode="auto">
            <a:xfrm>
              <a:off x="3895" y="1278"/>
              <a:ext cx="1276" cy="194"/>
            </a:xfrm>
            <a:prstGeom prst="rect">
              <a:avLst/>
            </a:prstGeom>
            <a:noFill/>
            <a:ln>
              <a:noFill/>
            </a:ln>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a:lnSpc>
                  <a:spcPct val="96000"/>
                </a:lnSpc>
                <a:spcBef>
                  <a:spcPct val="0"/>
                </a:spcBef>
                <a:buFontTx/>
                <a:buNone/>
              </a:pPr>
              <a:r>
                <a:rPr lang="en-US" altLang="zh-CN" sz="1800" b="1">
                  <a:solidFill>
                    <a:srgbClr val="000000"/>
                  </a:solidFill>
                </a:rPr>
                <a:t>5, 6, 7 conflict with 4</a:t>
              </a:r>
              <a:endParaRPr lang="zh-CN" altLang="zh-CN" sz="1800" b="1">
                <a:solidFill>
                  <a:srgbClr val="000000"/>
                </a:solidFill>
              </a:endParaRPr>
            </a:p>
          </p:txBody>
        </p:sp>
        <p:sp>
          <p:nvSpPr>
            <p:cNvPr id="101438" name="Line 62">
              <a:extLst>
                <a:ext uri="{FF2B5EF4-FFF2-40B4-BE49-F238E27FC236}">
                  <a16:creationId xmlns:a16="http://schemas.microsoft.com/office/drawing/2014/main" id="{5FBDA75F-8505-42F9-BF77-6993E6902CB5}"/>
                </a:ext>
              </a:extLst>
            </p:cNvPr>
            <p:cNvSpPr>
              <a:spLocks noChangeShapeType="1"/>
            </p:cNvSpPr>
            <p:nvPr/>
          </p:nvSpPr>
          <p:spPr bwMode="auto">
            <a:xfrm>
              <a:off x="31" y="2075"/>
              <a:ext cx="4734"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39" name="Text Box 63">
              <a:extLst>
                <a:ext uri="{FF2B5EF4-FFF2-40B4-BE49-F238E27FC236}">
                  <a16:creationId xmlns:a16="http://schemas.microsoft.com/office/drawing/2014/main" id="{A4DFC7B1-9864-424D-B685-0C30C1801F5A}"/>
                </a:ext>
              </a:extLst>
            </p:cNvPr>
            <p:cNvSpPr txBox="1">
              <a:spLocks noChangeArrowheads="1"/>
            </p:cNvSpPr>
            <p:nvPr/>
          </p:nvSpPr>
          <p:spPr bwMode="auto">
            <a:xfrm>
              <a:off x="3876" y="1898"/>
              <a:ext cx="1386" cy="98"/>
            </a:xfrm>
            <a:prstGeom prst="rect">
              <a:avLst/>
            </a:prstGeom>
            <a:noFill/>
            <a:ln>
              <a:noFill/>
            </a:ln>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a:lnSpc>
                  <a:spcPct val="96000"/>
                </a:lnSpc>
                <a:spcBef>
                  <a:spcPct val="0"/>
                </a:spcBef>
                <a:buFontTx/>
                <a:buNone/>
              </a:pPr>
              <a:r>
                <a:rPr lang="en-US" altLang="zh-CN" sz="1800" b="1">
                  <a:solidFill>
                    <a:srgbClr val="000000"/>
                  </a:solidFill>
                </a:rPr>
                <a:t>8, 4 not conflict</a:t>
              </a:r>
              <a:endParaRPr lang="zh-CN" altLang="zh-CN" sz="1800" b="1">
                <a:solidFill>
                  <a:srgbClr val="000000"/>
                </a:solidFill>
              </a:endParaRPr>
            </a:p>
          </p:txBody>
        </p:sp>
        <p:sp>
          <p:nvSpPr>
            <p:cNvPr id="101440" name="Line 64">
              <a:extLst>
                <a:ext uri="{FF2B5EF4-FFF2-40B4-BE49-F238E27FC236}">
                  <a16:creationId xmlns:a16="http://schemas.microsoft.com/office/drawing/2014/main" id="{8549C488-30D2-4D80-8D5C-1F7AB8B975E1}"/>
                </a:ext>
              </a:extLst>
            </p:cNvPr>
            <p:cNvSpPr>
              <a:spLocks noChangeShapeType="1"/>
            </p:cNvSpPr>
            <p:nvPr/>
          </p:nvSpPr>
          <p:spPr bwMode="auto">
            <a:xfrm>
              <a:off x="44" y="2735"/>
              <a:ext cx="4733"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41" name="Text Box 65">
              <a:extLst>
                <a:ext uri="{FF2B5EF4-FFF2-40B4-BE49-F238E27FC236}">
                  <a16:creationId xmlns:a16="http://schemas.microsoft.com/office/drawing/2014/main" id="{BE9D43A8-3A1A-417E-BAB5-6F6BD29BC314}"/>
                </a:ext>
              </a:extLst>
            </p:cNvPr>
            <p:cNvSpPr txBox="1">
              <a:spLocks noChangeArrowheads="1"/>
            </p:cNvSpPr>
            <p:nvPr/>
          </p:nvSpPr>
          <p:spPr bwMode="auto">
            <a:xfrm>
              <a:off x="3882" y="2319"/>
              <a:ext cx="1538" cy="175"/>
            </a:xfrm>
            <a:prstGeom prst="rect">
              <a:avLst/>
            </a:prstGeom>
            <a:noFill/>
            <a:ln>
              <a:noFill/>
            </a:ln>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a:lnSpc>
                  <a:spcPct val="96000"/>
                </a:lnSpc>
                <a:spcBef>
                  <a:spcPct val="0"/>
                </a:spcBef>
                <a:buFontTx/>
                <a:buNone/>
              </a:pPr>
              <a:r>
                <a:rPr lang="en-US" altLang="zh-CN" sz="1800" b="1">
                  <a:solidFill>
                    <a:srgbClr val="000000"/>
                  </a:solidFill>
                </a:rPr>
                <a:t>9, 10 conflict with 8</a:t>
              </a:r>
              <a:endParaRPr lang="zh-CN" altLang="zh-CN" sz="1800" b="1">
                <a:solidFill>
                  <a:srgbClr val="000000"/>
                </a:solidFill>
              </a:endParaRPr>
            </a:p>
          </p:txBody>
        </p:sp>
        <p:sp>
          <p:nvSpPr>
            <p:cNvPr id="101442" name="Text Box 66">
              <a:extLst>
                <a:ext uri="{FF2B5EF4-FFF2-40B4-BE49-F238E27FC236}">
                  <a16:creationId xmlns:a16="http://schemas.microsoft.com/office/drawing/2014/main" id="{9ED4FF7C-5A21-4271-A176-847F7550C28C}"/>
                </a:ext>
              </a:extLst>
            </p:cNvPr>
            <p:cNvSpPr txBox="1">
              <a:spLocks noChangeArrowheads="1"/>
            </p:cNvSpPr>
            <p:nvPr/>
          </p:nvSpPr>
          <p:spPr bwMode="auto">
            <a:xfrm>
              <a:off x="3882" y="2794"/>
              <a:ext cx="1334" cy="154"/>
            </a:xfrm>
            <a:prstGeom prst="rect">
              <a:avLst/>
            </a:prstGeom>
            <a:noFill/>
            <a:ln>
              <a:noFill/>
            </a:ln>
            <a:extLst>
              <a:ext uri="{909E8E84-426E-40DD-AFC4-6F175D3DCCD1}">
                <a14:hiddenFill xmlns:a14="http://schemas.microsoft.com/office/drawing/2010/main">
                  <a:solidFill>
                    <a:srgbClr val="969696"/>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a:lnSpc>
                  <a:spcPct val="96000"/>
                </a:lnSpc>
                <a:spcBef>
                  <a:spcPct val="0"/>
                </a:spcBef>
                <a:buFontTx/>
                <a:buNone/>
              </a:pPr>
              <a:r>
                <a:rPr lang="en-US" altLang="zh-CN" sz="1800" b="1">
                  <a:solidFill>
                    <a:srgbClr val="000000"/>
                  </a:solidFill>
                </a:rPr>
                <a:t>11, 8 not confilict</a:t>
              </a:r>
              <a:endParaRPr lang="zh-CN" altLang="zh-CN" sz="1800" b="1">
                <a:solidFill>
                  <a:srgbClr val="000000"/>
                </a:solidFil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32ECC9-A0FB-48ED-B5DF-1CB80111BAC0}"/>
              </a:ext>
            </a:extLst>
          </p:cNvPr>
          <p:cNvSpPr>
            <a:spLocks noGrp="1"/>
          </p:cNvSpPr>
          <p:nvPr>
            <p:ph type="title"/>
          </p:nvPr>
        </p:nvSpPr>
        <p:spPr/>
        <p:txBody>
          <a:bodyPr/>
          <a:lstStyle/>
          <a:p>
            <a:r>
              <a:rPr lang="en-US" altLang="zh-CN"/>
              <a:t>Proof of optimality</a:t>
            </a:r>
            <a:endParaRPr lang="zh-CN" altLang="en-US"/>
          </a:p>
        </p:txBody>
      </p:sp>
      <p:pic>
        <p:nvPicPr>
          <p:cNvPr id="4" name="图片 3">
            <a:extLst>
              <a:ext uri="{FF2B5EF4-FFF2-40B4-BE49-F238E27FC236}">
                <a16:creationId xmlns:a16="http://schemas.microsoft.com/office/drawing/2014/main" id="{0CFAE35A-E140-4327-BC57-A848084E84CD}"/>
              </a:ext>
            </a:extLst>
          </p:cNvPr>
          <p:cNvPicPr>
            <a:picLocks noChangeAspect="1"/>
          </p:cNvPicPr>
          <p:nvPr/>
        </p:nvPicPr>
        <p:blipFill>
          <a:blip r:embed="rId2"/>
          <a:stretch>
            <a:fillRect/>
          </a:stretch>
        </p:blipFill>
        <p:spPr>
          <a:xfrm>
            <a:off x="0" y="2282667"/>
            <a:ext cx="12192000" cy="2292665"/>
          </a:xfrm>
          <a:prstGeom prst="rect">
            <a:avLst/>
          </a:prstGeom>
        </p:spPr>
      </p:pic>
    </p:spTree>
    <p:extLst>
      <p:ext uri="{BB962C8B-B14F-4D97-AF65-F5344CB8AC3E}">
        <p14:creationId xmlns:p14="http://schemas.microsoft.com/office/powerpoint/2010/main" val="37897376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标题 1">
            <a:extLst>
              <a:ext uri="{FF2B5EF4-FFF2-40B4-BE49-F238E27FC236}">
                <a16:creationId xmlns:a16="http://schemas.microsoft.com/office/drawing/2014/main" id="{8A0A95F5-71AC-45C9-A3C5-B78A03376B7C}"/>
              </a:ext>
            </a:extLst>
          </p:cNvPr>
          <p:cNvSpPr>
            <a:spLocks noGrp="1" noChangeArrowheads="1"/>
          </p:cNvSpPr>
          <p:nvPr>
            <p:ph type="title"/>
          </p:nvPr>
        </p:nvSpPr>
        <p:spPr/>
        <p:txBody>
          <a:bodyPr/>
          <a:lstStyle/>
          <a:p>
            <a:r>
              <a:rPr lang="en-US" altLang="zh-CN"/>
              <a:t>Conclusions</a:t>
            </a:r>
            <a:endParaRPr lang="zh-CN" altLang="en-US"/>
          </a:p>
        </p:txBody>
      </p:sp>
      <p:sp>
        <p:nvSpPr>
          <p:cNvPr id="104451" name="内容占位符 2">
            <a:extLst>
              <a:ext uri="{FF2B5EF4-FFF2-40B4-BE49-F238E27FC236}">
                <a16:creationId xmlns:a16="http://schemas.microsoft.com/office/drawing/2014/main" id="{F0289868-76B6-452D-A127-9FBF54BCAC52}"/>
              </a:ext>
            </a:extLst>
          </p:cNvPr>
          <p:cNvSpPr>
            <a:spLocks noGrp="1" noChangeArrowheads="1"/>
          </p:cNvSpPr>
          <p:nvPr>
            <p:ph idx="1"/>
          </p:nvPr>
        </p:nvSpPr>
        <p:spPr/>
        <p:txBody>
          <a:bodyPr/>
          <a:lstStyle/>
          <a:p>
            <a:r>
              <a:rPr lang="en-US" altLang="zh-CN"/>
              <a:t>The greedy strategy of choosing </a:t>
            </a:r>
            <a:r>
              <a:rPr lang="en-US" altLang="zh-CN">
                <a:solidFill>
                  <a:srgbClr val="FF0000"/>
                </a:solidFill>
              </a:rPr>
              <a:t>the earliest finish time </a:t>
            </a:r>
            <a:r>
              <a:rPr lang="en-US" altLang="zh-CN"/>
              <a:t>can get an optimal solution.</a:t>
            </a:r>
          </a:p>
          <a:p>
            <a:r>
              <a:rPr lang="en-US" altLang="zh-CN"/>
              <a:t>The greedy strategy of choosing </a:t>
            </a:r>
            <a:r>
              <a:rPr lang="en-US" altLang="zh-CN">
                <a:solidFill>
                  <a:srgbClr val="FF0000"/>
                </a:solidFill>
              </a:rPr>
              <a:t>the latest start time </a:t>
            </a:r>
            <a:r>
              <a:rPr lang="en-US" altLang="zh-CN"/>
              <a:t>can also get an optimal solution.</a:t>
            </a:r>
          </a:p>
          <a:p>
            <a:r>
              <a:rPr lang="en-US" altLang="zh-CN"/>
              <a:t>Solution is not unique.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962487" y="2103437"/>
            <a:ext cx="10515600" cy="1325563"/>
          </a:xfrm>
        </p:spPr>
        <p:txBody>
          <a:bodyPr>
            <a:normAutofit/>
          </a:bodyPr>
          <a:lstStyle/>
          <a:p>
            <a:pPr algn="ctr"/>
            <a:r>
              <a:rPr lang="en-US" altLang="zh-CN" sz="4000">
                <a:hlinkClick r:id="rId2" action="ppaction://hlinkfile"/>
              </a:rPr>
              <a:t>Horse Racing</a:t>
            </a:r>
            <a:endParaRPr lang="zh-CN" altLang="en-US" sz="4000" dirty="0"/>
          </a:p>
        </p:txBody>
      </p:sp>
    </p:spTree>
    <p:extLst>
      <p:ext uri="{BB962C8B-B14F-4D97-AF65-F5344CB8AC3E}">
        <p14:creationId xmlns:p14="http://schemas.microsoft.com/office/powerpoint/2010/main" val="15216480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8A3BE3-6477-42DC-8C18-D1D820D6E9BE}"/>
              </a:ext>
            </a:extLst>
          </p:cNvPr>
          <p:cNvSpPr>
            <a:spLocks noGrp="1"/>
          </p:cNvSpPr>
          <p:nvPr>
            <p:ph type="title"/>
          </p:nvPr>
        </p:nvSpPr>
        <p:spPr/>
        <p:txBody>
          <a:bodyPr/>
          <a:lstStyle/>
          <a:p>
            <a:pPr eaLnBrk="1" fontAlgn="auto" hangingPunct="1">
              <a:spcAft>
                <a:spcPts val="0"/>
              </a:spcAft>
              <a:defRPr/>
            </a:pPr>
            <a:r>
              <a:rPr lang="en-US" altLang="zh-CN">
                <a:solidFill>
                  <a:schemeClr val="accent1">
                    <a:satMod val="150000"/>
                  </a:schemeClr>
                </a:solidFill>
              </a:rPr>
              <a:t>Greedy Strategy</a:t>
            </a:r>
            <a:endParaRPr lang="zh-CN" altLang="en-US" dirty="0">
              <a:solidFill>
                <a:schemeClr val="accent1">
                  <a:satMod val="150000"/>
                </a:schemeClr>
              </a:solidFill>
            </a:endParaRPr>
          </a:p>
        </p:txBody>
      </p:sp>
      <p:sp>
        <p:nvSpPr>
          <p:cNvPr id="121859" name="内容占位符 2">
            <a:extLst>
              <a:ext uri="{FF2B5EF4-FFF2-40B4-BE49-F238E27FC236}">
                <a16:creationId xmlns:a16="http://schemas.microsoft.com/office/drawing/2014/main" id="{1CDC38E0-C622-410A-8191-15B9567B30EA}"/>
              </a:ext>
            </a:extLst>
          </p:cNvPr>
          <p:cNvSpPr>
            <a:spLocks noGrp="1"/>
          </p:cNvSpPr>
          <p:nvPr>
            <p:ph idx="1"/>
          </p:nvPr>
        </p:nvSpPr>
        <p:spPr>
          <a:xfrm>
            <a:off x="838200" y="1774825"/>
            <a:ext cx="7561263" cy="4625975"/>
          </a:xfrm>
        </p:spPr>
        <p:txBody>
          <a:bodyPr>
            <a:normAutofit/>
          </a:bodyPr>
          <a:lstStyle/>
          <a:p>
            <a:pPr marL="0" indent="0" eaLnBrk="1" hangingPunct="1">
              <a:buNone/>
            </a:pPr>
            <a:r>
              <a:rPr lang="en-US" altLang="zh-CN">
                <a:solidFill>
                  <a:srgbClr val="FF0000"/>
                </a:solidFill>
              </a:rPr>
              <a:t>If Tian Ji’s fastest horse is faster than Qi’s fastest horse, then these two horses race.</a:t>
            </a:r>
          </a:p>
          <a:p>
            <a:pPr marL="0" indent="0" eaLnBrk="1" hangingPunct="1">
              <a:buNone/>
            </a:pPr>
            <a:r>
              <a:rPr lang="en-US" altLang="zh-CN">
                <a:solidFill>
                  <a:srgbClr val="FF0000"/>
                </a:solidFill>
              </a:rPr>
              <a:t>Proof: </a:t>
            </a:r>
            <a:r>
              <a:rPr lang="en-US" altLang="zh-CN"/>
              <a:t>The previous strategy is </a:t>
            </a:r>
            <a:r>
              <a:rPr lang="en-US" altLang="zh-CN">
                <a:solidFill>
                  <a:srgbClr val="FF0000"/>
                </a:solidFill>
              </a:rPr>
              <a:t>T1 vs Q1 &amp; Tj vs Qi</a:t>
            </a:r>
            <a:r>
              <a:rPr lang="en-US" altLang="zh-CN"/>
              <a:t> ; If there is a better strategy, under which </a:t>
            </a:r>
            <a:r>
              <a:rPr lang="en-US" altLang="zh-CN">
                <a:solidFill>
                  <a:srgbClr val="FF0000"/>
                </a:solidFill>
              </a:rPr>
              <a:t>T1 vs Qi &amp; Tj vs Q1</a:t>
            </a:r>
            <a:r>
              <a:rPr lang="en-US" altLang="zh-CN"/>
              <a:t>, then we get</a:t>
            </a:r>
          </a:p>
        </p:txBody>
      </p:sp>
      <p:sp>
        <p:nvSpPr>
          <p:cNvPr id="121861" name="Oval 19">
            <a:extLst>
              <a:ext uri="{FF2B5EF4-FFF2-40B4-BE49-F238E27FC236}">
                <a16:creationId xmlns:a16="http://schemas.microsoft.com/office/drawing/2014/main" id="{E4BB80FE-26D5-4485-94B9-56BC8CECFAE0}"/>
              </a:ext>
            </a:extLst>
          </p:cNvPr>
          <p:cNvSpPr>
            <a:spLocks noChangeArrowheads="1"/>
          </p:cNvSpPr>
          <p:nvPr/>
        </p:nvSpPr>
        <p:spPr bwMode="auto">
          <a:xfrm>
            <a:off x="8472488" y="2708275"/>
            <a:ext cx="504825" cy="53975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a:solidFill>
                  <a:srgbClr val="000000"/>
                </a:solidFill>
                <a:latin typeface="Times New Roman" panose="02020603050405020304" pitchFamily="18" charset="0"/>
                <a:ea typeface="华文楷体" panose="02010600040101010101" pitchFamily="2" charset="-122"/>
              </a:rPr>
              <a:t>T1</a:t>
            </a:r>
          </a:p>
        </p:txBody>
      </p:sp>
      <p:sp>
        <p:nvSpPr>
          <p:cNvPr id="121862" name="Oval 20">
            <a:extLst>
              <a:ext uri="{FF2B5EF4-FFF2-40B4-BE49-F238E27FC236}">
                <a16:creationId xmlns:a16="http://schemas.microsoft.com/office/drawing/2014/main" id="{3A2DC6A2-01A0-402F-B1BC-E27F044316A1}"/>
              </a:ext>
            </a:extLst>
          </p:cNvPr>
          <p:cNvSpPr>
            <a:spLocks noChangeArrowheads="1"/>
          </p:cNvSpPr>
          <p:nvPr/>
        </p:nvSpPr>
        <p:spPr bwMode="auto">
          <a:xfrm>
            <a:off x="8472488" y="3463925"/>
            <a:ext cx="504825" cy="53975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a:solidFill>
                  <a:srgbClr val="000000"/>
                </a:solidFill>
                <a:latin typeface="Times New Roman" panose="02020603050405020304" pitchFamily="18" charset="0"/>
                <a:ea typeface="华文楷体" panose="02010600040101010101" pitchFamily="2" charset="-122"/>
              </a:rPr>
              <a:t>Tj</a:t>
            </a:r>
          </a:p>
        </p:txBody>
      </p:sp>
      <p:sp>
        <p:nvSpPr>
          <p:cNvPr id="121863" name="Oval 23">
            <a:extLst>
              <a:ext uri="{FF2B5EF4-FFF2-40B4-BE49-F238E27FC236}">
                <a16:creationId xmlns:a16="http://schemas.microsoft.com/office/drawing/2014/main" id="{028D6C92-7174-4E06-AAB0-6E7CCBADE1BA}"/>
              </a:ext>
            </a:extLst>
          </p:cNvPr>
          <p:cNvSpPr>
            <a:spLocks noChangeArrowheads="1"/>
          </p:cNvSpPr>
          <p:nvPr/>
        </p:nvSpPr>
        <p:spPr bwMode="auto">
          <a:xfrm>
            <a:off x="9804400" y="3463925"/>
            <a:ext cx="504825" cy="539750"/>
          </a:xfrm>
          <a:prstGeom prst="ellipse">
            <a:avLst/>
          </a:prstGeom>
          <a:solidFill>
            <a:schemeClr val="hlink"/>
          </a:solidFill>
          <a:ln w="9525">
            <a:solidFill>
              <a:schemeClr val="tx1"/>
            </a:solidFill>
            <a:round/>
            <a:headEnd/>
            <a:tailEnd/>
          </a:ln>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a:solidFill>
                  <a:srgbClr val="000000"/>
                </a:solidFill>
                <a:latin typeface="Times New Roman" panose="02020603050405020304" pitchFamily="18" charset="0"/>
                <a:ea typeface="华文楷体" panose="02010600040101010101" pitchFamily="2" charset="-122"/>
              </a:rPr>
              <a:t>Qi</a:t>
            </a:r>
          </a:p>
        </p:txBody>
      </p:sp>
      <p:sp>
        <p:nvSpPr>
          <p:cNvPr id="121864" name="Oval 24">
            <a:extLst>
              <a:ext uri="{FF2B5EF4-FFF2-40B4-BE49-F238E27FC236}">
                <a16:creationId xmlns:a16="http://schemas.microsoft.com/office/drawing/2014/main" id="{4323BBC3-BAA3-423B-9706-9E8C3B123C3D}"/>
              </a:ext>
            </a:extLst>
          </p:cNvPr>
          <p:cNvSpPr>
            <a:spLocks noChangeArrowheads="1"/>
          </p:cNvSpPr>
          <p:nvPr/>
        </p:nvSpPr>
        <p:spPr bwMode="auto">
          <a:xfrm>
            <a:off x="9804400" y="2708275"/>
            <a:ext cx="504825" cy="539750"/>
          </a:xfrm>
          <a:prstGeom prst="ellipse">
            <a:avLst/>
          </a:prstGeom>
          <a:solidFill>
            <a:schemeClr val="hlink"/>
          </a:solidFill>
          <a:ln w="9525">
            <a:solidFill>
              <a:schemeClr val="tx1"/>
            </a:solidFill>
            <a:round/>
            <a:headEnd/>
            <a:tailEnd/>
          </a:ln>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a:solidFill>
                  <a:srgbClr val="000000"/>
                </a:solidFill>
                <a:latin typeface="Times New Roman" panose="02020603050405020304" pitchFamily="18" charset="0"/>
                <a:ea typeface="华文楷体" panose="02010600040101010101" pitchFamily="2" charset="-122"/>
              </a:rPr>
              <a:t>Q1</a:t>
            </a:r>
          </a:p>
        </p:txBody>
      </p:sp>
      <p:sp>
        <p:nvSpPr>
          <p:cNvPr id="121865" name="Line 25">
            <a:extLst>
              <a:ext uri="{FF2B5EF4-FFF2-40B4-BE49-F238E27FC236}">
                <a16:creationId xmlns:a16="http://schemas.microsoft.com/office/drawing/2014/main" id="{7D93EA98-C1B9-48DA-A34E-2E21B54269A1}"/>
              </a:ext>
            </a:extLst>
          </p:cNvPr>
          <p:cNvSpPr>
            <a:spLocks noChangeShapeType="1"/>
          </p:cNvSpPr>
          <p:nvPr/>
        </p:nvSpPr>
        <p:spPr bwMode="auto">
          <a:xfrm flipV="1">
            <a:off x="8975725" y="2997200"/>
            <a:ext cx="865188" cy="7921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866" name="Line 25">
            <a:extLst>
              <a:ext uri="{FF2B5EF4-FFF2-40B4-BE49-F238E27FC236}">
                <a16:creationId xmlns:a16="http://schemas.microsoft.com/office/drawing/2014/main" id="{CD41A788-CE3A-4D5A-9FAE-544CD49EC27C}"/>
              </a:ext>
            </a:extLst>
          </p:cNvPr>
          <p:cNvSpPr>
            <a:spLocks noChangeShapeType="1"/>
          </p:cNvSpPr>
          <p:nvPr/>
        </p:nvSpPr>
        <p:spPr bwMode="auto">
          <a:xfrm>
            <a:off x="8904288" y="2997200"/>
            <a:ext cx="936625" cy="7921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25">
            <a:extLst>
              <a:ext uri="{FF2B5EF4-FFF2-40B4-BE49-F238E27FC236}">
                <a16:creationId xmlns:a16="http://schemas.microsoft.com/office/drawing/2014/main" id="{FC2139F3-87DD-4EA1-BB3F-199EF0AFC95F}"/>
              </a:ext>
            </a:extLst>
          </p:cNvPr>
          <p:cNvSpPr>
            <a:spLocks noChangeShapeType="1"/>
          </p:cNvSpPr>
          <p:nvPr/>
        </p:nvSpPr>
        <p:spPr bwMode="auto">
          <a:xfrm flipV="1">
            <a:off x="8904288" y="2997200"/>
            <a:ext cx="936625" cy="0"/>
          </a:xfrm>
          <a:prstGeom prst="line">
            <a:avLst/>
          </a:prstGeom>
          <a:ln>
            <a:solidFill>
              <a:srgbClr val="FF0000"/>
            </a:solidFill>
            <a:headEnd/>
            <a:tailEnd/>
          </a:ln>
        </p:spPr>
        <p:style>
          <a:lnRef idx="1">
            <a:schemeClr val="dk1"/>
          </a:lnRef>
          <a:fillRef idx="0">
            <a:schemeClr val="dk1"/>
          </a:fillRef>
          <a:effectRef idx="0">
            <a:schemeClr val="dk1"/>
          </a:effectRef>
          <a:fontRef idx="minor">
            <a:schemeClr val="tx1"/>
          </a:fontRef>
        </p:style>
        <p:txBody>
          <a:bodyPr/>
          <a:lstStyle/>
          <a:p>
            <a:pPr eaLnBrk="1" fontAlgn="auto" hangingPunct="1">
              <a:spcBef>
                <a:spcPts val="0"/>
              </a:spcBef>
              <a:spcAft>
                <a:spcPts val="0"/>
              </a:spcAft>
              <a:defRPr/>
            </a:pPr>
            <a:endParaRPr lang="zh-CN" altLang="en-US">
              <a:solidFill>
                <a:prstClr val="black"/>
              </a:solidFill>
            </a:endParaRPr>
          </a:p>
        </p:txBody>
      </p:sp>
      <p:sp>
        <p:nvSpPr>
          <p:cNvPr id="13" name="Line 25">
            <a:extLst>
              <a:ext uri="{FF2B5EF4-FFF2-40B4-BE49-F238E27FC236}">
                <a16:creationId xmlns:a16="http://schemas.microsoft.com/office/drawing/2014/main" id="{651C0D29-2387-4FA5-95CC-4BE334F08964}"/>
              </a:ext>
            </a:extLst>
          </p:cNvPr>
          <p:cNvSpPr>
            <a:spLocks noChangeShapeType="1"/>
          </p:cNvSpPr>
          <p:nvPr/>
        </p:nvSpPr>
        <p:spPr bwMode="auto">
          <a:xfrm>
            <a:off x="8904288" y="3789363"/>
            <a:ext cx="1008062" cy="0"/>
          </a:xfrm>
          <a:prstGeom prst="line">
            <a:avLst/>
          </a:prstGeom>
          <a:ln>
            <a:solidFill>
              <a:srgbClr val="FF0000"/>
            </a:solidFill>
            <a:headEnd/>
            <a:tailEnd/>
          </a:ln>
        </p:spPr>
        <p:style>
          <a:lnRef idx="1">
            <a:schemeClr val="dk1"/>
          </a:lnRef>
          <a:fillRef idx="0">
            <a:schemeClr val="dk1"/>
          </a:fillRef>
          <a:effectRef idx="0">
            <a:schemeClr val="dk1"/>
          </a:effectRef>
          <a:fontRef idx="minor">
            <a:schemeClr val="tx1"/>
          </a:fontRef>
        </p:style>
        <p:txBody>
          <a:bodyPr/>
          <a:lstStyle/>
          <a:p>
            <a:pPr eaLnBrk="1" fontAlgn="auto" hangingPunct="1">
              <a:spcBef>
                <a:spcPts val="0"/>
              </a:spcBef>
              <a:spcAft>
                <a:spcPts val="0"/>
              </a:spcAft>
              <a:defRPr/>
            </a:pPr>
            <a:endParaRPr lang="zh-CN" altLang="en-US">
              <a:solidFill>
                <a:prstClr val="black"/>
              </a:solidFill>
            </a:endParaRPr>
          </a:p>
        </p:txBody>
      </p:sp>
      <p:graphicFrame>
        <p:nvGraphicFramePr>
          <p:cNvPr id="14" name="表格 13">
            <a:extLst>
              <a:ext uri="{FF2B5EF4-FFF2-40B4-BE49-F238E27FC236}">
                <a16:creationId xmlns:a16="http://schemas.microsoft.com/office/drawing/2014/main" id="{FA85F202-D095-4636-A2A6-686A65C2D608}"/>
              </a:ext>
            </a:extLst>
          </p:cNvPr>
          <p:cNvGraphicFramePr>
            <a:graphicFrameLocks noGrp="1"/>
          </p:cNvGraphicFramePr>
          <p:nvPr/>
        </p:nvGraphicFramePr>
        <p:xfrm>
          <a:off x="765175" y="4223645"/>
          <a:ext cx="7464641" cy="1482724"/>
        </p:xfrm>
        <a:graphic>
          <a:graphicData uri="http://schemas.openxmlformats.org/drawingml/2006/table">
            <a:tbl>
              <a:tblPr firstRow="1" bandRow="1">
                <a:tableStyleId>{00A15C55-8517-42AA-B614-E9B94910E393}</a:tableStyleId>
              </a:tblPr>
              <a:tblGrid>
                <a:gridCol w="2480751">
                  <a:extLst>
                    <a:ext uri="{9D8B030D-6E8A-4147-A177-3AD203B41FA5}">
                      <a16:colId xmlns:a16="http://schemas.microsoft.com/office/drawing/2014/main" val="20000"/>
                    </a:ext>
                  </a:extLst>
                </a:gridCol>
                <a:gridCol w="2480751">
                  <a:extLst>
                    <a:ext uri="{9D8B030D-6E8A-4147-A177-3AD203B41FA5}">
                      <a16:colId xmlns:a16="http://schemas.microsoft.com/office/drawing/2014/main" val="20001"/>
                    </a:ext>
                  </a:extLst>
                </a:gridCol>
                <a:gridCol w="2503139">
                  <a:extLst>
                    <a:ext uri="{9D8B030D-6E8A-4147-A177-3AD203B41FA5}">
                      <a16:colId xmlns:a16="http://schemas.microsoft.com/office/drawing/2014/main" val="20002"/>
                    </a:ext>
                  </a:extLst>
                </a:gridCol>
              </a:tblGrid>
              <a:tr h="370681">
                <a:tc>
                  <a:txBody>
                    <a:bodyPr/>
                    <a:lstStyle/>
                    <a:p>
                      <a:r>
                        <a:rPr lang="en-US" altLang="zh-CN" sz="1800"/>
                        <a:t>Condition</a:t>
                      </a:r>
                      <a:endParaRPr lang="zh-CN" altLang="en-US" sz="1800" dirty="0"/>
                    </a:p>
                  </a:txBody>
                  <a:tcPr marL="91450" marR="91450" marT="45700" marB="45700"/>
                </a:tc>
                <a:tc>
                  <a:txBody>
                    <a:bodyPr/>
                    <a:lstStyle/>
                    <a:p>
                      <a:r>
                        <a:rPr lang="en-US" altLang="zh-CN" sz="1800"/>
                        <a:t>previous</a:t>
                      </a:r>
                      <a:endParaRPr lang="zh-CN" altLang="en-US" sz="1800" dirty="0"/>
                    </a:p>
                  </a:txBody>
                  <a:tcPr marL="91450" marR="91450" marT="45700" marB="45700"/>
                </a:tc>
                <a:tc>
                  <a:txBody>
                    <a:bodyPr/>
                    <a:lstStyle/>
                    <a:p>
                      <a:r>
                        <a:rPr lang="en-US" altLang="zh-CN" sz="1800"/>
                        <a:t>new</a:t>
                      </a:r>
                      <a:endParaRPr lang="zh-CN" altLang="en-US" sz="1800" dirty="0"/>
                    </a:p>
                  </a:txBody>
                  <a:tcPr marL="91450" marR="91450" marT="45700" marB="45700"/>
                </a:tc>
                <a:extLst>
                  <a:ext uri="{0D108BD9-81ED-4DB2-BD59-A6C34878D82A}">
                    <a16:rowId xmlns:a16="http://schemas.microsoft.com/office/drawing/2014/main" val="10000"/>
                  </a:ext>
                </a:extLst>
              </a:tr>
              <a:tr h="370681">
                <a:tc>
                  <a:txBody>
                    <a:bodyPr/>
                    <a:lstStyle/>
                    <a:p>
                      <a:r>
                        <a:rPr lang="en-US" altLang="zh-CN" sz="1800" dirty="0" err="1"/>
                        <a:t>Tj</a:t>
                      </a:r>
                      <a:r>
                        <a:rPr lang="en-US" altLang="zh-CN" sz="1800" dirty="0"/>
                        <a:t> &gt;</a:t>
                      </a:r>
                      <a:r>
                        <a:rPr lang="en-US" altLang="zh-CN" sz="1800" baseline="0" dirty="0"/>
                        <a:t> </a:t>
                      </a:r>
                      <a:r>
                        <a:rPr lang="en-US" altLang="zh-CN" sz="1800" baseline="0" dirty="0" err="1"/>
                        <a:t>Qi</a:t>
                      </a:r>
                      <a:endParaRPr lang="zh-CN" altLang="en-US" sz="1800" dirty="0"/>
                    </a:p>
                  </a:txBody>
                  <a:tcPr marL="91450" marR="91450" marT="45700" marB="45700"/>
                </a:tc>
                <a:tc>
                  <a:txBody>
                    <a:bodyPr/>
                    <a:lstStyle/>
                    <a:p>
                      <a:r>
                        <a:rPr lang="en-US" altLang="zh-CN" sz="1800" dirty="0"/>
                        <a:t>2</a:t>
                      </a:r>
                      <a:endParaRPr lang="zh-CN" altLang="en-US" sz="1800" dirty="0"/>
                    </a:p>
                  </a:txBody>
                  <a:tcPr marL="91450" marR="91450" marT="45700" marB="45700"/>
                </a:tc>
                <a:tc>
                  <a:txBody>
                    <a:bodyPr/>
                    <a:lstStyle/>
                    <a:p>
                      <a:r>
                        <a:rPr lang="en-US" altLang="zh-CN" sz="1800" dirty="0"/>
                        <a:t>1+sign(Tj-Q1)</a:t>
                      </a:r>
                      <a:r>
                        <a:rPr lang="en-US" altLang="zh-CN" sz="1800" baseline="0" dirty="0"/>
                        <a:t> </a:t>
                      </a:r>
                      <a:endParaRPr lang="zh-CN" altLang="en-US" sz="1800" dirty="0"/>
                    </a:p>
                  </a:txBody>
                  <a:tcPr marL="91450" marR="91450" marT="45700" marB="45700"/>
                </a:tc>
                <a:extLst>
                  <a:ext uri="{0D108BD9-81ED-4DB2-BD59-A6C34878D82A}">
                    <a16:rowId xmlns:a16="http://schemas.microsoft.com/office/drawing/2014/main" val="10001"/>
                  </a:ext>
                </a:extLst>
              </a:tr>
              <a:tr h="370681">
                <a:tc>
                  <a:txBody>
                    <a:bodyPr/>
                    <a:lstStyle/>
                    <a:p>
                      <a:r>
                        <a:rPr lang="en-US" altLang="zh-CN" sz="1800" dirty="0" err="1"/>
                        <a:t>Tj</a:t>
                      </a:r>
                      <a:r>
                        <a:rPr lang="en-US" altLang="zh-CN" sz="1800" dirty="0"/>
                        <a:t> = </a:t>
                      </a:r>
                      <a:r>
                        <a:rPr lang="en-US" altLang="zh-CN" sz="1800" dirty="0" err="1"/>
                        <a:t>Qi</a:t>
                      </a:r>
                      <a:endParaRPr lang="zh-CN" altLang="en-US" sz="1800" dirty="0"/>
                    </a:p>
                  </a:txBody>
                  <a:tcPr marL="91450" marR="91450" marT="45700" marB="45700"/>
                </a:tc>
                <a:tc>
                  <a:txBody>
                    <a:bodyPr/>
                    <a:lstStyle/>
                    <a:p>
                      <a:r>
                        <a:rPr lang="en-US" altLang="zh-CN" sz="1800" dirty="0"/>
                        <a:t>1</a:t>
                      </a:r>
                      <a:endParaRPr lang="zh-CN" altLang="en-US" sz="1800" dirty="0"/>
                    </a:p>
                  </a:txBody>
                  <a:tcPr marL="91450" marR="91450" marT="45700" marB="45700"/>
                </a:tc>
                <a:tc>
                  <a:txBody>
                    <a:bodyPr/>
                    <a:lstStyle/>
                    <a:p>
                      <a:r>
                        <a:rPr lang="en-US" altLang="zh-CN" sz="1800" dirty="0"/>
                        <a:t>1+sign(Tj-Q1){-1,0}</a:t>
                      </a:r>
                      <a:endParaRPr lang="zh-CN" altLang="en-US" sz="1800" dirty="0"/>
                    </a:p>
                  </a:txBody>
                  <a:tcPr marL="91450" marR="91450" marT="45700" marB="45700"/>
                </a:tc>
                <a:extLst>
                  <a:ext uri="{0D108BD9-81ED-4DB2-BD59-A6C34878D82A}">
                    <a16:rowId xmlns:a16="http://schemas.microsoft.com/office/drawing/2014/main" val="10002"/>
                  </a:ext>
                </a:extLst>
              </a:tr>
              <a:tr h="370681">
                <a:tc>
                  <a:txBody>
                    <a:bodyPr/>
                    <a:lstStyle/>
                    <a:p>
                      <a:r>
                        <a:rPr lang="en-US" altLang="zh-CN" sz="1800" dirty="0" err="1"/>
                        <a:t>Tj</a:t>
                      </a:r>
                      <a:r>
                        <a:rPr lang="en-US" altLang="zh-CN" sz="1800" dirty="0"/>
                        <a:t> &lt; </a:t>
                      </a:r>
                      <a:r>
                        <a:rPr lang="en-US" altLang="zh-CN" sz="1800" dirty="0" err="1"/>
                        <a:t>Qi</a:t>
                      </a:r>
                      <a:endParaRPr lang="zh-CN" altLang="en-US" sz="1800" dirty="0"/>
                    </a:p>
                  </a:txBody>
                  <a:tcPr marL="91450" marR="91450" marT="45700" marB="45700"/>
                </a:tc>
                <a:tc>
                  <a:txBody>
                    <a:bodyPr/>
                    <a:lstStyle/>
                    <a:p>
                      <a:r>
                        <a:rPr lang="en-US" altLang="zh-CN" sz="1800" dirty="0"/>
                        <a:t>0</a:t>
                      </a:r>
                      <a:endParaRPr lang="zh-CN" altLang="en-US" sz="1800" dirty="0"/>
                    </a:p>
                  </a:txBody>
                  <a:tcPr marL="91450" marR="91450" marT="45700" marB="45700"/>
                </a:tc>
                <a:tc>
                  <a:txBody>
                    <a:bodyPr/>
                    <a:lstStyle/>
                    <a:p>
                      <a:r>
                        <a:rPr lang="en-US" altLang="zh-CN" sz="1800" dirty="0"/>
                        <a:t>0</a:t>
                      </a:r>
                      <a:endParaRPr lang="zh-CN" altLang="en-US" sz="1800" dirty="0"/>
                    </a:p>
                  </a:txBody>
                  <a:tcPr marL="91450" marR="91450" marT="45700" marB="4570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9777654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6AE694-D829-40D5-8804-16A138F9027B}"/>
              </a:ext>
            </a:extLst>
          </p:cNvPr>
          <p:cNvSpPr>
            <a:spLocks noGrp="1"/>
          </p:cNvSpPr>
          <p:nvPr>
            <p:ph type="title"/>
          </p:nvPr>
        </p:nvSpPr>
        <p:spPr/>
        <p:txBody>
          <a:bodyPr/>
          <a:lstStyle/>
          <a:p>
            <a:pPr eaLnBrk="1" fontAlgn="auto" hangingPunct="1">
              <a:spcAft>
                <a:spcPts val="0"/>
              </a:spcAft>
              <a:defRPr/>
            </a:pPr>
            <a:r>
              <a:rPr lang="en-US" altLang="zh-CN">
                <a:solidFill>
                  <a:schemeClr val="accent1">
                    <a:satMod val="150000"/>
                  </a:schemeClr>
                </a:solidFill>
              </a:rPr>
              <a:t>Greedy Strategy</a:t>
            </a:r>
            <a:endParaRPr lang="zh-CN" altLang="en-US" dirty="0">
              <a:solidFill>
                <a:schemeClr val="accent1">
                  <a:satMod val="150000"/>
                </a:schemeClr>
              </a:solidFill>
            </a:endParaRPr>
          </a:p>
        </p:txBody>
      </p:sp>
      <p:sp>
        <p:nvSpPr>
          <p:cNvPr id="3" name="内容占位符 2">
            <a:extLst>
              <a:ext uri="{FF2B5EF4-FFF2-40B4-BE49-F238E27FC236}">
                <a16:creationId xmlns:a16="http://schemas.microsoft.com/office/drawing/2014/main" id="{DF548B8C-7301-4E62-99EB-6EFB3D1F24C4}"/>
              </a:ext>
            </a:extLst>
          </p:cNvPr>
          <p:cNvSpPr>
            <a:spLocks noGrp="1"/>
          </p:cNvSpPr>
          <p:nvPr>
            <p:ph idx="1"/>
          </p:nvPr>
        </p:nvSpPr>
        <p:spPr>
          <a:xfrm>
            <a:off x="838200" y="1774825"/>
            <a:ext cx="7561263" cy="4894263"/>
          </a:xfrm>
        </p:spPr>
        <p:txBody>
          <a:bodyPr rtlCol="0">
            <a:normAutofit/>
          </a:bodyPr>
          <a:lstStyle/>
          <a:p>
            <a:pPr marL="118872" indent="0" eaLnBrk="1" fontAlgn="auto" hangingPunct="1">
              <a:spcBef>
                <a:spcPts val="0"/>
              </a:spcBef>
              <a:spcAft>
                <a:spcPts val="0"/>
              </a:spcAft>
              <a:buNone/>
              <a:defRPr/>
            </a:pPr>
            <a:r>
              <a:rPr lang="en-US" altLang="zh-CN">
                <a:solidFill>
                  <a:srgbClr val="FF0000"/>
                </a:solidFill>
              </a:rPr>
              <a:t>If Tian Ji’s fastest horse is slower than Qi’s fastest horse, then Tian Ji’s slowest horse and Qi’s fastest horse race.</a:t>
            </a:r>
            <a:endParaRPr lang="en-US" altLang="zh-CN" dirty="0">
              <a:solidFill>
                <a:srgbClr val="FF0000"/>
              </a:solidFill>
            </a:endParaRPr>
          </a:p>
          <a:p>
            <a:pPr marL="118872" indent="0" eaLnBrk="1" fontAlgn="auto" hangingPunct="1">
              <a:spcBef>
                <a:spcPts val="0"/>
              </a:spcBef>
              <a:spcAft>
                <a:spcPts val="0"/>
              </a:spcAft>
              <a:buNone/>
              <a:defRPr/>
            </a:pPr>
            <a:r>
              <a:rPr lang="en-US" altLang="zh-CN"/>
              <a:t>Proof: The previous strategy is Tn vs Q1 &amp; Tj vs Qi ; If there is a better strategy, under which Tj vs Q1 &amp; Tn vs Qi, then we get</a:t>
            </a:r>
            <a:endParaRPr lang="en-US" altLang="zh-CN" dirty="0"/>
          </a:p>
          <a:p>
            <a:pPr marL="731520" lvl="1" indent="-274320" eaLnBrk="1" fontAlgn="auto" hangingPunct="1">
              <a:spcAft>
                <a:spcPts val="0"/>
              </a:spcAft>
              <a:buFont typeface="Wingdings"/>
              <a:buChar char=""/>
              <a:defRPr/>
            </a:pPr>
            <a:endParaRPr lang="en-US" altLang="zh-CN" dirty="0"/>
          </a:p>
          <a:p>
            <a:pPr marL="731520" lvl="1" indent="-274320" eaLnBrk="1" fontAlgn="auto" hangingPunct="1">
              <a:spcAft>
                <a:spcPts val="0"/>
              </a:spcAft>
              <a:buFont typeface="Wingdings"/>
              <a:buChar char=""/>
              <a:defRPr/>
            </a:pPr>
            <a:endParaRPr lang="en-US" altLang="zh-CN" dirty="0"/>
          </a:p>
          <a:p>
            <a:pPr marL="457200" lvl="1" indent="0" eaLnBrk="1" fontAlgn="auto" hangingPunct="1">
              <a:spcAft>
                <a:spcPts val="0"/>
              </a:spcAft>
              <a:buNone/>
              <a:defRPr/>
            </a:pPr>
            <a:endParaRPr lang="en-US" altLang="zh-CN" dirty="0"/>
          </a:p>
          <a:p>
            <a:pPr marL="731520" lvl="1" indent="-274320" eaLnBrk="1" fontAlgn="auto" hangingPunct="1">
              <a:spcAft>
                <a:spcPts val="0"/>
              </a:spcAft>
              <a:buFont typeface="Wingdings"/>
              <a:buChar char=""/>
              <a:defRPr/>
            </a:pPr>
            <a:endParaRPr lang="en-US" altLang="zh-CN" dirty="0"/>
          </a:p>
          <a:p>
            <a:pPr marL="731520" lvl="1" indent="-274320" eaLnBrk="1" fontAlgn="auto" hangingPunct="1">
              <a:spcAft>
                <a:spcPts val="0"/>
              </a:spcAft>
              <a:buFont typeface="Wingdings"/>
              <a:buChar char=""/>
              <a:defRPr/>
            </a:pPr>
            <a:endParaRPr lang="zh-CN" altLang="en-US" dirty="0"/>
          </a:p>
        </p:txBody>
      </p:sp>
      <p:sp>
        <p:nvSpPr>
          <p:cNvPr id="122885" name="Oval 19">
            <a:extLst>
              <a:ext uri="{FF2B5EF4-FFF2-40B4-BE49-F238E27FC236}">
                <a16:creationId xmlns:a16="http://schemas.microsoft.com/office/drawing/2014/main" id="{A1787362-9554-415B-A3FA-3779F048914D}"/>
              </a:ext>
            </a:extLst>
          </p:cNvPr>
          <p:cNvSpPr>
            <a:spLocks noChangeArrowheads="1"/>
          </p:cNvSpPr>
          <p:nvPr/>
        </p:nvSpPr>
        <p:spPr bwMode="auto">
          <a:xfrm>
            <a:off x="8472488" y="3141663"/>
            <a:ext cx="504825" cy="53975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a:solidFill>
                  <a:srgbClr val="000000"/>
                </a:solidFill>
                <a:latin typeface="Times New Roman" panose="02020603050405020304" pitchFamily="18" charset="0"/>
                <a:ea typeface="华文楷体" panose="02010600040101010101" pitchFamily="2" charset="-122"/>
              </a:rPr>
              <a:t>T1</a:t>
            </a:r>
          </a:p>
        </p:txBody>
      </p:sp>
      <p:sp>
        <p:nvSpPr>
          <p:cNvPr id="122886" name="Oval 20">
            <a:extLst>
              <a:ext uri="{FF2B5EF4-FFF2-40B4-BE49-F238E27FC236}">
                <a16:creationId xmlns:a16="http://schemas.microsoft.com/office/drawing/2014/main" id="{CE643DD8-8E35-485A-B9AC-1AFFAE17D938}"/>
              </a:ext>
            </a:extLst>
          </p:cNvPr>
          <p:cNvSpPr>
            <a:spLocks noChangeArrowheads="1"/>
          </p:cNvSpPr>
          <p:nvPr/>
        </p:nvSpPr>
        <p:spPr bwMode="auto">
          <a:xfrm>
            <a:off x="8472488" y="3897313"/>
            <a:ext cx="504825" cy="53975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a:solidFill>
                  <a:srgbClr val="000000"/>
                </a:solidFill>
                <a:latin typeface="Times New Roman" panose="02020603050405020304" pitchFamily="18" charset="0"/>
                <a:ea typeface="华文楷体" panose="02010600040101010101" pitchFamily="2" charset="-122"/>
              </a:rPr>
              <a:t>Tj</a:t>
            </a:r>
          </a:p>
        </p:txBody>
      </p:sp>
      <p:sp>
        <p:nvSpPr>
          <p:cNvPr id="122887" name="Oval 21">
            <a:extLst>
              <a:ext uri="{FF2B5EF4-FFF2-40B4-BE49-F238E27FC236}">
                <a16:creationId xmlns:a16="http://schemas.microsoft.com/office/drawing/2014/main" id="{7B6553B6-EF21-495E-A729-30EA09E1F5CD}"/>
              </a:ext>
            </a:extLst>
          </p:cNvPr>
          <p:cNvSpPr>
            <a:spLocks noChangeArrowheads="1"/>
          </p:cNvSpPr>
          <p:nvPr/>
        </p:nvSpPr>
        <p:spPr bwMode="auto">
          <a:xfrm>
            <a:off x="8472488" y="4725988"/>
            <a:ext cx="504825" cy="53975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a:solidFill>
                  <a:srgbClr val="000000"/>
                </a:solidFill>
                <a:latin typeface="Times New Roman" panose="02020603050405020304" pitchFamily="18" charset="0"/>
                <a:ea typeface="华文楷体" panose="02010600040101010101" pitchFamily="2" charset="-122"/>
              </a:rPr>
              <a:t>Tn</a:t>
            </a:r>
          </a:p>
        </p:txBody>
      </p:sp>
      <p:sp>
        <p:nvSpPr>
          <p:cNvPr id="122888" name="Oval 23">
            <a:extLst>
              <a:ext uri="{FF2B5EF4-FFF2-40B4-BE49-F238E27FC236}">
                <a16:creationId xmlns:a16="http://schemas.microsoft.com/office/drawing/2014/main" id="{CEF7D1A6-7A50-4D4B-B6A8-F8B210994FF9}"/>
              </a:ext>
            </a:extLst>
          </p:cNvPr>
          <p:cNvSpPr>
            <a:spLocks noChangeArrowheads="1"/>
          </p:cNvSpPr>
          <p:nvPr/>
        </p:nvSpPr>
        <p:spPr bwMode="auto">
          <a:xfrm>
            <a:off x="9804400" y="3897313"/>
            <a:ext cx="504825" cy="539750"/>
          </a:xfrm>
          <a:prstGeom prst="ellipse">
            <a:avLst/>
          </a:prstGeom>
          <a:solidFill>
            <a:schemeClr val="hlink"/>
          </a:solidFill>
          <a:ln w="9525">
            <a:solidFill>
              <a:schemeClr val="tx1"/>
            </a:solidFill>
            <a:round/>
            <a:headEnd/>
            <a:tailEnd/>
          </a:ln>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a:solidFill>
                  <a:srgbClr val="000000"/>
                </a:solidFill>
                <a:latin typeface="Times New Roman" panose="02020603050405020304" pitchFamily="18" charset="0"/>
                <a:ea typeface="华文楷体" panose="02010600040101010101" pitchFamily="2" charset="-122"/>
              </a:rPr>
              <a:t>Qi</a:t>
            </a:r>
          </a:p>
        </p:txBody>
      </p:sp>
      <p:sp>
        <p:nvSpPr>
          <p:cNvPr id="122889" name="Oval 24">
            <a:extLst>
              <a:ext uri="{FF2B5EF4-FFF2-40B4-BE49-F238E27FC236}">
                <a16:creationId xmlns:a16="http://schemas.microsoft.com/office/drawing/2014/main" id="{B2F28009-EA43-4434-8D0C-1C249FD2A993}"/>
              </a:ext>
            </a:extLst>
          </p:cNvPr>
          <p:cNvSpPr>
            <a:spLocks noChangeArrowheads="1"/>
          </p:cNvSpPr>
          <p:nvPr/>
        </p:nvSpPr>
        <p:spPr bwMode="auto">
          <a:xfrm>
            <a:off x="9804400" y="3141663"/>
            <a:ext cx="504825" cy="539750"/>
          </a:xfrm>
          <a:prstGeom prst="ellipse">
            <a:avLst/>
          </a:prstGeom>
          <a:solidFill>
            <a:schemeClr val="hlink"/>
          </a:solidFill>
          <a:ln w="9525">
            <a:solidFill>
              <a:schemeClr val="tx1"/>
            </a:solidFill>
            <a:round/>
            <a:headEnd/>
            <a:tailEnd/>
          </a:ln>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a:solidFill>
                  <a:srgbClr val="000000"/>
                </a:solidFill>
                <a:latin typeface="Times New Roman" panose="02020603050405020304" pitchFamily="18" charset="0"/>
                <a:ea typeface="华文楷体" panose="02010600040101010101" pitchFamily="2" charset="-122"/>
              </a:rPr>
              <a:t>Q1</a:t>
            </a:r>
          </a:p>
        </p:txBody>
      </p:sp>
      <p:sp>
        <p:nvSpPr>
          <p:cNvPr id="122890" name="Line 25">
            <a:extLst>
              <a:ext uri="{FF2B5EF4-FFF2-40B4-BE49-F238E27FC236}">
                <a16:creationId xmlns:a16="http://schemas.microsoft.com/office/drawing/2014/main" id="{B0E2CB47-1F5A-4C1C-AE3B-89D37B89296B}"/>
              </a:ext>
            </a:extLst>
          </p:cNvPr>
          <p:cNvSpPr>
            <a:spLocks noChangeShapeType="1"/>
          </p:cNvSpPr>
          <p:nvPr/>
        </p:nvSpPr>
        <p:spPr bwMode="auto">
          <a:xfrm flipV="1">
            <a:off x="8975725" y="3429000"/>
            <a:ext cx="865188" cy="7921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2891" name="Line 25">
            <a:extLst>
              <a:ext uri="{FF2B5EF4-FFF2-40B4-BE49-F238E27FC236}">
                <a16:creationId xmlns:a16="http://schemas.microsoft.com/office/drawing/2014/main" id="{94A782BE-B173-4BD6-A0F0-10F3FFF724A8}"/>
              </a:ext>
            </a:extLst>
          </p:cNvPr>
          <p:cNvSpPr>
            <a:spLocks noChangeShapeType="1"/>
          </p:cNvSpPr>
          <p:nvPr/>
        </p:nvSpPr>
        <p:spPr bwMode="auto">
          <a:xfrm flipV="1">
            <a:off x="8975725" y="4221163"/>
            <a:ext cx="865188" cy="7921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25">
            <a:extLst>
              <a:ext uri="{FF2B5EF4-FFF2-40B4-BE49-F238E27FC236}">
                <a16:creationId xmlns:a16="http://schemas.microsoft.com/office/drawing/2014/main" id="{082432BA-75A5-4A75-9B97-9941DBF28516}"/>
              </a:ext>
            </a:extLst>
          </p:cNvPr>
          <p:cNvSpPr>
            <a:spLocks noChangeShapeType="1"/>
          </p:cNvSpPr>
          <p:nvPr/>
        </p:nvSpPr>
        <p:spPr bwMode="auto">
          <a:xfrm flipV="1">
            <a:off x="8975725" y="3429000"/>
            <a:ext cx="865188" cy="1512888"/>
          </a:xfrm>
          <a:prstGeom prst="line">
            <a:avLst/>
          </a:prstGeom>
          <a:ln>
            <a:solidFill>
              <a:srgbClr val="FF0000"/>
            </a:solidFill>
            <a:headEnd/>
            <a:tailEnd/>
          </a:ln>
        </p:spPr>
        <p:style>
          <a:lnRef idx="1">
            <a:schemeClr val="dk1"/>
          </a:lnRef>
          <a:fillRef idx="0">
            <a:schemeClr val="dk1"/>
          </a:fillRef>
          <a:effectRef idx="0">
            <a:schemeClr val="dk1"/>
          </a:effectRef>
          <a:fontRef idx="minor">
            <a:schemeClr val="tx1"/>
          </a:fontRef>
        </p:style>
        <p:txBody>
          <a:bodyPr/>
          <a:lstStyle/>
          <a:p>
            <a:pPr eaLnBrk="1" fontAlgn="auto" hangingPunct="1">
              <a:spcBef>
                <a:spcPts val="0"/>
              </a:spcBef>
              <a:spcAft>
                <a:spcPts val="0"/>
              </a:spcAft>
              <a:defRPr/>
            </a:pPr>
            <a:endParaRPr lang="zh-CN" altLang="en-US">
              <a:solidFill>
                <a:prstClr val="black"/>
              </a:solidFill>
            </a:endParaRPr>
          </a:p>
        </p:txBody>
      </p:sp>
      <p:sp>
        <p:nvSpPr>
          <p:cNvPr id="19" name="Line 25">
            <a:extLst>
              <a:ext uri="{FF2B5EF4-FFF2-40B4-BE49-F238E27FC236}">
                <a16:creationId xmlns:a16="http://schemas.microsoft.com/office/drawing/2014/main" id="{71519F26-9F6D-4E3D-8614-C96E4F3EF02E}"/>
              </a:ext>
            </a:extLst>
          </p:cNvPr>
          <p:cNvSpPr>
            <a:spLocks noChangeShapeType="1"/>
          </p:cNvSpPr>
          <p:nvPr/>
        </p:nvSpPr>
        <p:spPr bwMode="auto">
          <a:xfrm>
            <a:off x="8904288" y="4221163"/>
            <a:ext cx="1008062" cy="0"/>
          </a:xfrm>
          <a:prstGeom prst="line">
            <a:avLst/>
          </a:prstGeom>
          <a:ln>
            <a:solidFill>
              <a:srgbClr val="FF0000"/>
            </a:solidFill>
            <a:headEnd/>
            <a:tailEnd/>
          </a:ln>
        </p:spPr>
        <p:style>
          <a:lnRef idx="1">
            <a:schemeClr val="dk1"/>
          </a:lnRef>
          <a:fillRef idx="0">
            <a:schemeClr val="dk1"/>
          </a:fillRef>
          <a:effectRef idx="0">
            <a:schemeClr val="dk1"/>
          </a:effectRef>
          <a:fontRef idx="minor">
            <a:schemeClr val="tx1"/>
          </a:fontRef>
        </p:style>
        <p:txBody>
          <a:bodyPr/>
          <a:lstStyle/>
          <a:p>
            <a:pPr eaLnBrk="1" fontAlgn="auto" hangingPunct="1">
              <a:spcBef>
                <a:spcPts val="0"/>
              </a:spcBef>
              <a:spcAft>
                <a:spcPts val="0"/>
              </a:spcAft>
              <a:defRPr/>
            </a:pPr>
            <a:endParaRPr lang="zh-CN" altLang="en-US">
              <a:solidFill>
                <a:prstClr val="black"/>
              </a:solidFill>
            </a:endParaRPr>
          </a:p>
        </p:txBody>
      </p:sp>
      <p:graphicFrame>
        <p:nvGraphicFramePr>
          <p:cNvPr id="20" name="表格 19">
            <a:extLst>
              <a:ext uri="{FF2B5EF4-FFF2-40B4-BE49-F238E27FC236}">
                <a16:creationId xmlns:a16="http://schemas.microsoft.com/office/drawing/2014/main" id="{B9EBE65E-A7E3-4FFC-8B57-04DF9318B4AF}"/>
              </a:ext>
            </a:extLst>
          </p:cNvPr>
          <p:cNvGraphicFramePr>
            <a:graphicFrameLocks noGrp="1"/>
          </p:cNvGraphicFramePr>
          <p:nvPr/>
        </p:nvGraphicFramePr>
        <p:xfrm>
          <a:off x="963090" y="4273799"/>
          <a:ext cx="6074653" cy="1479052"/>
        </p:xfrm>
        <a:graphic>
          <a:graphicData uri="http://schemas.openxmlformats.org/drawingml/2006/table">
            <a:tbl>
              <a:tblPr firstRow="1" bandRow="1">
                <a:tableStyleId>{00A15C55-8517-42AA-B614-E9B94910E393}</a:tableStyleId>
              </a:tblPr>
              <a:tblGrid>
                <a:gridCol w="2032000">
                  <a:extLst>
                    <a:ext uri="{9D8B030D-6E8A-4147-A177-3AD203B41FA5}">
                      <a16:colId xmlns:a16="http://schemas.microsoft.com/office/drawing/2014/main" val="20000"/>
                    </a:ext>
                  </a:extLst>
                </a:gridCol>
                <a:gridCol w="1136352">
                  <a:extLst>
                    <a:ext uri="{9D8B030D-6E8A-4147-A177-3AD203B41FA5}">
                      <a16:colId xmlns:a16="http://schemas.microsoft.com/office/drawing/2014/main" val="20001"/>
                    </a:ext>
                  </a:extLst>
                </a:gridCol>
                <a:gridCol w="2906301">
                  <a:extLst>
                    <a:ext uri="{9D8B030D-6E8A-4147-A177-3AD203B41FA5}">
                      <a16:colId xmlns:a16="http://schemas.microsoft.com/office/drawing/2014/main" val="20002"/>
                    </a:ext>
                  </a:extLst>
                </a:gridCol>
              </a:tblGrid>
              <a:tr h="287142">
                <a:tc>
                  <a:txBody>
                    <a:bodyPr/>
                    <a:lstStyle/>
                    <a:p>
                      <a:r>
                        <a:rPr lang="en-US" altLang="zh-CN" sz="1800"/>
                        <a:t>condition</a:t>
                      </a:r>
                      <a:endParaRPr lang="zh-CN" altLang="en-US" sz="1800" dirty="0"/>
                    </a:p>
                  </a:txBody>
                  <a:tcPr marT="45749" marB="45749"/>
                </a:tc>
                <a:tc>
                  <a:txBody>
                    <a:bodyPr/>
                    <a:lstStyle/>
                    <a:p>
                      <a:r>
                        <a:rPr lang="en-US" altLang="zh-CN" sz="1800"/>
                        <a:t>previous</a:t>
                      </a:r>
                      <a:endParaRPr lang="zh-CN" altLang="en-US" sz="1800" dirty="0"/>
                    </a:p>
                  </a:txBody>
                  <a:tcPr marT="45749" marB="45749"/>
                </a:tc>
                <a:tc>
                  <a:txBody>
                    <a:bodyPr/>
                    <a:lstStyle/>
                    <a:p>
                      <a:r>
                        <a:rPr lang="en-US" altLang="zh-CN" sz="1800"/>
                        <a:t>new</a:t>
                      </a:r>
                      <a:endParaRPr lang="zh-CN" altLang="en-US" sz="1800" dirty="0"/>
                    </a:p>
                  </a:txBody>
                  <a:tcPr marT="45749" marB="45749"/>
                </a:tc>
                <a:extLst>
                  <a:ext uri="{0D108BD9-81ED-4DB2-BD59-A6C34878D82A}">
                    <a16:rowId xmlns:a16="http://schemas.microsoft.com/office/drawing/2014/main" val="10000"/>
                  </a:ext>
                </a:extLst>
              </a:tr>
              <a:tr h="371078">
                <a:tc>
                  <a:txBody>
                    <a:bodyPr/>
                    <a:lstStyle/>
                    <a:p>
                      <a:r>
                        <a:rPr lang="en-US" altLang="zh-CN" sz="1800" dirty="0" err="1"/>
                        <a:t>Tj</a:t>
                      </a:r>
                      <a:r>
                        <a:rPr lang="en-US" altLang="zh-CN" sz="1800" dirty="0"/>
                        <a:t> &gt;</a:t>
                      </a:r>
                      <a:r>
                        <a:rPr lang="en-US" altLang="zh-CN" sz="1800" baseline="0" dirty="0"/>
                        <a:t> </a:t>
                      </a:r>
                      <a:r>
                        <a:rPr lang="en-US" altLang="zh-CN" sz="1800" baseline="0" dirty="0" err="1"/>
                        <a:t>Qi</a:t>
                      </a:r>
                      <a:endParaRPr lang="zh-CN" altLang="en-US" sz="1800" dirty="0"/>
                    </a:p>
                  </a:txBody>
                  <a:tcPr marT="45749" marB="45749"/>
                </a:tc>
                <a:tc>
                  <a:txBody>
                    <a:bodyPr/>
                    <a:lstStyle/>
                    <a:p>
                      <a:r>
                        <a:rPr lang="en-US" altLang="zh-CN" sz="1800" dirty="0"/>
                        <a:t>0</a:t>
                      </a:r>
                      <a:endParaRPr lang="zh-CN" altLang="en-US" sz="1800" dirty="0"/>
                    </a:p>
                  </a:txBody>
                  <a:tcPr marT="45749" marB="45749"/>
                </a:tc>
                <a:tc>
                  <a:txBody>
                    <a:bodyPr/>
                    <a:lstStyle/>
                    <a:p>
                      <a:r>
                        <a:rPr lang="en-US" altLang="zh-CN" sz="1800" dirty="0"/>
                        <a:t>-1+sign(</a:t>
                      </a:r>
                      <a:r>
                        <a:rPr lang="en-US" altLang="zh-CN" sz="1800" dirty="0" err="1"/>
                        <a:t>Tn-Qi</a:t>
                      </a:r>
                      <a:r>
                        <a:rPr lang="en-US" altLang="zh-CN" sz="1800" dirty="0"/>
                        <a:t>)</a:t>
                      </a:r>
                      <a:r>
                        <a:rPr lang="en-US" altLang="zh-CN" sz="1800" baseline="0" dirty="0"/>
                        <a:t> </a:t>
                      </a:r>
                      <a:endParaRPr lang="zh-CN" altLang="en-US" sz="1800" dirty="0"/>
                    </a:p>
                  </a:txBody>
                  <a:tcPr marT="45749" marB="45749"/>
                </a:tc>
                <a:extLst>
                  <a:ext uri="{0D108BD9-81ED-4DB2-BD59-A6C34878D82A}">
                    <a16:rowId xmlns:a16="http://schemas.microsoft.com/office/drawing/2014/main" val="10001"/>
                  </a:ext>
                </a:extLst>
              </a:tr>
              <a:tr h="371078">
                <a:tc>
                  <a:txBody>
                    <a:bodyPr/>
                    <a:lstStyle/>
                    <a:p>
                      <a:r>
                        <a:rPr lang="en-US" altLang="zh-CN" sz="1800" dirty="0" err="1"/>
                        <a:t>Tj</a:t>
                      </a:r>
                      <a:r>
                        <a:rPr lang="en-US" altLang="zh-CN" sz="1800" dirty="0"/>
                        <a:t> = </a:t>
                      </a:r>
                      <a:r>
                        <a:rPr lang="en-US" altLang="zh-CN" sz="1800" dirty="0" err="1"/>
                        <a:t>Qi</a:t>
                      </a:r>
                      <a:endParaRPr lang="zh-CN" altLang="en-US" sz="1800" dirty="0"/>
                    </a:p>
                  </a:txBody>
                  <a:tcPr marT="45749" marB="45749"/>
                </a:tc>
                <a:tc>
                  <a:txBody>
                    <a:bodyPr/>
                    <a:lstStyle/>
                    <a:p>
                      <a:r>
                        <a:rPr lang="en-US" altLang="zh-CN" sz="1800" dirty="0"/>
                        <a:t>-1</a:t>
                      </a:r>
                      <a:endParaRPr lang="zh-CN" altLang="en-US" sz="1800" dirty="0"/>
                    </a:p>
                  </a:txBody>
                  <a:tcPr marT="45749" marB="45749"/>
                </a:tc>
                <a:tc>
                  <a:txBody>
                    <a:bodyPr/>
                    <a:lstStyle/>
                    <a:p>
                      <a:r>
                        <a:rPr lang="en-US" altLang="zh-CN" sz="1800" dirty="0"/>
                        <a:t>-1+sign(</a:t>
                      </a:r>
                      <a:r>
                        <a:rPr lang="en-US" altLang="zh-CN" sz="1800" dirty="0" err="1"/>
                        <a:t>Tn-Qi</a:t>
                      </a:r>
                      <a:r>
                        <a:rPr lang="en-US" altLang="zh-CN" sz="1800" dirty="0"/>
                        <a:t>){-1,0}</a:t>
                      </a:r>
                      <a:endParaRPr lang="zh-CN" altLang="en-US" sz="1800" dirty="0"/>
                    </a:p>
                  </a:txBody>
                  <a:tcPr marT="45749" marB="45749"/>
                </a:tc>
                <a:extLst>
                  <a:ext uri="{0D108BD9-81ED-4DB2-BD59-A6C34878D82A}">
                    <a16:rowId xmlns:a16="http://schemas.microsoft.com/office/drawing/2014/main" val="10002"/>
                  </a:ext>
                </a:extLst>
              </a:tr>
              <a:tr h="371078">
                <a:tc>
                  <a:txBody>
                    <a:bodyPr/>
                    <a:lstStyle/>
                    <a:p>
                      <a:r>
                        <a:rPr lang="en-US" altLang="zh-CN" sz="1800" dirty="0" err="1"/>
                        <a:t>Tj</a:t>
                      </a:r>
                      <a:r>
                        <a:rPr lang="en-US" altLang="zh-CN" sz="1800" dirty="0"/>
                        <a:t> &lt; </a:t>
                      </a:r>
                      <a:r>
                        <a:rPr lang="en-US" altLang="zh-CN" sz="1800" dirty="0" err="1"/>
                        <a:t>Qi</a:t>
                      </a:r>
                      <a:endParaRPr lang="zh-CN" altLang="en-US" sz="1800" dirty="0"/>
                    </a:p>
                  </a:txBody>
                  <a:tcPr marT="45749" marB="45749"/>
                </a:tc>
                <a:tc>
                  <a:txBody>
                    <a:bodyPr/>
                    <a:lstStyle/>
                    <a:p>
                      <a:r>
                        <a:rPr lang="en-US" altLang="zh-CN" sz="1800" dirty="0"/>
                        <a:t>-2</a:t>
                      </a:r>
                      <a:endParaRPr lang="zh-CN" altLang="en-US" sz="1800" dirty="0"/>
                    </a:p>
                  </a:txBody>
                  <a:tcPr marT="45749" marB="45749"/>
                </a:tc>
                <a:tc>
                  <a:txBody>
                    <a:bodyPr/>
                    <a:lstStyle/>
                    <a:p>
                      <a:r>
                        <a:rPr lang="en-US" altLang="zh-CN" sz="1800" dirty="0"/>
                        <a:t>-2</a:t>
                      </a:r>
                      <a:endParaRPr lang="zh-CN" altLang="en-US" sz="1800" dirty="0"/>
                    </a:p>
                  </a:txBody>
                  <a:tcPr marT="45749" marB="45749"/>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587144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D92269-C64A-43AA-A8D6-310EF51B3836}"/>
              </a:ext>
            </a:extLst>
          </p:cNvPr>
          <p:cNvSpPr>
            <a:spLocks noGrp="1"/>
          </p:cNvSpPr>
          <p:nvPr>
            <p:ph type="title"/>
          </p:nvPr>
        </p:nvSpPr>
        <p:spPr/>
        <p:txBody>
          <a:bodyPr/>
          <a:lstStyle/>
          <a:p>
            <a:pPr eaLnBrk="1" fontAlgn="auto" hangingPunct="1">
              <a:spcAft>
                <a:spcPts val="0"/>
              </a:spcAft>
              <a:defRPr/>
            </a:pPr>
            <a:r>
              <a:rPr lang="en-US" altLang="zh-CN">
                <a:solidFill>
                  <a:schemeClr val="accent1">
                    <a:satMod val="150000"/>
                  </a:schemeClr>
                </a:solidFill>
              </a:rPr>
              <a:t>Greedy Strategy</a:t>
            </a:r>
            <a:endParaRPr lang="zh-CN" altLang="en-US" dirty="0">
              <a:solidFill>
                <a:schemeClr val="accent1">
                  <a:satMod val="150000"/>
                </a:schemeClr>
              </a:solidFill>
            </a:endParaRPr>
          </a:p>
        </p:txBody>
      </p:sp>
      <p:sp>
        <p:nvSpPr>
          <p:cNvPr id="3" name="内容占位符 2">
            <a:extLst>
              <a:ext uri="{FF2B5EF4-FFF2-40B4-BE49-F238E27FC236}">
                <a16:creationId xmlns:a16="http://schemas.microsoft.com/office/drawing/2014/main" id="{0F52BCFA-6CED-4443-8F67-73522F4C261A}"/>
              </a:ext>
            </a:extLst>
          </p:cNvPr>
          <p:cNvSpPr>
            <a:spLocks noGrp="1"/>
          </p:cNvSpPr>
          <p:nvPr>
            <p:ph idx="1"/>
          </p:nvPr>
        </p:nvSpPr>
        <p:spPr>
          <a:xfrm>
            <a:off x="985422" y="1774825"/>
            <a:ext cx="7414042" cy="4894263"/>
          </a:xfrm>
        </p:spPr>
        <p:txBody>
          <a:bodyPr rtlCol="0">
            <a:normAutofit/>
          </a:bodyPr>
          <a:lstStyle/>
          <a:p>
            <a:pPr marL="118872" indent="0" eaLnBrk="1" fontAlgn="auto" hangingPunct="1">
              <a:spcBef>
                <a:spcPts val="0"/>
              </a:spcBef>
              <a:spcAft>
                <a:spcPts val="0"/>
              </a:spcAft>
              <a:buNone/>
              <a:defRPr/>
            </a:pPr>
            <a:r>
              <a:rPr lang="en-US" altLang="zh-CN">
                <a:solidFill>
                  <a:srgbClr val="FF0000"/>
                </a:solidFill>
              </a:rPr>
              <a:t>If the fastest horses are equal, compare Tian Ji’s slowest horse with Qi’s slowest horse:</a:t>
            </a:r>
          </a:p>
          <a:p>
            <a:pPr marL="731520" lvl="1" indent="-274320" eaLnBrk="1" fontAlgn="auto" hangingPunct="1">
              <a:spcAft>
                <a:spcPts val="0"/>
              </a:spcAft>
              <a:buFont typeface="Wingdings"/>
              <a:buChar char=""/>
              <a:defRPr/>
            </a:pPr>
            <a:r>
              <a:rPr lang="en-US" altLang="zh-CN">
                <a:solidFill>
                  <a:srgbClr val="FF0000"/>
                </a:solidFill>
              </a:rPr>
              <a:t>If Tian Ji’s slowest horse is faster than Qi’s slowest horse, they race.</a:t>
            </a:r>
            <a:endParaRPr lang="en-US" altLang="zh-CN" dirty="0"/>
          </a:p>
          <a:p>
            <a:pPr marL="731520" lvl="1" indent="-274320" eaLnBrk="1" fontAlgn="auto" hangingPunct="1">
              <a:spcAft>
                <a:spcPts val="0"/>
              </a:spcAft>
              <a:buFont typeface="Wingdings"/>
              <a:buChar char=""/>
              <a:defRPr/>
            </a:pPr>
            <a:endParaRPr lang="en-US" altLang="zh-CN" dirty="0"/>
          </a:p>
          <a:p>
            <a:pPr marL="731520" lvl="1" indent="-274320" eaLnBrk="1" fontAlgn="auto" hangingPunct="1">
              <a:spcAft>
                <a:spcPts val="0"/>
              </a:spcAft>
              <a:buFont typeface="Wingdings"/>
              <a:buChar char=""/>
              <a:defRPr/>
            </a:pPr>
            <a:endParaRPr lang="zh-CN" altLang="en-US" dirty="0"/>
          </a:p>
        </p:txBody>
      </p:sp>
      <p:sp>
        <p:nvSpPr>
          <p:cNvPr id="123909" name="Oval 19">
            <a:extLst>
              <a:ext uri="{FF2B5EF4-FFF2-40B4-BE49-F238E27FC236}">
                <a16:creationId xmlns:a16="http://schemas.microsoft.com/office/drawing/2014/main" id="{E7E00C65-460A-4D0A-A24F-B706E0DAAC7A}"/>
              </a:ext>
            </a:extLst>
          </p:cNvPr>
          <p:cNvSpPr>
            <a:spLocks noChangeArrowheads="1"/>
          </p:cNvSpPr>
          <p:nvPr/>
        </p:nvSpPr>
        <p:spPr bwMode="auto">
          <a:xfrm>
            <a:off x="8472488" y="3141663"/>
            <a:ext cx="504825" cy="53975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a:solidFill>
                  <a:srgbClr val="000000"/>
                </a:solidFill>
                <a:latin typeface="Times New Roman" panose="02020603050405020304" pitchFamily="18" charset="0"/>
                <a:ea typeface="华文楷体" panose="02010600040101010101" pitchFamily="2" charset="-122"/>
              </a:rPr>
              <a:t>T1</a:t>
            </a:r>
          </a:p>
        </p:txBody>
      </p:sp>
      <p:sp>
        <p:nvSpPr>
          <p:cNvPr id="123910" name="Oval 20">
            <a:extLst>
              <a:ext uri="{FF2B5EF4-FFF2-40B4-BE49-F238E27FC236}">
                <a16:creationId xmlns:a16="http://schemas.microsoft.com/office/drawing/2014/main" id="{1B81E7F3-382D-4C6B-96DD-2C4D23467197}"/>
              </a:ext>
            </a:extLst>
          </p:cNvPr>
          <p:cNvSpPr>
            <a:spLocks noChangeArrowheads="1"/>
          </p:cNvSpPr>
          <p:nvPr/>
        </p:nvSpPr>
        <p:spPr bwMode="auto">
          <a:xfrm>
            <a:off x="8472488" y="3897313"/>
            <a:ext cx="504825" cy="53975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a:solidFill>
                  <a:srgbClr val="000000"/>
                </a:solidFill>
                <a:latin typeface="Times New Roman" panose="02020603050405020304" pitchFamily="18" charset="0"/>
                <a:ea typeface="华文楷体" panose="02010600040101010101" pitchFamily="2" charset="-122"/>
              </a:rPr>
              <a:t>Tj</a:t>
            </a:r>
          </a:p>
        </p:txBody>
      </p:sp>
      <p:sp>
        <p:nvSpPr>
          <p:cNvPr id="123911" name="Oval 21">
            <a:extLst>
              <a:ext uri="{FF2B5EF4-FFF2-40B4-BE49-F238E27FC236}">
                <a16:creationId xmlns:a16="http://schemas.microsoft.com/office/drawing/2014/main" id="{214DA4F1-A8EA-4B20-9177-5FD2CD169E65}"/>
              </a:ext>
            </a:extLst>
          </p:cNvPr>
          <p:cNvSpPr>
            <a:spLocks noChangeArrowheads="1"/>
          </p:cNvSpPr>
          <p:nvPr/>
        </p:nvSpPr>
        <p:spPr bwMode="auto">
          <a:xfrm>
            <a:off x="8472488" y="4725988"/>
            <a:ext cx="504825" cy="53975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a:solidFill>
                  <a:srgbClr val="000000"/>
                </a:solidFill>
                <a:latin typeface="Times New Roman" panose="02020603050405020304" pitchFamily="18" charset="0"/>
                <a:ea typeface="华文楷体" panose="02010600040101010101" pitchFamily="2" charset="-122"/>
              </a:rPr>
              <a:t>Tn</a:t>
            </a:r>
          </a:p>
        </p:txBody>
      </p:sp>
      <p:sp>
        <p:nvSpPr>
          <p:cNvPr id="123912" name="Oval 23">
            <a:extLst>
              <a:ext uri="{FF2B5EF4-FFF2-40B4-BE49-F238E27FC236}">
                <a16:creationId xmlns:a16="http://schemas.microsoft.com/office/drawing/2014/main" id="{41A4033D-BD51-4186-B1AB-E22C62BCE651}"/>
              </a:ext>
            </a:extLst>
          </p:cNvPr>
          <p:cNvSpPr>
            <a:spLocks noChangeArrowheads="1"/>
          </p:cNvSpPr>
          <p:nvPr/>
        </p:nvSpPr>
        <p:spPr bwMode="auto">
          <a:xfrm>
            <a:off x="9804400" y="3897313"/>
            <a:ext cx="504825" cy="539750"/>
          </a:xfrm>
          <a:prstGeom prst="ellipse">
            <a:avLst/>
          </a:prstGeom>
          <a:solidFill>
            <a:schemeClr val="hlink"/>
          </a:solidFill>
          <a:ln w="9525">
            <a:solidFill>
              <a:schemeClr val="tx1"/>
            </a:solidFill>
            <a:round/>
            <a:headEnd/>
            <a:tailEnd/>
          </a:ln>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a:solidFill>
                  <a:srgbClr val="000000"/>
                </a:solidFill>
                <a:latin typeface="Times New Roman" panose="02020603050405020304" pitchFamily="18" charset="0"/>
                <a:ea typeface="华文楷体" panose="02010600040101010101" pitchFamily="2" charset="-122"/>
              </a:rPr>
              <a:t>Qi</a:t>
            </a:r>
          </a:p>
        </p:txBody>
      </p:sp>
      <p:sp>
        <p:nvSpPr>
          <p:cNvPr id="123913" name="Oval 24">
            <a:extLst>
              <a:ext uri="{FF2B5EF4-FFF2-40B4-BE49-F238E27FC236}">
                <a16:creationId xmlns:a16="http://schemas.microsoft.com/office/drawing/2014/main" id="{7E542042-0698-44F7-940B-5CD3AE26A90F}"/>
              </a:ext>
            </a:extLst>
          </p:cNvPr>
          <p:cNvSpPr>
            <a:spLocks noChangeArrowheads="1"/>
          </p:cNvSpPr>
          <p:nvPr/>
        </p:nvSpPr>
        <p:spPr bwMode="auto">
          <a:xfrm>
            <a:off x="9804400" y="3141663"/>
            <a:ext cx="504825" cy="539750"/>
          </a:xfrm>
          <a:prstGeom prst="ellipse">
            <a:avLst/>
          </a:prstGeom>
          <a:solidFill>
            <a:schemeClr val="hlink"/>
          </a:solidFill>
          <a:ln w="9525">
            <a:solidFill>
              <a:schemeClr val="tx1"/>
            </a:solidFill>
            <a:round/>
            <a:headEnd/>
            <a:tailEnd/>
          </a:ln>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a:solidFill>
                  <a:srgbClr val="000000"/>
                </a:solidFill>
                <a:latin typeface="Times New Roman" panose="02020603050405020304" pitchFamily="18" charset="0"/>
                <a:ea typeface="华文楷体" panose="02010600040101010101" pitchFamily="2" charset="-122"/>
              </a:rPr>
              <a:t>Q1</a:t>
            </a:r>
          </a:p>
        </p:txBody>
      </p:sp>
      <p:sp>
        <p:nvSpPr>
          <p:cNvPr id="123914" name="Line 25">
            <a:extLst>
              <a:ext uri="{FF2B5EF4-FFF2-40B4-BE49-F238E27FC236}">
                <a16:creationId xmlns:a16="http://schemas.microsoft.com/office/drawing/2014/main" id="{7D5B9E63-2049-4EC0-AD42-B518991055F1}"/>
              </a:ext>
            </a:extLst>
          </p:cNvPr>
          <p:cNvSpPr>
            <a:spLocks noChangeShapeType="1"/>
          </p:cNvSpPr>
          <p:nvPr/>
        </p:nvSpPr>
        <p:spPr bwMode="auto">
          <a:xfrm>
            <a:off x="8975725" y="4221163"/>
            <a:ext cx="865188" cy="720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915" name="Line 25">
            <a:extLst>
              <a:ext uri="{FF2B5EF4-FFF2-40B4-BE49-F238E27FC236}">
                <a16:creationId xmlns:a16="http://schemas.microsoft.com/office/drawing/2014/main" id="{33C1D3DC-051F-4292-A7B8-58251B0D61F0}"/>
              </a:ext>
            </a:extLst>
          </p:cNvPr>
          <p:cNvSpPr>
            <a:spLocks noChangeShapeType="1"/>
          </p:cNvSpPr>
          <p:nvPr/>
        </p:nvSpPr>
        <p:spPr bwMode="auto">
          <a:xfrm flipV="1">
            <a:off x="8975725" y="4221163"/>
            <a:ext cx="865188" cy="720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25">
            <a:extLst>
              <a:ext uri="{FF2B5EF4-FFF2-40B4-BE49-F238E27FC236}">
                <a16:creationId xmlns:a16="http://schemas.microsoft.com/office/drawing/2014/main" id="{FAC2329F-05DC-4F37-BB58-E0716EF0C127}"/>
              </a:ext>
            </a:extLst>
          </p:cNvPr>
          <p:cNvSpPr>
            <a:spLocks noChangeShapeType="1"/>
          </p:cNvSpPr>
          <p:nvPr/>
        </p:nvSpPr>
        <p:spPr bwMode="auto">
          <a:xfrm>
            <a:off x="8975725" y="4941888"/>
            <a:ext cx="865188" cy="0"/>
          </a:xfrm>
          <a:prstGeom prst="line">
            <a:avLst/>
          </a:prstGeom>
          <a:ln>
            <a:solidFill>
              <a:srgbClr val="FF0000"/>
            </a:solidFill>
            <a:headEnd/>
            <a:tailEnd/>
          </a:ln>
        </p:spPr>
        <p:style>
          <a:lnRef idx="1">
            <a:schemeClr val="dk1"/>
          </a:lnRef>
          <a:fillRef idx="0">
            <a:schemeClr val="dk1"/>
          </a:fillRef>
          <a:effectRef idx="0">
            <a:schemeClr val="dk1"/>
          </a:effectRef>
          <a:fontRef idx="minor">
            <a:schemeClr val="tx1"/>
          </a:fontRef>
        </p:style>
        <p:txBody>
          <a:bodyPr/>
          <a:lstStyle/>
          <a:p>
            <a:pPr eaLnBrk="1" fontAlgn="auto" hangingPunct="1">
              <a:spcBef>
                <a:spcPts val="0"/>
              </a:spcBef>
              <a:spcAft>
                <a:spcPts val="0"/>
              </a:spcAft>
              <a:defRPr/>
            </a:pPr>
            <a:endParaRPr lang="zh-CN" altLang="en-US">
              <a:solidFill>
                <a:prstClr val="black"/>
              </a:solidFill>
            </a:endParaRPr>
          </a:p>
        </p:txBody>
      </p:sp>
      <p:sp>
        <p:nvSpPr>
          <p:cNvPr id="19" name="Line 25">
            <a:extLst>
              <a:ext uri="{FF2B5EF4-FFF2-40B4-BE49-F238E27FC236}">
                <a16:creationId xmlns:a16="http://schemas.microsoft.com/office/drawing/2014/main" id="{3274C1D8-3A87-4885-BA1B-351847B1AEBE}"/>
              </a:ext>
            </a:extLst>
          </p:cNvPr>
          <p:cNvSpPr>
            <a:spLocks noChangeShapeType="1"/>
          </p:cNvSpPr>
          <p:nvPr/>
        </p:nvSpPr>
        <p:spPr bwMode="auto">
          <a:xfrm>
            <a:off x="8904288" y="4221163"/>
            <a:ext cx="1008062" cy="0"/>
          </a:xfrm>
          <a:prstGeom prst="line">
            <a:avLst/>
          </a:prstGeom>
          <a:ln>
            <a:solidFill>
              <a:srgbClr val="FF0000"/>
            </a:solidFill>
            <a:headEnd/>
            <a:tailEnd/>
          </a:ln>
        </p:spPr>
        <p:style>
          <a:lnRef idx="1">
            <a:schemeClr val="dk1"/>
          </a:lnRef>
          <a:fillRef idx="0">
            <a:schemeClr val="dk1"/>
          </a:fillRef>
          <a:effectRef idx="0">
            <a:schemeClr val="dk1"/>
          </a:effectRef>
          <a:fontRef idx="minor">
            <a:schemeClr val="tx1"/>
          </a:fontRef>
        </p:style>
        <p:txBody>
          <a:bodyPr/>
          <a:lstStyle/>
          <a:p>
            <a:pPr eaLnBrk="1" fontAlgn="auto" hangingPunct="1">
              <a:spcBef>
                <a:spcPts val="0"/>
              </a:spcBef>
              <a:spcAft>
                <a:spcPts val="0"/>
              </a:spcAft>
              <a:defRPr/>
            </a:pPr>
            <a:endParaRPr lang="zh-CN" altLang="en-US">
              <a:solidFill>
                <a:prstClr val="black"/>
              </a:solidFill>
            </a:endParaRPr>
          </a:p>
        </p:txBody>
      </p:sp>
      <p:graphicFrame>
        <p:nvGraphicFramePr>
          <p:cNvPr id="20" name="表格 19">
            <a:extLst>
              <a:ext uri="{FF2B5EF4-FFF2-40B4-BE49-F238E27FC236}">
                <a16:creationId xmlns:a16="http://schemas.microsoft.com/office/drawing/2014/main" id="{B0E891F3-FE81-428B-B98E-EF283B879C05}"/>
              </a:ext>
            </a:extLst>
          </p:cNvPr>
          <p:cNvGraphicFramePr>
            <a:graphicFrameLocks noGrp="1"/>
          </p:cNvGraphicFramePr>
          <p:nvPr/>
        </p:nvGraphicFramePr>
        <p:xfrm>
          <a:off x="1129567" y="3897313"/>
          <a:ext cx="6070223" cy="1484312"/>
        </p:xfrm>
        <a:graphic>
          <a:graphicData uri="http://schemas.openxmlformats.org/drawingml/2006/table">
            <a:tbl>
              <a:tblPr firstRow="1" bandRow="1">
                <a:tableStyleId>{00A15C55-8517-42AA-B614-E9B94910E393}</a:tableStyleId>
              </a:tblPr>
              <a:tblGrid>
                <a:gridCol w="2032000">
                  <a:extLst>
                    <a:ext uri="{9D8B030D-6E8A-4147-A177-3AD203B41FA5}">
                      <a16:colId xmlns:a16="http://schemas.microsoft.com/office/drawing/2014/main" val="20000"/>
                    </a:ext>
                  </a:extLst>
                </a:gridCol>
                <a:gridCol w="1136352">
                  <a:extLst>
                    <a:ext uri="{9D8B030D-6E8A-4147-A177-3AD203B41FA5}">
                      <a16:colId xmlns:a16="http://schemas.microsoft.com/office/drawing/2014/main" val="20001"/>
                    </a:ext>
                  </a:extLst>
                </a:gridCol>
                <a:gridCol w="2901871">
                  <a:extLst>
                    <a:ext uri="{9D8B030D-6E8A-4147-A177-3AD203B41FA5}">
                      <a16:colId xmlns:a16="http://schemas.microsoft.com/office/drawing/2014/main" val="20002"/>
                    </a:ext>
                  </a:extLst>
                </a:gridCol>
              </a:tblGrid>
              <a:tr h="371078">
                <a:tc>
                  <a:txBody>
                    <a:bodyPr/>
                    <a:lstStyle/>
                    <a:p>
                      <a:r>
                        <a:rPr lang="en-US" altLang="zh-CN" sz="1800"/>
                        <a:t>condition</a:t>
                      </a:r>
                      <a:endParaRPr lang="zh-CN" altLang="en-US" sz="1800" dirty="0"/>
                    </a:p>
                  </a:txBody>
                  <a:tcPr marT="45749" marB="45749"/>
                </a:tc>
                <a:tc>
                  <a:txBody>
                    <a:bodyPr/>
                    <a:lstStyle/>
                    <a:p>
                      <a:r>
                        <a:rPr lang="en-US" altLang="zh-CN" sz="1800"/>
                        <a:t>previous</a:t>
                      </a:r>
                      <a:endParaRPr lang="zh-CN" altLang="en-US" sz="1800" dirty="0"/>
                    </a:p>
                  </a:txBody>
                  <a:tcPr marT="45749" marB="45749"/>
                </a:tc>
                <a:tc>
                  <a:txBody>
                    <a:bodyPr/>
                    <a:lstStyle/>
                    <a:p>
                      <a:r>
                        <a:rPr lang="en-US" altLang="zh-CN" sz="1800"/>
                        <a:t>new</a:t>
                      </a:r>
                      <a:endParaRPr lang="zh-CN" altLang="en-US" sz="1800" dirty="0"/>
                    </a:p>
                  </a:txBody>
                  <a:tcPr marT="45749" marB="45749"/>
                </a:tc>
                <a:extLst>
                  <a:ext uri="{0D108BD9-81ED-4DB2-BD59-A6C34878D82A}">
                    <a16:rowId xmlns:a16="http://schemas.microsoft.com/office/drawing/2014/main" val="10000"/>
                  </a:ext>
                </a:extLst>
              </a:tr>
              <a:tr h="371078">
                <a:tc>
                  <a:txBody>
                    <a:bodyPr/>
                    <a:lstStyle/>
                    <a:p>
                      <a:r>
                        <a:rPr lang="en-US" altLang="zh-CN" sz="1800" dirty="0" err="1"/>
                        <a:t>Tj</a:t>
                      </a:r>
                      <a:r>
                        <a:rPr lang="en-US" altLang="zh-CN" sz="1800" dirty="0"/>
                        <a:t> &gt;</a:t>
                      </a:r>
                      <a:r>
                        <a:rPr lang="en-US" altLang="zh-CN" sz="1800" baseline="0" dirty="0"/>
                        <a:t> </a:t>
                      </a:r>
                      <a:r>
                        <a:rPr lang="en-US" altLang="zh-CN" sz="1800" baseline="0" dirty="0" err="1"/>
                        <a:t>Qi</a:t>
                      </a:r>
                      <a:endParaRPr lang="zh-CN" altLang="en-US" sz="1800" dirty="0"/>
                    </a:p>
                  </a:txBody>
                  <a:tcPr marT="45749" marB="45749"/>
                </a:tc>
                <a:tc>
                  <a:txBody>
                    <a:bodyPr/>
                    <a:lstStyle/>
                    <a:p>
                      <a:r>
                        <a:rPr lang="en-US" altLang="zh-CN" sz="1800" dirty="0"/>
                        <a:t>2</a:t>
                      </a:r>
                      <a:endParaRPr lang="zh-CN" altLang="en-US" sz="1800" dirty="0"/>
                    </a:p>
                  </a:txBody>
                  <a:tcPr marT="45749" marB="45749"/>
                </a:tc>
                <a:tc>
                  <a:txBody>
                    <a:bodyPr/>
                    <a:lstStyle/>
                    <a:p>
                      <a:r>
                        <a:rPr lang="en-US" altLang="zh-CN" sz="1800" dirty="0"/>
                        <a:t>1+sign(</a:t>
                      </a:r>
                      <a:r>
                        <a:rPr lang="en-US" altLang="zh-CN" sz="1800" dirty="0" err="1"/>
                        <a:t>Tn-Qi</a:t>
                      </a:r>
                      <a:r>
                        <a:rPr lang="en-US" altLang="zh-CN" sz="1800" dirty="0"/>
                        <a:t>)</a:t>
                      </a:r>
                      <a:r>
                        <a:rPr lang="en-US" altLang="zh-CN" sz="1800" baseline="0" dirty="0"/>
                        <a:t> </a:t>
                      </a:r>
                      <a:endParaRPr lang="zh-CN" altLang="en-US" sz="1800" dirty="0"/>
                    </a:p>
                  </a:txBody>
                  <a:tcPr marT="45749" marB="45749"/>
                </a:tc>
                <a:extLst>
                  <a:ext uri="{0D108BD9-81ED-4DB2-BD59-A6C34878D82A}">
                    <a16:rowId xmlns:a16="http://schemas.microsoft.com/office/drawing/2014/main" val="10001"/>
                  </a:ext>
                </a:extLst>
              </a:tr>
              <a:tr h="371078">
                <a:tc>
                  <a:txBody>
                    <a:bodyPr/>
                    <a:lstStyle/>
                    <a:p>
                      <a:r>
                        <a:rPr lang="en-US" altLang="zh-CN" sz="1800" dirty="0" err="1"/>
                        <a:t>Tj</a:t>
                      </a:r>
                      <a:r>
                        <a:rPr lang="en-US" altLang="zh-CN" sz="1800" dirty="0"/>
                        <a:t> = </a:t>
                      </a:r>
                      <a:r>
                        <a:rPr lang="en-US" altLang="zh-CN" sz="1800" dirty="0" err="1"/>
                        <a:t>Qi</a:t>
                      </a:r>
                      <a:endParaRPr lang="zh-CN" altLang="en-US" sz="1800" dirty="0"/>
                    </a:p>
                  </a:txBody>
                  <a:tcPr marT="45749" marB="45749"/>
                </a:tc>
                <a:tc>
                  <a:txBody>
                    <a:bodyPr/>
                    <a:lstStyle/>
                    <a:p>
                      <a:r>
                        <a:rPr lang="en-US" altLang="zh-CN" sz="1800" dirty="0"/>
                        <a:t>1</a:t>
                      </a:r>
                      <a:endParaRPr lang="zh-CN" altLang="en-US" sz="1800" dirty="0"/>
                    </a:p>
                  </a:txBody>
                  <a:tcPr marT="45749" marB="45749"/>
                </a:tc>
                <a:tc>
                  <a:txBody>
                    <a:bodyPr/>
                    <a:lstStyle/>
                    <a:p>
                      <a:r>
                        <a:rPr lang="en-US" altLang="zh-CN" sz="1800" dirty="0"/>
                        <a:t>1+sign(</a:t>
                      </a:r>
                      <a:r>
                        <a:rPr lang="en-US" altLang="zh-CN" sz="1800" dirty="0" err="1"/>
                        <a:t>Tn-Qi</a:t>
                      </a:r>
                      <a:r>
                        <a:rPr lang="en-US" altLang="zh-CN" sz="1800" dirty="0"/>
                        <a:t>){-1,0}</a:t>
                      </a:r>
                      <a:endParaRPr lang="zh-CN" altLang="en-US" sz="1800" dirty="0"/>
                    </a:p>
                  </a:txBody>
                  <a:tcPr marT="45749" marB="45749"/>
                </a:tc>
                <a:extLst>
                  <a:ext uri="{0D108BD9-81ED-4DB2-BD59-A6C34878D82A}">
                    <a16:rowId xmlns:a16="http://schemas.microsoft.com/office/drawing/2014/main" val="10002"/>
                  </a:ext>
                </a:extLst>
              </a:tr>
              <a:tr h="371078">
                <a:tc>
                  <a:txBody>
                    <a:bodyPr/>
                    <a:lstStyle/>
                    <a:p>
                      <a:r>
                        <a:rPr lang="en-US" altLang="zh-CN" sz="1800" dirty="0" err="1"/>
                        <a:t>Tj</a:t>
                      </a:r>
                      <a:r>
                        <a:rPr lang="en-US" altLang="zh-CN" sz="1800" dirty="0"/>
                        <a:t> &lt; </a:t>
                      </a:r>
                      <a:r>
                        <a:rPr lang="en-US" altLang="zh-CN" sz="1800" dirty="0" err="1"/>
                        <a:t>Qi</a:t>
                      </a:r>
                      <a:endParaRPr lang="zh-CN" altLang="en-US" sz="1800" dirty="0"/>
                    </a:p>
                  </a:txBody>
                  <a:tcPr marT="45749" marB="45749"/>
                </a:tc>
                <a:tc>
                  <a:txBody>
                    <a:bodyPr/>
                    <a:lstStyle/>
                    <a:p>
                      <a:r>
                        <a:rPr lang="en-US" altLang="zh-CN" sz="1800" dirty="0"/>
                        <a:t>0</a:t>
                      </a:r>
                      <a:endParaRPr lang="zh-CN" altLang="en-US" sz="1800" dirty="0"/>
                    </a:p>
                  </a:txBody>
                  <a:tcPr marT="45749" marB="45749"/>
                </a:tc>
                <a:tc>
                  <a:txBody>
                    <a:bodyPr/>
                    <a:lstStyle/>
                    <a:p>
                      <a:r>
                        <a:rPr lang="en-US" altLang="zh-CN" sz="1800" dirty="0"/>
                        <a:t>0</a:t>
                      </a:r>
                      <a:endParaRPr lang="zh-CN" altLang="en-US" sz="1800" dirty="0"/>
                    </a:p>
                  </a:txBody>
                  <a:tcPr marT="45749" marB="45749"/>
                </a:tc>
                <a:extLst>
                  <a:ext uri="{0D108BD9-81ED-4DB2-BD59-A6C34878D82A}">
                    <a16:rowId xmlns:a16="http://schemas.microsoft.com/office/drawing/2014/main" val="10003"/>
                  </a:ext>
                </a:extLst>
              </a:tr>
            </a:tbl>
          </a:graphicData>
        </a:graphic>
      </p:graphicFrame>
      <p:sp>
        <p:nvSpPr>
          <p:cNvPr id="123940" name="Oval 23">
            <a:extLst>
              <a:ext uri="{FF2B5EF4-FFF2-40B4-BE49-F238E27FC236}">
                <a16:creationId xmlns:a16="http://schemas.microsoft.com/office/drawing/2014/main" id="{B82528D0-FCCB-4A02-AB2A-6F0E36961757}"/>
              </a:ext>
            </a:extLst>
          </p:cNvPr>
          <p:cNvSpPr>
            <a:spLocks noChangeArrowheads="1"/>
          </p:cNvSpPr>
          <p:nvPr/>
        </p:nvSpPr>
        <p:spPr bwMode="auto">
          <a:xfrm>
            <a:off x="9840913" y="4724400"/>
            <a:ext cx="504825" cy="539750"/>
          </a:xfrm>
          <a:prstGeom prst="ellipse">
            <a:avLst/>
          </a:prstGeom>
          <a:solidFill>
            <a:schemeClr val="hlink"/>
          </a:solidFill>
          <a:ln w="9525">
            <a:solidFill>
              <a:schemeClr val="tx1"/>
            </a:solidFill>
            <a:round/>
            <a:headEnd/>
            <a:tailEnd/>
          </a:ln>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a:solidFill>
                  <a:srgbClr val="000000"/>
                </a:solidFill>
                <a:latin typeface="Times New Roman" panose="02020603050405020304" pitchFamily="18" charset="0"/>
                <a:ea typeface="华文楷体" panose="02010600040101010101" pitchFamily="2" charset="-122"/>
              </a:rPr>
              <a:t>Qn</a:t>
            </a:r>
          </a:p>
        </p:txBody>
      </p:sp>
    </p:spTree>
    <p:extLst>
      <p:ext uri="{BB962C8B-B14F-4D97-AF65-F5344CB8AC3E}">
        <p14:creationId xmlns:p14="http://schemas.microsoft.com/office/powerpoint/2010/main" val="4762782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7581DB-BFF6-4424-9564-8C826E840BF1}"/>
              </a:ext>
            </a:extLst>
          </p:cNvPr>
          <p:cNvSpPr>
            <a:spLocks noGrp="1"/>
          </p:cNvSpPr>
          <p:nvPr>
            <p:ph type="title"/>
          </p:nvPr>
        </p:nvSpPr>
        <p:spPr/>
        <p:txBody>
          <a:bodyPr/>
          <a:lstStyle/>
          <a:p>
            <a:pPr eaLnBrk="1" fontAlgn="auto" hangingPunct="1">
              <a:spcAft>
                <a:spcPts val="0"/>
              </a:spcAft>
              <a:defRPr/>
            </a:pPr>
            <a:r>
              <a:rPr lang="en-US" altLang="zh-CN">
                <a:solidFill>
                  <a:schemeClr val="accent1">
                    <a:satMod val="150000"/>
                  </a:schemeClr>
                </a:solidFill>
              </a:rPr>
              <a:t>Greedy Strategy</a:t>
            </a:r>
            <a:endParaRPr lang="zh-CN" altLang="en-US" dirty="0">
              <a:solidFill>
                <a:schemeClr val="accent1">
                  <a:satMod val="150000"/>
                </a:schemeClr>
              </a:solidFill>
            </a:endParaRPr>
          </a:p>
        </p:txBody>
      </p:sp>
      <p:sp>
        <p:nvSpPr>
          <p:cNvPr id="3" name="内容占位符 2">
            <a:extLst>
              <a:ext uri="{FF2B5EF4-FFF2-40B4-BE49-F238E27FC236}">
                <a16:creationId xmlns:a16="http://schemas.microsoft.com/office/drawing/2014/main" id="{69E01809-1BA6-4C0D-8B28-853A901DEBE6}"/>
              </a:ext>
            </a:extLst>
          </p:cNvPr>
          <p:cNvSpPr>
            <a:spLocks noGrp="1"/>
          </p:cNvSpPr>
          <p:nvPr>
            <p:ph idx="1"/>
          </p:nvPr>
        </p:nvSpPr>
        <p:spPr>
          <a:xfrm>
            <a:off x="838200" y="1774825"/>
            <a:ext cx="7561263" cy="4894263"/>
          </a:xfrm>
        </p:spPr>
        <p:txBody>
          <a:bodyPr rtlCol="0">
            <a:normAutofit/>
          </a:bodyPr>
          <a:lstStyle/>
          <a:p>
            <a:pPr marL="438912" indent="-320040" eaLnBrk="1" fontAlgn="auto" hangingPunct="1">
              <a:spcBef>
                <a:spcPts val="0"/>
              </a:spcBef>
              <a:spcAft>
                <a:spcPts val="0"/>
              </a:spcAft>
              <a:buFont typeface="Wingdings 2"/>
              <a:buChar char=""/>
              <a:defRPr/>
            </a:pPr>
            <a:r>
              <a:rPr lang="en-US" altLang="zh-CN">
                <a:solidFill>
                  <a:srgbClr val="FF0000"/>
                </a:solidFill>
              </a:rPr>
              <a:t>If the fastest horses are equal, compare Tian Ji’s slowest horse with Qi’s slowest horse:</a:t>
            </a:r>
            <a:endParaRPr lang="en-US" altLang="zh-CN" dirty="0">
              <a:solidFill>
                <a:srgbClr val="FF0000"/>
              </a:solidFill>
            </a:endParaRPr>
          </a:p>
          <a:p>
            <a:pPr marL="731520" lvl="1" indent="-274320">
              <a:buFont typeface="Wingdings"/>
              <a:buChar char=""/>
              <a:defRPr/>
            </a:pPr>
            <a:r>
              <a:rPr lang="en-US" altLang="zh-CN">
                <a:solidFill>
                  <a:srgbClr val="FF0000"/>
                </a:solidFill>
              </a:rPr>
              <a:t>If Tian Ji’s slowest horse is not faster than Qi’s slowest horse, then Tian Ji’s slowest horse and Qi’s fastest horse race.</a:t>
            </a:r>
            <a:endParaRPr lang="en-US" altLang="zh-CN" dirty="0">
              <a:solidFill>
                <a:srgbClr val="FF0000"/>
              </a:solidFill>
            </a:endParaRPr>
          </a:p>
          <a:p>
            <a:pPr marL="731520" lvl="1" indent="-274320" eaLnBrk="1" fontAlgn="auto" hangingPunct="1">
              <a:spcAft>
                <a:spcPts val="0"/>
              </a:spcAft>
              <a:buFont typeface="Wingdings"/>
              <a:buChar char=""/>
              <a:defRPr/>
            </a:pPr>
            <a:endParaRPr lang="en-US" altLang="zh-CN" dirty="0"/>
          </a:p>
          <a:p>
            <a:pPr marL="457200" lvl="1" indent="0" eaLnBrk="1" fontAlgn="auto" hangingPunct="1">
              <a:spcAft>
                <a:spcPts val="0"/>
              </a:spcAft>
              <a:buNone/>
              <a:defRPr/>
            </a:pPr>
            <a:endParaRPr lang="en-US" altLang="zh-CN" dirty="0"/>
          </a:p>
          <a:p>
            <a:pPr marL="457200" lvl="1" indent="0" eaLnBrk="1" fontAlgn="auto" hangingPunct="1">
              <a:spcAft>
                <a:spcPts val="0"/>
              </a:spcAft>
              <a:buNone/>
              <a:defRPr/>
            </a:pPr>
            <a:endParaRPr lang="en-US" altLang="zh-CN" dirty="0"/>
          </a:p>
        </p:txBody>
      </p:sp>
      <p:sp>
        <p:nvSpPr>
          <p:cNvPr id="124933" name="Oval 19">
            <a:extLst>
              <a:ext uri="{FF2B5EF4-FFF2-40B4-BE49-F238E27FC236}">
                <a16:creationId xmlns:a16="http://schemas.microsoft.com/office/drawing/2014/main" id="{F5856EF1-9DD9-4E1D-85F7-B66A7FF1A4BB}"/>
              </a:ext>
            </a:extLst>
          </p:cNvPr>
          <p:cNvSpPr>
            <a:spLocks noChangeArrowheads="1"/>
          </p:cNvSpPr>
          <p:nvPr/>
        </p:nvSpPr>
        <p:spPr bwMode="auto">
          <a:xfrm>
            <a:off x="8472488" y="3141663"/>
            <a:ext cx="504825" cy="53975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a:solidFill>
                  <a:srgbClr val="000000"/>
                </a:solidFill>
                <a:latin typeface="Times New Roman" panose="02020603050405020304" pitchFamily="18" charset="0"/>
                <a:ea typeface="华文楷体" panose="02010600040101010101" pitchFamily="2" charset="-122"/>
              </a:rPr>
              <a:t>T1</a:t>
            </a:r>
          </a:p>
        </p:txBody>
      </p:sp>
      <p:sp>
        <p:nvSpPr>
          <p:cNvPr id="124934" name="Oval 20">
            <a:extLst>
              <a:ext uri="{FF2B5EF4-FFF2-40B4-BE49-F238E27FC236}">
                <a16:creationId xmlns:a16="http://schemas.microsoft.com/office/drawing/2014/main" id="{CD68FF00-1666-4EB7-BC47-50365189E51A}"/>
              </a:ext>
            </a:extLst>
          </p:cNvPr>
          <p:cNvSpPr>
            <a:spLocks noChangeArrowheads="1"/>
          </p:cNvSpPr>
          <p:nvPr/>
        </p:nvSpPr>
        <p:spPr bwMode="auto">
          <a:xfrm>
            <a:off x="8472488" y="3897313"/>
            <a:ext cx="504825" cy="53975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a:solidFill>
                  <a:srgbClr val="000000"/>
                </a:solidFill>
                <a:latin typeface="Times New Roman" panose="02020603050405020304" pitchFamily="18" charset="0"/>
                <a:ea typeface="华文楷体" panose="02010600040101010101" pitchFamily="2" charset="-122"/>
              </a:rPr>
              <a:t>Tj</a:t>
            </a:r>
          </a:p>
        </p:txBody>
      </p:sp>
      <p:sp>
        <p:nvSpPr>
          <p:cNvPr id="124935" name="Oval 21">
            <a:extLst>
              <a:ext uri="{FF2B5EF4-FFF2-40B4-BE49-F238E27FC236}">
                <a16:creationId xmlns:a16="http://schemas.microsoft.com/office/drawing/2014/main" id="{D48B86D1-EABC-436E-AB3E-D555F8B0999F}"/>
              </a:ext>
            </a:extLst>
          </p:cNvPr>
          <p:cNvSpPr>
            <a:spLocks noChangeArrowheads="1"/>
          </p:cNvSpPr>
          <p:nvPr/>
        </p:nvSpPr>
        <p:spPr bwMode="auto">
          <a:xfrm>
            <a:off x="8472488" y="4725988"/>
            <a:ext cx="504825" cy="53975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a:solidFill>
                  <a:srgbClr val="000000"/>
                </a:solidFill>
                <a:latin typeface="Times New Roman" panose="02020603050405020304" pitchFamily="18" charset="0"/>
                <a:ea typeface="华文楷体" panose="02010600040101010101" pitchFamily="2" charset="-122"/>
              </a:rPr>
              <a:t>Tn</a:t>
            </a:r>
          </a:p>
        </p:txBody>
      </p:sp>
      <p:sp>
        <p:nvSpPr>
          <p:cNvPr id="124936" name="Oval 23">
            <a:extLst>
              <a:ext uri="{FF2B5EF4-FFF2-40B4-BE49-F238E27FC236}">
                <a16:creationId xmlns:a16="http://schemas.microsoft.com/office/drawing/2014/main" id="{8CB33F6A-8F17-4485-B747-6A1605E37549}"/>
              </a:ext>
            </a:extLst>
          </p:cNvPr>
          <p:cNvSpPr>
            <a:spLocks noChangeArrowheads="1"/>
          </p:cNvSpPr>
          <p:nvPr/>
        </p:nvSpPr>
        <p:spPr bwMode="auto">
          <a:xfrm>
            <a:off x="9804400" y="3897313"/>
            <a:ext cx="504825" cy="539750"/>
          </a:xfrm>
          <a:prstGeom prst="ellipse">
            <a:avLst/>
          </a:prstGeom>
          <a:solidFill>
            <a:schemeClr val="hlink"/>
          </a:solidFill>
          <a:ln w="9525">
            <a:solidFill>
              <a:schemeClr val="tx1"/>
            </a:solidFill>
            <a:round/>
            <a:headEnd/>
            <a:tailEnd/>
          </a:ln>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a:solidFill>
                  <a:srgbClr val="000000"/>
                </a:solidFill>
                <a:latin typeface="Times New Roman" panose="02020603050405020304" pitchFamily="18" charset="0"/>
                <a:ea typeface="华文楷体" panose="02010600040101010101" pitchFamily="2" charset="-122"/>
              </a:rPr>
              <a:t>Qi</a:t>
            </a:r>
          </a:p>
        </p:txBody>
      </p:sp>
      <p:sp>
        <p:nvSpPr>
          <p:cNvPr id="124937" name="Oval 24">
            <a:extLst>
              <a:ext uri="{FF2B5EF4-FFF2-40B4-BE49-F238E27FC236}">
                <a16:creationId xmlns:a16="http://schemas.microsoft.com/office/drawing/2014/main" id="{5ED19C95-1222-47CB-897B-B7CCA13EBFC7}"/>
              </a:ext>
            </a:extLst>
          </p:cNvPr>
          <p:cNvSpPr>
            <a:spLocks noChangeArrowheads="1"/>
          </p:cNvSpPr>
          <p:nvPr/>
        </p:nvSpPr>
        <p:spPr bwMode="auto">
          <a:xfrm>
            <a:off x="9804400" y="3141663"/>
            <a:ext cx="504825" cy="539750"/>
          </a:xfrm>
          <a:prstGeom prst="ellipse">
            <a:avLst/>
          </a:prstGeom>
          <a:solidFill>
            <a:schemeClr val="hlink"/>
          </a:solidFill>
          <a:ln w="9525">
            <a:solidFill>
              <a:schemeClr val="tx1"/>
            </a:solidFill>
            <a:round/>
            <a:headEnd/>
            <a:tailEnd/>
          </a:ln>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a:solidFill>
                  <a:srgbClr val="000000"/>
                </a:solidFill>
                <a:latin typeface="Times New Roman" panose="02020603050405020304" pitchFamily="18" charset="0"/>
                <a:ea typeface="华文楷体" panose="02010600040101010101" pitchFamily="2" charset="-122"/>
              </a:rPr>
              <a:t>Q1</a:t>
            </a:r>
          </a:p>
        </p:txBody>
      </p:sp>
      <p:sp>
        <p:nvSpPr>
          <p:cNvPr id="124938" name="Line 25">
            <a:extLst>
              <a:ext uri="{FF2B5EF4-FFF2-40B4-BE49-F238E27FC236}">
                <a16:creationId xmlns:a16="http://schemas.microsoft.com/office/drawing/2014/main" id="{52E3ED4C-F0BF-4263-A5C2-4B03548EA3BC}"/>
              </a:ext>
            </a:extLst>
          </p:cNvPr>
          <p:cNvSpPr>
            <a:spLocks noChangeShapeType="1"/>
          </p:cNvSpPr>
          <p:nvPr/>
        </p:nvSpPr>
        <p:spPr bwMode="auto">
          <a:xfrm flipV="1">
            <a:off x="8975725" y="4221163"/>
            <a:ext cx="865188" cy="720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939" name="Line 25">
            <a:extLst>
              <a:ext uri="{FF2B5EF4-FFF2-40B4-BE49-F238E27FC236}">
                <a16:creationId xmlns:a16="http://schemas.microsoft.com/office/drawing/2014/main" id="{0F753E6B-29F5-4A36-9F0C-E3EDC76FAEFE}"/>
              </a:ext>
            </a:extLst>
          </p:cNvPr>
          <p:cNvSpPr>
            <a:spLocks noChangeShapeType="1"/>
          </p:cNvSpPr>
          <p:nvPr/>
        </p:nvSpPr>
        <p:spPr bwMode="auto">
          <a:xfrm flipV="1">
            <a:off x="8975725" y="3500438"/>
            <a:ext cx="865188" cy="720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25">
            <a:extLst>
              <a:ext uri="{FF2B5EF4-FFF2-40B4-BE49-F238E27FC236}">
                <a16:creationId xmlns:a16="http://schemas.microsoft.com/office/drawing/2014/main" id="{77C92A39-9E18-441A-9598-CF4F72661537}"/>
              </a:ext>
            </a:extLst>
          </p:cNvPr>
          <p:cNvSpPr>
            <a:spLocks noChangeShapeType="1"/>
          </p:cNvSpPr>
          <p:nvPr/>
        </p:nvSpPr>
        <p:spPr bwMode="auto">
          <a:xfrm>
            <a:off x="8975725" y="4221163"/>
            <a:ext cx="865188" cy="0"/>
          </a:xfrm>
          <a:prstGeom prst="line">
            <a:avLst/>
          </a:prstGeom>
          <a:ln>
            <a:solidFill>
              <a:srgbClr val="FF0000"/>
            </a:solidFill>
            <a:headEnd/>
            <a:tailEnd/>
          </a:ln>
        </p:spPr>
        <p:style>
          <a:lnRef idx="1">
            <a:schemeClr val="dk1"/>
          </a:lnRef>
          <a:fillRef idx="0">
            <a:schemeClr val="dk1"/>
          </a:fillRef>
          <a:effectRef idx="0">
            <a:schemeClr val="dk1"/>
          </a:effectRef>
          <a:fontRef idx="minor">
            <a:schemeClr val="tx1"/>
          </a:fontRef>
        </p:style>
        <p:txBody>
          <a:bodyPr/>
          <a:lstStyle/>
          <a:p>
            <a:pPr eaLnBrk="1" fontAlgn="auto" hangingPunct="1">
              <a:spcBef>
                <a:spcPts val="0"/>
              </a:spcBef>
              <a:spcAft>
                <a:spcPts val="0"/>
              </a:spcAft>
              <a:defRPr/>
            </a:pPr>
            <a:endParaRPr lang="zh-CN" altLang="en-US">
              <a:solidFill>
                <a:prstClr val="black"/>
              </a:solidFill>
            </a:endParaRPr>
          </a:p>
        </p:txBody>
      </p:sp>
      <p:sp>
        <p:nvSpPr>
          <p:cNvPr id="19" name="Line 25">
            <a:extLst>
              <a:ext uri="{FF2B5EF4-FFF2-40B4-BE49-F238E27FC236}">
                <a16:creationId xmlns:a16="http://schemas.microsoft.com/office/drawing/2014/main" id="{301260C0-94C6-4D00-956E-4EBA2C88AD38}"/>
              </a:ext>
            </a:extLst>
          </p:cNvPr>
          <p:cNvSpPr>
            <a:spLocks noChangeShapeType="1"/>
          </p:cNvSpPr>
          <p:nvPr/>
        </p:nvSpPr>
        <p:spPr bwMode="auto">
          <a:xfrm flipV="1">
            <a:off x="8975725" y="3500438"/>
            <a:ext cx="865188" cy="1441450"/>
          </a:xfrm>
          <a:prstGeom prst="line">
            <a:avLst/>
          </a:prstGeom>
          <a:ln>
            <a:solidFill>
              <a:srgbClr val="FF0000"/>
            </a:solidFill>
            <a:headEnd/>
            <a:tailEnd/>
          </a:ln>
        </p:spPr>
        <p:style>
          <a:lnRef idx="1">
            <a:schemeClr val="dk1"/>
          </a:lnRef>
          <a:fillRef idx="0">
            <a:schemeClr val="dk1"/>
          </a:fillRef>
          <a:effectRef idx="0">
            <a:schemeClr val="dk1"/>
          </a:effectRef>
          <a:fontRef idx="minor">
            <a:schemeClr val="tx1"/>
          </a:fontRef>
        </p:style>
        <p:txBody>
          <a:bodyPr/>
          <a:lstStyle/>
          <a:p>
            <a:pPr eaLnBrk="1" fontAlgn="auto" hangingPunct="1">
              <a:spcBef>
                <a:spcPts val="0"/>
              </a:spcBef>
              <a:spcAft>
                <a:spcPts val="0"/>
              </a:spcAft>
              <a:defRPr/>
            </a:pPr>
            <a:endParaRPr lang="zh-CN" altLang="en-US">
              <a:solidFill>
                <a:prstClr val="black"/>
              </a:solidFill>
            </a:endParaRPr>
          </a:p>
        </p:txBody>
      </p:sp>
      <p:graphicFrame>
        <p:nvGraphicFramePr>
          <p:cNvPr id="20" name="表格 19">
            <a:extLst>
              <a:ext uri="{FF2B5EF4-FFF2-40B4-BE49-F238E27FC236}">
                <a16:creationId xmlns:a16="http://schemas.microsoft.com/office/drawing/2014/main" id="{30D70E1F-7A85-4584-84AF-612997456367}"/>
              </a:ext>
            </a:extLst>
          </p:cNvPr>
          <p:cNvGraphicFramePr>
            <a:graphicFrameLocks noGrp="1"/>
          </p:cNvGraphicFramePr>
          <p:nvPr/>
        </p:nvGraphicFramePr>
        <p:xfrm>
          <a:off x="1543113" y="3860800"/>
          <a:ext cx="6065775" cy="1484312"/>
        </p:xfrm>
        <a:graphic>
          <a:graphicData uri="http://schemas.openxmlformats.org/drawingml/2006/table">
            <a:tbl>
              <a:tblPr firstRow="1" bandRow="1">
                <a:tableStyleId>{00A15C55-8517-42AA-B614-E9B94910E393}</a:tableStyleId>
              </a:tblPr>
              <a:tblGrid>
                <a:gridCol w="2032000">
                  <a:extLst>
                    <a:ext uri="{9D8B030D-6E8A-4147-A177-3AD203B41FA5}">
                      <a16:colId xmlns:a16="http://schemas.microsoft.com/office/drawing/2014/main" val="20000"/>
                    </a:ext>
                  </a:extLst>
                </a:gridCol>
                <a:gridCol w="1136352">
                  <a:extLst>
                    <a:ext uri="{9D8B030D-6E8A-4147-A177-3AD203B41FA5}">
                      <a16:colId xmlns:a16="http://schemas.microsoft.com/office/drawing/2014/main" val="20001"/>
                    </a:ext>
                  </a:extLst>
                </a:gridCol>
                <a:gridCol w="2897423">
                  <a:extLst>
                    <a:ext uri="{9D8B030D-6E8A-4147-A177-3AD203B41FA5}">
                      <a16:colId xmlns:a16="http://schemas.microsoft.com/office/drawing/2014/main" val="20002"/>
                    </a:ext>
                  </a:extLst>
                </a:gridCol>
              </a:tblGrid>
              <a:tr h="371078">
                <a:tc>
                  <a:txBody>
                    <a:bodyPr/>
                    <a:lstStyle/>
                    <a:p>
                      <a:r>
                        <a:rPr lang="en-US" altLang="zh-CN" sz="1800"/>
                        <a:t>condition</a:t>
                      </a:r>
                      <a:endParaRPr lang="zh-CN" altLang="en-US" sz="1800" dirty="0"/>
                    </a:p>
                  </a:txBody>
                  <a:tcPr marT="45749" marB="45749"/>
                </a:tc>
                <a:tc>
                  <a:txBody>
                    <a:bodyPr/>
                    <a:lstStyle/>
                    <a:p>
                      <a:r>
                        <a:rPr lang="en-US" altLang="zh-CN" sz="1800"/>
                        <a:t>previous</a:t>
                      </a:r>
                      <a:endParaRPr lang="zh-CN" altLang="en-US" sz="1800" dirty="0"/>
                    </a:p>
                  </a:txBody>
                  <a:tcPr marT="45749" marB="45749"/>
                </a:tc>
                <a:tc>
                  <a:txBody>
                    <a:bodyPr/>
                    <a:lstStyle/>
                    <a:p>
                      <a:r>
                        <a:rPr lang="en-US" altLang="zh-CN" sz="1800"/>
                        <a:t>new</a:t>
                      </a:r>
                      <a:endParaRPr lang="zh-CN" altLang="en-US" sz="1800" dirty="0"/>
                    </a:p>
                  </a:txBody>
                  <a:tcPr marT="45749" marB="45749"/>
                </a:tc>
                <a:extLst>
                  <a:ext uri="{0D108BD9-81ED-4DB2-BD59-A6C34878D82A}">
                    <a16:rowId xmlns:a16="http://schemas.microsoft.com/office/drawing/2014/main" val="10000"/>
                  </a:ext>
                </a:extLst>
              </a:tr>
              <a:tr h="371078">
                <a:tc>
                  <a:txBody>
                    <a:bodyPr/>
                    <a:lstStyle/>
                    <a:p>
                      <a:r>
                        <a:rPr lang="en-US" altLang="zh-CN" sz="1800" dirty="0" err="1"/>
                        <a:t>Tj</a:t>
                      </a:r>
                      <a:r>
                        <a:rPr lang="en-US" altLang="zh-CN" sz="1800" dirty="0"/>
                        <a:t> &gt;</a:t>
                      </a:r>
                      <a:r>
                        <a:rPr lang="en-US" altLang="zh-CN" sz="1800" baseline="0" dirty="0"/>
                        <a:t> </a:t>
                      </a:r>
                      <a:r>
                        <a:rPr lang="en-US" altLang="zh-CN" sz="1800" baseline="0" dirty="0" err="1"/>
                        <a:t>Qi</a:t>
                      </a:r>
                      <a:endParaRPr lang="zh-CN" altLang="en-US" sz="1800" dirty="0"/>
                    </a:p>
                  </a:txBody>
                  <a:tcPr marT="45749" marB="45749"/>
                </a:tc>
                <a:tc>
                  <a:txBody>
                    <a:bodyPr/>
                    <a:lstStyle/>
                    <a:p>
                      <a:r>
                        <a:rPr lang="en-US" altLang="zh-CN" sz="1800" dirty="0"/>
                        <a:t>0</a:t>
                      </a:r>
                      <a:endParaRPr lang="zh-CN" altLang="en-US" sz="1800" dirty="0"/>
                    </a:p>
                  </a:txBody>
                  <a:tcPr marT="45749" marB="45749"/>
                </a:tc>
                <a:tc>
                  <a:txBody>
                    <a:bodyPr/>
                    <a:lstStyle/>
                    <a:p>
                      <a:r>
                        <a:rPr lang="en-US" altLang="zh-CN" sz="1800" dirty="0"/>
                        <a:t>-1+sign(Tj-Q1)</a:t>
                      </a:r>
                      <a:r>
                        <a:rPr lang="en-US" altLang="zh-CN" sz="1800" baseline="0" dirty="0"/>
                        <a:t> </a:t>
                      </a:r>
                      <a:endParaRPr lang="zh-CN" altLang="en-US" sz="1800" dirty="0"/>
                    </a:p>
                  </a:txBody>
                  <a:tcPr marT="45749" marB="45749"/>
                </a:tc>
                <a:extLst>
                  <a:ext uri="{0D108BD9-81ED-4DB2-BD59-A6C34878D82A}">
                    <a16:rowId xmlns:a16="http://schemas.microsoft.com/office/drawing/2014/main" val="10001"/>
                  </a:ext>
                </a:extLst>
              </a:tr>
              <a:tr h="371078">
                <a:tc>
                  <a:txBody>
                    <a:bodyPr/>
                    <a:lstStyle/>
                    <a:p>
                      <a:r>
                        <a:rPr lang="en-US" altLang="zh-CN" sz="1800" dirty="0" err="1"/>
                        <a:t>Tj</a:t>
                      </a:r>
                      <a:r>
                        <a:rPr lang="en-US" altLang="zh-CN" sz="1800" dirty="0"/>
                        <a:t> = </a:t>
                      </a:r>
                      <a:r>
                        <a:rPr lang="en-US" altLang="zh-CN" sz="1800" dirty="0" err="1"/>
                        <a:t>Qi</a:t>
                      </a:r>
                      <a:endParaRPr lang="zh-CN" altLang="en-US" sz="1800" dirty="0"/>
                    </a:p>
                  </a:txBody>
                  <a:tcPr marT="45749" marB="45749"/>
                </a:tc>
                <a:tc>
                  <a:txBody>
                    <a:bodyPr/>
                    <a:lstStyle/>
                    <a:p>
                      <a:r>
                        <a:rPr lang="en-US" altLang="zh-CN" sz="1800" dirty="0"/>
                        <a:t>-1</a:t>
                      </a:r>
                      <a:endParaRPr lang="zh-CN" altLang="en-US" sz="1800" dirty="0"/>
                    </a:p>
                  </a:txBody>
                  <a:tcPr marT="45749" marB="45749"/>
                </a:tc>
                <a:tc>
                  <a:txBody>
                    <a:bodyPr/>
                    <a:lstStyle/>
                    <a:p>
                      <a:r>
                        <a:rPr lang="en-US" altLang="zh-CN" sz="1800" dirty="0"/>
                        <a:t>-1+sign(Tj-Q1){-1,0}</a:t>
                      </a:r>
                      <a:endParaRPr lang="zh-CN" altLang="en-US" sz="1800" dirty="0"/>
                    </a:p>
                  </a:txBody>
                  <a:tcPr marT="45749" marB="45749"/>
                </a:tc>
                <a:extLst>
                  <a:ext uri="{0D108BD9-81ED-4DB2-BD59-A6C34878D82A}">
                    <a16:rowId xmlns:a16="http://schemas.microsoft.com/office/drawing/2014/main" val="10002"/>
                  </a:ext>
                </a:extLst>
              </a:tr>
              <a:tr h="371078">
                <a:tc>
                  <a:txBody>
                    <a:bodyPr/>
                    <a:lstStyle/>
                    <a:p>
                      <a:r>
                        <a:rPr lang="en-US" altLang="zh-CN" sz="1800" dirty="0" err="1"/>
                        <a:t>Tj</a:t>
                      </a:r>
                      <a:r>
                        <a:rPr lang="en-US" altLang="zh-CN" sz="1800" dirty="0"/>
                        <a:t> &lt; </a:t>
                      </a:r>
                      <a:r>
                        <a:rPr lang="en-US" altLang="zh-CN" sz="1800" dirty="0" err="1"/>
                        <a:t>Qi</a:t>
                      </a:r>
                      <a:endParaRPr lang="zh-CN" altLang="en-US" sz="1800" dirty="0"/>
                    </a:p>
                  </a:txBody>
                  <a:tcPr marT="45749" marB="45749"/>
                </a:tc>
                <a:tc>
                  <a:txBody>
                    <a:bodyPr/>
                    <a:lstStyle/>
                    <a:p>
                      <a:r>
                        <a:rPr lang="en-US" altLang="zh-CN" sz="1800" dirty="0"/>
                        <a:t>-2</a:t>
                      </a:r>
                      <a:endParaRPr lang="zh-CN" altLang="en-US" sz="1800" dirty="0"/>
                    </a:p>
                  </a:txBody>
                  <a:tcPr marT="45749" marB="45749"/>
                </a:tc>
                <a:tc>
                  <a:txBody>
                    <a:bodyPr/>
                    <a:lstStyle/>
                    <a:p>
                      <a:r>
                        <a:rPr lang="en-US" altLang="zh-CN" sz="1800" dirty="0"/>
                        <a:t>-2</a:t>
                      </a:r>
                      <a:endParaRPr lang="zh-CN" altLang="en-US" sz="1800" dirty="0"/>
                    </a:p>
                  </a:txBody>
                  <a:tcPr marT="45749" marB="45749"/>
                </a:tc>
                <a:extLst>
                  <a:ext uri="{0D108BD9-81ED-4DB2-BD59-A6C34878D82A}">
                    <a16:rowId xmlns:a16="http://schemas.microsoft.com/office/drawing/2014/main" val="10003"/>
                  </a:ext>
                </a:extLst>
              </a:tr>
            </a:tbl>
          </a:graphicData>
        </a:graphic>
      </p:graphicFrame>
      <p:sp>
        <p:nvSpPr>
          <p:cNvPr id="124964" name="Oval 23">
            <a:extLst>
              <a:ext uri="{FF2B5EF4-FFF2-40B4-BE49-F238E27FC236}">
                <a16:creationId xmlns:a16="http://schemas.microsoft.com/office/drawing/2014/main" id="{B865C9ED-8C84-401D-85D9-0DCF6273CA94}"/>
              </a:ext>
            </a:extLst>
          </p:cNvPr>
          <p:cNvSpPr>
            <a:spLocks noChangeArrowheads="1"/>
          </p:cNvSpPr>
          <p:nvPr/>
        </p:nvSpPr>
        <p:spPr bwMode="auto">
          <a:xfrm>
            <a:off x="9840913" y="4724400"/>
            <a:ext cx="504825" cy="539750"/>
          </a:xfrm>
          <a:prstGeom prst="ellipse">
            <a:avLst/>
          </a:prstGeom>
          <a:solidFill>
            <a:schemeClr val="hlink"/>
          </a:solidFill>
          <a:ln w="9525">
            <a:solidFill>
              <a:schemeClr val="tx1"/>
            </a:solidFill>
            <a:round/>
            <a:headEnd/>
            <a:tailEnd/>
          </a:ln>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a:solidFill>
                  <a:srgbClr val="000000"/>
                </a:solidFill>
                <a:latin typeface="Times New Roman" panose="02020603050405020304" pitchFamily="18" charset="0"/>
                <a:ea typeface="华文楷体" panose="02010600040101010101" pitchFamily="2" charset="-122"/>
              </a:rPr>
              <a:t>Qn</a:t>
            </a:r>
          </a:p>
        </p:txBody>
      </p:sp>
    </p:spTree>
    <p:extLst>
      <p:ext uri="{BB962C8B-B14F-4D97-AF65-F5344CB8AC3E}">
        <p14:creationId xmlns:p14="http://schemas.microsoft.com/office/powerpoint/2010/main" val="17457460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962487" y="2103437"/>
            <a:ext cx="10515600" cy="1325563"/>
          </a:xfrm>
        </p:spPr>
        <p:txBody>
          <a:bodyPr>
            <a:normAutofit/>
          </a:bodyPr>
          <a:lstStyle/>
          <a:p>
            <a:pPr algn="ctr"/>
            <a:r>
              <a:rPr lang="en-US" altLang="zh-CN" sz="4000" dirty="0">
                <a:hlinkClick r:id="rId2" action="ppaction://hlinkfile"/>
              </a:rPr>
              <a:t>Physical Examination</a:t>
            </a:r>
            <a:endParaRPr lang="zh-CN" altLang="en-US" sz="4000" dirty="0"/>
          </a:p>
        </p:txBody>
      </p:sp>
    </p:spTree>
    <p:extLst>
      <p:ext uri="{BB962C8B-B14F-4D97-AF65-F5344CB8AC3E}">
        <p14:creationId xmlns:p14="http://schemas.microsoft.com/office/powerpoint/2010/main" val="40512587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a:t>Consider there are only two subjuects</a:t>
            </a:r>
            <a:r>
              <a:rPr lang="zh-CN" altLang="en-US"/>
              <a:t> </a:t>
            </a:r>
            <a:r>
              <a:rPr lang="en-US" altLang="zh-CN"/>
              <a:t>(</a:t>
            </a:r>
            <a:r>
              <a:rPr lang="en-US" altLang="zh-CN" dirty="0" err="1"/>
              <a:t>a</a:t>
            </a:r>
            <a:r>
              <a:rPr lang="en-US" altLang="zh-CN" baseline="-25000" dirty="0" err="1"/>
              <a:t>i</a:t>
            </a:r>
            <a:r>
              <a:rPr lang="en-US" altLang="zh-CN" dirty="0" err="1"/>
              <a:t>,b</a:t>
            </a:r>
            <a:r>
              <a:rPr lang="en-US" altLang="zh-CN" baseline="-25000" dirty="0" err="1"/>
              <a:t>i</a:t>
            </a:r>
            <a:r>
              <a:rPr lang="en-US" altLang="zh-CN" dirty="0"/>
              <a:t>),(</a:t>
            </a:r>
            <a:r>
              <a:rPr lang="en-US" altLang="zh-CN" dirty="0" err="1"/>
              <a:t>a</a:t>
            </a:r>
            <a:r>
              <a:rPr lang="en-US" altLang="zh-CN" baseline="-25000" dirty="0" err="1"/>
              <a:t>j</a:t>
            </a:r>
            <a:r>
              <a:rPr lang="en-US" altLang="zh-CN" dirty="0" err="1"/>
              <a:t>,</a:t>
            </a:r>
            <a:r>
              <a:rPr lang="en-US" altLang="zh-CN" err="1"/>
              <a:t>b</a:t>
            </a:r>
            <a:r>
              <a:rPr lang="en-US" altLang="zh-CN" baseline="-25000" err="1"/>
              <a:t>j</a:t>
            </a:r>
            <a:r>
              <a:rPr lang="en-US" altLang="zh-CN"/>
              <a:t>):</a:t>
            </a:r>
            <a:endParaRPr lang="en-US" altLang="zh-CN" dirty="0"/>
          </a:p>
          <a:p>
            <a:pPr lvl="1"/>
            <a:r>
              <a:rPr lang="en-US" altLang="zh-CN" dirty="0" err="1"/>
              <a:t>T</a:t>
            </a:r>
            <a:r>
              <a:rPr lang="en-US" altLang="zh-CN" baseline="-25000" dirty="0" err="1"/>
              <a:t>ij</a:t>
            </a:r>
            <a:r>
              <a:rPr lang="en-US" altLang="zh-CN" dirty="0"/>
              <a:t> = </a:t>
            </a:r>
            <a:r>
              <a:rPr lang="en-US" altLang="zh-CN" dirty="0" err="1"/>
              <a:t>a</a:t>
            </a:r>
            <a:r>
              <a:rPr lang="en-US" altLang="zh-CN" baseline="-25000" dirty="0" err="1"/>
              <a:t>i</a:t>
            </a:r>
            <a:r>
              <a:rPr lang="en-US" altLang="zh-CN" dirty="0"/>
              <a:t> + </a:t>
            </a:r>
            <a:r>
              <a:rPr lang="en-US" altLang="zh-CN" dirty="0" err="1"/>
              <a:t>a</a:t>
            </a:r>
            <a:r>
              <a:rPr lang="en-US" altLang="zh-CN" baseline="-25000" dirty="0" err="1"/>
              <a:t>i</a:t>
            </a:r>
            <a:r>
              <a:rPr lang="en-US" altLang="zh-CN" dirty="0" err="1"/>
              <a:t>b</a:t>
            </a:r>
            <a:r>
              <a:rPr lang="en-US" altLang="zh-CN" baseline="-25000" dirty="0" err="1"/>
              <a:t>j</a:t>
            </a:r>
            <a:r>
              <a:rPr lang="en-US" altLang="zh-CN" dirty="0"/>
              <a:t> + </a:t>
            </a:r>
            <a:r>
              <a:rPr lang="en-US" altLang="zh-CN" dirty="0" err="1"/>
              <a:t>a</a:t>
            </a:r>
            <a:r>
              <a:rPr lang="en-US" altLang="zh-CN" baseline="-25000" dirty="0" err="1"/>
              <a:t>j</a:t>
            </a:r>
            <a:endParaRPr lang="en-US" altLang="zh-CN" baseline="-25000" dirty="0"/>
          </a:p>
          <a:p>
            <a:pPr lvl="1"/>
            <a:r>
              <a:rPr lang="en-US" altLang="zh-CN" dirty="0" err="1"/>
              <a:t>T</a:t>
            </a:r>
            <a:r>
              <a:rPr lang="en-US" altLang="zh-CN" baseline="-25000" dirty="0" err="1"/>
              <a:t>ji</a:t>
            </a:r>
            <a:r>
              <a:rPr lang="en-US" altLang="zh-CN" dirty="0"/>
              <a:t> = </a:t>
            </a:r>
            <a:r>
              <a:rPr lang="en-US" altLang="zh-CN" dirty="0" err="1"/>
              <a:t>a</a:t>
            </a:r>
            <a:r>
              <a:rPr lang="en-US" altLang="zh-CN" baseline="-25000" dirty="0" err="1"/>
              <a:t>j</a:t>
            </a:r>
            <a:r>
              <a:rPr lang="en-US" altLang="zh-CN" dirty="0"/>
              <a:t> + </a:t>
            </a:r>
            <a:r>
              <a:rPr lang="en-US" altLang="zh-CN" dirty="0" err="1"/>
              <a:t>a</a:t>
            </a:r>
            <a:r>
              <a:rPr lang="en-US" altLang="zh-CN" baseline="-25000" dirty="0" err="1"/>
              <a:t>j</a:t>
            </a:r>
            <a:r>
              <a:rPr lang="en-US" altLang="zh-CN" dirty="0" err="1"/>
              <a:t>b</a:t>
            </a:r>
            <a:r>
              <a:rPr lang="en-US" altLang="zh-CN" baseline="-25000" dirty="0" err="1"/>
              <a:t>i</a:t>
            </a:r>
            <a:r>
              <a:rPr lang="en-US" altLang="zh-CN" dirty="0"/>
              <a:t> + </a:t>
            </a:r>
            <a:r>
              <a:rPr lang="en-US" altLang="zh-CN" dirty="0" err="1"/>
              <a:t>a</a:t>
            </a:r>
            <a:r>
              <a:rPr lang="en-US" altLang="zh-CN" baseline="-25000" dirty="0" err="1"/>
              <a:t>i</a:t>
            </a:r>
            <a:r>
              <a:rPr lang="en-US" altLang="zh-CN" baseline="-25000" dirty="0"/>
              <a:t> </a:t>
            </a:r>
            <a:endParaRPr lang="en-US" altLang="zh-CN" dirty="0"/>
          </a:p>
          <a:p>
            <a:pPr lvl="1"/>
            <a:r>
              <a:rPr lang="en-US" altLang="zh-CN"/>
              <a:t>T</a:t>
            </a:r>
            <a:r>
              <a:rPr lang="en-US" altLang="zh-CN" baseline="-25000"/>
              <a:t>ij</a:t>
            </a:r>
            <a:r>
              <a:rPr lang="en-US" altLang="zh-CN"/>
              <a:t> &lt;= T</a:t>
            </a:r>
            <a:r>
              <a:rPr lang="en-US" altLang="zh-CN" baseline="-25000"/>
              <a:t>ji</a:t>
            </a:r>
            <a:r>
              <a:rPr lang="en-US" altLang="zh-CN"/>
              <a:t> when a</a:t>
            </a:r>
            <a:r>
              <a:rPr lang="en-US" altLang="zh-CN" baseline="-25000"/>
              <a:t>i</a:t>
            </a:r>
            <a:r>
              <a:rPr lang="en-US" altLang="zh-CN"/>
              <a:t>b</a:t>
            </a:r>
            <a:r>
              <a:rPr lang="en-US" altLang="zh-CN" baseline="-25000"/>
              <a:t>j</a:t>
            </a:r>
            <a:r>
              <a:rPr lang="en-US" altLang="zh-CN"/>
              <a:t>&lt;=a</a:t>
            </a:r>
            <a:r>
              <a:rPr lang="en-US" altLang="zh-CN" baseline="-25000"/>
              <a:t>j</a:t>
            </a:r>
            <a:r>
              <a:rPr lang="en-US" altLang="zh-CN"/>
              <a:t>b</a:t>
            </a:r>
            <a:r>
              <a:rPr lang="en-US" altLang="zh-CN" baseline="-25000"/>
              <a:t>i</a:t>
            </a:r>
            <a:r>
              <a:rPr lang="en-US" altLang="zh-CN"/>
              <a:t>, that is, a</a:t>
            </a:r>
            <a:r>
              <a:rPr lang="en-US" altLang="zh-CN" baseline="-25000"/>
              <a:t>i</a:t>
            </a:r>
            <a:r>
              <a:rPr lang="en-US" altLang="zh-CN"/>
              <a:t>/b</a:t>
            </a:r>
            <a:r>
              <a:rPr lang="en-US" altLang="zh-CN" baseline="-25000"/>
              <a:t>i</a:t>
            </a:r>
            <a:r>
              <a:rPr lang="en-US" altLang="zh-CN"/>
              <a:t>&lt;=a</a:t>
            </a:r>
            <a:r>
              <a:rPr lang="en-US" altLang="zh-CN" baseline="-25000"/>
              <a:t>j</a:t>
            </a:r>
            <a:r>
              <a:rPr lang="en-US" altLang="zh-CN"/>
              <a:t>/b</a:t>
            </a:r>
            <a:r>
              <a:rPr lang="en-US" altLang="zh-CN" baseline="-25000"/>
              <a:t>j</a:t>
            </a:r>
          </a:p>
          <a:p>
            <a:r>
              <a:rPr lang="en-US" altLang="zh-CN"/>
              <a:t>When n&gt;2</a:t>
            </a:r>
          </a:p>
          <a:p>
            <a:pPr lvl="1"/>
            <a:r>
              <a:rPr lang="en-US" altLang="zh-CN"/>
              <a:t>T+ a</a:t>
            </a:r>
            <a:r>
              <a:rPr lang="en-US" altLang="zh-CN" baseline="-25000"/>
              <a:t>i</a:t>
            </a:r>
            <a:r>
              <a:rPr lang="en-US" altLang="zh-CN"/>
              <a:t> + b</a:t>
            </a:r>
            <a:r>
              <a:rPr lang="en-US" altLang="zh-CN" baseline="-25000"/>
              <a:t>i</a:t>
            </a:r>
            <a:r>
              <a:rPr lang="en-US" altLang="zh-CN"/>
              <a:t>T +a</a:t>
            </a:r>
            <a:r>
              <a:rPr lang="en-US" altLang="zh-CN" baseline="-25000"/>
              <a:t>j</a:t>
            </a:r>
            <a:r>
              <a:rPr lang="en-US" altLang="zh-CN"/>
              <a:t>+Tb</a:t>
            </a:r>
            <a:r>
              <a:rPr lang="en-US" altLang="zh-CN" baseline="-25000"/>
              <a:t>j</a:t>
            </a:r>
            <a:r>
              <a:rPr lang="en-US" altLang="zh-CN"/>
              <a:t>+a</a:t>
            </a:r>
            <a:r>
              <a:rPr lang="en-US" altLang="zh-CN" baseline="-25000"/>
              <a:t>i</a:t>
            </a:r>
            <a:r>
              <a:rPr lang="en-US" altLang="zh-CN"/>
              <a:t>b</a:t>
            </a:r>
            <a:r>
              <a:rPr lang="en-US" altLang="zh-CN" baseline="-25000"/>
              <a:t>j</a:t>
            </a:r>
            <a:r>
              <a:rPr lang="en-US" altLang="zh-CN"/>
              <a:t> + b</a:t>
            </a:r>
            <a:r>
              <a:rPr lang="en-US" altLang="zh-CN" baseline="-25000"/>
              <a:t>i</a:t>
            </a:r>
            <a:r>
              <a:rPr lang="en-US" altLang="zh-CN"/>
              <a:t>b</a:t>
            </a:r>
            <a:r>
              <a:rPr lang="en-US" altLang="zh-CN" baseline="-25000"/>
              <a:t>j</a:t>
            </a:r>
            <a:r>
              <a:rPr lang="en-US" altLang="zh-CN"/>
              <a:t>T</a:t>
            </a:r>
            <a:endParaRPr lang="en-US" altLang="zh-CN" baseline="-25000"/>
          </a:p>
          <a:p>
            <a:pPr lvl="1"/>
            <a:r>
              <a:rPr lang="en-US" altLang="zh-CN"/>
              <a:t>T+ a</a:t>
            </a:r>
            <a:r>
              <a:rPr lang="en-US" altLang="zh-CN" baseline="-25000"/>
              <a:t>j</a:t>
            </a:r>
            <a:r>
              <a:rPr lang="en-US" altLang="zh-CN"/>
              <a:t> + b</a:t>
            </a:r>
            <a:r>
              <a:rPr lang="en-US" altLang="zh-CN" baseline="-25000"/>
              <a:t>j</a:t>
            </a:r>
            <a:r>
              <a:rPr lang="en-US" altLang="zh-CN"/>
              <a:t>T +a</a:t>
            </a:r>
            <a:r>
              <a:rPr lang="en-US" altLang="zh-CN" baseline="-25000"/>
              <a:t>i</a:t>
            </a:r>
            <a:r>
              <a:rPr lang="en-US" altLang="zh-CN"/>
              <a:t>+Tb</a:t>
            </a:r>
            <a:r>
              <a:rPr lang="en-US" altLang="zh-CN" baseline="-25000"/>
              <a:t>i</a:t>
            </a:r>
            <a:r>
              <a:rPr lang="en-US" altLang="zh-CN"/>
              <a:t>+a</a:t>
            </a:r>
            <a:r>
              <a:rPr lang="en-US" altLang="zh-CN" baseline="-25000"/>
              <a:t>j</a:t>
            </a:r>
            <a:r>
              <a:rPr lang="en-US" altLang="zh-CN"/>
              <a:t>b</a:t>
            </a:r>
            <a:r>
              <a:rPr lang="en-US" altLang="zh-CN" baseline="-25000"/>
              <a:t>i</a:t>
            </a:r>
            <a:r>
              <a:rPr lang="en-US" altLang="zh-CN"/>
              <a:t> + b</a:t>
            </a:r>
            <a:r>
              <a:rPr lang="en-US" altLang="zh-CN" baseline="-25000"/>
              <a:t>j</a:t>
            </a:r>
            <a:r>
              <a:rPr lang="en-US" altLang="zh-CN"/>
              <a:t>b</a:t>
            </a:r>
            <a:r>
              <a:rPr lang="en-US" altLang="zh-CN" baseline="-25000"/>
              <a:t>i</a:t>
            </a:r>
            <a:r>
              <a:rPr lang="en-US" altLang="zh-CN"/>
              <a:t>T</a:t>
            </a:r>
            <a:endParaRPr lang="en-US" altLang="zh-CN" baseline="-25000"/>
          </a:p>
          <a:p>
            <a:pPr lvl="1"/>
            <a:r>
              <a:rPr lang="en-US" altLang="zh-CN"/>
              <a:t>Still, a</a:t>
            </a:r>
            <a:r>
              <a:rPr lang="en-US" altLang="zh-CN" baseline="-25000"/>
              <a:t>i</a:t>
            </a:r>
            <a:r>
              <a:rPr lang="en-US" altLang="zh-CN"/>
              <a:t>b</a:t>
            </a:r>
            <a:r>
              <a:rPr lang="en-US" altLang="zh-CN" baseline="-25000"/>
              <a:t>j</a:t>
            </a:r>
            <a:r>
              <a:rPr lang="en-US" altLang="zh-CN"/>
              <a:t>&lt;=a</a:t>
            </a:r>
            <a:r>
              <a:rPr lang="en-US" altLang="zh-CN" baseline="-25000"/>
              <a:t>j</a:t>
            </a:r>
            <a:r>
              <a:rPr lang="en-US" altLang="zh-CN"/>
              <a:t>b</a:t>
            </a:r>
            <a:r>
              <a:rPr lang="en-US" altLang="zh-CN" baseline="-25000"/>
              <a:t>i </a:t>
            </a:r>
            <a:r>
              <a:rPr lang="en-US" altLang="zh-CN"/>
              <a:t>means a</a:t>
            </a:r>
            <a:r>
              <a:rPr lang="en-US" altLang="zh-CN" baseline="-25000"/>
              <a:t>i</a:t>
            </a:r>
            <a:r>
              <a:rPr lang="en-US" altLang="zh-CN"/>
              <a:t>/b</a:t>
            </a:r>
            <a:r>
              <a:rPr lang="en-US" altLang="zh-CN" baseline="-25000"/>
              <a:t>i</a:t>
            </a:r>
            <a:r>
              <a:rPr lang="en-US" altLang="zh-CN"/>
              <a:t>&lt;=a</a:t>
            </a:r>
            <a:r>
              <a:rPr lang="en-US" altLang="zh-CN" baseline="-25000"/>
              <a:t>j</a:t>
            </a:r>
            <a:r>
              <a:rPr lang="en-US" altLang="zh-CN"/>
              <a:t>/b</a:t>
            </a:r>
            <a:r>
              <a:rPr lang="en-US" altLang="zh-CN" baseline="-25000"/>
              <a:t>j</a:t>
            </a:r>
          </a:p>
          <a:p>
            <a:r>
              <a:rPr lang="en-US" altLang="zh-CN"/>
              <a:t>Sort</a:t>
            </a:r>
            <a:r>
              <a:rPr lang="zh-CN" altLang="en-US"/>
              <a:t> </a:t>
            </a:r>
            <a:r>
              <a:rPr lang="en-US" altLang="zh-CN"/>
              <a:t>according</a:t>
            </a:r>
            <a:r>
              <a:rPr lang="zh-CN" altLang="en-US"/>
              <a:t> </a:t>
            </a:r>
            <a:r>
              <a:rPr lang="en-US" altLang="zh-CN"/>
              <a:t>to</a:t>
            </a:r>
            <a:r>
              <a:rPr lang="zh-CN" altLang="en-US"/>
              <a:t> </a:t>
            </a:r>
            <a:r>
              <a:rPr lang="en-US" altLang="zh-CN"/>
              <a:t>a</a:t>
            </a:r>
            <a:r>
              <a:rPr lang="en-US" altLang="zh-CN" baseline="-25000"/>
              <a:t>i</a:t>
            </a:r>
            <a:r>
              <a:rPr lang="en-US" altLang="zh-CN"/>
              <a:t>/b</a:t>
            </a:r>
            <a:r>
              <a:rPr lang="en-US" altLang="zh-CN" baseline="-25000"/>
              <a:t>i</a:t>
            </a:r>
            <a:endParaRPr lang="en-US" altLang="zh-CN" baseline="-25000" dirty="0"/>
          </a:p>
        </p:txBody>
      </p:sp>
    </p:spTree>
    <p:extLst>
      <p:ext uri="{BB962C8B-B14F-4D97-AF65-F5344CB8AC3E}">
        <p14:creationId xmlns:p14="http://schemas.microsoft.com/office/powerpoint/2010/main" val="35453798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FDCEE5-0F94-4BA4-AC89-E60D7CAB4053}"/>
              </a:ext>
            </a:extLst>
          </p:cNvPr>
          <p:cNvSpPr>
            <a:spLocks noGrp="1"/>
          </p:cNvSpPr>
          <p:nvPr>
            <p:ph type="title"/>
          </p:nvPr>
        </p:nvSpPr>
        <p:spPr/>
        <p:txBody>
          <a:bodyPr/>
          <a:lstStyle/>
          <a:p>
            <a:r>
              <a:rPr lang="en-US" altLang="zh-CN" dirty="0"/>
              <a:t>STL-sort()</a:t>
            </a:r>
            <a:endParaRPr lang="zh-CN" altLang="en-US" dirty="0"/>
          </a:p>
        </p:txBody>
      </p:sp>
      <p:sp>
        <p:nvSpPr>
          <p:cNvPr id="5" name="文本框 4">
            <a:extLst>
              <a:ext uri="{FF2B5EF4-FFF2-40B4-BE49-F238E27FC236}">
                <a16:creationId xmlns:a16="http://schemas.microsoft.com/office/drawing/2014/main" id="{5C937049-0413-415A-8D5B-A78167246148}"/>
              </a:ext>
            </a:extLst>
          </p:cNvPr>
          <p:cNvSpPr txBox="1"/>
          <p:nvPr/>
        </p:nvSpPr>
        <p:spPr>
          <a:xfrm>
            <a:off x="953610" y="2195367"/>
            <a:ext cx="6094520" cy="2862322"/>
          </a:xfrm>
          <a:prstGeom prst="rect">
            <a:avLst/>
          </a:prstGeom>
          <a:noFill/>
        </p:spPr>
        <p:txBody>
          <a:bodyPr wrap="square">
            <a:spAutoFit/>
          </a:bodyPr>
          <a:lstStyle/>
          <a:p>
            <a:r>
              <a:rPr lang="zh-CN" altLang="en-US" dirty="0"/>
              <a:t>struct test{</a:t>
            </a:r>
          </a:p>
          <a:p>
            <a:r>
              <a:rPr lang="zh-CN" altLang="en-US" dirty="0"/>
              <a:t>	double a;</a:t>
            </a:r>
          </a:p>
          <a:p>
            <a:r>
              <a:rPr lang="zh-CN" altLang="en-US" dirty="0"/>
              <a:t>	string b;</a:t>
            </a:r>
          </a:p>
          <a:p>
            <a:r>
              <a:rPr lang="zh-CN" altLang="en-US" dirty="0"/>
              <a:t>};</a:t>
            </a:r>
          </a:p>
          <a:p>
            <a:endParaRPr lang="zh-CN" altLang="en-US" dirty="0"/>
          </a:p>
          <a:p>
            <a:r>
              <a:rPr lang="zh-CN" altLang="en-US" dirty="0"/>
              <a:t>bool cmp(test t1, test t2){</a:t>
            </a:r>
          </a:p>
          <a:p>
            <a:r>
              <a:rPr lang="zh-CN" altLang="en-US" dirty="0"/>
              <a:t>	if(</a:t>
            </a:r>
            <a:r>
              <a:rPr lang="zh-CN" altLang="en-US" dirty="0">
                <a:solidFill>
                  <a:srgbClr val="FF0000"/>
                </a:solidFill>
              </a:rPr>
              <a:t>fabs(t1.a-t2.a)&gt;0.000001</a:t>
            </a:r>
            <a:r>
              <a:rPr lang="zh-CN" altLang="en-US" dirty="0"/>
              <a:t>)</a:t>
            </a:r>
          </a:p>
          <a:p>
            <a:r>
              <a:rPr lang="zh-CN" altLang="en-US" dirty="0"/>
              <a:t>		return t1.a&gt;t2.a;</a:t>
            </a:r>
          </a:p>
          <a:p>
            <a:r>
              <a:rPr lang="zh-CN" altLang="en-US" dirty="0"/>
              <a:t>	return t1.b&gt;t2.b;</a:t>
            </a:r>
          </a:p>
          <a:p>
            <a:r>
              <a:rPr lang="zh-CN" altLang="en-US" dirty="0"/>
              <a:t>}</a:t>
            </a:r>
          </a:p>
        </p:txBody>
      </p:sp>
    </p:spTree>
    <p:extLst>
      <p:ext uri="{BB962C8B-B14F-4D97-AF65-F5344CB8AC3E}">
        <p14:creationId xmlns:p14="http://schemas.microsoft.com/office/powerpoint/2010/main" val="6078953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文本框 9217">
            <a:extLst>
              <a:ext uri="{FF2B5EF4-FFF2-40B4-BE49-F238E27FC236}">
                <a16:creationId xmlns:a16="http://schemas.microsoft.com/office/drawing/2014/main" id="{CDDDF46E-DCF0-4EB3-8D27-5186092D7496}"/>
              </a:ext>
            </a:extLst>
          </p:cNvPr>
          <p:cNvSpPr txBox="1">
            <a:spLocks noChangeArrowheads="1"/>
          </p:cNvSpPr>
          <p:nvPr/>
        </p:nvSpPr>
        <p:spPr bwMode="auto">
          <a:xfrm>
            <a:off x="2063751" y="836613"/>
            <a:ext cx="69453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71500" indent="-571500">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indent="0" algn="ctr" eaLnBrk="1" hangingPunct="1">
              <a:spcBef>
                <a:spcPct val="50000"/>
              </a:spcBef>
              <a:buNone/>
            </a:pPr>
            <a:r>
              <a:rPr lang="en-US" altLang="zh-CN" sz="3600" b="1"/>
              <a:t>Huffman coding</a:t>
            </a:r>
            <a:endParaRPr lang="zh-CN" altLang="en-US" sz="3600" b="1"/>
          </a:p>
        </p:txBody>
      </p:sp>
      <p:sp>
        <p:nvSpPr>
          <p:cNvPr id="22531" name="文本框 9218">
            <a:extLst>
              <a:ext uri="{FF2B5EF4-FFF2-40B4-BE49-F238E27FC236}">
                <a16:creationId xmlns:a16="http://schemas.microsoft.com/office/drawing/2014/main" id="{C01C7BAB-5075-446F-8627-6EB0AA92843A}"/>
              </a:ext>
            </a:extLst>
          </p:cNvPr>
          <p:cNvSpPr txBox="1">
            <a:spLocks noChangeArrowheads="1"/>
          </p:cNvSpPr>
          <p:nvPr/>
        </p:nvSpPr>
        <p:spPr bwMode="auto">
          <a:xfrm>
            <a:off x="1919288" y="1916114"/>
            <a:ext cx="5905500"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457200" indent="-457200" algn="just" eaLnBrk="1" hangingPunct="1">
              <a:spcBef>
                <a:spcPct val="50000"/>
              </a:spcBef>
              <a:buFont typeface="Arial" panose="020B0604020202020204" pitchFamily="34" charset="0"/>
              <a:buChar char="•"/>
            </a:pPr>
            <a:r>
              <a:rPr lang="en-US" altLang="zh-CN" sz="2800">
                <a:solidFill>
                  <a:schemeClr val="tx1"/>
                </a:solidFill>
                <a:latin typeface="Times New Roman" panose="02020603050405020304" pitchFamily="18" charset="0"/>
                <a:ea typeface="宋体" panose="02010600030101010101" pitchFamily="2" charset="-122"/>
              </a:rPr>
              <a:t> A Huffman code is a particular type of </a:t>
            </a:r>
            <a:r>
              <a:rPr lang="en-US" altLang="zh-CN" sz="2800">
                <a:solidFill>
                  <a:srgbClr val="FF0000"/>
                </a:solidFill>
                <a:latin typeface="Times New Roman" panose="02020603050405020304" pitchFamily="18" charset="0"/>
                <a:ea typeface="宋体" panose="02010600030101010101" pitchFamily="2" charset="-122"/>
              </a:rPr>
              <a:t>optimal prefix code </a:t>
            </a:r>
            <a:r>
              <a:rPr lang="en-US" altLang="zh-CN" sz="2800">
                <a:solidFill>
                  <a:schemeClr val="tx1"/>
                </a:solidFill>
                <a:latin typeface="Times New Roman" panose="02020603050405020304" pitchFamily="18" charset="0"/>
                <a:ea typeface="宋体" panose="02010600030101010101" pitchFamily="2" charset="-122"/>
              </a:rPr>
              <a:t>that is commonly used for lossless data compression.  </a:t>
            </a:r>
          </a:p>
          <a:p>
            <a:pPr marL="457200" indent="-457200" algn="just" eaLnBrk="1" hangingPunct="1">
              <a:spcBef>
                <a:spcPct val="50000"/>
              </a:spcBef>
              <a:buFont typeface="Arial" panose="020B0604020202020204" pitchFamily="34" charset="0"/>
              <a:buChar char="•"/>
            </a:pPr>
            <a:endParaRPr lang="en-US" altLang="zh-CN" sz="2800">
              <a:solidFill>
                <a:schemeClr val="tx1"/>
              </a:solidFill>
              <a:latin typeface="Times New Roman" panose="02020603050405020304" pitchFamily="18" charset="0"/>
              <a:ea typeface="宋体" panose="02010600030101010101" pitchFamily="2" charset="-122"/>
            </a:endParaRPr>
          </a:p>
          <a:p>
            <a:pPr marL="457200" indent="-457200" algn="just" eaLnBrk="1" hangingPunct="1">
              <a:spcBef>
                <a:spcPct val="50000"/>
              </a:spcBef>
              <a:buFont typeface="Arial" panose="020B0604020202020204" pitchFamily="34" charset="0"/>
              <a:buChar char="•"/>
            </a:pPr>
            <a:r>
              <a:rPr lang="en-US" altLang="zh-CN" sz="2800">
                <a:solidFill>
                  <a:schemeClr val="tx1"/>
                </a:solidFill>
                <a:latin typeface="Times New Roman" panose="02020603050405020304" pitchFamily="18" charset="0"/>
                <a:ea typeface="宋体" panose="02010600030101010101" pitchFamily="2" charset="-122"/>
              </a:rPr>
              <a:t>Using a greedy approach</a:t>
            </a:r>
          </a:p>
        </p:txBody>
      </p:sp>
      <p:pic>
        <p:nvPicPr>
          <p:cNvPr id="22533" name="Picture 2" descr="æ´ç»´Â·éå¤«æ¼">
            <a:extLst>
              <a:ext uri="{FF2B5EF4-FFF2-40B4-BE49-F238E27FC236}">
                <a16:creationId xmlns:a16="http://schemas.microsoft.com/office/drawing/2014/main" id="{23461720-568C-4B72-843E-35337B858D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19564" y="1916114"/>
            <a:ext cx="2016125"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内容占位符 2">
            <a:extLst>
              <a:ext uri="{FF2B5EF4-FFF2-40B4-BE49-F238E27FC236}">
                <a16:creationId xmlns:a16="http://schemas.microsoft.com/office/drawing/2014/main" id="{742D4B63-650A-40DD-9444-21C23AE5239C}"/>
              </a:ext>
            </a:extLst>
          </p:cNvPr>
          <p:cNvSpPr>
            <a:spLocks noGrp="1" noChangeArrowheads="1"/>
          </p:cNvSpPr>
          <p:nvPr>
            <p:ph idx="1"/>
          </p:nvPr>
        </p:nvSpPr>
        <p:spPr>
          <a:xfrm>
            <a:off x="2209800" y="1557338"/>
            <a:ext cx="7772400" cy="4621212"/>
          </a:xfrm>
        </p:spPr>
        <p:txBody>
          <a:bodyPr/>
          <a:lstStyle/>
          <a:p>
            <a:pPr eaLnBrk="1" hangingPunct="1"/>
            <a:r>
              <a:rPr lang="en-US" altLang="zh-CN"/>
              <a:t>A string of characters only contains the five types of characters A, B, C, D, and E. The characters’ frequencies are different.</a:t>
            </a:r>
            <a:endParaRPr lang="zh-CN" altLang="en-US"/>
          </a:p>
          <a:p>
            <a:pPr eaLnBrk="1" hangingPunct="1"/>
            <a:r>
              <a:rPr lang="en-US" altLang="zh-CN"/>
              <a:t>Simple</a:t>
            </a:r>
            <a:r>
              <a:rPr lang="zh-CN" altLang="en-US"/>
              <a:t> </a:t>
            </a:r>
            <a:r>
              <a:rPr lang="en-US" altLang="zh-CN"/>
              <a:t>coding:</a:t>
            </a:r>
            <a:endParaRPr lang="zh-CN" altLang="en-US"/>
          </a:p>
          <a:p>
            <a:pPr eaLnBrk="1" hangingPunct="1"/>
            <a:endParaRPr lang="zh-CN" altLang="en-US"/>
          </a:p>
          <a:p>
            <a:pPr marL="0" indent="0" eaLnBrk="1" hangingPunct="1">
              <a:buNone/>
            </a:pPr>
            <a:endParaRPr lang="zh-CN" altLang="en-US"/>
          </a:p>
          <a:p>
            <a:pPr eaLnBrk="1" hangingPunct="1"/>
            <a:endParaRPr lang="zh-CN" altLang="en-US"/>
          </a:p>
          <a:p>
            <a:pPr eaLnBrk="1" hangingPunct="1"/>
            <a:r>
              <a:rPr lang="en-US" altLang="zh-CN"/>
              <a:t>Each character is represented using 3 bits, and the total length is </a:t>
            </a:r>
            <a:r>
              <a:rPr lang="zh-CN" altLang="en-US"/>
              <a:t>3*(3+9+6+15+19) = 156</a:t>
            </a:r>
          </a:p>
        </p:txBody>
      </p:sp>
      <p:sp>
        <p:nvSpPr>
          <p:cNvPr id="23556" name="文本框 9217">
            <a:extLst>
              <a:ext uri="{FF2B5EF4-FFF2-40B4-BE49-F238E27FC236}">
                <a16:creationId xmlns:a16="http://schemas.microsoft.com/office/drawing/2014/main" id="{04962E6E-1EA8-4BC1-97BC-F5C3A44B64EB}"/>
              </a:ext>
            </a:extLst>
          </p:cNvPr>
          <p:cNvSpPr txBox="1">
            <a:spLocks noChangeArrowheads="1"/>
          </p:cNvSpPr>
          <p:nvPr/>
        </p:nvSpPr>
        <p:spPr bwMode="auto">
          <a:xfrm>
            <a:off x="2819400" y="679451"/>
            <a:ext cx="6553200"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lgn="ctr" eaLnBrk="1" hangingPunct="1">
              <a:spcBef>
                <a:spcPct val="50000"/>
              </a:spcBef>
            </a:pPr>
            <a:r>
              <a:rPr lang="en-US" altLang="zh-CN" sz="3600" b="1">
                <a:solidFill>
                  <a:srgbClr val="0070C0"/>
                </a:solidFill>
                <a:latin typeface="Times New Roman" panose="02020603050405020304" pitchFamily="18" charset="0"/>
                <a:ea typeface="宋体" panose="02010600030101010101" pitchFamily="2" charset="-122"/>
              </a:rPr>
              <a:t> Simple coding</a:t>
            </a:r>
            <a:endParaRPr lang="zh-CN" altLang="en-US" sz="3600" b="1">
              <a:solidFill>
                <a:srgbClr val="0070C0"/>
              </a:solidFill>
              <a:latin typeface="Times New Roman" panose="02020603050405020304" pitchFamily="18" charset="0"/>
              <a:ea typeface="宋体" panose="02010600030101010101" pitchFamily="2" charset="-122"/>
            </a:endParaRPr>
          </a:p>
        </p:txBody>
      </p:sp>
      <p:pic>
        <p:nvPicPr>
          <p:cNvPr id="3" name="图片 2">
            <a:extLst>
              <a:ext uri="{FF2B5EF4-FFF2-40B4-BE49-F238E27FC236}">
                <a16:creationId xmlns:a16="http://schemas.microsoft.com/office/drawing/2014/main" id="{6E430968-1CFD-4612-8C63-DB3643826FD2}"/>
              </a:ext>
            </a:extLst>
          </p:cNvPr>
          <p:cNvPicPr>
            <a:picLocks noChangeAspect="1"/>
          </p:cNvPicPr>
          <p:nvPr/>
        </p:nvPicPr>
        <p:blipFill>
          <a:blip r:embed="rId2"/>
          <a:stretch>
            <a:fillRect/>
          </a:stretch>
        </p:blipFill>
        <p:spPr>
          <a:xfrm>
            <a:off x="2544029" y="3429000"/>
            <a:ext cx="6828571" cy="119047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内容占位符 2">
            <a:extLst>
              <a:ext uri="{FF2B5EF4-FFF2-40B4-BE49-F238E27FC236}">
                <a16:creationId xmlns:a16="http://schemas.microsoft.com/office/drawing/2014/main" id="{FAF35106-2C4D-4D2E-95E1-9CA53261DB7C}"/>
              </a:ext>
            </a:extLst>
          </p:cNvPr>
          <p:cNvSpPr>
            <a:spLocks noGrp="1" noChangeArrowheads="1"/>
          </p:cNvSpPr>
          <p:nvPr>
            <p:ph idx="1"/>
          </p:nvPr>
        </p:nvSpPr>
        <p:spPr>
          <a:xfrm>
            <a:off x="2165350" y="1855526"/>
            <a:ext cx="7772400" cy="4114800"/>
          </a:xfrm>
        </p:spPr>
        <p:txBody>
          <a:bodyPr>
            <a:normAutofit fontScale="92500"/>
          </a:bodyPr>
          <a:lstStyle/>
          <a:p>
            <a:pPr eaLnBrk="1" hangingPunct="1"/>
            <a:r>
              <a:rPr lang="en-US" altLang="zh-CN"/>
              <a:t>Characters with more occurrences are represented by short codes, and characters with less occurrences are represented by long codes.</a:t>
            </a:r>
            <a:endParaRPr lang="zh-CN" altLang="en-US"/>
          </a:p>
          <a:p>
            <a:pPr eaLnBrk="1" hangingPunct="1"/>
            <a:endParaRPr lang="zh-CN" altLang="en-US"/>
          </a:p>
          <a:p>
            <a:pPr eaLnBrk="1" hangingPunct="1"/>
            <a:endParaRPr lang="zh-CN" altLang="en-US"/>
          </a:p>
          <a:p>
            <a:pPr eaLnBrk="1" hangingPunct="1"/>
            <a:endParaRPr lang="zh-CN" altLang="en-US"/>
          </a:p>
          <a:p>
            <a:pPr eaLnBrk="1" hangingPunct="1"/>
            <a:r>
              <a:rPr lang="en-US" altLang="zh-CN"/>
              <a:t>The length is: </a:t>
            </a:r>
            <a:r>
              <a:rPr lang="zh-CN" altLang="en-US"/>
              <a:t>3*4 + 9*3 + 6*4 + 15*2 + 19*1 = 112</a:t>
            </a:r>
          </a:p>
          <a:p>
            <a:pPr eaLnBrk="1" hangingPunct="1"/>
            <a:r>
              <a:rPr lang="en-US" altLang="zh-CN"/>
              <a:t>Compared with the simple coding,</a:t>
            </a:r>
            <a:r>
              <a:rPr lang="zh-CN" altLang="en-US"/>
              <a:t> </a:t>
            </a:r>
            <a:r>
              <a:rPr lang="en-US" altLang="zh-CN"/>
              <a:t>the compression ratio is </a:t>
            </a:r>
            <a:r>
              <a:rPr lang="zh-CN" altLang="en-US"/>
              <a:t>156/112=1.39</a:t>
            </a:r>
            <a:r>
              <a:rPr lang="en-US" altLang="zh-CN"/>
              <a:t>.</a:t>
            </a:r>
            <a:endParaRPr lang="zh-CN" altLang="en-US"/>
          </a:p>
        </p:txBody>
      </p:sp>
      <p:sp>
        <p:nvSpPr>
          <p:cNvPr id="5" name="文本框 9217">
            <a:extLst>
              <a:ext uri="{FF2B5EF4-FFF2-40B4-BE49-F238E27FC236}">
                <a16:creationId xmlns:a16="http://schemas.microsoft.com/office/drawing/2014/main" id="{06121705-3FC3-4FF5-9A7E-4330185EA451}"/>
              </a:ext>
            </a:extLst>
          </p:cNvPr>
          <p:cNvSpPr txBox="1">
            <a:spLocks noChangeArrowheads="1"/>
          </p:cNvSpPr>
          <p:nvPr/>
        </p:nvSpPr>
        <p:spPr bwMode="auto">
          <a:xfrm>
            <a:off x="2819400" y="679451"/>
            <a:ext cx="6553200"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lgn="ctr" eaLnBrk="1" hangingPunct="1">
              <a:spcBef>
                <a:spcPct val="50000"/>
              </a:spcBef>
            </a:pPr>
            <a:r>
              <a:rPr lang="en-US" altLang="zh-CN" sz="3600" b="1">
                <a:solidFill>
                  <a:srgbClr val="0070C0"/>
                </a:solidFill>
                <a:latin typeface="Times New Roman" panose="02020603050405020304" pitchFamily="18" charset="0"/>
                <a:ea typeface="宋体" panose="02010600030101010101" pitchFamily="2" charset="-122"/>
              </a:rPr>
              <a:t> Variable-length coding</a:t>
            </a:r>
            <a:endParaRPr lang="zh-CN" altLang="en-US" sz="3600" b="1">
              <a:solidFill>
                <a:srgbClr val="0070C0"/>
              </a:solidFill>
              <a:latin typeface="Times New Roman" panose="02020603050405020304" pitchFamily="18" charset="0"/>
              <a:ea typeface="宋体" panose="02010600030101010101" pitchFamily="2" charset="-122"/>
            </a:endParaRPr>
          </a:p>
        </p:txBody>
      </p:sp>
      <p:pic>
        <p:nvPicPr>
          <p:cNvPr id="3" name="图片 2">
            <a:extLst>
              <a:ext uri="{FF2B5EF4-FFF2-40B4-BE49-F238E27FC236}">
                <a16:creationId xmlns:a16="http://schemas.microsoft.com/office/drawing/2014/main" id="{7BFAA1BC-DC0E-4293-AB54-7D6BBD56B906}"/>
              </a:ext>
            </a:extLst>
          </p:cNvPr>
          <p:cNvPicPr>
            <a:picLocks noChangeAspect="1"/>
          </p:cNvPicPr>
          <p:nvPr/>
        </p:nvPicPr>
        <p:blipFill>
          <a:blip r:embed="rId2"/>
          <a:stretch>
            <a:fillRect/>
          </a:stretch>
        </p:blipFill>
        <p:spPr>
          <a:xfrm>
            <a:off x="2419439" y="3049648"/>
            <a:ext cx="6838095" cy="123809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内容占位符 2">
            <a:extLst>
              <a:ext uri="{FF2B5EF4-FFF2-40B4-BE49-F238E27FC236}">
                <a16:creationId xmlns:a16="http://schemas.microsoft.com/office/drawing/2014/main" id="{D195506A-94A4-480C-A22C-FDF77E4067E6}"/>
              </a:ext>
            </a:extLst>
          </p:cNvPr>
          <p:cNvSpPr>
            <a:spLocks noGrp="1"/>
          </p:cNvSpPr>
          <p:nvPr>
            <p:ph idx="1"/>
          </p:nvPr>
        </p:nvSpPr>
        <p:spPr>
          <a:xfrm>
            <a:off x="2286000" y="523875"/>
            <a:ext cx="7772400" cy="4114800"/>
          </a:xfrm>
        </p:spPr>
        <p:txBody>
          <a:bodyPr>
            <a:normAutofit/>
          </a:bodyPr>
          <a:lstStyle/>
          <a:p>
            <a:pPr eaLnBrk="1" hangingPunct="1">
              <a:defRPr/>
            </a:pPr>
            <a:r>
              <a:rPr lang="en-US" altLang="zh-CN"/>
              <a:t>Basic requirements: The bit string representing some particular symbol is never a </a:t>
            </a:r>
            <a:r>
              <a:rPr lang="en-US" altLang="zh-CN">
                <a:solidFill>
                  <a:srgbClr val="FF0000"/>
                </a:solidFill>
              </a:rPr>
              <a:t>prefix</a:t>
            </a:r>
            <a:r>
              <a:rPr lang="en-US" altLang="zh-CN"/>
              <a:t> of the bit string representing any other symbol.</a:t>
            </a:r>
            <a:endParaRPr lang="zh-CN" altLang="en-US"/>
          </a:p>
          <a:p>
            <a:pPr eaLnBrk="1" hangingPunct="1">
              <a:defRPr/>
            </a:pPr>
            <a:r>
              <a:rPr lang="en-US" altLang="zh-CN"/>
              <a:t>Both simple coding and variable-length coding methods are correct.</a:t>
            </a:r>
            <a:r>
              <a:rPr lang="zh-CN" altLang="en-US"/>
              <a:t> </a:t>
            </a:r>
            <a:r>
              <a:rPr lang="en-US" altLang="zh-CN"/>
              <a:t>For</a:t>
            </a:r>
            <a:r>
              <a:rPr lang="zh-CN" altLang="en-US"/>
              <a:t> </a:t>
            </a:r>
            <a:r>
              <a:rPr lang="en-US" altLang="zh-CN"/>
              <a:t>example, after decoding</a:t>
            </a:r>
            <a:r>
              <a:rPr lang="zh-CN" altLang="en-US"/>
              <a:t> “</a:t>
            </a:r>
            <a:r>
              <a:rPr lang="zh-CN" altLang="en-US">
                <a:solidFill>
                  <a:srgbClr val="FF0000"/>
                </a:solidFill>
              </a:rPr>
              <a:t>1100 </a:t>
            </a:r>
            <a:r>
              <a:rPr lang="zh-CN" altLang="en-US">
                <a:solidFill>
                  <a:srgbClr val="00B050"/>
                </a:solidFill>
              </a:rPr>
              <a:t>111 </a:t>
            </a:r>
            <a:r>
              <a:rPr lang="zh-CN" altLang="en-US"/>
              <a:t>10 </a:t>
            </a:r>
            <a:r>
              <a:rPr lang="zh-CN" altLang="en-US">
                <a:solidFill>
                  <a:srgbClr val="FF0000"/>
                </a:solidFill>
              </a:rPr>
              <a:t>0 </a:t>
            </a:r>
            <a:r>
              <a:rPr lang="zh-CN" altLang="en-US">
                <a:solidFill>
                  <a:srgbClr val="002060"/>
                </a:solidFill>
              </a:rPr>
              <a:t>1101</a:t>
            </a:r>
            <a:r>
              <a:rPr lang="zh-CN" altLang="en-US"/>
              <a:t>”</a:t>
            </a:r>
            <a:r>
              <a:rPr lang="en-US" altLang="zh-CN"/>
              <a:t>, uniquely get </a:t>
            </a:r>
            <a:r>
              <a:rPr lang="zh-CN" altLang="en-US"/>
              <a:t>"ABDEC</a:t>
            </a:r>
            <a:r>
              <a:rPr lang="en-US" altLang="zh-CN"/>
              <a:t>”.</a:t>
            </a:r>
            <a:endParaRPr lang="zh-CN" altLang="en-US"/>
          </a:p>
        </p:txBody>
      </p:sp>
      <p:pic>
        <p:nvPicPr>
          <p:cNvPr id="5" name="图片 4">
            <a:extLst>
              <a:ext uri="{FF2B5EF4-FFF2-40B4-BE49-F238E27FC236}">
                <a16:creationId xmlns:a16="http://schemas.microsoft.com/office/drawing/2014/main" id="{D25932F9-562E-4A44-AD72-BBCA11D63D59}"/>
              </a:ext>
            </a:extLst>
          </p:cNvPr>
          <p:cNvPicPr>
            <a:picLocks noChangeAspect="1"/>
          </p:cNvPicPr>
          <p:nvPr/>
        </p:nvPicPr>
        <p:blipFill>
          <a:blip r:embed="rId2"/>
          <a:stretch>
            <a:fillRect/>
          </a:stretch>
        </p:blipFill>
        <p:spPr>
          <a:xfrm>
            <a:off x="2543726" y="3644376"/>
            <a:ext cx="6838095" cy="123809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内容占位符 2">
            <a:extLst>
              <a:ext uri="{FF2B5EF4-FFF2-40B4-BE49-F238E27FC236}">
                <a16:creationId xmlns:a16="http://schemas.microsoft.com/office/drawing/2014/main" id="{FB379650-6026-4E21-8CFF-8FC92BA54B5B}"/>
              </a:ext>
            </a:extLst>
          </p:cNvPr>
          <p:cNvSpPr>
            <a:spLocks noGrp="1" noChangeArrowheads="1"/>
          </p:cNvSpPr>
          <p:nvPr>
            <p:ph idx="1"/>
          </p:nvPr>
        </p:nvSpPr>
        <p:spPr>
          <a:xfrm>
            <a:off x="2002631" y="1739532"/>
            <a:ext cx="8186738" cy="4114800"/>
          </a:xfrm>
        </p:spPr>
        <p:txBody>
          <a:bodyPr/>
          <a:lstStyle/>
          <a:p>
            <a:pPr eaLnBrk="1" hangingPunct="1"/>
            <a:r>
              <a:rPr lang="en-US" altLang="zh-CN"/>
              <a:t>Wrong coding:</a:t>
            </a:r>
            <a:endParaRPr lang="zh-CN" altLang="en-US"/>
          </a:p>
          <a:p>
            <a:pPr eaLnBrk="1" hangingPunct="1"/>
            <a:endParaRPr lang="zh-CN" altLang="en-US"/>
          </a:p>
          <a:p>
            <a:pPr eaLnBrk="1" hangingPunct="1"/>
            <a:endParaRPr lang="zh-CN" altLang="en-US"/>
          </a:p>
          <a:p>
            <a:pPr eaLnBrk="1" hangingPunct="1"/>
            <a:endParaRPr lang="zh-CN" altLang="en-US"/>
          </a:p>
          <a:p>
            <a:pPr eaLnBrk="1" hangingPunct="1"/>
            <a:endParaRPr lang="en-US" altLang="zh-CN"/>
          </a:p>
          <a:p>
            <a:pPr eaLnBrk="1" hangingPunct="1"/>
            <a:r>
              <a:rPr lang="en-US" altLang="zh-CN"/>
              <a:t>For </a:t>
            </a:r>
            <a:r>
              <a:rPr lang="zh-CN" altLang="en-US"/>
              <a:t>“100</a:t>
            </a:r>
            <a:r>
              <a:rPr lang="en-US" altLang="zh-CN"/>
              <a:t>”, is it “</a:t>
            </a:r>
            <a:r>
              <a:rPr lang="zh-CN" altLang="en-US"/>
              <a:t>A” </a:t>
            </a:r>
            <a:r>
              <a:rPr lang="en-US" altLang="zh-CN"/>
              <a:t>or </a:t>
            </a:r>
            <a:r>
              <a:rPr lang="zh-CN" altLang="en-US"/>
              <a:t>“BE” </a:t>
            </a:r>
            <a:r>
              <a:rPr lang="en-US" altLang="zh-CN"/>
              <a:t>or</a:t>
            </a:r>
            <a:r>
              <a:rPr lang="zh-CN" altLang="en-US"/>
              <a:t> "DEE</a:t>
            </a:r>
            <a:r>
              <a:rPr lang="en-US" altLang="zh-CN"/>
              <a:t>”?</a:t>
            </a:r>
          </a:p>
          <a:p>
            <a:pPr eaLnBrk="1" hangingPunct="1"/>
            <a:endParaRPr lang="en-US" altLang="zh-CN"/>
          </a:p>
          <a:p>
            <a:pPr eaLnBrk="1" hangingPunct="1"/>
            <a:r>
              <a:rPr lang="en-US" altLang="zh-CN"/>
              <a:t>It is not </a:t>
            </a:r>
            <a:r>
              <a:rPr lang="en-US" altLang="zh-CN">
                <a:solidFill>
                  <a:srgbClr val="FF0000"/>
                </a:solidFill>
              </a:rPr>
              <a:t>prefix-free</a:t>
            </a:r>
            <a:r>
              <a:rPr lang="en-US" altLang="zh-CN"/>
              <a:t>.</a:t>
            </a:r>
            <a:endParaRPr lang="zh-CN" altLang="en-US"/>
          </a:p>
        </p:txBody>
      </p:sp>
      <p:pic>
        <p:nvPicPr>
          <p:cNvPr id="3" name="图片 2">
            <a:extLst>
              <a:ext uri="{FF2B5EF4-FFF2-40B4-BE49-F238E27FC236}">
                <a16:creationId xmlns:a16="http://schemas.microsoft.com/office/drawing/2014/main" id="{A7A403AF-2CB7-4BB4-801A-8F39E566AA54}"/>
              </a:ext>
            </a:extLst>
          </p:cNvPr>
          <p:cNvPicPr>
            <a:picLocks noChangeAspect="1"/>
          </p:cNvPicPr>
          <p:nvPr/>
        </p:nvPicPr>
        <p:blipFill>
          <a:blip r:embed="rId2"/>
          <a:stretch>
            <a:fillRect/>
          </a:stretch>
        </p:blipFill>
        <p:spPr>
          <a:xfrm>
            <a:off x="2163146" y="2255137"/>
            <a:ext cx="8186738" cy="133025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文本框 9217">
            <a:extLst>
              <a:ext uri="{FF2B5EF4-FFF2-40B4-BE49-F238E27FC236}">
                <a16:creationId xmlns:a16="http://schemas.microsoft.com/office/drawing/2014/main" id="{918BF8BA-A075-4703-BFB7-B314E0F6279E}"/>
              </a:ext>
            </a:extLst>
          </p:cNvPr>
          <p:cNvSpPr txBox="1">
            <a:spLocks noChangeArrowheads="1"/>
          </p:cNvSpPr>
          <p:nvPr/>
        </p:nvSpPr>
        <p:spPr bwMode="auto">
          <a:xfrm>
            <a:off x="2895600" y="762001"/>
            <a:ext cx="6553200"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lgn="ctr" eaLnBrk="1" hangingPunct="1">
              <a:spcBef>
                <a:spcPct val="50000"/>
              </a:spcBef>
            </a:pPr>
            <a:r>
              <a:rPr lang="en-US" altLang="zh-CN" sz="3600" b="1">
                <a:solidFill>
                  <a:srgbClr val="0070C0"/>
                </a:solidFill>
                <a:latin typeface="Times New Roman" panose="02020603050405020304" pitchFamily="18" charset="0"/>
                <a:ea typeface="宋体" panose="02010600030101010101" pitchFamily="2" charset="-122"/>
              </a:rPr>
              <a:t>Optimal coding</a:t>
            </a:r>
            <a:endParaRPr lang="zh-CN" altLang="en-US" sz="3600" b="1">
              <a:solidFill>
                <a:srgbClr val="0070C0"/>
              </a:solidFill>
              <a:latin typeface="Times New Roman" panose="02020603050405020304" pitchFamily="18" charset="0"/>
              <a:ea typeface="宋体" panose="02010600030101010101" pitchFamily="2" charset="-122"/>
            </a:endParaRPr>
          </a:p>
        </p:txBody>
      </p:sp>
      <p:sp>
        <p:nvSpPr>
          <p:cNvPr id="27651" name="文本框 9218">
            <a:extLst>
              <a:ext uri="{FF2B5EF4-FFF2-40B4-BE49-F238E27FC236}">
                <a16:creationId xmlns:a16="http://schemas.microsoft.com/office/drawing/2014/main" id="{809D72CF-DECC-4F22-9DAA-856BF5101597}"/>
              </a:ext>
            </a:extLst>
          </p:cNvPr>
          <p:cNvSpPr txBox="1">
            <a:spLocks noChangeArrowheads="1"/>
          </p:cNvSpPr>
          <p:nvPr/>
        </p:nvSpPr>
        <p:spPr bwMode="auto">
          <a:xfrm>
            <a:off x="2135188" y="1844676"/>
            <a:ext cx="8077200" cy="3200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marL="457200" indent="-457200" algn="just" eaLnBrk="1" hangingPunct="1">
              <a:spcBef>
                <a:spcPct val="50000"/>
              </a:spcBef>
              <a:buFont typeface="Arial" panose="020B0604020202020204" pitchFamily="34" charset="0"/>
              <a:buChar char="•"/>
            </a:pPr>
            <a:r>
              <a:rPr lang="en-US" altLang="zh-CN" sz="2800" dirty="0">
                <a:solidFill>
                  <a:schemeClr val="tx1"/>
                </a:solidFill>
                <a:latin typeface="Times New Roman" panose="02020603050405020304" pitchFamily="18" charset="0"/>
                <a:ea typeface="宋体" panose="02010600030101010101" pitchFamily="2" charset="-122"/>
              </a:rPr>
              <a:t>Is there a better coding method than the previous variable-length coding method?</a:t>
            </a:r>
          </a:p>
          <a:p>
            <a:pPr marL="457200" indent="-457200" algn="just" eaLnBrk="1" hangingPunct="1">
              <a:spcBef>
                <a:spcPct val="50000"/>
              </a:spcBef>
              <a:buFont typeface="Arial" panose="020B0604020202020204" pitchFamily="34" charset="0"/>
              <a:buChar char="•"/>
            </a:pPr>
            <a:r>
              <a:rPr lang="en-US" altLang="zh-CN" sz="2800" dirty="0">
                <a:solidFill>
                  <a:schemeClr val="tx1"/>
                </a:solidFill>
                <a:latin typeface="Times New Roman" panose="02020603050405020304" pitchFamily="18" charset="0"/>
                <a:ea typeface="宋体" panose="02010600030101010101" pitchFamily="2" charset="-122"/>
              </a:rPr>
              <a:t>Given a string, the goal is to encode it to minimize the total length after encoding, that is, to get an optimal solution.</a:t>
            </a:r>
            <a:endParaRPr lang="en-US" altLang="zh-CN" sz="3200" dirty="0">
              <a:solidFill>
                <a:schemeClr val="tx1"/>
              </a:solidFill>
              <a:latin typeface="Times New Roman" panose="02020603050405020304" pitchFamily="18" charset="0"/>
              <a:ea typeface="宋体" panose="02010600030101010101" pitchFamily="2" charset="-122"/>
            </a:endParaRPr>
          </a:p>
          <a:p>
            <a:pPr algn="just" eaLnBrk="1" hangingPunct="1">
              <a:spcBef>
                <a:spcPct val="50000"/>
              </a:spcBef>
            </a:pPr>
            <a:r>
              <a:rPr lang="en-US" altLang="zh-CN" sz="3200" dirty="0">
                <a:solidFill>
                  <a:srgbClr val="FF0000"/>
                </a:solidFill>
                <a:latin typeface="Times New Roman" panose="02020603050405020304" pitchFamily="18" charset="0"/>
                <a:ea typeface="宋体" panose="02010600030101010101" pitchFamily="2" charset="-122"/>
              </a:rPr>
              <a:t>Using</a:t>
            </a:r>
            <a:r>
              <a:rPr lang="zh-CN" altLang="en-US" sz="3200" dirty="0">
                <a:solidFill>
                  <a:srgbClr val="FF0000"/>
                </a:solidFill>
                <a:latin typeface="Times New Roman" panose="02020603050405020304" pitchFamily="18" charset="0"/>
                <a:ea typeface="宋体" panose="02010600030101010101" pitchFamily="2" charset="-122"/>
              </a:rPr>
              <a:t> </a:t>
            </a:r>
            <a:r>
              <a:rPr lang="en-US" altLang="zh-CN" sz="3200" dirty="0">
                <a:solidFill>
                  <a:srgbClr val="FF0000"/>
                </a:solidFill>
                <a:latin typeface="Times New Roman" panose="02020603050405020304" pitchFamily="18" charset="0"/>
                <a:ea typeface="宋体" panose="02010600030101010101" pitchFamily="2" charset="-122"/>
              </a:rPr>
              <a:t>Huffman coding</a:t>
            </a:r>
            <a:endParaRPr lang="zh-CN" altLang="en-US" sz="3200"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内容占位符 2">
            <a:extLst>
              <a:ext uri="{FF2B5EF4-FFF2-40B4-BE49-F238E27FC236}">
                <a16:creationId xmlns:a16="http://schemas.microsoft.com/office/drawing/2014/main" id="{DFE6B6B7-4115-47DC-8C66-A48E62D9FCC6}"/>
              </a:ext>
            </a:extLst>
          </p:cNvPr>
          <p:cNvSpPr>
            <a:spLocks noGrp="1" noChangeArrowheads="1"/>
          </p:cNvSpPr>
          <p:nvPr>
            <p:ph idx="1"/>
          </p:nvPr>
        </p:nvSpPr>
        <p:spPr>
          <a:xfrm>
            <a:off x="2209800" y="523875"/>
            <a:ext cx="7772400" cy="4114800"/>
          </a:xfrm>
        </p:spPr>
        <p:txBody>
          <a:bodyPr/>
          <a:lstStyle/>
          <a:p>
            <a:pPr marL="0" indent="0" eaLnBrk="1" hangingPunct="1">
              <a:buNone/>
            </a:pPr>
            <a:r>
              <a:rPr lang="en-US" altLang="zh-CN"/>
              <a:t>Huffman coding uses a greedy approach to construct a binary coding tree.</a:t>
            </a:r>
            <a:endParaRPr lang="zh-CN" altLang="en-US"/>
          </a:p>
        </p:txBody>
      </p:sp>
      <p:graphicFrame>
        <p:nvGraphicFramePr>
          <p:cNvPr id="28675" name="对象 3">
            <a:extLst>
              <a:ext uri="{FF2B5EF4-FFF2-40B4-BE49-F238E27FC236}">
                <a16:creationId xmlns:a16="http://schemas.microsoft.com/office/drawing/2014/main" id="{0D56F5EC-EA82-46DA-8979-04D09FB64A93}"/>
              </a:ext>
            </a:extLst>
          </p:cNvPr>
          <p:cNvGraphicFramePr>
            <a:graphicFrameLocks noChangeAspect="1"/>
          </p:cNvGraphicFramePr>
          <p:nvPr/>
        </p:nvGraphicFramePr>
        <p:xfrm>
          <a:off x="6788151" y="3009901"/>
          <a:ext cx="3330575" cy="3567113"/>
        </p:xfrm>
        <a:graphic>
          <a:graphicData uri="http://schemas.openxmlformats.org/presentationml/2006/ole">
            <mc:AlternateContent xmlns:mc="http://schemas.openxmlformats.org/markup-compatibility/2006">
              <mc:Choice xmlns:v="urn:schemas-microsoft-com:vml" Requires="v">
                <p:oleObj spid="_x0000_s2084" r:id="rId3" imgW="1630440" imgH="1851840" progId="Visio.Drawing.11">
                  <p:embed/>
                </p:oleObj>
              </mc:Choice>
              <mc:Fallback>
                <p:oleObj r:id="rId3" imgW="1630440" imgH="1851840" progId="Visio.Drawing.11">
                  <p:embed/>
                  <p:pic>
                    <p:nvPicPr>
                      <p:cNvPr id="28675" name="对象 3">
                        <a:extLst>
                          <a:ext uri="{FF2B5EF4-FFF2-40B4-BE49-F238E27FC236}">
                            <a16:creationId xmlns:a16="http://schemas.microsoft.com/office/drawing/2014/main" id="{0D56F5EC-EA82-46DA-8979-04D09FB64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8151" y="3009901"/>
                        <a:ext cx="3330575" cy="356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6" name="图片 5">
            <a:extLst>
              <a:ext uri="{FF2B5EF4-FFF2-40B4-BE49-F238E27FC236}">
                <a16:creationId xmlns:a16="http://schemas.microsoft.com/office/drawing/2014/main" id="{39D34E5A-AACB-47C4-9618-286651F1F38D}"/>
              </a:ext>
            </a:extLst>
          </p:cNvPr>
          <p:cNvPicPr>
            <a:picLocks noChangeAspect="1"/>
          </p:cNvPicPr>
          <p:nvPr/>
        </p:nvPicPr>
        <p:blipFill>
          <a:blip r:embed="rId5"/>
          <a:stretch>
            <a:fillRect/>
          </a:stretch>
        </p:blipFill>
        <p:spPr>
          <a:xfrm>
            <a:off x="2209800" y="1575879"/>
            <a:ext cx="6838095" cy="123809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文本框 9217">
            <a:extLst>
              <a:ext uri="{FF2B5EF4-FFF2-40B4-BE49-F238E27FC236}">
                <a16:creationId xmlns:a16="http://schemas.microsoft.com/office/drawing/2014/main" id="{A8F4CF34-D53A-4ABB-AB01-C46BD40614AA}"/>
              </a:ext>
            </a:extLst>
          </p:cNvPr>
          <p:cNvSpPr txBox="1">
            <a:spLocks noChangeArrowheads="1"/>
          </p:cNvSpPr>
          <p:nvPr/>
        </p:nvSpPr>
        <p:spPr bwMode="auto">
          <a:xfrm>
            <a:off x="2895600" y="762001"/>
            <a:ext cx="6553200"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lgn="ctr" eaLnBrk="1" hangingPunct="1">
              <a:spcBef>
                <a:spcPct val="50000"/>
              </a:spcBef>
            </a:pPr>
            <a:r>
              <a:rPr lang="en-US" altLang="zh-CN" sz="3600" b="1">
                <a:solidFill>
                  <a:srgbClr val="0070C0"/>
                </a:solidFill>
                <a:latin typeface="Times New Roman" panose="02020603050405020304" pitchFamily="18" charset="0"/>
                <a:ea typeface="宋体" panose="02010600030101010101" pitchFamily="2" charset="-122"/>
              </a:rPr>
              <a:t> </a:t>
            </a:r>
            <a:r>
              <a:rPr lang="en-US" altLang="zh-CN" sz="3600">
                <a:solidFill>
                  <a:schemeClr val="tx1"/>
                </a:solidFill>
                <a:latin typeface="Times New Roman" panose="02020603050405020304" pitchFamily="18" charset="0"/>
                <a:ea typeface="宋体" panose="02010600030101010101" pitchFamily="2" charset="-122"/>
              </a:rPr>
              <a:t>The</a:t>
            </a:r>
            <a:r>
              <a:rPr lang="zh-CN" altLang="en-US" sz="3600">
                <a:solidFill>
                  <a:schemeClr val="tx1"/>
                </a:solidFill>
                <a:latin typeface="Times New Roman" panose="02020603050405020304" pitchFamily="18" charset="0"/>
                <a:ea typeface="宋体" panose="02010600030101010101" pitchFamily="2" charset="-122"/>
              </a:rPr>
              <a:t> </a:t>
            </a:r>
            <a:r>
              <a:rPr lang="en-US" altLang="zh-CN" sz="3600">
                <a:solidFill>
                  <a:schemeClr val="tx1"/>
                </a:solidFill>
                <a:latin typeface="Times New Roman" panose="02020603050405020304" pitchFamily="18" charset="0"/>
                <a:ea typeface="宋体" panose="02010600030101010101" pitchFamily="2" charset="-122"/>
              </a:rPr>
              <a:t>greedy</a:t>
            </a:r>
            <a:r>
              <a:rPr lang="zh-CN" altLang="en-US" sz="3600">
                <a:solidFill>
                  <a:schemeClr val="tx1"/>
                </a:solidFill>
                <a:latin typeface="Times New Roman" panose="02020603050405020304" pitchFamily="18" charset="0"/>
                <a:ea typeface="宋体" panose="02010600030101010101" pitchFamily="2" charset="-122"/>
              </a:rPr>
              <a:t> </a:t>
            </a:r>
            <a:r>
              <a:rPr lang="en-US" altLang="zh-CN" sz="3600">
                <a:solidFill>
                  <a:schemeClr val="tx1"/>
                </a:solidFill>
                <a:latin typeface="Times New Roman" panose="02020603050405020304" pitchFamily="18" charset="0"/>
                <a:ea typeface="宋体" panose="02010600030101010101" pitchFamily="2" charset="-122"/>
              </a:rPr>
              <a:t>approach</a:t>
            </a:r>
            <a:r>
              <a:rPr lang="zh-CN" altLang="en-US" sz="3600">
                <a:solidFill>
                  <a:schemeClr val="tx1"/>
                </a:solidFill>
                <a:latin typeface="Times New Roman" panose="02020603050405020304" pitchFamily="18" charset="0"/>
                <a:ea typeface="宋体" panose="02010600030101010101" pitchFamily="2" charset="-122"/>
              </a:rPr>
              <a:t> </a:t>
            </a:r>
          </a:p>
        </p:txBody>
      </p:sp>
      <p:sp>
        <p:nvSpPr>
          <p:cNvPr id="29699" name="文本框 9218">
            <a:extLst>
              <a:ext uri="{FF2B5EF4-FFF2-40B4-BE49-F238E27FC236}">
                <a16:creationId xmlns:a16="http://schemas.microsoft.com/office/drawing/2014/main" id="{E8FFA8C7-60A8-4E5F-82F6-ED9C457D6198}"/>
              </a:ext>
            </a:extLst>
          </p:cNvPr>
          <p:cNvSpPr txBox="1">
            <a:spLocks noChangeArrowheads="1"/>
          </p:cNvSpPr>
          <p:nvPr/>
        </p:nvSpPr>
        <p:spPr bwMode="auto">
          <a:xfrm>
            <a:off x="2046288" y="1673225"/>
            <a:ext cx="80772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lgn="just" eaLnBrk="1" hangingPunct="1">
              <a:spcBef>
                <a:spcPct val="50000"/>
              </a:spcBef>
            </a:pPr>
            <a:r>
              <a:rPr lang="en-US" altLang="zh-CN" sz="3200">
                <a:solidFill>
                  <a:schemeClr val="tx1"/>
                </a:solidFill>
                <a:latin typeface="Times New Roman" panose="02020603050405020304" pitchFamily="18" charset="0"/>
                <a:ea typeface="宋体" panose="02010600030101010101" pitchFamily="2" charset="-122"/>
              </a:rPr>
              <a:t>Sort by frequencies:</a:t>
            </a:r>
            <a:endParaRPr lang="zh-CN" altLang="en-US" sz="3600">
              <a:solidFill>
                <a:schemeClr val="tx1"/>
              </a:solidFill>
              <a:latin typeface="Times New Roman" panose="02020603050405020304" pitchFamily="18" charset="0"/>
              <a:ea typeface="宋体" panose="02010600030101010101" pitchFamily="2" charset="-122"/>
            </a:endParaRPr>
          </a:p>
        </p:txBody>
      </p:sp>
      <p:pic>
        <p:nvPicPr>
          <p:cNvPr id="5" name="图片 4">
            <a:extLst>
              <a:ext uri="{FF2B5EF4-FFF2-40B4-BE49-F238E27FC236}">
                <a16:creationId xmlns:a16="http://schemas.microsoft.com/office/drawing/2014/main" id="{7E67405E-0D1B-43D2-B007-B855AB892DC9}"/>
              </a:ext>
            </a:extLst>
          </p:cNvPr>
          <p:cNvPicPr>
            <a:picLocks noChangeAspect="1"/>
          </p:cNvPicPr>
          <p:nvPr/>
        </p:nvPicPr>
        <p:blipFill>
          <a:blip r:embed="rId2"/>
          <a:stretch>
            <a:fillRect/>
          </a:stretch>
        </p:blipFill>
        <p:spPr>
          <a:xfrm>
            <a:off x="2046288" y="2356668"/>
            <a:ext cx="7559657" cy="838422"/>
          </a:xfrm>
          <a:prstGeom prst="rect">
            <a:avLst/>
          </a:prstGeom>
        </p:spPr>
      </p:pic>
      <p:pic>
        <p:nvPicPr>
          <p:cNvPr id="7" name="图片 6">
            <a:extLst>
              <a:ext uri="{FF2B5EF4-FFF2-40B4-BE49-F238E27FC236}">
                <a16:creationId xmlns:a16="http://schemas.microsoft.com/office/drawing/2014/main" id="{61749192-78D9-49B7-B7C0-C8C12D0FA260}"/>
              </a:ext>
            </a:extLst>
          </p:cNvPr>
          <p:cNvPicPr>
            <a:picLocks noChangeAspect="1"/>
          </p:cNvPicPr>
          <p:nvPr/>
        </p:nvPicPr>
        <p:blipFill>
          <a:blip r:embed="rId3"/>
          <a:stretch>
            <a:fillRect/>
          </a:stretch>
        </p:blipFill>
        <p:spPr>
          <a:xfrm>
            <a:off x="2056906" y="3662911"/>
            <a:ext cx="3771429" cy="103809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18C51A8-738D-4ABB-89A3-781D986DDEEF}"/>
              </a:ext>
            </a:extLst>
          </p:cNvPr>
          <p:cNvPicPr>
            <a:picLocks noChangeAspect="1"/>
          </p:cNvPicPr>
          <p:nvPr/>
        </p:nvPicPr>
        <p:blipFill>
          <a:blip r:embed="rId2"/>
          <a:stretch>
            <a:fillRect/>
          </a:stretch>
        </p:blipFill>
        <p:spPr>
          <a:xfrm>
            <a:off x="1722067" y="260705"/>
            <a:ext cx="2250733" cy="594957"/>
          </a:xfrm>
          <a:prstGeom prst="rect">
            <a:avLst/>
          </a:prstGeom>
        </p:spPr>
      </p:pic>
      <p:sp>
        <p:nvSpPr>
          <p:cNvPr id="4" name="文本框 3">
            <a:extLst>
              <a:ext uri="{FF2B5EF4-FFF2-40B4-BE49-F238E27FC236}">
                <a16:creationId xmlns:a16="http://schemas.microsoft.com/office/drawing/2014/main" id="{814C536E-EC82-4C6F-96F3-9868FE0182B2}"/>
              </a:ext>
            </a:extLst>
          </p:cNvPr>
          <p:cNvSpPr txBox="1"/>
          <p:nvPr/>
        </p:nvSpPr>
        <p:spPr>
          <a:xfrm>
            <a:off x="2254250" y="994009"/>
            <a:ext cx="1315467" cy="369332"/>
          </a:xfrm>
          <a:prstGeom prst="rect">
            <a:avLst/>
          </a:prstGeom>
          <a:noFill/>
        </p:spPr>
        <p:txBody>
          <a:bodyPr wrap="square" rtlCol="0">
            <a:spAutoFit/>
          </a:bodyPr>
          <a:lstStyle/>
          <a:p>
            <a:r>
              <a:rPr lang="en-US" altLang="zh-CN">
                <a:solidFill>
                  <a:srgbClr val="FF0000"/>
                </a:solidFill>
              </a:rPr>
              <a:t>(a) sorting</a:t>
            </a:r>
            <a:endParaRPr lang="zh-CN" altLang="en-US">
              <a:solidFill>
                <a:srgbClr val="FF0000"/>
              </a:solidFill>
            </a:endParaRPr>
          </a:p>
        </p:txBody>
      </p:sp>
      <p:pic>
        <p:nvPicPr>
          <p:cNvPr id="8" name="图片 7">
            <a:extLst>
              <a:ext uri="{FF2B5EF4-FFF2-40B4-BE49-F238E27FC236}">
                <a16:creationId xmlns:a16="http://schemas.microsoft.com/office/drawing/2014/main" id="{F403C4CE-4F95-4ABD-9D80-A54E977D8F39}"/>
              </a:ext>
            </a:extLst>
          </p:cNvPr>
          <p:cNvPicPr>
            <a:picLocks noChangeAspect="1"/>
          </p:cNvPicPr>
          <p:nvPr/>
        </p:nvPicPr>
        <p:blipFill>
          <a:blip r:embed="rId3"/>
          <a:stretch>
            <a:fillRect/>
          </a:stretch>
        </p:blipFill>
        <p:spPr>
          <a:xfrm>
            <a:off x="6596400" y="91649"/>
            <a:ext cx="3245604" cy="1217102"/>
          </a:xfrm>
          <a:prstGeom prst="rect">
            <a:avLst/>
          </a:prstGeom>
        </p:spPr>
      </p:pic>
      <p:sp>
        <p:nvSpPr>
          <p:cNvPr id="15" name="文本框 14">
            <a:extLst>
              <a:ext uri="{FF2B5EF4-FFF2-40B4-BE49-F238E27FC236}">
                <a16:creationId xmlns:a16="http://schemas.microsoft.com/office/drawing/2014/main" id="{3DC0121F-0965-461E-81B0-F9C3559F0709}"/>
              </a:ext>
            </a:extLst>
          </p:cNvPr>
          <p:cNvSpPr txBox="1"/>
          <p:nvPr/>
        </p:nvSpPr>
        <p:spPr>
          <a:xfrm>
            <a:off x="7561468" y="1188523"/>
            <a:ext cx="1315467" cy="369332"/>
          </a:xfrm>
          <a:prstGeom prst="rect">
            <a:avLst/>
          </a:prstGeom>
          <a:noFill/>
        </p:spPr>
        <p:txBody>
          <a:bodyPr wrap="square" rtlCol="0">
            <a:spAutoFit/>
          </a:bodyPr>
          <a:lstStyle/>
          <a:p>
            <a:r>
              <a:rPr lang="en-US" altLang="zh-CN">
                <a:solidFill>
                  <a:srgbClr val="FF0000"/>
                </a:solidFill>
              </a:rPr>
              <a:t>(b) A &amp; C</a:t>
            </a:r>
            <a:endParaRPr lang="zh-CN" altLang="en-US">
              <a:solidFill>
                <a:srgbClr val="FF0000"/>
              </a:solidFill>
            </a:endParaRPr>
          </a:p>
        </p:txBody>
      </p:sp>
      <p:pic>
        <p:nvPicPr>
          <p:cNvPr id="12" name="图片 11">
            <a:extLst>
              <a:ext uri="{FF2B5EF4-FFF2-40B4-BE49-F238E27FC236}">
                <a16:creationId xmlns:a16="http://schemas.microsoft.com/office/drawing/2014/main" id="{A65C7702-1694-48D3-8FC1-0DB313C1189A}"/>
              </a:ext>
            </a:extLst>
          </p:cNvPr>
          <p:cNvPicPr>
            <a:picLocks noChangeAspect="1"/>
          </p:cNvPicPr>
          <p:nvPr/>
        </p:nvPicPr>
        <p:blipFill>
          <a:blip r:embed="rId4"/>
          <a:stretch>
            <a:fillRect/>
          </a:stretch>
        </p:blipFill>
        <p:spPr>
          <a:xfrm>
            <a:off x="1633164" y="1706207"/>
            <a:ext cx="2557637" cy="1871145"/>
          </a:xfrm>
          <a:prstGeom prst="rect">
            <a:avLst/>
          </a:prstGeom>
        </p:spPr>
      </p:pic>
      <p:sp>
        <p:nvSpPr>
          <p:cNvPr id="20" name="文本框 19">
            <a:extLst>
              <a:ext uri="{FF2B5EF4-FFF2-40B4-BE49-F238E27FC236}">
                <a16:creationId xmlns:a16="http://schemas.microsoft.com/office/drawing/2014/main" id="{DB96DBE4-998A-48AE-8081-5C71E8605BC7}"/>
              </a:ext>
            </a:extLst>
          </p:cNvPr>
          <p:cNvSpPr txBox="1"/>
          <p:nvPr/>
        </p:nvSpPr>
        <p:spPr>
          <a:xfrm>
            <a:off x="1786615" y="3577352"/>
            <a:ext cx="2250733" cy="369332"/>
          </a:xfrm>
          <a:prstGeom prst="rect">
            <a:avLst/>
          </a:prstGeom>
          <a:noFill/>
        </p:spPr>
        <p:txBody>
          <a:bodyPr wrap="square" rtlCol="0">
            <a:spAutoFit/>
          </a:bodyPr>
          <a:lstStyle/>
          <a:p>
            <a:r>
              <a:rPr lang="en-US" altLang="zh-CN">
                <a:solidFill>
                  <a:srgbClr val="FF0000"/>
                </a:solidFill>
              </a:rPr>
              <a:t>(c) B &amp; adjusting </a:t>
            </a:r>
            <a:endParaRPr lang="zh-CN" altLang="en-US">
              <a:solidFill>
                <a:srgbClr val="FF0000"/>
              </a:solidFill>
            </a:endParaRPr>
          </a:p>
        </p:txBody>
      </p:sp>
      <p:pic>
        <p:nvPicPr>
          <p:cNvPr id="14" name="图片 13">
            <a:extLst>
              <a:ext uri="{FF2B5EF4-FFF2-40B4-BE49-F238E27FC236}">
                <a16:creationId xmlns:a16="http://schemas.microsoft.com/office/drawing/2014/main" id="{9800FD84-6F19-4FA5-ACAC-75F562A54798}"/>
              </a:ext>
            </a:extLst>
          </p:cNvPr>
          <p:cNvPicPr>
            <a:picLocks noChangeAspect="1"/>
          </p:cNvPicPr>
          <p:nvPr/>
        </p:nvPicPr>
        <p:blipFill>
          <a:blip r:embed="rId5"/>
          <a:stretch>
            <a:fillRect/>
          </a:stretch>
        </p:blipFill>
        <p:spPr>
          <a:xfrm>
            <a:off x="1757437" y="4023799"/>
            <a:ext cx="2250733" cy="2239673"/>
          </a:xfrm>
          <a:prstGeom prst="rect">
            <a:avLst/>
          </a:prstGeom>
        </p:spPr>
      </p:pic>
      <p:sp>
        <p:nvSpPr>
          <p:cNvPr id="23" name="文本框 22">
            <a:extLst>
              <a:ext uri="{FF2B5EF4-FFF2-40B4-BE49-F238E27FC236}">
                <a16:creationId xmlns:a16="http://schemas.microsoft.com/office/drawing/2014/main" id="{AD3AA737-FC8D-4AA0-80F3-F08F9D7121D4}"/>
              </a:ext>
            </a:extLst>
          </p:cNvPr>
          <p:cNvSpPr txBox="1"/>
          <p:nvPr/>
        </p:nvSpPr>
        <p:spPr>
          <a:xfrm>
            <a:off x="1660817" y="6412629"/>
            <a:ext cx="2250733" cy="369332"/>
          </a:xfrm>
          <a:prstGeom prst="rect">
            <a:avLst/>
          </a:prstGeom>
          <a:noFill/>
        </p:spPr>
        <p:txBody>
          <a:bodyPr wrap="square" rtlCol="0">
            <a:spAutoFit/>
          </a:bodyPr>
          <a:lstStyle/>
          <a:p>
            <a:r>
              <a:rPr lang="en-US" altLang="zh-CN">
                <a:solidFill>
                  <a:srgbClr val="FF0000"/>
                </a:solidFill>
              </a:rPr>
              <a:t>(d) D &amp; adjusting </a:t>
            </a:r>
            <a:endParaRPr lang="zh-CN" altLang="en-US">
              <a:solidFill>
                <a:srgbClr val="FF0000"/>
              </a:solidFill>
            </a:endParaRPr>
          </a:p>
        </p:txBody>
      </p:sp>
      <p:pic>
        <p:nvPicPr>
          <p:cNvPr id="17" name="图片 16">
            <a:extLst>
              <a:ext uri="{FF2B5EF4-FFF2-40B4-BE49-F238E27FC236}">
                <a16:creationId xmlns:a16="http://schemas.microsoft.com/office/drawing/2014/main" id="{53A0B1EC-773E-4120-BA9B-28D6D349EDD6}"/>
              </a:ext>
            </a:extLst>
          </p:cNvPr>
          <p:cNvPicPr>
            <a:picLocks noChangeAspect="1"/>
          </p:cNvPicPr>
          <p:nvPr/>
        </p:nvPicPr>
        <p:blipFill>
          <a:blip r:embed="rId6"/>
          <a:stretch>
            <a:fillRect/>
          </a:stretch>
        </p:blipFill>
        <p:spPr>
          <a:xfrm>
            <a:off x="6420419" y="1770487"/>
            <a:ext cx="2626778" cy="3317026"/>
          </a:xfrm>
          <a:prstGeom prst="rect">
            <a:avLst/>
          </a:prstGeom>
        </p:spPr>
      </p:pic>
      <p:sp>
        <p:nvSpPr>
          <p:cNvPr id="26" name="文本框 25">
            <a:extLst>
              <a:ext uri="{FF2B5EF4-FFF2-40B4-BE49-F238E27FC236}">
                <a16:creationId xmlns:a16="http://schemas.microsoft.com/office/drawing/2014/main" id="{2CA73A3D-706B-4665-B6CC-C9371764790B}"/>
              </a:ext>
            </a:extLst>
          </p:cNvPr>
          <p:cNvSpPr txBox="1"/>
          <p:nvPr/>
        </p:nvSpPr>
        <p:spPr>
          <a:xfrm>
            <a:off x="7163454" y="5300145"/>
            <a:ext cx="1315467" cy="369332"/>
          </a:xfrm>
          <a:prstGeom prst="rect">
            <a:avLst/>
          </a:prstGeom>
          <a:noFill/>
        </p:spPr>
        <p:txBody>
          <a:bodyPr wrap="square" rtlCol="0">
            <a:spAutoFit/>
          </a:bodyPr>
          <a:lstStyle/>
          <a:p>
            <a:r>
              <a:rPr lang="en-US" altLang="zh-CN">
                <a:solidFill>
                  <a:srgbClr val="FF0000"/>
                </a:solidFill>
              </a:rPr>
              <a:t>(e) result</a:t>
            </a:r>
            <a:endParaRPr lang="zh-CN" altLang="en-US">
              <a:solidFill>
                <a:srgbClr val="FF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D2CDF815-65C7-489E-96C9-4713F77D87B0}"/>
              </a:ext>
            </a:extLst>
          </p:cNvPr>
          <p:cNvSpPr>
            <a:spLocks noGrp="1"/>
          </p:cNvSpPr>
          <p:nvPr>
            <p:ph type="title"/>
          </p:nvPr>
        </p:nvSpPr>
        <p:spPr/>
        <p:txBody>
          <a:bodyPr/>
          <a:lstStyle/>
          <a:p>
            <a:pPr eaLnBrk="1" fontAlgn="auto" hangingPunct="1">
              <a:spcAft>
                <a:spcPts val="0"/>
              </a:spcAft>
              <a:defRPr/>
            </a:pPr>
            <a:r>
              <a:rPr lang="en-US" altLang="zh-CN" dirty="0" err="1">
                <a:solidFill>
                  <a:schemeClr val="accent1">
                    <a:satMod val="150000"/>
                  </a:schemeClr>
                </a:solidFill>
                <a:hlinkClick r:id="rId2"/>
              </a:rPr>
              <a:t>priority_queue</a:t>
            </a:r>
            <a:endParaRPr lang="zh-CN" altLang="en-US" dirty="0">
              <a:solidFill>
                <a:schemeClr val="accent1">
                  <a:satMod val="150000"/>
                </a:schemeClr>
              </a:solidFill>
            </a:endParaRPr>
          </a:p>
        </p:txBody>
      </p:sp>
      <p:sp>
        <p:nvSpPr>
          <p:cNvPr id="115715" name="内容占位符 3">
            <a:extLst>
              <a:ext uri="{FF2B5EF4-FFF2-40B4-BE49-F238E27FC236}">
                <a16:creationId xmlns:a16="http://schemas.microsoft.com/office/drawing/2014/main" id="{31DBC87F-409C-4490-A093-458F921DC9CF}"/>
              </a:ext>
            </a:extLst>
          </p:cNvPr>
          <p:cNvSpPr>
            <a:spLocks noGrp="1"/>
          </p:cNvSpPr>
          <p:nvPr>
            <p:ph idx="1"/>
          </p:nvPr>
        </p:nvSpPr>
        <p:spPr>
          <a:xfrm>
            <a:off x="734756" y="2012239"/>
            <a:ext cx="8229600" cy="4625975"/>
          </a:xfrm>
        </p:spPr>
        <p:txBody>
          <a:bodyPr>
            <a:normAutofit/>
          </a:bodyPr>
          <a:lstStyle/>
          <a:p>
            <a:pPr eaLnBrk="1" hangingPunct="1"/>
            <a:r>
              <a:rPr lang="en-US" altLang="zh-CN">
                <a:solidFill>
                  <a:srgbClr val="FF0000"/>
                </a:solidFill>
              </a:rPr>
              <a:t>max heap </a:t>
            </a:r>
            <a:r>
              <a:rPr lang="en-US" altLang="zh-CN"/>
              <a:t>or </a:t>
            </a:r>
            <a:r>
              <a:rPr lang="en-US" altLang="zh-CN">
                <a:solidFill>
                  <a:srgbClr val="FF0000"/>
                </a:solidFill>
              </a:rPr>
              <a:t>min heap</a:t>
            </a:r>
          </a:p>
          <a:p>
            <a:pPr eaLnBrk="1" hangingPunct="1"/>
            <a:r>
              <a:rPr lang="en-US" altLang="zh-CN">
                <a:solidFill>
                  <a:srgbClr val="FF0000"/>
                </a:solidFill>
              </a:rPr>
              <a:t>A complete binary tree</a:t>
            </a:r>
          </a:p>
          <a:p>
            <a:r>
              <a:rPr lang="en-US" altLang="zh-CN"/>
              <a:t>Given a node at index i, its children are at indices 2i + 1 (</a:t>
            </a:r>
            <a:r>
              <a:rPr lang="en-US" altLang="zh-CN">
                <a:solidFill>
                  <a:srgbClr val="FF0000"/>
                </a:solidFill>
              </a:rPr>
              <a:t>(i&lt;&lt;1)+1</a:t>
            </a:r>
            <a:r>
              <a:rPr lang="en-US" altLang="zh-CN"/>
              <a:t>) and 2i + 2 (</a:t>
            </a:r>
            <a:r>
              <a:rPr lang="en-US" altLang="zh-CN">
                <a:solidFill>
                  <a:srgbClr val="FF0000"/>
                </a:solidFill>
              </a:rPr>
              <a:t>(i+1)&lt;&lt;1</a:t>
            </a:r>
            <a:r>
              <a:rPr lang="en-US" altLang="zh-CN"/>
              <a:t>), and its parent is at index floor((i-1)/2).</a:t>
            </a:r>
          </a:p>
          <a:p>
            <a:r>
              <a:rPr lang="en-US" altLang="zh-CN"/>
              <a:t>Peek, which returns the highest-priority element but does not modify the queue, takes </a:t>
            </a:r>
            <a:r>
              <a:rPr lang="en-US" altLang="zh-CN">
                <a:solidFill>
                  <a:srgbClr val="FF0000"/>
                </a:solidFill>
              </a:rPr>
              <a:t>O(1)</a:t>
            </a:r>
            <a:r>
              <a:rPr lang="en-US" altLang="zh-CN"/>
              <a:t> time.</a:t>
            </a:r>
          </a:p>
          <a:p>
            <a:pPr eaLnBrk="1" hangingPunct="1"/>
            <a:r>
              <a:rPr lang="en-US" altLang="zh-CN"/>
              <a:t>Insertion and removal take </a:t>
            </a:r>
            <a:r>
              <a:rPr lang="en-US" altLang="zh-CN">
                <a:solidFill>
                  <a:srgbClr val="FF0000"/>
                </a:solidFill>
              </a:rPr>
              <a:t>O(log n)</a:t>
            </a:r>
            <a:r>
              <a:rPr lang="en-US" altLang="zh-CN"/>
              <a:t> time, although building trees from existing sequences of elements takes </a:t>
            </a:r>
            <a:r>
              <a:rPr lang="en-US" altLang="zh-CN">
                <a:solidFill>
                  <a:srgbClr val="FF0000"/>
                </a:solidFill>
              </a:rPr>
              <a:t>O(n log n) </a:t>
            </a:r>
            <a:r>
              <a:rPr lang="en-US" altLang="zh-CN"/>
              <a:t>time.</a:t>
            </a:r>
          </a:p>
        </p:txBody>
      </p:sp>
      <p:sp>
        <p:nvSpPr>
          <p:cNvPr id="5" name="椭圆 4">
            <a:extLst>
              <a:ext uri="{FF2B5EF4-FFF2-40B4-BE49-F238E27FC236}">
                <a16:creationId xmlns:a16="http://schemas.microsoft.com/office/drawing/2014/main" id="{4BF1F8A8-24AC-4CF4-A5FC-A5E70478227E}"/>
              </a:ext>
            </a:extLst>
          </p:cNvPr>
          <p:cNvSpPr/>
          <p:nvPr/>
        </p:nvSpPr>
        <p:spPr>
          <a:xfrm>
            <a:off x="9756916" y="285039"/>
            <a:ext cx="647700" cy="288925"/>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dirty="0">
                <a:solidFill>
                  <a:prstClr val="white"/>
                </a:solidFill>
              </a:rPr>
              <a:t>7</a:t>
            </a:r>
            <a:endParaRPr lang="zh-CN" altLang="en-US" dirty="0">
              <a:solidFill>
                <a:prstClr val="white"/>
              </a:solidFill>
            </a:endParaRPr>
          </a:p>
        </p:txBody>
      </p:sp>
      <p:sp>
        <p:nvSpPr>
          <p:cNvPr id="6" name="椭圆 5">
            <a:extLst>
              <a:ext uri="{FF2B5EF4-FFF2-40B4-BE49-F238E27FC236}">
                <a16:creationId xmlns:a16="http://schemas.microsoft.com/office/drawing/2014/main" id="{7F17A723-E7C2-4D67-BFEA-D4F0E9576146}"/>
              </a:ext>
            </a:extLst>
          </p:cNvPr>
          <p:cNvSpPr/>
          <p:nvPr/>
        </p:nvSpPr>
        <p:spPr>
          <a:xfrm>
            <a:off x="8891728" y="1148639"/>
            <a:ext cx="649288" cy="288925"/>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dirty="0">
                <a:solidFill>
                  <a:prstClr val="white"/>
                </a:solidFill>
              </a:rPr>
              <a:t>5</a:t>
            </a:r>
            <a:endParaRPr lang="zh-CN" altLang="en-US" dirty="0">
              <a:solidFill>
                <a:prstClr val="white"/>
              </a:solidFill>
            </a:endParaRPr>
          </a:p>
        </p:txBody>
      </p:sp>
      <p:sp>
        <p:nvSpPr>
          <p:cNvPr id="7" name="椭圆 6">
            <a:extLst>
              <a:ext uri="{FF2B5EF4-FFF2-40B4-BE49-F238E27FC236}">
                <a16:creationId xmlns:a16="http://schemas.microsoft.com/office/drawing/2014/main" id="{A679333E-5FF8-4851-9B76-5C87821D82FC}"/>
              </a:ext>
            </a:extLst>
          </p:cNvPr>
          <p:cNvSpPr/>
          <p:nvPr/>
        </p:nvSpPr>
        <p:spPr>
          <a:xfrm>
            <a:off x="8388491" y="1869364"/>
            <a:ext cx="647700" cy="288925"/>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dirty="0">
                <a:solidFill>
                  <a:prstClr val="white"/>
                </a:solidFill>
              </a:rPr>
              <a:t>1</a:t>
            </a:r>
            <a:endParaRPr lang="zh-CN" altLang="en-US" dirty="0">
              <a:solidFill>
                <a:prstClr val="white"/>
              </a:solidFill>
            </a:endParaRPr>
          </a:p>
        </p:txBody>
      </p:sp>
      <p:sp>
        <p:nvSpPr>
          <p:cNvPr id="8" name="椭圆 7">
            <a:extLst>
              <a:ext uri="{FF2B5EF4-FFF2-40B4-BE49-F238E27FC236}">
                <a16:creationId xmlns:a16="http://schemas.microsoft.com/office/drawing/2014/main" id="{3CD84E62-58A5-464F-8610-18F56C972F56}"/>
              </a:ext>
            </a:extLst>
          </p:cNvPr>
          <p:cNvSpPr/>
          <p:nvPr/>
        </p:nvSpPr>
        <p:spPr>
          <a:xfrm>
            <a:off x="10333178" y="1869364"/>
            <a:ext cx="647700" cy="288925"/>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dirty="0">
                <a:solidFill>
                  <a:prstClr val="white"/>
                </a:solidFill>
              </a:rPr>
              <a:t>3</a:t>
            </a:r>
            <a:endParaRPr lang="zh-CN" altLang="en-US" dirty="0">
              <a:solidFill>
                <a:prstClr val="white"/>
              </a:solidFill>
            </a:endParaRPr>
          </a:p>
        </p:txBody>
      </p:sp>
      <p:sp>
        <p:nvSpPr>
          <p:cNvPr id="9" name="椭圆 8">
            <a:extLst>
              <a:ext uri="{FF2B5EF4-FFF2-40B4-BE49-F238E27FC236}">
                <a16:creationId xmlns:a16="http://schemas.microsoft.com/office/drawing/2014/main" id="{42F61AD9-1CA8-4328-A244-8315CAFA7192}"/>
              </a:ext>
            </a:extLst>
          </p:cNvPr>
          <p:cNvSpPr/>
          <p:nvPr/>
        </p:nvSpPr>
        <p:spPr>
          <a:xfrm>
            <a:off x="10691953" y="1148639"/>
            <a:ext cx="649288" cy="288925"/>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dirty="0">
                <a:solidFill>
                  <a:prstClr val="white"/>
                </a:solidFill>
              </a:rPr>
              <a:t>4</a:t>
            </a:r>
            <a:endParaRPr lang="zh-CN" altLang="en-US" dirty="0">
              <a:solidFill>
                <a:prstClr val="white"/>
              </a:solidFill>
            </a:endParaRPr>
          </a:p>
        </p:txBody>
      </p:sp>
      <p:sp>
        <p:nvSpPr>
          <p:cNvPr id="10" name="椭圆 9">
            <a:extLst>
              <a:ext uri="{FF2B5EF4-FFF2-40B4-BE49-F238E27FC236}">
                <a16:creationId xmlns:a16="http://schemas.microsoft.com/office/drawing/2014/main" id="{D482193F-A7B6-4CC0-980C-1DC7E9C43AC6}"/>
              </a:ext>
            </a:extLst>
          </p:cNvPr>
          <p:cNvSpPr/>
          <p:nvPr/>
        </p:nvSpPr>
        <p:spPr>
          <a:xfrm>
            <a:off x="9396553" y="1869364"/>
            <a:ext cx="647700" cy="288925"/>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dirty="0">
                <a:solidFill>
                  <a:prstClr val="white"/>
                </a:solidFill>
              </a:rPr>
              <a:t>2</a:t>
            </a:r>
            <a:endParaRPr lang="zh-CN" altLang="en-US" dirty="0">
              <a:solidFill>
                <a:prstClr val="white"/>
              </a:solidFill>
            </a:endParaRPr>
          </a:p>
        </p:txBody>
      </p:sp>
      <p:cxnSp>
        <p:nvCxnSpPr>
          <p:cNvPr id="12" name="直接连接符 11">
            <a:extLst>
              <a:ext uri="{FF2B5EF4-FFF2-40B4-BE49-F238E27FC236}">
                <a16:creationId xmlns:a16="http://schemas.microsoft.com/office/drawing/2014/main" id="{795D89C2-F517-4C46-8A87-EB1A2B1ED956}"/>
              </a:ext>
            </a:extLst>
          </p:cNvPr>
          <p:cNvCxnSpPr>
            <a:stCxn id="5" idx="4"/>
            <a:endCxn id="6" idx="0"/>
          </p:cNvCxnSpPr>
          <p:nvPr/>
        </p:nvCxnSpPr>
        <p:spPr>
          <a:xfrm flipH="1">
            <a:off x="9217166" y="573964"/>
            <a:ext cx="863600" cy="5746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00773561-5963-4C30-91F9-8E41C897F99F}"/>
              </a:ext>
            </a:extLst>
          </p:cNvPr>
          <p:cNvCxnSpPr>
            <a:stCxn id="6" idx="4"/>
            <a:endCxn id="7" idx="0"/>
          </p:cNvCxnSpPr>
          <p:nvPr/>
        </p:nvCxnSpPr>
        <p:spPr>
          <a:xfrm flipH="1">
            <a:off x="8712341" y="1437564"/>
            <a:ext cx="504031" cy="431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5567BC62-84B4-45E2-A0A2-FD8CD5935267}"/>
              </a:ext>
            </a:extLst>
          </p:cNvPr>
          <p:cNvCxnSpPr>
            <a:stCxn id="10" idx="0"/>
            <a:endCxn id="6" idx="4"/>
          </p:cNvCxnSpPr>
          <p:nvPr/>
        </p:nvCxnSpPr>
        <p:spPr>
          <a:xfrm flipH="1" flipV="1">
            <a:off x="9216372" y="1437564"/>
            <a:ext cx="504031" cy="431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DD357280-CA56-424D-B9DE-23223E85A78C}"/>
              </a:ext>
            </a:extLst>
          </p:cNvPr>
          <p:cNvCxnSpPr>
            <a:stCxn id="9" idx="0"/>
            <a:endCxn id="5" idx="4"/>
          </p:cNvCxnSpPr>
          <p:nvPr/>
        </p:nvCxnSpPr>
        <p:spPr>
          <a:xfrm flipH="1" flipV="1">
            <a:off x="10080766" y="573964"/>
            <a:ext cx="936625" cy="5746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9CB09C2F-EA76-43B6-811B-122862EEC3FF}"/>
              </a:ext>
            </a:extLst>
          </p:cNvPr>
          <p:cNvCxnSpPr>
            <a:stCxn id="9" idx="4"/>
            <a:endCxn id="8" idx="0"/>
          </p:cNvCxnSpPr>
          <p:nvPr/>
        </p:nvCxnSpPr>
        <p:spPr>
          <a:xfrm flipH="1">
            <a:off x="10657028" y="1437564"/>
            <a:ext cx="359569" cy="43180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27" name="表格 26">
            <a:extLst>
              <a:ext uri="{FF2B5EF4-FFF2-40B4-BE49-F238E27FC236}">
                <a16:creationId xmlns:a16="http://schemas.microsoft.com/office/drawing/2014/main" id="{F443FC7F-7530-482A-ABA1-B975585AC06B}"/>
              </a:ext>
            </a:extLst>
          </p:cNvPr>
          <p:cNvGraphicFramePr>
            <a:graphicFrameLocks noGrp="1"/>
          </p:cNvGraphicFramePr>
          <p:nvPr>
            <p:extLst>
              <p:ext uri="{D42A27DB-BD31-4B8C-83A1-F6EECF244321}">
                <p14:modId xmlns:p14="http://schemas.microsoft.com/office/powerpoint/2010/main" val="661477598"/>
              </p:ext>
            </p:extLst>
          </p:nvPr>
        </p:nvGraphicFramePr>
        <p:xfrm>
          <a:off x="8197198" y="2474202"/>
          <a:ext cx="3767136" cy="447675"/>
        </p:xfrm>
        <a:graphic>
          <a:graphicData uri="http://schemas.openxmlformats.org/drawingml/2006/table">
            <a:tbl>
              <a:tblPr firstRow="1" bandRow="1">
                <a:tableStyleId>{00A15C55-8517-42AA-B614-E9B94910E393}</a:tableStyleId>
              </a:tblPr>
              <a:tblGrid>
                <a:gridCol w="627856">
                  <a:extLst>
                    <a:ext uri="{9D8B030D-6E8A-4147-A177-3AD203B41FA5}">
                      <a16:colId xmlns:a16="http://schemas.microsoft.com/office/drawing/2014/main" val="20000"/>
                    </a:ext>
                  </a:extLst>
                </a:gridCol>
                <a:gridCol w="627856">
                  <a:extLst>
                    <a:ext uri="{9D8B030D-6E8A-4147-A177-3AD203B41FA5}">
                      <a16:colId xmlns:a16="http://schemas.microsoft.com/office/drawing/2014/main" val="20001"/>
                    </a:ext>
                  </a:extLst>
                </a:gridCol>
                <a:gridCol w="627856">
                  <a:extLst>
                    <a:ext uri="{9D8B030D-6E8A-4147-A177-3AD203B41FA5}">
                      <a16:colId xmlns:a16="http://schemas.microsoft.com/office/drawing/2014/main" val="20002"/>
                    </a:ext>
                  </a:extLst>
                </a:gridCol>
                <a:gridCol w="627856">
                  <a:extLst>
                    <a:ext uri="{9D8B030D-6E8A-4147-A177-3AD203B41FA5}">
                      <a16:colId xmlns:a16="http://schemas.microsoft.com/office/drawing/2014/main" val="20003"/>
                    </a:ext>
                  </a:extLst>
                </a:gridCol>
                <a:gridCol w="627856">
                  <a:extLst>
                    <a:ext uri="{9D8B030D-6E8A-4147-A177-3AD203B41FA5}">
                      <a16:colId xmlns:a16="http://schemas.microsoft.com/office/drawing/2014/main" val="20004"/>
                    </a:ext>
                  </a:extLst>
                </a:gridCol>
                <a:gridCol w="627856">
                  <a:extLst>
                    <a:ext uri="{9D8B030D-6E8A-4147-A177-3AD203B41FA5}">
                      <a16:colId xmlns:a16="http://schemas.microsoft.com/office/drawing/2014/main" val="20005"/>
                    </a:ext>
                  </a:extLst>
                </a:gridCol>
              </a:tblGrid>
              <a:tr h="447675">
                <a:tc>
                  <a:txBody>
                    <a:bodyPr/>
                    <a:lstStyle/>
                    <a:p>
                      <a:r>
                        <a:rPr lang="en-US" altLang="zh-CN" sz="1800" dirty="0"/>
                        <a:t>7</a:t>
                      </a:r>
                      <a:endParaRPr lang="zh-CN" altLang="en-US" sz="1800" dirty="0"/>
                    </a:p>
                  </a:txBody>
                  <a:tcPr marL="91417" marR="91417" marT="45705" marB="45705">
                    <a:solidFill>
                      <a:srgbClr val="92D050"/>
                    </a:solidFill>
                  </a:tcPr>
                </a:tc>
                <a:tc>
                  <a:txBody>
                    <a:bodyPr/>
                    <a:lstStyle/>
                    <a:p>
                      <a:r>
                        <a:rPr lang="en-US" altLang="zh-CN" sz="1800" dirty="0"/>
                        <a:t>5</a:t>
                      </a:r>
                      <a:endParaRPr lang="zh-CN" altLang="en-US" sz="1800" dirty="0"/>
                    </a:p>
                  </a:txBody>
                  <a:tcPr marL="91417" marR="91417" marT="45705" marB="45705">
                    <a:solidFill>
                      <a:srgbClr val="92D050"/>
                    </a:solidFill>
                  </a:tcPr>
                </a:tc>
                <a:tc>
                  <a:txBody>
                    <a:bodyPr/>
                    <a:lstStyle/>
                    <a:p>
                      <a:r>
                        <a:rPr lang="en-US" altLang="zh-CN" sz="1800" dirty="0"/>
                        <a:t>4</a:t>
                      </a:r>
                      <a:endParaRPr lang="zh-CN" altLang="en-US" sz="1800" dirty="0"/>
                    </a:p>
                  </a:txBody>
                  <a:tcPr marL="91417" marR="91417" marT="45705" marB="45705">
                    <a:solidFill>
                      <a:srgbClr val="92D050"/>
                    </a:solidFill>
                  </a:tcPr>
                </a:tc>
                <a:tc>
                  <a:txBody>
                    <a:bodyPr/>
                    <a:lstStyle/>
                    <a:p>
                      <a:r>
                        <a:rPr lang="en-US" altLang="zh-CN" sz="1800" dirty="0"/>
                        <a:t>1</a:t>
                      </a:r>
                      <a:endParaRPr lang="zh-CN" altLang="en-US" sz="1800" dirty="0"/>
                    </a:p>
                  </a:txBody>
                  <a:tcPr marL="91417" marR="91417" marT="45705" marB="45705">
                    <a:solidFill>
                      <a:srgbClr val="92D050"/>
                    </a:solidFill>
                  </a:tcPr>
                </a:tc>
                <a:tc>
                  <a:txBody>
                    <a:bodyPr/>
                    <a:lstStyle/>
                    <a:p>
                      <a:r>
                        <a:rPr lang="en-US" altLang="zh-CN" sz="1800" dirty="0"/>
                        <a:t>2</a:t>
                      </a:r>
                      <a:endParaRPr lang="zh-CN" altLang="en-US" sz="1800" dirty="0"/>
                    </a:p>
                  </a:txBody>
                  <a:tcPr marL="91417" marR="91417" marT="45705" marB="45705">
                    <a:solidFill>
                      <a:srgbClr val="92D050"/>
                    </a:solidFill>
                  </a:tcPr>
                </a:tc>
                <a:tc>
                  <a:txBody>
                    <a:bodyPr/>
                    <a:lstStyle/>
                    <a:p>
                      <a:r>
                        <a:rPr lang="en-US" altLang="zh-CN" sz="1800" dirty="0"/>
                        <a:t>3</a:t>
                      </a:r>
                      <a:endParaRPr lang="zh-CN" altLang="en-US" sz="1800" dirty="0"/>
                    </a:p>
                  </a:txBody>
                  <a:tcPr marL="91417" marR="91417" marT="45705" marB="45705">
                    <a:solidFill>
                      <a:srgbClr val="92D050"/>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1056327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79CAAE-77ED-455B-8922-2175A650D255}"/>
              </a:ext>
            </a:extLst>
          </p:cNvPr>
          <p:cNvSpPr>
            <a:spLocks noGrp="1"/>
          </p:cNvSpPr>
          <p:nvPr>
            <p:ph type="title"/>
          </p:nvPr>
        </p:nvSpPr>
        <p:spPr/>
        <p:txBody>
          <a:bodyPr/>
          <a:lstStyle/>
          <a:p>
            <a:r>
              <a:rPr lang="en-US" altLang="zh-CN"/>
              <a:t>STL</a:t>
            </a:r>
            <a:endParaRPr lang="zh-CN" altLang="en-US"/>
          </a:p>
        </p:txBody>
      </p:sp>
      <p:sp>
        <p:nvSpPr>
          <p:cNvPr id="3" name="内容占位符 2">
            <a:extLst>
              <a:ext uri="{FF2B5EF4-FFF2-40B4-BE49-F238E27FC236}">
                <a16:creationId xmlns:a16="http://schemas.microsoft.com/office/drawing/2014/main" id="{516DED7D-6E6B-4385-8ED7-926122097ACD}"/>
              </a:ext>
            </a:extLst>
          </p:cNvPr>
          <p:cNvSpPr>
            <a:spLocks noGrp="1"/>
          </p:cNvSpPr>
          <p:nvPr>
            <p:ph idx="1"/>
          </p:nvPr>
        </p:nvSpPr>
        <p:spPr/>
        <p:txBody>
          <a:bodyPr>
            <a:normAutofit fontScale="77500" lnSpcReduction="20000"/>
          </a:bodyPr>
          <a:lstStyle/>
          <a:p>
            <a:r>
              <a:rPr lang="en-US" altLang="zh-CN" dirty="0"/>
              <a:t>stack</a:t>
            </a:r>
          </a:p>
          <a:p>
            <a:r>
              <a:rPr lang="en-US" altLang="zh-CN" dirty="0"/>
              <a:t>queue</a:t>
            </a:r>
          </a:p>
          <a:p>
            <a:r>
              <a:rPr lang="en-US" altLang="zh-CN" dirty="0" err="1"/>
              <a:t>priority_queue</a:t>
            </a:r>
            <a:endParaRPr lang="en-US" altLang="zh-CN" dirty="0"/>
          </a:p>
          <a:p>
            <a:r>
              <a:rPr lang="en-US" altLang="zh-CN" dirty="0"/>
              <a:t>set</a:t>
            </a:r>
          </a:p>
          <a:p>
            <a:r>
              <a:rPr lang="en-US" altLang="zh-CN" dirty="0"/>
              <a:t>map</a:t>
            </a:r>
          </a:p>
          <a:p>
            <a:r>
              <a:rPr lang="da-DK" altLang="zh-CN" dirty="0"/>
              <a:t>unordered_map</a:t>
            </a:r>
          </a:p>
          <a:p>
            <a:r>
              <a:rPr lang="da-DK" altLang="zh-CN" dirty="0"/>
              <a:t>unordered_set</a:t>
            </a:r>
            <a:endParaRPr lang="en-US" altLang="zh-CN" dirty="0"/>
          </a:p>
          <a:p>
            <a:r>
              <a:rPr lang="en-US" altLang="zh-CN" dirty="0"/>
              <a:t>sort()</a:t>
            </a:r>
          </a:p>
          <a:p>
            <a:r>
              <a:rPr lang="en-US" altLang="zh-CN" dirty="0" err="1"/>
              <a:t>next_permutation</a:t>
            </a:r>
            <a:r>
              <a:rPr lang="en-US" altLang="zh-CN" dirty="0"/>
              <a:t>()</a:t>
            </a:r>
          </a:p>
          <a:p>
            <a:r>
              <a:rPr lang="en-US" altLang="zh-CN" dirty="0" err="1"/>
              <a:t>nth_element</a:t>
            </a:r>
            <a:r>
              <a:rPr lang="en-US" altLang="zh-CN" dirty="0"/>
              <a:t>()</a:t>
            </a:r>
          </a:p>
          <a:p>
            <a:r>
              <a:rPr lang="en-US" altLang="zh-CN" dirty="0">
                <a:hlinkClick r:id="rId2"/>
              </a:rPr>
              <a:t>https://cplusplus.com/reference/stl/</a:t>
            </a:r>
            <a:r>
              <a:rPr lang="en-US" altLang="zh-CN" dirty="0"/>
              <a:t> </a:t>
            </a:r>
          </a:p>
          <a:p>
            <a:r>
              <a:rPr lang="en-US" altLang="zh-CN" dirty="0">
                <a:hlinkClick r:id="rId3"/>
              </a:rPr>
              <a:t>https://cplusplus.com/reference/algorithm/</a:t>
            </a:r>
            <a:endParaRPr lang="en-US" altLang="zh-CN" dirty="0"/>
          </a:p>
          <a:p>
            <a:endParaRPr lang="zh-CN" altLang="en-US" dirty="0"/>
          </a:p>
        </p:txBody>
      </p:sp>
    </p:spTree>
    <p:extLst>
      <p:ext uri="{BB962C8B-B14F-4D97-AF65-F5344CB8AC3E}">
        <p14:creationId xmlns:p14="http://schemas.microsoft.com/office/powerpoint/2010/main" val="5388264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文本框 9217">
            <a:extLst>
              <a:ext uri="{FF2B5EF4-FFF2-40B4-BE49-F238E27FC236}">
                <a16:creationId xmlns:a16="http://schemas.microsoft.com/office/drawing/2014/main" id="{16AF8EB0-4F6C-496E-B7CE-9BB89BFDCA63}"/>
              </a:ext>
            </a:extLst>
          </p:cNvPr>
          <p:cNvSpPr txBox="1">
            <a:spLocks noChangeArrowheads="1"/>
          </p:cNvSpPr>
          <p:nvPr/>
        </p:nvSpPr>
        <p:spPr bwMode="auto">
          <a:xfrm>
            <a:off x="2819400" y="2844225"/>
            <a:ext cx="65532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lgn="ctr" eaLnBrk="1" hangingPunct="1">
              <a:spcBef>
                <a:spcPct val="50000"/>
              </a:spcBef>
            </a:pPr>
            <a:r>
              <a:rPr lang="en-US" altLang="zh-CN" sz="3200">
                <a:solidFill>
                  <a:srgbClr val="0070C0"/>
                </a:solidFill>
                <a:latin typeface="Times New Roman" panose="02020603050405020304" pitchFamily="18" charset="0"/>
                <a:ea typeface="宋体" panose="02010600030101010101" pitchFamily="2" charset="-122"/>
                <a:hlinkClick r:id="rId2" action="ppaction://hlinkfile"/>
              </a:rPr>
              <a:t>Entropy</a:t>
            </a:r>
            <a:endParaRPr lang="zh-CN" altLang="en-US" sz="3600" b="1">
              <a:solidFill>
                <a:srgbClr val="0070C0"/>
              </a:solidFill>
              <a:latin typeface="Times New Roman" panose="02020603050405020304" pitchFamily="18" charset="0"/>
              <a:ea typeface="宋体" panose="0201060003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文本框 9217">
            <a:extLst>
              <a:ext uri="{FF2B5EF4-FFF2-40B4-BE49-F238E27FC236}">
                <a16:creationId xmlns:a16="http://schemas.microsoft.com/office/drawing/2014/main" id="{16AF8EB0-4F6C-496E-B7CE-9BB89BFDCA63}"/>
              </a:ext>
            </a:extLst>
          </p:cNvPr>
          <p:cNvSpPr txBox="1">
            <a:spLocks noChangeArrowheads="1"/>
          </p:cNvSpPr>
          <p:nvPr/>
        </p:nvSpPr>
        <p:spPr bwMode="auto">
          <a:xfrm>
            <a:off x="2819400" y="2844225"/>
            <a:ext cx="65532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lgn="ctr" eaLnBrk="1" hangingPunct="1">
              <a:spcBef>
                <a:spcPct val="50000"/>
              </a:spcBef>
            </a:pPr>
            <a:r>
              <a:rPr lang="en-US" altLang="zh-CN" sz="3200" b="1">
                <a:solidFill>
                  <a:srgbClr val="0070C0"/>
                </a:solidFill>
                <a:latin typeface="Times New Roman" panose="02020603050405020304" pitchFamily="18" charset="0"/>
                <a:ea typeface="宋体" panose="02010600030101010101" pitchFamily="2" charset="-122"/>
                <a:hlinkClick r:id="rId2" action="ppaction://hlinkfile"/>
              </a:rPr>
              <a:t>Add All</a:t>
            </a:r>
            <a:endParaRPr lang="zh-CN" altLang="en-US" sz="3600" b="1">
              <a:solidFill>
                <a:srgbClr val="0070C0"/>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0543449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962487" y="2103437"/>
            <a:ext cx="10515600" cy="1325563"/>
          </a:xfrm>
        </p:spPr>
        <p:txBody>
          <a:bodyPr>
            <a:normAutofit/>
          </a:bodyPr>
          <a:lstStyle/>
          <a:p>
            <a:pPr algn="ctr"/>
            <a:r>
              <a:rPr lang="en-US" altLang="zh-CN" sz="4000">
                <a:hlinkClick r:id="rId2" action="ppaction://hlinkfile"/>
              </a:rPr>
              <a:t>Gone Fishing</a:t>
            </a:r>
            <a:endParaRPr lang="zh-CN" altLang="en-US" sz="4000" dirty="0"/>
          </a:p>
        </p:txBody>
      </p:sp>
    </p:spTree>
    <p:extLst>
      <p:ext uri="{BB962C8B-B14F-4D97-AF65-F5344CB8AC3E}">
        <p14:creationId xmlns:p14="http://schemas.microsoft.com/office/powerpoint/2010/main" val="23115720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DC9C84-2151-477E-8A0C-7EFFA745A8E3}"/>
              </a:ext>
            </a:extLst>
          </p:cNvPr>
          <p:cNvSpPr>
            <a:spLocks noGrp="1"/>
          </p:cNvSpPr>
          <p:nvPr>
            <p:ph type="title"/>
          </p:nvPr>
        </p:nvSpPr>
        <p:spPr/>
        <p:txBody>
          <a:bodyPr/>
          <a:lstStyle/>
          <a:p>
            <a:pPr eaLnBrk="1" fontAlgn="auto" hangingPunct="1">
              <a:spcAft>
                <a:spcPts val="0"/>
              </a:spcAft>
              <a:defRPr/>
            </a:pPr>
            <a:r>
              <a:rPr lang="en-US" altLang="zh-CN">
                <a:solidFill>
                  <a:schemeClr val="accent1">
                    <a:satMod val="150000"/>
                  </a:schemeClr>
                </a:solidFill>
              </a:rPr>
              <a:t>Enumeration &amp; Greedy</a:t>
            </a:r>
            <a:endParaRPr lang="zh-CN" altLang="en-US" dirty="0">
              <a:solidFill>
                <a:schemeClr val="accent1">
                  <a:satMod val="150000"/>
                </a:schemeClr>
              </a:solidFill>
            </a:endParaRPr>
          </a:p>
        </p:txBody>
      </p:sp>
      <p:sp>
        <p:nvSpPr>
          <p:cNvPr id="117763" name="内容占位符 2">
            <a:extLst>
              <a:ext uri="{FF2B5EF4-FFF2-40B4-BE49-F238E27FC236}">
                <a16:creationId xmlns:a16="http://schemas.microsoft.com/office/drawing/2014/main" id="{990A3F0B-9D39-4D2C-8AA1-1A6E8CA7E502}"/>
              </a:ext>
            </a:extLst>
          </p:cNvPr>
          <p:cNvSpPr>
            <a:spLocks noGrp="1"/>
          </p:cNvSpPr>
          <p:nvPr>
            <p:ph idx="1"/>
          </p:nvPr>
        </p:nvSpPr>
        <p:spPr/>
        <p:txBody>
          <a:bodyPr/>
          <a:lstStyle/>
          <a:p>
            <a:pPr marL="514350" indent="-514350" eaLnBrk="1" hangingPunct="1">
              <a:buFont typeface="+mj-lt"/>
              <a:buAutoNum type="arabicPeriod"/>
            </a:pPr>
            <a:r>
              <a:rPr lang="en-US" altLang="zh-CN" dirty="0"/>
              <a:t>Suppose that fishing ends at the </a:t>
            </a:r>
            <a:r>
              <a:rPr lang="en-US" altLang="zh-CN" dirty="0">
                <a:solidFill>
                  <a:srgbClr val="FF0000"/>
                </a:solidFill>
              </a:rPr>
              <a:t>k</a:t>
            </a:r>
            <a:r>
              <a:rPr lang="en-US" altLang="zh-CN" dirty="0"/>
              <a:t>th lake. Then the fishing time is h*12-sum_{</a:t>
            </a:r>
            <a:r>
              <a:rPr lang="en-US" altLang="zh-CN" dirty="0" err="1"/>
              <a:t>i</a:t>
            </a:r>
            <a:r>
              <a:rPr lang="en-US" altLang="zh-CN" dirty="0"/>
              <a:t>=1}^{k-1}(</a:t>
            </a:r>
            <a:r>
              <a:rPr lang="en-US" altLang="zh-CN" dirty="0" err="1"/>
              <a:t>ti</a:t>
            </a:r>
            <a:r>
              <a:rPr lang="en-US" altLang="zh-CN" dirty="0"/>
              <a:t>).</a:t>
            </a:r>
          </a:p>
          <a:p>
            <a:pPr marL="514350" indent="-514350" eaLnBrk="1" hangingPunct="1">
              <a:buFont typeface="+mj-lt"/>
              <a:buAutoNum type="arabicPeriod"/>
            </a:pPr>
            <a:r>
              <a:rPr lang="en-US" altLang="zh-CN" dirty="0"/>
              <a:t>The time can be arbitrarily distributed on the 1~k lakes.</a:t>
            </a:r>
          </a:p>
          <a:p>
            <a:pPr marL="514350" indent="-514350" eaLnBrk="1" hangingPunct="1">
              <a:buFont typeface="+mj-lt"/>
              <a:buAutoNum type="arabicPeriod"/>
            </a:pPr>
            <a:r>
              <a:rPr lang="en-US" altLang="zh-CN" dirty="0">
                <a:solidFill>
                  <a:srgbClr val="FF0000"/>
                </a:solidFill>
              </a:rPr>
              <a:t>The plan is to find the lake where John can catch the </a:t>
            </a:r>
            <a:r>
              <a:rPr lang="en-US" altLang="zh-CN" dirty="0" err="1">
                <a:solidFill>
                  <a:srgbClr val="FF0000"/>
                </a:solidFill>
              </a:rPr>
              <a:t>maxinum</a:t>
            </a:r>
            <a:r>
              <a:rPr lang="en-US" altLang="zh-CN" dirty="0">
                <a:solidFill>
                  <a:srgbClr val="FF0000"/>
                </a:solidFill>
              </a:rPr>
              <a:t> number of fish for every 5 minutes.</a:t>
            </a:r>
          </a:p>
        </p:txBody>
      </p:sp>
    </p:spTree>
    <p:extLst>
      <p:ext uri="{BB962C8B-B14F-4D97-AF65-F5344CB8AC3E}">
        <p14:creationId xmlns:p14="http://schemas.microsoft.com/office/powerpoint/2010/main" val="191376345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1656</TotalTime>
  <Words>2018</Words>
  <Application>Microsoft Office PowerPoint</Application>
  <PresentationFormat>宽屏</PresentationFormat>
  <Paragraphs>316</Paragraphs>
  <Slides>39</Slides>
  <Notes>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39</vt:i4>
      </vt:variant>
    </vt:vector>
  </HeadingPairs>
  <TitlesOfParts>
    <vt:vector size="47" baseType="lpstr">
      <vt:lpstr>等线</vt:lpstr>
      <vt:lpstr>等线 Light</vt:lpstr>
      <vt:lpstr>Arial</vt:lpstr>
      <vt:lpstr>Times New Roman</vt:lpstr>
      <vt:lpstr>Wingdings</vt:lpstr>
      <vt:lpstr>Wingdings 2</vt:lpstr>
      <vt:lpstr>Office 主题​​</vt:lpstr>
      <vt:lpstr>Microsoft Visio 2003-2010 Drawing</vt:lpstr>
      <vt:lpstr>The Greedy Approach</vt:lpstr>
      <vt:lpstr>Example</vt:lpstr>
      <vt:lpstr>The Greedy Approach</vt:lpstr>
      <vt:lpstr>Example (optimal ): the change-making problem</vt:lpstr>
      <vt:lpstr>PowerPoint 演示文稿</vt:lpstr>
      <vt:lpstr>Example (not optimal)</vt:lpstr>
      <vt:lpstr>Applications</vt:lpstr>
      <vt:lpstr>Two easy problems</vt:lpstr>
      <vt:lpstr>Problems</vt:lpstr>
      <vt:lpstr>The activity selection problem</vt:lpstr>
      <vt:lpstr>Formal definition</vt:lpstr>
      <vt:lpstr>PowerPoint 演示文稿</vt:lpstr>
      <vt:lpstr>Greedy Choice</vt:lpstr>
      <vt:lpstr>PowerPoint 演示文稿</vt:lpstr>
      <vt:lpstr>Proof of optimality</vt:lpstr>
      <vt:lpstr>Conclusions</vt:lpstr>
      <vt:lpstr>Horse Racing</vt:lpstr>
      <vt:lpstr>Greedy Strategy</vt:lpstr>
      <vt:lpstr>Greedy Strategy</vt:lpstr>
      <vt:lpstr>Greedy Strategy</vt:lpstr>
      <vt:lpstr>Greedy Strategy</vt:lpstr>
      <vt:lpstr>Physical Examination</vt:lpstr>
      <vt:lpstr>PowerPoint 演示文稿</vt:lpstr>
      <vt:lpstr>STL-sort()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priority_queue</vt:lpstr>
      <vt:lpstr>STL</vt:lpstr>
      <vt:lpstr>PowerPoint 演示文稿</vt:lpstr>
      <vt:lpstr>PowerPoint 演示文稿</vt:lpstr>
      <vt:lpstr>Gone Fishing</vt:lpstr>
      <vt:lpstr>Enumeration &amp; Greedy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greedy approach</dc:title>
  <dc:creator>Xu Yanyan</dc:creator>
  <cp:lastModifiedBy>艳艳 徐</cp:lastModifiedBy>
  <cp:revision>149</cp:revision>
  <dcterms:created xsi:type="dcterms:W3CDTF">2021-03-21T14:58:38Z</dcterms:created>
  <dcterms:modified xsi:type="dcterms:W3CDTF">2024-04-17T14:36:45Z</dcterms:modified>
</cp:coreProperties>
</file>