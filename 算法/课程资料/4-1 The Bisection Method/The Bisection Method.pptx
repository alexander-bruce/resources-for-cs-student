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695" r:id="rId4"/>
    <p:sldId id="696" r:id="rId5"/>
    <p:sldId id="697" r:id="rId6"/>
    <p:sldId id="259" r:id="rId7"/>
    <p:sldId id="260" r:id="rId8"/>
    <p:sldId id="264" r:id="rId9"/>
    <p:sldId id="258" r:id="rId10"/>
    <p:sldId id="265" r:id="rId11"/>
    <p:sldId id="261" r:id="rId12"/>
    <p:sldId id="262" r:id="rId13"/>
    <p:sldId id="263" r:id="rId14"/>
    <p:sldId id="694" r:id="rId15"/>
    <p:sldId id="698" r:id="rId16"/>
    <p:sldId id="699" r:id="rId17"/>
    <p:sldId id="700" r:id="rId18"/>
    <p:sldId id="703" r:id="rId19"/>
    <p:sldId id="701" r:id="rId20"/>
    <p:sldId id="702" r:id="rId21"/>
    <p:sldId id="704" r:id="rId22"/>
    <p:sldId id="707" r:id="rId23"/>
    <p:sldId id="705" r:id="rId24"/>
    <p:sldId id="706" r:id="rId25"/>
    <p:sldId id="708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7.72102" units="1/cm"/>
          <inkml:channelProperty channel="Y" name="resolution" value="37.76224" units="1/cm"/>
          <inkml:channelProperty channel="T" name="resolution" value="1" units="1/dev"/>
        </inkml:channelProperties>
      </inkml:inkSource>
      <inkml:timestamp xml:id="ts0" timeString="2024-03-20T10:10:33.3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3157 8819 0,'0'18'188,"0"0"-188,0-1 16,0 19-16,18-1 15,-18-17 1,0-1-1,0 1 1,0-1-16,0 1 16,0 0-1,0-1 17,0 1-17,0 17 1,0 1-1,0-1 1,0 0 0,0-17-1,0-1 1,0 1 15,0 0 0,0-1 1,0 1 15,0 0-16,0-1-16,0 1 64,0 0-64,0-1 1,0 18 15,0-17-15</inkml:trace>
  <inkml:trace contextRef="#ctx0" brushRef="#br0" timeOffset="3563.06">3175 8819 0,'18'-17'32,"-1"17"30,1 0-46,17 0-1,-17 0 1,17 0 0,0 0-16,36 0 15,-36 0 1,0 0-1,36 0 1,-53 0 0,-1 0 15,1 0 16,17 0-32,-17 0-15,52 0 16,1 0 0,-18 0-1,-18 0 1,-17 0 0,-1 0-1,1 0 1,17 0 15,-17 0-31,35 0 16,-18 0-1,1 0 1,16 0 0,-16 0-1,-1 0 1,-17 0-1,-1 0 1,1 0 15,0 0-15,17 0 0,0 0-1,0 0 1,36 0-1,-36 0 1,36 0 0,70 0-1,-88 17 1,53 1 0,-36-18-1,1 0 1,-1 18-1,36-1 1,0 1 0,-71-18-1,-17 0 1,0 0 15,-1 0-15,36 0 15,0 18-15,35-1-1,0-17 1,-52 18 0,-1-18-1,-17 0 157,-1 0-156,1 0-1,-1 0 110,1 0-93,-18 18 452,0 34-453,0-34-15,0 17-1,0-17-15,0 0 16,0-1-16,0 1 31,0 0-31,0-1 157,0 1-142,0 0 1,0-1-1,0 1 1,0-1-16,0 1 16,0 17-16,0 1 15,0-19 1,0 19-16,0-1 16,0 0-1,0 0 1,0-17 31,0 0 46,0-1-14,0 1-79,0 0 15,0 17 1,0-18 93,0 1-93,0 0 15</inkml:trace>
  <inkml:trace contextRef="#ctx0" brushRef="#br0" timeOffset="5994.71">3246 9507 0,'0'18'141,"176"-18"-110,-141 0-31,18 35 31,-35-35-15,-1 0 47,1 0-48,0 0 1,17 0-16,0 0 15,36 0 1,17 0 0,-35 0-1,-18 0 1,0 0 15,-17 0-15,17 0-1,-17 0 1,17 0 15,-17 0-15,17 0-16,18 0 16,18 0-1,17 0 1,0 18-1,-35-18 1,-35 0 0,35 0 15,-18 0-31,18 18 31,-18-18-31,36 17 16,-36-17-16,53 0 15,-17 18 1,17 17 0,0-35-1,0 18 1,0-1 0,1-17-1,-36 0 1,-18 0-1,-18 0 1,36 0 15,-17 0-15,17 0-16,-18 0 31,18 0-15,-18 0-1,0 0 1,1 0 15,-19 0 1,1 0 61,17-35-77</inkml:trace>
  <inkml:trace contextRef="#ctx0" brushRef="#br0" timeOffset="7466.89">3193 9454 0,'0'18'453,"0"0"-359,0-1-78,17 1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F993AC-F6ED-9853-44B8-B8019F690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84D491-36D9-0F0D-0167-100A3487D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DF928D-B5BE-C36E-3168-6A5155F05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C9F4-DD3A-471E-B868-B6992AA986C9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0D24B6-4558-D12A-B2D6-3F8DF4EB6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FD1FE3-B287-5385-53B9-61A52523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E9092-EBC5-40D9-BD87-A31A86D3A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833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A0659B-877B-1F52-E4A5-199A3CC3E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E61D49-BE2B-DA32-EC72-5B311A290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E54CF-34B9-3C5D-5C0E-68B8BC640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C9F4-DD3A-471E-B868-B6992AA986C9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C95C04-C5AD-0373-E3D1-1B3B45F95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5A33BF-4DDA-3E3D-F56E-F602D14F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E9092-EBC5-40D9-BD87-A31A86D3A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475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F9F302-BDF8-EBC3-9F78-44D6B7F18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810A66-40AD-0AFC-7318-936F20E36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71EC90-05DD-DDC5-C15F-A5170FA13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C9F4-DD3A-471E-B868-B6992AA986C9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36440F-85CB-09F3-E25B-5AAE0408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2ADD7E-E091-7BA1-AB45-391ABA294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E9092-EBC5-40D9-BD87-A31A86D3A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0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3DB047-FF59-7343-89B2-B15BB8D95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DDAC0E-FFAC-0BA9-674A-78808B53E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6B3D68-9ECF-EDA6-47EE-B66B67A36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347FA8-E512-27CF-EC87-1C25ECE7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C9F4-DD3A-471E-B868-B6992AA986C9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715497-469A-B9A1-6E69-114F251E4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813131-DACC-614D-0934-B5050C83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E9092-EBC5-40D9-BD87-A31A86D3A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578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5D1F52-52AA-6A48-B7CA-3B5E7DB9B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97F6CD-1DE4-BCD5-B9BC-D18F83DE4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5014B0-FC8C-FE29-0EB5-EE6EE221E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94C1E93-6B24-C0C9-5427-07965438F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F12009-A4D6-E555-AD5B-942221E1EC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6CD36A-0AEF-EB6B-8700-9F0411DAF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C9F4-DD3A-471E-B868-B6992AA986C9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EA99235-7048-7F46-E840-86FFAC06A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213CE5-F082-8CE9-5BD2-EA718F42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E9092-EBC5-40D9-BD87-A31A86D3A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608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320B6-0D12-5B8B-658A-FFFCFFBBB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BD931D-4719-F8FF-C0A8-38326172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C9F4-DD3A-471E-B868-B6992AA986C9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4B6244-E3BE-3D5D-0CD3-6ED1D2184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4DB9F7-D3C9-0FD4-8F33-C58246C1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E9092-EBC5-40D9-BD87-A31A86D3A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292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E63D64-7531-59B1-7B2C-427CA65A2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C9F4-DD3A-471E-B868-B6992AA986C9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609F90-67EB-C856-6342-5635452FD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39DC75-2AD8-788B-89DB-5E44983CB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E9092-EBC5-40D9-BD87-A31A86D3A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24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BDDDB-76D3-F6E8-62F4-A901FC04A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CCBAE5-BA1E-F2D4-7F4E-F100757C9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094677-273C-2182-9072-121CA50EC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5CF454-FEA3-71BE-0404-05014B64B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C9F4-DD3A-471E-B868-B6992AA986C9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77AD88-D33A-B240-9B35-53A2D52B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902369-425E-0D19-8D47-FB6511B8C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E9092-EBC5-40D9-BD87-A31A86D3A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800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BD8E7-1315-A0A4-DBAE-DCE7E9BF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C31F7F-A4D0-BDF0-B5A2-BF3368BDB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8CB2F2-8071-B461-2528-F8AFDFCCD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4547DF-7BA7-C93C-6901-C4869BCEA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C9F4-DD3A-471E-B868-B6992AA986C9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A55509-7999-6F90-7906-3F493474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09CDBB-72E9-FDC5-9329-6153B2EA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E9092-EBC5-40D9-BD87-A31A86D3A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529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F3E24-59CB-D66F-C446-6B20FFF33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1CC971-2BC9-8049-B0F4-D3C4F0E23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2BED3-400C-3414-E30E-C5080C3EC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C9F4-DD3A-471E-B868-B6992AA986C9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C90A63-DF7F-3730-1208-A782C622F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C5F052-0A3F-61E8-9B47-0EECE299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E9092-EBC5-40D9-BD87-A31A86D3A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901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053D473-831E-CA4A-327D-D58D237CD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633816-D903-E48E-6682-261D5D979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65EF67-953E-F679-9FD2-77511DB9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C9F4-DD3A-471E-B868-B6992AA986C9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AE1713-D53E-F1C6-8409-0384B258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7556B1-F2CD-A1B5-91DA-B0709D51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E9092-EBC5-40D9-BD87-A31A86D3A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43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6D81E3-BBEA-6BCD-7180-88F0E919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A067EC-BB5F-5D15-8ADB-AEE4E280A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0B7076-E807-C16B-D57F-4FE24E70F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DC9F4-DD3A-471E-B868-B6992AA986C9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CBABA9-D01E-661C-68A6-7FB21082CE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BD6689-4341-8067-D0A4-87E482981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E9092-EBC5-40D9-BD87-A31A86D3A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153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The%20Attack%20of%20the%20Cow.docx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Copying%20Books.pdf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Pie.pdf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139482-D129-472D-B794-381D9BFBD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二分法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4334E7-C4D2-4F08-9AA9-E5A36DD22F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Xu </a:t>
            </a:r>
            <a:r>
              <a:rPr lang="en-US" altLang="zh-CN" dirty="0" err="1"/>
              <a:t>Yanyan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8865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E364CA-4F99-8AA5-3D11-8FF4A3BBF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069D30-11A8-F570-B24D-1E428D6D1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Introduction of the Bisection</a:t>
            </a:r>
            <a:r>
              <a:rPr lang="zh-CN" altLang="en-US" dirty="0"/>
              <a:t> </a:t>
            </a:r>
            <a:r>
              <a:rPr lang="en-US" altLang="zh-CN" dirty="0"/>
              <a:t>Method</a:t>
            </a:r>
          </a:p>
          <a:p>
            <a:r>
              <a:rPr lang="zh-CN" altLang="en-US" dirty="0"/>
              <a:t>二分查找</a:t>
            </a:r>
            <a:endParaRPr lang="en-US" altLang="zh-CN" dirty="0"/>
          </a:p>
          <a:p>
            <a:r>
              <a:rPr lang="en-US" altLang="zh-CN" dirty="0"/>
              <a:t>Examples</a:t>
            </a:r>
          </a:p>
          <a:p>
            <a:pPr lvl="1"/>
            <a:r>
              <a:rPr lang="en-US" altLang="zh-CN" dirty="0"/>
              <a:t>The bisection method on Integers</a:t>
            </a:r>
          </a:p>
          <a:p>
            <a:pPr lvl="1"/>
            <a:r>
              <a:rPr lang="en-US" altLang="zh-CN" dirty="0"/>
              <a:t>The bisection method on Real Numbers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0580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7E671A-D1BF-4A48-FDC1-56A36A73E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 of the Bisection</a:t>
            </a:r>
            <a:r>
              <a:rPr lang="zh-CN" altLang="en-US" dirty="0"/>
              <a:t> </a:t>
            </a:r>
            <a:r>
              <a:rPr lang="en-US" altLang="zh-CN" dirty="0"/>
              <a:t>Method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44D891-DBEC-9490-AA2E-2A3FF657A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在数学中，二分法是一种寻根方法，适用于任何连续函数，只要知道两个符号相反的值。该方法包括重复平分由这些值定义的区间，然后选择函数更改符号的子区间，因此必须包含根。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它通常用于获得解的近似值。</a:t>
            </a:r>
          </a:p>
        </p:txBody>
      </p:sp>
    </p:spTree>
    <p:extLst>
      <p:ext uri="{BB962C8B-B14F-4D97-AF65-F5344CB8AC3E}">
        <p14:creationId xmlns:p14="http://schemas.microsoft.com/office/powerpoint/2010/main" val="1375428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8E6CFA-7C01-D333-B09D-57E12F6CE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2509"/>
            <a:ext cx="10515600" cy="5844454"/>
          </a:xfrm>
        </p:spPr>
        <p:txBody>
          <a:bodyPr/>
          <a:lstStyle/>
          <a:p>
            <a:r>
              <a:rPr lang="en-US" altLang="zh-CN" dirty="0"/>
              <a:t>The bisection method is applicable for numerically solving the equation f(x) = 0 for the real variable x, where f is a </a:t>
            </a:r>
            <a:r>
              <a:rPr lang="en-US" altLang="zh-CN" dirty="0">
                <a:solidFill>
                  <a:srgbClr val="FF0000"/>
                </a:solidFill>
              </a:rPr>
              <a:t>continuous</a:t>
            </a:r>
            <a:r>
              <a:rPr lang="en-US" altLang="zh-CN" dirty="0"/>
              <a:t> function defined on an interval [a, b] and where f(a) and f(b) have opposite signs.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该过程一直持续到间隔足够小为止。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（有限精度）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C58342-02D3-05AB-BF21-E8C82B962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817" y="1612837"/>
            <a:ext cx="3538598" cy="501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09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7B754-395F-076B-6C5F-AB6A3B9A3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Complexity of the Bisection</a:t>
            </a:r>
            <a:r>
              <a:rPr lang="zh-CN" altLang="en-US" dirty="0"/>
              <a:t> </a:t>
            </a:r>
            <a:r>
              <a:rPr lang="en-US" altLang="zh-CN" dirty="0"/>
              <a:t>Method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BB21FC-19D9-29E2-15EC-220A3B831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After n bisections, the interval is reduced to </a:t>
            </a:r>
            <a:r>
              <a:rPr lang="en-US" altLang="zh-CN" dirty="0">
                <a:solidFill>
                  <a:srgbClr val="FF0000"/>
                </a:solidFill>
              </a:rPr>
              <a:t>(b - a)/2</a:t>
            </a:r>
            <a:r>
              <a:rPr lang="en-US" altLang="zh-CN" baseline="30000" dirty="0">
                <a:solidFill>
                  <a:srgbClr val="FF0000"/>
                </a:solidFill>
              </a:rPr>
              <a:t>n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Given a, b and a certain accuracy ε, the number of bisection times n can be calculated. </a:t>
            </a:r>
            <a:r>
              <a:rPr lang="en-US" altLang="zh-CN" dirty="0">
                <a:solidFill>
                  <a:srgbClr val="FF0000"/>
                </a:solidFill>
              </a:rPr>
              <a:t>((b - a)/2</a:t>
            </a:r>
            <a:r>
              <a:rPr lang="en-US" altLang="zh-CN" baseline="30000" dirty="0">
                <a:solidFill>
                  <a:srgbClr val="FF0000"/>
                </a:solidFill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 &lt; </a:t>
            </a:r>
            <a:r>
              <a:rPr lang="el-GR" altLang="zh-CN" dirty="0">
                <a:solidFill>
                  <a:srgbClr val="FF0000"/>
                </a:solidFill>
              </a:rPr>
              <a:t>ε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Its complexity is </a:t>
            </a:r>
            <a:r>
              <a:rPr lang="en-US" altLang="zh-CN" dirty="0">
                <a:solidFill>
                  <a:srgbClr val="FF0000"/>
                </a:solidFill>
              </a:rPr>
              <a:t>O(</a:t>
            </a:r>
            <a:r>
              <a:rPr lang="en-US" altLang="zh-CN" dirty="0" err="1">
                <a:solidFill>
                  <a:srgbClr val="FF0000"/>
                </a:solidFill>
              </a:rPr>
              <a:t>logn</a:t>
            </a:r>
            <a:r>
              <a:rPr lang="en-US" altLang="zh-CN" dirty="0">
                <a:solidFill>
                  <a:srgbClr val="FF0000"/>
                </a:solidFill>
              </a:rPr>
              <a:t>). </a:t>
            </a:r>
          </a:p>
          <a:p>
            <a:pPr lvl="1"/>
            <a:r>
              <a:rPr lang="zh-CN" altLang="en-US" dirty="0"/>
              <a:t>例如，如果一个函数在区间</a:t>
            </a:r>
            <a:r>
              <a:rPr lang="en-US" altLang="zh-CN" dirty="0"/>
              <a:t>[0100000]</a:t>
            </a:r>
            <a:r>
              <a:rPr lang="zh-CN" altLang="en-US" dirty="0"/>
              <a:t>内单调变化，并且根的精度要求为</a:t>
            </a:r>
            <a:r>
              <a:rPr lang="en-US" altLang="zh-CN" dirty="0"/>
              <a:t>10^-8</a:t>
            </a:r>
            <a:r>
              <a:rPr lang="zh-CN" altLang="en-US" dirty="0"/>
              <a:t>，那么它需要</a:t>
            </a:r>
            <a:r>
              <a:rPr lang="en-US" altLang="zh-CN" dirty="0"/>
              <a:t>44</a:t>
            </a:r>
            <a:r>
              <a:rPr lang="zh-CN" altLang="en-US" dirty="0"/>
              <a:t>个平分。</a:t>
            </a:r>
          </a:p>
        </p:txBody>
      </p:sp>
    </p:spTree>
    <p:extLst>
      <p:ext uri="{BB962C8B-B14F-4D97-AF65-F5344CB8AC3E}">
        <p14:creationId xmlns:p14="http://schemas.microsoft.com/office/powerpoint/2010/main" val="3063381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61A50-7FDB-45B5-8272-23A206A28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Binary search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AE1156-0939-4934-82B8-79D46C950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571" y="1514785"/>
            <a:ext cx="5742857" cy="42190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6113828-6110-414E-A805-A3A898C047CA}"/>
              </a:ext>
            </a:extLst>
          </p:cNvPr>
          <p:cNvSpPr txBox="1"/>
          <p:nvPr/>
        </p:nvSpPr>
        <p:spPr>
          <a:xfrm>
            <a:off x="1915977" y="4897091"/>
            <a:ext cx="1083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rgbClr val="FF0000"/>
                </a:solidFill>
              </a:rPr>
              <a:t>19</a:t>
            </a:r>
            <a:endParaRPr lang="zh-CN" altLang="en-US" sz="36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437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FCDD49B-B731-4EE4-80CC-AF38F15A7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5" y="1394216"/>
            <a:ext cx="6466667" cy="33142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DFB8979-CE00-4441-A4ED-DECDF48A0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132" y="1394216"/>
            <a:ext cx="3552381" cy="83809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F95E14E-D4AC-4F10-97E9-9E077F0CC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132" y="2441835"/>
            <a:ext cx="3333333" cy="226666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970E230-E771-406B-A62C-A82E0A6E1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65" y="5166164"/>
            <a:ext cx="7133333" cy="114285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D3C67F4-B1B6-42B5-8D9A-A84E26754A51}"/>
              </a:ext>
            </a:extLst>
          </p:cNvPr>
          <p:cNvSpPr txBox="1"/>
          <p:nvPr/>
        </p:nvSpPr>
        <p:spPr>
          <a:xfrm>
            <a:off x="7643673" y="5166164"/>
            <a:ext cx="34622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O(</a:t>
            </a:r>
            <a:r>
              <a:rPr lang="en-US" altLang="zh-CN" dirty="0" err="1">
                <a:solidFill>
                  <a:srgbClr val="FF0000"/>
                </a:solidFill>
              </a:rPr>
              <a:t>logn</a:t>
            </a:r>
            <a:r>
              <a:rPr lang="en-US" altLang="zh-CN" dirty="0">
                <a:solidFill>
                  <a:srgbClr val="FF0000"/>
                </a:solidFill>
              </a:rPr>
              <a:t>), v</a:t>
            </a:r>
            <a:r>
              <a:rPr lang="zh-CN" altLang="en-US" dirty="0">
                <a:solidFill>
                  <a:srgbClr val="FF0000"/>
                </a:solidFill>
              </a:rPr>
              <a:t>ery efficient</a:t>
            </a:r>
            <a:r>
              <a:rPr lang="en-US" altLang="zh-CN" dirty="0">
                <a:solidFill>
                  <a:srgbClr val="FF0000"/>
                </a:solidFill>
              </a:rPr>
              <a:t>, for example, 2</a:t>
            </a:r>
            <a:r>
              <a:rPr lang="en-US" altLang="zh-CN" baseline="30000" dirty="0">
                <a:solidFill>
                  <a:srgbClr val="FF0000"/>
                </a:solidFill>
              </a:rPr>
              <a:t>32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approximately 4.2 billion. 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20</a:t>
            </a:r>
            <a:r>
              <a:rPr lang="en-US" altLang="zh-CN" b="1" dirty="0">
                <a:solidFill>
                  <a:srgbClr val="FF0000"/>
                </a:solidFill>
              </a:rPr>
              <a:t>&gt;1 million   2</a:t>
            </a:r>
            <a:r>
              <a:rPr lang="en-US" altLang="zh-CN" b="1" baseline="30000" dirty="0">
                <a:solidFill>
                  <a:srgbClr val="FF0000"/>
                </a:solidFill>
              </a:rPr>
              <a:t>17</a:t>
            </a:r>
            <a:r>
              <a:rPr lang="en-US" altLang="zh-CN" b="1" dirty="0">
                <a:solidFill>
                  <a:srgbClr val="FF0000"/>
                </a:solidFill>
              </a:rPr>
              <a:t>&gt;100000</a:t>
            </a:r>
            <a:endParaRPr lang="zh-CN" altLang="en-US" b="1" dirty="0">
              <a:solidFill>
                <a:srgbClr val="FF0000"/>
              </a:solidFill>
            </a:endParaRPr>
          </a:p>
          <a:p>
            <a:endParaRPr lang="zh-CN" alt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261C91E-4576-4571-B6A8-2E83FF3F2504}"/>
                  </a:ext>
                </a:extLst>
              </p14:cNvPr>
              <p14:cNvContentPartPr/>
              <p14:nvPr/>
            </p14:nvContentPartPr>
            <p14:xfrm>
              <a:off x="1136520" y="3168720"/>
              <a:ext cx="972000" cy="3240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261C91E-4576-4571-B6A8-2E83FF3F25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27160" y="3159360"/>
                <a:ext cx="990720" cy="34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6870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7F7BE-2133-4DA5-BB7B-C5E09D96F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Recursive &amp; Iterative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43122B-FE35-4238-A091-CF40F9BB7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0070C0"/>
                </a:solidFill>
              </a:rPr>
              <a:t>每个递归算法都可以转换为迭代算法。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0070C0"/>
                </a:solidFill>
              </a:rPr>
              <a:t>递归：易于理解和编程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0070C0"/>
                </a:solidFill>
              </a:rPr>
              <a:t>迭代：效率更高，但有时很难编程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“binary search.cpp”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577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F2DBB-A355-4055-9C2A-70BB8AED3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二分搜索的变体</a:t>
            </a:r>
            <a:r>
              <a:rPr lang="en-US" altLang="zh-CN" sz="3200" dirty="0"/>
              <a:t>——</a:t>
            </a:r>
            <a:r>
              <a:rPr lang="zh-CN" altLang="en-US" sz="3200" dirty="0"/>
              <a:t>用于具有重复元素的有序数组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25F183-AB7C-4454-BA86-07000BFAF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找到第一个等于给定值的元素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查找最后一个等于给定值的元素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查找第一个大于或等于给定值的元素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查找最后一个小于或等于给定值的元素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“variants of binary search.cpp”</a:t>
            </a:r>
            <a:endParaRPr lang="zh-CN" altLang="en-US" dirty="0"/>
          </a:p>
          <a:p>
            <a:pPr marL="514350" indent="-514350"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2523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F9DA53-E436-490D-8C75-B3FBA0F04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Find the first element equal to a given value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003EFB-9C02-404E-A418-CA154641A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32" y="1380825"/>
            <a:ext cx="5000000" cy="99047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FBE76A3-1261-43F4-B66A-6548307A8089}"/>
              </a:ext>
            </a:extLst>
          </p:cNvPr>
          <p:cNvSpPr txBox="1"/>
          <p:nvPr/>
        </p:nvSpPr>
        <p:spPr>
          <a:xfrm>
            <a:off x="6356412" y="1373216"/>
            <a:ext cx="1882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Find the first </a:t>
            </a:r>
            <a:r>
              <a:rPr lang="en-US" altLang="zh-CN">
                <a:solidFill>
                  <a:srgbClr val="FF0000"/>
                </a:solidFill>
              </a:rPr>
              <a:t>8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E051F9C-5197-48DB-82C1-99A7BC104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651" y="2458417"/>
            <a:ext cx="5471989" cy="422646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5009432-8892-F8E9-61CF-B3B81D633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320" y="3009164"/>
            <a:ext cx="3682303" cy="10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335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E4F94-AE86-4C3A-8CE7-6E276079D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Find the last element equal to a given value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164375-5E83-414E-83C2-8FD21A272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773" y="1454074"/>
            <a:ext cx="6428571" cy="4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88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798A42-535C-40E0-8903-BBEE2BB2A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Find the first element greater than or equal to a given value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81D3FE-3898-4902-8D58-CD8CAB6E4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683" y="1690688"/>
            <a:ext cx="9064781" cy="469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034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BDA9C-AFC0-4FEF-9987-5E5D432EF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Find the last element smaller than or equal to a given value</a:t>
            </a:r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E58F907-CB50-48A6-A4C0-98FD97EBE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259" y="1690688"/>
            <a:ext cx="9233482" cy="47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72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C5143-F49B-C60E-967A-35A4F5CA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FF0000"/>
                </a:solidFill>
              </a:rPr>
              <a:t>lower_bound</a:t>
            </a:r>
            <a:r>
              <a:rPr lang="en-US" altLang="zh-CN" dirty="0">
                <a:solidFill>
                  <a:srgbClr val="FF0000"/>
                </a:solidFill>
              </a:rPr>
              <a:t>() </a:t>
            </a:r>
            <a:r>
              <a:rPr lang="en-US" altLang="zh-CN" dirty="0"/>
              <a:t>and </a:t>
            </a:r>
            <a:r>
              <a:rPr lang="en-US" altLang="zh-CN" dirty="0" err="1">
                <a:solidFill>
                  <a:srgbClr val="FF0000"/>
                </a:solidFill>
              </a:rPr>
              <a:t>upper_bound</a:t>
            </a:r>
            <a:r>
              <a:rPr lang="en-US" altLang="zh-CN" dirty="0">
                <a:solidFill>
                  <a:srgbClr val="FF0000"/>
                </a:solidFill>
              </a:rPr>
              <a:t>() </a:t>
            </a:r>
            <a:r>
              <a:rPr lang="en-US" altLang="zh-CN" dirty="0"/>
              <a:t>in STL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363FE2-8F9A-B0AD-BDBA-BCBF2AE03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lower_bound</a:t>
            </a:r>
            <a:r>
              <a:rPr lang="zh-CN" altLang="en-US" dirty="0"/>
              <a:t>（）：它返回一个迭代器，指向范围</a:t>
            </a:r>
            <a:r>
              <a:rPr lang="en-US" altLang="zh-CN" dirty="0"/>
              <a:t>[first</a:t>
            </a:r>
            <a:r>
              <a:rPr lang="zh-CN" altLang="en-US" dirty="0"/>
              <a:t>，</a:t>
            </a:r>
            <a:r>
              <a:rPr lang="en-US" altLang="zh-CN" dirty="0"/>
              <a:t>last</a:t>
            </a:r>
            <a:r>
              <a:rPr lang="zh-CN" altLang="en-US" dirty="0"/>
              <a:t>）中的第一个元素，该元素的比较值不小于</a:t>
            </a:r>
            <a:r>
              <a:rPr lang="en-US" altLang="zh-CN" dirty="0" err="1"/>
              <a:t>val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upper_bound</a:t>
            </a:r>
            <a:r>
              <a:rPr lang="zh-CN" altLang="en-US" dirty="0"/>
              <a:t>（）：它返回一个迭代器，指向范围</a:t>
            </a:r>
            <a:r>
              <a:rPr lang="en-US" altLang="zh-CN" dirty="0"/>
              <a:t>[first</a:t>
            </a:r>
            <a:r>
              <a:rPr lang="zh-CN" altLang="en-US" dirty="0"/>
              <a:t>，</a:t>
            </a:r>
            <a:r>
              <a:rPr lang="en-US" altLang="zh-CN" dirty="0"/>
              <a:t>last</a:t>
            </a:r>
            <a:r>
              <a:rPr lang="zh-CN" altLang="en-US" dirty="0"/>
              <a:t>）中的第一个元素，该元素的比较值大于</a:t>
            </a:r>
            <a:r>
              <a:rPr lang="en-US" altLang="zh-CN" dirty="0" err="1"/>
              <a:t>val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61228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363FE2-8F9A-B0AD-BDBA-BCBF2AE03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60313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查找第一个大于</a:t>
            </a:r>
            <a:r>
              <a:rPr lang="en-US" altLang="zh-CN" dirty="0"/>
              <a:t>x</a:t>
            </a:r>
            <a:r>
              <a:rPr lang="zh-CN" altLang="en-US" dirty="0"/>
              <a:t>的元素</a:t>
            </a:r>
            <a:r>
              <a:rPr lang="en-US" altLang="zh-CN" dirty="0"/>
              <a:t>:</a:t>
            </a:r>
            <a:r>
              <a:rPr lang="en-US" altLang="zh-CN" dirty="0" err="1"/>
              <a:t>upper_bound</a:t>
            </a:r>
            <a:r>
              <a:rPr lang="zh-CN" altLang="en-US" dirty="0"/>
              <a:t>（）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查找第一个大于或等于</a:t>
            </a:r>
            <a:r>
              <a:rPr lang="en-US" altLang="zh-CN" dirty="0"/>
              <a:t>x</a:t>
            </a:r>
            <a:r>
              <a:rPr lang="zh-CN" altLang="en-US" dirty="0"/>
              <a:t>的元素</a:t>
            </a:r>
            <a:r>
              <a:rPr lang="en-US" altLang="zh-CN" dirty="0"/>
              <a:t>:</a:t>
            </a:r>
            <a:r>
              <a:rPr lang="en-US" altLang="zh-CN" dirty="0" err="1"/>
              <a:t>lower_bound</a:t>
            </a:r>
            <a:r>
              <a:rPr lang="zh-CN" altLang="en-US" dirty="0"/>
              <a:t>（）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查找第一个等于</a:t>
            </a:r>
            <a:r>
              <a:rPr lang="en-US" altLang="zh-CN" dirty="0"/>
              <a:t>x</a:t>
            </a:r>
            <a:r>
              <a:rPr lang="zh-CN" altLang="en-US" dirty="0"/>
              <a:t>的元素：</a:t>
            </a:r>
            <a:r>
              <a:rPr lang="en-US" altLang="zh-CN" dirty="0" err="1"/>
              <a:t>lower_bound</a:t>
            </a:r>
            <a:r>
              <a:rPr lang="zh-CN" altLang="en-US" dirty="0"/>
              <a:t>（）</a:t>
            </a:r>
            <a:r>
              <a:rPr lang="en-US" altLang="zh-CN" dirty="0"/>
              <a:t>&amp;&amp;==x</a:t>
            </a:r>
          </a:p>
          <a:p>
            <a:pPr marL="0" indent="0">
              <a:buNone/>
            </a:pPr>
            <a:r>
              <a:rPr lang="zh-CN" altLang="en-US" dirty="0"/>
              <a:t>查找最后一个等于</a:t>
            </a:r>
            <a:r>
              <a:rPr lang="en-US" altLang="zh-CN" dirty="0"/>
              <a:t>x</a:t>
            </a:r>
            <a:r>
              <a:rPr lang="zh-CN" altLang="en-US" dirty="0"/>
              <a:t>的元素：</a:t>
            </a:r>
            <a:r>
              <a:rPr lang="en-US" altLang="zh-CN" dirty="0" err="1"/>
              <a:t>upper_bound</a:t>
            </a:r>
            <a:r>
              <a:rPr lang="zh-CN" altLang="en-US" dirty="0"/>
              <a:t>（）</a:t>
            </a:r>
            <a:r>
              <a:rPr lang="en-US" altLang="zh-CN" dirty="0"/>
              <a:t>&amp;&amp;</a:t>
            </a:r>
            <a:r>
              <a:rPr lang="zh-CN" altLang="en-US" dirty="0"/>
              <a:t>其前一个元素</a:t>
            </a:r>
            <a:r>
              <a:rPr lang="en-US" altLang="zh-CN" dirty="0"/>
              <a:t>==x</a:t>
            </a:r>
          </a:p>
          <a:p>
            <a:pPr marL="0" indent="0">
              <a:buNone/>
            </a:pPr>
            <a:r>
              <a:rPr lang="zh-CN" altLang="en-US" dirty="0"/>
              <a:t>查找小于或等于</a:t>
            </a:r>
            <a:r>
              <a:rPr lang="en-US" altLang="zh-CN" dirty="0"/>
              <a:t>x:upper_bound</a:t>
            </a:r>
            <a:r>
              <a:rPr lang="zh-CN" altLang="en-US" dirty="0"/>
              <a:t>（）的最后一个元素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查找小于</a:t>
            </a:r>
            <a:r>
              <a:rPr lang="en-US" altLang="zh-CN" dirty="0"/>
              <a:t>x:lower_bound</a:t>
            </a:r>
            <a:r>
              <a:rPr lang="zh-CN" altLang="en-US" dirty="0"/>
              <a:t>（）的最后一个元素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有多少个</a:t>
            </a:r>
            <a:r>
              <a:rPr lang="en-US" altLang="zh-CN" dirty="0"/>
              <a:t>x</a:t>
            </a:r>
            <a:r>
              <a:rPr lang="zh-CN" altLang="en-US" dirty="0"/>
              <a:t>（</a:t>
            </a:r>
            <a:r>
              <a:rPr lang="en-US" altLang="zh-CN" dirty="0"/>
              <a:t>s</a:t>
            </a:r>
            <a:r>
              <a:rPr lang="zh-CN" altLang="en-US" dirty="0"/>
              <a:t>）：</a:t>
            </a:r>
            <a:r>
              <a:rPr lang="en-US" altLang="zh-CN" dirty="0" err="1"/>
              <a:t>upper_bound</a:t>
            </a:r>
            <a:r>
              <a:rPr lang="zh-CN" altLang="en-US" dirty="0"/>
              <a:t>（）</a:t>
            </a:r>
            <a:r>
              <a:rPr lang="en-US" altLang="zh-CN" dirty="0"/>
              <a:t>-</a:t>
            </a:r>
            <a:r>
              <a:rPr lang="en-US" altLang="zh-CN" dirty="0" err="1"/>
              <a:t>lower_bound</a:t>
            </a:r>
            <a:r>
              <a:rPr lang="zh-CN" altLang="en-US" dirty="0"/>
              <a:t>（）</a:t>
            </a:r>
          </a:p>
        </p:txBody>
      </p:sp>
    </p:spTree>
    <p:extLst>
      <p:ext uri="{BB962C8B-B14F-4D97-AF65-F5344CB8AC3E}">
        <p14:creationId xmlns:p14="http://schemas.microsoft.com/office/powerpoint/2010/main" val="451795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9A347-E1CC-9A04-0F29-F6A16F1B9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Examples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81C757-3E48-014D-E9B7-57F19D3E5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bisection method on Integers</a:t>
            </a:r>
          </a:p>
          <a:p>
            <a:pPr lvl="1"/>
            <a:r>
              <a:rPr lang="en-US" altLang="zh-CN" dirty="0"/>
              <a:t>A easy problem: finding an integer pair with a specified sum</a:t>
            </a:r>
          </a:p>
          <a:p>
            <a:pPr lvl="1"/>
            <a:r>
              <a:rPr lang="en-US" altLang="zh-CN" dirty="0"/>
              <a:t>The Attack of the Cow</a:t>
            </a:r>
          </a:p>
          <a:p>
            <a:pPr lvl="1"/>
            <a:r>
              <a:rPr lang="en-US" altLang="zh-CN" dirty="0"/>
              <a:t>Copying Books</a:t>
            </a:r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dirty="0"/>
              <a:t>The bisection method on Real Numbers</a:t>
            </a:r>
          </a:p>
          <a:p>
            <a:pPr lvl="1"/>
            <a:r>
              <a:rPr lang="en-US" altLang="zh-CN" dirty="0"/>
              <a:t>Solving an equation</a:t>
            </a:r>
          </a:p>
          <a:p>
            <a:pPr lvl="1"/>
            <a:r>
              <a:rPr lang="en-US" altLang="zh-CN" dirty="0"/>
              <a:t>Pie</a:t>
            </a:r>
          </a:p>
        </p:txBody>
      </p:sp>
    </p:spTree>
    <p:extLst>
      <p:ext uri="{BB962C8B-B14F-4D97-AF65-F5344CB8AC3E}">
        <p14:creationId xmlns:p14="http://schemas.microsoft.com/office/powerpoint/2010/main" val="1759366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39C0B-A65F-EE06-198F-6159603D2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查找具有指定和的整数对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416CF6-7577-028E-3AB9-5F7BB7DFA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给定</a:t>
            </a:r>
            <a:r>
              <a:rPr lang="en-US" altLang="zh-CN" dirty="0"/>
              <a:t>n</a:t>
            </a:r>
            <a:r>
              <a:rPr lang="zh-CN" altLang="en-US" dirty="0"/>
              <a:t>（</a:t>
            </a:r>
            <a:r>
              <a:rPr lang="en-US" altLang="zh-CN" dirty="0"/>
              <a:t>n≤100000</a:t>
            </a:r>
            <a:r>
              <a:rPr lang="zh-CN" altLang="en-US" dirty="0"/>
              <a:t>）个整数，找到一对整数的总和为给定值。</a:t>
            </a:r>
            <a:endParaRPr lang="en-US" altLang="zh-CN" dirty="0"/>
          </a:p>
          <a:p>
            <a:r>
              <a:rPr lang="en-US" altLang="zh-CN" dirty="0"/>
              <a:t>Brute force: 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Binary search: </a:t>
            </a:r>
          </a:p>
          <a:p>
            <a:pPr lvl="1"/>
            <a:r>
              <a:rPr lang="en-US" altLang="zh-CN" dirty="0"/>
              <a:t>First, sort the array. O(</a:t>
            </a:r>
            <a:r>
              <a:rPr lang="en-US" altLang="zh-CN" dirty="0" err="1"/>
              <a:t>nlogn</a:t>
            </a:r>
            <a:r>
              <a:rPr lang="en-US" altLang="zh-CN" dirty="0"/>
              <a:t>) </a:t>
            </a:r>
          </a:p>
          <a:p>
            <a:pPr lvl="1"/>
            <a:r>
              <a:rPr lang="en-US" altLang="zh-CN" dirty="0"/>
              <a:t>Then, for each element a[</a:t>
            </a:r>
            <a:r>
              <a:rPr lang="en-US" altLang="zh-CN" dirty="0" err="1"/>
              <a:t>i</a:t>
            </a:r>
            <a:r>
              <a:rPr lang="en-US" altLang="zh-CN" dirty="0"/>
              <a:t>] in the array, find (binary search) whether there is a number equal to m - a[</a:t>
            </a:r>
            <a:r>
              <a:rPr lang="en-US" altLang="zh-CN" dirty="0" err="1"/>
              <a:t>i</a:t>
            </a:r>
            <a:r>
              <a:rPr lang="en-US" altLang="zh-CN" dirty="0"/>
              <a:t>] in the numbers after a[</a:t>
            </a:r>
            <a:r>
              <a:rPr lang="en-US" altLang="zh-CN" dirty="0" err="1"/>
              <a:t>i</a:t>
            </a:r>
            <a:r>
              <a:rPr lang="en-US" altLang="zh-CN" dirty="0"/>
              <a:t>], and the complexity is also O(</a:t>
            </a:r>
            <a:r>
              <a:rPr lang="en-US" altLang="zh-CN" dirty="0" err="1"/>
              <a:t>nlogn</a:t>
            </a:r>
            <a:r>
              <a:rPr lang="en-US" altLang="zh-CN" dirty="0"/>
              <a:t>).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0026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32057-9FE2-B1AB-C51A-C97F4A0FD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2543"/>
            <a:ext cx="10515600" cy="1325563"/>
          </a:xfrm>
        </p:spPr>
        <p:txBody>
          <a:bodyPr/>
          <a:lstStyle/>
          <a:p>
            <a:pPr algn="ctr"/>
            <a:r>
              <a:rPr lang="en-US" altLang="zh-CN">
                <a:hlinkClick r:id="rId2" action="ppaction://hlinkfile"/>
              </a:rPr>
              <a:t>The Attack of the Cow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81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D768BD-9844-FB4D-2677-86130CD7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序列分区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8B306B-88F5-F70B-2BAC-B06145C9B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给定一个正整数序列</a:t>
            </a:r>
            <a:r>
              <a:rPr lang="en-US" altLang="zh-CN" dirty="0"/>
              <a:t>{2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1}</a:t>
            </a:r>
            <a:r>
              <a:rPr lang="zh-CN" altLang="en-US" dirty="0"/>
              <a:t>，您需要将其划分为三个连续的子序列</a:t>
            </a:r>
            <a:r>
              <a:rPr lang="en-US" altLang="zh-CN" dirty="0"/>
              <a:t>S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），</a:t>
            </a:r>
            <a:r>
              <a:rPr lang="en-US" altLang="zh-CN" dirty="0"/>
              <a:t>S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），</a:t>
            </a:r>
            <a:r>
              <a:rPr lang="en-US" altLang="zh-CN" dirty="0"/>
              <a:t>S</a:t>
            </a: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），并且每个子序列至少有一个元素。要求每个子序列的和的最大值最小化。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 Two examples: </a:t>
            </a:r>
          </a:p>
          <a:p>
            <a:pPr lvl="1"/>
            <a:r>
              <a:rPr lang="en-US" altLang="zh-CN" dirty="0"/>
              <a:t>(1) S(1), S(2), S(3) are (2, 2, 3), (4, 5), (1), and the sums of the subsequences are 7, 9, and 1 respectively. The maximum value is 9.</a:t>
            </a:r>
          </a:p>
          <a:p>
            <a:pPr lvl="1"/>
            <a:r>
              <a:rPr lang="en-US" altLang="zh-CN" dirty="0"/>
              <a:t>(2) S(1), S(2), S(3) are (2, 2, 3), (4), (5,1), and the sums of the subsequences are 7, 4, and 6 respectively. The maximum value is 7. </a:t>
            </a:r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dirty="0"/>
              <a:t>According to the requirement, (2) is better.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2729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1CCDC8-9BB7-998A-C73E-A6681AF40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序列分区</a:t>
            </a:r>
            <a:r>
              <a:rPr lang="en-US" altLang="zh-CN" dirty="0"/>
              <a:t>--</a:t>
            </a:r>
            <a:r>
              <a:rPr lang="zh-CN" altLang="en-US" dirty="0"/>
              <a:t>解决方案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E60B2A-EE67-E065-F5F0-D69445F0A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在这个问题中，我们需要找到最小值</a:t>
            </a:r>
            <a:r>
              <a:rPr lang="en-US" altLang="zh-CN" dirty="0"/>
              <a:t>x</a:t>
            </a:r>
            <a:r>
              <a:rPr lang="zh-CN" altLang="en-US" dirty="0"/>
              <a:t>，使得对于任何</a:t>
            </a:r>
            <a:r>
              <a:rPr lang="en-US" altLang="zh-CN" dirty="0"/>
              <a:t>S</a:t>
            </a:r>
            <a:r>
              <a:rPr lang="zh-CN" altLang="en-US" dirty="0"/>
              <a:t>（</a:t>
            </a:r>
            <a:r>
              <a:rPr lang="en-US" altLang="zh-CN" dirty="0" err="1"/>
              <a:t>i</a:t>
            </a:r>
            <a:r>
              <a:rPr lang="zh-CN" altLang="en-US" dirty="0"/>
              <a:t>），</a:t>
            </a:r>
            <a:r>
              <a:rPr lang="en-US" altLang="zh-CN" dirty="0"/>
              <a:t>S</a:t>
            </a:r>
            <a:r>
              <a:rPr lang="zh-CN" altLang="en-US" dirty="0"/>
              <a:t>（</a:t>
            </a:r>
            <a:r>
              <a:rPr lang="en-US" altLang="zh-CN" dirty="0" err="1"/>
              <a:t>i</a:t>
            </a:r>
            <a:r>
              <a:rPr lang="zh-CN" altLang="en-US" dirty="0"/>
              <a:t>）≤</a:t>
            </a:r>
            <a:r>
              <a:rPr lang="en-US" altLang="zh-CN" dirty="0"/>
              <a:t>x</a:t>
            </a:r>
            <a:r>
              <a:rPr lang="zh-CN" altLang="en-US" dirty="0"/>
              <a:t>，其中</a:t>
            </a:r>
            <a:r>
              <a:rPr lang="en-US" altLang="zh-CN" dirty="0"/>
              <a:t>x</a:t>
            </a:r>
            <a:r>
              <a:rPr lang="zh-CN" altLang="en-US" dirty="0"/>
              <a:t>是所有</a:t>
            </a:r>
            <a:r>
              <a:rPr lang="en-US" altLang="zh-CN" dirty="0"/>
              <a:t>S</a:t>
            </a:r>
            <a:r>
              <a:rPr lang="zh-CN" altLang="en-US" dirty="0"/>
              <a:t>（</a:t>
            </a:r>
            <a:r>
              <a:rPr lang="en-US" altLang="zh-CN" dirty="0" err="1"/>
              <a:t>i</a:t>
            </a:r>
            <a:r>
              <a:rPr lang="zh-CN" altLang="en-US" dirty="0"/>
              <a:t>）的最大值。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这个问题可以通过使用二分搜索在</a:t>
            </a:r>
            <a:r>
              <a:rPr lang="en-US" altLang="zh-CN" dirty="0"/>
              <a:t>[max</a:t>
            </a:r>
            <a:r>
              <a:rPr lang="zh-CN" altLang="en-US" dirty="0"/>
              <a:t>，</a:t>
            </a:r>
            <a:r>
              <a:rPr lang="en-US" altLang="zh-CN" dirty="0"/>
              <a:t>sum]</a:t>
            </a:r>
            <a:r>
              <a:rPr lang="zh-CN" altLang="en-US" dirty="0"/>
              <a:t>中搜索</a:t>
            </a:r>
            <a:r>
              <a:rPr lang="en-US" altLang="zh-CN" dirty="0"/>
              <a:t>x</a:t>
            </a:r>
            <a:r>
              <a:rPr lang="zh-CN" altLang="en-US" dirty="0"/>
              <a:t>来解决，其中</a:t>
            </a:r>
            <a:r>
              <a:rPr lang="en-US" altLang="zh-CN" dirty="0"/>
              <a:t>max</a:t>
            </a:r>
            <a:r>
              <a:rPr lang="zh-CN" altLang="en-US" dirty="0"/>
              <a:t>是序列中的最大元素，</a:t>
            </a:r>
            <a:r>
              <a:rPr lang="en-US" altLang="zh-CN" dirty="0"/>
              <a:t>sum</a:t>
            </a:r>
            <a:r>
              <a:rPr lang="zh-CN" altLang="en-US" dirty="0"/>
              <a:t>是序列中所有元素的和。</a:t>
            </a:r>
          </a:p>
        </p:txBody>
      </p:sp>
    </p:spTree>
    <p:extLst>
      <p:ext uri="{BB962C8B-B14F-4D97-AF65-F5344CB8AC3E}">
        <p14:creationId xmlns:p14="http://schemas.microsoft.com/office/powerpoint/2010/main" val="3007888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994DC-A5EE-4307-8718-F569351D6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5636"/>
            <a:ext cx="10515600" cy="1325563"/>
          </a:xfrm>
        </p:spPr>
        <p:txBody>
          <a:bodyPr/>
          <a:lstStyle/>
          <a:p>
            <a:pPr algn="ctr"/>
            <a:r>
              <a:rPr lang="en-US" altLang="zh-CN">
                <a:hlinkClick r:id="rId2" action="ppaction://hlinkfile"/>
              </a:rPr>
              <a:t>Copying Books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1315A9-1F6B-7C44-5055-03D764D5D305}"/>
              </a:ext>
            </a:extLst>
          </p:cNvPr>
          <p:cNvSpPr txBox="1"/>
          <p:nvPr/>
        </p:nvSpPr>
        <p:spPr>
          <a:xfrm>
            <a:off x="4959928" y="3059668"/>
            <a:ext cx="2336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Sequence Partitioning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351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4B3B56-1ACB-4A6C-A02E-D506AD17A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求解方程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F7073A-B19F-426C-BBA5-3EBCF4D34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4000" dirty="0"/>
              <a:t>Given the equation: </a:t>
            </a:r>
            <a:r>
              <a:rPr lang="en-US" altLang="zh-CN" sz="4000" dirty="0">
                <a:solidFill>
                  <a:srgbClr val="FF0000"/>
                </a:solidFill>
              </a:rPr>
              <a:t>5*x</a:t>
            </a:r>
            <a:r>
              <a:rPr lang="en-US" altLang="zh-CN" sz="4000" baseline="30000" dirty="0">
                <a:solidFill>
                  <a:srgbClr val="FF0000"/>
                </a:solidFill>
              </a:rPr>
              <a:t>5</a:t>
            </a:r>
            <a:r>
              <a:rPr lang="en-US" altLang="zh-CN" sz="4000" dirty="0">
                <a:solidFill>
                  <a:srgbClr val="FF0000"/>
                </a:solidFill>
              </a:rPr>
              <a:t>+4*x</a:t>
            </a:r>
            <a:r>
              <a:rPr lang="en-US" altLang="zh-CN" sz="4000" baseline="30000" dirty="0">
                <a:solidFill>
                  <a:srgbClr val="FF0000"/>
                </a:solidFill>
              </a:rPr>
              <a:t>4</a:t>
            </a:r>
            <a:r>
              <a:rPr lang="en-US" altLang="zh-CN" sz="4000" dirty="0">
                <a:solidFill>
                  <a:srgbClr val="FF0000"/>
                </a:solidFill>
              </a:rPr>
              <a:t>+3*x</a:t>
            </a:r>
            <a:r>
              <a:rPr lang="en-US" altLang="zh-CN" sz="4000" baseline="30000" dirty="0">
                <a:solidFill>
                  <a:srgbClr val="FF0000"/>
                </a:solidFill>
              </a:rPr>
              <a:t>3</a:t>
            </a:r>
            <a:r>
              <a:rPr lang="en-US" altLang="zh-CN" sz="4000" dirty="0">
                <a:solidFill>
                  <a:srgbClr val="FF0000"/>
                </a:solidFill>
              </a:rPr>
              <a:t>+2*x</a:t>
            </a:r>
            <a:r>
              <a:rPr lang="en-US" altLang="zh-CN" sz="4000" baseline="30000" dirty="0">
                <a:solidFill>
                  <a:srgbClr val="FF0000"/>
                </a:solidFill>
              </a:rPr>
              <a:t>2</a:t>
            </a:r>
            <a:r>
              <a:rPr lang="en-US" altLang="zh-CN" sz="4000" dirty="0">
                <a:solidFill>
                  <a:srgbClr val="FF0000"/>
                </a:solidFill>
              </a:rPr>
              <a:t>+1=y (fabs(y)&lt;=1e10)</a:t>
            </a:r>
            <a:r>
              <a:rPr lang="en-US" altLang="zh-CN" sz="4000" dirty="0"/>
              <a:t>, please output the solution for x in the interval [0,100], accurate to 4 decimal places.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688566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994DC-A5EE-4307-8718-F569351D6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zh-CN">
                <a:hlinkClick r:id="rId2" action="ppaction://hlinkfile"/>
              </a:rPr>
              <a:t>pie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24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1CCDC8-9BB7-998A-C73E-A6681AF40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Steps to solve problems using the bisection method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E60B2A-EE67-E065-F5F0-D69445F0A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Monotonic</a:t>
            </a:r>
          </a:p>
          <a:p>
            <a:r>
              <a:rPr lang="en-US" altLang="zh-CN" dirty="0"/>
              <a:t>Lower and upper bounds</a:t>
            </a:r>
          </a:p>
          <a:p>
            <a:r>
              <a:rPr lang="en-US" altLang="zh-CN" dirty="0"/>
              <a:t>check()</a:t>
            </a:r>
          </a:p>
          <a:p>
            <a:r>
              <a:rPr lang="en-US" altLang="zh-CN" dirty="0"/>
              <a:t>Binary search</a:t>
            </a:r>
          </a:p>
        </p:txBody>
      </p:sp>
    </p:spTree>
    <p:extLst>
      <p:ext uri="{BB962C8B-B14F-4D97-AF65-F5344CB8AC3E}">
        <p14:creationId xmlns:p14="http://schemas.microsoft.com/office/powerpoint/2010/main" val="3579608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9B582-EE78-41B3-9638-4D25F6C67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222" y="249576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More: Ternary Search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713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1048</Words>
  <Application>Microsoft Office PowerPoint</Application>
  <PresentationFormat>宽屏</PresentationFormat>
  <Paragraphs>91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等线</vt:lpstr>
      <vt:lpstr>等线 Light</vt:lpstr>
      <vt:lpstr>Arial</vt:lpstr>
      <vt:lpstr>Office 主题​​</vt:lpstr>
      <vt:lpstr>二分法</vt:lpstr>
      <vt:lpstr>Outline</vt:lpstr>
      <vt:lpstr>Introduction of the Bisection Method</vt:lpstr>
      <vt:lpstr>PowerPoint 演示文稿</vt:lpstr>
      <vt:lpstr>Complexity of the Bisection Method</vt:lpstr>
      <vt:lpstr>Binary search</vt:lpstr>
      <vt:lpstr>PowerPoint 演示文稿</vt:lpstr>
      <vt:lpstr>Recursive &amp; Iterative</vt:lpstr>
      <vt:lpstr>二分搜索的变体——用于具有重复元素的有序数组</vt:lpstr>
      <vt:lpstr>Find the first element equal to a given value</vt:lpstr>
      <vt:lpstr>Find the last element equal to a given value</vt:lpstr>
      <vt:lpstr>Find the first element greater than or equal to a given value</vt:lpstr>
      <vt:lpstr>Find the last element smaller than or equal to a given value</vt:lpstr>
      <vt:lpstr>lower_bound() and upper_bound() in STL</vt:lpstr>
      <vt:lpstr>PowerPoint 演示文稿</vt:lpstr>
      <vt:lpstr>Examples</vt:lpstr>
      <vt:lpstr>查找具有指定和的整数对</vt:lpstr>
      <vt:lpstr>The Attack of the Cow</vt:lpstr>
      <vt:lpstr>序列分区</vt:lpstr>
      <vt:lpstr>序列分区--解决方案</vt:lpstr>
      <vt:lpstr>Copying Books</vt:lpstr>
      <vt:lpstr>求解方程</vt:lpstr>
      <vt:lpstr>pie</vt:lpstr>
      <vt:lpstr>Steps to solve problems using the bisection method</vt:lpstr>
      <vt:lpstr>More: Ternary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Bisection Method</dc:title>
  <dc:creator>徐 艳艳</dc:creator>
  <cp:lastModifiedBy>俊翔 黄</cp:lastModifiedBy>
  <cp:revision>89</cp:revision>
  <dcterms:created xsi:type="dcterms:W3CDTF">2023-04-04T07:21:46Z</dcterms:created>
  <dcterms:modified xsi:type="dcterms:W3CDTF">2024-05-25T08:59:07Z</dcterms:modified>
</cp:coreProperties>
</file>