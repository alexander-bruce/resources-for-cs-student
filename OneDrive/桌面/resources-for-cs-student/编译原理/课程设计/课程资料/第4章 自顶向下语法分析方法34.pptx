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60" r:id="rId1"/>
    <p:sldMasterId id="2147483672" r:id="rId2"/>
    <p:sldMasterId id="2147483685" r:id="rId3"/>
  </p:sldMasterIdLst>
  <p:notesMasterIdLst>
    <p:notesMasterId r:id="rId93"/>
  </p:notesMasterIdLst>
  <p:handoutMasterIdLst>
    <p:handoutMasterId r:id="rId94"/>
  </p:handoutMasterIdLst>
  <p:sldIdLst>
    <p:sldId id="256" r:id="rId4"/>
    <p:sldId id="576" r:id="rId5"/>
    <p:sldId id="577" r:id="rId6"/>
    <p:sldId id="405" r:id="rId7"/>
    <p:sldId id="463" r:id="rId8"/>
    <p:sldId id="406" r:id="rId9"/>
    <p:sldId id="572" r:id="rId10"/>
    <p:sldId id="460" r:id="rId11"/>
    <p:sldId id="465" r:id="rId12"/>
    <p:sldId id="467" r:id="rId13"/>
    <p:sldId id="469" r:id="rId14"/>
    <p:sldId id="412" r:id="rId15"/>
    <p:sldId id="413" r:id="rId16"/>
    <p:sldId id="414" r:id="rId17"/>
    <p:sldId id="473" r:id="rId18"/>
    <p:sldId id="499" r:id="rId19"/>
    <p:sldId id="474" r:id="rId20"/>
    <p:sldId id="489" r:id="rId21"/>
    <p:sldId id="488" r:id="rId22"/>
    <p:sldId id="490" r:id="rId23"/>
    <p:sldId id="491" r:id="rId24"/>
    <p:sldId id="497" r:id="rId25"/>
    <p:sldId id="495" r:id="rId26"/>
    <p:sldId id="513" r:id="rId27"/>
    <p:sldId id="500" r:id="rId28"/>
    <p:sldId id="510" r:id="rId29"/>
    <p:sldId id="501" r:id="rId30"/>
    <p:sldId id="502" r:id="rId31"/>
    <p:sldId id="504" r:id="rId32"/>
    <p:sldId id="505" r:id="rId33"/>
    <p:sldId id="506" r:id="rId34"/>
    <p:sldId id="503" r:id="rId35"/>
    <p:sldId id="507" r:id="rId36"/>
    <p:sldId id="511" r:id="rId37"/>
    <p:sldId id="514" r:id="rId38"/>
    <p:sldId id="512" r:id="rId39"/>
    <p:sldId id="522" r:id="rId40"/>
    <p:sldId id="523" r:id="rId41"/>
    <p:sldId id="524" r:id="rId42"/>
    <p:sldId id="515" r:id="rId43"/>
    <p:sldId id="516" r:id="rId44"/>
    <p:sldId id="517" r:id="rId45"/>
    <p:sldId id="518" r:id="rId46"/>
    <p:sldId id="520" r:id="rId47"/>
    <p:sldId id="519" r:id="rId48"/>
    <p:sldId id="526" r:id="rId49"/>
    <p:sldId id="527" r:id="rId50"/>
    <p:sldId id="528" r:id="rId51"/>
    <p:sldId id="530" r:id="rId52"/>
    <p:sldId id="532" r:id="rId53"/>
    <p:sldId id="534" r:id="rId54"/>
    <p:sldId id="533" r:id="rId55"/>
    <p:sldId id="535" r:id="rId56"/>
    <p:sldId id="536" r:id="rId57"/>
    <p:sldId id="537" r:id="rId58"/>
    <p:sldId id="538" r:id="rId59"/>
    <p:sldId id="539" r:id="rId60"/>
    <p:sldId id="540" r:id="rId61"/>
    <p:sldId id="541" r:id="rId62"/>
    <p:sldId id="545" r:id="rId63"/>
    <p:sldId id="546" r:id="rId64"/>
    <p:sldId id="547" r:id="rId65"/>
    <p:sldId id="544" r:id="rId66"/>
    <p:sldId id="566" r:id="rId67"/>
    <p:sldId id="567" r:id="rId68"/>
    <p:sldId id="568" r:id="rId69"/>
    <p:sldId id="548" r:id="rId70"/>
    <p:sldId id="549" r:id="rId71"/>
    <p:sldId id="550" r:id="rId72"/>
    <p:sldId id="551" r:id="rId73"/>
    <p:sldId id="552" r:id="rId74"/>
    <p:sldId id="553" r:id="rId75"/>
    <p:sldId id="554" r:id="rId76"/>
    <p:sldId id="555" r:id="rId77"/>
    <p:sldId id="556" r:id="rId78"/>
    <p:sldId id="557" r:id="rId79"/>
    <p:sldId id="558" r:id="rId80"/>
    <p:sldId id="569" r:id="rId81"/>
    <p:sldId id="570" r:id="rId82"/>
    <p:sldId id="563" r:id="rId83"/>
    <p:sldId id="559" r:id="rId84"/>
    <p:sldId id="560" r:id="rId85"/>
    <p:sldId id="561" r:id="rId86"/>
    <p:sldId id="562" r:id="rId87"/>
    <p:sldId id="564" r:id="rId88"/>
    <p:sldId id="565" r:id="rId89"/>
    <p:sldId id="573" r:id="rId90"/>
    <p:sldId id="487" r:id="rId91"/>
    <p:sldId id="303" r:id="rId92"/>
  </p:sldIdLst>
  <p:sldSz cx="9144000" cy="6858000" type="screen4x3"/>
  <p:notesSz cx="9928225"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99"/>
    <a:srgbClr val="5399FF"/>
    <a:srgbClr val="CDE1FF"/>
    <a:srgbClr val="0066FF"/>
    <a:srgbClr val="D1F3FF"/>
    <a:srgbClr val="8FD5E5"/>
    <a:srgbClr val="AFCFFF"/>
    <a:srgbClr val="86B036"/>
    <a:srgbClr val="D6ED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630" autoAdjust="0"/>
    <p:restoredTop sz="87119" autoAdjust="0"/>
  </p:normalViewPr>
  <p:slideViewPr>
    <p:cSldViewPr>
      <p:cViewPr varScale="1">
        <p:scale>
          <a:sx n="66" d="100"/>
          <a:sy n="66" d="100"/>
        </p:scale>
        <p:origin x="862" y="26"/>
      </p:cViewPr>
      <p:guideLst>
        <p:guide orient="horz" pos="2160"/>
        <p:guide pos="2880"/>
      </p:guideLst>
    </p:cSldViewPr>
  </p:slideViewPr>
  <p:notesTextViewPr>
    <p:cViewPr>
      <p:scale>
        <a:sx n="1" d="1"/>
        <a:sy n="1" d="1"/>
      </p:scale>
      <p:origin x="0" y="0"/>
    </p:cViewPr>
  </p:notesTextViewPr>
  <p:notesViewPr>
    <p:cSldViewPr>
      <p:cViewPr varScale="1">
        <p:scale>
          <a:sx n="52" d="100"/>
          <a:sy n="52" d="100"/>
        </p:scale>
        <p:origin x="2682" y="52"/>
      </p:cViewPr>
      <p:guideLst/>
    </p:cSldViewPr>
  </p:notesViewPr>
  <p:gridSpacing cx="720089" cy="720089"/>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presProps" Target="presProp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notesMaster" Target="notesMasters/notesMaster1.xml"/><Relationship Id="rId9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2231" cy="33988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3698" y="0"/>
            <a:ext cx="4302231" cy="339884"/>
          </a:xfrm>
          <a:prstGeom prst="rect">
            <a:avLst/>
          </a:prstGeom>
        </p:spPr>
        <p:txBody>
          <a:bodyPr vert="horz" lIns="91440" tIns="45720" rIns="91440" bIns="45720" rtlCol="0"/>
          <a:lstStyle>
            <a:lvl1pPr algn="r">
              <a:defRPr sz="1200"/>
            </a:lvl1pPr>
          </a:lstStyle>
          <a:p>
            <a:fld id="{59FAB467-91E9-4B3D-A10E-A89189A56338}" type="datetimeFigureOut">
              <a:rPr lang="zh-CN" altLang="en-US" smtClean="0"/>
              <a:t>2024/12/29</a:t>
            </a:fld>
            <a:endParaRPr lang="zh-CN" altLang="en-US"/>
          </a:p>
        </p:txBody>
      </p:sp>
      <p:sp>
        <p:nvSpPr>
          <p:cNvPr id="4" name="页脚占位符 3"/>
          <p:cNvSpPr>
            <a:spLocks noGrp="1"/>
          </p:cNvSpPr>
          <p:nvPr>
            <p:ph type="ftr" sz="quarter" idx="2"/>
          </p:nvPr>
        </p:nvSpPr>
        <p:spPr>
          <a:xfrm>
            <a:off x="1" y="6456612"/>
            <a:ext cx="4302231" cy="33988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3698" y="6456612"/>
            <a:ext cx="4302231" cy="339884"/>
          </a:xfrm>
          <a:prstGeom prst="rect">
            <a:avLst/>
          </a:prstGeom>
        </p:spPr>
        <p:txBody>
          <a:bodyPr vert="horz" lIns="91440" tIns="45720" rIns="91440" bIns="45720" rtlCol="0" anchor="b"/>
          <a:lstStyle>
            <a:lvl1pPr algn="r">
              <a:defRPr sz="1200"/>
            </a:lvl1pPr>
          </a:lstStyle>
          <a:p>
            <a:fld id="{1782B6D7-3743-4538-A2A2-D6260886F54E}" type="slidenum">
              <a:rPr lang="zh-CN" altLang="en-US" smtClean="0"/>
              <a:t>‹#›</a:t>
            </a:fld>
            <a:endParaRPr lang="zh-CN" altLang="en-US"/>
          </a:p>
        </p:txBody>
      </p:sp>
    </p:spTree>
    <p:extLst>
      <p:ext uri="{BB962C8B-B14F-4D97-AF65-F5344CB8AC3E}">
        <p14:creationId xmlns:p14="http://schemas.microsoft.com/office/powerpoint/2010/main" val="528611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2231" cy="33988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3698" y="0"/>
            <a:ext cx="4302231" cy="339884"/>
          </a:xfrm>
          <a:prstGeom prst="rect">
            <a:avLst/>
          </a:prstGeom>
        </p:spPr>
        <p:txBody>
          <a:bodyPr vert="horz" lIns="91440" tIns="45720" rIns="91440" bIns="45720" rtlCol="0"/>
          <a:lstStyle>
            <a:lvl1pPr algn="r">
              <a:defRPr sz="1200"/>
            </a:lvl1pPr>
          </a:lstStyle>
          <a:p>
            <a:fld id="{A381A3C4-6393-4ABF-B223-4720487F51B1}" type="datetimeFigureOut">
              <a:rPr lang="zh-CN" altLang="en-US" smtClean="0"/>
              <a:t>2024/12/29</a:t>
            </a:fld>
            <a:endParaRPr lang="zh-CN" altLang="en-US"/>
          </a:p>
        </p:txBody>
      </p:sp>
      <p:sp>
        <p:nvSpPr>
          <p:cNvPr id="4" name="幻灯片图像占位符 3"/>
          <p:cNvSpPr>
            <a:spLocks noGrp="1" noRot="1" noChangeAspect="1"/>
          </p:cNvSpPr>
          <p:nvPr>
            <p:ph type="sldImg" idx="2"/>
          </p:nvPr>
        </p:nvSpPr>
        <p:spPr>
          <a:xfrm>
            <a:off x="3263900" y="509588"/>
            <a:ext cx="3400425" cy="25495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23" y="3228896"/>
            <a:ext cx="7942580" cy="30589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6456612"/>
            <a:ext cx="4302231" cy="33988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3698" y="6456612"/>
            <a:ext cx="4302231" cy="339884"/>
          </a:xfrm>
          <a:prstGeom prst="rect">
            <a:avLst/>
          </a:prstGeom>
        </p:spPr>
        <p:txBody>
          <a:bodyPr vert="horz" lIns="91440" tIns="45720" rIns="91440" bIns="45720" rtlCol="0" anchor="b"/>
          <a:lstStyle>
            <a:lvl1pPr algn="r">
              <a:defRPr sz="1200"/>
            </a:lvl1pPr>
          </a:lstStyle>
          <a:p>
            <a:fld id="{6C6DCA8F-E337-4DF5-BB18-E43B8F241E65}" type="slidenum">
              <a:rPr lang="zh-CN" altLang="en-US" smtClean="0"/>
              <a:t>‹#›</a:t>
            </a:fld>
            <a:endParaRPr lang="zh-CN" altLang="en-US"/>
          </a:p>
        </p:txBody>
      </p:sp>
    </p:spTree>
    <p:extLst>
      <p:ext uri="{BB962C8B-B14F-4D97-AF65-F5344CB8AC3E}">
        <p14:creationId xmlns:p14="http://schemas.microsoft.com/office/powerpoint/2010/main" val="2038298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50888" indent="-28892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55700" indent="-230188">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17663" indent="-230188">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79625" indent="-230188">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36825" indent="-230188"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94025" indent="-230188"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51225" indent="-230188"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08425" indent="-230188"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271BC44-2284-4CDA-BC93-8BAAC3C7B61B}" type="slidenum">
              <a:rPr lang="en-US" altLang="zh-CN">
                <a:ea typeface="楷体_GB2312" pitchFamily="49" charset="-122"/>
              </a:rPr>
              <a:pPr>
                <a:spcBef>
                  <a:spcPct val="0"/>
                </a:spcBef>
              </a:pPr>
              <a:t>2</a:t>
            </a:fld>
            <a:endParaRPr lang="en-US" altLang="zh-CN">
              <a:ea typeface="楷体_GB2312" pitchFamily="49" charset="-122"/>
            </a:endParaRPr>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17054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t>
            </a:r>
            <a:r>
              <a:rPr lang="zh-CN" altLang="en-US" dirty="0"/>
              <a:t>（</a:t>
            </a:r>
            <a:r>
              <a:rPr lang="en-US" altLang="zh-CN" dirty="0"/>
              <a:t>G</a:t>
            </a:r>
            <a:r>
              <a:rPr lang="zh-CN" altLang="en-US" dirty="0"/>
              <a:t>），文法</a:t>
            </a:r>
            <a:r>
              <a:rPr lang="en-US" altLang="zh-CN" dirty="0"/>
              <a:t>G</a:t>
            </a:r>
            <a:r>
              <a:rPr lang="zh-CN" altLang="en-US" dirty="0"/>
              <a:t>的所有句子</a:t>
            </a:r>
          </a:p>
        </p:txBody>
      </p:sp>
      <p:sp>
        <p:nvSpPr>
          <p:cNvPr id="4" name="灯片编号占位符 3"/>
          <p:cNvSpPr>
            <a:spLocks noGrp="1"/>
          </p:cNvSpPr>
          <p:nvPr>
            <p:ph type="sldNum" sz="quarter" idx="10"/>
          </p:nvPr>
        </p:nvSpPr>
        <p:spPr/>
        <p:txBody>
          <a:bodyPr/>
          <a:lstStyle/>
          <a:p>
            <a:fld id="{6C6DCA8F-E337-4DF5-BB18-E43B8F241E65}" type="slidenum">
              <a:rPr lang="zh-CN" altLang="en-US" smtClean="0"/>
              <a:t>5</a:t>
            </a:fld>
            <a:endParaRPr lang="zh-CN" altLang="en-US"/>
          </a:p>
        </p:txBody>
      </p:sp>
    </p:spTree>
    <p:extLst>
      <p:ext uri="{BB962C8B-B14F-4D97-AF65-F5344CB8AC3E}">
        <p14:creationId xmlns:p14="http://schemas.microsoft.com/office/powerpoint/2010/main" val="3054401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C6DCA8F-E337-4DF5-BB18-E43B8F241E65}" type="slidenum">
              <a:rPr lang="zh-CN" altLang="en-US" smtClean="0"/>
              <a:t>43</a:t>
            </a:fld>
            <a:endParaRPr lang="zh-CN" altLang="en-US"/>
          </a:p>
        </p:txBody>
      </p:sp>
    </p:spTree>
    <p:extLst>
      <p:ext uri="{BB962C8B-B14F-4D97-AF65-F5344CB8AC3E}">
        <p14:creationId xmlns:p14="http://schemas.microsoft.com/office/powerpoint/2010/main" val="3031407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C6DCA8F-E337-4DF5-BB18-E43B8F241E65}" type="slidenum">
              <a:rPr lang="zh-CN" altLang="en-US" smtClean="0"/>
              <a:t>60</a:t>
            </a:fld>
            <a:endParaRPr lang="zh-CN" altLang="en-US"/>
          </a:p>
        </p:txBody>
      </p:sp>
    </p:spTree>
    <p:extLst>
      <p:ext uri="{BB962C8B-B14F-4D97-AF65-F5344CB8AC3E}">
        <p14:creationId xmlns:p14="http://schemas.microsoft.com/office/powerpoint/2010/main" val="646200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C6DCA8F-E337-4DF5-BB18-E43B8F241E65}" type="slidenum">
              <a:rPr lang="zh-CN" altLang="en-US" smtClean="0"/>
              <a:t>67</a:t>
            </a:fld>
            <a:endParaRPr lang="zh-CN" altLang="en-US"/>
          </a:p>
        </p:txBody>
      </p:sp>
    </p:spTree>
    <p:extLst>
      <p:ext uri="{BB962C8B-B14F-4D97-AF65-F5344CB8AC3E}">
        <p14:creationId xmlns:p14="http://schemas.microsoft.com/office/powerpoint/2010/main" val="2192736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5" name="Rectangle 4"/>
          <p:cNvSpPr>
            <a:spLocks noGrp="1" noChangeArrowheads="1"/>
          </p:cNvSpPr>
          <p:nvPr>
            <p:ph type="dt" sz="half" idx="10"/>
          </p:nvPr>
        </p:nvSpPr>
        <p:spPr/>
        <p:txBody>
          <a:bodyPr/>
          <a:lstStyle>
            <a:lvl1pPr>
              <a:defRPr/>
            </a:lvl1pPr>
          </a:lstStyle>
          <a:p>
            <a:endParaRPr lang="zh-CN" altLang="en-US"/>
          </a:p>
        </p:txBody>
      </p:sp>
      <p:sp>
        <p:nvSpPr>
          <p:cNvPr id="6" name="Rectangle 5"/>
          <p:cNvSpPr>
            <a:spLocks noGrp="1" noChangeArrowheads="1"/>
          </p:cNvSpPr>
          <p:nvPr>
            <p:ph type="ftr" sz="quarter" idx="11"/>
          </p:nvPr>
        </p:nvSpPr>
        <p:spPr/>
        <p:txBody>
          <a:bodyPr/>
          <a:lstStyle>
            <a:lvl1pPr>
              <a:defRPr/>
            </a:lvl1pPr>
          </a:lstStyle>
          <a:p>
            <a:endParaRPr lang="zh-CN" altLang="en-US"/>
          </a:p>
        </p:txBody>
      </p:sp>
      <p:sp>
        <p:nvSpPr>
          <p:cNvPr id="7" name="Rectangle 6"/>
          <p:cNvSpPr>
            <a:spLocks noGrp="1" noChangeArrowheads="1"/>
          </p:cNvSpPr>
          <p:nvPr>
            <p:ph type="sldNum" sz="quarter" idx="12"/>
          </p:nvPr>
        </p:nvSpPr>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112793846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lvl1pPr>
              <a:defRPr sz="2800" b="1">
                <a:solidFill>
                  <a:srgbClr val="003399"/>
                </a:solidFill>
              </a:defRPr>
            </a:lvl1pPr>
            <a:lvl2pPr marL="700088" indent="-342900">
              <a:buFont typeface="Wingdings" panose="05000000000000000000" pitchFamily="2" charset="2"/>
              <a:buChar char="p"/>
              <a:defRPr sz="2400" b="1">
                <a:solidFill>
                  <a:srgbClr val="7030A0"/>
                </a:solidFill>
              </a:defRPr>
            </a:lvl2pPr>
            <a:lvl3pPr marL="1143000" indent="-228600">
              <a:buFont typeface="Wingdings" panose="05000000000000000000" pitchFamily="2" charset="2"/>
              <a:buChar char="ü"/>
              <a:defRPr sz="1400"/>
            </a:lvl3pPr>
          </a:lstStyle>
          <a:p>
            <a:pPr lvl="0"/>
            <a:r>
              <a:rPr lang="zh-CN" altLang="en-US" dirty="0"/>
              <a:t>单击此处编辑母版文本样式</a:t>
            </a:r>
          </a:p>
          <a:p>
            <a:pPr lvl="1"/>
            <a:r>
              <a:rPr lang="zh-CN" altLang="en-US" dirty="0"/>
              <a:t>第二级</a:t>
            </a:r>
            <a:endParaRPr lang="en-US" altLang="zh-CN" dirty="0"/>
          </a:p>
          <a:p>
            <a:pPr lvl="2"/>
            <a:endParaRPr lang="zh-CN" altLang="en-US" dirty="0"/>
          </a:p>
        </p:txBody>
      </p:sp>
      <p:sp>
        <p:nvSpPr>
          <p:cNvPr id="4" name="Rectangle 4"/>
          <p:cNvSpPr>
            <a:spLocks noGrp="1" noChangeArrowheads="1"/>
          </p:cNvSpPr>
          <p:nvPr>
            <p:ph type="dt" sz="half" idx="10"/>
          </p:nvPr>
        </p:nvSpPr>
        <p:spPr>
          <a:ln/>
        </p:spPr>
        <p:txBody>
          <a:bodyPr/>
          <a:lstStyle>
            <a:lvl1pPr>
              <a:defRPr/>
            </a:lvl1pPr>
          </a:lstStyle>
          <a:p>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2404964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379325048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412875"/>
            <a:ext cx="4260850" cy="47418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81563" y="1412875"/>
            <a:ext cx="4262437" cy="47418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3974239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endParaRPr lang="zh-CN" altLang="en-US"/>
          </a:p>
        </p:txBody>
      </p:sp>
      <p:sp>
        <p:nvSpPr>
          <p:cNvPr id="8" name="Rectangle 5"/>
          <p:cNvSpPr>
            <a:spLocks noGrp="1" noChangeArrowheads="1"/>
          </p:cNvSpPr>
          <p:nvPr>
            <p:ph type="ftr" sz="quarter" idx="11"/>
          </p:nvPr>
        </p:nvSpPr>
        <p:spPr>
          <a:ln/>
        </p:spPr>
        <p:txBody>
          <a:bodyPr/>
          <a:lstStyle>
            <a:lvl1pPr>
              <a:defRPr/>
            </a:lvl1pPr>
          </a:lstStyle>
          <a:p>
            <a:endParaRPr lang="zh-CN" altLang="en-US"/>
          </a:p>
        </p:txBody>
      </p:sp>
      <p:sp>
        <p:nvSpPr>
          <p:cNvPr id="9"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2555162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endParaRPr lang="zh-CN" altLang="en-US"/>
          </a:p>
        </p:txBody>
      </p:sp>
      <p:sp>
        <p:nvSpPr>
          <p:cNvPr id="4" name="Rectangle 5"/>
          <p:cNvSpPr>
            <a:spLocks noGrp="1" noChangeArrowheads="1"/>
          </p:cNvSpPr>
          <p:nvPr>
            <p:ph type="ftr" sz="quarter" idx="11"/>
          </p:nvPr>
        </p:nvSpPr>
        <p:spPr>
          <a:ln/>
        </p:spPr>
        <p:txBody>
          <a:bodyPr/>
          <a:lstStyle>
            <a:lvl1pPr>
              <a:defRPr/>
            </a:lvl1pPr>
          </a:lstStyle>
          <a:p>
            <a:endParaRPr lang="zh-CN" altLang="en-US"/>
          </a:p>
        </p:txBody>
      </p:sp>
      <p:sp>
        <p:nvSpPr>
          <p:cNvPr id="5"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2004515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lvl1pPr>
              <a:defRPr/>
            </a:lvl1pPr>
          </a:lstStyle>
          <a:p>
            <a:endParaRPr lang="zh-CN" altLang="en-US"/>
          </a:p>
        </p:txBody>
      </p:sp>
      <p:sp>
        <p:nvSpPr>
          <p:cNvPr id="4" name="页脚占位符 2"/>
          <p:cNvSpPr>
            <a:spLocks noGrp="1"/>
          </p:cNvSpPr>
          <p:nvPr>
            <p:ph type="ftr" sz="quarter" idx="11"/>
          </p:nvPr>
        </p:nvSpPr>
        <p:spPr/>
        <p:txBody>
          <a:bodyPr/>
          <a:lstStyle>
            <a:lvl1pPr>
              <a:defRPr/>
            </a:lvl1pPr>
          </a:lstStyle>
          <a:p>
            <a:endParaRPr lang="zh-CN" altLang="en-US"/>
          </a:p>
        </p:txBody>
      </p:sp>
      <p:sp>
        <p:nvSpPr>
          <p:cNvPr id="5" name="灯片编号占位符 3"/>
          <p:cNvSpPr>
            <a:spLocks noGrp="1"/>
          </p:cNvSpPr>
          <p:nvPr>
            <p:ph type="sldNum" sz="quarter" idx="12"/>
          </p:nvPr>
        </p:nvSpPr>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1211449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930883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36921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1754661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83425" y="476250"/>
            <a:ext cx="2203450" cy="56784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68313" y="476250"/>
            <a:ext cx="6462712" cy="56784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1515071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056461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fontAlgn="base">
                  <a:spcBef>
                    <a:spcPct val="0"/>
                  </a:spcBef>
                  <a:spcAft>
                    <a:spcPct val="0"/>
                  </a:spcAft>
                  <a:defRPr/>
                </a:pPr>
                <a:endParaRPr kumimoji="1" lang="zh-CN" altLang="en-US" sz="3600">
                  <a:solidFill>
                    <a:srgbClr val="000000"/>
                  </a:solidFill>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fontAlgn="base">
                  <a:spcBef>
                    <a:spcPct val="0"/>
                  </a:spcBef>
                  <a:spcAft>
                    <a:spcPct val="0"/>
                  </a:spcAft>
                  <a:defRPr/>
                </a:pPr>
                <a:endParaRPr kumimoji="1" lang="zh-CN" altLang="en-US" sz="3600">
                  <a:solidFill>
                    <a:srgbClr val="000000"/>
                  </a:solidFill>
                </a:endParaRPr>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fontAlgn="base">
                  <a:spcBef>
                    <a:spcPct val="0"/>
                  </a:spcBef>
                  <a:spcAft>
                    <a:spcPct val="0"/>
                  </a:spcAft>
                  <a:defRPr/>
                </a:pPr>
                <a:endParaRPr kumimoji="1" lang="zh-CN" altLang="en-US" sz="3600">
                  <a:solidFill>
                    <a:srgbClr val="000000"/>
                  </a:solidFill>
                </a:endParaRPr>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fontAlgn="base">
                  <a:spcBef>
                    <a:spcPct val="0"/>
                  </a:spcBef>
                  <a:spcAft>
                    <a:spcPct val="0"/>
                  </a:spcAft>
                  <a:defRPr/>
                </a:pPr>
                <a:endParaRPr kumimoji="1" lang="zh-CN" altLang="en-US" sz="3600">
                  <a:solidFill>
                    <a:srgbClr val="000000"/>
                  </a:solidFill>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fontAlgn="base">
                <a:spcBef>
                  <a:spcPct val="0"/>
                </a:spcBef>
                <a:spcAft>
                  <a:spcPct val="0"/>
                </a:spcAft>
                <a:defRPr/>
              </a:pPr>
              <a:endParaRPr kumimoji="1" lang="zh-CN" altLang="en-US" sz="3600">
                <a:solidFill>
                  <a:srgbClr val="000000"/>
                </a:solidFill>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fontAlgn="base">
                <a:spcBef>
                  <a:spcPct val="0"/>
                </a:spcBef>
                <a:spcAft>
                  <a:spcPct val="0"/>
                </a:spcAft>
                <a:defRPr/>
              </a:pPr>
              <a:endParaRPr kumimoji="1" lang="zh-CN" altLang="en-US" sz="3600">
                <a:solidFill>
                  <a:srgbClr val="000000"/>
                </a:solidFill>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fontAlgn="base">
                <a:spcBef>
                  <a:spcPct val="0"/>
                </a:spcBef>
                <a:spcAft>
                  <a:spcPct val="0"/>
                </a:spcAft>
                <a:defRPr/>
              </a:pPr>
              <a:endParaRPr kumimoji="1" lang="zh-CN" altLang="en-US" sz="3600">
                <a:solidFill>
                  <a:srgbClr val="000000"/>
                </a:solidFill>
              </a:endParaRPr>
            </a:p>
          </p:txBody>
        </p:sp>
      </p:grpSp>
      <p:sp>
        <p:nvSpPr>
          <p:cNvPr id="6554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A61AF274-22AC-4EA8-8F44-ADE0A5C5FC1A}" type="slidenum">
              <a:rPr lang="zh-CN" altLang="en-US">
                <a:solidFill>
                  <a:srgbClr val="1C1C1C"/>
                </a:solidFill>
              </a:rPr>
              <a:pPr>
                <a:defRPr/>
              </a:pPr>
              <a:t>‹#›</a:t>
            </a:fld>
            <a:endParaRPr lang="en-US" altLang="zh-CN">
              <a:solidFill>
                <a:srgbClr val="1C1C1C"/>
              </a:solidFill>
            </a:endParaRPr>
          </a:p>
        </p:txBody>
      </p:sp>
    </p:spTree>
    <p:extLst>
      <p:ext uri="{BB962C8B-B14F-4D97-AF65-F5344CB8AC3E}">
        <p14:creationId xmlns:p14="http://schemas.microsoft.com/office/powerpoint/2010/main" val="3832331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E5719CFC-9F7D-475D-9960-E7E20924101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3228106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46132C75-4661-4C94-89D8-519907C75851}"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6738700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3EC1B9F5-4F2E-4FF4-AA98-F1C976D0B1A5}"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669356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13"/>
          <p:cNvSpPr>
            <a:spLocks noGrp="1" noChangeArrowheads="1"/>
          </p:cNvSpPr>
          <p:nvPr>
            <p:ph type="sldNum" sz="quarter" idx="12"/>
          </p:nvPr>
        </p:nvSpPr>
        <p:spPr>
          <a:ln/>
        </p:spPr>
        <p:txBody>
          <a:bodyPr/>
          <a:lstStyle>
            <a:lvl1pPr>
              <a:defRPr/>
            </a:lvl1pPr>
          </a:lstStyle>
          <a:p>
            <a:pPr>
              <a:defRPr/>
            </a:pPr>
            <a:fld id="{10ECB88A-4633-4A9D-93F8-555EBD614A68}"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4492535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2"/>
          </p:nvPr>
        </p:nvSpPr>
        <p:spPr>
          <a:ln/>
        </p:spPr>
        <p:txBody>
          <a:bodyPr/>
          <a:lstStyle>
            <a:lvl1pPr>
              <a:defRPr/>
            </a:lvl1pPr>
          </a:lstStyle>
          <a:p>
            <a:pPr>
              <a:defRPr/>
            </a:pPr>
            <a:fld id="{D33F7846-C76D-414D-A74C-DB0B1A817E08}"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026987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13"/>
          <p:cNvSpPr>
            <a:spLocks noGrp="1" noChangeArrowheads="1"/>
          </p:cNvSpPr>
          <p:nvPr>
            <p:ph type="sldNum" sz="quarter" idx="12"/>
          </p:nvPr>
        </p:nvSpPr>
        <p:spPr>
          <a:ln/>
        </p:spPr>
        <p:txBody>
          <a:bodyPr/>
          <a:lstStyle>
            <a:lvl1pPr>
              <a:defRPr/>
            </a:lvl1pPr>
          </a:lstStyle>
          <a:p>
            <a:pPr>
              <a:defRPr/>
            </a:pPr>
            <a:fld id="{6969F66A-78E9-40EC-A34E-C4626467CE11}"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934435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75F51AF8-8091-417B-9931-7DAC90C789C8}"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0468106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412623A9-2ECD-4043-9187-B149F59A7755}"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53554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33F12C92-8B00-4B06-8AB1-A4E104BBFE1C}"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6346723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983CA1F7-8126-4892-8A95-D9930B0322BF}"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112922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28ABD238-036E-4EDA-88AF-D608A56C5E4D}"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8419577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5" name="Rectangle 4"/>
          <p:cNvSpPr>
            <a:spLocks noGrp="1" noChangeArrowheads="1"/>
          </p:cNvSpPr>
          <p:nvPr>
            <p:ph type="dt" sz="half" idx="10"/>
          </p:nvPr>
        </p:nvSpPr>
        <p:spPr/>
        <p:txBody>
          <a:bodyPr/>
          <a:lstStyle>
            <a:lvl1pPr>
              <a:defRPr/>
            </a:lvl1pPr>
          </a:lstStyle>
          <a:p>
            <a:endParaRPr lang="zh-CN" altLang="en-US">
              <a:solidFill>
                <a:srgbClr val="3F3F3F"/>
              </a:solidFill>
            </a:endParaRPr>
          </a:p>
        </p:txBody>
      </p:sp>
      <p:sp>
        <p:nvSpPr>
          <p:cNvPr id="6" name="Rectangle 5"/>
          <p:cNvSpPr>
            <a:spLocks noGrp="1" noChangeArrowheads="1"/>
          </p:cNvSpPr>
          <p:nvPr>
            <p:ph type="ftr" sz="quarter" idx="11"/>
          </p:nvPr>
        </p:nvSpPr>
        <p:spPr/>
        <p:txBody>
          <a:bodyPr/>
          <a:lstStyle>
            <a:lvl1pPr>
              <a:defRPr/>
            </a:lvl1pPr>
          </a:lstStyle>
          <a:p>
            <a:endParaRPr lang="zh-CN" altLang="en-US">
              <a:solidFill>
                <a:srgbClr val="3F3F3F"/>
              </a:solidFill>
            </a:endParaRPr>
          </a:p>
        </p:txBody>
      </p:sp>
      <p:sp>
        <p:nvSpPr>
          <p:cNvPr id="7" name="Rectangle 6"/>
          <p:cNvSpPr>
            <a:spLocks noGrp="1" noChangeArrowheads="1"/>
          </p:cNvSpPr>
          <p:nvPr>
            <p:ph type="sldNum" sz="quarter" idx="12"/>
          </p:nvPr>
        </p:nvSpPr>
        <p:spPr/>
        <p:txBody>
          <a:bodyPr/>
          <a:lstStyle>
            <a:lvl1pPr>
              <a:defRPr/>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339753964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lvl1pPr>
              <a:defRPr sz="2800" b="1">
                <a:solidFill>
                  <a:srgbClr val="003399"/>
                </a:solidFill>
              </a:defRPr>
            </a:lvl1pPr>
            <a:lvl2pPr marL="700088" indent="-342900">
              <a:buFont typeface="Wingdings" panose="05000000000000000000" pitchFamily="2" charset="2"/>
              <a:buChar char="p"/>
              <a:defRPr sz="2400" b="1">
                <a:solidFill>
                  <a:srgbClr val="7030A0"/>
                </a:solidFill>
              </a:defRPr>
            </a:lvl2pPr>
            <a:lvl3pPr marL="1143000" indent="-228600">
              <a:buFont typeface="Wingdings" panose="05000000000000000000" pitchFamily="2" charset="2"/>
              <a:buChar char="ü"/>
              <a:defRPr sz="1400"/>
            </a:lvl3pPr>
          </a:lstStyle>
          <a:p>
            <a:pPr lvl="0"/>
            <a:r>
              <a:rPr lang="zh-CN" altLang="en-US" dirty="0"/>
              <a:t>单击此处编辑母版文本样式</a:t>
            </a:r>
          </a:p>
          <a:p>
            <a:pPr lvl="1"/>
            <a:r>
              <a:rPr lang="zh-CN" altLang="en-US" dirty="0"/>
              <a:t>第二级</a:t>
            </a:r>
            <a:endParaRPr lang="en-US" altLang="zh-CN" dirty="0"/>
          </a:p>
          <a:p>
            <a:pPr lvl="2"/>
            <a:endParaRPr lang="zh-CN" altLang="en-US" dirty="0"/>
          </a:p>
        </p:txBody>
      </p:sp>
      <p:sp>
        <p:nvSpPr>
          <p:cNvPr id="4" name="Rectangle 4"/>
          <p:cNvSpPr>
            <a:spLocks noGrp="1" noChangeArrowheads="1"/>
          </p:cNvSpPr>
          <p:nvPr>
            <p:ph type="dt" sz="half" idx="10"/>
          </p:nvPr>
        </p:nvSpPr>
        <p:spPr>
          <a:ln/>
        </p:spPr>
        <p:txBody>
          <a:bodyPr/>
          <a:lstStyle>
            <a:lvl1pPr>
              <a:defRPr/>
            </a:lvl1pPr>
          </a:lstStyle>
          <a:p>
            <a:endParaRPr lang="zh-CN" altLang="en-US">
              <a:solidFill>
                <a:srgbClr val="3F3F3F"/>
              </a:solidFill>
            </a:endParaRPr>
          </a:p>
        </p:txBody>
      </p:sp>
      <p:sp>
        <p:nvSpPr>
          <p:cNvPr id="5" name="Rectangle 5"/>
          <p:cNvSpPr>
            <a:spLocks noGrp="1" noChangeArrowheads="1"/>
          </p:cNvSpPr>
          <p:nvPr>
            <p:ph type="ftr" sz="quarter" idx="11"/>
          </p:nvPr>
        </p:nvSpPr>
        <p:spPr>
          <a:ln/>
        </p:spPr>
        <p:txBody>
          <a:bodyPr/>
          <a:lstStyle>
            <a:lvl1pPr>
              <a:defRPr/>
            </a:lvl1pPr>
          </a:lstStyle>
          <a:p>
            <a:endParaRPr lang="zh-CN" altLang="en-US">
              <a:solidFill>
                <a:srgbClr val="3F3F3F"/>
              </a:solidFill>
            </a:endParaRPr>
          </a:p>
        </p:txBody>
      </p:sp>
      <p:sp>
        <p:nvSpPr>
          <p:cNvPr id="6"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12193048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zh-CN" altLang="en-US">
              <a:solidFill>
                <a:srgbClr val="3F3F3F"/>
              </a:solidFill>
            </a:endParaRPr>
          </a:p>
        </p:txBody>
      </p:sp>
      <p:sp>
        <p:nvSpPr>
          <p:cNvPr id="5" name="Rectangle 5"/>
          <p:cNvSpPr>
            <a:spLocks noGrp="1" noChangeArrowheads="1"/>
          </p:cNvSpPr>
          <p:nvPr>
            <p:ph type="ftr" sz="quarter" idx="11"/>
          </p:nvPr>
        </p:nvSpPr>
        <p:spPr>
          <a:ln/>
        </p:spPr>
        <p:txBody>
          <a:bodyPr/>
          <a:lstStyle>
            <a:lvl1pPr>
              <a:defRPr/>
            </a:lvl1pPr>
          </a:lstStyle>
          <a:p>
            <a:endParaRPr lang="zh-CN" altLang="en-US">
              <a:solidFill>
                <a:srgbClr val="3F3F3F"/>
              </a:solidFill>
            </a:endParaRPr>
          </a:p>
        </p:txBody>
      </p:sp>
      <p:sp>
        <p:nvSpPr>
          <p:cNvPr id="6"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319730204"/>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412875"/>
            <a:ext cx="4260850" cy="47418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81563" y="1412875"/>
            <a:ext cx="4262437" cy="47418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endParaRPr lang="zh-CN" altLang="en-US">
              <a:solidFill>
                <a:srgbClr val="3F3F3F"/>
              </a:solidFill>
            </a:endParaRPr>
          </a:p>
        </p:txBody>
      </p:sp>
      <p:sp>
        <p:nvSpPr>
          <p:cNvPr id="6" name="Rectangle 5"/>
          <p:cNvSpPr>
            <a:spLocks noGrp="1" noChangeArrowheads="1"/>
          </p:cNvSpPr>
          <p:nvPr>
            <p:ph type="ftr" sz="quarter" idx="11"/>
          </p:nvPr>
        </p:nvSpPr>
        <p:spPr>
          <a:ln/>
        </p:spPr>
        <p:txBody>
          <a:bodyPr/>
          <a:lstStyle>
            <a:lvl1pPr>
              <a:defRPr/>
            </a:lvl1pPr>
          </a:lstStyle>
          <a:p>
            <a:endParaRPr lang="zh-CN" altLang="en-US">
              <a:solidFill>
                <a:srgbClr val="3F3F3F"/>
              </a:solidFill>
            </a:endParaRPr>
          </a:p>
        </p:txBody>
      </p:sp>
      <p:sp>
        <p:nvSpPr>
          <p:cNvPr id="7"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15042006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endParaRPr lang="zh-CN" altLang="en-US">
              <a:solidFill>
                <a:srgbClr val="3F3F3F"/>
              </a:solidFill>
            </a:endParaRPr>
          </a:p>
        </p:txBody>
      </p:sp>
      <p:sp>
        <p:nvSpPr>
          <p:cNvPr id="8" name="Rectangle 5"/>
          <p:cNvSpPr>
            <a:spLocks noGrp="1" noChangeArrowheads="1"/>
          </p:cNvSpPr>
          <p:nvPr>
            <p:ph type="ftr" sz="quarter" idx="11"/>
          </p:nvPr>
        </p:nvSpPr>
        <p:spPr>
          <a:ln/>
        </p:spPr>
        <p:txBody>
          <a:bodyPr/>
          <a:lstStyle>
            <a:lvl1pPr>
              <a:defRPr/>
            </a:lvl1pPr>
          </a:lstStyle>
          <a:p>
            <a:endParaRPr lang="zh-CN" altLang="en-US">
              <a:solidFill>
                <a:srgbClr val="3F3F3F"/>
              </a:solidFill>
            </a:endParaRPr>
          </a:p>
        </p:txBody>
      </p:sp>
      <p:sp>
        <p:nvSpPr>
          <p:cNvPr id="9"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8041690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endParaRPr lang="zh-CN" altLang="en-US">
              <a:solidFill>
                <a:srgbClr val="3F3F3F"/>
              </a:solidFill>
            </a:endParaRPr>
          </a:p>
        </p:txBody>
      </p:sp>
      <p:sp>
        <p:nvSpPr>
          <p:cNvPr id="4" name="Rectangle 5"/>
          <p:cNvSpPr>
            <a:spLocks noGrp="1" noChangeArrowheads="1"/>
          </p:cNvSpPr>
          <p:nvPr>
            <p:ph type="ftr" sz="quarter" idx="11"/>
          </p:nvPr>
        </p:nvSpPr>
        <p:spPr>
          <a:ln/>
        </p:spPr>
        <p:txBody>
          <a:bodyPr/>
          <a:lstStyle>
            <a:lvl1pPr>
              <a:defRPr/>
            </a:lvl1pPr>
          </a:lstStyle>
          <a:p>
            <a:endParaRPr lang="zh-CN" altLang="en-US">
              <a:solidFill>
                <a:srgbClr val="3F3F3F"/>
              </a:solidFill>
            </a:endParaRPr>
          </a:p>
        </p:txBody>
      </p:sp>
      <p:sp>
        <p:nvSpPr>
          <p:cNvPr id="5"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2408025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lvl1pPr>
              <a:defRPr/>
            </a:lvl1pPr>
          </a:lstStyle>
          <a:p>
            <a:endParaRPr lang="zh-CN" altLang="en-US">
              <a:solidFill>
                <a:srgbClr val="3F3F3F"/>
              </a:solidFill>
            </a:endParaRPr>
          </a:p>
        </p:txBody>
      </p:sp>
      <p:sp>
        <p:nvSpPr>
          <p:cNvPr id="4" name="页脚占位符 2"/>
          <p:cNvSpPr>
            <a:spLocks noGrp="1"/>
          </p:cNvSpPr>
          <p:nvPr>
            <p:ph type="ftr" sz="quarter" idx="11"/>
          </p:nvPr>
        </p:nvSpPr>
        <p:spPr/>
        <p:txBody>
          <a:bodyPr/>
          <a:lstStyle>
            <a:lvl1pPr>
              <a:defRPr/>
            </a:lvl1pPr>
          </a:lstStyle>
          <a:p>
            <a:endParaRPr lang="zh-CN" altLang="en-US">
              <a:solidFill>
                <a:srgbClr val="3F3F3F"/>
              </a:solidFill>
            </a:endParaRPr>
          </a:p>
        </p:txBody>
      </p:sp>
      <p:sp>
        <p:nvSpPr>
          <p:cNvPr id="5" name="灯片编号占位符 3"/>
          <p:cNvSpPr>
            <a:spLocks noGrp="1"/>
          </p:cNvSpPr>
          <p:nvPr>
            <p:ph type="sldNum" sz="quarter" idx="12"/>
          </p:nvPr>
        </p:nvSpPr>
        <p:spPr/>
        <p:txBody>
          <a:bodyPr/>
          <a:lstStyle>
            <a:lvl1pPr>
              <a:defRPr/>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23108943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zh-CN" altLang="en-US">
              <a:solidFill>
                <a:srgbClr val="3F3F3F"/>
              </a:solidFill>
            </a:endParaRPr>
          </a:p>
        </p:txBody>
      </p:sp>
      <p:sp>
        <p:nvSpPr>
          <p:cNvPr id="6" name="Rectangle 5"/>
          <p:cNvSpPr>
            <a:spLocks noGrp="1" noChangeArrowheads="1"/>
          </p:cNvSpPr>
          <p:nvPr>
            <p:ph type="ftr" sz="quarter" idx="11"/>
          </p:nvPr>
        </p:nvSpPr>
        <p:spPr>
          <a:ln/>
        </p:spPr>
        <p:txBody>
          <a:bodyPr/>
          <a:lstStyle>
            <a:lvl1pPr>
              <a:defRPr/>
            </a:lvl1pPr>
          </a:lstStyle>
          <a:p>
            <a:endParaRPr lang="zh-CN" altLang="en-US">
              <a:solidFill>
                <a:srgbClr val="3F3F3F"/>
              </a:solidFill>
            </a:endParaRPr>
          </a:p>
        </p:txBody>
      </p:sp>
      <p:sp>
        <p:nvSpPr>
          <p:cNvPr id="7"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8017425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zh-CN" altLang="en-US">
              <a:solidFill>
                <a:srgbClr val="3F3F3F"/>
              </a:solidFill>
            </a:endParaRPr>
          </a:p>
        </p:txBody>
      </p:sp>
      <p:sp>
        <p:nvSpPr>
          <p:cNvPr id="6" name="Rectangle 5"/>
          <p:cNvSpPr>
            <a:spLocks noGrp="1" noChangeArrowheads="1"/>
          </p:cNvSpPr>
          <p:nvPr>
            <p:ph type="ftr" sz="quarter" idx="11"/>
          </p:nvPr>
        </p:nvSpPr>
        <p:spPr>
          <a:ln/>
        </p:spPr>
        <p:txBody>
          <a:bodyPr/>
          <a:lstStyle>
            <a:lvl1pPr>
              <a:defRPr/>
            </a:lvl1pPr>
          </a:lstStyle>
          <a:p>
            <a:endParaRPr lang="zh-CN" altLang="en-US">
              <a:solidFill>
                <a:srgbClr val="3F3F3F"/>
              </a:solidFill>
            </a:endParaRPr>
          </a:p>
        </p:txBody>
      </p:sp>
      <p:sp>
        <p:nvSpPr>
          <p:cNvPr id="7"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2912574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endParaRPr lang="zh-CN" altLang="en-US">
              <a:solidFill>
                <a:srgbClr val="3F3F3F"/>
              </a:solidFill>
            </a:endParaRPr>
          </a:p>
        </p:txBody>
      </p:sp>
      <p:sp>
        <p:nvSpPr>
          <p:cNvPr id="5" name="Rectangle 5"/>
          <p:cNvSpPr>
            <a:spLocks noGrp="1" noChangeArrowheads="1"/>
          </p:cNvSpPr>
          <p:nvPr>
            <p:ph type="ftr" sz="quarter" idx="11"/>
          </p:nvPr>
        </p:nvSpPr>
        <p:spPr>
          <a:ln/>
        </p:spPr>
        <p:txBody>
          <a:bodyPr/>
          <a:lstStyle>
            <a:lvl1pPr>
              <a:defRPr/>
            </a:lvl1pPr>
          </a:lstStyle>
          <a:p>
            <a:endParaRPr lang="zh-CN" altLang="en-US">
              <a:solidFill>
                <a:srgbClr val="3F3F3F"/>
              </a:solidFill>
            </a:endParaRPr>
          </a:p>
        </p:txBody>
      </p:sp>
      <p:sp>
        <p:nvSpPr>
          <p:cNvPr id="6"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13470225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83425" y="476250"/>
            <a:ext cx="2203450" cy="56784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68313" y="476250"/>
            <a:ext cx="6462712" cy="56784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endParaRPr lang="zh-CN" altLang="en-US">
              <a:solidFill>
                <a:srgbClr val="3F3F3F"/>
              </a:solidFill>
            </a:endParaRPr>
          </a:p>
        </p:txBody>
      </p:sp>
      <p:sp>
        <p:nvSpPr>
          <p:cNvPr id="5" name="Rectangle 5"/>
          <p:cNvSpPr>
            <a:spLocks noGrp="1" noChangeArrowheads="1"/>
          </p:cNvSpPr>
          <p:nvPr>
            <p:ph type="ftr" sz="quarter" idx="11"/>
          </p:nvPr>
        </p:nvSpPr>
        <p:spPr>
          <a:ln/>
        </p:spPr>
        <p:txBody>
          <a:bodyPr/>
          <a:lstStyle>
            <a:lvl1pPr>
              <a:defRPr/>
            </a:lvl1pPr>
          </a:lstStyle>
          <a:p>
            <a:endParaRPr lang="zh-CN" altLang="en-US">
              <a:solidFill>
                <a:srgbClr val="3F3F3F"/>
              </a:solidFill>
            </a:endParaRPr>
          </a:p>
        </p:txBody>
      </p:sp>
      <p:sp>
        <p:nvSpPr>
          <p:cNvPr id="6" name="Rectangle 6"/>
          <p:cNvSpPr>
            <a:spLocks noGrp="1" noChangeArrowheads="1"/>
          </p:cNvSpPr>
          <p:nvPr>
            <p:ph type="sldNum" sz="quarter" idx="12"/>
          </p:nvPr>
        </p:nvSpPr>
        <p:spPr>
          <a:ln/>
        </p:spPr>
        <p:txBody>
          <a:bodyPr/>
          <a:lstStyle>
            <a:lvl1pPr>
              <a:defRPr/>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1272174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2"/>
          <p:cNvSpPr>
            <a:spLocks noChangeArrowheads="1"/>
          </p:cNvSpPr>
          <p:nvPr/>
        </p:nvSpPr>
        <p:spPr bwMode="auto">
          <a:xfrm>
            <a:off x="0" y="0"/>
            <a:ext cx="9182100" cy="836613"/>
          </a:xfrm>
          <a:prstGeom prst="rect">
            <a:avLst/>
          </a:prstGeom>
          <a:solidFill>
            <a:srgbClr val="0066FF"/>
          </a:solidFill>
          <a:ln>
            <a:noFill/>
          </a:ln>
          <a:effectLst/>
        </p:spPr>
        <p:txBody>
          <a:bodyPr wrap="none" anchor="ctr"/>
          <a:lstStyle/>
          <a:p>
            <a:endParaRPr lang="zh-CN" altLang="en-US" dirty="0"/>
          </a:p>
        </p:txBody>
      </p:sp>
      <p:sp>
        <p:nvSpPr>
          <p:cNvPr id="1027" name="Rectangle 2"/>
          <p:cNvSpPr>
            <a:spLocks noGrp="1" noChangeArrowheads="1"/>
          </p:cNvSpPr>
          <p:nvPr>
            <p:ph type="title"/>
          </p:nvPr>
        </p:nvSpPr>
        <p:spPr bwMode="auto">
          <a:xfrm>
            <a:off x="468315" y="107950"/>
            <a:ext cx="8218486"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8" name="Rectangle 3"/>
          <p:cNvSpPr>
            <a:spLocks noGrp="1" noChangeArrowheads="1"/>
          </p:cNvSpPr>
          <p:nvPr>
            <p:ph type="body" idx="1"/>
          </p:nvPr>
        </p:nvSpPr>
        <p:spPr bwMode="auto">
          <a:xfrm>
            <a:off x="468313" y="1041401"/>
            <a:ext cx="8218487" cy="511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
        <p:nvSpPr>
          <p:cNvPr id="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endParaRPr lang="zh-CN"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zh-CN"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16197607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97" r:id="rId12"/>
  </p:sldLayoutIdLst>
  <p:hf hdr="0" ftr="0" dt="0"/>
  <p:txStyles>
    <p:titleStyle>
      <a:lvl1pPr algn="l" rtl="0" eaLnBrk="1" fontAlgn="base" hangingPunct="1">
        <a:spcBef>
          <a:spcPct val="0"/>
        </a:spcBef>
        <a:spcAft>
          <a:spcPct val="0"/>
        </a:spcAft>
        <a:defRPr sz="2800" kern="1200">
          <a:solidFill>
            <a:schemeClr val="bg1"/>
          </a:solidFill>
          <a:latin typeface="+mj-lt"/>
          <a:ea typeface="+mj-ea"/>
          <a:cs typeface="+mj-cs"/>
        </a:defRPr>
      </a:lvl1pPr>
      <a:lvl2pPr algn="l" rtl="0" eaLnBrk="1" fontAlgn="base" hangingPunct="1">
        <a:spcBef>
          <a:spcPct val="0"/>
        </a:spcBef>
        <a:spcAft>
          <a:spcPct val="0"/>
        </a:spcAft>
        <a:defRPr sz="2800">
          <a:solidFill>
            <a:schemeClr val="accent1"/>
          </a:solidFill>
          <a:latin typeface="Arial" panose="020B0604020202020204" pitchFamily="34" charset="0"/>
          <a:ea typeface="华文中宋" panose="02010600040101010101" pitchFamily="2" charset="-122"/>
          <a:cs typeface="宋体" panose="02010600030101010101" pitchFamily="2" charset="-122"/>
        </a:defRPr>
      </a:lvl2pPr>
      <a:lvl3pPr algn="l" rtl="0" eaLnBrk="1" fontAlgn="base" hangingPunct="1">
        <a:spcBef>
          <a:spcPct val="0"/>
        </a:spcBef>
        <a:spcAft>
          <a:spcPct val="0"/>
        </a:spcAft>
        <a:defRPr sz="2800">
          <a:solidFill>
            <a:schemeClr val="accent1"/>
          </a:solidFill>
          <a:latin typeface="Arial" panose="020B0604020202020204" pitchFamily="34" charset="0"/>
          <a:ea typeface="华文中宋" panose="02010600040101010101" pitchFamily="2" charset="-122"/>
          <a:cs typeface="宋体" panose="02010600030101010101" pitchFamily="2" charset="-122"/>
        </a:defRPr>
      </a:lvl3pPr>
      <a:lvl4pPr algn="l" rtl="0" eaLnBrk="1" fontAlgn="base" hangingPunct="1">
        <a:spcBef>
          <a:spcPct val="0"/>
        </a:spcBef>
        <a:spcAft>
          <a:spcPct val="0"/>
        </a:spcAft>
        <a:defRPr sz="2800">
          <a:solidFill>
            <a:schemeClr val="accent1"/>
          </a:solidFill>
          <a:latin typeface="Arial" panose="020B0604020202020204" pitchFamily="34" charset="0"/>
          <a:ea typeface="华文中宋" panose="02010600040101010101" pitchFamily="2" charset="-122"/>
          <a:cs typeface="宋体" panose="02010600030101010101" pitchFamily="2" charset="-122"/>
        </a:defRPr>
      </a:lvl4pPr>
      <a:lvl5pPr algn="l" rtl="0" eaLnBrk="1" fontAlgn="base" hangingPunct="1">
        <a:spcBef>
          <a:spcPct val="0"/>
        </a:spcBef>
        <a:spcAft>
          <a:spcPct val="0"/>
        </a:spcAft>
        <a:defRPr sz="2800">
          <a:solidFill>
            <a:schemeClr val="accent1"/>
          </a:solidFill>
          <a:latin typeface="Arial" panose="020B0604020202020204" pitchFamily="34" charset="0"/>
          <a:ea typeface="华文中宋" panose="02010600040101010101" pitchFamily="2" charset="-122"/>
          <a:cs typeface="宋体" panose="02010600030101010101" pitchFamily="2" charset="-122"/>
        </a:defRPr>
      </a:lvl5pPr>
      <a:lvl6pPr marL="457200" algn="l" rtl="0" eaLnBrk="1" fontAlgn="base" hangingPunct="1">
        <a:spcBef>
          <a:spcPct val="0"/>
        </a:spcBef>
        <a:spcAft>
          <a:spcPct val="0"/>
        </a:spcAft>
        <a:defRPr sz="2800">
          <a:solidFill>
            <a:srgbClr val="FF3300"/>
          </a:solidFill>
          <a:latin typeface="Arial" panose="020B0604020202020204" pitchFamily="34" charset="0"/>
          <a:ea typeface="华文中宋" panose="02010600040101010101" pitchFamily="2" charset="-122"/>
          <a:cs typeface="宋体" panose="02010600030101010101" pitchFamily="2" charset="-122"/>
        </a:defRPr>
      </a:lvl6pPr>
      <a:lvl7pPr marL="914400" algn="l" rtl="0" eaLnBrk="1" fontAlgn="base" hangingPunct="1">
        <a:spcBef>
          <a:spcPct val="0"/>
        </a:spcBef>
        <a:spcAft>
          <a:spcPct val="0"/>
        </a:spcAft>
        <a:defRPr sz="2800">
          <a:solidFill>
            <a:srgbClr val="FF3300"/>
          </a:solidFill>
          <a:latin typeface="Arial" panose="020B0604020202020204" pitchFamily="34" charset="0"/>
          <a:ea typeface="华文中宋" panose="02010600040101010101" pitchFamily="2" charset="-122"/>
          <a:cs typeface="宋体" panose="02010600030101010101" pitchFamily="2" charset="-122"/>
        </a:defRPr>
      </a:lvl7pPr>
      <a:lvl8pPr marL="1371600" algn="l" rtl="0" eaLnBrk="1" fontAlgn="base" hangingPunct="1">
        <a:spcBef>
          <a:spcPct val="0"/>
        </a:spcBef>
        <a:spcAft>
          <a:spcPct val="0"/>
        </a:spcAft>
        <a:defRPr sz="2800">
          <a:solidFill>
            <a:srgbClr val="FF3300"/>
          </a:solidFill>
          <a:latin typeface="Arial" panose="020B0604020202020204" pitchFamily="34" charset="0"/>
          <a:ea typeface="华文中宋" panose="02010600040101010101" pitchFamily="2" charset="-122"/>
          <a:cs typeface="宋体" panose="02010600030101010101" pitchFamily="2" charset="-122"/>
        </a:defRPr>
      </a:lvl8pPr>
      <a:lvl9pPr marL="1828800" algn="l" rtl="0" eaLnBrk="1" fontAlgn="base" hangingPunct="1">
        <a:spcBef>
          <a:spcPct val="0"/>
        </a:spcBef>
        <a:spcAft>
          <a:spcPct val="0"/>
        </a:spcAft>
        <a:defRPr sz="2800">
          <a:solidFill>
            <a:srgbClr val="FF3300"/>
          </a:solidFill>
          <a:latin typeface="Arial" panose="020B0604020202020204" pitchFamily="34" charset="0"/>
          <a:ea typeface="华文中宋" panose="02010600040101010101" pitchFamily="2" charset="-122"/>
          <a:cs typeface="宋体" panose="02010600030101010101" pitchFamily="2" charset="-122"/>
        </a:defRPr>
      </a:lvl9pPr>
    </p:titleStyle>
    <p:bodyStyle>
      <a:lvl1pPr marL="355600" indent="-269875" algn="l" rtl="0" eaLnBrk="1" fontAlgn="base" hangingPunct="1">
        <a:spcBef>
          <a:spcPts val="1800"/>
        </a:spcBef>
        <a:spcAft>
          <a:spcPct val="0"/>
        </a:spcAft>
        <a:buClr>
          <a:srgbClr val="003399"/>
        </a:buClr>
        <a:buSzPct val="80000"/>
        <a:buFont typeface="Wingdings 2" panose="05020102010507070707" pitchFamily="18" charset="2"/>
        <a:buChar char=""/>
        <a:defRPr sz="2400" kern="1200">
          <a:solidFill>
            <a:srgbClr val="003399"/>
          </a:solidFill>
          <a:latin typeface="+mn-lt"/>
          <a:ea typeface="+mn-ea"/>
          <a:cs typeface="+mn-cs"/>
        </a:defRPr>
      </a:lvl1pPr>
      <a:lvl2pPr marL="357188" algn="l" rtl="0" eaLnBrk="1" fontAlgn="base" hangingPunct="1">
        <a:lnSpc>
          <a:spcPct val="120000"/>
        </a:lnSpc>
        <a:spcBef>
          <a:spcPct val="20000"/>
        </a:spcBef>
        <a:spcAft>
          <a:spcPct val="0"/>
        </a:spcAft>
        <a:defRPr sz="2000" kern="1200">
          <a:solidFill>
            <a:srgbClr val="0066FF"/>
          </a:solidFill>
          <a:latin typeface="+mn-lt"/>
          <a:ea typeface="+mn-ea"/>
          <a:cs typeface="+mn-cs"/>
        </a:defRPr>
      </a:lvl2pPr>
      <a:lvl3pPr marL="1143000" indent="-228600" algn="l" rtl="0" eaLnBrk="1" fontAlgn="base" hangingPunct="1">
        <a:spcBef>
          <a:spcPct val="20000"/>
        </a:spcBef>
        <a:spcAft>
          <a:spcPct val="0"/>
        </a:spcAft>
        <a:buChar char="•"/>
        <a:defRPr sz="1600" kern="1200">
          <a:solidFill>
            <a:srgbClr val="4D4D4D"/>
          </a:solidFill>
          <a:latin typeface="+mn-lt"/>
          <a:ea typeface="+mn-ea"/>
          <a:cs typeface="+mn-cs"/>
        </a:defRPr>
      </a:lvl3pPr>
      <a:lvl4pPr marL="1600200" indent="-228600" algn="l" rtl="0" eaLnBrk="1" fontAlgn="base" hangingPunct="1">
        <a:spcBef>
          <a:spcPct val="20000"/>
        </a:spcBef>
        <a:spcAft>
          <a:spcPct val="0"/>
        </a:spcAft>
        <a:buChar char="–"/>
        <a:defRPr sz="1200" kern="1200">
          <a:solidFill>
            <a:srgbClr val="4D4D4D"/>
          </a:solidFill>
          <a:latin typeface="+mn-lt"/>
          <a:ea typeface="+mn-ea"/>
          <a:cs typeface="+mn-cs"/>
        </a:defRPr>
      </a:lvl4pPr>
      <a:lvl5pPr marL="2057400" indent="-228600" algn="l" rtl="0" eaLnBrk="1" fontAlgn="base" hangingPunct="1">
        <a:spcBef>
          <a:spcPct val="20000"/>
        </a:spcBef>
        <a:spcAft>
          <a:spcPct val="0"/>
        </a:spcAft>
        <a:buChar char="»"/>
        <a:defRPr sz="1200" kern="1200">
          <a:solidFill>
            <a:srgbClr val="4D4D4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ChangeArrowheads="1"/>
          </p:cNvSpPr>
          <p:nvPr/>
        </p:nvSpPr>
        <p:spPr bwMode="ltGray">
          <a:xfrm>
            <a:off x="417513" y="1098550"/>
            <a:ext cx="438150" cy="474663"/>
          </a:xfrm>
          <a:prstGeom prst="rect">
            <a:avLst/>
          </a:prstGeom>
          <a:solidFill>
            <a:schemeClr val="accent2"/>
          </a:solidFill>
          <a:ln w="9525">
            <a:noFill/>
            <a:miter lim="800000"/>
            <a:headEnd/>
            <a:tailEnd/>
          </a:ln>
          <a:effectLst/>
        </p:spPr>
        <p:txBody>
          <a:bodyPr wrap="none" anchor="ctr"/>
          <a:lstStyle/>
          <a:p>
            <a:pPr algn="ctr" fontAlgn="base">
              <a:spcBef>
                <a:spcPct val="0"/>
              </a:spcBef>
              <a:spcAft>
                <a:spcPct val="0"/>
              </a:spcAft>
              <a:defRPr/>
            </a:pPr>
            <a:endParaRPr kumimoji="1" lang="zh-CN" altLang="en-US" sz="2400">
              <a:solidFill>
                <a:srgbClr val="000000"/>
              </a:solidFill>
            </a:endParaRPr>
          </a:p>
        </p:txBody>
      </p:sp>
      <p:sp>
        <p:nvSpPr>
          <p:cNvPr id="64515"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fontAlgn="base">
              <a:spcBef>
                <a:spcPct val="0"/>
              </a:spcBef>
              <a:spcAft>
                <a:spcPct val="0"/>
              </a:spcAft>
              <a:defRPr/>
            </a:pPr>
            <a:endParaRPr kumimoji="1" lang="zh-CN" altLang="en-US" sz="2400">
              <a:solidFill>
                <a:srgbClr val="000000"/>
              </a:solidFill>
            </a:endParaRPr>
          </a:p>
        </p:txBody>
      </p:sp>
      <p:sp>
        <p:nvSpPr>
          <p:cNvPr id="64516" name="Rectangle 4"/>
          <p:cNvSpPr>
            <a:spLocks noChangeArrowheads="1"/>
          </p:cNvSpPr>
          <p:nvPr/>
        </p:nvSpPr>
        <p:spPr bwMode="ltGray">
          <a:xfrm>
            <a:off x="541338" y="1520825"/>
            <a:ext cx="422275" cy="474663"/>
          </a:xfrm>
          <a:prstGeom prst="rect">
            <a:avLst/>
          </a:prstGeom>
          <a:solidFill>
            <a:schemeClr val="folHlink"/>
          </a:solidFill>
          <a:ln w="9525">
            <a:noFill/>
            <a:miter lim="800000"/>
            <a:headEnd/>
            <a:tailEnd/>
          </a:ln>
          <a:effectLst/>
        </p:spPr>
        <p:txBody>
          <a:bodyPr wrap="none" anchor="ctr"/>
          <a:lstStyle/>
          <a:p>
            <a:pPr algn="ctr" fontAlgn="base">
              <a:spcBef>
                <a:spcPct val="0"/>
              </a:spcBef>
              <a:spcAft>
                <a:spcPct val="0"/>
              </a:spcAft>
              <a:defRPr/>
            </a:pPr>
            <a:endParaRPr kumimoji="1" lang="zh-CN" altLang="en-US" sz="2400">
              <a:solidFill>
                <a:srgbClr val="000000"/>
              </a:solidFill>
            </a:endParaRPr>
          </a:p>
        </p:txBody>
      </p:sp>
      <p:sp>
        <p:nvSpPr>
          <p:cNvPr id="64517"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fontAlgn="base">
              <a:spcBef>
                <a:spcPct val="0"/>
              </a:spcBef>
              <a:spcAft>
                <a:spcPct val="0"/>
              </a:spcAft>
              <a:defRPr/>
            </a:pPr>
            <a:endParaRPr kumimoji="1" lang="zh-CN" altLang="en-US" sz="2400">
              <a:solidFill>
                <a:srgbClr val="000000"/>
              </a:solidFill>
            </a:endParaRPr>
          </a:p>
        </p:txBody>
      </p:sp>
      <p:sp>
        <p:nvSpPr>
          <p:cNvPr id="64518"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fontAlgn="base">
              <a:spcBef>
                <a:spcPct val="0"/>
              </a:spcBef>
              <a:spcAft>
                <a:spcPct val="0"/>
              </a:spcAft>
              <a:defRPr/>
            </a:pPr>
            <a:endParaRPr kumimoji="1" lang="zh-CN" altLang="en-US" sz="2400">
              <a:solidFill>
                <a:srgbClr val="000000"/>
              </a:solidFill>
            </a:endParaRPr>
          </a:p>
        </p:txBody>
      </p:sp>
      <p:sp>
        <p:nvSpPr>
          <p:cNvPr id="64519" name="Rectangle 7"/>
          <p:cNvSpPr>
            <a:spLocks noChangeArrowheads="1"/>
          </p:cNvSpPr>
          <p:nvPr/>
        </p:nvSpPr>
        <p:spPr bwMode="gray">
          <a:xfrm>
            <a:off x="762000" y="990600"/>
            <a:ext cx="31750" cy="1052513"/>
          </a:xfrm>
          <a:prstGeom prst="rect">
            <a:avLst/>
          </a:prstGeom>
          <a:solidFill>
            <a:schemeClr val="bg2"/>
          </a:solidFill>
          <a:ln w="9525">
            <a:noFill/>
            <a:miter lim="800000"/>
            <a:headEnd/>
            <a:tailEnd/>
          </a:ln>
          <a:effectLst/>
        </p:spPr>
        <p:txBody>
          <a:bodyPr wrap="none" anchor="ctr"/>
          <a:lstStyle/>
          <a:p>
            <a:pPr algn="ctr" fontAlgn="base">
              <a:spcBef>
                <a:spcPct val="0"/>
              </a:spcBef>
              <a:spcAft>
                <a:spcPct val="0"/>
              </a:spcAft>
              <a:defRPr/>
            </a:pPr>
            <a:endParaRPr kumimoji="1" lang="zh-CN" altLang="en-US" sz="2400">
              <a:solidFill>
                <a:srgbClr val="000000"/>
              </a:solidFill>
            </a:endParaRPr>
          </a:p>
        </p:txBody>
      </p:sp>
      <p:sp>
        <p:nvSpPr>
          <p:cNvPr id="64520"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fontAlgn="base">
              <a:spcBef>
                <a:spcPct val="0"/>
              </a:spcBef>
              <a:spcAft>
                <a:spcPct val="0"/>
              </a:spcAft>
              <a:defRPr/>
            </a:pPr>
            <a:endParaRPr kumimoji="1" lang="zh-CN" altLang="en-US" sz="2400">
              <a:solidFill>
                <a:srgbClr val="000000"/>
              </a:solidFill>
            </a:endParaRPr>
          </a:p>
        </p:txBody>
      </p:sp>
      <p:sp>
        <p:nvSpPr>
          <p:cNvPr id="7177" name="Rectangle 9"/>
          <p:cNvSpPr>
            <a:spLocks noGrp="1" noChangeArrowheads="1"/>
          </p:cNvSpPr>
          <p:nvPr>
            <p:ph type="title"/>
          </p:nvPr>
        </p:nvSpPr>
        <p:spPr bwMode="auto">
          <a:xfrm>
            <a:off x="1150938" y="617538"/>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7178"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4523" name="Rectangle 11"/>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0" sz="1400"/>
            </a:lvl1pPr>
          </a:lstStyle>
          <a:p>
            <a:pPr fontAlgn="base">
              <a:spcBef>
                <a:spcPct val="0"/>
              </a:spcBef>
              <a:spcAft>
                <a:spcPct val="0"/>
              </a:spcAft>
              <a:defRPr/>
            </a:pPr>
            <a:endParaRPr lang="en-US" altLang="zh-CN">
              <a:solidFill>
                <a:srgbClr val="000000"/>
              </a:solidFill>
            </a:endParaRPr>
          </a:p>
        </p:txBody>
      </p:sp>
      <p:sp>
        <p:nvSpPr>
          <p:cNvPr id="64524" name="Rectangle 12"/>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a:lvl1pPr>
          </a:lstStyle>
          <a:p>
            <a:pPr fontAlgn="base">
              <a:spcBef>
                <a:spcPct val="0"/>
              </a:spcBef>
              <a:spcAft>
                <a:spcPct val="0"/>
              </a:spcAft>
              <a:defRPr/>
            </a:pPr>
            <a:endParaRPr lang="en-US" altLang="zh-CN">
              <a:solidFill>
                <a:srgbClr val="000000"/>
              </a:solidFill>
            </a:endParaRPr>
          </a:p>
        </p:txBody>
      </p:sp>
      <p:sp>
        <p:nvSpPr>
          <p:cNvPr id="64525" name="Rectangle 13"/>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a:lvl1pPr>
          </a:lstStyle>
          <a:p>
            <a:pPr fontAlgn="base">
              <a:spcBef>
                <a:spcPct val="0"/>
              </a:spcBef>
              <a:spcAft>
                <a:spcPct val="0"/>
              </a:spcAft>
              <a:defRPr/>
            </a:pPr>
            <a:fld id="{8CB9DAF4-6E98-4816-9DF1-D8260BD12D55}" type="slidenum">
              <a:rPr lang="zh-CN" altLang="en-US">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140350698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2"/>
          <p:cNvSpPr>
            <a:spLocks noChangeArrowheads="1"/>
          </p:cNvSpPr>
          <p:nvPr/>
        </p:nvSpPr>
        <p:spPr bwMode="auto">
          <a:xfrm>
            <a:off x="0" y="0"/>
            <a:ext cx="9182100" cy="836613"/>
          </a:xfrm>
          <a:prstGeom prst="rect">
            <a:avLst/>
          </a:prstGeom>
          <a:solidFill>
            <a:srgbClr val="0066FF"/>
          </a:solidFill>
          <a:ln>
            <a:noFill/>
          </a:ln>
          <a:effectLst/>
        </p:spPr>
        <p:txBody>
          <a:bodyPr wrap="none" anchor="ctr"/>
          <a:lstStyle/>
          <a:p>
            <a:endParaRPr lang="zh-CN" altLang="en-US">
              <a:solidFill>
                <a:srgbClr val="3F3F3F"/>
              </a:solidFill>
            </a:endParaRPr>
          </a:p>
        </p:txBody>
      </p:sp>
      <p:sp>
        <p:nvSpPr>
          <p:cNvPr id="1027" name="Rectangle 2"/>
          <p:cNvSpPr>
            <a:spLocks noGrp="1" noChangeArrowheads="1"/>
          </p:cNvSpPr>
          <p:nvPr>
            <p:ph type="title"/>
          </p:nvPr>
        </p:nvSpPr>
        <p:spPr bwMode="auto">
          <a:xfrm>
            <a:off x="468315" y="107950"/>
            <a:ext cx="8218486"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8" name="Rectangle 3"/>
          <p:cNvSpPr>
            <a:spLocks noGrp="1" noChangeArrowheads="1"/>
          </p:cNvSpPr>
          <p:nvPr>
            <p:ph type="body" idx="1"/>
          </p:nvPr>
        </p:nvSpPr>
        <p:spPr bwMode="auto">
          <a:xfrm>
            <a:off x="468313" y="1041401"/>
            <a:ext cx="8218487" cy="511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
        <p:nvSpPr>
          <p:cNvPr id="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endParaRPr lang="zh-CN" altLang="en-US">
              <a:solidFill>
                <a:srgbClr val="3F3F3F"/>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zh-CN" altLang="en-US">
              <a:solidFill>
                <a:srgbClr val="3F3F3F"/>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1B43473F-AE3F-4D1C-9C4F-7AD3C17AC1AD}" type="slidenum">
              <a:rPr lang="zh-CN" altLang="en-US" smtClean="0">
                <a:solidFill>
                  <a:srgbClr val="3F3F3F"/>
                </a:solidFill>
              </a:rPr>
              <a:pPr/>
              <a:t>‹#›</a:t>
            </a:fld>
            <a:endParaRPr lang="zh-CN" altLang="en-US">
              <a:solidFill>
                <a:srgbClr val="3F3F3F"/>
              </a:solidFill>
            </a:endParaRPr>
          </a:p>
        </p:txBody>
      </p:sp>
    </p:spTree>
    <p:extLst>
      <p:ext uri="{BB962C8B-B14F-4D97-AF65-F5344CB8AC3E}">
        <p14:creationId xmlns:p14="http://schemas.microsoft.com/office/powerpoint/2010/main" val="1119015607"/>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ftr="0" dt="0"/>
  <p:txStyles>
    <p:titleStyle>
      <a:lvl1pPr algn="l" rtl="0" eaLnBrk="1" fontAlgn="base" hangingPunct="1">
        <a:spcBef>
          <a:spcPct val="0"/>
        </a:spcBef>
        <a:spcAft>
          <a:spcPct val="0"/>
        </a:spcAft>
        <a:defRPr sz="2800" kern="1200">
          <a:solidFill>
            <a:schemeClr val="bg1"/>
          </a:solidFill>
          <a:latin typeface="+mj-lt"/>
          <a:ea typeface="+mj-ea"/>
          <a:cs typeface="+mj-cs"/>
        </a:defRPr>
      </a:lvl1pPr>
      <a:lvl2pPr algn="l" rtl="0" eaLnBrk="1" fontAlgn="base" hangingPunct="1">
        <a:spcBef>
          <a:spcPct val="0"/>
        </a:spcBef>
        <a:spcAft>
          <a:spcPct val="0"/>
        </a:spcAft>
        <a:defRPr sz="2800">
          <a:solidFill>
            <a:schemeClr val="accent1"/>
          </a:solidFill>
          <a:latin typeface="Arial" panose="020B0604020202020204" pitchFamily="34" charset="0"/>
          <a:ea typeface="华文中宋" panose="02010600040101010101" pitchFamily="2" charset="-122"/>
          <a:cs typeface="宋体" panose="02010600030101010101" pitchFamily="2" charset="-122"/>
        </a:defRPr>
      </a:lvl2pPr>
      <a:lvl3pPr algn="l" rtl="0" eaLnBrk="1" fontAlgn="base" hangingPunct="1">
        <a:spcBef>
          <a:spcPct val="0"/>
        </a:spcBef>
        <a:spcAft>
          <a:spcPct val="0"/>
        </a:spcAft>
        <a:defRPr sz="2800">
          <a:solidFill>
            <a:schemeClr val="accent1"/>
          </a:solidFill>
          <a:latin typeface="Arial" panose="020B0604020202020204" pitchFamily="34" charset="0"/>
          <a:ea typeface="华文中宋" panose="02010600040101010101" pitchFamily="2" charset="-122"/>
          <a:cs typeface="宋体" panose="02010600030101010101" pitchFamily="2" charset="-122"/>
        </a:defRPr>
      </a:lvl3pPr>
      <a:lvl4pPr algn="l" rtl="0" eaLnBrk="1" fontAlgn="base" hangingPunct="1">
        <a:spcBef>
          <a:spcPct val="0"/>
        </a:spcBef>
        <a:spcAft>
          <a:spcPct val="0"/>
        </a:spcAft>
        <a:defRPr sz="2800">
          <a:solidFill>
            <a:schemeClr val="accent1"/>
          </a:solidFill>
          <a:latin typeface="Arial" panose="020B0604020202020204" pitchFamily="34" charset="0"/>
          <a:ea typeface="华文中宋" panose="02010600040101010101" pitchFamily="2" charset="-122"/>
          <a:cs typeface="宋体" panose="02010600030101010101" pitchFamily="2" charset="-122"/>
        </a:defRPr>
      </a:lvl4pPr>
      <a:lvl5pPr algn="l" rtl="0" eaLnBrk="1" fontAlgn="base" hangingPunct="1">
        <a:spcBef>
          <a:spcPct val="0"/>
        </a:spcBef>
        <a:spcAft>
          <a:spcPct val="0"/>
        </a:spcAft>
        <a:defRPr sz="2800">
          <a:solidFill>
            <a:schemeClr val="accent1"/>
          </a:solidFill>
          <a:latin typeface="Arial" panose="020B0604020202020204" pitchFamily="34" charset="0"/>
          <a:ea typeface="华文中宋" panose="02010600040101010101" pitchFamily="2" charset="-122"/>
          <a:cs typeface="宋体" panose="02010600030101010101" pitchFamily="2" charset="-122"/>
        </a:defRPr>
      </a:lvl5pPr>
      <a:lvl6pPr marL="457200" algn="l" rtl="0" eaLnBrk="1" fontAlgn="base" hangingPunct="1">
        <a:spcBef>
          <a:spcPct val="0"/>
        </a:spcBef>
        <a:spcAft>
          <a:spcPct val="0"/>
        </a:spcAft>
        <a:defRPr sz="2800">
          <a:solidFill>
            <a:srgbClr val="FF3300"/>
          </a:solidFill>
          <a:latin typeface="Arial" panose="020B0604020202020204" pitchFamily="34" charset="0"/>
          <a:ea typeface="华文中宋" panose="02010600040101010101" pitchFamily="2" charset="-122"/>
          <a:cs typeface="宋体" panose="02010600030101010101" pitchFamily="2" charset="-122"/>
        </a:defRPr>
      </a:lvl6pPr>
      <a:lvl7pPr marL="914400" algn="l" rtl="0" eaLnBrk="1" fontAlgn="base" hangingPunct="1">
        <a:spcBef>
          <a:spcPct val="0"/>
        </a:spcBef>
        <a:spcAft>
          <a:spcPct val="0"/>
        </a:spcAft>
        <a:defRPr sz="2800">
          <a:solidFill>
            <a:srgbClr val="FF3300"/>
          </a:solidFill>
          <a:latin typeface="Arial" panose="020B0604020202020204" pitchFamily="34" charset="0"/>
          <a:ea typeface="华文中宋" panose="02010600040101010101" pitchFamily="2" charset="-122"/>
          <a:cs typeface="宋体" panose="02010600030101010101" pitchFamily="2" charset="-122"/>
        </a:defRPr>
      </a:lvl7pPr>
      <a:lvl8pPr marL="1371600" algn="l" rtl="0" eaLnBrk="1" fontAlgn="base" hangingPunct="1">
        <a:spcBef>
          <a:spcPct val="0"/>
        </a:spcBef>
        <a:spcAft>
          <a:spcPct val="0"/>
        </a:spcAft>
        <a:defRPr sz="2800">
          <a:solidFill>
            <a:srgbClr val="FF3300"/>
          </a:solidFill>
          <a:latin typeface="Arial" panose="020B0604020202020204" pitchFamily="34" charset="0"/>
          <a:ea typeface="华文中宋" panose="02010600040101010101" pitchFamily="2" charset="-122"/>
          <a:cs typeface="宋体" panose="02010600030101010101" pitchFamily="2" charset="-122"/>
        </a:defRPr>
      </a:lvl8pPr>
      <a:lvl9pPr marL="1828800" algn="l" rtl="0" eaLnBrk="1" fontAlgn="base" hangingPunct="1">
        <a:spcBef>
          <a:spcPct val="0"/>
        </a:spcBef>
        <a:spcAft>
          <a:spcPct val="0"/>
        </a:spcAft>
        <a:defRPr sz="2800">
          <a:solidFill>
            <a:srgbClr val="FF3300"/>
          </a:solidFill>
          <a:latin typeface="Arial" panose="020B0604020202020204" pitchFamily="34" charset="0"/>
          <a:ea typeface="华文中宋" panose="02010600040101010101" pitchFamily="2" charset="-122"/>
          <a:cs typeface="宋体" panose="02010600030101010101" pitchFamily="2" charset="-122"/>
        </a:defRPr>
      </a:lvl9pPr>
    </p:titleStyle>
    <p:bodyStyle>
      <a:lvl1pPr marL="355600" indent="-269875" algn="l" rtl="0" eaLnBrk="1" fontAlgn="base" hangingPunct="1">
        <a:spcBef>
          <a:spcPts val="1800"/>
        </a:spcBef>
        <a:spcAft>
          <a:spcPct val="0"/>
        </a:spcAft>
        <a:buClr>
          <a:srgbClr val="003399"/>
        </a:buClr>
        <a:buSzPct val="80000"/>
        <a:buFont typeface="Wingdings 2" panose="05020102010507070707" pitchFamily="18" charset="2"/>
        <a:buChar char=""/>
        <a:defRPr sz="2400" kern="1200">
          <a:solidFill>
            <a:srgbClr val="003399"/>
          </a:solidFill>
          <a:latin typeface="+mn-lt"/>
          <a:ea typeface="+mn-ea"/>
          <a:cs typeface="+mn-cs"/>
        </a:defRPr>
      </a:lvl1pPr>
      <a:lvl2pPr marL="357188" algn="l" rtl="0" eaLnBrk="1" fontAlgn="base" hangingPunct="1">
        <a:lnSpc>
          <a:spcPct val="120000"/>
        </a:lnSpc>
        <a:spcBef>
          <a:spcPct val="20000"/>
        </a:spcBef>
        <a:spcAft>
          <a:spcPct val="0"/>
        </a:spcAft>
        <a:defRPr sz="2000" kern="1200">
          <a:solidFill>
            <a:srgbClr val="0066FF"/>
          </a:solidFill>
          <a:latin typeface="+mn-lt"/>
          <a:ea typeface="+mn-ea"/>
          <a:cs typeface="+mn-cs"/>
        </a:defRPr>
      </a:lvl2pPr>
      <a:lvl3pPr marL="1143000" indent="-228600" algn="l" rtl="0" eaLnBrk="1" fontAlgn="base" hangingPunct="1">
        <a:spcBef>
          <a:spcPct val="20000"/>
        </a:spcBef>
        <a:spcAft>
          <a:spcPct val="0"/>
        </a:spcAft>
        <a:buChar char="•"/>
        <a:defRPr sz="1600" kern="1200">
          <a:solidFill>
            <a:srgbClr val="4D4D4D"/>
          </a:solidFill>
          <a:latin typeface="+mn-lt"/>
          <a:ea typeface="+mn-ea"/>
          <a:cs typeface="+mn-cs"/>
        </a:defRPr>
      </a:lvl3pPr>
      <a:lvl4pPr marL="1600200" indent="-228600" algn="l" rtl="0" eaLnBrk="1" fontAlgn="base" hangingPunct="1">
        <a:spcBef>
          <a:spcPct val="20000"/>
        </a:spcBef>
        <a:spcAft>
          <a:spcPct val="0"/>
        </a:spcAft>
        <a:buChar char="–"/>
        <a:defRPr sz="1200" kern="1200">
          <a:solidFill>
            <a:srgbClr val="4D4D4D"/>
          </a:solidFill>
          <a:latin typeface="+mn-lt"/>
          <a:ea typeface="+mn-ea"/>
          <a:cs typeface="+mn-cs"/>
        </a:defRPr>
      </a:lvl4pPr>
      <a:lvl5pPr marL="2057400" indent="-228600" algn="l" rtl="0" eaLnBrk="1" fontAlgn="base" hangingPunct="1">
        <a:spcBef>
          <a:spcPct val="20000"/>
        </a:spcBef>
        <a:spcAft>
          <a:spcPct val="0"/>
        </a:spcAft>
        <a:buChar char="»"/>
        <a:defRPr sz="1200" kern="1200">
          <a:solidFill>
            <a:srgbClr val="4D4D4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9.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9.xml"/><Relationship Id="rId1" Type="http://schemas.openxmlformats.org/officeDocument/2006/relationships/vmlDrawing" Target="../drawings/vmlDrawing2.v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9.xml"/><Relationship Id="rId1" Type="http://schemas.openxmlformats.org/officeDocument/2006/relationships/vmlDrawing" Target="../drawings/vmlDrawing3.v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0.png"/><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6.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6.xml"/><Relationship Id="rId1" Type="http://schemas.openxmlformats.org/officeDocument/2006/relationships/vmlDrawing" Target="../drawings/vmlDrawing5.vml"/><Relationship Id="rId4" Type="http://schemas.openxmlformats.org/officeDocument/2006/relationships/image" Target="../media/image8.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6.xml"/><Relationship Id="rId1" Type="http://schemas.openxmlformats.org/officeDocument/2006/relationships/vmlDrawing" Target="../drawings/vmlDrawing6.vml"/><Relationship Id="rId4" Type="http://schemas.openxmlformats.org/officeDocument/2006/relationships/image" Target="../media/image8.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6.xml"/><Relationship Id="rId1" Type="http://schemas.openxmlformats.org/officeDocument/2006/relationships/vmlDrawing" Target="../drawings/vmlDrawing7.vml"/><Relationship Id="rId4" Type="http://schemas.openxmlformats.org/officeDocument/2006/relationships/image" Target="../media/image8.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6.xml"/><Relationship Id="rId1" Type="http://schemas.openxmlformats.org/officeDocument/2006/relationships/vmlDrawing" Target="../drawings/vmlDrawing8.vml"/><Relationship Id="rId4" Type="http://schemas.openxmlformats.org/officeDocument/2006/relationships/image" Target="../media/image8.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6.xml"/><Relationship Id="rId1" Type="http://schemas.openxmlformats.org/officeDocument/2006/relationships/vmlDrawing" Target="../drawings/vmlDrawing9.vml"/><Relationship Id="rId4" Type="http://schemas.openxmlformats.org/officeDocument/2006/relationships/image" Target="../media/image8.e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6.xml"/><Relationship Id="rId1" Type="http://schemas.openxmlformats.org/officeDocument/2006/relationships/vmlDrawing" Target="../drawings/vmlDrawing10.vml"/><Relationship Id="rId4" Type="http://schemas.openxmlformats.org/officeDocument/2006/relationships/image" Target="../media/image8.e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6.xml"/><Relationship Id="rId1" Type="http://schemas.openxmlformats.org/officeDocument/2006/relationships/vmlDrawing" Target="../drawings/vmlDrawing11.vml"/><Relationship Id="rId4" Type="http://schemas.openxmlformats.org/officeDocument/2006/relationships/image" Target="../media/image8.e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6.xml"/><Relationship Id="rId1" Type="http://schemas.openxmlformats.org/officeDocument/2006/relationships/vmlDrawing" Target="../drawings/vmlDrawing12.vml"/><Relationship Id="rId4" Type="http://schemas.openxmlformats.org/officeDocument/2006/relationships/image" Target="../media/image8.e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6.xml"/><Relationship Id="rId1" Type="http://schemas.openxmlformats.org/officeDocument/2006/relationships/vmlDrawing" Target="../drawings/vmlDrawing13.vml"/><Relationship Id="rId4" Type="http://schemas.openxmlformats.org/officeDocument/2006/relationships/image" Target="../media/image8.e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6.xml"/><Relationship Id="rId1" Type="http://schemas.openxmlformats.org/officeDocument/2006/relationships/vmlDrawing" Target="../drawings/vmlDrawing14.vml"/><Relationship Id="rId4" Type="http://schemas.openxmlformats.org/officeDocument/2006/relationships/image" Target="../media/image8.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灯片编号占位符 2">
            <a:extLst>
              <a:ext uri="{FF2B5EF4-FFF2-40B4-BE49-F238E27FC236}">
                <a16:creationId xmlns:a16="http://schemas.microsoft.com/office/drawing/2014/main" id="{9C38AB59-711E-4D04-87EF-F6A5F0F6809F}"/>
              </a:ext>
            </a:extLst>
          </p:cNvPr>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fld id="{D9FA5DE8-DDF5-4A68-A2B4-00C0013049FE}" type="slidenum">
              <a:rPr lang="en-US" altLang="zh-CN" sz="1400" b="0">
                <a:ea typeface="宋体" panose="02010600030101010101" pitchFamily="2" charset="-122"/>
              </a:rPr>
              <a:pPr/>
              <a:t>1</a:t>
            </a:fld>
            <a:endParaRPr lang="en-US" altLang="zh-CN" sz="1400" b="0">
              <a:ea typeface="宋体" panose="02010600030101010101" pitchFamily="2" charset="-122"/>
            </a:endParaRPr>
          </a:p>
        </p:txBody>
      </p:sp>
      <p:sp>
        <p:nvSpPr>
          <p:cNvPr id="4098" name="副标题 2">
            <a:extLst>
              <a:ext uri="{FF2B5EF4-FFF2-40B4-BE49-F238E27FC236}">
                <a16:creationId xmlns:a16="http://schemas.microsoft.com/office/drawing/2014/main" id="{DE8D114C-66C2-4AED-B11D-83BBF795E68A}"/>
              </a:ext>
            </a:extLst>
          </p:cNvPr>
          <p:cNvSpPr>
            <a:spLocks noGrp="1" noChangeArrowheads="1"/>
          </p:cNvSpPr>
          <p:nvPr>
            <p:ph type="subTitle" idx="4294967295"/>
          </p:nvPr>
        </p:nvSpPr>
        <p:spPr bwMode="auto">
          <a:xfrm>
            <a:off x="1691644" y="4149089"/>
            <a:ext cx="5760713" cy="665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85725" indent="0">
              <a:buNone/>
            </a:pPr>
            <a:r>
              <a:rPr lang="zh-CN" altLang="en-US" sz="3600" b="1" dirty="0">
                <a:latin typeface="+mj-ea"/>
                <a:ea typeface="+mj-ea"/>
              </a:rPr>
              <a:t>第四章   自顶向下语法分析</a:t>
            </a:r>
          </a:p>
        </p:txBody>
      </p:sp>
      <p:sp>
        <p:nvSpPr>
          <p:cNvPr id="4" name="矩形 3">
            <a:extLst>
              <a:ext uri="{FF2B5EF4-FFF2-40B4-BE49-F238E27FC236}">
                <a16:creationId xmlns:a16="http://schemas.microsoft.com/office/drawing/2014/main" id="{789D7CD7-0F3E-49B1-882F-0601A24A1CEC}"/>
              </a:ext>
            </a:extLst>
          </p:cNvPr>
          <p:cNvSpPr/>
          <p:nvPr/>
        </p:nvSpPr>
        <p:spPr>
          <a:xfrm>
            <a:off x="0" y="1484313"/>
            <a:ext cx="9144000" cy="1757362"/>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5400" b="1" dirty="0">
                <a:latin typeface="+mj-ea"/>
                <a:ea typeface="+mj-ea"/>
              </a:rPr>
              <a:t>编译原理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AutoShape 4"/>
          <p:cNvSpPr>
            <a:spLocks noChangeArrowheads="1"/>
          </p:cNvSpPr>
          <p:nvPr/>
        </p:nvSpPr>
        <p:spPr bwMode="auto">
          <a:xfrm>
            <a:off x="3886200" y="990600"/>
            <a:ext cx="1428750" cy="547688"/>
          </a:xfrm>
          <a:prstGeom prst="downArrow">
            <a:avLst>
              <a:gd name="adj1" fmla="val 50000"/>
              <a:gd name="adj2" fmla="val 25000"/>
            </a:avLst>
          </a:prstGeom>
          <a:solidFill>
            <a:srgbClr val="9966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r>
              <a:rPr lang="en-US" altLang="zh-CN"/>
              <a:t>S.P</a:t>
            </a:r>
          </a:p>
        </p:txBody>
      </p:sp>
      <p:sp>
        <p:nvSpPr>
          <p:cNvPr id="4099" name="AutoShape 5"/>
          <p:cNvSpPr>
            <a:spLocks noChangeArrowheads="1"/>
          </p:cNvSpPr>
          <p:nvPr/>
        </p:nvSpPr>
        <p:spPr bwMode="auto">
          <a:xfrm>
            <a:off x="3897313" y="4903788"/>
            <a:ext cx="1428750" cy="441325"/>
          </a:xfrm>
          <a:prstGeom prst="downArrow">
            <a:avLst>
              <a:gd name="adj1" fmla="val 50000"/>
              <a:gd name="adj2" fmla="val 25000"/>
            </a:avLst>
          </a:prstGeom>
          <a:solidFill>
            <a:srgbClr val="33CC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r>
              <a:rPr lang="en-US" altLang="zh-CN"/>
              <a:t>O.P</a:t>
            </a:r>
          </a:p>
        </p:txBody>
      </p:sp>
      <p:grpSp>
        <p:nvGrpSpPr>
          <p:cNvPr id="4100" name="Group 6"/>
          <p:cNvGrpSpPr>
            <a:grpSpLocks/>
          </p:cNvGrpSpPr>
          <p:nvPr/>
        </p:nvGrpSpPr>
        <p:grpSpPr bwMode="auto">
          <a:xfrm>
            <a:off x="2317750" y="1577975"/>
            <a:ext cx="4575175" cy="3271838"/>
            <a:chOff x="1437" y="1236"/>
            <a:chExt cx="2882" cy="2061"/>
          </a:xfrm>
        </p:grpSpPr>
        <p:grpSp>
          <p:nvGrpSpPr>
            <p:cNvPr id="4115" name="Group 7"/>
            <p:cNvGrpSpPr>
              <a:grpSpLocks/>
            </p:cNvGrpSpPr>
            <p:nvPr/>
          </p:nvGrpSpPr>
          <p:grpSpPr bwMode="auto">
            <a:xfrm>
              <a:off x="1437" y="1956"/>
              <a:ext cx="2882" cy="422"/>
              <a:chOff x="1437" y="1956"/>
              <a:chExt cx="2882" cy="422"/>
            </a:xfrm>
          </p:grpSpPr>
          <p:sp>
            <p:nvSpPr>
              <p:cNvPr id="4126" name="Rectangle 8"/>
              <p:cNvSpPr>
                <a:spLocks noChangeArrowheads="1"/>
              </p:cNvSpPr>
              <p:nvPr/>
            </p:nvSpPr>
            <p:spPr bwMode="auto">
              <a:xfrm>
                <a:off x="1437" y="2154"/>
                <a:ext cx="2882" cy="224"/>
              </a:xfrm>
              <a:prstGeom prst="rect">
                <a:avLst/>
              </a:prstGeom>
              <a:solidFill>
                <a:srgbClr val="D6DDF6"/>
              </a:solidFill>
              <a:ln w="12700">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r>
                  <a:rPr lang="zh-CN" altLang="en-US">
                    <a:solidFill>
                      <a:schemeClr val="accent2"/>
                    </a:solidFill>
                    <a:latin typeface="楷体_GB2312" pitchFamily="49" charset="-122"/>
                  </a:rPr>
                  <a:t>语义分析、生成中间代码</a:t>
                </a:r>
              </a:p>
            </p:txBody>
          </p:sp>
          <p:sp>
            <p:nvSpPr>
              <p:cNvPr id="4127" name="AutoShape 9"/>
              <p:cNvSpPr>
                <a:spLocks noChangeArrowheads="1"/>
              </p:cNvSpPr>
              <p:nvPr/>
            </p:nvSpPr>
            <p:spPr bwMode="auto">
              <a:xfrm>
                <a:off x="2465" y="1956"/>
                <a:ext cx="826" cy="210"/>
              </a:xfrm>
              <a:prstGeom prst="downArrow">
                <a:avLst>
                  <a:gd name="adj1" fmla="val 56778"/>
                  <a:gd name="adj2" fmla="val 56667"/>
                </a:avLst>
              </a:prstGeom>
              <a:solidFill>
                <a:srgbClr val="FF9900">
                  <a:alpha val="50195"/>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zh-CN"/>
              </a:p>
            </p:txBody>
          </p:sp>
        </p:grpSp>
        <p:grpSp>
          <p:nvGrpSpPr>
            <p:cNvPr id="4116" name="Group 10"/>
            <p:cNvGrpSpPr>
              <a:grpSpLocks/>
            </p:cNvGrpSpPr>
            <p:nvPr/>
          </p:nvGrpSpPr>
          <p:grpSpPr bwMode="auto">
            <a:xfrm>
              <a:off x="1437" y="2856"/>
              <a:ext cx="2882" cy="441"/>
              <a:chOff x="1437" y="2856"/>
              <a:chExt cx="2882" cy="441"/>
            </a:xfrm>
          </p:grpSpPr>
          <p:sp>
            <p:nvSpPr>
              <p:cNvPr id="4124" name="Rectangle 11"/>
              <p:cNvSpPr>
                <a:spLocks noChangeArrowheads="1"/>
              </p:cNvSpPr>
              <p:nvPr/>
            </p:nvSpPr>
            <p:spPr bwMode="auto">
              <a:xfrm>
                <a:off x="1437" y="3073"/>
                <a:ext cx="2882" cy="224"/>
              </a:xfrm>
              <a:prstGeom prst="rect">
                <a:avLst/>
              </a:prstGeom>
              <a:solidFill>
                <a:srgbClr val="D6DDF6"/>
              </a:solidFill>
              <a:ln w="12700">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r>
                  <a:rPr lang="zh-CN" altLang="en-US">
                    <a:solidFill>
                      <a:schemeClr val="accent2"/>
                    </a:solidFill>
                    <a:latin typeface="楷体_GB2312" pitchFamily="49" charset="-122"/>
                  </a:rPr>
                  <a:t>生成目标程序</a:t>
                </a:r>
              </a:p>
            </p:txBody>
          </p:sp>
          <p:sp>
            <p:nvSpPr>
              <p:cNvPr id="4125" name="AutoShape 12"/>
              <p:cNvSpPr>
                <a:spLocks noChangeArrowheads="1"/>
              </p:cNvSpPr>
              <p:nvPr/>
            </p:nvSpPr>
            <p:spPr bwMode="auto">
              <a:xfrm>
                <a:off x="2465" y="2856"/>
                <a:ext cx="826" cy="210"/>
              </a:xfrm>
              <a:prstGeom prst="downArrow">
                <a:avLst>
                  <a:gd name="adj1" fmla="val 56778"/>
                  <a:gd name="adj2" fmla="val 56667"/>
                </a:avLst>
              </a:prstGeom>
              <a:solidFill>
                <a:srgbClr val="FF9900">
                  <a:alpha val="50195"/>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zh-CN"/>
              </a:p>
            </p:txBody>
          </p:sp>
        </p:grpSp>
        <p:grpSp>
          <p:nvGrpSpPr>
            <p:cNvPr id="4117" name="Group 13"/>
            <p:cNvGrpSpPr>
              <a:grpSpLocks/>
            </p:cNvGrpSpPr>
            <p:nvPr/>
          </p:nvGrpSpPr>
          <p:grpSpPr bwMode="auto">
            <a:xfrm>
              <a:off x="1437" y="2391"/>
              <a:ext cx="2882" cy="446"/>
              <a:chOff x="1437" y="2391"/>
              <a:chExt cx="2882" cy="446"/>
            </a:xfrm>
          </p:grpSpPr>
          <p:sp>
            <p:nvSpPr>
              <p:cNvPr id="4122" name="Rectangle 14"/>
              <p:cNvSpPr>
                <a:spLocks noChangeArrowheads="1"/>
              </p:cNvSpPr>
              <p:nvPr/>
            </p:nvSpPr>
            <p:spPr bwMode="auto">
              <a:xfrm>
                <a:off x="1437" y="2613"/>
                <a:ext cx="2882" cy="224"/>
              </a:xfrm>
              <a:prstGeom prst="rect">
                <a:avLst/>
              </a:prstGeom>
              <a:solidFill>
                <a:srgbClr val="D6DDF6"/>
              </a:solidFill>
              <a:ln w="12700">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lnSpc>
                    <a:spcPct val="80000"/>
                  </a:lnSpc>
                  <a:spcBef>
                    <a:spcPct val="50000"/>
                  </a:spcBef>
                </a:pPr>
                <a:r>
                  <a:rPr lang="zh-CN" altLang="en-US">
                    <a:solidFill>
                      <a:schemeClr val="accent2"/>
                    </a:solidFill>
                    <a:latin typeface="楷体_GB2312" pitchFamily="49" charset="-122"/>
                  </a:rPr>
                  <a:t>代码优化</a:t>
                </a:r>
              </a:p>
            </p:txBody>
          </p:sp>
          <p:sp>
            <p:nvSpPr>
              <p:cNvPr id="4123" name="AutoShape 15"/>
              <p:cNvSpPr>
                <a:spLocks noChangeArrowheads="1"/>
              </p:cNvSpPr>
              <p:nvPr/>
            </p:nvSpPr>
            <p:spPr bwMode="auto">
              <a:xfrm>
                <a:off x="2465" y="2391"/>
                <a:ext cx="826" cy="210"/>
              </a:xfrm>
              <a:prstGeom prst="downArrow">
                <a:avLst>
                  <a:gd name="adj1" fmla="val 56778"/>
                  <a:gd name="adj2" fmla="val 56667"/>
                </a:avLst>
              </a:prstGeom>
              <a:solidFill>
                <a:srgbClr val="FF9900">
                  <a:alpha val="50195"/>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zh-CN"/>
              </a:p>
            </p:txBody>
          </p:sp>
        </p:grpSp>
        <p:grpSp>
          <p:nvGrpSpPr>
            <p:cNvPr id="4118" name="Group 16"/>
            <p:cNvGrpSpPr>
              <a:grpSpLocks/>
            </p:cNvGrpSpPr>
            <p:nvPr/>
          </p:nvGrpSpPr>
          <p:grpSpPr bwMode="auto">
            <a:xfrm>
              <a:off x="1437" y="1485"/>
              <a:ext cx="2882" cy="434"/>
              <a:chOff x="1437" y="1485"/>
              <a:chExt cx="2882" cy="434"/>
            </a:xfrm>
          </p:grpSpPr>
          <p:sp>
            <p:nvSpPr>
              <p:cNvPr id="4120" name="Rectangle 17"/>
              <p:cNvSpPr>
                <a:spLocks noChangeArrowheads="1"/>
              </p:cNvSpPr>
              <p:nvPr/>
            </p:nvSpPr>
            <p:spPr bwMode="auto">
              <a:xfrm>
                <a:off x="1437" y="1695"/>
                <a:ext cx="2882" cy="224"/>
              </a:xfrm>
              <a:prstGeom prst="rect">
                <a:avLst/>
              </a:prstGeom>
              <a:solidFill>
                <a:srgbClr val="D6DDF6"/>
              </a:solidFill>
              <a:ln w="12700">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r>
                  <a:rPr lang="zh-CN" altLang="en-US" sz="3200" i="1" u="sng">
                    <a:solidFill>
                      <a:srgbClr val="FF0000"/>
                    </a:solidFill>
                    <a:latin typeface="华文行楷" panose="02010800040101010101" pitchFamily="2" charset="-122"/>
                    <a:ea typeface="华文行楷" panose="02010800040101010101" pitchFamily="2" charset="-122"/>
                  </a:rPr>
                  <a:t>语法分析程序</a:t>
                </a:r>
              </a:p>
            </p:txBody>
          </p:sp>
          <p:sp>
            <p:nvSpPr>
              <p:cNvPr id="4121" name="AutoShape 18"/>
              <p:cNvSpPr>
                <a:spLocks noChangeArrowheads="1"/>
              </p:cNvSpPr>
              <p:nvPr/>
            </p:nvSpPr>
            <p:spPr bwMode="auto">
              <a:xfrm>
                <a:off x="2465" y="1485"/>
                <a:ext cx="826" cy="210"/>
              </a:xfrm>
              <a:prstGeom prst="downArrow">
                <a:avLst>
                  <a:gd name="adj1" fmla="val 56778"/>
                  <a:gd name="adj2" fmla="val 56667"/>
                </a:avLst>
              </a:prstGeom>
              <a:solidFill>
                <a:srgbClr val="FF9900">
                  <a:alpha val="50195"/>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zh-CN"/>
              </a:p>
            </p:txBody>
          </p:sp>
        </p:grpSp>
        <p:sp>
          <p:nvSpPr>
            <p:cNvPr id="4119" name="Rectangle 19"/>
            <p:cNvSpPr>
              <a:spLocks noChangeArrowheads="1"/>
            </p:cNvSpPr>
            <p:nvPr/>
          </p:nvSpPr>
          <p:spPr bwMode="auto">
            <a:xfrm>
              <a:off x="1437" y="1236"/>
              <a:ext cx="2882" cy="224"/>
            </a:xfrm>
            <a:prstGeom prst="rect">
              <a:avLst/>
            </a:prstGeom>
            <a:solidFill>
              <a:srgbClr val="D6DDF6"/>
            </a:solidFill>
            <a:ln w="12700">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r>
                <a:rPr lang="zh-CN" altLang="en-US">
                  <a:solidFill>
                    <a:schemeClr val="accent2"/>
                  </a:solidFill>
                  <a:latin typeface="楷体_GB2312" pitchFamily="49" charset="-122"/>
                </a:rPr>
                <a:t>词法分析程序</a:t>
              </a:r>
            </a:p>
          </p:txBody>
        </p:sp>
      </p:grpSp>
      <p:grpSp>
        <p:nvGrpSpPr>
          <p:cNvPr id="4101" name="Group 20"/>
          <p:cNvGrpSpPr>
            <a:grpSpLocks/>
          </p:cNvGrpSpPr>
          <p:nvPr/>
        </p:nvGrpSpPr>
        <p:grpSpPr bwMode="auto">
          <a:xfrm>
            <a:off x="606425" y="1717675"/>
            <a:ext cx="8064500" cy="2946400"/>
            <a:chOff x="362" y="1336"/>
            <a:chExt cx="5080" cy="1856"/>
          </a:xfrm>
        </p:grpSpPr>
        <p:sp>
          <p:nvSpPr>
            <p:cNvPr id="4102" name="Rectangle 21"/>
            <p:cNvSpPr>
              <a:spLocks noChangeArrowheads="1"/>
            </p:cNvSpPr>
            <p:nvPr/>
          </p:nvSpPr>
          <p:spPr bwMode="auto">
            <a:xfrm>
              <a:off x="5156" y="1466"/>
              <a:ext cx="286" cy="1723"/>
            </a:xfrm>
            <a:prstGeom prst="rect">
              <a:avLst/>
            </a:prstGeom>
            <a:solidFill>
              <a:srgbClr val="FFFF00"/>
            </a:solidFill>
            <a:ln w="12700">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r>
                <a:rPr lang="zh-CN" altLang="en-US">
                  <a:solidFill>
                    <a:schemeClr val="accent2"/>
                  </a:solidFill>
                  <a:latin typeface="楷体_GB2312" pitchFamily="49" charset="-122"/>
                </a:rPr>
                <a:t>错</a:t>
              </a:r>
            </a:p>
            <a:p>
              <a:pPr algn="ctr" eaLnBrk="1" hangingPunct="1"/>
              <a:r>
                <a:rPr lang="zh-CN" altLang="en-US">
                  <a:solidFill>
                    <a:schemeClr val="accent2"/>
                  </a:solidFill>
                  <a:latin typeface="楷体_GB2312" pitchFamily="49" charset="-122"/>
                </a:rPr>
                <a:t>误</a:t>
              </a:r>
            </a:p>
            <a:p>
              <a:pPr algn="ctr" eaLnBrk="1" hangingPunct="1"/>
              <a:r>
                <a:rPr lang="zh-CN" altLang="en-US">
                  <a:solidFill>
                    <a:schemeClr val="accent2"/>
                  </a:solidFill>
                  <a:latin typeface="楷体_GB2312" pitchFamily="49" charset="-122"/>
                </a:rPr>
                <a:t>处</a:t>
              </a:r>
            </a:p>
            <a:p>
              <a:pPr algn="ctr" eaLnBrk="1" hangingPunct="1"/>
              <a:r>
                <a:rPr lang="zh-CN" altLang="en-US">
                  <a:solidFill>
                    <a:schemeClr val="accent2"/>
                  </a:solidFill>
                  <a:latin typeface="楷体_GB2312" pitchFamily="49" charset="-122"/>
                </a:rPr>
                <a:t>理</a:t>
              </a:r>
            </a:p>
          </p:txBody>
        </p:sp>
        <p:sp>
          <p:nvSpPr>
            <p:cNvPr id="4103" name="AutoShape 22"/>
            <p:cNvSpPr>
              <a:spLocks noChangeArrowheads="1"/>
            </p:cNvSpPr>
            <p:nvPr/>
          </p:nvSpPr>
          <p:spPr bwMode="auto">
            <a:xfrm flipH="1">
              <a:off x="4366" y="1736"/>
              <a:ext cx="667" cy="142"/>
            </a:xfrm>
            <a:prstGeom prst="rightArrow">
              <a:avLst>
                <a:gd name="adj1" fmla="val 50000"/>
                <a:gd name="adj2" fmla="val 117430"/>
              </a:avLst>
            </a:prstGeom>
            <a:solidFill>
              <a:srgbClr val="0000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en-US"/>
            </a:p>
          </p:txBody>
        </p:sp>
        <p:sp>
          <p:nvSpPr>
            <p:cNvPr id="4104" name="AutoShape 23"/>
            <p:cNvSpPr>
              <a:spLocks noChangeArrowheads="1"/>
            </p:cNvSpPr>
            <p:nvPr/>
          </p:nvSpPr>
          <p:spPr bwMode="auto">
            <a:xfrm flipH="1">
              <a:off x="4366" y="2197"/>
              <a:ext cx="667" cy="142"/>
            </a:xfrm>
            <a:prstGeom prst="rightArrow">
              <a:avLst>
                <a:gd name="adj1" fmla="val 50000"/>
                <a:gd name="adj2" fmla="val 117430"/>
              </a:avLst>
            </a:prstGeom>
            <a:solidFill>
              <a:srgbClr val="0000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en-US"/>
            </a:p>
          </p:txBody>
        </p:sp>
        <p:sp>
          <p:nvSpPr>
            <p:cNvPr id="4105" name="AutoShape 24"/>
            <p:cNvSpPr>
              <a:spLocks noChangeArrowheads="1"/>
            </p:cNvSpPr>
            <p:nvPr/>
          </p:nvSpPr>
          <p:spPr bwMode="auto">
            <a:xfrm flipH="1">
              <a:off x="4367" y="2625"/>
              <a:ext cx="667" cy="142"/>
            </a:xfrm>
            <a:prstGeom prst="rightArrow">
              <a:avLst>
                <a:gd name="adj1" fmla="val 50000"/>
                <a:gd name="adj2" fmla="val 117430"/>
              </a:avLst>
            </a:prstGeom>
            <a:solidFill>
              <a:srgbClr val="0000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en-US"/>
            </a:p>
          </p:txBody>
        </p:sp>
        <p:sp>
          <p:nvSpPr>
            <p:cNvPr id="4106" name="AutoShape 25"/>
            <p:cNvSpPr>
              <a:spLocks noChangeArrowheads="1"/>
            </p:cNvSpPr>
            <p:nvPr/>
          </p:nvSpPr>
          <p:spPr bwMode="auto">
            <a:xfrm rot="20871196" flipH="1">
              <a:off x="4366" y="3034"/>
              <a:ext cx="667" cy="142"/>
            </a:xfrm>
            <a:prstGeom prst="rightArrow">
              <a:avLst>
                <a:gd name="adj1" fmla="val 50000"/>
                <a:gd name="adj2" fmla="val 117430"/>
              </a:avLst>
            </a:prstGeom>
            <a:solidFill>
              <a:srgbClr val="0000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en-US"/>
            </a:p>
          </p:txBody>
        </p:sp>
        <p:grpSp>
          <p:nvGrpSpPr>
            <p:cNvPr id="4107" name="Group 26"/>
            <p:cNvGrpSpPr>
              <a:grpSpLocks/>
            </p:cNvGrpSpPr>
            <p:nvPr/>
          </p:nvGrpSpPr>
          <p:grpSpPr bwMode="auto">
            <a:xfrm>
              <a:off x="362" y="1336"/>
              <a:ext cx="1021" cy="1856"/>
              <a:chOff x="362" y="1336"/>
              <a:chExt cx="1021" cy="1856"/>
            </a:xfrm>
          </p:grpSpPr>
          <p:sp>
            <p:nvSpPr>
              <p:cNvPr id="4109" name="AutoShape 27"/>
              <p:cNvSpPr>
                <a:spLocks noChangeArrowheads="1"/>
              </p:cNvSpPr>
              <p:nvPr/>
            </p:nvSpPr>
            <p:spPr bwMode="auto">
              <a:xfrm>
                <a:off x="716" y="1752"/>
                <a:ext cx="667" cy="142"/>
              </a:xfrm>
              <a:prstGeom prst="rightArrow">
                <a:avLst>
                  <a:gd name="adj1" fmla="val 50000"/>
                  <a:gd name="adj2" fmla="val 117430"/>
                </a:avLst>
              </a:prstGeom>
              <a:solidFill>
                <a:srgbClr val="0000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en-US"/>
              </a:p>
            </p:txBody>
          </p:sp>
          <p:sp>
            <p:nvSpPr>
              <p:cNvPr id="4110" name="AutoShape 28"/>
              <p:cNvSpPr>
                <a:spLocks noChangeArrowheads="1"/>
              </p:cNvSpPr>
              <p:nvPr/>
            </p:nvSpPr>
            <p:spPr bwMode="auto">
              <a:xfrm>
                <a:off x="716" y="2197"/>
                <a:ext cx="667" cy="142"/>
              </a:xfrm>
              <a:prstGeom prst="rightArrow">
                <a:avLst>
                  <a:gd name="adj1" fmla="val 50000"/>
                  <a:gd name="adj2" fmla="val 117430"/>
                </a:avLst>
              </a:prstGeom>
              <a:solidFill>
                <a:srgbClr val="0000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en-US"/>
              </a:p>
            </p:txBody>
          </p:sp>
          <p:sp>
            <p:nvSpPr>
              <p:cNvPr id="4111" name="AutoShape 29"/>
              <p:cNvSpPr>
                <a:spLocks noChangeArrowheads="1"/>
              </p:cNvSpPr>
              <p:nvPr/>
            </p:nvSpPr>
            <p:spPr bwMode="auto">
              <a:xfrm>
                <a:off x="715" y="2641"/>
                <a:ext cx="667" cy="142"/>
              </a:xfrm>
              <a:prstGeom prst="rightArrow">
                <a:avLst>
                  <a:gd name="adj1" fmla="val 50000"/>
                  <a:gd name="adj2" fmla="val 117430"/>
                </a:avLst>
              </a:prstGeom>
              <a:solidFill>
                <a:srgbClr val="0000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en-US"/>
              </a:p>
            </p:txBody>
          </p:sp>
          <p:sp>
            <p:nvSpPr>
              <p:cNvPr id="4112" name="AutoShape 30"/>
              <p:cNvSpPr>
                <a:spLocks noChangeArrowheads="1"/>
              </p:cNvSpPr>
              <p:nvPr/>
            </p:nvSpPr>
            <p:spPr bwMode="auto">
              <a:xfrm rot="728804">
                <a:off x="716" y="3050"/>
                <a:ext cx="667" cy="142"/>
              </a:xfrm>
              <a:prstGeom prst="rightArrow">
                <a:avLst>
                  <a:gd name="adj1" fmla="val 50000"/>
                  <a:gd name="adj2" fmla="val 117430"/>
                </a:avLst>
              </a:prstGeom>
              <a:solidFill>
                <a:srgbClr val="0000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en-US"/>
              </a:p>
            </p:txBody>
          </p:sp>
          <p:sp>
            <p:nvSpPr>
              <p:cNvPr id="4113" name="Rectangle 31"/>
              <p:cNvSpPr>
                <a:spLocks noChangeArrowheads="1"/>
              </p:cNvSpPr>
              <p:nvPr/>
            </p:nvSpPr>
            <p:spPr bwMode="auto">
              <a:xfrm>
                <a:off x="362" y="1488"/>
                <a:ext cx="286" cy="1641"/>
              </a:xfrm>
              <a:prstGeom prst="rect">
                <a:avLst/>
              </a:prstGeom>
              <a:solidFill>
                <a:srgbClr val="FFFF00"/>
              </a:solidFill>
              <a:ln w="12700">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r>
                  <a:rPr lang="zh-CN" altLang="en-US">
                    <a:solidFill>
                      <a:schemeClr val="accent2"/>
                    </a:solidFill>
                    <a:latin typeface="楷体_GB2312" pitchFamily="49" charset="-122"/>
                  </a:rPr>
                  <a:t>符</a:t>
                </a:r>
              </a:p>
              <a:p>
                <a:pPr algn="ctr" eaLnBrk="1" hangingPunct="1"/>
                <a:r>
                  <a:rPr lang="zh-CN" altLang="en-US">
                    <a:solidFill>
                      <a:schemeClr val="accent2"/>
                    </a:solidFill>
                    <a:latin typeface="楷体_GB2312" pitchFamily="49" charset="-122"/>
                  </a:rPr>
                  <a:t>号</a:t>
                </a:r>
              </a:p>
              <a:p>
                <a:pPr algn="ctr" eaLnBrk="1" hangingPunct="1"/>
                <a:r>
                  <a:rPr lang="zh-CN" altLang="en-US">
                    <a:solidFill>
                      <a:schemeClr val="accent2"/>
                    </a:solidFill>
                    <a:latin typeface="楷体_GB2312" pitchFamily="49" charset="-122"/>
                  </a:rPr>
                  <a:t>表</a:t>
                </a:r>
              </a:p>
              <a:p>
                <a:pPr algn="ctr" eaLnBrk="1" hangingPunct="1"/>
                <a:r>
                  <a:rPr lang="zh-CN" altLang="en-US">
                    <a:solidFill>
                      <a:schemeClr val="accent2"/>
                    </a:solidFill>
                    <a:latin typeface="楷体_GB2312" pitchFamily="49" charset="-122"/>
                  </a:rPr>
                  <a:t>管</a:t>
                </a:r>
              </a:p>
              <a:p>
                <a:pPr algn="ctr" eaLnBrk="1" hangingPunct="1"/>
                <a:r>
                  <a:rPr lang="zh-CN" altLang="en-US">
                    <a:solidFill>
                      <a:schemeClr val="accent2"/>
                    </a:solidFill>
                    <a:latin typeface="楷体_GB2312" pitchFamily="49" charset="-122"/>
                  </a:rPr>
                  <a:t>理</a:t>
                </a:r>
              </a:p>
            </p:txBody>
          </p:sp>
          <p:sp>
            <p:nvSpPr>
              <p:cNvPr id="4114" name="AutoShape 32"/>
              <p:cNvSpPr>
                <a:spLocks noChangeArrowheads="1"/>
              </p:cNvSpPr>
              <p:nvPr/>
            </p:nvSpPr>
            <p:spPr bwMode="auto">
              <a:xfrm rot="-1080848">
                <a:off x="716" y="1336"/>
                <a:ext cx="667" cy="142"/>
              </a:xfrm>
              <a:prstGeom prst="rightArrow">
                <a:avLst>
                  <a:gd name="adj1" fmla="val 50000"/>
                  <a:gd name="adj2" fmla="val 117430"/>
                </a:avLst>
              </a:prstGeom>
              <a:solidFill>
                <a:srgbClr val="0000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en-US"/>
              </a:p>
            </p:txBody>
          </p:sp>
        </p:grpSp>
        <p:sp>
          <p:nvSpPr>
            <p:cNvPr id="4108" name="AutoShape 33"/>
            <p:cNvSpPr>
              <a:spLocks noChangeArrowheads="1"/>
            </p:cNvSpPr>
            <p:nvPr/>
          </p:nvSpPr>
          <p:spPr bwMode="auto">
            <a:xfrm rot="1080848" flipH="1">
              <a:off x="4366" y="1336"/>
              <a:ext cx="667" cy="142"/>
            </a:xfrm>
            <a:prstGeom prst="rightArrow">
              <a:avLst>
                <a:gd name="adj1" fmla="val 50000"/>
                <a:gd name="adj2" fmla="val 117430"/>
              </a:avLst>
            </a:prstGeom>
            <a:solidFill>
              <a:srgbClr val="0000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eaLnBrk="1" hangingPunct="1"/>
              <a:endParaRPr lang="zh-CN" altLang="en-US"/>
            </a:p>
          </p:txBody>
        </p:sp>
      </p:grpSp>
      <p:sp>
        <p:nvSpPr>
          <p:cNvPr id="2" name="灯片编号占位符 1"/>
          <p:cNvSpPr>
            <a:spLocks noGrp="1"/>
          </p:cNvSpPr>
          <p:nvPr>
            <p:ph type="sldNum" sz="quarter" idx="12"/>
          </p:nvPr>
        </p:nvSpPr>
        <p:spPr/>
        <p:txBody>
          <a:bodyPr/>
          <a:lstStyle/>
          <a:p>
            <a:fld id="{1B43473F-AE3F-4D1C-9C4F-7AD3C17AC1AD}" type="slidenum">
              <a:rPr lang="zh-CN" altLang="en-US" smtClean="0"/>
              <a:t>2</a:t>
            </a:fld>
            <a:endParaRPr lang="zh-CN" altLang="en-US"/>
          </a:p>
        </p:txBody>
      </p:sp>
    </p:spTree>
    <p:extLst>
      <p:ext uri="{BB962C8B-B14F-4D97-AF65-F5344CB8AC3E}">
        <p14:creationId xmlns:p14="http://schemas.microsoft.com/office/powerpoint/2010/main" val="647942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p:cNvSpPr>
            <a:spLocks noChangeArrowheads="1"/>
          </p:cNvSpPr>
          <p:nvPr/>
        </p:nvSpPr>
        <p:spPr bwMode="auto">
          <a:xfrm>
            <a:off x="239713" y="503238"/>
            <a:ext cx="5627687"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r>
              <a:rPr lang="zh-CN" altLang="en-US" sz="4000" dirty="0">
                <a:solidFill>
                  <a:srgbClr val="CC00CC"/>
                </a:solidFill>
                <a:latin typeface="楷体_GB2312" pitchFamily="49" charset="-122"/>
              </a:rPr>
              <a:t>第</a:t>
            </a:r>
            <a:r>
              <a:rPr lang="en-US" altLang="zh-CN" sz="4000" dirty="0">
                <a:solidFill>
                  <a:srgbClr val="CC00CC"/>
                </a:solidFill>
                <a:latin typeface="楷体_GB2312" pitchFamily="49" charset="-122"/>
              </a:rPr>
              <a:t>4-6</a:t>
            </a:r>
            <a:r>
              <a:rPr lang="zh-CN" altLang="en-US" sz="4000" dirty="0">
                <a:solidFill>
                  <a:srgbClr val="CC00CC"/>
                </a:solidFill>
                <a:latin typeface="楷体_GB2312" pitchFamily="49" charset="-122"/>
              </a:rPr>
              <a:t>章　语法分析</a:t>
            </a:r>
          </a:p>
        </p:txBody>
      </p:sp>
      <p:sp>
        <p:nvSpPr>
          <p:cNvPr id="6147" name="Line 1027"/>
          <p:cNvSpPr>
            <a:spLocks noChangeShapeType="1"/>
          </p:cNvSpPr>
          <p:nvPr/>
        </p:nvSpPr>
        <p:spPr bwMode="auto">
          <a:xfrm>
            <a:off x="0" y="1306513"/>
            <a:ext cx="9144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6148" name="Picture 102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45375" y="596900"/>
            <a:ext cx="811213"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7237" name="Rectangle 1029"/>
          <p:cNvSpPr>
            <a:spLocks noChangeArrowheads="1"/>
          </p:cNvSpPr>
          <p:nvPr/>
        </p:nvSpPr>
        <p:spPr bwMode="auto">
          <a:xfrm>
            <a:off x="685800" y="2057400"/>
            <a:ext cx="7848600" cy="4038600"/>
          </a:xfrm>
          <a:prstGeom prst="rect">
            <a:avLst/>
          </a:prstGeom>
          <a:solidFill>
            <a:srgbClr val="CCCCFF"/>
          </a:solidFill>
          <a:ln w="9525">
            <a:solidFill>
              <a:srgbClr val="0037E8"/>
            </a:solidFill>
            <a:miter lim="800000"/>
            <a:headEnd/>
            <a:tailEnd/>
          </a:ln>
          <a:effectLst>
            <a:outerShdw dist="107763" dir="18900000" algn="ctr" rotWithShape="0">
              <a:srgbClr val="808080"/>
            </a:outerShdw>
          </a:effectLst>
        </p:spPr>
        <p:txBody>
          <a:bodyPr/>
          <a:lstStyle>
            <a:lvl1pPr marL="457200" indent="-457200">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buFontTx/>
              <a:buAutoNum type="arabicPeriod"/>
            </a:pPr>
            <a:r>
              <a:rPr lang="zh-CN" altLang="en-US">
                <a:latin typeface="楷体_GB2312" pitchFamily="49" charset="-122"/>
              </a:rPr>
              <a:t>要求明确语法分析在编译过程所处的</a:t>
            </a:r>
            <a:r>
              <a:rPr lang="zh-CN" altLang="en-US">
                <a:solidFill>
                  <a:srgbClr val="FF0000"/>
                </a:solidFill>
                <a:latin typeface="楷体_GB2312" pitchFamily="49" charset="-122"/>
              </a:rPr>
              <a:t>阶段和作用</a:t>
            </a:r>
            <a:r>
              <a:rPr lang="zh-CN" altLang="en-US">
                <a:latin typeface="楷体_GB2312" pitchFamily="49" charset="-122"/>
              </a:rPr>
              <a:t>。</a:t>
            </a:r>
          </a:p>
          <a:p>
            <a:pPr>
              <a:buFontTx/>
              <a:buAutoNum type="arabicPeriod"/>
            </a:pPr>
            <a:r>
              <a:rPr lang="zh-CN" altLang="en-US">
                <a:latin typeface="楷体_GB2312" pitchFamily="49" charset="-122"/>
              </a:rPr>
              <a:t>明确语法分析的</a:t>
            </a:r>
            <a:r>
              <a:rPr lang="zh-CN" altLang="en-US">
                <a:solidFill>
                  <a:srgbClr val="FF0000"/>
                </a:solidFill>
                <a:latin typeface="楷体_GB2312" pitchFamily="49" charset="-122"/>
              </a:rPr>
              <a:t>基本分析方法</a:t>
            </a:r>
            <a:r>
              <a:rPr lang="zh-CN" altLang="en-US">
                <a:latin typeface="楷体_GB2312" pitchFamily="49" charset="-122"/>
              </a:rPr>
              <a:t>。</a:t>
            </a:r>
          </a:p>
          <a:p>
            <a:pPr>
              <a:buFontTx/>
              <a:buAutoNum type="arabicPeriod"/>
            </a:pPr>
            <a:r>
              <a:rPr lang="zh-CN" altLang="en-US">
                <a:latin typeface="楷体_GB2312" pitchFamily="49" charset="-122"/>
              </a:rPr>
              <a:t>掌握</a:t>
            </a:r>
            <a:r>
              <a:rPr lang="zh-CN" altLang="en-US">
                <a:solidFill>
                  <a:srgbClr val="FF0000"/>
                </a:solidFill>
                <a:latin typeface="楷体_GB2312" pitchFamily="49" charset="-122"/>
              </a:rPr>
              <a:t>句柄、最左素短语、活前缀和项目</a:t>
            </a:r>
            <a:r>
              <a:rPr lang="zh-CN" altLang="en-US">
                <a:latin typeface="楷体_GB2312" pitchFamily="49" charset="-122"/>
              </a:rPr>
              <a:t>等基本概念。</a:t>
            </a:r>
          </a:p>
          <a:p>
            <a:pPr>
              <a:buFontTx/>
              <a:buAutoNum type="arabicPeriod"/>
            </a:pPr>
            <a:r>
              <a:rPr lang="zh-CN" altLang="en-US">
                <a:latin typeface="楷体_GB2312" pitchFamily="49" charset="-122"/>
              </a:rPr>
              <a:t>掌握</a:t>
            </a:r>
            <a:r>
              <a:rPr lang="zh-CN" altLang="en-US">
                <a:solidFill>
                  <a:srgbClr val="FF0000"/>
                </a:solidFill>
                <a:latin typeface="楷体_GB2312" pitchFamily="49" charset="-122"/>
              </a:rPr>
              <a:t>消除文法左递归</a:t>
            </a:r>
            <a:r>
              <a:rPr lang="zh-CN" altLang="en-US">
                <a:latin typeface="楷体_GB2312" pitchFamily="49" charset="-122"/>
              </a:rPr>
              <a:t>的方法。</a:t>
            </a:r>
          </a:p>
          <a:p>
            <a:pPr>
              <a:buFontTx/>
              <a:buAutoNum type="arabicPeriod"/>
            </a:pPr>
            <a:r>
              <a:rPr lang="zh-CN" altLang="en-US">
                <a:latin typeface="楷体_GB2312" pitchFamily="49" charset="-122"/>
              </a:rPr>
              <a:t>掌握构造</a:t>
            </a:r>
            <a:r>
              <a:rPr lang="en-US" altLang="zh-CN">
                <a:solidFill>
                  <a:srgbClr val="FF0000"/>
                </a:solidFill>
                <a:latin typeface="楷体_GB2312" pitchFamily="49" charset="-122"/>
              </a:rPr>
              <a:t>LL(1)</a:t>
            </a:r>
            <a:r>
              <a:rPr lang="zh-CN" altLang="en-US">
                <a:solidFill>
                  <a:srgbClr val="FF0000"/>
                </a:solidFill>
                <a:latin typeface="楷体_GB2312" pitchFamily="49" charset="-122"/>
              </a:rPr>
              <a:t>分析表</a:t>
            </a:r>
            <a:r>
              <a:rPr lang="zh-CN" altLang="en-US">
                <a:latin typeface="楷体_GB2312" pitchFamily="49" charset="-122"/>
              </a:rPr>
              <a:t>的方法，会使用</a:t>
            </a:r>
            <a:r>
              <a:rPr lang="en-US" altLang="zh-CN">
                <a:solidFill>
                  <a:srgbClr val="FF0000"/>
                </a:solidFill>
                <a:latin typeface="楷体_GB2312" pitchFamily="49" charset="-122"/>
              </a:rPr>
              <a:t>LL(1)</a:t>
            </a:r>
            <a:r>
              <a:rPr lang="zh-CN" altLang="en-US">
                <a:solidFill>
                  <a:srgbClr val="FF0000"/>
                </a:solidFill>
                <a:latin typeface="楷体_GB2312" pitchFamily="49" charset="-122"/>
              </a:rPr>
              <a:t>分析法</a:t>
            </a:r>
            <a:r>
              <a:rPr lang="zh-CN" altLang="en-US">
                <a:latin typeface="楷体_GB2312" pitchFamily="49" charset="-122"/>
              </a:rPr>
              <a:t>分析句子。</a:t>
            </a:r>
          </a:p>
          <a:p>
            <a:pPr>
              <a:buFontTx/>
              <a:buAutoNum type="arabicPeriod"/>
            </a:pPr>
            <a:r>
              <a:rPr lang="zh-CN" altLang="en-US">
                <a:latin typeface="楷体_GB2312" pitchFamily="49" charset="-122"/>
              </a:rPr>
              <a:t>掌握构造</a:t>
            </a:r>
            <a:r>
              <a:rPr lang="zh-CN" altLang="en-US">
                <a:solidFill>
                  <a:srgbClr val="FF0000"/>
                </a:solidFill>
                <a:latin typeface="楷体_GB2312" pitchFamily="49" charset="-122"/>
              </a:rPr>
              <a:t>优先关系表</a:t>
            </a:r>
            <a:r>
              <a:rPr lang="zh-CN" altLang="en-US">
                <a:latin typeface="楷体_GB2312" pitchFamily="49" charset="-122"/>
              </a:rPr>
              <a:t>的方法，会使用</a:t>
            </a:r>
            <a:r>
              <a:rPr lang="zh-CN" altLang="en-US">
                <a:solidFill>
                  <a:srgbClr val="FF0000"/>
                </a:solidFill>
                <a:latin typeface="楷体_GB2312" pitchFamily="49" charset="-122"/>
              </a:rPr>
              <a:t>算符优先分析法</a:t>
            </a:r>
            <a:r>
              <a:rPr lang="zh-CN" altLang="en-US">
                <a:latin typeface="楷体_GB2312" pitchFamily="49" charset="-122"/>
              </a:rPr>
              <a:t>分析句子。</a:t>
            </a:r>
          </a:p>
          <a:p>
            <a:pPr>
              <a:buFontTx/>
              <a:buAutoNum type="arabicPeriod"/>
            </a:pPr>
            <a:r>
              <a:rPr lang="zh-CN" altLang="en-US">
                <a:latin typeface="楷体_GB2312" pitchFamily="49" charset="-122"/>
              </a:rPr>
              <a:t>掌握构造</a:t>
            </a:r>
            <a:r>
              <a:rPr lang="en-US" altLang="zh-CN">
                <a:solidFill>
                  <a:srgbClr val="FF0000"/>
                </a:solidFill>
                <a:latin typeface="楷体_GB2312" pitchFamily="49" charset="-122"/>
              </a:rPr>
              <a:t>LR(0)</a:t>
            </a:r>
            <a:r>
              <a:rPr lang="zh-CN" altLang="en-US">
                <a:solidFill>
                  <a:srgbClr val="FF0000"/>
                </a:solidFill>
                <a:latin typeface="楷体_GB2312" pitchFamily="49" charset="-122"/>
              </a:rPr>
              <a:t>、</a:t>
            </a:r>
            <a:r>
              <a:rPr lang="en-US" altLang="zh-CN">
                <a:solidFill>
                  <a:srgbClr val="FF0000"/>
                </a:solidFill>
                <a:latin typeface="楷体_GB2312" pitchFamily="49" charset="-122"/>
              </a:rPr>
              <a:t>SLR(1)</a:t>
            </a:r>
            <a:r>
              <a:rPr lang="zh-CN" altLang="en-US">
                <a:solidFill>
                  <a:srgbClr val="FF0000"/>
                </a:solidFill>
                <a:latin typeface="楷体_GB2312" pitchFamily="49" charset="-122"/>
              </a:rPr>
              <a:t>分析表</a:t>
            </a:r>
            <a:r>
              <a:rPr lang="zh-CN" altLang="en-US">
                <a:latin typeface="楷体_GB2312" pitchFamily="49" charset="-122"/>
              </a:rPr>
              <a:t>的方法，会使用</a:t>
            </a:r>
            <a:r>
              <a:rPr lang="en-US" altLang="zh-CN">
                <a:solidFill>
                  <a:srgbClr val="FF0000"/>
                </a:solidFill>
                <a:latin typeface="楷体_GB2312" pitchFamily="49" charset="-122"/>
              </a:rPr>
              <a:t>LR</a:t>
            </a:r>
            <a:r>
              <a:rPr lang="zh-CN" altLang="en-US">
                <a:solidFill>
                  <a:srgbClr val="FF0000"/>
                </a:solidFill>
                <a:latin typeface="楷体_GB2312" pitchFamily="49" charset="-122"/>
              </a:rPr>
              <a:t>分析法</a:t>
            </a:r>
            <a:r>
              <a:rPr lang="zh-CN" altLang="en-US">
                <a:latin typeface="楷体_GB2312" pitchFamily="49" charset="-122"/>
              </a:rPr>
              <a:t>分析句子。</a:t>
            </a:r>
          </a:p>
        </p:txBody>
      </p:sp>
      <p:sp>
        <p:nvSpPr>
          <p:cNvPr id="6150" name="Rectangle 1030"/>
          <p:cNvSpPr>
            <a:spLocks noChangeArrowheads="1"/>
          </p:cNvSpPr>
          <p:nvPr/>
        </p:nvSpPr>
        <p:spPr bwMode="auto">
          <a:xfrm>
            <a:off x="1066800" y="1371600"/>
            <a:ext cx="647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a:r>
              <a:rPr lang="zh-CN" altLang="en-US" sz="4800">
                <a:solidFill>
                  <a:schemeClr val="accent1"/>
                </a:solidFill>
                <a:latin typeface="楷体_GB2312" pitchFamily="49" charset="-122"/>
              </a:rPr>
              <a:t>教学目标</a:t>
            </a:r>
            <a:endParaRPr lang="zh-CN" altLang="en-US" sz="4400">
              <a:solidFill>
                <a:schemeClr val="accent1"/>
              </a:solidFill>
              <a:latin typeface="楷体_GB2312" pitchFamily="49" charset="-122"/>
            </a:endParaRPr>
          </a:p>
        </p:txBody>
      </p:sp>
      <p:sp>
        <p:nvSpPr>
          <p:cNvPr id="2" name="灯片编号占位符 1"/>
          <p:cNvSpPr>
            <a:spLocks noGrp="1"/>
          </p:cNvSpPr>
          <p:nvPr>
            <p:ph type="sldNum" sz="quarter" idx="12"/>
          </p:nvPr>
        </p:nvSpPr>
        <p:spPr/>
        <p:txBody>
          <a:bodyPr/>
          <a:lstStyle/>
          <a:p>
            <a:fld id="{1B43473F-AE3F-4D1C-9C4F-7AD3C17AC1AD}" type="slidenum">
              <a:rPr lang="zh-CN" altLang="en-US" smtClean="0"/>
              <a:t>3</a:t>
            </a:fld>
            <a:endParaRPr lang="zh-CN" altLang="en-US"/>
          </a:p>
        </p:txBody>
      </p:sp>
    </p:spTree>
    <p:extLst>
      <p:ext uri="{BB962C8B-B14F-4D97-AF65-F5344CB8AC3E}">
        <p14:creationId xmlns:p14="http://schemas.microsoft.com/office/powerpoint/2010/main" val="8591433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7237">
                                            <p:bg/>
                                          </p:spTgt>
                                        </p:tgtEl>
                                        <p:attrNameLst>
                                          <p:attrName>style.visibility</p:attrName>
                                        </p:attrNameLst>
                                      </p:cBhvr>
                                      <p:to>
                                        <p:strVal val="visible"/>
                                      </p:to>
                                    </p:set>
                                    <p:animEffect transition="in" filter="blinds(horizontal)">
                                      <p:cBhvr>
                                        <p:cTn id="7" dur="500"/>
                                        <p:tgtEl>
                                          <p:spTgt spid="607237">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7237">
                                            <p:txEl>
                                              <p:pRg st="0" end="0"/>
                                            </p:txEl>
                                          </p:spTgt>
                                        </p:tgtEl>
                                        <p:attrNameLst>
                                          <p:attrName>style.visibility</p:attrName>
                                        </p:attrNameLst>
                                      </p:cBhvr>
                                      <p:to>
                                        <p:strVal val="visible"/>
                                      </p:to>
                                    </p:set>
                                    <p:animEffect transition="in" filter="blinds(horizontal)">
                                      <p:cBhvr>
                                        <p:cTn id="12" dur="500"/>
                                        <p:tgtEl>
                                          <p:spTgt spid="60723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7237">
                                            <p:txEl>
                                              <p:pRg st="1" end="1"/>
                                            </p:txEl>
                                          </p:spTgt>
                                        </p:tgtEl>
                                        <p:attrNameLst>
                                          <p:attrName>style.visibility</p:attrName>
                                        </p:attrNameLst>
                                      </p:cBhvr>
                                      <p:to>
                                        <p:strVal val="visible"/>
                                      </p:to>
                                    </p:set>
                                    <p:animEffect transition="in" filter="blinds(horizontal)">
                                      <p:cBhvr>
                                        <p:cTn id="17" dur="500"/>
                                        <p:tgtEl>
                                          <p:spTgt spid="60723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07237">
                                            <p:txEl>
                                              <p:pRg st="2" end="2"/>
                                            </p:txEl>
                                          </p:spTgt>
                                        </p:tgtEl>
                                        <p:attrNameLst>
                                          <p:attrName>style.visibility</p:attrName>
                                        </p:attrNameLst>
                                      </p:cBhvr>
                                      <p:to>
                                        <p:strVal val="visible"/>
                                      </p:to>
                                    </p:set>
                                    <p:animEffect transition="in" filter="blinds(horizontal)">
                                      <p:cBhvr>
                                        <p:cTn id="22" dur="500"/>
                                        <p:tgtEl>
                                          <p:spTgt spid="60723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07237">
                                            <p:txEl>
                                              <p:pRg st="3" end="3"/>
                                            </p:txEl>
                                          </p:spTgt>
                                        </p:tgtEl>
                                        <p:attrNameLst>
                                          <p:attrName>style.visibility</p:attrName>
                                        </p:attrNameLst>
                                      </p:cBhvr>
                                      <p:to>
                                        <p:strVal val="visible"/>
                                      </p:to>
                                    </p:set>
                                    <p:animEffect transition="in" filter="blinds(horizontal)">
                                      <p:cBhvr>
                                        <p:cTn id="27" dur="500"/>
                                        <p:tgtEl>
                                          <p:spTgt spid="607237">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07237">
                                            <p:txEl>
                                              <p:pRg st="4" end="4"/>
                                            </p:txEl>
                                          </p:spTgt>
                                        </p:tgtEl>
                                        <p:attrNameLst>
                                          <p:attrName>style.visibility</p:attrName>
                                        </p:attrNameLst>
                                      </p:cBhvr>
                                      <p:to>
                                        <p:strVal val="visible"/>
                                      </p:to>
                                    </p:set>
                                    <p:animEffect transition="in" filter="blinds(horizontal)">
                                      <p:cBhvr>
                                        <p:cTn id="32" dur="500"/>
                                        <p:tgtEl>
                                          <p:spTgt spid="607237">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07237">
                                            <p:txEl>
                                              <p:pRg st="5" end="5"/>
                                            </p:txEl>
                                          </p:spTgt>
                                        </p:tgtEl>
                                        <p:attrNameLst>
                                          <p:attrName>style.visibility</p:attrName>
                                        </p:attrNameLst>
                                      </p:cBhvr>
                                      <p:to>
                                        <p:strVal val="visible"/>
                                      </p:to>
                                    </p:set>
                                    <p:animEffect transition="in" filter="blinds(horizontal)">
                                      <p:cBhvr>
                                        <p:cTn id="37" dur="500"/>
                                        <p:tgtEl>
                                          <p:spTgt spid="607237">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07237">
                                            <p:txEl>
                                              <p:pRg st="6" end="6"/>
                                            </p:txEl>
                                          </p:spTgt>
                                        </p:tgtEl>
                                        <p:attrNameLst>
                                          <p:attrName>style.visibility</p:attrName>
                                        </p:attrNameLst>
                                      </p:cBhvr>
                                      <p:to>
                                        <p:strVal val="visible"/>
                                      </p:to>
                                    </p:set>
                                    <p:animEffect transition="in" filter="blinds(horizontal)">
                                      <p:cBhvr>
                                        <p:cTn id="42" dur="500"/>
                                        <p:tgtEl>
                                          <p:spTgt spid="60723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7237" grpId="0" build="p"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5" y="88700"/>
            <a:ext cx="8218486" cy="711200"/>
          </a:xfrm>
        </p:spPr>
        <p:txBody>
          <a:bodyPr/>
          <a:lstStyle/>
          <a:p>
            <a:r>
              <a:rPr lang="zh-CN" altLang="en-US" b="1" dirty="0"/>
              <a:t>讲授主题：语法分析</a:t>
            </a:r>
          </a:p>
        </p:txBody>
      </p:sp>
      <p:sp>
        <p:nvSpPr>
          <p:cNvPr id="3" name="内容占位符 2"/>
          <p:cNvSpPr>
            <a:spLocks noGrp="1"/>
          </p:cNvSpPr>
          <p:nvPr>
            <p:ph idx="1"/>
          </p:nvPr>
        </p:nvSpPr>
        <p:spPr>
          <a:xfrm>
            <a:off x="283635" y="1243224"/>
            <a:ext cx="8424221" cy="5113338"/>
          </a:xfrm>
        </p:spPr>
        <p:txBody>
          <a:bodyPr/>
          <a:lstStyle/>
          <a:p>
            <a:r>
              <a:rPr lang="zh-CN" altLang="en-US" dirty="0">
                <a:latin typeface="+mj-ea"/>
                <a:ea typeface="+mj-ea"/>
              </a:rPr>
              <a:t>语法分析是编译过程的一个</a:t>
            </a:r>
            <a:r>
              <a:rPr lang="zh-CN" altLang="en-US" dirty="0">
                <a:solidFill>
                  <a:srgbClr val="FF0000"/>
                </a:solidFill>
                <a:latin typeface="+mj-ea"/>
                <a:ea typeface="+mj-ea"/>
              </a:rPr>
              <a:t>逻辑阶段</a:t>
            </a:r>
            <a:r>
              <a:rPr lang="zh-CN" altLang="en-US" dirty="0">
                <a:latin typeface="+mj-ea"/>
                <a:ea typeface="+mj-ea"/>
              </a:rPr>
              <a:t>。语法分析的任务是在</a:t>
            </a:r>
            <a:r>
              <a:rPr lang="zh-CN" altLang="en-US" dirty="0">
                <a:solidFill>
                  <a:srgbClr val="FF0000"/>
                </a:solidFill>
                <a:latin typeface="+mj-ea"/>
                <a:ea typeface="+mj-ea"/>
              </a:rPr>
              <a:t>词法分析</a:t>
            </a:r>
            <a:r>
              <a:rPr lang="zh-CN" altLang="en-US" dirty="0">
                <a:latin typeface="+mj-ea"/>
                <a:ea typeface="+mj-ea"/>
              </a:rPr>
              <a:t>的基础上将</a:t>
            </a:r>
            <a:r>
              <a:rPr lang="zh-CN" altLang="en-US" dirty="0">
                <a:solidFill>
                  <a:srgbClr val="FF0000"/>
                </a:solidFill>
                <a:latin typeface="+mj-ea"/>
                <a:ea typeface="+mj-ea"/>
              </a:rPr>
              <a:t>单词</a:t>
            </a:r>
            <a:r>
              <a:rPr lang="zh-CN" altLang="en-US" dirty="0">
                <a:latin typeface="+mj-ea"/>
                <a:ea typeface="+mj-ea"/>
              </a:rPr>
              <a:t>序列</a:t>
            </a:r>
            <a:r>
              <a:rPr lang="zh-CN" altLang="en-US" dirty="0">
                <a:solidFill>
                  <a:srgbClr val="FF0000"/>
                </a:solidFill>
                <a:latin typeface="+mj-ea"/>
                <a:ea typeface="+mj-ea"/>
              </a:rPr>
              <a:t>组合成各类语法短语</a:t>
            </a:r>
            <a:r>
              <a:rPr lang="zh-CN" altLang="en-US" dirty="0">
                <a:latin typeface="+mj-ea"/>
                <a:ea typeface="+mj-ea"/>
              </a:rPr>
              <a:t>，如“程序”，“语句”，“表达式”等等。</a:t>
            </a:r>
            <a:endParaRPr lang="en-US" altLang="zh-CN" dirty="0">
              <a:latin typeface="+mj-ea"/>
              <a:ea typeface="+mj-ea"/>
            </a:endParaRPr>
          </a:p>
          <a:p>
            <a:r>
              <a:rPr lang="zh-CN" altLang="en-US" dirty="0">
                <a:solidFill>
                  <a:srgbClr val="FF0000"/>
                </a:solidFill>
                <a:latin typeface="+mj-ea"/>
                <a:ea typeface="+mj-ea"/>
              </a:rPr>
              <a:t>判断源程序在结构</a:t>
            </a:r>
            <a:r>
              <a:rPr lang="zh-CN" altLang="en-US" dirty="0">
                <a:latin typeface="+mj-ea"/>
                <a:ea typeface="+mj-ea"/>
              </a:rPr>
              <a:t>上是否正确。</a:t>
            </a:r>
            <a:endParaRPr lang="en-US" altLang="zh-CN" dirty="0">
              <a:latin typeface="+mj-ea"/>
              <a:ea typeface="+mj-ea"/>
            </a:endParaRPr>
          </a:p>
          <a:p>
            <a:r>
              <a:rPr lang="zh-CN" altLang="en-US" dirty="0">
                <a:latin typeface="+mj-ea"/>
                <a:ea typeface="+mj-ea"/>
              </a:rPr>
              <a:t>语法分析常用方法：</a:t>
            </a:r>
            <a:r>
              <a:rPr lang="zh-CN" altLang="en-US" dirty="0">
                <a:solidFill>
                  <a:srgbClr val="FF0000"/>
                </a:solidFill>
                <a:latin typeface="+mj-ea"/>
                <a:ea typeface="+mj-ea"/>
              </a:rPr>
              <a:t>自顶向下和自底向上</a:t>
            </a:r>
            <a:r>
              <a:rPr lang="zh-CN" altLang="en-US" dirty="0">
                <a:latin typeface="+mj-ea"/>
                <a:ea typeface="+mj-ea"/>
              </a:rPr>
              <a:t>两大类。</a:t>
            </a:r>
            <a:endParaRPr lang="en-US" altLang="zh-CN" dirty="0">
              <a:latin typeface="+mj-ea"/>
              <a:ea typeface="+mj-ea"/>
            </a:endParaRPr>
          </a:p>
          <a:p>
            <a:r>
              <a:rPr lang="zh-CN" altLang="en-US" dirty="0">
                <a:latin typeface="+mj-ea"/>
                <a:ea typeface="+mj-ea"/>
              </a:rPr>
              <a:t>目前比较流行</a:t>
            </a:r>
            <a:r>
              <a:rPr lang="en-US" altLang="zh-CN" dirty="0">
                <a:solidFill>
                  <a:srgbClr val="FF0000"/>
                </a:solidFill>
                <a:latin typeface="+mj-ea"/>
                <a:ea typeface="+mj-ea"/>
              </a:rPr>
              <a:t>LL</a:t>
            </a:r>
            <a:r>
              <a:rPr lang="zh-CN" altLang="en-US" dirty="0">
                <a:latin typeface="+mj-ea"/>
                <a:ea typeface="+mj-ea"/>
              </a:rPr>
              <a:t>分析法和</a:t>
            </a:r>
            <a:r>
              <a:rPr lang="en-US" altLang="zh-CN" dirty="0">
                <a:solidFill>
                  <a:srgbClr val="FF0000"/>
                </a:solidFill>
                <a:latin typeface="+mj-ea"/>
                <a:ea typeface="+mj-ea"/>
              </a:rPr>
              <a:t>LR</a:t>
            </a:r>
            <a:r>
              <a:rPr lang="zh-CN" altLang="en-US" dirty="0">
                <a:latin typeface="+mj-ea"/>
                <a:ea typeface="+mj-ea"/>
              </a:rPr>
              <a:t>分析法。</a:t>
            </a:r>
          </a:p>
        </p:txBody>
      </p:sp>
      <p:sp>
        <p:nvSpPr>
          <p:cNvPr id="4" name="灯片编号占位符 3"/>
          <p:cNvSpPr>
            <a:spLocks noGrp="1"/>
          </p:cNvSpPr>
          <p:nvPr>
            <p:ph type="sldNum" sz="quarter" idx="12"/>
          </p:nvPr>
        </p:nvSpPr>
        <p:spPr/>
        <p:txBody>
          <a:bodyPr/>
          <a:lstStyle/>
          <a:p>
            <a:fld id="{1B43473F-AE3F-4D1C-9C4F-7AD3C17AC1AD}" type="slidenum">
              <a:rPr lang="zh-CN" altLang="en-US" smtClean="0"/>
              <a:t>4</a:t>
            </a:fld>
            <a:endParaRPr lang="zh-CN" altLang="en-US"/>
          </a:p>
        </p:txBody>
      </p:sp>
    </p:spTree>
    <p:extLst>
      <p:ext uri="{BB962C8B-B14F-4D97-AF65-F5344CB8AC3E}">
        <p14:creationId xmlns:p14="http://schemas.microsoft.com/office/powerpoint/2010/main" val="3769220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讲授主题：语法分析</a:t>
            </a:r>
          </a:p>
        </p:txBody>
      </p:sp>
      <p:sp>
        <p:nvSpPr>
          <p:cNvPr id="3" name="内容占位符 2"/>
          <p:cNvSpPr>
            <a:spLocks noGrp="1"/>
          </p:cNvSpPr>
          <p:nvPr>
            <p:ph idx="1"/>
          </p:nvPr>
        </p:nvSpPr>
        <p:spPr/>
        <p:txBody>
          <a:bodyPr/>
          <a:lstStyle/>
          <a:p>
            <a:r>
              <a:rPr lang="zh-CN" altLang="en-US" dirty="0">
                <a:solidFill>
                  <a:srgbClr val="FF0000"/>
                </a:solidFill>
                <a:latin typeface="+mj-ea"/>
                <a:ea typeface="+mj-ea"/>
              </a:rPr>
              <a:t>核心思想： </a:t>
            </a:r>
            <a:endParaRPr lang="en-US" altLang="zh-CN" dirty="0">
              <a:solidFill>
                <a:srgbClr val="FF0000"/>
              </a:solidFill>
              <a:latin typeface="+mj-ea"/>
              <a:ea typeface="+mj-ea"/>
            </a:endParaRPr>
          </a:p>
          <a:p>
            <a:r>
              <a:rPr lang="zh-CN" altLang="en-US" dirty="0">
                <a:latin typeface="+mj-ea"/>
                <a:ea typeface="+mj-ea"/>
              </a:rPr>
              <a:t>核心问题：识别（</a:t>
            </a:r>
            <a:r>
              <a:rPr lang="en-US" altLang="zh-CN" dirty="0">
                <a:latin typeface="+mj-ea"/>
                <a:ea typeface="+mj-ea"/>
              </a:rPr>
              <a:t>recognition</a:t>
            </a:r>
            <a:r>
              <a:rPr lang="zh-CN" altLang="en-US" dirty="0">
                <a:latin typeface="+mj-ea"/>
                <a:ea typeface="+mj-ea"/>
              </a:rPr>
              <a:t>）与解析（</a:t>
            </a:r>
            <a:r>
              <a:rPr lang="en-US" altLang="zh-CN" dirty="0">
                <a:latin typeface="+mj-ea"/>
                <a:ea typeface="+mj-ea"/>
              </a:rPr>
              <a:t>parsing</a:t>
            </a:r>
            <a:r>
              <a:rPr lang="zh-CN" altLang="en-US" dirty="0">
                <a:latin typeface="+mj-ea"/>
                <a:ea typeface="+mj-ea"/>
              </a:rPr>
              <a:t>）</a:t>
            </a:r>
          </a:p>
          <a:p>
            <a:pPr marL="357188" lvl="1" indent="0">
              <a:buNone/>
            </a:pPr>
            <a:r>
              <a:rPr lang="zh-CN" altLang="en-US" dirty="0">
                <a:latin typeface="+mj-ea"/>
                <a:ea typeface="+mj-ea"/>
              </a:rPr>
              <a:t>   对任意</a:t>
            </a:r>
            <a:r>
              <a:rPr lang="zh-CN" altLang="en-US" dirty="0">
                <a:solidFill>
                  <a:srgbClr val="FF0000"/>
                </a:solidFill>
                <a:latin typeface="+mj-ea"/>
                <a:ea typeface="+mj-ea"/>
              </a:rPr>
              <a:t>上下文无关文法</a:t>
            </a:r>
            <a:r>
              <a:rPr lang="en-US" altLang="zh-CN" dirty="0">
                <a:latin typeface="+mj-ea"/>
                <a:ea typeface="+mj-ea"/>
              </a:rPr>
              <a:t>G = (V</a:t>
            </a:r>
            <a:r>
              <a:rPr lang="en-US" altLang="zh-CN" baseline="-25000" dirty="0">
                <a:latin typeface="+mj-ea"/>
                <a:ea typeface="+mj-ea"/>
              </a:rPr>
              <a:t>N</a:t>
            </a:r>
            <a:r>
              <a:rPr lang="en-US" altLang="zh-CN" dirty="0">
                <a:latin typeface="+mj-ea"/>
                <a:ea typeface="+mj-ea"/>
              </a:rPr>
              <a:t> </a:t>
            </a:r>
            <a:r>
              <a:rPr lang="zh-CN" altLang="en-US" dirty="0">
                <a:latin typeface="+mj-ea"/>
                <a:ea typeface="+mj-ea"/>
              </a:rPr>
              <a:t>，</a:t>
            </a:r>
            <a:r>
              <a:rPr lang="en-US" altLang="zh-CN" dirty="0">
                <a:latin typeface="+mj-ea"/>
                <a:ea typeface="+mj-ea"/>
              </a:rPr>
              <a:t>V</a:t>
            </a:r>
            <a:r>
              <a:rPr lang="en-US" altLang="zh-CN" baseline="-25000" dirty="0">
                <a:latin typeface="+mj-ea"/>
                <a:ea typeface="+mj-ea"/>
              </a:rPr>
              <a:t>T</a:t>
            </a:r>
            <a:r>
              <a:rPr lang="en-US" altLang="zh-CN" dirty="0">
                <a:latin typeface="+mj-ea"/>
                <a:ea typeface="+mj-ea"/>
              </a:rPr>
              <a:t> </a:t>
            </a:r>
            <a:r>
              <a:rPr lang="zh-CN" altLang="en-US" dirty="0">
                <a:latin typeface="+mj-ea"/>
                <a:ea typeface="+mj-ea"/>
              </a:rPr>
              <a:t>，</a:t>
            </a:r>
            <a:r>
              <a:rPr lang="en-US" altLang="zh-CN" dirty="0">
                <a:latin typeface="+mj-ea"/>
                <a:ea typeface="+mj-ea"/>
              </a:rPr>
              <a:t>P</a:t>
            </a:r>
            <a:r>
              <a:rPr lang="zh-CN" altLang="en-US" dirty="0">
                <a:latin typeface="+mj-ea"/>
                <a:ea typeface="+mj-ea"/>
              </a:rPr>
              <a:t>，</a:t>
            </a:r>
            <a:r>
              <a:rPr lang="en-US" altLang="zh-CN" dirty="0">
                <a:latin typeface="+mj-ea"/>
                <a:ea typeface="+mj-ea"/>
              </a:rPr>
              <a:t>S )</a:t>
            </a:r>
            <a:r>
              <a:rPr lang="zh-CN" altLang="en-US" dirty="0">
                <a:latin typeface="+mj-ea"/>
                <a:ea typeface="+mj-ea"/>
              </a:rPr>
              <a:t>和任意</a:t>
            </a:r>
            <a:r>
              <a:rPr lang="en-US" altLang="zh-CN" dirty="0">
                <a:latin typeface="+mj-ea"/>
                <a:ea typeface="+mj-ea"/>
              </a:rPr>
              <a:t>w</a:t>
            </a:r>
            <a:r>
              <a:rPr lang="zh-CN" altLang="en-US" dirty="0">
                <a:latin typeface="+mj-ea"/>
                <a:ea typeface="+mj-ea"/>
              </a:rPr>
              <a:t>∈</a:t>
            </a:r>
            <a:r>
              <a:rPr lang="en-US" altLang="zh-CN" dirty="0">
                <a:latin typeface="+mj-ea"/>
                <a:ea typeface="+mj-ea"/>
              </a:rPr>
              <a:t>V</a:t>
            </a:r>
            <a:r>
              <a:rPr lang="en-US" altLang="zh-CN" baseline="-25000" dirty="0">
                <a:latin typeface="+mj-ea"/>
                <a:ea typeface="+mj-ea"/>
              </a:rPr>
              <a:t>T</a:t>
            </a:r>
            <a:r>
              <a:rPr lang="en-US" altLang="zh-CN" dirty="0">
                <a:latin typeface="+mj-ea"/>
                <a:ea typeface="+mj-ea"/>
              </a:rPr>
              <a:t> *</a:t>
            </a:r>
            <a:r>
              <a:rPr lang="zh-CN" altLang="en-US" dirty="0">
                <a:latin typeface="+mj-ea"/>
                <a:ea typeface="+mj-ea"/>
              </a:rPr>
              <a:t>，是否有</a:t>
            </a:r>
            <a:r>
              <a:rPr lang="en-US" altLang="zh-CN" dirty="0">
                <a:solidFill>
                  <a:srgbClr val="FF0000"/>
                </a:solidFill>
                <a:latin typeface="+mj-ea"/>
                <a:ea typeface="+mj-ea"/>
              </a:rPr>
              <a:t>w</a:t>
            </a:r>
            <a:r>
              <a:rPr lang="zh-CN" altLang="en-US" dirty="0">
                <a:solidFill>
                  <a:srgbClr val="FF0000"/>
                </a:solidFill>
                <a:latin typeface="+mj-ea"/>
                <a:ea typeface="+mj-ea"/>
              </a:rPr>
              <a:t>∈</a:t>
            </a:r>
            <a:r>
              <a:rPr lang="en-US" altLang="zh-CN" dirty="0">
                <a:solidFill>
                  <a:srgbClr val="FF0000"/>
                </a:solidFill>
                <a:latin typeface="+mj-ea"/>
                <a:ea typeface="+mj-ea"/>
              </a:rPr>
              <a:t>L(G)</a:t>
            </a:r>
            <a:r>
              <a:rPr lang="zh-CN" altLang="en-US" dirty="0">
                <a:latin typeface="+mj-ea"/>
                <a:ea typeface="+mj-ea"/>
              </a:rPr>
              <a:t>？ 若成立，则给出分析树或推导步骤；否则，进行报错处理。</a:t>
            </a:r>
            <a:endParaRPr lang="en-US" altLang="zh-CN" dirty="0">
              <a:latin typeface="+mj-ea"/>
              <a:ea typeface="+mj-ea"/>
            </a:endParaRPr>
          </a:p>
          <a:p>
            <a:r>
              <a:rPr lang="zh-CN" altLang="en-US" dirty="0">
                <a:latin typeface="+mj-ea"/>
                <a:ea typeface="+mj-ea"/>
              </a:rPr>
              <a:t> 两种实现途径    </a:t>
            </a:r>
          </a:p>
          <a:p>
            <a:pPr lvl="1"/>
            <a:r>
              <a:rPr lang="zh-CN" altLang="en-US" dirty="0">
                <a:latin typeface="+mj-ea"/>
                <a:ea typeface="+mj-ea"/>
              </a:rPr>
              <a:t>    自顶向下（</a:t>
            </a:r>
            <a:r>
              <a:rPr lang="en-US" altLang="zh-CN" dirty="0">
                <a:latin typeface="+mj-ea"/>
                <a:ea typeface="+mj-ea"/>
              </a:rPr>
              <a:t>top-down</a:t>
            </a:r>
            <a:r>
              <a:rPr lang="zh-CN" altLang="en-US" dirty="0">
                <a:latin typeface="+mj-ea"/>
                <a:ea typeface="+mj-ea"/>
              </a:rPr>
              <a:t>）分析 </a:t>
            </a:r>
            <a:r>
              <a:rPr lang="en-US" altLang="zh-CN" dirty="0">
                <a:latin typeface="+mj-ea"/>
                <a:ea typeface="+mj-ea"/>
              </a:rPr>
              <a:t>LL</a:t>
            </a:r>
            <a:endParaRPr lang="zh-CN" altLang="en-US" dirty="0">
              <a:latin typeface="+mj-ea"/>
              <a:ea typeface="+mj-ea"/>
            </a:endParaRPr>
          </a:p>
          <a:p>
            <a:pPr lvl="1"/>
            <a:r>
              <a:rPr lang="zh-CN" altLang="en-US" dirty="0">
                <a:latin typeface="+mj-ea"/>
                <a:ea typeface="+mj-ea"/>
              </a:rPr>
              <a:t>    自底向上（</a:t>
            </a:r>
            <a:r>
              <a:rPr lang="en-US" altLang="zh-CN" dirty="0">
                <a:latin typeface="+mj-ea"/>
                <a:ea typeface="+mj-ea"/>
              </a:rPr>
              <a:t>bottom-up</a:t>
            </a:r>
            <a:r>
              <a:rPr lang="zh-CN" altLang="en-US" dirty="0">
                <a:latin typeface="+mj-ea"/>
                <a:ea typeface="+mj-ea"/>
              </a:rPr>
              <a:t>）分析  </a:t>
            </a:r>
            <a:r>
              <a:rPr lang="en-US" altLang="zh-CN" dirty="0">
                <a:latin typeface="+mj-ea"/>
                <a:ea typeface="+mj-ea"/>
              </a:rPr>
              <a:t>LR</a:t>
            </a:r>
            <a:endParaRPr lang="zh-CN" altLang="en-US" dirty="0">
              <a:latin typeface="+mj-ea"/>
              <a:ea typeface="+mj-ea"/>
            </a:endParaRPr>
          </a:p>
        </p:txBody>
      </p:sp>
      <p:sp>
        <p:nvSpPr>
          <p:cNvPr id="4" name="灯片编号占位符 3"/>
          <p:cNvSpPr>
            <a:spLocks noGrp="1"/>
          </p:cNvSpPr>
          <p:nvPr>
            <p:ph type="sldNum" sz="quarter" idx="12"/>
          </p:nvPr>
        </p:nvSpPr>
        <p:spPr/>
        <p:txBody>
          <a:bodyPr/>
          <a:lstStyle/>
          <a:p>
            <a:fld id="{1B43473F-AE3F-4D1C-9C4F-7AD3C17AC1AD}" type="slidenum">
              <a:rPr lang="zh-CN" altLang="en-US" smtClean="0"/>
              <a:t>5</a:t>
            </a:fld>
            <a:endParaRPr lang="zh-CN" altLang="en-US"/>
          </a:p>
        </p:txBody>
      </p:sp>
    </p:spTree>
    <p:extLst>
      <p:ext uri="{BB962C8B-B14F-4D97-AF65-F5344CB8AC3E}">
        <p14:creationId xmlns:p14="http://schemas.microsoft.com/office/powerpoint/2010/main" val="497118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讲授主题：语法分析</a:t>
            </a:r>
          </a:p>
        </p:txBody>
      </p:sp>
      <p:sp>
        <p:nvSpPr>
          <p:cNvPr id="3" name="内容占位符 2"/>
          <p:cNvSpPr>
            <a:spLocks noGrp="1"/>
          </p:cNvSpPr>
          <p:nvPr>
            <p:ph idx="1"/>
          </p:nvPr>
        </p:nvSpPr>
        <p:spPr>
          <a:xfrm>
            <a:off x="468313" y="1072418"/>
            <a:ext cx="8218487" cy="5113338"/>
          </a:xfrm>
        </p:spPr>
        <p:txBody>
          <a:bodyPr/>
          <a:lstStyle/>
          <a:p>
            <a:r>
              <a:rPr lang="zh-CN" altLang="en-US" sz="2800" dirty="0">
                <a:latin typeface="+mj-ea"/>
                <a:ea typeface="+mj-ea"/>
              </a:rPr>
              <a:t>自顶向下分析方法</a:t>
            </a:r>
            <a:endParaRPr lang="en-US" altLang="zh-CN" sz="2800" dirty="0">
              <a:latin typeface="+mj-ea"/>
              <a:ea typeface="+mj-ea"/>
            </a:endParaRPr>
          </a:p>
          <a:p>
            <a:pPr lvl="1"/>
            <a:r>
              <a:rPr lang="zh-CN" altLang="en-US" sz="2400" dirty="0">
                <a:solidFill>
                  <a:srgbClr val="FF0000"/>
                </a:solidFill>
                <a:latin typeface="+mj-ea"/>
                <a:ea typeface="+mj-ea"/>
              </a:rPr>
              <a:t>给定文法</a:t>
            </a:r>
            <a:r>
              <a:rPr lang="en-US" altLang="zh-CN" sz="2400" dirty="0">
                <a:solidFill>
                  <a:srgbClr val="FF0000"/>
                </a:solidFill>
                <a:latin typeface="+mj-ea"/>
                <a:ea typeface="+mj-ea"/>
              </a:rPr>
              <a:t>G</a:t>
            </a:r>
            <a:r>
              <a:rPr lang="zh-CN" altLang="en-US" sz="2400" dirty="0">
                <a:solidFill>
                  <a:srgbClr val="FF0000"/>
                </a:solidFill>
                <a:latin typeface="+mj-ea"/>
                <a:ea typeface="+mj-ea"/>
              </a:rPr>
              <a:t>和源程序串</a:t>
            </a:r>
            <a:r>
              <a:rPr lang="en-US" altLang="zh-CN" sz="2400" dirty="0">
                <a:solidFill>
                  <a:srgbClr val="FF0000"/>
                </a:solidFill>
                <a:latin typeface="+mj-ea"/>
                <a:ea typeface="+mj-ea"/>
              </a:rPr>
              <a:t>r</a:t>
            </a:r>
            <a:r>
              <a:rPr lang="zh-CN" altLang="en-US" sz="2400" dirty="0">
                <a:latin typeface="+mj-ea"/>
                <a:ea typeface="+mj-ea"/>
              </a:rPr>
              <a:t>。从</a:t>
            </a:r>
            <a:r>
              <a:rPr lang="en-US" altLang="zh-CN" sz="2400" dirty="0">
                <a:latin typeface="+mj-ea"/>
                <a:ea typeface="+mj-ea"/>
              </a:rPr>
              <a:t>G</a:t>
            </a:r>
            <a:r>
              <a:rPr lang="zh-CN" altLang="en-US" sz="2400" dirty="0">
                <a:latin typeface="+mj-ea"/>
                <a:ea typeface="+mj-ea"/>
              </a:rPr>
              <a:t>的开始符号</a:t>
            </a:r>
            <a:r>
              <a:rPr lang="en-US" altLang="zh-CN" sz="2400" dirty="0">
                <a:solidFill>
                  <a:srgbClr val="FF0000"/>
                </a:solidFill>
                <a:latin typeface="+mj-ea"/>
                <a:ea typeface="+mj-ea"/>
              </a:rPr>
              <a:t>S</a:t>
            </a:r>
            <a:r>
              <a:rPr lang="zh-CN" altLang="en-US" sz="2400" dirty="0">
                <a:latin typeface="+mj-ea"/>
                <a:ea typeface="+mj-ea"/>
              </a:rPr>
              <a:t>出发，通过反复使用产生式对句型中的非终结符进行</a:t>
            </a:r>
            <a:r>
              <a:rPr lang="zh-CN" altLang="en-US" sz="2400" dirty="0">
                <a:solidFill>
                  <a:srgbClr val="FF0000"/>
                </a:solidFill>
                <a:latin typeface="+mj-ea"/>
                <a:ea typeface="+mj-ea"/>
              </a:rPr>
              <a:t>替换</a:t>
            </a:r>
            <a:r>
              <a:rPr lang="en-US" altLang="zh-CN" sz="2400" dirty="0">
                <a:solidFill>
                  <a:srgbClr val="FF0000"/>
                </a:solidFill>
                <a:latin typeface="+mj-ea"/>
                <a:ea typeface="+mj-ea"/>
              </a:rPr>
              <a:t>(</a:t>
            </a:r>
            <a:r>
              <a:rPr lang="zh-CN" altLang="en-US" sz="2400" dirty="0">
                <a:solidFill>
                  <a:srgbClr val="FF0000"/>
                </a:solidFill>
                <a:latin typeface="+mj-ea"/>
                <a:ea typeface="+mj-ea"/>
              </a:rPr>
              <a:t>推导</a:t>
            </a:r>
            <a:r>
              <a:rPr lang="en-US" altLang="zh-CN" sz="2400" dirty="0">
                <a:solidFill>
                  <a:srgbClr val="FF0000"/>
                </a:solidFill>
                <a:latin typeface="+mj-ea"/>
                <a:ea typeface="+mj-ea"/>
              </a:rPr>
              <a:t>)</a:t>
            </a:r>
            <a:r>
              <a:rPr lang="zh-CN" altLang="en-US" sz="2400" dirty="0">
                <a:latin typeface="+mj-ea"/>
                <a:ea typeface="+mj-ea"/>
              </a:rPr>
              <a:t>，逐步推导出</a:t>
            </a:r>
            <a:r>
              <a:rPr lang="en-US" altLang="zh-CN" sz="2400" dirty="0">
                <a:latin typeface="+mj-ea"/>
                <a:ea typeface="+mj-ea"/>
              </a:rPr>
              <a:t>r </a:t>
            </a:r>
            <a:r>
              <a:rPr lang="zh-CN" altLang="en-US" sz="2400" dirty="0">
                <a:latin typeface="+mj-ea"/>
                <a:ea typeface="+mj-ea"/>
              </a:rPr>
              <a:t>。</a:t>
            </a:r>
            <a:endParaRPr lang="en-US" altLang="zh-CN" sz="2400" dirty="0">
              <a:latin typeface="+mj-ea"/>
              <a:ea typeface="+mj-ea"/>
            </a:endParaRPr>
          </a:p>
          <a:p>
            <a:pPr lvl="1"/>
            <a:r>
              <a:rPr lang="zh-CN" altLang="en-US" sz="2400" dirty="0">
                <a:latin typeface="+mj-ea"/>
                <a:ea typeface="+mj-ea"/>
              </a:rPr>
              <a:t>是一种</a:t>
            </a:r>
            <a:r>
              <a:rPr lang="zh-CN" altLang="en-US" sz="2400" dirty="0">
                <a:solidFill>
                  <a:srgbClr val="FF0000"/>
                </a:solidFill>
                <a:latin typeface="+mj-ea"/>
                <a:ea typeface="+mj-ea"/>
              </a:rPr>
              <a:t>产生的方法</a:t>
            </a:r>
            <a:r>
              <a:rPr lang="zh-CN" altLang="en-US" sz="2400" dirty="0">
                <a:latin typeface="+mj-ea"/>
                <a:ea typeface="+mj-ea"/>
              </a:rPr>
              <a:t>，</a:t>
            </a:r>
            <a:r>
              <a:rPr lang="zh-CN" altLang="en-US" sz="2400" dirty="0">
                <a:solidFill>
                  <a:srgbClr val="FF0000"/>
                </a:solidFill>
                <a:latin typeface="+mj-ea"/>
                <a:ea typeface="+mj-ea"/>
              </a:rPr>
              <a:t>面向目标</a:t>
            </a:r>
            <a:r>
              <a:rPr lang="zh-CN" altLang="en-US" sz="2400" dirty="0">
                <a:latin typeface="+mj-ea"/>
                <a:ea typeface="+mj-ea"/>
              </a:rPr>
              <a:t>的方法。</a:t>
            </a:r>
            <a:endParaRPr lang="en-US" altLang="zh-CN" sz="2400" dirty="0">
              <a:latin typeface="+mj-ea"/>
              <a:ea typeface="+mj-ea"/>
            </a:endParaRPr>
          </a:p>
          <a:p>
            <a:r>
              <a:rPr lang="zh-CN" altLang="en-US" sz="2800" dirty="0">
                <a:latin typeface="+mj-ea"/>
                <a:ea typeface="+mj-ea"/>
              </a:rPr>
              <a:t>自底向上分析方法</a:t>
            </a:r>
            <a:endParaRPr lang="en-US" altLang="zh-CN" sz="2800" baseline="30000" dirty="0">
              <a:latin typeface="+mj-ea"/>
              <a:ea typeface="+mj-ea"/>
            </a:endParaRPr>
          </a:p>
          <a:p>
            <a:pPr lvl="1"/>
            <a:r>
              <a:rPr lang="zh-CN" altLang="en-US" sz="2400" dirty="0">
                <a:latin typeface="+mj-ea"/>
                <a:ea typeface="+mj-ea"/>
              </a:rPr>
              <a:t>从</a:t>
            </a:r>
            <a:r>
              <a:rPr lang="zh-CN" altLang="en-US" sz="2400" dirty="0">
                <a:solidFill>
                  <a:srgbClr val="FF0000"/>
                </a:solidFill>
                <a:latin typeface="+mj-ea"/>
                <a:ea typeface="+mj-ea"/>
              </a:rPr>
              <a:t>给定的输入串</a:t>
            </a:r>
            <a:r>
              <a:rPr lang="en-US" altLang="zh-CN" sz="2400" dirty="0">
                <a:solidFill>
                  <a:srgbClr val="FF0000"/>
                </a:solidFill>
                <a:latin typeface="+mj-ea"/>
                <a:ea typeface="+mj-ea"/>
              </a:rPr>
              <a:t>r</a:t>
            </a:r>
            <a:r>
              <a:rPr lang="zh-CN" altLang="en-US" sz="2400" dirty="0">
                <a:solidFill>
                  <a:srgbClr val="FF0000"/>
                </a:solidFill>
                <a:latin typeface="+mj-ea"/>
                <a:ea typeface="+mj-ea"/>
              </a:rPr>
              <a:t>开始</a:t>
            </a:r>
            <a:r>
              <a:rPr lang="zh-CN" altLang="en-US" sz="2400" dirty="0">
                <a:latin typeface="+mj-ea"/>
                <a:ea typeface="+mj-ea"/>
              </a:rPr>
              <a:t>，不断寻找子串与文法</a:t>
            </a:r>
            <a:r>
              <a:rPr lang="en-US" altLang="zh-CN" sz="2400" dirty="0">
                <a:latin typeface="+mj-ea"/>
                <a:ea typeface="+mj-ea"/>
              </a:rPr>
              <a:t>G</a:t>
            </a:r>
            <a:r>
              <a:rPr lang="zh-CN" altLang="en-US" sz="2400" dirty="0">
                <a:latin typeface="+mj-ea"/>
                <a:ea typeface="+mj-ea"/>
              </a:rPr>
              <a:t>中某个产生式</a:t>
            </a:r>
            <a:r>
              <a:rPr lang="en-US" altLang="zh-CN" sz="2400" dirty="0">
                <a:latin typeface="+mj-ea"/>
                <a:ea typeface="+mj-ea"/>
              </a:rPr>
              <a:t>P</a:t>
            </a:r>
            <a:r>
              <a:rPr lang="zh-CN" altLang="en-US" sz="2400" dirty="0">
                <a:latin typeface="+mj-ea"/>
                <a:ea typeface="+mj-ea"/>
              </a:rPr>
              <a:t>的候选式进行匹配，并用</a:t>
            </a:r>
            <a:r>
              <a:rPr lang="en-US" altLang="zh-CN" sz="2400" dirty="0">
                <a:latin typeface="+mj-ea"/>
                <a:ea typeface="+mj-ea"/>
              </a:rPr>
              <a:t>P</a:t>
            </a:r>
            <a:r>
              <a:rPr lang="zh-CN" altLang="en-US" sz="2400" dirty="0">
                <a:latin typeface="+mj-ea"/>
                <a:ea typeface="+mj-ea"/>
              </a:rPr>
              <a:t>的</a:t>
            </a:r>
            <a:r>
              <a:rPr lang="zh-CN" altLang="en-US" sz="2400" dirty="0">
                <a:solidFill>
                  <a:srgbClr val="FF0000"/>
                </a:solidFill>
                <a:latin typeface="+mj-ea"/>
                <a:ea typeface="+mj-ea"/>
              </a:rPr>
              <a:t>左部代替</a:t>
            </a:r>
            <a:r>
              <a:rPr lang="en-US" altLang="zh-CN" sz="2400" dirty="0">
                <a:solidFill>
                  <a:srgbClr val="FF0000"/>
                </a:solidFill>
                <a:latin typeface="+mj-ea"/>
                <a:ea typeface="+mj-ea"/>
              </a:rPr>
              <a:t>(</a:t>
            </a:r>
            <a:r>
              <a:rPr lang="zh-CN" altLang="en-US" sz="2400" dirty="0">
                <a:solidFill>
                  <a:srgbClr val="FF0000"/>
                </a:solidFill>
                <a:latin typeface="+mj-ea"/>
                <a:ea typeface="+mj-ea"/>
              </a:rPr>
              <a:t>归约</a:t>
            </a:r>
            <a:r>
              <a:rPr lang="en-US" altLang="zh-CN" sz="2400" dirty="0">
                <a:solidFill>
                  <a:srgbClr val="FF0000"/>
                </a:solidFill>
                <a:latin typeface="+mj-ea"/>
                <a:ea typeface="+mj-ea"/>
              </a:rPr>
              <a:t>)</a:t>
            </a:r>
            <a:r>
              <a:rPr lang="zh-CN" altLang="en-US" sz="2400" dirty="0">
                <a:latin typeface="+mj-ea"/>
                <a:ea typeface="+mj-ea"/>
              </a:rPr>
              <a:t>之，逐步归约到开始符号</a:t>
            </a:r>
            <a:r>
              <a:rPr lang="en-US" altLang="zh-CN" sz="2400" dirty="0">
                <a:solidFill>
                  <a:srgbClr val="FF0000"/>
                </a:solidFill>
                <a:latin typeface="+mj-ea"/>
                <a:ea typeface="+mj-ea"/>
              </a:rPr>
              <a:t>S</a:t>
            </a:r>
            <a:r>
              <a:rPr lang="zh-CN" altLang="en-US" sz="2400" dirty="0">
                <a:latin typeface="+mj-ea"/>
                <a:ea typeface="+mj-ea"/>
              </a:rPr>
              <a:t>。</a:t>
            </a:r>
            <a:endParaRPr lang="en-US" altLang="zh-CN" sz="2400" dirty="0">
              <a:latin typeface="+mj-ea"/>
              <a:ea typeface="+mj-ea"/>
            </a:endParaRPr>
          </a:p>
          <a:p>
            <a:pPr lvl="1"/>
            <a:r>
              <a:rPr lang="zh-CN" altLang="en-US" sz="2400" dirty="0">
                <a:latin typeface="+mj-ea"/>
                <a:ea typeface="+mj-ea"/>
              </a:rPr>
              <a:t>是一种</a:t>
            </a:r>
            <a:r>
              <a:rPr lang="zh-CN" altLang="en-US" sz="2400" dirty="0">
                <a:solidFill>
                  <a:srgbClr val="FF0000"/>
                </a:solidFill>
                <a:latin typeface="+mj-ea"/>
                <a:ea typeface="+mj-ea"/>
              </a:rPr>
              <a:t>辨认的方法</a:t>
            </a:r>
            <a:r>
              <a:rPr lang="zh-CN" altLang="en-US" sz="2400" dirty="0">
                <a:latin typeface="+mj-ea"/>
                <a:ea typeface="+mj-ea"/>
              </a:rPr>
              <a:t>，</a:t>
            </a:r>
            <a:r>
              <a:rPr lang="zh-CN" altLang="en-US" sz="2400" dirty="0">
                <a:solidFill>
                  <a:srgbClr val="FF0000"/>
                </a:solidFill>
                <a:latin typeface="+mj-ea"/>
                <a:ea typeface="+mj-ea"/>
              </a:rPr>
              <a:t>基于目标</a:t>
            </a:r>
            <a:r>
              <a:rPr lang="zh-CN" altLang="en-US" dirty="0">
                <a:latin typeface="+mj-ea"/>
                <a:ea typeface="+mj-ea"/>
              </a:rPr>
              <a:t>的方法</a:t>
            </a:r>
            <a:r>
              <a:rPr lang="zh-CN" altLang="en-US" sz="2400" dirty="0">
                <a:latin typeface="+mj-ea"/>
                <a:ea typeface="+mj-ea"/>
              </a:rPr>
              <a:t>。</a:t>
            </a:r>
          </a:p>
          <a:p>
            <a:pPr lvl="1"/>
            <a:endParaRPr lang="en-US" altLang="zh-CN" baseline="30000" dirty="0">
              <a:latin typeface="+mj-ea"/>
              <a:ea typeface="+mj-ea"/>
            </a:endParaRPr>
          </a:p>
          <a:p>
            <a:endParaRPr lang="zh-CN" altLang="en-US" dirty="0">
              <a:latin typeface="+mj-ea"/>
              <a:ea typeface="+mj-ea"/>
            </a:endParaRPr>
          </a:p>
        </p:txBody>
      </p:sp>
      <p:sp>
        <p:nvSpPr>
          <p:cNvPr id="4" name="灯片编号占位符 3"/>
          <p:cNvSpPr>
            <a:spLocks noGrp="1"/>
          </p:cNvSpPr>
          <p:nvPr>
            <p:ph type="sldNum" sz="quarter" idx="12"/>
          </p:nvPr>
        </p:nvSpPr>
        <p:spPr/>
        <p:txBody>
          <a:bodyPr/>
          <a:lstStyle/>
          <a:p>
            <a:fld id="{1B43473F-AE3F-4D1C-9C4F-7AD3C17AC1AD}" type="slidenum">
              <a:rPr lang="zh-CN" altLang="en-US" smtClean="0"/>
              <a:t>6</a:t>
            </a:fld>
            <a:endParaRPr lang="zh-CN" altLang="en-US"/>
          </a:p>
        </p:txBody>
      </p:sp>
    </p:spTree>
    <p:extLst>
      <p:ext uri="{BB962C8B-B14F-4D97-AF65-F5344CB8AC3E}">
        <p14:creationId xmlns:p14="http://schemas.microsoft.com/office/powerpoint/2010/main" val="3748192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主讲内容</a:t>
            </a:r>
          </a:p>
        </p:txBody>
      </p:sp>
      <p:sp>
        <p:nvSpPr>
          <p:cNvPr id="3" name="内容占位符 2"/>
          <p:cNvSpPr>
            <a:spLocks noGrp="1"/>
          </p:cNvSpPr>
          <p:nvPr>
            <p:ph idx="1"/>
          </p:nvPr>
        </p:nvSpPr>
        <p:spPr>
          <a:xfrm>
            <a:off x="468313" y="1268733"/>
            <a:ext cx="8218487" cy="5113338"/>
          </a:xfrm>
        </p:spPr>
        <p:txBody>
          <a:bodyPr/>
          <a:lstStyle/>
          <a:p>
            <a:r>
              <a:rPr lang="zh-CN" altLang="en-US" sz="2800" dirty="0">
                <a:latin typeface="+mj-ea"/>
                <a:ea typeface="+mj-ea"/>
              </a:rPr>
              <a:t>第四章 自顶向下语法分析方法</a:t>
            </a:r>
            <a:endParaRPr lang="en-US" altLang="zh-CN" sz="2800" dirty="0">
              <a:latin typeface="+mj-ea"/>
              <a:ea typeface="+mj-ea"/>
            </a:endParaRPr>
          </a:p>
          <a:p>
            <a:pPr lvl="1"/>
            <a:r>
              <a:rPr lang="zh-CN" altLang="en-US" sz="2400" dirty="0">
                <a:latin typeface="+mj-ea"/>
                <a:ea typeface="+mj-ea"/>
              </a:rPr>
              <a:t>确定的自顶向下分析、</a:t>
            </a:r>
            <a:r>
              <a:rPr lang="en-US" altLang="zh-CN" sz="2400" dirty="0">
                <a:latin typeface="+mj-ea"/>
                <a:ea typeface="+mj-ea"/>
              </a:rPr>
              <a:t>LL</a:t>
            </a:r>
            <a:r>
              <a:rPr lang="zh-CN" altLang="en-US" sz="2400" dirty="0">
                <a:latin typeface="+mj-ea"/>
                <a:ea typeface="+mj-ea"/>
              </a:rPr>
              <a:t>（</a:t>
            </a:r>
            <a:r>
              <a:rPr lang="en-US" altLang="zh-CN" sz="2400" dirty="0">
                <a:latin typeface="+mj-ea"/>
                <a:ea typeface="+mj-ea"/>
              </a:rPr>
              <a:t>1</a:t>
            </a:r>
            <a:r>
              <a:rPr lang="zh-CN" altLang="en-US" sz="2400" dirty="0">
                <a:latin typeface="+mj-ea"/>
                <a:ea typeface="+mj-ea"/>
              </a:rPr>
              <a:t>）分析、不确定的自顶向下分析、</a:t>
            </a:r>
            <a:r>
              <a:rPr lang="en-US" altLang="zh-CN" sz="2400" dirty="0">
                <a:latin typeface="+mj-ea"/>
                <a:ea typeface="+mj-ea"/>
              </a:rPr>
              <a:t>LL</a:t>
            </a:r>
            <a:r>
              <a:rPr lang="zh-CN" altLang="en-US" sz="2400" dirty="0">
                <a:latin typeface="+mj-ea"/>
                <a:ea typeface="+mj-ea"/>
              </a:rPr>
              <a:t>（</a:t>
            </a:r>
            <a:r>
              <a:rPr lang="en-US" altLang="zh-CN" sz="2400" dirty="0">
                <a:latin typeface="+mj-ea"/>
                <a:ea typeface="+mj-ea"/>
              </a:rPr>
              <a:t>1</a:t>
            </a:r>
            <a:r>
              <a:rPr lang="zh-CN" altLang="en-US" sz="2400" dirty="0">
                <a:latin typeface="+mj-ea"/>
                <a:ea typeface="+mj-ea"/>
              </a:rPr>
              <a:t>）分析与实现</a:t>
            </a:r>
            <a:endParaRPr lang="en-US" altLang="zh-CN" sz="2400" dirty="0">
              <a:latin typeface="+mj-ea"/>
              <a:ea typeface="+mj-ea"/>
            </a:endParaRPr>
          </a:p>
          <a:p>
            <a:r>
              <a:rPr lang="zh-CN" altLang="en-US" sz="2800" dirty="0">
                <a:latin typeface="+mj-ea"/>
                <a:ea typeface="+mj-ea"/>
              </a:rPr>
              <a:t>第五章 自底向上优先分析</a:t>
            </a:r>
            <a:endParaRPr lang="en-US" altLang="zh-CN" sz="2800" dirty="0">
              <a:latin typeface="+mj-ea"/>
              <a:ea typeface="+mj-ea"/>
            </a:endParaRPr>
          </a:p>
          <a:p>
            <a:pPr lvl="1"/>
            <a:r>
              <a:rPr lang="zh-CN" altLang="en-US" sz="2400" dirty="0">
                <a:latin typeface="+mj-ea"/>
                <a:ea typeface="+mj-ea"/>
              </a:rPr>
              <a:t>自底向上的分析思想、移进</a:t>
            </a:r>
            <a:r>
              <a:rPr lang="en-US" altLang="zh-CN" sz="2400" dirty="0">
                <a:latin typeface="+mj-ea"/>
                <a:ea typeface="+mj-ea"/>
              </a:rPr>
              <a:t>-</a:t>
            </a:r>
            <a:r>
              <a:rPr lang="zh-CN" altLang="en-US" sz="2400" dirty="0">
                <a:latin typeface="+mj-ea"/>
                <a:ea typeface="+mj-ea"/>
              </a:rPr>
              <a:t>规约、简单优先分析和算符优先分析</a:t>
            </a:r>
            <a:endParaRPr lang="en-US" altLang="zh-CN" sz="2400" dirty="0">
              <a:latin typeface="+mj-ea"/>
              <a:ea typeface="+mj-ea"/>
            </a:endParaRPr>
          </a:p>
          <a:p>
            <a:r>
              <a:rPr lang="zh-CN" altLang="en-US" sz="2800" dirty="0">
                <a:latin typeface="+mj-ea"/>
                <a:ea typeface="+mj-ea"/>
              </a:rPr>
              <a:t>第六章 </a:t>
            </a:r>
            <a:r>
              <a:rPr lang="en-US" altLang="zh-CN" sz="2800" dirty="0">
                <a:latin typeface="+mj-ea"/>
                <a:ea typeface="+mj-ea"/>
              </a:rPr>
              <a:t>LR</a:t>
            </a:r>
            <a:r>
              <a:rPr lang="zh-CN" altLang="en-US" sz="2800" dirty="0">
                <a:latin typeface="+mj-ea"/>
                <a:ea typeface="+mj-ea"/>
              </a:rPr>
              <a:t>分析</a:t>
            </a:r>
            <a:endParaRPr lang="en-US" altLang="zh-CN" sz="2800" dirty="0">
              <a:latin typeface="+mj-ea"/>
              <a:ea typeface="+mj-ea"/>
            </a:endParaRPr>
          </a:p>
          <a:p>
            <a:pPr lvl="1"/>
            <a:r>
              <a:rPr lang="en-US" altLang="zh-CN" sz="2400" dirty="0">
                <a:latin typeface="+mj-ea"/>
                <a:ea typeface="+mj-ea"/>
              </a:rPr>
              <a:t>LR</a:t>
            </a:r>
            <a:r>
              <a:rPr lang="zh-CN" altLang="en-US" sz="2400" dirty="0">
                <a:latin typeface="+mj-ea"/>
                <a:ea typeface="+mj-ea"/>
              </a:rPr>
              <a:t>概述、</a:t>
            </a:r>
            <a:r>
              <a:rPr lang="en-US" altLang="zh-CN" sz="2400" dirty="0">
                <a:latin typeface="+mj-ea"/>
                <a:ea typeface="+mj-ea"/>
              </a:rPr>
              <a:t>LR</a:t>
            </a:r>
            <a:r>
              <a:rPr lang="zh-CN" altLang="en-US" sz="2400" dirty="0">
                <a:latin typeface="+mj-ea"/>
                <a:ea typeface="+mj-ea"/>
              </a:rPr>
              <a:t>（</a:t>
            </a:r>
            <a:r>
              <a:rPr lang="en-US" altLang="zh-CN" dirty="0">
                <a:latin typeface="+mj-ea"/>
                <a:ea typeface="+mj-ea"/>
              </a:rPr>
              <a:t>0</a:t>
            </a:r>
            <a:r>
              <a:rPr lang="zh-CN" altLang="en-US" sz="2400" dirty="0">
                <a:latin typeface="+mj-ea"/>
                <a:ea typeface="+mj-ea"/>
              </a:rPr>
              <a:t>）</a:t>
            </a:r>
            <a:r>
              <a:rPr lang="zh-CN" altLang="en-US" dirty="0">
                <a:latin typeface="+mj-ea"/>
                <a:ea typeface="+mj-ea"/>
              </a:rPr>
              <a:t>、</a:t>
            </a:r>
            <a:r>
              <a:rPr lang="en-US" altLang="zh-CN" dirty="0">
                <a:latin typeface="+mj-ea"/>
                <a:ea typeface="+mj-ea"/>
              </a:rPr>
              <a:t>SLR</a:t>
            </a:r>
            <a:r>
              <a:rPr lang="zh-CN" altLang="en-US" dirty="0">
                <a:latin typeface="+mj-ea"/>
                <a:ea typeface="+mj-ea"/>
              </a:rPr>
              <a:t>（</a:t>
            </a:r>
            <a:r>
              <a:rPr lang="en-US" altLang="zh-CN" dirty="0">
                <a:latin typeface="+mj-ea"/>
                <a:ea typeface="+mj-ea"/>
              </a:rPr>
              <a:t>1</a:t>
            </a:r>
            <a:r>
              <a:rPr lang="zh-CN" altLang="en-US" dirty="0">
                <a:latin typeface="+mj-ea"/>
                <a:ea typeface="+mj-ea"/>
              </a:rPr>
              <a:t>）、</a:t>
            </a:r>
            <a:r>
              <a:rPr lang="en-US" altLang="zh-CN" dirty="0">
                <a:latin typeface="+mj-ea"/>
                <a:ea typeface="+mj-ea"/>
              </a:rPr>
              <a:t>LR</a:t>
            </a:r>
            <a:r>
              <a:rPr lang="zh-CN" altLang="en-US" dirty="0">
                <a:latin typeface="+mj-ea"/>
                <a:ea typeface="+mj-ea"/>
              </a:rPr>
              <a:t>（</a:t>
            </a:r>
            <a:r>
              <a:rPr lang="en-US" altLang="zh-CN" dirty="0">
                <a:latin typeface="+mj-ea"/>
                <a:ea typeface="+mj-ea"/>
              </a:rPr>
              <a:t>1</a:t>
            </a:r>
            <a:r>
              <a:rPr lang="zh-CN" altLang="en-US" dirty="0">
                <a:latin typeface="+mj-ea"/>
                <a:ea typeface="+mj-ea"/>
              </a:rPr>
              <a:t>）、</a:t>
            </a:r>
            <a:r>
              <a:rPr lang="en-US" altLang="zh-CN" dirty="0">
                <a:latin typeface="+mj-ea"/>
                <a:ea typeface="+mj-ea"/>
              </a:rPr>
              <a:t>LALR</a:t>
            </a:r>
            <a:r>
              <a:rPr lang="zh-CN" altLang="en-US" dirty="0">
                <a:latin typeface="+mj-ea"/>
                <a:ea typeface="+mj-ea"/>
              </a:rPr>
              <a:t>（</a:t>
            </a:r>
            <a:r>
              <a:rPr lang="en-US" altLang="zh-CN" dirty="0">
                <a:latin typeface="+mj-ea"/>
                <a:ea typeface="+mj-ea"/>
              </a:rPr>
              <a:t>1</a:t>
            </a:r>
            <a:r>
              <a:rPr lang="zh-CN" altLang="en-US" dirty="0">
                <a:latin typeface="+mj-ea"/>
                <a:ea typeface="+mj-ea"/>
              </a:rPr>
              <a:t>）</a:t>
            </a:r>
            <a:endParaRPr lang="zh-CN" altLang="en-US" sz="2400" dirty="0">
              <a:latin typeface="+mj-ea"/>
              <a:ea typeface="+mj-ea"/>
            </a:endParaRPr>
          </a:p>
        </p:txBody>
      </p:sp>
      <p:sp>
        <p:nvSpPr>
          <p:cNvPr id="4" name="灯片编号占位符 3"/>
          <p:cNvSpPr>
            <a:spLocks noGrp="1"/>
          </p:cNvSpPr>
          <p:nvPr>
            <p:ph type="sldNum" sz="quarter" idx="12"/>
          </p:nvPr>
        </p:nvSpPr>
        <p:spPr/>
        <p:txBody>
          <a:bodyPr/>
          <a:lstStyle/>
          <a:p>
            <a:fld id="{1B43473F-AE3F-4D1C-9C4F-7AD3C17AC1AD}" type="slidenum">
              <a:rPr lang="zh-CN" altLang="en-US" smtClean="0"/>
              <a:t>7</a:t>
            </a:fld>
            <a:endParaRPr lang="zh-CN" altLang="en-US"/>
          </a:p>
        </p:txBody>
      </p:sp>
    </p:spTree>
    <p:extLst>
      <p:ext uri="{BB962C8B-B14F-4D97-AF65-F5344CB8AC3E}">
        <p14:creationId xmlns:p14="http://schemas.microsoft.com/office/powerpoint/2010/main" val="192002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5" y="107950"/>
            <a:ext cx="8218486" cy="711200"/>
          </a:xfrm>
        </p:spPr>
        <p:txBody>
          <a:bodyPr/>
          <a:lstStyle/>
          <a:p>
            <a:r>
              <a:rPr lang="zh-CN" altLang="en-US" b="1" dirty="0"/>
              <a:t>第四章 自顶向下语法分析方法</a:t>
            </a:r>
          </a:p>
        </p:txBody>
      </p:sp>
      <p:sp>
        <p:nvSpPr>
          <p:cNvPr id="4" name="Freeform 6"/>
          <p:cNvSpPr>
            <a:spLocks/>
          </p:cNvSpPr>
          <p:nvPr/>
        </p:nvSpPr>
        <p:spPr bwMode="auto">
          <a:xfrm>
            <a:off x="975061" y="1155144"/>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0066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01</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 name="Freeform 7"/>
          <p:cNvSpPr>
            <a:spLocks/>
          </p:cNvSpPr>
          <p:nvPr/>
        </p:nvSpPr>
        <p:spPr bwMode="auto">
          <a:xfrm>
            <a:off x="2314041" y="115514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0066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zh-CN" altLang="en-US" sz="2800" b="1" kern="0" dirty="0">
                <a:solidFill>
                  <a:srgbClr val="FFFFFF"/>
                </a:solidFill>
                <a:latin typeface="+mj-ea"/>
                <a:ea typeface="+mj-ea"/>
              </a:rPr>
              <a:t>确定的自顶向下分析思想</a:t>
            </a:r>
          </a:p>
        </p:txBody>
      </p:sp>
      <p:sp>
        <p:nvSpPr>
          <p:cNvPr id="6" name="Freeform 6"/>
          <p:cNvSpPr>
            <a:spLocks/>
          </p:cNvSpPr>
          <p:nvPr/>
        </p:nvSpPr>
        <p:spPr bwMode="auto">
          <a:xfrm>
            <a:off x="975061" y="2019240"/>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02</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8" name="Freeform 6"/>
          <p:cNvSpPr>
            <a:spLocks/>
          </p:cNvSpPr>
          <p:nvPr/>
        </p:nvSpPr>
        <p:spPr bwMode="auto">
          <a:xfrm>
            <a:off x="975061" y="2883336"/>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03</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9" name="Freeform 7"/>
          <p:cNvSpPr>
            <a:spLocks/>
          </p:cNvSpPr>
          <p:nvPr/>
        </p:nvSpPr>
        <p:spPr bwMode="auto">
          <a:xfrm>
            <a:off x="2314041" y="2019239"/>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）分析</a:t>
            </a:r>
          </a:p>
        </p:txBody>
      </p:sp>
      <p:sp>
        <p:nvSpPr>
          <p:cNvPr id="10" name="Freeform 6"/>
          <p:cNvSpPr>
            <a:spLocks/>
          </p:cNvSpPr>
          <p:nvPr/>
        </p:nvSpPr>
        <p:spPr bwMode="auto">
          <a:xfrm>
            <a:off x="975061" y="3747432"/>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04</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1" name="Freeform 7"/>
          <p:cNvSpPr>
            <a:spLocks/>
          </p:cNvSpPr>
          <p:nvPr/>
        </p:nvSpPr>
        <p:spPr bwMode="auto">
          <a:xfrm>
            <a:off x="2314041" y="2883335"/>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zh-CN" altLang="en-US" sz="2800" b="1" kern="0" dirty="0">
                <a:solidFill>
                  <a:srgbClr val="FFFFFF"/>
                </a:solidFill>
                <a:latin typeface="+mj-ea"/>
              </a:rPr>
              <a:t>非</a:t>
            </a: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）和</a:t>
            </a: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）等价变换</a:t>
            </a:r>
          </a:p>
        </p:txBody>
      </p:sp>
      <p:sp>
        <p:nvSpPr>
          <p:cNvPr id="12" name="Freeform 6"/>
          <p:cNvSpPr>
            <a:spLocks/>
          </p:cNvSpPr>
          <p:nvPr/>
        </p:nvSpPr>
        <p:spPr bwMode="auto">
          <a:xfrm>
            <a:off x="971555" y="4611528"/>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05</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3" name="Freeform 7"/>
          <p:cNvSpPr>
            <a:spLocks/>
          </p:cNvSpPr>
          <p:nvPr/>
        </p:nvSpPr>
        <p:spPr bwMode="auto">
          <a:xfrm>
            <a:off x="2314041" y="3747431"/>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zh-CN" altLang="en-US" sz="2800" b="1" kern="0" dirty="0">
                <a:solidFill>
                  <a:srgbClr val="FFFFFF"/>
                </a:solidFill>
                <a:latin typeface="+mj-ea"/>
                <a:ea typeface="+mj-ea"/>
              </a:rPr>
              <a:t>不确定的自顶向下分析思想</a:t>
            </a:r>
          </a:p>
        </p:txBody>
      </p:sp>
      <p:sp>
        <p:nvSpPr>
          <p:cNvPr id="14" name="Freeform 6"/>
          <p:cNvSpPr>
            <a:spLocks/>
          </p:cNvSpPr>
          <p:nvPr/>
        </p:nvSpPr>
        <p:spPr bwMode="auto">
          <a:xfrm>
            <a:off x="975061" y="5478051"/>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06</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5" name="Freeform 7"/>
          <p:cNvSpPr>
            <a:spLocks/>
          </p:cNvSpPr>
          <p:nvPr/>
        </p:nvSpPr>
        <p:spPr bwMode="auto">
          <a:xfrm>
            <a:off x="2314041" y="461395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）分析的实现</a:t>
            </a:r>
            <a:endParaRPr lang="zh-CN" altLang="en-US" sz="2800" b="1" kern="0" dirty="0">
              <a:solidFill>
                <a:srgbClr val="FFFFFF"/>
              </a:solidFill>
              <a:latin typeface="+mj-ea"/>
              <a:ea typeface="+mj-ea"/>
            </a:endParaRPr>
          </a:p>
        </p:txBody>
      </p:sp>
      <p:sp>
        <p:nvSpPr>
          <p:cNvPr id="17" name="Freeform 7"/>
          <p:cNvSpPr>
            <a:spLocks/>
          </p:cNvSpPr>
          <p:nvPr/>
        </p:nvSpPr>
        <p:spPr bwMode="auto">
          <a:xfrm>
            <a:off x="2314041" y="5595233"/>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en-US" altLang="zh-CN" sz="2800" b="1" kern="0" dirty="0">
                <a:solidFill>
                  <a:srgbClr val="FFFFFF"/>
                </a:solidFill>
                <a:latin typeface="+mj-ea"/>
                <a:ea typeface="+mj-ea"/>
              </a:rPr>
              <a:t>LL</a:t>
            </a:r>
            <a:r>
              <a:rPr lang="zh-CN" altLang="en-US" sz="2800" b="1" kern="0" dirty="0">
                <a:solidFill>
                  <a:srgbClr val="FFFFFF"/>
                </a:solidFill>
                <a:latin typeface="+mj-ea"/>
                <a:ea typeface="+mj-ea"/>
              </a:rPr>
              <a:t>（</a:t>
            </a:r>
            <a:r>
              <a:rPr lang="en-US" altLang="zh-CN" sz="2800" b="1" kern="0" dirty="0">
                <a:solidFill>
                  <a:srgbClr val="FFFFFF"/>
                </a:solidFill>
                <a:latin typeface="+mj-ea"/>
                <a:ea typeface="+mj-ea"/>
              </a:rPr>
              <a:t>1</a:t>
            </a:r>
            <a:r>
              <a:rPr lang="zh-CN" altLang="en-US" sz="2800" b="1" kern="0" dirty="0">
                <a:solidFill>
                  <a:srgbClr val="FFFFFF"/>
                </a:solidFill>
                <a:latin typeface="+mj-ea"/>
                <a:ea typeface="+mj-ea"/>
              </a:rPr>
              <a:t>）分析中的出错处理</a:t>
            </a:r>
          </a:p>
        </p:txBody>
      </p:sp>
      <p:sp>
        <p:nvSpPr>
          <p:cNvPr id="3" name="灯片编号占位符 2"/>
          <p:cNvSpPr>
            <a:spLocks noGrp="1"/>
          </p:cNvSpPr>
          <p:nvPr>
            <p:ph type="sldNum" sz="quarter" idx="12"/>
          </p:nvPr>
        </p:nvSpPr>
        <p:spPr/>
        <p:txBody>
          <a:bodyPr/>
          <a:lstStyle/>
          <a:p>
            <a:fld id="{1B43473F-AE3F-4D1C-9C4F-7AD3C17AC1AD}" type="slidenum">
              <a:rPr lang="zh-CN" altLang="en-US" smtClean="0"/>
              <a:t>8</a:t>
            </a:fld>
            <a:endParaRPr lang="zh-CN" altLang="en-US"/>
          </a:p>
        </p:txBody>
      </p:sp>
    </p:spTree>
    <p:extLst>
      <p:ext uri="{BB962C8B-B14F-4D97-AF65-F5344CB8AC3E}">
        <p14:creationId xmlns:p14="http://schemas.microsoft.com/office/powerpoint/2010/main" val="129470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一、确定的自顶向下分析思想</a:t>
            </a:r>
          </a:p>
        </p:txBody>
      </p:sp>
      <p:sp>
        <p:nvSpPr>
          <p:cNvPr id="3" name="内容占位符 2"/>
          <p:cNvSpPr>
            <a:spLocks noGrp="1"/>
          </p:cNvSpPr>
          <p:nvPr>
            <p:ph idx="1"/>
          </p:nvPr>
        </p:nvSpPr>
        <p:spPr>
          <a:xfrm>
            <a:off x="468315" y="1067605"/>
            <a:ext cx="8218487" cy="5113338"/>
          </a:xfrm>
        </p:spPr>
        <p:txBody>
          <a:bodyPr/>
          <a:lstStyle/>
          <a:p>
            <a:r>
              <a:rPr lang="zh-CN" altLang="en-US" dirty="0">
                <a:latin typeface="+mj-ea"/>
                <a:ea typeface="+mj-ea"/>
              </a:rPr>
              <a:t>分析思想</a:t>
            </a:r>
            <a:endParaRPr lang="en-US" altLang="zh-CN" dirty="0">
              <a:latin typeface="+mj-ea"/>
              <a:ea typeface="+mj-ea"/>
            </a:endParaRPr>
          </a:p>
          <a:p>
            <a:pPr lvl="1"/>
            <a:r>
              <a:rPr lang="zh-CN" altLang="en-US" dirty="0">
                <a:latin typeface="+mj-ea"/>
                <a:ea typeface="+mj-ea"/>
              </a:rPr>
              <a:t>从文法</a:t>
            </a:r>
            <a:r>
              <a:rPr lang="zh-CN" altLang="en-US" dirty="0">
                <a:solidFill>
                  <a:srgbClr val="FF0000"/>
                </a:solidFill>
                <a:latin typeface="+mj-ea"/>
                <a:ea typeface="+mj-ea"/>
              </a:rPr>
              <a:t>开始符号出发</a:t>
            </a:r>
            <a:r>
              <a:rPr lang="zh-CN" altLang="en-US" dirty="0">
                <a:latin typeface="+mj-ea"/>
                <a:ea typeface="+mj-ea"/>
              </a:rPr>
              <a:t>进行推导；每一步推导都获得</a:t>
            </a:r>
            <a:r>
              <a:rPr lang="zh-CN" altLang="en-US" dirty="0">
                <a:solidFill>
                  <a:srgbClr val="FF0000"/>
                </a:solidFill>
                <a:latin typeface="+mj-ea"/>
                <a:ea typeface="+mj-ea"/>
              </a:rPr>
              <a:t>文法的一个句型</a:t>
            </a:r>
            <a:r>
              <a:rPr lang="zh-CN" altLang="en-US" dirty="0">
                <a:latin typeface="+mj-ea"/>
                <a:ea typeface="+mj-ea"/>
              </a:rPr>
              <a:t>；直到产生出一个</a:t>
            </a:r>
            <a:r>
              <a:rPr lang="zh-CN" altLang="en-US" dirty="0">
                <a:solidFill>
                  <a:srgbClr val="FF0000"/>
                </a:solidFill>
                <a:latin typeface="+mj-ea"/>
                <a:ea typeface="+mj-ea"/>
              </a:rPr>
              <a:t>句子</a:t>
            </a:r>
            <a:r>
              <a:rPr lang="zh-CN" altLang="en-US" dirty="0">
                <a:latin typeface="+mj-ea"/>
                <a:ea typeface="+mj-ea"/>
              </a:rPr>
              <a:t>，恰好是所期望的终结符串。</a:t>
            </a:r>
          </a:p>
          <a:p>
            <a:pPr lvl="1"/>
            <a:r>
              <a:rPr lang="zh-CN" altLang="en-US" dirty="0">
                <a:latin typeface="+mj-ea"/>
                <a:ea typeface="+mj-ea"/>
              </a:rPr>
              <a:t> 每一步推导是对当前句型中</a:t>
            </a:r>
            <a:r>
              <a:rPr lang="zh-CN" altLang="en-US" dirty="0">
                <a:solidFill>
                  <a:srgbClr val="FF0000"/>
                </a:solidFill>
                <a:latin typeface="+mj-ea"/>
                <a:ea typeface="+mj-ea"/>
              </a:rPr>
              <a:t>剩余的某个非终结符</a:t>
            </a:r>
            <a:r>
              <a:rPr lang="zh-CN" altLang="en-US" dirty="0">
                <a:latin typeface="+mj-ea"/>
                <a:ea typeface="+mj-ea"/>
              </a:rPr>
              <a:t>进行</a:t>
            </a:r>
            <a:r>
              <a:rPr lang="zh-CN" altLang="en-US" dirty="0">
                <a:solidFill>
                  <a:srgbClr val="FF0000"/>
                </a:solidFill>
                <a:latin typeface="+mj-ea"/>
                <a:ea typeface="+mj-ea"/>
              </a:rPr>
              <a:t>扩展</a:t>
            </a:r>
            <a:r>
              <a:rPr lang="zh-CN" altLang="en-US" dirty="0">
                <a:latin typeface="+mj-ea"/>
                <a:ea typeface="+mj-ea"/>
              </a:rPr>
              <a:t>，即用该非终结符的一个产生式的</a:t>
            </a:r>
            <a:r>
              <a:rPr lang="zh-CN" altLang="en-US" dirty="0">
                <a:solidFill>
                  <a:srgbClr val="FF0000"/>
                </a:solidFill>
                <a:latin typeface="+mj-ea"/>
                <a:ea typeface="+mj-ea"/>
              </a:rPr>
              <a:t>右部</a:t>
            </a:r>
            <a:r>
              <a:rPr lang="zh-CN" altLang="en-US" dirty="0">
                <a:latin typeface="+mj-ea"/>
                <a:ea typeface="+mj-ea"/>
              </a:rPr>
              <a:t>替换</a:t>
            </a:r>
            <a:r>
              <a:rPr lang="zh-CN" altLang="en-US" dirty="0">
                <a:solidFill>
                  <a:srgbClr val="FF0000"/>
                </a:solidFill>
                <a:latin typeface="+mj-ea"/>
                <a:ea typeface="+mj-ea"/>
              </a:rPr>
              <a:t>该非终结符</a:t>
            </a:r>
            <a:r>
              <a:rPr lang="zh-CN" altLang="en-US" dirty="0">
                <a:latin typeface="+mj-ea"/>
                <a:ea typeface="+mj-ea"/>
              </a:rPr>
              <a:t>。</a:t>
            </a:r>
          </a:p>
          <a:p>
            <a:pPr lvl="1"/>
            <a:r>
              <a:rPr lang="zh-CN" altLang="en-US" dirty="0">
                <a:latin typeface="+mj-ea"/>
                <a:ea typeface="+mj-ea"/>
              </a:rPr>
              <a:t> 如果</a:t>
            </a:r>
            <a:r>
              <a:rPr lang="zh-CN" altLang="en-US" dirty="0">
                <a:solidFill>
                  <a:srgbClr val="FF0000"/>
                </a:solidFill>
                <a:latin typeface="+mj-ea"/>
                <a:ea typeface="+mj-ea"/>
              </a:rPr>
              <a:t>不存在</a:t>
            </a:r>
            <a:r>
              <a:rPr lang="zh-CN" altLang="en-US" dirty="0">
                <a:latin typeface="+mj-ea"/>
                <a:ea typeface="+mj-ea"/>
              </a:rPr>
              <a:t>任何一个可以产生出所</a:t>
            </a:r>
            <a:r>
              <a:rPr lang="zh-CN" altLang="en-US" dirty="0">
                <a:solidFill>
                  <a:srgbClr val="FF0000"/>
                </a:solidFill>
                <a:latin typeface="+mj-ea"/>
                <a:ea typeface="+mj-ea"/>
              </a:rPr>
              <a:t>期望的终结符串</a:t>
            </a:r>
            <a:r>
              <a:rPr lang="zh-CN" altLang="en-US" dirty="0">
                <a:latin typeface="+mj-ea"/>
                <a:ea typeface="+mj-ea"/>
              </a:rPr>
              <a:t>的推导，则表明存在</a:t>
            </a:r>
            <a:r>
              <a:rPr lang="zh-CN" altLang="en-US" dirty="0">
                <a:solidFill>
                  <a:srgbClr val="FF0000"/>
                </a:solidFill>
                <a:latin typeface="+mj-ea"/>
                <a:ea typeface="+mj-ea"/>
              </a:rPr>
              <a:t>语法错误</a:t>
            </a:r>
            <a:r>
              <a:rPr lang="zh-CN" altLang="en-US" dirty="0">
                <a:latin typeface="+mj-ea"/>
                <a:ea typeface="+mj-ea"/>
              </a:rPr>
              <a:t>。</a:t>
            </a:r>
          </a:p>
          <a:p>
            <a:pPr lvl="1"/>
            <a:endParaRPr lang="zh-CN" altLang="en-US" dirty="0">
              <a:latin typeface="+mj-ea"/>
              <a:ea typeface="+mj-ea"/>
            </a:endParaRPr>
          </a:p>
        </p:txBody>
      </p:sp>
      <p:sp>
        <p:nvSpPr>
          <p:cNvPr id="4" name="灯片编号占位符 3"/>
          <p:cNvSpPr>
            <a:spLocks noGrp="1"/>
          </p:cNvSpPr>
          <p:nvPr>
            <p:ph type="sldNum" sz="quarter" idx="12"/>
          </p:nvPr>
        </p:nvSpPr>
        <p:spPr/>
        <p:txBody>
          <a:bodyPr/>
          <a:lstStyle/>
          <a:p>
            <a:fld id="{1B43473F-AE3F-4D1C-9C4F-7AD3C17AC1AD}" type="slidenum">
              <a:rPr lang="zh-CN" altLang="en-US" smtClean="0"/>
              <a:t>9</a:t>
            </a:fld>
            <a:endParaRPr lang="zh-CN" altLang="en-US"/>
          </a:p>
        </p:txBody>
      </p:sp>
    </p:spTree>
    <p:extLst>
      <p:ext uri="{BB962C8B-B14F-4D97-AF65-F5344CB8AC3E}">
        <p14:creationId xmlns:p14="http://schemas.microsoft.com/office/powerpoint/2010/main" val="4194015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一、确定的自顶向下分析思想</a:t>
            </a:r>
            <a:endParaRPr lang="zh-CN" altLang="en-US" b="1" dirty="0"/>
          </a:p>
        </p:txBody>
      </p:sp>
      <p:sp>
        <p:nvSpPr>
          <p:cNvPr id="3" name="内容占位符 2"/>
          <p:cNvSpPr>
            <a:spLocks noGrp="1"/>
          </p:cNvSpPr>
          <p:nvPr>
            <p:ph idx="1"/>
          </p:nvPr>
        </p:nvSpPr>
        <p:spPr/>
        <p:txBody>
          <a:bodyPr/>
          <a:lstStyle/>
          <a:p>
            <a:pPr>
              <a:buFont typeface="Wingdings" panose="05000000000000000000" pitchFamily="2" charset="2"/>
              <a:buChar char="n"/>
            </a:pPr>
            <a:r>
              <a:rPr lang="zh-CN" altLang="en-US" dirty="0">
                <a:solidFill>
                  <a:srgbClr val="FF0000"/>
                </a:solidFill>
              </a:rPr>
              <a:t>例</a:t>
            </a:r>
            <a:r>
              <a:rPr lang="en-US" altLang="zh-CN" dirty="0">
                <a:solidFill>
                  <a:srgbClr val="FF0000"/>
                </a:solidFill>
              </a:rPr>
              <a:t>4-1</a:t>
            </a:r>
            <a:endParaRPr lang="zh-CN" altLang="en-US" dirty="0">
              <a:solidFill>
                <a:srgbClr val="FF0000"/>
              </a:solidFill>
            </a:endParaRPr>
          </a:p>
        </p:txBody>
      </p:sp>
      <p:sp>
        <p:nvSpPr>
          <p:cNvPr id="9" name="Rectangle 12"/>
          <p:cNvSpPr>
            <a:spLocks noChangeArrowheads="1"/>
          </p:cNvSpPr>
          <p:nvPr/>
        </p:nvSpPr>
        <p:spPr bwMode="auto">
          <a:xfrm>
            <a:off x="0" y="2708911"/>
            <a:ext cx="3131822" cy="2000548"/>
          </a:xfrm>
          <a:prstGeom prst="rect">
            <a:avLst/>
          </a:prstGeom>
          <a:noFill/>
          <a:ln w="9525" algn="ctr">
            <a:noFill/>
            <a:miter lim="800000"/>
            <a:headEnd/>
            <a:tailEnd/>
          </a:ln>
        </p:spPr>
        <p:txBody>
          <a:bodyPr wrap="square">
            <a:spAutoFit/>
          </a:bodyPr>
          <a:lstStyle/>
          <a:p>
            <a:r>
              <a:rPr lang="zh-CN" altLang="en-US" sz="2800" b="1" dirty="0">
                <a:solidFill>
                  <a:srgbClr val="003399"/>
                </a:solidFill>
                <a:latin typeface="+mj-ea"/>
                <a:ea typeface="+mj-ea"/>
              </a:rPr>
              <a:t>文法 </a:t>
            </a:r>
            <a:r>
              <a:rPr lang="en-US" altLang="zh-CN" sz="2800" b="1" dirty="0">
                <a:solidFill>
                  <a:srgbClr val="003399"/>
                </a:solidFill>
                <a:latin typeface="+mj-ea"/>
                <a:ea typeface="+mj-ea"/>
              </a:rPr>
              <a:t>G</a:t>
            </a:r>
            <a:r>
              <a:rPr lang="zh-CN" altLang="en-US" sz="2800" b="1" dirty="0">
                <a:solidFill>
                  <a:srgbClr val="003399"/>
                </a:solidFill>
                <a:latin typeface="+mj-ea"/>
                <a:ea typeface="+mj-ea"/>
              </a:rPr>
              <a:t>（</a:t>
            </a:r>
            <a:r>
              <a:rPr lang="en-US" altLang="zh-CN" sz="2800" b="1" dirty="0">
                <a:solidFill>
                  <a:srgbClr val="003399"/>
                </a:solidFill>
                <a:latin typeface="+mj-ea"/>
                <a:ea typeface="+mj-ea"/>
              </a:rPr>
              <a:t>S</a:t>
            </a:r>
            <a:r>
              <a:rPr lang="zh-CN" altLang="en-US" sz="2800" b="1" dirty="0">
                <a:solidFill>
                  <a:srgbClr val="003399"/>
                </a:solidFill>
                <a:latin typeface="+mj-ea"/>
                <a:ea typeface="+mj-ea"/>
              </a:rPr>
              <a:t>）</a:t>
            </a:r>
            <a:r>
              <a:rPr lang="en-US" altLang="zh-CN" sz="2800" b="1" dirty="0">
                <a:solidFill>
                  <a:srgbClr val="003399"/>
                </a:solidFill>
                <a:latin typeface="+mj-ea"/>
                <a:ea typeface="+mj-ea"/>
              </a:rPr>
              <a:t>:</a:t>
            </a:r>
          </a:p>
          <a:p>
            <a:r>
              <a:rPr lang="en-US" altLang="zh-CN" sz="2400" b="1" dirty="0">
                <a:solidFill>
                  <a:srgbClr val="7030A0"/>
                </a:solidFill>
                <a:latin typeface="+mj-ea"/>
                <a:ea typeface="+mj-ea"/>
              </a:rPr>
              <a:t>  S </a:t>
            </a:r>
            <a:r>
              <a:rPr lang="en-US" altLang="zh-CN" sz="2400" b="1" dirty="0">
                <a:solidFill>
                  <a:srgbClr val="7030A0"/>
                </a:solidFill>
                <a:latin typeface="+mj-ea"/>
                <a:ea typeface="+mj-ea"/>
                <a:sym typeface="Symbol" pitchFamily="18" charset="2"/>
              </a:rPr>
              <a:t></a:t>
            </a:r>
            <a:r>
              <a:rPr lang="en-US" altLang="zh-CN" sz="2400" b="1" dirty="0">
                <a:solidFill>
                  <a:srgbClr val="7030A0"/>
                </a:solidFill>
                <a:latin typeface="+mj-ea"/>
                <a:ea typeface="+mj-ea"/>
              </a:rPr>
              <a:t> </a:t>
            </a:r>
            <a:r>
              <a:rPr lang="en-US" altLang="zh-CN" sz="2400" b="1" dirty="0" err="1">
                <a:solidFill>
                  <a:srgbClr val="7030A0"/>
                </a:solidFill>
                <a:latin typeface="+mj-ea"/>
                <a:ea typeface="+mj-ea"/>
              </a:rPr>
              <a:t>pA</a:t>
            </a:r>
            <a:r>
              <a:rPr lang="en-US" altLang="zh-CN" sz="2400" b="1" dirty="0">
                <a:solidFill>
                  <a:srgbClr val="7030A0"/>
                </a:solidFill>
                <a:latin typeface="+mj-ea"/>
                <a:ea typeface="+mj-ea"/>
              </a:rPr>
              <a:t> | </a:t>
            </a:r>
            <a:r>
              <a:rPr lang="en-US" altLang="zh-CN" sz="2400" b="1" dirty="0" err="1">
                <a:solidFill>
                  <a:srgbClr val="7030A0"/>
                </a:solidFill>
                <a:latin typeface="+mj-ea"/>
                <a:ea typeface="+mj-ea"/>
              </a:rPr>
              <a:t>qB</a:t>
            </a:r>
            <a:endParaRPr lang="en-US" altLang="zh-CN" sz="2400" b="1" dirty="0">
              <a:solidFill>
                <a:srgbClr val="7030A0"/>
              </a:solidFill>
              <a:latin typeface="+mj-ea"/>
              <a:ea typeface="+mj-ea"/>
            </a:endParaRPr>
          </a:p>
          <a:p>
            <a:r>
              <a:rPr lang="en-US" altLang="zh-CN" sz="2400" b="1" dirty="0">
                <a:solidFill>
                  <a:srgbClr val="7030A0"/>
                </a:solidFill>
                <a:latin typeface="+mj-ea"/>
                <a:ea typeface="+mj-ea"/>
              </a:rPr>
              <a:t>  A </a:t>
            </a:r>
            <a:r>
              <a:rPr lang="en-US" altLang="zh-CN" sz="2400" b="1" dirty="0">
                <a:solidFill>
                  <a:srgbClr val="7030A0"/>
                </a:solidFill>
                <a:latin typeface="+mj-ea"/>
                <a:ea typeface="+mj-ea"/>
                <a:sym typeface="Symbol" pitchFamily="18" charset="2"/>
              </a:rPr>
              <a:t></a:t>
            </a:r>
            <a:r>
              <a:rPr lang="en-US" altLang="zh-CN" sz="2400" b="1" dirty="0">
                <a:solidFill>
                  <a:srgbClr val="7030A0"/>
                </a:solidFill>
                <a:latin typeface="+mj-ea"/>
                <a:ea typeface="+mj-ea"/>
              </a:rPr>
              <a:t> </a:t>
            </a:r>
            <a:r>
              <a:rPr lang="en-US" altLang="zh-CN" sz="2400" b="1" dirty="0" err="1">
                <a:solidFill>
                  <a:srgbClr val="7030A0"/>
                </a:solidFill>
                <a:latin typeface="+mj-ea"/>
                <a:ea typeface="+mj-ea"/>
              </a:rPr>
              <a:t>cAd</a:t>
            </a:r>
            <a:r>
              <a:rPr lang="en-US" altLang="zh-CN" sz="2400" b="1" dirty="0">
                <a:solidFill>
                  <a:srgbClr val="7030A0"/>
                </a:solidFill>
                <a:latin typeface="+mj-ea"/>
                <a:ea typeface="+mj-ea"/>
              </a:rPr>
              <a:t> |  </a:t>
            </a:r>
            <a:r>
              <a:rPr lang="en-US" altLang="zh-CN" sz="2400" b="1" dirty="0">
                <a:solidFill>
                  <a:srgbClr val="7030A0"/>
                </a:solidFill>
                <a:latin typeface="+mj-ea"/>
                <a:ea typeface="+mj-ea"/>
                <a:sym typeface="Symbol" pitchFamily="18" charset="2"/>
              </a:rPr>
              <a:t>a</a:t>
            </a:r>
          </a:p>
          <a:p>
            <a:r>
              <a:rPr lang="en-US" altLang="zh-CN" sz="2400" b="1" dirty="0">
                <a:solidFill>
                  <a:srgbClr val="7030A0"/>
                </a:solidFill>
                <a:latin typeface="+mj-ea"/>
                <a:ea typeface="+mj-ea"/>
              </a:rPr>
              <a:t>  B </a:t>
            </a:r>
            <a:r>
              <a:rPr lang="en-US" altLang="zh-CN" sz="2400" b="1" dirty="0">
                <a:solidFill>
                  <a:srgbClr val="7030A0"/>
                </a:solidFill>
                <a:latin typeface="+mj-ea"/>
                <a:ea typeface="+mj-ea"/>
                <a:sym typeface="Symbol" pitchFamily="18" charset="2"/>
              </a:rPr>
              <a:t></a:t>
            </a:r>
            <a:r>
              <a:rPr lang="en-US" altLang="zh-CN" sz="2400" b="1" dirty="0">
                <a:solidFill>
                  <a:srgbClr val="7030A0"/>
                </a:solidFill>
                <a:latin typeface="+mj-ea"/>
                <a:ea typeface="+mj-ea"/>
              </a:rPr>
              <a:t>dB | b</a:t>
            </a:r>
          </a:p>
          <a:p>
            <a:endParaRPr lang="en-US" altLang="zh-CN" sz="2400" b="1" dirty="0">
              <a:solidFill>
                <a:srgbClr val="7030A0"/>
              </a:solidFill>
              <a:latin typeface="+mj-ea"/>
              <a:ea typeface="+mj-ea"/>
            </a:endParaRPr>
          </a:p>
        </p:txBody>
      </p:sp>
      <p:sp>
        <p:nvSpPr>
          <p:cNvPr id="10" name="矩形 9"/>
          <p:cNvSpPr/>
          <p:nvPr/>
        </p:nvSpPr>
        <p:spPr>
          <a:xfrm>
            <a:off x="1734805" y="1573980"/>
            <a:ext cx="7157729" cy="830997"/>
          </a:xfrm>
          <a:prstGeom prst="rect">
            <a:avLst/>
          </a:prstGeom>
        </p:spPr>
        <p:txBody>
          <a:bodyPr wrap="none">
            <a:spAutoFit/>
          </a:bodyPr>
          <a:lstStyle/>
          <a:p>
            <a:r>
              <a:rPr lang="zh-CN" altLang="en-US" sz="2400" b="1" dirty="0">
                <a:solidFill>
                  <a:srgbClr val="7030A0"/>
                </a:solidFill>
                <a:latin typeface="+mj-ea"/>
                <a:ea typeface="+mj-ea"/>
              </a:rPr>
              <a:t>若输入字符串：</a:t>
            </a:r>
            <a:r>
              <a:rPr lang="en-US" altLang="zh-CN" sz="2400" b="1" dirty="0">
                <a:solidFill>
                  <a:srgbClr val="7030A0"/>
                </a:solidFill>
                <a:latin typeface="+mj-ea"/>
                <a:ea typeface="+mj-ea"/>
              </a:rPr>
              <a:t>W=</a:t>
            </a:r>
            <a:r>
              <a:rPr lang="en-US" altLang="zh-CN" sz="2400" b="1" dirty="0" err="1">
                <a:solidFill>
                  <a:srgbClr val="7030A0"/>
                </a:solidFill>
                <a:latin typeface="+mj-ea"/>
                <a:ea typeface="+mj-ea"/>
              </a:rPr>
              <a:t>pccadd</a:t>
            </a:r>
            <a:endParaRPr lang="en-US" altLang="zh-CN" sz="2400" b="1" dirty="0">
              <a:solidFill>
                <a:srgbClr val="7030A0"/>
              </a:solidFill>
              <a:latin typeface="+mj-ea"/>
              <a:ea typeface="+mj-ea"/>
            </a:endParaRPr>
          </a:p>
          <a:p>
            <a:r>
              <a:rPr lang="zh-CN" altLang="en-US" sz="2400" b="1" dirty="0">
                <a:solidFill>
                  <a:srgbClr val="7030A0"/>
                </a:solidFill>
                <a:latin typeface="+mj-ea"/>
                <a:ea typeface="+mj-ea"/>
              </a:rPr>
              <a:t>其推导过程：</a:t>
            </a:r>
            <a:r>
              <a:rPr lang="en-US" altLang="zh-CN" sz="2400" b="1" dirty="0">
                <a:solidFill>
                  <a:srgbClr val="7030A0"/>
                </a:solidFill>
                <a:latin typeface="+mj-ea"/>
                <a:ea typeface="+mj-ea"/>
              </a:rPr>
              <a:t>S</a:t>
            </a:r>
            <a:r>
              <a:rPr lang="zh-CN" altLang="en-US" sz="2400" dirty="0">
                <a:solidFill>
                  <a:srgbClr val="7030A0"/>
                </a:solidFill>
                <a:latin typeface="+mj-ea"/>
                <a:ea typeface="+mj-ea"/>
                <a:sym typeface="Symbol" pitchFamily="18" charset="2"/>
              </a:rPr>
              <a:t> </a:t>
            </a:r>
            <a:r>
              <a:rPr lang="en-US" altLang="zh-CN" sz="2400" dirty="0" err="1">
                <a:solidFill>
                  <a:srgbClr val="7030A0"/>
                </a:solidFill>
                <a:latin typeface="+mj-ea"/>
                <a:ea typeface="+mj-ea"/>
                <a:sym typeface="Symbol" pitchFamily="18" charset="2"/>
              </a:rPr>
              <a:t>pA</a:t>
            </a:r>
            <a:r>
              <a:rPr lang="zh-CN" altLang="en-US" sz="2400" dirty="0">
                <a:solidFill>
                  <a:srgbClr val="7030A0"/>
                </a:solidFill>
                <a:latin typeface="+mj-ea"/>
                <a:ea typeface="+mj-ea"/>
                <a:sym typeface="Symbol" pitchFamily="18" charset="2"/>
              </a:rPr>
              <a:t> </a:t>
            </a:r>
            <a:r>
              <a:rPr lang="en-US" altLang="zh-CN" sz="2400" dirty="0" err="1">
                <a:solidFill>
                  <a:srgbClr val="7030A0"/>
                </a:solidFill>
                <a:latin typeface="+mj-ea"/>
                <a:ea typeface="+mj-ea"/>
                <a:sym typeface="Symbol" pitchFamily="18" charset="2"/>
              </a:rPr>
              <a:t>pcAd</a:t>
            </a:r>
            <a:r>
              <a:rPr lang="zh-CN" altLang="en-US" sz="2400" dirty="0">
                <a:solidFill>
                  <a:srgbClr val="7030A0"/>
                </a:solidFill>
                <a:latin typeface="+mj-ea"/>
                <a:ea typeface="+mj-ea"/>
                <a:sym typeface="Symbol" pitchFamily="18" charset="2"/>
              </a:rPr>
              <a:t> </a:t>
            </a:r>
            <a:r>
              <a:rPr lang="en-US" altLang="zh-CN" sz="2400" dirty="0" err="1">
                <a:solidFill>
                  <a:srgbClr val="7030A0"/>
                </a:solidFill>
                <a:latin typeface="+mj-ea"/>
                <a:ea typeface="+mj-ea"/>
                <a:sym typeface="Symbol" pitchFamily="18" charset="2"/>
              </a:rPr>
              <a:t>pccAdd</a:t>
            </a:r>
            <a:r>
              <a:rPr lang="zh-CN" altLang="en-US" sz="2400" dirty="0">
                <a:solidFill>
                  <a:srgbClr val="7030A0"/>
                </a:solidFill>
                <a:latin typeface="+mj-ea"/>
                <a:ea typeface="+mj-ea"/>
                <a:sym typeface="Symbol" pitchFamily="18" charset="2"/>
              </a:rPr>
              <a:t> </a:t>
            </a:r>
            <a:r>
              <a:rPr lang="en-US" altLang="zh-CN" sz="2400" dirty="0" err="1">
                <a:solidFill>
                  <a:srgbClr val="7030A0"/>
                </a:solidFill>
                <a:latin typeface="+mj-ea"/>
                <a:ea typeface="+mj-ea"/>
                <a:sym typeface="Symbol" pitchFamily="18" charset="2"/>
              </a:rPr>
              <a:t>pccadd</a:t>
            </a:r>
            <a:endParaRPr lang="en-US" altLang="zh-CN" sz="2400" b="1" dirty="0">
              <a:solidFill>
                <a:srgbClr val="7030A0"/>
              </a:solidFill>
              <a:latin typeface="+mj-ea"/>
              <a:ea typeface="+mj-ea"/>
            </a:endParaRPr>
          </a:p>
        </p:txBody>
      </p:sp>
      <p:pic>
        <p:nvPicPr>
          <p:cNvPr id="11"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b="17813"/>
          <a:stretch/>
        </p:blipFill>
        <p:spPr bwMode="auto">
          <a:xfrm>
            <a:off x="2425074" y="2819207"/>
            <a:ext cx="6480801" cy="3231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矩形 11"/>
          <p:cNvSpPr/>
          <p:nvPr/>
        </p:nvSpPr>
        <p:spPr>
          <a:xfrm>
            <a:off x="3851911" y="6050931"/>
            <a:ext cx="3897221" cy="461665"/>
          </a:xfrm>
          <a:prstGeom prst="rect">
            <a:avLst/>
          </a:prstGeom>
        </p:spPr>
        <p:txBody>
          <a:bodyPr wrap="none">
            <a:spAutoFit/>
          </a:bodyPr>
          <a:lstStyle/>
          <a:p>
            <a:r>
              <a:rPr lang="zh-CN" altLang="en-US" sz="2400" b="1" dirty="0">
                <a:solidFill>
                  <a:srgbClr val="7030A0"/>
                </a:solidFill>
                <a:latin typeface="+mj-ea"/>
                <a:ea typeface="+mj-ea"/>
              </a:rPr>
              <a:t>确定的自顶向下语法分析树</a:t>
            </a:r>
            <a:endParaRPr lang="en-US" altLang="zh-CN" sz="2400" b="1" dirty="0">
              <a:solidFill>
                <a:srgbClr val="7030A0"/>
              </a:solidFill>
              <a:latin typeface="+mj-ea"/>
              <a:ea typeface="+mj-ea"/>
            </a:endParaRPr>
          </a:p>
        </p:txBody>
      </p:sp>
      <p:sp>
        <p:nvSpPr>
          <p:cNvPr id="4" name="灯片编号占位符 3"/>
          <p:cNvSpPr>
            <a:spLocks noGrp="1"/>
          </p:cNvSpPr>
          <p:nvPr>
            <p:ph type="sldNum" sz="quarter" idx="12"/>
          </p:nvPr>
        </p:nvSpPr>
        <p:spPr/>
        <p:txBody>
          <a:bodyPr/>
          <a:lstStyle/>
          <a:p>
            <a:fld id="{1B43473F-AE3F-4D1C-9C4F-7AD3C17AC1AD}" type="slidenum">
              <a:rPr lang="zh-CN" altLang="en-US" smtClean="0"/>
              <a:t>10</a:t>
            </a:fld>
            <a:endParaRPr lang="zh-CN" altLang="en-US"/>
          </a:p>
        </p:txBody>
      </p:sp>
    </p:spTree>
    <p:extLst>
      <p:ext uri="{BB962C8B-B14F-4D97-AF65-F5344CB8AC3E}">
        <p14:creationId xmlns:p14="http://schemas.microsoft.com/office/powerpoint/2010/main" val="185083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j-ea"/>
              </a:rPr>
              <a:t>一、确定的自顶向下分析思想</a:t>
            </a:r>
          </a:p>
        </p:txBody>
      </p:sp>
      <p:sp>
        <p:nvSpPr>
          <p:cNvPr id="3" name="内容占位符 2"/>
          <p:cNvSpPr>
            <a:spLocks noGrp="1"/>
          </p:cNvSpPr>
          <p:nvPr>
            <p:ph idx="1"/>
          </p:nvPr>
        </p:nvSpPr>
        <p:spPr/>
        <p:txBody>
          <a:bodyPr/>
          <a:lstStyle/>
          <a:p>
            <a:r>
              <a:rPr lang="zh-CN" altLang="en-US" dirty="0">
                <a:latin typeface="+mj-ea"/>
                <a:ea typeface="+mj-ea"/>
              </a:rPr>
              <a:t>特点：</a:t>
            </a:r>
            <a:endParaRPr lang="en-US" altLang="zh-CN" dirty="0">
              <a:latin typeface="+mj-ea"/>
              <a:ea typeface="+mj-ea"/>
            </a:endParaRPr>
          </a:p>
          <a:p>
            <a:pPr lvl="1"/>
            <a:r>
              <a:rPr lang="zh-CN" altLang="en-US" dirty="0">
                <a:latin typeface="+mj-ea"/>
                <a:ea typeface="+mj-ea"/>
              </a:rPr>
              <a:t>每个产生的</a:t>
            </a:r>
            <a:r>
              <a:rPr lang="zh-CN" altLang="en-US" dirty="0">
                <a:solidFill>
                  <a:srgbClr val="FF0000"/>
                </a:solidFill>
                <a:latin typeface="+mj-ea"/>
                <a:ea typeface="+mj-ea"/>
              </a:rPr>
              <a:t>右部</a:t>
            </a:r>
            <a:r>
              <a:rPr lang="zh-CN" altLang="en-US" dirty="0">
                <a:latin typeface="+mj-ea"/>
                <a:ea typeface="+mj-ea"/>
              </a:rPr>
              <a:t>都是由</a:t>
            </a:r>
            <a:r>
              <a:rPr lang="zh-CN" altLang="en-US" dirty="0">
                <a:solidFill>
                  <a:srgbClr val="FF0000"/>
                </a:solidFill>
                <a:latin typeface="+mj-ea"/>
                <a:ea typeface="+mj-ea"/>
              </a:rPr>
              <a:t>终结符号</a:t>
            </a:r>
            <a:r>
              <a:rPr lang="zh-CN" altLang="en-US" dirty="0">
                <a:latin typeface="+mj-ea"/>
                <a:ea typeface="+mj-ea"/>
              </a:rPr>
              <a:t>开始。</a:t>
            </a:r>
            <a:endParaRPr lang="en-US" altLang="zh-CN" dirty="0">
              <a:latin typeface="+mj-ea"/>
              <a:ea typeface="+mj-ea"/>
            </a:endParaRPr>
          </a:p>
          <a:p>
            <a:pPr lvl="1"/>
            <a:r>
              <a:rPr lang="zh-CN" altLang="en-US" dirty="0">
                <a:latin typeface="+mj-ea"/>
                <a:ea typeface="+mj-ea"/>
              </a:rPr>
              <a:t>如果两个产生式有</a:t>
            </a:r>
            <a:r>
              <a:rPr lang="zh-CN" altLang="en-US" dirty="0">
                <a:solidFill>
                  <a:srgbClr val="FF0000"/>
                </a:solidFill>
                <a:latin typeface="+mj-ea"/>
                <a:ea typeface="+mj-ea"/>
              </a:rPr>
              <a:t>相同的左部</a:t>
            </a:r>
            <a:r>
              <a:rPr lang="zh-CN" altLang="en-US" dirty="0">
                <a:latin typeface="+mj-ea"/>
                <a:ea typeface="+mj-ea"/>
              </a:rPr>
              <a:t>，那么它们的</a:t>
            </a:r>
            <a:r>
              <a:rPr lang="zh-CN" altLang="en-US" dirty="0">
                <a:solidFill>
                  <a:srgbClr val="FF0000"/>
                </a:solidFill>
                <a:latin typeface="+mj-ea"/>
                <a:ea typeface="+mj-ea"/>
              </a:rPr>
              <a:t>右部</a:t>
            </a:r>
            <a:r>
              <a:rPr lang="zh-CN" altLang="en-US" dirty="0">
                <a:latin typeface="+mj-ea"/>
                <a:ea typeface="+mj-ea"/>
              </a:rPr>
              <a:t>由</a:t>
            </a:r>
            <a:r>
              <a:rPr lang="zh-CN" altLang="en-US" dirty="0">
                <a:solidFill>
                  <a:srgbClr val="FF0000"/>
                </a:solidFill>
                <a:latin typeface="+mj-ea"/>
                <a:ea typeface="+mj-ea"/>
              </a:rPr>
              <a:t>不同的终结符</a:t>
            </a:r>
            <a:r>
              <a:rPr lang="zh-CN" altLang="en-US" dirty="0">
                <a:latin typeface="+mj-ea"/>
                <a:ea typeface="+mj-ea"/>
              </a:rPr>
              <a:t>开始。</a:t>
            </a:r>
          </a:p>
        </p:txBody>
      </p:sp>
      <p:sp>
        <p:nvSpPr>
          <p:cNvPr id="4" name="Rectangle 12"/>
          <p:cNvSpPr>
            <a:spLocks noChangeArrowheads="1"/>
          </p:cNvSpPr>
          <p:nvPr/>
        </p:nvSpPr>
        <p:spPr bwMode="auto">
          <a:xfrm>
            <a:off x="3131822" y="3620694"/>
            <a:ext cx="2880356" cy="2000548"/>
          </a:xfrm>
          <a:prstGeom prst="rect">
            <a:avLst/>
          </a:prstGeom>
          <a:noFill/>
          <a:ln w="9525" algn="ctr">
            <a:noFill/>
            <a:miter lim="800000"/>
            <a:headEnd/>
            <a:tailEnd/>
          </a:ln>
        </p:spPr>
        <p:txBody>
          <a:bodyPr wrap="square">
            <a:spAutoFit/>
          </a:bodyPr>
          <a:lstStyle/>
          <a:p>
            <a:r>
              <a:rPr lang="zh-CN" altLang="en-US" sz="2800" b="1" dirty="0">
                <a:solidFill>
                  <a:srgbClr val="003399"/>
                </a:solidFill>
                <a:latin typeface="+mj-ea"/>
                <a:ea typeface="+mj-ea"/>
              </a:rPr>
              <a:t>文法 </a:t>
            </a:r>
            <a:r>
              <a:rPr lang="en-US" altLang="zh-CN" sz="2800" b="1" dirty="0">
                <a:solidFill>
                  <a:srgbClr val="003399"/>
                </a:solidFill>
                <a:latin typeface="+mj-ea"/>
                <a:ea typeface="+mj-ea"/>
              </a:rPr>
              <a:t>G</a:t>
            </a:r>
            <a:r>
              <a:rPr lang="zh-CN" altLang="en-US" sz="2800" b="1" dirty="0">
                <a:solidFill>
                  <a:srgbClr val="003399"/>
                </a:solidFill>
                <a:latin typeface="+mj-ea"/>
                <a:ea typeface="+mj-ea"/>
              </a:rPr>
              <a:t>（</a:t>
            </a:r>
            <a:r>
              <a:rPr lang="en-US" altLang="zh-CN" sz="2800" b="1" dirty="0">
                <a:solidFill>
                  <a:srgbClr val="003399"/>
                </a:solidFill>
                <a:latin typeface="+mj-ea"/>
                <a:ea typeface="+mj-ea"/>
              </a:rPr>
              <a:t>S</a:t>
            </a:r>
            <a:r>
              <a:rPr lang="zh-CN" altLang="en-US" sz="2800" b="1" dirty="0">
                <a:solidFill>
                  <a:srgbClr val="003399"/>
                </a:solidFill>
                <a:latin typeface="+mj-ea"/>
                <a:ea typeface="+mj-ea"/>
              </a:rPr>
              <a:t>）</a:t>
            </a:r>
            <a:r>
              <a:rPr lang="en-US" altLang="zh-CN" sz="2800" b="1" dirty="0">
                <a:solidFill>
                  <a:srgbClr val="003399"/>
                </a:solidFill>
                <a:latin typeface="+mj-ea"/>
                <a:ea typeface="+mj-ea"/>
              </a:rPr>
              <a:t>:</a:t>
            </a:r>
          </a:p>
          <a:p>
            <a:r>
              <a:rPr lang="en-US" altLang="zh-CN" sz="2400" b="1" dirty="0">
                <a:solidFill>
                  <a:srgbClr val="7030A0"/>
                </a:solidFill>
                <a:latin typeface="+mj-ea"/>
                <a:ea typeface="+mj-ea"/>
              </a:rPr>
              <a:t>  S </a:t>
            </a:r>
            <a:r>
              <a:rPr lang="en-US" altLang="zh-CN" sz="2400" b="1" dirty="0">
                <a:solidFill>
                  <a:srgbClr val="7030A0"/>
                </a:solidFill>
                <a:latin typeface="+mj-ea"/>
                <a:ea typeface="+mj-ea"/>
                <a:sym typeface="Symbol" pitchFamily="18" charset="2"/>
              </a:rPr>
              <a:t></a:t>
            </a:r>
            <a:r>
              <a:rPr lang="en-US" altLang="zh-CN" sz="2400" b="1" dirty="0">
                <a:solidFill>
                  <a:srgbClr val="7030A0"/>
                </a:solidFill>
                <a:latin typeface="+mj-ea"/>
                <a:ea typeface="+mj-ea"/>
              </a:rPr>
              <a:t> </a:t>
            </a:r>
            <a:r>
              <a:rPr lang="en-US" altLang="zh-CN" sz="2400" b="1" dirty="0" err="1">
                <a:solidFill>
                  <a:srgbClr val="7030A0"/>
                </a:solidFill>
                <a:latin typeface="+mj-ea"/>
                <a:ea typeface="+mj-ea"/>
              </a:rPr>
              <a:t>pA</a:t>
            </a:r>
            <a:r>
              <a:rPr lang="en-US" altLang="zh-CN" sz="2400" b="1" dirty="0">
                <a:solidFill>
                  <a:srgbClr val="7030A0"/>
                </a:solidFill>
                <a:latin typeface="+mj-ea"/>
                <a:ea typeface="+mj-ea"/>
              </a:rPr>
              <a:t> | </a:t>
            </a:r>
            <a:r>
              <a:rPr lang="en-US" altLang="zh-CN" sz="2400" b="1" dirty="0" err="1">
                <a:solidFill>
                  <a:srgbClr val="7030A0"/>
                </a:solidFill>
                <a:latin typeface="+mj-ea"/>
                <a:ea typeface="+mj-ea"/>
              </a:rPr>
              <a:t>qB</a:t>
            </a:r>
            <a:endParaRPr lang="en-US" altLang="zh-CN" sz="2400" b="1" dirty="0">
              <a:solidFill>
                <a:srgbClr val="7030A0"/>
              </a:solidFill>
              <a:latin typeface="+mj-ea"/>
              <a:ea typeface="+mj-ea"/>
            </a:endParaRPr>
          </a:p>
          <a:p>
            <a:r>
              <a:rPr lang="en-US" altLang="zh-CN" sz="2400" b="1" dirty="0">
                <a:solidFill>
                  <a:srgbClr val="7030A0"/>
                </a:solidFill>
                <a:latin typeface="+mj-ea"/>
                <a:ea typeface="+mj-ea"/>
              </a:rPr>
              <a:t>  A </a:t>
            </a:r>
            <a:r>
              <a:rPr lang="en-US" altLang="zh-CN" sz="2400" b="1" dirty="0">
                <a:solidFill>
                  <a:srgbClr val="7030A0"/>
                </a:solidFill>
                <a:latin typeface="+mj-ea"/>
                <a:ea typeface="+mj-ea"/>
                <a:sym typeface="Symbol" pitchFamily="18" charset="2"/>
              </a:rPr>
              <a:t></a:t>
            </a:r>
            <a:r>
              <a:rPr lang="en-US" altLang="zh-CN" sz="2400" b="1" dirty="0">
                <a:solidFill>
                  <a:srgbClr val="7030A0"/>
                </a:solidFill>
                <a:latin typeface="+mj-ea"/>
                <a:ea typeface="+mj-ea"/>
              </a:rPr>
              <a:t> </a:t>
            </a:r>
            <a:r>
              <a:rPr lang="en-US" altLang="zh-CN" sz="2400" b="1" dirty="0" err="1">
                <a:solidFill>
                  <a:srgbClr val="7030A0"/>
                </a:solidFill>
                <a:latin typeface="+mj-ea"/>
                <a:ea typeface="+mj-ea"/>
              </a:rPr>
              <a:t>cAd</a:t>
            </a:r>
            <a:r>
              <a:rPr lang="en-US" altLang="zh-CN" sz="2400" b="1" dirty="0">
                <a:solidFill>
                  <a:srgbClr val="7030A0"/>
                </a:solidFill>
                <a:latin typeface="+mj-ea"/>
                <a:ea typeface="+mj-ea"/>
              </a:rPr>
              <a:t> |  </a:t>
            </a:r>
            <a:r>
              <a:rPr lang="en-US" altLang="zh-CN" sz="2400" b="1" dirty="0">
                <a:solidFill>
                  <a:srgbClr val="7030A0"/>
                </a:solidFill>
                <a:latin typeface="+mj-ea"/>
                <a:ea typeface="+mj-ea"/>
                <a:sym typeface="Symbol" pitchFamily="18" charset="2"/>
              </a:rPr>
              <a:t>a</a:t>
            </a:r>
          </a:p>
          <a:p>
            <a:r>
              <a:rPr lang="en-US" altLang="zh-CN" sz="2400" b="1" dirty="0">
                <a:solidFill>
                  <a:srgbClr val="7030A0"/>
                </a:solidFill>
                <a:latin typeface="+mj-ea"/>
                <a:ea typeface="+mj-ea"/>
              </a:rPr>
              <a:t>  B </a:t>
            </a:r>
            <a:r>
              <a:rPr lang="en-US" altLang="zh-CN" sz="2400" b="1" dirty="0">
                <a:solidFill>
                  <a:srgbClr val="7030A0"/>
                </a:solidFill>
                <a:latin typeface="+mj-ea"/>
                <a:ea typeface="+mj-ea"/>
                <a:sym typeface="Symbol" pitchFamily="18" charset="2"/>
              </a:rPr>
              <a:t></a:t>
            </a:r>
            <a:r>
              <a:rPr lang="en-US" altLang="zh-CN" sz="2400" b="1" dirty="0">
                <a:solidFill>
                  <a:srgbClr val="7030A0"/>
                </a:solidFill>
                <a:latin typeface="+mj-ea"/>
                <a:ea typeface="+mj-ea"/>
              </a:rPr>
              <a:t>dB | b</a:t>
            </a:r>
          </a:p>
          <a:p>
            <a:endParaRPr lang="en-US" altLang="zh-CN" sz="2400" b="1" dirty="0">
              <a:solidFill>
                <a:srgbClr val="7030A0"/>
              </a:solidFill>
              <a:latin typeface="+mj-ea"/>
              <a:ea typeface="+mj-ea"/>
            </a:endParaRPr>
          </a:p>
        </p:txBody>
      </p:sp>
      <p:sp>
        <p:nvSpPr>
          <p:cNvPr id="5" name="灯片编号占位符 4"/>
          <p:cNvSpPr>
            <a:spLocks noGrp="1"/>
          </p:cNvSpPr>
          <p:nvPr>
            <p:ph type="sldNum" sz="quarter" idx="12"/>
          </p:nvPr>
        </p:nvSpPr>
        <p:spPr/>
        <p:txBody>
          <a:bodyPr/>
          <a:lstStyle/>
          <a:p>
            <a:fld id="{1B43473F-AE3F-4D1C-9C4F-7AD3C17AC1AD}" type="slidenum">
              <a:rPr lang="zh-CN" altLang="en-US" smtClean="0">
                <a:latin typeface="+mj-ea"/>
                <a:ea typeface="+mj-ea"/>
              </a:rPr>
              <a:t>11</a:t>
            </a:fld>
            <a:endParaRPr lang="zh-CN" altLang="en-US">
              <a:latin typeface="+mj-ea"/>
              <a:ea typeface="+mj-ea"/>
            </a:endParaRPr>
          </a:p>
        </p:txBody>
      </p:sp>
    </p:spTree>
    <p:extLst>
      <p:ext uri="{BB962C8B-B14F-4D97-AF65-F5344CB8AC3E}">
        <p14:creationId xmlns:p14="http://schemas.microsoft.com/office/powerpoint/2010/main" val="130158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20835" name="Object 3"/>
          <p:cNvGraphicFramePr>
            <a:graphicFrameLocks noChangeAspect="1"/>
          </p:cNvGraphicFramePr>
          <p:nvPr>
            <p:extLst>
              <p:ext uri="{D42A27DB-BD31-4B8C-83A1-F6EECF244321}">
                <p14:modId xmlns:p14="http://schemas.microsoft.com/office/powerpoint/2010/main" val="1093747599"/>
              </p:ext>
            </p:extLst>
          </p:nvPr>
        </p:nvGraphicFramePr>
        <p:xfrm>
          <a:off x="250825" y="0"/>
          <a:ext cx="7956550" cy="6858000"/>
        </p:xfrm>
        <a:graphic>
          <a:graphicData uri="http://schemas.openxmlformats.org/presentationml/2006/ole">
            <mc:AlternateContent xmlns:mc="http://schemas.openxmlformats.org/markup-compatibility/2006">
              <mc:Choice xmlns:v="urn:schemas-microsoft-com:vml" Requires="v">
                <p:oleObj spid="_x0000_s13582" name="BMP 图象" r:id="rId3" imgW="13565494" imgH="11238095" progId="Paint.Picture">
                  <p:embed/>
                </p:oleObj>
              </mc:Choice>
              <mc:Fallback>
                <p:oleObj name="BMP 图象" r:id="rId3" imgW="13565494" imgH="1123809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8333" r="14285"/>
                      <a:stretch>
                        <a:fillRect/>
                      </a:stretch>
                    </p:blipFill>
                    <p:spPr bwMode="auto">
                      <a:xfrm>
                        <a:off x="250825" y="0"/>
                        <a:ext cx="795655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0836" name="Rectangle 4"/>
          <p:cNvSpPr>
            <a:spLocks noChangeArrowheads="1"/>
          </p:cNvSpPr>
          <p:nvPr/>
        </p:nvSpPr>
        <p:spPr bwMode="auto">
          <a:xfrm>
            <a:off x="323850" y="404813"/>
            <a:ext cx="1295400" cy="2303462"/>
          </a:xfrm>
          <a:prstGeom prst="rect">
            <a:avLst/>
          </a:prstGeom>
          <a:noFill/>
          <a:ln w="9525">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120837" name="Text Box 5"/>
          <p:cNvSpPr txBox="1">
            <a:spLocks noChangeArrowheads="1"/>
          </p:cNvSpPr>
          <p:nvPr/>
        </p:nvSpPr>
        <p:spPr bwMode="auto">
          <a:xfrm>
            <a:off x="3130234" y="499260"/>
            <a:ext cx="5689916" cy="1938992"/>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50000"/>
              </a:spcBef>
              <a:spcAft>
                <a:spcPct val="0"/>
              </a:spcAft>
            </a:pPr>
            <a:r>
              <a:rPr lang="zh-CN" altLang="en-US" sz="2400" b="1" dirty="0">
                <a:solidFill>
                  <a:srgbClr val="990000"/>
                </a:solidFill>
                <a:latin typeface="黑体" panose="02010609060101010101" pitchFamily="49" charset="-122"/>
                <a:ea typeface="黑体" panose="02010609060101010101" pitchFamily="49" charset="-122"/>
              </a:rPr>
              <a:t>特点</a:t>
            </a:r>
            <a:r>
              <a:rPr lang="en-US" altLang="zh-CN" sz="2400" b="1" dirty="0">
                <a:solidFill>
                  <a:srgbClr val="990000"/>
                </a:solidFill>
                <a:latin typeface="黑体" panose="02010609060101010101" pitchFamily="49" charset="-122"/>
                <a:ea typeface="黑体" panose="02010609060101010101" pitchFamily="49" charset="-122"/>
              </a:rPr>
              <a:t>:1,</a:t>
            </a:r>
            <a:r>
              <a:rPr lang="zh-CN" altLang="en-US" sz="2400" b="1" dirty="0">
                <a:solidFill>
                  <a:srgbClr val="990000"/>
                </a:solidFill>
                <a:latin typeface="黑体" panose="02010609060101010101" pitchFamily="49" charset="-122"/>
                <a:ea typeface="黑体" panose="02010609060101010101" pitchFamily="49" charset="-122"/>
              </a:rPr>
              <a:t>产生式右部不全由终结符开始。</a:t>
            </a:r>
            <a:endParaRPr lang="en-US" altLang="zh-CN" sz="2400" b="1" dirty="0">
              <a:solidFill>
                <a:srgbClr val="990000"/>
              </a:solidFill>
              <a:latin typeface="黑体" panose="02010609060101010101" pitchFamily="49" charset="-122"/>
              <a:ea typeface="黑体" panose="02010609060101010101" pitchFamily="49" charset="-122"/>
            </a:endParaRPr>
          </a:p>
          <a:p>
            <a:pPr eaLnBrk="1" fontAlgn="base" hangingPunct="1">
              <a:spcBef>
                <a:spcPct val="50000"/>
              </a:spcBef>
              <a:spcAft>
                <a:spcPct val="0"/>
              </a:spcAft>
            </a:pPr>
            <a:r>
              <a:rPr lang="en-US" altLang="zh-CN" sz="2400" b="1" dirty="0">
                <a:solidFill>
                  <a:srgbClr val="990000"/>
                </a:solidFill>
                <a:latin typeface="黑体" panose="02010609060101010101" pitchFamily="49" charset="-122"/>
                <a:ea typeface="黑体" panose="02010609060101010101" pitchFamily="49" charset="-122"/>
              </a:rPr>
              <a:t>2,</a:t>
            </a:r>
            <a:r>
              <a:rPr lang="zh-CN" altLang="en-US" sz="2400" b="1" dirty="0">
                <a:solidFill>
                  <a:srgbClr val="990000"/>
                </a:solidFill>
                <a:latin typeface="黑体" panose="02010609060101010101" pitchFamily="49" charset="-122"/>
                <a:ea typeface="黑体" panose="02010609060101010101" pitchFamily="49" charset="-122"/>
              </a:rPr>
              <a:t>相同左部的产生式其右部由不同终结符或非终结符开始。</a:t>
            </a:r>
            <a:endParaRPr lang="en-US" altLang="zh-CN" sz="2400" b="1" dirty="0">
              <a:solidFill>
                <a:srgbClr val="990000"/>
              </a:solidFill>
              <a:latin typeface="黑体" panose="02010609060101010101" pitchFamily="49" charset="-122"/>
              <a:ea typeface="黑体" panose="02010609060101010101" pitchFamily="49" charset="-122"/>
            </a:endParaRPr>
          </a:p>
          <a:p>
            <a:pPr eaLnBrk="1" fontAlgn="base" hangingPunct="1">
              <a:spcBef>
                <a:spcPct val="50000"/>
              </a:spcBef>
              <a:spcAft>
                <a:spcPct val="0"/>
              </a:spcAft>
            </a:pPr>
            <a:r>
              <a:rPr lang="en-US" altLang="zh-CN" sz="2400" b="1" dirty="0">
                <a:solidFill>
                  <a:srgbClr val="990000"/>
                </a:solidFill>
                <a:latin typeface="黑体" panose="02010609060101010101" pitchFamily="49" charset="-122"/>
                <a:ea typeface="黑体" panose="02010609060101010101" pitchFamily="49" charset="-122"/>
              </a:rPr>
              <a:t>3,</a:t>
            </a:r>
            <a:r>
              <a:rPr lang="zh-CN" altLang="en-US" sz="2400" b="1" dirty="0">
                <a:solidFill>
                  <a:srgbClr val="990000"/>
                </a:solidFill>
                <a:latin typeface="黑体" panose="02010609060101010101" pitchFamily="49" charset="-122"/>
                <a:ea typeface="黑体" panose="02010609060101010101" pitchFamily="49" charset="-122"/>
              </a:rPr>
              <a:t>文法无空产生式。</a:t>
            </a:r>
          </a:p>
        </p:txBody>
      </p:sp>
      <p:sp>
        <p:nvSpPr>
          <p:cNvPr id="120845" name="Freeform 13"/>
          <p:cNvSpPr>
            <a:spLocks/>
          </p:cNvSpPr>
          <p:nvPr/>
        </p:nvSpPr>
        <p:spPr bwMode="auto">
          <a:xfrm>
            <a:off x="6865938" y="4713288"/>
            <a:ext cx="1185862" cy="1031875"/>
          </a:xfrm>
          <a:custGeom>
            <a:avLst/>
            <a:gdLst>
              <a:gd name="T0" fmla="*/ 2147483647 w 747"/>
              <a:gd name="T1" fmla="*/ 2147483647 h 650"/>
              <a:gd name="T2" fmla="*/ 2147483647 w 747"/>
              <a:gd name="T3" fmla="*/ 2147483647 h 650"/>
              <a:gd name="T4" fmla="*/ 2147483647 w 747"/>
              <a:gd name="T5" fmla="*/ 2147483647 h 650"/>
              <a:gd name="T6" fmla="*/ 2147483647 w 747"/>
              <a:gd name="T7" fmla="*/ 2147483647 h 650"/>
              <a:gd name="T8" fmla="*/ 2147483647 w 747"/>
              <a:gd name="T9" fmla="*/ 2147483647 h 650"/>
              <a:gd name="T10" fmla="*/ 2147483647 w 747"/>
              <a:gd name="T11" fmla="*/ 2147483647 h 650"/>
              <a:gd name="T12" fmla="*/ 2147483647 w 747"/>
              <a:gd name="T13" fmla="*/ 2147483647 h 650"/>
              <a:gd name="T14" fmla="*/ 2147483647 w 747"/>
              <a:gd name="T15" fmla="*/ 2147483647 h 650"/>
              <a:gd name="T16" fmla="*/ 2147483647 w 747"/>
              <a:gd name="T17" fmla="*/ 2147483647 h 650"/>
              <a:gd name="T18" fmla="*/ 2147483647 w 747"/>
              <a:gd name="T19" fmla="*/ 2147483647 h 650"/>
              <a:gd name="T20" fmla="*/ 2147483647 w 747"/>
              <a:gd name="T21" fmla="*/ 2147483647 h 650"/>
              <a:gd name="T22" fmla="*/ 2147483647 w 747"/>
              <a:gd name="T23" fmla="*/ 2147483647 h 6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47"/>
              <a:gd name="T37" fmla="*/ 0 h 650"/>
              <a:gd name="T38" fmla="*/ 747 w 747"/>
              <a:gd name="T39" fmla="*/ 650 h 6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47" h="650">
                <a:moveTo>
                  <a:pt x="7" y="53"/>
                </a:moveTo>
                <a:cubicBezTo>
                  <a:pt x="14" y="98"/>
                  <a:pt x="74" y="235"/>
                  <a:pt x="97" y="280"/>
                </a:cubicBezTo>
                <a:cubicBezTo>
                  <a:pt x="120" y="325"/>
                  <a:pt x="98" y="280"/>
                  <a:pt x="143" y="325"/>
                </a:cubicBezTo>
                <a:cubicBezTo>
                  <a:pt x="188" y="370"/>
                  <a:pt x="316" y="507"/>
                  <a:pt x="369" y="552"/>
                </a:cubicBezTo>
                <a:cubicBezTo>
                  <a:pt x="422" y="597"/>
                  <a:pt x="422" y="582"/>
                  <a:pt x="460" y="597"/>
                </a:cubicBezTo>
                <a:cubicBezTo>
                  <a:pt x="498" y="612"/>
                  <a:pt x="551" y="650"/>
                  <a:pt x="596" y="643"/>
                </a:cubicBezTo>
                <a:cubicBezTo>
                  <a:pt x="641" y="636"/>
                  <a:pt x="747" y="575"/>
                  <a:pt x="732" y="552"/>
                </a:cubicBezTo>
                <a:cubicBezTo>
                  <a:pt x="717" y="529"/>
                  <a:pt x="573" y="544"/>
                  <a:pt x="505" y="506"/>
                </a:cubicBezTo>
                <a:cubicBezTo>
                  <a:pt x="437" y="468"/>
                  <a:pt x="377" y="400"/>
                  <a:pt x="324" y="325"/>
                </a:cubicBezTo>
                <a:cubicBezTo>
                  <a:pt x="271" y="250"/>
                  <a:pt x="233" y="106"/>
                  <a:pt x="188" y="53"/>
                </a:cubicBezTo>
                <a:cubicBezTo>
                  <a:pt x="143" y="0"/>
                  <a:pt x="82" y="7"/>
                  <a:pt x="52" y="7"/>
                </a:cubicBezTo>
                <a:cubicBezTo>
                  <a:pt x="22" y="7"/>
                  <a:pt x="0" y="8"/>
                  <a:pt x="7" y="53"/>
                </a:cubicBezTo>
                <a:close/>
              </a:path>
            </a:pathLst>
          </a:custGeom>
          <a:noFill/>
          <a:ln w="9525">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120846" name="AutoShape 14"/>
          <p:cNvSpPr>
            <a:spLocks noChangeArrowheads="1"/>
          </p:cNvSpPr>
          <p:nvPr/>
        </p:nvSpPr>
        <p:spPr bwMode="auto">
          <a:xfrm>
            <a:off x="5003800" y="5445125"/>
            <a:ext cx="2303463" cy="312738"/>
          </a:xfrm>
          <a:prstGeom prst="wedgeRoundRectCallout">
            <a:avLst>
              <a:gd name="adj1" fmla="val 35940"/>
              <a:gd name="adj2" fmla="val -196699"/>
              <a:gd name="adj3" fmla="val 16667"/>
            </a:avLst>
          </a:prstGeom>
          <a:solidFill>
            <a:srgbClr val="E0AE20"/>
          </a:solidFill>
          <a:ln w="9525">
            <a:solidFill>
              <a:schemeClr val="tx1"/>
            </a:solidFill>
            <a:miter lim="800000"/>
            <a:headEnd/>
            <a:tailEnd/>
          </a:ln>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t" hangingPunct="1">
              <a:spcBef>
                <a:spcPct val="0"/>
              </a:spcBef>
              <a:spcAft>
                <a:spcPct val="0"/>
              </a:spcAft>
            </a:pPr>
            <a:r>
              <a:rPr lang="zh-CN" altLang="en-US" sz="1200" b="1" dirty="0">
                <a:solidFill>
                  <a:srgbClr val="000000"/>
                </a:solidFill>
              </a:rPr>
              <a:t>产生式右部串的第一个符号</a:t>
            </a:r>
          </a:p>
        </p:txBody>
      </p:sp>
      <p:sp>
        <p:nvSpPr>
          <p:cNvPr id="120847" name="AutoShape 15"/>
          <p:cNvSpPr>
            <a:spLocks noChangeArrowheads="1"/>
          </p:cNvSpPr>
          <p:nvPr/>
        </p:nvSpPr>
        <p:spPr bwMode="auto">
          <a:xfrm>
            <a:off x="6004241" y="5892065"/>
            <a:ext cx="2160267" cy="431800"/>
          </a:xfrm>
          <a:prstGeom prst="cloudCallout">
            <a:avLst>
              <a:gd name="adj1" fmla="val -3801"/>
              <a:gd name="adj2" fmla="val -101102"/>
            </a:avLst>
          </a:prstGeom>
          <a:solidFill>
            <a:srgbClr val="FFFFCC"/>
          </a:solidFill>
          <a:ln w="9525">
            <a:solidFill>
              <a:schemeClr val="tx1"/>
            </a:solidFill>
            <a:miter lim="800000"/>
            <a:headEnd/>
            <a:tailEnd/>
          </a:ln>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400" b="1" dirty="0">
                <a:solidFill>
                  <a:srgbClr val="000000"/>
                </a:solidFill>
              </a:rPr>
              <a:t>即</a:t>
            </a:r>
            <a:r>
              <a:rPr lang="en-US" altLang="zh-CN" sz="1400" b="1" dirty="0">
                <a:solidFill>
                  <a:srgbClr val="000000"/>
                </a:solidFill>
              </a:rPr>
              <a:t>FIRST</a:t>
            </a:r>
            <a:r>
              <a:rPr lang="zh-CN" altLang="en-US" sz="1400" b="1" dirty="0">
                <a:solidFill>
                  <a:srgbClr val="000000"/>
                </a:solidFill>
              </a:rPr>
              <a:t>（</a:t>
            </a:r>
            <a:r>
              <a:rPr lang="en-US" altLang="zh-CN" sz="1400" b="1" dirty="0">
                <a:solidFill>
                  <a:srgbClr val="000000"/>
                </a:solidFill>
              </a:rPr>
              <a:t>A</a:t>
            </a:r>
            <a:r>
              <a:rPr lang="zh-CN" altLang="en-US" sz="1400" b="1" dirty="0">
                <a:solidFill>
                  <a:srgbClr val="000000"/>
                </a:solidFill>
              </a:rPr>
              <a:t>））</a:t>
            </a:r>
            <a:endParaRPr lang="el-GR" altLang="zh-CN" sz="1400" b="1" dirty="0">
              <a:solidFill>
                <a:srgbClr val="000000"/>
              </a:solidFill>
              <a:cs typeface="Tahoma" pitchFamily="34" charset="0"/>
            </a:endParaRPr>
          </a:p>
        </p:txBody>
      </p:sp>
      <p:sp>
        <p:nvSpPr>
          <p:cNvPr id="4" name="矩形 3"/>
          <p:cNvSpPr/>
          <p:nvPr/>
        </p:nvSpPr>
        <p:spPr bwMode="auto">
          <a:xfrm>
            <a:off x="324461" y="0"/>
            <a:ext cx="1043936" cy="404813"/>
          </a:xfrm>
          <a:prstGeom prst="rect">
            <a:avLst/>
          </a:prstGeom>
          <a:ln>
            <a:solidFill>
              <a:srgbClr val="0000FF"/>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zh-CN" altLang="en-US" sz="2400" b="1" dirty="0">
                <a:solidFill>
                  <a:srgbClr val="FF0000"/>
                </a:solidFill>
                <a:latin typeface="Tahoma" pitchFamily="34" charset="0"/>
                <a:ea typeface="宋体" pitchFamily="2" charset="-122"/>
              </a:rPr>
              <a:t>例</a:t>
            </a:r>
            <a:r>
              <a:rPr kumimoji="1" lang="en-US" altLang="zh-CN" sz="2400" b="1" dirty="0">
                <a:solidFill>
                  <a:srgbClr val="FF0000"/>
                </a:solidFill>
                <a:latin typeface="Tahoma" pitchFamily="34" charset="0"/>
                <a:ea typeface="宋体" pitchFamily="2" charset="-122"/>
              </a:rPr>
              <a:t>4-2</a:t>
            </a:r>
            <a:endParaRPr kumimoji="1" lang="zh-CN" altLang="en-US" sz="2400" b="1" i="0" u="none" strike="noStrike" cap="none" normalizeH="0" baseline="0" dirty="0">
              <a:ln>
                <a:noFill/>
              </a:ln>
              <a:solidFill>
                <a:srgbClr val="FF0000"/>
              </a:solidFill>
              <a:effectLst/>
              <a:latin typeface="Tahoma" pitchFamily="34" charset="0"/>
              <a:ea typeface="宋体" pitchFamily="2" charset="-122"/>
            </a:endParaRPr>
          </a:p>
        </p:txBody>
      </p:sp>
      <p:sp>
        <p:nvSpPr>
          <p:cNvPr id="13" name="矩形 12"/>
          <p:cNvSpPr/>
          <p:nvPr/>
        </p:nvSpPr>
        <p:spPr bwMode="auto">
          <a:xfrm>
            <a:off x="3131822" y="6297496"/>
            <a:ext cx="1043936" cy="404813"/>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dirty="0">
              <a:ln>
                <a:noFill/>
              </a:ln>
              <a:solidFill>
                <a:srgbClr val="FF0000"/>
              </a:solidFill>
              <a:effectLst/>
              <a:latin typeface="Tahoma" pitchFamily="34" charset="0"/>
              <a:ea typeface="宋体" pitchFamily="2" charset="-122"/>
            </a:endParaRPr>
          </a:p>
        </p:txBody>
      </p:sp>
      <p:sp>
        <p:nvSpPr>
          <p:cNvPr id="2" name="灯片编号占位符 1"/>
          <p:cNvSpPr>
            <a:spLocks noGrp="1"/>
          </p:cNvSpPr>
          <p:nvPr>
            <p:ph type="sldNum" sz="quarter" idx="12"/>
          </p:nvPr>
        </p:nvSpPr>
        <p:spPr/>
        <p:txBody>
          <a:bodyPr/>
          <a:lstStyle/>
          <a:p>
            <a:pPr>
              <a:defRPr/>
            </a:pPr>
            <a:fld id="{6969F66A-78E9-40EC-A34E-C4626467CE11}" type="slidenum">
              <a:rPr lang="zh-CN" altLang="en-US" smtClean="0">
                <a:solidFill>
                  <a:srgbClr val="000000"/>
                </a:solidFill>
              </a:rPr>
              <a:pPr>
                <a:defRPr/>
              </a:pPr>
              <a:t>12</a:t>
            </a:fld>
            <a:endParaRPr lang="en-US" altLang="zh-CN">
              <a:solidFill>
                <a:srgbClr val="000000"/>
              </a:solidFill>
            </a:endParaRPr>
          </a:p>
        </p:txBody>
      </p:sp>
    </p:spTree>
    <p:extLst>
      <p:ext uri="{BB962C8B-B14F-4D97-AF65-F5344CB8AC3E}">
        <p14:creationId xmlns:p14="http://schemas.microsoft.com/office/powerpoint/2010/main" val="7414985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0835"/>
                                        </p:tgtEl>
                                        <p:attrNameLst>
                                          <p:attrName>style.visibility</p:attrName>
                                        </p:attrNameLst>
                                      </p:cBhvr>
                                      <p:to>
                                        <p:strVal val="visible"/>
                                      </p:to>
                                    </p:set>
                                    <p:anim calcmode="lin" valueType="num">
                                      <p:cBhvr additive="base">
                                        <p:cTn id="7" dur="1000" fill="hold"/>
                                        <p:tgtEl>
                                          <p:spTgt spid="120835"/>
                                        </p:tgtEl>
                                        <p:attrNameLst>
                                          <p:attrName>ppt_x</p:attrName>
                                        </p:attrNameLst>
                                      </p:cBhvr>
                                      <p:tavLst>
                                        <p:tav tm="0">
                                          <p:val>
                                            <p:strVal val="0-#ppt_w/2"/>
                                          </p:val>
                                        </p:tav>
                                        <p:tav tm="100000">
                                          <p:val>
                                            <p:strVal val="#ppt_x"/>
                                          </p:val>
                                        </p:tav>
                                      </p:tavLst>
                                    </p:anim>
                                    <p:anim calcmode="lin" valueType="num">
                                      <p:cBhvr additive="base">
                                        <p:cTn id="8" dur="1000" fill="hold"/>
                                        <p:tgtEl>
                                          <p:spTgt spid="12083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0836"/>
                                        </p:tgtEl>
                                        <p:attrNameLst>
                                          <p:attrName>style.visibility</p:attrName>
                                        </p:attrNameLst>
                                      </p:cBhvr>
                                      <p:to>
                                        <p:strVal val="visible"/>
                                      </p:to>
                                    </p:set>
                                    <p:anim calcmode="lin" valueType="num">
                                      <p:cBhvr additive="base">
                                        <p:cTn id="13" dur="500" fill="hold"/>
                                        <p:tgtEl>
                                          <p:spTgt spid="120836"/>
                                        </p:tgtEl>
                                        <p:attrNameLst>
                                          <p:attrName>ppt_x</p:attrName>
                                        </p:attrNameLst>
                                      </p:cBhvr>
                                      <p:tavLst>
                                        <p:tav tm="0">
                                          <p:val>
                                            <p:strVal val="0-#ppt_w/2"/>
                                          </p:val>
                                        </p:tav>
                                        <p:tav tm="100000">
                                          <p:val>
                                            <p:strVal val="#ppt_x"/>
                                          </p:val>
                                        </p:tav>
                                      </p:tavLst>
                                    </p:anim>
                                    <p:anim calcmode="lin" valueType="num">
                                      <p:cBhvr additive="base">
                                        <p:cTn id="14" dur="500" fill="hold"/>
                                        <p:tgtEl>
                                          <p:spTgt spid="12083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0837"/>
                                        </p:tgtEl>
                                        <p:attrNameLst>
                                          <p:attrName>style.visibility</p:attrName>
                                        </p:attrNameLst>
                                      </p:cBhvr>
                                      <p:to>
                                        <p:strVal val="visible"/>
                                      </p:to>
                                    </p:set>
                                    <p:anim calcmode="lin" valueType="num">
                                      <p:cBhvr additive="base">
                                        <p:cTn id="19" dur="1000" fill="hold"/>
                                        <p:tgtEl>
                                          <p:spTgt spid="120837"/>
                                        </p:tgtEl>
                                        <p:attrNameLst>
                                          <p:attrName>ppt_x</p:attrName>
                                        </p:attrNameLst>
                                      </p:cBhvr>
                                      <p:tavLst>
                                        <p:tav tm="0">
                                          <p:val>
                                            <p:strVal val="1+#ppt_w/2"/>
                                          </p:val>
                                        </p:tav>
                                        <p:tav tm="100000">
                                          <p:val>
                                            <p:strVal val="#ppt_x"/>
                                          </p:val>
                                        </p:tav>
                                      </p:tavLst>
                                    </p:anim>
                                    <p:anim calcmode="lin" valueType="num">
                                      <p:cBhvr additive="base">
                                        <p:cTn id="20" dur="1000" fill="hold"/>
                                        <p:tgtEl>
                                          <p:spTgt spid="12083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20845"/>
                                        </p:tgtEl>
                                        <p:attrNameLst>
                                          <p:attrName>style.visibility</p:attrName>
                                        </p:attrNameLst>
                                      </p:cBhvr>
                                      <p:to>
                                        <p:strVal val="visible"/>
                                      </p:to>
                                    </p:set>
                                    <p:animEffect transition="in" filter="box(in)">
                                      <p:cBhvr>
                                        <p:cTn id="25" dur="500"/>
                                        <p:tgtEl>
                                          <p:spTgt spid="12084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120846"/>
                                        </p:tgtEl>
                                        <p:attrNameLst>
                                          <p:attrName>style.visibility</p:attrName>
                                        </p:attrNameLst>
                                      </p:cBhvr>
                                      <p:to>
                                        <p:strVal val="visible"/>
                                      </p:to>
                                    </p:set>
                                    <p:animEffect transition="in" filter="diamond(in)">
                                      <p:cBhvr>
                                        <p:cTn id="30" dur="2000"/>
                                        <p:tgtEl>
                                          <p:spTgt spid="12084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120847"/>
                                        </p:tgtEl>
                                        <p:attrNameLst>
                                          <p:attrName>style.visibility</p:attrName>
                                        </p:attrNameLst>
                                      </p:cBhvr>
                                      <p:to>
                                        <p:strVal val="visible"/>
                                      </p:to>
                                    </p:set>
                                    <p:animEffect transition="in" filter="checkerboard(across)">
                                      <p:cBhvr>
                                        <p:cTn id="35" dur="500"/>
                                        <p:tgtEl>
                                          <p:spTgt spid="120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animBg="1"/>
      <p:bldP spid="120837" grpId="0" animBg="1"/>
      <p:bldP spid="120845" grpId="0" animBg="1"/>
      <p:bldP spid="120846" grpId="0" animBg="1"/>
      <p:bldP spid="12084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p:cNvGraphicFramePr>
            <a:graphicFrameLocks noChangeAspect="1"/>
          </p:cNvGraphicFramePr>
          <p:nvPr/>
        </p:nvGraphicFramePr>
        <p:xfrm>
          <a:off x="323850" y="571500"/>
          <a:ext cx="8675688" cy="6165850"/>
        </p:xfrm>
        <a:graphic>
          <a:graphicData uri="http://schemas.openxmlformats.org/presentationml/2006/ole">
            <mc:AlternateContent xmlns:mc="http://schemas.openxmlformats.org/markup-compatibility/2006">
              <mc:Choice xmlns:v="urn:schemas-microsoft-com:vml" Requires="v">
                <p:oleObj spid="_x0000_s14597" name="BMP 图象" r:id="rId3" imgW="17676190" imgH="8097380" progId="Paint.Picture">
                  <p:embed/>
                </p:oleObj>
              </mc:Choice>
              <mc:Fallback>
                <p:oleObj name="BMP 图象" r:id="rId3" imgW="17676190" imgH="809738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7500" r="8749"/>
                      <a:stretch>
                        <a:fillRect/>
                      </a:stretch>
                    </p:blipFill>
                    <p:spPr bwMode="auto">
                      <a:xfrm>
                        <a:off x="323850" y="571500"/>
                        <a:ext cx="8675688" cy="616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5" name="Rectangle 3"/>
          <p:cNvSpPr>
            <a:spLocks noChangeArrowheads="1"/>
          </p:cNvSpPr>
          <p:nvPr/>
        </p:nvSpPr>
        <p:spPr bwMode="auto">
          <a:xfrm>
            <a:off x="395288" y="1071563"/>
            <a:ext cx="1403350" cy="1943100"/>
          </a:xfrm>
          <a:prstGeom prst="rect">
            <a:avLst/>
          </a:prstGeom>
          <a:noFill/>
          <a:ln w="9525">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4" name="矩形 3"/>
          <p:cNvSpPr/>
          <p:nvPr/>
        </p:nvSpPr>
        <p:spPr bwMode="auto">
          <a:xfrm>
            <a:off x="251466" y="666749"/>
            <a:ext cx="1043936" cy="404813"/>
          </a:xfrm>
          <a:prstGeom prst="rect">
            <a:avLst/>
          </a:prstGeom>
          <a:ln>
            <a:solidFill>
              <a:srgbClr val="0000FF"/>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zh-CN" altLang="en-US" sz="2400" b="1" dirty="0">
                <a:solidFill>
                  <a:srgbClr val="FF0000"/>
                </a:solidFill>
                <a:latin typeface="Tahoma" pitchFamily="34" charset="0"/>
                <a:ea typeface="宋体" pitchFamily="2" charset="-122"/>
              </a:rPr>
              <a:t>例</a:t>
            </a:r>
            <a:r>
              <a:rPr kumimoji="1" lang="en-US" altLang="zh-CN" sz="2400" b="1" dirty="0">
                <a:solidFill>
                  <a:srgbClr val="FF0000"/>
                </a:solidFill>
                <a:latin typeface="Tahoma" pitchFamily="34" charset="0"/>
                <a:ea typeface="宋体" pitchFamily="2" charset="-122"/>
              </a:rPr>
              <a:t>4-3</a:t>
            </a:r>
            <a:endParaRPr kumimoji="1" lang="zh-CN" altLang="en-US" sz="2400" b="1" i="0" u="none" strike="noStrike" cap="none" normalizeH="0" baseline="0" dirty="0">
              <a:ln>
                <a:noFill/>
              </a:ln>
              <a:solidFill>
                <a:srgbClr val="FF0000"/>
              </a:solidFill>
              <a:effectLst/>
              <a:latin typeface="Tahoma" pitchFamily="34" charset="0"/>
              <a:ea typeface="宋体" pitchFamily="2" charset="-122"/>
            </a:endParaRPr>
          </a:p>
        </p:txBody>
      </p:sp>
      <p:sp>
        <p:nvSpPr>
          <p:cNvPr id="2" name="灯片编号占位符 1"/>
          <p:cNvSpPr>
            <a:spLocks noGrp="1"/>
          </p:cNvSpPr>
          <p:nvPr>
            <p:ph type="sldNum" sz="quarter" idx="12"/>
          </p:nvPr>
        </p:nvSpPr>
        <p:spPr/>
        <p:txBody>
          <a:bodyPr/>
          <a:lstStyle/>
          <a:p>
            <a:pPr>
              <a:defRPr/>
            </a:pPr>
            <a:fld id="{6969F66A-78E9-40EC-A34E-C4626467CE11}" type="slidenum">
              <a:rPr lang="zh-CN" altLang="en-US" smtClean="0">
                <a:solidFill>
                  <a:srgbClr val="000000"/>
                </a:solidFill>
              </a:rPr>
              <a:pPr>
                <a:defRPr/>
              </a:pPr>
              <a:t>13</a:t>
            </a:fld>
            <a:endParaRPr lang="en-US" altLang="zh-CN">
              <a:solidFill>
                <a:srgbClr val="000000"/>
              </a:solidFill>
            </a:endParaRPr>
          </a:p>
        </p:txBody>
      </p:sp>
    </p:spTree>
    <p:extLst>
      <p:ext uri="{BB962C8B-B14F-4D97-AF65-F5344CB8AC3E}">
        <p14:creationId xmlns:p14="http://schemas.microsoft.com/office/powerpoint/2010/main" val="3833436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nvGraphicFramePr>
        <p:xfrm>
          <a:off x="0" y="1173163"/>
          <a:ext cx="9107488" cy="5395912"/>
        </p:xfrm>
        <a:graphic>
          <a:graphicData uri="http://schemas.openxmlformats.org/presentationml/2006/ole">
            <mc:AlternateContent xmlns:mc="http://schemas.openxmlformats.org/markup-compatibility/2006">
              <mc:Choice xmlns:v="urn:schemas-microsoft-com:vml" Requires="v">
                <p:oleObj spid="_x0000_s15624" name="BMP 图像" r:id="rId3" imgW="17676190" imgH="8097380" progId="Paint.Picture">
                  <p:embed/>
                </p:oleObj>
              </mc:Choice>
              <mc:Fallback>
                <p:oleObj name="BMP 图像" r:id="rId3" imgW="17676190" imgH="809738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30000" t="54970" r="31250"/>
                      <a:stretch>
                        <a:fillRect/>
                      </a:stretch>
                    </p:blipFill>
                    <p:spPr bwMode="auto">
                      <a:xfrm>
                        <a:off x="0" y="1173163"/>
                        <a:ext cx="9107488" cy="539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9" name="Rectangle 3"/>
          <p:cNvSpPr>
            <a:spLocks noChangeArrowheads="1"/>
          </p:cNvSpPr>
          <p:nvPr/>
        </p:nvSpPr>
        <p:spPr bwMode="auto">
          <a:xfrm>
            <a:off x="7524750" y="2781300"/>
            <a:ext cx="503238" cy="1296988"/>
          </a:xfrm>
          <a:prstGeom prst="rect">
            <a:avLst/>
          </a:prstGeom>
          <a:noFill/>
          <a:ln w="9525">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4100" name="AutoShape 5"/>
          <p:cNvSpPr>
            <a:spLocks noChangeArrowheads="1"/>
          </p:cNvSpPr>
          <p:nvPr/>
        </p:nvSpPr>
        <p:spPr bwMode="auto">
          <a:xfrm>
            <a:off x="6012178" y="4436741"/>
            <a:ext cx="1764191" cy="1152525"/>
          </a:xfrm>
          <a:prstGeom prst="wedgeRoundRectCallout">
            <a:avLst>
              <a:gd name="adj1" fmla="val 51178"/>
              <a:gd name="adj2" fmla="val -169321"/>
              <a:gd name="adj3" fmla="val 16667"/>
            </a:avLst>
          </a:prstGeom>
          <a:solidFill>
            <a:schemeClr val="accent1"/>
          </a:solidFill>
          <a:ln w="9525">
            <a:solidFill>
              <a:schemeClr val="tx1"/>
            </a:solidFill>
            <a:miter lim="800000"/>
            <a:headEnd/>
            <a:tailEnd/>
          </a:ln>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2000" dirty="0">
                <a:solidFill>
                  <a:srgbClr val="000000"/>
                </a:solidFill>
              </a:rPr>
              <a:t>需要看后跟符号即</a:t>
            </a:r>
            <a:r>
              <a:rPr lang="en-US" altLang="zh-CN" sz="2000" dirty="0">
                <a:solidFill>
                  <a:srgbClr val="000000"/>
                </a:solidFill>
              </a:rPr>
              <a:t>FOLLOW</a:t>
            </a:r>
            <a:r>
              <a:rPr lang="zh-CN" altLang="en-US" sz="2000" dirty="0">
                <a:solidFill>
                  <a:srgbClr val="000000"/>
                </a:solidFill>
              </a:rPr>
              <a:t>（</a:t>
            </a:r>
            <a:r>
              <a:rPr lang="en-US" altLang="zh-CN" sz="2000" dirty="0">
                <a:solidFill>
                  <a:srgbClr val="000000"/>
                </a:solidFill>
              </a:rPr>
              <a:t>A</a:t>
            </a:r>
            <a:r>
              <a:rPr lang="zh-CN" altLang="en-US" sz="2000" dirty="0">
                <a:solidFill>
                  <a:srgbClr val="000000"/>
                </a:solidFill>
              </a:rPr>
              <a:t>）</a:t>
            </a:r>
          </a:p>
        </p:txBody>
      </p:sp>
      <p:pic>
        <p:nvPicPr>
          <p:cNvPr id="15421" name="Picture 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6" y="5589266"/>
            <a:ext cx="1798886" cy="720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2"/>
          </p:nvPr>
        </p:nvSpPr>
        <p:spPr/>
        <p:txBody>
          <a:bodyPr/>
          <a:lstStyle/>
          <a:p>
            <a:pPr>
              <a:defRPr/>
            </a:pPr>
            <a:fld id="{6969F66A-78E9-40EC-A34E-C4626467CE11}" type="slidenum">
              <a:rPr lang="zh-CN" altLang="en-US" smtClean="0">
                <a:solidFill>
                  <a:srgbClr val="000000"/>
                </a:solidFill>
              </a:rPr>
              <a:pPr>
                <a:defRPr/>
              </a:pPr>
              <a:t>14</a:t>
            </a:fld>
            <a:endParaRPr lang="en-US" altLang="zh-CN">
              <a:solidFill>
                <a:srgbClr val="000000"/>
              </a:solidFill>
            </a:endParaRPr>
          </a:p>
        </p:txBody>
      </p:sp>
    </p:spTree>
    <p:extLst>
      <p:ext uri="{BB962C8B-B14F-4D97-AF65-F5344CB8AC3E}">
        <p14:creationId xmlns:p14="http://schemas.microsoft.com/office/powerpoint/2010/main" val="3566522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5" y="88700"/>
            <a:ext cx="8218486" cy="711200"/>
          </a:xfrm>
        </p:spPr>
        <p:txBody>
          <a:bodyPr/>
          <a:lstStyle/>
          <a:p>
            <a:r>
              <a:rPr lang="zh-CN" altLang="en-US" b="1" dirty="0"/>
              <a:t>一、确定的自顶向下分析思想</a:t>
            </a:r>
          </a:p>
        </p:txBody>
      </p:sp>
      <p:sp>
        <p:nvSpPr>
          <p:cNvPr id="3" name="内容占位符 2"/>
          <p:cNvSpPr>
            <a:spLocks noGrp="1"/>
          </p:cNvSpPr>
          <p:nvPr>
            <p:ph idx="1"/>
          </p:nvPr>
        </p:nvSpPr>
        <p:spPr/>
        <p:txBody>
          <a:bodyPr/>
          <a:lstStyle/>
          <a:p>
            <a:r>
              <a:rPr lang="zh-CN" altLang="en-US" dirty="0">
                <a:solidFill>
                  <a:srgbClr val="000000"/>
                </a:solidFill>
                <a:latin typeface="+mj-ea"/>
                <a:ea typeface="+mj-ea"/>
              </a:rPr>
              <a:t>自顶向下分析</a:t>
            </a:r>
            <a:r>
              <a:rPr lang="zh-CN" altLang="en-US" dirty="0">
                <a:solidFill>
                  <a:srgbClr val="990000"/>
                </a:solidFill>
                <a:latin typeface="+mj-ea"/>
                <a:ea typeface="+mj-ea"/>
              </a:rPr>
              <a:t>总是根据当前句型中的符号和当前输入的符号决定下一步应执行的分析动作。</a:t>
            </a:r>
            <a:r>
              <a:rPr lang="zh-CN" altLang="en-US" dirty="0">
                <a:solidFill>
                  <a:srgbClr val="000000"/>
                </a:solidFill>
                <a:latin typeface="+mj-ea"/>
                <a:ea typeface="+mj-ea"/>
              </a:rPr>
              <a:t>如果句型中当前为终结符且与输入符号匹配，则读下一个输入符号；并根据当前的非终结符号，根据输入符号选择该非终结符的一个产生式进行下一步推导。</a:t>
            </a:r>
            <a:endParaRPr lang="en-US" altLang="zh-CN" dirty="0">
              <a:solidFill>
                <a:srgbClr val="000000"/>
              </a:solidFill>
              <a:latin typeface="+mj-ea"/>
              <a:ea typeface="+mj-ea"/>
            </a:endParaRPr>
          </a:p>
          <a:p>
            <a:r>
              <a:rPr lang="zh-CN" altLang="en-US" dirty="0">
                <a:solidFill>
                  <a:srgbClr val="000000"/>
                </a:solidFill>
                <a:latin typeface="+mj-ea"/>
                <a:ea typeface="+mj-ea"/>
              </a:rPr>
              <a:t>特点： </a:t>
            </a:r>
            <a:r>
              <a:rPr lang="zh-CN" altLang="en-US" dirty="0">
                <a:solidFill>
                  <a:srgbClr val="FF0000"/>
                </a:solidFill>
                <a:latin typeface="+mj-ea"/>
                <a:ea typeface="+mj-ea"/>
              </a:rPr>
              <a:t>非终结符</a:t>
            </a:r>
            <a:r>
              <a:rPr lang="zh-CN" altLang="en-US" dirty="0">
                <a:solidFill>
                  <a:srgbClr val="000000"/>
                </a:solidFill>
                <a:latin typeface="+mj-ea"/>
                <a:ea typeface="+mj-ea"/>
              </a:rPr>
              <a:t>选择和</a:t>
            </a:r>
            <a:r>
              <a:rPr lang="zh-CN" altLang="en-US" dirty="0">
                <a:solidFill>
                  <a:srgbClr val="FF0000"/>
                </a:solidFill>
                <a:latin typeface="+mj-ea"/>
                <a:ea typeface="+mj-ea"/>
              </a:rPr>
              <a:t>产生式选择</a:t>
            </a:r>
            <a:r>
              <a:rPr lang="zh-CN" altLang="en-US" dirty="0">
                <a:solidFill>
                  <a:srgbClr val="000000"/>
                </a:solidFill>
                <a:latin typeface="+mj-ea"/>
                <a:ea typeface="+mj-ea"/>
              </a:rPr>
              <a:t>都是确定的</a:t>
            </a:r>
            <a:endParaRPr lang="en-US" altLang="zh-CN" dirty="0">
              <a:solidFill>
                <a:srgbClr val="000000"/>
              </a:solidFill>
              <a:latin typeface="+mj-ea"/>
              <a:ea typeface="+mj-ea"/>
            </a:endParaRPr>
          </a:p>
          <a:p>
            <a:pPr lvl="1"/>
            <a:r>
              <a:rPr lang="zh-CN" altLang="en-US" dirty="0">
                <a:solidFill>
                  <a:srgbClr val="000000"/>
                </a:solidFill>
                <a:latin typeface="+mj-ea"/>
                <a:ea typeface="+mj-ea"/>
              </a:rPr>
              <a:t>在每一步推导中，总是对</a:t>
            </a:r>
            <a:r>
              <a:rPr lang="zh-CN" altLang="en-US" dirty="0">
                <a:solidFill>
                  <a:srgbClr val="FF0000"/>
                </a:solidFill>
                <a:latin typeface="+mj-ea"/>
                <a:ea typeface="+mj-ea"/>
              </a:rPr>
              <a:t>最左</a:t>
            </a:r>
            <a:r>
              <a:rPr lang="zh-CN" altLang="en-US" dirty="0">
                <a:solidFill>
                  <a:srgbClr val="000000"/>
                </a:solidFill>
                <a:latin typeface="+mj-ea"/>
                <a:ea typeface="+mj-ea"/>
              </a:rPr>
              <a:t>边的</a:t>
            </a:r>
            <a:r>
              <a:rPr lang="zh-CN" altLang="en-US" dirty="0">
                <a:solidFill>
                  <a:srgbClr val="FF0000"/>
                </a:solidFill>
                <a:latin typeface="+mj-ea"/>
                <a:ea typeface="+mj-ea"/>
              </a:rPr>
              <a:t>非终结符</a:t>
            </a:r>
            <a:r>
              <a:rPr lang="zh-CN" altLang="en-US" dirty="0">
                <a:solidFill>
                  <a:srgbClr val="000000"/>
                </a:solidFill>
                <a:latin typeface="+mj-ea"/>
                <a:ea typeface="+mj-ea"/>
              </a:rPr>
              <a:t>进行展开，且选择哪一个</a:t>
            </a:r>
            <a:r>
              <a:rPr lang="zh-CN" altLang="en-US" dirty="0">
                <a:solidFill>
                  <a:srgbClr val="FF0000"/>
                </a:solidFill>
                <a:latin typeface="+mj-ea"/>
                <a:ea typeface="+mj-ea"/>
              </a:rPr>
              <a:t>产生式</a:t>
            </a:r>
            <a:r>
              <a:rPr lang="zh-CN" altLang="en-US" dirty="0">
                <a:solidFill>
                  <a:srgbClr val="000000"/>
                </a:solidFill>
                <a:latin typeface="+mj-ea"/>
                <a:ea typeface="+mj-ea"/>
              </a:rPr>
              <a:t>是</a:t>
            </a:r>
            <a:r>
              <a:rPr lang="zh-CN" altLang="en-US" dirty="0">
                <a:solidFill>
                  <a:srgbClr val="FF0000"/>
                </a:solidFill>
                <a:latin typeface="+mj-ea"/>
                <a:ea typeface="+mj-ea"/>
              </a:rPr>
              <a:t>确定</a:t>
            </a:r>
            <a:r>
              <a:rPr lang="zh-CN" altLang="en-US" dirty="0">
                <a:solidFill>
                  <a:srgbClr val="000000"/>
                </a:solidFill>
                <a:latin typeface="+mj-ea"/>
                <a:ea typeface="+mj-ea"/>
              </a:rPr>
              <a:t>的，  因此是一种</a:t>
            </a:r>
            <a:r>
              <a:rPr lang="zh-CN" altLang="en-US" dirty="0">
                <a:solidFill>
                  <a:srgbClr val="FF0000"/>
                </a:solidFill>
                <a:latin typeface="+mj-ea"/>
                <a:ea typeface="+mj-ea"/>
              </a:rPr>
              <a:t>无回溯</a:t>
            </a:r>
            <a:r>
              <a:rPr lang="zh-CN" altLang="en-US" dirty="0">
                <a:solidFill>
                  <a:srgbClr val="000000"/>
                </a:solidFill>
                <a:latin typeface="+mj-ea"/>
                <a:ea typeface="+mj-ea"/>
              </a:rPr>
              <a:t>的方法。</a:t>
            </a:r>
            <a:endParaRPr lang="en-US" altLang="zh-CN" dirty="0">
              <a:solidFill>
                <a:srgbClr val="000000"/>
              </a:solidFill>
              <a:latin typeface="+mj-ea"/>
              <a:ea typeface="+mj-ea"/>
            </a:endParaRPr>
          </a:p>
          <a:p>
            <a:pPr lvl="1"/>
            <a:r>
              <a:rPr lang="zh-CN" altLang="en-US" dirty="0">
                <a:solidFill>
                  <a:srgbClr val="000000"/>
                </a:solidFill>
                <a:latin typeface="+mj-ea"/>
                <a:ea typeface="+mj-ea"/>
              </a:rPr>
              <a:t>从左向右扫描，可能</a:t>
            </a:r>
            <a:r>
              <a:rPr lang="zh-CN" altLang="en-US" dirty="0">
                <a:solidFill>
                  <a:srgbClr val="FF0000"/>
                </a:solidFill>
                <a:latin typeface="+mj-ea"/>
                <a:ea typeface="+mj-ea"/>
              </a:rPr>
              <a:t>向前查看</a:t>
            </a:r>
            <a:r>
              <a:rPr lang="zh-CN" altLang="en-US" dirty="0">
                <a:solidFill>
                  <a:srgbClr val="000000"/>
                </a:solidFill>
                <a:latin typeface="+mj-ea"/>
                <a:ea typeface="+mj-ea"/>
              </a:rPr>
              <a:t>（</a:t>
            </a:r>
            <a:r>
              <a:rPr lang="en-US" altLang="zh-CN" dirty="0" err="1">
                <a:solidFill>
                  <a:srgbClr val="000000"/>
                </a:solidFill>
                <a:latin typeface="+mj-ea"/>
                <a:ea typeface="+mj-ea"/>
              </a:rPr>
              <a:t>lookahead</a:t>
            </a:r>
            <a:r>
              <a:rPr lang="zh-CN" altLang="en-US" dirty="0">
                <a:solidFill>
                  <a:srgbClr val="000000"/>
                </a:solidFill>
                <a:latin typeface="+mj-ea"/>
                <a:ea typeface="+mj-ea"/>
              </a:rPr>
              <a:t>）  </a:t>
            </a:r>
            <a:r>
              <a:rPr lang="zh-CN" altLang="en-US" dirty="0">
                <a:solidFill>
                  <a:srgbClr val="FF0000"/>
                </a:solidFill>
                <a:latin typeface="+mj-ea"/>
                <a:ea typeface="+mj-ea"/>
              </a:rPr>
              <a:t>确定数目的单词</a:t>
            </a:r>
          </a:p>
          <a:p>
            <a:pPr lvl="1"/>
            <a:endParaRPr lang="zh-CN" altLang="en-US" dirty="0">
              <a:solidFill>
                <a:srgbClr val="000000"/>
              </a:solidFill>
              <a:latin typeface="+mj-ea"/>
              <a:ea typeface="+mj-ea"/>
            </a:endParaRPr>
          </a:p>
          <a:p>
            <a:pPr lvl="1"/>
            <a:endParaRPr lang="en-US" altLang="zh-CN" dirty="0">
              <a:solidFill>
                <a:srgbClr val="000000"/>
              </a:solidFill>
              <a:latin typeface="+mj-ea"/>
              <a:ea typeface="+mj-ea"/>
            </a:endParaRPr>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15</a:t>
            </a:fld>
            <a:endParaRPr lang="zh-CN" altLang="en-US">
              <a:solidFill>
                <a:srgbClr val="3F3F3F"/>
              </a:solidFill>
            </a:endParaRPr>
          </a:p>
        </p:txBody>
      </p:sp>
    </p:spTree>
    <p:extLst>
      <p:ext uri="{BB962C8B-B14F-4D97-AF65-F5344CB8AC3E}">
        <p14:creationId xmlns:p14="http://schemas.microsoft.com/office/powerpoint/2010/main" val="784772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5" y="88700"/>
            <a:ext cx="8218486" cy="711200"/>
          </a:xfrm>
        </p:spPr>
        <p:txBody>
          <a:bodyPr/>
          <a:lstStyle/>
          <a:p>
            <a:r>
              <a:rPr lang="zh-CN" altLang="en-US" b="1" dirty="0"/>
              <a:t>一、确定的自顶向下分析思想</a:t>
            </a:r>
          </a:p>
        </p:txBody>
      </p:sp>
      <p:sp>
        <p:nvSpPr>
          <p:cNvPr id="3" name="内容占位符 2"/>
          <p:cNvSpPr>
            <a:spLocks noGrp="1"/>
          </p:cNvSpPr>
          <p:nvPr>
            <p:ph idx="1"/>
          </p:nvPr>
        </p:nvSpPr>
        <p:spPr>
          <a:xfrm>
            <a:off x="468313" y="1060652"/>
            <a:ext cx="8218487" cy="5113338"/>
          </a:xfrm>
        </p:spPr>
        <p:txBody>
          <a:bodyPr/>
          <a:lstStyle/>
          <a:p>
            <a:r>
              <a:rPr lang="zh-CN" altLang="en-US" dirty="0">
                <a:solidFill>
                  <a:srgbClr val="000000"/>
                </a:solidFill>
                <a:latin typeface="+mj-ea"/>
                <a:ea typeface="+mj-ea"/>
              </a:rPr>
              <a:t>分析成功的</a:t>
            </a:r>
            <a:r>
              <a:rPr lang="zh-CN" altLang="en-US" dirty="0">
                <a:solidFill>
                  <a:srgbClr val="FF0000"/>
                </a:solidFill>
                <a:latin typeface="+mj-ea"/>
                <a:ea typeface="+mj-ea"/>
              </a:rPr>
              <a:t>结果</a:t>
            </a:r>
            <a:r>
              <a:rPr lang="zh-CN" altLang="en-US" dirty="0">
                <a:solidFill>
                  <a:srgbClr val="000000"/>
                </a:solidFill>
                <a:latin typeface="+mj-ea"/>
                <a:ea typeface="+mj-ea"/>
              </a:rPr>
              <a:t>：得到</a:t>
            </a:r>
            <a:r>
              <a:rPr lang="zh-CN" altLang="en-US" dirty="0">
                <a:solidFill>
                  <a:srgbClr val="FF0000"/>
                </a:solidFill>
                <a:latin typeface="+mj-ea"/>
                <a:ea typeface="+mj-ea"/>
              </a:rPr>
              <a:t>唯一</a:t>
            </a:r>
            <a:r>
              <a:rPr lang="zh-CN" altLang="en-US" dirty="0">
                <a:solidFill>
                  <a:srgbClr val="000000"/>
                </a:solidFill>
                <a:latin typeface="+mj-ea"/>
                <a:ea typeface="+mj-ea"/>
              </a:rPr>
              <a:t>的最左推导</a:t>
            </a:r>
          </a:p>
          <a:p>
            <a:r>
              <a:rPr lang="zh-CN" altLang="en-US" dirty="0">
                <a:solidFill>
                  <a:srgbClr val="000000"/>
                </a:solidFill>
                <a:latin typeface="+mj-ea"/>
                <a:ea typeface="+mj-ea"/>
              </a:rPr>
              <a:t>分析条件：对</a:t>
            </a:r>
            <a:r>
              <a:rPr lang="zh-CN" altLang="en-US" dirty="0">
                <a:solidFill>
                  <a:srgbClr val="FF0000"/>
                </a:solidFill>
                <a:latin typeface="+mj-ea"/>
                <a:ea typeface="+mj-ea"/>
              </a:rPr>
              <a:t>文法</a:t>
            </a:r>
            <a:r>
              <a:rPr lang="zh-CN" altLang="en-US" dirty="0">
                <a:solidFill>
                  <a:srgbClr val="000000"/>
                </a:solidFill>
                <a:latin typeface="+mj-ea"/>
                <a:ea typeface="+mj-ea"/>
              </a:rPr>
              <a:t>需要有一定的</a:t>
            </a:r>
            <a:r>
              <a:rPr lang="zh-CN" altLang="en-US" dirty="0">
                <a:solidFill>
                  <a:srgbClr val="FF0000"/>
                </a:solidFill>
                <a:latin typeface="+mj-ea"/>
                <a:ea typeface="+mj-ea"/>
              </a:rPr>
              <a:t>限制</a:t>
            </a:r>
            <a:endParaRPr lang="en-US" altLang="zh-CN" dirty="0">
              <a:solidFill>
                <a:srgbClr val="FF0000"/>
              </a:solidFill>
              <a:latin typeface="+mj-ea"/>
              <a:ea typeface="+mj-ea"/>
            </a:endParaRPr>
          </a:p>
          <a:p>
            <a:r>
              <a:rPr lang="zh-CN" altLang="en-US" dirty="0">
                <a:solidFill>
                  <a:srgbClr val="FF0000"/>
                </a:solidFill>
                <a:latin typeface="+mj-ea"/>
                <a:ea typeface="+mj-ea"/>
              </a:rPr>
              <a:t>限制条件：不存在左递归、不存在公共因子。</a:t>
            </a:r>
          </a:p>
          <a:p>
            <a:r>
              <a:rPr lang="zh-CN" altLang="en-US" dirty="0">
                <a:solidFill>
                  <a:srgbClr val="000000"/>
                </a:solidFill>
                <a:latin typeface="+mj-ea"/>
                <a:ea typeface="+mj-ea"/>
              </a:rPr>
              <a:t>为了分析方便，能够对输入串确定句型所选择的产生式</a:t>
            </a:r>
            <a:r>
              <a:rPr lang="zh-CN" altLang="en-US" dirty="0">
                <a:solidFill>
                  <a:srgbClr val="3333CC"/>
                </a:solidFill>
                <a:latin typeface="+mj-ea"/>
                <a:ea typeface="+mj-ea"/>
              </a:rPr>
              <a:t>需要定义两个集合</a:t>
            </a:r>
            <a:r>
              <a:rPr lang="zh-CN" altLang="en-US" dirty="0">
                <a:solidFill>
                  <a:srgbClr val="000000"/>
                </a:solidFill>
                <a:latin typeface="+mj-ea"/>
                <a:ea typeface="+mj-ea"/>
              </a:rPr>
              <a:t>：即</a:t>
            </a:r>
            <a:r>
              <a:rPr lang="zh-CN" altLang="en-US" dirty="0">
                <a:solidFill>
                  <a:srgbClr val="FF0000"/>
                </a:solidFill>
                <a:latin typeface="+mj-ea"/>
                <a:ea typeface="+mj-ea"/>
              </a:rPr>
              <a:t>文法符号串</a:t>
            </a:r>
            <a:r>
              <a:rPr lang="zh-CN" altLang="en-US" dirty="0">
                <a:solidFill>
                  <a:srgbClr val="000000"/>
                </a:solidFill>
                <a:latin typeface="+mj-ea"/>
                <a:ea typeface="+mj-ea"/>
              </a:rPr>
              <a:t>的</a:t>
            </a:r>
            <a:r>
              <a:rPr lang="zh-CN" altLang="en-US" dirty="0">
                <a:solidFill>
                  <a:srgbClr val="FF0000"/>
                </a:solidFill>
                <a:latin typeface="+mj-ea"/>
                <a:ea typeface="+mj-ea"/>
              </a:rPr>
              <a:t>首符号集</a:t>
            </a:r>
            <a:r>
              <a:rPr lang="en-US" altLang="zh-CN" dirty="0">
                <a:solidFill>
                  <a:srgbClr val="990000"/>
                </a:solidFill>
                <a:latin typeface="+mj-ea"/>
                <a:ea typeface="+mj-ea"/>
              </a:rPr>
              <a:t>FIRST</a:t>
            </a:r>
            <a:r>
              <a:rPr lang="zh-CN" altLang="en-US" dirty="0">
                <a:solidFill>
                  <a:srgbClr val="000000"/>
                </a:solidFill>
                <a:latin typeface="+mj-ea"/>
                <a:ea typeface="+mj-ea"/>
              </a:rPr>
              <a:t>和</a:t>
            </a:r>
            <a:r>
              <a:rPr lang="zh-CN" altLang="en-US" dirty="0">
                <a:solidFill>
                  <a:srgbClr val="FF0000"/>
                </a:solidFill>
                <a:latin typeface="+mj-ea"/>
                <a:ea typeface="+mj-ea"/>
              </a:rPr>
              <a:t>非终结符</a:t>
            </a:r>
            <a:r>
              <a:rPr lang="zh-CN" altLang="en-US" dirty="0">
                <a:solidFill>
                  <a:srgbClr val="000000"/>
                </a:solidFill>
                <a:latin typeface="+mj-ea"/>
                <a:ea typeface="+mj-ea"/>
              </a:rPr>
              <a:t>的</a:t>
            </a:r>
            <a:r>
              <a:rPr lang="zh-CN" altLang="en-US" dirty="0">
                <a:solidFill>
                  <a:srgbClr val="FF0000"/>
                </a:solidFill>
                <a:latin typeface="+mj-ea"/>
                <a:ea typeface="+mj-ea"/>
              </a:rPr>
              <a:t>后跟符号集</a:t>
            </a:r>
            <a:r>
              <a:rPr lang="en-US" altLang="zh-CN" dirty="0">
                <a:solidFill>
                  <a:srgbClr val="990000"/>
                </a:solidFill>
                <a:latin typeface="+mj-ea"/>
                <a:ea typeface="+mj-ea"/>
              </a:rPr>
              <a:t>FOLLOW</a:t>
            </a:r>
            <a:endParaRPr lang="zh-CN" altLang="en-US" dirty="0">
              <a:latin typeface="+mj-ea"/>
              <a:ea typeface="+mj-ea"/>
            </a:endParaRPr>
          </a:p>
          <a:p>
            <a:endParaRPr lang="zh-CN" altLang="en-US" dirty="0">
              <a:latin typeface="+mj-ea"/>
              <a:ea typeface="+mj-ea"/>
            </a:endParaRPr>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16</a:t>
            </a:fld>
            <a:endParaRPr lang="zh-CN" altLang="en-US">
              <a:solidFill>
                <a:srgbClr val="3F3F3F"/>
              </a:solidFill>
            </a:endParaRPr>
          </a:p>
        </p:txBody>
      </p:sp>
    </p:spTree>
    <p:extLst>
      <p:ext uri="{BB962C8B-B14F-4D97-AF65-F5344CB8AC3E}">
        <p14:creationId xmlns:p14="http://schemas.microsoft.com/office/powerpoint/2010/main" val="641582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5" y="88700"/>
            <a:ext cx="8218486" cy="711200"/>
          </a:xfrm>
        </p:spPr>
        <p:txBody>
          <a:bodyPr/>
          <a:lstStyle/>
          <a:p>
            <a:r>
              <a:rPr lang="zh-CN" altLang="en-US" b="1" dirty="0"/>
              <a:t>定义：首符号集</a:t>
            </a:r>
            <a:r>
              <a:rPr lang="en-US" altLang="zh-CN" b="1" dirty="0"/>
              <a:t>FIRST</a:t>
            </a:r>
            <a:endParaRPr lang="zh-CN" altLang="en-US" b="1" dirty="0"/>
          </a:p>
        </p:txBody>
      </p:sp>
      <p:sp>
        <p:nvSpPr>
          <p:cNvPr id="4" name="Rectangle 3"/>
          <p:cNvSpPr txBox="1">
            <a:spLocks noChangeArrowheads="1"/>
          </p:cNvSpPr>
          <p:nvPr/>
        </p:nvSpPr>
        <p:spPr bwMode="auto">
          <a:xfrm>
            <a:off x="935967" y="2708911"/>
            <a:ext cx="7777162" cy="230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55600" indent="-269875" algn="l" rtl="0" eaLnBrk="1" fontAlgn="base" hangingPunct="1">
              <a:spcBef>
                <a:spcPts val="1800"/>
              </a:spcBef>
              <a:spcAft>
                <a:spcPct val="0"/>
              </a:spcAft>
              <a:buClr>
                <a:srgbClr val="003399"/>
              </a:buClr>
              <a:buSzPct val="80000"/>
              <a:buFont typeface="Wingdings 2" panose="05020102010507070707" pitchFamily="18" charset="2"/>
              <a:buChar char=""/>
              <a:defRPr sz="2800" b="1" kern="1200">
                <a:solidFill>
                  <a:srgbClr val="003399"/>
                </a:solidFill>
                <a:latin typeface="+mn-lt"/>
                <a:ea typeface="+mn-ea"/>
                <a:cs typeface="+mn-cs"/>
              </a:defRPr>
            </a:lvl1pPr>
            <a:lvl2pPr marL="700088" indent="-342900" algn="l" rtl="0" eaLnBrk="1" fontAlgn="base" hangingPunct="1">
              <a:lnSpc>
                <a:spcPct val="120000"/>
              </a:lnSpc>
              <a:spcBef>
                <a:spcPct val="20000"/>
              </a:spcBef>
              <a:spcAft>
                <a:spcPct val="0"/>
              </a:spcAft>
              <a:buFont typeface="Wingdings" panose="05000000000000000000" pitchFamily="2" charset="2"/>
              <a:buChar char="p"/>
              <a:defRPr sz="2400" b="1" kern="1200">
                <a:solidFill>
                  <a:srgbClr val="7030A0"/>
                </a:solidFill>
                <a:latin typeface="+mn-lt"/>
                <a:ea typeface="+mn-ea"/>
                <a:cs typeface="+mn-cs"/>
              </a:defRPr>
            </a:lvl2pPr>
            <a:lvl3pPr marL="1143000" indent="-228600" algn="l" rtl="0" eaLnBrk="1" fontAlgn="base" hangingPunct="1">
              <a:spcBef>
                <a:spcPct val="20000"/>
              </a:spcBef>
              <a:spcAft>
                <a:spcPct val="0"/>
              </a:spcAft>
              <a:buFont typeface="Wingdings" panose="05000000000000000000" pitchFamily="2" charset="2"/>
              <a:buChar char="ü"/>
              <a:defRPr sz="1400" kern="1200">
                <a:solidFill>
                  <a:srgbClr val="4D4D4D"/>
                </a:solidFill>
                <a:latin typeface="+mn-lt"/>
                <a:ea typeface="+mn-ea"/>
                <a:cs typeface="+mn-cs"/>
              </a:defRPr>
            </a:lvl3pPr>
            <a:lvl4pPr marL="1600200" indent="-228600" algn="l" rtl="0" eaLnBrk="1" fontAlgn="base" hangingPunct="1">
              <a:spcBef>
                <a:spcPct val="20000"/>
              </a:spcBef>
              <a:spcAft>
                <a:spcPct val="0"/>
              </a:spcAft>
              <a:buChar char="–"/>
              <a:defRPr sz="1200" kern="1200">
                <a:solidFill>
                  <a:srgbClr val="4D4D4D"/>
                </a:solidFill>
                <a:latin typeface="+mn-lt"/>
                <a:ea typeface="+mn-ea"/>
                <a:cs typeface="+mn-cs"/>
              </a:defRPr>
            </a:lvl4pPr>
            <a:lvl5pPr marL="2057400" indent="-228600" algn="l" rtl="0" eaLnBrk="1" fontAlgn="base" hangingPunct="1">
              <a:spcBef>
                <a:spcPct val="20000"/>
              </a:spcBef>
              <a:spcAft>
                <a:spcPct val="0"/>
              </a:spcAft>
              <a:buChar char="»"/>
              <a:defRPr sz="1200" kern="1200">
                <a:solidFill>
                  <a:srgbClr val="4D4D4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zh-CN" altLang="en-US" dirty="0">
                <a:latin typeface="+mj-ea"/>
                <a:ea typeface="+mj-ea"/>
              </a:rPr>
              <a:t>设</a:t>
            </a:r>
            <a:r>
              <a:rPr lang="en-US" altLang="zh-CN" dirty="0">
                <a:latin typeface="+mj-ea"/>
                <a:ea typeface="+mj-ea"/>
              </a:rPr>
              <a:t>G=（V</a:t>
            </a:r>
            <a:r>
              <a:rPr lang="en-US" altLang="zh-CN" sz="1800" dirty="0">
                <a:latin typeface="+mj-ea"/>
                <a:ea typeface="+mj-ea"/>
              </a:rPr>
              <a:t>N</a:t>
            </a:r>
            <a:r>
              <a:rPr lang="en-US" altLang="zh-CN" dirty="0">
                <a:latin typeface="+mj-ea"/>
                <a:ea typeface="+mj-ea"/>
              </a:rPr>
              <a:t>、V</a:t>
            </a:r>
            <a:r>
              <a:rPr lang="en-US" altLang="zh-CN" sz="1800" dirty="0">
                <a:latin typeface="+mj-ea"/>
                <a:ea typeface="+mj-ea"/>
              </a:rPr>
              <a:t>T</a:t>
            </a:r>
            <a:r>
              <a:rPr lang="en-US" altLang="zh-CN" dirty="0">
                <a:latin typeface="+mj-ea"/>
                <a:ea typeface="+mj-ea"/>
              </a:rPr>
              <a:t>、P、S）</a:t>
            </a:r>
            <a:r>
              <a:rPr lang="zh-CN" altLang="en-US" dirty="0">
                <a:latin typeface="+mj-ea"/>
                <a:ea typeface="+mj-ea"/>
              </a:rPr>
              <a:t>是上下文无关文法，则文法符号串</a:t>
            </a:r>
            <a:r>
              <a:rPr lang="zh-CN" altLang="en-US" dirty="0">
                <a:solidFill>
                  <a:srgbClr val="FF0000"/>
                </a:solidFill>
                <a:latin typeface="+mj-ea"/>
                <a:ea typeface="+mj-ea"/>
                <a:sym typeface="Symbol" pitchFamily="18" charset="2"/>
              </a:rPr>
              <a:t></a:t>
            </a:r>
            <a:r>
              <a:rPr lang="zh-CN" altLang="en-US" dirty="0">
                <a:latin typeface="+mj-ea"/>
                <a:ea typeface="+mj-ea"/>
                <a:sym typeface="Symbol" pitchFamily="18" charset="2"/>
              </a:rPr>
              <a:t>的</a:t>
            </a:r>
            <a:r>
              <a:rPr lang="zh-CN" altLang="en-US" dirty="0">
                <a:solidFill>
                  <a:srgbClr val="FF0000"/>
                </a:solidFill>
                <a:latin typeface="+mj-ea"/>
                <a:ea typeface="+mj-ea"/>
                <a:sym typeface="Symbol" pitchFamily="18" charset="2"/>
              </a:rPr>
              <a:t>开始符号集</a:t>
            </a:r>
            <a:r>
              <a:rPr lang="zh-CN" altLang="en-US" dirty="0">
                <a:latin typeface="+mj-ea"/>
                <a:ea typeface="+mj-ea"/>
                <a:sym typeface="Symbol" pitchFamily="18" charset="2"/>
              </a:rPr>
              <a:t>为：</a:t>
            </a:r>
          </a:p>
          <a:p>
            <a:pPr lvl="1">
              <a:lnSpc>
                <a:spcPct val="130000"/>
              </a:lnSpc>
            </a:pPr>
            <a:r>
              <a:rPr lang="en-US" altLang="zh-CN" dirty="0">
                <a:solidFill>
                  <a:srgbClr val="FF0000"/>
                </a:solidFill>
                <a:latin typeface="+mj-ea"/>
                <a:ea typeface="+mj-ea"/>
              </a:rPr>
              <a:t>FIRST（ </a:t>
            </a:r>
            <a:r>
              <a:rPr lang="zh-CN" altLang="en-US" dirty="0">
                <a:solidFill>
                  <a:srgbClr val="FF0000"/>
                </a:solidFill>
                <a:latin typeface="+mj-ea"/>
                <a:ea typeface="+mj-ea"/>
                <a:sym typeface="Symbol" pitchFamily="18" charset="2"/>
              </a:rPr>
              <a:t></a:t>
            </a:r>
            <a:r>
              <a:rPr lang="en-US" altLang="zh-CN" dirty="0">
                <a:solidFill>
                  <a:srgbClr val="FF0000"/>
                </a:solidFill>
                <a:latin typeface="+mj-ea"/>
                <a:ea typeface="+mj-ea"/>
              </a:rPr>
              <a:t> ）</a:t>
            </a:r>
            <a:r>
              <a:rPr lang="en-US" altLang="zh-CN" dirty="0">
                <a:latin typeface="+mj-ea"/>
                <a:ea typeface="+mj-ea"/>
              </a:rPr>
              <a:t>={a| </a:t>
            </a:r>
            <a:r>
              <a:rPr lang="zh-CN" altLang="en-US" dirty="0">
                <a:latin typeface="+mj-ea"/>
                <a:ea typeface="+mj-ea"/>
                <a:sym typeface="Symbol" pitchFamily="18" charset="2"/>
              </a:rPr>
              <a:t>  </a:t>
            </a:r>
            <a:r>
              <a:rPr lang="en-US" altLang="zh-CN" baseline="30000" dirty="0">
                <a:latin typeface="+mj-ea"/>
                <a:ea typeface="+mj-ea"/>
                <a:sym typeface="Symbol" pitchFamily="18" charset="2"/>
              </a:rPr>
              <a:t>*</a:t>
            </a:r>
            <a:r>
              <a:rPr lang="zh-CN" altLang="en-US" dirty="0">
                <a:latin typeface="+mj-ea"/>
                <a:ea typeface="+mj-ea"/>
                <a:sym typeface="Symbol" pitchFamily="18" charset="2"/>
              </a:rPr>
              <a:t>   </a:t>
            </a:r>
            <a:r>
              <a:rPr lang="en-US" altLang="zh-CN" dirty="0">
                <a:latin typeface="+mj-ea"/>
                <a:ea typeface="+mj-ea"/>
              </a:rPr>
              <a:t>a</a:t>
            </a:r>
            <a:r>
              <a:rPr lang="en-US" altLang="zh-CN" dirty="0">
                <a:latin typeface="+mj-ea"/>
                <a:ea typeface="+mj-ea"/>
                <a:sym typeface="Symbol" pitchFamily="18" charset="2"/>
              </a:rPr>
              <a:t>，</a:t>
            </a:r>
            <a:r>
              <a:rPr lang="en-US" altLang="zh-CN" dirty="0" err="1">
                <a:latin typeface="+mj-ea"/>
                <a:ea typeface="+mj-ea"/>
              </a:rPr>
              <a:t>a</a:t>
            </a:r>
            <a:r>
              <a:rPr lang="en-US" altLang="zh-CN" dirty="0" err="1">
                <a:latin typeface="+mj-ea"/>
                <a:ea typeface="+mj-ea"/>
                <a:sym typeface="Symbol" pitchFamily="18" charset="2"/>
              </a:rPr>
              <a:t></a:t>
            </a:r>
            <a:r>
              <a:rPr lang="en-US" altLang="zh-CN" dirty="0" err="1">
                <a:latin typeface="+mj-ea"/>
                <a:ea typeface="+mj-ea"/>
              </a:rPr>
              <a:t>V</a:t>
            </a:r>
            <a:r>
              <a:rPr lang="en-US" altLang="zh-CN" sz="1600" dirty="0" err="1">
                <a:latin typeface="+mj-ea"/>
                <a:ea typeface="+mj-ea"/>
              </a:rPr>
              <a:t>T</a:t>
            </a:r>
            <a:r>
              <a:rPr lang="en-US" altLang="zh-CN" dirty="0">
                <a:latin typeface="+mj-ea"/>
                <a:ea typeface="+mj-ea"/>
                <a:sym typeface="Symbol" pitchFamily="18" charset="2"/>
              </a:rPr>
              <a:t>，</a:t>
            </a:r>
            <a:r>
              <a:rPr lang="zh-CN" altLang="en-US" dirty="0">
                <a:latin typeface="+mj-ea"/>
                <a:ea typeface="+mj-ea"/>
                <a:sym typeface="Symbol" pitchFamily="18" charset="2"/>
              </a:rPr>
              <a:t>、</a:t>
            </a:r>
            <a:r>
              <a:rPr lang="en-US" altLang="zh-CN" dirty="0">
                <a:latin typeface="+mj-ea"/>
                <a:ea typeface="+mj-ea"/>
                <a:sym typeface="Symbol" pitchFamily="18" charset="2"/>
              </a:rPr>
              <a:t>V</a:t>
            </a:r>
            <a:r>
              <a:rPr lang="en-US" altLang="zh-CN" baseline="30000" dirty="0">
                <a:latin typeface="+mj-ea"/>
                <a:ea typeface="+mj-ea"/>
                <a:sym typeface="Symbol" pitchFamily="18" charset="2"/>
              </a:rPr>
              <a:t>*</a:t>
            </a:r>
            <a:r>
              <a:rPr lang="en-US" altLang="zh-CN" dirty="0">
                <a:latin typeface="+mj-ea"/>
                <a:ea typeface="+mj-ea"/>
              </a:rPr>
              <a:t>}</a:t>
            </a:r>
          </a:p>
          <a:p>
            <a:pPr lvl="1">
              <a:lnSpc>
                <a:spcPct val="130000"/>
              </a:lnSpc>
            </a:pPr>
            <a:r>
              <a:rPr lang="zh-CN" altLang="en-US" dirty="0">
                <a:latin typeface="+mj-ea"/>
                <a:ea typeface="+mj-ea"/>
              </a:rPr>
              <a:t>若</a:t>
            </a:r>
            <a:r>
              <a:rPr lang="zh-CN" altLang="en-US" dirty="0">
                <a:latin typeface="+mj-ea"/>
                <a:ea typeface="+mj-ea"/>
                <a:sym typeface="Symbol" pitchFamily="18" charset="2"/>
              </a:rPr>
              <a:t>  </a:t>
            </a:r>
            <a:r>
              <a:rPr lang="en-US" altLang="zh-CN" baseline="30000" dirty="0">
                <a:latin typeface="+mj-ea"/>
                <a:ea typeface="+mj-ea"/>
                <a:sym typeface="Symbol" pitchFamily="18" charset="2"/>
              </a:rPr>
              <a:t>*</a:t>
            </a:r>
            <a:r>
              <a:rPr lang="zh-CN" altLang="en-US" dirty="0">
                <a:latin typeface="+mj-ea"/>
                <a:ea typeface="+mj-ea"/>
                <a:sym typeface="Symbol" pitchFamily="18" charset="2"/>
              </a:rPr>
              <a:t>   ，则 </a:t>
            </a:r>
            <a:r>
              <a:rPr lang="zh-CN" altLang="en-US" dirty="0">
                <a:solidFill>
                  <a:srgbClr val="FF0000"/>
                </a:solidFill>
                <a:latin typeface="+mj-ea"/>
                <a:ea typeface="+mj-ea"/>
                <a:sym typeface="Symbol" pitchFamily="18" charset="2"/>
              </a:rPr>
              <a:t> </a:t>
            </a:r>
            <a:r>
              <a:rPr lang="en-US" altLang="zh-CN" dirty="0">
                <a:solidFill>
                  <a:srgbClr val="FF0000"/>
                </a:solidFill>
                <a:latin typeface="+mj-ea"/>
                <a:ea typeface="+mj-ea"/>
                <a:sym typeface="Symbol" pitchFamily="18" charset="2"/>
              </a:rPr>
              <a:t> </a:t>
            </a:r>
            <a:r>
              <a:rPr lang="en-US" altLang="zh-CN" dirty="0">
                <a:solidFill>
                  <a:srgbClr val="FF0000"/>
                </a:solidFill>
                <a:latin typeface="+mj-ea"/>
                <a:ea typeface="+mj-ea"/>
              </a:rPr>
              <a:t>FIRST（ </a:t>
            </a:r>
            <a:r>
              <a:rPr lang="zh-CN" altLang="en-US" dirty="0">
                <a:solidFill>
                  <a:srgbClr val="FF0000"/>
                </a:solidFill>
                <a:latin typeface="+mj-ea"/>
                <a:ea typeface="+mj-ea"/>
                <a:sym typeface="Symbol" pitchFamily="18" charset="2"/>
              </a:rPr>
              <a:t></a:t>
            </a:r>
            <a:r>
              <a:rPr lang="en-US" altLang="zh-CN" dirty="0">
                <a:solidFill>
                  <a:srgbClr val="FF0000"/>
                </a:solidFill>
                <a:latin typeface="+mj-ea"/>
                <a:ea typeface="+mj-ea"/>
              </a:rPr>
              <a:t> ）</a:t>
            </a:r>
          </a:p>
          <a:p>
            <a:pPr>
              <a:lnSpc>
                <a:spcPct val="130000"/>
              </a:lnSpc>
              <a:buFont typeface="Wingdings" pitchFamily="2" charset="2"/>
              <a:buNone/>
            </a:pPr>
            <a:endParaRPr lang="zh-CN" altLang="en-US" b="0" dirty="0">
              <a:latin typeface="+mj-ea"/>
              <a:ea typeface="+mj-ea"/>
            </a:endParaRPr>
          </a:p>
        </p:txBody>
      </p:sp>
      <p:sp>
        <p:nvSpPr>
          <p:cNvPr id="5" name="AutoShape 4"/>
          <p:cNvSpPr>
            <a:spLocks noChangeArrowheads="1"/>
          </p:cNvSpPr>
          <p:nvPr/>
        </p:nvSpPr>
        <p:spPr bwMode="auto">
          <a:xfrm>
            <a:off x="4591979" y="4220211"/>
            <a:ext cx="304800" cy="76200"/>
          </a:xfrm>
          <a:prstGeom prst="rightArrow">
            <a:avLst>
              <a:gd name="adj1" fmla="val 50000"/>
              <a:gd name="adj2" fmla="val 10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6" name="AutoShape 5"/>
          <p:cNvSpPr>
            <a:spLocks noChangeArrowheads="1"/>
          </p:cNvSpPr>
          <p:nvPr/>
        </p:nvSpPr>
        <p:spPr bwMode="auto">
          <a:xfrm>
            <a:off x="2283755" y="4729799"/>
            <a:ext cx="304800" cy="76200"/>
          </a:xfrm>
          <a:prstGeom prst="rightArrow">
            <a:avLst>
              <a:gd name="adj1" fmla="val 50000"/>
              <a:gd name="adj2" fmla="val 10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7" name="Rectangle 6"/>
          <p:cNvSpPr>
            <a:spLocks noChangeArrowheads="1"/>
          </p:cNvSpPr>
          <p:nvPr/>
        </p:nvSpPr>
        <p:spPr bwMode="auto">
          <a:xfrm>
            <a:off x="935967" y="5018235"/>
            <a:ext cx="7848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r>
              <a:rPr lang="zh-CN" altLang="en-US" sz="2800" b="1" dirty="0">
                <a:solidFill>
                  <a:srgbClr val="3333CC"/>
                </a:solidFill>
                <a:latin typeface="Arial" pitchFamily="34" charset="0"/>
              </a:rPr>
              <a:t>称</a:t>
            </a:r>
            <a:r>
              <a:rPr lang="en-US" altLang="zh-CN" sz="2800" b="1" dirty="0">
                <a:solidFill>
                  <a:srgbClr val="3333CC"/>
                </a:solidFill>
                <a:latin typeface="Arial" pitchFamily="34" charset="0"/>
              </a:rPr>
              <a:t>FIRST(α) </a:t>
            </a:r>
            <a:r>
              <a:rPr lang="zh-CN" altLang="en-US" sz="2800" b="1" dirty="0">
                <a:solidFill>
                  <a:srgbClr val="3333CC"/>
                </a:solidFill>
                <a:latin typeface="Arial" pitchFamily="34" charset="0"/>
              </a:rPr>
              <a:t>为</a:t>
            </a:r>
            <a:r>
              <a:rPr lang="en-US" altLang="zh-CN" sz="2800" b="1" dirty="0">
                <a:solidFill>
                  <a:srgbClr val="3333CC"/>
                </a:solidFill>
                <a:latin typeface="Arial" pitchFamily="34" charset="0"/>
              </a:rPr>
              <a:t>α</a:t>
            </a:r>
            <a:r>
              <a:rPr lang="zh-CN" altLang="en-US" sz="2800" b="1" dirty="0">
                <a:solidFill>
                  <a:srgbClr val="3333CC"/>
                </a:solidFill>
                <a:latin typeface="Arial" pitchFamily="34" charset="0"/>
              </a:rPr>
              <a:t>的</a:t>
            </a:r>
            <a:r>
              <a:rPr lang="zh-CN" altLang="en-US" sz="2800" b="1" dirty="0">
                <a:solidFill>
                  <a:srgbClr val="FF0000"/>
                </a:solidFill>
                <a:latin typeface="Arial" pitchFamily="34" charset="0"/>
              </a:rPr>
              <a:t>开始符号集</a:t>
            </a:r>
            <a:r>
              <a:rPr lang="zh-CN" altLang="en-US" sz="2800" b="1" dirty="0">
                <a:solidFill>
                  <a:srgbClr val="3333CC"/>
                </a:solidFill>
                <a:latin typeface="Arial" pitchFamily="34" charset="0"/>
              </a:rPr>
              <a:t>或</a:t>
            </a:r>
            <a:r>
              <a:rPr lang="zh-CN" altLang="en-US" sz="2800" b="1" dirty="0">
                <a:solidFill>
                  <a:srgbClr val="FF0000"/>
                </a:solidFill>
                <a:latin typeface="Arial" pitchFamily="34" charset="0"/>
              </a:rPr>
              <a:t>首字符集</a:t>
            </a:r>
            <a:r>
              <a:rPr lang="zh-CN" altLang="en-US" sz="2800" b="1" dirty="0">
                <a:solidFill>
                  <a:srgbClr val="3333CC"/>
                </a:solidFill>
                <a:latin typeface="Arial" pitchFamily="34" charset="0"/>
              </a:rPr>
              <a:t>。</a:t>
            </a:r>
            <a:endParaRPr lang="en-US" altLang="zh-CN" sz="2800" b="1" dirty="0">
              <a:solidFill>
                <a:srgbClr val="3333CC"/>
              </a:solidFill>
              <a:latin typeface="宋体" pitchFamily="2" charset="-122"/>
              <a:sym typeface="Symbol" pitchFamily="18" charset="2"/>
            </a:endParaRPr>
          </a:p>
        </p:txBody>
      </p:sp>
      <p:sp>
        <p:nvSpPr>
          <p:cNvPr id="8" name="Rectangle 6"/>
          <p:cNvSpPr>
            <a:spLocks noChangeArrowheads="1"/>
          </p:cNvSpPr>
          <p:nvPr/>
        </p:nvSpPr>
        <p:spPr bwMode="auto">
          <a:xfrm>
            <a:off x="532268" y="1268733"/>
            <a:ext cx="842422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charset="-122"/>
              </a:defRPr>
            </a:lvl9pPr>
          </a:lstStyle>
          <a:p>
            <a:pPr eaLnBrk="1" hangingPunct="1">
              <a:spcBef>
                <a:spcPct val="0"/>
              </a:spcBef>
              <a:buClrTx/>
              <a:buSzTx/>
              <a:buFontTx/>
              <a:buNone/>
            </a:pPr>
            <a:r>
              <a:rPr lang="en-US" altLang="zh-CN" sz="2800" b="1" dirty="0">
                <a:solidFill>
                  <a:srgbClr val="0000FF"/>
                </a:solidFill>
                <a:latin typeface="+mj-ea"/>
                <a:ea typeface="+mj-ea"/>
              </a:rPr>
              <a:t>FIRST(α)</a:t>
            </a:r>
            <a:r>
              <a:rPr lang="zh-CN" altLang="en-US" sz="2800" b="1" dirty="0">
                <a:solidFill>
                  <a:srgbClr val="0000FF"/>
                </a:solidFill>
                <a:latin typeface="+mj-ea"/>
                <a:ea typeface="+mj-ea"/>
              </a:rPr>
              <a:t>是由</a:t>
            </a:r>
            <a:r>
              <a:rPr lang="en-US" altLang="zh-CN" sz="2800" b="1" dirty="0">
                <a:solidFill>
                  <a:srgbClr val="0000FF"/>
                </a:solidFill>
                <a:latin typeface="+mj-ea"/>
                <a:ea typeface="+mj-ea"/>
              </a:rPr>
              <a:t>α</a:t>
            </a:r>
            <a:r>
              <a:rPr lang="zh-CN" altLang="en-US" sz="2800" b="1" dirty="0">
                <a:solidFill>
                  <a:srgbClr val="0000FF"/>
                </a:solidFill>
                <a:latin typeface="+mj-ea"/>
                <a:ea typeface="+mj-ea"/>
              </a:rPr>
              <a:t>推导出来的</a:t>
            </a:r>
            <a:r>
              <a:rPr lang="zh-CN" altLang="en-US" sz="2800" b="1" dirty="0">
                <a:solidFill>
                  <a:srgbClr val="FF0000"/>
                </a:solidFill>
                <a:latin typeface="+mj-ea"/>
                <a:ea typeface="+mj-ea"/>
              </a:rPr>
              <a:t>符号串</a:t>
            </a:r>
            <a:r>
              <a:rPr lang="zh-CN" altLang="en-US" sz="2800" b="1" dirty="0">
                <a:solidFill>
                  <a:srgbClr val="0000FF"/>
                </a:solidFill>
                <a:latin typeface="+mj-ea"/>
                <a:ea typeface="+mj-ea"/>
              </a:rPr>
              <a:t>中作为</a:t>
            </a:r>
            <a:r>
              <a:rPr lang="zh-CN" altLang="en-US" sz="2800" b="1" dirty="0">
                <a:solidFill>
                  <a:srgbClr val="FF0000"/>
                </a:solidFill>
                <a:latin typeface="+mj-ea"/>
                <a:ea typeface="+mj-ea"/>
              </a:rPr>
              <a:t>第一个符号</a:t>
            </a:r>
            <a:r>
              <a:rPr lang="zh-CN" altLang="en-US" sz="2800" b="1" dirty="0">
                <a:solidFill>
                  <a:srgbClr val="0000FF"/>
                </a:solidFill>
                <a:latin typeface="+mj-ea"/>
                <a:ea typeface="+mj-ea"/>
              </a:rPr>
              <a:t>的所有</a:t>
            </a:r>
            <a:r>
              <a:rPr lang="zh-CN" altLang="en-US" sz="2800" b="1" dirty="0">
                <a:solidFill>
                  <a:srgbClr val="FF0000"/>
                </a:solidFill>
                <a:latin typeface="+mj-ea"/>
                <a:ea typeface="+mj-ea"/>
              </a:rPr>
              <a:t>终结符</a:t>
            </a:r>
            <a:r>
              <a:rPr lang="zh-CN" altLang="en-US" sz="2800" b="1" dirty="0">
                <a:solidFill>
                  <a:srgbClr val="0000FF"/>
                </a:solidFill>
                <a:latin typeface="+mj-ea"/>
                <a:ea typeface="+mj-ea"/>
              </a:rPr>
              <a:t>的集合；如果</a:t>
            </a:r>
            <a:r>
              <a:rPr lang="en-US" altLang="zh-CN" sz="2800" b="1" dirty="0">
                <a:solidFill>
                  <a:srgbClr val="0000FF"/>
                </a:solidFill>
                <a:latin typeface="+mj-ea"/>
                <a:ea typeface="+mj-ea"/>
              </a:rPr>
              <a:t>α</a:t>
            </a:r>
            <a:r>
              <a:rPr lang="en-US" altLang="zh-CN" sz="2800" b="1" dirty="0">
                <a:solidFill>
                  <a:srgbClr val="0000FF"/>
                </a:solidFill>
                <a:latin typeface="+mj-ea"/>
                <a:ea typeface="+mj-ea"/>
                <a:sym typeface="Symbol" pitchFamily="18" charset="2"/>
              </a:rPr>
              <a:t></a:t>
            </a:r>
            <a:r>
              <a:rPr lang="en-US" altLang="zh-CN" sz="2800" b="1" baseline="30000" dirty="0">
                <a:solidFill>
                  <a:srgbClr val="0000FF"/>
                </a:solidFill>
                <a:latin typeface="+mj-ea"/>
                <a:ea typeface="+mj-ea"/>
              </a:rPr>
              <a:t>*</a:t>
            </a:r>
            <a:r>
              <a:rPr lang="en-US" altLang="zh-CN" sz="2800" b="1" dirty="0">
                <a:solidFill>
                  <a:srgbClr val="0000FF"/>
                </a:solidFill>
                <a:latin typeface="+mj-ea"/>
                <a:ea typeface="+mj-ea"/>
                <a:sym typeface="Symbol" pitchFamily="18" charset="2"/>
              </a:rPr>
              <a:t>ε，</a:t>
            </a:r>
            <a:r>
              <a:rPr lang="zh-CN" altLang="en-US" sz="2800" b="1" dirty="0">
                <a:solidFill>
                  <a:srgbClr val="0000FF"/>
                </a:solidFill>
                <a:latin typeface="+mj-ea"/>
                <a:ea typeface="+mj-ea"/>
                <a:sym typeface="Symbol" pitchFamily="18" charset="2"/>
              </a:rPr>
              <a:t>则</a:t>
            </a:r>
            <a:r>
              <a:rPr lang="en-US" altLang="zh-CN" sz="2800" b="1" dirty="0">
                <a:solidFill>
                  <a:srgbClr val="0000FF"/>
                </a:solidFill>
                <a:latin typeface="+mj-ea"/>
                <a:ea typeface="+mj-ea"/>
                <a:sym typeface="Symbol" pitchFamily="18" charset="2"/>
              </a:rPr>
              <a:t>ε∈ </a:t>
            </a:r>
            <a:r>
              <a:rPr lang="en-US" altLang="zh-CN" sz="2800" b="1" dirty="0">
                <a:solidFill>
                  <a:srgbClr val="0000FF"/>
                </a:solidFill>
                <a:latin typeface="+mj-ea"/>
                <a:ea typeface="+mj-ea"/>
              </a:rPr>
              <a:t>FIRST(α)</a:t>
            </a:r>
            <a:r>
              <a:rPr lang="zh-CN" altLang="en-US" sz="2800" b="1" dirty="0">
                <a:solidFill>
                  <a:srgbClr val="0000FF"/>
                </a:solidFill>
                <a:latin typeface="+mj-ea"/>
                <a:ea typeface="+mj-ea"/>
              </a:rPr>
              <a:t>。</a:t>
            </a:r>
            <a:endParaRPr lang="en-US" altLang="zh-CN" sz="2800" b="1" dirty="0">
              <a:solidFill>
                <a:srgbClr val="0000FF"/>
              </a:solidFill>
              <a:latin typeface="+mj-ea"/>
              <a:ea typeface="+mj-ea"/>
              <a:sym typeface="Symbol" pitchFamily="18" charset="2"/>
            </a:endParaRP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17</a:t>
            </a:fld>
            <a:endParaRPr lang="zh-CN" altLang="en-US">
              <a:solidFill>
                <a:srgbClr val="3F3F3F"/>
              </a:solidFill>
            </a:endParaRPr>
          </a:p>
        </p:txBody>
      </p:sp>
    </p:spTree>
    <p:extLst>
      <p:ext uri="{BB962C8B-B14F-4D97-AF65-F5344CB8AC3E}">
        <p14:creationId xmlns:p14="http://schemas.microsoft.com/office/powerpoint/2010/main" val="1629722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5" y="88699"/>
            <a:ext cx="8218486" cy="711200"/>
          </a:xfrm>
        </p:spPr>
        <p:txBody>
          <a:bodyPr/>
          <a:lstStyle/>
          <a:p>
            <a:r>
              <a:rPr lang="zh-CN" altLang="en-US" b="1" dirty="0"/>
              <a:t>定义：首符号集</a:t>
            </a:r>
            <a:r>
              <a:rPr lang="en-US" altLang="zh-CN" b="1" dirty="0"/>
              <a:t>FIRST</a:t>
            </a:r>
            <a:endParaRPr lang="zh-CN" altLang="en-US" b="1" dirty="0"/>
          </a:p>
        </p:txBody>
      </p:sp>
      <mc:AlternateContent xmlns:mc="http://schemas.openxmlformats.org/markup-compatibility/2006" xmlns:a14="http://schemas.microsoft.com/office/drawing/2010/main">
        <mc:Choice Requires="a14">
          <p:sp>
            <p:nvSpPr>
              <p:cNvPr id="4" name="Rectangle 2"/>
              <p:cNvSpPr>
                <a:spLocks noGrp="1" noChangeArrowheads="1"/>
              </p:cNvSpPr>
              <p:nvPr>
                <p:ph idx="1"/>
              </p:nvPr>
            </p:nvSpPr>
            <p:spPr bwMode="auto">
              <a:xfrm>
                <a:off x="1" y="1041401"/>
                <a:ext cx="8686800" cy="511333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indent="266700"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charset="-122"/>
                  </a:defRPr>
                </a:lvl9pPr>
              </a:lstStyle>
              <a:p>
                <a:pPr algn="just" eaLnBrk="1" hangingPunct="1">
                  <a:lnSpc>
                    <a:spcPct val="150000"/>
                  </a:lnSpc>
                  <a:spcBef>
                    <a:spcPct val="0"/>
                  </a:spcBef>
                  <a:buClrTx/>
                  <a:buSzTx/>
                  <a:buFontTx/>
                  <a:buNone/>
                </a:pPr>
                <a:r>
                  <a:rPr lang="zh-CN" altLang="en-US" sz="2400" b="1" dirty="0">
                    <a:solidFill>
                      <a:srgbClr val="0000FF"/>
                    </a:solidFill>
                    <a:latin typeface="+mj-ea"/>
                    <a:ea typeface="+mj-ea"/>
                    <a:sym typeface="Symbol" pitchFamily="18" charset="2"/>
                  </a:rPr>
                  <a:t>(1)如果</a:t>
                </a:r>
                <a:r>
                  <a:rPr lang="en-US" altLang="zh-CN" sz="2400" b="1" dirty="0">
                    <a:solidFill>
                      <a:srgbClr val="0000FF"/>
                    </a:solidFill>
                    <a:latin typeface="+mj-ea"/>
                    <a:ea typeface="+mj-ea"/>
                    <a:sym typeface="Symbol" pitchFamily="18" charset="2"/>
                  </a:rPr>
                  <a:t>X</a:t>
                </a:r>
                <a:r>
                  <a:rPr lang="zh-CN" altLang="en-US" sz="2400" b="1" dirty="0">
                    <a:solidFill>
                      <a:srgbClr val="0000FF"/>
                    </a:solidFill>
                    <a:latin typeface="+mj-ea"/>
                    <a:ea typeface="+mj-ea"/>
                    <a:sym typeface="Symbol" pitchFamily="18" charset="2"/>
                  </a:rPr>
                  <a:t>是终结符，则</a:t>
                </a:r>
                <a:r>
                  <a:rPr lang="en-US" altLang="zh-CN" sz="2400" b="1" dirty="0">
                    <a:solidFill>
                      <a:srgbClr val="FF0000"/>
                    </a:solidFill>
                    <a:latin typeface="+mj-ea"/>
                    <a:ea typeface="+mj-ea"/>
                    <a:sym typeface="Symbol" pitchFamily="18" charset="2"/>
                  </a:rPr>
                  <a:t>FIRST(X)={X}。</a:t>
                </a:r>
              </a:p>
              <a:p>
                <a:pPr algn="just">
                  <a:lnSpc>
                    <a:spcPct val="150000"/>
                  </a:lnSpc>
                  <a:spcBef>
                    <a:spcPct val="0"/>
                  </a:spcBef>
                  <a:buClrTx/>
                  <a:buSzTx/>
                  <a:buFontTx/>
                  <a:buNone/>
                </a:pPr>
                <a:r>
                  <a:rPr lang="en-US" altLang="zh-CN" sz="2400" b="1" dirty="0">
                    <a:solidFill>
                      <a:srgbClr val="0000FF"/>
                    </a:solidFill>
                    <a:latin typeface="+mj-ea"/>
                    <a:ea typeface="+mj-ea"/>
                    <a:sym typeface="Symbol" pitchFamily="18" charset="2"/>
                  </a:rPr>
                  <a:t>(2)</a:t>
                </a:r>
                <a:r>
                  <a:rPr lang="zh-CN" altLang="en-US" sz="2400" b="1" dirty="0">
                    <a:solidFill>
                      <a:srgbClr val="0000FF"/>
                    </a:solidFill>
                    <a:latin typeface="+mj-ea"/>
                    <a:ea typeface="+mj-ea"/>
                    <a:sym typeface="Symbol" pitchFamily="18" charset="2"/>
                  </a:rPr>
                  <a:t>如果</a:t>
                </a:r>
                <a:r>
                  <a:rPr lang="en-US" altLang="zh-CN" sz="2400" b="1" dirty="0" err="1">
                    <a:solidFill>
                      <a:srgbClr val="0000FF"/>
                    </a:solidFill>
                    <a:latin typeface="+mj-ea"/>
                    <a:ea typeface="+mj-ea"/>
                    <a:sym typeface="Symbol" pitchFamily="18" charset="2"/>
                  </a:rPr>
                  <a:t>X→ε</a:t>
                </a:r>
                <a:r>
                  <a:rPr lang="zh-CN" altLang="en-US" sz="2400" b="1" dirty="0">
                    <a:solidFill>
                      <a:srgbClr val="0000FF"/>
                    </a:solidFill>
                    <a:latin typeface="+mj-ea"/>
                    <a:ea typeface="+mj-ea"/>
                    <a:sym typeface="Symbol" pitchFamily="18" charset="2"/>
                  </a:rPr>
                  <a:t>是一个产生式，则</a:t>
                </a:r>
                <a:r>
                  <a:rPr lang="en-US" altLang="zh-CN" sz="2400" b="1" dirty="0">
                    <a:solidFill>
                      <a:srgbClr val="FF0000"/>
                    </a:solidFill>
                    <a:latin typeface="+mj-ea"/>
                    <a:ea typeface="+mj-ea"/>
                    <a:sym typeface="Symbol" pitchFamily="18" charset="2"/>
                  </a:rPr>
                  <a:t>ε∈ FIRST(X)。</a:t>
                </a:r>
              </a:p>
              <a:p>
                <a:pPr algn="just">
                  <a:lnSpc>
                    <a:spcPct val="150000"/>
                  </a:lnSpc>
                  <a:spcBef>
                    <a:spcPct val="0"/>
                  </a:spcBef>
                  <a:buClrTx/>
                  <a:buSzTx/>
                  <a:buFontTx/>
                  <a:buNone/>
                </a:pPr>
                <a:r>
                  <a:rPr lang="en-US" altLang="zh-CN" sz="2400" b="1" dirty="0">
                    <a:solidFill>
                      <a:srgbClr val="0000FF"/>
                    </a:solidFill>
                    <a:latin typeface="+mj-ea"/>
                    <a:ea typeface="+mj-ea"/>
                    <a:sym typeface="Symbol" pitchFamily="18" charset="2"/>
                  </a:rPr>
                  <a:t>(3)</a:t>
                </a:r>
                <a:r>
                  <a:rPr lang="zh-CN" altLang="en-US" sz="2400" b="1" dirty="0">
                    <a:solidFill>
                      <a:srgbClr val="0000FF"/>
                    </a:solidFill>
                    <a:latin typeface="+mj-ea"/>
                    <a:ea typeface="+mj-ea"/>
                    <a:sym typeface="Symbol" pitchFamily="18" charset="2"/>
                  </a:rPr>
                  <a:t>如果</a:t>
                </a:r>
                <a:r>
                  <a:rPr lang="en-US" altLang="zh-CN" sz="2400" b="1" dirty="0">
                    <a:solidFill>
                      <a:srgbClr val="0000FF"/>
                    </a:solidFill>
                    <a:latin typeface="+mj-ea"/>
                    <a:ea typeface="+mj-ea"/>
                    <a:sym typeface="Symbol" pitchFamily="18" charset="2"/>
                  </a:rPr>
                  <a:t>X</a:t>
                </a:r>
                <a:r>
                  <a:rPr lang="zh-CN" altLang="en-US" sz="2400" b="1" dirty="0">
                    <a:solidFill>
                      <a:srgbClr val="0000FF"/>
                    </a:solidFill>
                    <a:latin typeface="+mj-ea"/>
                    <a:ea typeface="+mj-ea"/>
                    <a:sym typeface="Symbol" pitchFamily="18" charset="2"/>
                  </a:rPr>
                  <a:t>是非终结符，并且</a:t>
                </a:r>
                <a:r>
                  <a:rPr lang="en-US" altLang="zh-CN" sz="2400" b="1" dirty="0">
                    <a:solidFill>
                      <a:srgbClr val="0000FF"/>
                    </a:solidFill>
                    <a:latin typeface="+mj-ea"/>
                    <a:ea typeface="+mj-ea"/>
                    <a:sym typeface="Symbol" pitchFamily="18" charset="2"/>
                  </a:rPr>
                  <a:t>X→Y</a:t>
                </a:r>
                <a:r>
                  <a:rPr lang="en-US" altLang="zh-CN" sz="2400" b="1" baseline="-30000" dirty="0">
                    <a:solidFill>
                      <a:srgbClr val="0000FF"/>
                    </a:solidFill>
                    <a:latin typeface="+mj-ea"/>
                    <a:ea typeface="+mj-ea"/>
                    <a:sym typeface="Symbol" pitchFamily="18" charset="2"/>
                  </a:rPr>
                  <a:t>1</a:t>
                </a:r>
                <a:r>
                  <a:rPr lang="en-US" altLang="zh-CN" sz="2400" b="1" dirty="0">
                    <a:solidFill>
                      <a:srgbClr val="0000FF"/>
                    </a:solidFill>
                    <a:latin typeface="+mj-ea"/>
                    <a:ea typeface="+mj-ea"/>
                    <a:sym typeface="Symbol" pitchFamily="18" charset="2"/>
                  </a:rPr>
                  <a:t>Y</a:t>
                </a:r>
                <a:r>
                  <a:rPr lang="en-US" altLang="zh-CN" sz="2400" b="1" baseline="-30000" dirty="0">
                    <a:solidFill>
                      <a:srgbClr val="0000FF"/>
                    </a:solidFill>
                    <a:latin typeface="+mj-ea"/>
                    <a:ea typeface="+mj-ea"/>
                    <a:sym typeface="Symbol" pitchFamily="18" charset="2"/>
                  </a:rPr>
                  <a:t>2</a:t>
                </a:r>
                <a14:m>
                  <m:oMath xmlns:m="http://schemas.openxmlformats.org/officeDocument/2006/math">
                    <m:r>
                      <a:rPr lang="en-US" altLang="zh-CN" sz="2400" b="1" i="1" dirty="0" smtClean="0">
                        <a:solidFill>
                          <a:srgbClr val="0000FF"/>
                        </a:solidFill>
                        <a:latin typeface="Cambria Math" panose="02040503050406030204" pitchFamily="18" charset="0"/>
                        <a:ea typeface="+mj-ea"/>
                        <a:sym typeface="Symbol" pitchFamily="18" charset="2"/>
                      </a:rPr>
                      <m:t>⋯</m:t>
                    </m:r>
                  </m:oMath>
                </a14:m>
                <a:r>
                  <a:rPr lang="en-US" altLang="zh-CN" sz="2400" b="1" dirty="0">
                    <a:solidFill>
                      <a:srgbClr val="0000FF"/>
                    </a:solidFill>
                    <a:latin typeface="+mj-ea"/>
                    <a:ea typeface="+mj-ea"/>
                    <a:sym typeface="Symbol" pitchFamily="18" charset="2"/>
                  </a:rPr>
                  <a:t>Y</a:t>
                </a:r>
                <a:r>
                  <a:rPr lang="en-US" altLang="zh-CN" sz="2400" b="1" baseline="-30000" dirty="0">
                    <a:solidFill>
                      <a:srgbClr val="0000FF"/>
                    </a:solidFill>
                    <a:latin typeface="+mj-ea"/>
                    <a:ea typeface="+mj-ea"/>
                    <a:sym typeface="Symbol" pitchFamily="18" charset="2"/>
                  </a:rPr>
                  <a:t>K</a:t>
                </a:r>
                <a:r>
                  <a:rPr lang="zh-CN" altLang="en-US" sz="2400" b="1" dirty="0">
                    <a:solidFill>
                      <a:srgbClr val="0000FF"/>
                    </a:solidFill>
                    <a:latin typeface="+mj-ea"/>
                    <a:ea typeface="+mj-ea"/>
                    <a:sym typeface="Symbol" pitchFamily="18" charset="2"/>
                  </a:rPr>
                  <a:t>是一个产生式，</a:t>
                </a:r>
                <a:r>
                  <a:rPr lang="zh-CN" altLang="en-US" sz="2400" b="1" dirty="0">
                    <a:solidFill>
                      <a:srgbClr val="FF0000"/>
                    </a:solidFill>
                    <a:latin typeface="+mj-ea"/>
                    <a:ea typeface="+mj-ea"/>
                    <a:sym typeface="Symbol" pitchFamily="18" charset="2"/>
                  </a:rPr>
                  <a:t>对某一个</a:t>
                </a:r>
                <a:r>
                  <a:rPr lang="en-US" altLang="zh-CN" sz="2400" b="1" dirty="0" err="1">
                    <a:solidFill>
                      <a:srgbClr val="FF0000"/>
                    </a:solidFill>
                    <a:latin typeface="+mj-ea"/>
                    <a:ea typeface="+mj-ea"/>
                    <a:sym typeface="Symbol" pitchFamily="18" charset="2"/>
                  </a:rPr>
                  <a:t>i</a:t>
                </a:r>
                <a:r>
                  <a:rPr lang="zh-CN" altLang="en-US" sz="2400" b="1" dirty="0">
                    <a:solidFill>
                      <a:srgbClr val="FF0000"/>
                    </a:solidFill>
                    <a:latin typeface="+mj-ea"/>
                    <a:ea typeface="+mj-ea"/>
                    <a:sym typeface="Symbol" pitchFamily="18" charset="2"/>
                  </a:rPr>
                  <a:t>若有</a:t>
                </a:r>
                <a:r>
                  <a:rPr lang="en-US" altLang="zh-CN" sz="2400" b="1" dirty="0">
                    <a:solidFill>
                      <a:srgbClr val="FF0000"/>
                    </a:solidFill>
                    <a:latin typeface="+mj-ea"/>
                    <a:ea typeface="+mj-ea"/>
                    <a:sym typeface="Symbol" pitchFamily="18" charset="2"/>
                  </a:rPr>
                  <a:t>Y</a:t>
                </a:r>
                <a:r>
                  <a:rPr lang="en-US" altLang="zh-CN" sz="2400" b="1" baseline="-30000" dirty="0">
                    <a:solidFill>
                      <a:srgbClr val="FF0000"/>
                    </a:solidFill>
                    <a:latin typeface="+mj-ea"/>
                    <a:ea typeface="+mj-ea"/>
                    <a:sym typeface="Symbol" pitchFamily="18" charset="2"/>
                  </a:rPr>
                  <a:t>1</a:t>
                </a:r>
                <a:r>
                  <a:rPr lang="en-US" altLang="zh-CN" sz="2400" b="1" dirty="0">
                    <a:solidFill>
                      <a:srgbClr val="FF0000"/>
                    </a:solidFill>
                    <a:latin typeface="+mj-ea"/>
                    <a:ea typeface="+mj-ea"/>
                    <a:sym typeface="Symbol" pitchFamily="18" charset="2"/>
                  </a:rPr>
                  <a:t>Y</a:t>
                </a:r>
                <a:r>
                  <a:rPr lang="en-US" altLang="zh-CN" sz="2400" b="1" baseline="-30000" dirty="0">
                    <a:solidFill>
                      <a:srgbClr val="FF0000"/>
                    </a:solidFill>
                    <a:latin typeface="+mj-ea"/>
                    <a:ea typeface="+mj-ea"/>
                    <a:sym typeface="Symbol" pitchFamily="18" charset="2"/>
                  </a:rPr>
                  <a:t>2</a:t>
                </a:r>
                <a14:m>
                  <m:oMath xmlns:m="http://schemas.openxmlformats.org/officeDocument/2006/math">
                    <m:r>
                      <a:rPr lang="en-US" altLang="zh-CN" sz="2400" b="1" i="1" dirty="0" smtClean="0">
                        <a:solidFill>
                          <a:srgbClr val="FF0000"/>
                        </a:solidFill>
                        <a:latin typeface="Cambria Math" panose="02040503050406030204" pitchFamily="18" charset="0"/>
                        <a:ea typeface="+mj-ea"/>
                        <a:sym typeface="Symbol" pitchFamily="18" charset="2"/>
                      </a:rPr>
                      <m:t>⋯</m:t>
                    </m:r>
                  </m:oMath>
                </a14:m>
                <a:r>
                  <a:rPr lang="en-US" altLang="zh-CN" sz="2400" b="1" dirty="0">
                    <a:solidFill>
                      <a:srgbClr val="FF0000"/>
                    </a:solidFill>
                    <a:latin typeface="+mj-ea"/>
                    <a:ea typeface="+mj-ea"/>
                    <a:sym typeface="Symbol" pitchFamily="18" charset="2"/>
                  </a:rPr>
                  <a:t>Y</a:t>
                </a:r>
                <a:r>
                  <a:rPr lang="en-US" altLang="zh-CN" sz="2400" b="1" baseline="-30000" dirty="0">
                    <a:solidFill>
                      <a:srgbClr val="FF0000"/>
                    </a:solidFill>
                    <a:latin typeface="+mj-ea"/>
                    <a:ea typeface="+mj-ea"/>
                    <a:sym typeface="Symbol" pitchFamily="18" charset="2"/>
                  </a:rPr>
                  <a:t>i</a:t>
                </a:r>
                <a:r>
                  <a:rPr lang="en-US" altLang="zh-CN" sz="2400" b="1" baseline="-25000" dirty="0">
                    <a:solidFill>
                      <a:srgbClr val="FF0000"/>
                    </a:solidFill>
                    <a:latin typeface="+mj-ea"/>
                    <a:ea typeface="+mj-ea"/>
                    <a:sym typeface="Symbol" pitchFamily="18" charset="2"/>
                  </a:rPr>
                  <a:t>-</a:t>
                </a:r>
                <a:r>
                  <a:rPr lang="en-US" altLang="zh-CN" sz="2400" b="1" baseline="-30000" dirty="0">
                    <a:solidFill>
                      <a:srgbClr val="FF0000"/>
                    </a:solidFill>
                    <a:latin typeface="+mj-ea"/>
                    <a:ea typeface="+mj-ea"/>
                    <a:sym typeface="Symbol" pitchFamily="18" charset="2"/>
                  </a:rPr>
                  <a:t>1</a:t>
                </a:r>
                <a:r>
                  <a:rPr lang="en-US" altLang="zh-CN" sz="2400" b="1" dirty="0">
                    <a:solidFill>
                      <a:srgbClr val="FF0000"/>
                    </a:solidFill>
                    <a:latin typeface="+mj-ea"/>
                    <a:ea typeface="+mj-ea"/>
                    <a:sym typeface="Symbol" pitchFamily="18" charset="2"/>
                  </a:rPr>
                  <a:t></a:t>
                </a:r>
                <a:r>
                  <a:rPr lang="en-US" altLang="zh-CN" sz="2400" b="1" baseline="30000" dirty="0">
                    <a:solidFill>
                      <a:srgbClr val="FF0000"/>
                    </a:solidFill>
                    <a:latin typeface="+mj-ea"/>
                    <a:ea typeface="+mj-ea"/>
                  </a:rPr>
                  <a:t>*</a:t>
                </a:r>
                <a:r>
                  <a:rPr lang="en-US" altLang="zh-CN" sz="2400" b="1" dirty="0">
                    <a:solidFill>
                      <a:srgbClr val="FF0000"/>
                    </a:solidFill>
                    <a:latin typeface="+mj-ea"/>
                    <a:ea typeface="+mj-ea"/>
                    <a:sym typeface="Symbol" pitchFamily="18" charset="2"/>
                  </a:rPr>
                  <a:t>ε </a:t>
                </a:r>
                <a:r>
                  <a:rPr lang="zh-CN" altLang="en-US" sz="2400" b="1" dirty="0">
                    <a:solidFill>
                      <a:srgbClr val="0000FF"/>
                    </a:solidFill>
                    <a:latin typeface="+mj-ea"/>
                    <a:ea typeface="+mj-ea"/>
                    <a:sym typeface="Symbol" pitchFamily="18" charset="2"/>
                  </a:rPr>
                  <a:t>且</a:t>
                </a:r>
                <a:r>
                  <a:rPr lang="en-US" altLang="zh-CN" sz="2400" b="1" dirty="0" err="1">
                    <a:solidFill>
                      <a:srgbClr val="FF0000"/>
                    </a:solidFill>
                    <a:latin typeface="+mj-ea"/>
                    <a:ea typeface="+mj-ea"/>
                    <a:sym typeface="Symbol" pitchFamily="18" charset="2"/>
                  </a:rPr>
                  <a:t>a∈FIRST</a:t>
                </a:r>
                <a:r>
                  <a:rPr lang="en-US" altLang="zh-CN" sz="2400" b="1" dirty="0">
                    <a:solidFill>
                      <a:srgbClr val="FF0000"/>
                    </a:solidFill>
                    <a:latin typeface="+mj-ea"/>
                    <a:ea typeface="+mj-ea"/>
                    <a:sym typeface="Symbol" pitchFamily="18" charset="2"/>
                  </a:rPr>
                  <a:t>(Y</a:t>
                </a:r>
                <a:r>
                  <a:rPr lang="en-US" altLang="zh-CN" sz="2400" b="1" baseline="-25000" dirty="0">
                    <a:solidFill>
                      <a:srgbClr val="FF0000"/>
                    </a:solidFill>
                    <a:latin typeface="+mj-ea"/>
                    <a:ea typeface="+mj-ea"/>
                    <a:sym typeface="Symbol" pitchFamily="18" charset="2"/>
                  </a:rPr>
                  <a:t>i</a:t>
                </a:r>
                <a:r>
                  <a:rPr lang="en-US" altLang="zh-CN" sz="2400" b="1" dirty="0">
                    <a:solidFill>
                      <a:srgbClr val="FF0000"/>
                    </a:solidFill>
                    <a:latin typeface="+mj-ea"/>
                    <a:ea typeface="+mj-ea"/>
                    <a:sym typeface="Symbol" pitchFamily="18" charset="2"/>
                  </a:rPr>
                  <a:t>)，</a:t>
                </a:r>
                <a:r>
                  <a:rPr lang="zh-CN" altLang="en-US" sz="2400" b="1" dirty="0">
                    <a:solidFill>
                      <a:srgbClr val="0000FF"/>
                    </a:solidFill>
                    <a:latin typeface="+mj-ea"/>
                    <a:ea typeface="+mj-ea"/>
                    <a:sym typeface="Symbol" pitchFamily="18" charset="2"/>
                  </a:rPr>
                  <a:t>则</a:t>
                </a:r>
                <a:r>
                  <a:rPr lang="en-US" altLang="zh-CN" sz="2400" b="1" dirty="0" err="1">
                    <a:solidFill>
                      <a:srgbClr val="FF0000"/>
                    </a:solidFill>
                    <a:latin typeface="+mj-ea"/>
                    <a:ea typeface="+mj-ea"/>
                    <a:sym typeface="Symbol" pitchFamily="18" charset="2"/>
                  </a:rPr>
                  <a:t>a∈FIRST</a:t>
                </a:r>
                <a:r>
                  <a:rPr lang="en-US" altLang="zh-CN" sz="2400" b="1" dirty="0">
                    <a:solidFill>
                      <a:srgbClr val="FF0000"/>
                    </a:solidFill>
                    <a:latin typeface="+mj-ea"/>
                    <a:ea typeface="+mj-ea"/>
                    <a:sym typeface="Symbol" pitchFamily="18" charset="2"/>
                  </a:rPr>
                  <a:t>(X)；</a:t>
                </a:r>
                <a:r>
                  <a:rPr lang="zh-CN" altLang="en-US" sz="2400" b="1" dirty="0">
                    <a:solidFill>
                      <a:srgbClr val="0000FF"/>
                    </a:solidFill>
                    <a:latin typeface="+mj-ea"/>
                    <a:ea typeface="+mj-ea"/>
                    <a:sym typeface="Symbol" pitchFamily="18" charset="2"/>
                  </a:rPr>
                  <a:t>如果</a:t>
                </a:r>
                <a:r>
                  <a:rPr lang="en-US" altLang="zh-CN" sz="2400" b="1" dirty="0" err="1">
                    <a:solidFill>
                      <a:srgbClr val="0000FF"/>
                    </a:solidFill>
                    <a:latin typeface="+mj-ea"/>
                    <a:ea typeface="+mj-ea"/>
                    <a:sym typeface="Symbol" pitchFamily="18" charset="2"/>
                  </a:rPr>
                  <a:t>ε∈FIRST</a:t>
                </a:r>
                <a:r>
                  <a:rPr lang="en-US" altLang="zh-CN" sz="2400" b="1" dirty="0">
                    <a:solidFill>
                      <a:srgbClr val="0000FF"/>
                    </a:solidFill>
                    <a:latin typeface="+mj-ea"/>
                    <a:ea typeface="+mj-ea"/>
                    <a:sym typeface="Symbol" pitchFamily="18" charset="2"/>
                  </a:rPr>
                  <a:t>(</a:t>
                </a:r>
                <a:r>
                  <a:rPr lang="en-US" altLang="zh-CN" sz="2400" b="1" dirty="0" err="1">
                    <a:solidFill>
                      <a:srgbClr val="0000FF"/>
                    </a:solidFill>
                    <a:latin typeface="+mj-ea"/>
                    <a:ea typeface="+mj-ea"/>
                    <a:sym typeface="Symbol" pitchFamily="18" charset="2"/>
                  </a:rPr>
                  <a:t>Y</a:t>
                </a:r>
                <a:r>
                  <a:rPr lang="en-US" altLang="zh-CN" sz="2400" b="1" baseline="-25000" dirty="0" err="1">
                    <a:solidFill>
                      <a:srgbClr val="0000FF"/>
                    </a:solidFill>
                    <a:latin typeface="+mj-ea"/>
                    <a:ea typeface="+mj-ea"/>
                    <a:sym typeface="Symbol" pitchFamily="18" charset="2"/>
                  </a:rPr>
                  <a:t>j</a:t>
                </a:r>
                <a:r>
                  <a:rPr lang="en-US" altLang="zh-CN" sz="2400" b="1" dirty="0">
                    <a:solidFill>
                      <a:srgbClr val="0000FF"/>
                    </a:solidFill>
                    <a:latin typeface="+mj-ea"/>
                    <a:ea typeface="+mj-ea"/>
                    <a:sym typeface="Symbol" pitchFamily="18" charset="2"/>
                  </a:rPr>
                  <a:t>)，j=1，2，</a:t>
                </a:r>
                <a:r>
                  <a:rPr lang="en-US" altLang="zh-CN" sz="2400" dirty="0">
                    <a:solidFill>
                      <a:srgbClr val="0000FF"/>
                    </a:solidFill>
                    <a:latin typeface="+mj-ea"/>
                    <a:ea typeface="+mj-ea"/>
                    <a:sym typeface="Symbol" pitchFamily="18" charset="2"/>
                  </a:rPr>
                  <a:t> </a:t>
                </a:r>
                <a14:m>
                  <m:oMath xmlns:m="http://schemas.openxmlformats.org/officeDocument/2006/math">
                    <m:r>
                      <a:rPr lang="en-US" altLang="zh-CN" sz="2400" i="1" dirty="0">
                        <a:solidFill>
                          <a:srgbClr val="0000FF"/>
                        </a:solidFill>
                        <a:latin typeface="Cambria Math" panose="02040503050406030204" pitchFamily="18" charset="0"/>
                        <a:ea typeface="+mj-ea"/>
                        <a:sym typeface="Symbol" pitchFamily="18" charset="2"/>
                      </a:rPr>
                      <m:t>⋯ </m:t>
                    </m:r>
                  </m:oMath>
                </a14:m>
                <a:r>
                  <a:rPr lang="en-US" altLang="zh-CN" sz="2400" b="1" dirty="0">
                    <a:solidFill>
                      <a:srgbClr val="0000FF"/>
                    </a:solidFill>
                    <a:latin typeface="+mj-ea"/>
                    <a:ea typeface="+mj-ea"/>
                    <a:sym typeface="Symbol" pitchFamily="18" charset="2"/>
                  </a:rPr>
                  <a:t>k，</a:t>
                </a:r>
                <a:r>
                  <a:rPr lang="zh-CN" altLang="en-US" sz="2400" b="1" dirty="0">
                    <a:solidFill>
                      <a:srgbClr val="0000FF"/>
                    </a:solidFill>
                    <a:latin typeface="+mj-ea"/>
                    <a:ea typeface="+mj-ea"/>
                    <a:sym typeface="Symbol" pitchFamily="18" charset="2"/>
                  </a:rPr>
                  <a:t>则把</a:t>
                </a:r>
                <a:r>
                  <a:rPr lang="en-US" altLang="zh-CN" sz="2400" b="1" dirty="0">
                    <a:solidFill>
                      <a:srgbClr val="0000FF"/>
                    </a:solidFill>
                    <a:latin typeface="+mj-ea"/>
                    <a:ea typeface="+mj-ea"/>
                    <a:sym typeface="Symbol" pitchFamily="18" charset="2"/>
                  </a:rPr>
                  <a:t>ε</a:t>
                </a:r>
                <a:r>
                  <a:rPr lang="zh-CN" altLang="en-US" sz="2400" b="1" dirty="0">
                    <a:solidFill>
                      <a:srgbClr val="0000FF"/>
                    </a:solidFill>
                    <a:latin typeface="+mj-ea"/>
                    <a:ea typeface="+mj-ea"/>
                    <a:sym typeface="Symbol" pitchFamily="18" charset="2"/>
                  </a:rPr>
                  <a:t>加入</a:t>
                </a:r>
                <a:r>
                  <a:rPr lang="en-US" altLang="zh-CN" sz="2400" b="1" dirty="0">
                    <a:solidFill>
                      <a:srgbClr val="0000FF"/>
                    </a:solidFill>
                    <a:latin typeface="+mj-ea"/>
                    <a:ea typeface="+mj-ea"/>
                    <a:sym typeface="Symbol" pitchFamily="18" charset="2"/>
                  </a:rPr>
                  <a:t>FIRST(X)。</a:t>
                </a:r>
              </a:p>
              <a:p>
                <a:pPr algn="just">
                  <a:lnSpc>
                    <a:spcPct val="150000"/>
                  </a:lnSpc>
                  <a:spcBef>
                    <a:spcPct val="0"/>
                  </a:spcBef>
                  <a:buClrTx/>
                  <a:buSzTx/>
                  <a:buFontTx/>
                  <a:buNone/>
                </a:pPr>
                <a:r>
                  <a:rPr lang="zh-CN" altLang="en-US" sz="2400" b="1" dirty="0">
                    <a:solidFill>
                      <a:srgbClr val="0000FF"/>
                    </a:solidFill>
                    <a:latin typeface="+mj-ea"/>
                    <a:ea typeface="+mj-ea"/>
                    <a:sym typeface="Symbol" pitchFamily="18" charset="2"/>
                  </a:rPr>
                  <a:t>例如，</a:t>
                </a:r>
                <a:r>
                  <a:rPr lang="en-US" altLang="zh-CN" sz="2400" b="1" dirty="0">
                    <a:solidFill>
                      <a:srgbClr val="0000FF"/>
                    </a:solidFill>
                    <a:latin typeface="+mj-ea"/>
                    <a:ea typeface="+mj-ea"/>
                    <a:sym typeface="Symbol" pitchFamily="18" charset="2"/>
                  </a:rPr>
                  <a:t>FIRST(Y</a:t>
                </a:r>
                <a:r>
                  <a:rPr lang="en-US" altLang="zh-CN" sz="2400" b="1" baseline="-25000" dirty="0">
                    <a:solidFill>
                      <a:srgbClr val="0000FF"/>
                    </a:solidFill>
                    <a:latin typeface="+mj-ea"/>
                    <a:ea typeface="+mj-ea"/>
                    <a:sym typeface="Symbol" pitchFamily="18" charset="2"/>
                  </a:rPr>
                  <a:t>1</a:t>
                </a:r>
                <a:r>
                  <a:rPr lang="en-US" altLang="zh-CN" sz="2400" b="1" dirty="0">
                    <a:solidFill>
                      <a:srgbClr val="0000FF"/>
                    </a:solidFill>
                    <a:latin typeface="+mj-ea"/>
                    <a:ea typeface="+mj-ea"/>
                    <a:sym typeface="Symbol" pitchFamily="18" charset="2"/>
                  </a:rPr>
                  <a:t>)</a:t>
                </a:r>
                <a:r>
                  <a:rPr lang="zh-CN" altLang="en-US" sz="2400" b="1" dirty="0">
                    <a:solidFill>
                      <a:srgbClr val="0000FF"/>
                    </a:solidFill>
                    <a:latin typeface="+mj-ea"/>
                    <a:ea typeface="+mj-ea"/>
                    <a:sym typeface="Symbol" pitchFamily="18" charset="2"/>
                  </a:rPr>
                  <a:t>中的每个元素都属于</a:t>
                </a:r>
                <a:r>
                  <a:rPr lang="en-US" altLang="zh-CN" sz="2400" b="1" dirty="0">
                    <a:solidFill>
                      <a:srgbClr val="0000FF"/>
                    </a:solidFill>
                    <a:latin typeface="+mj-ea"/>
                    <a:ea typeface="+mj-ea"/>
                    <a:sym typeface="Symbol" pitchFamily="18" charset="2"/>
                  </a:rPr>
                  <a:t>FIRST(X)；</a:t>
                </a:r>
                <a:r>
                  <a:rPr lang="zh-CN" altLang="en-US" sz="2400" b="1" dirty="0">
                    <a:solidFill>
                      <a:srgbClr val="0000FF"/>
                    </a:solidFill>
                    <a:latin typeface="+mj-ea"/>
                    <a:ea typeface="+mj-ea"/>
                    <a:sym typeface="Symbol" pitchFamily="18" charset="2"/>
                  </a:rPr>
                  <a:t>如果</a:t>
                </a:r>
                <a:r>
                  <a:rPr lang="en-US" altLang="zh-CN" sz="2400" b="1" dirty="0">
                    <a:solidFill>
                      <a:srgbClr val="0000FF"/>
                    </a:solidFill>
                    <a:latin typeface="+mj-ea"/>
                    <a:ea typeface="+mj-ea"/>
                    <a:sym typeface="Symbol" pitchFamily="18" charset="2"/>
                  </a:rPr>
                  <a:t>Y</a:t>
                </a:r>
                <a:r>
                  <a:rPr lang="en-US" altLang="zh-CN" sz="2400" b="1" baseline="-25000" dirty="0">
                    <a:solidFill>
                      <a:srgbClr val="0000FF"/>
                    </a:solidFill>
                    <a:latin typeface="+mj-ea"/>
                    <a:ea typeface="+mj-ea"/>
                    <a:sym typeface="Symbol" pitchFamily="18" charset="2"/>
                  </a:rPr>
                  <a:t>1</a:t>
                </a:r>
                <a:r>
                  <a:rPr lang="zh-CN" altLang="en-US" sz="2400" b="1" dirty="0">
                    <a:solidFill>
                      <a:srgbClr val="0000FF"/>
                    </a:solidFill>
                    <a:latin typeface="+mj-ea"/>
                    <a:ea typeface="+mj-ea"/>
                    <a:sym typeface="Symbol" pitchFamily="18" charset="2"/>
                  </a:rPr>
                  <a:t>不能推导出</a:t>
                </a:r>
                <a:r>
                  <a:rPr lang="en-US" altLang="zh-CN" sz="2400" b="1" dirty="0">
                    <a:solidFill>
                      <a:srgbClr val="0000FF"/>
                    </a:solidFill>
                    <a:latin typeface="+mj-ea"/>
                    <a:ea typeface="+mj-ea"/>
                    <a:sym typeface="Symbol" pitchFamily="18" charset="2"/>
                  </a:rPr>
                  <a:t>ε，</a:t>
                </a:r>
                <a:r>
                  <a:rPr lang="zh-CN" altLang="en-US" sz="2400" b="1" dirty="0">
                    <a:solidFill>
                      <a:srgbClr val="0000FF"/>
                    </a:solidFill>
                    <a:latin typeface="+mj-ea"/>
                    <a:ea typeface="+mj-ea"/>
                    <a:sym typeface="Symbol" pitchFamily="18" charset="2"/>
                  </a:rPr>
                  <a:t>则</a:t>
                </a:r>
                <a:r>
                  <a:rPr lang="en-US" altLang="zh-CN" sz="2400" b="1" dirty="0">
                    <a:solidFill>
                      <a:srgbClr val="0000FF"/>
                    </a:solidFill>
                    <a:latin typeface="+mj-ea"/>
                    <a:ea typeface="+mj-ea"/>
                    <a:sym typeface="Symbol" pitchFamily="18" charset="2"/>
                  </a:rPr>
                  <a:t>FIRST(X)=FIRST(Y</a:t>
                </a:r>
                <a:r>
                  <a:rPr lang="en-US" altLang="zh-CN" sz="2400" b="1" baseline="-25000" dirty="0">
                    <a:solidFill>
                      <a:srgbClr val="0000FF"/>
                    </a:solidFill>
                    <a:latin typeface="+mj-ea"/>
                    <a:ea typeface="+mj-ea"/>
                    <a:sym typeface="Symbol" pitchFamily="18" charset="2"/>
                  </a:rPr>
                  <a:t>1</a:t>
                </a:r>
                <a:r>
                  <a:rPr lang="en-US" altLang="zh-CN" sz="2400" b="1" dirty="0">
                    <a:solidFill>
                      <a:srgbClr val="0000FF"/>
                    </a:solidFill>
                    <a:latin typeface="+mj-ea"/>
                    <a:ea typeface="+mj-ea"/>
                    <a:sym typeface="Symbol" pitchFamily="18" charset="2"/>
                  </a:rPr>
                  <a:t>)； </a:t>
                </a:r>
                <a:r>
                  <a:rPr lang="zh-CN" altLang="en-US" sz="2400" b="1" dirty="0">
                    <a:solidFill>
                      <a:srgbClr val="0000FF"/>
                    </a:solidFill>
                    <a:latin typeface="+mj-ea"/>
                    <a:ea typeface="+mj-ea"/>
                    <a:sym typeface="Symbol" pitchFamily="18" charset="2"/>
                  </a:rPr>
                  <a:t>如果</a:t>
                </a:r>
                <a:r>
                  <a:rPr lang="en-US" altLang="zh-CN" sz="2400" b="1" dirty="0">
                    <a:solidFill>
                      <a:srgbClr val="0000FF"/>
                    </a:solidFill>
                    <a:latin typeface="+mj-ea"/>
                    <a:ea typeface="+mj-ea"/>
                    <a:sym typeface="Symbol" pitchFamily="18" charset="2"/>
                  </a:rPr>
                  <a:t>Y</a:t>
                </a:r>
                <a:r>
                  <a:rPr lang="en-US" altLang="zh-CN" sz="2400" b="1" baseline="-25000" dirty="0">
                    <a:solidFill>
                      <a:srgbClr val="0000FF"/>
                    </a:solidFill>
                    <a:latin typeface="+mj-ea"/>
                    <a:ea typeface="+mj-ea"/>
                    <a:sym typeface="Symbol" pitchFamily="18" charset="2"/>
                  </a:rPr>
                  <a:t>1</a:t>
                </a:r>
                <a:r>
                  <a:rPr lang="en-US" altLang="zh-CN" sz="2400" b="1" dirty="0">
                    <a:solidFill>
                      <a:srgbClr val="0000FF"/>
                    </a:solidFill>
                    <a:latin typeface="+mj-ea"/>
                    <a:ea typeface="+mj-ea"/>
                    <a:sym typeface="Symbol" pitchFamily="18" charset="2"/>
                  </a:rPr>
                  <a:t></a:t>
                </a:r>
                <a:r>
                  <a:rPr lang="en-US" altLang="zh-CN" sz="2400" b="1" baseline="30000" dirty="0">
                    <a:solidFill>
                      <a:srgbClr val="0000FF"/>
                    </a:solidFill>
                    <a:latin typeface="+mj-ea"/>
                    <a:ea typeface="+mj-ea"/>
                  </a:rPr>
                  <a:t>*</a:t>
                </a:r>
                <a:r>
                  <a:rPr lang="en-US" altLang="zh-CN" sz="2400" b="1" dirty="0">
                    <a:solidFill>
                      <a:srgbClr val="0000FF"/>
                    </a:solidFill>
                    <a:latin typeface="+mj-ea"/>
                    <a:ea typeface="+mj-ea"/>
                    <a:sym typeface="Symbol" pitchFamily="18" charset="2"/>
                  </a:rPr>
                  <a:t>ε，</a:t>
                </a:r>
                <a:r>
                  <a:rPr lang="zh-CN" altLang="en-US" sz="2400" b="1" dirty="0">
                    <a:solidFill>
                      <a:srgbClr val="0000FF"/>
                    </a:solidFill>
                    <a:latin typeface="+mj-ea"/>
                    <a:ea typeface="+mj-ea"/>
                    <a:sym typeface="Symbol" pitchFamily="18" charset="2"/>
                  </a:rPr>
                  <a:t>则把</a:t>
                </a:r>
                <a:r>
                  <a:rPr lang="en-US" altLang="zh-CN" sz="2400" b="1" dirty="0">
                    <a:solidFill>
                      <a:srgbClr val="0000FF"/>
                    </a:solidFill>
                    <a:latin typeface="+mj-ea"/>
                    <a:ea typeface="+mj-ea"/>
                    <a:sym typeface="Symbol" pitchFamily="18" charset="2"/>
                  </a:rPr>
                  <a:t>FIRST(Y</a:t>
                </a:r>
                <a:r>
                  <a:rPr lang="en-US" altLang="zh-CN" sz="2400" b="1" baseline="-25000" dirty="0">
                    <a:solidFill>
                      <a:srgbClr val="0000FF"/>
                    </a:solidFill>
                    <a:latin typeface="+mj-ea"/>
                    <a:ea typeface="+mj-ea"/>
                    <a:sym typeface="Symbol" pitchFamily="18" charset="2"/>
                  </a:rPr>
                  <a:t>2</a:t>
                </a:r>
                <a:r>
                  <a:rPr lang="en-US" altLang="zh-CN" sz="2400" b="1" dirty="0">
                    <a:solidFill>
                      <a:srgbClr val="0000FF"/>
                    </a:solidFill>
                    <a:latin typeface="+mj-ea"/>
                    <a:ea typeface="+mj-ea"/>
                    <a:sym typeface="Symbol" pitchFamily="18" charset="2"/>
                  </a:rPr>
                  <a:t>)</a:t>
                </a:r>
                <a:r>
                  <a:rPr lang="zh-CN" altLang="en-US" sz="2400" b="1" dirty="0">
                    <a:solidFill>
                      <a:srgbClr val="0000FF"/>
                    </a:solidFill>
                    <a:latin typeface="+mj-ea"/>
                    <a:ea typeface="+mj-ea"/>
                    <a:sym typeface="Symbol" pitchFamily="18" charset="2"/>
                  </a:rPr>
                  <a:t>加入</a:t>
                </a:r>
                <a:r>
                  <a:rPr lang="en-US" altLang="zh-CN" sz="2400" b="1" dirty="0">
                    <a:solidFill>
                      <a:srgbClr val="0000FF"/>
                    </a:solidFill>
                    <a:latin typeface="+mj-ea"/>
                    <a:ea typeface="+mj-ea"/>
                    <a:sym typeface="Symbol" pitchFamily="18" charset="2"/>
                  </a:rPr>
                  <a:t>FIRST(X)。 </a:t>
                </a:r>
              </a:p>
            </p:txBody>
          </p:sp>
        </mc:Choice>
        <mc:Fallback xmlns="">
          <p:sp>
            <p:nvSpPr>
              <p:cNvPr id="4" name="Rectangle 2"/>
              <p:cNvSpPr>
                <a:spLocks noGrp="1" noRot="1" noChangeAspect="1" noMove="1" noResize="1" noEditPoints="1" noAdjustHandles="1" noChangeArrowheads="1" noChangeShapeType="1" noTextEdit="1"/>
              </p:cNvSpPr>
              <p:nvPr>
                <p:ph idx="1"/>
              </p:nvPr>
            </p:nvSpPr>
            <p:spPr bwMode="auto">
              <a:xfrm>
                <a:off x="1" y="1041401"/>
                <a:ext cx="8686800" cy="5113338"/>
              </a:xfrm>
              <a:prstGeom prst="rect">
                <a:avLst/>
              </a:prstGeom>
              <a:blipFill>
                <a:blip r:embed="rId2"/>
                <a:stretch>
                  <a:fillRect r="-105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18</a:t>
            </a:fld>
            <a:endParaRPr lang="zh-CN" altLang="en-US">
              <a:solidFill>
                <a:srgbClr val="3F3F3F"/>
              </a:solidFill>
            </a:endParaRPr>
          </a:p>
        </p:txBody>
      </p:sp>
    </p:spTree>
    <p:extLst>
      <p:ext uri="{BB962C8B-B14F-4D97-AF65-F5344CB8AC3E}">
        <p14:creationId xmlns:p14="http://schemas.microsoft.com/office/powerpoint/2010/main" val="2080478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5" y="88700"/>
            <a:ext cx="8218486" cy="711200"/>
          </a:xfrm>
        </p:spPr>
        <p:txBody>
          <a:bodyPr/>
          <a:lstStyle/>
          <a:p>
            <a:r>
              <a:rPr lang="zh-CN" altLang="en-US" b="1" dirty="0"/>
              <a:t>定义</a:t>
            </a:r>
            <a:r>
              <a:rPr lang="en-US" altLang="zh-CN" b="1" dirty="0"/>
              <a:t>:</a:t>
            </a:r>
            <a:r>
              <a:rPr lang="zh-CN" altLang="en-US" b="1" dirty="0"/>
              <a:t>后跟符号集</a:t>
            </a:r>
            <a:r>
              <a:rPr lang="en-US" altLang="zh-CN" b="1" dirty="0"/>
              <a:t>FOLLOW</a:t>
            </a:r>
            <a:endParaRPr lang="zh-CN" altLang="en-US" b="1" dirty="0"/>
          </a:p>
        </p:txBody>
      </p:sp>
      <p:sp>
        <p:nvSpPr>
          <p:cNvPr id="5" name="Rectangle 3"/>
          <p:cNvSpPr txBox="1">
            <a:spLocks noChangeArrowheads="1"/>
          </p:cNvSpPr>
          <p:nvPr/>
        </p:nvSpPr>
        <p:spPr bwMode="auto">
          <a:xfrm>
            <a:off x="914400" y="2914645"/>
            <a:ext cx="78486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55600" indent="-269875" algn="l" rtl="0" eaLnBrk="1" fontAlgn="base" hangingPunct="1">
              <a:spcBef>
                <a:spcPts val="1800"/>
              </a:spcBef>
              <a:spcAft>
                <a:spcPct val="0"/>
              </a:spcAft>
              <a:buClr>
                <a:srgbClr val="003399"/>
              </a:buClr>
              <a:buSzPct val="80000"/>
              <a:buFont typeface="Wingdings 2" panose="05020102010507070707" pitchFamily="18" charset="2"/>
              <a:buChar char=""/>
              <a:defRPr sz="2800" b="1" kern="1200">
                <a:solidFill>
                  <a:srgbClr val="003399"/>
                </a:solidFill>
                <a:latin typeface="+mn-lt"/>
                <a:ea typeface="+mn-ea"/>
                <a:cs typeface="+mn-cs"/>
              </a:defRPr>
            </a:lvl1pPr>
            <a:lvl2pPr marL="700088" indent="-342900" algn="l" rtl="0" eaLnBrk="1" fontAlgn="base" hangingPunct="1">
              <a:lnSpc>
                <a:spcPct val="120000"/>
              </a:lnSpc>
              <a:spcBef>
                <a:spcPct val="20000"/>
              </a:spcBef>
              <a:spcAft>
                <a:spcPct val="0"/>
              </a:spcAft>
              <a:buFont typeface="Wingdings" panose="05000000000000000000" pitchFamily="2" charset="2"/>
              <a:buChar char="p"/>
              <a:defRPr sz="2400" b="1" kern="1200">
                <a:solidFill>
                  <a:srgbClr val="7030A0"/>
                </a:solidFill>
                <a:latin typeface="+mn-lt"/>
                <a:ea typeface="+mn-ea"/>
                <a:cs typeface="+mn-cs"/>
              </a:defRPr>
            </a:lvl2pPr>
            <a:lvl3pPr marL="1143000" indent="-228600" algn="l" rtl="0" eaLnBrk="1" fontAlgn="base" hangingPunct="1">
              <a:spcBef>
                <a:spcPct val="20000"/>
              </a:spcBef>
              <a:spcAft>
                <a:spcPct val="0"/>
              </a:spcAft>
              <a:buFont typeface="Wingdings" panose="05000000000000000000" pitchFamily="2" charset="2"/>
              <a:buChar char="ü"/>
              <a:defRPr sz="1400" kern="1200">
                <a:solidFill>
                  <a:srgbClr val="4D4D4D"/>
                </a:solidFill>
                <a:latin typeface="+mn-lt"/>
                <a:ea typeface="+mn-ea"/>
                <a:cs typeface="+mn-cs"/>
              </a:defRPr>
            </a:lvl3pPr>
            <a:lvl4pPr marL="1600200" indent="-228600" algn="l" rtl="0" eaLnBrk="1" fontAlgn="base" hangingPunct="1">
              <a:spcBef>
                <a:spcPct val="20000"/>
              </a:spcBef>
              <a:spcAft>
                <a:spcPct val="0"/>
              </a:spcAft>
              <a:buChar char="–"/>
              <a:defRPr sz="1200" kern="1200">
                <a:solidFill>
                  <a:srgbClr val="4D4D4D"/>
                </a:solidFill>
                <a:latin typeface="+mn-lt"/>
                <a:ea typeface="+mn-ea"/>
                <a:cs typeface="+mn-cs"/>
              </a:defRPr>
            </a:lvl4pPr>
            <a:lvl5pPr marL="2057400" indent="-228600" algn="l" rtl="0" eaLnBrk="1" fontAlgn="base" hangingPunct="1">
              <a:spcBef>
                <a:spcPct val="20000"/>
              </a:spcBef>
              <a:spcAft>
                <a:spcPct val="0"/>
              </a:spcAft>
              <a:buChar char="»"/>
              <a:defRPr sz="1200" kern="1200">
                <a:solidFill>
                  <a:srgbClr val="4D4D4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mj-ea"/>
                <a:ea typeface="+mj-ea"/>
              </a:rPr>
              <a:t>设</a:t>
            </a:r>
            <a:r>
              <a:rPr lang="en-US" altLang="zh-CN" dirty="0">
                <a:latin typeface="+mj-ea"/>
                <a:ea typeface="+mj-ea"/>
              </a:rPr>
              <a:t>G=（V</a:t>
            </a:r>
            <a:r>
              <a:rPr lang="en-US" altLang="zh-CN" baseline="-25000" dirty="0">
                <a:latin typeface="+mj-ea"/>
                <a:ea typeface="+mj-ea"/>
              </a:rPr>
              <a:t>N</a:t>
            </a:r>
            <a:r>
              <a:rPr lang="en-US" altLang="zh-CN" dirty="0">
                <a:latin typeface="+mj-ea"/>
                <a:ea typeface="+mj-ea"/>
              </a:rPr>
              <a:t>、V</a:t>
            </a:r>
            <a:r>
              <a:rPr lang="en-US" altLang="zh-CN" baseline="-25000" dirty="0">
                <a:latin typeface="+mj-ea"/>
                <a:ea typeface="+mj-ea"/>
              </a:rPr>
              <a:t>T</a:t>
            </a:r>
            <a:r>
              <a:rPr lang="en-US" altLang="zh-CN" dirty="0">
                <a:latin typeface="+mj-ea"/>
                <a:ea typeface="+mj-ea"/>
              </a:rPr>
              <a:t>、P、S）</a:t>
            </a:r>
            <a:r>
              <a:rPr lang="zh-CN" altLang="en-US" dirty="0">
                <a:latin typeface="+mj-ea"/>
                <a:ea typeface="+mj-ea"/>
              </a:rPr>
              <a:t>是上下文无关文法，</a:t>
            </a:r>
            <a:r>
              <a:rPr lang="en-US" altLang="zh-CN" dirty="0">
                <a:latin typeface="+mj-ea"/>
                <a:ea typeface="+mj-ea"/>
              </a:rPr>
              <a:t>A</a:t>
            </a:r>
            <a:r>
              <a:rPr lang="en-US" altLang="zh-CN" dirty="0">
                <a:latin typeface="+mj-ea"/>
                <a:ea typeface="+mj-ea"/>
                <a:sym typeface="Symbol" pitchFamily="18" charset="2"/>
              </a:rPr>
              <a:t></a:t>
            </a:r>
            <a:r>
              <a:rPr lang="en-US" altLang="zh-CN" dirty="0">
                <a:latin typeface="+mj-ea"/>
                <a:ea typeface="+mj-ea"/>
              </a:rPr>
              <a:t>V</a:t>
            </a:r>
            <a:r>
              <a:rPr lang="en-US" altLang="zh-CN" baseline="-25000" dirty="0">
                <a:latin typeface="+mj-ea"/>
                <a:ea typeface="+mj-ea"/>
              </a:rPr>
              <a:t>N</a:t>
            </a:r>
            <a:r>
              <a:rPr lang="en-US" altLang="zh-CN" dirty="0">
                <a:latin typeface="+mj-ea"/>
                <a:ea typeface="+mj-ea"/>
              </a:rPr>
              <a:t> ，S</a:t>
            </a:r>
            <a:r>
              <a:rPr lang="zh-CN" altLang="en-US" dirty="0">
                <a:latin typeface="+mj-ea"/>
                <a:ea typeface="+mj-ea"/>
              </a:rPr>
              <a:t>是开始符号，则文法符号</a:t>
            </a:r>
            <a:r>
              <a:rPr lang="en-US" altLang="zh-CN" dirty="0">
                <a:latin typeface="+mj-ea"/>
                <a:ea typeface="+mj-ea"/>
              </a:rPr>
              <a:t>A</a:t>
            </a:r>
            <a:r>
              <a:rPr lang="zh-CN" altLang="en-US" dirty="0">
                <a:latin typeface="+mj-ea"/>
                <a:ea typeface="+mj-ea"/>
              </a:rPr>
              <a:t>的后跟符号集为：</a:t>
            </a:r>
          </a:p>
          <a:p>
            <a:pPr lvl="1"/>
            <a:r>
              <a:rPr lang="en-US" altLang="zh-CN" dirty="0">
                <a:latin typeface="+mj-ea"/>
                <a:ea typeface="+mj-ea"/>
              </a:rPr>
              <a:t>FOLLOW（A）</a:t>
            </a:r>
          </a:p>
          <a:p>
            <a:pPr lvl="1">
              <a:buFont typeface="Wingdings" panose="05000000000000000000" pitchFamily="2" charset="2"/>
              <a:buNone/>
            </a:pPr>
            <a:r>
              <a:rPr lang="en-US" altLang="zh-CN" dirty="0">
                <a:latin typeface="+mj-ea"/>
                <a:ea typeface="+mj-ea"/>
              </a:rPr>
              <a:t>={</a:t>
            </a:r>
            <a:r>
              <a:rPr lang="en-US" altLang="zh-CN" dirty="0" err="1">
                <a:latin typeface="+mj-ea"/>
                <a:ea typeface="+mj-ea"/>
              </a:rPr>
              <a:t>a|S</a:t>
            </a:r>
            <a:r>
              <a:rPr lang="en-US" altLang="zh-CN" dirty="0">
                <a:latin typeface="+mj-ea"/>
                <a:ea typeface="+mj-ea"/>
              </a:rPr>
              <a:t> </a:t>
            </a:r>
            <a:r>
              <a:rPr lang="en-US" altLang="zh-CN" baseline="30000" dirty="0">
                <a:latin typeface="+mj-ea"/>
                <a:ea typeface="+mj-ea"/>
                <a:sym typeface="Symbol" pitchFamily="18" charset="2"/>
              </a:rPr>
              <a:t>*</a:t>
            </a:r>
            <a:r>
              <a:rPr lang="en-US" altLang="zh-CN" dirty="0">
                <a:latin typeface="+mj-ea"/>
                <a:ea typeface="+mj-ea"/>
                <a:sym typeface="Symbol" pitchFamily="18" charset="2"/>
              </a:rPr>
              <a:t>  A </a:t>
            </a:r>
            <a:r>
              <a:rPr lang="zh-CN" altLang="en-US" dirty="0">
                <a:latin typeface="+mj-ea"/>
                <a:ea typeface="+mj-ea"/>
                <a:sym typeface="Symbol" pitchFamily="18" charset="2"/>
              </a:rPr>
              <a:t>且 </a:t>
            </a:r>
            <a:r>
              <a:rPr lang="en-US" altLang="zh-CN" dirty="0" err="1">
                <a:latin typeface="+mj-ea"/>
                <a:ea typeface="+mj-ea"/>
              </a:rPr>
              <a:t>a</a:t>
            </a:r>
            <a:r>
              <a:rPr lang="en-US" altLang="zh-CN" dirty="0" err="1">
                <a:latin typeface="+mj-ea"/>
                <a:ea typeface="+mj-ea"/>
                <a:sym typeface="Symbol" pitchFamily="18" charset="2"/>
              </a:rPr>
              <a:t></a:t>
            </a:r>
            <a:r>
              <a:rPr lang="en-US" altLang="zh-CN" dirty="0" err="1">
                <a:latin typeface="+mj-ea"/>
                <a:ea typeface="+mj-ea"/>
              </a:rPr>
              <a:t>V</a:t>
            </a:r>
            <a:r>
              <a:rPr lang="en-US" altLang="zh-CN" baseline="-25000" dirty="0" err="1">
                <a:latin typeface="+mj-ea"/>
                <a:ea typeface="+mj-ea"/>
              </a:rPr>
              <a:t>T</a:t>
            </a:r>
            <a:r>
              <a:rPr lang="en-US" altLang="zh-CN" dirty="0" err="1">
                <a:latin typeface="+mj-ea"/>
                <a:ea typeface="+mj-ea"/>
              </a:rPr>
              <a:t>，a</a:t>
            </a:r>
            <a:r>
              <a:rPr lang="en-US" altLang="zh-CN" dirty="0" err="1">
                <a:latin typeface="+mj-ea"/>
                <a:ea typeface="+mj-ea"/>
                <a:sym typeface="Symbol" pitchFamily="18" charset="2"/>
              </a:rPr>
              <a:t></a:t>
            </a:r>
            <a:r>
              <a:rPr lang="en-US" altLang="zh-CN" dirty="0" err="1">
                <a:latin typeface="+mj-ea"/>
                <a:ea typeface="+mj-ea"/>
              </a:rPr>
              <a:t>FIRST</a:t>
            </a:r>
            <a:r>
              <a:rPr lang="en-US" altLang="zh-CN" dirty="0">
                <a:latin typeface="+mj-ea"/>
                <a:ea typeface="+mj-ea"/>
              </a:rPr>
              <a:t>（</a:t>
            </a:r>
            <a:r>
              <a:rPr lang="en-US" altLang="zh-CN" dirty="0">
                <a:latin typeface="+mj-ea"/>
                <a:ea typeface="+mj-ea"/>
                <a:sym typeface="Symbol" pitchFamily="18" charset="2"/>
              </a:rPr>
              <a:t></a:t>
            </a:r>
            <a:r>
              <a:rPr lang="en-US" altLang="zh-CN" dirty="0">
                <a:latin typeface="+mj-ea"/>
                <a:ea typeface="+mj-ea"/>
              </a:rPr>
              <a:t>），</a:t>
            </a:r>
            <a:r>
              <a:rPr lang="en-US" altLang="zh-CN" dirty="0">
                <a:latin typeface="+mj-ea"/>
                <a:ea typeface="+mj-ea"/>
                <a:sym typeface="Symbol" pitchFamily="18" charset="2"/>
              </a:rPr>
              <a:t></a:t>
            </a:r>
            <a:r>
              <a:rPr lang="en-US" altLang="zh-CN" dirty="0">
                <a:latin typeface="+mj-ea"/>
                <a:ea typeface="+mj-ea"/>
              </a:rPr>
              <a:t>V</a:t>
            </a:r>
            <a:r>
              <a:rPr lang="en-US" altLang="zh-CN" baseline="-25000" dirty="0">
                <a:latin typeface="+mj-ea"/>
                <a:ea typeface="+mj-ea"/>
              </a:rPr>
              <a:t>T</a:t>
            </a:r>
            <a:r>
              <a:rPr lang="en-US" altLang="zh-CN" baseline="30000" dirty="0">
                <a:latin typeface="+mj-ea"/>
                <a:ea typeface="+mj-ea"/>
              </a:rPr>
              <a:t>*</a:t>
            </a:r>
            <a:r>
              <a:rPr lang="en-US" altLang="zh-CN" dirty="0">
                <a:latin typeface="+mj-ea"/>
                <a:ea typeface="+mj-ea"/>
              </a:rPr>
              <a:t>，</a:t>
            </a:r>
            <a:r>
              <a:rPr lang="en-US" altLang="zh-CN" dirty="0">
                <a:latin typeface="+mj-ea"/>
                <a:ea typeface="+mj-ea"/>
                <a:sym typeface="Symbol" pitchFamily="18" charset="2"/>
              </a:rPr>
              <a:t></a:t>
            </a:r>
            <a:r>
              <a:rPr lang="en-US" altLang="zh-CN" dirty="0">
                <a:latin typeface="+mj-ea"/>
                <a:ea typeface="+mj-ea"/>
              </a:rPr>
              <a:t>V</a:t>
            </a:r>
            <a:r>
              <a:rPr lang="en-US" altLang="zh-CN" baseline="30000" dirty="0">
                <a:latin typeface="+mj-ea"/>
                <a:ea typeface="+mj-ea"/>
              </a:rPr>
              <a:t>+</a:t>
            </a:r>
            <a:r>
              <a:rPr lang="en-US" altLang="zh-CN" dirty="0">
                <a:latin typeface="+mj-ea"/>
                <a:ea typeface="+mj-ea"/>
              </a:rPr>
              <a:t> </a:t>
            </a:r>
            <a:r>
              <a:rPr lang="zh-CN" altLang="en-US" dirty="0">
                <a:latin typeface="+mj-ea"/>
                <a:ea typeface="+mj-ea"/>
              </a:rPr>
              <a:t>}</a:t>
            </a:r>
            <a:endParaRPr lang="en-US" altLang="zh-CN" dirty="0">
              <a:latin typeface="+mj-ea"/>
              <a:ea typeface="+mj-ea"/>
            </a:endParaRPr>
          </a:p>
          <a:p>
            <a:pPr lvl="1"/>
            <a:r>
              <a:rPr lang="zh-CN" altLang="en-US" dirty="0">
                <a:latin typeface="+mj-ea"/>
                <a:ea typeface="+mj-ea"/>
              </a:rPr>
              <a:t>若</a:t>
            </a:r>
            <a:r>
              <a:rPr lang="en-US" altLang="zh-CN" dirty="0">
                <a:latin typeface="+mj-ea"/>
                <a:ea typeface="+mj-ea"/>
              </a:rPr>
              <a:t>S </a:t>
            </a:r>
            <a:r>
              <a:rPr lang="en-US" altLang="zh-CN" baseline="30000" dirty="0">
                <a:latin typeface="+mj-ea"/>
                <a:ea typeface="+mj-ea"/>
                <a:sym typeface="Symbol" pitchFamily="18" charset="2"/>
              </a:rPr>
              <a:t>*</a:t>
            </a:r>
            <a:r>
              <a:rPr lang="en-US" altLang="zh-CN" dirty="0">
                <a:latin typeface="+mj-ea"/>
                <a:ea typeface="+mj-ea"/>
                <a:sym typeface="Symbol" pitchFamily="18" charset="2"/>
              </a:rPr>
              <a:t>  A，</a:t>
            </a:r>
            <a:r>
              <a:rPr lang="zh-CN" altLang="en-US" dirty="0">
                <a:latin typeface="+mj-ea"/>
                <a:ea typeface="+mj-ea"/>
                <a:sym typeface="Symbol" pitchFamily="18" charset="2"/>
              </a:rPr>
              <a:t>且</a:t>
            </a:r>
            <a:r>
              <a:rPr lang="en-US" altLang="zh-CN" dirty="0">
                <a:latin typeface="+mj-ea"/>
                <a:ea typeface="+mj-ea"/>
                <a:sym typeface="Symbol" pitchFamily="18" charset="2"/>
              </a:rPr>
              <a:t></a:t>
            </a:r>
            <a:r>
              <a:rPr lang="en-US" altLang="zh-CN" dirty="0">
                <a:latin typeface="+mj-ea"/>
                <a:ea typeface="+mj-ea"/>
              </a:rPr>
              <a:t> </a:t>
            </a:r>
            <a:r>
              <a:rPr lang="en-US" altLang="zh-CN" baseline="30000" dirty="0">
                <a:latin typeface="+mj-ea"/>
                <a:ea typeface="+mj-ea"/>
                <a:sym typeface="Symbol" pitchFamily="18" charset="2"/>
              </a:rPr>
              <a:t>*</a:t>
            </a:r>
            <a:r>
              <a:rPr lang="en-US" altLang="zh-CN" dirty="0">
                <a:latin typeface="+mj-ea"/>
                <a:ea typeface="+mj-ea"/>
                <a:sym typeface="Symbol" pitchFamily="18" charset="2"/>
              </a:rPr>
              <a:t>  </a:t>
            </a:r>
            <a:r>
              <a:rPr lang="zh-CN" altLang="en-US" dirty="0">
                <a:latin typeface="+mj-ea"/>
                <a:ea typeface="+mj-ea"/>
                <a:sym typeface="Symbol" pitchFamily="18" charset="2"/>
              </a:rPr>
              <a:t>，则# </a:t>
            </a:r>
            <a:r>
              <a:rPr lang="en-US" altLang="zh-CN" dirty="0">
                <a:latin typeface="+mj-ea"/>
                <a:ea typeface="+mj-ea"/>
                <a:sym typeface="Symbol" pitchFamily="18" charset="2"/>
              </a:rPr>
              <a:t> </a:t>
            </a:r>
            <a:r>
              <a:rPr lang="en-US" altLang="zh-CN" dirty="0">
                <a:latin typeface="+mj-ea"/>
                <a:ea typeface="+mj-ea"/>
              </a:rPr>
              <a:t>FOLLOW（A）</a:t>
            </a:r>
            <a:r>
              <a:rPr lang="zh-CN" altLang="en-US" dirty="0">
                <a:latin typeface="+mj-ea"/>
                <a:ea typeface="+mj-ea"/>
              </a:rPr>
              <a:t> </a:t>
            </a:r>
          </a:p>
          <a:p>
            <a:endParaRPr lang="zh-CN" altLang="en-US" dirty="0">
              <a:latin typeface="+mj-ea"/>
              <a:ea typeface="+mj-ea"/>
            </a:endParaRPr>
          </a:p>
        </p:txBody>
      </p:sp>
      <p:sp>
        <p:nvSpPr>
          <p:cNvPr id="6" name="AutoShape 4"/>
          <p:cNvSpPr>
            <a:spLocks noChangeArrowheads="1"/>
          </p:cNvSpPr>
          <p:nvPr/>
        </p:nvSpPr>
        <p:spPr bwMode="auto">
          <a:xfrm>
            <a:off x="2202983" y="6002384"/>
            <a:ext cx="304800" cy="76200"/>
          </a:xfrm>
          <a:prstGeom prst="rightArrow">
            <a:avLst>
              <a:gd name="adj1" fmla="val 50000"/>
              <a:gd name="adj2" fmla="val 10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7" name="AutoShape 11"/>
          <p:cNvSpPr>
            <a:spLocks noChangeArrowheads="1"/>
          </p:cNvSpPr>
          <p:nvPr/>
        </p:nvSpPr>
        <p:spPr bwMode="auto">
          <a:xfrm>
            <a:off x="2171500" y="5075583"/>
            <a:ext cx="304800" cy="76200"/>
          </a:xfrm>
          <a:prstGeom prst="rightArrow">
            <a:avLst>
              <a:gd name="adj1" fmla="val 50000"/>
              <a:gd name="adj2" fmla="val 10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8" name="AutoShape 12"/>
          <p:cNvSpPr>
            <a:spLocks noChangeArrowheads="1"/>
          </p:cNvSpPr>
          <p:nvPr/>
        </p:nvSpPr>
        <p:spPr bwMode="auto">
          <a:xfrm>
            <a:off x="3946761" y="5999611"/>
            <a:ext cx="304800" cy="76200"/>
          </a:xfrm>
          <a:prstGeom prst="rightArrow">
            <a:avLst>
              <a:gd name="adj1" fmla="val 50000"/>
              <a:gd name="adj2" fmla="val 10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9" name="Rectangle 13"/>
          <p:cNvSpPr>
            <a:spLocks noChangeArrowheads="1"/>
          </p:cNvSpPr>
          <p:nvPr/>
        </p:nvSpPr>
        <p:spPr bwMode="auto">
          <a:xfrm>
            <a:off x="971555" y="1235639"/>
            <a:ext cx="8305800" cy="94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lnSpc>
                <a:spcPct val="120000"/>
              </a:lnSpc>
              <a:spcBef>
                <a:spcPct val="0"/>
              </a:spcBef>
              <a:spcAft>
                <a:spcPct val="0"/>
              </a:spcAft>
            </a:pPr>
            <a:r>
              <a:rPr lang="zh-CN" altLang="en-US" sz="2400" b="1" dirty="0">
                <a:solidFill>
                  <a:srgbClr val="3333CC"/>
                </a:solidFill>
                <a:latin typeface="+mj-ea"/>
                <a:ea typeface="+mj-ea"/>
              </a:rPr>
              <a:t> 设</a:t>
            </a:r>
            <a:r>
              <a:rPr lang="en-US" altLang="zh-CN" sz="2400" b="1" dirty="0">
                <a:solidFill>
                  <a:srgbClr val="3333CC"/>
                </a:solidFill>
                <a:latin typeface="+mj-ea"/>
                <a:ea typeface="+mj-ea"/>
              </a:rPr>
              <a:t>A</a:t>
            </a:r>
            <a:r>
              <a:rPr lang="zh-CN" altLang="en-US" sz="2400" b="1" dirty="0">
                <a:solidFill>
                  <a:srgbClr val="3333CC"/>
                </a:solidFill>
                <a:latin typeface="+mj-ea"/>
                <a:ea typeface="+mj-ea"/>
              </a:rPr>
              <a:t>为一个非终结符号，定义</a:t>
            </a:r>
            <a:r>
              <a:rPr lang="en-US" altLang="zh-CN" sz="2400" b="1" dirty="0">
                <a:solidFill>
                  <a:srgbClr val="3333CC"/>
                </a:solidFill>
                <a:latin typeface="+mj-ea"/>
                <a:ea typeface="+mj-ea"/>
              </a:rPr>
              <a:t>A</a:t>
            </a:r>
            <a:r>
              <a:rPr lang="zh-CN" altLang="en-US" sz="2400" b="1" dirty="0">
                <a:solidFill>
                  <a:srgbClr val="3333CC"/>
                </a:solidFill>
                <a:latin typeface="+mj-ea"/>
                <a:ea typeface="+mj-ea"/>
              </a:rPr>
              <a:t>的后随符号集</a:t>
            </a:r>
            <a:r>
              <a:rPr lang="en-US" altLang="zh-CN" sz="2400" b="1" dirty="0">
                <a:solidFill>
                  <a:srgbClr val="3333CC"/>
                </a:solidFill>
                <a:latin typeface="+mj-ea"/>
                <a:ea typeface="+mj-ea"/>
              </a:rPr>
              <a:t>FOLLOW(A)</a:t>
            </a:r>
            <a:r>
              <a:rPr lang="zh-CN" altLang="en-US" sz="2400" b="1" dirty="0">
                <a:solidFill>
                  <a:srgbClr val="3333CC"/>
                </a:solidFill>
                <a:latin typeface="+mj-ea"/>
                <a:ea typeface="+mj-ea"/>
              </a:rPr>
              <a:t>为任意句型中紧跟在</a:t>
            </a:r>
            <a:r>
              <a:rPr lang="en-US" altLang="zh-CN" sz="2400" b="1" dirty="0">
                <a:solidFill>
                  <a:srgbClr val="3333CC"/>
                </a:solidFill>
                <a:latin typeface="+mj-ea"/>
                <a:ea typeface="+mj-ea"/>
              </a:rPr>
              <a:t>A</a:t>
            </a:r>
            <a:r>
              <a:rPr lang="zh-CN" altLang="en-US" sz="2400" b="1" dirty="0">
                <a:solidFill>
                  <a:srgbClr val="3333CC"/>
                </a:solidFill>
                <a:latin typeface="+mj-ea"/>
                <a:ea typeface="+mj-ea"/>
              </a:rPr>
              <a:t>之后出现的所有终结符号的集合。</a:t>
            </a: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19</a:t>
            </a:fld>
            <a:endParaRPr lang="zh-CN" altLang="en-US">
              <a:solidFill>
                <a:srgbClr val="3F3F3F"/>
              </a:solidFill>
            </a:endParaRPr>
          </a:p>
        </p:txBody>
      </p:sp>
    </p:spTree>
    <p:extLst>
      <p:ext uri="{BB962C8B-B14F-4D97-AF65-F5344CB8AC3E}">
        <p14:creationId xmlns:p14="http://schemas.microsoft.com/office/powerpoint/2010/main" val="2462601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定义</a:t>
            </a:r>
            <a:r>
              <a:rPr lang="en-US" altLang="zh-CN" b="1" dirty="0"/>
              <a:t>:</a:t>
            </a:r>
            <a:r>
              <a:rPr lang="zh-CN" altLang="en-US" b="1" dirty="0"/>
              <a:t>后跟符号集</a:t>
            </a:r>
            <a:r>
              <a:rPr lang="en-US" altLang="zh-CN" b="1" dirty="0"/>
              <a:t>FOLLOW</a:t>
            </a:r>
            <a:endParaRPr lang="zh-CN" altLang="en-US" b="1" dirty="0"/>
          </a:p>
        </p:txBody>
      </p:sp>
      <p:sp>
        <p:nvSpPr>
          <p:cNvPr id="3" name="内容占位符 2"/>
          <p:cNvSpPr>
            <a:spLocks noGrp="1"/>
          </p:cNvSpPr>
          <p:nvPr>
            <p:ph idx="1"/>
          </p:nvPr>
        </p:nvSpPr>
        <p:spPr>
          <a:xfrm>
            <a:off x="468313" y="1060652"/>
            <a:ext cx="8218487" cy="5113338"/>
          </a:xfrm>
        </p:spPr>
        <p:txBody>
          <a:bodyPr/>
          <a:lstStyle/>
          <a:p>
            <a:r>
              <a:rPr lang="zh-CN" altLang="en-US" dirty="0"/>
              <a:t>补充：</a:t>
            </a:r>
          </a:p>
        </p:txBody>
      </p:sp>
      <p:sp>
        <p:nvSpPr>
          <p:cNvPr id="4" name="Rectangle 4"/>
          <p:cNvSpPr>
            <a:spLocks noChangeArrowheads="1"/>
          </p:cNvSpPr>
          <p:nvPr/>
        </p:nvSpPr>
        <p:spPr bwMode="auto">
          <a:xfrm>
            <a:off x="1763713" y="2636838"/>
            <a:ext cx="6029325" cy="1143000"/>
          </a:xfrm>
          <a:prstGeom prst="rect">
            <a:avLst/>
          </a:prstGeom>
          <a:noFill/>
          <a:ln w="9525">
            <a:noFill/>
            <a:miter lim="800000"/>
            <a:headEnd/>
            <a:tailEnd/>
          </a:ln>
          <a:effectLst/>
        </p:spPr>
        <p:txBody>
          <a:bodyPr anchor="b"/>
          <a:lstStyle/>
          <a:p>
            <a:pPr fontAlgn="base">
              <a:spcBef>
                <a:spcPct val="0"/>
              </a:spcBef>
              <a:spcAft>
                <a:spcPct val="0"/>
              </a:spcAft>
              <a:defRPr/>
            </a:pPr>
            <a:endParaRPr kumimoji="1" lang="zh-CN" altLang="en-US" sz="4400">
              <a:solidFill>
                <a:srgbClr val="3333CC"/>
              </a:solidFill>
              <a:effectLst>
                <a:outerShdw blurRad="38100" dist="38100" dir="2700000" algn="tl">
                  <a:srgbClr val="000000"/>
                </a:outerShdw>
              </a:effectLst>
            </a:endParaRPr>
          </a:p>
        </p:txBody>
      </p:sp>
      <p:sp>
        <p:nvSpPr>
          <p:cNvPr id="5" name="Text Box 8"/>
          <p:cNvSpPr txBox="1">
            <a:spLocks noChangeArrowheads="1"/>
          </p:cNvSpPr>
          <p:nvPr/>
        </p:nvSpPr>
        <p:spPr bwMode="auto">
          <a:xfrm>
            <a:off x="1066800" y="1676400"/>
            <a:ext cx="7391400" cy="389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lnSpc>
                <a:spcPct val="120000"/>
              </a:lnSpc>
              <a:spcBef>
                <a:spcPct val="50000"/>
              </a:spcBef>
              <a:spcAft>
                <a:spcPct val="0"/>
              </a:spcAft>
            </a:pPr>
            <a:r>
              <a:rPr lang="zh-CN" altLang="en-US" sz="2800" b="1" dirty="0">
                <a:solidFill>
                  <a:srgbClr val="0000FF"/>
                </a:solidFill>
                <a:latin typeface="+mj-ea"/>
                <a:ea typeface="+mj-ea"/>
              </a:rPr>
              <a:t>即：</a:t>
            </a:r>
            <a:r>
              <a:rPr lang="zh-CN" altLang="en-US" sz="2800" dirty="0">
                <a:solidFill>
                  <a:srgbClr val="0000FF"/>
                </a:solidFill>
                <a:latin typeface="+mj-ea"/>
                <a:ea typeface="+mj-ea"/>
              </a:rPr>
              <a:t>若存在推导</a:t>
            </a:r>
            <a:r>
              <a:rPr lang="en-US" altLang="zh-CN" sz="2800" dirty="0">
                <a:solidFill>
                  <a:srgbClr val="0000FF"/>
                </a:solidFill>
                <a:latin typeface="+mj-ea"/>
                <a:ea typeface="+mj-ea"/>
              </a:rPr>
              <a:t>S </a:t>
            </a:r>
            <a:r>
              <a:rPr lang="en-US" altLang="zh-CN" dirty="0">
                <a:solidFill>
                  <a:srgbClr val="0000FF"/>
                </a:solidFill>
                <a:latin typeface="+mj-ea"/>
                <a:ea typeface="+mj-ea"/>
              </a:rPr>
              <a:t>*</a:t>
            </a:r>
            <a:r>
              <a:rPr lang="en-US" altLang="zh-CN" sz="3200" dirty="0">
                <a:solidFill>
                  <a:srgbClr val="0000FF"/>
                </a:solidFill>
                <a:latin typeface="+mj-ea"/>
                <a:ea typeface="+mj-ea"/>
              </a:rPr>
              <a:t>   </a:t>
            </a:r>
            <a:r>
              <a:rPr lang="en-US" altLang="zh-CN" sz="2800" dirty="0">
                <a:solidFill>
                  <a:srgbClr val="0000FF"/>
                </a:solidFill>
                <a:latin typeface="+mj-ea"/>
                <a:ea typeface="+mj-ea"/>
                <a:sym typeface="Symbol" pitchFamily="18" charset="2"/>
              </a:rPr>
              <a:t></a:t>
            </a:r>
            <a:r>
              <a:rPr lang="en-US" altLang="zh-CN" sz="2800" dirty="0">
                <a:solidFill>
                  <a:srgbClr val="0000FF"/>
                </a:solidFill>
                <a:latin typeface="+mj-ea"/>
                <a:ea typeface="+mj-ea"/>
              </a:rPr>
              <a:t>Aa</a:t>
            </a:r>
            <a:r>
              <a:rPr lang="en-US" altLang="zh-CN" sz="2800" b="1" dirty="0">
                <a:solidFill>
                  <a:srgbClr val="0000FF"/>
                </a:solidFill>
                <a:latin typeface="+mj-ea"/>
                <a:ea typeface="+mj-ea"/>
              </a:rPr>
              <a:t>β</a:t>
            </a:r>
            <a:r>
              <a:rPr lang="en-US" altLang="zh-CN" sz="2800" dirty="0">
                <a:solidFill>
                  <a:srgbClr val="0000FF"/>
                </a:solidFill>
                <a:latin typeface="+mj-ea"/>
                <a:ea typeface="+mj-ea"/>
              </a:rPr>
              <a:t>， </a:t>
            </a:r>
            <a:r>
              <a:rPr lang="en-US" altLang="zh-CN" sz="3200" dirty="0">
                <a:solidFill>
                  <a:srgbClr val="0000FF"/>
                </a:solidFill>
                <a:latin typeface="+mj-ea"/>
                <a:ea typeface="+mj-ea"/>
                <a:sym typeface="Symbol" pitchFamily="18" charset="2"/>
              </a:rPr>
              <a:t></a:t>
            </a:r>
            <a:r>
              <a:rPr lang="en-US" altLang="zh-CN" sz="4800" dirty="0">
                <a:solidFill>
                  <a:srgbClr val="0000FF"/>
                </a:solidFill>
                <a:latin typeface="+mj-ea"/>
                <a:ea typeface="+mj-ea"/>
              </a:rPr>
              <a:t> </a:t>
            </a:r>
            <a:r>
              <a:rPr lang="en-US" altLang="zh-CN" sz="2800" dirty="0">
                <a:solidFill>
                  <a:srgbClr val="0000FF"/>
                </a:solidFill>
                <a:latin typeface="+mj-ea"/>
                <a:ea typeface="+mj-ea"/>
              </a:rPr>
              <a:t>、</a:t>
            </a:r>
            <a:r>
              <a:rPr lang="en-US" altLang="zh-CN" sz="2800" b="1" dirty="0">
                <a:solidFill>
                  <a:srgbClr val="0000FF"/>
                </a:solidFill>
                <a:latin typeface="+mj-ea"/>
                <a:ea typeface="+mj-ea"/>
              </a:rPr>
              <a:t>β</a:t>
            </a:r>
            <a:r>
              <a:rPr lang="zh-CN" altLang="en-US" sz="2800" dirty="0">
                <a:solidFill>
                  <a:srgbClr val="0000FF"/>
                </a:solidFill>
                <a:latin typeface="+mj-ea"/>
                <a:ea typeface="+mj-ea"/>
              </a:rPr>
              <a:t>是任意语法符号串，</a:t>
            </a:r>
            <a:r>
              <a:rPr lang="en-US" altLang="zh-CN" sz="2800" dirty="0">
                <a:solidFill>
                  <a:srgbClr val="0000FF"/>
                </a:solidFill>
                <a:latin typeface="+mj-ea"/>
                <a:ea typeface="+mj-ea"/>
              </a:rPr>
              <a:t>FOLLOW(A)</a:t>
            </a:r>
            <a:r>
              <a:rPr lang="zh-CN" altLang="en-US" sz="2800" dirty="0">
                <a:solidFill>
                  <a:srgbClr val="0000FF"/>
                </a:solidFill>
                <a:latin typeface="+mj-ea"/>
                <a:ea typeface="+mj-ea"/>
              </a:rPr>
              <a:t>为所有可能的终结符号</a:t>
            </a:r>
            <a:r>
              <a:rPr lang="en-US" altLang="zh-CN" sz="2800" dirty="0">
                <a:solidFill>
                  <a:srgbClr val="0000FF"/>
                </a:solidFill>
                <a:latin typeface="+mj-ea"/>
                <a:ea typeface="+mj-ea"/>
              </a:rPr>
              <a:t>a</a:t>
            </a:r>
            <a:r>
              <a:rPr lang="zh-CN" altLang="en-US" sz="2800" dirty="0">
                <a:solidFill>
                  <a:srgbClr val="0000FF"/>
                </a:solidFill>
                <a:latin typeface="+mj-ea"/>
                <a:ea typeface="+mj-ea"/>
              </a:rPr>
              <a:t>的集合。应该注意，在推导过程中，在</a:t>
            </a:r>
            <a:r>
              <a:rPr lang="en-US" altLang="zh-CN" sz="2800" dirty="0">
                <a:solidFill>
                  <a:srgbClr val="0000FF"/>
                </a:solidFill>
                <a:latin typeface="+mj-ea"/>
                <a:ea typeface="+mj-ea"/>
              </a:rPr>
              <a:t>A</a:t>
            </a:r>
            <a:r>
              <a:rPr lang="zh-CN" altLang="en-US" sz="2800" dirty="0">
                <a:solidFill>
                  <a:srgbClr val="0000FF"/>
                </a:solidFill>
                <a:latin typeface="+mj-ea"/>
                <a:ea typeface="+mj-ea"/>
              </a:rPr>
              <a:t>和</a:t>
            </a:r>
            <a:r>
              <a:rPr lang="en-US" altLang="zh-CN" sz="2800" dirty="0">
                <a:solidFill>
                  <a:srgbClr val="0000FF"/>
                </a:solidFill>
                <a:latin typeface="+mj-ea"/>
                <a:ea typeface="+mj-ea"/>
              </a:rPr>
              <a:t>a</a:t>
            </a:r>
            <a:r>
              <a:rPr lang="zh-CN" altLang="en-US" sz="2800" dirty="0">
                <a:solidFill>
                  <a:srgbClr val="0000FF"/>
                </a:solidFill>
                <a:latin typeface="+mj-ea"/>
                <a:ea typeface="+mj-ea"/>
              </a:rPr>
              <a:t>之间可能出现其它符号串</a:t>
            </a:r>
            <a:r>
              <a:rPr lang="en-US" altLang="zh-CN" sz="2800" dirty="0">
                <a:solidFill>
                  <a:srgbClr val="0000FF"/>
                </a:solidFill>
                <a:latin typeface="+mj-ea"/>
                <a:ea typeface="+mj-ea"/>
              </a:rPr>
              <a:t>γ，</a:t>
            </a:r>
            <a:r>
              <a:rPr lang="zh-CN" altLang="en-US" sz="2800" dirty="0">
                <a:solidFill>
                  <a:srgbClr val="0000FF"/>
                </a:solidFill>
                <a:latin typeface="+mj-ea"/>
                <a:ea typeface="+mj-ea"/>
              </a:rPr>
              <a:t>但推导的结果</a:t>
            </a:r>
          </a:p>
          <a:p>
            <a:pPr algn="just" eaLnBrk="1" fontAlgn="base" hangingPunct="1">
              <a:lnSpc>
                <a:spcPct val="120000"/>
              </a:lnSpc>
              <a:spcBef>
                <a:spcPct val="0"/>
              </a:spcBef>
              <a:spcAft>
                <a:spcPct val="0"/>
              </a:spcAft>
            </a:pPr>
            <a:r>
              <a:rPr lang="en-US" altLang="zh-CN" sz="2800" dirty="0">
                <a:solidFill>
                  <a:srgbClr val="0000FF"/>
                </a:solidFill>
                <a:latin typeface="+mj-ea"/>
                <a:ea typeface="+mj-ea"/>
              </a:rPr>
              <a:t>γ </a:t>
            </a:r>
            <a:r>
              <a:rPr lang="en-US" altLang="zh-CN" dirty="0">
                <a:solidFill>
                  <a:srgbClr val="0000FF"/>
                </a:solidFill>
                <a:latin typeface="+mj-ea"/>
                <a:ea typeface="+mj-ea"/>
              </a:rPr>
              <a:t>*  </a:t>
            </a:r>
            <a:r>
              <a:rPr lang="en-US" altLang="zh-CN" sz="2800" b="1" dirty="0">
                <a:solidFill>
                  <a:srgbClr val="0000FF"/>
                </a:solidFill>
                <a:latin typeface="+mj-ea"/>
                <a:ea typeface="+mj-ea"/>
              </a:rPr>
              <a:t>ε</a:t>
            </a:r>
            <a:r>
              <a:rPr lang="en-US" altLang="zh-CN" sz="2800" dirty="0">
                <a:solidFill>
                  <a:srgbClr val="0000FF"/>
                </a:solidFill>
                <a:latin typeface="+mj-ea"/>
                <a:ea typeface="+mj-ea"/>
              </a:rPr>
              <a:t>，</a:t>
            </a:r>
            <a:r>
              <a:rPr lang="zh-CN" altLang="en-US" sz="2800" dirty="0">
                <a:solidFill>
                  <a:srgbClr val="0000FF"/>
                </a:solidFill>
                <a:latin typeface="+mj-ea"/>
                <a:ea typeface="+mj-ea"/>
              </a:rPr>
              <a:t>这样</a:t>
            </a:r>
            <a:r>
              <a:rPr lang="en-US" altLang="zh-CN" sz="2800" dirty="0">
                <a:solidFill>
                  <a:srgbClr val="0000FF"/>
                </a:solidFill>
                <a:latin typeface="+mj-ea"/>
                <a:ea typeface="+mj-ea"/>
              </a:rPr>
              <a:t>，</a:t>
            </a:r>
            <a:r>
              <a:rPr lang="zh-CN" altLang="en-US" sz="2800" dirty="0">
                <a:solidFill>
                  <a:srgbClr val="0000FF"/>
                </a:solidFill>
                <a:latin typeface="+mj-ea"/>
                <a:ea typeface="+mj-ea"/>
              </a:rPr>
              <a:t>仍然有</a:t>
            </a:r>
            <a:r>
              <a:rPr lang="en-US" altLang="zh-CN" sz="2800" dirty="0">
                <a:solidFill>
                  <a:srgbClr val="0000FF"/>
                </a:solidFill>
                <a:latin typeface="+mj-ea"/>
                <a:ea typeface="+mj-ea"/>
              </a:rPr>
              <a:t>a ∈follow(A)。</a:t>
            </a:r>
          </a:p>
          <a:p>
            <a:pPr eaLnBrk="1" fontAlgn="base" hangingPunct="1">
              <a:lnSpc>
                <a:spcPct val="120000"/>
              </a:lnSpc>
              <a:spcBef>
                <a:spcPct val="50000"/>
              </a:spcBef>
              <a:spcAft>
                <a:spcPct val="0"/>
              </a:spcAft>
            </a:pPr>
            <a:endParaRPr lang="zh-CN" altLang="en-US" sz="2800" dirty="0">
              <a:solidFill>
                <a:srgbClr val="0000FF"/>
              </a:solidFill>
              <a:latin typeface="+mj-ea"/>
              <a:ea typeface="+mj-ea"/>
            </a:endParaRPr>
          </a:p>
        </p:txBody>
      </p:sp>
      <p:sp>
        <p:nvSpPr>
          <p:cNvPr id="6" name="AutoShape 9"/>
          <p:cNvSpPr>
            <a:spLocks noChangeArrowheads="1"/>
          </p:cNvSpPr>
          <p:nvPr/>
        </p:nvSpPr>
        <p:spPr bwMode="auto">
          <a:xfrm>
            <a:off x="3924300" y="2278062"/>
            <a:ext cx="431800" cy="71438"/>
          </a:xfrm>
          <a:prstGeom prst="rightArrow">
            <a:avLst>
              <a:gd name="adj1" fmla="val 50000"/>
              <a:gd name="adj2" fmla="val 15111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7" name="AutoShape 11"/>
          <p:cNvSpPr>
            <a:spLocks noChangeArrowheads="1"/>
          </p:cNvSpPr>
          <p:nvPr/>
        </p:nvSpPr>
        <p:spPr bwMode="auto">
          <a:xfrm>
            <a:off x="1389765" y="4508500"/>
            <a:ext cx="376238" cy="73025"/>
          </a:xfrm>
          <a:prstGeom prst="rightArrow">
            <a:avLst>
              <a:gd name="adj1" fmla="val 50000"/>
              <a:gd name="adj2" fmla="val 128805"/>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8" name="灯片编号占位符 7"/>
          <p:cNvSpPr>
            <a:spLocks noGrp="1"/>
          </p:cNvSpPr>
          <p:nvPr>
            <p:ph type="sldNum" sz="quarter" idx="12"/>
          </p:nvPr>
        </p:nvSpPr>
        <p:spPr/>
        <p:txBody>
          <a:bodyPr/>
          <a:lstStyle/>
          <a:p>
            <a:fld id="{1B43473F-AE3F-4D1C-9C4F-7AD3C17AC1AD}" type="slidenum">
              <a:rPr lang="zh-CN" altLang="en-US" smtClean="0">
                <a:solidFill>
                  <a:srgbClr val="3F3F3F"/>
                </a:solidFill>
              </a:rPr>
              <a:pPr/>
              <a:t>20</a:t>
            </a:fld>
            <a:endParaRPr lang="zh-CN" altLang="en-US">
              <a:solidFill>
                <a:srgbClr val="3F3F3F"/>
              </a:solidFill>
            </a:endParaRPr>
          </a:p>
        </p:txBody>
      </p:sp>
    </p:spTree>
    <p:extLst>
      <p:ext uri="{BB962C8B-B14F-4D97-AF65-F5344CB8AC3E}">
        <p14:creationId xmlns:p14="http://schemas.microsoft.com/office/powerpoint/2010/main" val="2593912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定义</a:t>
            </a:r>
            <a:r>
              <a:rPr lang="en-US" altLang="zh-CN" b="1" dirty="0"/>
              <a:t>:</a:t>
            </a:r>
            <a:r>
              <a:rPr lang="zh-CN" altLang="en-US" b="1" dirty="0"/>
              <a:t>后跟符号集</a:t>
            </a:r>
            <a:r>
              <a:rPr lang="en-US" altLang="zh-CN" b="1" dirty="0"/>
              <a:t>FOLLOW</a:t>
            </a:r>
            <a:endParaRPr lang="zh-CN" altLang="en-US" b="1" dirty="0"/>
          </a:p>
        </p:txBody>
      </p:sp>
      <p:sp>
        <p:nvSpPr>
          <p:cNvPr id="6" name="Rectangle 2"/>
          <p:cNvSpPr>
            <a:spLocks noChangeArrowheads="1"/>
          </p:cNvSpPr>
          <p:nvPr/>
        </p:nvSpPr>
        <p:spPr bwMode="auto">
          <a:xfrm>
            <a:off x="272537" y="859790"/>
            <a:ext cx="8650082" cy="6279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66700"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eaLnBrk="1" fontAlgn="base" hangingPunct="1">
              <a:lnSpc>
                <a:spcPct val="130000"/>
              </a:lnSpc>
              <a:spcBef>
                <a:spcPct val="0"/>
              </a:spcBef>
              <a:spcAft>
                <a:spcPct val="0"/>
              </a:spcAft>
            </a:pPr>
            <a:r>
              <a:rPr lang="en-US" altLang="zh-CN" sz="2800" dirty="0">
                <a:solidFill>
                  <a:srgbClr val="0000FF"/>
                </a:solidFill>
                <a:latin typeface="微软雅黑" panose="020B0503020204020204" pitchFamily="34" charset="-122"/>
                <a:ea typeface="微软雅黑" panose="020B0503020204020204" pitchFamily="34" charset="-122"/>
              </a:rPr>
              <a:t> </a:t>
            </a:r>
            <a:r>
              <a:rPr lang="zh-CN" altLang="en-US" sz="2800" b="1" dirty="0">
                <a:solidFill>
                  <a:srgbClr val="0000FF"/>
                </a:solidFill>
                <a:latin typeface="微软雅黑" panose="020B0503020204020204" pitchFamily="34" charset="-122"/>
                <a:ea typeface="微软雅黑" panose="020B0503020204020204" pitchFamily="34" charset="-122"/>
              </a:rPr>
              <a:t>对给定的文法</a:t>
            </a:r>
            <a:r>
              <a:rPr lang="zh-CN" altLang="en-US" sz="2800" dirty="0">
                <a:solidFill>
                  <a:srgbClr val="0000FF"/>
                </a:solidFill>
                <a:latin typeface="微软雅黑" panose="020B0503020204020204" pitchFamily="34" charset="-122"/>
                <a:ea typeface="微软雅黑" panose="020B0503020204020204" pitchFamily="34" charset="-122"/>
              </a:rPr>
              <a:t>，求其非终结符</a:t>
            </a:r>
            <a:r>
              <a:rPr lang="en-US" altLang="zh-CN" sz="2800" dirty="0">
                <a:solidFill>
                  <a:srgbClr val="0000FF"/>
                </a:solidFill>
                <a:latin typeface="微软雅黑" panose="020B0503020204020204" pitchFamily="34" charset="-122"/>
                <a:ea typeface="微软雅黑" panose="020B0503020204020204" pitchFamily="34" charset="-122"/>
              </a:rPr>
              <a:t>A</a:t>
            </a:r>
            <a:r>
              <a:rPr lang="zh-CN" altLang="en-US" sz="2800" dirty="0">
                <a:solidFill>
                  <a:srgbClr val="0000FF"/>
                </a:solidFill>
                <a:latin typeface="微软雅黑" panose="020B0503020204020204" pitchFamily="34" charset="-122"/>
                <a:ea typeface="微软雅黑" panose="020B0503020204020204" pitchFamily="34" charset="-122"/>
              </a:rPr>
              <a:t>的集合</a:t>
            </a:r>
            <a:r>
              <a:rPr lang="en-US" altLang="zh-CN" sz="2800" dirty="0">
                <a:solidFill>
                  <a:srgbClr val="0000FF"/>
                </a:solidFill>
                <a:latin typeface="微软雅黑" panose="020B0503020204020204" pitchFamily="34" charset="-122"/>
                <a:ea typeface="微软雅黑" panose="020B0503020204020204" pitchFamily="34" charset="-122"/>
              </a:rPr>
              <a:t>FOLLOW(A)，</a:t>
            </a:r>
            <a:r>
              <a:rPr lang="zh-CN" altLang="en-US" sz="2800" dirty="0">
                <a:solidFill>
                  <a:srgbClr val="FF0000"/>
                </a:solidFill>
                <a:latin typeface="微软雅黑" panose="020B0503020204020204" pitchFamily="34" charset="-122"/>
                <a:ea typeface="微软雅黑" panose="020B0503020204020204" pitchFamily="34" charset="-122"/>
              </a:rPr>
              <a:t>应用下列规则</a:t>
            </a:r>
            <a:r>
              <a:rPr lang="zh-CN" altLang="en-US" sz="2800" dirty="0">
                <a:solidFill>
                  <a:srgbClr val="0000FF"/>
                </a:solidFill>
                <a:latin typeface="微软雅黑" panose="020B0503020204020204" pitchFamily="34" charset="-122"/>
                <a:ea typeface="微软雅黑" panose="020B0503020204020204" pitchFamily="34" charset="-122"/>
              </a:rPr>
              <a:t>，直到</a:t>
            </a:r>
            <a:r>
              <a:rPr lang="en-US" altLang="zh-CN" sz="2800" dirty="0">
                <a:solidFill>
                  <a:srgbClr val="0000FF"/>
                </a:solidFill>
                <a:latin typeface="微软雅黑" panose="020B0503020204020204" pitchFamily="34" charset="-122"/>
                <a:ea typeface="微软雅黑" panose="020B0503020204020204" pitchFamily="34" charset="-122"/>
              </a:rPr>
              <a:t>FOLLOW(A)</a:t>
            </a:r>
            <a:r>
              <a:rPr lang="zh-CN" altLang="en-US" sz="2800" dirty="0">
                <a:solidFill>
                  <a:srgbClr val="0000FF"/>
                </a:solidFill>
                <a:latin typeface="微软雅黑" panose="020B0503020204020204" pitchFamily="34" charset="-122"/>
                <a:ea typeface="微软雅黑" panose="020B0503020204020204" pitchFamily="34" charset="-122"/>
              </a:rPr>
              <a:t>不能再加入任何终结符号为止。</a:t>
            </a:r>
          </a:p>
          <a:p>
            <a:pPr algn="just" fontAlgn="base">
              <a:lnSpc>
                <a:spcPct val="130000"/>
              </a:lnSpc>
              <a:spcBef>
                <a:spcPct val="0"/>
              </a:spcBef>
              <a:spcAft>
                <a:spcPct val="0"/>
              </a:spcAft>
            </a:pPr>
            <a:r>
              <a:rPr lang="zh-CN" altLang="en-US" sz="2800" dirty="0">
                <a:solidFill>
                  <a:srgbClr val="0000FF"/>
                </a:solidFill>
                <a:latin typeface="微软雅黑" panose="020B0503020204020204" pitchFamily="34" charset="-122"/>
                <a:ea typeface="微软雅黑" panose="020B0503020204020204" pitchFamily="34" charset="-122"/>
              </a:rPr>
              <a:t>(1)若</a:t>
            </a:r>
            <a:r>
              <a:rPr lang="en-US" altLang="zh-CN" sz="2800" dirty="0">
                <a:solidFill>
                  <a:srgbClr val="0000FF"/>
                </a:solidFill>
                <a:latin typeface="微软雅黑" panose="020B0503020204020204" pitchFamily="34" charset="-122"/>
                <a:ea typeface="微软雅黑" panose="020B0503020204020204" pitchFamily="34" charset="-122"/>
              </a:rPr>
              <a:t>A</a:t>
            </a:r>
            <a:r>
              <a:rPr lang="zh-CN" altLang="en-US" sz="2800" dirty="0">
                <a:solidFill>
                  <a:srgbClr val="0000FF"/>
                </a:solidFill>
                <a:latin typeface="微软雅黑" panose="020B0503020204020204" pitchFamily="34" charset="-122"/>
                <a:ea typeface="微软雅黑" panose="020B0503020204020204" pitchFamily="34" charset="-122"/>
              </a:rPr>
              <a:t>是开始符号，则输入符号的结束标志#∈</a:t>
            </a:r>
            <a:r>
              <a:rPr lang="en-US" altLang="zh-CN" sz="2800" dirty="0">
                <a:solidFill>
                  <a:srgbClr val="0000FF"/>
                </a:solidFill>
                <a:latin typeface="微软雅黑" panose="020B0503020204020204" pitchFamily="34" charset="-122"/>
                <a:ea typeface="微软雅黑" panose="020B0503020204020204" pitchFamily="34" charset="-122"/>
              </a:rPr>
              <a:t>FOLLOW(A)。</a:t>
            </a:r>
          </a:p>
          <a:p>
            <a:pPr algn="just" fontAlgn="base">
              <a:lnSpc>
                <a:spcPct val="130000"/>
              </a:lnSpc>
              <a:spcBef>
                <a:spcPct val="0"/>
              </a:spcBef>
              <a:spcAft>
                <a:spcPct val="0"/>
              </a:spcAft>
            </a:pPr>
            <a:r>
              <a:rPr lang="en-US" altLang="zh-CN" sz="2800" dirty="0">
                <a:solidFill>
                  <a:srgbClr val="0000FF"/>
                </a:solidFill>
                <a:latin typeface="微软雅黑" panose="020B0503020204020204" pitchFamily="34" charset="-122"/>
                <a:ea typeface="微软雅黑" panose="020B0503020204020204" pitchFamily="34" charset="-122"/>
              </a:rPr>
              <a:t>(2)</a:t>
            </a:r>
            <a:r>
              <a:rPr lang="zh-CN" altLang="en-US" sz="2800" dirty="0">
                <a:solidFill>
                  <a:srgbClr val="0000FF"/>
                </a:solidFill>
                <a:latin typeface="微软雅黑" panose="020B0503020204020204" pitchFamily="34" charset="-122"/>
                <a:ea typeface="微软雅黑" panose="020B0503020204020204" pitchFamily="34" charset="-122"/>
              </a:rPr>
              <a:t>如果存在产生式</a:t>
            </a:r>
            <a:r>
              <a:rPr lang="en-US" altLang="zh-CN" sz="2800" dirty="0">
                <a:solidFill>
                  <a:srgbClr val="0000FF"/>
                </a:solidFill>
                <a:latin typeface="微软雅黑" panose="020B0503020204020204" pitchFamily="34" charset="-122"/>
                <a:ea typeface="微软雅黑" panose="020B0503020204020204" pitchFamily="34" charset="-122"/>
              </a:rPr>
              <a:t>B→</a:t>
            </a:r>
            <a:r>
              <a:rPr lang="en-US" altLang="zh-CN" sz="2800" dirty="0">
                <a:solidFill>
                  <a:srgbClr val="0000FF"/>
                </a:solidFill>
                <a:latin typeface="微软雅黑" panose="020B0503020204020204" pitchFamily="34" charset="-122"/>
                <a:ea typeface="微软雅黑" panose="020B0503020204020204" pitchFamily="34" charset="-122"/>
                <a:sym typeface="Symbol" pitchFamily="18" charset="2"/>
              </a:rPr>
              <a:t></a:t>
            </a:r>
            <a:r>
              <a:rPr lang="en-US" altLang="zh-CN" sz="2800" dirty="0">
                <a:solidFill>
                  <a:srgbClr val="0000FF"/>
                </a:solidFill>
                <a:latin typeface="微软雅黑" panose="020B0503020204020204" pitchFamily="34" charset="-122"/>
                <a:ea typeface="微软雅黑" panose="020B0503020204020204" pitchFamily="34" charset="-122"/>
              </a:rPr>
              <a:t>A</a:t>
            </a:r>
            <a:r>
              <a:rPr lang="en-US" altLang="zh-CN" sz="2800" b="1" dirty="0">
                <a:solidFill>
                  <a:srgbClr val="0000FF"/>
                </a:solidFill>
                <a:latin typeface="微软雅黑" panose="020B0503020204020204" pitchFamily="34" charset="-122"/>
                <a:ea typeface="微软雅黑" panose="020B0503020204020204" pitchFamily="34" charset="-122"/>
              </a:rPr>
              <a:t>β</a:t>
            </a:r>
            <a:r>
              <a:rPr lang="en-US" altLang="zh-CN" sz="2800" dirty="0">
                <a:solidFill>
                  <a:srgbClr val="0000FF"/>
                </a:solidFill>
                <a:latin typeface="微软雅黑" panose="020B0503020204020204" pitchFamily="34" charset="-122"/>
                <a:ea typeface="微软雅黑" panose="020B0503020204020204" pitchFamily="34" charset="-122"/>
              </a:rPr>
              <a:t>，</a:t>
            </a:r>
            <a:r>
              <a:rPr lang="zh-CN" altLang="en-US" sz="2800" dirty="0">
                <a:solidFill>
                  <a:srgbClr val="0000FF"/>
                </a:solidFill>
                <a:latin typeface="微软雅黑" panose="020B0503020204020204" pitchFamily="34" charset="-122"/>
                <a:ea typeface="微软雅黑" panose="020B0503020204020204" pitchFamily="34" charset="-122"/>
              </a:rPr>
              <a:t>则把</a:t>
            </a:r>
            <a:r>
              <a:rPr lang="en-US" altLang="zh-CN" sz="2800" dirty="0">
                <a:solidFill>
                  <a:srgbClr val="0000FF"/>
                </a:solidFill>
                <a:latin typeface="微软雅黑" panose="020B0503020204020204" pitchFamily="34" charset="-122"/>
                <a:ea typeface="微软雅黑" panose="020B0503020204020204" pitchFamily="34" charset="-122"/>
              </a:rPr>
              <a:t>FIRST(</a:t>
            </a:r>
            <a:r>
              <a:rPr lang="en-US" altLang="zh-CN" sz="2800" b="1" dirty="0">
                <a:solidFill>
                  <a:srgbClr val="0000FF"/>
                </a:solidFill>
                <a:latin typeface="微软雅黑" panose="020B0503020204020204" pitchFamily="34" charset="-122"/>
                <a:ea typeface="微软雅黑" panose="020B0503020204020204" pitchFamily="34" charset="-122"/>
              </a:rPr>
              <a:t>β</a:t>
            </a:r>
            <a:r>
              <a:rPr lang="en-US" altLang="zh-CN" sz="2800" dirty="0">
                <a:solidFill>
                  <a:srgbClr val="0000FF"/>
                </a:solidFill>
                <a:latin typeface="微软雅黑" panose="020B0503020204020204" pitchFamily="34" charset="-122"/>
                <a:ea typeface="微软雅黑" panose="020B0503020204020204" pitchFamily="34" charset="-122"/>
              </a:rPr>
              <a:t>)</a:t>
            </a:r>
            <a:r>
              <a:rPr lang="zh-CN" altLang="en-US" sz="2800" dirty="0">
                <a:solidFill>
                  <a:srgbClr val="0000FF"/>
                </a:solidFill>
                <a:latin typeface="微软雅黑" panose="020B0503020204020204" pitchFamily="34" charset="-122"/>
                <a:ea typeface="微软雅黑" panose="020B0503020204020204" pitchFamily="34" charset="-122"/>
              </a:rPr>
              <a:t>除</a:t>
            </a:r>
            <a:r>
              <a:rPr lang="en-US" altLang="zh-CN" sz="2800" b="1" dirty="0">
                <a:solidFill>
                  <a:srgbClr val="0000FF"/>
                </a:solidFill>
                <a:latin typeface="微软雅黑" panose="020B0503020204020204" pitchFamily="34" charset="-122"/>
                <a:ea typeface="微软雅黑" panose="020B0503020204020204" pitchFamily="34" charset="-122"/>
              </a:rPr>
              <a:t>ε</a:t>
            </a:r>
            <a:r>
              <a:rPr lang="zh-CN" altLang="en-US" sz="2800" dirty="0">
                <a:solidFill>
                  <a:srgbClr val="0000FF"/>
                </a:solidFill>
                <a:latin typeface="微软雅黑" panose="020B0503020204020204" pitchFamily="34" charset="-122"/>
                <a:ea typeface="微软雅黑" panose="020B0503020204020204" pitchFamily="34" charset="-122"/>
              </a:rPr>
              <a:t>之外的所有符号加入</a:t>
            </a:r>
            <a:r>
              <a:rPr lang="en-US" altLang="zh-CN" sz="2800" dirty="0">
                <a:solidFill>
                  <a:srgbClr val="0000FF"/>
                </a:solidFill>
                <a:latin typeface="微软雅黑" panose="020B0503020204020204" pitchFamily="34" charset="-122"/>
                <a:ea typeface="微软雅黑" panose="020B0503020204020204" pitchFamily="34" charset="-122"/>
              </a:rPr>
              <a:t>FOLLOW(A)。</a:t>
            </a:r>
          </a:p>
          <a:p>
            <a:pPr algn="just" fontAlgn="base">
              <a:lnSpc>
                <a:spcPct val="130000"/>
              </a:lnSpc>
              <a:spcBef>
                <a:spcPct val="0"/>
              </a:spcBef>
              <a:spcAft>
                <a:spcPct val="0"/>
              </a:spcAft>
            </a:pPr>
            <a:r>
              <a:rPr lang="en-US" altLang="zh-CN" sz="2800" dirty="0">
                <a:solidFill>
                  <a:srgbClr val="0000FF"/>
                </a:solidFill>
                <a:latin typeface="微软雅黑" panose="020B0503020204020204" pitchFamily="34" charset="-122"/>
                <a:ea typeface="微软雅黑" panose="020B0503020204020204" pitchFamily="34" charset="-122"/>
              </a:rPr>
              <a:t>(3)</a:t>
            </a:r>
            <a:r>
              <a:rPr lang="zh-CN" altLang="en-US" sz="2800" dirty="0">
                <a:solidFill>
                  <a:srgbClr val="0000FF"/>
                </a:solidFill>
                <a:latin typeface="微软雅黑" panose="020B0503020204020204" pitchFamily="34" charset="-122"/>
                <a:ea typeface="微软雅黑" panose="020B0503020204020204" pitchFamily="34" charset="-122"/>
              </a:rPr>
              <a:t>如果存在产生式</a:t>
            </a:r>
            <a:r>
              <a:rPr lang="en-US" altLang="zh-CN" sz="2800" dirty="0">
                <a:solidFill>
                  <a:srgbClr val="0000FF"/>
                </a:solidFill>
                <a:latin typeface="微软雅黑" panose="020B0503020204020204" pitchFamily="34" charset="-122"/>
                <a:ea typeface="微软雅黑" panose="020B0503020204020204" pitchFamily="34" charset="-122"/>
              </a:rPr>
              <a:t>B→</a:t>
            </a:r>
            <a:r>
              <a:rPr lang="en-US" altLang="zh-CN" sz="2800" dirty="0">
                <a:solidFill>
                  <a:srgbClr val="0000FF"/>
                </a:solidFill>
                <a:latin typeface="微软雅黑" panose="020B0503020204020204" pitchFamily="34" charset="-122"/>
                <a:ea typeface="微软雅黑" panose="020B0503020204020204" pitchFamily="34" charset="-122"/>
                <a:sym typeface="Symbol" pitchFamily="18" charset="2"/>
              </a:rPr>
              <a:t></a:t>
            </a:r>
            <a:r>
              <a:rPr lang="en-US" altLang="zh-CN" sz="2800" dirty="0">
                <a:solidFill>
                  <a:srgbClr val="0000FF"/>
                </a:solidFill>
                <a:latin typeface="微软雅黑" panose="020B0503020204020204" pitchFamily="34" charset="-122"/>
                <a:ea typeface="微软雅黑" panose="020B0503020204020204" pitchFamily="34" charset="-122"/>
              </a:rPr>
              <a:t>A</a:t>
            </a:r>
            <a:r>
              <a:rPr lang="zh-CN" altLang="en-US" sz="2800" dirty="0">
                <a:solidFill>
                  <a:srgbClr val="0000FF"/>
                </a:solidFill>
                <a:latin typeface="微软雅黑" panose="020B0503020204020204" pitchFamily="34" charset="-122"/>
                <a:ea typeface="微软雅黑" panose="020B0503020204020204" pitchFamily="34" charset="-122"/>
              </a:rPr>
              <a:t>或 </a:t>
            </a:r>
            <a:r>
              <a:rPr lang="en-US" altLang="zh-CN" sz="2800" dirty="0">
                <a:solidFill>
                  <a:srgbClr val="0000FF"/>
                </a:solidFill>
                <a:latin typeface="微软雅黑" panose="020B0503020204020204" pitchFamily="34" charset="-122"/>
                <a:ea typeface="微软雅黑" panose="020B0503020204020204" pitchFamily="34" charset="-122"/>
              </a:rPr>
              <a:t>B→</a:t>
            </a:r>
            <a:r>
              <a:rPr lang="en-US" altLang="zh-CN" sz="3200" dirty="0">
                <a:solidFill>
                  <a:srgbClr val="0000FF"/>
                </a:solidFill>
                <a:latin typeface="微软雅黑" panose="020B0503020204020204" pitchFamily="34" charset="-122"/>
                <a:ea typeface="微软雅黑" panose="020B0503020204020204" pitchFamily="34" charset="-122"/>
                <a:sym typeface="Symbol" pitchFamily="18" charset="2"/>
              </a:rPr>
              <a:t></a:t>
            </a:r>
            <a:r>
              <a:rPr lang="en-US" altLang="zh-CN" sz="2800" dirty="0">
                <a:solidFill>
                  <a:srgbClr val="0000FF"/>
                </a:solidFill>
                <a:latin typeface="微软雅黑" panose="020B0503020204020204" pitchFamily="34" charset="-122"/>
                <a:ea typeface="微软雅黑" panose="020B0503020204020204" pitchFamily="34" charset="-122"/>
              </a:rPr>
              <a:t>A</a:t>
            </a:r>
            <a:r>
              <a:rPr lang="en-US" altLang="zh-CN" sz="2800" b="1" dirty="0">
                <a:solidFill>
                  <a:srgbClr val="0000FF"/>
                </a:solidFill>
                <a:latin typeface="微软雅黑" panose="020B0503020204020204" pitchFamily="34" charset="-122"/>
                <a:ea typeface="微软雅黑" panose="020B0503020204020204" pitchFamily="34" charset="-122"/>
              </a:rPr>
              <a:t>β</a:t>
            </a:r>
            <a:r>
              <a:rPr lang="en-US" altLang="zh-CN" sz="2800" dirty="0">
                <a:solidFill>
                  <a:srgbClr val="0000FF"/>
                </a:solidFill>
                <a:latin typeface="微软雅黑" panose="020B0503020204020204" pitchFamily="34" charset="-122"/>
                <a:ea typeface="微软雅黑" panose="020B0503020204020204" pitchFamily="34" charset="-122"/>
              </a:rPr>
              <a:t>，</a:t>
            </a:r>
            <a:r>
              <a:rPr lang="zh-CN" altLang="en-US" sz="2800" dirty="0">
                <a:solidFill>
                  <a:srgbClr val="0000FF"/>
                </a:solidFill>
                <a:latin typeface="微软雅黑" panose="020B0503020204020204" pitchFamily="34" charset="-122"/>
                <a:ea typeface="微软雅黑" panose="020B0503020204020204" pitchFamily="34" charset="-122"/>
              </a:rPr>
              <a:t>且</a:t>
            </a:r>
            <a:r>
              <a:rPr lang="en-US" altLang="zh-CN" sz="2800" dirty="0">
                <a:solidFill>
                  <a:srgbClr val="0000FF"/>
                </a:solidFill>
                <a:latin typeface="微软雅黑" panose="020B0503020204020204" pitchFamily="34" charset="-122"/>
                <a:ea typeface="微软雅黑" panose="020B0503020204020204" pitchFamily="34" charset="-122"/>
              </a:rPr>
              <a:t>FIRST(β)</a:t>
            </a:r>
            <a:r>
              <a:rPr lang="zh-CN" altLang="en-US" sz="2800" dirty="0">
                <a:solidFill>
                  <a:srgbClr val="0000FF"/>
                </a:solidFill>
                <a:latin typeface="微软雅黑" panose="020B0503020204020204" pitchFamily="34" charset="-122"/>
                <a:ea typeface="微软雅黑" panose="020B0503020204020204" pitchFamily="34" charset="-122"/>
              </a:rPr>
              <a:t>包含</a:t>
            </a:r>
            <a:r>
              <a:rPr lang="en-US" altLang="zh-CN" sz="2800" b="1" dirty="0">
                <a:solidFill>
                  <a:srgbClr val="0000FF"/>
                </a:solidFill>
                <a:latin typeface="微软雅黑" panose="020B0503020204020204" pitchFamily="34" charset="-122"/>
                <a:ea typeface="微软雅黑" panose="020B0503020204020204" pitchFamily="34" charset="-122"/>
              </a:rPr>
              <a:t>ε</a:t>
            </a:r>
            <a:r>
              <a:rPr lang="zh-CN" altLang="en-US" sz="2800" b="1" dirty="0">
                <a:solidFill>
                  <a:srgbClr val="0000FF"/>
                </a:solidFill>
                <a:latin typeface="微软雅黑" panose="020B0503020204020204" pitchFamily="34" charset="-122"/>
                <a:ea typeface="微软雅黑" panose="020B0503020204020204" pitchFamily="34" charset="-122"/>
              </a:rPr>
              <a:t>，</a:t>
            </a:r>
            <a:r>
              <a:rPr lang="zh-CN" altLang="en-US" sz="2800" dirty="0">
                <a:solidFill>
                  <a:srgbClr val="0000FF"/>
                </a:solidFill>
                <a:latin typeface="微软雅黑" panose="020B0503020204020204" pitchFamily="34" charset="-122"/>
                <a:ea typeface="微软雅黑" panose="020B0503020204020204" pitchFamily="34" charset="-122"/>
              </a:rPr>
              <a:t>即  </a:t>
            </a:r>
            <a:r>
              <a:rPr lang="en-US" altLang="zh-CN" sz="2800" b="1" dirty="0">
                <a:solidFill>
                  <a:srgbClr val="0000FF"/>
                </a:solidFill>
                <a:latin typeface="微软雅黑" panose="020B0503020204020204" pitchFamily="34" charset="-122"/>
                <a:ea typeface="微软雅黑" panose="020B0503020204020204" pitchFamily="34" charset="-122"/>
              </a:rPr>
              <a:t>β    ε</a:t>
            </a:r>
            <a:r>
              <a:rPr lang="en-US" altLang="zh-CN" sz="2800" dirty="0">
                <a:solidFill>
                  <a:srgbClr val="0000FF"/>
                </a:solidFill>
                <a:latin typeface="微软雅黑" panose="020B0503020204020204" pitchFamily="34" charset="-122"/>
                <a:ea typeface="微软雅黑" panose="020B0503020204020204" pitchFamily="34" charset="-122"/>
              </a:rPr>
              <a:t>，</a:t>
            </a:r>
            <a:r>
              <a:rPr lang="zh-CN" altLang="en-US" sz="2800" dirty="0">
                <a:solidFill>
                  <a:srgbClr val="0000FF"/>
                </a:solidFill>
                <a:latin typeface="微软雅黑" panose="020B0503020204020204" pitchFamily="34" charset="-122"/>
                <a:ea typeface="微软雅黑" panose="020B0503020204020204" pitchFamily="34" charset="-122"/>
              </a:rPr>
              <a:t>则把 </a:t>
            </a:r>
            <a:r>
              <a:rPr lang="en-US" altLang="zh-CN" sz="2800" dirty="0">
                <a:solidFill>
                  <a:srgbClr val="0000FF"/>
                </a:solidFill>
                <a:latin typeface="微软雅黑" panose="020B0503020204020204" pitchFamily="34" charset="-122"/>
                <a:ea typeface="微软雅黑" panose="020B0503020204020204" pitchFamily="34" charset="-122"/>
              </a:rPr>
              <a:t>FOLLOW(B) </a:t>
            </a:r>
            <a:r>
              <a:rPr lang="zh-CN" altLang="en-US" sz="2800" dirty="0">
                <a:solidFill>
                  <a:srgbClr val="0000FF"/>
                </a:solidFill>
                <a:latin typeface="微软雅黑" panose="020B0503020204020204" pitchFamily="34" charset="-122"/>
                <a:ea typeface="微软雅黑" panose="020B0503020204020204" pitchFamily="34" charset="-122"/>
              </a:rPr>
              <a:t>加入 </a:t>
            </a:r>
            <a:r>
              <a:rPr lang="en-US" altLang="zh-CN" sz="2800" dirty="0">
                <a:solidFill>
                  <a:srgbClr val="0000FF"/>
                </a:solidFill>
                <a:latin typeface="微软雅黑" panose="020B0503020204020204" pitchFamily="34" charset="-122"/>
                <a:ea typeface="微软雅黑" panose="020B0503020204020204" pitchFamily="34" charset="-122"/>
              </a:rPr>
              <a:t>FOLLOW(A)。 (</a:t>
            </a:r>
            <a:r>
              <a:rPr lang="zh-CN" altLang="en-US" sz="2800" dirty="0">
                <a:solidFill>
                  <a:srgbClr val="0000FF"/>
                </a:solidFill>
                <a:latin typeface="微软雅黑" panose="020B0503020204020204" pitchFamily="34" charset="-122"/>
                <a:ea typeface="微软雅黑" panose="020B0503020204020204" pitchFamily="34" charset="-122"/>
              </a:rPr>
              <a:t>即</a:t>
            </a:r>
            <a:r>
              <a:rPr lang="en-US" altLang="zh-CN" sz="2800" dirty="0">
                <a:solidFill>
                  <a:srgbClr val="0000FF"/>
                </a:solidFill>
                <a:latin typeface="微软雅黑" panose="020B0503020204020204" pitchFamily="34" charset="-122"/>
                <a:ea typeface="微软雅黑" panose="020B0503020204020204" pitchFamily="34" charset="-122"/>
              </a:rPr>
              <a:t>A</a:t>
            </a:r>
            <a:r>
              <a:rPr lang="zh-CN" altLang="en-US" sz="2800" dirty="0">
                <a:solidFill>
                  <a:srgbClr val="0000FF"/>
                </a:solidFill>
                <a:latin typeface="微软雅黑" panose="020B0503020204020204" pitchFamily="34" charset="-122"/>
                <a:ea typeface="微软雅黑" panose="020B0503020204020204" pitchFamily="34" charset="-122"/>
              </a:rPr>
              <a:t>后面没终结符后，需要进一步看</a:t>
            </a:r>
            <a:r>
              <a:rPr lang="en-US" altLang="zh-CN" sz="2800" dirty="0">
                <a:solidFill>
                  <a:srgbClr val="0000FF"/>
                </a:solidFill>
                <a:latin typeface="微软雅黑" panose="020B0503020204020204" pitchFamily="34" charset="-122"/>
                <a:ea typeface="微软雅黑" panose="020B0503020204020204" pitchFamily="34" charset="-122"/>
              </a:rPr>
              <a:t>B</a:t>
            </a:r>
            <a:r>
              <a:rPr lang="zh-CN" altLang="en-US" sz="2800" dirty="0">
                <a:solidFill>
                  <a:srgbClr val="0000FF"/>
                </a:solidFill>
                <a:latin typeface="微软雅黑" panose="020B0503020204020204" pitchFamily="34" charset="-122"/>
                <a:ea typeface="微软雅黑" panose="020B0503020204020204" pitchFamily="34" charset="-122"/>
              </a:rPr>
              <a:t>后面，用树展示</a:t>
            </a:r>
            <a:r>
              <a:rPr lang="en-US" altLang="zh-CN" sz="2800" dirty="0">
                <a:solidFill>
                  <a:srgbClr val="0000FF"/>
                </a:solidFill>
                <a:latin typeface="微软雅黑" panose="020B0503020204020204" pitchFamily="34" charset="-122"/>
                <a:ea typeface="微软雅黑" panose="020B0503020204020204" pitchFamily="34" charset="-122"/>
              </a:rPr>
              <a:t>)</a:t>
            </a:r>
          </a:p>
        </p:txBody>
      </p:sp>
      <p:sp>
        <p:nvSpPr>
          <p:cNvPr id="7" name="AutoShape 5"/>
          <p:cNvSpPr>
            <a:spLocks noChangeArrowheads="1"/>
          </p:cNvSpPr>
          <p:nvPr/>
        </p:nvSpPr>
        <p:spPr bwMode="auto">
          <a:xfrm>
            <a:off x="3131822" y="5589267"/>
            <a:ext cx="503237" cy="73025"/>
          </a:xfrm>
          <a:prstGeom prst="rightArrow">
            <a:avLst>
              <a:gd name="adj1" fmla="val 50000"/>
              <a:gd name="adj2" fmla="val 172282"/>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FF"/>
              </a:solidFill>
              <a:latin typeface="Times New Roman" panose="02020603050405020304" pitchFamily="18" charset="0"/>
              <a:ea typeface="幼圆" panose="02010509060101010101" pitchFamily="49" charset="-122"/>
            </a:endParaRP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21</a:t>
            </a:fld>
            <a:endParaRPr lang="zh-CN" altLang="en-US">
              <a:solidFill>
                <a:srgbClr val="3F3F3F"/>
              </a:solidFill>
            </a:endParaRPr>
          </a:p>
        </p:txBody>
      </p:sp>
    </p:spTree>
    <p:extLst>
      <p:ext uri="{BB962C8B-B14F-4D97-AF65-F5344CB8AC3E}">
        <p14:creationId xmlns:p14="http://schemas.microsoft.com/office/powerpoint/2010/main" val="3092981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回顾：回溯</a:t>
            </a:r>
          </a:p>
        </p:txBody>
      </p:sp>
      <p:sp>
        <p:nvSpPr>
          <p:cNvPr id="3" name="内容占位符 2"/>
          <p:cNvSpPr>
            <a:spLocks noGrp="1"/>
          </p:cNvSpPr>
          <p:nvPr>
            <p:ph idx="1"/>
          </p:nvPr>
        </p:nvSpPr>
        <p:spPr>
          <a:xfrm>
            <a:off x="468313" y="1038729"/>
            <a:ext cx="8218487" cy="5113338"/>
          </a:xfrm>
        </p:spPr>
        <p:txBody>
          <a:bodyPr/>
          <a:lstStyle/>
          <a:p>
            <a:r>
              <a:rPr lang="zh-CN" altLang="en-US" dirty="0">
                <a:latin typeface="+mj-ea"/>
                <a:ea typeface="+mj-ea"/>
              </a:rPr>
              <a:t>用</a:t>
            </a:r>
            <a:r>
              <a:rPr lang="en-US" altLang="zh-CN" dirty="0">
                <a:latin typeface="+mj-ea"/>
                <a:ea typeface="+mj-ea"/>
              </a:rPr>
              <a:t>A</a:t>
            </a:r>
            <a:r>
              <a:rPr lang="zh-CN" altLang="en-US" dirty="0">
                <a:latin typeface="+mj-ea"/>
                <a:ea typeface="+mj-ea"/>
              </a:rPr>
              <a:t>的第一个候选的尝试表明该候选不适用，应该回头（称为</a:t>
            </a:r>
            <a:r>
              <a:rPr lang="zh-CN" altLang="en-US" u="sng" dirty="0">
                <a:solidFill>
                  <a:schemeClr val="tx2"/>
                </a:solidFill>
                <a:latin typeface="+mj-ea"/>
                <a:ea typeface="+mj-ea"/>
              </a:rPr>
              <a:t>回溯</a:t>
            </a:r>
            <a:r>
              <a:rPr lang="zh-CN" altLang="en-US" dirty="0">
                <a:latin typeface="+mj-ea"/>
                <a:ea typeface="+mj-ea"/>
              </a:rPr>
              <a:t>），看</a:t>
            </a:r>
            <a:r>
              <a:rPr lang="en-US" altLang="zh-CN" dirty="0">
                <a:latin typeface="+mj-ea"/>
                <a:ea typeface="+mj-ea"/>
              </a:rPr>
              <a:t>A</a:t>
            </a:r>
            <a:r>
              <a:rPr lang="zh-CN" altLang="en-US" dirty="0">
                <a:latin typeface="+mj-ea"/>
                <a:ea typeface="+mj-ea"/>
              </a:rPr>
              <a:t>是否还有别的候选。回溯的具体工作是：先注销掉原候选的子树，然后试探考虑</a:t>
            </a:r>
            <a:r>
              <a:rPr lang="en-US" altLang="zh-CN" dirty="0">
                <a:latin typeface="+mj-ea"/>
                <a:ea typeface="+mj-ea"/>
              </a:rPr>
              <a:t>A</a:t>
            </a:r>
            <a:r>
              <a:rPr lang="zh-CN" altLang="en-US" dirty="0">
                <a:latin typeface="+mj-ea"/>
                <a:ea typeface="+mj-ea"/>
              </a:rPr>
              <a:t>的第二个候选。回溯带来了很大麻烦，而且这种虚假匹配难以消除，出错位置难于确定。</a:t>
            </a:r>
            <a:endParaRPr lang="en-US" altLang="zh-CN" dirty="0">
              <a:latin typeface="+mj-ea"/>
              <a:ea typeface="+mj-ea"/>
            </a:endParaRPr>
          </a:p>
          <a:p>
            <a:r>
              <a:rPr lang="zh-CN" altLang="en-US" dirty="0">
                <a:latin typeface="+mj-ea"/>
                <a:ea typeface="+mj-ea"/>
              </a:rPr>
              <a:t>产生回溯的主要原因</a:t>
            </a:r>
            <a:endParaRPr lang="en-US" altLang="zh-CN" dirty="0">
              <a:latin typeface="+mj-ea"/>
              <a:ea typeface="+mj-ea"/>
            </a:endParaRPr>
          </a:p>
          <a:p>
            <a:pPr lvl="1"/>
            <a:r>
              <a:rPr lang="zh-CN" altLang="en-US" dirty="0">
                <a:latin typeface="+mj-ea"/>
                <a:ea typeface="+mj-ea"/>
              </a:rPr>
              <a:t>有相同左部的产生式的右部</a:t>
            </a:r>
            <a:r>
              <a:rPr lang="en-US" altLang="zh-CN" dirty="0">
                <a:latin typeface="+mj-ea"/>
                <a:ea typeface="+mj-ea"/>
              </a:rPr>
              <a:t>FIRST</a:t>
            </a:r>
            <a:r>
              <a:rPr lang="zh-CN" altLang="en-US" dirty="0">
                <a:latin typeface="+mj-ea"/>
                <a:ea typeface="+mj-ea"/>
              </a:rPr>
              <a:t>集交集不为空引起回溯。</a:t>
            </a:r>
            <a:endParaRPr lang="en-US" altLang="zh-CN" dirty="0">
              <a:latin typeface="+mj-ea"/>
              <a:ea typeface="+mj-ea"/>
            </a:endParaRPr>
          </a:p>
          <a:p>
            <a:pPr lvl="1"/>
            <a:r>
              <a:rPr lang="zh-CN" altLang="en-US" dirty="0">
                <a:latin typeface="+mj-ea"/>
                <a:ea typeface="+mj-ea"/>
              </a:rPr>
              <a:t>由于文法含有左递归引起回溯。</a:t>
            </a:r>
            <a:endParaRPr lang="en-US" altLang="zh-CN" dirty="0">
              <a:latin typeface="+mj-ea"/>
              <a:ea typeface="+mj-ea"/>
            </a:endParaRPr>
          </a:p>
          <a:p>
            <a:pPr lvl="1"/>
            <a:r>
              <a:rPr lang="zh-CN" altLang="en-US" dirty="0">
                <a:latin typeface="+mj-ea"/>
                <a:ea typeface="+mj-ea"/>
              </a:rPr>
              <a:t>。。。</a:t>
            </a:r>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22</a:t>
            </a:fld>
            <a:endParaRPr lang="zh-CN" altLang="en-US">
              <a:solidFill>
                <a:srgbClr val="3F3F3F"/>
              </a:solidFill>
            </a:endParaRPr>
          </a:p>
        </p:txBody>
      </p:sp>
    </p:spTree>
    <p:extLst>
      <p:ext uri="{BB962C8B-B14F-4D97-AF65-F5344CB8AC3E}">
        <p14:creationId xmlns:p14="http://schemas.microsoft.com/office/powerpoint/2010/main" val="4173170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回顾：回溯</a:t>
            </a:r>
          </a:p>
        </p:txBody>
      </p:sp>
      <p:sp>
        <p:nvSpPr>
          <p:cNvPr id="3" name="内容占位符 2"/>
          <p:cNvSpPr>
            <a:spLocks noGrp="1"/>
          </p:cNvSpPr>
          <p:nvPr>
            <p:ph idx="1"/>
          </p:nvPr>
        </p:nvSpPr>
        <p:spPr/>
        <p:txBody>
          <a:bodyPr/>
          <a:lstStyle/>
          <a:p>
            <a:r>
              <a:rPr lang="zh-CN" altLang="en-US" dirty="0">
                <a:latin typeface="Times New Roman" pitchFamily="18" charset="0"/>
                <a:sym typeface="Symbol" pitchFamily="18" charset="2"/>
              </a:rPr>
              <a:t>回溯：</a:t>
            </a:r>
            <a:r>
              <a:rPr lang="zh-CN" altLang="en-US" dirty="0">
                <a:latin typeface="Times New Roman" pitchFamily="18" charset="0"/>
                <a:ea typeface="黑体" pitchFamily="49" charset="-122"/>
                <a:sym typeface="Symbol" pitchFamily="18" charset="2"/>
              </a:rPr>
              <a:t>回溯是指否定前面的工作而退回到某环节重新做起。</a:t>
            </a:r>
            <a:endParaRPr lang="zh-CN" altLang="en-US" dirty="0">
              <a:latin typeface="Times New Roman" pitchFamily="18" charset="0"/>
              <a:sym typeface="Symbol" pitchFamily="18" charset="2"/>
            </a:endParaRPr>
          </a:p>
          <a:p>
            <a:endParaRPr lang="zh-CN" altLang="en-US" dirty="0"/>
          </a:p>
        </p:txBody>
      </p:sp>
      <p:sp>
        <p:nvSpPr>
          <p:cNvPr id="7" name="Rectangle 9"/>
          <p:cNvSpPr>
            <a:spLocks noChangeArrowheads="1"/>
          </p:cNvSpPr>
          <p:nvPr/>
        </p:nvSpPr>
        <p:spPr bwMode="auto">
          <a:xfrm>
            <a:off x="4860925" y="2770370"/>
            <a:ext cx="3671888" cy="3939540"/>
          </a:xfrm>
          <a:prstGeom prst="rect">
            <a:avLst/>
          </a:prstGeom>
          <a:noFill/>
          <a:ln w="9525" algn="ctr">
            <a:noFill/>
            <a:miter lim="800000"/>
            <a:headEnd/>
            <a:tailEnd/>
          </a:ln>
        </p:spPr>
        <p:txBody>
          <a:bodyPr>
            <a:spAutoFit/>
          </a:bodyPr>
          <a:lstStyle/>
          <a:p>
            <a:r>
              <a:rPr lang="en-US" altLang="zh-CN" sz="2400" dirty="0"/>
              <a:t>     S            </a:t>
            </a:r>
            <a:r>
              <a:rPr lang="zh-CN" altLang="en-US" sz="2400" dirty="0"/>
              <a:t>（</a:t>
            </a:r>
            <a:r>
              <a:rPr lang="en-US" altLang="zh-CN" sz="2400" dirty="0"/>
              <a:t>1</a:t>
            </a:r>
            <a:r>
              <a:rPr lang="zh-CN" altLang="en-US" sz="2400" dirty="0"/>
              <a:t>）</a:t>
            </a:r>
          </a:p>
          <a:p>
            <a:r>
              <a:rPr lang="zh-CN" altLang="en-US" sz="2400" dirty="0">
                <a:sym typeface="Symbol" pitchFamily="18" charset="2"/>
              </a:rPr>
              <a:t> </a:t>
            </a:r>
            <a:r>
              <a:rPr lang="en-US" altLang="zh-CN" sz="2400" dirty="0"/>
              <a:t>AB          </a:t>
            </a:r>
            <a:r>
              <a:rPr lang="zh-CN" altLang="en-US" sz="2400" dirty="0"/>
              <a:t>（</a:t>
            </a:r>
            <a:r>
              <a:rPr lang="en-US" altLang="zh-CN" sz="2400" dirty="0"/>
              <a:t>2</a:t>
            </a:r>
            <a:r>
              <a:rPr lang="zh-CN" altLang="en-US" sz="2400" dirty="0"/>
              <a:t>）</a:t>
            </a:r>
          </a:p>
          <a:p>
            <a:r>
              <a:rPr lang="zh-CN" altLang="en-US" sz="2400" dirty="0">
                <a:sym typeface="Symbol" pitchFamily="18" charset="2"/>
              </a:rPr>
              <a:t></a:t>
            </a:r>
            <a:r>
              <a:rPr lang="zh-CN" altLang="en-US" sz="2400" b="1" dirty="0"/>
              <a:t> </a:t>
            </a:r>
            <a:r>
              <a:rPr lang="en-US" altLang="zh-CN" sz="2400" dirty="0" err="1"/>
              <a:t>aAB</a:t>
            </a:r>
            <a:r>
              <a:rPr lang="en-US" altLang="zh-CN" sz="2400" dirty="0"/>
              <a:t>        </a:t>
            </a:r>
            <a:r>
              <a:rPr lang="zh-CN" altLang="en-US" sz="2400" dirty="0"/>
              <a:t>（</a:t>
            </a:r>
            <a:r>
              <a:rPr lang="en-US" altLang="zh-CN" sz="2400" dirty="0"/>
              <a:t>2</a:t>
            </a:r>
            <a:r>
              <a:rPr lang="zh-CN" altLang="en-US" sz="2400" dirty="0"/>
              <a:t>）</a:t>
            </a:r>
          </a:p>
          <a:p>
            <a:r>
              <a:rPr lang="zh-CN" altLang="en-US" sz="2400" dirty="0">
                <a:sym typeface="Symbol" pitchFamily="18" charset="2"/>
              </a:rPr>
              <a:t></a:t>
            </a:r>
            <a:r>
              <a:rPr lang="zh-CN" altLang="en-US" sz="2400" b="1" dirty="0"/>
              <a:t> </a:t>
            </a:r>
            <a:r>
              <a:rPr lang="en-US" altLang="zh-CN" sz="2400" dirty="0" err="1"/>
              <a:t>aaAB</a:t>
            </a:r>
            <a:r>
              <a:rPr lang="en-US" altLang="zh-CN" sz="2400" dirty="0"/>
              <a:t>      </a:t>
            </a:r>
            <a:r>
              <a:rPr lang="zh-CN" altLang="en-US" sz="2400" dirty="0"/>
              <a:t>（</a:t>
            </a:r>
            <a:r>
              <a:rPr lang="en-US" altLang="zh-CN" sz="2400" dirty="0"/>
              <a:t>2</a:t>
            </a:r>
            <a:r>
              <a:rPr lang="zh-CN" altLang="en-US" sz="2400" dirty="0"/>
              <a:t>）</a:t>
            </a:r>
          </a:p>
          <a:p>
            <a:r>
              <a:rPr lang="zh-CN" altLang="en-US" sz="2400" dirty="0">
                <a:sym typeface="Symbol" pitchFamily="18" charset="2"/>
              </a:rPr>
              <a:t></a:t>
            </a:r>
            <a:r>
              <a:rPr lang="zh-CN" altLang="en-US" sz="2400" b="1" dirty="0"/>
              <a:t> </a:t>
            </a:r>
            <a:r>
              <a:rPr lang="en-US" altLang="zh-CN" sz="2400" dirty="0" err="1"/>
              <a:t>aaaAB</a:t>
            </a:r>
            <a:r>
              <a:rPr lang="en-US" altLang="zh-CN" sz="2400" dirty="0"/>
              <a:t>    </a:t>
            </a:r>
            <a:r>
              <a:rPr lang="zh-CN" altLang="en-US" sz="2400" dirty="0"/>
              <a:t>（</a:t>
            </a:r>
            <a:r>
              <a:rPr lang="en-US" altLang="zh-CN" sz="2400" dirty="0"/>
              <a:t>3</a:t>
            </a:r>
            <a:r>
              <a:rPr lang="zh-CN" altLang="en-US" sz="2400" dirty="0"/>
              <a:t>）</a:t>
            </a:r>
          </a:p>
          <a:p>
            <a:r>
              <a:rPr lang="zh-CN" altLang="en-US" sz="2400" dirty="0">
                <a:sym typeface="Symbol" pitchFamily="18" charset="2"/>
              </a:rPr>
              <a:t></a:t>
            </a:r>
            <a:r>
              <a:rPr lang="zh-CN" altLang="en-US" sz="2400" b="1" dirty="0"/>
              <a:t> </a:t>
            </a:r>
            <a:r>
              <a:rPr lang="en-US" altLang="zh-CN" sz="2400" dirty="0" err="1"/>
              <a:t>aaaB</a:t>
            </a:r>
            <a:r>
              <a:rPr lang="en-US" altLang="zh-CN" sz="2400" dirty="0"/>
              <a:t>  </a:t>
            </a:r>
            <a:r>
              <a:rPr lang="zh-CN" altLang="en-US" sz="2400" dirty="0"/>
              <a:t>（</a:t>
            </a:r>
            <a:r>
              <a:rPr lang="en-US" altLang="zh-CN" sz="2400" dirty="0"/>
              <a:t>4</a:t>
            </a:r>
            <a:r>
              <a:rPr lang="zh-CN" altLang="en-US" sz="2400" dirty="0"/>
              <a:t>）</a:t>
            </a:r>
          </a:p>
          <a:p>
            <a:pPr>
              <a:buClr>
                <a:srgbClr val="333399"/>
              </a:buClr>
              <a:buFont typeface="Symbol" pitchFamily="18" charset="2"/>
              <a:buChar char="Þ"/>
            </a:pPr>
            <a:r>
              <a:rPr lang="zh-CN" altLang="en-US" sz="2400" dirty="0"/>
              <a:t> </a:t>
            </a:r>
            <a:r>
              <a:rPr lang="en-US" altLang="zh-CN" sz="2400" dirty="0" err="1"/>
              <a:t>aaabB</a:t>
            </a:r>
            <a:r>
              <a:rPr lang="en-US" altLang="zh-CN" sz="2400" dirty="0"/>
              <a:t>    </a:t>
            </a:r>
            <a:r>
              <a:rPr lang="zh-CN" altLang="en-US" sz="2400" dirty="0"/>
              <a:t>（</a:t>
            </a:r>
            <a:r>
              <a:rPr lang="zh-CN" altLang="en-US" sz="2400" b="1" dirty="0"/>
              <a:t>回溯</a:t>
            </a:r>
            <a:r>
              <a:rPr lang="zh-CN" altLang="en-US" sz="2400" dirty="0"/>
              <a:t>）</a:t>
            </a:r>
          </a:p>
          <a:p>
            <a:pPr>
              <a:buFont typeface="Symbol" pitchFamily="18" charset="2"/>
              <a:buNone/>
            </a:pPr>
            <a:r>
              <a:rPr lang="en-US" altLang="zh-CN" sz="2400" dirty="0"/>
              <a:t>……</a:t>
            </a:r>
          </a:p>
          <a:p>
            <a:pPr>
              <a:buFont typeface="Symbol" pitchFamily="18" charset="2"/>
              <a:buNone/>
            </a:pPr>
            <a:endParaRPr lang="en-US" altLang="zh-CN" sz="1000" dirty="0"/>
          </a:p>
          <a:p>
            <a:r>
              <a:rPr lang="en-US" altLang="zh-CN" sz="2400" b="1" dirty="0">
                <a:solidFill>
                  <a:srgbClr val="800080"/>
                </a:solidFill>
              </a:rPr>
              <a:t>    </a:t>
            </a:r>
            <a:r>
              <a:rPr lang="zh-CN" altLang="en-US" sz="2400" b="1" dirty="0">
                <a:solidFill>
                  <a:srgbClr val="800080"/>
                </a:solidFill>
              </a:rPr>
              <a:t>复杂度很高</a:t>
            </a:r>
          </a:p>
          <a:p>
            <a:r>
              <a:rPr lang="zh-CN" altLang="en-US" sz="2400" b="1" dirty="0">
                <a:solidFill>
                  <a:srgbClr val="800080"/>
                </a:solidFill>
              </a:rPr>
              <a:t>    失败条件较复杂</a:t>
            </a:r>
            <a:endParaRPr lang="zh-CN" altLang="en-US" sz="2400" dirty="0"/>
          </a:p>
        </p:txBody>
      </p:sp>
      <p:sp>
        <p:nvSpPr>
          <p:cNvPr id="8" name="Rectangle 10"/>
          <p:cNvSpPr>
            <a:spLocks noChangeArrowheads="1"/>
          </p:cNvSpPr>
          <p:nvPr/>
        </p:nvSpPr>
        <p:spPr bwMode="auto">
          <a:xfrm>
            <a:off x="1403350" y="3203758"/>
            <a:ext cx="2736850" cy="2831544"/>
          </a:xfrm>
          <a:prstGeom prst="rect">
            <a:avLst/>
          </a:prstGeom>
          <a:noFill/>
          <a:ln w="9525" algn="ctr">
            <a:noFill/>
            <a:miter lim="800000"/>
            <a:headEnd/>
            <a:tailEnd/>
          </a:ln>
        </p:spPr>
        <p:txBody>
          <a:bodyPr>
            <a:spAutoFit/>
          </a:bodyPr>
          <a:lstStyle/>
          <a:p>
            <a:r>
              <a:rPr lang="zh-CN" altLang="en-US" sz="2400" b="1" dirty="0"/>
              <a:t>文法 </a:t>
            </a:r>
            <a:r>
              <a:rPr lang="en-US" altLang="zh-CN" sz="2400" dirty="0"/>
              <a:t>G</a:t>
            </a:r>
            <a:r>
              <a:rPr lang="zh-CN" altLang="en-US" sz="2400" dirty="0"/>
              <a:t>（</a:t>
            </a:r>
            <a:r>
              <a:rPr lang="en-US" altLang="zh-CN" sz="2400" dirty="0"/>
              <a:t>S</a:t>
            </a:r>
            <a:r>
              <a:rPr lang="zh-CN" altLang="en-US" sz="2400" dirty="0"/>
              <a:t>）</a:t>
            </a:r>
            <a:r>
              <a:rPr lang="en-US" altLang="zh-CN" sz="2400" dirty="0"/>
              <a:t>:</a:t>
            </a:r>
          </a:p>
          <a:p>
            <a:endParaRPr lang="en-US" altLang="zh-CN" sz="1000" dirty="0"/>
          </a:p>
          <a:p>
            <a:r>
              <a:rPr lang="zh-CN" altLang="en-US" sz="2400" dirty="0"/>
              <a:t>（</a:t>
            </a:r>
            <a:r>
              <a:rPr lang="en-US" altLang="zh-CN" sz="2400" dirty="0"/>
              <a:t>1</a:t>
            </a:r>
            <a:r>
              <a:rPr lang="zh-CN" altLang="en-US" sz="2400" dirty="0"/>
              <a:t>）</a:t>
            </a:r>
            <a:r>
              <a:rPr lang="en-US" altLang="zh-CN" sz="2400" dirty="0"/>
              <a:t>S </a:t>
            </a:r>
            <a:r>
              <a:rPr lang="en-US" altLang="zh-CN" sz="2400" dirty="0">
                <a:sym typeface="Symbol" pitchFamily="18" charset="2"/>
              </a:rPr>
              <a:t></a:t>
            </a:r>
            <a:r>
              <a:rPr lang="en-US" altLang="zh-CN" sz="2400" dirty="0"/>
              <a:t> AB</a:t>
            </a:r>
          </a:p>
          <a:p>
            <a:r>
              <a:rPr lang="zh-CN" altLang="en-US" sz="2400" dirty="0"/>
              <a:t>（</a:t>
            </a:r>
            <a:r>
              <a:rPr lang="en-US" altLang="zh-CN" sz="2400" dirty="0"/>
              <a:t>2</a:t>
            </a:r>
            <a:r>
              <a:rPr lang="zh-CN" altLang="en-US" sz="2400" dirty="0"/>
              <a:t>）</a:t>
            </a:r>
            <a:r>
              <a:rPr lang="en-US" altLang="zh-CN" sz="2400" dirty="0"/>
              <a:t>A </a:t>
            </a:r>
            <a:r>
              <a:rPr lang="en-US" altLang="zh-CN" sz="2400" dirty="0">
                <a:sym typeface="Symbol" pitchFamily="18" charset="2"/>
              </a:rPr>
              <a:t></a:t>
            </a:r>
            <a:r>
              <a:rPr lang="en-US" altLang="zh-CN" sz="2400" dirty="0"/>
              <a:t> </a:t>
            </a:r>
            <a:r>
              <a:rPr lang="en-US" altLang="zh-CN" sz="2400" dirty="0" err="1"/>
              <a:t>aA</a:t>
            </a:r>
            <a:endParaRPr lang="en-US" altLang="zh-CN" sz="2400" dirty="0">
              <a:sym typeface="Symbol" pitchFamily="18" charset="2"/>
            </a:endParaRPr>
          </a:p>
          <a:p>
            <a:r>
              <a:rPr lang="zh-CN" altLang="en-US" sz="2400" dirty="0"/>
              <a:t>（</a:t>
            </a:r>
            <a:r>
              <a:rPr lang="en-US" altLang="zh-CN" sz="2400" dirty="0"/>
              <a:t>3</a:t>
            </a:r>
            <a:r>
              <a:rPr lang="zh-CN" altLang="en-US" sz="2400" dirty="0"/>
              <a:t>）</a:t>
            </a:r>
            <a:r>
              <a:rPr lang="en-US" altLang="zh-CN" sz="2400" dirty="0"/>
              <a:t>A </a:t>
            </a:r>
            <a:r>
              <a:rPr lang="en-US" altLang="zh-CN" sz="2400" dirty="0">
                <a:sym typeface="Symbol" pitchFamily="18" charset="2"/>
              </a:rPr>
              <a:t></a:t>
            </a:r>
            <a:r>
              <a:rPr lang="en-US" altLang="zh-CN" sz="2400" dirty="0"/>
              <a:t> </a:t>
            </a:r>
            <a:r>
              <a:rPr lang="en-US" altLang="zh-CN" sz="2400" dirty="0">
                <a:sym typeface="Symbol" pitchFamily="18" charset="2"/>
              </a:rPr>
              <a:t></a:t>
            </a:r>
          </a:p>
          <a:p>
            <a:r>
              <a:rPr lang="zh-CN" altLang="en-US" sz="2400" dirty="0"/>
              <a:t>（</a:t>
            </a:r>
            <a:r>
              <a:rPr lang="en-US" altLang="zh-CN" sz="2400" dirty="0"/>
              <a:t>4</a:t>
            </a:r>
            <a:r>
              <a:rPr lang="zh-CN" altLang="en-US" sz="2400" dirty="0"/>
              <a:t>）</a:t>
            </a:r>
            <a:r>
              <a:rPr lang="en-US" altLang="zh-CN" sz="2400" dirty="0"/>
              <a:t>B </a:t>
            </a:r>
            <a:r>
              <a:rPr lang="en-US" altLang="zh-CN" sz="2400" dirty="0">
                <a:sym typeface="Symbol" pitchFamily="18" charset="2"/>
              </a:rPr>
              <a:t></a:t>
            </a:r>
            <a:r>
              <a:rPr lang="en-US" altLang="zh-CN" sz="2400" dirty="0"/>
              <a:t> </a:t>
            </a:r>
            <a:r>
              <a:rPr lang="en-US" altLang="zh-CN" sz="2400" dirty="0" err="1"/>
              <a:t>bB</a:t>
            </a:r>
            <a:endParaRPr lang="en-US" altLang="zh-CN" sz="2400" dirty="0"/>
          </a:p>
          <a:p>
            <a:r>
              <a:rPr lang="zh-CN" altLang="en-US" sz="2400" dirty="0"/>
              <a:t>（</a:t>
            </a:r>
            <a:r>
              <a:rPr lang="en-US" altLang="zh-CN" sz="2400" dirty="0"/>
              <a:t>5</a:t>
            </a:r>
            <a:r>
              <a:rPr lang="zh-CN" altLang="en-US" sz="2400" dirty="0"/>
              <a:t>）</a:t>
            </a:r>
            <a:r>
              <a:rPr lang="en-US" altLang="zh-CN" sz="2400" dirty="0"/>
              <a:t>B </a:t>
            </a:r>
            <a:r>
              <a:rPr lang="en-US" altLang="zh-CN" sz="2400" dirty="0">
                <a:sym typeface="Symbol" pitchFamily="18" charset="2"/>
              </a:rPr>
              <a:t></a:t>
            </a:r>
            <a:r>
              <a:rPr lang="en-US" altLang="zh-CN" sz="2400" dirty="0"/>
              <a:t> b</a:t>
            </a:r>
          </a:p>
          <a:p>
            <a:endParaRPr lang="en-US" altLang="zh-CN" sz="2400" dirty="0"/>
          </a:p>
        </p:txBody>
      </p:sp>
      <p:sp>
        <p:nvSpPr>
          <p:cNvPr id="9" name="Rectangle 11"/>
          <p:cNvSpPr>
            <a:spLocks noChangeArrowheads="1"/>
          </p:cNvSpPr>
          <p:nvPr/>
        </p:nvSpPr>
        <p:spPr bwMode="auto">
          <a:xfrm>
            <a:off x="1174750" y="2106795"/>
            <a:ext cx="6415539" cy="523220"/>
          </a:xfrm>
          <a:prstGeom prst="rect">
            <a:avLst/>
          </a:prstGeom>
          <a:noFill/>
          <a:ln w="9525" algn="ctr">
            <a:noFill/>
            <a:miter lim="800000"/>
            <a:headEnd/>
            <a:tailEnd/>
          </a:ln>
        </p:spPr>
        <p:txBody>
          <a:bodyPr wrap="none">
            <a:spAutoFit/>
          </a:bodyPr>
          <a:lstStyle/>
          <a:p>
            <a:pPr>
              <a:buFont typeface="Symbol" pitchFamily="18" charset="2"/>
              <a:buChar char="-"/>
            </a:pPr>
            <a:r>
              <a:rPr lang="en-US" altLang="zh-CN" sz="2800" b="1" dirty="0">
                <a:latin typeface="楷体_GB2312" pitchFamily="49" charset="-122"/>
              </a:rPr>
              <a:t> </a:t>
            </a:r>
            <a:r>
              <a:rPr lang="zh-CN" altLang="en-US" sz="2800" b="1" dirty="0">
                <a:latin typeface="楷体_GB2312" pitchFamily="49" charset="-122"/>
              </a:rPr>
              <a:t>单词序列 </a:t>
            </a:r>
            <a:r>
              <a:rPr lang="en-US" altLang="zh-CN" sz="2800" dirty="0" err="1"/>
              <a:t>aaab</a:t>
            </a:r>
            <a:r>
              <a:rPr lang="en-US" altLang="zh-CN" sz="2800" b="1" dirty="0">
                <a:latin typeface="楷体_GB2312" pitchFamily="49" charset="-122"/>
              </a:rPr>
              <a:t> </a:t>
            </a:r>
            <a:r>
              <a:rPr lang="zh-CN" altLang="en-US" sz="2800" b="1" dirty="0">
                <a:latin typeface="楷体_GB2312" pitchFamily="49" charset="-122"/>
              </a:rPr>
              <a:t>的自顶向下分析过程</a:t>
            </a:r>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23</a:t>
            </a:fld>
            <a:endParaRPr lang="zh-CN" altLang="en-US">
              <a:solidFill>
                <a:srgbClr val="3F3F3F"/>
              </a:solidFill>
            </a:endParaRPr>
          </a:p>
        </p:txBody>
      </p:sp>
    </p:spTree>
    <p:extLst>
      <p:ext uri="{BB962C8B-B14F-4D97-AF65-F5344CB8AC3E}">
        <p14:creationId xmlns:p14="http://schemas.microsoft.com/office/powerpoint/2010/main" val="26894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slide(fromBottom)">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slide(fromBottom)">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slide(fromBottom)">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slide(fromBottom)">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slide(fromBottom)">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slide(fromBottom)">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slide(fromBottom)">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slide(fromBottom)">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7">
                                            <p:txEl>
                                              <p:pRg st="9" end="9"/>
                                            </p:txEl>
                                          </p:spTgt>
                                        </p:tgtEl>
                                        <p:attrNameLst>
                                          <p:attrName>style.visibility</p:attrName>
                                        </p:attrNameLst>
                                      </p:cBhvr>
                                      <p:to>
                                        <p:strVal val="visible"/>
                                      </p:to>
                                    </p:set>
                                    <p:animEffect transition="in" filter="slide(fromBottom)">
                                      <p:cBhvr>
                                        <p:cTn id="47" dur="500"/>
                                        <p:tgtEl>
                                          <p:spTgt spid="7">
                                            <p:txEl>
                                              <p:pRg st="9" end="9"/>
                                            </p:txEl>
                                          </p:spTgt>
                                        </p:tgtEl>
                                      </p:cBhvr>
                                    </p:animEffect>
                                  </p:childTnLst>
                                </p:cTn>
                              </p:par>
                              <p:par>
                                <p:cTn id="48" presetID="12" presetClass="entr" presetSubtype="4" fill="hold" nodeType="withEffect">
                                  <p:stCondLst>
                                    <p:cond delay="0"/>
                                  </p:stCondLst>
                                  <p:childTnLst>
                                    <p:set>
                                      <p:cBhvr>
                                        <p:cTn id="49" dur="1" fill="hold">
                                          <p:stCondLst>
                                            <p:cond delay="0"/>
                                          </p:stCondLst>
                                        </p:cTn>
                                        <p:tgtEl>
                                          <p:spTgt spid="7">
                                            <p:txEl>
                                              <p:pRg st="10" end="10"/>
                                            </p:txEl>
                                          </p:spTgt>
                                        </p:tgtEl>
                                        <p:attrNameLst>
                                          <p:attrName>style.visibility</p:attrName>
                                        </p:attrNameLst>
                                      </p:cBhvr>
                                      <p:to>
                                        <p:strVal val="visible"/>
                                      </p:to>
                                    </p:set>
                                    <p:animEffect transition="in" filter="slide(fromBottom)">
                                      <p:cBhvr>
                                        <p:cTn id="50"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第四章 自顶向下语法分析方法</a:t>
            </a:r>
          </a:p>
        </p:txBody>
      </p:sp>
      <p:sp>
        <p:nvSpPr>
          <p:cNvPr id="4" name="Freeform 6"/>
          <p:cNvSpPr>
            <a:spLocks/>
          </p:cNvSpPr>
          <p:nvPr/>
        </p:nvSpPr>
        <p:spPr bwMode="auto">
          <a:xfrm>
            <a:off x="975061" y="1155144"/>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01</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5" name="Freeform 7"/>
          <p:cNvSpPr>
            <a:spLocks/>
          </p:cNvSpPr>
          <p:nvPr/>
        </p:nvSpPr>
        <p:spPr bwMode="auto">
          <a:xfrm>
            <a:off x="2314041" y="115514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rPr>
              <a:t>确定的自顶向下分析思想</a:t>
            </a:r>
          </a:p>
        </p:txBody>
      </p:sp>
      <p:sp>
        <p:nvSpPr>
          <p:cNvPr id="6" name="Freeform 6"/>
          <p:cNvSpPr>
            <a:spLocks/>
          </p:cNvSpPr>
          <p:nvPr/>
        </p:nvSpPr>
        <p:spPr bwMode="auto">
          <a:xfrm>
            <a:off x="975061" y="2019240"/>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0066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02</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8" name="Freeform 6"/>
          <p:cNvSpPr>
            <a:spLocks/>
          </p:cNvSpPr>
          <p:nvPr/>
        </p:nvSpPr>
        <p:spPr bwMode="auto">
          <a:xfrm>
            <a:off x="975061" y="2883336"/>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03</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9" name="Freeform 7"/>
          <p:cNvSpPr>
            <a:spLocks/>
          </p:cNvSpPr>
          <p:nvPr/>
        </p:nvSpPr>
        <p:spPr bwMode="auto">
          <a:xfrm>
            <a:off x="2314041" y="2019239"/>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0066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en-US" altLang="zh-CN" sz="2800" b="1" kern="0" dirty="0">
                <a:solidFill>
                  <a:srgbClr val="FFFFFF"/>
                </a:solidFill>
                <a:latin typeface="+mj-ea"/>
                <a:ea typeface="+mj-ea"/>
              </a:rPr>
              <a:t>LL</a:t>
            </a:r>
            <a:r>
              <a:rPr lang="zh-CN" altLang="en-US" sz="2800" b="1" kern="0" dirty="0">
                <a:solidFill>
                  <a:srgbClr val="FFFFFF"/>
                </a:solidFill>
                <a:latin typeface="+mj-ea"/>
                <a:ea typeface="+mj-ea"/>
              </a:rPr>
              <a:t>（</a:t>
            </a:r>
            <a:r>
              <a:rPr lang="en-US" altLang="zh-CN" sz="2800" b="1" kern="0" dirty="0">
                <a:solidFill>
                  <a:srgbClr val="FFFFFF"/>
                </a:solidFill>
                <a:latin typeface="+mj-ea"/>
                <a:ea typeface="+mj-ea"/>
              </a:rPr>
              <a:t>1</a:t>
            </a:r>
            <a:r>
              <a:rPr lang="zh-CN" altLang="en-US" sz="2800" b="1" kern="0" dirty="0">
                <a:solidFill>
                  <a:srgbClr val="FFFFFF"/>
                </a:solidFill>
                <a:latin typeface="+mj-ea"/>
                <a:ea typeface="+mj-ea"/>
              </a:rPr>
              <a:t>）分析</a:t>
            </a:r>
          </a:p>
        </p:txBody>
      </p:sp>
      <p:sp>
        <p:nvSpPr>
          <p:cNvPr id="10" name="Freeform 6"/>
          <p:cNvSpPr>
            <a:spLocks/>
          </p:cNvSpPr>
          <p:nvPr/>
        </p:nvSpPr>
        <p:spPr bwMode="auto">
          <a:xfrm>
            <a:off x="975061" y="3747432"/>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04</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1" name="Freeform 7"/>
          <p:cNvSpPr>
            <a:spLocks/>
          </p:cNvSpPr>
          <p:nvPr/>
        </p:nvSpPr>
        <p:spPr bwMode="auto">
          <a:xfrm>
            <a:off x="2314041" y="2883335"/>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zh-CN" altLang="en-US" sz="2800" b="1" kern="0" dirty="0">
                <a:solidFill>
                  <a:srgbClr val="FFFFFF"/>
                </a:solidFill>
                <a:latin typeface="+mj-ea"/>
              </a:rPr>
              <a:t>非</a:t>
            </a: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）和</a:t>
            </a: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）等价变换</a:t>
            </a:r>
          </a:p>
        </p:txBody>
      </p:sp>
      <p:sp>
        <p:nvSpPr>
          <p:cNvPr id="12" name="Freeform 6"/>
          <p:cNvSpPr>
            <a:spLocks/>
          </p:cNvSpPr>
          <p:nvPr/>
        </p:nvSpPr>
        <p:spPr bwMode="auto">
          <a:xfrm>
            <a:off x="971555" y="4611528"/>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05</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3" name="Freeform 7"/>
          <p:cNvSpPr>
            <a:spLocks/>
          </p:cNvSpPr>
          <p:nvPr/>
        </p:nvSpPr>
        <p:spPr bwMode="auto">
          <a:xfrm>
            <a:off x="2314041" y="3747431"/>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zh-CN" altLang="en-US" sz="2800" b="1" kern="0" dirty="0">
                <a:solidFill>
                  <a:srgbClr val="FFFFFF"/>
                </a:solidFill>
                <a:latin typeface="+mj-ea"/>
                <a:ea typeface="+mj-ea"/>
              </a:rPr>
              <a:t>不确定的自顶向下分析思想</a:t>
            </a:r>
          </a:p>
        </p:txBody>
      </p:sp>
      <p:sp>
        <p:nvSpPr>
          <p:cNvPr id="14" name="Freeform 6"/>
          <p:cNvSpPr>
            <a:spLocks/>
          </p:cNvSpPr>
          <p:nvPr/>
        </p:nvSpPr>
        <p:spPr bwMode="auto">
          <a:xfrm>
            <a:off x="975061" y="5478051"/>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06</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5" name="Freeform 7"/>
          <p:cNvSpPr>
            <a:spLocks/>
          </p:cNvSpPr>
          <p:nvPr/>
        </p:nvSpPr>
        <p:spPr bwMode="auto">
          <a:xfrm>
            <a:off x="2314041" y="461395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）分析的实现</a:t>
            </a:r>
            <a:endParaRPr lang="zh-CN" altLang="en-US" sz="2800" b="1" kern="0" dirty="0">
              <a:solidFill>
                <a:srgbClr val="FFFFFF"/>
              </a:solidFill>
              <a:latin typeface="+mj-ea"/>
              <a:ea typeface="+mj-ea"/>
            </a:endParaRPr>
          </a:p>
        </p:txBody>
      </p:sp>
      <p:sp>
        <p:nvSpPr>
          <p:cNvPr id="17" name="Freeform 7"/>
          <p:cNvSpPr>
            <a:spLocks/>
          </p:cNvSpPr>
          <p:nvPr/>
        </p:nvSpPr>
        <p:spPr bwMode="auto">
          <a:xfrm>
            <a:off x="2314041" y="5595233"/>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en-US" altLang="zh-CN" sz="2800" b="1" kern="0" dirty="0">
                <a:solidFill>
                  <a:srgbClr val="FFFFFF"/>
                </a:solidFill>
                <a:latin typeface="+mj-ea"/>
                <a:ea typeface="+mj-ea"/>
              </a:rPr>
              <a:t>LL</a:t>
            </a:r>
            <a:r>
              <a:rPr lang="zh-CN" altLang="en-US" sz="2800" b="1" kern="0" dirty="0">
                <a:solidFill>
                  <a:srgbClr val="FFFFFF"/>
                </a:solidFill>
                <a:latin typeface="+mj-ea"/>
                <a:ea typeface="+mj-ea"/>
              </a:rPr>
              <a:t>（</a:t>
            </a:r>
            <a:r>
              <a:rPr lang="en-US" altLang="zh-CN" sz="2800" b="1" kern="0" dirty="0">
                <a:solidFill>
                  <a:srgbClr val="FFFFFF"/>
                </a:solidFill>
                <a:latin typeface="+mj-ea"/>
                <a:ea typeface="+mj-ea"/>
              </a:rPr>
              <a:t>1</a:t>
            </a:r>
            <a:r>
              <a:rPr lang="zh-CN" altLang="en-US" sz="2800" b="1" kern="0" dirty="0">
                <a:solidFill>
                  <a:srgbClr val="FFFFFF"/>
                </a:solidFill>
                <a:latin typeface="+mj-ea"/>
                <a:ea typeface="+mj-ea"/>
              </a:rPr>
              <a:t>）分析中的出错处理</a:t>
            </a: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24</a:t>
            </a:fld>
            <a:endParaRPr lang="zh-CN" altLang="en-US">
              <a:solidFill>
                <a:srgbClr val="3F3F3F"/>
              </a:solidFill>
            </a:endParaRPr>
          </a:p>
        </p:txBody>
      </p:sp>
    </p:spTree>
    <p:extLst>
      <p:ext uri="{BB962C8B-B14F-4D97-AF65-F5344CB8AC3E}">
        <p14:creationId xmlns:p14="http://schemas.microsoft.com/office/powerpoint/2010/main" val="222942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en-US" altLang="zh-CN" dirty="0"/>
              <a:t>LL</a:t>
            </a:r>
            <a:r>
              <a:rPr lang="zh-CN" altLang="en-US" dirty="0"/>
              <a:t>（</a:t>
            </a:r>
            <a:r>
              <a:rPr lang="en-US" altLang="zh-CN" dirty="0"/>
              <a:t>1</a:t>
            </a:r>
            <a:r>
              <a:rPr lang="zh-CN" altLang="en-US" dirty="0"/>
              <a:t>）分析</a:t>
            </a:r>
          </a:p>
        </p:txBody>
      </p:sp>
      <p:sp>
        <p:nvSpPr>
          <p:cNvPr id="3" name="内容占位符 2"/>
          <p:cNvSpPr>
            <a:spLocks noGrp="1"/>
          </p:cNvSpPr>
          <p:nvPr>
            <p:ph idx="1"/>
          </p:nvPr>
        </p:nvSpPr>
        <p:spPr/>
        <p:txBody>
          <a:bodyPr/>
          <a:lstStyle/>
          <a:p>
            <a:r>
              <a:rPr lang="en-US" altLang="zh-CN" dirty="0"/>
              <a:t>LL</a:t>
            </a:r>
            <a:r>
              <a:rPr lang="zh-CN" altLang="en-US" dirty="0"/>
              <a:t>（</a:t>
            </a:r>
            <a:r>
              <a:rPr lang="en-US" altLang="zh-CN" dirty="0"/>
              <a:t>1</a:t>
            </a:r>
            <a:r>
              <a:rPr lang="zh-CN" altLang="en-US" dirty="0"/>
              <a:t>）的含义</a:t>
            </a:r>
            <a:endParaRPr lang="en-US" altLang="zh-CN" dirty="0"/>
          </a:p>
          <a:p>
            <a:pPr lvl="1"/>
            <a:r>
              <a:rPr lang="zh-CN" altLang="en-US" dirty="0"/>
              <a:t>第一个“</a:t>
            </a:r>
            <a:r>
              <a:rPr lang="en-US" altLang="zh-CN" dirty="0"/>
              <a:t>L”, </a:t>
            </a:r>
            <a:r>
              <a:rPr lang="zh-CN" altLang="en-US" dirty="0"/>
              <a:t>代表从左（</a:t>
            </a:r>
            <a:r>
              <a:rPr lang="en-US" altLang="zh-CN" dirty="0"/>
              <a:t>Left</a:t>
            </a:r>
            <a:r>
              <a:rPr lang="zh-CN" altLang="en-US" dirty="0"/>
              <a:t>）向右扫描单词</a:t>
            </a:r>
          </a:p>
          <a:p>
            <a:pPr lvl="1"/>
            <a:r>
              <a:rPr lang="zh-CN" altLang="en-US" dirty="0"/>
              <a:t> 第二个“</a:t>
            </a:r>
            <a:r>
              <a:rPr lang="en-US" altLang="zh-CN" dirty="0"/>
              <a:t>L”,</a:t>
            </a:r>
            <a:r>
              <a:rPr lang="zh-CN" altLang="en-US" dirty="0"/>
              <a:t>代表产生的是最左（</a:t>
            </a:r>
            <a:r>
              <a:rPr lang="en-US" altLang="zh-CN" dirty="0"/>
              <a:t>Leftmost</a:t>
            </a:r>
            <a:r>
              <a:rPr lang="zh-CN" altLang="en-US" dirty="0"/>
              <a:t>）  推导</a:t>
            </a:r>
          </a:p>
          <a:p>
            <a:pPr lvl="1"/>
            <a:r>
              <a:rPr lang="zh-CN" altLang="en-US" dirty="0"/>
              <a:t>“</a:t>
            </a:r>
            <a:r>
              <a:rPr lang="en-US" altLang="zh-CN" dirty="0"/>
              <a:t>1”</a:t>
            </a:r>
            <a:r>
              <a:rPr lang="zh-CN" altLang="en-US" dirty="0"/>
              <a:t>代表向前查看（</a:t>
            </a:r>
            <a:r>
              <a:rPr lang="en-US" altLang="zh-CN" dirty="0" err="1"/>
              <a:t>lookahead</a:t>
            </a:r>
            <a:r>
              <a:rPr lang="zh-CN" altLang="en-US" dirty="0"/>
              <a:t>）一个单词</a:t>
            </a:r>
          </a:p>
          <a:p>
            <a:r>
              <a:rPr lang="zh-CN" altLang="en-US" dirty="0"/>
              <a:t>对于确定的自顶向下语法分析方法经常采用</a:t>
            </a:r>
            <a:r>
              <a:rPr lang="zh-CN" altLang="en-US" dirty="0">
                <a:solidFill>
                  <a:srgbClr val="FF0000"/>
                </a:solidFill>
              </a:rPr>
              <a:t>预测分析法</a:t>
            </a:r>
            <a:r>
              <a:rPr lang="zh-CN" altLang="en-US" dirty="0"/>
              <a:t>进行语法分析。</a:t>
            </a:r>
            <a:endParaRPr lang="en-US" altLang="zh-CN" dirty="0"/>
          </a:p>
          <a:p>
            <a:r>
              <a:rPr lang="zh-CN" altLang="en-US" dirty="0"/>
              <a:t>预测分析法要求文法是</a:t>
            </a:r>
            <a:r>
              <a:rPr lang="zh-CN" altLang="en-US" dirty="0">
                <a:solidFill>
                  <a:srgbClr val="FF0000"/>
                </a:solidFill>
              </a:rPr>
              <a:t>经过压缩、无左递归和无回溯</a:t>
            </a:r>
            <a:r>
              <a:rPr lang="zh-CN" altLang="en-US" dirty="0"/>
              <a:t>的。</a:t>
            </a:r>
            <a:r>
              <a:rPr lang="zh-CN" altLang="en-US" dirty="0">
                <a:solidFill>
                  <a:srgbClr val="FF0000"/>
                </a:solidFill>
              </a:rPr>
              <a:t>预测分析</a:t>
            </a:r>
            <a:r>
              <a:rPr lang="zh-CN" altLang="en-US" dirty="0"/>
              <a:t>又称为</a:t>
            </a:r>
            <a:r>
              <a:rPr lang="en-US" altLang="zh-CN" dirty="0">
                <a:solidFill>
                  <a:srgbClr val="FF0000"/>
                </a:solidFill>
              </a:rPr>
              <a:t>LL(1)</a:t>
            </a:r>
            <a:r>
              <a:rPr lang="zh-CN" altLang="en-US" dirty="0"/>
              <a:t>方法</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25</a:t>
            </a:fld>
            <a:endParaRPr lang="zh-CN" altLang="en-US">
              <a:solidFill>
                <a:srgbClr val="3F3F3F"/>
              </a:solidFill>
            </a:endParaRPr>
          </a:p>
        </p:txBody>
      </p:sp>
    </p:spTree>
    <p:extLst>
      <p:ext uri="{BB962C8B-B14F-4D97-AF65-F5344CB8AC3E}">
        <p14:creationId xmlns:p14="http://schemas.microsoft.com/office/powerpoint/2010/main" val="3097637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en-US" altLang="zh-CN" dirty="0"/>
              <a:t>LL</a:t>
            </a:r>
            <a:r>
              <a:rPr lang="zh-CN" altLang="en-US" dirty="0"/>
              <a:t>（</a:t>
            </a:r>
            <a:r>
              <a:rPr lang="en-US" altLang="zh-CN" dirty="0"/>
              <a:t>1</a:t>
            </a:r>
            <a:r>
              <a:rPr lang="zh-CN" altLang="en-US" dirty="0"/>
              <a:t>）分析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判别文法是否是</a:t>
                </a:r>
                <a:r>
                  <a:rPr lang="en-US" altLang="zh-CN" dirty="0"/>
                  <a:t>LL</a:t>
                </a:r>
                <a:r>
                  <a:rPr lang="zh-CN" altLang="en-US" dirty="0"/>
                  <a:t>（</a:t>
                </a:r>
                <a:r>
                  <a:rPr lang="en-US" altLang="zh-CN" dirty="0"/>
                  <a:t>1</a:t>
                </a:r>
                <a:r>
                  <a:rPr lang="zh-CN" altLang="en-US" dirty="0"/>
                  <a:t>）文法</a:t>
                </a:r>
                <a:endParaRPr lang="en-US" altLang="zh-CN" dirty="0"/>
              </a:p>
              <a:p>
                <a:r>
                  <a:rPr lang="zh-CN" altLang="en-US" dirty="0">
                    <a:solidFill>
                      <a:srgbClr val="FF0000"/>
                    </a:solidFill>
                  </a:rPr>
                  <a:t>定义</a:t>
                </a:r>
                <a:r>
                  <a:rPr lang="en-US" altLang="zh-CN" dirty="0">
                    <a:solidFill>
                      <a:srgbClr val="FF0000"/>
                    </a:solidFill>
                  </a:rPr>
                  <a:t>SELECT</a:t>
                </a:r>
                <a:r>
                  <a:rPr lang="zh-CN" altLang="en-US" dirty="0">
                    <a:solidFill>
                      <a:srgbClr val="FF0000"/>
                    </a:solidFill>
                  </a:rPr>
                  <a:t>集：</a:t>
                </a:r>
                <a:r>
                  <a:rPr lang="zh-CN" altLang="en-US" dirty="0"/>
                  <a:t>给定上下文无关文法的产生式，</a:t>
                </a:r>
                <a:r>
                  <a:rPr lang="en-US" altLang="zh-CN" dirty="0"/>
                  <a:t>A</a:t>
                </a:r>
                <a:r>
                  <a:rPr lang="zh-CN" altLang="en-US" dirty="0"/>
                  <a:t>→</a:t>
                </a:r>
                <a:r>
                  <a:rPr lang="el-GR" altLang="zh-CN" dirty="0"/>
                  <a:t>α</a:t>
                </a:r>
                <a:r>
                  <a:rPr lang="zh-CN" altLang="en-US" dirty="0"/>
                  <a:t>，</a:t>
                </a:r>
                <a:r>
                  <a:rPr lang="en-US" altLang="zh-CN" dirty="0"/>
                  <a:t>A</a:t>
                </a:r>
                <a:r>
                  <a:rPr lang="zh-CN" altLang="en-US" dirty="0"/>
                  <a:t>∈</a:t>
                </a:r>
                <a:r>
                  <a:rPr lang="en-US" altLang="zh-CN" dirty="0"/>
                  <a:t>V</a:t>
                </a:r>
                <a:r>
                  <a:rPr lang="en-US" altLang="zh-CN" baseline="-25000" dirty="0"/>
                  <a:t>N</a:t>
                </a:r>
                <a:r>
                  <a:rPr lang="zh-CN" altLang="en-US" baseline="-25000" dirty="0"/>
                  <a:t>，</a:t>
                </a:r>
                <a:r>
                  <a:rPr lang="el-GR" altLang="zh-CN" dirty="0"/>
                  <a:t> α</a:t>
                </a:r>
                <a:r>
                  <a:rPr lang="zh-CN" altLang="en-US" dirty="0"/>
                  <a:t>∈</a:t>
                </a:r>
                <a:r>
                  <a:rPr lang="en-US" altLang="zh-CN" dirty="0"/>
                  <a:t>V</a:t>
                </a:r>
                <a:r>
                  <a:rPr lang="zh-CN" altLang="en-US" dirty="0"/>
                  <a:t>*。</a:t>
                </a:r>
                <a:endParaRPr lang="en-US" altLang="zh-CN" dirty="0"/>
              </a:p>
              <a:p>
                <a:r>
                  <a:rPr lang="zh-CN" altLang="en-US" dirty="0"/>
                  <a:t>如果</a:t>
                </a:r>
                <a14:m>
                  <m:oMath xmlns:m="http://schemas.openxmlformats.org/officeDocument/2006/math">
                    <m:r>
                      <a:rPr lang="zh-CN" altLang="en-US" i="1" smtClean="0">
                        <a:latin typeface="Cambria Math"/>
                      </a:rPr>
                      <m:t>𝛂</m:t>
                    </m:r>
                    <m:r>
                      <a:rPr lang="zh-CN" altLang="en-US" i="1" smtClean="0">
                        <a:latin typeface="Cambria Math"/>
                      </a:rPr>
                      <m:t>⇏</m:t>
                    </m:r>
                    <m:r>
                      <a:rPr lang="zh-CN" altLang="en-US" i="1" smtClean="0">
                        <a:latin typeface="Cambria Math"/>
                      </a:rPr>
                      <m:t>𝜺</m:t>
                    </m:r>
                  </m:oMath>
                </a14:m>
                <a:r>
                  <a:rPr lang="zh-CN" altLang="en-US" baseline="-25000" dirty="0"/>
                  <a:t>，</a:t>
                </a:r>
                <a:r>
                  <a:rPr lang="zh-CN" altLang="en-US" dirty="0"/>
                  <a:t>则</a:t>
                </a:r>
                <a:endParaRPr lang="en-US" altLang="zh-CN" dirty="0"/>
              </a:p>
              <a:p>
                <a:pPr lvl="1"/>
                <a:r>
                  <a:rPr lang="en-US" altLang="zh-CN" dirty="0">
                    <a:solidFill>
                      <a:srgbClr val="FF0000"/>
                    </a:solidFill>
                  </a:rPr>
                  <a:t>SELECT</a:t>
                </a:r>
                <a:r>
                  <a:rPr lang="zh-CN" altLang="en-US" dirty="0">
                    <a:solidFill>
                      <a:srgbClr val="FF0000"/>
                    </a:solidFill>
                  </a:rPr>
                  <a:t>（</a:t>
                </a:r>
                <a:r>
                  <a:rPr lang="en-US" altLang="zh-CN" dirty="0">
                    <a:solidFill>
                      <a:srgbClr val="FF0000"/>
                    </a:solidFill>
                  </a:rPr>
                  <a:t>A</a:t>
                </a:r>
                <a:r>
                  <a:rPr lang="zh-CN" altLang="en-US" dirty="0">
                    <a:solidFill>
                      <a:srgbClr val="FF0000"/>
                    </a:solidFill>
                  </a:rPr>
                  <a:t>→</a:t>
                </a:r>
                <a:r>
                  <a:rPr lang="el-GR" altLang="zh-CN" dirty="0">
                    <a:solidFill>
                      <a:srgbClr val="FF0000"/>
                    </a:solidFill>
                  </a:rPr>
                  <a:t> α </a:t>
                </a:r>
                <a:r>
                  <a:rPr lang="zh-CN" altLang="en-US" dirty="0">
                    <a:solidFill>
                      <a:srgbClr val="FF0000"/>
                    </a:solidFill>
                  </a:rPr>
                  <a:t>）</a:t>
                </a:r>
                <a:r>
                  <a:rPr lang="en-US" altLang="zh-CN" dirty="0"/>
                  <a:t>=FIRST(</a:t>
                </a:r>
                <a:r>
                  <a:rPr lang="el-GR" altLang="zh-CN" dirty="0"/>
                  <a:t>α</a:t>
                </a:r>
                <a:r>
                  <a:rPr lang="en-US" altLang="zh-CN" dirty="0"/>
                  <a:t>)</a:t>
                </a:r>
                <a:r>
                  <a:rPr lang="zh-CN" altLang="en-US" dirty="0"/>
                  <a:t>。</a:t>
                </a:r>
                <a:endParaRPr lang="en-US" altLang="zh-CN" dirty="0"/>
              </a:p>
              <a:p>
                <a:r>
                  <a:rPr lang="zh-CN" altLang="en-US" dirty="0"/>
                  <a:t>如果</a:t>
                </a:r>
                <a:r>
                  <a:rPr lang="el-GR" altLang="zh-CN" dirty="0"/>
                  <a:t>α</a:t>
                </a:r>
                <a14:m>
                  <m:oMath xmlns:m="http://schemas.openxmlformats.org/officeDocument/2006/math">
                    <m:r>
                      <m:rPr>
                        <m:nor/>
                      </m:rPr>
                      <a:rPr lang="el-GR" altLang="zh-CN" i="0" smtClean="0">
                        <a:latin typeface="Cambria Math"/>
                        <a:ea typeface="Cambria Math"/>
                      </a:rPr>
                      <m:t>⇒</m:t>
                    </m:r>
                  </m:oMath>
                </a14:m>
                <a:r>
                  <a:rPr lang="zh-CN" altLang="en-US" dirty="0"/>
                  <a:t>*</a:t>
                </a:r>
                <a14:m>
                  <m:oMath xmlns:m="http://schemas.openxmlformats.org/officeDocument/2006/math">
                    <m:r>
                      <a:rPr lang="zh-CN" altLang="en-US" i="1">
                        <a:latin typeface="Cambria Math"/>
                      </a:rPr>
                      <m:t>𝜺</m:t>
                    </m:r>
                  </m:oMath>
                </a14:m>
                <a:r>
                  <a:rPr lang="zh-CN" altLang="en-US" dirty="0"/>
                  <a:t>，则</a:t>
                </a:r>
                <a:endParaRPr lang="en-US" altLang="zh-CN" dirty="0"/>
              </a:p>
              <a:p>
                <a:pPr lvl="1"/>
                <a:r>
                  <a:rPr lang="en-US" altLang="zh-CN" dirty="0">
                    <a:solidFill>
                      <a:srgbClr val="FF0000"/>
                    </a:solidFill>
                  </a:rPr>
                  <a:t>SELECT(A</a:t>
                </a:r>
                <a:r>
                  <a:rPr lang="zh-CN" altLang="en-US" dirty="0">
                    <a:solidFill>
                      <a:srgbClr val="FF0000"/>
                    </a:solidFill>
                  </a:rPr>
                  <a:t>→</a:t>
                </a:r>
                <a:r>
                  <a:rPr lang="el-GR" altLang="zh-CN" dirty="0">
                    <a:solidFill>
                      <a:srgbClr val="FF0000"/>
                    </a:solidFill>
                  </a:rPr>
                  <a:t> α </a:t>
                </a:r>
                <a:r>
                  <a:rPr lang="en-US" altLang="zh-CN" dirty="0">
                    <a:solidFill>
                      <a:srgbClr val="FF0000"/>
                    </a:solidFill>
                  </a:rPr>
                  <a:t>)</a:t>
                </a:r>
                <a:r>
                  <a:rPr lang="en-US" altLang="zh-CN" dirty="0"/>
                  <a:t>= (FIRST(</a:t>
                </a:r>
                <a:r>
                  <a:rPr lang="el-GR" altLang="zh-CN" dirty="0"/>
                  <a:t>α</a:t>
                </a:r>
                <a:r>
                  <a:rPr lang="en-US" altLang="zh-CN" dirty="0"/>
                  <a:t>)-{</a:t>
                </a:r>
                <a14:m>
                  <m:oMath xmlns:m="http://schemas.openxmlformats.org/officeDocument/2006/math">
                    <m:r>
                      <a:rPr lang="zh-CN" altLang="en-US" i="1">
                        <a:latin typeface="Cambria Math"/>
                      </a:rPr>
                      <m:t>𝜺</m:t>
                    </m:r>
                  </m:oMath>
                </a14:m>
                <a:r>
                  <a:rPr lang="en-US" altLang="zh-CN" dirty="0"/>
                  <a:t>})</a:t>
                </a:r>
                <a14:m>
                  <m:oMath xmlns:m="http://schemas.openxmlformats.org/officeDocument/2006/math">
                    <m:r>
                      <a:rPr lang="en-US" altLang="zh-CN" i="1" dirty="0" smtClean="0">
                        <a:latin typeface="Cambria Math"/>
                        <a:ea typeface="Cambria Math"/>
                      </a:rPr>
                      <m:t>⋃</m:t>
                    </m:r>
                  </m:oMath>
                </a14:m>
                <a:r>
                  <a:rPr lang="en-US" altLang="zh-CN" dirty="0"/>
                  <a:t>FOLLOW(A)</a:t>
                </a:r>
                <a:r>
                  <a:rPr lang="zh-CN" altLang="en-US" dirty="0"/>
                  <a:t>。</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t="-1549" r="-333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26</a:t>
            </a:fld>
            <a:endParaRPr lang="zh-CN" altLang="en-US">
              <a:solidFill>
                <a:srgbClr val="3F3F3F"/>
              </a:solidFill>
            </a:endParaRPr>
          </a:p>
        </p:txBody>
      </p:sp>
    </p:spTree>
    <p:extLst>
      <p:ext uri="{BB962C8B-B14F-4D97-AF65-F5344CB8AC3E}">
        <p14:creationId xmlns:p14="http://schemas.microsoft.com/office/powerpoint/2010/main" val="3997989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en-US" altLang="zh-CN" dirty="0"/>
              <a:t>LL</a:t>
            </a:r>
            <a:r>
              <a:rPr lang="zh-CN" altLang="en-US" dirty="0"/>
              <a:t>（</a:t>
            </a:r>
            <a:r>
              <a:rPr lang="en-US" altLang="zh-CN" dirty="0"/>
              <a:t>1</a:t>
            </a:r>
            <a:r>
              <a:rPr lang="zh-CN" altLang="en-US" dirty="0"/>
              <a:t>）分析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判别文法是否是</a:t>
                </a:r>
                <a:r>
                  <a:rPr lang="en-US" altLang="zh-CN" dirty="0"/>
                  <a:t>LL</a:t>
                </a:r>
                <a:r>
                  <a:rPr lang="zh-CN" altLang="en-US" dirty="0"/>
                  <a:t>（</a:t>
                </a:r>
                <a:r>
                  <a:rPr lang="en-US" altLang="zh-CN" dirty="0"/>
                  <a:t>1</a:t>
                </a:r>
                <a:r>
                  <a:rPr lang="zh-CN" altLang="en-US" dirty="0"/>
                  <a:t>）文法</a:t>
                </a:r>
                <a:endParaRPr lang="en-US" altLang="zh-CN" dirty="0"/>
              </a:p>
              <a:p>
                <a:r>
                  <a:rPr lang="zh-CN" altLang="en-US" dirty="0">
                    <a:solidFill>
                      <a:srgbClr val="FF0000"/>
                    </a:solidFill>
                  </a:rPr>
                  <a:t>判定条件：</a:t>
                </a:r>
                <a:r>
                  <a:rPr lang="zh-CN" altLang="en-US" dirty="0"/>
                  <a:t>一个上下文无关文法是</a:t>
                </a:r>
                <a:r>
                  <a:rPr lang="en-US" altLang="zh-CN" dirty="0"/>
                  <a:t>LL(1)</a:t>
                </a:r>
                <a:r>
                  <a:rPr lang="zh-CN" altLang="en-US" dirty="0"/>
                  <a:t>的充分必要条件是，对每个非终结符的两个不同产生式，</a:t>
                </a:r>
                <a:r>
                  <a:rPr lang="en-US" altLang="zh-CN" dirty="0"/>
                  <a:t>A</a:t>
                </a:r>
                <a:r>
                  <a:rPr lang="zh-CN" altLang="en-US" dirty="0"/>
                  <a:t>→</a:t>
                </a:r>
                <a:r>
                  <a:rPr lang="el-GR" altLang="zh-CN" dirty="0"/>
                  <a:t>α</a:t>
                </a:r>
                <a:r>
                  <a:rPr lang="zh-CN" altLang="en-US" dirty="0"/>
                  <a:t>，</a:t>
                </a:r>
                <a:r>
                  <a:rPr lang="en-US" altLang="zh-CN" dirty="0"/>
                  <a:t>A</a:t>
                </a:r>
                <a:r>
                  <a:rPr lang="zh-CN" altLang="en-US" dirty="0"/>
                  <a:t>→</a:t>
                </a:r>
                <a14:m>
                  <m:oMath xmlns:m="http://schemas.openxmlformats.org/officeDocument/2006/math">
                    <m:r>
                      <a:rPr lang="zh-CN" altLang="en-US" i="1" smtClean="0">
                        <a:latin typeface="Cambria Math"/>
                      </a:rPr>
                      <m:t>𝜷</m:t>
                    </m:r>
                    <m:r>
                      <a:rPr lang="zh-CN" altLang="en-US" b="1" i="1" smtClean="0">
                        <a:latin typeface="Cambria Math"/>
                      </a:rPr>
                      <m:t>，</m:t>
                    </m:r>
                  </m:oMath>
                </a14:m>
                <a:r>
                  <a:rPr lang="en-US" altLang="zh-CN" dirty="0">
                    <a:solidFill>
                      <a:srgbClr val="FF0000"/>
                    </a:solidFill>
                  </a:rPr>
                  <a:t>  </a:t>
                </a:r>
                <a:r>
                  <a:rPr lang="zh-CN" altLang="en-US" dirty="0">
                    <a:solidFill>
                      <a:srgbClr val="FF0000"/>
                    </a:solidFill>
                  </a:rPr>
                  <a:t>须满足：</a:t>
                </a:r>
                <a:endParaRPr lang="en-US" altLang="zh-CN" dirty="0">
                  <a:solidFill>
                    <a:srgbClr val="FF0000"/>
                  </a:solidFill>
                </a:endParaRPr>
              </a:p>
              <a:p>
                <a:pPr lvl="1"/>
                <a:r>
                  <a:rPr lang="en-US" altLang="zh-CN" dirty="0">
                    <a:solidFill>
                      <a:srgbClr val="FF0000"/>
                    </a:solidFill>
                  </a:rPr>
                  <a:t>SELECT</a:t>
                </a:r>
                <a:r>
                  <a:rPr lang="zh-CN" altLang="en-US" dirty="0">
                    <a:solidFill>
                      <a:srgbClr val="FF0000"/>
                    </a:solidFill>
                  </a:rPr>
                  <a:t>（</a:t>
                </a:r>
                <a:r>
                  <a:rPr lang="en-US" altLang="zh-CN" dirty="0">
                    <a:solidFill>
                      <a:srgbClr val="FF0000"/>
                    </a:solidFill>
                  </a:rPr>
                  <a:t>A</a:t>
                </a:r>
                <a:r>
                  <a:rPr lang="zh-CN" altLang="en-US" dirty="0">
                    <a:solidFill>
                      <a:srgbClr val="FF0000"/>
                    </a:solidFill>
                  </a:rPr>
                  <a:t>→</a:t>
                </a:r>
                <a:r>
                  <a:rPr lang="el-GR" altLang="zh-CN" dirty="0">
                    <a:solidFill>
                      <a:srgbClr val="FF0000"/>
                    </a:solidFill>
                  </a:rPr>
                  <a:t> α </a:t>
                </a:r>
                <a:r>
                  <a:rPr lang="zh-CN" altLang="en-US" dirty="0">
                    <a:solidFill>
                      <a:srgbClr val="FF0000"/>
                    </a:solidFill>
                  </a:rPr>
                  <a:t>）</a:t>
                </a:r>
                <a14:m>
                  <m:oMath xmlns:m="http://schemas.openxmlformats.org/officeDocument/2006/math">
                    <m:r>
                      <a:rPr lang="zh-CN" altLang="en-US">
                        <a:solidFill>
                          <a:srgbClr val="FF0000"/>
                        </a:solidFill>
                        <a:latin typeface="Cambria Math"/>
                      </a:rPr>
                      <m:t>∩</m:t>
                    </m:r>
                  </m:oMath>
                </a14:m>
                <a:r>
                  <a:rPr lang="en-US" altLang="zh-CN" dirty="0">
                    <a:solidFill>
                      <a:srgbClr val="FF0000"/>
                    </a:solidFill>
                  </a:rPr>
                  <a:t>SELECT(A</a:t>
                </a:r>
                <a:r>
                  <a:rPr lang="zh-CN" altLang="en-US" dirty="0">
                    <a:solidFill>
                      <a:srgbClr val="FF0000"/>
                    </a:solidFill>
                  </a:rPr>
                  <a:t>→</a:t>
                </a:r>
                <a14:m>
                  <m:oMath xmlns:m="http://schemas.openxmlformats.org/officeDocument/2006/math">
                    <m:r>
                      <a:rPr lang="zh-CN" altLang="en-US">
                        <a:solidFill>
                          <a:srgbClr val="FF0000"/>
                        </a:solidFill>
                        <a:latin typeface="Cambria Math"/>
                      </a:rPr>
                      <m:t>𝜷</m:t>
                    </m:r>
                  </m:oMath>
                </a14:m>
                <a:r>
                  <a:rPr lang="el-GR" altLang="zh-CN" dirty="0">
                    <a:solidFill>
                      <a:srgbClr val="FF0000"/>
                    </a:solidFill>
                  </a:rPr>
                  <a:t> </a:t>
                </a:r>
                <a:r>
                  <a:rPr lang="en-US" altLang="zh-CN" dirty="0">
                    <a:solidFill>
                      <a:srgbClr val="FF0000"/>
                    </a:solidFill>
                  </a:rPr>
                  <a:t>)=</a:t>
                </a:r>
                <a14:m>
                  <m:oMath xmlns:m="http://schemas.openxmlformats.org/officeDocument/2006/math">
                    <m:r>
                      <a:rPr lang="en-US" altLang="zh-CN" dirty="0">
                        <a:solidFill>
                          <a:srgbClr val="FF0000"/>
                        </a:solidFill>
                        <a:latin typeface="Cambria Math"/>
                      </a:rPr>
                      <m:t>∅</m:t>
                    </m:r>
                  </m:oMath>
                </a14:m>
                <a:r>
                  <a:rPr lang="zh-CN" altLang="en-US" dirty="0">
                    <a:solidFill>
                      <a:srgbClr val="FF0000"/>
                    </a:solidFill>
                  </a:rPr>
                  <a:t>。</a:t>
                </a:r>
                <a:endParaRPr lang="en-US" altLang="zh-CN" dirty="0">
                  <a:solidFill>
                    <a:srgbClr val="FF0000"/>
                  </a:solidFill>
                </a:endParaRPr>
              </a:p>
              <a:p>
                <a:pPr lvl="1"/>
                <a:r>
                  <a:rPr lang="zh-CN" altLang="en-US" dirty="0"/>
                  <a:t>其中</a:t>
                </a:r>
                <a:r>
                  <a:rPr lang="el-GR" altLang="zh-CN" dirty="0"/>
                  <a:t>α</a:t>
                </a:r>
                <a:r>
                  <a:rPr lang="zh-CN" altLang="en-US" dirty="0"/>
                  <a:t>，</a:t>
                </a:r>
                <a14:m>
                  <m:oMath xmlns:m="http://schemas.openxmlformats.org/officeDocument/2006/math">
                    <m:r>
                      <a:rPr lang="zh-CN" altLang="en-US" i="1">
                        <a:latin typeface="Cambria Math"/>
                      </a:rPr>
                      <m:t>𝜷</m:t>
                    </m:r>
                  </m:oMath>
                </a14:m>
                <a:r>
                  <a:rPr lang="zh-CN" altLang="en-US" dirty="0"/>
                  <a:t>不能同时推导出</a:t>
                </a:r>
                <a:r>
                  <a:rPr lang="zh-CN" altLang="en-US" dirty="0">
                    <a:sym typeface="Symbol" pitchFamily="18" charset="2"/>
                  </a:rPr>
                  <a:t>*</a:t>
                </a:r>
                <a14:m>
                  <m:oMath xmlns:m="http://schemas.openxmlformats.org/officeDocument/2006/math">
                    <m:r>
                      <a:rPr lang="zh-CN" altLang="en-US" i="1" smtClean="0">
                        <a:latin typeface="Cambria Math"/>
                        <a:sym typeface="Symbol" pitchFamily="18" charset="2"/>
                      </a:rPr>
                      <m:t>𝜺</m:t>
                    </m:r>
                  </m:oMath>
                </a14:m>
                <a:r>
                  <a:rPr lang="zh-CN" altLang="en-US" dirty="0"/>
                  <a:t>。</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t="-1549" r="-133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27</a:t>
            </a:fld>
            <a:endParaRPr lang="zh-CN" altLang="en-US">
              <a:solidFill>
                <a:srgbClr val="3F3F3F"/>
              </a:solidFill>
            </a:endParaRPr>
          </a:p>
        </p:txBody>
      </p:sp>
    </p:spTree>
    <p:extLst>
      <p:ext uri="{BB962C8B-B14F-4D97-AF65-F5344CB8AC3E}">
        <p14:creationId xmlns:p14="http://schemas.microsoft.com/office/powerpoint/2010/main" val="2437599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en-US" altLang="zh-CN" dirty="0"/>
              <a:t>LL</a:t>
            </a:r>
            <a:r>
              <a:rPr lang="zh-CN" altLang="en-US" dirty="0"/>
              <a:t>（</a:t>
            </a:r>
            <a:r>
              <a:rPr lang="en-US" altLang="zh-CN" dirty="0"/>
              <a:t>1</a:t>
            </a:r>
            <a:r>
              <a:rPr lang="zh-CN" altLang="en-US" dirty="0"/>
              <a:t>）分析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dirty="0"/>
                  <a:t>LL(1)</a:t>
                </a:r>
                <a:r>
                  <a:rPr lang="zh-CN" altLang="en-US" dirty="0"/>
                  <a:t>举例</a:t>
                </a:r>
                <a:r>
                  <a:rPr lang="en-US" altLang="zh-CN" dirty="0"/>
                  <a:t>1</a:t>
                </a:r>
                <a:r>
                  <a:rPr lang="zh-CN" altLang="en-US" dirty="0"/>
                  <a:t>：</a:t>
                </a:r>
                <a:endParaRPr lang="en-US" altLang="zh-CN" dirty="0"/>
              </a:p>
              <a:p>
                <a:r>
                  <a:rPr lang="zh-CN" altLang="en-US" dirty="0"/>
                  <a:t>文法</a:t>
                </a:r>
                <a:r>
                  <a:rPr lang="en-US" altLang="zh-CN" dirty="0"/>
                  <a:t>G[S]:</a:t>
                </a:r>
              </a:p>
              <a:p>
                <a:pPr lvl="1"/>
                <a:r>
                  <a:rPr lang="en-US" altLang="zh-CN" dirty="0"/>
                  <a:t>S</a:t>
                </a:r>
                <a:r>
                  <a:rPr lang="zh-CN" altLang="en-US" dirty="0"/>
                  <a:t>→</a:t>
                </a:r>
                <a:r>
                  <a:rPr lang="en-US" altLang="zh-CN" dirty="0" err="1"/>
                  <a:t>aA</a:t>
                </a:r>
                <a:endParaRPr lang="en-US" altLang="zh-CN" dirty="0"/>
              </a:p>
              <a:p>
                <a:pPr lvl="1"/>
                <a:r>
                  <a:rPr lang="en-US" altLang="zh-CN" dirty="0"/>
                  <a:t>S</a:t>
                </a:r>
                <a:r>
                  <a:rPr lang="zh-CN" altLang="en-US" dirty="0"/>
                  <a:t>→</a:t>
                </a:r>
                <a:r>
                  <a:rPr lang="en-US" altLang="zh-CN" dirty="0"/>
                  <a:t>d</a:t>
                </a:r>
              </a:p>
              <a:p>
                <a:pPr lvl="1"/>
                <a:r>
                  <a:rPr lang="en-US" altLang="zh-CN" dirty="0"/>
                  <a:t>A</a:t>
                </a:r>
                <a:r>
                  <a:rPr lang="zh-CN" altLang="en-US" dirty="0"/>
                  <a:t>→</a:t>
                </a:r>
                <a:r>
                  <a:rPr lang="en-US" altLang="zh-CN" dirty="0" err="1"/>
                  <a:t>bAS</a:t>
                </a:r>
                <a:endParaRPr lang="en-US" altLang="zh-CN" dirty="0"/>
              </a:p>
              <a:p>
                <a:pPr lvl="1"/>
                <a:r>
                  <a:rPr lang="en-US" altLang="zh-CN" dirty="0"/>
                  <a:t>A</a:t>
                </a:r>
                <a:r>
                  <a:rPr lang="zh-CN" altLang="en-US" dirty="0"/>
                  <a:t>→</a:t>
                </a:r>
                <a14:m>
                  <m:oMath xmlns:m="http://schemas.openxmlformats.org/officeDocument/2006/math">
                    <m:r>
                      <a:rPr lang="zh-CN" altLang="en-US" i="1">
                        <a:latin typeface="Cambria Math"/>
                      </a:rPr>
                      <m:t>𝜺</m:t>
                    </m:r>
                  </m:oMath>
                </a14:m>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t="-1549"/>
                </a:stretch>
              </a:blipFill>
            </p:spPr>
            <p:txBody>
              <a:bodyPr/>
              <a:lstStyle/>
              <a:p>
                <a:r>
                  <a:rPr lang="zh-CN" altLang="en-US">
                    <a:noFill/>
                  </a:rPr>
                  <a:t> </a:t>
                </a:r>
              </a:p>
            </p:txBody>
          </p:sp>
        </mc:Fallback>
      </mc:AlternateContent>
      <p:sp>
        <p:nvSpPr>
          <p:cNvPr id="4" name="TextBox 3"/>
          <p:cNvSpPr txBox="1"/>
          <p:nvPr/>
        </p:nvSpPr>
        <p:spPr>
          <a:xfrm>
            <a:off x="3131822" y="1268733"/>
            <a:ext cx="4852610" cy="523220"/>
          </a:xfrm>
          <a:prstGeom prst="rect">
            <a:avLst/>
          </a:prstGeom>
          <a:noFill/>
        </p:spPr>
        <p:txBody>
          <a:bodyPr wrap="none" rtlCol="0">
            <a:spAutoFit/>
          </a:bodyPr>
          <a:lstStyle/>
          <a:p>
            <a:r>
              <a:rPr lang="zh-CN" altLang="en-US" sz="2800" dirty="0">
                <a:solidFill>
                  <a:srgbClr val="0000FF"/>
                </a:solidFill>
              </a:rPr>
              <a:t>求每个产生式的选择符号集：</a:t>
            </a:r>
          </a:p>
        </p:txBody>
      </p:sp>
      <p:sp>
        <p:nvSpPr>
          <p:cNvPr id="5" name="TextBox 4"/>
          <p:cNvSpPr txBox="1"/>
          <p:nvPr/>
        </p:nvSpPr>
        <p:spPr>
          <a:xfrm>
            <a:off x="3131822" y="1988822"/>
            <a:ext cx="5760712" cy="523220"/>
          </a:xfrm>
          <a:prstGeom prst="rect">
            <a:avLst/>
          </a:prstGeom>
          <a:noFill/>
        </p:spPr>
        <p:txBody>
          <a:bodyPr wrap="square" rtlCol="0">
            <a:spAutoFit/>
          </a:bodyPr>
          <a:lstStyle/>
          <a:p>
            <a:r>
              <a:rPr lang="en-US" altLang="zh-CN" sz="2800" dirty="0">
                <a:solidFill>
                  <a:srgbClr val="0000FF"/>
                </a:solidFill>
              </a:rPr>
              <a:t>SELECT</a:t>
            </a:r>
            <a:r>
              <a:rPr lang="zh-CN" altLang="en-US" sz="2800" dirty="0">
                <a:solidFill>
                  <a:srgbClr val="0000FF"/>
                </a:solidFill>
              </a:rPr>
              <a:t>（</a:t>
            </a:r>
            <a:r>
              <a:rPr lang="en-US" altLang="zh-CN" sz="2800" dirty="0" err="1">
                <a:solidFill>
                  <a:srgbClr val="0000FF"/>
                </a:solidFill>
              </a:rPr>
              <a:t>S→aA</a:t>
            </a:r>
            <a:r>
              <a:rPr lang="zh-CN" altLang="en-US" sz="2800" dirty="0">
                <a:solidFill>
                  <a:srgbClr val="0000FF"/>
                </a:solidFill>
              </a:rPr>
              <a:t>）</a:t>
            </a:r>
            <a:r>
              <a:rPr lang="en-US" altLang="zh-CN" sz="2800" dirty="0">
                <a:solidFill>
                  <a:srgbClr val="0000FF"/>
                </a:solidFill>
              </a:rPr>
              <a:t>={a}</a:t>
            </a:r>
            <a:endParaRPr lang="zh-CN" altLang="en-US" sz="2800" dirty="0">
              <a:solidFill>
                <a:srgbClr val="0000FF"/>
              </a:solidFill>
            </a:endParaRPr>
          </a:p>
        </p:txBody>
      </p:sp>
      <p:sp>
        <p:nvSpPr>
          <p:cNvPr id="6" name="TextBox 5"/>
          <p:cNvSpPr txBox="1"/>
          <p:nvPr/>
        </p:nvSpPr>
        <p:spPr>
          <a:xfrm>
            <a:off x="3131822" y="2681937"/>
            <a:ext cx="5760712" cy="523220"/>
          </a:xfrm>
          <a:prstGeom prst="rect">
            <a:avLst/>
          </a:prstGeom>
          <a:noFill/>
        </p:spPr>
        <p:txBody>
          <a:bodyPr wrap="square" rtlCol="0">
            <a:spAutoFit/>
          </a:bodyPr>
          <a:lstStyle/>
          <a:p>
            <a:r>
              <a:rPr lang="en-US" altLang="zh-CN" sz="2800" dirty="0">
                <a:solidFill>
                  <a:srgbClr val="0000FF"/>
                </a:solidFill>
              </a:rPr>
              <a:t>SELECT</a:t>
            </a:r>
            <a:r>
              <a:rPr lang="zh-CN" altLang="en-US" sz="2800" dirty="0">
                <a:solidFill>
                  <a:srgbClr val="0000FF"/>
                </a:solidFill>
              </a:rPr>
              <a:t>（</a:t>
            </a:r>
            <a:r>
              <a:rPr lang="en-US" altLang="zh-CN" sz="2800" dirty="0" err="1">
                <a:solidFill>
                  <a:srgbClr val="0000FF"/>
                </a:solidFill>
              </a:rPr>
              <a:t>S→d</a:t>
            </a:r>
            <a:r>
              <a:rPr lang="zh-CN" altLang="en-US" sz="2800" dirty="0">
                <a:solidFill>
                  <a:srgbClr val="0000FF"/>
                </a:solidFill>
              </a:rPr>
              <a:t>）</a:t>
            </a:r>
            <a:r>
              <a:rPr lang="en-US" altLang="zh-CN" sz="2800" dirty="0">
                <a:solidFill>
                  <a:srgbClr val="0000FF"/>
                </a:solidFill>
              </a:rPr>
              <a:t>={d}</a:t>
            </a:r>
            <a:endParaRPr lang="zh-CN" altLang="en-US" sz="2800" dirty="0">
              <a:solidFill>
                <a:srgbClr val="0000FF"/>
              </a:solidFill>
            </a:endParaRPr>
          </a:p>
        </p:txBody>
      </p:sp>
      <p:sp>
        <p:nvSpPr>
          <p:cNvPr id="7" name="TextBox 6"/>
          <p:cNvSpPr txBox="1"/>
          <p:nvPr/>
        </p:nvSpPr>
        <p:spPr>
          <a:xfrm>
            <a:off x="3137836" y="3429000"/>
            <a:ext cx="5760712" cy="523220"/>
          </a:xfrm>
          <a:prstGeom prst="rect">
            <a:avLst/>
          </a:prstGeom>
          <a:noFill/>
        </p:spPr>
        <p:txBody>
          <a:bodyPr wrap="square" rtlCol="0">
            <a:spAutoFit/>
          </a:bodyPr>
          <a:lstStyle/>
          <a:p>
            <a:r>
              <a:rPr lang="en-US" altLang="zh-CN" sz="2800" dirty="0">
                <a:solidFill>
                  <a:srgbClr val="0000FF"/>
                </a:solidFill>
              </a:rPr>
              <a:t>SELECT</a:t>
            </a:r>
            <a:r>
              <a:rPr lang="zh-CN" altLang="en-US" sz="2800" dirty="0">
                <a:solidFill>
                  <a:srgbClr val="0000FF"/>
                </a:solidFill>
              </a:rPr>
              <a:t>（</a:t>
            </a:r>
            <a:r>
              <a:rPr lang="en-US" altLang="zh-CN" sz="2800" dirty="0" err="1">
                <a:solidFill>
                  <a:srgbClr val="0000FF"/>
                </a:solidFill>
              </a:rPr>
              <a:t>A→bAS</a:t>
            </a:r>
            <a:r>
              <a:rPr lang="zh-CN" altLang="en-US" sz="2800" dirty="0">
                <a:solidFill>
                  <a:srgbClr val="0000FF"/>
                </a:solidFill>
              </a:rPr>
              <a:t>）</a:t>
            </a:r>
            <a:r>
              <a:rPr lang="en-US" altLang="zh-CN" sz="2800" dirty="0">
                <a:solidFill>
                  <a:srgbClr val="0000FF"/>
                </a:solidFill>
              </a:rPr>
              <a:t>={b}</a:t>
            </a:r>
            <a:endParaRPr lang="zh-CN" altLang="en-US" sz="2800" dirty="0">
              <a:solidFill>
                <a:srgbClr val="0000FF"/>
              </a:solidFill>
            </a:endParaRPr>
          </a:p>
        </p:txBody>
      </p:sp>
      <p:sp>
        <p:nvSpPr>
          <p:cNvPr id="8" name="TextBox 7"/>
          <p:cNvSpPr txBox="1"/>
          <p:nvPr/>
        </p:nvSpPr>
        <p:spPr>
          <a:xfrm>
            <a:off x="3137836" y="4149089"/>
            <a:ext cx="5760712" cy="523220"/>
          </a:xfrm>
          <a:prstGeom prst="rect">
            <a:avLst/>
          </a:prstGeom>
          <a:noFill/>
        </p:spPr>
        <p:txBody>
          <a:bodyPr wrap="square" rtlCol="0">
            <a:spAutoFit/>
          </a:bodyPr>
          <a:lstStyle/>
          <a:p>
            <a:r>
              <a:rPr lang="en-US" altLang="zh-CN" sz="2800" dirty="0">
                <a:solidFill>
                  <a:srgbClr val="0000FF"/>
                </a:solidFill>
              </a:rPr>
              <a:t>SELECT</a:t>
            </a:r>
            <a:r>
              <a:rPr lang="zh-CN" altLang="en-US" sz="2800" dirty="0">
                <a:solidFill>
                  <a:srgbClr val="0000FF"/>
                </a:solidFill>
              </a:rPr>
              <a:t>（</a:t>
            </a:r>
            <a:r>
              <a:rPr lang="en-US" altLang="zh-CN" sz="2800" dirty="0">
                <a:solidFill>
                  <a:srgbClr val="0000FF"/>
                </a:solidFill>
              </a:rPr>
              <a:t>A→</a:t>
            </a:r>
            <a:r>
              <a:rPr lang="zh-CN" altLang="en-US" sz="2800" dirty="0">
                <a:solidFill>
                  <a:srgbClr val="0000FF"/>
                </a:solidFill>
              </a:rPr>
              <a:t>𝜺）</a:t>
            </a:r>
            <a:r>
              <a:rPr lang="en-US" altLang="zh-CN" sz="2800" dirty="0">
                <a:solidFill>
                  <a:srgbClr val="0000FF"/>
                </a:solidFill>
              </a:rPr>
              <a:t>={</a:t>
            </a:r>
            <a:r>
              <a:rPr lang="en-US" altLang="zh-CN" sz="2800" dirty="0" err="1">
                <a:solidFill>
                  <a:srgbClr val="0000FF"/>
                </a:solidFill>
              </a:rPr>
              <a:t>a,d</a:t>
            </a:r>
            <a:r>
              <a:rPr lang="en-US" altLang="zh-CN" sz="2800" dirty="0">
                <a:solidFill>
                  <a:srgbClr val="0000FF"/>
                </a:solidFill>
              </a:rPr>
              <a:t>,#}</a:t>
            </a:r>
            <a:endParaRPr lang="zh-CN" altLang="en-US" sz="2800" dirty="0">
              <a:solidFill>
                <a:srgbClr val="0000FF"/>
              </a:solidFill>
            </a:endParaRPr>
          </a:p>
        </p:txBody>
      </p:sp>
      <mc:AlternateContent xmlns:mc="http://schemas.openxmlformats.org/markup-compatibility/2006" xmlns:a14="http://schemas.microsoft.com/office/drawing/2010/main">
        <mc:Choice Requires="a14">
          <p:sp>
            <p:nvSpPr>
              <p:cNvPr id="9" name="矩形 8"/>
              <p:cNvSpPr/>
              <p:nvPr/>
            </p:nvSpPr>
            <p:spPr>
              <a:xfrm>
                <a:off x="588022" y="4869178"/>
                <a:ext cx="8362264" cy="1815882"/>
              </a:xfrm>
              <a:prstGeom prst="rect">
                <a:avLst/>
              </a:prstGeom>
            </p:spPr>
            <p:txBody>
              <a:bodyPr wrap="square">
                <a:spAutoFit/>
              </a:bodyPr>
              <a:lstStyle/>
              <a:p>
                <a:r>
                  <a:rPr lang="zh-CN" altLang="en-US" sz="2800" dirty="0"/>
                  <a:t>如果</a:t>
                </a:r>
                <a14:m>
                  <m:oMath xmlns:m="http://schemas.openxmlformats.org/officeDocument/2006/math">
                    <m:r>
                      <a:rPr lang="zh-CN" altLang="en-US" sz="2800" i="1">
                        <a:latin typeface="Cambria Math"/>
                      </a:rPr>
                      <m:t>𝛂</m:t>
                    </m:r>
                    <m:r>
                      <a:rPr lang="zh-CN" altLang="en-US" sz="2800" i="1">
                        <a:latin typeface="Cambria Math"/>
                      </a:rPr>
                      <m:t>⇏</m:t>
                    </m:r>
                    <m:r>
                      <a:rPr lang="zh-CN" altLang="en-US" sz="2800" i="1">
                        <a:latin typeface="Cambria Math"/>
                      </a:rPr>
                      <m:t>𝜺</m:t>
                    </m:r>
                  </m:oMath>
                </a14:m>
                <a:r>
                  <a:rPr lang="zh-CN" altLang="en-US" sz="2800" baseline="-25000" dirty="0"/>
                  <a:t>，</a:t>
                </a:r>
                <a:r>
                  <a:rPr lang="zh-CN" altLang="en-US" sz="2800" dirty="0"/>
                  <a:t>则</a:t>
                </a:r>
                <a:endParaRPr lang="en-US" altLang="zh-CN" sz="2800" dirty="0"/>
              </a:p>
              <a:p>
                <a:pPr lvl="1"/>
                <a:r>
                  <a:rPr lang="en-US" altLang="zh-CN" sz="2800" dirty="0">
                    <a:solidFill>
                      <a:srgbClr val="FF0000"/>
                    </a:solidFill>
                  </a:rPr>
                  <a:t>SELECT</a:t>
                </a:r>
                <a:r>
                  <a:rPr lang="zh-CN" altLang="en-US" sz="2800" dirty="0">
                    <a:solidFill>
                      <a:srgbClr val="FF0000"/>
                    </a:solidFill>
                  </a:rPr>
                  <a:t>（</a:t>
                </a:r>
                <a:r>
                  <a:rPr lang="en-US" altLang="zh-CN" sz="2800" dirty="0">
                    <a:solidFill>
                      <a:srgbClr val="FF0000"/>
                    </a:solidFill>
                  </a:rPr>
                  <a:t>A</a:t>
                </a:r>
                <a:r>
                  <a:rPr lang="zh-CN" altLang="en-US" sz="2800" dirty="0">
                    <a:solidFill>
                      <a:srgbClr val="FF0000"/>
                    </a:solidFill>
                  </a:rPr>
                  <a:t>→</a:t>
                </a:r>
                <a:r>
                  <a:rPr lang="el-GR" altLang="zh-CN" sz="2800" dirty="0">
                    <a:solidFill>
                      <a:srgbClr val="FF0000"/>
                    </a:solidFill>
                  </a:rPr>
                  <a:t> α </a:t>
                </a:r>
                <a:r>
                  <a:rPr lang="zh-CN" altLang="en-US" sz="2800" dirty="0">
                    <a:solidFill>
                      <a:srgbClr val="FF0000"/>
                    </a:solidFill>
                  </a:rPr>
                  <a:t>）</a:t>
                </a:r>
                <a:r>
                  <a:rPr lang="en-US" altLang="zh-CN" sz="2800" dirty="0"/>
                  <a:t>=FIRST(</a:t>
                </a:r>
                <a:r>
                  <a:rPr lang="el-GR" altLang="zh-CN" sz="2800" dirty="0"/>
                  <a:t>α</a:t>
                </a:r>
                <a:r>
                  <a:rPr lang="en-US" altLang="zh-CN" sz="2800" dirty="0"/>
                  <a:t>)</a:t>
                </a:r>
                <a:r>
                  <a:rPr lang="zh-CN" altLang="en-US" sz="2800" dirty="0"/>
                  <a:t>。</a:t>
                </a:r>
                <a:endParaRPr lang="en-US" altLang="zh-CN" sz="2800" dirty="0"/>
              </a:p>
              <a:p>
                <a:r>
                  <a:rPr lang="zh-CN" altLang="en-US" sz="2800" dirty="0"/>
                  <a:t>如果</a:t>
                </a:r>
                <a:r>
                  <a:rPr lang="el-GR" altLang="zh-CN" sz="2800" dirty="0"/>
                  <a:t>α</a:t>
                </a:r>
                <a14:m>
                  <m:oMath xmlns:m="http://schemas.openxmlformats.org/officeDocument/2006/math">
                    <m:r>
                      <m:rPr>
                        <m:nor/>
                      </m:rPr>
                      <a:rPr lang="el-GR" altLang="zh-CN" sz="2800">
                        <a:latin typeface="Cambria Math"/>
                        <a:ea typeface="Cambria Math"/>
                      </a:rPr>
                      <m:t>⇒</m:t>
                    </m:r>
                  </m:oMath>
                </a14:m>
                <a:r>
                  <a:rPr lang="zh-CN" altLang="en-US" sz="2800" dirty="0"/>
                  <a:t>*</a:t>
                </a:r>
                <a14:m>
                  <m:oMath xmlns:m="http://schemas.openxmlformats.org/officeDocument/2006/math">
                    <m:r>
                      <a:rPr lang="zh-CN" altLang="en-US" sz="2800" i="1">
                        <a:latin typeface="Cambria Math"/>
                      </a:rPr>
                      <m:t>𝜺</m:t>
                    </m:r>
                  </m:oMath>
                </a14:m>
                <a:r>
                  <a:rPr lang="zh-CN" altLang="en-US" sz="2800" dirty="0"/>
                  <a:t>，则</a:t>
                </a:r>
                <a:endParaRPr lang="en-US" altLang="zh-CN" sz="2800" dirty="0"/>
              </a:p>
              <a:p>
                <a:pPr lvl="1"/>
                <a:r>
                  <a:rPr lang="en-US" altLang="zh-CN" sz="2800" dirty="0">
                    <a:solidFill>
                      <a:srgbClr val="FF0000"/>
                    </a:solidFill>
                  </a:rPr>
                  <a:t>SELECT(A</a:t>
                </a:r>
                <a:r>
                  <a:rPr lang="zh-CN" altLang="en-US" sz="2800" dirty="0">
                    <a:solidFill>
                      <a:srgbClr val="FF0000"/>
                    </a:solidFill>
                  </a:rPr>
                  <a:t>→</a:t>
                </a:r>
                <a:r>
                  <a:rPr lang="el-GR" altLang="zh-CN" sz="2800" dirty="0">
                    <a:solidFill>
                      <a:srgbClr val="FF0000"/>
                    </a:solidFill>
                  </a:rPr>
                  <a:t> α </a:t>
                </a:r>
                <a:r>
                  <a:rPr lang="en-US" altLang="zh-CN" sz="2800" dirty="0">
                    <a:solidFill>
                      <a:srgbClr val="FF0000"/>
                    </a:solidFill>
                  </a:rPr>
                  <a:t>)</a:t>
                </a:r>
                <a:r>
                  <a:rPr lang="en-US" altLang="zh-CN" sz="2800" dirty="0"/>
                  <a:t>= (FIRST(</a:t>
                </a:r>
                <a:r>
                  <a:rPr lang="el-GR" altLang="zh-CN" sz="2800" dirty="0"/>
                  <a:t>α</a:t>
                </a:r>
                <a:r>
                  <a:rPr lang="en-US" altLang="zh-CN" sz="2800" dirty="0"/>
                  <a:t>)-{</a:t>
                </a:r>
                <a14:m>
                  <m:oMath xmlns:m="http://schemas.openxmlformats.org/officeDocument/2006/math">
                    <m:r>
                      <a:rPr lang="zh-CN" altLang="en-US" sz="2800" i="1">
                        <a:latin typeface="Cambria Math"/>
                      </a:rPr>
                      <m:t>𝜺</m:t>
                    </m:r>
                  </m:oMath>
                </a14:m>
                <a:r>
                  <a:rPr lang="en-US" altLang="zh-CN" sz="2800" dirty="0"/>
                  <a:t>})</a:t>
                </a:r>
                <a14:m>
                  <m:oMath xmlns:m="http://schemas.openxmlformats.org/officeDocument/2006/math">
                    <m:r>
                      <a:rPr lang="en-US" altLang="zh-CN" sz="2800" i="1" dirty="0">
                        <a:latin typeface="Cambria Math"/>
                        <a:ea typeface="Cambria Math"/>
                      </a:rPr>
                      <m:t>⋃</m:t>
                    </m:r>
                  </m:oMath>
                </a14:m>
                <a:r>
                  <a:rPr lang="en-US" altLang="zh-CN" sz="2800" dirty="0"/>
                  <a:t>FOLLOW(A)</a:t>
                </a:r>
                <a:r>
                  <a:rPr lang="zh-CN" altLang="en-US" sz="2800" dirty="0"/>
                  <a:t>。</a:t>
                </a:r>
                <a:endParaRPr lang="en-US" altLang="zh-CN" sz="2800" dirty="0"/>
              </a:p>
            </p:txBody>
          </p:sp>
        </mc:Choice>
        <mc:Fallback xmlns="">
          <p:sp>
            <p:nvSpPr>
              <p:cNvPr id="9" name="矩形 8"/>
              <p:cNvSpPr>
                <a:spLocks noRot="1" noChangeAspect="1" noMove="1" noResize="1" noEditPoints="1" noAdjustHandles="1" noChangeArrowheads="1" noChangeShapeType="1" noTextEdit="1"/>
              </p:cNvSpPr>
              <p:nvPr/>
            </p:nvSpPr>
            <p:spPr>
              <a:xfrm>
                <a:off x="588022" y="4869178"/>
                <a:ext cx="8362264" cy="1815882"/>
              </a:xfrm>
              <a:prstGeom prst="rect">
                <a:avLst/>
              </a:prstGeom>
              <a:blipFill rotWithShape="1">
                <a:blip r:embed="rId3"/>
                <a:stretch>
                  <a:fillRect l="-1458" t="-4362" r="-5685" b="-8389"/>
                </a:stretch>
              </a:blipFill>
            </p:spPr>
            <p:txBody>
              <a:bodyPr/>
              <a:lstStyle/>
              <a:p>
                <a:r>
                  <a:rPr lang="zh-CN" altLang="en-US">
                    <a:noFill/>
                  </a:rPr>
                  <a:t> </a:t>
                </a:r>
              </a:p>
            </p:txBody>
          </p:sp>
        </mc:Fallback>
      </mc:AlternateContent>
      <p:sp>
        <p:nvSpPr>
          <p:cNvPr id="10" name="灯片编号占位符 9"/>
          <p:cNvSpPr>
            <a:spLocks noGrp="1"/>
          </p:cNvSpPr>
          <p:nvPr>
            <p:ph type="sldNum" sz="quarter" idx="12"/>
          </p:nvPr>
        </p:nvSpPr>
        <p:spPr/>
        <p:txBody>
          <a:bodyPr/>
          <a:lstStyle/>
          <a:p>
            <a:fld id="{1B43473F-AE3F-4D1C-9C4F-7AD3C17AC1AD}" type="slidenum">
              <a:rPr lang="zh-CN" altLang="en-US" smtClean="0">
                <a:solidFill>
                  <a:srgbClr val="3F3F3F"/>
                </a:solidFill>
              </a:rPr>
              <a:pPr/>
              <a:t>28</a:t>
            </a:fld>
            <a:endParaRPr lang="zh-CN" altLang="en-US">
              <a:solidFill>
                <a:srgbClr val="3F3F3F"/>
              </a:solidFill>
            </a:endParaRPr>
          </a:p>
        </p:txBody>
      </p:sp>
    </p:spTree>
    <p:extLst>
      <p:ext uri="{BB962C8B-B14F-4D97-AF65-F5344CB8AC3E}">
        <p14:creationId xmlns:p14="http://schemas.microsoft.com/office/powerpoint/2010/main" val="290732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en-US" altLang="zh-CN" dirty="0"/>
              <a:t>LL</a:t>
            </a:r>
            <a:r>
              <a:rPr lang="zh-CN" altLang="en-US" dirty="0"/>
              <a:t>（</a:t>
            </a:r>
            <a:r>
              <a:rPr lang="en-US" altLang="zh-CN" dirty="0"/>
              <a:t>1</a:t>
            </a:r>
            <a:r>
              <a:rPr lang="zh-CN" altLang="en-US" dirty="0"/>
              <a:t>）分析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判断文法</a:t>
                </a:r>
                <a:r>
                  <a:rPr lang="en-US" altLang="zh-CN" dirty="0"/>
                  <a:t>G[S]</a:t>
                </a:r>
                <a:r>
                  <a:rPr lang="zh-CN" altLang="en-US" dirty="0"/>
                  <a:t>是否是</a:t>
                </a:r>
                <a:r>
                  <a:rPr lang="en-US" altLang="zh-CN" dirty="0"/>
                  <a:t>LL</a:t>
                </a:r>
                <a:r>
                  <a:rPr lang="zh-CN" altLang="en-US" dirty="0"/>
                  <a:t>（</a:t>
                </a:r>
                <a:r>
                  <a:rPr lang="en-US" altLang="zh-CN" dirty="0"/>
                  <a:t>1</a:t>
                </a:r>
                <a:r>
                  <a:rPr lang="zh-CN" altLang="en-US" dirty="0"/>
                  <a:t>）文法：</a:t>
                </a:r>
                <a:endParaRPr lang="en-US" altLang="zh-CN" dirty="0"/>
              </a:p>
              <a:p>
                <a:pPr lvl="1"/>
                <a:r>
                  <a:rPr lang="zh-CN" altLang="en-US" dirty="0"/>
                  <a:t>每个</a:t>
                </a:r>
                <a:r>
                  <a:rPr lang="zh-CN" altLang="en-US" dirty="0">
                    <a:solidFill>
                      <a:srgbClr val="FF0000"/>
                    </a:solidFill>
                  </a:rPr>
                  <a:t>非终结符</a:t>
                </a:r>
                <a:r>
                  <a:rPr lang="en-US" altLang="zh-CN" dirty="0">
                    <a:solidFill>
                      <a:srgbClr val="FF0000"/>
                    </a:solidFill>
                  </a:rPr>
                  <a:t>A</a:t>
                </a:r>
                <a:r>
                  <a:rPr lang="zh-CN" altLang="en-US" dirty="0"/>
                  <a:t>的</a:t>
                </a:r>
                <a:r>
                  <a:rPr lang="zh-CN" altLang="en-US" dirty="0">
                    <a:solidFill>
                      <a:srgbClr val="FF0000"/>
                    </a:solidFill>
                  </a:rPr>
                  <a:t>产生式</a:t>
                </a:r>
                <a:r>
                  <a:rPr lang="zh-CN" altLang="en-US" dirty="0"/>
                  <a:t>的</a:t>
                </a:r>
                <a:r>
                  <a:rPr lang="zh-CN" altLang="en-US" dirty="0">
                    <a:solidFill>
                      <a:srgbClr val="FF0000"/>
                    </a:solidFill>
                  </a:rPr>
                  <a:t>选择符号集</a:t>
                </a:r>
                <a:r>
                  <a:rPr lang="zh-CN" altLang="en-US" dirty="0"/>
                  <a:t>的</a:t>
                </a:r>
                <a:r>
                  <a:rPr lang="zh-CN" altLang="en-US" dirty="0">
                    <a:solidFill>
                      <a:srgbClr val="FF0000"/>
                    </a:solidFill>
                  </a:rPr>
                  <a:t>交集</a:t>
                </a:r>
                <a:r>
                  <a:rPr lang="zh-CN" altLang="en-US" dirty="0"/>
                  <a:t>为</a:t>
                </a:r>
                <a:r>
                  <a:rPr lang="zh-CN" altLang="en-US" dirty="0">
                    <a:solidFill>
                      <a:srgbClr val="FF0000"/>
                    </a:solidFill>
                  </a:rPr>
                  <a:t>空</a:t>
                </a:r>
                <a:r>
                  <a:rPr lang="zh-CN" altLang="en-US" dirty="0"/>
                  <a:t>。</a:t>
                </a:r>
                <a:endParaRPr lang="en-US" altLang="zh-CN" dirty="0"/>
              </a:p>
              <a:p>
                <a:r>
                  <a:rPr lang="zh-CN" altLang="en-US" dirty="0"/>
                  <a:t>文法</a:t>
                </a:r>
                <a:r>
                  <a:rPr lang="en-US" altLang="zh-CN" dirty="0"/>
                  <a:t>G[S]:</a:t>
                </a:r>
              </a:p>
              <a:p>
                <a:pPr lvl="1"/>
                <a:r>
                  <a:rPr lang="en-US" altLang="zh-CN" dirty="0"/>
                  <a:t>S</a:t>
                </a:r>
                <a:r>
                  <a:rPr lang="zh-CN" altLang="en-US" dirty="0"/>
                  <a:t>→</a:t>
                </a:r>
                <a:r>
                  <a:rPr lang="en-US" altLang="zh-CN" dirty="0" err="1"/>
                  <a:t>aA</a:t>
                </a:r>
                <a:endParaRPr lang="en-US" altLang="zh-CN" dirty="0"/>
              </a:p>
              <a:p>
                <a:pPr lvl="1"/>
                <a:r>
                  <a:rPr lang="en-US" altLang="zh-CN" dirty="0"/>
                  <a:t>S</a:t>
                </a:r>
                <a:r>
                  <a:rPr lang="zh-CN" altLang="en-US" dirty="0"/>
                  <a:t>→</a:t>
                </a:r>
                <a:r>
                  <a:rPr lang="en-US" altLang="zh-CN" dirty="0"/>
                  <a:t>d</a:t>
                </a:r>
              </a:p>
              <a:p>
                <a:pPr lvl="1"/>
                <a:r>
                  <a:rPr lang="en-US" altLang="zh-CN" dirty="0"/>
                  <a:t>A</a:t>
                </a:r>
                <a:r>
                  <a:rPr lang="zh-CN" altLang="en-US" dirty="0"/>
                  <a:t>→</a:t>
                </a:r>
                <a:r>
                  <a:rPr lang="en-US" altLang="zh-CN" dirty="0" err="1"/>
                  <a:t>bAS</a:t>
                </a:r>
                <a:endParaRPr lang="en-US" altLang="zh-CN" dirty="0"/>
              </a:p>
              <a:p>
                <a:pPr lvl="1"/>
                <a:r>
                  <a:rPr lang="en-US" altLang="zh-CN" dirty="0"/>
                  <a:t>A</a:t>
                </a:r>
                <a:r>
                  <a:rPr lang="zh-CN" altLang="en-US" dirty="0"/>
                  <a:t>→</a:t>
                </a:r>
                <a14:m>
                  <m:oMath xmlns:m="http://schemas.openxmlformats.org/officeDocument/2006/math">
                    <m:r>
                      <a:rPr lang="zh-CN" altLang="en-US" i="1">
                        <a:latin typeface="Cambria Math"/>
                      </a:rPr>
                      <m:t>𝜺</m:t>
                    </m:r>
                  </m:oMath>
                </a14:m>
                <a:endParaRPr lang="en-US" altLang="zh-CN" dirty="0"/>
              </a:p>
              <a:p>
                <a:r>
                  <a:rPr lang="zh-CN" altLang="en-US" dirty="0"/>
                  <a:t>选择符号集的交集</a:t>
                </a:r>
                <a:endParaRPr lang="en-US" altLang="zh-CN" dirty="0"/>
              </a:p>
              <a:p>
                <a:pPr lvl="1"/>
                <a:r>
                  <a:rPr lang="en-US" altLang="zh-CN" sz="2000" dirty="0"/>
                  <a:t>SELECT</a:t>
                </a:r>
                <a:r>
                  <a:rPr lang="zh-CN" altLang="en-US" sz="2000" dirty="0"/>
                  <a:t>（</a:t>
                </a:r>
                <a:r>
                  <a:rPr lang="en-US" altLang="zh-CN" sz="2000" dirty="0" err="1"/>
                  <a:t>S→aA</a:t>
                </a:r>
                <a:r>
                  <a:rPr lang="zh-CN" altLang="en-US" sz="2000" dirty="0"/>
                  <a:t>）</a:t>
                </a:r>
                <a14:m>
                  <m:oMath xmlns:m="http://schemas.openxmlformats.org/officeDocument/2006/math">
                    <m:r>
                      <a:rPr lang="zh-CN" altLang="en-US" sz="2000" i="1" smtClean="0">
                        <a:latin typeface="Cambria Math"/>
                      </a:rPr>
                      <m:t>⋂</m:t>
                    </m:r>
                  </m:oMath>
                </a14:m>
                <a:r>
                  <a:rPr lang="en-US" altLang="zh-CN" sz="2000" dirty="0"/>
                  <a:t>SELECT</a:t>
                </a:r>
                <a:r>
                  <a:rPr lang="zh-CN" altLang="en-US" sz="2000" dirty="0"/>
                  <a:t>（</a:t>
                </a:r>
                <a:r>
                  <a:rPr lang="en-US" altLang="zh-CN" sz="2000" dirty="0" err="1"/>
                  <a:t>S→d</a:t>
                </a:r>
                <a:r>
                  <a:rPr lang="zh-CN" altLang="en-US" sz="2000" dirty="0"/>
                  <a:t>）</a:t>
                </a:r>
                <a:r>
                  <a:rPr lang="en-US" altLang="zh-CN" sz="2000" dirty="0"/>
                  <a:t>={a}</a:t>
                </a:r>
                <a:r>
                  <a:rPr lang="zh-CN" altLang="en-US" sz="2000" dirty="0"/>
                  <a:t> </a:t>
                </a:r>
                <a14:m>
                  <m:oMath xmlns:m="http://schemas.openxmlformats.org/officeDocument/2006/math">
                    <m:r>
                      <a:rPr lang="zh-CN" altLang="en-US" sz="2000" i="1">
                        <a:latin typeface="Cambria Math"/>
                      </a:rPr>
                      <m:t>⋂</m:t>
                    </m:r>
                  </m:oMath>
                </a14:m>
                <a:r>
                  <a:rPr lang="en-US" altLang="zh-CN" sz="2000" dirty="0"/>
                  <a:t>{d}=</a:t>
                </a:r>
                <a14:m>
                  <m:oMath xmlns:m="http://schemas.openxmlformats.org/officeDocument/2006/math">
                    <m:r>
                      <a:rPr lang="en-US" altLang="zh-CN" sz="2000" i="1" smtClean="0">
                        <a:latin typeface="Cambria Math"/>
                        <a:ea typeface="Cambria Math"/>
                      </a:rPr>
                      <m:t>∅</m:t>
                    </m:r>
                  </m:oMath>
                </a14:m>
                <a:endParaRPr lang="en-US" altLang="zh-CN" sz="2000" dirty="0"/>
              </a:p>
              <a:p>
                <a:pPr lvl="1"/>
                <a:r>
                  <a:rPr lang="en-US" altLang="zh-CN" sz="2000" dirty="0"/>
                  <a:t>SELECT</a:t>
                </a:r>
                <a:r>
                  <a:rPr lang="zh-CN" altLang="en-US" sz="2000" dirty="0"/>
                  <a:t>（</a:t>
                </a:r>
                <a:r>
                  <a:rPr lang="en-US" altLang="zh-CN" sz="2000" dirty="0" err="1"/>
                  <a:t>A→bAS</a:t>
                </a:r>
                <a:r>
                  <a:rPr lang="zh-CN" altLang="en-US" sz="2000" dirty="0"/>
                  <a:t>） </a:t>
                </a:r>
                <a14:m>
                  <m:oMath xmlns:m="http://schemas.openxmlformats.org/officeDocument/2006/math">
                    <m:r>
                      <a:rPr lang="zh-CN" altLang="en-US" sz="2000" i="1">
                        <a:latin typeface="Cambria Math"/>
                      </a:rPr>
                      <m:t>⋂</m:t>
                    </m:r>
                  </m:oMath>
                </a14:m>
                <a:r>
                  <a:rPr lang="en-US" altLang="zh-CN" sz="2000" dirty="0"/>
                  <a:t>SELECT</a:t>
                </a:r>
                <a:r>
                  <a:rPr lang="zh-CN" altLang="en-US" sz="2000" dirty="0"/>
                  <a:t>（</a:t>
                </a:r>
                <a:r>
                  <a:rPr lang="en-US" altLang="zh-CN" sz="2000" dirty="0"/>
                  <a:t>A→</a:t>
                </a:r>
                <a:r>
                  <a:rPr lang="zh-CN" altLang="en-US" sz="2000" dirty="0"/>
                  <a:t>𝜺）</a:t>
                </a:r>
                <a:r>
                  <a:rPr lang="en-US" altLang="zh-CN" sz="2000" dirty="0"/>
                  <a:t>={b}</a:t>
                </a:r>
                <a:r>
                  <a:rPr lang="zh-CN" altLang="en-US" sz="2000" dirty="0"/>
                  <a:t> </a:t>
                </a:r>
                <a14:m>
                  <m:oMath xmlns:m="http://schemas.openxmlformats.org/officeDocument/2006/math">
                    <m:r>
                      <a:rPr lang="zh-CN" altLang="en-US" sz="2000" i="1">
                        <a:latin typeface="Cambria Math"/>
                      </a:rPr>
                      <m:t>⋂</m:t>
                    </m:r>
                  </m:oMath>
                </a14:m>
                <a:r>
                  <a:rPr lang="en-US" altLang="zh-CN" sz="2000" dirty="0"/>
                  <a:t>{</a:t>
                </a:r>
                <a:r>
                  <a:rPr lang="en-US" altLang="zh-CN" sz="2000" dirty="0" err="1"/>
                  <a:t>a,d</a:t>
                </a:r>
                <a:r>
                  <a:rPr lang="en-US" altLang="zh-CN" sz="2000" dirty="0"/>
                  <a:t>,#}=</a:t>
                </a:r>
                <a:r>
                  <a:rPr lang="en-US" altLang="zh-CN" sz="2000" dirty="0">
                    <a:ea typeface="Cambria Math"/>
                  </a:rPr>
                  <a:t> </a:t>
                </a:r>
                <a14:m>
                  <m:oMath xmlns:m="http://schemas.openxmlformats.org/officeDocument/2006/math">
                    <m:r>
                      <a:rPr lang="en-US" altLang="zh-CN" sz="2000" i="1">
                        <a:latin typeface="Cambria Math"/>
                        <a:ea typeface="Cambria Math"/>
                      </a:rPr>
                      <m:t>∅</m:t>
                    </m:r>
                  </m:oMath>
                </a14:m>
                <a:endParaRPr lang="en-US" altLang="zh-CN" sz="2000" dirty="0"/>
              </a:p>
              <a:p>
                <a:pPr lvl="1"/>
                <a:endParaRPr lang="en-US" altLang="zh-CN" dirty="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t="-1549" b="-4052"/>
                </a:stretch>
              </a:blipFill>
            </p:spPr>
            <p:txBody>
              <a:bodyPr/>
              <a:lstStyle/>
              <a:p>
                <a:r>
                  <a:rPr lang="zh-CN" altLang="en-US">
                    <a:noFill/>
                  </a:rPr>
                  <a:t> </a:t>
                </a:r>
              </a:p>
            </p:txBody>
          </p:sp>
        </mc:Fallback>
      </mc:AlternateContent>
      <p:sp>
        <p:nvSpPr>
          <p:cNvPr id="4" name="TextBox 3"/>
          <p:cNvSpPr txBox="1"/>
          <p:nvPr/>
        </p:nvSpPr>
        <p:spPr>
          <a:xfrm>
            <a:off x="4572000" y="2970521"/>
            <a:ext cx="3385863" cy="523220"/>
          </a:xfrm>
          <a:prstGeom prst="rect">
            <a:avLst/>
          </a:prstGeom>
          <a:noFill/>
        </p:spPr>
        <p:txBody>
          <a:bodyPr wrap="none" rtlCol="0">
            <a:spAutoFit/>
          </a:bodyPr>
          <a:lstStyle/>
          <a:p>
            <a:r>
              <a:rPr lang="en-US" altLang="zh-CN" sz="2800" b="1" dirty="0">
                <a:solidFill>
                  <a:srgbClr val="FF0000"/>
                </a:solidFill>
              </a:rPr>
              <a:t>G[S]</a:t>
            </a:r>
            <a:r>
              <a:rPr lang="zh-CN" altLang="en-US" sz="2800" b="1" dirty="0">
                <a:solidFill>
                  <a:srgbClr val="FF0000"/>
                </a:solidFill>
              </a:rPr>
              <a:t>是</a:t>
            </a:r>
            <a:r>
              <a:rPr lang="en-US" altLang="zh-CN" sz="2800" b="1" dirty="0">
                <a:solidFill>
                  <a:srgbClr val="FF0000"/>
                </a:solidFill>
              </a:rPr>
              <a:t>LL</a:t>
            </a:r>
            <a:r>
              <a:rPr lang="zh-CN" altLang="en-US" sz="2800" b="1" dirty="0">
                <a:solidFill>
                  <a:srgbClr val="FF0000"/>
                </a:solidFill>
              </a:rPr>
              <a:t>（</a:t>
            </a:r>
            <a:r>
              <a:rPr lang="en-US" altLang="zh-CN" sz="2800" b="1" dirty="0">
                <a:solidFill>
                  <a:srgbClr val="FF0000"/>
                </a:solidFill>
              </a:rPr>
              <a:t>1</a:t>
            </a:r>
            <a:r>
              <a:rPr lang="zh-CN" altLang="en-US" sz="2800" b="1" dirty="0">
                <a:solidFill>
                  <a:srgbClr val="FF0000"/>
                </a:solidFill>
              </a:rPr>
              <a:t>）文法</a:t>
            </a:r>
          </a:p>
        </p:txBody>
      </p:sp>
      <p:sp>
        <p:nvSpPr>
          <p:cNvPr id="5" name="灯片编号占位符 4"/>
          <p:cNvSpPr>
            <a:spLocks noGrp="1"/>
          </p:cNvSpPr>
          <p:nvPr>
            <p:ph type="sldNum" sz="quarter" idx="12"/>
          </p:nvPr>
        </p:nvSpPr>
        <p:spPr/>
        <p:txBody>
          <a:bodyPr/>
          <a:lstStyle/>
          <a:p>
            <a:fld id="{1B43473F-AE3F-4D1C-9C4F-7AD3C17AC1AD}" type="slidenum">
              <a:rPr lang="zh-CN" altLang="en-US" smtClean="0">
                <a:solidFill>
                  <a:srgbClr val="3F3F3F"/>
                </a:solidFill>
              </a:rPr>
              <a:pPr/>
              <a:t>29</a:t>
            </a:fld>
            <a:endParaRPr lang="zh-CN" altLang="en-US">
              <a:solidFill>
                <a:srgbClr val="3F3F3F"/>
              </a:solidFill>
            </a:endParaRPr>
          </a:p>
        </p:txBody>
      </p:sp>
    </p:spTree>
    <p:extLst>
      <p:ext uri="{BB962C8B-B14F-4D97-AF65-F5344CB8AC3E}">
        <p14:creationId xmlns:p14="http://schemas.microsoft.com/office/powerpoint/2010/main" val="819130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en-US" altLang="zh-CN" dirty="0"/>
              <a:t>LL</a:t>
            </a:r>
            <a:r>
              <a:rPr lang="zh-CN" altLang="en-US" dirty="0"/>
              <a:t>（</a:t>
            </a:r>
            <a:r>
              <a:rPr lang="en-US" altLang="zh-CN" dirty="0"/>
              <a:t>1</a:t>
            </a:r>
            <a:r>
              <a:rPr lang="zh-CN" altLang="en-US" dirty="0"/>
              <a:t>）分析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dirty="0"/>
                  <a:t>LL(1)</a:t>
                </a:r>
                <a:r>
                  <a:rPr lang="zh-CN" altLang="en-US" dirty="0"/>
                  <a:t>举例</a:t>
                </a:r>
                <a:r>
                  <a:rPr lang="en-US" altLang="zh-CN" dirty="0"/>
                  <a:t>2</a:t>
                </a:r>
                <a:r>
                  <a:rPr lang="zh-CN" altLang="en-US" dirty="0"/>
                  <a:t>：</a:t>
                </a:r>
                <a:endParaRPr lang="en-US" altLang="zh-CN" dirty="0"/>
              </a:p>
              <a:p>
                <a:r>
                  <a:rPr lang="zh-CN" altLang="en-US" dirty="0"/>
                  <a:t>文法</a:t>
                </a:r>
                <a:r>
                  <a:rPr lang="en-US" altLang="zh-CN" dirty="0"/>
                  <a:t>G[S]:</a:t>
                </a:r>
              </a:p>
              <a:p>
                <a:pPr lvl="1"/>
                <a:r>
                  <a:rPr lang="en-US" altLang="zh-CN" dirty="0"/>
                  <a:t>S</a:t>
                </a:r>
                <a:r>
                  <a:rPr lang="zh-CN" altLang="en-US" dirty="0"/>
                  <a:t>→</a:t>
                </a:r>
                <a:r>
                  <a:rPr lang="en-US" altLang="zh-CN" dirty="0" err="1"/>
                  <a:t>aAS</a:t>
                </a:r>
                <a:endParaRPr lang="en-US" altLang="zh-CN" dirty="0"/>
              </a:p>
              <a:p>
                <a:pPr lvl="1"/>
                <a:r>
                  <a:rPr lang="en-US" altLang="zh-CN" dirty="0"/>
                  <a:t>S</a:t>
                </a:r>
                <a:r>
                  <a:rPr lang="zh-CN" altLang="en-US" dirty="0"/>
                  <a:t>→</a:t>
                </a:r>
                <a:r>
                  <a:rPr lang="en-US" altLang="zh-CN" dirty="0"/>
                  <a:t>b</a:t>
                </a:r>
              </a:p>
              <a:p>
                <a:pPr lvl="1"/>
                <a:r>
                  <a:rPr lang="en-US" altLang="zh-CN" dirty="0"/>
                  <a:t>A</a:t>
                </a:r>
                <a:r>
                  <a:rPr lang="zh-CN" altLang="en-US" dirty="0"/>
                  <a:t>→</a:t>
                </a:r>
                <a:r>
                  <a:rPr lang="en-US" altLang="zh-CN" dirty="0" err="1"/>
                  <a:t>bA</a:t>
                </a:r>
                <a:endParaRPr lang="en-US" altLang="zh-CN" dirty="0"/>
              </a:p>
              <a:p>
                <a:pPr lvl="1"/>
                <a:r>
                  <a:rPr lang="en-US" altLang="zh-CN" dirty="0"/>
                  <a:t>A</a:t>
                </a:r>
                <a:r>
                  <a:rPr lang="zh-CN" altLang="en-US" dirty="0"/>
                  <a:t>→</a:t>
                </a:r>
                <a14:m>
                  <m:oMath xmlns:m="http://schemas.openxmlformats.org/officeDocument/2006/math">
                    <m:r>
                      <a:rPr lang="zh-CN" altLang="en-US" i="1">
                        <a:latin typeface="Cambria Math"/>
                      </a:rPr>
                      <m:t>𝜺</m:t>
                    </m:r>
                  </m:oMath>
                </a14:m>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t="-1549"/>
                </a:stretch>
              </a:blipFill>
            </p:spPr>
            <p:txBody>
              <a:bodyPr/>
              <a:lstStyle/>
              <a:p>
                <a:r>
                  <a:rPr lang="zh-CN" altLang="en-US">
                    <a:noFill/>
                  </a:rPr>
                  <a:t> </a:t>
                </a:r>
              </a:p>
            </p:txBody>
          </p:sp>
        </mc:Fallback>
      </mc:AlternateContent>
      <p:sp>
        <p:nvSpPr>
          <p:cNvPr id="4" name="TextBox 3"/>
          <p:cNvSpPr txBox="1"/>
          <p:nvPr/>
        </p:nvSpPr>
        <p:spPr>
          <a:xfrm>
            <a:off x="3131822" y="1268733"/>
            <a:ext cx="4852610" cy="523220"/>
          </a:xfrm>
          <a:prstGeom prst="rect">
            <a:avLst/>
          </a:prstGeom>
          <a:noFill/>
        </p:spPr>
        <p:txBody>
          <a:bodyPr wrap="none" rtlCol="0">
            <a:spAutoFit/>
          </a:bodyPr>
          <a:lstStyle/>
          <a:p>
            <a:r>
              <a:rPr lang="zh-CN" altLang="en-US" sz="2800" dirty="0">
                <a:solidFill>
                  <a:srgbClr val="0000FF"/>
                </a:solidFill>
              </a:rPr>
              <a:t>求每个产生式的选择符号集：</a:t>
            </a:r>
          </a:p>
        </p:txBody>
      </p:sp>
      <p:sp>
        <p:nvSpPr>
          <p:cNvPr id="5" name="TextBox 4"/>
          <p:cNvSpPr txBox="1"/>
          <p:nvPr/>
        </p:nvSpPr>
        <p:spPr>
          <a:xfrm>
            <a:off x="3131822" y="1988822"/>
            <a:ext cx="5760712" cy="523220"/>
          </a:xfrm>
          <a:prstGeom prst="rect">
            <a:avLst/>
          </a:prstGeom>
          <a:noFill/>
        </p:spPr>
        <p:txBody>
          <a:bodyPr wrap="square" rtlCol="0">
            <a:spAutoFit/>
          </a:bodyPr>
          <a:lstStyle/>
          <a:p>
            <a:r>
              <a:rPr lang="en-US" altLang="zh-CN" sz="2800" dirty="0">
                <a:solidFill>
                  <a:srgbClr val="0000FF"/>
                </a:solidFill>
              </a:rPr>
              <a:t>SELECT</a:t>
            </a:r>
            <a:r>
              <a:rPr lang="zh-CN" altLang="en-US" sz="2800" dirty="0">
                <a:solidFill>
                  <a:srgbClr val="0000FF"/>
                </a:solidFill>
              </a:rPr>
              <a:t>（</a:t>
            </a:r>
            <a:r>
              <a:rPr lang="en-US" altLang="zh-CN" sz="2800" dirty="0" err="1">
                <a:solidFill>
                  <a:srgbClr val="0000FF"/>
                </a:solidFill>
              </a:rPr>
              <a:t>S→aAS</a:t>
            </a:r>
            <a:r>
              <a:rPr lang="zh-CN" altLang="en-US" sz="2800" dirty="0">
                <a:solidFill>
                  <a:srgbClr val="0000FF"/>
                </a:solidFill>
              </a:rPr>
              <a:t>）</a:t>
            </a:r>
            <a:r>
              <a:rPr lang="en-US" altLang="zh-CN" sz="2800" dirty="0">
                <a:solidFill>
                  <a:srgbClr val="0000FF"/>
                </a:solidFill>
              </a:rPr>
              <a:t>={a}</a:t>
            </a:r>
            <a:endParaRPr lang="zh-CN" altLang="en-US" sz="2800" dirty="0">
              <a:solidFill>
                <a:srgbClr val="0000FF"/>
              </a:solidFill>
            </a:endParaRPr>
          </a:p>
        </p:txBody>
      </p:sp>
      <p:sp>
        <p:nvSpPr>
          <p:cNvPr id="6" name="TextBox 5"/>
          <p:cNvSpPr txBox="1"/>
          <p:nvPr/>
        </p:nvSpPr>
        <p:spPr>
          <a:xfrm>
            <a:off x="3189574" y="2681937"/>
            <a:ext cx="5760712" cy="523220"/>
          </a:xfrm>
          <a:prstGeom prst="rect">
            <a:avLst/>
          </a:prstGeom>
          <a:noFill/>
        </p:spPr>
        <p:txBody>
          <a:bodyPr wrap="square" rtlCol="0">
            <a:spAutoFit/>
          </a:bodyPr>
          <a:lstStyle/>
          <a:p>
            <a:r>
              <a:rPr lang="en-US" altLang="zh-CN" sz="2800" dirty="0">
                <a:solidFill>
                  <a:srgbClr val="0000FF"/>
                </a:solidFill>
              </a:rPr>
              <a:t>SELECT</a:t>
            </a:r>
            <a:r>
              <a:rPr lang="zh-CN" altLang="en-US" sz="2800" dirty="0">
                <a:solidFill>
                  <a:srgbClr val="0000FF"/>
                </a:solidFill>
              </a:rPr>
              <a:t>（</a:t>
            </a:r>
            <a:r>
              <a:rPr lang="en-US" altLang="zh-CN" sz="2800" dirty="0" err="1">
                <a:solidFill>
                  <a:srgbClr val="0000FF"/>
                </a:solidFill>
              </a:rPr>
              <a:t>S→b</a:t>
            </a:r>
            <a:r>
              <a:rPr lang="zh-CN" altLang="en-US" sz="2800" dirty="0">
                <a:solidFill>
                  <a:srgbClr val="0000FF"/>
                </a:solidFill>
              </a:rPr>
              <a:t>）</a:t>
            </a:r>
            <a:r>
              <a:rPr lang="en-US" altLang="zh-CN" sz="2800" dirty="0">
                <a:solidFill>
                  <a:srgbClr val="0000FF"/>
                </a:solidFill>
              </a:rPr>
              <a:t>={b}</a:t>
            </a:r>
            <a:endParaRPr lang="zh-CN" altLang="en-US" sz="2800" dirty="0">
              <a:solidFill>
                <a:srgbClr val="0000FF"/>
              </a:solidFill>
            </a:endParaRPr>
          </a:p>
        </p:txBody>
      </p:sp>
      <p:sp>
        <p:nvSpPr>
          <p:cNvPr id="7" name="TextBox 6"/>
          <p:cNvSpPr txBox="1"/>
          <p:nvPr/>
        </p:nvSpPr>
        <p:spPr>
          <a:xfrm>
            <a:off x="3137836" y="3429000"/>
            <a:ext cx="5760712" cy="523220"/>
          </a:xfrm>
          <a:prstGeom prst="rect">
            <a:avLst/>
          </a:prstGeom>
          <a:noFill/>
        </p:spPr>
        <p:txBody>
          <a:bodyPr wrap="square" rtlCol="0">
            <a:spAutoFit/>
          </a:bodyPr>
          <a:lstStyle/>
          <a:p>
            <a:r>
              <a:rPr lang="en-US" altLang="zh-CN" sz="2800" dirty="0">
                <a:solidFill>
                  <a:srgbClr val="0000FF"/>
                </a:solidFill>
              </a:rPr>
              <a:t>SELECT</a:t>
            </a:r>
            <a:r>
              <a:rPr lang="zh-CN" altLang="en-US" sz="2800" dirty="0">
                <a:solidFill>
                  <a:srgbClr val="0000FF"/>
                </a:solidFill>
              </a:rPr>
              <a:t>（</a:t>
            </a:r>
            <a:r>
              <a:rPr lang="en-US" altLang="zh-CN" sz="2800" dirty="0" err="1">
                <a:solidFill>
                  <a:srgbClr val="0000FF"/>
                </a:solidFill>
              </a:rPr>
              <a:t>A→bA</a:t>
            </a:r>
            <a:r>
              <a:rPr lang="zh-CN" altLang="en-US" sz="2800" dirty="0">
                <a:solidFill>
                  <a:srgbClr val="0000FF"/>
                </a:solidFill>
              </a:rPr>
              <a:t>）</a:t>
            </a:r>
            <a:r>
              <a:rPr lang="en-US" altLang="zh-CN" sz="2800" dirty="0">
                <a:solidFill>
                  <a:srgbClr val="0000FF"/>
                </a:solidFill>
              </a:rPr>
              <a:t>={b}</a:t>
            </a:r>
            <a:endParaRPr lang="zh-CN" altLang="en-US" sz="2800" dirty="0">
              <a:solidFill>
                <a:srgbClr val="0000FF"/>
              </a:solidFill>
            </a:endParaRPr>
          </a:p>
        </p:txBody>
      </p:sp>
      <p:sp>
        <p:nvSpPr>
          <p:cNvPr id="8" name="TextBox 7"/>
          <p:cNvSpPr txBox="1"/>
          <p:nvPr/>
        </p:nvSpPr>
        <p:spPr>
          <a:xfrm>
            <a:off x="3137836" y="4149089"/>
            <a:ext cx="5760712" cy="954107"/>
          </a:xfrm>
          <a:prstGeom prst="rect">
            <a:avLst/>
          </a:prstGeom>
          <a:noFill/>
        </p:spPr>
        <p:txBody>
          <a:bodyPr wrap="square" rtlCol="0">
            <a:spAutoFit/>
          </a:bodyPr>
          <a:lstStyle/>
          <a:p>
            <a:r>
              <a:rPr lang="en-US" altLang="zh-CN" sz="2800" dirty="0">
                <a:solidFill>
                  <a:srgbClr val="0000FF"/>
                </a:solidFill>
              </a:rPr>
              <a:t>SELECT</a:t>
            </a:r>
            <a:r>
              <a:rPr lang="zh-CN" altLang="en-US" sz="2800" dirty="0">
                <a:solidFill>
                  <a:srgbClr val="0000FF"/>
                </a:solidFill>
              </a:rPr>
              <a:t>（</a:t>
            </a:r>
            <a:r>
              <a:rPr lang="en-US" altLang="zh-CN" sz="2800" dirty="0">
                <a:solidFill>
                  <a:srgbClr val="0000FF"/>
                </a:solidFill>
              </a:rPr>
              <a:t>A→</a:t>
            </a:r>
            <a:r>
              <a:rPr lang="zh-CN" altLang="en-US" sz="2800" dirty="0">
                <a:solidFill>
                  <a:srgbClr val="0000FF"/>
                </a:solidFill>
              </a:rPr>
              <a:t>𝜺）</a:t>
            </a:r>
            <a:r>
              <a:rPr lang="en-US" altLang="zh-CN" sz="2800" dirty="0">
                <a:solidFill>
                  <a:srgbClr val="0000FF"/>
                </a:solidFill>
              </a:rPr>
              <a:t>={</a:t>
            </a:r>
            <a:r>
              <a:rPr lang="en-US" altLang="zh-CN" sz="2800" dirty="0" err="1">
                <a:solidFill>
                  <a:srgbClr val="0000FF"/>
                </a:solidFill>
              </a:rPr>
              <a:t>a,b</a:t>
            </a:r>
            <a:r>
              <a:rPr lang="en-US" altLang="zh-CN" sz="2800" dirty="0">
                <a:solidFill>
                  <a:srgbClr val="0000FF"/>
                </a:solidFill>
              </a:rPr>
              <a:t>},</a:t>
            </a:r>
            <a:r>
              <a:rPr lang="zh-CN" altLang="en-US" sz="2800" dirty="0">
                <a:solidFill>
                  <a:srgbClr val="0000FF"/>
                </a:solidFill>
              </a:rPr>
              <a:t>为什么没有</a:t>
            </a:r>
            <a:r>
              <a:rPr lang="en-US" altLang="zh-CN" sz="2800" dirty="0">
                <a:solidFill>
                  <a:srgbClr val="0000FF"/>
                </a:solidFill>
              </a:rPr>
              <a:t>#</a:t>
            </a:r>
            <a:r>
              <a:rPr lang="zh-CN" altLang="en-US" sz="2800" dirty="0">
                <a:solidFill>
                  <a:srgbClr val="0000FF"/>
                </a:solidFill>
              </a:rPr>
              <a:t>？</a:t>
            </a:r>
            <a:r>
              <a:rPr lang="en-US" altLang="zh-CN" sz="2800" dirty="0">
                <a:solidFill>
                  <a:srgbClr val="0000FF"/>
                </a:solidFill>
              </a:rPr>
              <a:t>S-&gt;</a:t>
            </a:r>
            <a:r>
              <a:rPr lang="en-US" altLang="zh-CN" sz="2800" dirty="0" err="1">
                <a:solidFill>
                  <a:srgbClr val="0000FF"/>
                </a:solidFill>
              </a:rPr>
              <a:t>aAS</a:t>
            </a:r>
            <a:r>
              <a:rPr lang="en-US" altLang="zh-CN" sz="2800" dirty="0">
                <a:solidFill>
                  <a:srgbClr val="0000FF"/>
                </a:solidFill>
              </a:rPr>
              <a:t>(S</a:t>
            </a:r>
            <a:r>
              <a:rPr lang="zh-CN" altLang="en-US" sz="2800" b="1" dirty="0">
                <a:solidFill>
                  <a:srgbClr val="0000FF"/>
                </a:solidFill>
              </a:rPr>
              <a:t>不为空</a:t>
            </a:r>
            <a:r>
              <a:rPr lang="en-US" altLang="zh-CN" sz="2800" dirty="0">
                <a:solidFill>
                  <a:srgbClr val="0000FF"/>
                </a:solidFill>
              </a:rPr>
              <a:t>)</a:t>
            </a:r>
            <a:endParaRPr lang="zh-CN" altLang="en-US" sz="2800" dirty="0">
              <a:solidFill>
                <a:srgbClr val="0000FF"/>
              </a:solidFill>
            </a:endParaRPr>
          </a:p>
        </p:txBody>
      </p:sp>
      <mc:AlternateContent xmlns:mc="http://schemas.openxmlformats.org/markup-compatibility/2006" xmlns:a14="http://schemas.microsoft.com/office/drawing/2010/main">
        <mc:Choice Requires="a14">
          <p:sp>
            <p:nvSpPr>
              <p:cNvPr id="9" name="矩形 8"/>
              <p:cNvSpPr/>
              <p:nvPr/>
            </p:nvSpPr>
            <p:spPr>
              <a:xfrm>
                <a:off x="588022" y="4869178"/>
                <a:ext cx="8362264" cy="1815882"/>
              </a:xfrm>
              <a:prstGeom prst="rect">
                <a:avLst/>
              </a:prstGeom>
            </p:spPr>
            <p:txBody>
              <a:bodyPr wrap="square">
                <a:spAutoFit/>
              </a:bodyPr>
              <a:lstStyle/>
              <a:p>
                <a:r>
                  <a:rPr lang="zh-CN" altLang="en-US" sz="2800" dirty="0"/>
                  <a:t>如果</a:t>
                </a:r>
                <a14:m>
                  <m:oMath xmlns:m="http://schemas.openxmlformats.org/officeDocument/2006/math">
                    <m:r>
                      <a:rPr lang="zh-CN" altLang="en-US" sz="2800" i="1">
                        <a:latin typeface="Cambria Math"/>
                      </a:rPr>
                      <m:t>𝛂</m:t>
                    </m:r>
                    <m:r>
                      <a:rPr lang="zh-CN" altLang="en-US" sz="2800" i="1">
                        <a:latin typeface="Cambria Math"/>
                      </a:rPr>
                      <m:t>⇏</m:t>
                    </m:r>
                    <m:r>
                      <a:rPr lang="zh-CN" altLang="en-US" sz="2800" i="1">
                        <a:latin typeface="Cambria Math"/>
                      </a:rPr>
                      <m:t>𝜺</m:t>
                    </m:r>
                  </m:oMath>
                </a14:m>
                <a:r>
                  <a:rPr lang="zh-CN" altLang="en-US" sz="2800" baseline="-25000" dirty="0"/>
                  <a:t>，</a:t>
                </a:r>
                <a:r>
                  <a:rPr lang="zh-CN" altLang="en-US" sz="2800" dirty="0"/>
                  <a:t>则</a:t>
                </a:r>
                <a:endParaRPr lang="en-US" altLang="zh-CN" sz="2800" dirty="0"/>
              </a:p>
              <a:p>
                <a:pPr lvl="1"/>
                <a:r>
                  <a:rPr lang="en-US" altLang="zh-CN" sz="2800" dirty="0">
                    <a:solidFill>
                      <a:srgbClr val="FF0000"/>
                    </a:solidFill>
                  </a:rPr>
                  <a:t>SELECT</a:t>
                </a:r>
                <a:r>
                  <a:rPr lang="zh-CN" altLang="en-US" sz="2800" dirty="0">
                    <a:solidFill>
                      <a:srgbClr val="FF0000"/>
                    </a:solidFill>
                  </a:rPr>
                  <a:t>（</a:t>
                </a:r>
                <a:r>
                  <a:rPr lang="en-US" altLang="zh-CN" sz="2800" dirty="0">
                    <a:solidFill>
                      <a:srgbClr val="FF0000"/>
                    </a:solidFill>
                  </a:rPr>
                  <a:t>A</a:t>
                </a:r>
                <a:r>
                  <a:rPr lang="zh-CN" altLang="en-US" sz="2800" dirty="0">
                    <a:solidFill>
                      <a:srgbClr val="FF0000"/>
                    </a:solidFill>
                  </a:rPr>
                  <a:t>→</a:t>
                </a:r>
                <a:r>
                  <a:rPr lang="el-GR" altLang="zh-CN" sz="2800" dirty="0">
                    <a:solidFill>
                      <a:srgbClr val="FF0000"/>
                    </a:solidFill>
                  </a:rPr>
                  <a:t> α </a:t>
                </a:r>
                <a:r>
                  <a:rPr lang="zh-CN" altLang="en-US" sz="2800" dirty="0">
                    <a:solidFill>
                      <a:srgbClr val="FF0000"/>
                    </a:solidFill>
                  </a:rPr>
                  <a:t>）</a:t>
                </a:r>
                <a:r>
                  <a:rPr lang="en-US" altLang="zh-CN" sz="2800" dirty="0"/>
                  <a:t>=FIRST(</a:t>
                </a:r>
                <a:r>
                  <a:rPr lang="el-GR" altLang="zh-CN" sz="2800" dirty="0"/>
                  <a:t>α</a:t>
                </a:r>
                <a:r>
                  <a:rPr lang="en-US" altLang="zh-CN" sz="2800" dirty="0"/>
                  <a:t>)</a:t>
                </a:r>
                <a:r>
                  <a:rPr lang="zh-CN" altLang="en-US" sz="2800" dirty="0"/>
                  <a:t>。</a:t>
                </a:r>
                <a:endParaRPr lang="en-US" altLang="zh-CN" sz="2800" dirty="0"/>
              </a:p>
              <a:p>
                <a:r>
                  <a:rPr lang="zh-CN" altLang="en-US" sz="2800" dirty="0"/>
                  <a:t>如果</a:t>
                </a:r>
                <a:r>
                  <a:rPr lang="el-GR" altLang="zh-CN" sz="2800" dirty="0"/>
                  <a:t>α</a:t>
                </a:r>
                <a14:m>
                  <m:oMath xmlns:m="http://schemas.openxmlformats.org/officeDocument/2006/math">
                    <m:r>
                      <m:rPr>
                        <m:nor/>
                      </m:rPr>
                      <a:rPr lang="el-GR" altLang="zh-CN" sz="2800">
                        <a:latin typeface="Cambria Math"/>
                        <a:ea typeface="Cambria Math"/>
                      </a:rPr>
                      <m:t>⇒</m:t>
                    </m:r>
                  </m:oMath>
                </a14:m>
                <a:r>
                  <a:rPr lang="zh-CN" altLang="en-US" sz="2800" dirty="0"/>
                  <a:t>*</a:t>
                </a:r>
                <a14:m>
                  <m:oMath xmlns:m="http://schemas.openxmlformats.org/officeDocument/2006/math">
                    <m:r>
                      <a:rPr lang="zh-CN" altLang="en-US" sz="2800" i="1">
                        <a:latin typeface="Cambria Math"/>
                      </a:rPr>
                      <m:t>𝜺</m:t>
                    </m:r>
                  </m:oMath>
                </a14:m>
                <a:r>
                  <a:rPr lang="zh-CN" altLang="en-US" sz="2800" dirty="0"/>
                  <a:t>，则</a:t>
                </a:r>
                <a:endParaRPr lang="en-US" altLang="zh-CN" sz="2800" dirty="0"/>
              </a:p>
              <a:p>
                <a:pPr lvl="1"/>
                <a:r>
                  <a:rPr lang="en-US" altLang="zh-CN" sz="2800" dirty="0">
                    <a:solidFill>
                      <a:srgbClr val="FF0000"/>
                    </a:solidFill>
                  </a:rPr>
                  <a:t>SELECT(A</a:t>
                </a:r>
                <a:r>
                  <a:rPr lang="zh-CN" altLang="en-US" sz="2800" dirty="0">
                    <a:solidFill>
                      <a:srgbClr val="FF0000"/>
                    </a:solidFill>
                  </a:rPr>
                  <a:t>→</a:t>
                </a:r>
                <a:r>
                  <a:rPr lang="el-GR" altLang="zh-CN" sz="2800" dirty="0">
                    <a:solidFill>
                      <a:srgbClr val="FF0000"/>
                    </a:solidFill>
                  </a:rPr>
                  <a:t> α </a:t>
                </a:r>
                <a:r>
                  <a:rPr lang="en-US" altLang="zh-CN" sz="2800" dirty="0">
                    <a:solidFill>
                      <a:srgbClr val="FF0000"/>
                    </a:solidFill>
                  </a:rPr>
                  <a:t>)</a:t>
                </a:r>
                <a:r>
                  <a:rPr lang="en-US" altLang="zh-CN" sz="2800" dirty="0"/>
                  <a:t>= (FIRST(</a:t>
                </a:r>
                <a:r>
                  <a:rPr lang="el-GR" altLang="zh-CN" sz="2800" dirty="0"/>
                  <a:t>α</a:t>
                </a:r>
                <a:r>
                  <a:rPr lang="en-US" altLang="zh-CN" sz="2800" dirty="0"/>
                  <a:t>)-{</a:t>
                </a:r>
                <a14:m>
                  <m:oMath xmlns:m="http://schemas.openxmlformats.org/officeDocument/2006/math">
                    <m:r>
                      <a:rPr lang="zh-CN" altLang="en-US" sz="2800" i="1">
                        <a:latin typeface="Cambria Math"/>
                      </a:rPr>
                      <m:t>𝜺</m:t>
                    </m:r>
                  </m:oMath>
                </a14:m>
                <a:r>
                  <a:rPr lang="en-US" altLang="zh-CN" sz="2800" dirty="0"/>
                  <a:t>})</a:t>
                </a:r>
                <a14:m>
                  <m:oMath xmlns:m="http://schemas.openxmlformats.org/officeDocument/2006/math">
                    <m:r>
                      <a:rPr lang="en-US" altLang="zh-CN" sz="2800" i="1" dirty="0">
                        <a:latin typeface="Cambria Math"/>
                        <a:ea typeface="Cambria Math"/>
                      </a:rPr>
                      <m:t>⋃</m:t>
                    </m:r>
                  </m:oMath>
                </a14:m>
                <a:r>
                  <a:rPr lang="en-US" altLang="zh-CN" sz="2800" dirty="0"/>
                  <a:t>FOLLOW(A)</a:t>
                </a:r>
                <a:r>
                  <a:rPr lang="zh-CN" altLang="en-US" sz="2800" dirty="0"/>
                  <a:t>。</a:t>
                </a:r>
                <a:endParaRPr lang="en-US" altLang="zh-CN" sz="2800" dirty="0"/>
              </a:p>
            </p:txBody>
          </p:sp>
        </mc:Choice>
        <mc:Fallback xmlns="">
          <p:sp>
            <p:nvSpPr>
              <p:cNvPr id="9" name="矩形 8"/>
              <p:cNvSpPr>
                <a:spLocks noRot="1" noChangeAspect="1" noMove="1" noResize="1" noEditPoints="1" noAdjustHandles="1" noChangeArrowheads="1" noChangeShapeType="1" noTextEdit="1"/>
              </p:cNvSpPr>
              <p:nvPr/>
            </p:nvSpPr>
            <p:spPr>
              <a:xfrm>
                <a:off x="588022" y="4869178"/>
                <a:ext cx="8362264" cy="1815882"/>
              </a:xfrm>
              <a:prstGeom prst="rect">
                <a:avLst/>
              </a:prstGeom>
              <a:blipFill rotWithShape="1">
                <a:blip r:embed="rId3"/>
                <a:stretch>
                  <a:fillRect l="-1458" t="-4362" r="-5685" b="-8389"/>
                </a:stretch>
              </a:blipFill>
            </p:spPr>
            <p:txBody>
              <a:bodyPr/>
              <a:lstStyle/>
              <a:p>
                <a:r>
                  <a:rPr lang="zh-CN" altLang="en-US">
                    <a:noFill/>
                  </a:rPr>
                  <a:t> </a:t>
                </a:r>
              </a:p>
            </p:txBody>
          </p:sp>
        </mc:Fallback>
      </mc:AlternateContent>
      <p:sp>
        <p:nvSpPr>
          <p:cNvPr id="10" name="灯片编号占位符 9"/>
          <p:cNvSpPr>
            <a:spLocks noGrp="1"/>
          </p:cNvSpPr>
          <p:nvPr>
            <p:ph type="sldNum" sz="quarter" idx="12"/>
          </p:nvPr>
        </p:nvSpPr>
        <p:spPr/>
        <p:txBody>
          <a:bodyPr/>
          <a:lstStyle/>
          <a:p>
            <a:fld id="{1B43473F-AE3F-4D1C-9C4F-7AD3C17AC1AD}" type="slidenum">
              <a:rPr lang="zh-CN" altLang="en-US" smtClean="0">
                <a:solidFill>
                  <a:srgbClr val="3F3F3F"/>
                </a:solidFill>
              </a:rPr>
              <a:pPr/>
              <a:t>30</a:t>
            </a:fld>
            <a:endParaRPr lang="zh-CN" altLang="en-US">
              <a:solidFill>
                <a:srgbClr val="3F3F3F"/>
              </a:solidFill>
            </a:endParaRPr>
          </a:p>
        </p:txBody>
      </p:sp>
    </p:spTree>
    <p:extLst>
      <p:ext uri="{BB962C8B-B14F-4D97-AF65-F5344CB8AC3E}">
        <p14:creationId xmlns:p14="http://schemas.microsoft.com/office/powerpoint/2010/main" val="1127454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en-US" altLang="zh-CN" dirty="0"/>
              <a:t>LL</a:t>
            </a:r>
            <a:r>
              <a:rPr lang="zh-CN" altLang="en-US" dirty="0"/>
              <a:t>（</a:t>
            </a:r>
            <a:r>
              <a:rPr lang="en-US" altLang="zh-CN" dirty="0"/>
              <a:t>1</a:t>
            </a:r>
            <a:r>
              <a:rPr lang="zh-CN" altLang="en-US" dirty="0"/>
              <a:t>）分析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判断文法</a:t>
                </a:r>
                <a:r>
                  <a:rPr lang="en-US" altLang="zh-CN" dirty="0"/>
                  <a:t>G[S]</a:t>
                </a:r>
                <a:r>
                  <a:rPr lang="zh-CN" altLang="en-US" dirty="0"/>
                  <a:t>是否是</a:t>
                </a:r>
                <a:r>
                  <a:rPr lang="en-US" altLang="zh-CN" dirty="0"/>
                  <a:t>LL</a:t>
                </a:r>
                <a:r>
                  <a:rPr lang="zh-CN" altLang="en-US" dirty="0"/>
                  <a:t>（</a:t>
                </a:r>
                <a:r>
                  <a:rPr lang="en-US" altLang="zh-CN" dirty="0"/>
                  <a:t>1</a:t>
                </a:r>
                <a:r>
                  <a:rPr lang="zh-CN" altLang="en-US" dirty="0"/>
                  <a:t>）文法：</a:t>
                </a:r>
                <a:endParaRPr lang="en-US" altLang="zh-CN" dirty="0"/>
              </a:p>
              <a:p>
                <a:pPr lvl="1"/>
                <a:r>
                  <a:rPr lang="zh-CN" altLang="en-US" dirty="0"/>
                  <a:t>每个</a:t>
                </a:r>
                <a:r>
                  <a:rPr lang="zh-CN" altLang="en-US" dirty="0">
                    <a:solidFill>
                      <a:srgbClr val="FF0000"/>
                    </a:solidFill>
                  </a:rPr>
                  <a:t>非终结符</a:t>
                </a:r>
                <a:r>
                  <a:rPr lang="en-US" altLang="zh-CN" dirty="0">
                    <a:solidFill>
                      <a:srgbClr val="FF0000"/>
                    </a:solidFill>
                  </a:rPr>
                  <a:t>A</a:t>
                </a:r>
                <a:r>
                  <a:rPr lang="zh-CN" altLang="en-US" dirty="0"/>
                  <a:t>的</a:t>
                </a:r>
                <a:r>
                  <a:rPr lang="zh-CN" altLang="en-US" dirty="0">
                    <a:solidFill>
                      <a:srgbClr val="FF0000"/>
                    </a:solidFill>
                  </a:rPr>
                  <a:t>产生式</a:t>
                </a:r>
                <a:r>
                  <a:rPr lang="zh-CN" altLang="en-US" dirty="0"/>
                  <a:t>的</a:t>
                </a:r>
                <a:r>
                  <a:rPr lang="zh-CN" altLang="en-US" dirty="0">
                    <a:solidFill>
                      <a:srgbClr val="FF0000"/>
                    </a:solidFill>
                  </a:rPr>
                  <a:t>选择符号集</a:t>
                </a:r>
                <a:r>
                  <a:rPr lang="zh-CN" altLang="en-US" dirty="0"/>
                  <a:t>的</a:t>
                </a:r>
                <a:r>
                  <a:rPr lang="zh-CN" altLang="en-US" dirty="0">
                    <a:solidFill>
                      <a:srgbClr val="FF0000"/>
                    </a:solidFill>
                  </a:rPr>
                  <a:t>交集</a:t>
                </a:r>
                <a:r>
                  <a:rPr lang="zh-CN" altLang="en-US" dirty="0"/>
                  <a:t>为</a:t>
                </a:r>
                <a:r>
                  <a:rPr lang="zh-CN" altLang="en-US" dirty="0">
                    <a:solidFill>
                      <a:srgbClr val="FF0000"/>
                    </a:solidFill>
                  </a:rPr>
                  <a:t>空</a:t>
                </a:r>
                <a:r>
                  <a:rPr lang="zh-CN" altLang="en-US" dirty="0"/>
                  <a:t>。</a:t>
                </a:r>
                <a:endParaRPr lang="en-US" altLang="zh-CN" dirty="0"/>
              </a:p>
              <a:p>
                <a:r>
                  <a:rPr lang="zh-CN" altLang="en-US" dirty="0"/>
                  <a:t>文法</a:t>
                </a:r>
                <a:r>
                  <a:rPr lang="en-US" altLang="zh-CN" dirty="0"/>
                  <a:t>G[S]:</a:t>
                </a:r>
              </a:p>
              <a:p>
                <a:pPr lvl="1"/>
                <a:r>
                  <a:rPr lang="en-US" altLang="zh-CN" dirty="0"/>
                  <a:t>S</a:t>
                </a:r>
                <a:r>
                  <a:rPr lang="zh-CN" altLang="en-US" dirty="0"/>
                  <a:t>→</a:t>
                </a:r>
                <a:r>
                  <a:rPr lang="en-US" altLang="zh-CN" dirty="0" err="1"/>
                  <a:t>aAS</a:t>
                </a:r>
                <a:endParaRPr lang="en-US" altLang="zh-CN" dirty="0"/>
              </a:p>
              <a:p>
                <a:pPr lvl="1"/>
                <a:r>
                  <a:rPr lang="en-US" altLang="zh-CN" dirty="0"/>
                  <a:t>S</a:t>
                </a:r>
                <a:r>
                  <a:rPr lang="zh-CN" altLang="en-US" dirty="0"/>
                  <a:t>→</a:t>
                </a:r>
                <a:r>
                  <a:rPr lang="en-US" altLang="zh-CN" dirty="0"/>
                  <a:t>b</a:t>
                </a:r>
              </a:p>
              <a:p>
                <a:pPr lvl="1"/>
                <a:r>
                  <a:rPr lang="en-US" altLang="zh-CN" dirty="0"/>
                  <a:t>A</a:t>
                </a:r>
                <a:r>
                  <a:rPr lang="zh-CN" altLang="en-US" dirty="0"/>
                  <a:t>→</a:t>
                </a:r>
                <a:r>
                  <a:rPr lang="en-US" altLang="zh-CN" dirty="0" err="1"/>
                  <a:t>bA</a:t>
                </a:r>
                <a:endParaRPr lang="en-US" altLang="zh-CN" dirty="0"/>
              </a:p>
              <a:p>
                <a:pPr lvl="1"/>
                <a:r>
                  <a:rPr lang="en-US" altLang="zh-CN" dirty="0"/>
                  <a:t>A</a:t>
                </a:r>
                <a:r>
                  <a:rPr lang="zh-CN" altLang="en-US" dirty="0"/>
                  <a:t>→</a:t>
                </a:r>
                <a14:m>
                  <m:oMath xmlns:m="http://schemas.openxmlformats.org/officeDocument/2006/math">
                    <m:r>
                      <a:rPr lang="zh-CN" altLang="en-US" i="1">
                        <a:latin typeface="Cambria Math"/>
                      </a:rPr>
                      <m:t>𝜺</m:t>
                    </m:r>
                  </m:oMath>
                </a14:m>
                <a:endParaRPr lang="en-US" altLang="zh-CN" dirty="0"/>
              </a:p>
              <a:p>
                <a:r>
                  <a:rPr lang="zh-CN" altLang="en-US" dirty="0"/>
                  <a:t>选择符号集的交集</a:t>
                </a:r>
                <a:endParaRPr lang="en-US" altLang="zh-CN" dirty="0"/>
              </a:p>
              <a:p>
                <a:pPr lvl="1"/>
                <a:r>
                  <a:rPr lang="en-US" altLang="zh-CN" sz="2000" dirty="0"/>
                  <a:t>SELECT</a:t>
                </a:r>
                <a:r>
                  <a:rPr lang="zh-CN" altLang="en-US" sz="2000" dirty="0"/>
                  <a:t>（</a:t>
                </a:r>
                <a:r>
                  <a:rPr lang="en-US" altLang="zh-CN" sz="2000" dirty="0" err="1"/>
                  <a:t>S→aAS</a:t>
                </a:r>
                <a:r>
                  <a:rPr lang="zh-CN" altLang="en-US" sz="2000" dirty="0"/>
                  <a:t>）</a:t>
                </a:r>
                <a14:m>
                  <m:oMath xmlns:m="http://schemas.openxmlformats.org/officeDocument/2006/math">
                    <m:r>
                      <a:rPr lang="zh-CN" altLang="en-US" sz="2000" i="1" smtClean="0">
                        <a:latin typeface="Cambria Math"/>
                      </a:rPr>
                      <m:t>⋂</m:t>
                    </m:r>
                  </m:oMath>
                </a14:m>
                <a:r>
                  <a:rPr lang="en-US" altLang="zh-CN" sz="2000" dirty="0"/>
                  <a:t>SELECT</a:t>
                </a:r>
                <a:r>
                  <a:rPr lang="zh-CN" altLang="en-US" sz="2000" dirty="0"/>
                  <a:t>（</a:t>
                </a:r>
                <a:r>
                  <a:rPr lang="en-US" altLang="zh-CN" sz="2000" dirty="0" err="1"/>
                  <a:t>S→b</a:t>
                </a:r>
                <a:r>
                  <a:rPr lang="zh-CN" altLang="en-US" sz="2000" dirty="0"/>
                  <a:t>）</a:t>
                </a:r>
                <a:r>
                  <a:rPr lang="en-US" altLang="zh-CN" sz="2000" dirty="0"/>
                  <a:t>={a}</a:t>
                </a:r>
                <a:r>
                  <a:rPr lang="zh-CN" altLang="en-US" sz="2000" dirty="0"/>
                  <a:t> </a:t>
                </a:r>
                <a14:m>
                  <m:oMath xmlns:m="http://schemas.openxmlformats.org/officeDocument/2006/math">
                    <m:r>
                      <a:rPr lang="zh-CN" altLang="en-US" sz="2000" i="1">
                        <a:latin typeface="Cambria Math"/>
                      </a:rPr>
                      <m:t>⋂</m:t>
                    </m:r>
                  </m:oMath>
                </a14:m>
                <a:r>
                  <a:rPr lang="en-US" altLang="zh-CN" sz="2000" dirty="0"/>
                  <a:t>{b}=</a:t>
                </a:r>
                <a14:m>
                  <m:oMath xmlns:m="http://schemas.openxmlformats.org/officeDocument/2006/math">
                    <m:r>
                      <a:rPr lang="en-US" altLang="zh-CN" sz="2000" i="1" smtClean="0">
                        <a:latin typeface="Cambria Math"/>
                        <a:ea typeface="Cambria Math"/>
                      </a:rPr>
                      <m:t>∅</m:t>
                    </m:r>
                  </m:oMath>
                </a14:m>
                <a:endParaRPr lang="en-US" altLang="zh-CN" sz="2000" dirty="0"/>
              </a:p>
              <a:p>
                <a:pPr lvl="1"/>
                <a:r>
                  <a:rPr lang="en-US" altLang="zh-CN" sz="2000" dirty="0"/>
                  <a:t>SELECT</a:t>
                </a:r>
                <a:r>
                  <a:rPr lang="zh-CN" altLang="en-US" sz="2000" dirty="0"/>
                  <a:t>（</a:t>
                </a:r>
                <a:r>
                  <a:rPr lang="en-US" altLang="zh-CN" sz="2000" dirty="0" err="1"/>
                  <a:t>A→bA</a:t>
                </a:r>
                <a:r>
                  <a:rPr lang="zh-CN" altLang="en-US" sz="2000" dirty="0"/>
                  <a:t>） </a:t>
                </a:r>
                <a14:m>
                  <m:oMath xmlns:m="http://schemas.openxmlformats.org/officeDocument/2006/math">
                    <m:r>
                      <a:rPr lang="zh-CN" altLang="en-US" sz="2000" i="1">
                        <a:latin typeface="Cambria Math"/>
                      </a:rPr>
                      <m:t>⋂</m:t>
                    </m:r>
                  </m:oMath>
                </a14:m>
                <a:r>
                  <a:rPr lang="en-US" altLang="zh-CN" sz="2000" dirty="0"/>
                  <a:t>SELECT</a:t>
                </a:r>
                <a:r>
                  <a:rPr lang="zh-CN" altLang="en-US" sz="2000" dirty="0"/>
                  <a:t>（</a:t>
                </a:r>
                <a:r>
                  <a:rPr lang="en-US" altLang="zh-CN" sz="2000" dirty="0"/>
                  <a:t>A→</a:t>
                </a:r>
                <a:r>
                  <a:rPr lang="zh-CN" altLang="en-US" sz="2000" dirty="0"/>
                  <a:t>𝜺）</a:t>
                </a:r>
                <a:r>
                  <a:rPr lang="en-US" altLang="zh-CN" sz="2000" dirty="0"/>
                  <a:t>={b}</a:t>
                </a:r>
                <a:r>
                  <a:rPr lang="zh-CN" altLang="en-US" sz="2000" dirty="0"/>
                  <a:t> </a:t>
                </a:r>
                <a14:m>
                  <m:oMath xmlns:m="http://schemas.openxmlformats.org/officeDocument/2006/math">
                    <m:r>
                      <a:rPr lang="zh-CN" altLang="en-US" sz="2000" i="1">
                        <a:latin typeface="Cambria Math"/>
                      </a:rPr>
                      <m:t>⋂</m:t>
                    </m:r>
                  </m:oMath>
                </a14:m>
                <a:r>
                  <a:rPr lang="en-US" altLang="zh-CN" sz="2000" dirty="0"/>
                  <a:t>{</a:t>
                </a:r>
                <a:r>
                  <a:rPr lang="en-US" altLang="zh-CN" sz="2000" dirty="0" err="1"/>
                  <a:t>a,b</a:t>
                </a:r>
                <a:r>
                  <a:rPr lang="en-US" altLang="zh-CN" sz="2000" dirty="0"/>
                  <a:t>}</a:t>
                </a:r>
                <a14:m>
                  <m:oMath xmlns:m="http://schemas.openxmlformats.org/officeDocument/2006/math">
                    <m:r>
                      <a:rPr lang="en-US" altLang="zh-CN" sz="2000" i="1" dirty="0" smtClean="0">
                        <a:solidFill>
                          <a:srgbClr val="FF0000"/>
                        </a:solidFill>
                        <a:latin typeface="Cambria Math"/>
                        <a:ea typeface="Cambria Math"/>
                      </a:rPr>
                      <m:t>≠</m:t>
                    </m:r>
                  </m:oMath>
                </a14:m>
                <a:r>
                  <a:rPr lang="en-US" altLang="zh-CN" sz="2000" dirty="0">
                    <a:ea typeface="Cambria Math"/>
                  </a:rPr>
                  <a:t> </a:t>
                </a:r>
                <a14:m>
                  <m:oMath xmlns:m="http://schemas.openxmlformats.org/officeDocument/2006/math">
                    <m:r>
                      <a:rPr lang="en-US" altLang="zh-CN" sz="2000" i="1">
                        <a:latin typeface="Cambria Math"/>
                        <a:ea typeface="Cambria Math"/>
                      </a:rPr>
                      <m:t>∅</m:t>
                    </m:r>
                  </m:oMath>
                </a14:m>
                <a:endParaRPr lang="en-US" altLang="zh-CN" sz="2000" dirty="0"/>
              </a:p>
              <a:p>
                <a:pPr lvl="1"/>
                <a:endParaRPr lang="en-US" altLang="zh-CN" dirty="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t="-1549" b="-4052"/>
                </a:stretch>
              </a:blipFill>
            </p:spPr>
            <p:txBody>
              <a:bodyPr/>
              <a:lstStyle/>
              <a:p>
                <a:r>
                  <a:rPr lang="zh-CN" altLang="en-US">
                    <a:noFill/>
                  </a:rPr>
                  <a:t> </a:t>
                </a:r>
              </a:p>
            </p:txBody>
          </p:sp>
        </mc:Fallback>
      </mc:AlternateContent>
      <p:sp>
        <p:nvSpPr>
          <p:cNvPr id="4" name="TextBox 3"/>
          <p:cNvSpPr txBox="1"/>
          <p:nvPr/>
        </p:nvSpPr>
        <p:spPr>
          <a:xfrm>
            <a:off x="4572000" y="2970521"/>
            <a:ext cx="3746538" cy="523220"/>
          </a:xfrm>
          <a:prstGeom prst="rect">
            <a:avLst/>
          </a:prstGeom>
          <a:noFill/>
        </p:spPr>
        <p:txBody>
          <a:bodyPr wrap="none" rtlCol="0">
            <a:spAutoFit/>
          </a:bodyPr>
          <a:lstStyle/>
          <a:p>
            <a:r>
              <a:rPr lang="en-US" altLang="zh-CN" sz="2800" b="1" dirty="0">
                <a:solidFill>
                  <a:srgbClr val="FF0000"/>
                </a:solidFill>
              </a:rPr>
              <a:t>G[S]</a:t>
            </a:r>
            <a:r>
              <a:rPr lang="zh-CN" altLang="en-US" sz="2800" b="1" dirty="0">
                <a:solidFill>
                  <a:srgbClr val="FF0000"/>
                </a:solidFill>
              </a:rPr>
              <a:t>不是</a:t>
            </a:r>
            <a:r>
              <a:rPr lang="en-US" altLang="zh-CN" sz="2800" b="1" dirty="0">
                <a:solidFill>
                  <a:srgbClr val="FF0000"/>
                </a:solidFill>
              </a:rPr>
              <a:t>LL</a:t>
            </a:r>
            <a:r>
              <a:rPr lang="zh-CN" altLang="en-US" sz="2800" b="1" dirty="0">
                <a:solidFill>
                  <a:srgbClr val="FF0000"/>
                </a:solidFill>
              </a:rPr>
              <a:t>（</a:t>
            </a:r>
            <a:r>
              <a:rPr lang="en-US" altLang="zh-CN" sz="2800" b="1" dirty="0">
                <a:solidFill>
                  <a:srgbClr val="FF0000"/>
                </a:solidFill>
              </a:rPr>
              <a:t>1</a:t>
            </a:r>
            <a:r>
              <a:rPr lang="zh-CN" altLang="en-US" sz="2800" b="1" dirty="0">
                <a:solidFill>
                  <a:srgbClr val="FF0000"/>
                </a:solidFill>
              </a:rPr>
              <a:t>）文法</a:t>
            </a:r>
          </a:p>
        </p:txBody>
      </p:sp>
      <p:sp>
        <p:nvSpPr>
          <p:cNvPr id="5" name="灯片编号占位符 4"/>
          <p:cNvSpPr>
            <a:spLocks noGrp="1"/>
          </p:cNvSpPr>
          <p:nvPr>
            <p:ph type="sldNum" sz="quarter" idx="12"/>
          </p:nvPr>
        </p:nvSpPr>
        <p:spPr/>
        <p:txBody>
          <a:bodyPr/>
          <a:lstStyle/>
          <a:p>
            <a:fld id="{1B43473F-AE3F-4D1C-9C4F-7AD3C17AC1AD}" type="slidenum">
              <a:rPr lang="zh-CN" altLang="en-US" smtClean="0">
                <a:solidFill>
                  <a:srgbClr val="3F3F3F"/>
                </a:solidFill>
              </a:rPr>
              <a:pPr/>
              <a:t>31</a:t>
            </a:fld>
            <a:endParaRPr lang="zh-CN" altLang="en-US">
              <a:solidFill>
                <a:srgbClr val="3F3F3F"/>
              </a:solidFill>
            </a:endParaRPr>
          </a:p>
        </p:txBody>
      </p:sp>
    </p:spTree>
    <p:extLst>
      <p:ext uri="{BB962C8B-B14F-4D97-AF65-F5344CB8AC3E}">
        <p14:creationId xmlns:p14="http://schemas.microsoft.com/office/powerpoint/2010/main" val="544733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en-US" altLang="zh-CN" dirty="0"/>
              <a:t>LL</a:t>
            </a:r>
            <a:r>
              <a:rPr lang="zh-CN" altLang="en-US" dirty="0"/>
              <a:t>（</a:t>
            </a:r>
            <a:r>
              <a:rPr lang="en-US" altLang="zh-CN" dirty="0"/>
              <a:t>1</a:t>
            </a:r>
            <a:r>
              <a:rPr lang="zh-CN" altLang="en-US" dirty="0"/>
              <a:t>）分析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文法</a:t>
                </a:r>
                <a:r>
                  <a:rPr lang="en-US" altLang="zh-CN" dirty="0"/>
                  <a:t>G[S]:</a:t>
                </a:r>
              </a:p>
              <a:p>
                <a:pPr lvl="1"/>
                <a:r>
                  <a:rPr lang="en-US" altLang="zh-CN" dirty="0"/>
                  <a:t>S</a:t>
                </a:r>
                <a:r>
                  <a:rPr lang="zh-CN" altLang="en-US" dirty="0"/>
                  <a:t>→</a:t>
                </a:r>
                <a:r>
                  <a:rPr lang="en-US" altLang="zh-CN" dirty="0" err="1"/>
                  <a:t>aAS</a:t>
                </a:r>
                <a:endParaRPr lang="en-US" altLang="zh-CN" dirty="0"/>
              </a:p>
              <a:p>
                <a:pPr lvl="1"/>
                <a:r>
                  <a:rPr lang="en-US" altLang="zh-CN" dirty="0"/>
                  <a:t>S</a:t>
                </a:r>
                <a:r>
                  <a:rPr lang="zh-CN" altLang="en-US" dirty="0"/>
                  <a:t>→</a:t>
                </a:r>
                <a:r>
                  <a:rPr lang="en-US" altLang="zh-CN" dirty="0"/>
                  <a:t>b</a:t>
                </a:r>
              </a:p>
              <a:p>
                <a:pPr lvl="1"/>
                <a:r>
                  <a:rPr lang="en-US" altLang="zh-CN" dirty="0"/>
                  <a:t>A</a:t>
                </a:r>
                <a:r>
                  <a:rPr lang="zh-CN" altLang="en-US" dirty="0"/>
                  <a:t>→</a:t>
                </a:r>
                <a:r>
                  <a:rPr lang="en-US" altLang="zh-CN" dirty="0" err="1"/>
                  <a:t>bA</a:t>
                </a:r>
                <a:endParaRPr lang="en-US" altLang="zh-CN" dirty="0"/>
              </a:p>
              <a:p>
                <a:pPr lvl="1"/>
                <a:r>
                  <a:rPr lang="en-US" altLang="zh-CN" dirty="0"/>
                  <a:t>A</a:t>
                </a:r>
                <a:r>
                  <a:rPr lang="zh-CN" altLang="en-US" dirty="0"/>
                  <a:t>→</a:t>
                </a:r>
                <a14:m>
                  <m:oMath xmlns:m="http://schemas.openxmlformats.org/officeDocument/2006/math">
                    <m:r>
                      <a:rPr lang="zh-CN" altLang="en-US" i="1">
                        <a:latin typeface="Cambria Math"/>
                      </a:rPr>
                      <m:t>𝜺</m:t>
                    </m:r>
                  </m:oMath>
                </a14:m>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t="-1549"/>
                </a:stretch>
              </a:blipFill>
            </p:spPr>
            <p:txBody>
              <a:bodyPr/>
              <a:lstStyle/>
              <a:p>
                <a:r>
                  <a:rPr lang="zh-CN" altLang="en-US">
                    <a:noFill/>
                  </a:rPr>
                  <a:t> </a:t>
                </a:r>
              </a:p>
            </p:txBody>
          </p:sp>
        </mc:Fallback>
      </mc:AlternateContent>
      <p:sp>
        <p:nvSpPr>
          <p:cNvPr id="5" name="TextBox 4"/>
          <p:cNvSpPr txBox="1"/>
          <p:nvPr/>
        </p:nvSpPr>
        <p:spPr>
          <a:xfrm>
            <a:off x="3131822" y="2708911"/>
            <a:ext cx="4828566" cy="523220"/>
          </a:xfrm>
          <a:prstGeom prst="rect">
            <a:avLst/>
          </a:prstGeom>
          <a:noFill/>
        </p:spPr>
        <p:txBody>
          <a:bodyPr wrap="none" rtlCol="0">
            <a:spAutoFit/>
          </a:bodyPr>
          <a:lstStyle/>
          <a:p>
            <a:r>
              <a:rPr lang="en-US" altLang="zh-CN" sz="2800" b="1" dirty="0">
                <a:solidFill>
                  <a:srgbClr val="FF0000"/>
                </a:solidFill>
              </a:rPr>
              <a:t>G[S]</a:t>
            </a:r>
            <a:r>
              <a:rPr lang="zh-CN" altLang="en-US" sz="2800" b="1" dirty="0">
                <a:solidFill>
                  <a:srgbClr val="FF0000"/>
                </a:solidFill>
              </a:rPr>
              <a:t>不是</a:t>
            </a:r>
            <a:r>
              <a:rPr lang="en-US" altLang="zh-CN" sz="2800" b="1" dirty="0">
                <a:solidFill>
                  <a:srgbClr val="FF0000"/>
                </a:solidFill>
              </a:rPr>
              <a:t>LL</a:t>
            </a:r>
            <a:r>
              <a:rPr lang="zh-CN" altLang="en-US" sz="2800" b="1" dirty="0">
                <a:solidFill>
                  <a:srgbClr val="FF0000"/>
                </a:solidFill>
              </a:rPr>
              <a:t>（</a:t>
            </a:r>
            <a:r>
              <a:rPr lang="en-US" altLang="zh-CN" sz="2800" b="1" dirty="0">
                <a:solidFill>
                  <a:srgbClr val="FF0000"/>
                </a:solidFill>
              </a:rPr>
              <a:t>1</a:t>
            </a:r>
            <a:r>
              <a:rPr lang="zh-CN" altLang="en-US" sz="2800" b="1" dirty="0">
                <a:solidFill>
                  <a:srgbClr val="FF0000"/>
                </a:solidFill>
              </a:rPr>
              <a:t>）文法？？？</a:t>
            </a:r>
          </a:p>
        </p:txBody>
      </p:sp>
      <mc:AlternateContent xmlns:mc="http://schemas.openxmlformats.org/markup-compatibility/2006" xmlns:a14="http://schemas.microsoft.com/office/drawing/2010/main">
        <mc:Choice Requires="a14">
          <p:sp>
            <p:nvSpPr>
              <p:cNvPr id="6" name="TextBox 5"/>
              <p:cNvSpPr txBox="1"/>
              <p:nvPr/>
            </p:nvSpPr>
            <p:spPr>
              <a:xfrm>
                <a:off x="971555" y="3887479"/>
                <a:ext cx="5638467" cy="1384995"/>
              </a:xfrm>
              <a:prstGeom prst="rect">
                <a:avLst/>
              </a:prstGeom>
              <a:noFill/>
            </p:spPr>
            <p:txBody>
              <a:bodyPr wrap="none" rtlCol="0">
                <a:spAutoFit/>
              </a:bodyPr>
              <a:lstStyle/>
              <a:p>
                <a:r>
                  <a:rPr lang="zh-CN" altLang="en-US" sz="2800" b="1" dirty="0">
                    <a:solidFill>
                      <a:srgbClr val="0000FF"/>
                    </a:solidFill>
                  </a:rPr>
                  <a:t>字符串</a:t>
                </a:r>
                <a:r>
                  <a:rPr lang="en-US" altLang="zh-CN" sz="2800" b="1" dirty="0">
                    <a:solidFill>
                      <a:srgbClr val="0000FF"/>
                    </a:solidFill>
                  </a:rPr>
                  <a:t>W=ab</a:t>
                </a:r>
                <a:r>
                  <a:rPr lang="zh-CN" altLang="en-US" sz="2800" b="1" dirty="0">
                    <a:solidFill>
                      <a:srgbClr val="0000FF"/>
                    </a:solidFill>
                  </a:rPr>
                  <a:t>，分析其推导过程</a:t>
                </a:r>
                <a:endParaRPr lang="en-US" altLang="zh-CN" sz="2800" b="1" dirty="0">
                  <a:solidFill>
                    <a:srgbClr val="0000FF"/>
                  </a:solidFill>
                </a:endParaRPr>
              </a:p>
              <a:p>
                <a:r>
                  <a:rPr lang="zh-CN" altLang="en-US" sz="2800" b="1" dirty="0">
                    <a:solidFill>
                      <a:srgbClr val="0000FF"/>
                    </a:solidFill>
                  </a:rPr>
                  <a:t>（</a:t>
                </a:r>
                <a:r>
                  <a:rPr lang="en-US" altLang="zh-CN" sz="2800" b="1" dirty="0">
                    <a:solidFill>
                      <a:srgbClr val="0000FF"/>
                    </a:solidFill>
                  </a:rPr>
                  <a:t>1</a:t>
                </a:r>
                <a:r>
                  <a:rPr lang="zh-CN" altLang="en-US" sz="2800" b="1" dirty="0">
                    <a:solidFill>
                      <a:srgbClr val="0000FF"/>
                    </a:solidFill>
                  </a:rPr>
                  <a:t>）</a:t>
                </a:r>
                <a:r>
                  <a:rPr lang="en-US" altLang="zh-CN" sz="2800" b="1" dirty="0">
                    <a:solidFill>
                      <a:srgbClr val="0000FF"/>
                    </a:solidFill>
                  </a:rPr>
                  <a:t>S</a:t>
                </a:r>
                <a14:m>
                  <m:oMath xmlns:m="http://schemas.openxmlformats.org/officeDocument/2006/math">
                    <m:r>
                      <a:rPr lang="en-US" altLang="zh-CN" sz="2800" b="1" i="1" smtClean="0">
                        <a:solidFill>
                          <a:srgbClr val="0000FF"/>
                        </a:solidFill>
                        <a:latin typeface="Cambria Math"/>
                        <a:ea typeface="Cambria Math"/>
                      </a:rPr>
                      <m:t>⇒</m:t>
                    </m:r>
                  </m:oMath>
                </a14:m>
                <a:r>
                  <a:rPr lang="en-US" altLang="zh-CN" sz="2800" b="1" dirty="0">
                    <a:solidFill>
                      <a:srgbClr val="0000FF"/>
                    </a:solidFill>
                  </a:rPr>
                  <a:t>aAS</a:t>
                </a:r>
                <a:r>
                  <a:rPr lang="en-US" altLang="zh-CN" sz="2800" b="1" dirty="0">
                    <a:solidFill>
                      <a:srgbClr val="0000FF"/>
                    </a:solidFill>
                    <a:ea typeface="Cambria Math"/>
                  </a:rPr>
                  <a:t> </a:t>
                </a:r>
                <a14:m>
                  <m:oMath xmlns:m="http://schemas.openxmlformats.org/officeDocument/2006/math">
                    <m:r>
                      <a:rPr lang="en-US" altLang="zh-CN" sz="2800" b="1" i="1" smtClean="0">
                        <a:solidFill>
                          <a:srgbClr val="FF0000"/>
                        </a:solidFill>
                        <a:latin typeface="Cambria Math"/>
                        <a:ea typeface="Cambria Math"/>
                      </a:rPr>
                      <m:t>⇒</m:t>
                    </m:r>
                  </m:oMath>
                </a14:m>
                <a:r>
                  <a:rPr lang="en-US" altLang="zh-CN" sz="2800" b="1" dirty="0">
                    <a:solidFill>
                      <a:srgbClr val="0000FF"/>
                    </a:solidFill>
                  </a:rPr>
                  <a:t>abAS</a:t>
                </a:r>
                <a:r>
                  <a:rPr lang="en-US" altLang="zh-CN" sz="2800" b="1" dirty="0">
                    <a:solidFill>
                      <a:srgbClr val="0000FF"/>
                    </a:solidFill>
                    <a:ea typeface="Cambria Math"/>
                  </a:rPr>
                  <a:t> </a:t>
                </a:r>
                <a14:m>
                  <m:oMath xmlns:m="http://schemas.openxmlformats.org/officeDocument/2006/math">
                    <m:r>
                      <a:rPr lang="en-US" altLang="zh-CN" sz="2800" b="1" i="1">
                        <a:solidFill>
                          <a:srgbClr val="0000FF"/>
                        </a:solidFill>
                        <a:latin typeface="Cambria Math"/>
                        <a:ea typeface="Cambria Math"/>
                      </a:rPr>
                      <m:t>⇒</m:t>
                    </m:r>
                  </m:oMath>
                </a14:m>
                <a:r>
                  <a:rPr lang="en-US" altLang="zh-CN" sz="2800" b="1" dirty="0" err="1">
                    <a:solidFill>
                      <a:srgbClr val="0000FF"/>
                    </a:solidFill>
                  </a:rPr>
                  <a:t>abS</a:t>
                </a:r>
                <a:r>
                  <a:rPr lang="en-US" altLang="zh-CN" sz="2800" b="1" dirty="0">
                    <a:solidFill>
                      <a:srgbClr val="0000FF"/>
                    </a:solidFill>
                    <a:ea typeface="Cambria Math"/>
                  </a:rPr>
                  <a:t> </a:t>
                </a:r>
                <a14:m>
                  <m:oMath xmlns:m="http://schemas.openxmlformats.org/officeDocument/2006/math">
                    <m:r>
                      <a:rPr lang="en-US" altLang="zh-CN" sz="2800" b="1" i="1" smtClean="0">
                        <a:solidFill>
                          <a:srgbClr val="FF0000"/>
                        </a:solidFill>
                        <a:latin typeface="Cambria Math"/>
                        <a:ea typeface="Cambria Math"/>
                      </a:rPr>
                      <m:t>⇏</m:t>
                    </m:r>
                    <m:r>
                      <m:rPr>
                        <m:sty m:val="p"/>
                      </m:rPr>
                      <a:rPr lang="en-US" altLang="zh-CN" sz="2800" b="1" i="1">
                        <a:solidFill>
                          <a:srgbClr val="FF0000"/>
                        </a:solidFill>
                        <a:latin typeface="Cambria Math"/>
                        <a:ea typeface="Cambria Math"/>
                      </a:rPr>
                      <m:t>ab</m:t>
                    </m:r>
                  </m:oMath>
                </a14:m>
                <a:endParaRPr lang="en-US" altLang="zh-CN" sz="2800" b="1" dirty="0">
                  <a:solidFill>
                    <a:srgbClr val="FF0000"/>
                  </a:solidFill>
                </a:endParaRPr>
              </a:p>
              <a:p>
                <a:r>
                  <a:rPr lang="zh-CN" altLang="en-US" sz="2800" b="1" dirty="0">
                    <a:solidFill>
                      <a:srgbClr val="0000FF"/>
                    </a:solidFill>
                  </a:rPr>
                  <a:t>（</a:t>
                </a: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S</a:t>
                </a:r>
                <a14:m>
                  <m:oMath xmlns:m="http://schemas.openxmlformats.org/officeDocument/2006/math">
                    <m:r>
                      <a:rPr lang="en-US" altLang="zh-CN" sz="2800" b="1" i="1">
                        <a:solidFill>
                          <a:srgbClr val="0000FF"/>
                        </a:solidFill>
                        <a:latin typeface="Cambria Math"/>
                        <a:ea typeface="Cambria Math"/>
                      </a:rPr>
                      <m:t>⇒</m:t>
                    </m:r>
                  </m:oMath>
                </a14:m>
                <a:r>
                  <a:rPr lang="en-US" altLang="zh-CN" sz="2800" b="1" dirty="0">
                    <a:solidFill>
                      <a:srgbClr val="0000FF"/>
                    </a:solidFill>
                  </a:rPr>
                  <a:t>aAS</a:t>
                </a:r>
                <a:r>
                  <a:rPr lang="en-US" altLang="zh-CN" sz="2800" b="1" dirty="0">
                    <a:solidFill>
                      <a:srgbClr val="0000FF"/>
                    </a:solidFill>
                    <a:ea typeface="Cambria Math"/>
                  </a:rPr>
                  <a:t> </a:t>
                </a:r>
                <a14:m>
                  <m:oMath xmlns:m="http://schemas.openxmlformats.org/officeDocument/2006/math">
                    <m:r>
                      <a:rPr lang="en-US" altLang="zh-CN" sz="2800" b="1" i="1" smtClean="0">
                        <a:solidFill>
                          <a:srgbClr val="FF0000"/>
                        </a:solidFill>
                        <a:latin typeface="Cambria Math"/>
                        <a:ea typeface="Cambria Math"/>
                      </a:rPr>
                      <m:t>⇒</m:t>
                    </m:r>
                  </m:oMath>
                </a14:m>
                <a:r>
                  <a:rPr lang="en-US" altLang="zh-CN" sz="2800" b="1" dirty="0">
                    <a:solidFill>
                      <a:srgbClr val="0000FF"/>
                    </a:solidFill>
                  </a:rPr>
                  <a:t>aS</a:t>
                </a:r>
                <a:r>
                  <a:rPr lang="en-US" altLang="zh-CN" sz="2800" b="1" dirty="0">
                    <a:solidFill>
                      <a:srgbClr val="0000FF"/>
                    </a:solidFill>
                    <a:ea typeface="Cambria Math"/>
                  </a:rPr>
                  <a:t> </a:t>
                </a:r>
                <a14:m>
                  <m:oMath xmlns:m="http://schemas.openxmlformats.org/officeDocument/2006/math">
                    <m:r>
                      <a:rPr lang="en-US" altLang="zh-CN" sz="2800" b="1" i="1">
                        <a:solidFill>
                          <a:srgbClr val="0000FF"/>
                        </a:solidFill>
                        <a:latin typeface="Cambria Math"/>
                        <a:ea typeface="Cambria Math"/>
                      </a:rPr>
                      <m:t>⇒</m:t>
                    </m:r>
                  </m:oMath>
                </a14:m>
                <a:r>
                  <a:rPr lang="en-US" altLang="zh-CN" sz="2800" b="1" dirty="0">
                    <a:solidFill>
                      <a:srgbClr val="0000FF"/>
                    </a:solidFill>
                  </a:rPr>
                  <a:t>ab</a:t>
                </a:r>
                <a:endParaRPr lang="zh-CN" altLang="en-US" sz="2800" b="1" dirty="0">
                  <a:solidFill>
                    <a:srgbClr val="00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71555" y="3887479"/>
                <a:ext cx="5638467" cy="1384995"/>
              </a:xfrm>
              <a:prstGeom prst="rect">
                <a:avLst/>
              </a:prstGeom>
              <a:blipFill rotWithShape="1">
                <a:blip r:embed="rId3"/>
                <a:stretch>
                  <a:fillRect l="-2162" t="-5727" b="-11454"/>
                </a:stretch>
              </a:blipFill>
            </p:spPr>
            <p:txBody>
              <a:bodyPr/>
              <a:lstStyle/>
              <a:p>
                <a:r>
                  <a:rPr lang="zh-CN" altLang="en-US">
                    <a:noFill/>
                  </a:rPr>
                  <a:t> </a:t>
                </a:r>
              </a:p>
            </p:txBody>
          </p:sp>
        </mc:Fallback>
      </mc:AlternateContent>
      <p:sp>
        <p:nvSpPr>
          <p:cNvPr id="7" name="TextBox 6"/>
          <p:cNvSpPr txBox="1"/>
          <p:nvPr/>
        </p:nvSpPr>
        <p:spPr>
          <a:xfrm>
            <a:off x="251466" y="5589267"/>
            <a:ext cx="9059231" cy="523220"/>
          </a:xfrm>
          <a:prstGeom prst="rect">
            <a:avLst/>
          </a:prstGeom>
          <a:noFill/>
        </p:spPr>
        <p:txBody>
          <a:bodyPr wrap="square" rtlCol="0">
            <a:spAutoFit/>
          </a:bodyPr>
          <a:lstStyle/>
          <a:p>
            <a:r>
              <a:rPr lang="zh-CN" altLang="en-US" sz="2800" b="1" dirty="0">
                <a:solidFill>
                  <a:srgbClr val="FF0000"/>
                </a:solidFill>
              </a:rPr>
              <a:t>原因：当第二个输入符为</a:t>
            </a:r>
            <a:r>
              <a:rPr lang="en-US" altLang="zh-CN" sz="2800" b="1" dirty="0">
                <a:solidFill>
                  <a:srgbClr val="FF0000"/>
                </a:solidFill>
              </a:rPr>
              <a:t>b</a:t>
            </a:r>
            <a:r>
              <a:rPr lang="zh-CN" altLang="en-US" sz="2800" b="1" dirty="0">
                <a:solidFill>
                  <a:srgbClr val="FF0000"/>
                </a:solidFill>
              </a:rPr>
              <a:t>时，不能确定哪个推导式！</a:t>
            </a:r>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32</a:t>
            </a:fld>
            <a:endParaRPr lang="zh-CN" altLang="en-US">
              <a:solidFill>
                <a:srgbClr val="3F3F3F"/>
              </a:solidFill>
            </a:endParaRPr>
          </a:p>
        </p:txBody>
      </p:sp>
    </p:spTree>
    <p:extLst>
      <p:ext uri="{BB962C8B-B14F-4D97-AF65-F5344CB8AC3E}">
        <p14:creationId xmlns:p14="http://schemas.microsoft.com/office/powerpoint/2010/main" val="2334797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en-US" altLang="zh-CN" dirty="0"/>
              <a:t>LL</a:t>
            </a:r>
            <a:r>
              <a:rPr lang="zh-CN" altLang="en-US" dirty="0"/>
              <a:t>（</a:t>
            </a:r>
            <a:r>
              <a:rPr lang="en-US" altLang="zh-CN" dirty="0"/>
              <a:t>1</a:t>
            </a:r>
            <a:r>
              <a:rPr lang="zh-CN" altLang="en-US" dirty="0"/>
              <a:t>）分析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51466" y="1268733"/>
                <a:ext cx="8252917" cy="5113338"/>
              </a:xfrm>
            </p:spPr>
            <p:txBody>
              <a:bodyPr/>
              <a:lstStyle/>
              <a:p>
                <a:endParaRPr lang="en-US" altLang="zh-CN" dirty="0"/>
              </a:p>
              <a:p>
                <a:endParaRPr lang="en-US" altLang="zh-CN" dirty="0"/>
              </a:p>
              <a:p>
                <a:endParaRPr lang="en-US" altLang="zh-CN" dirty="0"/>
              </a:p>
              <a:p>
                <a:r>
                  <a:rPr lang="zh-CN" altLang="en-US" dirty="0"/>
                  <a:t>判断步骤：</a:t>
                </a:r>
                <a:endParaRPr lang="en-US" altLang="zh-CN" dirty="0"/>
              </a:p>
              <a:p>
                <a:pPr lvl="1"/>
                <a:r>
                  <a:rPr lang="zh-CN" altLang="en-US" dirty="0"/>
                  <a:t>步骤</a:t>
                </a:r>
                <a:r>
                  <a:rPr lang="en-US" altLang="zh-CN" dirty="0"/>
                  <a:t>1</a:t>
                </a:r>
                <a:r>
                  <a:rPr lang="zh-CN" altLang="en-US" dirty="0"/>
                  <a:t>：求出推出</a:t>
                </a:r>
                <a14:m>
                  <m:oMath xmlns:m="http://schemas.openxmlformats.org/officeDocument/2006/math">
                    <m:r>
                      <a:rPr lang="zh-CN" altLang="en-US" i="1" smtClean="0">
                        <a:latin typeface="Cambria Math"/>
                      </a:rPr>
                      <m:t>𝜺</m:t>
                    </m:r>
                  </m:oMath>
                </a14:m>
                <a:r>
                  <a:rPr lang="zh-CN" altLang="en-US" dirty="0"/>
                  <a:t>的非终结符。</a:t>
                </a:r>
                <a:endParaRPr lang="en-US" altLang="zh-CN" dirty="0"/>
              </a:p>
              <a:p>
                <a:pPr lvl="1"/>
                <a:r>
                  <a:rPr lang="zh-CN" altLang="en-US" dirty="0"/>
                  <a:t>步骤</a:t>
                </a:r>
                <a:r>
                  <a:rPr lang="en-US" altLang="zh-CN" dirty="0"/>
                  <a:t>2</a:t>
                </a:r>
                <a:r>
                  <a:rPr lang="zh-CN" altLang="en-US" dirty="0"/>
                  <a:t>：计算</a:t>
                </a:r>
                <a:r>
                  <a:rPr lang="en-US" altLang="zh-CN" dirty="0"/>
                  <a:t>FIRST</a:t>
                </a:r>
                <a:r>
                  <a:rPr lang="zh-CN" altLang="en-US" dirty="0"/>
                  <a:t>集（两种方法）</a:t>
                </a:r>
                <a:endParaRPr lang="en-US" altLang="zh-CN" dirty="0"/>
              </a:p>
              <a:p>
                <a:pPr lvl="1"/>
                <a:r>
                  <a:rPr lang="zh-CN" altLang="en-US" dirty="0"/>
                  <a:t>步骤</a:t>
                </a:r>
                <a:r>
                  <a:rPr lang="en-US" altLang="zh-CN" dirty="0"/>
                  <a:t>3</a:t>
                </a:r>
                <a:r>
                  <a:rPr lang="zh-CN" altLang="en-US" dirty="0"/>
                  <a:t>：计算</a:t>
                </a:r>
                <a:r>
                  <a:rPr lang="en-US" altLang="zh-CN" dirty="0"/>
                  <a:t>FOLLOW</a:t>
                </a:r>
                <a:r>
                  <a:rPr lang="zh-CN" altLang="en-US" dirty="0"/>
                  <a:t>集（两种方法）</a:t>
                </a:r>
                <a:endParaRPr lang="en-US" altLang="zh-CN" dirty="0"/>
              </a:p>
              <a:p>
                <a:pPr lvl="1"/>
                <a:r>
                  <a:rPr lang="zh-CN" altLang="en-US" dirty="0"/>
                  <a:t>步骤</a:t>
                </a:r>
                <a:r>
                  <a:rPr lang="en-US" altLang="zh-CN" dirty="0"/>
                  <a:t>4</a:t>
                </a:r>
                <a:r>
                  <a:rPr lang="zh-CN" altLang="en-US" dirty="0"/>
                  <a:t>：计算</a:t>
                </a:r>
                <a:r>
                  <a:rPr lang="en-US" altLang="zh-CN" dirty="0"/>
                  <a:t>SELECT</a:t>
                </a:r>
                <a:r>
                  <a:rPr lang="zh-CN" altLang="en-US" dirty="0"/>
                  <a:t>集</a:t>
                </a:r>
                <a:endParaRPr lang="en-US" altLang="zh-CN" dirty="0"/>
              </a:p>
              <a:p>
                <a:pPr lvl="1"/>
                <a:r>
                  <a:rPr lang="zh-CN" altLang="en-US" dirty="0"/>
                  <a:t>步骤</a:t>
                </a:r>
                <a:r>
                  <a:rPr lang="en-US" altLang="zh-CN" dirty="0"/>
                  <a:t>5</a:t>
                </a:r>
                <a:r>
                  <a:rPr lang="zh-CN" altLang="en-US" dirty="0"/>
                  <a:t>：判定是否是</a:t>
                </a:r>
                <a:r>
                  <a:rPr lang="en-US" altLang="zh-CN" dirty="0"/>
                  <a:t>LL</a:t>
                </a:r>
                <a:r>
                  <a:rPr lang="zh-CN" altLang="en-US" dirty="0"/>
                  <a:t>（</a:t>
                </a:r>
                <a:r>
                  <a:rPr lang="en-US" altLang="zh-CN" dirty="0"/>
                  <a:t>1</a:t>
                </a:r>
                <a:r>
                  <a:rPr lang="zh-CN" altLang="en-US" dirty="0"/>
                  <a:t>）文法。</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51466" y="1268733"/>
                <a:ext cx="8252917" cy="5113338"/>
              </a:xfrm>
              <a:blipFill rotWithShape="1">
                <a:blip r:embed="rId2"/>
                <a:stretch>
                  <a:fillRect b="-7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362761" y="900534"/>
                <a:ext cx="8362264" cy="2246769"/>
              </a:xfrm>
              <a:prstGeom prst="rect">
                <a:avLst/>
              </a:prstGeom>
            </p:spPr>
            <p:txBody>
              <a:bodyPr wrap="square">
                <a:spAutoFit/>
              </a:bodyPr>
              <a:lstStyle/>
              <a:p>
                <a:r>
                  <a:rPr lang="zh-CN" altLang="en-US" sz="2800" dirty="0">
                    <a:solidFill>
                      <a:srgbClr val="FF0000"/>
                    </a:solidFill>
                  </a:rPr>
                  <a:t>回顾选择符号集</a:t>
                </a:r>
                <a:r>
                  <a:rPr lang="en-US" altLang="zh-CN" sz="2800" dirty="0">
                    <a:solidFill>
                      <a:srgbClr val="FF0000"/>
                    </a:solidFill>
                  </a:rPr>
                  <a:t>SELECT</a:t>
                </a:r>
              </a:p>
              <a:p>
                <a:r>
                  <a:rPr lang="zh-CN" altLang="en-US" sz="2800" dirty="0"/>
                  <a:t>如果</a:t>
                </a:r>
                <a14:m>
                  <m:oMath xmlns:m="http://schemas.openxmlformats.org/officeDocument/2006/math">
                    <m:r>
                      <a:rPr lang="zh-CN" altLang="en-US" sz="2800" i="1">
                        <a:latin typeface="Cambria Math"/>
                      </a:rPr>
                      <m:t>𝛂</m:t>
                    </m:r>
                    <m:r>
                      <a:rPr lang="zh-CN" altLang="en-US" sz="2800" i="1">
                        <a:latin typeface="Cambria Math"/>
                      </a:rPr>
                      <m:t>⇏</m:t>
                    </m:r>
                    <m:r>
                      <a:rPr lang="zh-CN" altLang="en-US" sz="2800" i="1">
                        <a:latin typeface="Cambria Math"/>
                      </a:rPr>
                      <m:t>𝜺</m:t>
                    </m:r>
                  </m:oMath>
                </a14:m>
                <a:r>
                  <a:rPr lang="zh-CN" altLang="en-US" sz="2800" baseline="-25000" dirty="0"/>
                  <a:t>，</a:t>
                </a:r>
                <a:r>
                  <a:rPr lang="zh-CN" altLang="en-US" sz="2800" dirty="0"/>
                  <a:t>则</a:t>
                </a:r>
                <a:endParaRPr lang="en-US" altLang="zh-CN" sz="2800" dirty="0"/>
              </a:p>
              <a:p>
                <a:pPr lvl="1"/>
                <a:r>
                  <a:rPr lang="en-US" altLang="zh-CN" sz="2800" dirty="0">
                    <a:solidFill>
                      <a:srgbClr val="FF0000"/>
                    </a:solidFill>
                  </a:rPr>
                  <a:t>SELECT</a:t>
                </a:r>
                <a:r>
                  <a:rPr lang="zh-CN" altLang="en-US" sz="2800" dirty="0">
                    <a:solidFill>
                      <a:srgbClr val="FF0000"/>
                    </a:solidFill>
                  </a:rPr>
                  <a:t>（</a:t>
                </a:r>
                <a:r>
                  <a:rPr lang="en-US" altLang="zh-CN" sz="2800" dirty="0">
                    <a:solidFill>
                      <a:srgbClr val="FF0000"/>
                    </a:solidFill>
                  </a:rPr>
                  <a:t>A</a:t>
                </a:r>
                <a:r>
                  <a:rPr lang="zh-CN" altLang="en-US" sz="2800" dirty="0">
                    <a:solidFill>
                      <a:srgbClr val="FF0000"/>
                    </a:solidFill>
                  </a:rPr>
                  <a:t>→</a:t>
                </a:r>
                <a:r>
                  <a:rPr lang="el-GR" altLang="zh-CN" sz="2800" dirty="0">
                    <a:solidFill>
                      <a:srgbClr val="FF0000"/>
                    </a:solidFill>
                  </a:rPr>
                  <a:t> α </a:t>
                </a:r>
                <a:r>
                  <a:rPr lang="zh-CN" altLang="en-US" sz="2800" dirty="0">
                    <a:solidFill>
                      <a:srgbClr val="FF0000"/>
                    </a:solidFill>
                  </a:rPr>
                  <a:t>）</a:t>
                </a:r>
                <a:r>
                  <a:rPr lang="en-US" altLang="zh-CN" sz="2800" dirty="0"/>
                  <a:t>=FIRST(</a:t>
                </a:r>
                <a:r>
                  <a:rPr lang="el-GR" altLang="zh-CN" sz="2800" dirty="0"/>
                  <a:t>α</a:t>
                </a:r>
                <a:r>
                  <a:rPr lang="en-US" altLang="zh-CN" sz="2800" dirty="0"/>
                  <a:t>)</a:t>
                </a:r>
                <a:r>
                  <a:rPr lang="zh-CN" altLang="en-US" sz="2800" dirty="0"/>
                  <a:t>。</a:t>
                </a:r>
                <a:endParaRPr lang="en-US" altLang="zh-CN" sz="2800" dirty="0"/>
              </a:p>
              <a:p>
                <a:r>
                  <a:rPr lang="zh-CN" altLang="en-US" sz="2800" dirty="0"/>
                  <a:t>如果</a:t>
                </a:r>
                <a:r>
                  <a:rPr lang="el-GR" altLang="zh-CN" sz="2800" dirty="0"/>
                  <a:t>α</a:t>
                </a:r>
                <a14:m>
                  <m:oMath xmlns:m="http://schemas.openxmlformats.org/officeDocument/2006/math">
                    <m:r>
                      <m:rPr>
                        <m:nor/>
                      </m:rPr>
                      <a:rPr lang="el-GR" altLang="zh-CN" sz="2800">
                        <a:latin typeface="Cambria Math"/>
                        <a:ea typeface="Cambria Math"/>
                      </a:rPr>
                      <m:t>⇒</m:t>
                    </m:r>
                  </m:oMath>
                </a14:m>
                <a:r>
                  <a:rPr lang="zh-CN" altLang="en-US" sz="2800" dirty="0"/>
                  <a:t>*</a:t>
                </a:r>
                <a14:m>
                  <m:oMath xmlns:m="http://schemas.openxmlformats.org/officeDocument/2006/math">
                    <m:r>
                      <a:rPr lang="zh-CN" altLang="en-US" sz="2800" i="1">
                        <a:latin typeface="Cambria Math"/>
                      </a:rPr>
                      <m:t>𝜺</m:t>
                    </m:r>
                  </m:oMath>
                </a14:m>
                <a:r>
                  <a:rPr lang="zh-CN" altLang="en-US" sz="2800" dirty="0"/>
                  <a:t>，则</a:t>
                </a:r>
                <a:endParaRPr lang="en-US" altLang="zh-CN" sz="2800" dirty="0"/>
              </a:p>
              <a:p>
                <a:pPr lvl="1"/>
                <a:r>
                  <a:rPr lang="en-US" altLang="zh-CN" sz="2800" dirty="0">
                    <a:solidFill>
                      <a:srgbClr val="FF0000"/>
                    </a:solidFill>
                  </a:rPr>
                  <a:t>SELECT(A</a:t>
                </a:r>
                <a:r>
                  <a:rPr lang="zh-CN" altLang="en-US" sz="2800" dirty="0">
                    <a:solidFill>
                      <a:srgbClr val="FF0000"/>
                    </a:solidFill>
                  </a:rPr>
                  <a:t>→</a:t>
                </a:r>
                <a:r>
                  <a:rPr lang="el-GR" altLang="zh-CN" sz="2800" dirty="0">
                    <a:solidFill>
                      <a:srgbClr val="FF0000"/>
                    </a:solidFill>
                  </a:rPr>
                  <a:t> α </a:t>
                </a:r>
                <a:r>
                  <a:rPr lang="en-US" altLang="zh-CN" sz="2800" dirty="0">
                    <a:solidFill>
                      <a:srgbClr val="FF0000"/>
                    </a:solidFill>
                  </a:rPr>
                  <a:t>)</a:t>
                </a:r>
                <a:r>
                  <a:rPr lang="en-US" altLang="zh-CN" sz="2800" dirty="0"/>
                  <a:t>= (FIRST(</a:t>
                </a:r>
                <a:r>
                  <a:rPr lang="el-GR" altLang="zh-CN" sz="2800" dirty="0"/>
                  <a:t>α</a:t>
                </a:r>
                <a:r>
                  <a:rPr lang="en-US" altLang="zh-CN" sz="2800" dirty="0"/>
                  <a:t>)-{</a:t>
                </a:r>
                <a14:m>
                  <m:oMath xmlns:m="http://schemas.openxmlformats.org/officeDocument/2006/math">
                    <m:r>
                      <a:rPr lang="zh-CN" altLang="en-US" sz="2800" i="1">
                        <a:latin typeface="Cambria Math"/>
                      </a:rPr>
                      <m:t>𝜺</m:t>
                    </m:r>
                  </m:oMath>
                </a14:m>
                <a:r>
                  <a:rPr lang="en-US" altLang="zh-CN" sz="2800" dirty="0"/>
                  <a:t>})</a:t>
                </a:r>
                <a14:m>
                  <m:oMath xmlns:m="http://schemas.openxmlformats.org/officeDocument/2006/math">
                    <m:r>
                      <a:rPr lang="en-US" altLang="zh-CN" sz="2800" i="1" dirty="0">
                        <a:latin typeface="Cambria Math"/>
                        <a:ea typeface="Cambria Math"/>
                      </a:rPr>
                      <m:t>⋃</m:t>
                    </m:r>
                  </m:oMath>
                </a14:m>
                <a:r>
                  <a:rPr lang="en-US" altLang="zh-CN" sz="2800" dirty="0"/>
                  <a:t>FOLLOW(A)</a:t>
                </a:r>
                <a:r>
                  <a:rPr lang="zh-CN" altLang="en-US" sz="2800" dirty="0"/>
                  <a:t>。</a:t>
                </a:r>
                <a:endParaRPr lang="en-US" altLang="zh-CN" sz="2800" dirty="0"/>
              </a:p>
            </p:txBody>
          </p:sp>
        </mc:Choice>
        <mc:Fallback xmlns="">
          <p:sp>
            <p:nvSpPr>
              <p:cNvPr id="4" name="矩形 3"/>
              <p:cNvSpPr>
                <a:spLocks noRot="1" noChangeAspect="1" noMove="1" noResize="1" noEditPoints="1" noAdjustHandles="1" noChangeArrowheads="1" noChangeShapeType="1" noTextEdit="1"/>
              </p:cNvSpPr>
              <p:nvPr/>
            </p:nvSpPr>
            <p:spPr>
              <a:xfrm>
                <a:off x="362761" y="900534"/>
                <a:ext cx="8362264" cy="2246769"/>
              </a:xfrm>
              <a:prstGeom prst="rect">
                <a:avLst/>
              </a:prstGeom>
              <a:blipFill rotWithShape="1">
                <a:blip r:embed="rId3"/>
                <a:stretch>
                  <a:fillRect l="-1532" t="-3533" r="-5689" b="-6793"/>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1B43473F-AE3F-4D1C-9C4F-7AD3C17AC1AD}" type="slidenum">
              <a:rPr lang="zh-CN" altLang="en-US" smtClean="0">
                <a:solidFill>
                  <a:srgbClr val="3F3F3F"/>
                </a:solidFill>
              </a:rPr>
              <a:pPr/>
              <a:t>33</a:t>
            </a:fld>
            <a:endParaRPr lang="zh-CN" altLang="en-US">
              <a:solidFill>
                <a:srgbClr val="3F3F3F"/>
              </a:solidFill>
            </a:endParaRPr>
          </a:p>
        </p:txBody>
      </p:sp>
    </p:spTree>
    <p:extLst>
      <p:ext uri="{BB962C8B-B14F-4D97-AF65-F5344CB8AC3E}">
        <p14:creationId xmlns:p14="http://schemas.microsoft.com/office/powerpoint/2010/main" val="233730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en-US" altLang="zh-CN" dirty="0"/>
              <a:t>LL</a:t>
            </a:r>
            <a:r>
              <a:rPr lang="zh-CN" altLang="en-US" dirty="0"/>
              <a:t>（</a:t>
            </a:r>
            <a:r>
              <a:rPr lang="en-US" altLang="zh-CN" dirty="0"/>
              <a:t>1</a:t>
            </a:r>
            <a:r>
              <a:rPr lang="zh-CN" altLang="en-US" dirty="0"/>
              <a:t>）分析</a:t>
            </a:r>
          </a:p>
        </p:txBody>
      </p:sp>
      <p:sp>
        <p:nvSpPr>
          <p:cNvPr id="3" name="内容占位符 2"/>
          <p:cNvSpPr>
            <a:spLocks noGrp="1"/>
          </p:cNvSpPr>
          <p:nvPr>
            <p:ph idx="1"/>
          </p:nvPr>
        </p:nvSpPr>
        <p:spPr/>
        <p:txBody>
          <a:bodyPr/>
          <a:lstStyle/>
          <a:p>
            <a:r>
              <a:rPr lang="en-US" altLang="zh-CN" dirty="0">
                <a:solidFill>
                  <a:srgbClr val="FF0000"/>
                </a:solidFill>
              </a:rPr>
              <a:t>LL</a:t>
            </a:r>
            <a:r>
              <a:rPr lang="zh-CN" altLang="en-US" dirty="0">
                <a:solidFill>
                  <a:srgbClr val="FF0000"/>
                </a:solidFill>
              </a:rPr>
              <a:t>（</a:t>
            </a:r>
            <a:r>
              <a:rPr lang="en-US" altLang="zh-CN" dirty="0">
                <a:solidFill>
                  <a:srgbClr val="FF0000"/>
                </a:solidFill>
              </a:rPr>
              <a:t>1</a:t>
            </a:r>
            <a:r>
              <a:rPr lang="zh-CN" altLang="en-US" dirty="0">
                <a:solidFill>
                  <a:srgbClr val="FF0000"/>
                </a:solidFill>
              </a:rPr>
              <a:t>）文法判别</a:t>
            </a:r>
            <a:endParaRPr lang="en-US" altLang="zh-CN" dirty="0">
              <a:solidFill>
                <a:srgbClr val="FF0000"/>
              </a:solidFill>
            </a:endParaRPr>
          </a:p>
          <a:p>
            <a:r>
              <a:rPr lang="zh-CN" altLang="en-US" dirty="0"/>
              <a:t>举例：</a:t>
            </a:r>
            <a:r>
              <a:rPr lang="en-US" altLang="zh-CN" dirty="0"/>
              <a:t>P72</a:t>
            </a:r>
            <a:r>
              <a:rPr lang="zh-CN" altLang="en-US" dirty="0"/>
              <a:t>页，例</a:t>
            </a:r>
            <a:r>
              <a:rPr lang="en-US" altLang="zh-CN" dirty="0"/>
              <a:t>4.5</a:t>
            </a:r>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34</a:t>
            </a:fld>
            <a:endParaRPr lang="zh-CN" altLang="en-US">
              <a:solidFill>
                <a:srgbClr val="3F3F3F"/>
              </a:solidFill>
            </a:endParaRPr>
          </a:p>
        </p:txBody>
      </p:sp>
    </p:spTree>
    <p:extLst>
      <p:ext uri="{BB962C8B-B14F-4D97-AF65-F5344CB8AC3E}">
        <p14:creationId xmlns:p14="http://schemas.microsoft.com/office/powerpoint/2010/main" val="15840643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第四章 自顶向下语法分析方法</a:t>
            </a:r>
          </a:p>
        </p:txBody>
      </p:sp>
      <p:sp>
        <p:nvSpPr>
          <p:cNvPr id="4" name="Freeform 6"/>
          <p:cNvSpPr>
            <a:spLocks/>
          </p:cNvSpPr>
          <p:nvPr/>
        </p:nvSpPr>
        <p:spPr bwMode="auto">
          <a:xfrm>
            <a:off x="975061" y="1155144"/>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01</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5" name="Freeform 7"/>
          <p:cNvSpPr>
            <a:spLocks/>
          </p:cNvSpPr>
          <p:nvPr/>
        </p:nvSpPr>
        <p:spPr bwMode="auto">
          <a:xfrm>
            <a:off x="2314041" y="115514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rPr>
              <a:t>确定的自顶向下分析思想</a:t>
            </a:r>
          </a:p>
        </p:txBody>
      </p:sp>
      <p:sp>
        <p:nvSpPr>
          <p:cNvPr id="6" name="Freeform 6"/>
          <p:cNvSpPr>
            <a:spLocks/>
          </p:cNvSpPr>
          <p:nvPr/>
        </p:nvSpPr>
        <p:spPr bwMode="auto">
          <a:xfrm>
            <a:off x="975061" y="2019240"/>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02</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8" name="Freeform 6"/>
          <p:cNvSpPr>
            <a:spLocks/>
          </p:cNvSpPr>
          <p:nvPr/>
        </p:nvSpPr>
        <p:spPr bwMode="auto">
          <a:xfrm>
            <a:off x="975061" y="2883336"/>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0066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03</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9" name="Freeform 7"/>
          <p:cNvSpPr>
            <a:spLocks/>
          </p:cNvSpPr>
          <p:nvPr/>
        </p:nvSpPr>
        <p:spPr bwMode="auto">
          <a:xfrm>
            <a:off x="2314041" y="2019239"/>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）分析</a:t>
            </a:r>
          </a:p>
        </p:txBody>
      </p:sp>
      <p:sp>
        <p:nvSpPr>
          <p:cNvPr id="10" name="Freeform 6"/>
          <p:cNvSpPr>
            <a:spLocks/>
          </p:cNvSpPr>
          <p:nvPr/>
        </p:nvSpPr>
        <p:spPr bwMode="auto">
          <a:xfrm>
            <a:off x="975061" y="3747432"/>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04</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1" name="Freeform 7"/>
          <p:cNvSpPr>
            <a:spLocks/>
          </p:cNvSpPr>
          <p:nvPr/>
        </p:nvSpPr>
        <p:spPr bwMode="auto">
          <a:xfrm>
            <a:off x="2314041" y="2883335"/>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0066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ea typeface="+mj-ea"/>
              </a:rPr>
              <a:t>非</a:t>
            </a:r>
            <a:r>
              <a:rPr lang="en-US" altLang="zh-CN" sz="2800" b="1" kern="0" dirty="0">
                <a:solidFill>
                  <a:srgbClr val="FFFFFF"/>
                </a:solidFill>
                <a:latin typeface="+mj-ea"/>
                <a:ea typeface="+mj-ea"/>
              </a:rPr>
              <a:t>LL</a:t>
            </a:r>
            <a:r>
              <a:rPr lang="zh-CN" altLang="en-US" sz="2800" b="1" kern="0" dirty="0">
                <a:solidFill>
                  <a:srgbClr val="FFFFFF"/>
                </a:solidFill>
                <a:latin typeface="+mj-ea"/>
                <a:ea typeface="+mj-ea"/>
              </a:rPr>
              <a:t>（</a:t>
            </a:r>
            <a:r>
              <a:rPr lang="en-US" altLang="zh-CN" sz="2800" b="1" kern="0" dirty="0">
                <a:solidFill>
                  <a:srgbClr val="FFFFFF"/>
                </a:solidFill>
                <a:latin typeface="+mj-ea"/>
                <a:ea typeface="+mj-ea"/>
              </a:rPr>
              <a:t>1</a:t>
            </a:r>
            <a:r>
              <a:rPr lang="zh-CN" altLang="en-US" sz="2800" b="1" kern="0" dirty="0">
                <a:solidFill>
                  <a:srgbClr val="FFFFFF"/>
                </a:solidFill>
                <a:latin typeface="+mj-ea"/>
                <a:ea typeface="+mj-ea"/>
              </a:rPr>
              <a:t>）和</a:t>
            </a:r>
            <a:r>
              <a:rPr lang="en-US" altLang="zh-CN" sz="2800" b="1" kern="0" dirty="0">
                <a:solidFill>
                  <a:srgbClr val="FFFFFF"/>
                </a:solidFill>
                <a:latin typeface="+mj-ea"/>
                <a:ea typeface="+mj-ea"/>
              </a:rPr>
              <a:t>LL</a:t>
            </a:r>
            <a:r>
              <a:rPr lang="zh-CN" altLang="en-US" sz="2800" b="1" kern="0" dirty="0">
                <a:solidFill>
                  <a:srgbClr val="FFFFFF"/>
                </a:solidFill>
                <a:latin typeface="+mj-ea"/>
                <a:ea typeface="+mj-ea"/>
              </a:rPr>
              <a:t>（</a:t>
            </a:r>
            <a:r>
              <a:rPr lang="en-US" altLang="zh-CN" sz="2800" b="1" kern="0" dirty="0">
                <a:solidFill>
                  <a:srgbClr val="FFFFFF"/>
                </a:solidFill>
                <a:latin typeface="+mj-ea"/>
                <a:ea typeface="+mj-ea"/>
              </a:rPr>
              <a:t>1</a:t>
            </a:r>
            <a:r>
              <a:rPr lang="zh-CN" altLang="en-US" sz="2800" b="1" kern="0" dirty="0">
                <a:solidFill>
                  <a:srgbClr val="FFFFFF"/>
                </a:solidFill>
                <a:latin typeface="+mj-ea"/>
                <a:ea typeface="+mj-ea"/>
              </a:rPr>
              <a:t>）等价变换</a:t>
            </a:r>
          </a:p>
        </p:txBody>
      </p:sp>
      <p:sp>
        <p:nvSpPr>
          <p:cNvPr id="12" name="Freeform 6"/>
          <p:cNvSpPr>
            <a:spLocks/>
          </p:cNvSpPr>
          <p:nvPr/>
        </p:nvSpPr>
        <p:spPr bwMode="auto">
          <a:xfrm>
            <a:off x="971555" y="4611528"/>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05</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3" name="Freeform 7"/>
          <p:cNvSpPr>
            <a:spLocks/>
          </p:cNvSpPr>
          <p:nvPr/>
        </p:nvSpPr>
        <p:spPr bwMode="auto">
          <a:xfrm>
            <a:off x="2314041" y="3747431"/>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zh-CN" altLang="en-US" sz="2800" b="1" kern="0" dirty="0">
                <a:solidFill>
                  <a:srgbClr val="FFFFFF"/>
                </a:solidFill>
                <a:latin typeface="+mj-ea"/>
                <a:ea typeface="+mj-ea"/>
              </a:rPr>
              <a:t>不确定的自顶向下分析思想</a:t>
            </a:r>
          </a:p>
        </p:txBody>
      </p:sp>
      <p:sp>
        <p:nvSpPr>
          <p:cNvPr id="14" name="Freeform 6"/>
          <p:cNvSpPr>
            <a:spLocks/>
          </p:cNvSpPr>
          <p:nvPr/>
        </p:nvSpPr>
        <p:spPr bwMode="auto">
          <a:xfrm>
            <a:off x="975061" y="5478051"/>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06</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5" name="Freeform 7"/>
          <p:cNvSpPr>
            <a:spLocks/>
          </p:cNvSpPr>
          <p:nvPr/>
        </p:nvSpPr>
        <p:spPr bwMode="auto">
          <a:xfrm>
            <a:off x="2314041" y="461395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）分析的实现</a:t>
            </a:r>
            <a:endParaRPr lang="zh-CN" altLang="en-US" sz="2800" b="1" kern="0" dirty="0">
              <a:solidFill>
                <a:srgbClr val="FFFFFF"/>
              </a:solidFill>
              <a:latin typeface="+mj-ea"/>
              <a:ea typeface="+mj-ea"/>
            </a:endParaRPr>
          </a:p>
        </p:txBody>
      </p:sp>
      <p:sp>
        <p:nvSpPr>
          <p:cNvPr id="17" name="Freeform 7"/>
          <p:cNvSpPr>
            <a:spLocks/>
          </p:cNvSpPr>
          <p:nvPr/>
        </p:nvSpPr>
        <p:spPr bwMode="auto">
          <a:xfrm>
            <a:off x="2314041" y="5595233"/>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en-US" altLang="zh-CN" sz="2800" b="1" kern="0" dirty="0">
                <a:solidFill>
                  <a:srgbClr val="FFFFFF"/>
                </a:solidFill>
                <a:latin typeface="+mj-ea"/>
                <a:ea typeface="+mj-ea"/>
              </a:rPr>
              <a:t>LL</a:t>
            </a:r>
            <a:r>
              <a:rPr lang="zh-CN" altLang="en-US" sz="2800" b="1" kern="0" dirty="0">
                <a:solidFill>
                  <a:srgbClr val="FFFFFF"/>
                </a:solidFill>
                <a:latin typeface="+mj-ea"/>
                <a:ea typeface="+mj-ea"/>
              </a:rPr>
              <a:t>（</a:t>
            </a:r>
            <a:r>
              <a:rPr lang="en-US" altLang="zh-CN" sz="2800" b="1" kern="0" dirty="0">
                <a:solidFill>
                  <a:srgbClr val="FFFFFF"/>
                </a:solidFill>
                <a:latin typeface="+mj-ea"/>
                <a:ea typeface="+mj-ea"/>
              </a:rPr>
              <a:t>1</a:t>
            </a:r>
            <a:r>
              <a:rPr lang="zh-CN" altLang="en-US" sz="2800" b="1" kern="0" dirty="0">
                <a:solidFill>
                  <a:srgbClr val="FFFFFF"/>
                </a:solidFill>
                <a:latin typeface="+mj-ea"/>
                <a:ea typeface="+mj-ea"/>
              </a:rPr>
              <a:t>）分析中的出错处理</a:t>
            </a: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35</a:t>
            </a:fld>
            <a:endParaRPr lang="zh-CN" altLang="en-US">
              <a:solidFill>
                <a:srgbClr val="3F3F3F"/>
              </a:solidFill>
            </a:endParaRPr>
          </a:p>
        </p:txBody>
      </p:sp>
    </p:spTree>
    <p:extLst>
      <p:ext uri="{BB962C8B-B14F-4D97-AF65-F5344CB8AC3E}">
        <p14:creationId xmlns:p14="http://schemas.microsoft.com/office/powerpoint/2010/main" val="4171981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三、非</a:t>
            </a:r>
            <a:r>
              <a:rPr lang="en-US" altLang="zh-CN" dirty="0"/>
              <a:t>LL</a:t>
            </a:r>
            <a:r>
              <a:rPr lang="zh-CN" altLang="en-US" dirty="0"/>
              <a:t>（</a:t>
            </a:r>
            <a:r>
              <a:rPr lang="en-US" altLang="zh-CN" dirty="0"/>
              <a:t>1</a:t>
            </a:r>
            <a:r>
              <a:rPr lang="zh-CN" altLang="en-US" dirty="0"/>
              <a:t>）和</a:t>
            </a:r>
            <a:r>
              <a:rPr lang="en-US" altLang="zh-CN" dirty="0"/>
              <a:t>LL</a:t>
            </a:r>
            <a:r>
              <a:rPr lang="zh-CN" altLang="en-US" dirty="0"/>
              <a:t>（</a:t>
            </a:r>
            <a:r>
              <a:rPr lang="en-US" altLang="zh-CN" dirty="0"/>
              <a:t>1</a:t>
            </a:r>
            <a:r>
              <a:rPr lang="zh-CN" altLang="en-US" dirty="0"/>
              <a:t>）等价变换</a:t>
            </a:r>
          </a:p>
        </p:txBody>
      </p:sp>
      <p:sp>
        <p:nvSpPr>
          <p:cNvPr id="3" name="内容占位符 2"/>
          <p:cNvSpPr>
            <a:spLocks noGrp="1"/>
          </p:cNvSpPr>
          <p:nvPr>
            <p:ph idx="1"/>
          </p:nvPr>
        </p:nvSpPr>
        <p:spPr/>
        <p:txBody>
          <a:bodyPr/>
          <a:lstStyle/>
          <a:p>
            <a:r>
              <a:rPr lang="zh-CN" altLang="en-US" dirty="0"/>
              <a:t>相同左部的产生式中</a:t>
            </a:r>
            <a:r>
              <a:rPr lang="zh-CN" altLang="en-US" dirty="0">
                <a:solidFill>
                  <a:srgbClr val="FF0000"/>
                </a:solidFill>
              </a:rPr>
              <a:t>含有左公共因子</a:t>
            </a:r>
            <a:r>
              <a:rPr lang="zh-CN" altLang="en-US" dirty="0"/>
              <a:t>的文法不是</a:t>
            </a:r>
            <a:r>
              <a:rPr lang="en-US" altLang="zh-CN" dirty="0"/>
              <a:t>LL（1）</a:t>
            </a:r>
            <a:r>
              <a:rPr lang="zh-CN" altLang="en-US" dirty="0"/>
              <a:t>文法</a:t>
            </a:r>
            <a:endParaRPr lang="en-US" altLang="zh-CN" dirty="0"/>
          </a:p>
          <a:p>
            <a:pPr lvl="1"/>
            <a:r>
              <a:rPr lang="zh-CN" altLang="en-US" dirty="0"/>
              <a:t>不同产生式可选右部包含</a:t>
            </a:r>
            <a:r>
              <a:rPr lang="zh-CN" altLang="en-US" dirty="0">
                <a:solidFill>
                  <a:srgbClr val="FF0000"/>
                </a:solidFill>
              </a:rPr>
              <a:t>相同的前缀</a:t>
            </a:r>
            <a:r>
              <a:rPr lang="zh-CN" altLang="en-US" dirty="0"/>
              <a:t>，则在</a:t>
            </a:r>
            <a:r>
              <a:rPr lang="zh-CN" altLang="en-US" dirty="0">
                <a:solidFill>
                  <a:srgbClr val="FF0000"/>
                </a:solidFill>
              </a:rPr>
              <a:t>最左推导</a:t>
            </a:r>
            <a:r>
              <a:rPr lang="zh-CN" altLang="en-US" dirty="0"/>
              <a:t>过程中，对同一输入符号</a:t>
            </a:r>
            <a:r>
              <a:rPr lang="zh-CN" altLang="en-US" dirty="0">
                <a:solidFill>
                  <a:srgbClr val="FF0000"/>
                </a:solidFill>
              </a:rPr>
              <a:t>不能唯一的</a:t>
            </a:r>
            <a:r>
              <a:rPr lang="zh-CN" altLang="en-US" dirty="0"/>
              <a:t>确定应该使用的产生式，于是只能尝试，造成回溯</a:t>
            </a:r>
          </a:p>
          <a:p>
            <a:r>
              <a:rPr lang="zh-CN" altLang="en-US" dirty="0"/>
              <a:t>产生式中</a:t>
            </a:r>
            <a:r>
              <a:rPr lang="zh-CN" altLang="en-US" dirty="0">
                <a:solidFill>
                  <a:srgbClr val="FF0000"/>
                </a:solidFill>
              </a:rPr>
              <a:t>含有左递归</a:t>
            </a:r>
            <a:r>
              <a:rPr lang="zh-CN" altLang="en-US" dirty="0"/>
              <a:t>的文法不是</a:t>
            </a:r>
            <a:r>
              <a:rPr lang="en-US" altLang="zh-CN" dirty="0"/>
              <a:t>LL（1）</a:t>
            </a:r>
            <a:r>
              <a:rPr lang="zh-CN" altLang="en-US" dirty="0"/>
              <a:t>文法</a:t>
            </a:r>
            <a:endParaRPr lang="en-US" altLang="zh-CN" dirty="0"/>
          </a:p>
          <a:p>
            <a:pPr lvl="1"/>
            <a:r>
              <a:rPr lang="zh-CN" altLang="en-US" dirty="0">
                <a:solidFill>
                  <a:srgbClr val="000000"/>
                </a:solidFill>
              </a:rPr>
              <a:t>对文法中一切左递归的消除要求文法中不含回路即无</a:t>
            </a:r>
            <a:r>
              <a:rPr lang="en-US" altLang="zh-CN" dirty="0">
                <a:solidFill>
                  <a:srgbClr val="000000"/>
                </a:solidFill>
              </a:rPr>
              <a:t>A</a:t>
            </a:r>
            <a:r>
              <a:rPr lang="en-US" altLang="zh-CN" dirty="0">
                <a:solidFill>
                  <a:srgbClr val="000000"/>
                </a:solidFill>
                <a:sym typeface="Symbol" pitchFamily="18" charset="2"/>
              </a:rPr>
              <a:t></a:t>
            </a:r>
            <a:r>
              <a:rPr lang="en-US" altLang="zh-CN" baseline="30000" dirty="0">
                <a:solidFill>
                  <a:srgbClr val="000000"/>
                </a:solidFill>
              </a:rPr>
              <a:t>+</a:t>
            </a:r>
            <a:r>
              <a:rPr lang="en-US" altLang="zh-CN" dirty="0">
                <a:solidFill>
                  <a:srgbClr val="000000"/>
                </a:solidFill>
                <a:sym typeface="Symbol" pitchFamily="18" charset="2"/>
              </a:rPr>
              <a:t> A</a:t>
            </a:r>
            <a:r>
              <a:rPr lang="zh-CN" altLang="en-US" dirty="0">
                <a:solidFill>
                  <a:srgbClr val="000000"/>
                </a:solidFill>
                <a:sym typeface="Symbol" pitchFamily="18" charset="2"/>
              </a:rPr>
              <a:t>的推导。满足这个要求的充分条件是</a:t>
            </a:r>
            <a:r>
              <a:rPr lang="en-US" altLang="zh-CN" dirty="0">
                <a:solidFill>
                  <a:srgbClr val="000000"/>
                </a:solidFill>
                <a:sym typeface="Symbol" pitchFamily="18" charset="2"/>
              </a:rPr>
              <a:t>:</a:t>
            </a:r>
            <a:r>
              <a:rPr lang="zh-CN" altLang="en-US" dirty="0">
                <a:solidFill>
                  <a:srgbClr val="FF0000"/>
                </a:solidFill>
                <a:sym typeface="Symbol" pitchFamily="18" charset="2"/>
              </a:rPr>
              <a:t>文法中不包含形如</a:t>
            </a:r>
            <a:r>
              <a:rPr lang="en-US" altLang="zh-CN" dirty="0">
                <a:solidFill>
                  <a:srgbClr val="FF0000"/>
                </a:solidFill>
                <a:sym typeface="Symbol" pitchFamily="18" charset="2"/>
              </a:rPr>
              <a:t>A </a:t>
            </a:r>
            <a:r>
              <a:rPr lang="en-US" altLang="zh-CN" dirty="0">
                <a:solidFill>
                  <a:srgbClr val="FF0000"/>
                </a:solidFill>
              </a:rPr>
              <a:t> A </a:t>
            </a:r>
            <a:r>
              <a:rPr lang="zh-CN" altLang="en-US" dirty="0">
                <a:solidFill>
                  <a:srgbClr val="FF0000"/>
                </a:solidFill>
                <a:sym typeface="Symbol" pitchFamily="18" charset="2"/>
              </a:rPr>
              <a:t>的有害规则和 </a:t>
            </a:r>
            <a:r>
              <a:rPr lang="en-US" altLang="zh-CN" dirty="0">
                <a:solidFill>
                  <a:srgbClr val="FF0000"/>
                </a:solidFill>
                <a:sym typeface="Symbol" pitchFamily="18" charset="2"/>
              </a:rPr>
              <a:t>A </a:t>
            </a:r>
            <a:r>
              <a:rPr lang="zh-CN" altLang="en-US" dirty="0">
                <a:solidFill>
                  <a:srgbClr val="FF0000"/>
                </a:solidFill>
              </a:rPr>
              <a:t>的空产生式。</a:t>
            </a:r>
            <a:endParaRPr lang="zh-CN" altLang="en-US" dirty="0"/>
          </a:p>
          <a:p>
            <a:pPr lvl="1"/>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36</a:t>
            </a:fld>
            <a:endParaRPr lang="zh-CN" altLang="en-US">
              <a:solidFill>
                <a:srgbClr val="3F3F3F"/>
              </a:solidFill>
            </a:endParaRPr>
          </a:p>
        </p:txBody>
      </p:sp>
    </p:spTree>
    <p:extLst>
      <p:ext uri="{BB962C8B-B14F-4D97-AF65-F5344CB8AC3E}">
        <p14:creationId xmlns:p14="http://schemas.microsoft.com/office/powerpoint/2010/main" val="1146430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三、非</a:t>
            </a:r>
            <a:r>
              <a:rPr lang="en-US" altLang="zh-CN" dirty="0"/>
              <a:t>LL</a:t>
            </a:r>
            <a:r>
              <a:rPr lang="zh-CN" altLang="en-US" dirty="0"/>
              <a:t>（</a:t>
            </a:r>
            <a:r>
              <a:rPr lang="en-US" altLang="zh-CN" dirty="0"/>
              <a:t>1</a:t>
            </a:r>
            <a:r>
              <a:rPr lang="zh-CN" altLang="en-US" dirty="0"/>
              <a:t>）和</a:t>
            </a:r>
            <a:r>
              <a:rPr lang="en-US" altLang="zh-CN" dirty="0"/>
              <a:t>LL</a:t>
            </a:r>
            <a:r>
              <a:rPr lang="zh-CN" altLang="en-US" dirty="0"/>
              <a:t>（</a:t>
            </a:r>
            <a:r>
              <a:rPr lang="en-US" altLang="zh-CN" dirty="0"/>
              <a:t>1</a:t>
            </a:r>
            <a:r>
              <a:rPr lang="zh-CN" altLang="en-US" dirty="0"/>
              <a:t>）等价变换</a:t>
            </a:r>
          </a:p>
        </p:txBody>
      </p:sp>
      <p:sp>
        <p:nvSpPr>
          <p:cNvPr id="3" name="内容占位符 2"/>
          <p:cNvSpPr>
            <a:spLocks noGrp="1"/>
          </p:cNvSpPr>
          <p:nvPr>
            <p:ph idx="1"/>
          </p:nvPr>
        </p:nvSpPr>
        <p:spPr/>
        <p:txBody>
          <a:bodyPr/>
          <a:lstStyle/>
          <a:p>
            <a:r>
              <a:rPr lang="zh-CN" altLang="en-US" dirty="0"/>
              <a:t> 提取左公因子规则</a:t>
            </a:r>
          </a:p>
          <a:p>
            <a:endParaRPr lang="zh-CN" altLang="en-US" dirty="0"/>
          </a:p>
        </p:txBody>
      </p:sp>
      <p:sp>
        <p:nvSpPr>
          <p:cNvPr id="4" name="Rectangle 14"/>
          <p:cNvSpPr>
            <a:spLocks noChangeArrowheads="1"/>
          </p:cNvSpPr>
          <p:nvPr/>
        </p:nvSpPr>
        <p:spPr bwMode="auto">
          <a:xfrm>
            <a:off x="971555" y="1988822"/>
            <a:ext cx="7632700" cy="3960813"/>
          </a:xfrm>
          <a:prstGeom prst="rect">
            <a:avLst/>
          </a:prstGeom>
          <a:noFill/>
          <a:ln w="9525">
            <a:noFill/>
            <a:miter lim="800000"/>
            <a:headEnd/>
            <a:tailEnd/>
          </a:ln>
        </p:spPr>
        <p:txBody>
          <a:bodyPr/>
          <a:lstStyle/>
          <a:p>
            <a:pPr marL="342900" indent="-342900">
              <a:spcBef>
                <a:spcPct val="20000"/>
              </a:spcBef>
              <a:buSzPct val="75000"/>
              <a:buFont typeface="Symbol" pitchFamily="18" charset="2"/>
              <a:buChar char="-"/>
            </a:pPr>
            <a:r>
              <a:rPr lang="en-US" altLang="zh-CN" sz="2800" b="1" dirty="0"/>
              <a:t> </a:t>
            </a:r>
            <a:r>
              <a:rPr lang="zh-CN" altLang="en-US" sz="2800" b="1" dirty="0"/>
              <a:t>对形如 </a:t>
            </a:r>
          </a:p>
          <a:p>
            <a:pPr marL="342900" indent="-342900">
              <a:spcBef>
                <a:spcPct val="20000"/>
              </a:spcBef>
              <a:buSzPct val="75000"/>
              <a:buFont typeface="Symbol" pitchFamily="18" charset="2"/>
              <a:buNone/>
            </a:pPr>
            <a:endParaRPr lang="zh-CN" altLang="en-US" sz="1000" b="1" dirty="0"/>
          </a:p>
          <a:p>
            <a:pPr marL="342900" indent="-342900">
              <a:spcBef>
                <a:spcPct val="20000"/>
              </a:spcBef>
              <a:buClr>
                <a:schemeClr val="tx1"/>
              </a:buClr>
              <a:buSzPct val="75000"/>
            </a:pPr>
            <a:r>
              <a:rPr lang="zh-CN" altLang="en-US" sz="2800" b="1" dirty="0"/>
              <a:t>             </a:t>
            </a:r>
            <a:r>
              <a:rPr lang="en-US" altLang="zh-CN" sz="2800" dirty="0"/>
              <a:t>P </a:t>
            </a:r>
            <a:r>
              <a:rPr lang="en-US" altLang="zh-CN" sz="2800" b="1" dirty="0">
                <a:sym typeface="Symbol" pitchFamily="18" charset="2"/>
              </a:rPr>
              <a:t></a:t>
            </a:r>
            <a:r>
              <a:rPr lang="en-US" altLang="zh-CN" sz="2800" dirty="0"/>
              <a:t> </a:t>
            </a:r>
            <a:r>
              <a:rPr lang="en-US" altLang="zh-CN" sz="2800" b="1" dirty="0"/>
              <a:t>αβ</a:t>
            </a:r>
            <a:r>
              <a:rPr lang="en-US" altLang="zh-CN" sz="2800" b="1" dirty="0">
                <a:sym typeface="Symbol" pitchFamily="18" charset="2"/>
              </a:rPr>
              <a:t> </a:t>
            </a:r>
            <a:r>
              <a:rPr lang="en-US" altLang="zh-CN" sz="2800" b="1" dirty="0"/>
              <a:t>α</a:t>
            </a:r>
            <a:r>
              <a:rPr lang="el-GR" altLang="zh-CN" sz="2800" b="1" dirty="0">
                <a:latin typeface="楷体_GB2312" pitchFamily="49" charset="-122"/>
              </a:rPr>
              <a:t>γ</a:t>
            </a:r>
          </a:p>
          <a:p>
            <a:pPr marL="342900" indent="-342900">
              <a:spcBef>
                <a:spcPct val="20000"/>
              </a:spcBef>
              <a:buClr>
                <a:schemeClr val="tx1"/>
              </a:buClr>
              <a:buSzPct val="75000"/>
            </a:pPr>
            <a:endParaRPr lang="en-US" altLang="zh-CN" sz="1000" b="1" dirty="0"/>
          </a:p>
          <a:p>
            <a:pPr marL="342900" indent="-342900">
              <a:spcBef>
                <a:spcPct val="20000"/>
              </a:spcBef>
              <a:buClr>
                <a:schemeClr val="tx1"/>
              </a:buClr>
              <a:buSzPct val="75000"/>
            </a:pPr>
            <a:r>
              <a:rPr lang="en-US" altLang="zh-CN" sz="2800" b="1" dirty="0"/>
              <a:t>    </a:t>
            </a:r>
            <a:r>
              <a:rPr lang="zh-CN" altLang="en-US" sz="2800" b="1" dirty="0"/>
              <a:t>的一对产生式，可用如下三个产生式替换：</a:t>
            </a:r>
          </a:p>
          <a:p>
            <a:pPr marL="342900" indent="-342900">
              <a:spcBef>
                <a:spcPct val="20000"/>
              </a:spcBef>
              <a:buClr>
                <a:schemeClr val="tx1"/>
              </a:buClr>
              <a:buSzPct val="75000"/>
            </a:pPr>
            <a:endParaRPr lang="zh-CN" altLang="en-US" sz="1000" b="1" dirty="0"/>
          </a:p>
          <a:p>
            <a:pPr marL="342900" indent="-342900">
              <a:spcBef>
                <a:spcPct val="20000"/>
              </a:spcBef>
              <a:buClr>
                <a:schemeClr val="tx1"/>
              </a:buClr>
              <a:buSzPct val="75000"/>
            </a:pPr>
            <a:r>
              <a:rPr lang="zh-CN" altLang="en-US" sz="2800" b="1" dirty="0"/>
              <a:t>             </a:t>
            </a:r>
            <a:r>
              <a:rPr lang="en-US" altLang="zh-CN" sz="2800" dirty="0"/>
              <a:t>P </a:t>
            </a:r>
            <a:r>
              <a:rPr lang="en-US" altLang="zh-CN" sz="2800" b="1" dirty="0">
                <a:sym typeface="Symbol" pitchFamily="18" charset="2"/>
              </a:rPr>
              <a:t></a:t>
            </a:r>
            <a:r>
              <a:rPr lang="en-US" altLang="zh-CN" sz="2800" dirty="0"/>
              <a:t> </a:t>
            </a:r>
            <a:r>
              <a:rPr lang="en-US" altLang="zh-CN" sz="2800" b="1" dirty="0"/>
              <a:t>α</a:t>
            </a:r>
            <a:r>
              <a:rPr lang="en-US" altLang="zh-CN" sz="2800" dirty="0"/>
              <a:t>Q</a:t>
            </a:r>
          </a:p>
          <a:p>
            <a:pPr marL="342900" indent="-342900">
              <a:spcBef>
                <a:spcPct val="20000"/>
              </a:spcBef>
              <a:buClr>
                <a:schemeClr val="tx1"/>
              </a:buClr>
              <a:buSzPct val="75000"/>
            </a:pPr>
            <a:r>
              <a:rPr lang="en-US" altLang="zh-CN" sz="2800" dirty="0"/>
              <a:t>             Q </a:t>
            </a:r>
            <a:r>
              <a:rPr lang="en-US" altLang="zh-CN" sz="2800" b="1" dirty="0">
                <a:sym typeface="Symbol" pitchFamily="18" charset="2"/>
              </a:rPr>
              <a:t></a:t>
            </a:r>
            <a:r>
              <a:rPr lang="en-US" altLang="zh-CN" sz="2800" dirty="0"/>
              <a:t> </a:t>
            </a:r>
            <a:r>
              <a:rPr lang="en-US" altLang="zh-CN" sz="2800" b="1" dirty="0"/>
              <a:t>β</a:t>
            </a:r>
            <a:r>
              <a:rPr lang="en-US" altLang="zh-CN" sz="2800" dirty="0"/>
              <a:t> </a:t>
            </a:r>
            <a:r>
              <a:rPr lang="en-US" altLang="zh-CN" sz="2800" b="1" dirty="0">
                <a:sym typeface="Symbol" pitchFamily="18" charset="2"/>
              </a:rPr>
              <a:t></a:t>
            </a:r>
            <a:r>
              <a:rPr lang="en-US" altLang="zh-CN" sz="2800" b="1" dirty="0"/>
              <a:t> </a:t>
            </a:r>
            <a:r>
              <a:rPr lang="el-GR" altLang="zh-CN" sz="2800" b="1" dirty="0">
                <a:latin typeface="楷体_GB2312" pitchFamily="49" charset="-122"/>
              </a:rPr>
              <a:t>γ</a:t>
            </a:r>
            <a:endParaRPr lang="en-US" altLang="zh-CN" sz="2800" b="1" dirty="0"/>
          </a:p>
          <a:p>
            <a:pPr marL="342900" indent="-342900">
              <a:spcBef>
                <a:spcPct val="20000"/>
              </a:spcBef>
              <a:buClr>
                <a:schemeClr val="tx1"/>
              </a:buClr>
              <a:buSzPct val="75000"/>
            </a:pPr>
            <a:endParaRPr lang="en-US" altLang="zh-CN" sz="1000" b="1" dirty="0">
              <a:sym typeface="Symbol" pitchFamily="18" charset="2"/>
            </a:endParaRPr>
          </a:p>
          <a:p>
            <a:pPr marL="342900" indent="-342900">
              <a:spcBef>
                <a:spcPct val="20000"/>
              </a:spcBef>
              <a:buClr>
                <a:schemeClr val="tx1"/>
              </a:buClr>
              <a:buSzPct val="75000"/>
            </a:pPr>
            <a:r>
              <a:rPr lang="en-US" altLang="zh-CN" sz="2400" b="1" dirty="0">
                <a:sym typeface="Symbol" pitchFamily="18" charset="2"/>
              </a:rPr>
              <a:t>    </a:t>
            </a:r>
            <a:r>
              <a:rPr lang="zh-CN" altLang="en-US" sz="2800" b="1" dirty="0">
                <a:sym typeface="Symbol" pitchFamily="18" charset="2"/>
              </a:rPr>
              <a:t>其中</a:t>
            </a:r>
            <a:r>
              <a:rPr lang="en-US" altLang="zh-CN" sz="2800" dirty="0"/>
              <a:t>Q</a:t>
            </a:r>
            <a:r>
              <a:rPr lang="zh-CN" altLang="en-US" sz="2800" b="1" dirty="0"/>
              <a:t>为新增加的未出现过的非终结符</a:t>
            </a:r>
          </a:p>
          <a:p>
            <a:pPr marL="342900" indent="-342900">
              <a:spcBef>
                <a:spcPct val="20000"/>
              </a:spcBef>
              <a:buClr>
                <a:schemeClr val="tx1"/>
              </a:buClr>
              <a:buSzPct val="75000"/>
              <a:buFont typeface="Wingdings" pitchFamily="2" charset="2"/>
              <a:buChar char="l"/>
            </a:pPr>
            <a:endParaRPr lang="en-US" altLang="zh-CN" sz="2800" dirty="0"/>
          </a:p>
        </p:txBody>
      </p:sp>
      <p:sp>
        <p:nvSpPr>
          <p:cNvPr id="5" name="灯片编号占位符 4"/>
          <p:cNvSpPr>
            <a:spLocks noGrp="1"/>
          </p:cNvSpPr>
          <p:nvPr>
            <p:ph type="sldNum" sz="quarter" idx="12"/>
          </p:nvPr>
        </p:nvSpPr>
        <p:spPr/>
        <p:txBody>
          <a:bodyPr/>
          <a:lstStyle/>
          <a:p>
            <a:fld id="{1B43473F-AE3F-4D1C-9C4F-7AD3C17AC1AD}" type="slidenum">
              <a:rPr lang="zh-CN" altLang="en-US" smtClean="0">
                <a:solidFill>
                  <a:srgbClr val="3F3F3F"/>
                </a:solidFill>
              </a:rPr>
              <a:pPr/>
              <a:t>37</a:t>
            </a:fld>
            <a:endParaRPr lang="zh-CN" altLang="en-US">
              <a:solidFill>
                <a:srgbClr val="3F3F3F"/>
              </a:solidFill>
            </a:endParaRPr>
          </a:p>
        </p:txBody>
      </p:sp>
    </p:spTree>
    <p:extLst>
      <p:ext uri="{BB962C8B-B14F-4D97-AF65-F5344CB8AC3E}">
        <p14:creationId xmlns:p14="http://schemas.microsoft.com/office/powerpoint/2010/main" val="19239216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三、非</a:t>
            </a:r>
            <a:r>
              <a:rPr lang="en-US" altLang="zh-CN" dirty="0"/>
              <a:t>LL</a:t>
            </a:r>
            <a:r>
              <a:rPr lang="zh-CN" altLang="en-US" dirty="0"/>
              <a:t>（</a:t>
            </a:r>
            <a:r>
              <a:rPr lang="en-US" altLang="zh-CN" dirty="0"/>
              <a:t>1</a:t>
            </a:r>
            <a:r>
              <a:rPr lang="zh-CN" altLang="en-US" dirty="0"/>
              <a:t>）和</a:t>
            </a:r>
            <a:r>
              <a:rPr lang="en-US" altLang="zh-CN" dirty="0"/>
              <a:t>LL</a:t>
            </a:r>
            <a:r>
              <a:rPr lang="zh-CN" altLang="en-US" dirty="0"/>
              <a:t>（</a:t>
            </a:r>
            <a:r>
              <a:rPr lang="en-US" altLang="zh-CN" dirty="0"/>
              <a:t>1</a:t>
            </a:r>
            <a:r>
              <a:rPr lang="zh-CN" altLang="en-US" dirty="0"/>
              <a:t>）等价变换</a:t>
            </a:r>
          </a:p>
        </p:txBody>
      </p:sp>
      <p:sp>
        <p:nvSpPr>
          <p:cNvPr id="3" name="内容占位符 2"/>
          <p:cNvSpPr>
            <a:spLocks noGrp="1"/>
          </p:cNvSpPr>
          <p:nvPr>
            <p:ph idx="1"/>
          </p:nvPr>
        </p:nvSpPr>
        <p:spPr/>
        <p:txBody>
          <a:bodyPr/>
          <a:lstStyle/>
          <a:p>
            <a:r>
              <a:rPr lang="zh-CN" altLang="en-US" dirty="0"/>
              <a:t> 提取左公因子规则</a:t>
            </a:r>
          </a:p>
          <a:p>
            <a:endParaRPr lang="zh-CN" altLang="en-US" dirty="0"/>
          </a:p>
        </p:txBody>
      </p:sp>
      <p:sp>
        <p:nvSpPr>
          <p:cNvPr id="4" name="Rectangle 10"/>
          <p:cNvSpPr>
            <a:spLocks noChangeArrowheads="1"/>
          </p:cNvSpPr>
          <p:nvPr/>
        </p:nvSpPr>
        <p:spPr bwMode="auto">
          <a:xfrm>
            <a:off x="971555" y="1988822"/>
            <a:ext cx="7451725" cy="3960812"/>
          </a:xfrm>
          <a:prstGeom prst="rect">
            <a:avLst/>
          </a:prstGeom>
          <a:noFill/>
          <a:ln w="9525">
            <a:noFill/>
            <a:miter lim="800000"/>
            <a:headEnd/>
            <a:tailEnd/>
          </a:ln>
        </p:spPr>
        <p:txBody>
          <a:bodyPr/>
          <a:lstStyle/>
          <a:p>
            <a:pPr marL="342900" indent="-342900">
              <a:spcBef>
                <a:spcPct val="20000"/>
              </a:spcBef>
              <a:buSzPct val="75000"/>
              <a:buFont typeface="Symbol" pitchFamily="18" charset="2"/>
              <a:buChar char="-"/>
            </a:pPr>
            <a:r>
              <a:rPr lang="en-US" altLang="zh-CN" sz="2800" b="1" dirty="0"/>
              <a:t> </a:t>
            </a:r>
            <a:r>
              <a:rPr lang="zh-CN" altLang="en-US" sz="2800" b="1" dirty="0">
                <a:latin typeface="楷体_GB2312" pitchFamily="49" charset="-122"/>
              </a:rPr>
              <a:t>一般含有左公因子的产生式形如</a:t>
            </a:r>
            <a:r>
              <a:rPr lang="zh-CN" altLang="en-US" sz="2800" dirty="0">
                <a:latin typeface="楷体_GB2312" pitchFamily="49" charset="-122"/>
              </a:rPr>
              <a:t> </a:t>
            </a:r>
            <a:r>
              <a:rPr lang="zh-CN" altLang="en-US" sz="2800" b="1" dirty="0"/>
              <a:t> </a:t>
            </a:r>
          </a:p>
          <a:p>
            <a:pPr marL="342900" indent="-342900">
              <a:spcBef>
                <a:spcPct val="20000"/>
              </a:spcBef>
              <a:buSzPct val="75000"/>
              <a:buFont typeface="Symbol" pitchFamily="18" charset="2"/>
              <a:buNone/>
            </a:pPr>
            <a:endParaRPr lang="zh-CN" altLang="en-US" sz="1000" b="1" dirty="0"/>
          </a:p>
          <a:p>
            <a:pPr marL="342900" indent="-342900">
              <a:spcBef>
                <a:spcPct val="20000"/>
              </a:spcBef>
              <a:buClr>
                <a:schemeClr val="tx1"/>
              </a:buClr>
              <a:buSzPct val="75000"/>
            </a:pPr>
            <a:r>
              <a:rPr lang="zh-CN" altLang="en-US" sz="2800" b="1" dirty="0"/>
              <a:t>          </a:t>
            </a:r>
            <a:r>
              <a:rPr lang="en-US" altLang="zh-CN" sz="2800" dirty="0"/>
              <a:t>P </a:t>
            </a:r>
            <a:r>
              <a:rPr lang="en-US" altLang="zh-CN" sz="2800" b="1" dirty="0">
                <a:sym typeface="Symbol" pitchFamily="18" charset="2"/>
              </a:rPr>
              <a:t></a:t>
            </a:r>
            <a:r>
              <a:rPr lang="en-US" altLang="zh-CN" sz="2800" b="1" dirty="0">
                <a:ea typeface="宋体" pitchFamily="2" charset="-122"/>
              </a:rPr>
              <a:t> </a:t>
            </a:r>
            <a:r>
              <a:rPr lang="en-US" altLang="zh-CN" sz="2800" b="1" dirty="0"/>
              <a:t>αβ</a:t>
            </a:r>
            <a:r>
              <a:rPr lang="en-US" altLang="zh-CN" sz="2800" b="1" baseline="-25000" dirty="0">
                <a:ea typeface="宋体" pitchFamily="2" charset="-122"/>
              </a:rPr>
              <a:t>1</a:t>
            </a:r>
            <a:r>
              <a:rPr lang="en-US" altLang="zh-CN" sz="2800" b="1" dirty="0">
                <a:sym typeface="Symbol" pitchFamily="18" charset="2"/>
              </a:rPr>
              <a:t></a:t>
            </a:r>
            <a:r>
              <a:rPr lang="en-US" altLang="zh-CN" sz="2800" b="1" dirty="0"/>
              <a:t>αβ</a:t>
            </a:r>
            <a:r>
              <a:rPr lang="en-US" altLang="zh-CN" sz="2800" b="1" baseline="-25000" dirty="0">
                <a:ea typeface="宋体" pitchFamily="2" charset="-122"/>
              </a:rPr>
              <a:t>2</a:t>
            </a:r>
            <a:r>
              <a:rPr lang="en-US" altLang="zh-CN" sz="2800" b="1" dirty="0">
                <a:sym typeface="Symbol" pitchFamily="18" charset="2"/>
              </a:rPr>
              <a:t></a:t>
            </a:r>
            <a:r>
              <a:rPr lang="en-US" altLang="zh-CN" sz="2800" b="1" dirty="0">
                <a:latin typeface="Times New Roman" pitchFamily="18" charset="0"/>
                <a:ea typeface="宋体" pitchFamily="2" charset="-122"/>
              </a:rPr>
              <a:t>…</a:t>
            </a:r>
            <a:r>
              <a:rPr lang="en-US" altLang="zh-CN" sz="2800" b="1" dirty="0">
                <a:sym typeface="Symbol" pitchFamily="18" charset="2"/>
              </a:rPr>
              <a:t></a:t>
            </a:r>
            <a:r>
              <a:rPr lang="en-US" altLang="zh-CN" sz="2800" b="1" dirty="0"/>
              <a:t>αβ</a:t>
            </a:r>
            <a:r>
              <a:rPr lang="en-US" altLang="zh-CN" sz="2800" b="1" baseline="-25000" dirty="0">
                <a:ea typeface="宋体" pitchFamily="2" charset="-122"/>
              </a:rPr>
              <a:t>m</a:t>
            </a:r>
          </a:p>
          <a:p>
            <a:pPr marL="342900" indent="-342900">
              <a:spcBef>
                <a:spcPct val="20000"/>
              </a:spcBef>
              <a:buClr>
                <a:schemeClr val="tx1"/>
              </a:buClr>
              <a:buSzPct val="75000"/>
            </a:pPr>
            <a:r>
              <a:rPr lang="en-US" altLang="zh-CN" sz="2800" b="1" baseline="-25000" dirty="0">
                <a:ea typeface="宋体" pitchFamily="2" charset="-122"/>
              </a:rPr>
              <a:t>                          </a:t>
            </a:r>
            <a:r>
              <a:rPr lang="en-US" altLang="zh-CN" sz="2800" b="1" dirty="0">
                <a:sym typeface="Symbol" pitchFamily="18" charset="2"/>
              </a:rPr>
              <a:t></a:t>
            </a:r>
            <a:r>
              <a:rPr lang="el-GR" altLang="zh-CN" sz="2800" b="1" dirty="0">
                <a:latin typeface="楷体_GB2312" pitchFamily="49" charset="-122"/>
              </a:rPr>
              <a:t>γ</a:t>
            </a:r>
            <a:r>
              <a:rPr lang="en-US" altLang="zh-CN" sz="2800" b="1" baseline="-25000" dirty="0">
                <a:ea typeface="宋体" pitchFamily="2" charset="-122"/>
              </a:rPr>
              <a:t>1</a:t>
            </a:r>
            <a:r>
              <a:rPr lang="en-US" altLang="zh-CN" sz="2800" b="1" dirty="0">
                <a:sym typeface="Symbol" pitchFamily="18" charset="2"/>
              </a:rPr>
              <a:t></a:t>
            </a:r>
            <a:r>
              <a:rPr lang="el-GR" altLang="zh-CN" sz="2800" b="1" dirty="0">
                <a:latin typeface="楷体_GB2312" pitchFamily="49" charset="-122"/>
              </a:rPr>
              <a:t>γ</a:t>
            </a:r>
            <a:r>
              <a:rPr lang="en-US" altLang="zh-CN" sz="2800" b="1" dirty="0">
                <a:ea typeface="宋体" pitchFamily="2" charset="-122"/>
              </a:rPr>
              <a:t> </a:t>
            </a:r>
            <a:r>
              <a:rPr lang="en-US" altLang="zh-CN" sz="2800" b="1" baseline="-25000" dirty="0">
                <a:ea typeface="宋体" pitchFamily="2" charset="-122"/>
              </a:rPr>
              <a:t>2</a:t>
            </a:r>
            <a:r>
              <a:rPr lang="en-US" altLang="zh-CN" sz="2800" b="1" dirty="0">
                <a:sym typeface="Symbol" pitchFamily="18" charset="2"/>
              </a:rPr>
              <a:t></a:t>
            </a:r>
            <a:r>
              <a:rPr lang="en-US" altLang="zh-CN" sz="2800" b="1" dirty="0">
                <a:latin typeface="Times New Roman" pitchFamily="18" charset="0"/>
                <a:ea typeface="宋体" pitchFamily="2" charset="-122"/>
              </a:rPr>
              <a:t>…</a:t>
            </a:r>
            <a:r>
              <a:rPr lang="en-US" altLang="zh-CN" sz="2800" b="1" dirty="0">
                <a:sym typeface="Symbol" pitchFamily="18" charset="2"/>
              </a:rPr>
              <a:t></a:t>
            </a:r>
            <a:r>
              <a:rPr lang="el-GR" altLang="zh-CN" sz="2800" b="1" dirty="0">
                <a:latin typeface="楷体_GB2312" pitchFamily="49" charset="-122"/>
              </a:rPr>
              <a:t>γ</a:t>
            </a:r>
            <a:r>
              <a:rPr lang="en-US" altLang="zh-CN" sz="2800" b="1" baseline="-25000" dirty="0">
                <a:ea typeface="宋体" pitchFamily="2" charset="-122"/>
              </a:rPr>
              <a:t>n</a:t>
            </a:r>
          </a:p>
          <a:p>
            <a:pPr marL="342900" indent="-342900">
              <a:spcBef>
                <a:spcPct val="20000"/>
              </a:spcBef>
              <a:buClr>
                <a:schemeClr val="tx1"/>
              </a:buClr>
              <a:buSzPct val="75000"/>
            </a:pPr>
            <a:endParaRPr lang="en-US" altLang="zh-CN" sz="1000" b="1" dirty="0">
              <a:latin typeface="楷体_GB2312" pitchFamily="49" charset="-122"/>
            </a:endParaRPr>
          </a:p>
          <a:p>
            <a:pPr marL="342900" indent="-342900">
              <a:spcBef>
                <a:spcPct val="20000"/>
              </a:spcBef>
              <a:buClr>
                <a:schemeClr val="tx1"/>
              </a:buClr>
              <a:buSzPct val="75000"/>
            </a:pPr>
            <a:r>
              <a:rPr lang="en-US" altLang="zh-CN" sz="2800" b="1" dirty="0">
                <a:latin typeface="楷体_GB2312" pitchFamily="49" charset="-122"/>
              </a:rPr>
              <a:t> </a:t>
            </a:r>
            <a:r>
              <a:rPr lang="zh-CN" altLang="en-US" sz="2800" b="1" dirty="0">
                <a:latin typeface="楷体_GB2312" pitchFamily="49" charset="-122"/>
              </a:rPr>
              <a:t>其中，每个</a:t>
            </a:r>
            <a:r>
              <a:rPr lang="el-GR" altLang="zh-CN" sz="2800" b="1" dirty="0">
                <a:latin typeface="楷体_GB2312" pitchFamily="49" charset="-122"/>
              </a:rPr>
              <a:t>γ</a:t>
            </a:r>
            <a:r>
              <a:rPr lang="zh-CN" altLang="en-US" sz="2800" b="1" dirty="0">
                <a:latin typeface="楷体_GB2312" pitchFamily="49" charset="-122"/>
              </a:rPr>
              <a:t>不以</a:t>
            </a:r>
            <a:r>
              <a:rPr lang="en-US" altLang="zh-CN" sz="2800" b="1" dirty="0"/>
              <a:t>α</a:t>
            </a:r>
            <a:r>
              <a:rPr lang="zh-CN" altLang="en-US" sz="2800" b="1" dirty="0">
                <a:latin typeface="楷体_GB2312" pitchFamily="49" charset="-122"/>
              </a:rPr>
              <a:t>开头</a:t>
            </a:r>
            <a:r>
              <a:rPr lang="en-US" altLang="zh-CN" sz="2800" b="1" dirty="0">
                <a:latin typeface="楷体_GB2312" pitchFamily="49" charset="-122"/>
              </a:rPr>
              <a:t>.</a:t>
            </a:r>
            <a:r>
              <a:rPr lang="zh-CN" altLang="en-US" sz="2800" b="1" dirty="0"/>
              <a:t>提取左公共因子，</a:t>
            </a:r>
          </a:p>
          <a:p>
            <a:pPr marL="342900" indent="-342900">
              <a:spcBef>
                <a:spcPct val="20000"/>
              </a:spcBef>
              <a:buClr>
                <a:schemeClr val="tx1"/>
              </a:buClr>
              <a:buSzPct val="75000"/>
            </a:pPr>
            <a:r>
              <a:rPr lang="zh-CN" altLang="en-US" sz="2800" b="1" dirty="0"/>
              <a:t>  产生式改写成：</a:t>
            </a:r>
            <a:endParaRPr lang="zh-CN" altLang="en-US" sz="1000" b="1" dirty="0"/>
          </a:p>
          <a:p>
            <a:pPr marL="342900" indent="-342900">
              <a:spcBef>
                <a:spcPct val="20000"/>
              </a:spcBef>
              <a:buClr>
                <a:schemeClr val="tx1"/>
              </a:buClr>
              <a:buSzPct val="75000"/>
            </a:pPr>
            <a:r>
              <a:rPr kumimoji="0" lang="zh-CN" altLang="en-US" sz="2800" dirty="0">
                <a:solidFill>
                  <a:schemeClr val="tx1"/>
                </a:solidFill>
                <a:ea typeface="宋体" pitchFamily="2" charset="-122"/>
              </a:rPr>
              <a:t>          </a:t>
            </a:r>
            <a:r>
              <a:rPr kumimoji="0" lang="en-US" altLang="zh-CN" sz="2800" dirty="0">
                <a:solidFill>
                  <a:schemeClr val="tx1"/>
                </a:solidFill>
                <a:ea typeface="宋体" pitchFamily="2" charset="-122"/>
              </a:rPr>
              <a:t>P</a:t>
            </a:r>
            <a:r>
              <a:rPr lang="en-US" altLang="zh-CN" sz="2800" dirty="0">
                <a:solidFill>
                  <a:schemeClr val="tx1"/>
                </a:solidFill>
                <a:ea typeface="宋体" pitchFamily="2" charset="-122"/>
              </a:rPr>
              <a:t> </a:t>
            </a:r>
            <a:r>
              <a:rPr lang="en-US" altLang="zh-CN" sz="2800" b="1" dirty="0">
                <a:sym typeface="Symbol" pitchFamily="18" charset="2"/>
              </a:rPr>
              <a:t></a:t>
            </a:r>
            <a:r>
              <a:rPr lang="en-US" altLang="zh-CN" sz="2800" dirty="0">
                <a:solidFill>
                  <a:schemeClr val="tx1"/>
                </a:solidFill>
                <a:ea typeface="宋体" pitchFamily="2" charset="-122"/>
              </a:rPr>
              <a:t> </a:t>
            </a:r>
            <a:r>
              <a:rPr lang="en-US" altLang="zh-CN" sz="2800" b="1" dirty="0"/>
              <a:t>α</a:t>
            </a:r>
            <a:r>
              <a:rPr lang="en-US" altLang="zh-CN" sz="2800" dirty="0"/>
              <a:t>Q</a:t>
            </a:r>
            <a:r>
              <a:rPr lang="en-US" altLang="zh-CN" sz="2800" b="1" dirty="0">
                <a:sym typeface="Symbol" pitchFamily="18" charset="2"/>
              </a:rPr>
              <a:t></a:t>
            </a:r>
            <a:r>
              <a:rPr lang="el-GR" altLang="zh-CN" sz="2800" b="1" dirty="0">
                <a:latin typeface="楷体_GB2312" pitchFamily="49" charset="-122"/>
              </a:rPr>
              <a:t>γ</a:t>
            </a:r>
            <a:r>
              <a:rPr lang="en-US" altLang="zh-CN" sz="2800" b="1" baseline="-25000" dirty="0">
                <a:ea typeface="宋体" pitchFamily="2" charset="-122"/>
              </a:rPr>
              <a:t>1</a:t>
            </a:r>
            <a:r>
              <a:rPr lang="en-US" altLang="zh-CN" sz="2800" b="1" dirty="0">
                <a:sym typeface="Symbol" pitchFamily="18" charset="2"/>
              </a:rPr>
              <a:t></a:t>
            </a:r>
            <a:r>
              <a:rPr lang="el-GR" altLang="zh-CN" sz="2800" b="1" dirty="0">
                <a:latin typeface="楷体_GB2312" pitchFamily="49" charset="-122"/>
              </a:rPr>
              <a:t>γ</a:t>
            </a:r>
            <a:r>
              <a:rPr lang="en-US" altLang="zh-CN" sz="2800" b="1" dirty="0">
                <a:ea typeface="宋体" pitchFamily="2" charset="-122"/>
              </a:rPr>
              <a:t> </a:t>
            </a:r>
            <a:r>
              <a:rPr lang="en-US" altLang="zh-CN" sz="2800" b="1" baseline="-25000" dirty="0">
                <a:ea typeface="宋体" pitchFamily="2" charset="-122"/>
              </a:rPr>
              <a:t>2</a:t>
            </a:r>
            <a:r>
              <a:rPr lang="en-US" altLang="zh-CN" sz="2800" b="1" dirty="0">
                <a:sym typeface="Symbol" pitchFamily="18" charset="2"/>
              </a:rPr>
              <a:t></a:t>
            </a:r>
            <a:r>
              <a:rPr lang="en-US" altLang="zh-CN" sz="2800" b="1" dirty="0">
                <a:latin typeface="Times New Roman" pitchFamily="18" charset="0"/>
                <a:ea typeface="宋体" pitchFamily="2" charset="-122"/>
              </a:rPr>
              <a:t>…</a:t>
            </a:r>
            <a:r>
              <a:rPr lang="en-US" altLang="zh-CN" sz="2800" b="1" dirty="0">
                <a:sym typeface="Symbol" pitchFamily="18" charset="2"/>
              </a:rPr>
              <a:t></a:t>
            </a:r>
            <a:r>
              <a:rPr lang="el-GR" altLang="zh-CN" sz="2800" b="1" dirty="0">
                <a:latin typeface="楷体_GB2312" pitchFamily="49" charset="-122"/>
              </a:rPr>
              <a:t>γ</a:t>
            </a:r>
            <a:r>
              <a:rPr lang="en-US" altLang="zh-CN" sz="2800" b="1" baseline="-25000" dirty="0">
                <a:ea typeface="宋体" pitchFamily="2" charset="-122"/>
              </a:rPr>
              <a:t>n</a:t>
            </a:r>
            <a:endParaRPr lang="en-US" altLang="zh-CN" sz="2800" dirty="0">
              <a:solidFill>
                <a:schemeClr val="tx1"/>
              </a:solidFill>
              <a:ea typeface="宋体" pitchFamily="2" charset="-122"/>
            </a:endParaRPr>
          </a:p>
          <a:p>
            <a:pPr marL="342900" indent="-342900">
              <a:spcBef>
                <a:spcPct val="20000"/>
              </a:spcBef>
              <a:buClr>
                <a:schemeClr val="tx1"/>
              </a:buClr>
              <a:buSzPct val="75000"/>
            </a:pPr>
            <a:r>
              <a:rPr lang="en-US" altLang="zh-CN" sz="2800" dirty="0">
                <a:solidFill>
                  <a:schemeClr val="tx1"/>
                </a:solidFill>
                <a:ea typeface="宋体" pitchFamily="2" charset="-122"/>
              </a:rPr>
              <a:t>          </a:t>
            </a:r>
            <a:r>
              <a:rPr lang="en-US" altLang="zh-CN" sz="2800" dirty="0"/>
              <a:t>Q </a:t>
            </a:r>
            <a:r>
              <a:rPr lang="en-US" altLang="zh-CN" sz="2800" b="1" dirty="0">
                <a:sym typeface="Symbol" pitchFamily="18" charset="2"/>
              </a:rPr>
              <a:t></a:t>
            </a:r>
            <a:r>
              <a:rPr lang="en-US" altLang="zh-CN" sz="2800" dirty="0">
                <a:solidFill>
                  <a:schemeClr val="tx1"/>
                </a:solidFill>
                <a:ea typeface="宋体" pitchFamily="2" charset="-122"/>
              </a:rPr>
              <a:t> </a:t>
            </a:r>
            <a:r>
              <a:rPr lang="en-US" altLang="zh-CN" sz="2800" b="1" dirty="0"/>
              <a:t>β</a:t>
            </a:r>
            <a:r>
              <a:rPr lang="en-US" altLang="zh-CN" sz="2800" b="1" baseline="-25000" dirty="0">
                <a:ea typeface="宋体" pitchFamily="2" charset="-122"/>
              </a:rPr>
              <a:t>1</a:t>
            </a:r>
            <a:r>
              <a:rPr lang="en-US" altLang="zh-CN" sz="2800" b="1" dirty="0">
                <a:sym typeface="Symbol" pitchFamily="18" charset="2"/>
              </a:rPr>
              <a:t></a:t>
            </a:r>
            <a:r>
              <a:rPr lang="en-US" altLang="zh-CN" sz="2800" b="1" dirty="0"/>
              <a:t>β</a:t>
            </a:r>
            <a:r>
              <a:rPr lang="en-US" altLang="zh-CN" sz="2800" b="1" baseline="-25000" dirty="0">
                <a:ea typeface="宋体" pitchFamily="2" charset="-122"/>
              </a:rPr>
              <a:t>2</a:t>
            </a:r>
            <a:r>
              <a:rPr lang="en-US" altLang="zh-CN" sz="2800" b="1" dirty="0">
                <a:sym typeface="Symbol" pitchFamily="18" charset="2"/>
              </a:rPr>
              <a:t></a:t>
            </a:r>
            <a:r>
              <a:rPr lang="en-US" altLang="zh-CN" sz="2800" b="1" dirty="0">
                <a:latin typeface="Times New Roman" pitchFamily="18" charset="0"/>
                <a:ea typeface="宋体" pitchFamily="2" charset="-122"/>
              </a:rPr>
              <a:t>…</a:t>
            </a:r>
            <a:r>
              <a:rPr lang="en-US" altLang="zh-CN" sz="2800" b="1" dirty="0">
                <a:sym typeface="Symbol" pitchFamily="18" charset="2"/>
              </a:rPr>
              <a:t></a:t>
            </a:r>
            <a:r>
              <a:rPr lang="en-US" altLang="zh-CN" sz="2800" b="1" dirty="0"/>
              <a:t>β</a:t>
            </a:r>
            <a:r>
              <a:rPr lang="en-US" altLang="zh-CN" sz="2800" b="1" baseline="-25000" dirty="0">
                <a:ea typeface="宋体" pitchFamily="2" charset="-122"/>
              </a:rPr>
              <a:t>m</a:t>
            </a:r>
          </a:p>
        </p:txBody>
      </p:sp>
      <p:sp>
        <p:nvSpPr>
          <p:cNvPr id="5" name="灯片编号占位符 4"/>
          <p:cNvSpPr>
            <a:spLocks noGrp="1"/>
          </p:cNvSpPr>
          <p:nvPr>
            <p:ph type="sldNum" sz="quarter" idx="12"/>
          </p:nvPr>
        </p:nvSpPr>
        <p:spPr/>
        <p:txBody>
          <a:bodyPr/>
          <a:lstStyle/>
          <a:p>
            <a:fld id="{1B43473F-AE3F-4D1C-9C4F-7AD3C17AC1AD}" type="slidenum">
              <a:rPr lang="zh-CN" altLang="en-US" smtClean="0">
                <a:solidFill>
                  <a:srgbClr val="3F3F3F"/>
                </a:solidFill>
              </a:rPr>
              <a:pPr/>
              <a:t>38</a:t>
            </a:fld>
            <a:endParaRPr lang="zh-CN" altLang="en-US">
              <a:solidFill>
                <a:srgbClr val="3F3F3F"/>
              </a:solidFill>
            </a:endParaRPr>
          </a:p>
        </p:txBody>
      </p:sp>
    </p:spTree>
    <p:extLst>
      <p:ext uri="{BB962C8B-B14F-4D97-AF65-F5344CB8AC3E}">
        <p14:creationId xmlns:p14="http://schemas.microsoft.com/office/powerpoint/2010/main" val="5654797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solidFill>
                  <a:srgbClr val="FF0000"/>
                </a:solidFill>
              </a:rPr>
              <a:t>举例： 提取左公因子</a:t>
            </a:r>
          </a:p>
          <a:p>
            <a:endParaRPr lang="zh-CN" altLang="en-US" dirty="0"/>
          </a:p>
        </p:txBody>
      </p:sp>
      <p:sp>
        <p:nvSpPr>
          <p:cNvPr id="4" name="Rectangle 10"/>
          <p:cNvSpPr>
            <a:spLocks noChangeArrowheads="1"/>
          </p:cNvSpPr>
          <p:nvPr/>
        </p:nvSpPr>
        <p:spPr bwMode="auto">
          <a:xfrm>
            <a:off x="971555" y="1988822"/>
            <a:ext cx="7272338" cy="4175125"/>
          </a:xfrm>
          <a:prstGeom prst="rect">
            <a:avLst/>
          </a:prstGeom>
          <a:noFill/>
          <a:ln w="9525">
            <a:noFill/>
            <a:miter lim="800000"/>
            <a:headEnd/>
            <a:tailEnd/>
          </a:ln>
        </p:spPr>
        <p:txBody>
          <a:bodyPr/>
          <a:lstStyle/>
          <a:p>
            <a:pPr marL="342900" indent="-342900">
              <a:spcBef>
                <a:spcPct val="20000"/>
              </a:spcBef>
              <a:buSzPct val="75000"/>
              <a:buFont typeface="Symbol" pitchFamily="18" charset="2"/>
              <a:buChar char="-"/>
            </a:pPr>
            <a:r>
              <a:rPr lang="en-US" altLang="zh-CN" sz="2800" b="1" dirty="0"/>
              <a:t> </a:t>
            </a:r>
            <a:r>
              <a:rPr lang="zh-CN" altLang="en-US" sz="2800" b="1" dirty="0"/>
              <a:t>对文法 </a:t>
            </a:r>
            <a:r>
              <a:rPr lang="en-US" altLang="zh-CN" sz="2800" dirty="0"/>
              <a:t>G(S):</a:t>
            </a:r>
            <a:r>
              <a:rPr lang="en-US" altLang="zh-CN" sz="2800" b="1" dirty="0"/>
              <a:t> </a:t>
            </a:r>
          </a:p>
          <a:p>
            <a:pPr marL="342900" indent="-342900">
              <a:spcBef>
                <a:spcPct val="20000"/>
              </a:spcBef>
              <a:buSzPct val="75000"/>
              <a:buFont typeface="Symbol" pitchFamily="18" charset="2"/>
              <a:buNone/>
            </a:pPr>
            <a:endParaRPr lang="en-US" altLang="zh-CN" sz="1000" b="1" dirty="0"/>
          </a:p>
          <a:p>
            <a:pPr marL="342900" indent="-342900">
              <a:spcBef>
                <a:spcPct val="20000"/>
              </a:spcBef>
              <a:buClr>
                <a:schemeClr val="tx1"/>
              </a:buClr>
              <a:buSzPct val="75000"/>
            </a:pPr>
            <a:r>
              <a:rPr lang="en-US" altLang="zh-CN" sz="2800" b="1" dirty="0"/>
              <a:t>           </a:t>
            </a:r>
            <a:r>
              <a:rPr lang="en-US" altLang="zh-CN" sz="2800" dirty="0"/>
              <a:t>S </a:t>
            </a:r>
            <a:r>
              <a:rPr lang="en-US" altLang="zh-CN" sz="2800" dirty="0">
                <a:sym typeface="Symbol" pitchFamily="18" charset="2"/>
              </a:rPr>
              <a:t></a:t>
            </a:r>
            <a:r>
              <a:rPr lang="en-US" altLang="zh-CN" sz="2800" dirty="0"/>
              <a:t> </a:t>
            </a:r>
            <a:r>
              <a:rPr lang="en-US" altLang="zh-CN" sz="2800" u="sng" dirty="0">
                <a:solidFill>
                  <a:srgbClr val="FF0000"/>
                </a:solidFill>
              </a:rPr>
              <a:t>if</a:t>
            </a:r>
            <a:r>
              <a:rPr lang="en-US" altLang="zh-CN" sz="2800" dirty="0">
                <a:solidFill>
                  <a:srgbClr val="FF0000"/>
                </a:solidFill>
              </a:rPr>
              <a:t> C t S </a:t>
            </a:r>
            <a:r>
              <a:rPr lang="en-US" altLang="zh-CN" sz="2800" dirty="0">
                <a:sym typeface="Symbol" pitchFamily="18" charset="2"/>
              </a:rPr>
              <a:t></a:t>
            </a:r>
            <a:r>
              <a:rPr lang="en-US" altLang="zh-CN" sz="2800" dirty="0"/>
              <a:t> </a:t>
            </a:r>
            <a:r>
              <a:rPr lang="en-US" altLang="zh-CN" sz="2800" u="sng" dirty="0">
                <a:solidFill>
                  <a:srgbClr val="FF0000"/>
                </a:solidFill>
              </a:rPr>
              <a:t>if</a:t>
            </a:r>
            <a:r>
              <a:rPr lang="en-US" altLang="zh-CN" sz="2800" dirty="0">
                <a:solidFill>
                  <a:srgbClr val="FF0000"/>
                </a:solidFill>
              </a:rPr>
              <a:t> C t S </a:t>
            </a:r>
            <a:r>
              <a:rPr lang="en-US" altLang="zh-CN" sz="2800" dirty="0"/>
              <a:t>e S</a:t>
            </a:r>
          </a:p>
          <a:p>
            <a:pPr marL="342900" indent="-342900">
              <a:spcBef>
                <a:spcPct val="20000"/>
              </a:spcBef>
              <a:buClr>
                <a:schemeClr val="tx1"/>
              </a:buClr>
              <a:buSzPct val="75000"/>
            </a:pPr>
            <a:r>
              <a:rPr lang="en-US" altLang="zh-CN" sz="2800" dirty="0"/>
              <a:t>           C </a:t>
            </a:r>
            <a:r>
              <a:rPr lang="en-US" altLang="zh-CN" sz="2800" dirty="0">
                <a:sym typeface="Symbol" pitchFamily="18" charset="2"/>
              </a:rPr>
              <a:t></a:t>
            </a:r>
            <a:r>
              <a:rPr lang="en-US" altLang="zh-CN" sz="2800" dirty="0"/>
              <a:t> b</a:t>
            </a:r>
          </a:p>
          <a:p>
            <a:pPr marL="342900" indent="-342900">
              <a:spcBef>
                <a:spcPct val="20000"/>
              </a:spcBef>
              <a:buClr>
                <a:schemeClr val="tx1"/>
              </a:buClr>
              <a:buSzPct val="75000"/>
            </a:pPr>
            <a:endParaRPr lang="en-US" altLang="zh-CN" sz="1000" dirty="0"/>
          </a:p>
          <a:p>
            <a:pPr marL="342900" indent="-342900">
              <a:spcBef>
                <a:spcPct val="20000"/>
              </a:spcBef>
              <a:buClr>
                <a:schemeClr val="tx1"/>
              </a:buClr>
              <a:buSzPct val="75000"/>
            </a:pPr>
            <a:r>
              <a:rPr lang="en-US" altLang="zh-CN" sz="2800" b="1" dirty="0"/>
              <a:t>     </a:t>
            </a:r>
            <a:r>
              <a:rPr lang="zh-CN" altLang="en-US" sz="2800" b="1" dirty="0"/>
              <a:t>提取左公因子后，可改写为文法</a:t>
            </a:r>
            <a:r>
              <a:rPr lang="en-US" altLang="zh-CN" sz="2800" dirty="0"/>
              <a:t>G’(S)</a:t>
            </a:r>
            <a:r>
              <a:rPr lang="zh-CN" altLang="en-US" sz="2800" dirty="0"/>
              <a:t>：</a:t>
            </a:r>
          </a:p>
          <a:p>
            <a:pPr marL="342900" indent="-342900">
              <a:spcBef>
                <a:spcPct val="20000"/>
              </a:spcBef>
              <a:buClr>
                <a:schemeClr val="tx1"/>
              </a:buClr>
              <a:buSzPct val="75000"/>
            </a:pPr>
            <a:endParaRPr lang="zh-CN" altLang="en-US" sz="1000" dirty="0"/>
          </a:p>
          <a:p>
            <a:pPr marL="342900" indent="-342900">
              <a:spcBef>
                <a:spcPct val="20000"/>
              </a:spcBef>
              <a:buClr>
                <a:schemeClr val="tx1"/>
              </a:buClr>
              <a:buSzPct val="75000"/>
            </a:pPr>
            <a:r>
              <a:rPr lang="zh-CN" altLang="en-US" sz="2800" b="1" dirty="0"/>
              <a:t>           </a:t>
            </a:r>
            <a:r>
              <a:rPr lang="en-US" altLang="zh-CN" sz="2800" dirty="0"/>
              <a:t>S </a:t>
            </a:r>
            <a:r>
              <a:rPr lang="en-US" altLang="zh-CN" sz="2800" dirty="0">
                <a:sym typeface="Symbol" pitchFamily="18" charset="2"/>
              </a:rPr>
              <a:t></a:t>
            </a:r>
            <a:r>
              <a:rPr lang="en-US" altLang="zh-CN" sz="2800" dirty="0"/>
              <a:t> </a:t>
            </a:r>
            <a:r>
              <a:rPr lang="en-US" altLang="zh-CN" sz="2800" u="sng" dirty="0"/>
              <a:t>if</a:t>
            </a:r>
            <a:r>
              <a:rPr lang="en-US" altLang="zh-CN" sz="2800" dirty="0"/>
              <a:t> C t S A</a:t>
            </a:r>
          </a:p>
          <a:p>
            <a:pPr marL="342900" indent="-342900">
              <a:spcBef>
                <a:spcPct val="20000"/>
              </a:spcBef>
              <a:buClr>
                <a:schemeClr val="tx1"/>
              </a:buClr>
              <a:buSzPct val="75000"/>
            </a:pPr>
            <a:r>
              <a:rPr lang="en-US" altLang="zh-CN" sz="2800" dirty="0"/>
              <a:t>           A </a:t>
            </a:r>
            <a:r>
              <a:rPr lang="en-US" altLang="zh-CN" sz="2800" dirty="0">
                <a:sym typeface="Symbol" pitchFamily="18" charset="2"/>
              </a:rPr>
              <a:t></a:t>
            </a:r>
            <a:r>
              <a:rPr lang="en-US" altLang="zh-CN" sz="2800" dirty="0"/>
              <a:t> e S </a:t>
            </a:r>
            <a:r>
              <a:rPr lang="en-US" altLang="zh-CN" sz="2800" dirty="0">
                <a:sym typeface="Symbol" pitchFamily="18" charset="2"/>
              </a:rPr>
              <a:t></a:t>
            </a:r>
            <a:r>
              <a:rPr lang="en-US" altLang="zh-CN" sz="2800" dirty="0"/>
              <a:t> </a:t>
            </a:r>
            <a:r>
              <a:rPr lang="en-US" altLang="zh-CN" sz="2800" dirty="0">
                <a:sym typeface="Symbol" pitchFamily="18" charset="2"/>
              </a:rPr>
              <a:t></a:t>
            </a:r>
            <a:r>
              <a:rPr lang="en-US" altLang="zh-CN" sz="2800" dirty="0"/>
              <a:t> </a:t>
            </a:r>
          </a:p>
          <a:p>
            <a:pPr marL="342900" indent="-342900">
              <a:spcBef>
                <a:spcPct val="20000"/>
              </a:spcBef>
              <a:buClr>
                <a:schemeClr val="tx1"/>
              </a:buClr>
              <a:buSzPct val="75000"/>
            </a:pPr>
            <a:r>
              <a:rPr lang="en-US" altLang="zh-CN" sz="2800" dirty="0"/>
              <a:t>           C </a:t>
            </a:r>
            <a:r>
              <a:rPr lang="en-US" altLang="zh-CN" sz="2800" dirty="0">
                <a:sym typeface="Symbol" pitchFamily="18" charset="2"/>
              </a:rPr>
              <a:t></a:t>
            </a:r>
            <a:r>
              <a:rPr lang="en-US" altLang="zh-CN" sz="2800" dirty="0"/>
              <a:t> b</a:t>
            </a:r>
          </a:p>
        </p:txBody>
      </p:sp>
      <p:sp>
        <p:nvSpPr>
          <p:cNvPr id="5" name="灯片编号占位符 4"/>
          <p:cNvSpPr>
            <a:spLocks noGrp="1"/>
          </p:cNvSpPr>
          <p:nvPr>
            <p:ph type="sldNum" sz="quarter" idx="12"/>
          </p:nvPr>
        </p:nvSpPr>
        <p:spPr/>
        <p:txBody>
          <a:bodyPr/>
          <a:lstStyle/>
          <a:p>
            <a:fld id="{1B43473F-AE3F-4D1C-9C4F-7AD3C17AC1AD}" type="slidenum">
              <a:rPr lang="zh-CN" altLang="en-US" smtClean="0">
                <a:solidFill>
                  <a:srgbClr val="3F3F3F"/>
                </a:solidFill>
              </a:rPr>
              <a:pPr/>
              <a:t>39</a:t>
            </a:fld>
            <a:endParaRPr lang="zh-CN" altLang="en-US">
              <a:solidFill>
                <a:srgbClr val="3F3F3F"/>
              </a:solidFill>
            </a:endParaRPr>
          </a:p>
        </p:txBody>
      </p:sp>
    </p:spTree>
    <p:extLst>
      <p:ext uri="{BB962C8B-B14F-4D97-AF65-F5344CB8AC3E}">
        <p14:creationId xmlns:p14="http://schemas.microsoft.com/office/powerpoint/2010/main" val="28627042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三、非</a:t>
            </a:r>
            <a:r>
              <a:rPr lang="en-US" altLang="zh-CN" b="1" dirty="0"/>
              <a:t>LL</a:t>
            </a:r>
            <a:r>
              <a:rPr lang="zh-CN" altLang="en-US" b="1" dirty="0"/>
              <a:t>（</a:t>
            </a:r>
            <a:r>
              <a:rPr lang="en-US" altLang="zh-CN" b="1" dirty="0"/>
              <a:t>1</a:t>
            </a:r>
            <a:r>
              <a:rPr lang="zh-CN" altLang="en-US" b="1" dirty="0"/>
              <a:t>）和</a:t>
            </a:r>
            <a:r>
              <a:rPr lang="en-US" altLang="zh-CN" b="1" dirty="0"/>
              <a:t>LL</a:t>
            </a:r>
            <a:r>
              <a:rPr lang="zh-CN" altLang="en-US" b="1" dirty="0"/>
              <a:t>（</a:t>
            </a:r>
            <a:r>
              <a:rPr lang="en-US" altLang="zh-CN" b="1" dirty="0"/>
              <a:t>1</a:t>
            </a:r>
            <a:r>
              <a:rPr lang="zh-CN" altLang="en-US" b="1" dirty="0"/>
              <a:t>）等价变换</a:t>
            </a:r>
          </a:p>
        </p:txBody>
      </p:sp>
      <p:sp>
        <p:nvSpPr>
          <p:cNvPr id="3" name="内容占位符 2"/>
          <p:cNvSpPr>
            <a:spLocks noGrp="1"/>
          </p:cNvSpPr>
          <p:nvPr>
            <p:ph idx="1"/>
          </p:nvPr>
        </p:nvSpPr>
        <p:spPr/>
        <p:txBody>
          <a:bodyPr/>
          <a:lstStyle/>
          <a:p>
            <a:r>
              <a:rPr lang="zh-CN" altLang="en-US" dirty="0"/>
              <a:t>消除左递归</a:t>
            </a:r>
            <a:endParaRPr lang="en-US" altLang="zh-CN" dirty="0"/>
          </a:p>
          <a:p>
            <a:pPr lvl="1"/>
            <a:r>
              <a:rPr lang="zh-CN" altLang="en-US" dirty="0"/>
              <a:t>左递归消除规则</a:t>
            </a:r>
          </a:p>
          <a:p>
            <a:pPr lvl="1"/>
            <a:endParaRPr lang="zh-CN" altLang="en-US" dirty="0"/>
          </a:p>
        </p:txBody>
      </p:sp>
      <p:sp>
        <p:nvSpPr>
          <p:cNvPr id="4" name="Rectangle 11"/>
          <p:cNvSpPr>
            <a:spLocks noChangeArrowheads="1"/>
          </p:cNvSpPr>
          <p:nvPr/>
        </p:nvSpPr>
        <p:spPr bwMode="auto">
          <a:xfrm>
            <a:off x="971555" y="1988822"/>
            <a:ext cx="7632700" cy="4171950"/>
          </a:xfrm>
          <a:prstGeom prst="rect">
            <a:avLst/>
          </a:prstGeom>
          <a:noFill/>
          <a:ln w="9525">
            <a:noFill/>
            <a:miter lim="800000"/>
            <a:headEnd/>
            <a:tailEnd/>
          </a:ln>
        </p:spPr>
        <p:txBody>
          <a:bodyPr/>
          <a:lstStyle/>
          <a:p>
            <a:pPr marL="342900" indent="-342900">
              <a:spcBef>
                <a:spcPct val="20000"/>
              </a:spcBef>
              <a:buSzPct val="75000"/>
              <a:buFont typeface="Symbol" pitchFamily="18" charset="2"/>
              <a:buChar char="-"/>
            </a:pPr>
            <a:r>
              <a:rPr lang="zh-CN" altLang="en-US" sz="2800" b="1" dirty="0">
                <a:solidFill>
                  <a:srgbClr val="800080"/>
                </a:solidFill>
              </a:rPr>
              <a:t>简单直接左递归消除</a:t>
            </a:r>
          </a:p>
          <a:p>
            <a:pPr marL="342900" indent="-342900">
              <a:spcBef>
                <a:spcPct val="20000"/>
              </a:spcBef>
              <a:buClr>
                <a:schemeClr val="tx1"/>
              </a:buClr>
              <a:buSzPct val="75000"/>
            </a:pPr>
            <a:endParaRPr lang="zh-CN" altLang="en-US" sz="1000" b="1" dirty="0"/>
          </a:p>
          <a:p>
            <a:pPr marL="342900" indent="-342900">
              <a:spcBef>
                <a:spcPct val="20000"/>
              </a:spcBef>
              <a:buClr>
                <a:schemeClr val="tx1"/>
              </a:buClr>
              <a:buSzPct val="75000"/>
            </a:pPr>
            <a:r>
              <a:rPr lang="zh-CN" altLang="en-US" sz="2800" b="1" dirty="0"/>
              <a:t>    对形如 </a:t>
            </a:r>
          </a:p>
          <a:p>
            <a:pPr marL="342900" indent="-342900">
              <a:spcBef>
                <a:spcPct val="20000"/>
              </a:spcBef>
              <a:buClr>
                <a:schemeClr val="tx1"/>
              </a:buClr>
              <a:buSzPct val="75000"/>
            </a:pPr>
            <a:r>
              <a:rPr lang="zh-CN" altLang="en-US" sz="2800" b="1" dirty="0"/>
              <a:t>             </a:t>
            </a:r>
            <a:r>
              <a:rPr lang="en-US" altLang="zh-CN" sz="2800" dirty="0"/>
              <a:t>P </a:t>
            </a:r>
            <a:r>
              <a:rPr lang="en-US" altLang="zh-CN" sz="2800" b="1" dirty="0">
                <a:sym typeface="Symbol" pitchFamily="18" charset="2"/>
              </a:rPr>
              <a:t></a:t>
            </a:r>
            <a:r>
              <a:rPr lang="en-US" altLang="zh-CN" sz="2800" dirty="0"/>
              <a:t> P </a:t>
            </a:r>
            <a:r>
              <a:rPr lang="en-US" altLang="zh-CN" sz="2800" b="1" dirty="0" err="1"/>
              <a:t>α</a:t>
            </a:r>
            <a:r>
              <a:rPr lang="en-US" altLang="zh-CN" sz="2800" b="1" dirty="0" err="1">
                <a:sym typeface="Symbol" pitchFamily="18" charset="2"/>
              </a:rPr>
              <a:t></a:t>
            </a:r>
            <a:r>
              <a:rPr lang="en-US" altLang="zh-CN" sz="2800" b="1" dirty="0" err="1"/>
              <a:t>β</a:t>
            </a:r>
            <a:r>
              <a:rPr lang="en-US" altLang="zh-CN" sz="2800" b="1" dirty="0"/>
              <a:t> </a:t>
            </a:r>
          </a:p>
          <a:p>
            <a:pPr marL="342900" indent="-342900">
              <a:spcBef>
                <a:spcPct val="20000"/>
              </a:spcBef>
              <a:buClr>
                <a:schemeClr val="tx1"/>
              </a:buClr>
              <a:buSzPct val="75000"/>
            </a:pPr>
            <a:r>
              <a:rPr lang="en-US" altLang="zh-CN" sz="2800" b="1" dirty="0"/>
              <a:t>    </a:t>
            </a:r>
            <a:r>
              <a:rPr lang="zh-CN" altLang="en-US" sz="2800" b="1" dirty="0"/>
              <a:t>的产生式，其中</a:t>
            </a:r>
            <a:r>
              <a:rPr lang="en-US" altLang="zh-CN" sz="2800" b="1" dirty="0"/>
              <a:t>α</a:t>
            </a:r>
            <a:r>
              <a:rPr lang="zh-CN" altLang="en-US" sz="2800" b="1" dirty="0"/>
              <a:t>非</a:t>
            </a:r>
            <a:r>
              <a:rPr lang="zh-CN" altLang="en-US" sz="2400" b="1" dirty="0">
                <a:sym typeface="Symbol" pitchFamily="18" charset="2"/>
              </a:rPr>
              <a:t>， </a:t>
            </a:r>
            <a:r>
              <a:rPr lang="en-US" altLang="zh-CN" sz="2800" b="1" dirty="0"/>
              <a:t>β</a:t>
            </a:r>
            <a:r>
              <a:rPr lang="zh-CN" altLang="en-US" sz="2800" b="1" dirty="0"/>
              <a:t>不以 </a:t>
            </a:r>
            <a:r>
              <a:rPr lang="en-US" altLang="zh-CN" sz="2800" dirty="0"/>
              <a:t>P </a:t>
            </a:r>
            <a:r>
              <a:rPr lang="zh-CN" altLang="en-US" sz="2800" b="1" dirty="0"/>
              <a:t>打头，                  </a:t>
            </a:r>
            <a:endParaRPr lang="zh-CN" altLang="en-US" sz="2800" dirty="0"/>
          </a:p>
          <a:p>
            <a:pPr marL="342900" indent="-342900">
              <a:spcBef>
                <a:spcPct val="20000"/>
              </a:spcBef>
              <a:buClr>
                <a:schemeClr val="tx1"/>
              </a:buClr>
              <a:buSzPct val="75000"/>
            </a:pPr>
            <a:r>
              <a:rPr lang="zh-CN" altLang="en-US" sz="2800" b="1" dirty="0"/>
              <a:t>    可改写为：</a:t>
            </a:r>
          </a:p>
          <a:p>
            <a:pPr marL="342900" indent="-342900">
              <a:spcBef>
                <a:spcPct val="20000"/>
              </a:spcBef>
              <a:buClr>
                <a:schemeClr val="tx1"/>
              </a:buClr>
              <a:buSzPct val="75000"/>
            </a:pPr>
            <a:r>
              <a:rPr lang="zh-CN" altLang="en-US" sz="2800" b="1" dirty="0"/>
              <a:t>             </a:t>
            </a:r>
            <a:r>
              <a:rPr lang="en-US" altLang="zh-CN" sz="2800" dirty="0"/>
              <a:t>P </a:t>
            </a:r>
            <a:r>
              <a:rPr lang="en-US" altLang="zh-CN" sz="2800" b="1" dirty="0">
                <a:sym typeface="Symbol" pitchFamily="18" charset="2"/>
              </a:rPr>
              <a:t></a:t>
            </a:r>
            <a:r>
              <a:rPr lang="en-US" altLang="zh-CN" sz="2800" dirty="0"/>
              <a:t> </a:t>
            </a:r>
            <a:r>
              <a:rPr lang="en-US" altLang="zh-CN" sz="2800" b="1" dirty="0"/>
              <a:t> </a:t>
            </a:r>
            <a:r>
              <a:rPr lang="en-US" altLang="zh-CN" sz="2800" b="1" dirty="0" err="1"/>
              <a:t>β</a:t>
            </a:r>
            <a:r>
              <a:rPr lang="en-US" altLang="zh-CN" sz="2800" dirty="0" err="1"/>
              <a:t>Q</a:t>
            </a:r>
            <a:endParaRPr lang="en-US" altLang="zh-CN" sz="2800" dirty="0"/>
          </a:p>
          <a:p>
            <a:pPr marL="342900" indent="-342900">
              <a:spcBef>
                <a:spcPct val="20000"/>
              </a:spcBef>
              <a:buClr>
                <a:schemeClr val="tx1"/>
              </a:buClr>
              <a:buSzPct val="75000"/>
            </a:pPr>
            <a:r>
              <a:rPr lang="en-US" altLang="zh-CN" sz="2800" dirty="0"/>
              <a:t>             Q </a:t>
            </a:r>
            <a:r>
              <a:rPr lang="en-US" altLang="zh-CN" sz="2800" b="1" dirty="0">
                <a:sym typeface="Symbol" pitchFamily="18" charset="2"/>
              </a:rPr>
              <a:t></a:t>
            </a:r>
            <a:r>
              <a:rPr lang="en-US" altLang="zh-CN" sz="2800" dirty="0"/>
              <a:t> </a:t>
            </a:r>
            <a:r>
              <a:rPr lang="en-US" altLang="zh-CN" sz="2800" b="1" dirty="0" err="1"/>
              <a:t>α</a:t>
            </a:r>
            <a:r>
              <a:rPr lang="en-US" altLang="zh-CN" sz="2800" dirty="0" err="1"/>
              <a:t>Q</a:t>
            </a:r>
            <a:r>
              <a:rPr lang="en-US" altLang="zh-CN" sz="2800" dirty="0"/>
              <a:t> </a:t>
            </a:r>
            <a:r>
              <a:rPr lang="en-US" altLang="zh-CN" sz="2800" b="1" dirty="0">
                <a:sym typeface="Symbol" pitchFamily="18" charset="2"/>
              </a:rPr>
              <a:t></a:t>
            </a:r>
            <a:r>
              <a:rPr lang="en-US" altLang="zh-CN" sz="2800" b="1" dirty="0"/>
              <a:t> </a:t>
            </a:r>
            <a:r>
              <a:rPr lang="en-US" altLang="zh-CN" sz="2400" b="1" dirty="0">
                <a:sym typeface="Symbol" pitchFamily="18" charset="2"/>
              </a:rPr>
              <a:t></a:t>
            </a:r>
          </a:p>
          <a:p>
            <a:pPr marL="342900" indent="-342900">
              <a:spcBef>
                <a:spcPct val="20000"/>
              </a:spcBef>
              <a:buClr>
                <a:schemeClr val="tx1"/>
              </a:buClr>
              <a:buSzPct val="75000"/>
            </a:pPr>
            <a:r>
              <a:rPr lang="en-US" altLang="zh-CN" sz="2400" b="1" dirty="0">
                <a:sym typeface="Symbol" pitchFamily="18" charset="2"/>
              </a:rPr>
              <a:t>    </a:t>
            </a:r>
            <a:r>
              <a:rPr lang="zh-CN" altLang="en-US" sz="2800" b="1" dirty="0">
                <a:sym typeface="Symbol" pitchFamily="18" charset="2"/>
              </a:rPr>
              <a:t>其中</a:t>
            </a:r>
            <a:r>
              <a:rPr lang="en-US" altLang="zh-CN" sz="2800" dirty="0"/>
              <a:t>Q</a:t>
            </a:r>
            <a:r>
              <a:rPr lang="zh-CN" altLang="en-US" sz="2800" b="1" dirty="0"/>
              <a:t>为新增加的非终结符</a:t>
            </a:r>
            <a:endParaRPr lang="en-US" altLang="zh-CN" sz="2800" b="1" dirty="0"/>
          </a:p>
          <a:p>
            <a:pPr marL="342900" indent="-342900">
              <a:spcBef>
                <a:spcPct val="20000"/>
              </a:spcBef>
              <a:buClr>
                <a:schemeClr val="tx1"/>
              </a:buClr>
              <a:buSzPct val="75000"/>
            </a:pPr>
            <a:endParaRPr lang="zh-CN" altLang="en-US" sz="2800" b="1" dirty="0"/>
          </a:p>
          <a:p>
            <a:pPr marL="342900" indent="-342900">
              <a:spcBef>
                <a:spcPct val="20000"/>
              </a:spcBef>
              <a:buClr>
                <a:schemeClr val="tx1"/>
              </a:buClr>
              <a:buSzPct val="75000"/>
              <a:buFont typeface="Wingdings" pitchFamily="2" charset="2"/>
              <a:buChar char="l"/>
            </a:pPr>
            <a:endParaRPr lang="en-US" altLang="zh-CN" sz="2800" dirty="0"/>
          </a:p>
        </p:txBody>
      </p:sp>
      <p:sp>
        <p:nvSpPr>
          <p:cNvPr id="5" name="灯片编号占位符 4"/>
          <p:cNvSpPr>
            <a:spLocks noGrp="1"/>
          </p:cNvSpPr>
          <p:nvPr>
            <p:ph type="sldNum" sz="quarter" idx="12"/>
          </p:nvPr>
        </p:nvSpPr>
        <p:spPr/>
        <p:txBody>
          <a:bodyPr/>
          <a:lstStyle/>
          <a:p>
            <a:fld id="{1B43473F-AE3F-4D1C-9C4F-7AD3C17AC1AD}" type="slidenum">
              <a:rPr lang="zh-CN" altLang="en-US" smtClean="0">
                <a:solidFill>
                  <a:srgbClr val="3F3F3F"/>
                </a:solidFill>
              </a:rPr>
              <a:pPr/>
              <a:t>40</a:t>
            </a:fld>
            <a:endParaRPr lang="zh-CN" altLang="en-US">
              <a:solidFill>
                <a:srgbClr val="3F3F3F"/>
              </a:solidFill>
            </a:endParaRPr>
          </a:p>
        </p:txBody>
      </p:sp>
    </p:spTree>
    <p:extLst>
      <p:ext uri="{BB962C8B-B14F-4D97-AF65-F5344CB8AC3E}">
        <p14:creationId xmlns:p14="http://schemas.microsoft.com/office/powerpoint/2010/main" val="3644529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三、非</a:t>
            </a:r>
            <a:r>
              <a:rPr lang="en-US" altLang="zh-CN" dirty="0"/>
              <a:t>LL</a:t>
            </a:r>
            <a:r>
              <a:rPr lang="zh-CN" altLang="en-US" dirty="0"/>
              <a:t>（</a:t>
            </a:r>
            <a:r>
              <a:rPr lang="en-US" altLang="zh-CN" dirty="0"/>
              <a:t>1</a:t>
            </a:r>
            <a:r>
              <a:rPr lang="zh-CN" altLang="en-US" dirty="0"/>
              <a:t>）和</a:t>
            </a:r>
            <a:r>
              <a:rPr lang="en-US" altLang="zh-CN" dirty="0"/>
              <a:t>LL</a:t>
            </a:r>
            <a:r>
              <a:rPr lang="zh-CN" altLang="en-US" dirty="0"/>
              <a:t>（</a:t>
            </a:r>
            <a:r>
              <a:rPr lang="en-US" altLang="zh-CN" dirty="0"/>
              <a:t>1</a:t>
            </a:r>
            <a:r>
              <a:rPr lang="zh-CN" altLang="en-US" dirty="0"/>
              <a:t>）等价变换</a:t>
            </a:r>
          </a:p>
        </p:txBody>
      </p:sp>
      <p:sp>
        <p:nvSpPr>
          <p:cNvPr id="4" name="Rectangle 10"/>
          <p:cNvSpPr>
            <a:spLocks noChangeArrowheads="1"/>
          </p:cNvSpPr>
          <p:nvPr/>
        </p:nvSpPr>
        <p:spPr bwMode="auto">
          <a:xfrm>
            <a:off x="251466" y="1268733"/>
            <a:ext cx="7777163" cy="4679950"/>
          </a:xfrm>
          <a:prstGeom prst="rect">
            <a:avLst/>
          </a:prstGeom>
          <a:noFill/>
          <a:ln w="9525">
            <a:noFill/>
            <a:miter lim="800000"/>
            <a:headEnd/>
            <a:tailEnd/>
          </a:ln>
        </p:spPr>
        <p:txBody>
          <a:bodyPr/>
          <a:lstStyle/>
          <a:p>
            <a:pPr marL="342900" indent="-342900">
              <a:spcBef>
                <a:spcPct val="20000"/>
              </a:spcBef>
              <a:buSzPct val="75000"/>
              <a:buFont typeface="Symbol" pitchFamily="18" charset="2"/>
              <a:buChar char="-"/>
            </a:pPr>
            <a:r>
              <a:rPr lang="zh-CN" altLang="en-US" sz="2800" b="1" dirty="0">
                <a:solidFill>
                  <a:srgbClr val="800080"/>
                </a:solidFill>
              </a:rPr>
              <a:t>一般形式直接左递归消除</a:t>
            </a:r>
          </a:p>
          <a:p>
            <a:pPr marL="342900" indent="-342900">
              <a:spcBef>
                <a:spcPct val="20000"/>
              </a:spcBef>
              <a:buClr>
                <a:schemeClr val="tx1"/>
              </a:buClr>
              <a:buSzPct val="75000"/>
            </a:pPr>
            <a:endParaRPr lang="zh-CN" altLang="en-US" sz="1000" b="1" dirty="0"/>
          </a:p>
          <a:p>
            <a:pPr marL="342900" indent="-342900">
              <a:spcBef>
                <a:spcPct val="20000"/>
              </a:spcBef>
              <a:buClr>
                <a:schemeClr val="tx1"/>
              </a:buClr>
              <a:buSzPct val="75000"/>
            </a:pPr>
            <a:r>
              <a:rPr lang="zh-CN" altLang="en-US" sz="2800" b="1" dirty="0"/>
              <a:t>    对更一般的形如</a:t>
            </a:r>
            <a:r>
              <a:rPr lang="en-US" altLang="zh-CN" sz="2800" b="1" dirty="0"/>
              <a:t>G</a:t>
            </a:r>
            <a:r>
              <a:rPr lang="zh-CN" altLang="en-US" sz="2800" b="1" dirty="0"/>
              <a:t> </a:t>
            </a:r>
          </a:p>
          <a:p>
            <a:pPr marL="342900" indent="-342900">
              <a:spcBef>
                <a:spcPct val="20000"/>
              </a:spcBef>
              <a:buClr>
                <a:schemeClr val="tx1"/>
              </a:buClr>
              <a:buSzPct val="75000"/>
            </a:pPr>
            <a:r>
              <a:rPr lang="zh-CN" altLang="en-US" sz="2800" b="1" dirty="0"/>
              <a:t>        </a:t>
            </a:r>
            <a:r>
              <a:rPr lang="en-US" altLang="zh-CN" sz="2400" dirty="0"/>
              <a:t>P</a:t>
            </a:r>
            <a:r>
              <a:rPr lang="en-US" altLang="zh-CN" sz="2400" b="1" dirty="0">
                <a:sym typeface="Symbol" pitchFamily="18" charset="2"/>
              </a:rPr>
              <a:t></a:t>
            </a:r>
            <a:r>
              <a:rPr lang="en-US" altLang="zh-CN" sz="2400" dirty="0"/>
              <a:t>P</a:t>
            </a:r>
            <a:r>
              <a:rPr lang="en-US" altLang="zh-CN" sz="2400" b="1" dirty="0"/>
              <a:t>α</a:t>
            </a:r>
            <a:r>
              <a:rPr lang="en-US" altLang="zh-CN" sz="2400" b="1" baseline="-25000" dirty="0"/>
              <a:t>1</a:t>
            </a:r>
            <a:r>
              <a:rPr lang="en-US" altLang="zh-CN" sz="2400" b="1" dirty="0">
                <a:sym typeface="Symbol" pitchFamily="18" charset="2"/>
              </a:rPr>
              <a:t></a:t>
            </a:r>
            <a:r>
              <a:rPr lang="en-US" altLang="zh-CN" sz="2400" dirty="0"/>
              <a:t>P</a:t>
            </a:r>
            <a:r>
              <a:rPr lang="en-US" altLang="zh-CN" sz="2400" b="1" dirty="0"/>
              <a:t>α</a:t>
            </a:r>
            <a:r>
              <a:rPr lang="en-US" altLang="zh-CN" sz="2400" b="1" baseline="-25000" dirty="0"/>
              <a:t>2</a:t>
            </a:r>
            <a:r>
              <a:rPr lang="en-US" altLang="zh-CN" sz="2400" b="1" dirty="0">
                <a:sym typeface="Symbol" pitchFamily="18" charset="2"/>
              </a:rPr>
              <a:t>… </a:t>
            </a:r>
            <a:r>
              <a:rPr lang="en-US" altLang="zh-CN" sz="2400" dirty="0"/>
              <a:t>P</a:t>
            </a:r>
            <a:r>
              <a:rPr lang="en-US" altLang="zh-CN" sz="2400" b="1" dirty="0"/>
              <a:t>α</a:t>
            </a:r>
            <a:r>
              <a:rPr lang="en-US" altLang="zh-CN" sz="2400" b="1" i="1" baseline="-25000" dirty="0"/>
              <a:t>m</a:t>
            </a:r>
            <a:r>
              <a:rPr lang="en-US" altLang="zh-CN" sz="2400" b="1" dirty="0">
                <a:sym typeface="Symbol" pitchFamily="18" charset="2"/>
              </a:rPr>
              <a:t></a:t>
            </a:r>
            <a:r>
              <a:rPr lang="en-US" altLang="zh-CN" sz="2400" b="1" dirty="0"/>
              <a:t>β</a:t>
            </a:r>
            <a:r>
              <a:rPr lang="en-US" altLang="zh-CN" sz="2400" b="1" baseline="-25000" dirty="0"/>
              <a:t>1</a:t>
            </a:r>
            <a:r>
              <a:rPr lang="en-US" altLang="zh-CN" sz="2400" b="1" dirty="0">
                <a:sym typeface="Symbol" pitchFamily="18" charset="2"/>
              </a:rPr>
              <a:t></a:t>
            </a:r>
            <a:r>
              <a:rPr lang="en-US" altLang="zh-CN" sz="2400" b="1" dirty="0"/>
              <a:t>β</a:t>
            </a:r>
            <a:r>
              <a:rPr lang="en-US" altLang="zh-CN" sz="2400" b="1" baseline="-25000" dirty="0"/>
              <a:t>2</a:t>
            </a:r>
            <a:r>
              <a:rPr lang="en-US" altLang="zh-CN" sz="2400" b="1" dirty="0">
                <a:sym typeface="Symbol" pitchFamily="18" charset="2"/>
              </a:rPr>
              <a:t>…</a:t>
            </a:r>
            <a:r>
              <a:rPr lang="en-US" altLang="zh-CN" sz="2400" b="1" dirty="0"/>
              <a:t>β</a:t>
            </a:r>
            <a:r>
              <a:rPr lang="en-US" altLang="zh-CN" sz="2400" b="1" i="1" baseline="-25000" dirty="0"/>
              <a:t>n</a:t>
            </a:r>
          </a:p>
          <a:p>
            <a:pPr marL="342900" indent="-342900">
              <a:spcBef>
                <a:spcPct val="20000"/>
              </a:spcBef>
              <a:buClr>
                <a:schemeClr val="tx1"/>
              </a:buClr>
              <a:buSzPct val="75000"/>
            </a:pPr>
            <a:r>
              <a:rPr lang="en-US" altLang="zh-CN" sz="2800" b="1" dirty="0"/>
              <a:t>    </a:t>
            </a:r>
            <a:r>
              <a:rPr lang="zh-CN" altLang="en-US" sz="2800" b="1" dirty="0"/>
              <a:t>的一组产生式，其中</a:t>
            </a:r>
            <a:r>
              <a:rPr lang="en-US" altLang="zh-CN" sz="2800" b="1" dirty="0"/>
              <a:t>α</a:t>
            </a:r>
            <a:r>
              <a:rPr lang="en-US" altLang="zh-CN" sz="2800" b="1" i="1" baseline="-25000" dirty="0" err="1">
                <a:latin typeface="Times New Roman" pitchFamily="18" charset="0"/>
              </a:rPr>
              <a:t>i</a:t>
            </a:r>
            <a:r>
              <a:rPr lang="zh-CN" altLang="en-US" sz="2800" b="1" dirty="0"/>
              <a:t>（</a:t>
            </a:r>
            <a:r>
              <a:rPr lang="en-US" altLang="zh-CN" sz="2800" dirty="0"/>
              <a:t>1</a:t>
            </a:r>
            <a:r>
              <a:rPr lang="en-US" altLang="zh-CN" sz="2800" b="1" dirty="0">
                <a:sym typeface="Symbol" pitchFamily="18" charset="2"/>
              </a:rPr>
              <a:t></a:t>
            </a:r>
            <a:r>
              <a:rPr lang="en-US" altLang="zh-CN" sz="2800" b="1" i="1" dirty="0">
                <a:latin typeface="Times New Roman" pitchFamily="18" charset="0"/>
              </a:rPr>
              <a:t>i</a:t>
            </a:r>
            <a:r>
              <a:rPr lang="en-US" altLang="zh-CN" sz="2800" b="1" dirty="0">
                <a:sym typeface="Symbol" pitchFamily="18" charset="2"/>
              </a:rPr>
              <a:t></a:t>
            </a:r>
            <a:r>
              <a:rPr lang="en-US" altLang="zh-CN" sz="2800" i="1" dirty="0">
                <a:sym typeface="Symbol" pitchFamily="18" charset="2"/>
              </a:rPr>
              <a:t>m</a:t>
            </a:r>
            <a:r>
              <a:rPr lang="zh-CN" altLang="en-US" sz="2800" b="1" dirty="0"/>
              <a:t>）不为</a:t>
            </a:r>
            <a:r>
              <a:rPr lang="zh-CN" altLang="en-US" sz="2400" b="1" dirty="0">
                <a:sym typeface="Symbol" pitchFamily="18" charset="2"/>
              </a:rPr>
              <a:t>，</a:t>
            </a:r>
            <a:r>
              <a:rPr lang="en-US" altLang="zh-CN" sz="2800" b="1" dirty="0"/>
              <a:t>β</a:t>
            </a:r>
            <a:r>
              <a:rPr lang="en-US" altLang="zh-CN" sz="2800" b="1" i="1" baseline="-25000" dirty="0">
                <a:latin typeface="Times New Roman" pitchFamily="18" charset="0"/>
              </a:rPr>
              <a:t>j</a:t>
            </a:r>
            <a:r>
              <a:rPr lang="zh-CN" altLang="en-US" sz="2800" b="1" dirty="0"/>
              <a:t>（</a:t>
            </a:r>
            <a:r>
              <a:rPr lang="en-US" altLang="zh-CN" sz="2800" dirty="0"/>
              <a:t>1</a:t>
            </a:r>
            <a:r>
              <a:rPr lang="en-US" altLang="zh-CN" sz="2800" b="1" dirty="0">
                <a:sym typeface="Symbol" pitchFamily="18" charset="2"/>
              </a:rPr>
              <a:t></a:t>
            </a:r>
            <a:r>
              <a:rPr lang="en-US" altLang="zh-CN" sz="2800" b="1" i="1" dirty="0">
                <a:latin typeface="Times New Roman" pitchFamily="18" charset="0"/>
              </a:rPr>
              <a:t>j</a:t>
            </a:r>
            <a:r>
              <a:rPr lang="en-US" altLang="zh-CN" sz="2800" b="1" dirty="0">
                <a:sym typeface="Symbol" pitchFamily="18" charset="2"/>
              </a:rPr>
              <a:t></a:t>
            </a:r>
            <a:r>
              <a:rPr lang="en-US" altLang="zh-CN" sz="2800" i="1" dirty="0">
                <a:sym typeface="Symbol" pitchFamily="18" charset="2"/>
              </a:rPr>
              <a:t>n</a:t>
            </a:r>
            <a:r>
              <a:rPr lang="zh-CN" altLang="en-US" sz="2800" b="1" dirty="0"/>
              <a:t>）</a:t>
            </a:r>
            <a:r>
              <a:rPr lang="zh-CN" altLang="en-US" sz="2400" b="1" dirty="0">
                <a:sym typeface="Symbol" pitchFamily="18" charset="2"/>
              </a:rPr>
              <a:t> </a:t>
            </a:r>
            <a:r>
              <a:rPr lang="zh-CN" altLang="en-US" sz="2800" b="1" dirty="0"/>
              <a:t>不以 </a:t>
            </a:r>
            <a:r>
              <a:rPr lang="en-US" altLang="zh-CN" sz="2800" dirty="0"/>
              <a:t>P </a:t>
            </a:r>
            <a:r>
              <a:rPr lang="zh-CN" altLang="en-US" sz="2800" b="1" dirty="0"/>
              <a:t>打头，                  </a:t>
            </a:r>
            <a:endParaRPr lang="zh-CN" altLang="en-US" sz="2800" dirty="0"/>
          </a:p>
          <a:p>
            <a:pPr marL="342900" indent="-342900">
              <a:spcBef>
                <a:spcPct val="20000"/>
              </a:spcBef>
              <a:buClr>
                <a:schemeClr val="tx1"/>
              </a:buClr>
              <a:buSzPct val="75000"/>
            </a:pPr>
            <a:r>
              <a:rPr lang="zh-CN" altLang="en-US" sz="2800" b="1" dirty="0"/>
              <a:t>    可改写为</a:t>
            </a:r>
            <a:r>
              <a:rPr lang="en-US" altLang="zh-CN" sz="2800" b="1" dirty="0"/>
              <a:t>G`</a:t>
            </a:r>
            <a:r>
              <a:rPr lang="zh-CN" altLang="en-US" sz="2800" b="1" dirty="0"/>
              <a:t>：</a:t>
            </a:r>
          </a:p>
          <a:p>
            <a:pPr marL="342900" indent="-342900">
              <a:spcBef>
                <a:spcPct val="20000"/>
              </a:spcBef>
              <a:buClr>
                <a:schemeClr val="tx1"/>
              </a:buClr>
              <a:buSzPct val="75000"/>
            </a:pPr>
            <a:r>
              <a:rPr lang="zh-CN" altLang="en-US" sz="2800" b="1" dirty="0"/>
              <a:t>             </a:t>
            </a:r>
            <a:r>
              <a:rPr lang="en-US" altLang="zh-CN" sz="2400" dirty="0"/>
              <a:t>P</a:t>
            </a:r>
            <a:r>
              <a:rPr lang="en-US" altLang="zh-CN" sz="2400" b="1" dirty="0">
                <a:sym typeface="Symbol" pitchFamily="18" charset="2"/>
              </a:rPr>
              <a:t></a:t>
            </a:r>
            <a:r>
              <a:rPr lang="en-US" altLang="zh-CN" sz="2400" b="1" dirty="0"/>
              <a:t>β</a:t>
            </a:r>
            <a:r>
              <a:rPr lang="en-US" altLang="zh-CN" sz="2400" b="1" baseline="-25000" dirty="0"/>
              <a:t>1</a:t>
            </a:r>
            <a:r>
              <a:rPr lang="en-US" altLang="zh-CN" sz="2800" dirty="0"/>
              <a:t>Q</a:t>
            </a:r>
            <a:r>
              <a:rPr lang="en-US" altLang="zh-CN" sz="2400" b="1" dirty="0">
                <a:sym typeface="Symbol" pitchFamily="18" charset="2"/>
              </a:rPr>
              <a:t></a:t>
            </a:r>
            <a:r>
              <a:rPr lang="en-US" altLang="zh-CN" sz="2400" b="1" dirty="0"/>
              <a:t>β</a:t>
            </a:r>
            <a:r>
              <a:rPr lang="en-US" altLang="zh-CN" sz="2400" b="1" baseline="-25000" dirty="0"/>
              <a:t>2</a:t>
            </a:r>
            <a:r>
              <a:rPr lang="en-US" altLang="zh-CN" sz="2800" dirty="0"/>
              <a:t>Q</a:t>
            </a:r>
            <a:r>
              <a:rPr lang="en-US" altLang="zh-CN" sz="2400" b="1" dirty="0">
                <a:sym typeface="Symbol" pitchFamily="18" charset="2"/>
              </a:rPr>
              <a:t>…</a:t>
            </a:r>
            <a:r>
              <a:rPr lang="en-US" altLang="zh-CN" sz="2400" b="1" dirty="0"/>
              <a:t>β</a:t>
            </a:r>
            <a:r>
              <a:rPr lang="en-US" altLang="zh-CN" sz="2400" b="1" i="1" baseline="-25000" dirty="0" err="1"/>
              <a:t>n</a:t>
            </a:r>
            <a:r>
              <a:rPr lang="en-US" altLang="zh-CN" sz="2800" dirty="0" err="1"/>
              <a:t>Q</a:t>
            </a:r>
            <a:endParaRPr lang="en-US" altLang="zh-CN" sz="2800" dirty="0"/>
          </a:p>
          <a:p>
            <a:pPr marL="342900" indent="-342900">
              <a:spcBef>
                <a:spcPct val="20000"/>
              </a:spcBef>
              <a:buClr>
                <a:schemeClr val="tx1"/>
              </a:buClr>
              <a:buSzPct val="75000"/>
            </a:pPr>
            <a:r>
              <a:rPr lang="en-US" altLang="zh-CN" sz="2800" dirty="0"/>
              <a:t>             Q </a:t>
            </a:r>
            <a:r>
              <a:rPr lang="en-US" altLang="zh-CN" sz="2800" b="1" dirty="0">
                <a:sym typeface="Symbol" pitchFamily="18" charset="2"/>
              </a:rPr>
              <a:t></a:t>
            </a:r>
            <a:r>
              <a:rPr lang="en-US" altLang="zh-CN" sz="2800" dirty="0"/>
              <a:t> </a:t>
            </a:r>
            <a:r>
              <a:rPr lang="en-US" altLang="zh-CN" sz="2400" b="1" dirty="0"/>
              <a:t>α</a:t>
            </a:r>
            <a:r>
              <a:rPr lang="en-US" altLang="zh-CN" sz="2400" b="1" baseline="-25000" dirty="0"/>
              <a:t>1</a:t>
            </a:r>
            <a:r>
              <a:rPr lang="en-US" altLang="zh-CN" sz="2800" dirty="0"/>
              <a:t>Q</a:t>
            </a:r>
            <a:r>
              <a:rPr lang="en-US" altLang="zh-CN" sz="2400" b="1" dirty="0">
                <a:sym typeface="Symbol" pitchFamily="18" charset="2"/>
              </a:rPr>
              <a:t></a:t>
            </a:r>
            <a:r>
              <a:rPr lang="en-US" altLang="zh-CN" sz="2400" b="1" dirty="0"/>
              <a:t>α</a:t>
            </a:r>
            <a:r>
              <a:rPr lang="en-US" altLang="zh-CN" sz="2400" b="1" baseline="-25000" dirty="0"/>
              <a:t>2</a:t>
            </a:r>
            <a:r>
              <a:rPr lang="en-US" altLang="zh-CN" sz="2800" dirty="0"/>
              <a:t>Q</a:t>
            </a:r>
            <a:r>
              <a:rPr lang="en-US" altLang="zh-CN" sz="2400" b="1" dirty="0">
                <a:sym typeface="Symbol" pitchFamily="18" charset="2"/>
              </a:rPr>
              <a:t>…</a:t>
            </a:r>
            <a:r>
              <a:rPr lang="en-US" altLang="zh-CN" sz="2400" b="1" dirty="0"/>
              <a:t>α</a:t>
            </a:r>
            <a:r>
              <a:rPr lang="en-US" altLang="zh-CN" sz="2400" b="1" i="1" baseline="-25000" dirty="0" err="1"/>
              <a:t>m</a:t>
            </a:r>
            <a:r>
              <a:rPr lang="en-US" altLang="zh-CN" sz="2800" dirty="0" err="1"/>
              <a:t>Q</a:t>
            </a:r>
            <a:r>
              <a:rPr lang="en-US" altLang="zh-CN" sz="2800" dirty="0"/>
              <a:t> </a:t>
            </a:r>
            <a:r>
              <a:rPr lang="en-US" altLang="zh-CN" sz="2800" b="1" dirty="0">
                <a:sym typeface="Symbol" pitchFamily="18" charset="2"/>
              </a:rPr>
              <a:t></a:t>
            </a:r>
            <a:r>
              <a:rPr lang="en-US" altLang="zh-CN" sz="2800" b="1" dirty="0"/>
              <a:t> </a:t>
            </a:r>
            <a:r>
              <a:rPr lang="en-US" altLang="zh-CN" sz="2400" b="1" dirty="0">
                <a:sym typeface="Symbol" pitchFamily="18" charset="2"/>
              </a:rPr>
              <a:t></a:t>
            </a:r>
          </a:p>
          <a:p>
            <a:pPr marL="342900" indent="-342900">
              <a:spcBef>
                <a:spcPct val="20000"/>
              </a:spcBef>
              <a:buClr>
                <a:schemeClr val="tx1"/>
              </a:buClr>
              <a:buSzPct val="75000"/>
            </a:pPr>
            <a:r>
              <a:rPr lang="en-US" altLang="zh-CN" sz="2400" b="1" dirty="0">
                <a:sym typeface="Symbol" pitchFamily="18" charset="2"/>
              </a:rPr>
              <a:t>    </a:t>
            </a:r>
            <a:r>
              <a:rPr lang="zh-CN" altLang="en-US" sz="2800" b="1" dirty="0">
                <a:sym typeface="Symbol" pitchFamily="18" charset="2"/>
              </a:rPr>
              <a:t>其中</a:t>
            </a:r>
            <a:r>
              <a:rPr lang="en-US" altLang="zh-CN" sz="2800" dirty="0"/>
              <a:t>Q</a:t>
            </a:r>
            <a:r>
              <a:rPr lang="zh-CN" altLang="en-US" sz="2800" b="1" dirty="0"/>
              <a:t>为新增加的非终结符</a:t>
            </a:r>
            <a:endParaRPr lang="zh-CN" altLang="en-US" sz="2800" dirty="0"/>
          </a:p>
        </p:txBody>
      </p:sp>
      <p:sp>
        <p:nvSpPr>
          <p:cNvPr id="5" name="TextBox 4"/>
          <p:cNvSpPr txBox="1"/>
          <p:nvPr/>
        </p:nvSpPr>
        <p:spPr>
          <a:xfrm>
            <a:off x="2411733" y="5954623"/>
            <a:ext cx="6200736" cy="523220"/>
          </a:xfrm>
          <a:prstGeom prst="rect">
            <a:avLst/>
          </a:prstGeom>
          <a:noFill/>
        </p:spPr>
        <p:txBody>
          <a:bodyPr wrap="none" rtlCol="0">
            <a:spAutoFit/>
          </a:bodyPr>
          <a:lstStyle/>
          <a:p>
            <a:r>
              <a:rPr lang="zh-CN" altLang="en-US" sz="2800" b="1" dirty="0">
                <a:solidFill>
                  <a:srgbClr val="FF0000"/>
                </a:solidFill>
              </a:rPr>
              <a:t>依据：</a:t>
            </a:r>
            <a:r>
              <a:rPr lang="en-US" altLang="zh-CN" sz="2800" b="1" dirty="0">
                <a:solidFill>
                  <a:srgbClr val="FF0000"/>
                </a:solidFill>
              </a:rPr>
              <a:t>L</a:t>
            </a:r>
            <a:r>
              <a:rPr lang="zh-CN" altLang="en-US" sz="2800" b="1" dirty="0">
                <a:solidFill>
                  <a:srgbClr val="FF0000"/>
                </a:solidFill>
              </a:rPr>
              <a:t>（</a:t>
            </a:r>
            <a:r>
              <a:rPr lang="en-US" altLang="zh-CN" sz="2800" b="1" dirty="0">
                <a:solidFill>
                  <a:srgbClr val="FF0000"/>
                </a:solidFill>
              </a:rPr>
              <a:t>G</a:t>
            </a:r>
            <a:r>
              <a:rPr lang="zh-CN" altLang="en-US" sz="2800" b="1" dirty="0">
                <a:solidFill>
                  <a:srgbClr val="FF0000"/>
                </a:solidFill>
              </a:rPr>
              <a:t>）</a:t>
            </a:r>
            <a:r>
              <a:rPr lang="en-US" altLang="zh-CN" sz="2800" b="1" dirty="0">
                <a:solidFill>
                  <a:srgbClr val="FF0000"/>
                </a:solidFill>
              </a:rPr>
              <a:t>=L</a:t>
            </a:r>
            <a:r>
              <a:rPr lang="zh-CN" altLang="en-US" sz="2800" b="1" dirty="0">
                <a:solidFill>
                  <a:srgbClr val="FF0000"/>
                </a:solidFill>
              </a:rPr>
              <a:t>（</a:t>
            </a:r>
            <a:r>
              <a:rPr lang="en-US" altLang="zh-CN" sz="2800" b="1" dirty="0">
                <a:solidFill>
                  <a:srgbClr val="FF0000"/>
                </a:solidFill>
              </a:rPr>
              <a:t>G`</a:t>
            </a:r>
            <a:r>
              <a:rPr lang="zh-CN" altLang="en-US" sz="2800" b="1" dirty="0">
                <a:solidFill>
                  <a:srgbClr val="FF0000"/>
                </a:solidFill>
              </a:rPr>
              <a:t>）这是消除依据</a:t>
            </a: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41</a:t>
            </a:fld>
            <a:endParaRPr lang="zh-CN" altLang="en-US">
              <a:solidFill>
                <a:srgbClr val="3F3F3F"/>
              </a:solidFill>
            </a:endParaRPr>
          </a:p>
        </p:txBody>
      </p:sp>
    </p:spTree>
    <p:extLst>
      <p:ext uri="{BB962C8B-B14F-4D97-AF65-F5344CB8AC3E}">
        <p14:creationId xmlns:p14="http://schemas.microsoft.com/office/powerpoint/2010/main" val="174596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三、非</a:t>
            </a:r>
            <a:r>
              <a:rPr lang="en-US" altLang="zh-CN" dirty="0"/>
              <a:t>LL</a:t>
            </a:r>
            <a:r>
              <a:rPr lang="zh-CN" altLang="en-US" dirty="0"/>
              <a:t>（</a:t>
            </a:r>
            <a:r>
              <a:rPr lang="en-US" altLang="zh-CN" dirty="0"/>
              <a:t>1</a:t>
            </a:r>
            <a:r>
              <a:rPr lang="zh-CN" altLang="en-US" dirty="0"/>
              <a:t>）和</a:t>
            </a:r>
            <a:r>
              <a:rPr lang="en-US" altLang="zh-CN" dirty="0"/>
              <a:t>LL</a:t>
            </a:r>
            <a:r>
              <a:rPr lang="zh-CN" altLang="en-US" dirty="0"/>
              <a:t>（</a:t>
            </a:r>
            <a:r>
              <a:rPr lang="en-US" altLang="zh-CN" dirty="0"/>
              <a:t>1</a:t>
            </a:r>
            <a:r>
              <a:rPr lang="zh-CN" altLang="en-US" dirty="0"/>
              <a:t>）等价变换</a:t>
            </a:r>
          </a:p>
        </p:txBody>
      </p:sp>
      <p:sp>
        <p:nvSpPr>
          <p:cNvPr id="3" name="内容占位符 2"/>
          <p:cNvSpPr>
            <a:spLocks noGrp="1"/>
          </p:cNvSpPr>
          <p:nvPr>
            <p:ph idx="1"/>
          </p:nvPr>
        </p:nvSpPr>
        <p:spPr/>
        <p:txBody>
          <a:bodyPr/>
          <a:lstStyle/>
          <a:p>
            <a:r>
              <a:rPr lang="zh-CN" altLang="en-US" dirty="0"/>
              <a:t>消除左递归</a:t>
            </a:r>
          </a:p>
        </p:txBody>
      </p:sp>
      <p:sp>
        <p:nvSpPr>
          <p:cNvPr id="4" name="Rectangle 10"/>
          <p:cNvSpPr>
            <a:spLocks noChangeArrowheads="1"/>
          </p:cNvSpPr>
          <p:nvPr/>
        </p:nvSpPr>
        <p:spPr bwMode="auto">
          <a:xfrm>
            <a:off x="909637" y="1700843"/>
            <a:ext cx="7777163" cy="4608513"/>
          </a:xfrm>
          <a:prstGeom prst="rect">
            <a:avLst/>
          </a:prstGeom>
          <a:noFill/>
          <a:ln w="9525">
            <a:noFill/>
            <a:miter lim="800000"/>
            <a:headEnd/>
            <a:tailEnd/>
          </a:ln>
        </p:spPr>
        <p:txBody>
          <a:bodyPr/>
          <a:lstStyle/>
          <a:p>
            <a:pPr marL="342900" indent="-342900">
              <a:spcBef>
                <a:spcPct val="20000"/>
              </a:spcBef>
              <a:buSzPct val="75000"/>
              <a:buFont typeface="Symbol" pitchFamily="18" charset="2"/>
              <a:buChar char="-"/>
            </a:pPr>
            <a:r>
              <a:rPr lang="zh-CN" altLang="en-US" sz="2800" b="1" dirty="0">
                <a:solidFill>
                  <a:srgbClr val="800080"/>
                </a:solidFill>
              </a:rPr>
              <a:t>消除间接左递归（也可用于消除直接左递归）（了解）</a:t>
            </a:r>
          </a:p>
          <a:p>
            <a:pPr marL="342900" indent="-342900">
              <a:spcBef>
                <a:spcPct val="20000"/>
              </a:spcBef>
              <a:buClr>
                <a:schemeClr val="tx1"/>
              </a:buClr>
              <a:buSzPct val="75000"/>
            </a:pPr>
            <a:r>
              <a:rPr lang="zh-CN" altLang="en-US" sz="2800" b="1" dirty="0"/>
              <a:t>    </a:t>
            </a:r>
            <a:r>
              <a:rPr lang="zh-CN" altLang="en-US" b="1" dirty="0"/>
              <a:t>对无回路</a:t>
            </a:r>
            <a:r>
              <a:rPr lang="en-US" altLang="zh-CN" b="1" dirty="0"/>
              <a:t>(A </a:t>
            </a:r>
            <a:r>
              <a:rPr lang="en-US" altLang="zh-CN" b="1" dirty="0">
                <a:sym typeface="Symbol" pitchFamily="18" charset="2"/>
              </a:rPr>
              <a:t></a:t>
            </a:r>
            <a:r>
              <a:rPr lang="en-US" altLang="zh-CN" b="1" baseline="30000" dirty="0">
                <a:sym typeface="Symbol" pitchFamily="18" charset="2"/>
              </a:rPr>
              <a:t></a:t>
            </a:r>
            <a:r>
              <a:rPr lang="en-US" altLang="zh-CN" b="1" dirty="0">
                <a:sym typeface="Symbol" pitchFamily="18" charset="2"/>
              </a:rPr>
              <a:t> </a:t>
            </a:r>
            <a:r>
              <a:rPr lang="en-US" altLang="zh-CN" b="1" dirty="0"/>
              <a:t>A) </a:t>
            </a:r>
            <a:r>
              <a:rPr lang="zh-CN" altLang="en-US" b="1" dirty="0"/>
              <a:t>、无</a:t>
            </a:r>
            <a:r>
              <a:rPr lang="zh-CN" altLang="en-US" b="1" dirty="0">
                <a:sym typeface="Symbol" pitchFamily="18" charset="2"/>
              </a:rPr>
              <a:t></a:t>
            </a:r>
            <a:r>
              <a:rPr lang="en-US" altLang="zh-CN" b="1" dirty="0">
                <a:sym typeface="Symbol" pitchFamily="18" charset="2"/>
              </a:rPr>
              <a:t>-</a:t>
            </a:r>
            <a:r>
              <a:rPr lang="zh-CN" altLang="en-US" b="1" dirty="0"/>
              <a:t>产生式的文法，通过下列步骤可消除</a:t>
            </a:r>
          </a:p>
          <a:p>
            <a:pPr marL="342900" indent="-342900">
              <a:spcBef>
                <a:spcPct val="20000"/>
              </a:spcBef>
              <a:buClr>
                <a:schemeClr val="tx1"/>
              </a:buClr>
              <a:buSzPct val="75000"/>
            </a:pPr>
            <a:r>
              <a:rPr lang="zh-CN" altLang="en-US" b="1" dirty="0"/>
              <a:t>      一般左递归（包括直接和间接左递归）：</a:t>
            </a:r>
          </a:p>
          <a:p>
            <a:pPr marL="342900" indent="-342900">
              <a:spcBef>
                <a:spcPct val="20000"/>
              </a:spcBef>
              <a:buClr>
                <a:schemeClr val="tx1"/>
              </a:buClr>
              <a:buSzPct val="75000"/>
            </a:pPr>
            <a:r>
              <a:rPr lang="zh-CN" altLang="en-US" b="1" dirty="0"/>
              <a:t>     （</a:t>
            </a:r>
            <a:r>
              <a:rPr lang="en-US" altLang="zh-CN" b="1" dirty="0"/>
              <a:t>1</a:t>
            </a:r>
            <a:r>
              <a:rPr lang="zh-CN" altLang="en-US" b="1" dirty="0"/>
              <a:t>）以某种顺序将文法非终结符排列</a:t>
            </a:r>
            <a:r>
              <a:rPr lang="en-US" altLang="zh-CN" b="1" dirty="0"/>
              <a:t>A</a:t>
            </a:r>
            <a:r>
              <a:rPr lang="en-US" altLang="zh-CN" b="1" baseline="-25000" dirty="0"/>
              <a:t>1 ,</a:t>
            </a:r>
            <a:r>
              <a:rPr lang="en-US" altLang="zh-CN" b="1" dirty="0"/>
              <a:t>A</a:t>
            </a:r>
            <a:r>
              <a:rPr lang="en-US" altLang="zh-CN" b="1" baseline="-25000" dirty="0"/>
              <a:t>2 …</a:t>
            </a:r>
            <a:r>
              <a:rPr lang="en-US" altLang="zh-CN" b="1" dirty="0"/>
              <a:t>A</a:t>
            </a:r>
            <a:r>
              <a:rPr lang="en-US" altLang="zh-CN" b="1" baseline="-25000" dirty="0"/>
              <a:t>n</a:t>
            </a:r>
            <a:endParaRPr lang="en-US" altLang="zh-CN" b="1" dirty="0"/>
          </a:p>
          <a:p>
            <a:pPr marL="342900" indent="-342900">
              <a:spcBef>
                <a:spcPct val="20000"/>
              </a:spcBef>
              <a:buClr>
                <a:schemeClr val="tx1"/>
              </a:buClr>
              <a:buSzPct val="75000"/>
            </a:pPr>
            <a:r>
              <a:rPr lang="en-US" altLang="zh-CN" b="1" i="1" dirty="0"/>
              <a:t>     </a:t>
            </a:r>
            <a:r>
              <a:rPr lang="zh-CN" altLang="en-US" b="1" dirty="0"/>
              <a:t>（</a:t>
            </a:r>
            <a:r>
              <a:rPr lang="en-US" altLang="zh-CN" b="1" dirty="0"/>
              <a:t>2</a:t>
            </a:r>
            <a:r>
              <a:rPr lang="zh-CN" altLang="en-US" b="1" dirty="0"/>
              <a:t>）</a:t>
            </a:r>
            <a:r>
              <a:rPr lang="en-US" altLang="zh-CN" b="1" dirty="0"/>
              <a:t>for </a:t>
            </a:r>
            <a:r>
              <a:rPr lang="en-US" altLang="zh-CN" b="1" dirty="0" err="1"/>
              <a:t>i</a:t>
            </a:r>
            <a:r>
              <a:rPr lang="en-US" altLang="zh-CN" b="1" dirty="0"/>
              <a:t> = 1 , n  do  {</a:t>
            </a:r>
          </a:p>
          <a:p>
            <a:pPr marL="342900" indent="-342900">
              <a:spcBef>
                <a:spcPct val="20000"/>
              </a:spcBef>
              <a:buClr>
                <a:schemeClr val="tx1"/>
              </a:buClr>
              <a:buSzPct val="75000"/>
            </a:pPr>
            <a:r>
              <a:rPr lang="en-US" altLang="zh-CN" b="1" dirty="0"/>
              <a:t>                 for j=1,i-1 do   {</a:t>
            </a:r>
          </a:p>
          <a:p>
            <a:pPr marL="1143000" lvl="2" indent="-228600">
              <a:spcBef>
                <a:spcPct val="20000"/>
              </a:spcBef>
              <a:buClr>
                <a:schemeClr val="tx1"/>
              </a:buClr>
              <a:buSzPct val="75000"/>
            </a:pPr>
            <a:r>
              <a:rPr lang="en-US" altLang="zh-CN" b="1" dirty="0"/>
              <a:t>       </a:t>
            </a:r>
            <a:r>
              <a:rPr lang="zh-CN" altLang="en-US" b="1" dirty="0"/>
              <a:t>用</a:t>
            </a:r>
            <a:r>
              <a:rPr lang="en-US" altLang="zh-CN" b="1" dirty="0"/>
              <a:t>A</a:t>
            </a:r>
            <a:r>
              <a:rPr lang="en-US" altLang="zh-CN" b="1" baseline="-25000" dirty="0"/>
              <a:t>i </a:t>
            </a:r>
            <a:r>
              <a:rPr lang="en-US" altLang="zh-CN" b="1" dirty="0">
                <a:sym typeface="Symbol" pitchFamily="18" charset="2"/>
              </a:rPr>
              <a:t></a:t>
            </a:r>
            <a:r>
              <a:rPr lang="en-US" altLang="zh-CN" b="1" dirty="0"/>
              <a:t> </a:t>
            </a:r>
            <a:r>
              <a:rPr lang="en-US" altLang="zh-CN" b="1" dirty="0">
                <a:sym typeface="Symbol" pitchFamily="18" charset="2"/>
              </a:rPr>
              <a:t></a:t>
            </a:r>
            <a:r>
              <a:rPr lang="en-US" altLang="zh-CN" b="1" baseline="-25000" dirty="0">
                <a:sym typeface="Symbol" pitchFamily="18" charset="2"/>
              </a:rPr>
              <a:t>1 </a:t>
            </a:r>
            <a:r>
              <a:rPr lang="en-US" altLang="zh-CN" b="1" dirty="0">
                <a:sym typeface="Symbol" pitchFamily="18" charset="2"/>
              </a:rPr>
              <a:t>r </a:t>
            </a:r>
            <a:r>
              <a:rPr lang="en-US" altLang="zh-CN" b="1" baseline="-25000" dirty="0">
                <a:sym typeface="Symbol" pitchFamily="18" charset="2"/>
              </a:rPr>
              <a:t>2</a:t>
            </a:r>
            <a:r>
              <a:rPr lang="en-US" altLang="zh-CN" b="1" dirty="0">
                <a:sym typeface="Symbol" pitchFamily="18" charset="2"/>
              </a:rPr>
              <a:t>r…   </a:t>
            </a:r>
            <a:r>
              <a:rPr lang="en-US" altLang="zh-CN" b="1" baseline="-25000" dirty="0" err="1">
                <a:sym typeface="Symbol" pitchFamily="18" charset="2"/>
              </a:rPr>
              <a:t>k</a:t>
            </a:r>
            <a:r>
              <a:rPr lang="en-US" altLang="zh-CN" b="1" dirty="0" err="1">
                <a:sym typeface="Symbol" pitchFamily="18" charset="2"/>
              </a:rPr>
              <a:t>r</a:t>
            </a:r>
            <a:r>
              <a:rPr lang="zh-CN" altLang="en-US" b="1" dirty="0">
                <a:sym typeface="Symbol" pitchFamily="18" charset="2"/>
              </a:rPr>
              <a:t>反复替代形如</a:t>
            </a:r>
            <a:r>
              <a:rPr lang="en-US" altLang="zh-CN" b="1" dirty="0"/>
              <a:t>A</a:t>
            </a:r>
            <a:r>
              <a:rPr lang="en-US" altLang="zh-CN" b="1" baseline="-25000" dirty="0"/>
              <a:t>i </a:t>
            </a:r>
            <a:r>
              <a:rPr lang="en-US" altLang="zh-CN" b="1" dirty="0">
                <a:sym typeface="Symbol" pitchFamily="18" charset="2"/>
              </a:rPr>
              <a:t></a:t>
            </a:r>
            <a:r>
              <a:rPr lang="en-US" altLang="zh-CN" b="1" dirty="0"/>
              <a:t> </a:t>
            </a:r>
            <a:r>
              <a:rPr lang="en-US" altLang="zh-CN" b="1" dirty="0" err="1"/>
              <a:t>A</a:t>
            </a:r>
            <a:r>
              <a:rPr lang="en-US" altLang="zh-CN" b="1" baseline="-25000" dirty="0" err="1">
                <a:sym typeface="Symbol" pitchFamily="18" charset="2"/>
              </a:rPr>
              <a:t>j</a:t>
            </a:r>
            <a:r>
              <a:rPr lang="en-US" altLang="zh-CN" b="1" dirty="0" err="1"/>
              <a:t>r</a:t>
            </a:r>
            <a:r>
              <a:rPr lang="zh-CN" altLang="en-US" b="1" dirty="0"/>
              <a:t>的规则</a:t>
            </a:r>
            <a:r>
              <a:rPr lang="en-US" altLang="zh-CN" b="1" dirty="0"/>
              <a:t>,</a:t>
            </a:r>
          </a:p>
          <a:p>
            <a:pPr marL="1143000" lvl="2" indent="-228600">
              <a:spcBef>
                <a:spcPct val="20000"/>
              </a:spcBef>
              <a:buClr>
                <a:schemeClr val="tx1"/>
              </a:buClr>
              <a:buSzPct val="75000"/>
            </a:pPr>
            <a:r>
              <a:rPr lang="en-US" altLang="zh-CN" b="1" dirty="0"/>
              <a:t>       </a:t>
            </a:r>
            <a:r>
              <a:rPr lang="zh-CN" altLang="en-US" b="1" dirty="0"/>
              <a:t>其中</a:t>
            </a:r>
            <a:r>
              <a:rPr lang="en-US" altLang="zh-CN" b="1" dirty="0" err="1"/>
              <a:t>A</a:t>
            </a:r>
            <a:r>
              <a:rPr lang="en-US" altLang="zh-CN" b="1" baseline="-25000" dirty="0" err="1">
                <a:sym typeface="Symbol" pitchFamily="18" charset="2"/>
              </a:rPr>
              <a:t>j</a:t>
            </a:r>
            <a:r>
              <a:rPr lang="en-US" altLang="zh-CN" b="1" baseline="-25000" dirty="0">
                <a:sym typeface="Symbol" pitchFamily="18" charset="2"/>
              </a:rPr>
              <a:t> </a:t>
            </a:r>
            <a:r>
              <a:rPr lang="en-US" altLang="zh-CN" b="1" dirty="0">
                <a:sym typeface="Symbol" pitchFamily="18" charset="2"/>
              </a:rPr>
              <a:t></a:t>
            </a:r>
            <a:r>
              <a:rPr lang="en-US" altLang="zh-CN" b="1" dirty="0"/>
              <a:t> </a:t>
            </a:r>
            <a:r>
              <a:rPr lang="en-US" altLang="zh-CN" b="1" dirty="0">
                <a:sym typeface="Symbol" pitchFamily="18" charset="2"/>
              </a:rPr>
              <a:t></a:t>
            </a:r>
            <a:r>
              <a:rPr lang="en-US" altLang="zh-CN" b="1" baseline="-25000" dirty="0">
                <a:sym typeface="Symbol" pitchFamily="18" charset="2"/>
              </a:rPr>
              <a:t>1 </a:t>
            </a:r>
            <a:r>
              <a:rPr lang="en-US" altLang="zh-CN" b="1" dirty="0">
                <a:sym typeface="Symbol" pitchFamily="18" charset="2"/>
              </a:rPr>
              <a:t></a:t>
            </a:r>
            <a:r>
              <a:rPr lang="en-US" altLang="zh-CN" b="1" dirty="0"/>
              <a:t> </a:t>
            </a:r>
            <a:r>
              <a:rPr lang="en-US" altLang="zh-CN" b="1" dirty="0">
                <a:sym typeface="Symbol" pitchFamily="18" charset="2"/>
              </a:rPr>
              <a:t></a:t>
            </a:r>
            <a:r>
              <a:rPr lang="en-US" altLang="zh-CN" b="1" baseline="-25000" dirty="0">
                <a:sym typeface="Symbol" pitchFamily="18" charset="2"/>
              </a:rPr>
              <a:t>2</a:t>
            </a:r>
            <a:r>
              <a:rPr lang="en-US" altLang="zh-CN" b="1" dirty="0">
                <a:sym typeface="Symbol" pitchFamily="18" charset="2"/>
              </a:rPr>
              <a:t>…  </a:t>
            </a:r>
            <a:r>
              <a:rPr lang="en-US" altLang="zh-CN" b="1" baseline="-25000" dirty="0">
                <a:sym typeface="Symbol" pitchFamily="18" charset="2"/>
              </a:rPr>
              <a:t>k</a:t>
            </a:r>
            <a:r>
              <a:rPr lang="zh-CN" altLang="en-US" b="1" dirty="0">
                <a:sym typeface="Symbol" pitchFamily="18" charset="2"/>
              </a:rPr>
              <a:t>是关于</a:t>
            </a:r>
            <a:r>
              <a:rPr lang="en-US" altLang="zh-CN" b="1" dirty="0" err="1">
                <a:sym typeface="Symbol" pitchFamily="18" charset="2"/>
              </a:rPr>
              <a:t>A</a:t>
            </a:r>
            <a:r>
              <a:rPr lang="en-US" altLang="zh-CN" b="1" baseline="-25000" dirty="0" err="1">
                <a:sym typeface="Symbol" pitchFamily="18" charset="2"/>
              </a:rPr>
              <a:t>j</a:t>
            </a:r>
            <a:r>
              <a:rPr lang="zh-CN" altLang="en-US" b="1" dirty="0">
                <a:sym typeface="Symbol" pitchFamily="18" charset="2"/>
              </a:rPr>
              <a:t>的全部产生式</a:t>
            </a:r>
            <a:r>
              <a:rPr lang="en-US" altLang="zh-CN" b="1" dirty="0">
                <a:sym typeface="Symbol" pitchFamily="18" charset="2"/>
              </a:rPr>
              <a:t>;</a:t>
            </a:r>
          </a:p>
          <a:p>
            <a:pPr marL="1143000" lvl="2" indent="-228600">
              <a:spcBef>
                <a:spcPct val="20000"/>
              </a:spcBef>
              <a:buClr>
                <a:schemeClr val="tx1"/>
              </a:buClr>
              <a:buSzPct val="75000"/>
            </a:pPr>
            <a:r>
              <a:rPr lang="en-US" altLang="zh-CN" b="1" dirty="0">
                <a:sym typeface="Symbol" pitchFamily="18" charset="2"/>
              </a:rPr>
              <a:t>    }</a:t>
            </a:r>
          </a:p>
          <a:p>
            <a:pPr marL="742950" lvl="1" indent="-285750">
              <a:spcBef>
                <a:spcPct val="20000"/>
              </a:spcBef>
              <a:buClr>
                <a:schemeClr val="tx1"/>
              </a:buClr>
              <a:buSzPct val="75000"/>
              <a:buFontTx/>
              <a:buNone/>
            </a:pPr>
            <a:r>
              <a:rPr lang="en-US" altLang="zh-CN" b="1" dirty="0">
                <a:sym typeface="Symbol" pitchFamily="18" charset="2"/>
              </a:rPr>
              <a:t>         </a:t>
            </a:r>
            <a:r>
              <a:rPr lang="zh-CN" altLang="en-US" b="1" dirty="0">
                <a:sym typeface="Symbol" pitchFamily="18" charset="2"/>
              </a:rPr>
              <a:t>消除</a:t>
            </a:r>
            <a:r>
              <a:rPr lang="en-US" altLang="zh-CN" b="1" dirty="0"/>
              <a:t>A</a:t>
            </a:r>
            <a:r>
              <a:rPr lang="en-US" altLang="zh-CN" b="1" baseline="-25000" dirty="0"/>
              <a:t>i</a:t>
            </a:r>
            <a:r>
              <a:rPr lang="zh-CN" altLang="en-US" b="1" dirty="0">
                <a:sym typeface="Symbol" pitchFamily="18" charset="2"/>
              </a:rPr>
              <a:t>规则的直接左递归</a:t>
            </a:r>
            <a:r>
              <a:rPr lang="en-US" altLang="zh-CN" b="1" dirty="0">
                <a:sym typeface="Symbol" pitchFamily="18" charset="2"/>
              </a:rPr>
              <a:t>;</a:t>
            </a:r>
            <a:r>
              <a:rPr lang="en-US" altLang="zh-CN" b="1" baseline="-25000" dirty="0">
                <a:sym typeface="Symbol" pitchFamily="18" charset="2"/>
              </a:rPr>
              <a:t> </a:t>
            </a:r>
          </a:p>
          <a:p>
            <a:pPr marL="742950" lvl="1" indent="-285750">
              <a:spcBef>
                <a:spcPct val="20000"/>
              </a:spcBef>
              <a:buClr>
                <a:schemeClr val="tx1"/>
              </a:buClr>
              <a:buSzPct val="75000"/>
              <a:buFontTx/>
              <a:buNone/>
            </a:pPr>
            <a:r>
              <a:rPr lang="en-US" altLang="zh-CN" b="1" baseline="-25000" dirty="0">
                <a:sym typeface="Symbol" pitchFamily="18" charset="2"/>
              </a:rPr>
              <a:t>          </a:t>
            </a:r>
            <a:r>
              <a:rPr lang="en-US" altLang="zh-CN" b="1" dirty="0">
                <a:sym typeface="Symbol" pitchFamily="18" charset="2"/>
              </a:rPr>
              <a:t>}</a:t>
            </a:r>
          </a:p>
          <a:p>
            <a:pPr marL="342900" indent="-342900">
              <a:spcBef>
                <a:spcPct val="20000"/>
              </a:spcBef>
              <a:buClr>
                <a:schemeClr val="tx1"/>
              </a:buClr>
              <a:buSzPct val="75000"/>
            </a:pPr>
            <a:r>
              <a:rPr lang="en-US" altLang="zh-CN" b="1" i="1" dirty="0">
                <a:sym typeface="Symbol" pitchFamily="18" charset="2"/>
              </a:rPr>
              <a:t>    </a:t>
            </a:r>
            <a:r>
              <a:rPr lang="zh-CN" altLang="en-US" b="1" dirty="0">
                <a:sym typeface="Symbol" pitchFamily="18" charset="2"/>
              </a:rPr>
              <a:t>（</a:t>
            </a:r>
            <a:r>
              <a:rPr lang="en-US" altLang="zh-CN" b="1" dirty="0">
                <a:sym typeface="Symbol" pitchFamily="18" charset="2"/>
              </a:rPr>
              <a:t>3</a:t>
            </a:r>
            <a:r>
              <a:rPr lang="zh-CN" altLang="en-US" b="1" dirty="0">
                <a:sym typeface="Symbol" pitchFamily="18" charset="2"/>
              </a:rPr>
              <a:t>）化简由（</a:t>
            </a:r>
            <a:r>
              <a:rPr lang="en-US" altLang="zh-CN" b="1" dirty="0">
                <a:sym typeface="Symbol" pitchFamily="18" charset="2"/>
              </a:rPr>
              <a:t>2</a:t>
            </a:r>
            <a:r>
              <a:rPr lang="zh-CN" altLang="en-US" b="1" dirty="0">
                <a:sym typeface="Symbol" pitchFamily="18" charset="2"/>
              </a:rPr>
              <a:t>）得到的文法：</a:t>
            </a:r>
            <a:r>
              <a:rPr lang="zh-CN" altLang="en-US" dirty="0">
                <a:solidFill>
                  <a:srgbClr val="FF0000"/>
                </a:solidFill>
              </a:rPr>
              <a:t>即去掉那些从开始符号</a:t>
            </a:r>
            <a:r>
              <a:rPr lang="en-US" altLang="zh-CN" dirty="0">
                <a:solidFill>
                  <a:srgbClr val="FF0000"/>
                </a:solidFill>
              </a:rPr>
              <a:t>S</a:t>
            </a:r>
            <a:r>
              <a:rPr lang="zh-CN" altLang="en-US" dirty="0">
                <a:solidFill>
                  <a:srgbClr val="FF0000"/>
                </a:solidFill>
              </a:rPr>
              <a:t>出发，在推导中无法出现的非终结符的产生式</a:t>
            </a:r>
            <a:r>
              <a:rPr lang="en-US" altLang="zh-CN" dirty="0">
                <a:solidFill>
                  <a:srgbClr val="FF0000"/>
                </a:solidFill>
              </a:rPr>
              <a:t>(</a:t>
            </a:r>
            <a:r>
              <a:rPr lang="zh-CN" altLang="en-US" dirty="0">
                <a:solidFill>
                  <a:srgbClr val="FF0000"/>
                </a:solidFill>
              </a:rPr>
              <a:t>去掉多余产生式</a:t>
            </a:r>
            <a:r>
              <a:rPr lang="en-US" altLang="zh-CN" dirty="0">
                <a:solidFill>
                  <a:srgbClr val="FF0000"/>
                </a:solidFill>
              </a:rPr>
              <a:t>)</a:t>
            </a:r>
            <a:endParaRPr lang="zh-CN" altLang="en-US" b="1" dirty="0">
              <a:solidFill>
                <a:srgbClr val="FF0000"/>
              </a:solidFill>
              <a:sym typeface="Symbol" pitchFamily="18" charset="2"/>
            </a:endParaRPr>
          </a:p>
        </p:txBody>
      </p:sp>
      <p:sp>
        <p:nvSpPr>
          <p:cNvPr id="5" name="灯片编号占位符 4"/>
          <p:cNvSpPr>
            <a:spLocks noGrp="1"/>
          </p:cNvSpPr>
          <p:nvPr>
            <p:ph type="sldNum" sz="quarter" idx="12"/>
          </p:nvPr>
        </p:nvSpPr>
        <p:spPr/>
        <p:txBody>
          <a:bodyPr/>
          <a:lstStyle/>
          <a:p>
            <a:fld id="{1B43473F-AE3F-4D1C-9C4F-7AD3C17AC1AD}" type="slidenum">
              <a:rPr lang="zh-CN" altLang="en-US" smtClean="0">
                <a:solidFill>
                  <a:srgbClr val="3F3F3F"/>
                </a:solidFill>
              </a:rPr>
              <a:pPr/>
              <a:t>42</a:t>
            </a:fld>
            <a:endParaRPr lang="zh-CN" altLang="en-US">
              <a:solidFill>
                <a:srgbClr val="3F3F3F"/>
              </a:solidFill>
            </a:endParaRPr>
          </a:p>
        </p:txBody>
      </p:sp>
    </p:spTree>
    <p:extLst>
      <p:ext uri="{BB962C8B-B14F-4D97-AF65-F5344CB8AC3E}">
        <p14:creationId xmlns:p14="http://schemas.microsoft.com/office/powerpoint/2010/main" val="39868529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三、非</a:t>
            </a:r>
            <a:r>
              <a:rPr lang="en-US" altLang="zh-CN" dirty="0"/>
              <a:t>LL</a:t>
            </a:r>
            <a:r>
              <a:rPr lang="zh-CN" altLang="en-US" dirty="0"/>
              <a:t>（</a:t>
            </a:r>
            <a:r>
              <a:rPr lang="en-US" altLang="zh-CN" dirty="0"/>
              <a:t>1</a:t>
            </a:r>
            <a:r>
              <a:rPr lang="zh-CN" altLang="en-US" dirty="0"/>
              <a:t>）和</a:t>
            </a:r>
            <a:r>
              <a:rPr lang="en-US" altLang="zh-CN" dirty="0"/>
              <a:t>LL</a:t>
            </a:r>
            <a:r>
              <a:rPr lang="zh-CN" altLang="en-US" dirty="0"/>
              <a:t>（</a:t>
            </a:r>
            <a:r>
              <a:rPr lang="en-US" altLang="zh-CN" dirty="0"/>
              <a:t>1</a:t>
            </a:r>
            <a:r>
              <a:rPr lang="zh-CN" altLang="en-US" dirty="0"/>
              <a:t>）等价变换</a:t>
            </a:r>
          </a:p>
        </p:txBody>
      </p:sp>
      <p:sp>
        <p:nvSpPr>
          <p:cNvPr id="3" name="内容占位符 2"/>
          <p:cNvSpPr>
            <a:spLocks noGrp="1"/>
          </p:cNvSpPr>
          <p:nvPr>
            <p:ph idx="1"/>
          </p:nvPr>
        </p:nvSpPr>
        <p:spPr/>
        <p:txBody>
          <a:bodyPr/>
          <a:lstStyle/>
          <a:p>
            <a:r>
              <a:rPr lang="zh-CN" altLang="en-US" dirty="0">
                <a:solidFill>
                  <a:srgbClr val="FF0000"/>
                </a:solidFill>
              </a:rPr>
              <a:t>举例：左递归消除</a:t>
            </a:r>
          </a:p>
        </p:txBody>
      </p:sp>
      <p:sp>
        <p:nvSpPr>
          <p:cNvPr id="4" name="Rectangle 10"/>
          <p:cNvSpPr>
            <a:spLocks noChangeArrowheads="1"/>
          </p:cNvSpPr>
          <p:nvPr/>
        </p:nvSpPr>
        <p:spPr bwMode="auto">
          <a:xfrm>
            <a:off x="971555" y="1831424"/>
            <a:ext cx="7561263" cy="2300287"/>
          </a:xfrm>
          <a:prstGeom prst="rect">
            <a:avLst/>
          </a:prstGeom>
          <a:noFill/>
          <a:ln w="9525">
            <a:noFill/>
            <a:miter lim="800000"/>
            <a:headEnd/>
            <a:tailEnd/>
          </a:ln>
        </p:spPr>
        <p:txBody>
          <a:bodyPr/>
          <a:lstStyle/>
          <a:p>
            <a:pPr marL="342900" indent="-342900">
              <a:spcBef>
                <a:spcPct val="20000"/>
              </a:spcBef>
              <a:buClr>
                <a:schemeClr val="tx1"/>
              </a:buClr>
              <a:buSzPct val="75000"/>
            </a:pPr>
            <a:r>
              <a:rPr lang="zh-CN" altLang="en-US" sz="2400" b="1" dirty="0"/>
              <a:t>原文法 </a:t>
            </a:r>
            <a:r>
              <a:rPr lang="en-US" altLang="zh-CN" sz="2400" dirty="0"/>
              <a:t>G[S]:  S </a:t>
            </a:r>
            <a:r>
              <a:rPr lang="en-US" altLang="zh-CN" sz="2400" b="1" dirty="0">
                <a:sym typeface="Symbol" pitchFamily="18" charset="2"/>
              </a:rPr>
              <a:t></a:t>
            </a:r>
            <a:r>
              <a:rPr lang="en-US" altLang="zh-CN" sz="2400" dirty="0"/>
              <a:t> PQ </a:t>
            </a:r>
            <a:r>
              <a:rPr lang="en-US" altLang="zh-CN" sz="2400" b="1" dirty="0">
                <a:sym typeface="Symbol" pitchFamily="18" charset="2"/>
              </a:rPr>
              <a:t></a:t>
            </a:r>
            <a:r>
              <a:rPr lang="en-US" altLang="zh-CN" sz="2400" dirty="0"/>
              <a:t> a </a:t>
            </a:r>
          </a:p>
          <a:p>
            <a:pPr marL="342900" indent="-342900">
              <a:spcBef>
                <a:spcPct val="20000"/>
              </a:spcBef>
              <a:buClr>
                <a:schemeClr val="tx1"/>
              </a:buClr>
              <a:buSzPct val="75000"/>
            </a:pPr>
            <a:r>
              <a:rPr lang="en-US" altLang="zh-CN" sz="2400" dirty="0"/>
              <a:t>                      P </a:t>
            </a:r>
            <a:r>
              <a:rPr lang="en-US" altLang="zh-CN" sz="2400" b="1" dirty="0">
                <a:sym typeface="Symbol" pitchFamily="18" charset="2"/>
              </a:rPr>
              <a:t></a:t>
            </a:r>
            <a:r>
              <a:rPr lang="en-US" altLang="zh-CN" sz="2400" dirty="0"/>
              <a:t> QS </a:t>
            </a:r>
            <a:r>
              <a:rPr lang="en-US" altLang="zh-CN" sz="2400" b="1" dirty="0">
                <a:sym typeface="Symbol" pitchFamily="18" charset="2"/>
              </a:rPr>
              <a:t> </a:t>
            </a:r>
            <a:r>
              <a:rPr lang="en-US" altLang="zh-CN" sz="2400" dirty="0"/>
              <a:t>b</a:t>
            </a:r>
          </a:p>
          <a:p>
            <a:pPr marL="342900" indent="-342900">
              <a:spcBef>
                <a:spcPct val="20000"/>
              </a:spcBef>
              <a:buClr>
                <a:schemeClr val="tx1"/>
              </a:buClr>
              <a:buSzPct val="75000"/>
            </a:pPr>
            <a:r>
              <a:rPr lang="en-US" altLang="zh-CN" sz="2400" dirty="0"/>
              <a:t>                      Q </a:t>
            </a:r>
            <a:r>
              <a:rPr lang="en-US" altLang="zh-CN" sz="2400" b="1" dirty="0">
                <a:sym typeface="Symbol" pitchFamily="18" charset="2"/>
              </a:rPr>
              <a:t> </a:t>
            </a:r>
            <a:r>
              <a:rPr lang="en-US" altLang="zh-CN" sz="2400" dirty="0"/>
              <a:t>SP </a:t>
            </a:r>
            <a:r>
              <a:rPr lang="en-US" altLang="zh-CN" sz="2400" b="1" dirty="0">
                <a:sym typeface="Symbol" pitchFamily="18" charset="2"/>
              </a:rPr>
              <a:t></a:t>
            </a:r>
            <a:r>
              <a:rPr lang="en-US" altLang="zh-CN" sz="2400" dirty="0"/>
              <a:t> c</a:t>
            </a:r>
          </a:p>
          <a:p>
            <a:pPr marL="342900" indent="-342900">
              <a:spcBef>
                <a:spcPct val="20000"/>
              </a:spcBef>
              <a:buClr>
                <a:schemeClr val="tx1"/>
              </a:buClr>
              <a:buSzPct val="75000"/>
            </a:pPr>
            <a:r>
              <a:rPr lang="zh-CN" altLang="en-US" sz="2400" b="1" dirty="0"/>
              <a:t>非终结符排序为 </a:t>
            </a:r>
            <a:r>
              <a:rPr lang="en-US" altLang="zh-CN" sz="2400" dirty="0"/>
              <a:t>S</a:t>
            </a:r>
            <a:r>
              <a:rPr lang="zh-CN" altLang="en-US" sz="2400" dirty="0"/>
              <a:t>、</a:t>
            </a:r>
            <a:r>
              <a:rPr lang="en-US" altLang="zh-CN" sz="2400" dirty="0"/>
              <a:t>P</a:t>
            </a:r>
            <a:r>
              <a:rPr lang="zh-CN" altLang="en-US" sz="2400" dirty="0"/>
              <a:t>、</a:t>
            </a:r>
            <a:r>
              <a:rPr lang="en-US" altLang="zh-CN" sz="2400" dirty="0"/>
              <a:t>Q</a:t>
            </a:r>
            <a:r>
              <a:rPr lang="zh-CN" altLang="en-US" sz="2400" b="1" dirty="0"/>
              <a:t>，按造消除一般左递归的方法，进行如下变换</a:t>
            </a:r>
            <a:r>
              <a:rPr lang="en-US" altLang="zh-CN" sz="2800" dirty="0"/>
              <a:t>:</a:t>
            </a:r>
          </a:p>
        </p:txBody>
      </p:sp>
      <p:sp>
        <p:nvSpPr>
          <p:cNvPr id="5" name="Rectangle 11"/>
          <p:cNvSpPr>
            <a:spLocks noChangeArrowheads="1"/>
          </p:cNvSpPr>
          <p:nvPr/>
        </p:nvSpPr>
        <p:spPr bwMode="auto">
          <a:xfrm>
            <a:off x="1692280" y="4058686"/>
            <a:ext cx="1801813" cy="457200"/>
          </a:xfrm>
          <a:prstGeom prst="rect">
            <a:avLst/>
          </a:prstGeom>
          <a:noFill/>
          <a:ln w="9525" algn="ctr">
            <a:noFill/>
            <a:miter lim="800000"/>
            <a:headEnd/>
            <a:tailEnd/>
          </a:ln>
        </p:spPr>
        <p:txBody>
          <a:bodyPr wrap="none">
            <a:spAutoFit/>
          </a:bodyPr>
          <a:lstStyle/>
          <a:p>
            <a:r>
              <a:rPr lang="en-US" altLang="zh-CN" sz="2400" dirty="0"/>
              <a:t>Q </a:t>
            </a:r>
            <a:r>
              <a:rPr lang="en-US" altLang="zh-CN" sz="2400" b="1" dirty="0">
                <a:sym typeface="Symbol" pitchFamily="18" charset="2"/>
              </a:rPr>
              <a:t> </a:t>
            </a:r>
            <a:r>
              <a:rPr lang="en-US" altLang="zh-CN" sz="2400" dirty="0"/>
              <a:t>SP </a:t>
            </a:r>
            <a:r>
              <a:rPr lang="en-US" altLang="zh-CN" sz="2400" b="1" dirty="0">
                <a:sym typeface="Symbol" pitchFamily="18" charset="2"/>
              </a:rPr>
              <a:t></a:t>
            </a:r>
            <a:r>
              <a:rPr lang="en-US" altLang="zh-CN" sz="2400" dirty="0"/>
              <a:t> c</a:t>
            </a:r>
          </a:p>
        </p:txBody>
      </p:sp>
      <p:sp>
        <p:nvSpPr>
          <p:cNvPr id="6" name="Rectangle 16"/>
          <p:cNvSpPr>
            <a:spLocks noChangeArrowheads="1"/>
          </p:cNvSpPr>
          <p:nvPr/>
        </p:nvSpPr>
        <p:spPr bwMode="auto">
          <a:xfrm>
            <a:off x="5435605" y="4058686"/>
            <a:ext cx="3168650" cy="2070100"/>
          </a:xfrm>
          <a:prstGeom prst="rect">
            <a:avLst/>
          </a:prstGeom>
          <a:noFill/>
          <a:ln w="9525" algn="ctr">
            <a:noFill/>
            <a:miter lim="800000"/>
            <a:headEnd/>
            <a:tailEnd/>
          </a:ln>
        </p:spPr>
        <p:txBody>
          <a:bodyPr>
            <a:spAutoFit/>
          </a:bodyPr>
          <a:lstStyle/>
          <a:p>
            <a:r>
              <a:rPr kumimoji="0" lang="zh-CN" altLang="en-US" sz="2400" b="1" dirty="0">
                <a:solidFill>
                  <a:srgbClr val="800080"/>
                </a:solidFill>
              </a:rPr>
              <a:t>结</a:t>
            </a:r>
            <a:r>
              <a:rPr lang="zh-CN" altLang="en-US" sz="2400" b="1" dirty="0">
                <a:solidFill>
                  <a:srgbClr val="800080"/>
                </a:solidFill>
              </a:rPr>
              <a:t>果</a:t>
            </a:r>
            <a:r>
              <a:rPr lang="zh-CN" altLang="en-US" sz="2400" dirty="0"/>
              <a:t>：</a:t>
            </a:r>
          </a:p>
          <a:p>
            <a:endParaRPr lang="zh-CN" altLang="en-US" sz="1000" dirty="0"/>
          </a:p>
          <a:p>
            <a:r>
              <a:rPr lang="en-US" altLang="zh-CN" sz="2400" dirty="0"/>
              <a:t>S </a:t>
            </a:r>
            <a:r>
              <a:rPr lang="en-US" altLang="zh-CN" sz="2400" b="1" dirty="0">
                <a:sym typeface="Symbol" pitchFamily="18" charset="2"/>
              </a:rPr>
              <a:t></a:t>
            </a:r>
            <a:r>
              <a:rPr lang="en-US" altLang="zh-CN" sz="2400" dirty="0"/>
              <a:t> PQ </a:t>
            </a:r>
            <a:r>
              <a:rPr lang="en-US" altLang="zh-CN" sz="2400" b="1" dirty="0">
                <a:sym typeface="Symbol" pitchFamily="18" charset="2"/>
              </a:rPr>
              <a:t></a:t>
            </a:r>
            <a:r>
              <a:rPr lang="en-US" altLang="zh-CN" sz="2400" dirty="0"/>
              <a:t> a </a:t>
            </a:r>
          </a:p>
          <a:p>
            <a:r>
              <a:rPr lang="en-US" altLang="zh-CN" sz="2400" dirty="0"/>
              <a:t>P </a:t>
            </a:r>
            <a:r>
              <a:rPr lang="en-US" altLang="zh-CN" sz="2400" b="1" dirty="0">
                <a:sym typeface="Symbol" pitchFamily="18" charset="2"/>
              </a:rPr>
              <a:t></a:t>
            </a:r>
            <a:r>
              <a:rPr lang="en-US" altLang="zh-CN" sz="2400" dirty="0"/>
              <a:t> QS </a:t>
            </a:r>
            <a:r>
              <a:rPr lang="en-US" altLang="zh-CN" sz="2400" b="1" dirty="0">
                <a:sym typeface="Symbol" pitchFamily="18" charset="2"/>
              </a:rPr>
              <a:t> </a:t>
            </a:r>
            <a:r>
              <a:rPr lang="en-US" altLang="zh-CN" sz="2400" dirty="0"/>
              <a:t>b</a:t>
            </a:r>
          </a:p>
          <a:p>
            <a:r>
              <a:rPr lang="en-US" altLang="zh-CN" sz="2400" dirty="0"/>
              <a:t>Q </a:t>
            </a:r>
            <a:r>
              <a:rPr lang="en-US" altLang="zh-CN" sz="2400" b="1" dirty="0">
                <a:sym typeface="Symbol" pitchFamily="18" charset="2"/>
              </a:rPr>
              <a:t> </a:t>
            </a:r>
            <a:r>
              <a:rPr lang="en-US" altLang="zh-CN" sz="2400" dirty="0" err="1"/>
              <a:t>bQPR</a:t>
            </a:r>
            <a:r>
              <a:rPr lang="en-US" altLang="zh-CN" sz="2400" b="1" dirty="0" err="1">
                <a:sym typeface="Symbol" pitchFamily="18" charset="2"/>
              </a:rPr>
              <a:t></a:t>
            </a:r>
            <a:r>
              <a:rPr lang="en-US" altLang="zh-CN" sz="2400" dirty="0" err="1"/>
              <a:t>aPR</a:t>
            </a:r>
            <a:r>
              <a:rPr lang="en-US" altLang="zh-CN" sz="2400" b="1" dirty="0" err="1">
                <a:sym typeface="Symbol" pitchFamily="18" charset="2"/>
              </a:rPr>
              <a:t></a:t>
            </a:r>
            <a:r>
              <a:rPr lang="en-US" altLang="zh-CN" sz="2400" dirty="0" err="1"/>
              <a:t>cR</a:t>
            </a:r>
            <a:endParaRPr lang="en-US" altLang="zh-CN" sz="2400" dirty="0"/>
          </a:p>
          <a:p>
            <a:r>
              <a:rPr lang="en-US" altLang="zh-CN" sz="2400" dirty="0"/>
              <a:t>R </a:t>
            </a:r>
            <a:r>
              <a:rPr lang="en-US" altLang="zh-CN" sz="2400" b="1" dirty="0">
                <a:sym typeface="Symbol" pitchFamily="18" charset="2"/>
              </a:rPr>
              <a:t> </a:t>
            </a:r>
            <a:r>
              <a:rPr lang="en-US" altLang="zh-CN" sz="2400" dirty="0"/>
              <a:t>SQPR</a:t>
            </a:r>
            <a:r>
              <a:rPr lang="en-US" altLang="zh-CN" sz="2400" b="1" dirty="0">
                <a:sym typeface="Symbol" pitchFamily="18" charset="2"/>
              </a:rPr>
              <a:t></a:t>
            </a:r>
          </a:p>
        </p:txBody>
      </p:sp>
      <p:grpSp>
        <p:nvGrpSpPr>
          <p:cNvPr id="7" name="Group 20"/>
          <p:cNvGrpSpPr>
            <a:grpSpLocks/>
          </p:cNvGrpSpPr>
          <p:nvPr/>
        </p:nvGrpSpPr>
        <p:grpSpPr bwMode="auto">
          <a:xfrm>
            <a:off x="1187455" y="4609549"/>
            <a:ext cx="2932113" cy="457200"/>
            <a:chOff x="884" y="2915"/>
            <a:chExt cx="1847" cy="288"/>
          </a:xfrm>
        </p:grpSpPr>
        <p:sp>
          <p:nvSpPr>
            <p:cNvPr id="8" name="Rectangle 12"/>
            <p:cNvSpPr>
              <a:spLocks noChangeArrowheads="1"/>
            </p:cNvSpPr>
            <p:nvPr/>
          </p:nvSpPr>
          <p:spPr bwMode="auto">
            <a:xfrm>
              <a:off x="1202" y="2915"/>
              <a:ext cx="1529" cy="288"/>
            </a:xfrm>
            <a:prstGeom prst="rect">
              <a:avLst/>
            </a:prstGeom>
            <a:noFill/>
            <a:ln w="9525" algn="ctr">
              <a:noFill/>
              <a:miter lim="800000"/>
              <a:headEnd/>
              <a:tailEnd/>
            </a:ln>
          </p:spPr>
          <p:txBody>
            <a:bodyPr wrap="none">
              <a:spAutoFit/>
            </a:bodyPr>
            <a:lstStyle/>
            <a:p>
              <a:r>
                <a:rPr lang="en-US" altLang="zh-CN" sz="2400" dirty="0"/>
                <a:t>Q </a:t>
              </a:r>
              <a:r>
                <a:rPr lang="en-US" altLang="zh-CN" sz="2400" b="1" dirty="0">
                  <a:sym typeface="Symbol" pitchFamily="18" charset="2"/>
                </a:rPr>
                <a:t> </a:t>
              </a:r>
              <a:r>
                <a:rPr lang="en-US" altLang="zh-CN" sz="2400" dirty="0" err="1"/>
                <a:t>PQP</a:t>
              </a:r>
              <a:r>
                <a:rPr lang="en-US" altLang="zh-CN" sz="2400" b="1" dirty="0" err="1">
                  <a:sym typeface="Symbol" pitchFamily="18" charset="2"/>
                </a:rPr>
                <a:t></a:t>
              </a:r>
              <a:r>
                <a:rPr lang="en-US" altLang="zh-CN" sz="2400" dirty="0" err="1"/>
                <a:t>aP</a:t>
              </a:r>
              <a:r>
                <a:rPr lang="en-US" altLang="zh-CN" sz="2400" b="1" dirty="0" err="1">
                  <a:sym typeface="Symbol" pitchFamily="18" charset="2"/>
                </a:rPr>
                <a:t></a:t>
              </a:r>
              <a:r>
                <a:rPr lang="en-US" altLang="zh-CN" sz="2400" dirty="0" err="1"/>
                <a:t>c</a:t>
              </a:r>
              <a:endParaRPr lang="en-US" altLang="zh-CN" sz="2400" dirty="0"/>
            </a:p>
          </p:txBody>
        </p:sp>
        <p:sp>
          <p:nvSpPr>
            <p:cNvPr id="9" name="AutoShape 17"/>
            <p:cNvSpPr>
              <a:spLocks noChangeArrowheads="1"/>
            </p:cNvSpPr>
            <p:nvPr/>
          </p:nvSpPr>
          <p:spPr bwMode="auto">
            <a:xfrm>
              <a:off x="884" y="3022"/>
              <a:ext cx="318" cy="136"/>
            </a:xfrm>
            <a:prstGeom prst="notchedRightArrow">
              <a:avLst>
                <a:gd name="adj1" fmla="val 50000"/>
                <a:gd name="adj2" fmla="val 58456"/>
              </a:avLst>
            </a:prstGeom>
            <a:noFill/>
            <a:ln w="9525" algn="ctr">
              <a:solidFill>
                <a:srgbClr val="800080"/>
              </a:solidFill>
              <a:miter lim="800000"/>
              <a:headEnd/>
              <a:tailEnd/>
            </a:ln>
          </p:spPr>
          <p:txBody>
            <a:bodyPr anchor="ctr">
              <a:spAutoFit/>
            </a:bodyPr>
            <a:lstStyle/>
            <a:p>
              <a:endParaRPr lang="zh-CN" altLang="en-US"/>
            </a:p>
          </p:txBody>
        </p:sp>
      </p:grpSp>
      <p:grpSp>
        <p:nvGrpSpPr>
          <p:cNvPr id="10" name="Group 21"/>
          <p:cNvGrpSpPr>
            <a:grpSpLocks/>
          </p:cNvGrpSpPr>
          <p:nvPr/>
        </p:nvGrpSpPr>
        <p:grpSpPr bwMode="auto">
          <a:xfrm>
            <a:off x="1187455" y="5139774"/>
            <a:ext cx="4130675" cy="457200"/>
            <a:chOff x="884" y="3249"/>
            <a:chExt cx="2602" cy="288"/>
          </a:xfrm>
        </p:grpSpPr>
        <p:sp>
          <p:nvSpPr>
            <p:cNvPr id="11" name="Rectangle 14"/>
            <p:cNvSpPr>
              <a:spLocks noChangeArrowheads="1"/>
            </p:cNvSpPr>
            <p:nvPr/>
          </p:nvSpPr>
          <p:spPr bwMode="auto">
            <a:xfrm>
              <a:off x="1202" y="3249"/>
              <a:ext cx="2284" cy="288"/>
            </a:xfrm>
            <a:prstGeom prst="rect">
              <a:avLst/>
            </a:prstGeom>
            <a:noFill/>
            <a:ln w="9525" algn="ctr">
              <a:noFill/>
              <a:miter lim="800000"/>
              <a:headEnd/>
              <a:tailEnd/>
            </a:ln>
          </p:spPr>
          <p:txBody>
            <a:bodyPr wrap="none">
              <a:spAutoFit/>
            </a:bodyPr>
            <a:lstStyle/>
            <a:p>
              <a:r>
                <a:rPr lang="en-US" altLang="zh-CN" sz="2400" dirty="0"/>
                <a:t>Q </a:t>
              </a:r>
              <a:r>
                <a:rPr lang="en-US" altLang="zh-CN" sz="2400" b="1" dirty="0">
                  <a:sym typeface="Symbol" pitchFamily="18" charset="2"/>
                </a:rPr>
                <a:t> </a:t>
              </a:r>
              <a:r>
                <a:rPr lang="en-US" altLang="zh-CN" sz="2400" dirty="0"/>
                <a:t>QSQP</a:t>
              </a:r>
              <a:r>
                <a:rPr lang="en-US" altLang="zh-CN" sz="2400" b="1" dirty="0">
                  <a:sym typeface="Symbol" pitchFamily="18" charset="2"/>
                </a:rPr>
                <a:t> </a:t>
              </a:r>
              <a:r>
                <a:rPr lang="en-US" altLang="zh-CN" sz="2400" dirty="0" err="1"/>
                <a:t>bQP</a:t>
              </a:r>
              <a:r>
                <a:rPr lang="en-US" altLang="zh-CN" sz="2400" b="1" dirty="0">
                  <a:sym typeface="Symbol" pitchFamily="18" charset="2"/>
                </a:rPr>
                <a:t></a:t>
              </a:r>
              <a:r>
                <a:rPr lang="en-US" altLang="zh-CN" sz="2400" dirty="0">
                  <a:sym typeface="Symbol" pitchFamily="18" charset="2"/>
                </a:rPr>
                <a:t> </a:t>
              </a:r>
              <a:r>
                <a:rPr lang="en-US" altLang="zh-CN" sz="2400" dirty="0" err="1"/>
                <a:t>aP</a:t>
              </a:r>
              <a:r>
                <a:rPr lang="en-US" altLang="zh-CN" sz="2400" b="1" dirty="0" err="1">
                  <a:sym typeface="Symbol" pitchFamily="18" charset="2"/>
                </a:rPr>
                <a:t></a:t>
              </a:r>
              <a:r>
                <a:rPr lang="en-US" altLang="zh-CN" sz="2400" dirty="0" err="1"/>
                <a:t>c</a:t>
              </a:r>
              <a:endParaRPr lang="en-US" altLang="zh-CN" sz="2400" dirty="0"/>
            </a:p>
          </p:txBody>
        </p:sp>
        <p:sp>
          <p:nvSpPr>
            <p:cNvPr id="12" name="AutoShape 18"/>
            <p:cNvSpPr>
              <a:spLocks noChangeArrowheads="1"/>
            </p:cNvSpPr>
            <p:nvPr/>
          </p:nvSpPr>
          <p:spPr bwMode="auto">
            <a:xfrm>
              <a:off x="884" y="3339"/>
              <a:ext cx="318" cy="136"/>
            </a:xfrm>
            <a:prstGeom prst="notchedRightArrow">
              <a:avLst>
                <a:gd name="adj1" fmla="val 50000"/>
                <a:gd name="adj2" fmla="val 58456"/>
              </a:avLst>
            </a:prstGeom>
            <a:noFill/>
            <a:ln w="9525" algn="ctr">
              <a:solidFill>
                <a:srgbClr val="800080"/>
              </a:solidFill>
              <a:miter lim="800000"/>
              <a:headEnd/>
              <a:tailEnd/>
            </a:ln>
          </p:spPr>
          <p:txBody>
            <a:bodyPr anchor="ctr">
              <a:spAutoFit/>
            </a:bodyPr>
            <a:lstStyle/>
            <a:p>
              <a:endParaRPr lang="zh-CN" altLang="en-US"/>
            </a:p>
          </p:txBody>
        </p:sp>
      </p:grpSp>
      <p:grpSp>
        <p:nvGrpSpPr>
          <p:cNvPr id="13" name="Group 22"/>
          <p:cNvGrpSpPr>
            <a:grpSpLocks/>
          </p:cNvGrpSpPr>
          <p:nvPr/>
        </p:nvGrpSpPr>
        <p:grpSpPr bwMode="auto">
          <a:xfrm>
            <a:off x="1187455" y="5757311"/>
            <a:ext cx="3560763" cy="822325"/>
            <a:chOff x="884" y="3638"/>
            <a:chExt cx="2243" cy="518"/>
          </a:xfrm>
        </p:grpSpPr>
        <p:sp>
          <p:nvSpPr>
            <p:cNvPr id="14" name="Rectangle 15"/>
            <p:cNvSpPr>
              <a:spLocks noChangeArrowheads="1"/>
            </p:cNvSpPr>
            <p:nvPr/>
          </p:nvSpPr>
          <p:spPr bwMode="auto">
            <a:xfrm>
              <a:off x="1202" y="3638"/>
              <a:ext cx="1925" cy="518"/>
            </a:xfrm>
            <a:prstGeom prst="rect">
              <a:avLst/>
            </a:prstGeom>
            <a:noFill/>
            <a:ln w="9525" algn="ctr">
              <a:noFill/>
              <a:miter lim="800000"/>
              <a:headEnd/>
              <a:tailEnd/>
            </a:ln>
          </p:spPr>
          <p:txBody>
            <a:bodyPr wrap="none">
              <a:spAutoFit/>
            </a:bodyPr>
            <a:lstStyle/>
            <a:p>
              <a:r>
                <a:rPr lang="en-US" altLang="zh-CN" sz="2400" dirty="0"/>
                <a:t>Q </a:t>
              </a:r>
              <a:r>
                <a:rPr lang="en-US" altLang="zh-CN" sz="2400" b="1" dirty="0">
                  <a:sym typeface="Symbol" pitchFamily="18" charset="2"/>
                </a:rPr>
                <a:t> </a:t>
              </a:r>
              <a:r>
                <a:rPr lang="en-US" altLang="zh-CN" sz="2400" dirty="0" err="1"/>
                <a:t>bQPR</a:t>
              </a:r>
              <a:r>
                <a:rPr lang="en-US" altLang="zh-CN" sz="2400" b="1" dirty="0" err="1">
                  <a:sym typeface="Symbol" pitchFamily="18" charset="2"/>
                </a:rPr>
                <a:t></a:t>
              </a:r>
              <a:r>
                <a:rPr lang="en-US" altLang="zh-CN" sz="2400" dirty="0" err="1"/>
                <a:t>aPR</a:t>
              </a:r>
              <a:r>
                <a:rPr lang="en-US" altLang="zh-CN" sz="2400" b="1" dirty="0" err="1">
                  <a:sym typeface="Symbol" pitchFamily="18" charset="2"/>
                </a:rPr>
                <a:t></a:t>
              </a:r>
              <a:r>
                <a:rPr lang="en-US" altLang="zh-CN" sz="2400" dirty="0" err="1"/>
                <a:t>cR</a:t>
              </a:r>
              <a:endParaRPr lang="en-US" altLang="zh-CN" sz="2400" dirty="0"/>
            </a:p>
            <a:p>
              <a:r>
                <a:rPr lang="en-US" altLang="zh-CN" sz="2400" dirty="0"/>
                <a:t>R </a:t>
              </a:r>
              <a:r>
                <a:rPr lang="en-US" altLang="zh-CN" sz="2400" b="1" dirty="0">
                  <a:sym typeface="Symbol" pitchFamily="18" charset="2"/>
                </a:rPr>
                <a:t> </a:t>
              </a:r>
              <a:r>
                <a:rPr lang="en-US" altLang="zh-CN" sz="2400" dirty="0"/>
                <a:t>SQPR</a:t>
              </a:r>
              <a:r>
                <a:rPr lang="en-US" altLang="zh-CN" sz="2400" b="1" dirty="0">
                  <a:sym typeface="Symbol" pitchFamily="18" charset="2"/>
                </a:rPr>
                <a:t></a:t>
              </a:r>
            </a:p>
          </p:txBody>
        </p:sp>
        <p:sp>
          <p:nvSpPr>
            <p:cNvPr id="15" name="AutoShape 19"/>
            <p:cNvSpPr>
              <a:spLocks noChangeArrowheads="1"/>
            </p:cNvSpPr>
            <p:nvPr/>
          </p:nvSpPr>
          <p:spPr bwMode="auto">
            <a:xfrm>
              <a:off x="884" y="3702"/>
              <a:ext cx="318" cy="136"/>
            </a:xfrm>
            <a:prstGeom prst="notchedRightArrow">
              <a:avLst>
                <a:gd name="adj1" fmla="val 50000"/>
                <a:gd name="adj2" fmla="val 58456"/>
              </a:avLst>
            </a:prstGeom>
            <a:noFill/>
            <a:ln w="9525" algn="ctr">
              <a:solidFill>
                <a:srgbClr val="800080"/>
              </a:solidFill>
              <a:miter lim="800000"/>
              <a:headEnd/>
              <a:tailEnd/>
            </a:ln>
          </p:spPr>
          <p:txBody>
            <a:bodyPr anchor="ctr">
              <a:spAutoFit/>
            </a:bodyPr>
            <a:lstStyle/>
            <a:p>
              <a:endParaRPr lang="zh-CN" altLang="en-US"/>
            </a:p>
          </p:txBody>
        </p:sp>
      </p:grpSp>
      <p:sp>
        <p:nvSpPr>
          <p:cNvPr id="16" name="灯片编号占位符 15"/>
          <p:cNvSpPr>
            <a:spLocks noGrp="1"/>
          </p:cNvSpPr>
          <p:nvPr>
            <p:ph type="sldNum" sz="quarter" idx="12"/>
          </p:nvPr>
        </p:nvSpPr>
        <p:spPr/>
        <p:txBody>
          <a:bodyPr/>
          <a:lstStyle/>
          <a:p>
            <a:fld id="{1B43473F-AE3F-4D1C-9C4F-7AD3C17AC1AD}" type="slidenum">
              <a:rPr lang="zh-CN" altLang="en-US" smtClean="0">
                <a:solidFill>
                  <a:srgbClr val="3F3F3F"/>
                </a:solidFill>
              </a:rPr>
              <a:pPr/>
              <a:t>43</a:t>
            </a:fld>
            <a:endParaRPr lang="zh-CN" altLang="en-US">
              <a:solidFill>
                <a:srgbClr val="3F3F3F"/>
              </a:solidFill>
            </a:endParaRPr>
          </a:p>
        </p:txBody>
      </p:sp>
    </p:spTree>
    <p:extLst>
      <p:ext uri="{BB962C8B-B14F-4D97-AF65-F5344CB8AC3E}">
        <p14:creationId xmlns:p14="http://schemas.microsoft.com/office/powerpoint/2010/main" val="1404936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lide(fromBottom)">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slide(fromBottom)">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slide(fromBottom)">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第四章 自顶向下语法分析方法</a:t>
            </a:r>
          </a:p>
        </p:txBody>
      </p:sp>
      <p:sp>
        <p:nvSpPr>
          <p:cNvPr id="4" name="Freeform 6"/>
          <p:cNvSpPr>
            <a:spLocks/>
          </p:cNvSpPr>
          <p:nvPr/>
        </p:nvSpPr>
        <p:spPr bwMode="auto">
          <a:xfrm>
            <a:off x="975061" y="1155144"/>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01</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5" name="Freeform 7"/>
          <p:cNvSpPr>
            <a:spLocks/>
          </p:cNvSpPr>
          <p:nvPr/>
        </p:nvSpPr>
        <p:spPr bwMode="auto">
          <a:xfrm>
            <a:off x="2314041" y="115514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rPr>
              <a:t>确定的自顶向下分析思想</a:t>
            </a:r>
          </a:p>
        </p:txBody>
      </p:sp>
      <p:sp>
        <p:nvSpPr>
          <p:cNvPr id="6" name="Freeform 6"/>
          <p:cNvSpPr>
            <a:spLocks/>
          </p:cNvSpPr>
          <p:nvPr/>
        </p:nvSpPr>
        <p:spPr bwMode="auto">
          <a:xfrm>
            <a:off x="975061" y="2019240"/>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02</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8" name="Freeform 6"/>
          <p:cNvSpPr>
            <a:spLocks/>
          </p:cNvSpPr>
          <p:nvPr/>
        </p:nvSpPr>
        <p:spPr bwMode="auto">
          <a:xfrm>
            <a:off x="975061" y="2883336"/>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03</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9" name="Freeform 7"/>
          <p:cNvSpPr>
            <a:spLocks/>
          </p:cNvSpPr>
          <p:nvPr/>
        </p:nvSpPr>
        <p:spPr bwMode="auto">
          <a:xfrm>
            <a:off x="2314041" y="2019239"/>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）分析</a:t>
            </a:r>
          </a:p>
        </p:txBody>
      </p:sp>
      <p:sp>
        <p:nvSpPr>
          <p:cNvPr id="10" name="Freeform 6"/>
          <p:cNvSpPr>
            <a:spLocks/>
          </p:cNvSpPr>
          <p:nvPr/>
        </p:nvSpPr>
        <p:spPr bwMode="auto">
          <a:xfrm>
            <a:off x="975061" y="3747432"/>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0066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04</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11" name="Freeform 7"/>
          <p:cNvSpPr>
            <a:spLocks/>
          </p:cNvSpPr>
          <p:nvPr/>
        </p:nvSpPr>
        <p:spPr bwMode="auto">
          <a:xfrm>
            <a:off x="2314041" y="2883335"/>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rPr>
              <a:t>非</a:t>
            </a: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）和</a:t>
            </a: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）等价变换</a:t>
            </a:r>
          </a:p>
        </p:txBody>
      </p:sp>
      <p:sp>
        <p:nvSpPr>
          <p:cNvPr id="12" name="Freeform 6"/>
          <p:cNvSpPr>
            <a:spLocks/>
          </p:cNvSpPr>
          <p:nvPr/>
        </p:nvSpPr>
        <p:spPr bwMode="auto">
          <a:xfrm>
            <a:off x="971555" y="4611528"/>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05</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3" name="Freeform 7"/>
          <p:cNvSpPr>
            <a:spLocks/>
          </p:cNvSpPr>
          <p:nvPr/>
        </p:nvSpPr>
        <p:spPr bwMode="auto">
          <a:xfrm>
            <a:off x="2314041" y="3747431"/>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0066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ea typeface="+mj-ea"/>
              </a:rPr>
              <a:t>不确定的自顶向下分析思想</a:t>
            </a:r>
          </a:p>
        </p:txBody>
      </p:sp>
      <p:sp>
        <p:nvSpPr>
          <p:cNvPr id="14" name="Freeform 6"/>
          <p:cNvSpPr>
            <a:spLocks/>
          </p:cNvSpPr>
          <p:nvPr/>
        </p:nvSpPr>
        <p:spPr bwMode="auto">
          <a:xfrm>
            <a:off x="975061" y="5478051"/>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06</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5" name="Freeform 7"/>
          <p:cNvSpPr>
            <a:spLocks/>
          </p:cNvSpPr>
          <p:nvPr/>
        </p:nvSpPr>
        <p:spPr bwMode="auto">
          <a:xfrm>
            <a:off x="2314041" y="461395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）分析的实现</a:t>
            </a:r>
            <a:endParaRPr lang="zh-CN" altLang="en-US" sz="2800" b="1" kern="0" dirty="0">
              <a:solidFill>
                <a:srgbClr val="FFFFFF"/>
              </a:solidFill>
              <a:latin typeface="+mj-ea"/>
              <a:ea typeface="+mj-ea"/>
            </a:endParaRPr>
          </a:p>
        </p:txBody>
      </p:sp>
      <p:sp>
        <p:nvSpPr>
          <p:cNvPr id="17" name="Freeform 7"/>
          <p:cNvSpPr>
            <a:spLocks/>
          </p:cNvSpPr>
          <p:nvPr/>
        </p:nvSpPr>
        <p:spPr bwMode="auto">
          <a:xfrm>
            <a:off x="2314041" y="5595233"/>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en-US" altLang="zh-CN" sz="2800" b="1" kern="0" dirty="0">
                <a:solidFill>
                  <a:srgbClr val="FFFFFF"/>
                </a:solidFill>
                <a:latin typeface="+mj-ea"/>
                <a:ea typeface="+mj-ea"/>
              </a:rPr>
              <a:t>LL</a:t>
            </a:r>
            <a:r>
              <a:rPr lang="zh-CN" altLang="en-US" sz="2800" b="1" kern="0" dirty="0">
                <a:solidFill>
                  <a:srgbClr val="FFFFFF"/>
                </a:solidFill>
                <a:latin typeface="+mj-ea"/>
                <a:ea typeface="+mj-ea"/>
              </a:rPr>
              <a:t>（</a:t>
            </a:r>
            <a:r>
              <a:rPr lang="en-US" altLang="zh-CN" sz="2800" b="1" kern="0" dirty="0">
                <a:solidFill>
                  <a:srgbClr val="FFFFFF"/>
                </a:solidFill>
                <a:latin typeface="+mj-ea"/>
                <a:ea typeface="+mj-ea"/>
              </a:rPr>
              <a:t>1</a:t>
            </a:r>
            <a:r>
              <a:rPr lang="zh-CN" altLang="en-US" sz="2800" b="1" kern="0" dirty="0">
                <a:solidFill>
                  <a:srgbClr val="FFFFFF"/>
                </a:solidFill>
                <a:latin typeface="+mj-ea"/>
                <a:ea typeface="+mj-ea"/>
              </a:rPr>
              <a:t>）分析中的出错处理</a:t>
            </a: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44</a:t>
            </a:fld>
            <a:endParaRPr lang="zh-CN" altLang="en-US">
              <a:solidFill>
                <a:srgbClr val="3F3F3F"/>
              </a:solidFill>
            </a:endParaRPr>
          </a:p>
        </p:txBody>
      </p:sp>
    </p:spTree>
    <p:extLst>
      <p:ext uri="{BB962C8B-B14F-4D97-AF65-F5344CB8AC3E}">
        <p14:creationId xmlns:p14="http://schemas.microsoft.com/office/powerpoint/2010/main" val="33515618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四、不确定的自顶向下分析思想</a:t>
            </a:r>
          </a:p>
        </p:txBody>
      </p:sp>
      <p:sp>
        <p:nvSpPr>
          <p:cNvPr id="3" name="内容占位符 2"/>
          <p:cNvSpPr>
            <a:spLocks noGrp="1"/>
          </p:cNvSpPr>
          <p:nvPr>
            <p:ph idx="1"/>
          </p:nvPr>
        </p:nvSpPr>
        <p:spPr/>
        <p:txBody>
          <a:bodyPr/>
          <a:lstStyle/>
          <a:p>
            <a:r>
              <a:rPr lang="zh-CN" altLang="en-US" dirty="0"/>
              <a:t>不确定的自顶向下分析思想又称为带回溯的自顶向下分析。</a:t>
            </a:r>
            <a:endParaRPr lang="en-US" altLang="zh-CN" dirty="0"/>
          </a:p>
          <a:p>
            <a:r>
              <a:rPr lang="zh-CN" altLang="en-US" dirty="0"/>
              <a:t>回溯的原因：</a:t>
            </a:r>
            <a:endParaRPr lang="en-US" altLang="zh-CN" dirty="0"/>
          </a:p>
          <a:p>
            <a:pPr lvl="1"/>
            <a:r>
              <a:rPr lang="zh-CN" altLang="en-US" dirty="0"/>
              <a:t>在文法中当关于某个非终结点符的产生式有多个候选时，而面临当前的输入符无法确定选用唯一的产生式，从而引起回溯。</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45</a:t>
            </a:fld>
            <a:endParaRPr lang="zh-CN" altLang="en-US">
              <a:solidFill>
                <a:srgbClr val="3F3F3F"/>
              </a:solidFill>
            </a:endParaRPr>
          </a:p>
        </p:txBody>
      </p:sp>
    </p:spTree>
    <p:extLst>
      <p:ext uri="{BB962C8B-B14F-4D97-AF65-F5344CB8AC3E}">
        <p14:creationId xmlns:p14="http://schemas.microsoft.com/office/powerpoint/2010/main" val="32539112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四、不确定的自顶向下分析思想</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回溯的三种常见例子：</a:t>
                </a:r>
                <a:endParaRPr lang="en-US" altLang="zh-CN" dirty="0"/>
              </a:p>
              <a:p>
                <a:pPr lvl="1"/>
                <a:r>
                  <a:rPr lang="zh-CN" altLang="en-US" dirty="0"/>
                  <a:t>由于相同左部的产生式的右部</a:t>
                </a:r>
                <a:r>
                  <a:rPr lang="en-US" altLang="zh-CN" dirty="0"/>
                  <a:t>FIRST</a:t>
                </a:r>
                <a:r>
                  <a:rPr lang="zh-CN" altLang="en-US" dirty="0"/>
                  <a:t>集交集不为空而引起回溯。</a:t>
                </a:r>
                <a:endParaRPr lang="en-US" altLang="zh-CN" dirty="0"/>
              </a:p>
              <a:p>
                <a:pPr lvl="1"/>
                <a:r>
                  <a:rPr lang="zh-CN" altLang="en-US" dirty="0"/>
                  <a:t>由于相同左部非终结符的右部存在能</a:t>
                </a:r>
                <a14:m>
                  <m:oMath xmlns:m="http://schemas.openxmlformats.org/officeDocument/2006/math">
                    <m:r>
                      <a:rPr lang="zh-CN" altLang="en-US" i="1" smtClean="0">
                        <a:latin typeface="Cambria Math"/>
                      </a:rPr>
                      <m:t>⟹</m:t>
                    </m:r>
                  </m:oMath>
                </a14:m>
                <a:r>
                  <a:rPr lang="zh-CN" altLang="en-US" dirty="0"/>
                  <a:t>*</a:t>
                </a:r>
                <a14:m>
                  <m:oMath xmlns:m="http://schemas.openxmlformats.org/officeDocument/2006/math">
                    <m:r>
                      <a:rPr lang="zh-CN" altLang="en-US" i="1" dirty="0" smtClean="0">
                        <a:latin typeface="Cambria Math"/>
                      </a:rPr>
                      <m:t>𝜺</m:t>
                    </m:r>
                    <m:r>
                      <a:rPr lang="zh-CN" altLang="en-US" b="1" i="1" dirty="0" smtClean="0">
                        <a:latin typeface="Cambria Math"/>
                      </a:rPr>
                      <m:t>的</m:t>
                    </m:r>
                    <m:r>
                      <a:rPr lang="zh-CN" altLang="en-US" i="1" dirty="0">
                        <a:latin typeface="Cambria Math"/>
                      </a:rPr>
                      <m:t>产生式</m:t>
                    </m:r>
                  </m:oMath>
                </a14:m>
                <a:r>
                  <a:rPr lang="zh-CN" altLang="en-US" dirty="0"/>
                  <a:t>，且该非终结符的</a:t>
                </a:r>
                <a:r>
                  <a:rPr lang="en-US" altLang="zh-CN" dirty="0"/>
                  <a:t>FOLLOW</a:t>
                </a:r>
                <a:r>
                  <a:rPr lang="zh-CN" altLang="en-US" dirty="0"/>
                  <a:t>集中含有其他产生式右部</a:t>
                </a:r>
                <a:r>
                  <a:rPr lang="en-US" altLang="zh-CN" dirty="0"/>
                  <a:t>FIRST</a:t>
                </a:r>
                <a:r>
                  <a:rPr lang="zh-CN" altLang="en-US" dirty="0"/>
                  <a:t>集的元素。</a:t>
                </a:r>
                <a:endParaRPr lang="en-US" altLang="zh-CN" dirty="0"/>
              </a:p>
              <a:p>
                <a:pPr lvl="1"/>
                <a:r>
                  <a:rPr lang="zh-CN" altLang="en-US" dirty="0"/>
                  <a:t>由于文法的左递归而引起回溯。</a:t>
                </a:r>
                <a:endParaRPr lang="en-US" altLang="zh-CN" dirty="0"/>
              </a:p>
              <a:p>
                <a:r>
                  <a:rPr lang="zh-CN" altLang="en-US" dirty="0"/>
                  <a:t>带回溯的自顶向下分析是一个试探过程，直到把所有可能的推导序列都试完仍不成功，才能确认输入串是该文法的句子而报错。</a:t>
                </a:r>
                <a:endParaRPr lang="en-US" altLang="zh-CN" dirty="0"/>
              </a:p>
              <a:p>
                <a:r>
                  <a:rPr lang="zh-CN" altLang="en-US" dirty="0">
                    <a:solidFill>
                      <a:srgbClr val="FF0000"/>
                    </a:solidFill>
                  </a:rPr>
                  <a:t>代价高，效率低。</a:t>
                </a:r>
                <a:endParaRPr lang="en-US" altLang="zh-CN" dirty="0">
                  <a:solidFill>
                    <a:srgbClr val="FF0000"/>
                  </a:solidFill>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t="-1549" r="-1113" b="-1120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46</a:t>
            </a:fld>
            <a:endParaRPr lang="zh-CN" altLang="en-US">
              <a:solidFill>
                <a:srgbClr val="3F3F3F"/>
              </a:solidFill>
            </a:endParaRPr>
          </a:p>
        </p:txBody>
      </p:sp>
    </p:spTree>
    <p:extLst>
      <p:ext uri="{BB962C8B-B14F-4D97-AF65-F5344CB8AC3E}">
        <p14:creationId xmlns:p14="http://schemas.microsoft.com/office/powerpoint/2010/main" val="25258633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第四章 自顶向下语法分析方法</a:t>
            </a:r>
          </a:p>
        </p:txBody>
      </p:sp>
      <p:sp>
        <p:nvSpPr>
          <p:cNvPr id="4" name="Freeform 6"/>
          <p:cNvSpPr>
            <a:spLocks/>
          </p:cNvSpPr>
          <p:nvPr/>
        </p:nvSpPr>
        <p:spPr bwMode="auto">
          <a:xfrm>
            <a:off x="975061" y="1155144"/>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01</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5" name="Freeform 7"/>
          <p:cNvSpPr>
            <a:spLocks/>
          </p:cNvSpPr>
          <p:nvPr/>
        </p:nvSpPr>
        <p:spPr bwMode="auto">
          <a:xfrm>
            <a:off x="2314041" y="115514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rPr>
              <a:t>确定的自顶向下分析思想</a:t>
            </a:r>
          </a:p>
        </p:txBody>
      </p:sp>
      <p:sp>
        <p:nvSpPr>
          <p:cNvPr id="6" name="Freeform 6"/>
          <p:cNvSpPr>
            <a:spLocks/>
          </p:cNvSpPr>
          <p:nvPr/>
        </p:nvSpPr>
        <p:spPr bwMode="auto">
          <a:xfrm>
            <a:off x="975061" y="2019240"/>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02</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8" name="Freeform 6"/>
          <p:cNvSpPr>
            <a:spLocks/>
          </p:cNvSpPr>
          <p:nvPr/>
        </p:nvSpPr>
        <p:spPr bwMode="auto">
          <a:xfrm>
            <a:off x="975061" y="2883336"/>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03</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9" name="Freeform 7"/>
          <p:cNvSpPr>
            <a:spLocks/>
          </p:cNvSpPr>
          <p:nvPr/>
        </p:nvSpPr>
        <p:spPr bwMode="auto">
          <a:xfrm>
            <a:off x="2314041" y="2019239"/>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）分析</a:t>
            </a:r>
          </a:p>
        </p:txBody>
      </p:sp>
      <p:sp>
        <p:nvSpPr>
          <p:cNvPr id="10" name="Freeform 6"/>
          <p:cNvSpPr>
            <a:spLocks/>
          </p:cNvSpPr>
          <p:nvPr/>
        </p:nvSpPr>
        <p:spPr bwMode="auto">
          <a:xfrm>
            <a:off x="975061" y="3747432"/>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04</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11" name="Freeform 7"/>
          <p:cNvSpPr>
            <a:spLocks/>
          </p:cNvSpPr>
          <p:nvPr/>
        </p:nvSpPr>
        <p:spPr bwMode="auto">
          <a:xfrm>
            <a:off x="2314041" y="2883335"/>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rPr>
              <a:t>非</a:t>
            </a: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）和</a:t>
            </a: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）等价变换</a:t>
            </a:r>
          </a:p>
        </p:txBody>
      </p:sp>
      <p:sp>
        <p:nvSpPr>
          <p:cNvPr id="12" name="Freeform 6"/>
          <p:cNvSpPr>
            <a:spLocks/>
          </p:cNvSpPr>
          <p:nvPr/>
        </p:nvSpPr>
        <p:spPr bwMode="auto">
          <a:xfrm>
            <a:off x="971555" y="4611528"/>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0066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05</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13" name="Freeform 7"/>
          <p:cNvSpPr>
            <a:spLocks/>
          </p:cNvSpPr>
          <p:nvPr/>
        </p:nvSpPr>
        <p:spPr bwMode="auto">
          <a:xfrm>
            <a:off x="2314041" y="3747431"/>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rPr>
              <a:t>不确定的自顶向下分析思想</a:t>
            </a:r>
          </a:p>
        </p:txBody>
      </p:sp>
      <p:sp>
        <p:nvSpPr>
          <p:cNvPr id="14" name="Freeform 6"/>
          <p:cNvSpPr>
            <a:spLocks/>
          </p:cNvSpPr>
          <p:nvPr/>
        </p:nvSpPr>
        <p:spPr bwMode="auto">
          <a:xfrm>
            <a:off x="975061" y="5478051"/>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06</a:t>
            </a:r>
            <a:endParaRPr kumimoji="0" lang="ru-RU"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5" name="Freeform 7"/>
          <p:cNvSpPr>
            <a:spLocks/>
          </p:cNvSpPr>
          <p:nvPr/>
        </p:nvSpPr>
        <p:spPr bwMode="auto">
          <a:xfrm>
            <a:off x="2314041" y="461395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0066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en-US" altLang="zh-CN" sz="2800" b="1" kern="0" dirty="0">
                <a:solidFill>
                  <a:srgbClr val="FFFFFF"/>
                </a:solidFill>
                <a:latin typeface="+mj-ea"/>
                <a:ea typeface="+mj-ea"/>
              </a:rPr>
              <a:t>LL</a:t>
            </a:r>
            <a:r>
              <a:rPr lang="zh-CN" altLang="en-US" sz="2800" b="1" kern="0" dirty="0">
                <a:solidFill>
                  <a:srgbClr val="FFFFFF"/>
                </a:solidFill>
                <a:latin typeface="+mj-ea"/>
                <a:ea typeface="+mj-ea"/>
              </a:rPr>
              <a:t>（</a:t>
            </a:r>
            <a:r>
              <a:rPr lang="en-US" altLang="zh-CN" sz="2800" b="1" kern="0" dirty="0">
                <a:solidFill>
                  <a:srgbClr val="FFFFFF"/>
                </a:solidFill>
                <a:latin typeface="+mj-ea"/>
                <a:ea typeface="+mj-ea"/>
              </a:rPr>
              <a:t>1</a:t>
            </a:r>
            <a:r>
              <a:rPr lang="zh-CN" altLang="en-US" sz="2800" b="1" kern="0" dirty="0">
                <a:solidFill>
                  <a:srgbClr val="FFFFFF"/>
                </a:solidFill>
                <a:latin typeface="+mj-ea"/>
                <a:ea typeface="+mj-ea"/>
              </a:rPr>
              <a:t>）分析的实现</a:t>
            </a:r>
          </a:p>
        </p:txBody>
      </p:sp>
      <p:sp>
        <p:nvSpPr>
          <p:cNvPr id="17" name="Freeform 7"/>
          <p:cNvSpPr>
            <a:spLocks/>
          </p:cNvSpPr>
          <p:nvPr/>
        </p:nvSpPr>
        <p:spPr bwMode="auto">
          <a:xfrm>
            <a:off x="2314041" y="5595233"/>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pPr lvl="0">
              <a:defRPr/>
            </a:pPr>
            <a:r>
              <a:rPr lang="en-US" altLang="zh-CN" sz="2800" b="1" kern="0" dirty="0">
                <a:solidFill>
                  <a:srgbClr val="FFFFFF"/>
                </a:solidFill>
                <a:latin typeface="+mj-ea"/>
                <a:ea typeface="+mj-ea"/>
              </a:rPr>
              <a:t>LL</a:t>
            </a:r>
            <a:r>
              <a:rPr lang="zh-CN" altLang="en-US" sz="2800" b="1" kern="0" dirty="0">
                <a:solidFill>
                  <a:srgbClr val="FFFFFF"/>
                </a:solidFill>
                <a:latin typeface="+mj-ea"/>
                <a:ea typeface="+mj-ea"/>
              </a:rPr>
              <a:t>（</a:t>
            </a:r>
            <a:r>
              <a:rPr lang="en-US" altLang="zh-CN" sz="2800" b="1" kern="0" dirty="0">
                <a:solidFill>
                  <a:srgbClr val="FFFFFF"/>
                </a:solidFill>
                <a:latin typeface="+mj-ea"/>
                <a:ea typeface="+mj-ea"/>
              </a:rPr>
              <a:t>1</a:t>
            </a:r>
            <a:r>
              <a:rPr lang="zh-CN" altLang="en-US" sz="2800" b="1" kern="0" dirty="0">
                <a:solidFill>
                  <a:srgbClr val="FFFFFF"/>
                </a:solidFill>
                <a:latin typeface="+mj-ea"/>
                <a:ea typeface="+mj-ea"/>
              </a:rPr>
              <a:t>）分析中的出错处理</a:t>
            </a: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47</a:t>
            </a:fld>
            <a:endParaRPr lang="zh-CN" altLang="en-US">
              <a:solidFill>
                <a:srgbClr val="3F3F3F"/>
              </a:solidFill>
            </a:endParaRPr>
          </a:p>
        </p:txBody>
      </p:sp>
    </p:spTree>
    <p:extLst>
      <p:ext uri="{BB962C8B-B14F-4D97-AF65-F5344CB8AC3E}">
        <p14:creationId xmlns:p14="http://schemas.microsoft.com/office/powerpoint/2010/main" val="18950202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五、</a:t>
            </a:r>
            <a:r>
              <a:rPr lang="en-US" altLang="zh-CN" dirty="0"/>
              <a:t>LL</a:t>
            </a:r>
            <a:r>
              <a:rPr lang="zh-CN" altLang="en-US" dirty="0"/>
              <a:t>（</a:t>
            </a:r>
            <a:r>
              <a:rPr lang="en-US" altLang="zh-CN" dirty="0"/>
              <a:t>1</a:t>
            </a:r>
            <a:r>
              <a:rPr lang="zh-CN" altLang="en-US" dirty="0"/>
              <a:t>）分析实现</a:t>
            </a:r>
          </a:p>
        </p:txBody>
      </p:sp>
      <p:sp>
        <p:nvSpPr>
          <p:cNvPr id="3" name="内容占位符 2"/>
          <p:cNvSpPr>
            <a:spLocks noGrp="1"/>
          </p:cNvSpPr>
          <p:nvPr>
            <p:ph idx="1"/>
          </p:nvPr>
        </p:nvSpPr>
        <p:spPr/>
        <p:txBody>
          <a:bodyPr/>
          <a:lstStyle/>
          <a:p>
            <a:r>
              <a:rPr lang="zh-CN" altLang="en-US" dirty="0"/>
              <a:t>递归下降 </a:t>
            </a:r>
            <a:r>
              <a:rPr lang="en-US" altLang="zh-CN" dirty="0"/>
              <a:t>LL</a:t>
            </a:r>
            <a:r>
              <a:rPr lang="zh-CN" altLang="en-US" dirty="0"/>
              <a:t>（</a:t>
            </a:r>
            <a:r>
              <a:rPr lang="en-US" altLang="zh-CN" dirty="0"/>
              <a:t>1</a:t>
            </a:r>
            <a:r>
              <a:rPr lang="zh-CN" altLang="en-US" dirty="0"/>
              <a:t>）分析程序</a:t>
            </a:r>
          </a:p>
          <a:p>
            <a:pPr lvl="1"/>
            <a:r>
              <a:rPr lang="zh-CN" altLang="en-US" dirty="0"/>
              <a:t>每个非终结符对应一个分析子程序</a:t>
            </a:r>
          </a:p>
          <a:p>
            <a:r>
              <a:rPr lang="zh-CN" altLang="en-US" dirty="0"/>
              <a:t>表驱动 </a:t>
            </a:r>
            <a:r>
              <a:rPr lang="en-US" altLang="zh-CN" dirty="0"/>
              <a:t>LL</a:t>
            </a:r>
            <a:r>
              <a:rPr lang="zh-CN" altLang="en-US" dirty="0"/>
              <a:t>（</a:t>
            </a:r>
            <a:r>
              <a:rPr lang="en-US" altLang="zh-CN" dirty="0"/>
              <a:t>1</a:t>
            </a:r>
            <a:r>
              <a:rPr lang="zh-CN" altLang="en-US" dirty="0"/>
              <a:t>）分析程序</a:t>
            </a:r>
          </a:p>
          <a:p>
            <a:pPr lvl="1"/>
            <a:r>
              <a:rPr lang="zh-CN" altLang="en-US" dirty="0"/>
              <a:t>借助于预测分析表和一个下推栈</a:t>
            </a:r>
          </a:p>
          <a:p>
            <a:r>
              <a:rPr lang="zh-CN" altLang="en-US" dirty="0"/>
              <a:t>预测分析法要求文法是</a:t>
            </a:r>
            <a:r>
              <a:rPr lang="zh-CN" altLang="en-US" dirty="0">
                <a:solidFill>
                  <a:srgbClr val="FF0000"/>
                </a:solidFill>
              </a:rPr>
              <a:t>经过压缩、无左递归和无回溯</a:t>
            </a:r>
            <a:r>
              <a:rPr lang="zh-CN" altLang="en-US" dirty="0"/>
              <a:t>的。</a:t>
            </a:r>
            <a:r>
              <a:rPr lang="zh-CN" altLang="en-US" dirty="0">
                <a:solidFill>
                  <a:srgbClr val="FF0000"/>
                </a:solidFill>
              </a:rPr>
              <a:t>预测分析</a:t>
            </a:r>
            <a:r>
              <a:rPr lang="zh-CN" altLang="en-US" dirty="0"/>
              <a:t>又称为</a:t>
            </a:r>
            <a:r>
              <a:rPr lang="en-US" altLang="zh-CN" dirty="0">
                <a:solidFill>
                  <a:srgbClr val="FF0000"/>
                </a:solidFill>
              </a:rPr>
              <a:t>LL(1)</a:t>
            </a:r>
            <a:r>
              <a:rPr lang="zh-CN" altLang="en-US" dirty="0"/>
              <a:t>方法。</a:t>
            </a:r>
            <a:endParaRPr lang="en-US" altLang="zh-CN"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48</a:t>
            </a:fld>
            <a:endParaRPr lang="zh-CN" altLang="en-US">
              <a:solidFill>
                <a:srgbClr val="3F3F3F"/>
              </a:solidFill>
            </a:endParaRPr>
          </a:p>
        </p:txBody>
      </p:sp>
    </p:spTree>
    <p:extLst>
      <p:ext uri="{BB962C8B-B14F-4D97-AF65-F5344CB8AC3E}">
        <p14:creationId xmlns:p14="http://schemas.microsoft.com/office/powerpoint/2010/main" val="29252018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a:t>
            </a:r>
            <a:r>
              <a:rPr lang="zh-CN" altLang="en-US" dirty="0"/>
              <a:t>递归下降分析法</a:t>
            </a:r>
            <a:r>
              <a:rPr lang="en-US" altLang="zh-CN" dirty="0"/>
              <a:t>LL(1)</a:t>
            </a:r>
            <a:r>
              <a:rPr lang="zh-CN" altLang="en-US" dirty="0"/>
              <a:t>实现</a:t>
            </a:r>
          </a:p>
        </p:txBody>
      </p:sp>
      <p:sp>
        <p:nvSpPr>
          <p:cNvPr id="3" name="内容占位符 2"/>
          <p:cNvSpPr>
            <a:spLocks noGrp="1"/>
          </p:cNvSpPr>
          <p:nvPr>
            <p:ph idx="1"/>
          </p:nvPr>
        </p:nvSpPr>
        <p:spPr/>
        <p:txBody>
          <a:bodyPr/>
          <a:lstStyle/>
          <a:p>
            <a:r>
              <a:rPr lang="zh-CN" altLang="en-US" dirty="0"/>
              <a:t>递归下降分析法是确定的自上而下分析法，这种分析法要求文法一定是</a:t>
            </a:r>
            <a:r>
              <a:rPr lang="en-US" altLang="zh-CN" dirty="0"/>
              <a:t>LL(1)</a:t>
            </a:r>
            <a:r>
              <a:rPr lang="zh-CN" altLang="en-US" dirty="0"/>
              <a:t>的。</a:t>
            </a:r>
          </a:p>
          <a:p>
            <a:r>
              <a:rPr lang="zh-CN" altLang="en-US" dirty="0"/>
              <a:t>它的基本思想是</a:t>
            </a:r>
            <a:r>
              <a:rPr lang="en-US" altLang="zh-CN" dirty="0"/>
              <a:t>:</a:t>
            </a:r>
            <a:r>
              <a:rPr lang="zh-CN" altLang="en-US" dirty="0"/>
              <a:t>对文法中的每个</a:t>
            </a:r>
            <a:r>
              <a:rPr lang="zh-CN" altLang="en-US" dirty="0">
                <a:solidFill>
                  <a:srgbClr val="FF0000"/>
                </a:solidFill>
              </a:rPr>
              <a:t>非终结符</a:t>
            </a:r>
            <a:r>
              <a:rPr lang="zh-CN" altLang="en-US" dirty="0"/>
              <a:t>编写一个</a:t>
            </a:r>
            <a:r>
              <a:rPr lang="zh-CN" altLang="en-US" dirty="0">
                <a:solidFill>
                  <a:srgbClr val="FF0000"/>
                </a:solidFill>
              </a:rPr>
              <a:t>函数</a:t>
            </a:r>
            <a:r>
              <a:rPr lang="en-US" altLang="zh-CN" dirty="0"/>
              <a:t>(</a:t>
            </a:r>
            <a:r>
              <a:rPr lang="zh-CN" altLang="en-US" dirty="0"/>
              <a:t>或子程序</a:t>
            </a:r>
            <a:r>
              <a:rPr lang="en-US" altLang="zh-CN" dirty="0"/>
              <a:t>),</a:t>
            </a:r>
            <a:r>
              <a:rPr lang="zh-CN" altLang="en-US" dirty="0"/>
              <a:t>每个函数的</a:t>
            </a:r>
            <a:r>
              <a:rPr lang="zh-CN" altLang="en-US" dirty="0">
                <a:solidFill>
                  <a:srgbClr val="FF0000"/>
                </a:solidFill>
              </a:rPr>
              <a:t>功能</a:t>
            </a:r>
            <a:r>
              <a:rPr lang="zh-CN" altLang="en-US" dirty="0"/>
              <a:t>是识别由</a:t>
            </a:r>
            <a:r>
              <a:rPr lang="zh-CN" altLang="en-US" dirty="0">
                <a:solidFill>
                  <a:srgbClr val="FF0000"/>
                </a:solidFill>
              </a:rPr>
              <a:t>该非终结符</a:t>
            </a:r>
            <a:r>
              <a:rPr lang="zh-CN" altLang="en-US" dirty="0"/>
              <a:t>所表示的</a:t>
            </a:r>
            <a:r>
              <a:rPr lang="zh-CN" altLang="en-US" dirty="0">
                <a:solidFill>
                  <a:srgbClr val="FF0000"/>
                </a:solidFill>
              </a:rPr>
              <a:t>语法成分</a:t>
            </a:r>
            <a:r>
              <a:rPr lang="zh-CN" altLang="en-US" dirty="0"/>
              <a:t>。</a:t>
            </a:r>
            <a:endParaRPr lang="en-US" altLang="zh-CN" dirty="0"/>
          </a:p>
          <a:p>
            <a:r>
              <a:rPr lang="zh-CN" altLang="en-US" dirty="0"/>
              <a:t>由于描述语言的文法常常是</a:t>
            </a:r>
            <a:r>
              <a:rPr lang="zh-CN" altLang="en-US" dirty="0">
                <a:solidFill>
                  <a:srgbClr val="FF0000"/>
                </a:solidFill>
              </a:rPr>
              <a:t>递归定义</a:t>
            </a:r>
            <a:r>
              <a:rPr lang="zh-CN" altLang="en-US" dirty="0"/>
              <a:t>的，因此相应的这组函数必然以</a:t>
            </a:r>
            <a:r>
              <a:rPr lang="zh-CN" altLang="en-US" dirty="0">
                <a:solidFill>
                  <a:srgbClr val="FF0000"/>
                </a:solidFill>
              </a:rPr>
              <a:t>相互递归</a:t>
            </a:r>
            <a:r>
              <a:rPr lang="zh-CN" altLang="en-US" dirty="0"/>
              <a:t>的方式进行调用，将此种分析法称为</a:t>
            </a:r>
            <a:r>
              <a:rPr lang="zh-CN" altLang="en-US" dirty="0">
                <a:solidFill>
                  <a:srgbClr val="FF0000"/>
                </a:solidFill>
              </a:rPr>
              <a:t>递归下降分析法</a:t>
            </a:r>
            <a:r>
              <a:rPr lang="zh-CN" altLang="en-US" dirty="0"/>
              <a:t>。</a:t>
            </a:r>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49</a:t>
            </a:fld>
            <a:endParaRPr lang="zh-CN" altLang="en-US">
              <a:solidFill>
                <a:srgbClr val="3F3F3F"/>
              </a:solidFill>
            </a:endParaRPr>
          </a:p>
        </p:txBody>
      </p:sp>
    </p:spTree>
    <p:extLst>
      <p:ext uri="{BB962C8B-B14F-4D97-AF65-F5344CB8AC3E}">
        <p14:creationId xmlns:p14="http://schemas.microsoft.com/office/powerpoint/2010/main" val="9081304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a:t>
            </a:r>
            <a:r>
              <a:rPr lang="zh-CN" altLang="en-US" dirty="0"/>
              <a:t>递归下降分析法</a:t>
            </a:r>
          </a:p>
        </p:txBody>
      </p:sp>
      <p:sp>
        <p:nvSpPr>
          <p:cNvPr id="3" name="内容占位符 2"/>
          <p:cNvSpPr>
            <a:spLocks noGrp="1"/>
          </p:cNvSpPr>
          <p:nvPr>
            <p:ph idx="1"/>
          </p:nvPr>
        </p:nvSpPr>
        <p:spPr/>
        <p:txBody>
          <a:bodyPr/>
          <a:lstStyle/>
          <a:p>
            <a:r>
              <a:rPr lang="zh-CN" altLang="en-US" dirty="0"/>
              <a:t>工作原理</a:t>
            </a:r>
            <a:endParaRPr lang="en-US" altLang="zh-CN" dirty="0"/>
          </a:p>
          <a:p>
            <a:pPr lvl="1"/>
            <a:r>
              <a:rPr lang="zh-CN" altLang="en-US" dirty="0"/>
              <a:t>每个非终结符都对应一个子程序。该子程序的行为根据语法描述来明确：（语法成分来实现）</a:t>
            </a:r>
            <a:endParaRPr lang="en-US" altLang="zh-CN" dirty="0"/>
          </a:p>
          <a:p>
            <a:pPr lvl="1"/>
            <a:r>
              <a:rPr lang="zh-CN" altLang="en-US" dirty="0">
                <a:solidFill>
                  <a:srgbClr val="FF0000"/>
                </a:solidFill>
              </a:rPr>
              <a:t>根据</a:t>
            </a:r>
            <a:r>
              <a:rPr lang="zh-CN" altLang="en-US" dirty="0"/>
              <a:t>下一个</a:t>
            </a:r>
            <a:r>
              <a:rPr lang="zh-CN" altLang="en-US" dirty="0">
                <a:solidFill>
                  <a:srgbClr val="FF0000"/>
                </a:solidFill>
              </a:rPr>
              <a:t>输入符号</a:t>
            </a:r>
            <a:r>
              <a:rPr lang="zh-CN" altLang="en-US" dirty="0"/>
              <a:t>来</a:t>
            </a:r>
            <a:r>
              <a:rPr lang="zh-CN" altLang="en-US" dirty="0">
                <a:solidFill>
                  <a:srgbClr val="FF0000"/>
                </a:solidFill>
              </a:rPr>
              <a:t>确定</a:t>
            </a:r>
            <a:r>
              <a:rPr lang="zh-CN" altLang="en-US" dirty="0"/>
              <a:t>按照哪一个</a:t>
            </a:r>
            <a:r>
              <a:rPr lang="zh-CN" altLang="en-US" dirty="0">
                <a:solidFill>
                  <a:srgbClr val="FF0000"/>
                </a:solidFill>
              </a:rPr>
              <a:t>产生式</a:t>
            </a:r>
            <a:r>
              <a:rPr lang="zh-CN" altLang="en-US" dirty="0"/>
              <a:t>进行处理，</a:t>
            </a:r>
            <a:endParaRPr lang="en-US" altLang="zh-CN" dirty="0"/>
          </a:p>
          <a:p>
            <a:pPr lvl="1"/>
            <a:r>
              <a:rPr lang="zh-CN" altLang="en-US" dirty="0"/>
              <a:t>再根据该产生式的右端，每遇到一个</a:t>
            </a:r>
            <a:r>
              <a:rPr lang="zh-CN" altLang="en-US" dirty="0">
                <a:solidFill>
                  <a:srgbClr val="FF0000"/>
                </a:solidFill>
              </a:rPr>
              <a:t>终结符</a:t>
            </a:r>
            <a:r>
              <a:rPr lang="zh-CN" altLang="en-US" dirty="0"/>
              <a:t>，则</a:t>
            </a:r>
            <a:r>
              <a:rPr lang="zh-CN" altLang="en-US" dirty="0">
                <a:solidFill>
                  <a:srgbClr val="FF0000"/>
                </a:solidFill>
              </a:rPr>
              <a:t>判断</a:t>
            </a:r>
            <a:r>
              <a:rPr lang="zh-CN" altLang="en-US" dirty="0"/>
              <a:t>当前读入的单词是否与该终结符相</a:t>
            </a:r>
            <a:r>
              <a:rPr lang="zh-CN" altLang="en-US" dirty="0">
                <a:solidFill>
                  <a:srgbClr val="FF0000"/>
                </a:solidFill>
              </a:rPr>
              <a:t>匹配</a:t>
            </a:r>
            <a:r>
              <a:rPr lang="zh-CN" altLang="en-US" dirty="0"/>
              <a:t>，若匹配，再读取下一个字符继续分析；不匹配，则进行出错处理</a:t>
            </a:r>
          </a:p>
          <a:p>
            <a:pPr lvl="1"/>
            <a:r>
              <a:rPr lang="zh-CN" altLang="en-US" dirty="0"/>
              <a:t>每</a:t>
            </a:r>
            <a:r>
              <a:rPr lang="zh-CN" altLang="en-US" dirty="0">
                <a:solidFill>
                  <a:srgbClr val="FF0000"/>
                </a:solidFill>
              </a:rPr>
              <a:t>遇到</a:t>
            </a:r>
            <a:r>
              <a:rPr lang="zh-CN" altLang="en-US" dirty="0"/>
              <a:t>一个</a:t>
            </a:r>
            <a:r>
              <a:rPr lang="zh-CN" altLang="en-US" dirty="0">
                <a:solidFill>
                  <a:srgbClr val="FF0000"/>
                </a:solidFill>
              </a:rPr>
              <a:t>非终结符</a:t>
            </a:r>
            <a:r>
              <a:rPr lang="zh-CN" altLang="en-US" dirty="0"/>
              <a:t>，则</a:t>
            </a:r>
            <a:r>
              <a:rPr lang="zh-CN" altLang="en-US" dirty="0">
                <a:solidFill>
                  <a:srgbClr val="FF0000"/>
                </a:solidFill>
              </a:rPr>
              <a:t>调用</a:t>
            </a:r>
            <a:r>
              <a:rPr lang="zh-CN" altLang="en-US" dirty="0"/>
              <a:t>相应的</a:t>
            </a:r>
            <a:r>
              <a:rPr lang="zh-CN" altLang="en-US" dirty="0">
                <a:solidFill>
                  <a:srgbClr val="FF0000"/>
                </a:solidFill>
              </a:rPr>
              <a:t>子程序</a:t>
            </a:r>
          </a:p>
          <a:p>
            <a:pPr lvl="1"/>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50</a:t>
            </a:fld>
            <a:endParaRPr lang="zh-CN" altLang="en-US">
              <a:solidFill>
                <a:srgbClr val="3F3F3F"/>
              </a:solidFill>
            </a:endParaRPr>
          </a:p>
        </p:txBody>
      </p:sp>
    </p:spTree>
    <p:extLst>
      <p:ext uri="{BB962C8B-B14F-4D97-AF65-F5344CB8AC3E}">
        <p14:creationId xmlns:p14="http://schemas.microsoft.com/office/powerpoint/2010/main" val="15177512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每个函数名是相应的非终结符</a:t>
            </a:r>
            <a:r>
              <a:rPr lang="en-US" altLang="zh-CN" dirty="0"/>
              <a:t>,</a:t>
            </a:r>
            <a:r>
              <a:rPr lang="zh-CN" altLang="en-US" dirty="0"/>
              <a:t>函数体则是根据规则右部符号串的结构编写。</a:t>
            </a:r>
          </a:p>
          <a:p>
            <a:r>
              <a:rPr lang="zh-CN" altLang="en-US" dirty="0"/>
              <a:t>当遇到终结符</a:t>
            </a:r>
            <a:r>
              <a:rPr lang="en-US" altLang="zh-CN" dirty="0"/>
              <a:t>a </a:t>
            </a:r>
            <a:r>
              <a:rPr lang="zh-CN" altLang="en-US" dirty="0"/>
              <a:t>时</a:t>
            </a:r>
            <a:r>
              <a:rPr lang="en-US" altLang="zh-CN" dirty="0"/>
              <a:t>,</a:t>
            </a:r>
            <a:r>
              <a:rPr lang="zh-CN" altLang="en-US" dirty="0"/>
              <a:t>则编写语句</a:t>
            </a:r>
          </a:p>
          <a:p>
            <a:pPr lvl="1"/>
            <a:r>
              <a:rPr lang="en-US" altLang="zh-CN" dirty="0"/>
              <a:t>if (</a:t>
            </a:r>
            <a:r>
              <a:rPr lang="zh-CN" altLang="en-US" dirty="0"/>
              <a:t>当前读来的输入符号</a:t>
            </a:r>
            <a:r>
              <a:rPr lang="en-US" altLang="zh-CN" dirty="0"/>
              <a:t>==a) </a:t>
            </a:r>
            <a:r>
              <a:rPr lang="zh-CN" altLang="en-US" dirty="0"/>
              <a:t>读下一个输入符号</a:t>
            </a:r>
            <a:r>
              <a:rPr lang="en-US" altLang="zh-CN" dirty="0"/>
              <a:t>;</a:t>
            </a:r>
          </a:p>
          <a:p>
            <a:r>
              <a:rPr lang="zh-CN" altLang="en-US" dirty="0"/>
              <a:t>当遇到非终结符</a:t>
            </a:r>
            <a:r>
              <a:rPr lang="en-US" altLang="zh-CN" dirty="0"/>
              <a:t>A </a:t>
            </a:r>
            <a:r>
              <a:rPr lang="zh-CN" altLang="en-US" dirty="0"/>
              <a:t>时</a:t>
            </a:r>
            <a:r>
              <a:rPr lang="en-US" altLang="zh-CN" dirty="0"/>
              <a:t>,</a:t>
            </a:r>
            <a:r>
              <a:rPr lang="zh-CN" altLang="en-US" dirty="0"/>
              <a:t>则编写语句调用</a:t>
            </a:r>
            <a:r>
              <a:rPr lang="en-US" altLang="zh-CN" dirty="0"/>
              <a:t>A();</a:t>
            </a:r>
          </a:p>
          <a:p>
            <a:r>
              <a:rPr lang="zh-CN" altLang="en-US" dirty="0"/>
              <a:t>当遇到</a:t>
            </a:r>
            <a:r>
              <a:rPr lang="en-US" altLang="zh-CN" dirty="0"/>
              <a:t>A →ε</a:t>
            </a:r>
            <a:r>
              <a:rPr lang="zh-CN" altLang="en-US" dirty="0"/>
              <a:t>规则时</a:t>
            </a:r>
            <a:r>
              <a:rPr lang="en-US" altLang="zh-CN" dirty="0"/>
              <a:t>,</a:t>
            </a:r>
            <a:r>
              <a:rPr lang="zh-CN" altLang="en-US" dirty="0"/>
              <a:t>则编写语句</a:t>
            </a:r>
          </a:p>
          <a:p>
            <a:pPr lvl="1"/>
            <a:r>
              <a:rPr lang="en-US" altLang="zh-CN" dirty="0"/>
              <a:t>if (</a:t>
            </a:r>
            <a:r>
              <a:rPr lang="zh-CN" altLang="en-US" dirty="0"/>
              <a:t>当前读来的输入符号    </a:t>
            </a:r>
            <a:r>
              <a:rPr lang="en-US" altLang="zh-CN" dirty="0"/>
              <a:t>FOLLOW(A) )  error() ;</a:t>
            </a:r>
          </a:p>
          <a:p>
            <a:r>
              <a:rPr lang="zh-CN" altLang="en-US" dirty="0"/>
              <a:t>当某个非终结符的规则有多个候选式时</a:t>
            </a:r>
            <a:r>
              <a:rPr lang="en-US" altLang="zh-CN" dirty="0"/>
              <a:t>,</a:t>
            </a:r>
            <a:r>
              <a:rPr lang="zh-CN" altLang="en-US" dirty="0"/>
              <a:t>按</a:t>
            </a:r>
            <a:r>
              <a:rPr lang="en-US" altLang="zh-CN" dirty="0"/>
              <a:t>LL(1)</a:t>
            </a:r>
            <a:r>
              <a:rPr lang="zh-CN" altLang="en-US" dirty="0"/>
              <a:t>文法的条件能唯一地选择一个候选式进行推导。</a:t>
            </a:r>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51</a:t>
            </a:fld>
            <a:endParaRPr lang="zh-CN" altLang="en-US">
              <a:solidFill>
                <a:srgbClr val="3F3F3F"/>
              </a:solidFill>
            </a:endParaRPr>
          </a:p>
        </p:txBody>
      </p:sp>
    </p:spTree>
    <p:extLst>
      <p:ext uri="{BB962C8B-B14F-4D97-AF65-F5344CB8AC3E}">
        <p14:creationId xmlns:p14="http://schemas.microsoft.com/office/powerpoint/2010/main" val="32270716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a:t>
            </a:r>
            <a:r>
              <a:rPr lang="zh-CN" altLang="en-US" dirty="0"/>
              <a:t>递归下降分析法</a:t>
            </a:r>
          </a:p>
        </p:txBody>
      </p:sp>
      <p:sp>
        <p:nvSpPr>
          <p:cNvPr id="3" name="内容占位符 2"/>
          <p:cNvSpPr>
            <a:spLocks noGrp="1"/>
          </p:cNvSpPr>
          <p:nvPr>
            <p:ph idx="1"/>
          </p:nvPr>
        </p:nvSpPr>
        <p:spPr/>
        <p:txBody>
          <a:bodyPr/>
          <a:lstStyle/>
          <a:p>
            <a:r>
              <a:rPr lang="zh-CN" altLang="en-US" dirty="0"/>
              <a:t>文法的扩展</a:t>
            </a:r>
            <a:r>
              <a:rPr lang="en-US" altLang="zh-CN" dirty="0"/>
              <a:t>BNF</a:t>
            </a:r>
            <a:r>
              <a:rPr lang="zh-CN" altLang="en-US" dirty="0"/>
              <a:t>表示</a:t>
            </a:r>
            <a:r>
              <a:rPr lang="en-US" altLang="zh-CN" dirty="0"/>
              <a:t>(Extended BNF</a:t>
            </a:r>
            <a:r>
              <a:rPr lang="zh-CN" altLang="en-US" dirty="0"/>
              <a:t>，</a:t>
            </a:r>
            <a:r>
              <a:rPr lang="en-US" altLang="zh-CN" dirty="0"/>
              <a:t>EBNF)</a:t>
            </a:r>
            <a:r>
              <a:rPr lang="zh-CN" altLang="en-US" dirty="0"/>
              <a:t>的产生式事实上已经可以被看作是程序的抽象。用某种程序设计语言表示出来，并且加上适当的</a:t>
            </a:r>
            <a:r>
              <a:rPr lang="zh-CN" altLang="en-US" dirty="0">
                <a:solidFill>
                  <a:srgbClr val="FF0000"/>
                </a:solidFill>
              </a:rPr>
              <a:t>数据结构</a:t>
            </a:r>
            <a:r>
              <a:rPr lang="zh-CN" altLang="en-US" dirty="0"/>
              <a:t>与</a:t>
            </a:r>
            <a:r>
              <a:rPr lang="zh-CN" altLang="en-US" dirty="0">
                <a:solidFill>
                  <a:srgbClr val="FF0000"/>
                </a:solidFill>
              </a:rPr>
              <a:t>基本函数</a:t>
            </a:r>
            <a:r>
              <a:rPr lang="zh-CN" altLang="en-US" dirty="0"/>
              <a:t>，就形成了非终结符的递归下降子程序。</a:t>
            </a:r>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52</a:t>
            </a:fld>
            <a:endParaRPr lang="zh-CN" altLang="en-US">
              <a:solidFill>
                <a:srgbClr val="3F3F3F"/>
              </a:solidFill>
            </a:endParaRPr>
          </a:p>
        </p:txBody>
      </p:sp>
    </p:spTree>
    <p:extLst>
      <p:ext uri="{BB962C8B-B14F-4D97-AF65-F5344CB8AC3E}">
        <p14:creationId xmlns:p14="http://schemas.microsoft.com/office/powerpoint/2010/main" val="36278386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a:t>
            </a:r>
            <a:r>
              <a:rPr lang="zh-CN" altLang="en-US" dirty="0"/>
              <a:t>递归下降分析法</a:t>
            </a:r>
          </a:p>
        </p:txBody>
      </p:sp>
      <p:sp>
        <p:nvSpPr>
          <p:cNvPr id="4" name="Rectangle 4"/>
          <p:cNvSpPr>
            <a:spLocks noChangeArrowheads="1"/>
          </p:cNvSpPr>
          <p:nvPr/>
        </p:nvSpPr>
        <p:spPr bwMode="auto">
          <a:xfrm>
            <a:off x="251465" y="1268733"/>
            <a:ext cx="8388350" cy="1371600"/>
          </a:xfrm>
          <a:prstGeom prst="rect">
            <a:avLst/>
          </a:prstGeom>
          <a:noFill/>
          <a:ln w="9525">
            <a:noFill/>
            <a:miter lim="800000"/>
            <a:headEnd/>
            <a:tailEnd/>
          </a:ln>
        </p:spPr>
        <p:txBody>
          <a:bodyPr>
            <a:spAutoFit/>
          </a:bodyPr>
          <a:lstStyle/>
          <a:p>
            <a:pPr>
              <a:buClrTx/>
              <a:buFont typeface="Symbol" pitchFamily="18" charset="2"/>
              <a:buChar char="-"/>
            </a:pPr>
            <a:r>
              <a:rPr lang="en-US" altLang="zh-CN" sz="2800" b="1" dirty="0">
                <a:solidFill>
                  <a:srgbClr val="800080"/>
                </a:solidFill>
              </a:rPr>
              <a:t>  </a:t>
            </a:r>
            <a:r>
              <a:rPr lang="zh-CN" altLang="en-US" sz="2800" b="1" dirty="0">
                <a:solidFill>
                  <a:srgbClr val="800080"/>
                </a:solidFill>
                <a:latin typeface="楷体_GB2312" pitchFamily="49" charset="-122"/>
              </a:rPr>
              <a:t>例 </a:t>
            </a:r>
            <a:r>
              <a:rPr lang="zh-CN" altLang="en-US" sz="2800" b="1" dirty="0">
                <a:latin typeface="楷体_GB2312" pitchFamily="49" charset="-122"/>
              </a:rPr>
              <a:t>对于下列关于 </a:t>
            </a:r>
            <a:r>
              <a:rPr lang="en-US" altLang="zh-CN" sz="2400" dirty="0"/>
              <a:t>function </a:t>
            </a:r>
            <a:r>
              <a:rPr lang="zh-CN" altLang="en-US" sz="2800" b="1" dirty="0">
                <a:latin typeface="楷体_GB2312" pitchFamily="49" charset="-122"/>
              </a:rPr>
              <a:t>的唯一产生式</a:t>
            </a:r>
          </a:p>
          <a:p>
            <a:pPr>
              <a:buClrTx/>
              <a:buFont typeface="Symbol" pitchFamily="18" charset="2"/>
              <a:buNone/>
            </a:pPr>
            <a:r>
              <a:rPr lang="zh-CN" altLang="en-US" sz="2400" dirty="0"/>
              <a:t>     </a:t>
            </a:r>
            <a:r>
              <a:rPr lang="en-US" altLang="zh-CN" sz="2400" dirty="0"/>
              <a:t>&lt;function&gt; </a:t>
            </a:r>
            <a:r>
              <a:rPr lang="en-US" altLang="zh-CN" sz="2400" b="1" dirty="0">
                <a:sym typeface="Symbol" pitchFamily="18" charset="2"/>
              </a:rPr>
              <a:t></a:t>
            </a:r>
            <a:r>
              <a:rPr lang="en-US" altLang="zh-CN" sz="3200" dirty="0"/>
              <a:t> </a:t>
            </a:r>
            <a:r>
              <a:rPr lang="en-US" altLang="zh-CN" sz="2400" dirty="0"/>
              <a:t>FUNC ID  ( &lt;</a:t>
            </a:r>
            <a:r>
              <a:rPr lang="en-US" altLang="zh-CN" sz="2400" dirty="0" err="1"/>
              <a:t>parameter_list</a:t>
            </a:r>
            <a:r>
              <a:rPr lang="en-US" altLang="zh-CN" sz="2400" dirty="0"/>
              <a:t>&gt; ) &lt;statement&gt;</a:t>
            </a:r>
          </a:p>
          <a:p>
            <a:pPr>
              <a:buClrTx/>
              <a:buFont typeface="Symbol" pitchFamily="18" charset="2"/>
              <a:buNone/>
            </a:pPr>
            <a:r>
              <a:rPr lang="en-US" altLang="zh-CN" sz="2400" dirty="0"/>
              <a:t>     </a:t>
            </a:r>
            <a:r>
              <a:rPr lang="zh-CN" altLang="en-US" sz="2400" dirty="0"/>
              <a:t>其中：</a:t>
            </a:r>
            <a:r>
              <a:rPr lang="zh-CN" altLang="en-US" b="1" dirty="0"/>
              <a:t>（</a:t>
            </a:r>
            <a:r>
              <a:rPr lang="en-US" altLang="zh-CN" b="1" dirty="0"/>
              <a:t>&lt;</a:t>
            </a:r>
            <a:r>
              <a:rPr lang="en-US" altLang="zh-CN" dirty="0"/>
              <a:t>function&gt;</a:t>
            </a:r>
            <a:r>
              <a:rPr lang="zh-CN" altLang="en-US" dirty="0"/>
              <a:t>，</a:t>
            </a:r>
            <a:r>
              <a:rPr lang="en-US" altLang="zh-CN" dirty="0"/>
              <a:t>&lt;</a:t>
            </a:r>
            <a:r>
              <a:rPr lang="en-US" altLang="zh-CN" dirty="0" err="1"/>
              <a:t>parameter_list</a:t>
            </a:r>
            <a:r>
              <a:rPr lang="en-US" altLang="zh-CN" dirty="0"/>
              <a:t>&gt;</a:t>
            </a:r>
            <a:r>
              <a:rPr lang="zh-CN" altLang="en-US" dirty="0"/>
              <a:t>，</a:t>
            </a:r>
            <a:r>
              <a:rPr lang="zh-CN" altLang="en-US" b="1" dirty="0"/>
              <a:t>和</a:t>
            </a:r>
            <a:r>
              <a:rPr lang="zh-CN" altLang="en-US" dirty="0"/>
              <a:t> </a:t>
            </a:r>
            <a:r>
              <a:rPr lang="en-US" altLang="zh-CN" dirty="0"/>
              <a:t>&lt;statement&gt; </a:t>
            </a:r>
            <a:r>
              <a:rPr lang="zh-CN" altLang="en-US" b="1" dirty="0"/>
              <a:t>是非终结符）</a:t>
            </a:r>
          </a:p>
        </p:txBody>
      </p:sp>
      <p:sp>
        <p:nvSpPr>
          <p:cNvPr id="5" name="Rectangle 11"/>
          <p:cNvSpPr>
            <a:spLocks noChangeArrowheads="1"/>
          </p:cNvSpPr>
          <p:nvPr/>
        </p:nvSpPr>
        <p:spPr bwMode="auto">
          <a:xfrm>
            <a:off x="2411733" y="2708911"/>
            <a:ext cx="6480175" cy="3416320"/>
          </a:xfrm>
          <a:prstGeom prst="rect">
            <a:avLst/>
          </a:prstGeom>
          <a:noFill/>
          <a:ln w="9525">
            <a:noFill/>
            <a:miter lim="800000"/>
            <a:headEnd/>
            <a:tailEnd/>
          </a:ln>
        </p:spPr>
        <p:txBody>
          <a:bodyPr>
            <a:spAutoFit/>
          </a:bodyPr>
          <a:lstStyle/>
          <a:p>
            <a:r>
              <a:rPr lang="en-US" altLang="zh-CN" sz="2400" dirty="0">
                <a:solidFill>
                  <a:srgbClr val="003399"/>
                </a:solidFill>
              </a:rPr>
              <a:t>void </a:t>
            </a:r>
            <a:r>
              <a:rPr lang="en-US" altLang="zh-CN" sz="2400" dirty="0" err="1">
                <a:solidFill>
                  <a:srgbClr val="003399"/>
                </a:solidFill>
              </a:rPr>
              <a:t>ParseFunction</a:t>
            </a:r>
            <a:r>
              <a:rPr lang="en-US" altLang="zh-CN" sz="2400" dirty="0">
                <a:solidFill>
                  <a:srgbClr val="003399"/>
                </a:solidFill>
              </a:rPr>
              <a:t>()</a:t>
            </a:r>
          </a:p>
          <a:p>
            <a:r>
              <a:rPr lang="en-US" altLang="zh-CN" sz="2400" dirty="0">
                <a:solidFill>
                  <a:srgbClr val="003399"/>
                </a:solidFill>
              </a:rPr>
              <a:t>{</a:t>
            </a:r>
          </a:p>
          <a:p>
            <a:r>
              <a:rPr lang="en-US" altLang="zh-CN" sz="2400" dirty="0">
                <a:solidFill>
                  <a:srgbClr val="003399"/>
                </a:solidFill>
              </a:rPr>
              <a:t>    </a:t>
            </a:r>
            <a:r>
              <a:rPr lang="en-US" altLang="zh-CN" sz="2400" dirty="0" err="1">
                <a:solidFill>
                  <a:srgbClr val="003399"/>
                </a:solidFill>
              </a:rPr>
              <a:t>MatchToken</a:t>
            </a:r>
            <a:r>
              <a:rPr lang="en-US" altLang="zh-CN" sz="2400" dirty="0">
                <a:solidFill>
                  <a:srgbClr val="003399"/>
                </a:solidFill>
              </a:rPr>
              <a:t>(T_FUNC);      //</a:t>
            </a:r>
            <a:r>
              <a:rPr lang="zh-CN" altLang="en-US" sz="2400" b="1" dirty="0">
                <a:solidFill>
                  <a:srgbClr val="003399"/>
                </a:solidFill>
              </a:rPr>
              <a:t>匹配</a:t>
            </a:r>
            <a:r>
              <a:rPr lang="en-US" altLang="zh-CN" sz="2400" dirty="0">
                <a:solidFill>
                  <a:srgbClr val="003399"/>
                </a:solidFill>
              </a:rPr>
              <a:t>FUNC</a:t>
            </a:r>
          </a:p>
          <a:p>
            <a:r>
              <a:rPr lang="en-US" altLang="zh-CN" sz="2400" dirty="0">
                <a:solidFill>
                  <a:srgbClr val="003399"/>
                </a:solidFill>
              </a:rPr>
              <a:t>    </a:t>
            </a:r>
            <a:r>
              <a:rPr lang="en-US" altLang="zh-CN" sz="2400" dirty="0" err="1">
                <a:solidFill>
                  <a:srgbClr val="003399"/>
                </a:solidFill>
              </a:rPr>
              <a:t>MatchToken</a:t>
            </a:r>
            <a:r>
              <a:rPr lang="en-US" altLang="zh-CN" sz="2400" dirty="0">
                <a:solidFill>
                  <a:srgbClr val="003399"/>
                </a:solidFill>
              </a:rPr>
              <a:t>(T_ID);      //</a:t>
            </a:r>
            <a:r>
              <a:rPr lang="zh-CN" altLang="en-US" sz="2400" b="1" dirty="0">
                <a:solidFill>
                  <a:srgbClr val="003399"/>
                </a:solidFill>
              </a:rPr>
              <a:t>匹配</a:t>
            </a:r>
            <a:r>
              <a:rPr lang="en-US" altLang="zh-CN" sz="2400" dirty="0">
                <a:solidFill>
                  <a:srgbClr val="003399"/>
                </a:solidFill>
              </a:rPr>
              <a:t>ID </a:t>
            </a:r>
          </a:p>
          <a:p>
            <a:r>
              <a:rPr lang="en-US" altLang="zh-CN" sz="2400" dirty="0">
                <a:solidFill>
                  <a:srgbClr val="003399"/>
                </a:solidFill>
              </a:rPr>
              <a:t>    </a:t>
            </a:r>
            <a:r>
              <a:rPr lang="en-US" altLang="zh-CN" sz="2400" dirty="0" err="1">
                <a:solidFill>
                  <a:srgbClr val="003399"/>
                </a:solidFill>
              </a:rPr>
              <a:t>MatchToken</a:t>
            </a:r>
            <a:r>
              <a:rPr lang="en-US" altLang="zh-CN" sz="2400" dirty="0">
                <a:solidFill>
                  <a:srgbClr val="003399"/>
                </a:solidFill>
              </a:rPr>
              <a:t>(T_LPAREN);  // </a:t>
            </a:r>
            <a:r>
              <a:rPr lang="zh-CN" altLang="en-US" sz="2400" b="1" dirty="0">
                <a:solidFill>
                  <a:srgbClr val="003399"/>
                </a:solidFill>
              </a:rPr>
              <a:t>匹配 （</a:t>
            </a:r>
          </a:p>
          <a:p>
            <a:r>
              <a:rPr lang="zh-CN" altLang="en-US" sz="2400" dirty="0">
                <a:solidFill>
                  <a:srgbClr val="003399"/>
                </a:solidFill>
              </a:rPr>
              <a:t>    </a:t>
            </a:r>
            <a:r>
              <a:rPr lang="en-US" altLang="zh-CN" sz="2400" dirty="0" err="1">
                <a:solidFill>
                  <a:srgbClr val="003399"/>
                </a:solidFill>
              </a:rPr>
              <a:t>ParseParameterList</a:t>
            </a:r>
            <a:r>
              <a:rPr lang="en-US" altLang="zh-CN" sz="2400" dirty="0">
                <a:solidFill>
                  <a:srgbClr val="003399"/>
                </a:solidFill>
              </a:rPr>
              <a:t>();</a:t>
            </a:r>
          </a:p>
          <a:p>
            <a:r>
              <a:rPr lang="en-US" altLang="zh-CN" sz="2400" dirty="0">
                <a:solidFill>
                  <a:srgbClr val="003399"/>
                </a:solidFill>
              </a:rPr>
              <a:t>    </a:t>
            </a:r>
            <a:r>
              <a:rPr lang="en-US" altLang="zh-CN" sz="2400" dirty="0" err="1">
                <a:solidFill>
                  <a:srgbClr val="003399"/>
                </a:solidFill>
              </a:rPr>
              <a:t>MatchToken</a:t>
            </a:r>
            <a:r>
              <a:rPr lang="en-US" altLang="zh-CN" sz="2400" dirty="0">
                <a:solidFill>
                  <a:srgbClr val="003399"/>
                </a:solidFill>
              </a:rPr>
              <a:t>(T_RPAREN);  // </a:t>
            </a:r>
            <a:r>
              <a:rPr lang="zh-CN" altLang="en-US" sz="2400" b="1" dirty="0">
                <a:solidFill>
                  <a:srgbClr val="003399"/>
                </a:solidFill>
              </a:rPr>
              <a:t>匹配 ）</a:t>
            </a:r>
          </a:p>
          <a:p>
            <a:r>
              <a:rPr lang="zh-CN" altLang="en-US" sz="2400" dirty="0">
                <a:solidFill>
                  <a:srgbClr val="003399"/>
                </a:solidFill>
              </a:rPr>
              <a:t>    </a:t>
            </a:r>
            <a:r>
              <a:rPr lang="en-US" altLang="zh-CN" sz="2400" dirty="0" err="1">
                <a:solidFill>
                  <a:srgbClr val="003399"/>
                </a:solidFill>
              </a:rPr>
              <a:t>ParseStatement</a:t>
            </a:r>
            <a:r>
              <a:rPr lang="en-US" altLang="zh-CN" sz="2400" dirty="0">
                <a:solidFill>
                  <a:srgbClr val="003399"/>
                </a:solidFill>
              </a:rPr>
              <a:t>();</a:t>
            </a:r>
          </a:p>
          <a:p>
            <a:r>
              <a:rPr lang="en-US" altLang="zh-CN" sz="2400" dirty="0">
                <a:solidFill>
                  <a:srgbClr val="003399"/>
                </a:solidFill>
              </a:rPr>
              <a:t>}</a:t>
            </a:r>
          </a:p>
        </p:txBody>
      </p:sp>
      <p:sp>
        <p:nvSpPr>
          <p:cNvPr id="6" name="Rectangle 11"/>
          <p:cNvSpPr>
            <a:spLocks noChangeArrowheads="1"/>
          </p:cNvSpPr>
          <p:nvPr/>
        </p:nvSpPr>
        <p:spPr bwMode="auto">
          <a:xfrm>
            <a:off x="251465" y="6004765"/>
            <a:ext cx="8892535" cy="830997"/>
          </a:xfrm>
          <a:prstGeom prst="rect">
            <a:avLst/>
          </a:prstGeom>
          <a:noFill/>
          <a:ln w="9525">
            <a:noFill/>
            <a:miter lim="800000"/>
            <a:headEnd/>
            <a:tailEnd/>
          </a:ln>
        </p:spPr>
        <p:txBody>
          <a:bodyPr wrap="square">
            <a:spAutoFit/>
          </a:bodyPr>
          <a:lstStyle/>
          <a:p>
            <a:r>
              <a:rPr lang="en-US" altLang="zh-CN" sz="2400" b="1" dirty="0">
                <a:solidFill>
                  <a:srgbClr val="FF0000"/>
                </a:solidFill>
                <a:latin typeface="Times New Roman" panose="02020603050405020304" pitchFamily="18" charset="0"/>
              </a:rPr>
              <a:t>&lt;function&gt;</a:t>
            </a:r>
            <a:r>
              <a:rPr lang="zh-CN" altLang="en-US" sz="2400" b="1" dirty="0">
                <a:solidFill>
                  <a:srgbClr val="FF0000"/>
                </a:solidFill>
                <a:latin typeface="Times New Roman" panose="02020603050405020304" pitchFamily="18" charset="0"/>
              </a:rPr>
              <a:t>、</a:t>
            </a:r>
            <a:r>
              <a:rPr lang="en-US" altLang="zh-CN" sz="2400" b="1" dirty="0">
                <a:solidFill>
                  <a:srgbClr val="FF0000"/>
                </a:solidFill>
                <a:latin typeface="Times New Roman" panose="02020603050405020304" pitchFamily="18" charset="0"/>
              </a:rPr>
              <a:t>&lt;</a:t>
            </a:r>
            <a:r>
              <a:rPr lang="en-US" altLang="zh-CN" sz="2400" b="1" dirty="0" err="1">
                <a:solidFill>
                  <a:srgbClr val="FF0000"/>
                </a:solidFill>
                <a:latin typeface="Times New Roman" panose="02020603050405020304" pitchFamily="18" charset="0"/>
              </a:rPr>
              <a:t>parameter_list</a:t>
            </a:r>
            <a:r>
              <a:rPr lang="en-US" altLang="zh-CN" sz="2400" b="1" dirty="0">
                <a:solidFill>
                  <a:srgbClr val="FF0000"/>
                </a:solidFill>
                <a:latin typeface="Times New Roman" panose="02020603050405020304" pitchFamily="18" charset="0"/>
              </a:rPr>
              <a:t>&gt;</a:t>
            </a:r>
            <a:r>
              <a:rPr lang="zh-CN" altLang="en-US" sz="2400" b="1" dirty="0">
                <a:solidFill>
                  <a:srgbClr val="FF0000"/>
                </a:solidFill>
                <a:latin typeface="Times New Roman" panose="02020603050405020304" pitchFamily="18" charset="0"/>
              </a:rPr>
              <a:t>、</a:t>
            </a:r>
            <a:r>
              <a:rPr lang="en-US" altLang="zh-CN" sz="2400" b="1" dirty="0">
                <a:solidFill>
                  <a:srgbClr val="FF0000"/>
                </a:solidFill>
                <a:latin typeface="Times New Roman" panose="02020603050405020304" pitchFamily="18" charset="0"/>
              </a:rPr>
              <a:t>&lt;statement&gt;</a:t>
            </a:r>
            <a:r>
              <a:rPr lang="zh-CN" altLang="en-US" sz="2400" b="1" dirty="0">
                <a:solidFill>
                  <a:srgbClr val="FF0000"/>
                </a:solidFill>
                <a:latin typeface="Times New Roman" panose="02020603050405020304" pitchFamily="18" charset="0"/>
              </a:rPr>
              <a:t>非终结符对应的分析子程序</a:t>
            </a:r>
            <a:r>
              <a:rPr lang="en-US" altLang="zh-CN" sz="2400" b="1" dirty="0" err="1">
                <a:solidFill>
                  <a:srgbClr val="FF0000"/>
                </a:solidFill>
                <a:latin typeface="Times New Roman" panose="02020603050405020304" pitchFamily="18" charset="0"/>
              </a:rPr>
              <a:t>ParseFunction</a:t>
            </a:r>
            <a:r>
              <a:rPr lang="en-US" altLang="zh-CN" sz="2400" b="1" dirty="0">
                <a:solidFill>
                  <a:srgbClr val="FF0000"/>
                </a:solidFill>
                <a:latin typeface="Times New Roman" panose="02020603050405020304" pitchFamily="18" charset="0"/>
              </a:rPr>
              <a:t>(), </a:t>
            </a:r>
            <a:r>
              <a:rPr lang="en-US" altLang="zh-CN" sz="2400" b="1" dirty="0" err="1">
                <a:solidFill>
                  <a:srgbClr val="FF0000"/>
                </a:solidFill>
                <a:latin typeface="Times New Roman" panose="02020603050405020304" pitchFamily="18" charset="0"/>
              </a:rPr>
              <a:t>ParseParameterList</a:t>
            </a:r>
            <a:r>
              <a:rPr lang="en-US" altLang="zh-CN" sz="2400" b="1" dirty="0">
                <a:solidFill>
                  <a:srgbClr val="FF0000"/>
                </a:solidFill>
                <a:latin typeface="Times New Roman" panose="02020603050405020304" pitchFamily="18" charset="0"/>
              </a:rPr>
              <a:t>(),</a:t>
            </a:r>
            <a:r>
              <a:rPr lang="en-US" altLang="zh-CN" sz="2400" b="1" dirty="0" err="1">
                <a:solidFill>
                  <a:srgbClr val="FF0000"/>
                </a:solidFill>
                <a:latin typeface="Times New Roman" panose="02020603050405020304" pitchFamily="18" charset="0"/>
              </a:rPr>
              <a:t>ParseStatement</a:t>
            </a:r>
            <a:r>
              <a:rPr lang="en-US" altLang="zh-CN" sz="2400" b="1" dirty="0">
                <a:solidFill>
                  <a:srgbClr val="FF0000"/>
                </a:solidFill>
                <a:latin typeface="Times New Roman" panose="02020603050405020304" pitchFamily="18" charset="0"/>
              </a:rPr>
              <a:t>()</a:t>
            </a:r>
          </a:p>
        </p:txBody>
      </p:sp>
      <p:sp>
        <p:nvSpPr>
          <p:cNvPr id="7" name="矩形标注 6"/>
          <p:cNvSpPr/>
          <p:nvPr/>
        </p:nvSpPr>
        <p:spPr>
          <a:xfrm>
            <a:off x="251466" y="3696982"/>
            <a:ext cx="2160267" cy="1440178"/>
          </a:xfrm>
          <a:prstGeom prst="wedgeRectCallout">
            <a:avLst>
              <a:gd name="adj1" fmla="val 78707"/>
              <a:gd name="adj2" fmla="val -2444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函数</a:t>
            </a:r>
            <a:r>
              <a:rPr lang="en-US" altLang="zh-CN" dirty="0" err="1"/>
              <a:t>MatchToken</a:t>
            </a:r>
            <a:r>
              <a:rPr lang="en-US" altLang="zh-CN" dirty="0"/>
              <a:t>()</a:t>
            </a:r>
            <a:r>
              <a:rPr lang="zh-CN" altLang="en-US" dirty="0"/>
              <a:t>用于匹配当前终结符和正在扫描的单词符号。</a:t>
            </a: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53</a:t>
            </a:fld>
            <a:endParaRPr lang="zh-CN" altLang="en-US">
              <a:solidFill>
                <a:srgbClr val="3F3F3F"/>
              </a:solidFill>
            </a:endParaRPr>
          </a:p>
        </p:txBody>
      </p:sp>
    </p:spTree>
    <p:extLst>
      <p:ext uri="{BB962C8B-B14F-4D97-AF65-F5344CB8AC3E}">
        <p14:creationId xmlns:p14="http://schemas.microsoft.com/office/powerpoint/2010/main" val="4177302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a:t>
            </a:r>
            <a:r>
              <a:rPr lang="zh-CN" altLang="en-US" dirty="0"/>
              <a:t>递归下降分析法</a:t>
            </a:r>
          </a:p>
        </p:txBody>
      </p:sp>
      <p:sp>
        <p:nvSpPr>
          <p:cNvPr id="3" name="内容占位符 2"/>
          <p:cNvSpPr>
            <a:spLocks noGrp="1"/>
          </p:cNvSpPr>
          <p:nvPr>
            <p:ph idx="1"/>
          </p:nvPr>
        </p:nvSpPr>
        <p:spPr/>
        <p:txBody>
          <a:bodyPr/>
          <a:lstStyle/>
          <a:p>
            <a:r>
              <a:rPr lang="zh-CN" altLang="en-US" dirty="0"/>
              <a:t> </a:t>
            </a:r>
            <a:r>
              <a:rPr lang="en-US" altLang="zh-CN" dirty="0" err="1"/>
              <a:t>Matchtoken</a:t>
            </a:r>
            <a:r>
              <a:rPr lang="zh-CN" altLang="en-US" dirty="0"/>
              <a:t>的简单设计：</a:t>
            </a:r>
          </a:p>
          <a:p>
            <a:pPr marL="85725" indent="0">
              <a:buNone/>
            </a:pPr>
            <a:endParaRPr lang="zh-CN" altLang="en-US" dirty="0"/>
          </a:p>
        </p:txBody>
      </p:sp>
      <p:sp>
        <p:nvSpPr>
          <p:cNvPr id="4" name="Rectangle 11"/>
          <p:cNvSpPr>
            <a:spLocks noChangeArrowheads="1"/>
          </p:cNvSpPr>
          <p:nvPr/>
        </p:nvSpPr>
        <p:spPr bwMode="auto">
          <a:xfrm>
            <a:off x="971555" y="1988822"/>
            <a:ext cx="7199313" cy="3785652"/>
          </a:xfrm>
          <a:prstGeom prst="rect">
            <a:avLst/>
          </a:prstGeom>
          <a:noFill/>
          <a:ln w="9525">
            <a:noFill/>
            <a:miter lim="800000"/>
            <a:headEnd/>
            <a:tailEnd/>
          </a:ln>
        </p:spPr>
        <p:txBody>
          <a:bodyPr>
            <a:spAutoFit/>
          </a:bodyPr>
          <a:lstStyle/>
          <a:p>
            <a:r>
              <a:rPr lang="en-US" altLang="zh-CN" sz="2400" dirty="0">
                <a:solidFill>
                  <a:srgbClr val="003399"/>
                </a:solidFill>
              </a:rPr>
              <a:t>void </a:t>
            </a:r>
            <a:r>
              <a:rPr lang="en-US" altLang="zh-CN" sz="2400" dirty="0" err="1">
                <a:solidFill>
                  <a:srgbClr val="003399"/>
                </a:solidFill>
              </a:rPr>
              <a:t>MatchToken</a:t>
            </a:r>
            <a:r>
              <a:rPr lang="en-US" altLang="zh-CN" sz="2400" dirty="0">
                <a:solidFill>
                  <a:srgbClr val="003399"/>
                </a:solidFill>
              </a:rPr>
              <a:t>(</a:t>
            </a:r>
            <a:r>
              <a:rPr lang="en-US" altLang="zh-CN" sz="2400" dirty="0" err="1">
                <a:solidFill>
                  <a:srgbClr val="003399"/>
                </a:solidFill>
              </a:rPr>
              <a:t>int</a:t>
            </a:r>
            <a:r>
              <a:rPr lang="en-US" altLang="zh-CN" sz="2400" dirty="0">
                <a:solidFill>
                  <a:srgbClr val="003399"/>
                </a:solidFill>
              </a:rPr>
              <a:t> expected)</a:t>
            </a:r>
          </a:p>
          <a:p>
            <a:r>
              <a:rPr lang="en-US" altLang="zh-CN" sz="2400" dirty="0">
                <a:solidFill>
                  <a:srgbClr val="003399"/>
                </a:solidFill>
              </a:rPr>
              <a:t>{</a:t>
            </a:r>
          </a:p>
          <a:p>
            <a:r>
              <a:rPr lang="en-US" altLang="zh-CN" sz="2400" dirty="0">
                <a:solidFill>
                  <a:srgbClr val="003399"/>
                </a:solidFill>
              </a:rPr>
              <a:t>    if (</a:t>
            </a:r>
            <a:r>
              <a:rPr lang="en-US" altLang="zh-CN" sz="2400" dirty="0" err="1">
                <a:solidFill>
                  <a:srgbClr val="003399"/>
                </a:solidFill>
              </a:rPr>
              <a:t>lookahead</a:t>
            </a:r>
            <a:r>
              <a:rPr lang="en-US" altLang="zh-CN" sz="2400" dirty="0">
                <a:solidFill>
                  <a:srgbClr val="003399"/>
                </a:solidFill>
              </a:rPr>
              <a:t> != expected)  //</a:t>
            </a:r>
            <a:r>
              <a:rPr lang="zh-CN" altLang="en-US" sz="2400" b="1" dirty="0">
                <a:solidFill>
                  <a:srgbClr val="003399"/>
                </a:solidFill>
              </a:rPr>
              <a:t>判别当前单词是否与</a:t>
            </a:r>
          </a:p>
          <a:p>
            <a:r>
              <a:rPr lang="zh-CN" altLang="en-US" sz="2400" dirty="0">
                <a:solidFill>
                  <a:srgbClr val="003399"/>
                </a:solidFill>
              </a:rPr>
              <a:t>    </a:t>
            </a:r>
            <a:r>
              <a:rPr lang="en-US" altLang="zh-CN" sz="2400" dirty="0">
                <a:solidFill>
                  <a:srgbClr val="003399"/>
                </a:solidFill>
              </a:rPr>
              <a:t>{                                            //</a:t>
            </a:r>
            <a:r>
              <a:rPr lang="zh-CN" altLang="en-US" sz="2400" b="1" dirty="0">
                <a:solidFill>
                  <a:srgbClr val="003399"/>
                </a:solidFill>
              </a:rPr>
              <a:t>期望的终结符匹配</a:t>
            </a:r>
          </a:p>
          <a:p>
            <a:r>
              <a:rPr lang="zh-CN" altLang="en-US" sz="2400" dirty="0">
                <a:solidFill>
                  <a:srgbClr val="003399"/>
                </a:solidFill>
              </a:rPr>
              <a:t>        </a:t>
            </a:r>
            <a:r>
              <a:rPr lang="en-US" altLang="zh-CN" sz="2400" dirty="0" err="1">
                <a:solidFill>
                  <a:srgbClr val="003399"/>
                </a:solidFill>
              </a:rPr>
              <a:t>printf</a:t>
            </a:r>
            <a:r>
              <a:rPr lang="en-US" altLang="zh-CN" sz="2400" dirty="0">
                <a:solidFill>
                  <a:srgbClr val="003399"/>
                </a:solidFill>
              </a:rPr>
              <a:t>("syntax error \n");</a:t>
            </a:r>
          </a:p>
          <a:p>
            <a:r>
              <a:rPr lang="en-US" altLang="zh-CN" sz="2400" dirty="0">
                <a:solidFill>
                  <a:srgbClr val="003399"/>
                </a:solidFill>
              </a:rPr>
              <a:t>        exit(0);</a:t>
            </a:r>
          </a:p>
          <a:p>
            <a:r>
              <a:rPr lang="en-US" altLang="zh-CN" sz="2400" dirty="0">
                <a:solidFill>
                  <a:srgbClr val="003399"/>
                </a:solidFill>
              </a:rPr>
              <a:t>    }</a:t>
            </a:r>
          </a:p>
          <a:p>
            <a:r>
              <a:rPr lang="en-US" altLang="zh-CN" sz="2400" dirty="0">
                <a:solidFill>
                  <a:srgbClr val="003399"/>
                </a:solidFill>
              </a:rPr>
              <a:t>   else         // </a:t>
            </a:r>
            <a:r>
              <a:rPr lang="zh-CN" altLang="en-US" sz="2400" b="1" dirty="0">
                <a:solidFill>
                  <a:srgbClr val="003399"/>
                </a:solidFill>
              </a:rPr>
              <a:t>若匹配</a:t>
            </a:r>
            <a:r>
              <a:rPr lang="en-US" altLang="zh-CN" sz="2400" dirty="0">
                <a:solidFill>
                  <a:srgbClr val="003399"/>
                </a:solidFill>
              </a:rPr>
              <a:t>,</a:t>
            </a:r>
            <a:r>
              <a:rPr lang="zh-CN" altLang="en-US" sz="2400" b="1" dirty="0">
                <a:solidFill>
                  <a:srgbClr val="003399"/>
                </a:solidFill>
              </a:rPr>
              <a:t>消费掉当前单词并读入下一个</a:t>
            </a:r>
            <a:endParaRPr lang="zh-CN" altLang="en-US" sz="2400" dirty="0">
              <a:solidFill>
                <a:srgbClr val="003399"/>
              </a:solidFill>
            </a:endParaRPr>
          </a:p>
          <a:p>
            <a:r>
              <a:rPr lang="zh-CN" altLang="en-US" sz="2400" dirty="0">
                <a:solidFill>
                  <a:srgbClr val="003399"/>
                </a:solidFill>
              </a:rPr>
              <a:t>       </a:t>
            </a:r>
            <a:r>
              <a:rPr lang="en-US" altLang="zh-CN" sz="2400" dirty="0" err="1">
                <a:solidFill>
                  <a:srgbClr val="003399"/>
                </a:solidFill>
              </a:rPr>
              <a:t>lookahead</a:t>
            </a:r>
            <a:r>
              <a:rPr lang="en-US" altLang="zh-CN" sz="2400" dirty="0">
                <a:solidFill>
                  <a:srgbClr val="003399"/>
                </a:solidFill>
              </a:rPr>
              <a:t> = </a:t>
            </a:r>
            <a:r>
              <a:rPr lang="en-US" altLang="zh-CN" sz="2400" dirty="0" err="1">
                <a:solidFill>
                  <a:srgbClr val="003399"/>
                </a:solidFill>
              </a:rPr>
              <a:t>getToken</a:t>
            </a:r>
            <a:r>
              <a:rPr lang="en-US" altLang="zh-CN" sz="2400" dirty="0">
                <a:solidFill>
                  <a:srgbClr val="003399"/>
                </a:solidFill>
              </a:rPr>
              <a:t>();   //</a:t>
            </a:r>
            <a:r>
              <a:rPr lang="zh-CN" altLang="en-US" sz="2400" b="1" dirty="0">
                <a:solidFill>
                  <a:srgbClr val="003399"/>
                </a:solidFill>
              </a:rPr>
              <a:t>调用词法分析程序</a:t>
            </a:r>
          </a:p>
          <a:p>
            <a:r>
              <a:rPr lang="en-US" altLang="zh-CN" sz="2400" dirty="0">
                <a:solidFill>
                  <a:srgbClr val="003399"/>
                </a:solidFill>
              </a:rPr>
              <a:t>}</a:t>
            </a:r>
          </a:p>
        </p:txBody>
      </p:sp>
      <p:sp>
        <p:nvSpPr>
          <p:cNvPr id="5" name="灯片编号占位符 4"/>
          <p:cNvSpPr>
            <a:spLocks noGrp="1"/>
          </p:cNvSpPr>
          <p:nvPr>
            <p:ph type="sldNum" sz="quarter" idx="12"/>
          </p:nvPr>
        </p:nvSpPr>
        <p:spPr/>
        <p:txBody>
          <a:bodyPr/>
          <a:lstStyle/>
          <a:p>
            <a:fld id="{1B43473F-AE3F-4D1C-9C4F-7AD3C17AC1AD}" type="slidenum">
              <a:rPr lang="zh-CN" altLang="en-US" smtClean="0">
                <a:solidFill>
                  <a:srgbClr val="3F3F3F"/>
                </a:solidFill>
              </a:rPr>
              <a:pPr/>
              <a:t>54</a:t>
            </a:fld>
            <a:endParaRPr lang="zh-CN" altLang="en-US">
              <a:solidFill>
                <a:srgbClr val="3F3F3F"/>
              </a:solidFill>
            </a:endParaRPr>
          </a:p>
        </p:txBody>
      </p:sp>
    </p:spTree>
    <p:extLst>
      <p:ext uri="{BB962C8B-B14F-4D97-AF65-F5344CB8AC3E}">
        <p14:creationId xmlns:p14="http://schemas.microsoft.com/office/powerpoint/2010/main" val="225404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a:t>
            </a:r>
            <a:r>
              <a:rPr lang="zh-CN" altLang="en-US" dirty="0"/>
              <a:t>递归下降分析法</a:t>
            </a:r>
          </a:p>
        </p:txBody>
      </p:sp>
      <p:sp>
        <p:nvSpPr>
          <p:cNvPr id="4" name="Rectangle 4"/>
          <p:cNvSpPr>
            <a:spLocks noChangeArrowheads="1"/>
          </p:cNvSpPr>
          <p:nvPr/>
        </p:nvSpPr>
        <p:spPr bwMode="auto">
          <a:xfrm>
            <a:off x="900113" y="2133600"/>
            <a:ext cx="4392612" cy="1614488"/>
          </a:xfrm>
          <a:prstGeom prst="rect">
            <a:avLst/>
          </a:prstGeom>
          <a:noFill/>
          <a:ln w="9525">
            <a:noFill/>
            <a:miter lim="800000"/>
            <a:headEnd/>
            <a:tailEnd/>
          </a:ln>
        </p:spPr>
        <p:txBody>
          <a:bodyPr>
            <a:spAutoFit/>
          </a:bodyPr>
          <a:lstStyle/>
          <a:p>
            <a:pPr>
              <a:buClrTx/>
              <a:buFont typeface="Symbol" pitchFamily="18" charset="2"/>
              <a:buChar char="-"/>
            </a:pPr>
            <a:r>
              <a:rPr lang="en-US" altLang="zh-CN" sz="2800" b="1" dirty="0">
                <a:solidFill>
                  <a:srgbClr val="800080"/>
                </a:solidFill>
              </a:rPr>
              <a:t>  </a:t>
            </a:r>
            <a:r>
              <a:rPr lang="zh-CN" altLang="en-US" sz="2800" b="1" dirty="0">
                <a:solidFill>
                  <a:srgbClr val="800080"/>
                </a:solidFill>
                <a:latin typeface="楷体_GB2312" pitchFamily="49" charset="-122"/>
              </a:rPr>
              <a:t>例 </a:t>
            </a:r>
            <a:r>
              <a:rPr lang="zh-CN" altLang="en-US" sz="2800" b="1" dirty="0">
                <a:latin typeface="楷体_GB2312" pitchFamily="49" charset="-122"/>
              </a:rPr>
              <a:t>对于下列文法 </a:t>
            </a:r>
            <a:r>
              <a:rPr lang="en-US" altLang="zh-CN" sz="2800" dirty="0">
                <a:solidFill>
                  <a:srgbClr val="800080"/>
                </a:solidFill>
              </a:rPr>
              <a:t>G(S)</a:t>
            </a:r>
            <a:r>
              <a:rPr lang="en-US" altLang="zh-CN" sz="2400" dirty="0"/>
              <a:t>:</a:t>
            </a:r>
          </a:p>
          <a:p>
            <a:r>
              <a:rPr lang="en-US" altLang="zh-CN" sz="2400" dirty="0"/>
              <a:t>               </a:t>
            </a:r>
            <a:r>
              <a:rPr lang="en-US" altLang="zh-CN" sz="2400" b="1" i="1" dirty="0"/>
              <a:t>S </a:t>
            </a:r>
            <a:r>
              <a:rPr lang="en-US" altLang="zh-CN" sz="2400" b="1" dirty="0">
                <a:sym typeface="Symbol" pitchFamily="18" charset="2"/>
              </a:rPr>
              <a:t></a:t>
            </a:r>
            <a:r>
              <a:rPr lang="en-US" altLang="zh-CN" sz="2400" b="1" i="1" dirty="0"/>
              <a:t> </a:t>
            </a:r>
            <a:r>
              <a:rPr lang="en-US" altLang="zh-CN" sz="2400" b="1" i="1" dirty="0" err="1"/>
              <a:t>AaS</a:t>
            </a:r>
            <a:r>
              <a:rPr lang="en-US" altLang="zh-CN" sz="2400" b="1" i="1" dirty="0"/>
              <a:t> </a:t>
            </a:r>
            <a:r>
              <a:rPr lang="en-US" altLang="zh-CN" sz="2400" b="1" dirty="0">
                <a:sym typeface="Symbol" pitchFamily="18" charset="2"/>
              </a:rPr>
              <a:t></a:t>
            </a:r>
            <a:r>
              <a:rPr lang="en-US" altLang="zh-CN" sz="2400" b="1" dirty="0"/>
              <a:t> </a:t>
            </a:r>
            <a:r>
              <a:rPr lang="en-US" altLang="zh-CN" sz="2400" b="1" i="1" dirty="0" err="1"/>
              <a:t>BbS</a:t>
            </a:r>
            <a:r>
              <a:rPr lang="en-US" altLang="zh-CN" sz="2400" b="1" dirty="0">
                <a:sym typeface="Symbol" pitchFamily="18" charset="2"/>
              </a:rPr>
              <a:t></a:t>
            </a:r>
            <a:r>
              <a:rPr lang="en-US" altLang="zh-CN" sz="2400" b="1" i="1" dirty="0"/>
              <a:t> d</a:t>
            </a:r>
          </a:p>
          <a:p>
            <a:r>
              <a:rPr lang="en-US" altLang="zh-CN" sz="2400" b="1" i="1" dirty="0"/>
              <a:t>               A </a:t>
            </a:r>
            <a:r>
              <a:rPr lang="en-US" altLang="zh-CN" sz="2400" b="1" dirty="0">
                <a:sym typeface="Symbol" pitchFamily="18" charset="2"/>
              </a:rPr>
              <a:t></a:t>
            </a:r>
            <a:r>
              <a:rPr lang="en-US" altLang="zh-CN" sz="2400" b="1" i="1" dirty="0"/>
              <a:t> a</a:t>
            </a:r>
          </a:p>
          <a:p>
            <a:r>
              <a:rPr lang="en-US" altLang="zh-CN" sz="2400" b="1" i="1" dirty="0"/>
              <a:t>               B </a:t>
            </a:r>
            <a:r>
              <a:rPr lang="en-US" altLang="zh-CN" sz="2400" b="1" dirty="0">
                <a:sym typeface="Symbol" pitchFamily="18" charset="2"/>
              </a:rPr>
              <a:t></a:t>
            </a:r>
            <a:r>
              <a:rPr lang="en-US" altLang="zh-CN" sz="2400" b="1" i="1" dirty="0"/>
              <a:t> </a:t>
            </a:r>
            <a:r>
              <a:rPr lang="en-US" altLang="zh-CN" sz="2400" b="1" i="1" dirty="0">
                <a:sym typeface="Symbol" pitchFamily="18" charset="2"/>
              </a:rPr>
              <a:t></a:t>
            </a:r>
            <a:r>
              <a:rPr lang="en-US" altLang="zh-CN" sz="2400" b="1" i="1" dirty="0"/>
              <a:t> </a:t>
            </a:r>
            <a:r>
              <a:rPr lang="en-US" altLang="zh-CN" sz="2400" b="1" dirty="0">
                <a:sym typeface="Symbol" pitchFamily="18" charset="2"/>
              </a:rPr>
              <a:t></a:t>
            </a:r>
            <a:r>
              <a:rPr lang="en-US" altLang="zh-CN" sz="2400" b="1" i="1" dirty="0"/>
              <a:t> c</a:t>
            </a:r>
          </a:p>
        </p:txBody>
      </p:sp>
      <p:sp>
        <p:nvSpPr>
          <p:cNvPr id="5" name="Text Box 5"/>
          <p:cNvSpPr txBox="1">
            <a:spLocks noChangeArrowheads="1"/>
          </p:cNvSpPr>
          <p:nvPr/>
        </p:nvSpPr>
        <p:spPr bwMode="auto">
          <a:xfrm>
            <a:off x="612775" y="1341438"/>
            <a:ext cx="6697663" cy="579437"/>
          </a:xfrm>
          <a:prstGeom prst="rect">
            <a:avLst/>
          </a:prstGeom>
          <a:noFill/>
          <a:ln w="9525">
            <a:noFill/>
            <a:miter lim="800000"/>
            <a:headEnd/>
            <a:tailEnd/>
          </a:ln>
        </p:spPr>
        <p:txBody>
          <a:bodyPr>
            <a:spAutoFit/>
          </a:bodyPr>
          <a:lstStyle/>
          <a:p>
            <a:pPr>
              <a:buClrTx/>
              <a:buFont typeface="Wingdings" pitchFamily="2" charset="2"/>
              <a:buChar char="²"/>
            </a:pPr>
            <a:r>
              <a:rPr lang="en-US" altLang="zh-CN" sz="3200" b="1">
                <a:solidFill>
                  <a:srgbClr val="800080"/>
                </a:solidFill>
                <a:latin typeface="楷体_GB2312" pitchFamily="49" charset="-122"/>
              </a:rPr>
              <a:t> </a:t>
            </a:r>
            <a:r>
              <a:rPr lang="zh-CN" altLang="en-US" sz="3200" b="1">
                <a:latin typeface="楷体_GB2312" pitchFamily="49" charset="-122"/>
              </a:rPr>
              <a:t>递归下降</a:t>
            </a:r>
            <a:r>
              <a:rPr lang="en-US" altLang="zh-CN" sz="3200"/>
              <a:t>LL(1)</a:t>
            </a:r>
            <a:r>
              <a:rPr lang="zh-CN" altLang="en-US" sz="3200" b="1">
                <a:latin typeface="楷体_GB2312" pitchFamily="49" charset="-122"/>
              </a:rPr>
              <a:t>分析程序</a:t>
            </a:r>
            <a:r>
              <a:rPr lang="zh-CN" altLang="en-US" sz="3200" b="1">
                <a:solidFill>
                  <a:srgbClr val="800080"/>
                </a:solidFill>
                <a:latin typeface="楷体_GB2312" pitchFamily="49" charset="-122"/>
              </a:rPr>
              <a:t>举例</a:t>
            </a:r>
          </a:p>
        </p:txBody>
      </p:sp>
      <p:sp>
        <p:nvSpPr>
          <p:cNvPr id="6" name="Rectangle 11"/>
          <p:cNvSpPr>
            <a:spLocks noChangeArrowheads="1"/>
          </p:cNvSpPr>
          <p:nvPr/>
        </p:nvSpPr>
        <p:spPr bwMode="auto">
          <a:xfrm>
            <a:off x="251466" y="4439882"/>
            <a:ext cx="2951162" cy="1754326"/>
          </a:xfrm>
          <a:prstGeom prst="rect">
            <a:avLst/>
          </a:prstGeom>
          <a:noFill/>
          <a:ln w="9525">
            <a:noFill/>
            <a:miter lim="800000"/>
            <a:headEnd/>
            <a:tailEnd/>
          </a:ln>
        </p:spPr>
        <p:txBody>
          <a:bodyPr>
            <a:spAutoFit/>
          </a:bodyPr>
          <a:lstStyle/>
          <a:p>
            <a:r>
              <a:rPr lang="pt-BR" altLang="zh-CN" i="1" dirty="0">
                <a:solidFill>
                  <a:srgbClr val="003399"/>
                </a:solidFill>
              </a:rPr>
              <a:t>SELECT</a:t>
            </a:r>
            <a:r>
              <a:rPr lang="pt-BR" altLang="zh-CN" dirty="0">
                <a:solidFill>
                  <a:srgbClr val="003399"/>
                </a:solidFill>
              </a:rPr>
              <a:t>(</a:t>
            </a:r>
            <a:r>
              <a:rPr lang="en-US" altLang="zh-CN" i="1" dirty="0" err="1">
                <a:solidFill>
                  <a:srgbClr val="003399"/>
                </a:solidFill>
              </a:rPr>
              <a:t>S</a:t>
            </a:r>
            <a:r>
              <a:rPr lang="en-US" altLang="zh-CN" dirty="0" err="1">
                <a:solidFill>
                  <a:srgbClr val="003399"/>
                </a:solidFill>
                <a:sym typeface="Symbol" pitchFamily="18" charset="2"/>
              </a:rPr>
              <a:t></a:t>
            </a:r>
            <a:r>
              <a:rPr lang="en-US" altLang="zh-CN" i="1" dirty="0" err="1">
                <a:solidFill>
                  <a:srgbClr val="003399"/>
                </a:solidFill>
              </a:rPr>
              <a:t>AaS</a:t>
            </a:r>
            <a:r>
              <a:rPr lang="pt-BR" altLang="zh-CN" dirty="0">
                <a:solidFill>
                  <a:srgbClr val="003399"/>
                </a:solidFill>
              </a:rPr>
              <a:t>) = {</a:t>
            </a:r>
            <a:r>
              <a:rPr lang="pt-BR" altLang="zh-CN" i="1" dirty="0">
                <a:solidFill>
                  <a:srgbClr val="003399"/>
                </a:solidFill>
              </a:rPr>
              <a:t>a</a:t>
            </a:r>
            <a:r>
              <a:rPr lang="pt-BR" altLang="zh-CN" dirty="0">
                <a:solidFill>
                  <a:srgbClr val="003399"/>
                </a:solidFill>
              </a:rPr>
              <a:t>}</a:t>
            </a:r>
          </a:p>
          <a:p>
            <a:r>
              <a:rPr lang="pt-BR" altLang="zh-CN" i="1" dirty="0">
                <a:solidFill>
                  <a:srgbClr val="003399"/>
                </a:solidFill>
              </a:rPr>
              <a:t>SELECT</a:t>
            </a:r>
            <a:r>
              <a:rPr lang="pt-BR" altLang="zh-CN" dirty="0">
                <a:solidFill>
                  <a:srgbClr val="003399"/>
                </a:solidFill>
              </a:rPr>
              <a:t>(</a:t>
            </a:r>
            <a:r>
              <a:rPr lang="en-US" altLang="zh-CN" i="1" dirty="0" err="1">
                <a:solidFill>
                  <a:srgbClr val="003399"/>
                </a:solidFill>
              </a:rPr>
              <a:t>S</a:t>
            </a:r>
            <a:r>
              <a:rPr lang="en-US" altLang="zh-CN" dirty="0" err="1">
                <a:solidFill>
                  <a:srgbClr val="003399"/>
                </a:solidFill>
                <a:sym typeface="Symbol" pitchFamily="18" charset="2"/>
              </a:rPr>
              <a:t></a:t>
            </a:r>
            <a:r>
              <a:rPr lang="en-US" altLang="zh-CN" i="1" dirty="0" err="1">
                <a:solidFill>
                  <a:srgbClr val="003399"/>
                </a:solidFill>
              </a:rPr>
              <a:t>BbS</a:t>
            </a:r>
            <a:r>
              <a:rPr lang="pt-BR" altLang="zh-CN" dirty="0">
                <a:solidFill>
                  <a:srgbClr val="003399"/>
                </a:solidFill>
              </a:rPr>
              <a:t>) = {</a:t>
            </a:r>
            <a:r>
              <a:rPr lang="pt-BR" altLang="zh-CN" i="1" dirty="0">
                <a:solidFill>
                  <a:srgbClr val="003399"/>
                </a:solidFill>
              </a:rPr>
              <a:t>c,b</a:t>
            </a:r>
            <a:r>
              <a:rPr lang="pt-BR" altLang="zh-CN" dirty="0">
                <a:solidFill>
                  <a:srgbClr val="003399"/>
                </a:solidFill>
              </a:rPr>
              <a:t>} </a:t>
            </a:r>
            <a:endParaRPr lang="en-US" altLang="zh-CN" dirty="0">
              <a:solidFill>
                <a:srgbClr val="003399"/>
              </a:solidFill>
            </a:endParaRPr>
          </a:p>
          <a:p>
            <a:r>
              <a:rPr lang="pt-BR" altLang="zh-CN" i="1" dirty="0">
                <a:solidFill>
                  <a:srgbClr val="003399"/>
                </a:solidFill>
              </a:rPr>
              <a:t>SELECT</a:t>
            </a:r>
            <a:r>
              <a:rPr lang="pt-BR" altLang="zh-CN" dirty="0">
                <a:solidFill>
                  <a:srgbClr val="003399"/>
                </a:solidFill>
              </a:rPr>
              <a:t>(</a:t>
            </a:r>
            <a:r>
              <a:rPr lang="en-US" altLang="zh-CN" i="1" dirty="0" err="1">
                <a:solidFill>
                  <a:srgbClr val="003399"/>
                </a:solidFill>
              </a:rPr>
              <a:t>S</a:t>
            </a:r>
            <a:r>
              <a:rPr lang="en-US" altLang="zh-CN" dirty="0" err="1">
                <a:solidFill>
                  <a:srgbClr val="003399"/>
                </a:solidFill>
                <a:sym typeface="Symbol" pitchFamily="18" charset="2"/>
              </a:rPr>
              <a:t></a:t>
            </a:r>
            <a:r>
              <a:rPr lang="en-US" altLang="zh-CN" i="1" dirty="0" err="1">
                <a:solidFill>
                  <a:srgbClr val="003399"/>
                </a:solidFill>
              </a:rPr>
              <a:t>d</a:t>
            </a:r>
            <a:r>
              <a:rPr lang="pt-BR" altLang="zh-CN" dirty="0">
                <a:solidFill>
                  <a:srgbClr val="003399"/>
                </a:solidFill>
              </a:rPr>
              <a:t>) = {</a:t>
            </a:r>
            <a:r>
              <a:rPr lang="pt-BR" altLang="zh-CN" i="1" dirty="0">
                <a:solidFill>
                  <a:srgbClr val="003399"/>
                </a:solidFill>
              </a:rPr>
              <a:t>d</a:t>
            </a:r>
            <a:r>
              <a:rPr lang="pt-BR" altLang="zh-CN" dirty="0">
                <a:solidFill>
                  <a:srgbClr val="003399"/>
                </a:solidFill>
              </a:rPr>
              <a:t>}</a:t>
            </a:r>
          </a:p>
          <a:p>
            <a:r>
              <a:rPr lang="pt-BR" altLang="zh-CN" i="1" dirty="0">
                <a:solidFill>
                  <a:srgbClr val="003399"/>
                </a:solidFill>
              </a:rPr>
              <a:t>SELECT</a:t>
            </a:r>
            <a:r>
              <a:rPr lang="pt-BR" altLang="zh-CN" dirty="0">
                <a:solidFill>
                  <a:srgbClr val="003399"/>
                </a:solidFill>
              </a:rPr>
              <a:t>(</a:t>
            </a:r>
            <a:r>
              <a:rPr lang="en-US" altLang="zh-CN" i="1" dirty="0" err="1">
                <a:solidFill>
                  <a:srgbClr val="003399"/>
                </a:solidFill>
              </a:rPr>
              <a:t>A</a:t>
            </a:r>
            <a:r>
              <a:rPr lang="en-US" altLang="zh-CN" dirty="0" err="1">
                <a:solidFill>
                  <a:srgbClr val="003399"/>
                </a:solidFill>
                <a:sym typeface="Symbol" pitchFamily="18" charset="2"/>
              </a:rPr>
              <a:t></a:t>
            </a:r>
            <a:r>
              <a:rPr lang="en-US" altLang="zh-CN" i="1" dirty="0" err="1">
                <a:solidFill>
                  <a:srgbClr val="003399"/>
                </a:solidFill>
                <a:sym typeface="Symbol" pitchFamily="18" charset="2"/>
              </a:rPr>
              <a:t>a</a:t>
            </a:r>
            <a:r>
              <a:rPr lang="pt-BR" altLang="zh-CN" dirty="0">
                <a:solidFill>
                  <a:srgbClr val="003399"/>
                </a:solidFill>
              </a:rPr>
              <a:t>) = {</a:t>
            </a:r>
            <a:r>
              <a:rPr lang="pt-BR" altLang="zh-CN" i="1" dirty="0">
                <a:solidFill>
                  <a:srgbClr val="003399"/>
                </a:solidFill>
              </a:rPr>
              <a:t>a</a:t>
            </a:r>
            <a:r>
              <a:rPr lang="pt-BR" altLang="zh-CN" dirty="0">
                <a:solidFill>
                  <a:srgbClr val="003399"/>
                </a:solidFill>
              </a:rPr>
              <a:t>}</a:t>
            </a:r>
            <a:endParaRPr lang="en-US" altLang="zh-CN" dirty="0">
              <a:solidFill>
                <a:srgbClr val="003399"/>
              </a:solidFill>
            </a:endParaRPr>
          </a:p>
          <a:p>
            <a:r>
              <a:rPr lang="pt-BR" altLang="zh-CN" i="1" dirty="0">
                <a:solidFill>
                  <a:srgbClr val="003399"/>
                </a:solidFill>
              </a:rPr>
              <a:t>SELECT</a:t>
            </a:r>
            <a:r>
              <a:rPr lang="pt-BR" altLang="zh-CN" dirty="0">
                <a:solidFill>
                  <a:srgbClr val="003399"/>
                </a:solidFill>
              </a:rPr>
              <a:t>(</a:t>
            </a:r>
            <a:r>
              <a:rPr lang="en-US" altLang="zh-CN" i="1" dirty="0">
                <a:solidFill>
                  <a:srgbClr val="003399"/>
                </a:solidFill>
              </a:rPr>
              <a:t>B</a:t>
            </a:r>
            <a:r>
              <a:rPr lang="en-US" altLang="zh-CN" dirty="0">
                <a:solidFill>
                  <a:srgbClr val="003399"/>
                </a:solidFill>
                <a:sym typeface="Symbol" pitchFamily="18" charset="2"/>
              </a:rPr>
              <a:t></a:t>
            </a:r>
            <a:r>
              <a:rPr lang="en-US" altLang="zh-CN" i="1" dirty="0">
                <a:solidFill>
                  <a:srgbClr val="003399"/>
                </a:solidFill>
                <a:sym typeface="Symbol" pitchFamily="18" charset="2"/>
              </a:rPr>
              <a:t></a:t>
            </a:r>
            <a:r>
              <a:rPr lang="pt-BR" altLang="zh-CN" dirty="0">
                <a:solidFill>
                  <a:srgbClr val="003399"/>
                </a:solidFill>
              </a:rPr>
              <a:t>) = {</a:t>
            </a:r>
            <a:r>
              <a:rPr lang="pt-BR" altLang="zh-CN" i="1" dirty="0">
                <a:solidFill>
                  <a:srgbClr val="003399"/>
                </a:solidFill>
              </a:rPr>
              <a:t>b</a:t>
            </a:r>
            <a:r>
              <a:rPr lang="pt-BR" altLang="zh-CN" dirty="0">
                <a:solidFill>
                  <a:srgbClr val="003399"/>
                </a:solidFill>
              </a:rPr>
              <a:t>}</a:t>
            </a:r>
            <a:endParaRPr lang="zh-CN" altLang="pt-BR" b="1" dirty="0">
              <a:solidFill>
                <a:srgbClr val="003399"/>
              </a:solidFill>
            </a:endParaRPr>
          </a:p>
          <a:p>
            <a:r>
              <a:rPr lang="pt-BR" altLang="zh-CN" i="1" dirty="0">
                <a:solidFill>
                  <a:srgbClr val="003399"/>
                </a:solidFill>
              </a:rPr>
              <a:t>SELECT</a:t>
            </a:r>
            <a:r>
              <a:rPr lang="pt-BR" altLang="zh-CN" dirty="0">
                <a:solidFill>
                  <a:srgbClr val="003399"/>
                </a:solidFill>
              </a:rPr>
              <a:t>(</a:t>
            </a:r>
            <a:r>
              <a:rPr lang="en-US" altLang="zh-CN" i="1" dirty="0" err="1">
                <a:solidFill>
                  <a:srgbClr val="003399"/>
                </a:solidFill>
              </a:rPr>
              <a:t>B</a:t>
            </a:r>
            <a:r>
              <a:rPr lang="en-US" altLang="zh-CN" dirty="0" err="1">
                <a:solidFill>
                  <a:srgbClr val="003399"/>
                </a:solidFill>
                <a:sym typeface="Symbol" pitchFamily="18" charset="2"/>
              </a:rPr>
              <a:t></a:t>
            </a:r>
            <a:r>
              <a:rPr lang="en-US" altLang="zh-CN" i="1" dirty="0" err="1">
                <a:solidFill>
                  <a:srgbClr val="003399"/>
                </a:solidFill>
                <a:sym typeface="Symbol" pitchFamily="18" charset="2"/>
              </a:rPr>
              <a:t>c</a:t>
            </a:r>
            <a:r>
              <a:rPr lang="pt-BR" altLang="zh-CN" dirty="0">
                <a:solidFill>
                  <a:srgbClr val="003399"/>
                </a:solidFill>
              </a:rPr>
              <a:t>) = {</a:t>
            </a:r>
            <a:r>
              <a:rPr lang="pt-BR" altLang="zh-CN" i="1" dirty="0">
                <a:solidFill>
                  <a:srgbClr val="003399"/>
                </a:solidFill>
              </a:rPr>
              <a:t>c</a:t>
            </a:r>
            <a:r>
              <a:rPr lang="pt-BR" altLang="zh-CN" dirty="0">
                <a:solidFill>
                  <a:srgbClr val="003399"/>
                </a:solidFill>
              </a:rPr>
              <a:t>}</a:t>
            </a:r>
            <a:endParaRPr lang="en-US" altLang="zh-CN" dirty="0">
              <a:solidFill>
                <a:srgbClr val="003399"/>
              </a:solidFill>
            </a:endParaRPr>
          </a:p>
        </p:txBody>
      </p:sp>
      <p:sp>
        <p:nvSpPr>
          <p:cNvPr id="7" name="Rectangle 12"/>
          <p:cNvSpPr>
            <a:spLocks noChangeArrowheads="1"/>
          </p:cNvSpPr>
          <p:nvPr/>
        </p:nvSpPr>
        <p:spPr bwMode="auto">
          <a:xfrm>
            <a:off x="5435600" y="1989138"/>
            <a:ext cx="3024188" cy="2835275"/>
          </a:xfrm>
          <a:prstGeom prst="rect">
            <a:avLst/>
          </a:prstGeom>
          <a:noFill/>
          <a:ln w="9525">
            <a:noFill/>
            <a:miter lim="800000"/>
            <a:headEnd/>
            <a:tailEnd/>
          </a:ln>
        </p:spPr>
        <p:txBody>
          <a:bodyPr>
            <a:spAutoFit/>
          </a:bodyPr>
          <a:lstStyle/>
          <a:p>
            <a:r>
              <a:rPr lang="pt-BR" altLang="zh-CN" dirty="0"/>
              <a:t>First</a:t>
            </a:r>
            <a:r>
              <a:rPr lang="zh-CN" altLang="pt-BR" dirty="0"/>
              <a:t>（</a:t>
            </a:r>
            <a:r>
              <a:rPr lang="pt-BR" altLang="zh-CN" i="1" dirty="0"/>
              <a:t>AaS</a:t>
            </a:r>
            <a:r>
              <a:rPr lang="zh-CN" altLang="pt-BR" dirty="0"/>
              <a:t>）</a:t>
            </a:r>
            <a:r>
              <a:rPr lang="pt-BR" altLang="zh-CN" dirty="0"/>
              <a:t>= {</a:t>
            </a:r>
            <a:r>
              <a:rPr lang="pt-BR" altLang="zh-CN" i="1" dirty="0"/>
              <a:t>a</a:t>
            </a:r>
            <a:r>
              <a:rPr lang="pt-BR" altLang="zh-CN" dirty="0"/>
              <a:t>}</a:t>
            </a:r>
          </a:p>
          <a:p>
            <a:r>
              <a:rPr lang="pt-BR" altLang="zh-CN" dirty="0"/>
              <a:t>First</a:t>
            </a:r>
            <a:r>
              <a:rPr lang="zh-CN" altLang="pt-BR" dirty="0"/>
              <a:t>（</a:t>
            </a:r>
            <a:r>
              <a:rPr lang="pt-BR" altLang="zh-CN" i="1" dirty="0"/>
              <a:t>BbS</a:t>
            </a:r>
            <a:r>
              <a:rPr lang="zh-CN" altLang="pt-BR" dirty="0"/>
              <a:t>）</a:t>
            </a:r>
            <a:r>
              <a:rPr lang="pt-BR" altLang="zh-CN" dirty="0"/>
              <a:t>= {</a:t>
            </a:r>
            <a:r>
              <a:rPr lang="pt-BR" altLang="zh-CN" i="1" dirty="0"/>
              <a:t>c,b</a:t>
            </a:r>
            <a:r>
              <a:rPr lang="pt-BR" altLang="zh-CN" dirty="0"/>
              <a:t>} </a:t>
            </a:r>
          </a:p>
          <a:p>
            <a:r>
              <a:rPr lang="pt-BR" altLang="zh-CN" dirty="0"/>
              <a:t>First</a:t>
            </a:r>
            <a:r>
              <a:rPr lang="zh-CN" altLang="pt-BR" dirty="0"/>
              <a:t>（</a:t>
            </a:r>
            <a:r>
              <a:rPr lang="pt-BR" altLang="zh-CN" i="1" dirty="0"/>
              <a:t>d</a:t>
            </a:r>
            <a:r>
              <a:rPr lang="zh-CN" altLang="pt-BR" dirty="0"/>
              <a:t>）</a:t>
            </a:r>
            <a:r>
              <a:rPr lang="pt-BR" altLang="zh-CN" dirty="0"/>
              <a:t>= {</a:t>
            </a:r>
            <a:r>
              <a:rPr lang="pt-BR" altLang="zh-CN" i="1" dirty="0"/>
              <a:t>d</a:t>
            </a:r>
            <a:r>
              <a:rPr lang="pt-BR" altLang="zh-CN" dirty="0"/>
              <a:t>}</a:t>
            </a:r>
          </a:p>
          <a:p>
            <a:r>
              <a:rPr lang="pt-BR" altLang="zh-CN" dirty="0"/>
              <a:t>First</a:t>
            </a:r>
            <a:r>
              <a:rPr lang="zh-CN" altLang="pt-BR" dirty="0"/>
              <a:t>（</a:t>
            </a:r>
            <a:r>
              <a:rPr lang="pt-BR" altLang="zh-CN" i="1" dirty="0"/>
              <a:t>a</a:t>
            </a:r>
            <a:r>
              <a:rPr lang="zh-CN" altLang="pt-BR" dirty="0"/>
              <a:t>）</a:t>
            </a:r>
            <a:r>
              <a:rPr lang="pt-BR" altLang="zh-CN" dirty="0"/>
              <a:t>= {</a:t>
            </a:r>
            <a:r>
              <a:rPr lang="pt-BR" altLang="zh-CN" i="1" dirty="0"/>
              <a:t>a</a:t>
            </a:r>
            <a:r>
              <a:rPr lang="pt-BR" altLang="zh-CN" dirty="0"/>
              <a:t>}</a:t>
            </a:r>
          </a:p>
          <a:p>
            <a:r>
              <a:rPr lang="pt-BR" altLang="zh-CN" dirty="0"/>
              <a:t>First</a:t>
            </a:r>
            <a:r>
              <a:rPr lang="zh-CN" altLang="pt-BR" dirty="0"/>
              <a:t>（</a:t>
            </a:r>
            <a:r>
              <a:rPr lang="zh-CN" altLang="en-US" b="1" dirty="0">
                <a:sym typeface="Symbol" pitchFamily="18" charset="2"/>
              </a:rPr>
              <a:t></a:t>
            </a:r>
            <a:r>
              <a:rPr lang="zh-CN" altLang="pt-BR" dirty="0"/>
              <a:t>）</a:t>
            </a:r>
            <a:r>
              <a:rPr lang="pt-BR" altLang="zh-CN" dirty="0"/>
              <a:t>= {</a:t>
            </a:r>
            <a:r>
              <a:rPr lang="en-US" altLang="zh-CN" b="1" dirty="0">
                <a:sym typeface="Symbol" pitchFamily="18" charset="2"/>
              </a:rPr>
              <a:t></a:t>
            </a:r>
            <a:r>
              <a:rPr lang="pt-BR" altLang="zh-CN" dirty="0"/>
              <a:t>}</a:t>
            </a:r>
          </a:p>
          <a:p>
            <a:r>
              <a:rPr lang="pt-BR" altLang="zh-CN" dirty="0"/>
              <a:t>First</a:t>
            </a:r>
            <a:r>
              <a:rPr lang="zh-CN" altLang="pt-BR" dirty="0"/>
              <a:t>（</a:t>
            </a:r>
            <a:r>
              <a:rPr lang="pt-BR" altLang="zh-CN" i="1" dirty="0"/>
              <a:t>c</a:t>
            </a:r>
            <a:r>
              <a:rPr lang="zh-CN" altLang="pt-BR" dirty="0"/>
              <a:t>）</a:t>
            </a:r>
            <a:r>
              <a:rPr lang="pt-BR" altLang="zh-CN" dirty="0"/>
              <a:t>= {</a:t>
            </a:r>
            <a:r>
              <a:rPr lang="pt-BR" altLang="zh-CN" i="1" dirty="0"/>
              <a:t>c</a:t>
            </a:r>
            <a:r>
              <a:rPr lang="pt-BR" altLang="zh-CN" dirty="0"/>
              <a:t>}</a:t>
            </a:r>
          </a:p>
          <a:p>
            <a:r>
              <a:rPr lang="pt-BR" altLang="zh-CN" dirty="0"/>
              <a:t>Follow</a:t>
            </a:r>
            <a:r>
              <a:rPr lang="zh-CN" altLang="pt-BR" dirty="0"/>
              <a:t>（</a:t>
            </a:r>
            <a:r>
              <a:rPr lang="pt-BR" altLang="zh-CN" i="1" dirty="0"/>
              <a:t>S</a:t>
            </a:r>
            <a:r>
              <a:rPr lang="zh-CN" altLang="pt-BR" dirty="0"/>
              <a:t>）</a:t>
            </a:r>
            <a:r>
              <a:rPr lang="pt-BR" altLang="zh-CN" dirty="0"/>
              <a:t>= {#} </a:t>
            </a:r>
          </a:p>
          <a:p>
            <a:r>
              <a:rPr lang="pt-BR" altLang="zh-CN" dirty="0"/>
              <a:t>Follow</a:t>
            </a:r>
            <a:r>
              <a:rPr lang="zh-CN" altLang="pt-BR" dirty="0"/>
              <a:t>（</a:t>
            </a:r>
            <a:r>
              <a:rPr lang="pt-BR" altLang="zh-CN" i="1" dirty="0"/>
              <a:t>A</a:t>
            </a:r>
            <a:r>
              <a:rPr lang="zh-CN" altLang="pt-BR" dirty="0"/>
              <a:t>）</a:t>
            </a:r>
            <a:r>
              <a:rPr lang="pt-BR" altLang="zh-CN" dirty="0"/>
              <a:t>= {</a:t>
            </a:r>
            <a:r>
              <a:rPr lang="pt-BR" altLang="zh-CN" i="1" dirty="0"/>
              <a:t>a</a:t>
            </a:r>
            <a:r>
              <a:rPr lang="pt-BR" altLang="zh-CN" dirty="0"/>
              <a:t>}</a:t>
            </a:r>
          </a:p>
          <a:p>
            <a:r>
              <a:rPr lang="pt-BR" altLang="zh-CN" dirty="0"/>
              <a:t>Follow</a:t>
            </a:r>
            <a:r>
              <a:rPr lang="zh-CN" altLang="pt-BR" dirty="0"/>
              <a:t>（</a:t>
            </a:r>
            <a:r>
              <a:rPr lang="pt-BR" altLang="zh-CN" i="1" dirty="0"/>
              <a:t>B</a:t>
            </a:r>
            <a:r>
              <a:rPr lang="zh-CN" altLang="pt-BR" dirty="0"/>
              <a:t>）</a:t>
            </a:r>
            <a:r>
              <a:rPr lang="pt-BR" altLang="zh-CN" dirty="0"/>
              <a:t>= {</a:t>
            </a:r>
            <a:r>
              <a:rPr lang="pt-BR" altLang="zh-CN" i="1" dirty="0"/>
              <a:t>b</a:t>
            </a:r>
            <a:r>
              <a:rPr lang="pt-BR" altLang="zh-CN" dirty="0"/>
              <a:t>}</a:t>
            </a:r>
            <a:endParaRPr lang="en-US" altLang="zh-CN" dirty="0"/>
          </a:p>
        </p:txBody>
      </p:sp>
      <p:sp>
        <p:nvSpPr>
          <p:cNvPr id="8" name="Rectangle 15"/>
          <p:cNvSpPr>
            <a:spLocks noChangeArrowheads="1"/>
          </p:cNvSpPr>
          <p:nvPr/>
        </p:nvSpPr>
        <p:spPr bwMode="auto">
          <a:xfrm>
            <a:off x="4131249" y="4549676"/>
            <a:ext cx="4328539" cy="2308324"/>
          </a:xfrm>
          <a:prstGeom prst="rect">
            <a:avLst/>
          </a:prstGeom>
          <a:noFill/>
          <a:ln w="9525">
            <a:noFill/>
            <a:miter lim="800000"/>
            <a:headEnd/>
            <a:tailEnd/>
          </a:ln>
        </p:spPr>
        <p:txBody>
          <a:bodyPr wrap="square">
            <a:spAutoFit/>
          </a:bodyPr>
          <a:lstStyle/>
          <a:p>
            <a:r>
              <a:rPr lang="pt-BR" altLang="zh-CN" sz="2400" i="1" dirty="0">
                <a:solidFill>
                  <a:srgbClr val="FF0000"/>
                </a:solidFill>
              </a:rPr>
              <a:t>SELECT</a:t>
            </a:r>
            <a:r>
              <a:rPr lang="pt-BR" altLang="zh-CN" sz="2400" dirty="0">
                <a:solidFill>
                  <a:srgbClr val="FF0000"/>
                </a:solidFill>
              </a:rPr>
              <a:t>(</a:t>
            </a:r>
            <a:r>
              <a:rPr lang="en-US" altLang="zh-CN" sz="2400" i="1" dirty="0" err="1">
                <a:solidFill>
                  <a:srgbClr val="FF0000"/>
                </a:solidFill>
              </a:rPr>
              <a:t>S</a:t>
            </a:r>
            <a:r>
              <a:rPr lang="en-US" altLang="zh-CN" sz="2400" dirty="0" err="1">
                <a:solidFill>
                  <a:srgbClr val="FF0000"/>
                </a:solidFill>
                <a:sym typeface="Symbol" pitchFamily="18" charset="2"/>
              </a:rPr>
              <a:t></a:t>
            </a:r>
            <a:r>
              <a:rPr lang="en-US" altLang="zh-CN" sz="2400" i="1" dirty="0" err="1">
                <a:solidFill>
                  <a:srgbClr val="FF0000"/>
                </a:solidFill>
              </a:rPr>
              <a:t>AaS</a:t>
            </a:r>
            <a:r>
              <a:rPr lang="pt-BR" altLang="zh-CN" sz="2400" dirty="0">
                <a:solidFill>
                  <a:srgbClr val="FF0000"/>
                </a:solidFill>
              </a:rPr>
              <a:t>)</a:t>
            </a:r>
            <a:r>
              <a:rPr lang="zh-CN" altLang="pt-BR" sz="2400" dirty="0">
                <a:solidFill>
                  <a:srgbClr val="FF0000"/>
                </a:solidFill>
              </a:rPr>
              <a:t>，</a:t>
            </a:r>
            <a:r>
              <a:rPr lang="pt-BR" altLang="zh-CN" sz="2400" i="1" dirty="0">
                <a:solidFill>
                  <a:srgbClr val="FF0000"/>
                </a:solidFill>
              </a:rPr>
              <a:t>SELECT</a:t>
            </a:r>
            <a:r>
              <a:rPr lang="pt-BR" altLang="zh-CN" sz="2400" dirty="0">
                <a:solidFill>
                  <a:srgbClr val="FF0000"/>
                </a:solidFill>
              </a:rPr>
              <a:t>(</a:t>
            </a:r>
            <a:r>
              <a:rPr lang="en-US" altLang="zh-CN" sz="2400" i="1" dirty="0" err="1">
                <a:solidFill>
                  <a:srgbClr val="FF0000"/>
                </a:solidFill>
              </a:rPr>
              <a:t>S</a:t>
            </a:r>
            <a:r>
              <a:rPr lang="en-US" altLang="zh-CN" sz="2400" dirty="0" err="1">
                <a:solidFill>
                  <a:srgbClr val="FF0000"/>
                </a:solidFill>
                <a:sym typeface="Symbol" pitchFamily="18" charset="2"/>
              </a:rPr>
              <a:t></a:t>
            </a:r>
            <a:r>
              <a:rPr lang="en-US" altLang="zh-CN" sz="2400" i="1" dirty="0" err="1">
                <a:solidFill>
                  <a:srgbClr val="FF0000"/>
                </a:solidFill>
              </a:rPr>
              <a:t>BbS</a:t>
            </a:r>
            <a:r>
              <a:rPr lang="pt-BR" altLang="zh-CN" sz="2400" dirty="0">
                <a:solidFill>
                  <a:srgbClr val="FF0000"/>
                </a:solidFill>
              </a:rPr>
              <a:t>) </a:t>
            </a:r>
            <a:r>
              <a:rPr lang="zh-CN" altLang="pt-BR" sz="2400" b="1" dirty="0">
                <a:solidFill>
                  <a:srgbClr val="FF0000"/>
                </a:solidFill>
              </a:rPr>
              <a:t>以及 </a:t>
            </a:r>
            <a:r>
              <a:rPr lang="pt-BR" altLang="zh-CN" sz="2400" i="1" dirty="0">
                <a:solidFill>
                  <a:srgbClr val="FF0000"/>
                </a:solidFill>
              </a:rPr>
              <a:t>SELECT</a:t>
            </a:r>
            <a:r>
              <a:rPr lang="pt-BR" altLang="zh-CN" sz="2400" dirty="0">
                <a:solidFill>
                  <a:srgbClr val="FF0000"/>
                </a:solidFill>
              </a:rPr>
              <a:t>(</a:t>
            </a:r>
            <a:r>
              <a:rPr lang="en-US" altLang="zh-CN" sz="2400" i="1" dirty="0" err="1">
                <a:solidFill>
                  <a:srgbClr val="FF0000"/>
                </a:solidFill>
              </a:rPr>
              <a:t>S</a:t>
            </a:r>
            <a:r>
              <a:rPr lang="en-US" altLang="zh-CN" sz="2400" dirty="0" err="1">
                <a:solidFill>
                  <a:srgbClr val="FF0000"/>
                </a:solidFill>
                <a:sym typeface="Symbol" pitchFamily="18" charset="2"/>
              </a:rPr>
              <a:t></a:t>
            </a:r>
            <a:r>
              <a:rPr lang="en-US" altLang="zh-CN" sz="2400" i="1" dirty="0" err="1">
                <a:solidFill>
                  <a:srgbClr val="FF0000"/>
                </a:solidFill>
              </a:rPr>
              <a:t>d</a:t>
            </a:r>
            <a:r>
              <a:rPr lang="pt-BR" altLang="zh-CN" sz="2400" dirty="0">
                <a:solidFill>
                  <a:srgbClr val="FF0000"/>
                </a:solidFill>
              </a:rPr>
              <a:t>) </a:t>
            </a:r>
            <a:r>
              <a:rPr lang="zh-CN" altLang="pt-BR" sz="2400" b="1" dirty="0">
                <a:solidFill>
                  <a:srgbClr val="FF0000"/>
                </a:solidFill>
              </a:rPr>
              <a:t>互不相交， </a:t>
            </a:r>
            <a:r>
              <a:rPr lang="pt-BR" altLang="zh-CN" sz="2400" i="1" dirty="0">
                <a:solidFill>
                  <a:srgbClr val="FF0000"/>
                </a:solidFill>
              </a:rPr>
              <a:t>SELECT</a:t>
            </a:r>
            <a:r>
              <a:rPr lang="pt-BR" altLang="zh-CN" sz="2400" dirty="0">
                <a:solidFill>
                  <a:srgbClr val="FF0000"/>
                </a:solidFill>
              </a:rPr>
              <a:t>(</a:t>
            </a:r>
            <a:r>
              <a:rPr lang="en-US" altLang="zh-CN" sz="2400" i="1" dirty="0">
                <a:solidFill>
                  <a:srgbClr val="FF0000"/>
                </a:solidFill>
              </a:rPr>
              <a:t>B</a:t>
            </a:r>
            <a:r>
              <a:rPr lang="en-US" altLang="zh-CN" sz="2400" dirty="0">
                <a:solidFill>
                  <a:srgbClr val="FF0000"/>
                </a:solidFill>
                <a:sym typeface="Symbol" pitchFamily="18" charset="2"/>
              </a:rPr>
              <a:t></a:t>
            </a:r>
            <a:r>
              <a:rPr lang="en-US" altLang="zh-CN" sz="2400" i="1" dirty="0">
                <a:solidFill>
                  <a:srgbClr val="FF0000"/>
                </a:solidFill>
                <a:sym typeface="Symbol" pitchFamily="18" charset="2"/>
              </a:rPr>
              <a:t></a:t>
            </a:r>
            <a:r>
              <a:rPr lang="pt-BR" altLang="zh-CN" sz="2400" dirty="0">
                <a:solidFill>
                  <a:srgbClr val="FF0000"/>
                </a:solidFill>
              </a:rPr>
              <a:t>) </a:t>
            </a:r>
            <a:r>
              <a:rPr lang="zh-CN" altLang="pt-BR" sz="2400" b="1" dirty="0">
                <a:solidFill>
                  <a:srgbClr val="FF0000"/>
                </a:solidFill>
              </a:rPr>
              <a:t>和 </a:t>
            </a:r>
            <a:r>
              <a:rPr lang="pt-BR" altLang="zh-CN" sz="2400" i="1" dirty="0">
                <a:solidFill>
                  <a:srgbClr val="FF0000"/>
                </a:solidFill>
              </a:rPr>
              <a:t>SELECT</a:t>
            </a:r>
            <a:r>
              <a:rPr lang="pt-BR" altLang="zh-CN" sz="2400" dirty="0">
                <a:solidFill>
                  <a:srgbClr val="FF0000"/>
                </a:solidFill>
              </a:rPr>
              <a:t>(</a:t>
            </a:r>
            <a:r>
              <a:rPr lang="en-US" altLang="zh-CN" sz="2400" i="1" dirty="0" err="1">
                <a:solidFill>
                  <a:srgbClr val="FF0000"/>
                </a:solidFill>
              </a:rPr>
              <a:t>S</a:t>
            </a:r>
            <a:r>
              <a:rPr lang="en-US" altLang="zh-CN" sz="2400" dirty="0" err="1">
                <a:solidFill>
                  <a:srgbClr val="FF0000"/>
                </a:solidFill>
                <a:sym typeface="Symbol" pitchFamily="18" charset="2"/>
              </a:rPr>
              <a:t></a:t>
            </a:r>
            <a:r>
              <a:rPr lang="en-US" altLang="zh-CN" sz="2400" i="1" dirty="0" err="1">
                <a:solidFill>
                  <a:srgbClr val="FF0000"/>
                </a:solidFill>
              </a:rPr>
              <a:t>d</a:t>
            </a:r>
            <a:r>
              <a:rPr lang="pt-BR" altLang="zh-CN" sz="2400" dirty="0">
                <a:solidFill>
                  <a:srgbClr val="FF0000"/>
                </a:solidFill>
              </a:rPr>
              <a:t>)</a:t>
            </a:r>
            <a:r>
              <a:rPr lang="zh-CN" altLang="pt-BR" sz="2400" b="1" dirty="0">
                <a:solidFill>
                  <a:srgbClr val="FF0000"/>
                </a:solidFill>
              </a:rPr>
              <a:t>互不相交，</a:t>
            </a:r>
            <a:r>
              <a:rPr lang="zh-CN" altLang="en-US" sz="2400" b="1" dirty="0">
                <a:solidFill>
                  <a:srgbClr val="FF0000"/>
                </a:solidFill>
              </a:rPr>
              <a:t>所以</a:t>
            </a:r>
            <a:r>
              <a:rPr lang="zh-CN" altLang="pt-BR" sz="2400" b="1" dirty="0">
                <a:solidFill>
                  <a:srgbClr val="FF0000"/>
                </a:solidFill>
              </a:rPr>
              <a:t>，</a:t>
            </a:r>
            <a:r>
              <a:rPr lang="pt-BR" altLang="zh-CN" sz="2400" dirty="0">
                <a:solidFill>
                  <a:srgbClr val="FF0000"/>
                </a:solidFill>
              </a:rPr>
              <a:t>G(S) </a:t>
            </a:r>
            <a:r>
              <a:rPr lang="zh-CN" altLang="en-US" sz="2400" b="1" dirty="0">
                <a:solidFill>
                  <a:srgbClr val="FF0000"/>
                </a:solidFill>
              </a:rPr>
              <a:t>是 </a:t>
            </a:r>
            <a:r>
              <a:rPr lang="pt-BR" altLang="zh-CN" sz="2400" dirty="0">
                <a:solidFill>
                  <a:srgbClr val="FF0000"/>
                </a:solidFill>
              </a:rPr>
              <a:t>LL(1) </a:t>
            </a:r>
            <a:r>
              <a:rPr lang="zh-CN" altLang="en-US" sz="2400" b="1" dirty="0">
                <a:solidFill>
                  <a:srgbClr val="FF0000"/>
                </a:solidFill>
              </a:rPr>
              <a:t>文法</a:t>
            </a: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55</a:t>
            </a:fld>
            <a:endParaRPr lang="zh-CN" altLang="en-US">
              <a:solidFill>
                <a:srgbClr val="3F3F3F"/>
              </a:solidFill>
            </a:endParaRPr>
          </a:p>
        </p:txBody>
      </p:sp>
    </p:spTree>
    <p:extLst>
      <p:ext uri="{BB962C8B-B14F-4D97-AF65-F5344CB8AC3E}">
        <p14:creationId xmlns:p14="http://schemas.microsoft.com/office/powerpoint/2010/main" val="29198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Bottom)">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lide(fromBottom)">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a:t>
            </a:r>
            <a:r>
              <a:rPr lang="zh-CN" altLang="en-US" dirty="0"/>
              <a:t>递归下降分析法</a:t>
            </a:r>
          </a:p>
        </p:txBody>
      </p:sp>
      <p:sp>
        <p:nvSpPr>
          <p:cNvPr id="7" name="Rectangle 4"/>
          <p:cNvSpPr>
            <a:spLocks noChangeArrowheads="1"/>
          </p:cNvSpPr>
          <p:nvPr/>
        </p:nvSpPr>
        <p:spPr bwMode="auto">
          <a:xfrm>
            <a:off x="754063" y="2781300"/>
            <a:ext cx="3457575" cy="3476625"/>
          </a:xfrm>
          <a:prstGeom prst="rect">
            <a:avLst/>
          </a:prstGeom>
          <a:noFill/>
          <a:ln w="9525">
            <a:noFill/>
            <a:miter lim="800000"/>
            <a:headEnd/>
            <a:tailEnd/>
          </a:ln>
        </p:spPr>
        <p:txBody>
          <a:bodyPr>
            <a:spAutoFit/>
          </a:bodyPr>
          <a:lstStyle/>
          <a:p>
            <a:pPr>
              <a:buClrTx/>
              <a:buFont typeface="Symbol" pitchFamily="18" charset="2"/>
              <a:buChar char="-"/>
            </a:pPr>
            <a:r>
              <a:rPr lang="en-US" altLang="zh-CN" sz="2800" b="1" dirty="0">
                <a:solidFill>
                  <a:srgbClr val="800080"/>
                </a:solidFill>
              </a:rPr>
              <a:t>  </a:t>
            </a:r>
            <a:r>
              <a:rPr lang="zh-CN" altLang="en-US" sz="2800" b="1" dirty="0">
                <a:solidFill>
                  <a:srgbClr val="800080"/>
                </a:solidFill>
              </a:rPr>
              <a:t>一般结构 </a:t>
            </a:r>
          </a:p>
          <a:p>
            <a:pPr>
              <a:buClrTx/>
              <a:buFont typeface="Symbol" pitchFamily="18" charset="2"/>
              <a:buChar char="-"/>
            </a:pPr>
            <a:endParaRPr lang="zh-CN" altLang="en-US" sz="1000" b="1" dirty="0">
              <a:solidFill>
                <a:srgbClr val="800080"/>
              </a:solidFill>
            </a:endParaRPr>
          </a:p>
          <a:p>
            <a:pPr>
              <a:buClrTx/>
              <a:buFont typeface="Symbol" pitchFamily="18" charset="2"/>
              <a:buNone/>
            </a:pPr>
            <a:r>
              <a:rPr lang="zh-CN" altLang="en-US" sz="2800" b="1" dirty="0">
                <a:solidFill>
                  <a:srgbClr val="003399"/>
                </a:solidFill>
              </a:rPr>
              <a:t>   </a:t>
            </a:r>
            <a:r>
              <a:rPr lang="zh-CN" altLang="en-US" sz="2400" b="1" dirty="0">
                <a:solidFill>
                  <a:srgbClr val="003399"/>
                </a:solidFill>
              </a:rPr>
              <a:t>设 </a:t>
            </a:r>
            <a:r>
              <a:rPr lang="en-US" altLang="zh-CN" sz="2400" b="1" i="1" dirty="0">
                <a:solidFill>
                  <a:srgbClr val="003399"/>
                </a:solidFill>
              </a:rPr>
              <a:t>A  </a:t>
            </a:r>
            <a:r>
              <a:rPr lang="zh-CN" altLang="en-US" sz="2400" b="1" dirty="0">
                <a:solidFill>
                  <a:srgbClr val="003399"/>
                </a:solidFill>
              </a:rPr>
              <a:t>的产生式</a:t>
            </a:r>
            <a:r>
              <a:rPr lang="en-US" altLang="zh-CN" sz="2400" b="1" dirty="0">
                <a:solidFill>
                  <a:srgbClr val="003399"/>
                </a:solidFill>
              </a:rPr>
              <a:t>:</a:t>
            </a:r>
          </a:p>
          <a:p>
            <a:pPr>
              <a:buClrTx/>
              <a:buFont typeface="Symbol" pitchFamily="18" charset="2"/>
              <a:buNone/>
            </a:pPr>
            <a:endParaRPr lang="en-US" altLang="zh-CN" sz="1000" b="1" dirty="0">
              <a:solidFill>
                <a:srgbClr val="003399"/>
              </a:solidFill>
            </a:endParaRPr>
          </a:p>
          <a:p>
            <a:pPr>
              <a:buClrTx/>
              <a:buFont typeface="Symbol" pitchFamily="18" charset="2"/>
              <a:buNone/>
            </a:pPr>
            <a:r>
              <a:rPr lang="en-US" altLang="zh-CN" sz="2800" b="1" dirty="0">
                <a:solidFill>
                  <a:srgbClr val="003399"/>
                </a:solidFill>
              </a:rPr>
              <a:t>    </a:t>
            </a:r>
            <a:r>
              <a:rPr lang="en-US" altLang="zh-CN" sz="2400" b="1" i="1" dirty="0">
                <a:solidFill>
                  <a:srgbClr val="003399"/>
                </a:solidFill>
              </a:rPr>
              <a:t>A</a:t>
            </a:r>
            <a:r>
              <a:rPr lang="en-US" altLang="zh-CN" sz="2400" b="1" dirty="0">
                <a:solidFill>
                  <a:srgbClr val="003399"/>
                </a:solidFill>
              </a:rPr>
              <a:t> </a:t>
            </a:r>
            <a:r>
              <a:rPr lang="en-US" altLang="zh-CN" sz="2400" b="1" dirty="0">
                <a:solidFill>
                  <a:srgbClr val="003399"/>
                </a:solidFill>
                <a:latin typeface="楷体_GB2312" pitchFamily="49" charset="-122"/>
                <a:sym typeface="Symbol" pitchFamily="18" charset="2"/>
              </a:rPr>
              <a:t></a:t>
            </a:r>
            <a:r>
              <a:rPr lang="en-US" altLang="zh-CN" sz="2400" b="1" dirty="0">
                <a:solidFill>
                  <a:srgbClr val="003399"/>
                </a:solidFill>
              </a:rPr>
              <a:t> </a:t>
            </a:r>
            <a:r>
              <a:rPr lang="en-US" altLang="zh-CN" sz="2400" b="1" i="1" dirty="0">
                <a:solidFill>
                  <a:srgbClr val="003399"/>
                </a:solidFill>
              </a:rPr>
              <a:t>u</a:t>
            </a:r>
            <a:r>
              <a:rPr lang="en-US" altLang="zh-CN" sz="2400" b="1" baseline="-25000" dirty="0">
                <a:solidFill>
                  <a:srgbClr val="003399"/>
                </a:solidFill>
              </a:rPr>
              <a:t>1</a:t>
            </a:r>
            <a:r>
              <a:rPr lang="en-US" altLang="zh-CN" sz="2400" b="1" dirty="0">
                <a:solidFill>
                  <a:srgbClr val="003399"/>
                </a:solidFill>
                <a:latin typeface="楷体_GB2312" pitchFamily="49" charset="-122"/>
                <a:sym typeface="Symbol" pitchFamily="18" charset="2"/>
              </a:rPr>
              <a:t></a:t>
            </a:r>
            <a:r>
              <a:rPr lang="en-US" altLang="zh-CN" sz="2400" b="1" i="1" dirty="0">
                <a:solidFill>
                  <a:srgbClr val="003399"/>
                </a:solidFill>
              </a:rPr>
              <a:t>u</a:t>
            </a:r>
            <a:r>
              <a:rPr lang="en-US" altLang="zh-CN" sz="2400" b="1" baseline="-25000" dirty="0">
                <a:solidFill>
                  <a:srgbClr val="003399"/>
                </a:solidFill>
              </a:rPr>
              <a:t>2</a:t>
            </a:r>
            <a:r>
              <a:rPr lang="en-US" altLang="zh-CN" sz="2400" b="1" dirty="0">
                <a:solidFill>
                  <a:srgbClr val="003399"/>
                </a:solidFill>
                <a:latin typeface="楷体_GB2312" pitchFamily="49" charset="-122"/>
                <a:sym typeface="Symbol" pitchFamily="18" charset="2"/>
              </a:rPr>
              <a:t></a:t>
            </a:r>
            <a:r>
              <a:rPr lang="en-US" altLang="zh-CN" sz="2400" b="1" dirty="0">
                <a:solidFill>
                  <a:srgbClr val="003399"/>
                </a:solidFill>
              </a:rPr>
              <a:t>...</a:t>
            </a:r>
            <a:r>
              <a:rPr lang="en-US" altLang="zh-CN" sz="2400" b="1" dirty="0">
                <a:solidFill>
                  <a:srgbClr val="003399"/>
                </a:solidFill>
                <a:latin typeface="楷体_GB2312" pitchFamily="49" charset="-122"/>
                <a:sym typeface="Symbol" pitchFamily="18" charset="2"/>
              </a:rPr>
              <a:t></a:t>
            </a:r>
            <a:r>
              <a:rPr lang="en-US" altLang="zh-CN" sz="2400" b="1" i="1" dirty="0">
                <a:solidFill>
                  <a:srgbClr val="003399"/>
                </a:solidFill>
              </a:rPr>
              <a:t>u</a:t>
            </a:r>
            <a:r>
              <a:rPr lang="en-US" altLang="zh-CN" sz="2400" b="1" i="1" baseline="-25000" dirty="0">
                <a:solidFill>
                  <a:srgbClr val="003399"/>
                </a:solidFill>
              </a:rPr>
              <a:t>n</a:t>
            </a:r>
            <a:r>
              <a:rPr lang="en-US" altLang="zh-CN" sz="2400" b="1" dirty="0">
                <a:solidFill>
                  <a:srgbClr val="003399"/>
                </a:solidFill>
              </a:rPr>
              <a:t>,</a:t>
            </a:r>
          </a:p>
          <a:p>
            <a:pPr>
              <a:buClrTx/>
              <a:buFont typeface="Symbol" pitchFamily="18" charset="2"/>
              <a:buNone/>
            </a:pPr>
            <a:endParaRPr lang="en-US" altLang="zh-CN" sz="1000" b="1" dirty="0">
              <a:solidFill>
                <a:srgbClr val="003399"/>
              </a:solidFill>
            </a:endParaRPr>
          </a:p>
          <a:p>
            <a:pPr>
              <a:buClrTx/>
              <a:buFont typeface="Symbol" pitchFamily="18" charset="2"/>
              <a:buNone/>
            </a:pPr>
            <a:r>
              <a:rPr lang="en-US" altLang="zh-CN" sz="2800" b="1" dirty="0">
                <a:solidFill>
                  <a:srgbClr val="003399"/>
                </a:solidFill>
              </a:rPr>
              <a:t>   </a:t>
            </a:r>
            <a:r>
              <a:rPr lang="zh-CN" altLang="en-US" sz="2400" b="1" dirty="0">
                <a:solidFill>
                  <a:srgbClr val="003399"/>
                </a:solidFill>
              </a:rPr>
              <a:t>相对于非终结符 </a:t>
            </a:r>
            <a:r>
              <a:rPr lang="en-US" altLang="zh-CN" sz="2400" b="1" i="1" dirty="0">
                <a:solidFill>
                  <a:srgbClr val="003399"/>
                </a:solidFill>
              </a:rPr>
              <a:t>A</a:t>
            </a:r>
          </a:p>
          <a:p>
            <a:pPr>
              <a:buClrTx/>
              <a:buFont typeface="Symbol" pitchFamily="18" charset="2"/>
              <a:buNone/>
            </a:pPr>
            <a:r>
              <a:rPr lang="en-US" altLang="zh-CN" sz="2800" b="1" dirty="0">
                <a:solidFill>
                  <a:srgbClr val="003399"/>
                </a:solidFill>
              </a:rPr>
              <a:t>   </a:t>
            </a:r>
            <a:r>
              <a:rPr lang="zh-CN" altLang="en-US" sz="2400" b="1" dirty="0">
                <a:solidFill>
                  <a:srgbClr val="003399"/>
                </a:solidFill>
              </a:rPr>
              <a:t>的递归下降子程序</a:t>
            </a:r>
          </a:p>
          <a:p>
            <a:pPr>
              <a:buClrTx/>
              <a:buFont typeface="Symbol" pitchFamily="18" charset="2"/>
              <a:buNone/>
            </a:pPr>
            <a:r>
              <a:rPr lang="zh-CN" altLang="en-US" sz="2400" b="1" dirty="0">
                <a:solidFill>
                  <a:srgbClr val="003399"/>
                </a:solidFill>
              </a:rPr>
              <a:t>    </a:t>
            </a:r>
            <a:r>
              <a:rPr lang="en-US" altLang="zh-CN" sz="2400" dirty="0" err="1">
                <a:solidFill>
                  <a:srgbClr val="003399"/>
                </a:solidFill>
              </a:rPr>
              <a:t>ParseA</a:t>
            </a:r>
            <a:r>
              <a:rPr lang="en-US" altLang="zh-CN" sz="2400" b="1" dirty="0">
                <a:solidFill>
                  <a:srgbClr val="003399"/>
                </a:solidFill>
              </a:rPr>
              <a:t> </a:t>
            </a:r>
            <a:r>
              <a:rPr lang="zh-CN" altLang="en-US" sz="2400" b="1" dirty="0">
                <a:solidFill>
                  <a:srgbClr val="003399"/>
                </a:solidFill>
              </a:rPr>
              <a:t>的一般结</a:t>
            </a:r>
          </a:p>
          <a:p>
            <a:pPr>
              <a:buClrTx/>
              <a:buFont typeface="Symbol" pitchFamily="18" charset="2"/>
              <a:buNone/>
            </a:pPr>
            <a:r>
              <a:rPr lang="zh-CN" altLang="en-US" sz="2800" b="1" dirty="0">
                <a:solidFill>
                  <a:srgbClr val="003399"/>
                </a:solidFill>
              </a:rPr>
              <a:t>   </a:t>
            </a:r>
            <a:r>
              <a:rPr lang="zh-CN" altLang="en-US" sz="2400" b="1" dirty="0">
                <a:solidFill>
                  <a:srgbClr val="003399"/>
                </a:solidFill>
              </a:rPr>
              <a:t>构如右图所示</a:t>
            </a:r>
          </a:p>
        </p:txBody>
      </p:sp>
      <p:sp>
        <p:nvSpPr>
          <p:cNvPr id="8" name="Text Box 5"/>
          <p:cNvSpPr txBox="1">
            <a:spLocks noChangeArrowheads="1"/>
          </p:cNvSpPr>
          <p:nvPr/>
        </p:nvSpPr>
        <p:spPr bwMode="auto">
          <a:xfrm>
            <a:off x="539750" y="1412875"/>
            <a:ext cx="3671888" cy="1066800"/>
          </a:xfrm>
          <a:prstGeom prst="rect">
            <a:avLst/>
          </a:prstGeom>
          <a:noFill/>
          <a:ln w="9525">
            <a:noFill/>
            <a:miter lim="800000"/>
            <a:headEnd/>
            <a:tailEnd/>
          </a:ln>
        </p:spPr>
        <p:txBody>
          <a:bodyPr>
            <a:spAutoFit/>
          </a:bodyPr>
          <a:lstStyle/>
          <a:p>
            <a:pPr>
              <a:buClrTx/>
              <a:buFont typeface="Wingdings" pitchFamily="2" charset="2"/>
              <a:buChar char="²"/>
            </a:pPr>
            <a:r>
              <a:rPr lang="en-US" altLang="zh-CN" sz="3200" b="1" dirty="0">
                <a:solidFill>
                  <a:srgbClr val="800080"/>
                </a:solidFill>
                <a:latin typeface="楷体_GB2312" pitchFamily="49" charset="-122"/>
              </a:rPr>
              <a:t> </a:t>
            </a:r>
            <a:r>
              <a:rPr lang="zh-CN" altLang="en-US" sz="3200" b="1" dirty="0">
                <a:solidFill>
                  <a:srgbClr val="800080"/>
                </a:solidFill>
                <a:latin typeface="楷体_GB2312" pitchFamily="49" charset="-122"/>
              </a:rPr>
              <a:t>非终结符对应的</a:t>
            </a:r>
          </a:p>
          <a:p>
            <a:pPr>
              <a:buClrTx/>
            </a:pPr>
            <a:r>
              <a:rPr lang="zh-CN" altLang="en-US" sz="3200" b="1" dirty="0">
                <a:solidFill>
                  <a:srgbClr val="800080"/>
                </a:solidFill>
                <a:latin typeface="楷体_GB2312" pitchFamily="49" charset="-122"/>
              </a:rPr>
              <a:t>   递归下降</a:t>
            </a:r>
            <a:r>
              <a:rPr lang="zh-CN" altLang="en-US" sz="3200" b="1" dirty="0">
                <a:solidFill>
                  <a:srgbClr val="800080"/>
                </a:solidFill>
              </a:rPr>
              <a:t>子</a:t>
            </a:r>
            <a:r>
              <a:rPr lang="zh-CN" altLang="en-US" sz="3200" b="1" dirty="0">
                <a:solidFill>
                  <a:srgbClr val="800080"/>
                </a:solidFill>
                <a:latin typeface="楷体_GB2312" pitchFamily="49" charset="-122"/>
              </a:rPr>
              <a:t>程序</a:t>
            </a:r>
          </a:p>
        </p:txBody>
      </p:sp>
      <p:sp>
        <p:nvSpPr>
          <p:cNvPr id="9" name="Rectangle 12"/>
          <p:cNvSpPr>
            <a:spLocks noChangeArrowheads="1"/>
          </p:cNvSpPr>
          <p:nvPr/>
        </p:nvSpPr>
        <p:spPr bwMode="auto">
          <a:xfrm>
            <a:off x="4500563" y="1125538"/>
            <a:ext cx="4319587" cy="5078313"/>
          </a:xfrm>
          <a:prstGeom prst="rect">
            <a:avLst/>
          </a:prstGeom>
          <a:noFill/>
          <a:ln w="9525">
            <a:noFill/>
            <a:miter lim="800000"/>
            <a:headEnd/>
            <a:tailEnd/>
          </a:ln>
        </p:spPr>
        <p:txBody>
          <a:bodyPr>
            <a:spAutoFit/>
          </a:bodyPr>
          <a:lstStyle/>
          <a:p>
            <a:r>
              <a:rPr lang="en-US" altLang="zh-CN" dirty="0"/>
              <a:t>void </a:t>
            </a:r>
            <a:r>
              <a:rPr lang="en-US" altLang="zh-CN" dirty="0" err="1"/>
              <a:t>ParseA</a:t>
            </a:r>
            <a:r>
              <a:rPr lang="en-US" altLang="zh-CN" dirty="0"/>
              <a:t>()</a:t>
            </a:r>
          </a:p>
          <a:p>
            <a:r>
              <a:rPr lang="en-US" altLang="zh-CN" dirty="0"/>
              <a:t>{</a:t>
            </a:r>
          </a:p>
          <a:p>
            <a:r>
              <a:rPr lang="en-US" altLang="zh-CN" dirty="0"/>
              <a:t>     switch (</a:t>
            </a:r>
            <a:r>
              <a:rPr lang="en-US" altLang="zh-CN" dirty="0" err="1"/>
              <a:t>lookahead</a:t>
            </a:r>
            <a:r>
              <a:rPr lang="en-US" altLang="zh-CN" dirty="0"/>
              <a:t>)  {</a:t>
            </a:r>
          </a:p>
          <a:p>
            <a:r>
              <a:rPr lang="en-US" altLang="zh-CN" dirty="0"/>
              <a:t>          case </a:t>
            </a:r>
            <a:r>
              <a:rPr lang="en-US" altLang="zh-CN" i="1" dirty="0"/>
              <a:t>SELECT</a:t>
            </a:r>
            <a:r>
              <a:rPr lang="en-US" altLang="zh-CN" dirty="0"/>
              <a:t>(</a:t>
            </a:r>
            <a:r>
              <a:rPr lang="en-US" altLang="zh-CN" b="1" i="1" dirty="0"/>
              <a:t>A</a:t>
            </a:r>
            <a:r>
              <a:rPr lang="en-US" altLang="zh-CN" b="1" dirty="0">
                <a:sym typeface="Symbol" pitchFamily="18" charset="2"/>
              </a:rPr>
              <a:t></a:t>
            </a:r>
            <a:r>
              <a:rPr lang="en-US" altLang="zh-CN" b="1" i="1" dirty="0"/>
              <a:t>u</a:t>
            </a:r>
            <a:r>
              <a:rPr lang="en-US" altLang="zh-CN" b="1" baseline="-25000" dirty="0"/>
              <a:t>1</a:t>
            </a:r>
            <a:r>
              <a:rPr lang="en-US" altLang="zh-CN" dirty="0"/>
              <a:t>):</a:t>
            </a:r>
          </a:p>
          <a:p>
            <a:r>
              <a:rPr lang="en-US" altLang="zh-CN" dirty="0"/>
              <a:t>                /* code to recognize </a:t>
            </a:r>
            <a:r>
              <a:rPr lang="en-US" altLang="zh-CN" b="1" i="1" dirty="0"/>
              <a:t>u</a:t>
            </a:r>
            <a:r>
              <a:rPr lang="en-US" altLang="zh-CN" b="1" baseline="-25000" dirty="0"/>
              <a:t>1</a:t>
            </a:r>
            <a:r>
              <a:rPr lang="en-US" altLang="zh-CN" dirty="0"/>
              <a:t> */</a:t>
            </a:r>
          </a:p>
          <a:p>
            <a:r>
              <a:rPr lang="en-US" altLang="zh-CN" dirty="0"/>
              <a:t>                break;</a:t>
            </a:r>
          </a:p>
          <a:p>
            <a:r>
              <a:rPr lang="en-US" altLang="zh-CN" dirty="0"/>
              <a:t>         case </a:t>
            </a:r>
            <a:r>
              <a:rPr lang="en-US" altLang="zh-CN" i="1" dirty="0"/>
              <a:t>SELECT</a:t>
            </a:r>
            <a:r>
              <a:rPr lang="en-US" altLang="zh-CN" dirty="0"/>
              <a:t>(</a:t>
            </a:r>
            <a:r>
              <a:rPr lang="en-US" altLang="zh-CN" b="1" i="1" dirty="0"/>
              <a:t>A</a:t>
            </a:r>
            <a:r>
              <a:rPr lang="en-US" altLang="zh-CN" b="1" dirty="0">
                <a:sym typeface="Symbol" pitchFamily="18" charset="2"/>
              </a:rPr>
              <a:t></a:t>
            </a:r>
            <a:r>
              <a:rPr lang="en-US" altLang="zh-CN" b="1" i="1" dirty="0"/>
              <a:t>u</a:t>
            </a:r>
            <a:r>
              <a:rPr lang="en-US" altLang="zh-CN" b="1" baseline="-25000" dirty="0"/>
              <a:t>2</a:t>
            </a:r>
            <a:r>
              <a:rPr lang="en-US" altLang="zh-CN" dirty="0"/>
              <a:t>):</a:t>
            </a:r>
          </a:p>
          <a:p>
            <a:r>
              <a:rPr lang="en-US" altLang="zh-CN" dirty="0"/>
              <a:t>                /* code to recognize </a:t>
            </a:r>
            <a:r>
              <a:rPr lang="en-US" altLang="zh-CN" b="1" i="1" dirty="0"/>
              <a:t>u</a:t>
            </a:r>
            <a:r>
              <a:rPr lang="en-US" altLang="zh-CN" b="1" baseline="-25000" dirty="0"/>
              <a:t>2</a:t>
            </a:r>
            <a:r>
              <a:rPr lang="en-US" altLang="zh-CN" dirty="0"/>
              <a:t> */</a:t>
            </a:r>
          </a:p>
          <a:p>
            <a:r>
              <a:rPr lang="en-US" altLang="zh-CN" dirty="0"/>
              <a:t>                break;</a:t>
            </a:r>
          </a:p>
          <a:p>
            <a:r>
              <a:rPr lang="en-US" altLang="zh-CN" dirty="0"/>
              <a:t>         ...</a:t>
            </a:r>
          </a:p>
          <a:p>
            <a:r>
              <a:rPr lang="en-US" altLang="zh-CN" dirty="0"/>
              <a:t>         case </a:t>
            </a:r>
            <a:r>
              <a:rPr lang="en-US" altLang="zh-CN" i="1" dirty="0"/>
              <a:t>SELECT</a:t>
            </a:r>
            <a:r>
              <a:rPr lang="en-US" altLang="zh-CN" dirty="0"/>
              <a:t>(</a:t>
            </a:r>
            <a:r>
              <a:rPr lang="en-US" altLang="zh-CN" b="1" i="1" dirty="0" err="1"/>
              <a:t>A</a:t>
            </a:r>
            <a:r>
              <a:rPr lang="en-US" altLang="zh-CN" b="1" dirty="0" err="1">
                <a:sym typeface="Symbol" pitchFamily="18" charset="2"/>
              </a:rPr>
              <a:t></a:t>
            </a:r>
            <a:r>
              <a:rPr lang="en-US" altLang="zh-CN" b="1" i="1" dirty="0" err="1"/>
              <a:t>u</a:t>
            </a:r>
            <a:r>
              <a:rPr lang="en-US" altLang="zh-CN" b="1" i="1" baseline="-25000" dirty="0" err="1"/>
              <a:t>n</a:t>
            </a:r>
            <a:r>
              <a:rPr lang="en-US" altLang="zh-CN" dirty="0"/>
              <a:t>):</a:t>
            </a:r>
          </a:p>
          <a:p>
            <a:r>
              <a:rPr lang="en-US" altLang="zh-CN" dirty="0"/>
              <a:t>                /* code to recognize </a:t>
            </a:r>
            <a:r>
              <a:rPr lang="en-US" altLang="zh-CN" b="1" i="1" dirty="0"/>
              <a:t>u</a:t>
            </a:r>
            <a:r>
              <a:rPr lang="en-US" altLang="zh-CN" b="1" i="1" baseline="-25000" dirty="0"/>
              <a:t>n</a:t>
            </a:r>
            <a:r>
              <a:rPr lang="en-US" altLang="zh-CN" dirty="0"/>
              <a:t> */</a:t>
            </a:r>
          </a:p>
          <a:p>
            <a:r>
              <a:rPr lang="en-US" altLang="zh-CN" dirty="0"/>
              <a:t>               break;</a:t>
            </a:r>
          </a:p>
          <a:p>
            <a:r>
              <a:rPr lang="en-US" altLang="zh-CN" dirty="0"/>
              <a:t>         default:</a:t>
            </a:r>
          </a:p>
          <a:p>
            <a:r>
              <a:rPr lang="en-US" altLang="zh-CN" dirty="0"/>
              <a:t>                </a:t>
            </a:r>
            <a:r>
              <a:rPr lang="en-US" altLang="zh-CN" dirty="0" err="1"/>
              <a:t>printf</a:t>
            </a:r>
            <a:r>
              <a:rPr lang="en-US" altLang="zh-CN" dirty="0"/>
              <a:t>("syntax error \n");</a:t>
            </a:r>
          </a:p>
          <a:p>
            <a:r>
              <a:rPr lang="en-US" altLang="zh-CN" dirty="0"/>
              <a:t>                exit(0);</a:t>
            </a:r>
          </a:p>
          <a:p>
            <a:r>
              <a:rPr lang="en-US" altLang="zh-CN" dirty="0"/>
              <a:t>     }</a:t>
            </a:r>
          </a:p>
          <a:p>
            <a:r>
              <a:rPr lang="en-US" altLang="zh-CN" dirty="0"/>
              <a:t>}</a:t>
            </a: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56</a:t>
            </a:fld>
            <a:endParaRPr lang="zh-CN" altLang="en-US">
              <a:solidFill>
                <a:srgbClr val="3F3F3F"/>
              </a:solidFill>
            </a:endParaRPr>
          </a:p>
        </p:txBody>
      </p:sp>
    </p:spTree>
    <p:extLst>
      <p:ext uri="{BB962C8B-B14F-4D97-AF65-F5344CB8AC3E}">
        <p14:creationId xmlns:p14="http://schemas.microsoft.com/office/powerpoint/2010/main" val="360441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a:t>
            </a:r>
            <a:r>
              <a:rPr lang="zh-CN" altLang="en-US" dirty="0"/>
              <a:t>递归下降分析法</a:t>
            </a:r>
          </a:p>
        </p:txBody>
      </p:sp>
      <p:sp>
        <p:nvSpPr>
          <p:cNvPr id="4" name="Rectangle 19"/>
          <p:cNvSpPr>
            <a:spLocks noChangeArrowheads="1"/>
          </p:cNvSpPr>
          <p:nvPr/>
        </p:nvSpPr>
        <p:spPr bwMode="auto">
          <a:xfrm>
            <a:off x="971550" y="4078288"/>
            <a:ext cx="3384550" cy="2590800"/>
          </a:xfrm>
          <a:prstGeom prst="rect">
            <a:avLst/>
          </a:prstGeom>
          <a:noFill/>
          <a:ln w="9525" algn="ctr">
            <a:noFill/>
            <a:miter lim="800000"/>
            <a:headEnd/>
            <a:tailEnd/>
          </a:ln>
        </p:spPr>
        <p:txBody>
          <a:bodyPr anchor="ctr">
            <a:spAutoFit/>
          </a:bodyPr>
          <a:lstStyle/>
          <a:p>
            <a:pPr indent="266700"/>
            <a:r>
              <a:rPr lang="en-US" altLang="zh-CN" dirty="0">
                <a:solidFill>
                  <a:srgbClr val="800080"/>
                </a:solidFill>
              </a:rPr>
              <a:t>void </a:t>
            </a:r>
            <a:r>
              <a:rPr lang="en-US" altLang="zh-CN" dirty="0" err="1">
                <a:solidFill>
                  <a:srgbClr val="800080"/>
                </a:solidFill>
              </a:rPr>
              <a:t>ParseS</a:t>
            </a:r>
            <a:r>
              <a:rPr lang="en-US" altLang="zh-CN" dirty="0">
                <a:solidFill>
                  <a:srgbClr val="800080"/>
                </a:solidFill>
              </a:rPr>
              <a:t>( )</a:t>
            </a:r>
          </a:p>
          <a:p>
            <a:pPr indent="266700"/>
            <a:r>
              <a:rPr lang="en-US" altLang="zh-CN" dirty="0">
                <a:solidFill>
                  <a:srgbClr val="800080"/>
                </a:solidFill>
              </a:rPr>
              <a:t>{  </a:t>
            </a:r>
          </a:p>
          <a:p>
            <a:pPr indent="266700"/>
            <a:r>
              <a:rPr lang="en-US" altLang="zh-CN" dirty="0">
                <a:solidFill>
                  <a:srgbClr val="800080"/>
                </a:solidFill>
              </a:rPr>
              <a:t>     switch (</a:t>
            </a:r>
            <a:r>
              <a:rPr lang="en-US" altLang="zh-CN" dirty="0" err="1">
                <a:solidFill>
                  <a:srgbClr val="800080"/>
                </a:solidFill>
              </a:rPr>
              <a:t>lookahead</a:t>
            </a:r>
            <a:r>
              <a:rPr lang="en-US" altLang="zh-CN" dirty="0">
                <a:solidFill>
                  <a:srgbClr val="800080"/>
                </a:solidFill>
              </a:rPr>
              <a:t>)</a:t>
            </a:r>
            <a:r>
              <a:rPr lang="en-US" altLang="zh-CN" sz="2400" dirty="0">
                <a:solidFill>
                  <a:srgbClr val="800080"/>
                </a:solidFill>
              </a:rPr>
              <a:t>  </a:t>
            </a:r>
            <a:r>
              <a:rPr lang="en-US" altLang="zh-CN" dirty="0">
                <a:solidFill>
                  <a:srgbClr val="800080"/>
                </a:solidFill>
              </a:rPr>
              <a:t>{</a:t>
            </a:r>
          </a:p>
          <a:p>
            <a:pPr indent="266700"/>
            <a:r>
              <a:rPr lang="en-US" altLang="zh-CN" dirty="0">
                <a:solidFill>
                  <a:srgbClr val="800080"/>
                </a:solidFill>
              </a:rPr>
              <a:t>           case a:</a:t>
            </a:r>
          </a:p>
          <a:p>
            <a:pPr indent="266700"/>
            <a:r>
              <a:rPr lang="en-US" altLang="zh-CN" dirty="0">
                <a:solidFill>
                  <a:srgbClr val="800080"/>
                </a:solidFill>
              </a:rPr>
              <a:t>               </a:t>
            </a:r>
            <a:r>
              <a:rPr lang="en-US" altLang="zh-CN" dirty="0" err="1">
                <a:solidFill>
                  <a:srgbClr val="800080"/>
                </a:solidFill>
              </a:rPr>
              <a:t>ParseA</a:t>
            </a:r>
            <a:r>
              <a:rPr lang="en-US" altLang="zh-CN" dirty="0">
                <a:solidFill>
                  <a:srgbClr val="800080"/>
                </a:solidFill>
              </a:rPr>
              <a:t>( );</a:t>
            </a:r>
          </a:p>
          <a:p>
            <a:pPr indent="266700"/>
            <a:r>
              <a:rPr lang="en-US" altLang="zh-CN" dirty="0">
                <a:solidFill>
                  <a:srgbClr val="800080"/>
                </a:solidFill>
              </a:rPr>
              <a:t>               </a:t>
            </a:r>
            <a:r>
              <a:rPr lang="en-US" altLang="zh-CN" dirty="0" err="1">
                <a:solidFill>
                  <a:srgbClr val="800080"/>
                </a:solidFill>
              </a:rPr>
              <a:t>MatchToken</a:t>
            </a:r>
            <a:r>
              <a:rPr lang="en-US" altLang="zh-CN" dirty="0">
                <a:solidFill>
                  <a:srgbClr val="800080"/>
                </a:solidFill>
              </a:rPr>
              <a:t>(a);</a:t>
            </a:r>
          </a:p>
          <a:p>
            <a:pPr indent="266700"/>
            <a:r>
              <a:rPr lang="en-US" altLang="zh-CN" dirty="0">
                <a:solidFill>
                  <a:srgbClr val="800080"/>
                </a:solidFill>
              </a:rPr>
              <a:t>               </a:t>
            </a:r>
            <a:r>
              <a:rPr lang="en-US" altLang="zh-CN" dirty="0" err="1">
                <a:solidFill>
                  <a:srgbClr val="800080"/>
                </a:solidFill>
              </a:rPr>
              <a:t>ParseS</a:t>
            </a:r>
            <a:r>
              <a:rPr lang="en-US" altLang="zh-CN" dirty="0">
                <a:solidFill>
                  <a:srgbClr val="800080"/>
                </a:solidFill>
              </a:rPr>
              <a:t>( );</a:t>
            </a:r>
          </a:p>
          <a:p>
            <a:pPr indent="266700"/>
            <a:r>
              <a:rPr lang="en-US" altLang="zh-CN" dirty="0">
                <a:solidFill>
                  <a:srgbClr val="800080"/>
                </a:solidFill>
              </a:rPr>
              <a:t>               break;</a:t>
            </a:r>
          </a:p>
        </p:txBody>
      </p:sp>
      <p:sp>
        <p:nvSpPr>
          <p:cNvPr id="5" name="Rectangle 20"/>
          <p:cNvSpPr>
            <a:spLocks noChangeArrowheads="1"/>
          </p:cNvSpPr>
          <p:nvPr/>
        </p:nvSpPr>
        <p:spPr bwMode="auto">
          <a:xfrm>
            <a:off x="1187450" y="1773238"/>
            <a:ext cx="3384550" cy="1877437"/>
          </a:xfrm>
          <a:prstGeom prst="rect">
            <a:avLst/>
          </a:prstGeom>
          <a:noFill/>
          <a:ln w="9525">
            <a:noFill/>
            <a:miter lim="800000"/>
            <a:headEnd/>
            <a:tailEnd/>
          </a:ln>
        </p:spPr>
        <p:txBody>
          <a:bodyPr>
            <a:spAutoFit/>
          </a:bodyPr>
          <a:lstStyle/>
          <a:p>
            <a:pPr>
              <a:buClrTx/>
              <a:buFont typeface="Symbol" pitchFamily="18" charset="2"/>
              <a:buNone/>
            </a:pPr>
            <a:r>
              <a:rPr lang="en-US" altLang="zh-CN" dirty="0">
                <a:solidFill>
                  <a:srgbClr val="800080"/>
                </a:solidFill>
              </a:rPr>
              <a:t>G(S)</a:t>
            </a:r>
            <a:r>
              <a:rPr lang="en-US" altLang="zh-CN" dirty="0"/>
              <a:t>:   </a:t>
            </a:r>
            <a:r>
              <a:rPr lang="en-US" altLang="zh-CN" b="1" i="1" dirty="0"/>
              <a:t>S </a:t>
            </a:r>
            <a:r>
              <a:rPr lang="en-US" altLang="zh-CN" b="1" dirty="0">
                <a:sym typeface="Symbol" pitchFamily="18" charset="2"/>
              </a:rPr>
              <a:t></a:t>
            </a:r>
            <a:r>
              <a:rPr lang="en-US" altLang="zh-CN" b="1" i="1" dirty="0"/>
              <a:t> </a:t>
            </a:r>
            <a:r>
              <a:rPr lang="en-US" altLang="zh-CN" b="1" i="1" dirty="0" err="1"/>
              <a:t>AaS</a:t>
            </a:r>
            <a:r>
              <a:rPr lang="en-US" altLang="zh-CN" b="1" i="1" dirty="0"/>
              <a:t> </a:t>
            </a:r>
            <a:r>
              <a:rPr lang="en-US" altLang="zh-CN" b="1" dirty="0">
                <a:sym typeface="Symbol" pitchFamily="18" charset="2"/>
              </a:rPr>
              <a:t></a:t>
            </a:r>
            <a:r>
              <a:rPr lang="en-US" altLang="zh-CN" b="1" dirty="0"/>
              <a:t> </a:t>
            </a:r>
            <a:r>
              <a:rPr lang="en-US" altLang="zh-CN" b="1" i="1" dirty="0" err="1"/>
              <a:t>BbS</a:t>
            </a:r>
            <a:r>
              <a:rPr lang="en-US" altLang="zh-CN" b="1" dirty="0">
                <a:sym typeface="Symbol" pitchFamily="18" charset="2"/>
              </a:rPr>
              <a:t></a:t>
            </a:r>
            <a:r>
              <a:rPr lang="en-US" altLang="zh-CN" b="1" i="1" dirty="0"/>
              <a:t> d</a:t>
            </a:r>
          </a:p>
          <a:p>
            <a:r>
              <a:rPr lang="en-US" altLang="zh-CN" b="1" i="1" dirty="0"/>
              <a:t>            A </a:t>
            </a:r>
            <a:r>
              <a:rPr lang="en-US" altLang="zh-CN" b="1" dirty="0">
                <a:sym typeface="Symbol" pitchFamily="18" charset="2"/>
              </a:rPr>
              <a:t></a:t>
            </a:r>
            <a:r>
              <a:rPr lang="en-US" altLang="zh-CN" b="1" i="1" dirty="0"/>
              <a:t> a</a:t>
            </a:r>
          </a:p>
          <a:p>
            <a:r>
              <a:rPr lang="en-US" altLang="zh-CN" b="1" i="1" dirty="0"/>
              <a:t>            B </a:t>
            </a:r>
            <a:r>
              <a:rPr lang="en-US" altLang="zh-CN" b="1" dirty="0">
                <a:sym typeface="Symbol" pitchFamily="18" charset="2"/>
              </a:rPr>
              <a:t></a:t>
            </a:r>
            <a:r>
              <a:rPr lang="en-US" altLang="zh-CN" b="1" i="1" dirty="0"/>
              <a:t> </a:t>
            </a:r>
            <a:r>
              <a:rPr lang="en-US" altLang="zh-CN" b="1" i="1" dirty="0">
                <a:sym typeface="Symbol" pitchFamily="18" charset="2"/>
              </a:rPr>
              <a:t></a:t>
            </a:r>
            <a:r>
              <a:rPr lang="en-US" altLang="zh-CN" b="1" i="1" dirty="0"/>
              <a:t> </a:t>
            </a:r>
            <a:r>
              <a:rPr lang="en-US" altLang="zh-CN" b="1" dirty="0">
                <a:sym typeface="Symbol" pitchFamily="18" charset="2"/>
              </a:rPr>
              <a:t></a:t>
            </a:r>
            <a:r>
              <a:rPr lang="en-US" altLang="zh-CN" b="1" i="1" dirty="0"/>
              <a:t> c</a:t>
            </a:r>
          </a:p>
          <a:p>
            <a:endParaRPr lang="en-US" altLang="zh-CN" sz="800" b="1" i="1" dirty="0"/>
          </a:p>
          <a:p>
            <a:r>
              <a:rPr lang="pt-BR" altLang="zh-CN" i="1" dirty="0"/>
              <a:t>SELECT</a:t>
            </a:r>
            <a:r>
              <a:rPr lang="pt-BR" altLang="zh-CN" dirty="0"/>
              <a:t>(</a:t>
            </a:r>
            <a:r>
              <a:rPr lang="en-US" altLang="zh-CN" i="1" dirty="0" err="1"/>
              <a:t>S</a:t>
            </a:r>
            <a:r>
              <a:rPr lang="en-US" altLang="zh-CN" dirty="0" err="1">
                <a:sym typeface="Symbol" pitchFamily="18" charset="2"/>
              </a:rPr>
              <a:t></a:t>
            </a:r>
            <a:r>
              <a:rPr lang="en-US" altLang="zh-CN" i="1" dirty="0" err="1"/>
              <a:t>AaS</a:t>
            </a:r>
            <a:r>
              <a:rPr lang="pt-BR" altLang="zh-CN" dirty="0"/>
              <a:t>) = {</a:t>
            </a:r>
            <a:r>
              <a:rPr lang="pt-BR" altLang="zh-CN" i="1" dirty="0"/>
              <a:t>a</a:t>
            </a:r>
            <a:r>
              <a:rPr lang="pt-BR" altLang="zh-CN" dirty="0"/>
              <a:t>}</a:t>
            </a:r>
          </a:p>
          <a:p>
            <a:r>
              <a:rPr lang="pt-BR" altLang="zh-CN" i="1" dirty="0"/>
              <a:t>SELECT</a:t>
            </a:r>
            <a:r>
              <a:rPr lang="pt-BR" altLang="zh-CN" dirty="0"/>
              <a:t>(</a:t>
            </a:r>
            <a:r>
              <a:rPr lang="en-US" altLang="zh-CN" i="1" dirty="0" err="1"/>
              <a:t>S</a:t>
            </a:r>
            <a:r>
              <a:rPr lang="en-US" altLang="zh-CN" dirty="0" err="1">
                <a:sym typeface="Symbol" pitchFamily="18" charset="2"/>
              </a:rPr>
              <a:t></a:t>
            </a:r>
            <a:r>
              <a:rPr lang="en-US" altLang="zh-CN" i="1" dirty="0" err="1"/>
              <a:t>BbS</a:t>
            </a:r>
            <a:r>
              <a:rPr lang="pt-BR" altLang="zh-CN" dirty="0"/>
              <a:t>) = {</a:t>
            </a:r>
            <a:r>
              <a:rPr lang="pt-BR" altLang="zh-CN" i="1" dirty="0"/>
              <a:t>c,b</a:t>
            </a:r>
            <a:r>
              <a:rPr lang="pt-BR" altLang="zh-CN" dirty="0"/>
              <a:t>} </a:t>
            </a:r>
            <a:endParaRPr lang="en-US" altLang="zh-CN" dirty="0"/>
          </a:p>
          <a:p>
            <a:r>
              <a:rPr lang="pt-BR" altLang="zh-CN" i="1" dirty="0"/>
              <a:t>SELECT</a:t>
            </a:r>
            <a:r>
              <a:rPr lang="pt-BR" altLang="zh-CN" dirty="0"/>
              <a:t>(</a:t>
            </a:r>
            <a:r>
              <a:rPr lang="en-US" altLang="zh-CN" i="1" dirty="0" err="1"/>
              <a:t>S</a:t>
            </a:r>
            <a:r>
              <a:rPr lang="en-US" altLang="zh-CN" dirty="0" err="1">
                <a:sym typeface="Symbol" pitchFamily="18" charset="2"/>
              </a:rPr>
              <a:t></a:t>
            </a:r>
            <a:r>
              <a:rPr lang="en-US" altLang="zh-CN" i="1" dirty="0" err="1"/>
              <a:t>d</a:t>
            </a:r>
            <a:r>
              <a:rPr lang="pt-BR" altLang="zh-CN" dirty="0"/>
              <a:t>) = {</a:t>
            </a:r>
            <a:r>
              <a:rPr lang="pt-BR" altLang="zh-CN" i="1" dirty="0"/>
              <a:t>d</a:t>
            </a:r>
            <a:r>
              <a:rPr lang="pt-BR" altLang="zh-CN" dirty="0"/>
              <a:t>}</a:t>
            </a:r>
            <a:endParaRPr lang="en-US" altLang="zh-CN" dirty="0"/>
          </a:p>
        </p:txBody>
      </p:sp>
      <p:sp>
        <p:nvSpPr>
          <p:cNvPr id="6" name="Rectangle 21"/>
          <p:cNvSpPr>
            <a:spLocks noChangeArrowheads="1"/>
          </p:cNvSpPr>
          <p:nvPr/>
        </p:nvSpPr>
        <p:spPr bwMode="auto">
          <a:xfrm>
            <a:off x="4932363" y="2151063"/>
            <a:ext cx="3960812" cy="4054475"/>
          </a:xfrm>
          <a:prstGeom prst="rect">
            <a:avLst/>
          </a:prstGeom>
          <a:noFill/>
          <a:ln w="9525" algn="ctr">
            <a:noFill/>
            <a:miter lim="800000"/>
            <a:headEnd/>
            <a:tailEnd/>
          </a:ln>
        </p:spPr>
        <p:txBody>
          <a:bodyPr anchor="ctr">
            <a:spAutoFit/>
          </a:bodyPr>
          <a:lstStyle/>
          <a:p>
            <a:pPr indent="266700"/>
            <a:r>
              <a:rPr lang="en-US" altLang="zh-CN" dirty="0">
                <a:solidFill>
                  <a:srgbClr val="800080"/>
                </a:solidFill>
              </a:rPr>
              <a:t>           case </a:t>
            </a:r>
            <a:r>
              <a:rPr lang="en-US" altLang="zh-CN" dirty="0" err="1">
                <a:solidFill>
                  <a:srgbClr val="800080"/>
                </a:solidFill>
              </a:rPr>
              <a:t>b,c</a:t>
            </a:r>
            <a:r>
              <a:rPr lang="en-US" altLang="zh-CN" dirty="0">
                <a:solidFill>
                  <a:srgbClr val="800080"/>
                </a:solidFill>
              </a:rPr>
              <a:t>:</a:t>
            </a:r>
          </a:p>
          <a:p>
            <a:pPr indent="266700"/>
            <a:r>
              <a:rPr lang="en-US" altLang="zh-CN" dirty="0">
                <a:solidFill>
                  <a:srgbClr val="800080"/>
                </a:solidFill>
              </a:rPr>
              <a:t>               </a:t>
            </a:r>
            <a:r>
              <a:rPr lang="en-US" altLang="zh-CN" dirty="0" err="1">
                <a:solidFill>
                  <a:srgbClr val="800080"/>
                </a:solidFill>
              </a:rPr>
              <a:t>ParseB</a:t>
            </a:r>
            <a:r>
              <a:rPr lang="en-US" altLang="zh-CN" dirty="0">
                <a:solidFill>
                  <a:srgbClr val="800080"/>
                </a:solidFill>
              </a:rPr>
              <a:t>( );</a:t>
            </a:r>
          </a:p>
          <a:p>
            <a:pPr indent="266700"/>
            <a:r>
              <a:rPr lang="en-US" altLang="zh-CN" dirty="0">
                <a:solidFill>
                  <a:srgbClr val="800080"/>
                </a:solidFill>
              </a:rPr>
              <a:t>               </a:t>
            </a:r>
            <a:r>
              <a:rPr lang="en-US" altLang="zh-CN" dirty="0" err="1">
                <a:solidFill>
                  <a:srgbClr val="800080"/>
                </a:solidFill>
              </a:rPr>
              <a:t>MatchToken</a:t>
            </a:r>
            <a:r>
              <a:rPr lang="en-US" altLang="zh-CN" dirty="0">
                <a:solidFill>
                  <a:srgbClr val="800080"/>
                </a:solidFill>
              </a:rPr>
              <a:t>(b);</a:t>
            </a:r>
          </a:p>
          <a:p>
            <a:pPr indent="266700"/>
            <a:r>
              <a:rPr lang="en-US" altLang="zh-CN" dirty="0">
                <a:solidFill>
                  <a:srgbClr val="800080"/>
                </a:solidFill>
              </a:rPr>
              <a:t>               </a:t>
            </a:r>
            <a:r>
              <a:rPr lang="en-US" altLang="zh-CN" dirty="0" err="1">
                <a:solidFill>
                  <a:srgbClr val="800080"/>
                </a:solidFill>
              </a:rPr>
              <a:t>ParseS</a:t>
            </a:r>
            <a:r>
              <a:rPr lang="en-US" altLang="zh-CN" dirty="0">
                <a:solidFill>
                  <a:srgbClr val="800080"/>
                </a:solidFill>
              </a:rPr>
              <a:t>( );</a:t>
            </a:r>
          </a:p>
          <a:p>
            <a:pPr indent="266700"/>
            <a:r>
              <a:rPr lang="en-US" altLang="zh-CN" dirty="0">
                <a:solidFill>
                  <a:srgbClr val="800080"/>
                </a:solidFill>
              </a:rPr>
              <a:t>               break;</a:t>
            </a:r>
          </a:p>
          <a:p>
            <a:pPr indent="266700"/>
            <a:r>
              <a:rPr lang="en-US" altLang="zh-CN" dirty="0">
                <a:solidFill>
                  <a:srgbClr val="800080"/>
                </a:solidFill>
              </a:rPr>
              <a:t>           case d:</a:t>
            </a:r>
          </a:p>
          <a:p>
            <a:pPr indent="266700"/>
            <a:r>
              <a:rPr lang="en-US" altLang="zh-CN" dirty="0">
                <a:solidFill>
                  <a:srgbClr val="800080"/>
                </a:solidFill>
              </a:rPr>
              <a:t>               </a:t>
            </a:r>
            <a:r>
              <a:rPr lang="en-US" altLang="zh-CN" dirty="0" err="1">
                <a:solidFill>
                  <a:srgbClr val="800080"/>
                </a:solidFill>
              </a:rPr>
              <a:t>MatchToken</a:t>
            </a:r>
            <a:r>
              <a:rPr lang="en-US" altLang="zh-CN" dirty="0">
                <a:solidFill>
                  <a:srgbClr val="800080"/>
                </a:solidFill>
              </a:rPr>
              <a:t>(d);</a:t>
            </a:r>
          </a:p>
          <a:p>
            <a:pPr indent="266700"/>
            <a:r>
              <a:rPr lang="en-US" altLang="zh-CN" dirty="0">
                <a:solidFill>
                  <a:srgbClr val="800080"/>
                </a:solidFill>
              </a:rPr>
              <a:t>               break;</a:t>
            </a:r>
          </a:p>
          <a:p>
            <a:pPr indent="266700"/>
            <a:r>
              <a:rPr lang="en-US" altLang="zh-CN" dirty="0">
                <a:solidFill>
                  <a:srgbClr val="800080"/>
                </a:solidFill>
              </a:rPr>
              <a:t>           default:</a:t>
            </a:r>
          </a:p>
          <a:p>
            <a:pPr indent="266700"/>
            <a:r>
              <a:rPr lang="en-US" altLang="zh-CN" dirty="0">
                <a:solidFill>
                  <a:srgbClr val="800080"/>
                </a:solidFill>
              </a:rPr>
              <a:t>               </a:t>
            </a:r>
            <a:r>
              <a:rPr lang="en-US" altLang="zh-CN" dirty="0" err="1">
                <a:solidFill>
                  <a:srgbClr val="800080"/>
                </a:solidFill>
              </a:rPr>
              <a:t>printf</a:t>
            </a:r>
            <a:r>
              <a:rPr lang="en-US" altLang="zh-CN" dirty="0">
                <a:solidFill>
                  <a:srgbClr val="800080"/>
                </a:solidFill>
              </a:rPr>
              <a:t>("syntax error \n")  </a:t>
            </a:r>
          </a:p>
          <a:p>
            <a:pPr indent="266700"/>
            <a:r>
              <a:rPr lang="en-US" altLang="zh-CN" dirty="0">
                <a:solidFill>
                  <a:srgbClr val="800080"/>
                </a:solidFill>
              </a:rPr>
              <a:t>               exit(0);</a:t>
            </a:r>
          </a:p>
          <a:p>
            <a:pPr indent="266700"/>
            <a:r>
              <a:rPr lang="en-US" altLang="zh-CN" dirty="0">
                <a:solidFill>
                  <a:srgbClr val="800080"/>
                </a:solidFill>
              </a:rPr>
              <a:t>      }</a:t>
            </a:r>
          </a:p>
          <a:p>
            <a:pPr indent="266700"/>
            <a:r>
              <a:rPr lang="en-US" altLang="zh-CN" dirty="0">
                <a:solidFill>
                  <a:srgbClr val="800080"/>
                </a:solidFill>
              </a:rPr>
              <a:t>}</a:t>
            </a:r>
          </a:p>
        </p:txBody>
      </p:sp>
      <p:sp>
        <p:nvSpPr>
          <p:cNvPr id="7" name="Line 22"/>
          <p:cNvSpPr>
            <a:spLocks noChangeShapeType="1"/>
          </p:cNvSpPr>
          <p:nvPr/>
        </p:nvSpPr>
        <p:spPr bwMode="auto">
          <a:xfrm>
            <a:off x="4859338" y="1916113"/>
            <a:ext cx="0" cy="4608512"/>
          </a:xfrm>
          <a:prstGeom prst="line">
            <a:avLst/>
          </a:prstGeom>
          <a:noFill/>
          <a:ln w="9525">
            <a:solidFill>
              <a:srgbClr val="333399"/>
            </a:solidFill>
            <a:round/>
            <a:headEnd/>
            <a:tailEnd/>
          </a:ln>
        </p:spPr>
        <p:txBody>
          <a:bodyPr>
            <a:spAutoFit/>
          </a:bodyPr>
          <a:lstStyle/>
          <a:p>
            <a:endParaRPr lang="zh-CN" altLang="en-US"/>
          </a:p>
        </p:txBody>
      </p:sp>
      <p:sp>
        <p:nvSpPr>
          <p:cNvPr id="8" name="Rectangle 13"/>
          <p:cNvSpPr>
            <a:spLocks noChangeArrowheads="1"/>
          </p:cNvSpPr>
          <p:nvPr/>
        </p:nvSpPr>
        <p:spPr bwMode="auto">
          <a:xfrm>
            <a:off x="755650" y="1125538"/>
            <a:ext cx="8137525" cy="519112"/>
          </a:xfrm>
          <a:prstGeom prst="rect">
            <a:avLst/>
          </a:prstGeom>
          <a:noFill/>
          <a:ln w="9525">
            <a:noFill/>
            <a:miter lim="800000"/>
            <a:headEnd/>
            <a:tailEnd/>
          </a:ln>
        </p:spPr>
        <p:txBody>
          <a:bodyPr>
            <a:spAutoFit/>
          </a:bodyPr>
          <a:lstStyle/>
          <a:p>
            <a:pPr>
              <a:buClrTx/>
              <a:buFont typeface="Symbol" pitchFamily="18" charset="2"/>
              <a:buChar char="-"/>
            </a:pPr>
            <a:r>
              <a:rPr lang="en-US" altLang="zh-CN" sz="2800" b="1" dirty="0">
                <a:solidFill>
                  <a:srgbClr val="800080"/>
                </a:solidFill>
              </a:rPr>
              <a:t>  </a:t>
            </a:r>
            <a:r>
              <a:rPr lang="zh-CN" altLang="en-US" sz="2800" b="1" dirty="0">
                <a:solidFill>
                  <a:srgbClr val="800080"/>
                </a:solidFill>
              </a:rPr>
              <a:t>接上</a:t>
            </a:r>
            <a:r>
              <a:rPr lang="zh-CN" altLang="en-US" sz="2800" b="1" dirty="0">
                <a:solidFill>
                  <a:srgbClr val="800080"/>
                </a:solidFill>
                <a:latin typeface="楷体_GB2312" pitchFamily="49" charset="-122"/>
              </a:rPr>
              <a:t>例 </a:t>
            </a:r>
            <a:r>
              <a:rPr lang="zh-CN" altLang="en-US" sz="2800" b="1" dirty="0">
                <a:latin typeface="楷体_GB2312" pitchFamily="49" charset="-122"/>
              </a:rPr>
              <a:t>针对文法</a:t>
            </a:r>
            <a:r>
              <a:rPr lang="en-US" altLang="zh-CN" sz="2800" dirty="0">
                <a:solidFill>
                  <a:srgbClr val="800080"/>
                </a:solidFill>
              </a:rPr>
              <a:t>G(S)</a:t>
            </a:r>
            <a:r>
              <a:rPr lang="zh-CN" altLang="en-US" sz="2800" b="1" dirty="0"/>
              <a:t>构造的递归下降分析程序</a:t>
            </a:r>
            <a:endParaRPr lang="zh-CN" altLang="en-US" sz="2400" b="1" i="1" dirty="0"/>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57</a:t>
            </a:fld>
            <a:endParaRPr lang="zh-CN" altLang="en-US">
              <a:solidFill>
                <a:srgbClr val="3F3F3F"/>
              </a:solidFill>
            </a:endParaRPr>
          </a:p>
        </p:txBody>
      </p:sp>
    </p:spTree>
    <p:extLst>
      <p:ext uri="{BB962C8B-B14F-4D97-AF65-F5344CB8AC3E}">
        <p14:creationId xmlns:p14="http://schemas.microsoft.com/office/powerpoint/2010/main" val="347628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Bottom)">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a:t>
            </a:r>
            <a:r>
              <a:rPr lang="zh-CN" altLang="en-US" dirty="0"/>
              <a:t>递归下降分析法</a:t>
            </a:r>
          </a:p>
        </p:txBody>
      </p:sp>
      <p:sp>
        <p:nvSpPr>
          <p:cNvPr id="4" name="Rectangle 4"/>
          <p:cNvSpPr>
            <a:spLocks noChangeArrowheads="1"/>
          </p:cNvSpPr>
          <p:nvPr/>
        </p:nvSpPr>
        <p:spPr bwMode="auto">
          <a:xfrm>
            <a:off x="682625" y="1052513"/>
            <a:ext cx="8137525" cy="519112"/>
          </a:xfrm>
          <a:prstGeom prst="rect">
            <a:avLst/>
          </a:prstGeom>
          <a:noFill/>
          <a:ln w="9525">
            <a:noFill/>
            <a:miter lim="800000"/>
            <a:headEnd/>
            <a:tailEnd/>
          </a:ln>
        </p:spPr>
        <p:txBody>
          <a:bodyPr>
            <a:spAutoFit/>
          </a:bodyPr>
          <a:lstStyle/>
          <a:p>
            <a:pPr>
              <a:buClrTx/>
              <a:buFont typeface="Symbol" pitchFamily="18" charset="2"/>
              <a:buChar char="-"/>
            </a:pPr>
            <a:r>
              <a:rPr lang="en-US" altLang="zh-CN" sz="2800" b="1" dirty="0">
                <a:solidFill>
                  <a:srgbClr val="800080"/>
                </a:solidFill>
              </a:rPr>
              <a:t>  </a:t>
            </a:r>
            <a:r>
              <a:rPr lang="zh-CN" altLang="en-US" sz="2800" b="1" dirty="0">
                <a:solidFill>
                  <a:srgbClr val="800080"/>
                </a:solidFill>
              </a:rPr>
              <a:t>接上</a:t>
            </a:r>
            <a:r>
              <a:rPr lang="zh-CN" altLang="en-US" sz="2800" b="1" dirty="0">
                <a:solidFill>
                  <a:srgbClr val="800080"/>
                </a:solidFill>
                <a:latin typeface="楷体_GB2312" pitchFamily="49" charset="-122"/>
              </a:rPr>
              <a:t>例 </a:t>
            </a:r>
            <a:r>
              <a:rPr lang="zh-CN" altLang="en-US" sz="2800" b="1" dirty="0">
                <a:latin typeface="楷体_GB2312" pitchFamily="49" charset="-122"/>
              </a:rPr>
              <a:t>针对文法</a:t>
            </a:r>
            <a:r>
              <a:rPr lang="en-US" altLang="zh-CN" sz="2800" dirty="0">
                <a:solidFill>
                  <a:srgbClr val="800080"/>
                </a:solidFill>
              </a:rPr>
              <a:t>G(S)</a:t>
            </a:r>
            <a:r>
              <a:rPr lang="en-US" altLang="zh-CN" sz="2800" b="1" dirty="0"/>
              <a:t> </a:t>
            </a:r>
            <a:r>
              <a:rPr lang="zh-CN" altLang="en-US" sz="2800" b="1" dirty="0"/>
              <a:t>构造的递归下降分析程序</a:t>
            </a:r>
            <a:endParaRPr lang="zh-CN" altLang="en-US" sz="2400" b="1" i="1" dirty="0"/>
          </a:p>
        </p:txBody>
      </p:sp>
      <p:sp>
        <p:nvSpPr>
          <p:cNvPr id="5" name="Rectangle 10"/>
          <p:cNvSpPr>
            <a:spLocks noChangeArrowheads="1"/>
          </p:cNvSpPr>
          <p:nvPr/>
        </p:nvSpPr>
        <p:spPr bwMode="auto">
          <a:xfrm>
            <a:off x="5364163" y="3284538"/>
            <a:ext cx="3600450" cy="3200400"/>
          </a:xfrm>
          <a:prstGeom prst="rect">
            <a:avLst/>
          </a:prstGeom>
          <a:noFill/>
          <a:ln w="9525" algn="ctr">
            <a:noFill/>
            <a:miter lim="800000"/>
            <a:headEnd/>
            <a:tailEnd/>
          </a:ln>
        </p:spPr>
        <p:txBody>
          <a:bodyPr anchor="ctr">
            <a:spAutoFit/>
          </a:bodyPr>
          <a:lstStyle/>
          <a:p>
            <a:pPr indent="266700"/>
            <a:r>
              <a:rPr lang="en-US" altLang="zh-CN" dirty="0">
                <a:solidFill>
                  <a:srgbClr val="800080"/>
                </a:solidFill>
              </a:rPr>
              <a:t>void </a:t>
            </a:r>
            <a:r>
              <a:rPr lang="en-US" altLang="zh-CN" dirty="0" err="1">
                <a:solidFill>
                  <a:srgbClr val="800080"/>
                </a:solidFill>
              </a:rPr>
              <a:t>ParseA</a:t>
            </a:r>
            <a:r>
              <a:rPr lang="en-US" altLang="zh-CN" dirty="0">
                <a:solidFill>
                  <a:srgbClr val="800080"/>
                </a:solidFill>
              </a:rPr>
              <a:t>( )</a:t>
            </a:r>
          </a:p>
          <a:p>
            <a:pPr indent="266700"/>
            <a:r>
              <a:rPr lang="en-US" altLang="zh-CN" dirty="0">
                <a:solidFill>
                  <a:srgbClr val="800080"/>
                </a:solidFill>
              </a:rPr>
              <a:t>{  </a:t>
            </a:r>
          </a:p>
          <a:p>
            <a:pPr indent="266700"/>
            <a:r>
              <a:rPr lang="en-US" altLang="zh-CN" dirty="0">
                <a:solidFill>
                  <a:srgbClr val="800080"/>
                </a:solidFill>
              </a:rPr>
              <a:t>     if (</a:t>
            </a:r>
            <a:r>
              <a:rPr lang="en-US" altLang="zh-CN" dirty="0" err="1">
                <a:solidFill>
                  <a:srgbClr val="800080"/>
                </a:solidFill>
              </a:rPr>
              <a:t>lookahead</a:t>
            </a:r>
            <a:r>
              <a:rPr lang="en-US" altLang="zh-CN" dirty="0">
                <a:solidFill>
                  <a:srgbClr val="800080"/>
                </a:solidFill>
              </a:rPr>
              <a:t>==a)</a:t>
            </a:r>
            <a:r>
              <a:rPr lang="en-US" altLang="zh-CN" sz="2400" dirty="0">
                <a:solidFill>
                  <a:srgbClr val="800080"/>
                </a:solidFill>
              </a:rPr>
              <a:t>  </a:t>
            </a:r>
            <a:r>
              <a:rPr lang="en-US" altLang="zh-CN" dirty="0">
                <a:solidFill>
                  <a:srgbClr val="800080"/>
                </a:solidFill>
              </a:rPr>
              <a:t>{</a:t>
            </a:r>
          </a:p>
          <a:p>
            <a:pPr indent="266700"/>
            <a:r>
              <a:rPr lang="en-US" altLang="zh-CN" dirty="0">
                <a:solidFill>
                  <a:srgbClr val="800080"/>
                </a:solidFill>
              </a:rPr>
              <a:t>          </a:t>
            </a:r>
            <a:r>
              <a:rPr lang="en-US" altLang="zh-CN" dirty="0" err="1">
                <a:solidFill>
                  <a:srgbClr val="800080"/>
                </a:solidFill>
              </a:rPr>
              <a:t>MatchToken</a:t>
            </a:r>
            <a:r>
              <a:rPr lang="en-US" altLang="zh-CN" dirty="0">
                <a:solidFill>
                  <a:srgbClr val="800080"/>
                </a:solidFill>
              </a:rPr>
              <a:t>(a);</a:t>
            </a:r>
          </a:p>
          <a:p>
            <a:pPr indent="266700"/>
            <a:r>
              <a:rPr lang="en-US" altLang="zh-CN" dirty="0">
                <a:solidFill>
                  <a:srgbClr val="800080"/>
                </a:solidFill>
              </a:rPr>
              <a:t>     }</a:t>
            </a:r>
          </a:p>
          <a:p>
            <a:pPr indent="266700"/>
            <a:r>
              <a:rPr lang="en-US" altLang="zh-CN" dirty="0">
                <a:solidFill>
                  <a:srgbClr val="800080"/>
                </a:solidFill>
              </a:rPr>
              <a:t>     else {</a:t>
            </a:r>
          </a:p>
          <a:p>
            <a:pPr indent="266700"/>
            <a:r>
              <a:rPr lang="en-US" altLang="zh-CN" dirty="0">
                <a:solidFill>
                  <a:srgbClr val="800080"/>
                </a:solidFill>
              </a:rPr>
              <a:t>        </a:t>
            </a:r>
            <a:r>
              <a:rPr lang="en-US" altLang="zh-CN" dirty="0" err="1">
                <a:solidFill>
                  <a:srgbClr val="800080"/>
                </a:solidFill>
              </a:rPr>
              <a:t>printf</a:t>
            </a:r>
            <a:r>
              <a:rPr lang="en-US" altLang="zh-CN" dirty="0">
                <a:solidFill>
                  <a:srgbClr val="800080"/>
                </a:solidFill>
              </a:rPr>
              <a:t>("syntax error \n”);</a:t>
            </a:r>
          </a:p>
          <a:p>
            <a:pPr indent="266700"/>
            <a:r>
              <a:rPr lang="en-US" altLang="zh-CN" dirty="0">
                <a:solidFill>
                  <a:srgbClr val="800080"/>
                </a:solidFill>
              </a:rPr>
              <a:t>        exit(0);</a:t>
            </a:r>
          </a:p>
          <a:p>
            <a:pPr indent="266700"/>
            <a:r>
              <a:rPr lang="en-US" altLang="zh-CN" dirty="0">
                <a:solidFill>
                  <a:srgbClr val="800080"/>
                </a:solidFill>
              </a:rPr>
              <a:t>     }</a:t>
            </a:r>
          </a:p>
          <a:p>
            <a:pPr indent="266700"/>
            <a:r>
              <a:rPr lang="en-US" altLang="zh-CN" dirty="0">
                <a:solidFill>
                  <a:srgbClr val="800080"/>
                </a:solidFill>
              </a:rPr>
              <a:t>}</a:t>
            </a:r>
          </a:p>
        </p:txBody>
      </p:sp>
      <p:sp>
        <p:nvSpPr>
          <p:cNvPr id="6" name="Rectangle 11"/>
          <p:cNvSpPr>
            <a:spLocks noChangeArrowheads="1"/>
          </p:cNvSpPr>
          <p:nvPr/>
        </p:nvSpPr>
        <p:spPr bwMode="auto">
          <a:xfrm>
            <a:off x="5795963" y="1846263"/>
            <a:ext cx="2305050" cy="923330"/>
          </a:xfrm>
          <a:prstGeom prst="rect">
            <a:avLst/>
          </a:prstGeom>
          <a:noFill/>
          <a:ln w="9525">
            <a:noFill/>
            <a:miter lim="800000"/>
            <a:headEnd/>
            <a:tailEnd/>
          </a:ln>
        </p:spPr>
        <p:txBody>
          <a:bodyPr>
            <a:spAutoFit/>
          </a:bodyPr>
          <a:lstStyle/>
          <a:p>
            <a:r>
              <a:rPr lang="pt-BR" altLang="zh-CN" i="1" dirty="0"/>
              <a:t>SELECT</a:t>
            </a:r>
            <a:r>
              <a:rPr lang="pt-BR" altLang="zh-CN" dirty="0"/>
              <a:t>(</a:t>
            </a:r>
            <a:r>
              <a:rPr lang="en-US" altLang="zh-CN" i="1" dirty="0" err="1"/>
              <a:t>A</a:t>
            </a:r>
            <a:r>
              <a:rPr lang="en-US" altLang="zh-CN" dirty="0" err="1">
                <a:sym typeface="Symbol" pitchFamily="18" charset="2"/>
              </a:rPr>
              <a:t></a:t>
            </a:r>
            <a:r>
              <a:rPr lang="en-US" altLang="zh-CN" i="1" dirty="0" err="1">
                <a:sym typeface="Symbol" pitchFamily="18" charset="2"/>
              </a:rPr>
              <a:t>a</a:t>
            </a:r>
            <a:r>
              <a:rPr lang="pt-BR" altLang="zh-CN" dirty="0"/>
              <a:t>) = {</a:t>
            </a:r>
            <a:r>
              <a:rPr lang="pt-BR" altLang="zh-CN" i="1" dirty="0"/>
              <a:t>a</a:t>
            </a:r>
            <a:r>
              <a:rPr lang="pt-BR" altLang="zh-CN" dirty="0"/>
              <a:t>}</a:t>
            </a:r>
            <a:endParaRPr lang="en-US" altLang="zh-CN" dirty="0"/>
          </a:p>
          <a:p>
            <a:r>
              <a:rPr lang="pt-BR" altLang="zh-CN" i="1" dirty="0"/>
              <a:t>SELECT</a:t>
            </a:r>
            <a:r>
              <a:rPr lang="pt-BR" altLang="zh-CN" dirty="0"/>
              <a:t>(</a:t>
            </a:r>
            <a:r>
              <a:rPr lang="en-US" altLang="zh-CN" i="1" dirty="0"/>
              <a:t>B</a:t>
            </a:r>
            <a:r>
              <a:rPr lang="en-US" altLang="zh-CN" dirty="0">
                <a:sym typeface="Symbol" pitchFamily="18" charset="2"/>
              </a:rPr>
              <a:t></a:t>
            </a:r>
            <a:r>
              <a:rPr lang="en-US" altLang="zh-CN" i="1" dirty="0">
                <a:sym typeface="Symbol" pitchFamily="18" charset="2"/>
              </a:rPr>
              <a:t></a:t>
            </a:r>
            <a:r>
              <a:rPr lang="pt-BR" altLang="zh-CN" dirty="0"/>
              <a:t>) = {</a:t>
            </a:r>
            <a:r>
              <a:rPr lang="pt-BR" altLang="zh-CN" i="1" dirty="0"/>
              <a:t>b</a:t>
            </a:r>
            <a:r>
              <a:rPr lang="pt-BR" altLang="zh-CN" dirty="0"/>
              <a:t>}</a:t>
            </a:r>
            <a:endParaRPr lang="zh-CN" altLang="pt-BR" b="1" dirty="0"/>
          </a:p>
          <a:p>
            <a:r>
              <a:rPr lang="pt-BR" altLang="zh-CN" i="1" dirty="0"/>
              <a:t>SELECT</a:t>
            </a:r>
            <a:r>
              <a:rPr lang="pt-BR" altLang="zh-CN" dirty="0"/>
              <a:t>(</a:t>
            </a:r>
            <a:r>
              <a:rPr lang="en-US" altLang="zh-CN" i="1" dirty="0" err="1"/>
              <a:t>B</a:t>
            </a:r>
            <a:r>
              <a:rPr lang="en-US" altLang="zh-CN" dirty="0" err="1">
                <a:sym typeface="Symbol" pitchFamily="18" charset="2"/>
              </a:rPr>
              <a:t></a:t>
            </a:r>
            <a:r>
              <a:rPr lang="en-US" altLang="zh-CN" i="1" dirty="0" err="1">
                <a:sym typeface="Symbol" pitchFamily="18" charset="2"/>
              </a:rPr>
              <a:t>c</a:t>
            </a:r>
            <a:r>
              <a:rPr lang="pt-BR" altLang="zh-CN" dirty="0"/>
              <a:t>) = {</a:t>
            </a:r>
            <a:r>
              <a:rPr lang="pt-BR" altLang="zh-CN" i="1" dirty="0"/>
              <a:t>c</a:t>
            </a:r>
            <a:r>
              <a:rPr lang="pt-BR" altLang="zh-CN" dirty="0"/>
              <a:t>}</a:t>
            </a:r>
            <a:endParaRPr lang="en-US" altLang="zh-CN" dirty="0"/>
          </a:p>
        </p:txBody>
      </p:sp>
      <p:sp>
        <p:nvSpPr>
          <p:cNvPr id="7" name="Rectangle 12"/>
          <p:cNvSpPr>
            <a:spLocks noChangeArrowheads="1"/>
          </p:cNvSpPr>
          <p:nvPr/>
        </p:nvSpPr>
        <p:spPr bwMode="auto">
          <a:xfrm>
            <a:off x="1042988" y="2811463"/>
            <a:ext cx="3743325" cy="3930650"/>
          </a:xfrm>
          <a:prstGeom prst="rect">
            <a:avLst/>
          </a:prstGeom>
          <a:noFill/>
          <a:ln w="9525" algn="ctr">
            <a:noFill/>
            <a:miter lim="800000"/>
            <a:headEnd/>
            <a:tailEnd/>
          </a:ln>
        </p:spPr>
        <p:txBody>
          <a:bodyPr anchor="ctr">
            <a:spAutoFit/>
          </a:bodyPr>
          <a:lstStyle/>
          <a:p>
            <a:pPr indent="266700"/>
            <a:r>
              <a:rPr lang="en-US" altLang="zh-CN" dirty="0">
                <a:solidFill>
                  <a:srgbClr val="800080"/>
                </a:solidFill>
              </a:rPr>
              <a:t>void </a:t>
            </a:r>
            <a:r>
              <a:rPr lang="en-US" altLang="zh-CN" dirty="0" err="1">
                <a:solidFill>
                  <a:srgbClr val="800080"/>
                </a:solidFill>
              </a:rPr>
              <a:t>ParseB</a:t>
            </a:r>
            <a:r>
              <a:rPr lang="en-US" altLang="zh-CN" dirty="0">
                <a:solidFill>
                  <a:srgbClr val="800080"/>
                </a:solidFill>
              </a:rPr>
              <a:t>( )</a:t>
            </a:r>
          </a:p>
          <a:p>
            <a:pPr indent="266700"/>
            <a:r>
              <a:rPr lang="en-US" altLang="zh-CN" dirty="0">
                <a:solidFill>
                  <a:srgbClr val="800080"/>
                </a:solidFill>
              </a:rPr>
              <a:t>{  </a:t>
            </a:r>
          </a:p>
          <a:p>
            <a:pPr indent="266700"/>
            <a:r>
              <a:rPr lang="en-US" altLang="zh-CN" dirty="0">
                <a:solidFill>
                  <a:srgbClr val="800080"/>
                </a:solidFill>
              </a:rPr>
              <a:t>     if (</a:t>
            </a:r>
            <a:r>
              <a:rPr lang="en-US" altLang="zh-CN" dirty="0" err="1">
                <a:solidFill>
                  <a:srgbClr val="800080"/>
                </a:solidFill>
              </a:rPr>
              <a:t>lookahead</a:t>
            </a:r>
            <a:r>
              <a:rPr lang="en-US" altLang="zh-CN" dirty="0">
                <a:solidFill>
                  <a:srgbClr val="800080"/>
                </a:solidFill>
              </a:rPr>
              <a:t>==c)</a:t>
            </a:r>
            <a:r>
              <a:rPr lang="en-US" altLang="zh-CN" sz="2400" dirty="0">
                <a:solidFill>
                  <a:srgbClr val="800080"/>
                </a:solidFill>
              </a:rPr>
              <a:t>  </a:t>
            </a:r>
            <a:r>
              <a:rPr lang="en-US" altLang="zh-CN" dirty="0">
                <a:solidFill>
                  <a:srgbClr val="800080"/>
                </a:solidFill>
              </a:rPr>
              <a:t>{</a:t>
            </a:r>
          </a:p>
          <a:p>
            <a:pPr indent="266700"/>
            <a:r>
              <a:rPr lang="en-US" altLang="zh-CN" dirty="0">
                <a:solidFill>
                  <a:srgbClr val="800080"/>
                </a:solidFill>
              </a:rPr>
              <a:t>          </a:t>
            </a:r>
            <a:r>
              <a:rPr lang="en-US" altLang="zh-CN" dirty="0" err="1">
                <a:solidFill>
                  <a:srgbClr val="800080"/>
                </a:solidFill>
              </a:rPr>
              <a:t>MatchToken</a:t>
            </a:r>
            <a:r>
              <a:rPr lang="en-US" altLang="zh-CN" dirty="0">
                <a:solidFill>
                  <a:srgbClr val="800080"/>
                </a:solidFill>
              </a:rPr>
              <a:t>(c);</a:t>
            </a:r>
          </a:p>
          <a:p>
            <a:pPr indent="266700"/>
            <a:r>
              <a:rPr lang="en-US" altLang="zh-CN" dirty="0">
                <a:solidFill>
                  <a:srgbClr val="800080"/>
                </a:solidFill>
              </a:rPr>
              <a:t>     }</a:t>
            </a:r>
          </a:p>
          <a:p>
            <a:pPr indent="266700"/>
            <a:r>
              <a:rPr lang="en-US" altLang="zh-CN" dirty="0">
                <a:solidFill>
                  <a:srgbClr val="800080"/>
                </a:solidFill>
              </a:rPr>
              <a:t>    else if (</a:t>
            </a:r>
            <a:r>
              <a:rPr lang="en-US" altLang="zh-CN" dirty="0" err="1">
                <a:solidFill>
                  <a:srgbClr val="800080"/>
                </a:solidFill>
              </a:rPr>
              <a:t>lookahead</a:t>
            </a:r>
            <a:r>
              <a:rPr lang="en-US" altLang="zh-CN" dirty="0">
                <a:solidFill>
                  <a:srgbClr val="800080"/>
                </a:solidFill>
              </a:rPr>
              <a:t>==b) {</a:t>
            </a:r>
          </a:p>
          <a:p>
            <a:pPr indent="266700"/>
            <a:r>
              <a:rPr lang="en-US" altLang="zh-CN" dirty="0">
                <a:solidFill>
                  <a:srgbClr val="800080"/>
                </a:solidFill>
              </a:rPr>
              <a:t>    }</a:t>
            </a:r>
            <a:r>
              <a:rPr lang="en-US" altLang="zh-CN" sz="2400" dirty="0"/>
              <a:t> </a:t>
            </a:r>
          </a:p>
          <a:p>
            <a:pPr indent="266700"/>
            <a:r>
              <a:rPr lang="en-US" altLang="zh-CN" sz="2400" dirty="0"/>
              <a:t>   </a:t>
            </a:r>
            <a:r>
              <a:rPr lang="en-US" altLang="zh-CN" dirty="0">
                <a:solidFill>
                  <a:srgbClr val="800080"/>
                </a:solidFill>
              </a:rPr>
              <a:t>else {</a:t>
            </a:r>
          </a:p>
          <a:p>
            <a:pPr indent="266700"/>
            <a:r>
              <a:rPr lang="en-US" altLang="zh-CN" dirty="0">
                <a:solidFill>
                  <a:srgbClr val="800080"/>
                </a:solidFill>
              </a:rPr>
              <a:t>        </a:t>
            </a:r>
            <a:r>
              <a:rPr lang="en-US" altLang="zh-CN" dirty="0" err="1">
                <a:solidFill>
                  <a:srgbClr val="800080"/>
                </a:solidFill>
              </a:rPr>
              <a:t>printf</a:t>
            </a:r>
            <a:r>
              <a:rPr lang="en-US" altLang="zh-CN" dirty="0">
                <a:solidFill>
                  <a:srgbClr val="800080"/>
                </a:solidFill>
              </a:rPr>
              <a:t>("syntax error \n”);</a:t>
            </a:r>
          </a:p>
          <a:p>
            <a:pPr indent="266700"/>
            <a:r>
              <a:rPr lang="en-US" altLang="zh-CN" dirty="0">
                <a:solidFill>
                  <a:srgbClr val="800080"/>
                </a:solidFill>
              </a:rPr>
              <a:t>        exit(0);</a:t>
            </a:r>
          </a:p>
          <a:p>
            <a:pPr indent="266700"/>
            <a:r>
              <a:rPr lang="en-US" altLang="zh-CN" dirty="0">
                <a:solidFill>
                  <a:srgbClr val="800080"/>
                </a:solidFill>
              </a:rPr>
              <a:t>    }</a:t>
            </a:r>
          </a:p>
          <a:p>
            <a:pPr indent="266700"/>
            <a:r>
              <a:rPr lang="en-US" altLang="zh-CN" dirty="0">
                <a:solidFill>
                  <a:srgbClr val="800080"/>
                </a:solidFill>
              </a:rPr>
              <a:t>}</a:t>
            </a:r>
          </a:p>
        </p:txBody>
      </p:sp>
      <p:sp>
        <p:nvSpPr>
          <p:cNvPr id="8" name="Rectangle 13"/>
          <p:cNvSpPr>
            <a:spLocks noChangeArrowheads="1"/>
          </p:cNvSpPr>
          <p:nvPr/>
        </p:nvSpPr>
        <p:spPr bwMode="auto">
          <a:xfrm>
            <a:off x="1258888" y="1774825"/>
            <a:ext cx="3384550" cy="1006475"/>
          </a:xfrm>
          <a:prstGeom prst="rect">
            <a:avLst/>
          </a:prstGeom>
          <a:noFill/>
          <a:ln w="9525">
            <a:noFill/>
            <a:miter lim="800000"/>
            <a:headEnd/>
            <a:tailEnd/>
          </a:ln>
        </p:spPr>
        <p:txBody>
          <a:bodyPr>
            <a:spAutoFit/>
          </a:bodyPr>
          <a:lstStyle/>
          <a:p>
            <a:pPr>
              <a:buClrTx/>
              <a:buFont typeface="Symbol" pitchFamily="18" charset="2"/>
              <a:buNone/>
            </a:pPr>
            <a:r>
              <a:rPr lang="en-US" altLang="zh-CN" dirty="0">
                <a:solidFill>
                  <a:srgbClr val="800080"/>
                </a:solidFill>
              </a:rPr>
              <a:t>G(S)</a:t>
            </a:r>
            <a:r>
              <a:rPr lang="en-US" altLang="zh-CN" dirty="0"/>
              <a:t>:   </a:t>
            </a:r>
            <a:r>
              <a:rPr lang="en-US" altLang="zh-CN" b="1" i="1" dirty="0"/>
              <a:t>S </a:t>
            </a:r>
            <a:r>
              <a:rPr lang="en-US" altLang="zh-CN" b="1" dirty="0">
                <a:sym typeface="Symbol" pitchFamily="18" charset="2"/>
              </a:rPr>
              <a:t></a:t>
            </a:r>
            <a:r>
              <a:rPr lang="en-US" altLang="zh-CN" b="1" i="1" dirty="0"/>
              <a:t> </a:t>
            </a:r>
            <a:r>
              <a:rPr lang="en-US" altLang="zh-CN" b="1" i="1" dirty="0" err="1"/>
              <a:t>AaS</a:t>
            </a:r>
            <a:r>
              <a:rPr lang="en-US" altLang="zh-CN" b="1" i="1" dirty="0"/>
              <a:t> </a:t>
            </a:r>
            <a:r>
              <a:rPr lang="en-US" altLang="zh-CN" b="1" dirty="0">
                <a:sym typeface="Symbol" pitchFamily="18" charset="2"/>
              </a:rPr>
              <a:t></a:t>
            </a:r>
            <a:r>
              <a:rPr lang="en-US" altLang="zh-CN" b="1" dirty="0"/>
              <a:t> </a:t>
            </a:r>
            <a:r>
              <a:rPr lang="en-US" altLang="zh-CN" b="1" i="1" dirty="0" err="1"/>
              <a:t>BbS</a:t>
            </a:r>
            <a:r>
              <a:rPr lang="en-US" altLang="zh-CN" b="1" dirty="0">
                <a:sym typeface="Symbol" pitchFamily="18" charset="2"/>
              </a:rPr>
              <a:t></a:t>
            </a:r>
            <a:r>
              <a:rPr lang="en-US" altLang="zh-CN" b="1" i="1" dirty="0"/>
              <a:t> d</a:t>
            </a:r>
          </a:p>
          <a:p>
            <a:r>
              <a:rPr lang="en-US" altLang="zh-CN" b="1" i="1" dirty="0"/>
              <a:t>            A </a:t>
            </a:r>
            <a:r>
              <a:rPr lang="en-US" altLang="zh-CN" b="1" dirty="0">
                <a:sym typeface="Symbol" pitchFamily="18" charset="2"/>
              </a:rPr>
              <a:t></a:t>
            </a:r>
            <a:r>
              <a:rPr lang="en-US" altLang="zh-CN" b="1" i="1" dirty="0"/>
              <a:t> a</a:t>
            </a:r>
          </a:p>
          <a:p>
            <a:r>
              <a:rPr lang="en-US" altLang="zh-CN" b="1" i="1" dirty="0"/>
              <a:t>            B </a:t>
            </a:r>
            <a:r>
              <a:rPr lang="en-US" altLang="zh-CN" b="1" dirty="0">
                <a:sym typeface="Symbol" pitchFamily="18" charset="2"/>
              </a:rPr>
              <a:t></a:t>
            </a:r>
            <a:r>
              <a:rPr lang="en-US" altLang="zh-CN" b="1" i="1" dirty="0"/>
              <a:t> </a:t>
            </a:r>
            <a:r>
              <a:rPr lang="en-US" altLang="zh-CN" b="1" i="1" dirty="0">
                <a:sym typeface="Symbol" pitchFamily="18" charset="2"/>
              </a:rPr>
              <a:t></a:t>
            </a:r>
            <a:r>
              <a:rPr lang="en-US" altLang="zh-CN" b="1" i="1" dirty="0"/>
              <a:t> </a:t>
            </a:r>
            <a:r>
              <a:rPr lang="en-US" altLang="zh-CN" b="1" dirty="0">
                <a:sym typeface="Symbol" pitchFamily="18" charset="2"/>
              </a:rPr>
              <a:t></a:t>
            </a:r>
            <a:r>
              <a:rPr lang="en-US" altLang="zh-CN" b="1" i="1" dirty="0"/>
              <a:t> c</a:t>
            </a:r>
            <a:endParaRPr lang="en-US" altLang="zh-CN" sz="800" b="1" i="1" dirty="0"/>
          </a:p>
        </p:txBody>
      </p:sp>
      <p:sp>
        <p:nvSpPr>
          <p:cNvPr id="9" name="Line 14"/>
          <p:cNvSpPr>
            <a:spLocks noChangeShapeType="1"/>
          </p:cNvSpPr>
          <p:nvPr/>
        </p:nvSpPr>
        <p:spPr bwMode="auto">
          <a:xfrm>
            <a:off x="5076825" y="1700213"/>
            <a:ext cx="0" cy="4824412"/>
          </a:xfrm>
          <a:prstGeom prst="line">
            <a:avLst/>
          </a:prstGeom>
          <a:noFill/>
          <a:ln w="9525">
            <a:solidFill>
              <a:srgbClr val="333399"/>
            </a:solidFill>
            <a:round/>
            <a:headEnd/>
            <a:tailEnd/>
          </a:ln>
        </p:spPr>
        <p:txBody>
          <a:bodyPr>
            <a:spAutoFit/>
          </a:bodyPr>
          <a:lstStyle/>
          <a:p>
            <a:endParaRPr lang="zh-CN" altLang="en-US"/>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58</a:t>
            </a:fld>
            <a:endParaRPr lang="zh-CN" altLang="en-US">
              <a:solidFill>
                <a:srgbClr val="3F3F3F"/>
              </a:solidFill>
            </a:endParaRPr>
          </a:p>
        </p:txBody>
      </p:sp>
    </p:spTree>
    <p:extLst>
      <p:ext uri="{BB962C8B-B14F-4D97-AF65-F5344CB8AC3E}">
        <p14:creationId xmlns:p14="http://schemas.microsoft.com/office/powerpoint/2010/main" val="1889317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Bottom)">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lide(fromBottom)">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a:t>
            </a:r>
            <a:r>
              <a:rPr lang="zh-CN" altLang="en-US" dirty="0"/>
              <a:t>递归下降分析法</a:t>
            </a:r>
          </a:p>
        </p:txBody>
      </p:sp>
      <p:sp>
        <p:nvSpPr>
          <p:cNvPr id="5" name="Text Box 7"/>
          <p:cNvSpPr txBox="1">
            <a:spLocks noChangeArrowheads="1"/>
          </p:cNvSpPr>
          <p:nvPr/>
        </p:nvSpPr>
        <p:spPr bwMode="auto">
          <a:xfrm>
            <a:off x="251466" y="1268733"/>
            <a:ext cx="8101013" cy="5416868"/>
          </a:xfrm>
          <a:prstGeom prst="rect">
            <a:avLst/>
          </a:prstGeom>
          <a:noFill/>
          <a:ln w="9525">
            <a:noFill/>
            <a:miter lim="800000"/>
            <a:headEnd/>
            <a:tailEnd/>
          </a:ln>
        </p:spPr>
        <p:txBody>
          <a:bodyPr>
            <a:spAutoFit/>
          </a:bodyPr>
          <a:lstStyle/>
          <a:p>
            <a:pPr>
              <a:buFont typeface="Wingdings" pitchFamily="2" charset="2"/>
              <a:buChar char="²"/>
            </a:pPr>
            <a:r>
              <a:rPr lang="en-US" altLang="zh-CN" sz="2800" b="1" dirty="0">
                <a:solidFill>
                  <a:srgbClr val="800080"/>
                </a:solidFill>
              </a:rPr>
              <a:t> </a:t>
            </a:r>
            <a:r>
              <a:rPr lang="zh-CN" altLang="en-US" sz="2800" b="1" dirty="0">
                <a:solidFill>
                  <a:srgbClr val="800080"/>
                </a:solidFill>
              </a:rPr>
              <a:t>实际应用中的推广 </a:t>
            </a:r>
          </a:p>
          <a:p>
            <a:r>
              <a:rPr lang="zh-CN" altLang="en-US" sz="1000" b="1" dirty="0">
                <a:solidFill>
                  <a:srgbClr val="800080"/>
                </a:solidFill>
              </a:rPr>
              <a:t> </a:t>
            </a:r>
          </a:p>
          <a:p>
            <a:r>
              <a:rPr lang="zh-CN" altLang="en-US" sz="2800" b="1" dirty="0"/>
              <a:t>    </a:t>
            </a:r>
            <a:r>
              <a:rPr lang="zh-CN" altLang="en-US" sz="2400" b="1" dirty="0"/>
              <a:t>上面只讨论了根据普通文法构造递归下降分析程序。实</a:t>
            </a:r>
          </a:p>
          <a:p>
            <a:r>
              <a:rPr lang="zh-CN" altLang="en-US" sz="2400" b="1" dirty="0"/>
              <a:t>     际上，也可以将产生式</a:t>
            </a:r>
            <a:r>
              <a:rPr lang="zh-CN" altLang="en-US" sz="2400" b="1" dirty="0">
                <a:solidFill>
                  <a:srgbClr val="FF0000"/>
                </a:solidFill>
              </a:rPr>
              <a:t>右端扩展为更复杂的描述表达</a:t>
            </a:r>
          </a:p>
          <a:p>
            <a:r>
              <a:rPr lang="zh-CN" altLang="en-US" sz="2400" b="1" dirty="0">
                <a:solidFill>
                  <a:srgbClr val="FF0000"/>
                </a:solidFill>
              </a:rPr>
              <a:t>     式</a:t>
            </a:r>
            <a:r>
              <a:rPr lang="zh-CN" altLang="en-US" sz="2400" b="1" dirty="0"/>
              <a:t>，即除了</a:t>
            </a:r>
            <a:r>
              <a:rPr lang="zh-CN" altLang="en-US" sz="2400" b="1" dirty="0">
                <a:solidFill>
                  <a:srgbClr val="FF0000"/>
                </a:solidFill>
              </a:rPr>
              <a:t>文法符号之间的连接运算之外</a:t>
            </a:r>
            <a:r>
              <a:rPr lang="zh-CN" altLang="en-US" sz="2400" b="1" dirty="0"/>
              <a:t>，还可以有选</a:t>
            </a:r>
          </a:p>
          <a:p>
            <a:r>
              <a:rPr lang="zh-CN" altLang="en-US" sz="2400" b="1" dirty="0"/>
              <a:t>     择、重复、任选以及优先括号等运算（</a:t>
            </a:r>
            <a:r>
              <a:rPr lang="zh-CN" altLang="en-US" sz="2400" b="1" dirty="0">
                <a:solidFill>
                  <a:srgbClr val="FF0000"/>
                </a:solidFill>
              </a:rPr>
              <a:t>如 </a:t>
            </a:r>
            <a:r>
              <a:rPr lang="en-US" altLang="zh-CN" sz="2400" dirty="0">
                <a:solidFill>
                  <a:srgbClr val="FF0000"/>
                </a:solidFill>
              </a:rPr>
              <a:t>EBNF </a:t>
            </a:r>
            <a:r>
              <a:rPr lang="zh-CN" altLang="en-US" sz="2400" b="1" dirty="0">
                <a:solidFill>
                  <a:srgbClr val="FF0000"/>
                </a:solidFill>
              </a:rPr>
              <a:t>范式中</a:t>
            </a:r>
          </a:p>
          <a:p>
            <a:r>
              <a:rPr lang="zh-CN" altLang="en-US" sz="2400" b="1" dirty="0">
                <a:solidFill>
                  <a:srgbClr val="FF0000"/>
                </a:solidFill>
              </a:rPr>
              <a:t>     的运算</a:t>
            </a:r>
            <a:r>
              <a:rPr lang="zh-CN" altLang="en-US" sz="2400" b="1" dirty="0"/>
              <a:t>），以使语法描述更加简洁，分析程序更加高效</a:t>
            </a:r>
          </a:p>
          <a:p>
            <a:r>
              <a:rPr lang="zh-CN" altLang="en-US" sz="2400" b="1" dirty="0"/>
              <a:t>    （比较：若将其展开为普通文法，则需要</a:t>
            </a:r>
            <a:r>
              <a:rPr lang="zh-CN" altLang="en-US" sz="2400" b="1" dirty="0">
                <a:solidFill>
                  <a:srgbClr val="FF0000"/>
                </a:solidFill>
              </a:rPr>
              <a:t>引入多个非终</a:t>
            </a:r>
          </a:p>
          <a:p>
            <a:r>
              <a:rPr lang="zh-CN" altLang="en-US" sz="2400" b="1" dirty="0">
                <a:solidFill>
                  <a:srgbClr val="FF0000"/>
                </a:solidFill>
              </a:rPr>
              <a:t>     结符</a:t>
            </a:r>
            <a:r>
              <a:rPr lang="zh-CN" altLang="en-US" sz="2400" b="1" dirty="0"/>
              <a:t>，</a:t>
            </a:r>
            <a:r>
              <a:rPr lang="zh-CN" altLang="en-US" sz="2400" b="1" dirty="0">
                <a:solidFill>
                  <a:srgbClr val="FF0000"/>
                </a:solidFill>
              </a:rPr>
              <a:t>增加多个对应的子程序</a:t>
            </a:r>
            <a:r>
              <a:rPr lang="zh-CN" altLang="en-US" sz="2400" b="1" dirty="0"/>
              <a:t>）。</a:t>
            </a:r>
          </a:p>
          <a:p>
            <a:endParaRPr lang="zh-CN" altLang="en-US" sz="1000" b="1" dirty="0">
              <a:latin typeface="楷体_GB2312" pitchFamily="49" charset="-122"/>
            </a:endParaRPr>
          </a:p>
          <a:p>
            <a:pPr lvl="1">
              <a:buFont typeface="Symbol" pitchFamily="18" charset="2"/>
              <a:buChar char="-"/>
            </a:pPr>
            <a:r>
              <a:rPr lang="zh-CN" altLang="en-US" sz="2400" dirty="0"/>
              <a:t> </a:t>
            </a:r>
            <a:r>
              <a:rPr lang="en-US" altLang="zh-CN" sz="2400" dirty="0"/>
              <a:t>X</a:t>
            </a:r>
            <a:r>
              <a:rPr lang="en-US" altLang="zh-CN" sz="2400" baseline="-25000" dirty="0"/>
              <a:t>1</a:t>
            </a:r>
            <a:r>
              <a:rPr lang="en-US" altLang="zh-CN" sz="2400" dirty="0"/>
              <a:t> | X</a:t>
            </a:r>
            <a:r>
              <a:rPr lang="en-US" altLang="zh-CN" sz="2400" baseline="-25000" dirty="0"/>
              <a:t>1</a:t>
            </a:r>
            <a:r>
              <a:rPr lang="en-US" altLang="zh-CN" sz="2400" dirty="0"/>
              <a:t> | … | </a:t>
            </a:r>
            <a:r>
              <a:rPr lang="en-US" altLang="zh-CN" sz="2400" dirty="0" err="1"/>
              <a:t>X</a:t>
            </a:r>
            <a:r>
              <a:rPr lang="en-US" altLang="zh-CN" sz="2400" i="1" baseline="-25000" dirty="0" err="1"/>
              <a:t>m</a:t>
            </a:r>
            <a:r>
              <a:rPr lang="en-US" altLang="zh-CN" sz="2400" i="1" baseline="-25000" dirty="0"/>
              <a:t>       </a:t>
            </a:r>
            <a:r>
              <a:rPr lang="zh-CN" altLang="en-US" sz="2400" b="1" dirty="0"/>
              <a:t>多个成分之间的选择</a:t>
            </a:r>
            <a:endParaRPr lang="zh-CN" altLang="en-US" sz="2400" i="1" baseline="-25000" dirty="0"/>
          </a:p>
          <a:p>
            <a:pPr lvl="1">
              <a:buFont typeface="Symbol" pitchFamily="18" charset="2"/>
              <a:buChar char="-"/>
            </a:pPr>
            <a:endParaRPr lang="zh-CN" altLang="en-US" sz="1000" dirty="0"/>
          </a:p>
          <a:p>
            <a:pPr lvl="1">
              <a:buFont typeface="Symbol" pitchFamily="18" charset="2"/>
              <a:buChar char="-"/>
            </a:pPr>
            <a:r>
              <a:rPr lang="zh-CN" altLang="en-US" sz="2400" dirty="0"/>
              <a:t> </a:t>
            </a:r>
            <a:r>
              <a:rPr lang="en-US" altLang="zh-CN" sz="2400" dirty="0"/>
              <a:t>{ X }</a:t>
            </a:r>
            <a:r>
              <a:rPr lang="en-US" altLang="zh-CN" sz="2400" i="1" dirty="0"/>
              <a:t>    </a:t>
            </a:r>
            <a:r>
              <a:rPr lang="zh-CN" altLang="en-US" sz="2400" b="1" dirty="0"/>
              <a:t>成分 </a:t>
            </a:r>
            <a:r>
              <a:rPr lang="en-US" altLang="zh-CN" sz="2400" dirty="0"/>
              <a:t>X </a:t>
            </a:r>
            <a:r>
              <a:rPr lang="zh-CN" altLang="en-US" sz="2400" b="1" dirty="0"/>
              <a:t>的重复（</a:t>
            </a:r>
            <a:r>
              <a:rPr lang="en-US" altLang="zh-CN" sz="2400" b="1" dirty="0"/>
              <a:t>0 </a:t>
            </a:r>
            <a:r>
              <a:rPr lang="zh-CN" altLang="en-US" sz="2400" b="1" dirty="0"/>
              <a:t>到多次）</a:t>
            </a:r>
          </a:p>
          <a:p>
            <a:pPr lvl="1">
              <a:buFont typeface="Symbol" pitchFamily="18" charset="2"/>
              <a:buNone/>
            </a:pPr>
            <a:endParaRPr lang="zh-CN" altLang="en-US" sz="1000" i="1" dirty="0"/>
          </a:p>
          <a:p>
            <a:pPr lvl="1">
              <a:buFont typeface="Symbol" pitchFamily="18" charset="2"/>
              <a:buChar char="-"/>
            </a:pPr>
            <a:r>
              <a:rPr lang="zh-CN" altLang="en-US" sz="2400" dirty="0"/>
              <a:t> </a:t>
            </a:r>
            <a:r>
              <a:rPr lang="en-US" altLang="zh-CN" sz="2400" dirty="0"/>
              <a:t>[ X ]</a:t>
            </a:r>
            <a:r>
              <a:rPr lang="en-US" altLang="zh-CN" sz="2400" i="1" dirty="0"/>
              <a:t>    </a:t>
            </a:r>
            <a:r>
              <a:rPr lang="zh-CN" altLang="en-US" sz="2400" b="1" dirty="0"/>
              <a:t>成分 </a:t>
            </a:r>
            <a:r>
              <a:rPr lang="en-US" altLang="zh-CN" sz="2400" dirty="0"/>
              <a:t>X </a:t>
            </a:r>
            <a:r>
              <a:rPr lang="zh-CN" altLang="en-US" sz="2400" b="1" dirty="0"/>
              <a:t>的任选（</a:t>
            </a:r>
            <a:r>
              <a:rPr lang="en-US" altLang="zh-CN" sz="2400" b="1" dirty="0"/>
              <a:t>0 </a:t>
            </a:r>
            <a:r>
              <a:rPr lang="zh-CN" altLang="en-US" sz="2400" b="1" dirty="0"/>
              <a:t>或 </a:t>
            </a:r>
            <a:r>
              <a:rPr lang="en-US" altLang="zh-CN" sz="2400" b="1" dirty="0"/>
              <a:t>1 </a:t>
            </a:r>
            <a:r>
              <a:rPr lang="zh-CN" altLang="en-US" sz="2400" b="1" dirty="0"/>
              <a:t>次）</a:t>
            </a:r>
            <a:endParaRPr lang="zh-CN" altLang="en-US" sz="2400" i="1" dirty="0"/>
          </a:p>
          <a:p>
            <a:pPr lvl="1">
              <a:buFont typeface="Symbol" pitchFamily="18" charset="2"/>
              <a:buNone/>
            </a:pPr>
            <a:endParaRPr lang="zh-CN" altLang="en-US" sz="1000" dirty="0"/>
          </a:p>
          <a:p>
            <a:pPr lvl="1">
              <a:buFont typeface="Symbol" pitchFamily="18" charset="2"/>
              <a:buChar char="-"/>
            </a:pPr>
            <a:r>
              <a:rPr lang="zh-CN" altLang="en-US" sz="2400" dirty="0"/>
              <a:t> </a:t>
            </a:r>
            <a:r>
              <a:rPr lang="en-US" altLang="zh-CN" sz="2400" dirty="0"/>
              <a:t>( X )</a:t>
            </a:r>
            <a:r>
              <a:rPr lang="en-US" altLang="zh-CN" sz="2400" i="1" dirty="0"/>
              <a:t>    </a:t>
            </a:r>
            <a:r>
              <a:rPr lang="zh-CN" altLang="en-US" sz="2400" b="1" dirty="0"/>
              <a:t>成分 </a:t>
            </a:r>
            <a:r>
              <a:rPr lang="en-US" altLang="zh-CN" sz="2400" dirty="0"/>
              <a:t>X </a:t>
            </a:r>
            <a:r>
              <a:rPr lang="zh-CN" altLang="en-US" sz="2400" b="1" dirty="0"/>
              <a:t>优先</a:t>
            </a:r>
            <a:endParaRPr lang="zh-CN" altLang="en-US" sz="2400" dirty="0"/>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59</a:t>
            </a:fld>
            <a:endParaRPr lang="zh-CN" altLang="en-US">
              <a:solidFill>
                <a:srgbClr val="3F3F3F"/>
              </a:solidFill>
            </a:endParaRPr>
          </a:p>
        </p:txBody>
      </p:sp>
    </p:spTree>
    <p:extLst>
      <p:ext uri="{BB962C8B-B14F-4D97-AF65-F5344CB8AC3E}">
        <p14:creationId xmlns:p14="http://schemas.microsoft.com/office/powerpoint/2010/main" val="8133857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预测分析表</a:t>
            </a:r>
          </a:p>
          <a:p>
            <a:pPr lvl="1"/>
            <a:r>
              <a:rPr lang="zh-CN" altLang="en-US" dirty="0"/>
              <a:t>表驱动分析程序需要的</a:t>
            </a:r>
            <a:r>
              <a:rPr lang="zh-CN" altLang="en-US" dirty="0">
                <a:solidFill>
                  <a:srgbClr val="FF0000"/>
                </a:solidFill>
              </a:rPr>
              <a:t>二维表</a:t>
            </a:r>
            <a:r>
              <a:rPr lang="en-US" altLang="zh-CN" dirty="0">
                <a:solidFill>
                  <a:srgbClr val="FF0000"/>
                </a:solidFill>
              </a:rPr>
              <a:t>M</a:t>
            </a:r>
          </a:p>
          <a:p>
            <a:pPr lvl="1"/>
            <a:r>
              <a:rPr lang="en-US" altLang="zh-CN" dirty="0"/>
              <a:t> </a:t>
            </a:r>
            <a:r>
              <a:rPr lang="zh-CN" altLang="en-US" dirty="0"/>
              <a:t>表的每</a:t>
            </a:r>
            <a:r>
              <a:rPr lang="zh-CN" altLang="en-US" dirty="0">
                <a:solidFill>
                  <a:srgbClr val="FF0000"/>
                </a:solidFill>
              </a:rPr>
              <a:t>一行 </a:t>
            </a:r>
            <a:r>
              <a:rPr lang="en-US" altLang="zh-CN" dirty="0">
                <a:solidFill>
                  <a:srgbClr val="FF0000"/>
                </a:solidFill>
              </a:rPr>
              <a:t>A </a:t>
            </a:r>
            <a:r>
              <a:rPr lang="zh-CN" altLang="en-US" dirty="0"/>
              <a:t>对应一个</a:t>
            </a:r>
            <a:r>
              <a:rPr lang="zh-CN" altLang="en-US" dirty="0">
                <a:solidFill>
                  <a:srgbClr val="FF0000"/>
                </a:solidFill>
              </a:rPr>
              <a:t>非终结符</a:t>
            </a:r>
          </a:p>
          <a:p>
            <a:pPr lvl="1"/>
            <a:r>
              <a:rPr lang="zh-CN" altLang="en-US" dirty="0"/>
              <a:t> 表的每一</a:t>
            </a:r>
            <a:r>
              <a:rPr lang="zh-CN" altLang="en-US" dirty="0">
                <a:solidFill>
                  <a:srgbClr val="FF0000"/>
                </a:solidFill>
              </a:rPr>
              <a:t>列 </a:t>
            </a:r>
            <a:r>
              <a:rPr lang="en-US" altLang="zh-CN" dirty="0">
                <a:solidFill>
                  <a:srgbClr val="FF0000"/>
                </a:solidFill>
              </a:rPr>
              <a:t>a </a:t>
            </a:r>
            <a:r>
              <a:rPr lang="zh-CN" altLang="en-US" dirty="0"/>
              <a:t>对应某个</a:t>
            </a:r>
            <a:r>
              <a:rPr lang="zh-CN" altLang="en-US" dirty="0">
                <a:solidFill>
                  <a:srgbClr val="FF0000"/>
                </a:solidFill>
              </a:rPr>
              <a:t>终结符</a:t>
            </a:r>
            <a:r>
              <a:rPr lang="zh-CN" altLang="en-US" dirty="0"/>
              <a:t>或输入</a:t>
            </a:r>
            <a:r>
              <a:rPr lang="zh-CN" altLang="en-US" dirty="0">
                <a:solidFill>
                  <a:srgbClr val="FF0000"/>
                </a:solidFill>
              </a:rPr>
              <a:t>结束符 </a:t>
            </a:r>
            <a:r>
              <a:rPr lang="en-US" altLang="zh-CN" dirty="0">
                <a:solidFill>
                  <a:srgbClr val="FF0000"/>
                </a:solidFill>
              </a:rPr>
              <a:t>#</a:t>
            </a:r>
          </a:p>
          <a:p>
            <a:pPr lvl="1"/>
            <a:r>
              <a:rPr lang="en-US" altLang="zh-CN" dirty="0"/>
              <a:t> </a:t>
            </a:r>
            <a:r>
              <a:rPr lang="zh-CN" altLang="en-US" dirty="0"/>
              <a:t>表中的项 </a:t>
            </a:r>
            <a:r>
              <a:rPr lang="en-US" altLang="zh-CN" dirty="0">
                <a:solidFill>
                  <a:srgbClr val="FF0000"/>
                </a:solidFill>
              </a:rPr>
              <a:t>M(</a:t>
            </a:r>
            <a:r>
              <a:rPr lang="en-US" altLang="zh-CN" dirty="0" err="1">
                <a:solidFill>
                  <a:srgbClr val="FF0000"/>
                </a:solidFill>
              </a:rPr>
              <a:t>A,a</a:t>
            </a:r>
            <a:r>
              <a:rPr lang="en-US" altLang="zh-CN" dirty="0">
                <a:solidFill>
                  <a:srgbClr val="FF0000"/>
                </a:solidFill>
              </a:rPr>
              <a:t>)</a:t>
            </a:r>
            <a:r>
              <a:rPr lang="en-US" altLang="zh-CN" dirty="0"/>
              <a:t> </a:t>
            </a:r>
            <a:r>
              <a:rPr lang="zh-CN" altLang="en-US" dirty="0"/>
              <a:t>表示</a:t>
            </a:r>
            <a:r>
              <a:rPr lang="zh-CN" altLang="en-US" dirty="0">
                <a:solidFill>
                  <a:srgbClr val="FF0000"/>
                </a:solidFill>
              </a:rPr>
              <a:t>栈顶</a:t>
            </a:r>
            <a:r>
              <a:rPr lang="zh-CN" altLang="en-US" dirty="0"/>
              <a:t>为</a:t>
            </a:r>
            <a:r>
              <a:rPr lang="en-US" altLang="zh-CN" dirty="0">
                <a:solidFill>
                  <a:srgbClr val="FF0000"/>
                </a:solidFill>
              </a:rPr>
              <a:t>A</a:t>
            </a:r>
            <a:r>
              <a:rPr lang="zh-CN" altLang="en-US" dirty="0"/>
              <a:t>，下一个输入符号为</a:t>
            </a:r>
            <a:r>
              <a:rPr lang="en-US" altLang="zh-CN" dirty="0"/>
              <a:t>a</a:t>
            </a:r>
            <a:r>
              <a:rPr lang="zh-CN" altLang="en-US" dirty="0"/>
              <a:t>时，可选的</a:t>
            </a:r>
            <a:r>
              <a:rPr lang="zh-CN" altLang="en-US" dirty="0">
                <a:solidFill>
                  <a:srgbClr val="FF0000"/>
                </a:solidFill>
              </a:rPr>
              <a:t>产生式集合</a:t>
            </a:r>
          </a:p>
          <a:p>
            <a:pPr lvl="1"/>
            <a:r>
              <a:rPr lang="zh-CN" altLang="en-US" dirty="0"/>
              <a:t> 对于</a:t>
            </a:r>
            <a:r>
              <a:rPr lang="en-US" altLang="zh-CN" dirty="0"/>
              <a:t>LL</a:t>
            </a:r>
            <a:r>
              <a:rPr lang="zh-CN" altLang="en-US" dirty="0"/>
              <a:t>（</a:t>
            </a:r>
            <a:r>
              <a:rPr lang="en-US" altLang="zh-CN" dirty="0"/>
              <a:t>1</a:t>
            </a:r>
            <a:r>
              <a:rPr lang="zh-CN" altLang="en-US" dirty="0"/>
              <a:t>）文法，可以构造出一个 </a:t>
            </a:r>
            <a:r>
              <a:rPr lang="en-US" altLang="zh-CN" dirty="0">
                <a:solidFill>
                  <a:srgbClr val="FF0000"/>
                </a:solidFill>
              </a:rPr>
              <a:t>M(</a:t>
            </a:r>
            <a:r>
              <a:rPr lang="en-US" altLang="zh-CN" dirty="0" err="1">
                <a:solidFill>
                  <a:srgbClr val="FF0000"/>
                </a:solidFill>
              </a:rPr>
              <a:t>A,a</a:t>
            </a:r>
            <a:r>
              <a:rPr lang="en-US" altLang="zh-CN" dirty="0">
                <a:solidFill>
                  <a:srgbClr val="FF0000"/>
                </a:solidFill>
              </a:rPr>
              <a:t>)</a:t>
            </a:r>
            <a:r>
              <a:rPr lang="en-US" altLang="zh-CN" dirty="0"/>
              <a:t> </a:t>
            </a:r>
            <a:r>
              <a:rPr lang="zh-CN" altLang="en-US" dirty="0"/>
              <a:t>最多只包含一个产生式的预测分析表，可称之为</a:t>
            </a:r>
            <a:r>
              <a:rPr lang="en-US" altLang="zh-CN" dirty="0">
                <a:solidFill>
                  <a:srgbClr val="FF0000"/>
                </a:solidFill>
              </a:rPr>
              <a:t>LL</a:t>
            </a:r>
            <a:r>
              <a:rPr lang="zh-CN" altLang="en-US" dirty="0">
                <a:solidFill>
                  <a:srgbClr val="FF0000"/>
                </a:solidFill>
              </a:rPr>
              <a:t>（</a:t>
            </a:r>
            <a:r>
              <a:rPr lang="en-US" altLang="zh-CN" dirty="0">
                <a:solidFill>
                  <a:srgbClr val="FF0000"/>
                </a:solidFill>
              </a:rPr>
              <a:t>1</a:t>
            </a:r>
            <a:r>
              <a:rPr lang="zh-CN" altLang="en-US" dirty="0">
                <a:solidFill>
                  <a:srgbClr val="FF0000"/>
                </a:solidFill>
              </a:rPr>
              <a:t>）</a:t>
            </a:r>
            <a:r>
              <a:rPr lang="zh-CN" altLang="en-US" dirty="0"/>
              <a:t>分析表</a:t>
            </a:r>
          </a:p>
          <a:p>
            <a:pPr lvl="1"/>
            <a:r>
              <a:rPr lang="zh-CN" altLang="en-US" dirty="0">
                <a:solidFill>
                  <a:srgbClr val="FF0000"/>
                </a:solidFill>
              </a:rPr>
              <a:t>  </a:t>
            </a:r>
            <a:r>
              <a:rPr lang="en-US" altLang="zh-CN" dirty="0">
                <a:solidFill>
                  <a:srgbClr val="FF0000"/>
                </a:solidFill>
              </a:rPr>
              <a:t>M(</a:t>
            </a:r>
            <a:r>
              <a:rPr lang="en-US" altLang="zh-CN" dirty="0" err="1">
                <a:solidFill>
                  <a:srgbClr val="FF0000"/>
                </a:solidFill>
              </a:rPr>
              <a:t>A,a</a:t>
            </a:r>
            <a:r>
              <a:rPr lang="en-US" altLang="zh-CN" dirty="0">
                <a:solidFill>
                  <a:srgbClr val="FF0000"/>
                </a:solidFill>
              </a:rPr>
              <a:t>) </a:t>
            </a:r>
            <a:r>
              <a:rPr lang="zh-CN" altLang="en-US" dirty="0">
                <a:solidFill>
                  <a:srgbClr val="FF0000"/>
                </a:solidFill>
              </a:rPr>
              <a:t>不含产生式时</a:t>
            </a:r>
            <a:r>
              <a:rPr lang="zh-CN" altLang="en-US" dirty="0"/>
              <a:t>，对应一个出错位置</a:t>
            </a:r>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60</a:t>
            </a:fld>
            <a:endParaRPr lang="zh-CN" altLang="en-US">
              <a:solidFill>
                <a:srgbClr val="3F3F3F"/>
              </a:solidFill>
            </a:endParaRPr>
          </a:p>
        </p:txBody>
      </p:sp>
    </p:spTree>
    <p:extLst>
      <p:ext uri="{BB962C8B-B14F-4D97-AF65-F5344CB8AC3E}">
        <p14:creationId xmlns:p14="http://schemas.microsoft.com/office/powerpoint/2010/main" val="19539799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预测分析表的构造算法</a:t>
            </a:r>
          </a:p>
          <a:p>
            <a:pPr marL="687388" lvl="1">
              <a:buSzPct val="75000"/>
              <a:buFont typeface="Symbol" pitchFamily="18" charset="2"/>
              <a:buChar char="-"/>
            </a:pPr>
            <a:r>
              <a:rPr lang="zh-CN" altLang="en-US" dirty="0"/>
              <a:t>对文法 </a:t>
            </a:r>
            <a:r>
              <a:rPr lang="en-US" altLang="zh-CN" dirty="0"/>
              <a:t>G </a:t>
            </a:r>
            <a:r>
              <a:rPr lang="zh-CN" altLang="en-US" dirty="0"/>
              <a:t>的每个产生式 </a:t>
            </a:r>
            <a:r>
              <a:rPr lang="en-US" altLang="zh-CN" i="1" dirty="0"/>
              <a:t>A</a:t>
            </a:r>
            <a:r>
              <a:rPr lang="en-US" altLang="zh-CN" dirty="0">
                <a:sym typeface="Symbol" pitchFamily="18" charset="2"/>
              </a:rPr>
              <a:t></a:t>
            </a:r>
            <a:r>
              <a:rPr lang="en-US" altLang="zh-CN" i="1" dirty="0">
                <a:sym typeface="Symbol" pitchFamily="18" charset="2"/>
              </a:rPr>
              <a:t> </a:t>
            </a:r>
            <a:r>
              <a:rPr lang="zh-CN" altLang="en-US" dirty="0"/>
              <a:t>执行如下步骤：</a:t>
            </a:r>
          </a:p>
          <a:p>
            <a:pPr marL="687388" lvl="1">
              <a:buSzPct val="75000"/>
              <a:buFont typeface="Symbol" pitchFamily="18" charset="2"/>
              <a:buNone/>
            </a:pPr>
            <a:endParaRPr lang="zh-CN" altLang="en-US" sz="600" dirty="0"/>
          </a:p>
          <a:p>
            <a:pPr marL="687388" lvl="1">
              <a:buSzPct val="75000"/>
              <a:buFont typeface="Symbol" pitchFamily="18" charset="2"/>
              <a:buNone/>
            </a:pPr>
            <a:r>
              <a:rPr lang="zh-CN" altLang="en-US" dirty="0">
                <a:latin typeface="楷体_GB2312" pitchFamily="49" charset="-122"/>
              </a:rPr>
              <a:t>  </a:t>
            </a:r>
            <a:r>
              <a:rPr lang="zh-CN" altLang="en-US" sz="2000" dirty="0"/>
              <a:t>对每个  </a:t>
            </a:r>
            <a:r>
              <a:rPr lang="en-US" altLang="zh-CN" sz="2000" dirty="0"/>
              <a:t>a </a:t>
            </a:r>
            <a:r>
              <a:rPr lang="en-US" altLang="zh-CN" sz="2000" dirty="0">
                <a:sym typeface="Symbol" pitchFamily="18" charset="2"/>
              </a:rPr>
              <a:t> </a:t>
            </a:r>
            <a:r>
              <a:rPr lang="en-US" altLang="zh-CN" sz="2000" i="1" dirty="0"/>
              <a:t>SELECT</a:t>
            </a:r>
            <a:r>
              <a:rPr lang="en-US" altLang="zh-CN" sz="2000" dirty="0"/>
              <a:t>(</a:t>
            </a:r>
            <a:r>
              <a:rPr lang="en-US" altLang="zh-CN" sz="2000" i="1" dirty="0"/>
              <a:t>A</a:t>
            </a:r>
            <a:r>
              <a:rPr lang="en-US" altLang="zh-CN" sz="2000" dirty="0">
                <a:sym typeface="Symbol" pitchFamily="18" charset="2"/>
              </a:rPr>
              <a:t></a:t>
            </a:r>
            <a:r>
              <a:rPr lang="en-US" altLang="zh-CN" sz="2000" i="1" dirty="0">
                <a:sym typeface="Symbol" pitchFamily="18" charset="2"/>
              </a:rPr>
              <a:t></a:t>
            </a:r>
            <a:r>
              <a:rPr lang="en-US" altLang="zh-CN" sz="2000" dirty="0"/>
              <a:t>)</a:t>
            </a:r>
            <a:r>
              <a:rPr lang="zh-CN" altLang="en-US" sz="2000" dirty="0"/>
              <a:t>，将 </a:t>
            </a:r>
            <a:r>
              <a:rPr lang="en-US" altLang="zh-CN" sz="2000" i="1" dirty="0"/>
              <a:t>A</a:t>
            </a:r>
            <a:r>
              <a:rPr lang="en-US" altLang="zh-CN" sz="2000" dirty="0">
                <a:sym typeface="Symbol" pitchFamily="18" charset="2"/>
              </a:rPr>
              <a:t> </a:t>
            </a:r>
            <a:r>
              <a:rPr lang="zh-CN" altLang="en-US" sz="2000" dirty="0"/>
              <a:t>加入 </a:t>
            </a:r>
            <a:r>
              <a:rPr lang="en-US" altLang="zh-CN" sz="2000" i="1" dirty="0">
                <a:sym typeface="Symbol" pitchFamily="18" charset="2"/>
              </a:rPr>
              <a:t>M</a:t>
            </a:r>
            <a:r>
              <a:rPr lang="en-US" altLang="zh-CN" sz="2000" dirty="0"/>
              <a:t>[</a:t>
            </a:r>
            <a:r>
              <a:rPr lang="en-US" altLang="zh-CN" sz="2000" i="1" dirty="0" err="1"/>
              <a:t>A</a:t>
            </a:r>
            <a:r>
              <a:rPr lang="en-US" altLang="zh-CN" sz="2000" dirty="0" err="1"/>
              <a:t>,a</a:t>
            </a:r>
            <a:r>
              <a:rPr lang="en-US" altLang="zh-CN" sz="2000" dirty="0"/>
              <a:t>]</a:t>
            </a:r>
          </a:p>
          <a:p>
            <a:pPr marL="687388" lvl="1">
              <a:buSzPct val="75000"/>
              <a:buFont typeface="Symbol" pitchFamily="18" charset="2"/>
              <a:buNone/>
            </a:pPr>
            <a:endParaRPr lang="zh-CN" altLang="zh-CN" sz="600" dirty="0"/>
          </a:p>
          <a:p>
            <a:pPr marL="687388" lvl="1">
              <a:buSzPct val="75000"/>
              <a:buFont typeface="Symbol" pitchFamily="18" charset="2"/>
              <a:buChar char="-"/>
            </a:pPr>
            <a:r>
              <a:rPr lang="zh-CN" altLang="zh-CN" dirty="0"/>
              <a:t>把所有无定义的</a:t>
            </a:r>
            <a:r>
              <a:rPr lang="zh-CN" altLang="en-US" dirty="0"/>
              <a:t> </a:t>
            </a:r>
            <a:r>
              <a:rPr lang="en-US" altLang="zh-CN" i="1" dirty="0">
                <a:sym typeface="Symbol" pitchFamily="18" charset="2"/>
              </a:rPr>
              <a:t>M</a:t>
            </a:r>
            <a:r>
              <a:rPr lang="en-US" altLang="zh-CN" dirty="0"/>
              <a:t>[</a:t>
            </a:r>
            <a:r>
              <a:rPr lang="en-US" altLang="zh-CN" i="1" dirty="0" err="1"/>
              <a:t>A</a:t>
            </a:r>
            <a:r>
              <a:rPr lang="en-US" altLang="zh-CN" dirty="0" err="1"/>
              <a:t>,a</a:t>
            </a:r>
            <a:r>
              <a:rPr lang="en-US" altLang="zh-CN" dirty="0"/>
              <a:t>] </a:t>
            </a:r>
            <a:r>
              <a:rPr lang="zh-CN" altLang="zh-CN" dirty="0"/>
              <a:t>标上“出错标志”</a:t>
            </a:r>
            <a:endParaRPr lang="zh-CN" altLang="en-US" dirty="0"/>
          </a:p>
          <a:p>
            <a:pPr marL="687388" lvl="1">
              <a:buSzPct val="75000"/>
              <a:buFont typeface="Symbol" pitchFamily="18" charset="2"/>
              <a:buNone/>
            </a:pPr>
            <a:endParaRPr lang="zh-CN" altLang="en-US" sz="600" dirty="0"/>
          </a:p>
          <a:p>
            <a:pPr marL="687388" lvl="1">
              <a:buClr>
                <a:schemeClr val="tx1"/>
              </a:buClr>
              <a:buSzPct val="75000"/>
            </a:pPr>
            <a:r>
              <a:rPr lang="zh-CN" altLang="en-US" dirty="0">
                <a:solidFill>
                  <a:srgbClr val="800080"/>
                </a:solidFill>
              </a:rPr>
              <a:t>可以证明</a:t>
            </a:r>
            <a:r>
              <a:rPr lang="en-US" altLang="zh-CN" dirty="0"/>
              <a:t>: </a:t>
            </a:r>
            <a:r>
              <a:rPr lang="zh-CN" altLang="en-US" dirty="0"/>
              <a:t>一个文法 </a:t>
            </a:r>
            <a:r>
              <a:rPr lang="en-US" altLang="zh-CN" dirty="0"/>
              <a:t>G </a:t>
            </a:r>
            <a:r>
              <a:rPr lang="zh-CN" altLang="en-US" dirty="0"/>
              <a:t>的预测分析表不含多重入口，当且仅当该文法是 </a:t>
            </a:r>
            <a:r>
              <a:rPr lang="en-US" altLang="zh-CN" dirty="0"/>
              <a:t>LL(1) </a:t>
            </a:r>
            <a:r>
              <a:rPr lang="zh-CN" altLang="en-US" dirty="0"/>
              <a:t>文法</a:t>
            </a:r>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61</a:t>
            </a:fld>
            <a:endParaRPr lang="zh-CN" altLang="en-US">
              <a:solidFill>
                <a:srgbClr val="3F3F3F"/>
              </a:solidFill>
            </a:endParaRPr>
          </a:p>
        </p:txBody>
      </p:sp>
    </p:spTree>
    <p:extLst>
      <p:ext uri="{BB962C8B-B14F-4D97-AF65-F5344CB8AC3E}">
        <p14:creationId xmlns:p14="http://schemas.microsoft.com/office/powerpoint/2010/main" val="19997705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举例：预测分析表的构造</a:t>
            </a:r>
          </a:p>
          <a:p>
            <a:endParaRPr lang="zh-CN" altLang="en-US" dirty="0"/>
          </a:p>
        </p:txBody>
      </p:sp>
      <p:sp>
        <p:nvSpPr>
          <p:cNvPr id="11" name="Rectangle 17"/>
          <p:cNvSpPr>
            <a:spLocks noChangeArrowheads="1"/>
          </p:cNvSpPr>
          <p:nvPr/>
        </p:nvSpPr>
        <p:spPr bwMode="auto">
          <a:xfrm>
            <a:off x="900113" y="1773238"/>
            <a:ext cx="4176712" cy="2346325"/>
          </a:xfrm>
          <a:prstGeom prst="rect">
            <a:avLst/>
          </a:prstGeom>
          <a:noFill/>
          <a:ln w="9525">
            <a:noFill/>
            <a:miter lim="800000"/>
            <a:headEnd/>
            <a:tailEnd/>
          </a:ln>
        </p:spPr>
        <p:txBody>
          <a:bodyPr>
            <a:spAutoFit/>
          </a:bodyPr>
          <a:lstStyle/>
          <a:p>
            <a:pPr>
              <a:buClrTx/>
              <a:buFont typeface="Symbol" pitchFamily="18" charset="2"/>
              <a:buChar char="-"/>
            </a:pPr>
            <a:r>
              <a:rPr lang="en-US" altLang="zh-CN" sz="2800" b="1" dirty="0">
                <a:solidFill>
                  <a:srgbClr val="800080"/>
                </a:solidFill>
              </a:rPr>
              <a:t>  </a:t>
            </a:r>
            <a:r>
              <a:rPr lang="zh-CN" altLang="en-US" sz="2800" b="1" dirty="0">
                <a:latin typeface="楷体_GB2312" pitchFamily="49" charset="-122"/>
              </a:rPr>
              <a:t>对于下列文法</a:t>
            </a:r>
            <a:r>
              <a:rPr lang="en-US" altLang="zh-CN" sz="2800" b="1" i="1" dirty="0"/>
              <a:t>G</a:t>
            </a:r>
            <a:r>
              <a:rPr lang="en-US" altLang="zh-CN" sz="2800" dirty="0"/>
              <a:t>(</a:t>
            </a:r>
            <a:r>
              <a:rPr lang="en-US" altLang="zh-CN" sz="2800" b="1" i="1" dirty="0"/>
              <a:t>S</a:t>
            </a:r>
            <a:r>
              <a:rPr lang="en-US" altLang="zh-CN" sz="2800" dirty="0"/>
              <a:t>)</a:t>
            </a:r>
            <a:r>
              <a:rPr lang="zh-CN" altLang="en-US" sz="2800" dirty="0"/>
              <a:t>：</a:t>
            </a:r>
          </a:p>
          <a:p>
            <a:pPr>
              <a:buClrTx/>
              <a:buFont typeface="Symbol" pitchFamily="18" charset="2"/>
              <a:buNone/>
            </a:pPr>
            <a:endParaRPr lang="zh-CN" altLang="en-US" sz="1000" dirty="0"/>
          </a:p>
          <a:p>
            <a:r>
              <a:rPr lang="zh-CN" altLang="en-US" sz="2400" dirty="0"/>
              <a:t>        </a:t>
            </a:r>
            <a:r>
              <a:rPr lang="en-US" altLang="zh-CN" sz="2400" b="1" i="1" dirty="0"/>
              <a:t>S </a:t>
            </a:r>
            <a:r>
              <a:rPr lang="en-US" altLang="zh-CN" sz="2400" b="1" dirty="0">
                <a:sym typeface="Symbol" pitchFamily="18" charset="2"/>
              </a:rPr>
              <a:t></a:t>
            </a:r>
            <a:r>
              <a:rPr lang="en-US" altLang="zh-CN" sz="2400" b="1" i="1" dirty="0"/>
              <a:t> </a:t>
            </a:r>
            <a:r>
              <a:rPr lang="en-US" altLang="zh-CN" sz="2400" b="1" i="1" dirty="0" err="1"/>
              <a:t>AaS</a:t>
            </a:r>
            <a:r>
              <a:rPr lang="en-US" altLang="zh-CN" sz="2400" b="1" i="1" dirty="0"/>
              <a:t> </a:t>
            </a:r>
            <a:r>
              <a:rPr lang="en-US" altLang="zh-CN" sz="2400" b="1" dirty="0">
                <a:sym typeface="Symbol" pitchFamily="18" charset="2"/>
              </a:rPr>
              <a:t></a:t>
            </a:r>
            <a:r>
              <a:rPr lang="en-US" altLang="zh-CN" sz="2400" b="1" dirty="0"/>
              <a:t> </a:t>
            </a:r>
            <a:r>
              <a:rPr lang="en-US" altLang="zh-CN" sz="2400" b="1" i="1" dirty="0" err="1"/>
              <a:t>BbS</a:t>
            </a:r>
            <a:r>
              <a:rPr lang="en-US" altLang="zh-CN" sz="2400" b="1" dirty="0">
                <a:sym typeface="Symbol" pitchFamily="18" charset="2"/>
              </a:rPr>
              <a:t></a:t>
            </a:r>
            <a:r>
              <a:rPr lang="en-US" altLang="zh-CN" sz="2400" b="1" i="1" dirty="0"/>
              <a:t> d</a:t>
            </a:r>
          </a:p>
          <a:p>
            <a:r>
              <a:rPr lang="en-US" altLang="zh-CN" sz="2400" b="1" i="1" dirty="0"/>
              <a:t>        A </a:t>
            </a:r>
            <a:r>
              <a:rPr lang="en-US" altLang="zh-CN" sz="2400" b="1" dirty="0">
                <a:sym typeface="Symbol" pitchFamily="18" charset="2"/>
              </a:rPr>
              <a:t></a:t>
            </a:r>
            <a:r>
              <a:rPr lang="en-US" altLang="zh-CN" sz="2400" b="1" i="1" dirty="0"/>
              <a:t> a</a:t>
            </a:r>
          </a:p>
          <a:p>
            <a:r>
              <a:rPr lang="en-US" altLang="zh-CN" sz="2400" b="1" i="1" dirty="0"/>
              <a:t>        B </a:t>
            </a:r>
            <a:r>
              <a:rPr lang="en-US" altLang="zh-CN" sz="2400" b="1" dirty="0">
                <a:sym typeface="Symbol" pitchFamily="18" charset="2"/>
              </a:rPr>
              <a:t></a:t>
            </a:r>
            <a:r>
              <a:rPr lang="en-US" altLang="zh-CN" sz="2400" b="1" i="1" dirty="0"/>
              <a:t> </a:t>
            </a:r>
            <a:r>
              <a:rPr lang="en-US" altLang="zh-CN" sz="2400" b="1" i="1" dirty="0">
                <a:sym typeface="Symbol" pitchFamily="18" charset="2"/>
              </a:rPr>
              <a:t></a:t>
            </a:r>
            <a:r>
              <a:rPr lang="en-US" altLang="zh-CN" sz="2400" b="1" i="1" dirty="0"/>
              <a:t> </a:t>
            </a:r>
            <a:r>
              <a:rPr lang="en-US" altLang="zh-CN" sz="2400" b="1" dirty="0">
                <a:sym typeface="Symbol" pitchFamily="18" charset="2"/>
              </a:rPr>
              <a:t></a:t>
            </a:r>
            <a:r>
              <a:rPr lang="en-US" altLang="zh-CN" sz="2400" b="1" i="1" dirty="0"/>
              <a:t> c</a:t>
            </a:r>
          </a:p>
          <a:p>
            <a:endParaRPr lang="en-US" altLang="zh-CN" sz="1000" b="1" i="1" dirty="0"/>
          </a:p>
          <a:p>
            <a:r>
              <a:rPr lang="zh-CN" altLang="en-US" sz="2800" b="1" dirty="0"/>
              <a:t>可构造如下预测分析表：</a:t>
            </a:r>
          </a:p>
        </p:txBody>
      </p:sp>
      <p:graphicFrame>
        <p:nvGraphicFramePr>
          <p:cNvPr id="12" name="Object 21"/>
          <p:cNvGraphicFramePr>
            <a:graphicFrameLocks noChangeAspect="1"/>
          </p:cNvGraphicFramePr>
          <p:nvPr/>
        </p:nvGraphicFramePr>
        <p:xfrm>
          <a:off x="1454150" y="4221163"/>
          <a:ext cx="6213475" cy="2457450"/>
        </p:xfrm>
        <a:graphic>
          <a:graphicData uri="http://schemas.openxmlformats.org/presentationml/2006/ole">
            <mc:AlternateContent xmlns:mc="http://schemas.openxmlformats.org/markup-compatibility/2006">
              <mc:Choice xmlns:v="urn:schemas-microsoft-com:vml" Requires="v">
                <p:oleObj spid="_x0000_s19542" name="Visio" r:id="rId3" imgW="4903622" imgH="1939442" progId="Visio.Drawing.11">
                  <p:embed/>
                </p:oleObj>
              </mc:Choice>
              <mc:Fallback>
                <p:oleObj name="Visio" r:id="rId3" imgW="4903622" imgH="1939442"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4150" y="4221163"/>
                        <a:ext cx="6213475"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Rectangle 22"/>
          <p:cNvSpPr>
            <a:spLocks noChangeArrowheads="1"/>
          </p:cNvSpPr>
          <p:nvPr/>
        </p:nvSpPr>
        <p:spPr bwMode="auto">
          <a:xfrm>
            <a:off x="2176463" y="4832350"/>
            <a:ext cx="1085850" cy="396875"/>
          </a:xfrm>
          <a:prstGeom prst="rect">
            <a:avLst/>
          </a:prstGeom>
          <a:noFill/>
          <a:ln w="9525" algn="ctr">
            <a:noFill/>
            <a:miter lim="800000"/>
            <a:headEnd/>
            <a:tailEnd/>
          </a:ln>
        </p:spPr>
        <p:txBody>
          <a:bodyPr wrap="none">
            <a:spAutoFit/>
          </a:bodyPr>
          <a:lstStyle/>
          <a:p>
            <a:r>
              <a:rPr lang="en-US" altLang="zh-CN" i="1" dirty="0" err="1">
                <a:solidFill>
                  <a:srgbClr val="800080"/>
                </a:solidFill>
              </a:rPr>
              <a:t>S</a:t>
            </a:r>
            <a:r>
              <a:rPr lang="en-US" altLang="zh-CN" dirty="0" err="1">
                <a:solidFill>
                  <a:srgbClr val="800080"/>
                </a:solidFill>
                <a:sym typeface="Symbol" pitchFamily="18" charset="2"/>
              </a:rPr>
              <a:t></a:t>
            </a:r>
            <a:r>
              <a:rPr lang="en-US" altLang="zh-CN" i="1" dirty="0" err="1">
                <a:solidFill>
                  <a:srgbClr val="800080"/>
                </a:solidFill>
              </a:rPr>
              <a:t>AaS</a:t>
            </a:r>
            <a:endParaRPr lang="en-US" altLang="zh-CN" i="1" dirty="0">
              <a:solidFill>
                <a:srgbClr val="800080"/>
              </a:solidFill>
            </a:endParaRPr>
          </a:p>
        </p:txBody>
      </p:sp>
      <p:sp>
        <p:nvSpPr>
          <p:cNvPr id="14" name="Rectangle 23"/>
          <p:cNvSpPr>
            <a:spLocks noChangeArrowheads="1"/>
          </p:cNvSpPr>
          <p:nvPr/>
        </p:nvSpPr>
        <p:spPr bwMode="auto">
          <a:xfrm>
            <a:off x="3386138" y="4832350"/>
            <a:ext cx="1085850" cy="396875"/>
          </a:xfrm>
          <a:prstGeom prst="rect">
            <a:avLst/>
          </a:prstGeom>
          <a:noFill/>
          <a:ln w="9525" algn="ctr">
            <a:noFill/>
            <a:miter lim="800000"/>
            <a:headEnd/>
            <a:tailEnd/>
          </a:ln>
        </p:spPr>
        <p:txBody>
          <a:bodyPr wrap="none">
            <a:spAutoFit/>
          </a:bodyPr>
          <a:lstStyle/>
          <a:p>
            <a:r>
              <a:rPr lang="en-US" altLang="zh-CN" i="1" dirty="0" err="1">
                <a:solidFill>
                  <a:srgbClr val="800080"/>
                </a:solidFill>
              </a:rPr>
              <a:t>S</a:t>
            </a:r>
            <a:r>
              <a:rPr lang="en-US" altLang="zh-CN" dirty="0" err="1">
                <a:solidFill>
                  <a:srgbClr val="800080"/>
                </a:solidFill>
                <a:sym typeface="Symbol" pitchFamily="18" charset="2"/>
              </a:rPr>
              <a:t></a:t>
            </a:r>
            <a:r>
              <a:rPr lang="en-US" altLang="zh-CN" i="1" dirty="0" err="1">
                <a:solidFill>
                  <a:srgbClr val="800080"/>
                </a:solidFill>
              </a:rPr>
              <a:t>BbS</a:t>
            </a:r>
            <a:endParaRPr lang="en-US" altLang="zh-CN" i="1" dirty="0">
              <a:solidFill>
                <a:srgbClr val="800080"/>
              </a:solidFill>
            </a:endParaRPr>
          </a:p>
        </p:txBody>
      </p:sp>
      <p:sp>
        <p:nvSpPr>
          <p:cNvPr id="15" name="Rectangle 24"/>
          <p:cNvSpPr>
            <a:spLocks noChangeArrowheads="1"/>
          </p:cNvSpPr>
          <p:nvPr/>
        </p:nvSpPr>
        <p:spPr bwMode="auto">
          <a:xfrm>
            <a:off x="5795963" y="4832350"/>
            <a:ext cx="746125" cy="396875"/>
          </a:xfrm>
          <a:prstGeom prst="rect">
            <a:avLst/>
          </a:prstGeom>
          <a:noFill/>
          <a:ln w="9525" algn="ctr">
            <a:noFill/>
            <a:miter lim="800000"/>
            <a:headEnd/>
            <a:tailEnd/>
          </a:ln>
        </p:spPr>
        <p:txBody>
          <a:bodyPr wrap="none">
            <a:spAutoFit/>
          </a:bodyPr>
          <a:lstStyle/>
          <a:p>
            <a:r>
              <a:rPr lang="en-US" altLang="zh-CN" i="1">
                <a:solidFill>
                  <a:srgbClr val="800080"/>
                </a:solidFill>
              </a:rPr>
              <a:t>S</a:t>
            </a:r>
            <a:r>
              <a:rPr lang="en-US" altLang="zh-CN">
                <a:solidFill>
                  <a:srgbClr val="800080"/>
                </a:solidFill>
                <a:sym typeface="Symbol" pitchFamily="18" charset="2"/>
              </a:rPr>
              <a:t></a:t>
            </a:r>
            <a:r>
              <a:rPr lang="en-US" altLang="zh-CN" i="1">
                <a:solidFill>
                  <a:srgbClr val="800080"/>
                </a:solidFill>
              </a:rPr>
              <a:t>d</a:t>
            </a:r>
          </a:p>
        </p:txBody>
      </p:sp>
      <p:sp>
        <p:nvSpPr>
          <p:cNvPr id="16" name="Rectangle 25"/>
          <p:cNvSpPr>
            <a:spLocks noChangeArrowheads="1"/>
          </p:cNvSpPr>
          <p:nvPr/>
        </p:nvSpPr>
        <p:spPr bwMode="auto">
          <a:xfrm>
            <a:off x="2339975" y="5480050"/>
            <a:ext cx="746125" cy="396875"/>
          </a:xfrm>
          <a:prstGeom prst="rect">
            <a:avLst/>
          </a:prstGeom>
          <a:noFill/>
          <a:ln w="9525" algn="ctr">
            <a:noFill/>
            <a:miter lim="800000"/>
            <a:headEnd/>
            <a:tailEnd/>
          </a:ln>
        </p:spPr>
        <p:txBody>
          <a:bodyPr wrap="none">
            <a:spAutoFit/>
          </a:bodyPr>
          <a:lstStyle/>
          <a:p>
            <a:r>
              <a:rPr lang="en-US" altLang="zh-CN" i="1">
                <a:solidFill>
                  <a:srgbClr val="800080"/>
                </a:solidFill>
              </a:rPr>
              <a:t>A</a:t>
            </a:r>
            <a:r>
              <a:rPr lang="en-US" altLang="zh-CN">
                <a:solidFill>
                  <a:srgbClr val="800080"/>
                </a:solidFill>
                <a:sym typeface="Symbol" pitchFamily="18" charset="2"/>
              </a:rPr>
              <a:t></a:t>
            </a:r>
            <a:r>
              <a:rPr lang="en-US" altLang="zh-CN" i="1">
                <a:solidFill>
                  <a:srgbClr val="800080"/>
                </a:solidFill>
              </a:rPr>
              <a:t>a</a:t>
            </a:r>
          </a:p>
        </p:txBody>
      </p:sp>
      <p:sp>
        <p:nvSpPr>
          <p:cNvPr id="17" name="Rectangle 26"/>
          <p:cNvSpPr>
            <a:spLocks noChangeArrowheads="1"/>
          </p:cNvSpPr>
          <p:nvPr/>
        </p:nvSpPr>
        <p:spPr bwMode="auto">
          <a:xfrm>
            <a:off x="3568700" y="6127750"/>
            <a:ext cx="715963" cy="396875"/>
          </a:xfrm>
          <a:prstGeom prst="rect">
            <a:avLst/>
          </a:prstGeom>
          <a:noFill/>
          <a:ln w="9525" algn="ctr">
            <a:noFill/>
            <a:miter lim="800000"/>
            <a:headEnd/>
            <a:tailEnd/>
          </a:ln>
        </p:spPr>
        <p:txBody>
          <a:bodyPr wrap="none">
            <a:spAutoFit/>
          </a:bodyPr>
          <a:lstStyle/>
          <a:p>
            <a:r>
              <a:rPr lang="en-US" altLang="zh-CN" i="1">
                <a:solidFill>
                  <a:srgbClr val="800080"/>
                </a:solidFill>
              </a:rPr>
              <a:t>B</a:t>
            </a:r>
            <a:r>
              <a:rPr lang="en-US" altLang="zh-CN">
                <a:solidFill>
                  <a:srgbClr val="800080"/>
                </a:solidFill>
                <a:sym typeface="Symbol" pitchFamily="18" charset="2"/>
              </a:rPr>
              <a:t></a:t>
            </a:r>
            <a:r>
              <a:rPr lang="en-US" altLang="zh-CN" i="1">
                <a:solidFill>
                  <a:srgbClr val="800080"/>
                </a:solidFill>
                <a:sym typeface="Symbol" pitchFamily="18" charset="2"/>
              </a:rPr>
              <a:t></a:t>
            </a:r>
          </a:p>
        </p:txBody>
      </p:sp>
      <p:sp>
        <p:nvSpPr>
          <p:cNvPr id="18" name="Rectangle 27"/>
          <p:cNvSpPr>
            <a:spLocks noChangeArrowheads="1"/>
          </p:cNvSpPr>
          <p:nvPr/>
        </p:nvSpPr>
        <p:spPr bwMode="auto">
          <a:xfrm>
            <a:off x="4716463" y="6127750"/>
            <a:ext cx="731837" cy="396875"/>
          </a:xfrm>
          <a:prstGeom prst="rect">
            <a:avLst/>
          </a:prstGeom>
          <a:noFill/>
          <a:ln w="9525" algn="ctr">
            <a:noFill/>
            <a:miter lim="800000"/>
            <a:headEnd/>
            <a:tailEnd/>
          </a:ln>
        </p:spPr>
        <p:txBody>
          <a:bodyPr wrap="none">
            <a:spAutoFit/>
          </a:bodyPr>
          <a:lstStyle/>
          <a:p>
            <a:r>
              <a:rPr lang="en-US" altLang="zh-CN" i="1">
                <a:solidFill>
                  <a:srgbClr val="800080"/>
                </a:solidFill>
              </a:rPr>
              <a:t>B</a:t>
            </a:r>
            <a:r>
              <a:rPr lang="en-US" altLang="zh-CN">
                <a:solidFill>
                  <a:srgbClr val="800080"/>
                </a:solidFill>
                <a:sym typeface="Symbol" pitchFamily="18" charset="2"/>
              </a:rPr>
              <a:t></a:t>
            </a:r>
            <a:r>
              <a:rPr lang="en-US" altLang="zh-CN" i="1">
                <a:solidFill>
                  <a:srgbClr val="800080"/>
                </a:solidFill>
                <a:sym typeface="Symbol" pitchFamily="18" charset="2"/>
              </a:rPr>
              <a:t>c</a:t>
            </a:r>
          </a:p>
        </p:txBody>
      </p:sp>
      <p:sp>
        <p:nvSpPr>
          <p:cNvPr id="19" name="Rectangle 29"/>
          <p:cNvSpPr>
            <a:spLocks noChangeArrowheads="1"/>
          </p:cNvSpPr>
          <p:nvPr/>
        </p:nvSpPr>
        <p:spPr bwMode="auto">
          <a:xfrm>
            <a:off x="4500563" y="4832350"/>
            <a:ext cx="1085850" cy="396875"/>
          </a:xfrm>
          <a:prstGeom prst="rect">
            <a:avLst/>
          </a:prstGeom>
          <a:noFill/>
          <a:ln w="9525" algn="ctr">
            <a:noFill/>
            <a:miter lim="800000"/>
            <a:headEnd/>
            <a:tailEnd/>
          </a:ln>
        </p:spPr>
        <p:txBody>
          <a:bodyPr wrap="none">
            <a:spAutoFit/>
          </a:bodyPr>
          <a:lstStyle/>
          <a:p>
            <a:r>
              <a:rPr lang="en-US" altLang="zh-CN" i="1" dirty="0" err="1">
                <a:solidFill>
                  <a:srgbClr val="800080"/>
                </a:solidFill>
              </a:rPr>
              <a:t>S</a:t>
            </a:r>
            <a:r>
              <a:rPr lang="en-US" altLang="zh-CN" dirty="0" err="1">
                <a:solidFill>
                  <a:srgbClr val="800080"/>
                </a:solidFill>
                <a:sym typeface="Symbol" pitchFamily="18" charset="2"/>
              </a:rPr>
              <a:t></a:t>
            </a:r>
            <a:r>
              <a:rPr lang="en-US" altLang="zh-CN" i="1" dirty="0" err="1">
                <a:solidFill>
                  <a:srgbClr val="800080"/>
                </a:solidFill>
              </a:rPr>
              <a:t>BbS</a:t>
            </a:r>
            <a:endParaRPr lang="en-US" altLang="zh-CN" i="1" dirty="0">
              <a:solidFill>
                <a:srgbClr val="800080"/>
              </a:solidFill>
            </a:endParaRPr>
          </a:p>
        </p:txBody>
      </p:sp>
      <p:sp>
        <p:nvSpPr>
          <p:cNvPr id="20" name="Rectangle 31"/>
          <p:cNvSpPr>
            <a:spLocks noChangeArrowheads="1"/>
          </p:cNvSpPr>
          <p:nvPr/>
        </p:nvSpPr>
        <p:spPr bwMode="auto">
          <a:xfrm>
            <a:off x="5435600" y="1916113"/>
            <a:ext cx="2951163" cy="1754326"/>
          </a:xfrm>
          <a:prstGeom prst="rect">
            <a:avLst/>
          </a:prstGeom>
          <a:noFill/>
          <a:ln w="9525">
            <a:noFill/>
            <a:miter lim="800000"/>
            <a:headEnd/>
            <a:tailEnd/>
          </a:ln>
        </p:spPr>
        <p:txBody>
          <a:bodyPr>
            <a:spAutoFit/>
          </a:bodyPr>
          <a:lstStyle/>
          <a:p>
            <a:r>
              <a:rPr lang="pt-BR" altLang="zh-CN" i="1" dirty="0"/>
              <a:t>SELECT</a:t>
            </a:r>
            <a:r>
              <a:rPr lang="pt-BR" altLang="zh-CN" dirty="0"/>
              <a:t>(</a:t>
            </a:r>
            <a:r>
              <a:rPr lang="en-US" altLang="zh-CN" i="1" dirty="0" err="1"/>
              <a:t>S</a:t>
            </a:r>
            <a:r>
              <a:rPr lang="en-US" altLang="zh-CN" dirty="0" err="1">
                <a:sym typeface="Symbol" pitchFamily="18" charset="2"/>
              </a:rPr>
              <a:t></a:t>
            </a:r>
            <a:r>
              <a:rPr lang="en-US" altLang="zh-CN" i="1" dirty="0" err="1"/>
              <a:t>AaS</a:t>
            </a:r>
            <a:r>
              <a:rPr lang="pt-BR" altLang="zh-CN" dirty="0"/>
              <a:t>) = {</a:t>
            </a:r>
            <a:r>
              <a:rPr lang="pt-BR" altLang="zh-CN" i="1" dirty="0"/>
              <a:t>a</a:t>
            </a:r>
            <a:r>
              <a:rPr lang="pt-BR" altLang="zh-CN" dirty="0"/>
              <a:t>}</a:t>
            </a:r>
          </a:p>
          <a:p>
            <a:r>
              <a:rPr lang="pt-BR" altLang="zh-CN" i="1" dirty="0"/>
              <a:t>SELECT</a:t>
            </a:r>
            <a:r>
              <a:rPr lang="pt-BR" altLang="zh-CN" dirty="0"/>
              <a:t>(</a:t>
            </a:r>
            <a:r>
              <a:rPr lang="en-US" altLang="zh-CN" i="1" dirty="0" err="1"/>
              <a:t>S</a:t>
            </a:r>
            <a:r>
              <a:rPr lang="en-US" altLang="zh-CN" dirty="0" err="1">
                <a:sym typeface="Symbol" pitchFamily="18" charset="2"/>
              </a:rPr>
              <a:t></a:t>
            </a:r>
            <a:r>
              <a:rPr lang="en-US" altLang="zh-CN" i="1" dirty="0" err="1"/>
              <a:t>BbS</a:t>
            </a:r>
            <a:r>
              <a:rPr lang="pt-BR" altLang="zh-CN" dirty="0"/>
              <a:t>) = {</a:t>
            </a:r>
            <a:r>
              <a:rPr lang="pt-BR" altLang="zh-CN" i="1" dirty="0"/>
              <a:t>c,b</a:t>
            </a:r>
            <a:r>
              <a:rPr lang="pt-BR" altLang="zh-CN" dirty="0"/>
              <a:t>} </a:t>
            </a:r>
            <a:endParaRPr lang="en-US" altLang="zh-CN" dirty="0"/>
          </a:p>
          <a:p>
            <a:r>
              <a:rPr lang="pt-BR" altLang="zh-CN" i="1" dirty="0"/>
              <a:t>SELECT</a:t>
            </a:r>
            <a:r>
              <a:rPr lang="pt-BR" altLang="zh-CN" dirty="0"/>
              <a:t>(</a:t>
            </a:r>
            <a:r>
              <a:rPr lang="en-US" altLang="zh-CN" i="1" dirty="0" err="1"/>
              <a:t>S</a:t>
            </a:r>
            <a:r>
              <a:rPr lang="en-US" altLang="zh-CN" dirty="0" err="1">
                <a:sym typeface="Symbol" pitchFamily="18" charset="2"/>
              </a:rPr>
              <a:t></a:t>
            </a:r>
            <a:r>
              <a:rPr lang="en-US" altLang="zh-CN" i="1" dirty="0" err="1"/>
              <a:t>d</a:t>
            </a:r>
            <a:r>
              <a:rPr lang="pt-BR" altLang="zh-CN" dirty="0"/>
              <a:t>) = {</a:t>
            </a:r>
            <a:r>
              <a:rPr lang="pt-BR" altLang="zh-CN" i="1" dirty="0"/>
              <a:t>d</a:t>
            </a:r>
            <a:r>
              <a:rPr lang="pt-BR" altLang="zh-CN" dirty="0"/>
              <a:t>}</a:t>
            </a:r>
          </a:p>
          <a:p>
            <a:r>
              <a:rPr lang="pt-BR" altLang="zh-CN" i="1" dirty="0"/>
              <a:t>SELECT</a:t>
            </a:r>
            <a:r>
              <a:rPr lang="pt-BR" altLang="zh-CN" dirty="0"/>
              <a:t>(</a:t>
            </a:r>
            <a:r>
              <a:rPr lang="en-US" altLang="zh-CN" i="1" dirty="0" err="1"/>
              <a:t>A</a:t>
            </a:r>
            <a:r>
              <a:rPr lang="en-US" altLang="zh-CN" dirty="0" err="1">
                <a:sym typeface="Symbol" pitchFamily="18" charset="2"/>
              </a:rPr>
              <a:t></a:t>
            </a:r>
            <a:r>
              <a:rPr lang="en-US" altLang="zh-CN" i="1" dirty="0" err="1">
                <a:sym typeface="Symbol" pitchFamily="18" charset="2"/>
              </a:rPr>
              <a:t>a</a:t>
            </a:r>
            <a:r>
              <a:rPr lang="pt-BR" altLang="zh-CN" dirty="0"/>
              <a:t>) = {</a:t>
            </a:r>
            <a:r>
              <a:rPr lang="pt-BR" altLang="zh-CN" i="1" dirty="0"/>
              <a:t>a</a:t>
            </a:r>
            <a:r>
              <a:rPr lang="pt-BR" altLang="zh-CN" dirty="0"/>
              <a:t>}</a:t>
            </a:r>
            <a:endParaRPr lang="en-US" altLang="zh-CN" dirty="0"/>
          </a:p>
          <a:p>
            <a:r>
              <a:rPr lang="pt-BR" altLang="zh-CN" i="1" dirty="0"/>
              <a:t>SELECT</a:t>
            </a:r>
            <a:r>
              <a:rPr lang="pt-BR" altLang="zh-CN" dirty="0"/>
              <a:t>(</a:t>
            </a:r>
            <a:r>
              <a:rPr lang="en-US" altLang="zh-CN" i="1" dirty="0"/>
              <a:t>B</a:t>
            </a:r>
            <a:r>
              <a:rPr lang="en-US" altLang="zh-CN" dirty="0">
                <a:sym typeface="Symbol" pitchFamily="18" charset="2"/>
              </a:rPr>
              <a:t></a:t>
            </a:r>
            <a:r>
              <a:rPr lang="en-US" altLang="zh-CN" i="1" dirty="0">
                <a:sym typeface="Symbol" pitchFamily="18" charset="2"/>
              </a:rPr>
              <a:t></a:t>
            </a:r>
            <a:r>
              <a:rPr lang="pt-BR" altLang="zh-CN" dirty="0"/>
              <a:t>) = {</a:t>
            </a:r>
            <a:r>
              <a:rPr lang="pt-BR" altLang="zh-CN" i="1" dirty="0"/>
              <a:t>b</a:t>
            </a:r>
            <a:r>
              <a:rPr lang="pt-BR" altLang="zh-CN" dirty="0"/>
              <a:t>}</a:t>
            </a:r>
            <a:endParaRPr lang="zh-CN" altLang="pt-BR" b="1" dirty="0"/>
          </a:p>
          <a:p>
            <a:r>
              <a:rPr lang="pt-BR" altLang="zh-CN" i="1" dirty="0"/>
              <a:t>SELECT</a:t>
            </a:r>
            <a:r>
              <a:rPr lang="pt-BR" altLang="zh-CN" dirty="0"/>
              <a:t>(</a:t>
            </a:r>
            <a:r>
              <a:rPr lang="en-US" altLang="zh-CN" i="1" dirty="0" err="1"/>
              <a:t>B</a:t>
            </a:r>
            <a:r>
              <a:rPr lang="en-US" altLang="zh-CN" dirty="0" err="1">
                <a:sym typeface="Symbol" pitchFamily="18" charset="2"/>
              </a:rPr>
              <a:t></a:t>
            </a:r>
            <a:r>
              <a:rPr lang="en-US" altLang="zh-CN" i="1" dirty="0" err="1">
                <a:sym typeface="Symbol" pitchFamily="18" charset="2"/>
              </a:rPr>
              <a:t>c</a:t>
            </a:r>
            <a:r>
              <a:rPr lang="pt-BR" altLang="zh-CN" dirty="0"/>
              <a:t>) = {</a:t>
            </a:r>
            <a:r>
              <a:rPr lang="pt-BR" altLang="zh-CN" i="1" dirty="0"/>
              <a:t>c</a:t>
            </a:r>
            <a:r>
              <a:rPr lang="pt-BR" altLang="zh-CN" dirty="0"/>
              <a:t>}</a:t>
            </a:r>
            <a:endParaRPr lang="en-US" altLang="zh-CN"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62</a:t>
            </a:fld>
            <a:endParaRPr lang="zh-CN" altLang="en-US">
              <a:solidFill>
                <a:srgbClr val="3F3F3F"/>
              </a:solidFill>
            </a:endParaRPr>
          </a:p>
        </p:txBody>
      </p:sp>
    </p:spTree>
    <p:extLst>
      <p:ext uri="{BB962C8B-B14F-4D97-AF65-F5344CB8AC3E}">
        <p14:creationId xmlns:p14="http://schemas.microsoft.com/office/powerpoint/2010/main" val="25219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lide(fromBottom)">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1">
                                            <p:txEl>
                                              <p:pRg st="6" end="6"/>
                                            </p:txEl>
                                          </p:spTgt>
                                        </p:tgtEl>
                                        <p:attrNameLst>
                                          <p:attrName>style.visibility</p:attrName>
                                        </p:attrNameLst>
                                      </p:cBhvr>
                                      <p:to>
                                        <p:strVal val="visible"/>
                                      </p:to>
                                    </p:set>
                                    <p:animEffect transition="in" filter="slide(fromBottom)">
                                      <p:cBhvr>
                                        <p:cTn id="12" dur="500"/>
                                        <p:tgtEl>
                                          <p:spTgt spid="11">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lide(fromBottom)">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ssolv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dissolv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dissolve">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工作原理：利用</a:t>
            </a:r>
            <a:r>
              <a:rPr lang="zh-CN" altLang="en-US" dirty="0">
                <a:solidFill>
                  <a:srgbClr val="FF0000"/>
                </a:solidFill>
              </a:rPr>
              <a:t>预测分析表</a:t>
            </a:r>
            <a:r>
              <a:rPr lang="zh-CN" altLang="en-US" dirty="0"/>
              <a:t>和一个</a:t>
            </a:r>
            <a:r>
              <a:rPr lang="zh-CN" altLang="en-US" dirty="0">
                <a:solidFill>
                  <a:srgbClr val="FF0000"/>
                </a:solidFill>
              </a:rPr>
              <a:t>下推栈</a:t>
            </a:r>
            <a:r>
              <a:rPr lang="zh-CN" altLang="en-US" dirty="0"/>
              <a:t>实现</a:t>
            </a:r>
          </a:p>
          <a:p>
            <a:r>
              <a:rPr lang="zh-CN" altLang="en-US" dirty="0"/>
              <a:t> 初始时，</a:t>
            </a:r>
            <a:r>
              <a:rPr lang="zh-CN" altLang="en-US" dirty="0">
                <a:solidFill>
                  <a:srgbClr val="FF0000"/>
                </a:solidFill>
              </a:rPr>
              <a:t>下推栈</a:t>
            </a:r>
            <a:r>
              <a:rPr lang="zh-CN" altLang="en-US" dirty="0"/>
              <a:t>只包含</a:t>
            </a:r>
            <a:r>
              <a:rPr lang="en-US" altLang="zh-CN" dirty="0">
                <a:solidFill>
                  <a:srgbClr val="FF0000"/>
                </a:solidFill>
              </a:rPr>
              <a:t>#</a:t>
            </a:r>
            <a:r>
              <a:rPr lang="zh-CN" altLang="en-US" dirty="0"/>
              <a:t>；首先将文法</a:t>
            </a:r>
            <a:r>
              <a:rPr lang="zh-CN" altLang="en-US" dirty="0">
                <a:solidFill>
                  <a:srgbClr val="FF0000"/>
                </a:solidFill>
              </a:rPr>
              <a:t>开始符号入栈</a:t>
            </a:r>
            <a:r>
              <a:rPr lang="zh-CN" altLang="en-US" dirty="0"/>
              <a:t>；之后依如下步骤：</a:t>
            </a:r>
            <a:endParaRPr lang="en-US" altLang="zh-CN" dirty="0"/>
          </a:p>
          <a:p>
            <a:pPr lvl="1"/>
            <a:r>
              <a:rPr lang="zh-CN" altLang="en-US" dirty="0"/>
              <a:t>（</a:t>
            </a:r>
            <a:r>
              <a:rPr lang="en-US" altLang="zh-CN" dirty="0"/>
              <a:t>1</a:t>
            </a:r>
            <a:r>
              <a:rPr lang="zh-CN" altLang="en-US" dirty="0"/>
              <a:t>） 若栈顶为终结符，则判断当前读入的单词是否与该终结符相匹配，若匹配，再读取下一 单词继续分析；不匹配，则进行出错处理；</a:t>
            </a:r>
            <a:endParaRPr lang="en-US" altLang="zh-CN" dirty="0"/>
          </a:p>
          <a:p>
            <a:pPr lvl="1"/>
            <a:r>
              <a:rPr lang="zh-CN" altLang="en-US" dirty="0"/>
              <a:t>（</a:t>
            </a:r>
            <a:r>
              <a:rPr lang="en-US" altLang="zh-CN" dirty="0"/>
              <a:t>2</a:t>
            </a:r>
            <a:r>
              <a:rPr lang="zh-CN" altLang="en-US" dirty="0"/>
              <a:t>）若栈顶为非终结符，则根据该非终结符和当前输入单词查预测分析表，若相应表项中是产生式（唯一的）， 则将此非终结符出栈，并把产生式右部符号</a:t>
            </a:r>
            <a:r>
              <a:rPr lang="zh-CN" altLang="en-US" dirty="0">
                <a:solidFill>
                  <a:srgbClr val="FF0000"/>
                </a:solidFill>
              </a:rPr>
              <a:t>从右至左</a:t>
            </a:r>
            <a:r>
              <a:rPr lang="zh-CN" altLang="en-US" dirty="0"/>
              <a:t>入栈；若表项为空，则进行出错处理；</a:t>
            </a:r>
          </a:p>
          <a:p>
            <a:pPr lvl="1"/>
            <a:r>
              <a:rPr lang="zh-CN" altLang="en-US" dirty="0"/>
              <a:t>（</a:t>
            </a:r>
            <a:r>
              <a:rPr lang="en-US" altLang="zh-CN" dirty="0"/>
              <a:t>3</a:t>
            </a:r>
            <a:r>
              <a:rPr lang="zh-CN" altLang="en-US" dirty="0"/>
              <a:t>）重复（</a:t>
            </a:r>
            <a:r>
              <a:rPr lang="en-US" altLang="zh-CN" dirty="0"/>
              <a:t>1</a:t>
            </a:r>
            <a:r>
              <a:rPr lang="zh-CN" altLang="en-US" dirty="0"/>
              <a:t>）和（</a:t>
            </a:r>
            <a:r>
              <a:rPr lang="en-US" altLang="zh-CN" dirty="0"/>
              <a:t>2</a:t>
            </a:r>
            <a:r>
              <a:rPr lang="zh-CN" altLang="en-US" dirty="0"/>
              <a:t>），直到栈顶为 </a:t>
            </a:r>
            <a:r>
              <a:rPr lang="en-US" altLang="zh-CN" dirty="0"/>
              <a:t># </a:t>
            </a:r>
            <a:r>
              <a:rPr lang="zh-CN" altLang="en-US" dirty="0"/>
              <a:t>同时输入也遇到结束符 </a:t>
            </a:r>
            <a:r>
              <a:rPr lang="en-US" altLang="zh-CN" dirty="0"/>
              <a:t># </a:t>
            </a:r>
            <a:r>
              <a:rPr lang="zh-CN" altLang="en-US" dirty="0"/>
              <a:t>时，分析结束</a:t>
            </a:r>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63</a:t>
            </a:fld>
            <a:endParaRPr lang="zh-CN" altLang="en-US">
              <a:solidFill>
                <a:srgbClr val="3F3F3F"/>
              </a:solidFill>
            </a:endParaRPr>
          </a:p>
        </p:txBody>
      </p:sp>
    </p:spTree>
    <p:extLst>
      <p:ext uri="{BB962C8B-B14F-4D97-AF65-F5344CB8AC3E}">
        <p14:creationId xmlns:p14="http://schemas.microsoft.com/office/powerpoint/2010/main" val="12943210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预测分析器组成</a:t>
            </a:r>
          </a:p>
          <a:p>
            <a:endParaRPr lang="zh-CN" altLang="en-US" dirty="0"/>
          </a:p>
        </p:txBody>
      </p:sp>
      <p:sp>
        <p:nvSpPr>
          <p:cNvPr id="4" name="Rectangle 3"/>
          <p:cNvSpPr>
            <a:spLocks noChangeArrowheads="1"/>
          </p:cNvSpPr>
          <p:nvPr/>
        </p:nvSpPr>
        <p:spPr bwMode="auto">
          <a:xfrm>
            <a:off x="7451725" y="1766888"/>
            <a:ext cx="1584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r>
              <a:rPr lang="zh-CN" altLang="en-US" sz="1800">
                <a:solidFill>
                  <a:srgbClr val="990000"/>
                </a:solidFill>
                <a:latin typeface="Arial" pitchFamily="34" charset="0"/>
                <a:ea typeface="黑体" pitchFamily="49" charset="-122"/>
              </a:rPr>
              <a:t> 输入缓冲区</a:t>
            </a:r>
            <a:r>
              <a:rPr lang="zh-CN" altLang="en-US" sz="1800">
                <a:solidFill>
                  <a:srgbClr val="990000"/>
                </a:solidFill>
                <a:latin typeface="Arial" pitchFamily="34" charset="0"/>
              </a:rPr>
              <a:t> </a:t>
            </a:r>
          </a:p>
        </p:txBody>
      </p:sp>
      <p:sp>
        <p:nvSpPr>
          <p:cNvPr id="5" name="Rectangle 4"/>
          <p:cNvSpPr>
            <a:spLocks noChangeArrowheads="1"/>
          </p:cNvSpPr>
          <p:nvPr/>
        </p:nvSpPr>
        <p:spPr bwMode="auto">
          <a:xfrm>
            <a:off x="468313" y="5084763"/>
            <a:ext cx="8077200" cy="140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eaLnBrk="1" fontAlgn="base" hangingPunct="1">
              <a:lnSpc>
                <a:spcPct val="110000"/>
              </a:lnSpc>
              <a:spcBef>
                <a:spcPct val="0"/>
              </a:spcBef>
              <a:spcAft>
                <a:spcPct val="0"/>
              </a:spcAft>
            </a:pPr>
            <a:r>
              <a:rPr lang="zh-CN" altLang="en-US" sz="2000" dirty="0">
                <a:solidFill>
                  <a:srgbClr val="000000"/>
                </a:solidFill>
                <a:latin typeface="Arial" pitchFamily="34" charset="0"/>
                <a:ea typeface="黑体" pitchFamily="49" charset="-122"/>
              </a:rPr>
              <a:t>输入缓冲区</a:t>
            </a:r>
            <a:r>
              <a:rPr lang="zh-CN" altLang="en-US" sz="2000" b="1" dirty="0">
                <a:solidFill>
                  <a:srgbClr val="000000"/>
                </a:solidFill>
                <a:latin typeface="Arial" pitchFamily="34" charset="0"/>
                <a:ea typeface="黑体" pitchFamily="49" charset="-122"/>
              </a:rPr>
              <a:t>：</a:t>
            </a:r>
            <a:r>
              <a:rPr lang="zh-CN" altLang="en-US" sz="2000" dirty="0">
                <a:solidFill>
                  <a:srgbClr val="000000"/>
                </a:solidFill>
                <a:latin typeface="Arial" pitchFamily="34" charset="0"/>
              </a:rPr>
              <a:t>存放要分析的词汇串</a:t>
            </a:r>
          </a:p>
          <a:p>
            <a:pPr algn="just" fontAlgn="base">
              <a:lnSpc>
                <a:spcPct val="110000"/>
              </a:lnSpc>
              <a:spcBef>
                <a:spcPct val="0"/>
              </a:spcBef>
              <a:spcAft>
                <a:spcPct val="0"/>
              </a:spcAft>
            </a:pPr>
            <a:r>
              <a:rPr lang="zh-CN" altLang="en-US" sz="2000" dirty="0">
                <a:solidFill>
                  <a:srgbClr val="000000"/>
                </a:solidFill>
                <a:latin typeface="Times New Roman" pitchFamily="18" charset="0"/>
                <a:ea typeface="黑体" pitchFamily="49" charset="-122"/>
              </a:rPr>
              <a:t>分析栈：</a:t>
            </a:r>
            <a:r>
              <a:rPr lang="zh-CN" altLang="en-US" sz="2000" dirty="0">
                <a:solidFill>
                  <a:srgbClr val="000000"/>
                </a:solidFill>
              </a:rPr>
              <a:t>存放当前句型中尚待分析的文法符号</a:t>
            </a:r>
            <a:endParaRPr lang="zh-CN" altLang="en-US" sz="2000" dirty="0">
              <a:solidFill>
                <a:srgbClr val="000000"/>
              </a:solidFill>
              <a:latin typeface="Arial" pitchFamily="34" charset="0"/>
            </a:endParaRPr>
          </a:p>
          <a:p>
            <a:pPr fontAlgn="base">
              <a:lnSpc>
                <a:spcPct val="110000"/>
              </a:lnSpc>
              <a:spcBef>
                <a:spcPct val="0"/>
              </a:spcBef>
              <a:spcAft>
                <a:spcPct val="0"/>
              </a:spcAft>
            </a:pPr>
            <a:r>
              <a:rPr lang="zh-CN" altLang="en-US" sz="2000" dirty="0">
                <a:solidFill>
                  <a:srgbClr val="000000"/>
                </a:solidFill>
                <a:latin typeface="黑体" pitchFamily="49" charset="-122"/>
                <a:ea typeface="黑体" pitchFamily="49" charset="-122"/>
              </a:rPr>
              <a:t>分析表</a:t>
            </a:r>
            <a:r>
              <a:rPr lang="en-US" altLang="zh-CN" sz="2000" dirty="0">
                <a:solidFill>
                  <a:srgbClr val="000000"/>
                </a:solidFill>
                <a:latin typeface="黑体" pitchFamily="49" charset="-122"/>
                <a:ea typeface="黑体" pitchFamily="49" charset="-122"/>
              </a:rPr>
              <a:t>M：</a:t>
            </a:r>
            <a:r>
              <a:rPr lang="zh-CN" altLang="en-US" sz="2000" dirty="0">
                <a:solidFill>
                  <a:srgbClr val="000000"/>
                </a:solidFill>
                <a:latin typeface="宋体" pitchFamily="2" charset="-122"/>
              </a:rPr>
              <a:t>是个矩阵。每行对应文法的一个非终结符</a:t>
            </a:r>
            <a:r>
              <a:rPr lang="en-US" altLang="zh-CN" sz="2000" b="1" dirty="0">
                <a:solidFill>
                  <a:srgbClr val="000000"/>
                </a:solidFill>
                <a:latin typeface="宋体" pitchFamily="2" charset="-122"/>
              </a:rPr>
              <a:t>A</a:t>
            </a:r>
            <a:r>
              <a:rPr lang="en-US" altLang="zh-CN" sz="2000" dirty="0">
                <a:solidFill>
                  <a:srgbClr val="000000"/>
                </a:solidFill>
                <a:latin typeface="宋体" pitchFamily="2" charset="-122"/>
              </a:rPr>
              <a:t>，</a:t>
            </a:r>
            <a:r>
              <a:rPr lang="zh-CN" altLang="en-US" sz="2000" dirty="0">
                <a:solidFill>
                  <a:srgbClr val="000000"/>
                </a:solidFill>
                <a:latin typeface="宋体" pitchFamily="2" charset="-122"/>
              </a:rPr>
              <a:t>每列对应终结符号</a:t>
            </a:r>
            <a:r>
              <a:rPr lang="en-US" altLang="zh-CN" sz="2000" b="1" dirty="0">
                <a:solidFill>
                  <a:srgbClr val="000000"/>
                </a:solidFill>
                <a:latin typeface="宋体" pitchFamily="2" charset="-122"/>
              </a:rPr>
              <a:t>a</a:t>
            </a:r>
            <a:r>
              <a:rPr lang="en-US" altLang="zh-CN" sz="2000" dirty="0">
                <a:solidFill>
                  <a:srgbClr val="000000"/>
                </a:solidFill>
                <a:latin typeface="宋体" pitchFamily="2" charset="-122"/>
              </a:rPr>
              <a:t>，</a:t>
            </a:r>
            <a:r>
              <a:rPr lang="zh-CN" altLang="en-US" sz="2000" dirty="0">
                <a:solidFill>
                  <a:srgbClr val="000000"/>
                </a:solidFill>
                <a:latin typeface="宋体" pitchFamily="2" charset="-122"/>
              </a:rPr>
              <a:t>矩阵</a:t>
            </a:r>
            <a:r>
              <a:rPr lang="en-US" altLang="zh-CN" sz="2000" b="1" dirty="0">
                <a:solidFill>
                  <a:srgbClr val="000000"/>
                </a:solidFill>
                <a:latin typeface="宋体" pitchFamily="2" charset="-122"/>
              </a:rPr>
              <a:t>M[</a:t>
            </a:r>
            <a:r>
              <a:rPr lang="en-US" altLang="zh-CN" sz="2000" b="1" dirty="0" err="1">
                <a:solidFill>
                  <a:srgbClr val="000000"/>
                </a:solidFill>
                <a:latin typeface="宋体" pitchFamily="2" charset="-122"/>
              </a:rPr>
              <a:t>A，a</a:t>
            </a:r>
            <a:r>
              <a:rPr lang="en-US" altLang="zh-CN" sz="2000" b="1" dirty="0">
                <a:solidFill>
                  <a:srgbClr val="000000"/>
                </a:solidFill>
                <a:latin typeface="宋体" pitchFamily="2" charset="-122"/>
              </a:rPr>
              <a:t>]</a:t>
            </a:r>
            <a:r>
              <a:rPr lang="zh-CN" altLang="en-US" sz="2000" dirty="0">
                <a:solidFill>
                  <a:srgbClr val="000000"/>
                </a:solidFill>
                <a:latin typeface="宋体" pitchFamily="2" charset="-122"/>
              </a:rPr>
              <a:t>表示当前栈顶为</a:t>
            </a:r>
            <a:r>
              <a:rPr lang="en-US" altLang="zh-CN" sz="2000" b="1" dirty="0">
                <a:solidFill>
                  <a:srgbClr val="000000"/>
                </a:solidFill>
                <a:latin typeface="宋体" pitchFamily="2" charset="-122"/>
              </a:rPr>
              <a:t>A</a:t>
            </a:r>
            <a:r>
              <a:rPr lang="en-US" altLang="zh-CN" sz="2000" dirty="0">
                <a:solidFill>
                  <a:srgbClr val="000000"/>
                </a:solidFill>
                <a:latin typeface="宋体" pitchFamily="2" charset="-122"/>
              </a:rPr>
              <a:t>、</a:t>
            </a:r>
            <a:r>
              <a:rPr lang="zh-CN" altLang="en-US" sz="2000" dirty="0">
                <a:solidFill>
                  <a:srgbClr val="000000"/>
                </a:solidFill>
                <a:latin typeface="宋体" pitchFamily="2" charset="-122"/>
              </a:rPr>
              <a:t>输入符号为</a:t>
            </a:r>
            <a:r>
              <a:rPr lang="en-US" altLang="zh-CN" sz="2000" b="1" dirty="0">
                <a:solidFill>
                  <a:srgbClr val="000000"/>
                </a:solidFill>
                <a:latin typeface="宋体" pitchFamily="2" charset="-122"/>
              </a:rPr>
              <a:t>a</a:t>
            </a:r>
            <a:r>
              <a:rPr lang="zh-CN" altLang="en-US" sz="2000" dirty="0">
                <a:solidFill>
                  <a:srgbClr val="000000"/>
                </a:solidFill>
                <a:latin typeface="宋体" pitchFamily="2" charset="-122"/>
              </a:rPr>
              <a:t>时应选用的产生式</a:t>
            </a:r>
          </a:p>
        </p:txBody>
      </p:sp>
      <p:grpSp>
        <p:nvGrpSpPr>
          <p:cNvPr id="6" name="Group 5"/>
          <p:cNvGrpSpPr>
            <a:grpSpLocks/>
          </p:cNvGrpSpPr>
          <p:nvPr/>
        </p:nvGrpSpPr>
        <p:grpSpPr bwMode="auto">
          <a:xfrm>
            <a:off x="2643188" y="1643063"/>
            <a:ext cx="6172200" cy="3338512"/>
            <a:chOff x="897" y="916"/>
            <a:chExt cx="3888" cy="2103"/>
          </a:xfrm>
        </p:grpSpPr>
        <p:grpSp>
          <p:nvGrpSpPr>
            <p:cNvPr id="7" name="Group 6"/>
            <p:cNvGrpSpPr>
              <a:grpSpLocks/>
            </p:cNvGrpSpPr>
            <p:nvPr/>
          </p:nvGrpSpPr>
          <p:grpSpPr bwMode="auto">
            <a:xfrm>
              <a:off x="897" y="916"/>
              <a:ext cx="3888" cy="2103"/>
              <a:chOff x="144" y="816"/>
              <a:chExt cx="3888" cy="2103"/>
            </a:xfrm>
          </p:grpSpPr>
          <p:sp>
            <p:nvSpPr>
              <p:cNvPr id="9" name="Line 7"/>
              <p:cNvSpPr>
                <a:spLocks noChangeShapeType="1"/>
              </p:cNvSpPr>
              <p:nvPr/>
            </p:nvSpPr>
            <p:spPr bwMode="auto">
              <a:xfrm>
                <a:off x="891" y="816"/>
                <a:ext cx="233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10" name="Line 8"/>
              <p:cNvSpPr>
                <a:spLocks noChangeShapeType="1"/>
              </p:cNvSpPr>
              <p:nvPr/>
            </p:nvSpPr>
            <p:spPr bwMode="auto">
              <a:xfrm>
                <a:off x="891" y="1090"/>
                <a:ext cx="233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11" name="Line 9"/>
              <p:cNvSpPr>
                <a:spLocks noChangeShapeType="1"/>
              </p:cNvSpPr>
              <p:nvPr/>
            </p:nvSpPr>
            <p:spPr bwMode="auto">
              <a:xfrm>
                <a:off x="1474" y="816"/>
                <a:ext cx="0" cy="2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12" name="Line 10"/>
              <p:cNvSpPr>
                <a:spLocks noChangeShapeType="1"/>
              </p:cNvSpPr>
              <p:nvPr/>
            </p:nvSpPr>
            <p:spPr bwMode="auto">
              <a:xfrm>
                <a:off x="1824" y="816"/>
                <a:ext cx="0" cy="2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13" name="Line 11"/>
              <p:cNvSpPr>
                <a:spLocks noChangeShapeType="1"/>
              </p:cNvSpPr>
              <p:nvPr/>
            </p:nvSpPr>
            <p:spPr bwMode="auto">
              <a:xfrm>
                <a:off x="2174" y="816"/>
                <a:ext cx="0" cy="2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14" name="Line 12"/>
              <p:cNvSpPr>
                <a:spLocks noChangeShapeType="1"/>
              </p:cNvSpPr>
              <p:nvPr/>
            </p:nvSpPr>
            <p:spPr bwMode="auto">
              <a:xfrm>
                <a:off x="2523" y="816"/>
                <a:ext cx="0" cy="2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15" name="Line 13"/>
              <p:cNvSpPr>
                <a:spLocks noChangeShapeType="1"/>
              </p:cNvSpPr>
              <p:nvPr/>
            </p:nvSpPr>
            <p:spPr bwMode="auto">
              <a:xfrm>
                <a:off x="2873" y="816"/>
                <a:ext cx="0" cy="2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16" name="Line 14"/>
              <p:cNvSpPr>
                <a:spLocks noChangeShapeType="1"/>
              </p:cNvSpPr>
              <p:nvPr/>
            </p:nvSpPr>
            <p:spPr bwMode="auto">
              <a:xfrm flipV="1">
                <a:off x="2057" y="1090"/>
                <a:ext cx="0" cy="5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17" name="Rectangle 15"/>
              <p:cNvSpPr>
                <a:spLocks noChangeArrowheads="1"/>
              </p:cNvSpPr>
              <p:nvPr/>
            </p:nvSpPr>
            <p:spPr bwMode="auto">
              <a:xfrm>
                <a:off x="1474" y="1639"/>
                <a:ext cx="1283" cy="366"/>
              </a:xfrm>
              <a:prstGeom prst="rect">
                <a:avLst/>
              </a:prstGeom>
              <a:solidFill>
                <a:srgbClr val="FFFFFF"/>
              </a:solidFill>
              <a:ln w="9525">
                <a:solidFill>
                  <a:srgbClr val="000000"/>
                </a:solidFill>
                <a:miter lim="800000"/>
                <a:headEnd/>
                <a:tailEnd/>
              </a:ln>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fontAlgn="base">
                  <a:spcBef>
                    <a:spcPct val="0"/>
                  </a:spcBef>
                  <a:spcAft>
                    <a:spcPct val="0"/>
                  </a:spcAft>
                </a:pPr>
                <a:r>
                  <a:rPr kumimoji="0" lang="en-US" altLang="zh-CN" sz="1600" b="1" dirty="0">
                    <a:solidFill>
                      <a:srgbClr val="000000"/>
                    </a:solidFill>
                    <a:latin typeface="Times New Roman" pitchFamily="18" charset="0"/>
                  </a:rPr>
                  <a:t>LL（1）</a:t>
                </a:r>
                <a:r>
                  <a:rPr kumimoji="0" lang="zh-CN" altLang="en-US" sz="1600" b="1" dirty="0">
                    <a:solidFill>
                      <a:srgbClr val="000000"/>
                    </a:solidFill>
                    <a:latin typeface="宋体" pitchFamily="2" charset="-122"/>
                  </a:rPr>
                  <a:t>分析算法     </a:t>
                </a:r>
                <a:endParaRPr kumimoji="0" lang="zh-CN" altLang="en-US" sz="1600" b="1" dirty="0">
                  <a:solidFill>
                    <a:srgbClr val="000000"/>
                  </a:solidFill>
                  <a:latin typeface="Times New Roman" pitchFamily="18" charset="0"/>
                </a:endParaRPr>
              </a:p>
            </p:txBody>
          </p:sp>
          <p:sp>
            <p:nvSpPr>
              <p:cNvPr id="18" name="Line 16"/>
              <p:cNvSpPr>
                <a:spLocks noChangeShapeType="1"/>
              </p:cNvSpPr>
              <p:nvPr/>
            </p:nvSpPr>
            <p:spPr bwMode="auto">
              <a:xfrm>
                <a:off x="2757" y="1730"/>
                <a:ext cx="69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19" name="Line 17"/>
              <p:cNvSpPr>
                <a:spLocks noChangeShapeType="1"/>
              </p:cNvSpPr>
              <p:nvPr/>
            </p:nvSpPr>
            <p:spPr bwMode="auto">
              <a:xfrm>
                <a:off x="2057" y="2005"/>
                <a:ext cx="0" cy="36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20" name="Rectangle 18"/>
              <p:cNvSpPr>
                <a:spLocks noChangeArrowheads="1"/>
              </p:cNvSpPr>
              <p:nvPr/>
            </p:nvSpPr>
            <p:spPr bwMode="auto">
              <a:xfrm>
                <a:off x="1474" y="2370"/>
                <a:ext cx="1283" cy="366"/>
              </a:xfrm>
              <a:prstGeom prst="rect">
                <a:avLst/>
              </a:prstGeom>
              <a:solidFill>
                <a:srgbClr val="FFFFFF"/>
              </a:solidFill>
              <a:ln w="9525">
                <a:solidFill>
                  <a:srgbClr val="000000"/>
                </a:solidFill>
                <a:miter lim="800000"/>
                <a:headEnd/>
                <a:tailEnd/>
              </a:ln>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fontAlgn="base">
                  <a:spcBef>
                    <a:spcPct val="0"/>
                  </a:spcBef>
                  <a:spcAft>
                    <a:spcPct val="0"/>
                  </a:spcAft>
                </a:pPr>
                <a:r>
                  <a:rPr kumimoji="0" lang="zh-CN" altLang="en-US" sz="1600">
                    <a:solidFill>
                      <a:srgbClr val="000000"/>
                    </a:solidFill>
                    <a:latin typeface="Times New Roman" pitchFamily="18" charset="0"/>
                  </a:rPr>
                  <a:t> </a:t>
                </a:r>
                <a:r>
                  <a:rPr kumimoji="0" lang="en-US" altLang="zh-CN" sz="1600" b="1">
                    <a:solidFill>
                      <a:srgbClr val="000000"/>
                    </a:solidFill>
                    <a:latin typeface="Times New Roman" pitchFamily="18" charset="0"/>
                  </a:rPr>
                  <a:t>LL（1）</a:t>
                </a:r>
                <a:r>
                  <a:rPr kumimoji="0" lang="zh-CN" altLang="en-US" sz="1600" b="1">
                    <a:solidFill>
                      <a:srgbClr val="000000"/>
                    </a:solidFill>
                    <a:latin typeface="宋体" pitchFamily="2" charset="-122"/>
                  </a:rPr>
                  <a:t>分析表</a:t>
                </a:r>
                <a:r>
                  <a:rPr kumimoji="0" lang="en-US" altLang="zh-CN" sz="1600" b="1">
                    <a:solidFill>
                      <a:srgbClr val="000000"/>
                    </a:solidFill>
                    <a:latin typeface="华文细黑" pitchFamily="2" charset="-122"/>
                    <a:ea typeface="华文细黑" pitchFamily="2" charset="-122"/>
                  </a:rPr>
                  <a:t>M</a:t>
                </a:r>
                <a:endParaRPr kumimoji="0" lang="en-US" altLang="zh-CN" sz="1600" b="1">
                  <a:solidFill>
                    <a:srgbClr val="000000"/>
                  </a:solidFill>
                  <a:latin typeface="Times New Roman" pitchFamily="18" charset="0"/>
                </a:endParaRPr>
              </a:p>
            </p:txBody>
          </p:sp>
          <p:sp>
            <p:nvSpPr>
              <p:cNvPr id="21" name="Line 19"/>
              <p:cNvSpPr>
                <a:spLocks noChangeShapeType="1"/>
              </p:cNvSpPr>
              <p:nvPr/>
            </p:nvSpPr>
            <p:spPr bwMode="auto">
              <a:xfrm flipH="1" flipV="1">
                <a:off x="657" y="1253"/>
                <a:ext cx="40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22" name="Rectangle 20"/>
              <p:cNvSpPr>
                <a:spLocks noChangeArrowheads="1"/>
              </p:cNvSpPr>
              <p:nvPr/>
            </p:nvSpPr>
            <p:spPr bwMode="auto">
              <a:xfrm>
                <a:off x="192" y="1090"/>
                <a:ext cx="466" cy="1555"/>
              </a:xfrm>
              <a:prstGeom prst="rect">
                <a:avLst/>
              </a:prstGeom>
              <a:solidFill>
                <a:srgbClr val="FFFFFF"/>
              </a:solidFill>
              <a:ln w="9525">
                <a:solidFill>
                  <a:srgbClr val="000000"/>
                </a:solidFill>
                <a:miter lim="800000"/>
                <a:headEnd/>
                <a:tailEnd/>
              </a:ln>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fontAlgn="base">
                  <a:spcBef>
                    <a:spcPct val="0"/>
                  </a:spcBef>
                  <a:spcAft>
                    <a:spcPct val="0"/>
                  </a:spcAft>
                </a:pPr>
                <a:r>
                  <a:rPr kumimoji="0" lang="en-US" altLang="zh-CN" sz="1600" b="1">
                    <a:solidFill>
                      <a:srgbClr val="000000"/>
                    </a:solidFill>
                    <a:latin typeface="Times New Roman" pitchFamily="18" charset="0"/>
                  </a:rPr>
                  <a:t>X</a:t>
                </a:r>
              </a:p>
              <a:p>
                <a:pPr algn="just" fontAlgn="base">
                  <a:spcBef>
                    <a:spcPct val="0"/>
                  </a:spcBef>
                  <a:spcAft>
                    <a:spcPct val="0"/>
                  </a:spcAft>
                </a:pPr>
                <a:endParaRPr kumimoji="0" lang="en-US" altLang="zh-CN" sz="1600">
                  <a:solidFill>
                    <a:srgbClr val="000000"/>
                  </a:solidFill>
                  <a:latin typeface="Times New Roman" pitchFamily="18" charset="0"/>
                </a:endParaRPr>
              </a:p>
              <a:p>
                <a:pPr algn="just" fontAlgn="base">
                  <a:spcBef>
                    <a:spcPct val="0"/>
                  </a:spcBef>
                  <a:spcAft>
                    <a:spcPct val="0"/>
                  </a:spcAft>
                </a:pPr>
                <a:r>
                  <a:rPr kumimoji="0" lang="en-US" altLang="zh-CN" sz="1600" b="1">
                    <a:solidFill>
                      <a:srgbClr val="000000"/>
                    </a:solidFill>
                    <a:latin typeface="Times New Roman" pitchFamily="18" charset="0"/>
                  </a:rPr>
                  <a:t>Y</a:t>
                </a:r>
              </a:p>
              <a:p>
                <a:pPr algn="just" fontAlgn="base">
                  <a:spcBef>
                    <a:spcPct val="0"/>
                  </a:spcBef>
                  <a:spcAft>
                    <a:spcPct val="0"/>
                  </a:spcAft>
                </a:pPr>
                <a:endParaRPr kumimoji="0" lang="en-US" altLang="zh-CN" sz="1600">
                  <a:solidFill>
                    <a:srgbClr val="000000"/>
                  </a:solidFill>
                  <a:latin typeface="Times New Roman" pitchFamily="18" charset="0"/>
                </a:endParaRPr>
              </a:p>
              <a:p>
                <a:pPr algn="just" fontAlgn="base">
                  <a:spcBef>
                    <a:spcPct val="0"/>
                  </a:spcBef>
                  <a:spcAft>
                    <a:spcPct val="0"/>
                  </a:spcAft>
                </a:pPr>
                <a:r>
                  <a:rPr kumimoji="0" lang="en-US" altLang="zh-CN" sz="1600" b="1">
                    <a:solidFill>
                      <a:srgbClr val="000000"/>
                    </a:solidFill>
                    <a:latin typeface="Times New Roman" pitchFamily="18" charset="0"/>
                  </a:rPr>
                  <a:t>Z</a:t>
                </a:r>
              </a:p>
              <a:p>
                <a:pPr algn="just" fontAlgn="base">
                  <a:spcBef>
                    <a:spcPct val="0"/>
                  </a:spcBef>
                  <a:spcAft>
                    <a:spcPct val="0"/>
                  </a:spcAft>
                </a:pPr>
                <a:endParaRPr kumimoji="0" lang="en-US" altLang="zh-CN" sz="1600">
                  <a:solidFill>
                    <a:srgbClr val="000000"/>
                  </a:solidFill>
                  <a:latin typeface="Times New Roman" pitchFamily="18" charset="0"/>
                </a:endParaRPr>
              </a:p>
              <a:p>
                <a:pPr algn="just" fontAlgn="base">
                  <a:spcBef>
                    <a:spcPct val="0"/>
                  </a:spcBef>
                  <a:spcAft>
                    <a:spcPct val="0"/>
                  </a:spcAft>
                </a:pPr>
                <a:r>
                  <a:rPr kumimoji="0" lang="en-US" altLang="zh-CN" sz="1600" b="1">
                    <a:solidFill>
                      <a:srgbClr val="000000"/>
                    </a:solidFill>
                    <a:latin typeface="Times New Roman" pitchFamily="18" charset="0"/>
                  </a:rPr>
                  <a:t>…</a:t>
                </a:r>
                <a:endParaRPr kumimoji="0" lang="en-US" altLang="zh-CN" sz="1600" b="1">
                  <a:solidFill>
                    <a:srgbClr val="000000"/>
                  </a:solidFill>
                  <a:latin typeface="宋体" pitchFamily="2" charset="-122"/>
                </a:endParaRPr>
              </a:p>
            </p:txBody>
          </p:sp>
          <p:sp>
            <p:nvSpPr>
              <p:cNvPr id="23" name="Line 21"/>
              <p:cNvSpPr>
                <a:spLocks noChangeShapeType="1"/>
              </p:cNvSpPr>
              <p:nvPr/>
            </p:nvSpPr>
            <p:spPr bwMode="auto">
              <a:xfrm>
                <a:off x="192" y="1365"/>
                <a:ext cx="46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24" name="Line 22"/>
              <p:cNvSpPr>
                <a:spLocks noChangeShapeType="1"/>
              </p:cNvSpPr>
              <p:nvPr/>
            </p:nvSpPr>
            <p:spPr bwMode="auto">
              <a:xfrm>
                <a:off x="192" y="1709"/>
                <a:ext cx="46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25" name="Line 23"/>
              <p:cNvSpPr>
                <a:spLocks noChangeShapeType="1"/>
              </p:cNvSpPr>
              <p:nvPr/>
            </p:nvSpPr>
            <p:spPr bwMode="auto">
              <a:xfrm>
                <a:off x="192" y="2096"/>
                <a:ext cx="46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26" name="Line 24"/>
              <p:cNvSpPr>
                <a:spLocks noChangeShapeType="1"/>
              </p:cNvSpPr>
              <p:nvPr/>
            </p:nvSpPr>
            <p:spPr bwMode="auto">
              <a:xfrm>
                <a:off x="192" y="2370"/>
                <a:ext cx="46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3600">
                  <a:solidFill>
                    <a:srgbClr val="000000"/>
                  </a:solidFill>
                </a:endParaRPr>
              </a:p>
            </p:txBody>
          </p:sp>
          <p:sp>
            <p:nvSpPr>
              <p:cNvPr id="27" name="Rectangle 25"/>
              <p:cNvSpPr>
                <a:spLocks noChangeArrowheads="1"/>
              </p:cNvSpPr>
              <p:nvPr/>
            </p:nvSpPr>
            <p:spPr bwMode="auto">
              <a:xfrm>
                <a:off x="1152" y="864"/>
                <a:ext cx="26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r>
                  <a:rPr lang="zh-CN" altLang="en-US" sz="1600" b="1">
                    <a:solidFill>
                      <a:srgbClr val="000000"/>
                    </a:solidFill>
                    <a:latin typeface="Times New Roman" pitchFamily="18" charset="0"/>
                  </a:rPr>
                  <a:t>…</a:t>
                </a:r>
                <a:r>
                  <a:rPr lang="zh-CN" altLang="en-US" sz="1600" b="1">
                    <a:solidFill>
                      <a:srgbClr val="000000"/>
                    </a:solidFill>
                    <a:latin typeface="Arial" pitchFamily="34" charset="0"/>
                  </a:rPr>
                  <a:t>        </a:t>
                </a:r>
                <a:r>
                  <a:rPr lang="en-US" altLang="zh-CN" sz="1600" b="1">
                    <a:solidFill>
                      <a:srgbClr val="000000"/>
                    </a:solidFill>
                    <a:latin typeface="Arial" pitchFamily="34" charset="0"/>
                  </a:rPr>
                  <a:t>a         +        b      </a:t>
                </a:r>
                <a:r>
                  <a:rPr lang="en-US" altLang="zh-CN" sz="1600" b="1">
                    <a:solidFill>
                      <a:srgbClr val="000000"/>
                    </a:solidFill>
                    <a:latin typeface="Times New Roman" pitchFamily="18" charset="0"/>
                  </a:rPr>
                  <a:t>…</a:t>
                </a:r>
                <a:r>
                  <a:rPr lang="en-US" altLang="zh-CN" sz="1600" b="1">
                    <a:solidFill>
                      <a:srgbClr val="000000"/>
                    </a:solidFill>
                    <a:latin typeface="Arial" pitchFamily="34" charset="0"/>
                  </a:rPr>
                  <a:t>       </a:t>
                </a:r>
                <a:r>
                  <a:rPr lang="en-US" altLang="zh-CN" sz="1600">
                    <a:solidFill>
                      <a:srgbClr val="000000"/>
                    </a:solidFill>
                    <a:latin typeface="Arial" pitchFamily="34" charset="0"/>
                  </a:rPr>
                  <a:t># </a:t>
                </a:r>
              </a:p>
            </p:txBody>
          </p:sp>
          <p:sp>
            <p:nvSpPr>
              <p:cNvPr id="28" name="Rectangle 26"/>
              <p:cNvSpPr>
                <a:spLocks noChangeArrowheads="1"/>
              </p:cNvSpPr>
              <p:nvPr/>
            </p:nvSpPr>
            <p:spPr bwMode="auto">
              <a:xfrm>
                <a:off x="144" y="2688"/>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r>
                  <a:rPr lang="zh-CN" altLang="en-US" sz="1800" b="1">
                    <a:solidFill>
                      <a:srgbClr val="990000"/>
                    </a:solidFill>
                    <a:latin typeface="Arial" pitchFamily="34" charset="0"/>
                  </a:rPr>
                  <a:t> </a:t>
                </a:r>
                <a:r>
                  <a:rPr lang="zh-CN" altLang="en-US" sz="1800" b="1">
                    <a:solidFill>
                      <a:srgbClr val="990000"/>
                    </a:solidFill>
                    <a:latin typeface="Times New Roman" pitchFamily="18" charset="0"/>
                  </a:rPr>
                  <a:t>分析栈</a:t>
                </a:r>
                <a:r>
                  <a:rPr lang="zh-CN" altLang="en-US" sz="1600" b="1">
                    <a:solidFill>
                      <a:srgbClr val="990000"/>
                    </a:solidFill>
                  </a:rPr>
                  <a:t> </a:t>
                </a:r>
                <a:endParaRPr lang="zh-CN" altLang="en-US" sz="1600" b="1">
                  <a:solidFill>
                    <a:srgbClr val="990000"/>
                  </a:solidFill>
                  <a:latin typeface="Arial" pitchFamily="34" charset="0"/>
                </a:endParaRPr>
              </a:p>
            </p:txBody>
          </p:sp>
          <p:sp>
            <p:nvSpPr>
              <p:cNvPr id="29" name="Rectangle 27"/>
              <p:cNvSpPr>
                <a:spLocks noChangeArrowheads="1"/>
              </p:cNvSpPr>
              <p:nvPr/>
            </p:nvSpPr>
            <p:spPr bwMode="auto">
              <a:xfrm>
                <a:off x="3552" y="1632"/>
                <a:ext cx="48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eaLnBrk="1" fontAlgn="base" hangingPunct="1">
                  <a:spcBef>
                    <a:spcPct val="0"/>
                  </a:spcBef>
                  <a:spcAft>
                    <a:spcPct val="0"/>
                  </a:spcAft>
                </a:pPr>
                <a:r>
                  <a:rPr lang="zh-CN" altLang="en-US" sz="1800" b="1">
                    <a:solidFill>
                      <a:srgbClr val="990000"/>
                    </a:solidFill>
                    <a:latin typeface="Arial" pitchFamily="34" charset="0"/>
                  </a:rPr>
                  <a:t> 输出</a:t>
                </a:r>
              </a:p>
              <a:p>
                <a:pPr fontAlgn="base">
                  <a:spcBef>
                    <a:spcPct val="0"/>
                  </a:spcBef>
                  <a:spcAft>
                    <a:spcPct val="0"/>
                  </a:spcAft>
                </a:pPr>
                <a:endParaRPr lang="zh-CN" altLang="en-US" sz="1800" b="1">
                  <a:solidFill>
                    <a:srgbClr val="990000"/>
                  </a:solidFill>
                  <a:latin typeface="Arial" pitchFamily="34" charset="0"/>
                </a:endParaRPr>
              </a:p>
            </p:txBody>
          </p:sp>
          <p:sp>
            <p:nvSpPr>
              <p:cNvPr id="30" name="Line 28"/>
              <p:cNvSpPr>
                <a:spLocks noChangeShapeType="1"/>
              </p:cNvSpPr>
              <p:nvPr/>
            </p:nvSpPr>
            <p:spPr bwMode="auto">
              <a:xfrm flipH="1">
                <a:off x="1066" y="1797"/>
                <a:ext cx="363"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kumimoji="1" lang="zh-CN" altLang="en-US" sz="3600">
                  <a:solidFill>
                    <a:srgbClr val="000000"/>
                  </a:solidFill>
                </a:endParaRPr>
              </a:p>
            </p:txBody>
          </p:sp>
          <p:sp>
            <p:nvSpPr>
              <p:cNvPr id="31" name="Line 29"/>
              <p:cNvSpPr>
                <a:spLocks noChangeShapeType="1"/>
              </p:cNvSpPr>
              <p:nvPr/>
            </p:nvSpPr>
            <p:spPr bwMode="auto">
              <a:xfrm flipV="1">
                <a:off x="1066" y="1253"/>
                <a:ext cx="0" cy="54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kumimoji="1" lang="zh-CN" altLang="en-US" sz="3600">
                  <a:solidFill>
                    <a:srgbClr val="000000"/>
                  </a:solidFill>
                </a:endParaRPr>
              </a:p>
            </p:txBody>
          </p:sp>
        </p:grpSp>
        <p:sp>
          <p:nvSpPr>
            <p:cNvPr id="8" name="Rectangle 30"/>
            <p:cNvSpPr>
              <a:spLocks noChangeArrowheads="1"/>
            </p:cNvSpPr>
            <p:nvPr/>
          </p:nvSpPr>
          <p:spPr bwMode="auto">
            <a:xfrm>
              <a:off x="930" y="2487"/>
              <a:ext cx="2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fontAlgn="base">
                <a:spcBef>
                  <a:spcPct val="0"/>
                </a:spcBef>
                <a:spcAft>
                  <a:spcPct val="0"/>
                </a:spcAft>
              </a:pPr>
              <a:r>
                <a:rPr kumimoji="0" lang="en-US" altLang="zh-CN" sz="2000" b="1">
                  <a:solidFill>
                    <a:srgbClr val="000000"/>
                  </a:solidFill>
                </a:rPr>
                <a:t>#</a:t>
              </a:r>
            </a:p>
          </p:txBody>
        </p:sp>
      </p:grpSp>
      <p:sp>
        <p:nvSpPr>
          <p:cNvPr id="32" name="Rectangle 31"/>
          <p:cNvSpPr>
            <a:spLocks noChangeArrowheads="1"/>
          </p:cNvSpPr>
          <p:nvPr/>
        </p:nvSpPr>
        <p:spPr bwMode="auto">
          <a:xfrm>
            <a:off x="323850" y="1844675"/>
            <a:ext cx="2232025"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lnSpc>
                <a:spcPct val="90000"/>
              </a:lnSpc>
              <a:spcBef>
                <a:spcPct val="20000"/>
              </a:spcBef>
              <a:spcAft>
                <a:spcPct val="0"/>
              </a:spcAft>
              <a:buClr>
                <a:srgbClr val="3333CC"/>
              </a:buClr>
              <a:buSzPct val="60000"/>
              <a:buFont typeface="Wingdings" pitchFamily="2" charset="2"/>
              <a:buChar char="n"/>
            </a:pPr>
            <a:r>
              <a:rPr lang="zh-CN" altLang="en-US" sz="2400">
                <a:solidFill>
                  <a:srgbClr val="000000"/>
                </a:solidFill>
                <a:ea typeface="华文楷体" pitchFamily="2" charset="-122"/>
              </a:rPr>
              <a:t>预测分析程序</a:t>
            </a:r>
          </a:p>
          <a:p>
            <a:pPr eaLnBrk="1" fontAlgn="base" hangingPunct="1">
              <a:lnSpc>
                <a:spcPct val="90000"/>
              </a:lnSpc>
              <a:spcBef>
                <a:spcPct val="20000"/>
              </a:spcBef>
              <a:spcAft>
                <a:spcPct val="0"/>
              </a:spcAft>
              <a:buClr>
                <a:srgbClr val="3333CC"/>
              </a:buClr>
              <a:buSzPct val="60000"/>
              <a:buFont typeface="Wingdings" pitchFamily="2" charset="2"/>
              <a:buChar char="n"/>
            </a:pPr>
            <a:r>
              <a:rPr lang="zh-CN" altLang="en-US" sz="2400">
                <a:solidFill>
                  <a:srgbClr val="000000"/>
                </a:solidFill>
                <a:ea typeface="华文楷体" pitchFamily="2" charset="-122"/>
              </a:rPr>
              <a:t>先进后出栈</a:t>
            </a:r>
          </a:p>
          <a:p>
            <a:pPr eaLnBrk="1" fontAlgn="base" hangingPunct="1">
              <a:lnSpc>
                <a:spcPct val="90000"/>
              </a:lnSpc>
              <a:spcBef>
                <a:spcPct val="20000"/>
              </a:spcBef>
              <a:spcAft>
                <a:spcPct val="0"/>
              </a:spcAft>
              <a:buClr>
                <a:srgbClr val="3333CC"/>
              </a:buClr>
              <a:buSzPct val="60000"/>
              <a:buFont typeface="Wingdings" pitchFamily="2" charset="2"/>
              <a:buChar char="n"/>
            </a:pPr>
            <a:r>
              <a:rPr lang="zh-CN" altLang="en-US" sz="2400">
                <a:solidFill>
                  <a:srgbClr val="000000"/>
                </a:solidFill>
                <a:ea typeface="华文楷体" pitchFamily="2" charset="-122"/>
              </a:rPr>
              <a:t>预测分析表</a:t>
            </a:r>
          </a:p>
        </p:txBody>
      </p:sp>
      <p:sp>
        <p:nvSpPr>
          <p:cNvPr id="33" name="灯片编号占位符 32"/>
          <p:cNvSpPr>
            <a:spLocks noGrp="1"/>
          </p:cNvSpPr>
          <p:nvPr>
            <p:ph type="sldNum" sz="quarter" idx="12"/>
          </p:nvPr>
        </p:nvSpPr>
        <p:spPr/>
        <p:txBody>
          <a:bodyPr/>
          <a:lstStyle/>
          <a:p>
            <a:fld id="{1B43473F-AE3F-4D1C-9C4F-7AD3C17AC1AD}" type="slidenum">
              <a:rPr lang="zh-CN" altLang="en-US" smtClean="0">
                <a:solidFill>
                  <a:srgbClr val="3F3F3F"/>
                </a:solidFill>
              </a:rPr>
              <a:pPr/>
              <a:t>64</a:t>
            </a:fld>
            <a:endParaRPr lang="zh-CN" altLang="en-US">
              <a:solidFill>
                <a:srgbClr val="3F3F3F"/>
              </a:solidFill>
            </a:endParaRPr>
          </a:p>
        </p:txBody>
      </p:sp>
    </p:spTree>
    <p:extLst>
      <p:ext uri="{BB962C8B-B14F-4D97-AF65-F5344CB8AC3E}">
        <p14:creationId xmlns:p14="http://schemas.microsoft.com/office/powerpoint/2010/main" val="14226249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endParaRPr lang="zh-CN" altLang="en-US"/>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1096963"/>
            <a:ext cx="6624638"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2"/>
          </p:nvPr>
        </p:nvSpPr>
        <p:spPr/>
        <p:txBody>
          <a:bodyPr/>
          <a:lstStyle/>
          <a:p>
            <a:fld id="{1B43473F-AE3F-4D1C-9C4F-7AD3C17AC1AD}" type="slidenum">
              <a:rPr lang="zh-CN" altLang="en-US" smtClean="0">
                <a:solidFill>
                  <a:srgbClr val="3F3F3F"/>
                </a:solidFill>
              </a:rPr>
              <a:pPr/>
              <a:t>65</a:t>
            </a:fld>
            <a:endParaRPr lang="zh-CN" altLang="en-US">
              <a:solidFill>
                <a:srgbClr val="3F3F3F"/>
              </a:solidFill>
            </a:endParaRPr>
          </a:p>
        </p:txBody>
      </p:sp>
    </p:spTree>
    <p:extLst>
      <p:ext uri="{BB962C8B-B14F-4D97-AF65-F5344CB8AC3E}">
        <p14:creationId xmlns:p14="http://schemas.microsoft.com/office/powerpoint/2010/main" val="21425975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pPr>
              <a:lnSpc>
                <a:spcPct val="120000"/>
              </a:lnSpc>
              <a:spcBef>
                <a:spcPct val="0"/>
              </a:spcBef>
            </a:pPr>
            <a:r>
              <a:rPr lang="zh-CN" altLang="en-US" dirty="0">
                <a:solidFill>
                  <a:srgbClr val="000000"/>
                </a:solidFill>
                <a:latin typeface="Arial" pitchFamily="34" charset="0"/>
                <a:ea typeface="黑体" pitchFamily="49" charset="-122"/>
              </a:rPr>
              <a:t>1）</a:t>
            </a:r>
            <a:r>
              <a:rPr lang="zh-CN" altLang="en-US" dirty="0">
                <a:solidFill>
                  <a:srgbClr val="000000"/>
                </a:solidFill>
                <a:ea typeface="黑体" pitchFamily="49" charset="-122"/>
              </a:rPr>
              <a:t>如果</a:t>
            </a:r>
            <a:r>
              <a:rPr lang="zh-CN" altLang="en-US" dirty="0">
                <a:solidFill>
                  <a:srgbClr val="000000"/>
                </a:solidFill>
                <a:latin typeface="Arial" pitchFamily="34" charset="0"/>
                <a:ea typeface="黑体" pitchFamily="49" charset="-122"/>
              </a:rPr>
              <a:t> </a:t>
            </a:r>
            <a:r>
              <a:rPr lang="en-US" altLang="zh-CN" dirty="0">
                <a:solidFill>
                  <a:srgbClr val="000000"/>
                </a:solidFill>
                <a:latin typeface="Arial" pitchFamily="34" charset="0"/>
                <a:ea typeface="黑体" pitchFamily="49" charset="-122"/>
              </a:rPr>
              <a:t>X = a = #，</a:t>
            </a:r>
            <a:r>
              <a:rPr lang="zh-CN" altLang="en-US" dirty="0">
                <a:solidFill>
                  <a:srgbClr val="000000"/>
                </a:solidFill>
                <a:latin typeface="Arial" pitchFamily="34" charset="0"/>
                <a:ea typeface="黑体" pitchFamily="49" charset="-122"/>
              </a:rPr>
              <a:t>算法结束并报告分析成功。接受输入串</a:t>
            </a:r>
            <a:endParaRPr lang="zh-CN" altLang="en-US" dirty="0">
              <a:solidFill>
                <a:srgbClr val="000000"/>
              </a:solidFill>
              <a:latin typeface="Arial" pitchFamily="34" charset="0"/>
            </a:endParaRPr>
          </a:p>
          <a:p>
            <a:pPr>
              <a:lnSpc>
                <a:spcPct val="150000"/>
              </a:lnSpc>
              <a:spcBef>
                <a:spcPct val="0"/>
              </a:spcBef>
            </a:pPr>
            <a:r>
              <a:rPr lang="zh-CN" altLang="en-US" dirty="0">
                <a:solidFill>
                  <a:srgbClr val="000000"/>
                </a:solidFill>
                <a:latin typeface="Arial" pitchFamily="34" charset="0"/>
                <a:ea typeface="黑体" pitchFamily="49" charset="-122"/>
              </a:rPr>
              <a:t>（2）</a:t>
            </a:r>
            <a:r>
              <a:rPr lang="zh-CN" altLang="en-US" dirty="0">
                <a:solidFill>
                  <a:srgbClr val="000000"/>
                </a:solidFill>
                <a:ea typeface="黑体" pitchFamily="49" charset="-122"/>
              </a:rPr>
              <a:t>如果 </a:t>
            </a:r>
            <a:r>
              <a:rPr lang="en-US" altLang="zh-CN" dirty="0">
                <a:solidFill>
                  <a:srgbClr val="000000"/>
                </a:solidFill>
                <a:latin typeface="Arial" pitchFamily="34" charset="0"/>
                <a:ea typeface="黑体" pitchFamily="49" charset="-122"/>
              </a:rPr>
              <a:t>X = a ≠ #，</a:t>
            </a:r>
            <a:r>
              <a:rPr lang="zh-CN" altLang="en-US" dirty="0">
                <a:solidFill>
                  <a:srgbClr val="000000"/>
                </a:solidFill>
                <a:latin typeface="Arial" pitchFamily="34" charset="0"/>
                <a:ea typeface="黑体" pitchFamily="49" charset="-122"/>
              </a:rPr>
              <a:t>则从栈中弹出</a:t>
            </a:r>
            <a:r>
              <a:rPr lang="en-US" altLang="zh-CN" dirty="0">
                <a:solidFill>
                  <a:srgbClr val="000000"/>
                </a:solidFill>
                <a:latin typeface="Arial" pitchFamily="34" charset="0"/>
                <a:ea typeface="黑体" pitchFamily="49" charset="-122"/>
              </a:rPr>
              <a:t>X，</a:t>
            </a:r>
            <a:r>
              <a:rPr lang="zh-CN" altLang="en-US" dirty="0">
                <a:solidFill>
                  <a:srgbClr val="000000"/>
                </a:solidFill>
                <a:latin typeface="Arial" pitchFamily="34" charset="0"/>
                <a:ea typeface="黑体" pitchFamily="49" charset="-122"/>
              </a:rPr>
              <a:t>并使缓冲区指针前进到下一个输入符号。</a:t>
            </a:r>
            <a:endParaRPr lang="zh-CN" altLang="en-US" dirty="0">
              <a:solidFill>
                <a:srgbClr val="000000"/>
              </a:solidFill>
              <a:latin typeface="Arial" pitchFamily="34" charset="0"/>
            </a:endParaRPr>
          </a:p>
          <a:p>
            <a:pPr>
              <a:lnSpc>
                <a:spcPct val="150000"/>
              </a:lnSpc>
              <a:spcBef>
                <a:spcPct val="0"/>
              </a:spcBef>
            </a:pPr>
            <a:r>
              <a:rPr lang="zh-CN" altLang="en-US" dirty="0">
                <a:solidFill>
                  <a:srgbClr val="000000"/>
                </a:solidFill>
                <a:latin typeface="Arial" pitchFamily="34" charset="0"/>
                <a:ea typeface="黑体" pitchFamily="49" charset="-122"/>
              </a:rPr>
              <a:t>（3）</a:t>
            </a:r>
            <a:r>
              <a:rPr lang="zh-CN" altLang="en-US" dirty="0">
                <a:solidFill>
                  <a:srgbClr val="000000"/>
                </a:solidFill>
                <a:ea typeface="黑体" pitchFamily="49" charset="-122"/>
              </a:rPr>
              <a:t>如果</a:t>
            </a:r>
            <a:r>
              <a:rPr lang="en-US" altLang="zh-CN" dirty="0">
                <a:solidFill>
                  <a:srgbClr val="000000"/>
                </a:solidFill>
                <a:latin typeface="Arial" pitchFamily="34" charset="0"/>
                <a:ea typeface="黑体" pitchFamily="49" charset="-122"/>
              </a:rPr>
              <a:t>X</a:t>
            </a:r>
            <a:r>
              <a:rPr lang="zh-CN" altLang="en-US" dirty="0">
                <a:solidFill>
                  <a:srgbClr val="000000"/>
                </a:solidFill>
                <a:latin typeface="Arial" pitchFamily="34" charset="0"/>
                <a:ea typeface="黑体" pitchFamily="49" charset="-122"/>
              </a:rPr>
              <a:t>是一个非终极符，则查分析表，若</a:t>
            </a:r>
            <a:r>
              <a:rPr lang="en-US" altLang="zh-CN" dirty="0">
                <a:solidFill>
                  <a:srgbClr val="000000"/>
                </a:solidFill>
                <a:latin typeface="Arial" pitchFamily="34" charset="0"/>
                <a:ea typeface="黑体" pitchFamily="49" charset="-122"/>
              </a:rPr>
              <a:t>M[</a:t>
            </a:r>
            <a:r>
              <a:rPr lang="en-US" altLang="zh-CN" dirty="0" err="1">
                <a:solidFill>
                  <a:srgbClr val="000000"/>
                </a:solidFill>
                <a:latin typeface="Arial" pitchFamily="34" charset="0"/>
                <a:ea typeface="黑体" pitchFamily="49" charset="-122"/>
              </a:rPr>
              <a:t>A，a</a:t>
            </a:r>
            <a:r>
              <a:rPr lang="en-US" altLang="zh-CN" dirty="0">
                <a:solidFill>
                  <a:srgbClr val="000000"/>
                </a:solidFill>
                <a:latin typeface="Arial" pitchFamily="34" charset="0"/>
                <a:ea typeface="黑体" pitchFamily="49" charset="-122"/>
              </a:rPr>
              <a:t>]</a:t>
            </a:r>
            <a:r>
              <a:rPr lang="zh-CN" altLang="en-US" dirty="0">
                <a:solidFill>
                  <a:srgbClr val="000000"/>
                </a:solidFill>
                <a:latin typeface="Arial" pitchFamily="34" charset="0"/>
                <a:ea typeface="黑体" pitchFamily="49" charset="-122"/>
              </a:rPr>
              <a:t>为</a:t>
            </a:r>
            <a:r>
              <a:rPr lang="en-US" altLang="zh-CN" dirty="0">
                <a:solidFill>
                  <a:srgbClr val="000000"/>
                </a:solidFill>
                <a:latin typeface="Arial" pitchFamily="34" charset="0"/>
                <a:ea typeface="黑体" pitchFamily="49" charset="-122"/>
              </a:rPr>
              <a:t>X</a:t>
            </a:r>
            <a:r>
              <a:rPr lang="zh-CN" altLang="en-US" dirty="0">
                <a:solidFill>
                  <a:srgbClr val="000000"/>
                </a:solidFill>
                <a:latin typeface="Arial" pitchFamily="34" charset="0"/>
                <a:ea typeface="黑体" pitchFamily="49" charset="-122"/>
              </a:rPr>
              <a:t>的产生式，用该产生式右部的逆替换栈顶符号，否则出错。 </a:t>
            </a:r>
            <a:endParaRPr lang="zh-CN" altLang="en-US" dirty="0">
              <a:solidFill>
                <a:srgbClr val="000000"/>
              </a:solidFill>
              <a:latin typeface="Arial" pitchFamily="34" charset="0"/>
            </a:endParaRPr>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66</a:t>
            </a:fld>
            <a:endParaRPr lang="zh-CN" altLang="en-US">
              <a:solidFill>
                <a:srgbClr val="3F3F3F"/>
              </a:solidFill>
            </a:endParaRPr>
          </a:p>
        </p:txBody>
      </p:sp>
    </p:spTree>
    <p:extLst>
      <p:ext uri="{BB962C8B-B14F-4D97-AF65-F5344CB8AC3E}">
        <p14:creationId xmlns:p14="http://schemas.microsoft.com/office/powerpoint/2010/main" val="96846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a:xfrm>
            <a:off x="468313" y="1041401"/>
            <a:ext cx="8218487" cy="5113338"/>
          </a:xfrm>
        </p:spPr>
        <p:txBody>
          <a:bodyPr/>
          <a:lstStyle/>
          <a:p>
            <a:r>
              <a:rPr lang="zh-CN" altLang="en-US" dirty="0"/>
              <a:t> 表驱动预测分析程序分析算法</a:t>
            </a:r>
          </a:p>
          <a:p>
            <a:endParaRPr lang="zh-CN" altLang="en-US" dirty="0"/>
          </a:p>
        </p:txBody>
      </p:sp>
      <p:sp>
        <p:nvSpPr>
          <p:cNvPr id="4" name="Rectangle 18"/>
          <p:cNvSpPr>
            <a:spLocks noChangeArrowheads="1"/>
          </p:cNvSpPr>
          <p:nvPr/>
        </p:nvSpPr>
        <p:spPr bwMode="auto">
          <a:xfrm>
            <a:off x="971553" y="1629406"/>
            <a:ext cx="7705725" cy="4679950"/>
          </a:xfrm>
          <a:prstGeom prst="rect">
            <a:avLst/>
          </a:prstGeom>
          <a:noFill/>
          <a:ln w="9525">
            <a:noFill/>
            <a:miter lim="800000"/>
            <a:headEnd/>
            <a:tailEnd/>
          </a:ln>
        </p:spPr>
        <p:txBody>
          <a:bodyPr/>
          <a:lstStyle/>
          <a:p>
            <a:pPr algn="just" fontAlgn="base">
              <a:lnSpc>
                <a:spcPct val="110000"/>
              </a:lnSpc>
              <a:spcBef>
                <a:spcPct val="0"/>
              </a:spcBef>
              <a:spcAft>
                <a:spcPct val="0"/>
              </a:spcAft>
            </a:pPr>
            <a:r>
              <a:rPr lang="zh-CN" altLang="en-US" sz="1600" b="1" dirty="0">
                <a:solidFill>
                  <a:srgbClr val="000000"/>
                </a:solidFill>
                <a:latin typeface="Times New Roman" pitchFamily="18" charset="0"/>
              </a:rPr>
              <a:t>输入：</a:t>
            </a:r>
            <a:r>
              <a:rPr lang="zh-CN" altLang="en-US" sz="1600" dirty="0">
                <a:solidFill>
                  <a:srgbClr val="000000"/>
                </a:solidFill>
                <a:latin typeface="Times New Roman" pitchFamily="18" charset="0"/>
              </a:rPr>
              <a:t>串</a:t>
            </a:r>
            <a:r>
              <a:rPr lang="en-US" altLang="zh-CN" sz="1600" dirty="0">
                <a:solidFill>
                  <a:srgbClr val="000000"/>
                </a:solidFill>
              </a:rPr>
              <a:t>w, </a:t>
            </a:r>
            <a:r>
              <a:rPr lang="zh-CN" altLang="en-US" sz="1600" dirty="0">
                <a:solidFill>
                  <a:srgbClr val="000000"/>
                </a:solidFill>
                <a:latin typeface="Times New Roman" pitchFamily="18" charset="0"/>
              </a:rPr>
              <a:t>文法</a:t>
            </a:r>
            <a:r>
              <a:rPr lang="en-US" altLang="zh-CN" sz="1600" dirty="0">
                <a:solidFill>
                  <a:srgbClr val="000000"/>
                </a:solidFill>
              </a:rPr>
              <a:t>G</a:t>
            </a:r>
            <a:r>
              <a:rPr lang="zh-CN" altLang="en-US" sz="1600" dirty="0">
                <a:solidFill>
                  <a:srgbClr val="000000"/>
                </a:solidFill>
                <a:latin typeface="Times New Roman" pitchFamily="18" charset="0"/>
              </a:rPr>
              <a:t>的分析表</a:t>
            </a:r>
            <a:r>
              <a:rPr lang="en-US" altLang="zh-CN" sz="1600" dirty="0">
                <a:solidFill>
                  <a:srgbClr val="000000"/>
                </a:solidFill>
              </a:rPr>
              <a:t>M</a:t>
            </a:r>
            <a:endParaRPr lang="en-US" altLang="zh-CN" sz="1600" dirty="0">
              <a:solidFill>
                <a:srgbClr val="000000"/>
              </a:solidFill>
              <a:latin typeface="Arial" pitchFamily="34" charset="0"/>
            </a:endParaRPr>
          </a:p>
          <a:p>
            <a:pPr algn="just" fontAlgn="base">
              <a:lnSpc>
                <a:spcPct val="110000"/>
              </a:lnSpc>
              <a:spcBef>
                <a:spcPct val="0"/>
              </a:spcBef>
              <a:spcAft>
                <a:spcPct val="0"/>
              </a:spcAft>
            </a:pPr>
            <a:r>
              <a:rPr lang="zh-CN" altLang="en-US" sz="1600" b="1" dirty="0">
                <a:solidFill>
                  <a:srgbClr val="000000"/>
                </a:solidFill>
                <a:latin typeface="Times New Roman" pitchFamily="18" charset="0"/>
              </a:rPr>
              <a:t>输出：</a:t>
            </a:r>
            <a:r>
              <a:rPr lang="zh-CN" altLang="en-US" sz="1600" dirty="0">
                <a:solidFill>
                  <a:srgbClr val="000000"/>
                </a:solidFill>
                <a:latin typeface="Times New Roman" pitchFamily="18" charset="0"/>
              </a:rPr>
              <a:t>如果</a:t>
            </a:r>
            <a:r>
              <a:rPr lang="en-US" altLang="zh-CN" sz="1600" dirty="0">
                <a:solidFill>
                  <a:srgbClr val="000000"/>
                </a:solidFill>
              </a:rPr>
              <a:t>w </a:t>
            </a:r>
            <a:r>
              <a:rPr lang="en-US" altLang="zh-CN" sz="1600" dirty="0">
                <a:solidFill>
                  <a:srgbClr val="000000"/>
                </a:solidFill>
                <a:latin typeface="Times New Roman" pitchFamily="18" charset="0"/>
                <a:sym typeface="Symbol" pitchFamily="18" charset="2"/>
              </a:rPr>
              <a:t></a:t>
            </a:r>
            <a:r>
              <a:rPr lang="en-US" altLang="zh-CN" sz="1600" dirty="0">
                <a:solidFill>
                  <a:srgbClr val="000000"/>
                </a:solidFill>
              </a:rPr>
              <a:t>L</a:t>
            </a:r>
            <a:r>
              <a:rPr lang="en-US" altLang="zh-CN" sz="1600" dirty="0">
                <a:solidFill>
                  <a:srgbClr val="000000"/>
                </a:solidFill>
                <a:latin typeface="Times New Roman" pitchFamily="18" charset="0"/>
                <a:sym typeface="Symbol" pitchFamily="18" charset="2"/>
              </a:rPr>
              <a:t>（</a:t>
            </a:r>
            <a:r>
              <a:rPr lang="en-US" altLang="zh-CN" sz="1600" dirty="0">
                <a:solidFill>
                  <a:srgbClr val="000000"/>
                </a:solidFill>
                <a:sym typeface="Symbol" pitchFamily="18" charset="2"/>
              </a:rPr>
              <a:t>G</a:t>
            </a:r>
            <a:r>
              <a:rPr lang="en-US" altLang="zh-CN" sz="1600" dirty="0">
                <a:solidFill>
                  <a:srgbClr val="000000"/>
                </a:solidFill>
                <a:latin typeface="Times New Roman" pitchFamily="18" charset="0"/>
                <a:sym typeface="Symbol" pitchFamily="18" charset="2"/>
              </a:rPr>
              <a:t>）</a:t>
            </a:r>
            <a:r>
              <a:rPr lang="zh-CN" altLang="en-US" sz="1600" dirty="0">
                <a:solidFill>
                  <a:srgbClr val="000000"/>
                </a:solidFill>
                <a:latin typeface="Times New Roman" pitchFamily="18" charset="0"/>
                <a:sym typeface="Symbol" pitchFamily="18" charset="2"/>
              </a:rPr>
              <a:t>则产生</a:t>
            </a:r>
            <a:r>
              <a:rPr lang="en-US" altLang="zh-CN" sz="1600" dirty="0">
                <a:solidFill>
                  <a:srgbClr val="000000"/>
                </a:solidFill>
                <a:sym typeface="Symbol" pitchFamily="18" charset="2"/>
              </a:rPr>
              <a:t>w</a:t>
            </a:r>
            <a:r>
              <a:rPr lang="zh-CN" altLang="en-US" sz="1600" dirty="0">
                <a:solidFill>
                  <a:srgbClr val="000000"/>
                </a:solidFill>
                <a:latin typeface="Times New Roman" pitchFamily="18" charset="0"/>
                <a:sym typeface="Symbol" pitchFamily="18" charset="2"/>
              </a:rPr>
              <a:t>的最左推导，否则输出错误信息。</a:t>
            </a:r>
            <a:endParaRPr lang="zh-CN" altLang="en-US" sz="1600" dirty="0">
              <a:solidFill>
                <a:srgbClr val="000000"/>
              </a:solidFill>
              <a:sym typeface="Symbol" pitchFamily="18" charset="2"/>
            </a:endParaRPr>
          </a:p>
          <a:p>
            <a:pPr algn="just" fontAlgn="base">
              <a:lnSpc>
                <a:spcPct val="110000"/>
              </a:lnSpc>
              <a:spcBef>
                <a:spcPct val="0"/>
              </a:spcBef>
              <a:spcAft>
                <a:spcPct val="0"/>
              </a:spcAft>
            </a:pPr>
            <a:r>
              <a:rPr lang="zh-CN" altLang="en-US" sz="1600" b="1" dirty="0">
                <a:solidFill>
                  <a:srgbClr val="000000"/>
                </a:solidFill>
                <a:latin typeface="Times New Roman" pitchFamily="18" charset="0"/>
                <a:sym typeface="Symbol" pitchFamily="18" charset="2"/>
              </a:rPr>
              <a:t>方法：</a:t>
            </a:r>
            <a:r>
              <a:rPr lang="zh-CN" altLang="en-US" sz="1600" dirty="0">
                <a:solidFill>
                  <a:srgbClr val="000000"/>
                </a:solidFill>
                <a:latin typeface="Times New Roman" pitchFamily="18" charset="0"/>
                <a:sym typeface="Symbol" pitchFamily="18" charset="2"/>
              </a:rPr>
              <a:t>初态时，分析栈为</a:t>
            </a:r>
            <a:r>
              <a:rPr lang="zh-CN" altLang="en-US" sz="1600" dirty="0">
                <a:solidFill>
                  <a:srgbClr val="000000"/>
                </a:solidFill>
                <a:sym typeface="Symbol" pitchFamily="18" charset="2"/>
              </a:rPr>
              <a:t> </a:t>
            </a:r>
            <a:r>
              <a:rPr lang="zh-CN" altLang="en-US" sz="1600" dirty="0">
                <a:solidFill>
                  <a:srgbClr val="000000"/>
                </a:solidFill>
                <a:latin typeface="Times New Roman" pitchFamily="18" charset="0"/>
                <a:ea typeface="黑体" pitchFamily="49" charset="-122"/>
                <a:sym typeface="Symbol" pitchFamily="18" charset="2"/>
              </a:rPr>
              <a:t>#</a:t>
            </a:r>
            <a:r>
              <a:rPr lang="en-US" altLang="zh-CN" sz="1600" dirty="0">
                <a:solidFill>
                  <a:srgbClr val="000000"/>
                </a:solidFill>
                <a:latin typeface="Times New Roman" pitchFamily="18" charset="0"/>
                <a:sym typeface="Symbol" pitchFamily="18" charset="2"/>
              </a:rPr>
              <a:t>S ，</a:t>
            </a:r>
            <a:r>
              <a:rPr lang="zh-CN" altLang="en-US" sz="1600" dirty="0">
                <a:solidFill>
                  <a:srgbClr val="000000"/>
                </a:solidFill>
                <a:latin typeface="Times New Roman" pitchFamily="18" charset="0"/>
                <a:sym typeface="Symbol" pitchFamily="18" charset="2"/>
              </a:rPr>
              <a:t>栈顶</a:t>
            </a:r>
            <a:r>
              <a:rPr lang="en-US" altLang="zh-CN" sz="1600" dirty="0">
                <a:solidFill>
                  <a:srgbClr val="000000"/>
                </a:solidFill>
                <a:sym typeface="Symbol" pitchFamily="18" charset="2"/>
              </a:rPr>
              <a:t>S</a:t>
            </a:r>
            <a:r>
              <a:rPr lang="zh-CN" altLang="en-US" sz="1600" dirty="0">
                <a:solidFill>
                  <a:srgbClr val="000000"/>
                </a:solidFill>
                <a:latin typeface="Times New Roman" pitchFamily="18" charset="0"/>
                <a:sym typeface="Symbol" pitchFamily="18" charset="2"/>
              </a:rPr>
              <a:t>是文法的开始符号；缓冲区为</a:t>
            </a:r>
            <a:r>
              <a:rPr lang="zh-CN" altLang="en-US" sz="1600" dirty="0">
                <a:solidFill>
                  <a:srgbClr val="000000"/>
                </a:solidFill>
                <a:sym typeface="Symbol" pitchFamily="18" charset="2"/>
              </a:rPr>
              <a:t> </a:t>
            </a:r>
            <a:r>
              <a:rPr lang="en-US" altLang="zh-CN" sz="1600" dirty="0">
                <a:solidFill>
                  <a:srgbClr val="000000"/>
                </a:solidFill>
                <a:sym typeface="Symbol" pitchFamily="18" charset="2"/>
              </a:rPr>
              <a:t>w </a:t>
            </a:r>
            <a:r>
              <a:rPr lang="en-US" altLang="zh-CN" sz="1600" dirty="0">
                <a:solidFill>
                  <a:srgbClr val="000000"/>
                </a:solidFill>
                <a:latin typeface="Times New Roman" pitchFamily="18" charset="0"/>
                <a:ea typeface="黑体" pitchFamily="49" charset="-122"/>
                <a:sym typeface="Symbol" pitchFamily="18" charset="2"/>
              </a:rPr>
              <a:t>#</a:t>
            </a:r>
            <a:r>
              <a:rPr lang="en-US" altLang="zh-CN" sz="1600" dirty="0">
                <a:solidFill>
                  <a:srgbClr val="000000"/>
                </a:solidFill>
                <a:latin typeface="Times New Roman" pitchFamily="18" charset="0"/>
                <a:sym typeface="Symbol" pitchFamily="18" charset="2"/>
              </a:rPr>
              <a:t>。</a:t>
            </a:r>
            <a:r>
              <a:rPr lang="zh-CN" altLang="en-US" sz="1600" dirty="0">
                <a:solidFill>
                  <a:srgbClr val="000000"/>
                </a:solidFill>
                <a:latin typeface="Times New Roman" pitchFamily="18" charset="0"/>
                <a:sym typeface="Symbol" pitchFamily="18" charset="2"/>
              </a:rPr>
              <a:t>分析器按下列操作进行语法分析：</a:t>
            </a:r>
            <a:endParaRPr lang="zh-CN" altLang="en-US" sz="1600" dirty="0">
              <a:solidFill>
                <a:srgbClr val="000000"/>
              </a:solidFill>
              <a:sym typeface="Symbol" pitchFamily="18" charset="2"/>
            </a:endParaRPr>
          </a:p>
          <a:p>
            <a:pPr algn="just" fontAlgn="base">
              <a:lnSpc>
                <a:spcPct val="110000"/>
              </a:lnSpc>
              <a:spcBef>
                <a:spcPct val="0"/>
              </a:spcBef>
              <a:spcAft>
                <a:spcPct val="0"/>
              </a:spcAft>
            </a:pPr>
            <a:r>
              <a:rPr lang="zh-CN" altLang="en-US" sz="1600" dirty="0">
                <a:solidFill>
                  <a:srgbClr val="000000"/>
                </a:solidFill>
                <a:latin typeface="Times New Roman" pitchFamily="18" charset="0"/>
                <a:sym typeface="Symbol" pitchFamily="18" charset="2"/>
              </a:rPr>
              <a:t>1）</a:t>
            </a:r>
            <a:r>
              <a:rPr lang="zh-CN" altLang="en-US"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Push  #,S；</a:t>
            </a:r>
            <a:r>
              <a:rPr lang="zh-CN" altLang="en-US" sz="1600" dirty="0">
                <a:solidFill>
                  <a:srgbClr val="000000"/>
                </a:solidFill>
                <a:latin typeface="Times New Roman" pitchFamily="18" charset="0"/>
                <a:sym typeface="Symbol" pitchFamily="18" charset="2"/>
              </a:rPr>
              <a:t>指针</a:t>
            </a:r>
            <a:r>
              <a:rPr lang="zh-CN" altLang="en-US" sz="1600" dirty="0">
                <a:solidFill>
                  <a:srgbClr val="000000"/>
                </a:solidFill>
                <a:sym typeface="Symbol" pitchFamily="18" charset="2"/>
              </a:rPr>
              <a:t> </a:t>
            </a:r>
            <a:r>
              <a:rPr lang="en-US" altLang="zh-CN" sz="1600" dirty="0" err="1">
                <a:solidFill>
                  <a:srgbClr val="000000"/>
                </a:solidFill>
                <a:sym typeface="Symbol" pitchFamily="18" charset="2"/>
              </a:rPr>
              <a:t>ip</a:t>
            </a:r>
            <a:r>
              <a:rPr lang="en-US" altLang="zh-CN" sz="1600" dirty="0">
                <a:solidFill>
                  <a:srgbClr val="000000"/>
                </a:solidFill>
                <a:sym typeface="Symbol" pitchFamily="18" charset="2"/>
              </a:rPr>
              <a:t> </a:t>
            </a:r>
            <a:r>
              <a:rPr lang="zh-CN" altLang="en-US" sz="1600" dirty="0">
                <a:solidFill>
                  <a:srgbClr val="000000"/>
                </a:solidFill>
                <a:latin typeface="Times New Roman" pitchFamily="18" charset="0"/>
                <a:sym typeface="Symbol" pitchFamily="18" charset="2"/>
              </a:rPr>
              <a:t>指向串</a:t>
            </a:r>
            <a:r>
              <a:rPr lang="zh-CN" altLang="en-US" sz="1600" dirty="0">
                <a:solidFill>
                  <a:srgbClr val="000000"/>
                </a:solidFill>
                <a:sym typeface="Symbol" pitchFamily="18" charset="2"/>
              </a:rPr>
              <a:t> </a:t>
            </a:r>
            <a:r>
              <a:rPr lang="en-US" altLang="zh-CN" sz="1600" dirty="0">
                <a:solidFill>
                  <a:srgbClr val="000000"/>
                </a:solidFill>
                <a:sym typeface="Symbol" pitchFamily="18" charset="2"/>
              </a:rPr>
              <a:t>w # </a:t>
            </a:r>
            <a:r>
              <a:rPr lang="zh-CN" altLang="en-US" sz="1600" dirty="0">
                <a:solidFill>
                  <a:srgbClr val="000000"/>
                </a:solidFill>
                <a:latin typeface="Times New Roman" pitchFamily="18" charset="0"/>
                <a:sym typeface="Symbol" pitchFamily="18" charset="2"/>
              </a:rPr>
              <a:t>的第一个符号；</a:t>
            </a:r>
            <a:endParaRPr lang="zh-CN" altLang="en-US" sz="1600" dirty="0">
              <a:solidFill>
                <a:srgbClr val="000000"/>
              </a:solidFill>
              <a:sym typeface="Symbol" pitchFamily="18" charset="2"/>
            </a:endParaRPr>
          </a:p>
          <a:p>
            <a:pPr algn="just" fontAlgn="base">
              <a:lnSpc>
                <a:spcPct val="110000"/>
              </a:lnSpc>
              <a:spcBef>
                <a:spcPct val="0"/>
              </a:spcBef>
              <a:spcAft>
                <a:spcPct val="0"/>
              </a:spcAft>
            </a:pPr>
            <a:r>
              <a:rPr lang="zh-CN" altLang="en-US" sz="1600" dirty="0">
                <a:solidFill>
                  <a:srgbClr val="000000"/>
                </a:solidFill>
                <a:latin typeface="Times New Roman" pitchFamily="18" charset="0"/>
                <a:sym typeface="Symbol" pitchFamily="18" charset="2"/>
              </a:rPr>
              <a:t>2）</a:t>
            </a:r>
            <a:r>
              <a:rPr lang="zh-CN" altLang="en-US"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repeat</a:t>
            </a:r>
          </a:p>
          <a:p>
            <a:pPr algn="just" fontAlgn="base">
              <a:lnSpc>
                <a:spcPct val="110000"/>
              </a:lnSpc>
              <a:spcBef>
                <a:spcPct val="0"/>
              </a:spcBef>
              <a:spcAft>
                <a:spcPct val="0"/>
              </a:spcAft>
            </a:pPr>
            <a:r>
              <a:rPr lang="en-US" altLang="zh-CN" sz="1600" dirty="0">
                <a:solidFill>
                  <a:srgbClr val="000000"/>
                </a:solidFill>
                <a:latin typeface="Times New Roman" pitchFamily="18" charset="0"/>
                <a:sym typeface="Symbol" pitchFamily="18" charset="2"/>
              </a:rPr>
              <a:t>3）</a:t>
            </a:r>
            <a:r>
              <a:rPr lang="en-US" altLang="zh-CN" sz="1600" dirty="0">
                <a:solidFill>
                  <a:srgbClr val="000000"/>
                </a:solidFill>
                <a:sym typeface="Symbol" pitchFamily="18" charset="2"/>
              </a:rPr>
              <a:t>     </a:t>
            </a:r>
            <a:r>
              <a:rPr lang="zh-CN" altLang="en-US" sz="1600" dirty="0">
                <a:solidFill>
                  <a:srgbClr val="000000"/>
                </a:solidFill>
                <a:latin typeface="Times New Roman" pitchFamily="18" charset="0"/>
                <a:sym typeface="Symbol" pitchFamily="18" charset="2"/>
              </a:rPr>
              <a:t>令</a:t>
            </a:r>
            <a:r>
              <a:rPr lang="en-US" altLang="zh-CN" sz="1600" dirty="0">
                <a:solidFill>
                  <a:srgbClr val="000000"/>
                </a:solidFill>
                <a:sym typeface="Symbol" pitchFamily="18" charset="2"/>
              </a:rPr>
              <a:t>X</a:t>
            </a:r>
            <a:r>
              <a:rPr lang="zh-CN" altLang="en-US" sz="1600" dirty="0">
                <a:solidFill>
                  <a:srgbClr val="000000"/>
                </a:solidFill>
                <a:latin typeface="Times New Roman" pitchFamily="18" charset="0"/>
                <a:sym typeface="Symbol" pitchFamily="18" charset="2"/>
              </a:rPr>
              <a:t>为栈顶符号，</a:t>
            </a:r>
            <a:r>
              <a:rPr lang="en-US" altLang="zh-CN" sz="1600" dirty="0">
                <a:solidFill>
                  <a:srgbClr val="000000"/>
                </a:solidFill>
                <a:sym typeface="Symbol" pitchFamily="18" charset="2"/>
              </a:rPr>
              <a:t>a</a:t>
            </a:r>
            <a:r>
              <a:rPr lang="zh-CN" altLang="en-US" sz="1600" dirty="0">
                <a:solidFill>
                  <a:srgbClr val="000000"/>
                </a:solidFill>
                <a:latin typeface="Times New Roman" pitchFamily="18" charset="0"/>
                <a:sym typeface="Symbol" pitchFamily="18" charset="2"/>
              </a:rPr>
              <a:t>为</a:t>
            </a:r>
            <a:r>
              <a:rPr lang="en-US" altLang="zh-CN" sz="1600" dirty="0" err="1">
                <a:solidFill>
                  <a:srgbClr val="000000"/>
                </a:solidFill>
                <a:sym typeface="Symbol" pitchFamily="18" charset="2"/>
              </a:rPr>
              <a:t>ip</a:t>
            </a:r>
            <a:r>
              <a:rPr lang="zh-CN" altLang="en-US" sz="1600" dirty="0">
                <a:solidFill>
                  <a:srgbClr val="000000"/>
                </a:solidFill>
                <a:latin typeface="Times New Roman" pitchFamily="18" charset="0"/>
                <a:sym typeface="Symbol" pitchFamily="18" charset="2"/>
              </a:rPr>
              <a:t>所指的符号；</a:t>
            </a:r>
            <a:endParaRPr lang="zh-CN" altLang="en-US" sz="1600" dirty="0">
              <a:solidFill>
                <a:srgbClr val="000000"/>
              </a:solidFill>
              <a:sym typeface="Symbol" pitchFamily="18" charset="2"/>
            </a:endParaRPr>
          </a:p>
          <a:p>
            <a:pPr algn="just" fontAlgn="base">
              <a:lnSpc>
                <a:spcPct val="110000"/>
              </a:lnSpc>
              <a:spcBef>
                <a:spcPct val="0"/>
              </a:spcBef>
              <a:spcAft>
                <a:spcPct val="0"/>
              </a:spcAft>
            </a:pPr>
            <a:r>
              <a:rPr lang="zh-CN" altLang="en-US" sz="1600" dirty="0">
                <a:solidFill>
                  <a:srgbClr val="000000"/>
                </a:solidFill>
                <a:latin typeface="Times New Roman" pitchFamily="18" charset="0"/>
                <a:sym typeface="Symbol" pitchFamily="18" charset="2"/>
              </a:rPr>
              <a:t>4）</a:t>
            </a:r>
            <a:r>
              <a:rPr lang="zh-CN" altLang="en-US"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if  X </a:t>
            </a:r>
            <a:r>
              <a:rPr lang="zh-CN" altLang="en-US" sz="1600" dirty="0">
                <a:solidFill>
                  <a:srgbClr val="000000"/>
                </a:solidFill>
                <a:latin typeface="Times New Roman" pitchFamily="18" charset="0"/>
                <a:sym typeface="Symbol" pitchFamily="18" charset="2"/>
              </a:rPr>
              <a:t>为终结符或</a:t>
            </a:r>
            <a:r>
              <a:rPr lang="zh-CN" altLang="en-US" sz="1600" dirty="0">
                <a:solidFill>
                  <a:srgbClr val="000000"/>
                </a:solidFill>
                <a:sym typeface="Symbol" pitchFamily="18" charset="2"/>
              </a:rPr>
              <a:t>#</a:t>
            </a:r>
            <a:r>
              <a:rPr lang="zh-CN" altLang="en-US" sz="1600" dirty="0">
                <a:solidFill>
                  <a:srgbClr val="000000"/>
                </a:solidFill>
                <a:latin typeface="Times New Roman" pitchFamily="18" charset="0"/>
                <a:sym typeface="Symbol" pitchFamily="18" charset="2"/>
              </a:rPr>
              <a:t>  </a:t>
            </a:r>
            <a:r>
              <a:rPr lang="en-US" altLang="zh-CN" sz="1600" dirty="0">
                <a:solidFill>
                  <a:srgbClr val="000000"/>
                </a:solidFill>
                <a:latin typeface="Times New Roman" pitchFamily="18" charset="0"/>
                <a:sym typeface="Symbol" pitchFamily="18" charset="2"/>
              </a:rPr>
              <a:t>then</a:t>
            </a:r>
          </a:p>
          <a:p>
            <a:pPr algn="just" fontAlgn="base">
              <a:lnSpc>
                <a:spcPct val="110000"/>
              </a:lnSpc>
              <a:spcBef>
                <a:spcPct val="0"/>
              </a:spcBef>
              <a:spcAft>
                <a:spcPct val="0"/>
              </a:spcAft>
            </a:pPr>
            <a:r>
              <a:rPr lang="en-US" altLang="zh-CN" sz="1600" dirty="0">
                <a:solidFill>
                  <a:srgbClr val="000000"/>
                </a:solidFill>
                <a:latin typeface="Times New Roman" pitchFamily="18" charset="0"/>
                <a:sym typeface="Symbol" pitchFamily="18" charset="2"/>
              </a:rPr>
              <a:t>5）</a:t>
            </a:r>
            <a:r>
              <a:rPr lang="en-US" altLang="zh-CN"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if X = a = #  then </a:t>
            </a:r>
            <a:r>
              <a:rPr lang="zh-CN" altLang="en-US" sz="1600" dirty="0">
                <a:solidFill>
                  <a:srgbClr val="000000"/>
                </a:solidFill>
                <a:latin typeface="Times New Roman" pitchFamily="18" charset="0"/>
                <a:sym typeface="Symbol" pitchFamily="18" charset="2"/>
              </a:rPr>
              <a:t>接收</a:t>
            </a:r>
            <a:r>
              <a:rPr lang="zh-CN" altLang="en-US" sz="1600" dirty="0">
                <a:solidFill>
                  <a:srgbClr val="000000"/>
                </a:solidFill>
                <a:sym typeface="Symbol" pitchFamily="18" charset="2"/>
              </a:rPr>
              <a:t> </a:t>
            </a:r>
            <a:r>
              <a:rPr lang="en-US" altLang="zh-CN" sz="1600" dirty="0">
                <a:solidFill>
                  <a:srgbClr val="000000"/>
                </a:solidFill>
                <a:sym typeface="Symbol" pitchFamily="18" charset="2"/>
              </a:rPr>
              <a:t>w</a:t>
            </a:r>
            <a:endParaRPr lang="en-US" altLang="zh-CN" sz="1600" dirty="0">
              <a:solidFill>
                <a:srgbClr val="000000"/>
              </a:solidFill>
              <a:latin typeface="Times New Roman" pitchFamily="18" charset="0"/>
              <a:sym typeface="Symbol" pitchFamily="18" charset="2"/>
            </a:endParaRPr>
          </a:p>
          <a:p>
            <a:pPr algn="just" fontAlgn="base">
              <a:lnSpc>
                <a:spcPct val="110000"/>
              </a:lnSpc>
              <a:spcBef>
                <a:spcPct val="0"/>
              </a:spcBef>
              <a:spcAft>
                <a:spcPct val="0"/>
              </a:spcAft>
            </a:pPr>
            <a:r>
              <a:rPr lang="en-US" altLang="zh-CN" sz="1600" dirty="0">
                <a:solidFill>
                  <a:srgbClr val="000000"/>
                </a:solidFill>
                <a:latin typeface="Times New Roman" pitchFamily="18" charset="0"/>
                <a:sym typeface="Symbol" pitchFamily="18" charset="2"/>
              </a:rPr>
              <a:t>6）</a:t>
            </a:r>
            <a:r>
              <a:rPr lang="en-US" altLang="zh-CN"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  else  if  X = a ≠ # then </a:t>
            </a:r>
            <a:r>
              <a:rPr lang="zh-CN" altLang="en-US" sz="1600" dirty="0">
                <a:solidFill>
                  <a:srgbClr val="000000"/>
                </a:solidFill>
                <a:latin typeface="Times New Roman" pitchFamily="18" charset="0"/>
                <a:sym typeface="Symbol" pitchFamily="18" charset="2"/>
              </a:rPr>
              <a:t>弹出</a:t>
            </a:r>
            <a:r>
              <a:rPr lang="zh-CN" altLang="en-US" sz="1600" dirty="0">
                <a:solidFill>
                  <a:srgbClr val="000000"/>
                </a:solidFill>
                <a:sym typeface="Symbol" pitchFamily="18" charset="2"/>
              </a:rPr>
              <a:t> </a:t>
            </a:r>
            <a:r>
              <a:rPr lang="en-US" altLang="zh-CN" sz="1600" dirty="0">
                <a:solidFill>
                  <a:srgbClr val="000000"/>
                </a:solidFill>
                <a:sym typeface="Symbol" pitchFamily="18" charset="2"/>
              </a:rPr>
              <a:t>X</a:t>
            </a:r>
            <a:r>
              <a:rPr lang="en-US" altLang="zh-CN" sz="1600" dirty="0">
                <a:solidFill>
                  <a:srgbClr val="000000"/>
                </a:solidFill>
                <a:latin typeface="Times New Roman" pitchFamily="18" charset="0"/>
                <a:sym typeface="Symbol" pitchFamily="18" charset="2"/>
              </a:rPr>
              <a:t>，</a:t>
            </a:r>
            <a:r>
              <a:rPr lang="zh-CN" altLang="en-US" sz="1600" dirty="0">
                <a:solidFill>
                  <a:srgbClr val="000000"/>
                </a:solidFill>
                <a:latin typeface="Times New Roman" pitchFamily="18" charset="0"/>
                <a:sym typeface="Symbol" pitchFamily="18" charset="2"/>
              </a:rPr>
              <a:t>并使</a:t>
            </a:r>
            <a:r>
              <a:rPr lang="en-US" altLang="zh-CN" sz="1600" dirty="0" err="1">
                <a:solidFill>
                  <a:srgbClr val="000000"/>
                </a:solidFill>
                <a:sym typeface="Symbol" pitchFamily="18" charset="2"/>
              </a:rPr>
              <a:t>ip</a:t>
            </a:r>
            <a:r>
              <a:rPr lang="zh-CN" altLang="en-US" sz="1600" dirty="0">
                <a:solidFill>
                  <a:srgbClr val="000000"/>
                </a:solidFill>
                <a:latin typeface="Times New Roman" pitchFamily="18" charset="0"/>
                <a:sym typeface="Symbol" pitchFamily="18" charset="2"/>
              </a:rPr>
              <a:t>前进</a:t>
            </a:r>
            <a:endParaRPr lang="zh-CN" altLang="en-US" sz="1600" dirty="0">
              <a:solidFill>
                <a:srgbClr val="000000"/>
              </a:solidFill>
              <a:sym typeface="Symbol" pitchFamily="18" charset="2"/>
            </a:endParaRPr>
          </a:p>
          <a:p>
            <a:pPr algn="just" fontAlgn="base">
              <a:lnSpc>
                <a:spcPct val="110000"/>
              </a:lnSpc>
              <a:spcBef>
                <a:spcPct val="0"/>
              </a:spcBef>
              <a:spcAft>
                <a:spcPct val="0"/>
              </a:spcAft>
            </a:pPr>
            <a:r>
              <a:rPr lang="zh-CN" altLang="en-US" sz="1600" dirty="0">
                <a:solidFill>
                  <a:srgbClr val="000000"/>
                </a:solidFill>
                <a:latin typeface="Times New Roman" pitchFamily="18" charset="0"/>
                <a:sym typeface="Symbol" pitchFamily="18" charset="2"/>
              </a:rPr>
              <a:t>7）</a:t>
            </a:r>
            <a:r>
              <a:rPr lang="zh-CN" altLang="en-US"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else  error</a:t>
            </a:r>
          </a:p>
          <a:p>
            <a:pPr algn="just" fontAlgn="base">
              <a:lnSpc>
                <a:spcPct val="110000"/>
              </a:lnSpc>
              <a:spcBef>
                <a:spcPct val="0"/>
              </a:spcBef>
              <a:spcAft>
                <a:spcPct val="0"/>
              </a:spcAft>
            </a:pPr>
            <a:r>
              <a:rPr lang="en-US" altLang="zh-CN" sz="1600" dirty="0">
                <a:solidFill>
                  <a:srgbClr val="000000"/>
                </a:solidFill>
                <a:latin typeface="Times New Roman" pitchFamily="18" charset="0"/>
                <a:sym typeface="Symbol" pitchFamily="18" charset="2"/>
              </a:rPr>
              <a:t>8）</a:t>
            </a:r>
            <a:r>
              <a:rPr lang="en-US" altLang="zh-CN"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else  /*  X</a:t>
            </a:r>
            <a:r>
              <a:rPr lang="zh-CN" altLang="en-US" sz="1600" dirty="0">
                <a:solidFill>
                  <a:srgbClr val="000000"/>
                </a:solidFill>
                <a:latin typeface="Times New Roman" pitchFamily="18" charset="0"/>
                <a:sym typeface="Symbol" pitchFamily="18" charset="2"/>
              </a:rPr>
              <a:t>为非终结符</a:t>
            </a:r>
            <a:r>
              <a:rPr lang="zh-CN" altLang="en-US" sz="1600" dirty="0">
                <a:solidFill>
                  <a:srgbClr val="000000"/>
                </a:solidFill>
                <a:sym typeface="Symbol" pitchFamily="18" charset="2"/>
              </a:rPr>
              <a:t> </a:t>
            </a:r>
            <a:r>
              <a:rPr lang="zh-CN" altLang="en-US" sz="1600" dirty="0">
                <a:solidFill>
                  <a:srgbClr val="000000"/>
                </a:solidFill>
                <a:latin typeface="Times New Roman" pitchFamily="18" charset="0"/>
                <a:sym typeface="Symbol" pitchFamily="18" charset="2"/>
              </a:rPr>
              <a:t>*/</a:t>
            </a:r>
          </a:p>
          <a:p>
            <a:pPr algn="just" fontAlgn="base">
              <a:lnSpc>
                <a:spcPct val="110000"/>
              </a:lnSpc>
              <a:spcBef>
                <a:spcPct val="0"/>
              </a:spcBef>
              <a:spcAft>
                <a:spcPct val="0"/>
              </a:spcAft>
            </a:pPr>
            <a:r>
              <a:rPr lang="zh-CN" altLang="en-US" sz="1600" dirty="0">
                <a:solidFill>
                  <a:srgbClr val="000000"/>
                </a:solidFill>
                <a:latin typeface="Times New Roman" pitchFamily="18" charset="0"/>
                <a:sym typeface="Symbol" pitchFamily="18" charset="2"/>
              </a:rPr>
              <a:t>9）</a:t>
            </a:r>
            <a:r>
              <a:rPr lang="zh-CN" altLang="en-US"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if  M[</a:t>
            </a:r>
            <a:r>
              <a:rPr lang="en-US" altLang="zh-CN" sz="1600" dirty="0" err="1">
                <a:solidFill>
                  <a:srgbClr val="000000"/>
                </a:solidFill>
                <a:latin typeface="Times New Roman" pitchFamily="18" charset="0"/>
                <a:sym typeface="Symbol" pitchFamily="18" charset="2"/>
              </a:rPr>
              <a:t>X,a</a:t>
            </a:r>
            <a:r>
              <a:rPr lang="en-US" altLang="zh-CN" sz="1600" dirty="0">
                <a:solidFill>
                  <a:srgbClr val="000000"/>
                </a:solidFill>
                <a:latin typeface="Times New Roman" pitchFamily="18" charset="0"/>
                <a:sym typeface="Symbol" pitchFamily="18" charset="2"/>
              </a:rPr>
              <a:t>] = X → Y1Y2… </a:t>
            </a:r>
            <a:r>
              <a:rPr lang="en-US" altLang="zh-CN" sz="1600" dirty="0" err="1">
                <a:solidFill>
                  <a:srgbClr val="000000"/>
                </a:solidFill>
                <a:latin typeface="Times New Roman" pitchFamily="18" charset="0"/>
                <a:sym typeface="Symbol" pitchFamily="18" charset="2"/>
              </a:rPr>
              <a:t>Yk</a:t>
            </a:r>
            <a:r>
              <a:rPr lang="en-US" altLang="zh-CN" sz="1600" dirty="0">
                <a:solidFill>
                  <a:srgbClr val="000000"/>
                </a:solidFill>
                <a:latin typeface="Times New Roman" pitchFamily="18" charset="0"/>
                <a:sym typeface="Symbol" pitchFamily="18" charset="2"/>
              </a:rPr>
              <a:t>  then  begin</a:t>
            </a:r>
          </a:p>
          <a:p>
            <a:pPr algn="just" fontAlgn="base">
              <a:lnSpc>
                <a:spcPct val="110000"/>
              </a:lnSpc>
              <a:spcBef>
                <a:spcPct val="0"/>
              </a:spcBef>
              <a:spcAft>
                <a:spcPct val="0"/>
              </a:spcAft>
            </a:pPr>
            <a:r>
              <a:rPr lang="en-US" altLang="zh-CN" sz="1600" dirty="0">
                <a:solidFill>
                  <a:srgbClr val="000000"/>
                </a:solidFill>
                <a:latin typeface="Times New Roman" pitchFamily="18" charset="0"/>
                <a:sym typeface="Symbol" pitchFamily="18" charset="2"/>
              </a:rPr>
              <a:t>10）</a:t>
            </a:r>
            <a:r>
              <a:rPr lang="en-US" altLang="zh-CN" sz="1600" dirty="0">
                <a:solidFill>
                  <a:srgbClr val="000000"/>
                </a:solidFill>
                <a:sym typeface="Symbol" pitchFamily="18" charset="2"/>
              </a:rPr>
              <a:t>          </a:t>
            </a:r>
            <a:r>
              <a:rPr lang="zh-CN" altLang="en-US" sz="1600" dirty="0">
                <a:solidFill>
                  <a:srgbClr val="000000"/>
                </a:solidFill>
                <a:latin typeface="Times New Roman" pitchFamily="18" charset="0"/>
                <a:sym typeface="Symbol" pitchFamily="18" charset="2"/>
              </a:rPr>
              <a:t>弹出</a:t>
            </a:r>
            <a:r>
              <a:rPr lang="en-US" altLang="zh-CN" sz="1600" dirty="0">
                <a:solidFill>
                  <a:srgbClr val="000000"/>
                </a:solidFill>
                <a:sym typeface="Symbol" pitchFamily="18" charset="2"/>
              </a:rPr>
              <a:t>X</a:t>
            </a:r>
            <a:r>
              <a:rPr lang="en-US" altLang="zh-CN" sz="1600" dirty="0">
                <a:solidFill>
                  <a:srgbClr val="000000"/>
                </a:solidFill>
                <a:latin typeface="Times New Roman" pitchFamily="18" charset="0"/>
                <a:sym typeface="Symbol" pitchFamily="18" charset="2"/>
              </a:rPr>
              <a:t>；</a:t>
            </a:r>
            <a:endParaRPr lang="en-US" altLang="zh-CN" sz="1600" dirty="0">
              <a:solidFill>
                <a:srgbClr val="000000"/>
              </a:solidFill>
              <a:sym typeface="Symbol" pitchFamily="18" charset="2"/>
            </a:endParaRPr>
          </a:p>
          <a:p>
            <a:pPr algn="just" fontAlgn="base">
              <a:lnSpc>
                <a:spcPct val="110000"/>
              </a:lnSpc>
              <a:spcBef>
                <a:spcPct val="0"/>
              </a:spcBef>
              <a:spcAft>
                <a:spcPct val="0"/>
              </a:spcAft>
            </a:pPr>
            <a:r>
              <a:rPr lang="en-US" altLang="zh-CN" sz="1600" dirty="0">
                <a:solidFill>
                  <a:srgbClr val="000000"/>
                </a:solidFill>
                <a:latin typeface="Times New Roman" pitchFamily="18" charset="0"/>
                <a:sym typeface="Symbol" pitchFamily="18" charset="2"/>
              </a:rPr>
              <a:t>11）</a:t>
            </a:r>
            <a:r>
              <a:rPr lang="en-US" altLang="zh-CN"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push </a:t>
            </a:r>
            <a:r>
              <a:rPr lang="en-US" altLang="zh-CN" sz="1600" dirty="0" err="1">
                <a:solidFill>
                  <a:srgbClr val="000000"/>
                </a:solidFill>
                <a:latin typeface="Times New Roman" pitchFamily="18" charset="0"/>
                <a:sym typeface="Symbol" pitchFamily="18" charset="2"/>
              </a:rPr>
              <a:t>Yk</a:t>
            </a:r>
            <a:r>
              <a:rPr lang="en-US" altLang="zh-CN" sz="1600" dirty="0">
                <a:solidFill>
                  <a:srgbClr val="000000"/>
                </a:solidFill>
                <a:latin typeface="Times New Roman" pitchFamily="18" charset="0"/>
                <a:sym typeface="Symbol" pitchFamily="18" charset="2"/>
              </a:rPr>
              <a:t>，…，</a:t>
            </a:r>
            <a:r>
              <a:rPr lang="en-US" altLang="zh-CN" sz="1600" dirty="0">
                <a:solidFill>
                  <a:srgbClr val="000000"/>
                </a:solidFill>
                <a:sym typeface="Symbol" pitchFamily="18" charset="2"/>
              </a:rPr>
              <a:t>Y2</a:t>
            </a:r>
            <a:r>
              <a:rPr lang="en-US" altLang="zh-CN" sz="1600" dirty="0">
                <a:solidFill>
                  <a:srgbClr val="000000"/>
                </a:solidFill>
                <a:latin typeface="Times New Roman" pitchFamily="18" charset="0"/>
                <a:sym typeface="Symbol" pitchFamily="18" charset="2"/>
              </a:rPr>
              <a:t>，</a:t>
            </a:r>
            <a:r>
              <a:rPr lang="en-US" altLang="zh-CN" sz="1600" dirty="0">
                <a:solidFill>
                  <a:srgbClr val="000000"/>
                </a:solidFill>
                <a:sym typeface="Symbol" pitchFamily="18" charset="2"/>
              </a:rPr>
              <a:t>Y1</a:t>
            </a:r>
            <a:r>
              <a:rPr lang="en-US" altLang="zh-CN" sz="1600" dirty="0">
                <a:solidFill>
                  <a:srgbClr val="000000"/>
                </a:solidFill>
                <a:latin typeface="Times New Roman" pitchFamily="18" charset="0"/>
                <a:sym typeface="Symbol" pitchFamily="18" charset="2"/>
              </a:rPr>
              <a:t>  /*  Y1</a:t>
            </a:r>
            <a:r>
              <a:rPr lang="zh-CN" altLang="en-US" sz="1600" dirty="0">
                <a:solidFill>
                  <a:srgbClr val="000000"/>
                </a:solidFill>
                <a:latin typeface="Times New Roman" pitchFamily="18" charset="0"/>
                <a:sym typeface="Symbol" pitchFamily="18" charset="2"/>
              </a:rPr>
              <a:t>在栈顶</a:t>
            </a:r>
            <a:r>
              <a:rPr lang="zh-CN" altLang="en-US" sz="1600" dirty="0">
                <a:solidFill>
                  <a:srgbClr val="000000"/>
                </a:solidFill>
                <a:sym typeface="Symbol" pitchFamily="18" charset="2"/>
              </a:rPr>
              <a:t>  </a:t>
            </a:r>
            <a:r>
              <a:rPr lang="zh-CN" altLang="en-US" sz="1600" dirty="0">
                <a:solidFill>
                  <a:srgbClr val="000000"/>
                </a:solidFill>
                <a:latin typeface="Times New Roman" pitchFamily="18" charset="0"/>
                <a:sym typeface="Symbol" pitchFamily="18" charset="2"/>
              </a:rPr>
              <a:t>*/</a:t>
            </a:r>
          </a:p>
          <a:p>
            <a:pPr algn="just" fontAlgn="base">
              <a:lnSpc>
                <a:spcPct val="110000"/>
              </a:lnSpc>
              <a:spcBef>
                <a:spcPct val="0"/>
              </a:spcBef>
              <a:spcAft>
                <a:spcPct val="0"/>
              </a:spcAft>
            </a:pPr>
            <a:r>
              <a:rPr lang="zh-CN" altLang="en-US" sz="1600" dirty="0">
                <a:solidFill>
                  <a:srgbClr val="000000"/>
                </a:solidFill>
                <a:latin typeface="Times New Roman" pitchFamily="18" charset="0"/>
                <a:sym typeface="Symbol" pitchFamily="18" charset="2"/>
              </a:rPr>
              <a:t>12）</a:t>
            </a:r>
            <a:r>
              <a:rPr lang="zh-CN" altLang="en-US"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end </a:t>
            </a:r>
          </a:p>
          <a:p>
            <a:pPr algn="just" fontAlgn="base">
              <a:lnSpc>
                <a:spcPct val="110000"/>
              </a:lnSpc>
              <a:spcBef>
                <a:spcPct val="0"/>
              </a:spcBef>
              <a:spcAft>
                <a:spcPct val="0"/>
              </a:spcAft>
            </a:pPr>
            <a:r>
              <a:rPr lang="en-US" altLang="zh-CN" sz="1600" dirty="0">
                <a:solidFill>
                  <a:srgbClr val="000000"/>
                </a:solidFill>
                <a:latin typeface="Times New Roman" pitchFamily="18" charset="0"/>
                <a:sym typeface="Symbol" pitchFamily="18" charset="2"/>
              </a:rPr>
              <a:t>13）</a:t>
            </a:r>
            <a:r>
              <a:rPr lang="en-US" altLang="zh-CN"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else  error</a:t>
            </a:r>
          </a:p>
          <a:p>
            <a:pPr fontAlgn="base">
              <a:lnSpc>
                <a:spcPct val="110000"/>
              </a:lnSpc>
              <a:spcBef>
                <a:spcPct val="0"/>
              </a:spcBef>
              <a:spcAft>
                <a:spcPct val="0"/>
              </a:spcAft>
            </a:pPr>
            <a:r>
              <a:rPr lang="en-US" altLang="zh-CN" sz="1600" dirty="0">
                <a:solidFill>
                  <a:srgbClr val="000000"/>
                </a:solidFill>
                <a:latin typeface="Times New Roman" pitchFamily="18" charset="0"/>
                <a:sym typeface="Symbol" pitchFamily="18" charset="2"/>
              </a:rPr>
              <a:t>14）</a:t>
            </a:r>
            <a:r>
              <a:rPr lang="en-US" altLang="zh-CN" sz="1600" dirty="0">
                <a:solidFill>
                  <a:srgbClr val="000000"/>
                </a:solidFill>
                <a:sym typeface="Symbol" pitchFamily="18" charset="2"/>
              </a:rPr>
              <a:t> </a:t>
            </a:r>
            <a:r>
              <a:rPr lang="en-US" altLang="zh-CN" sz="1600" dirty="0">
                <a:solidFill>
                  <a:srgbClr val="000000"/>
                </a:solidFill>
                <a:latin typeface="Times New Roman" pitchFamily="18" charset="0"/>
                <a:sym typeface="Symbol" pitchFamily="18" charset="2"/>
              </a:rPr>
              <a:t>until X = # ；</a:t>
            </a:r>
            <a:r>
              <a:rPr lang="en-US" altLang="zh-CN" sz="1600" dirty="0">
                <a:solidFill>
                  <a:srgbClr val="000000"/>
                </a:solidFill>
                <a:sym typeface="Symbol" pitchFamily="18" charset="2"/>
              </a:rPr>
              <a:t>/ * </a:t>
            </a:r>
            <a:r>
              <a:rPr lang="zh-CN" altLang="en-US" sz="1600" dirty="0">
                <a:solidFill>
                  <a:srgbClr val="000000"/>
                </a:solidFill>
                <a:latin typeface="Times New Roman" pitchFamily="18" charset="0"/>
                <a:sym typeface="Symbol" pitchFamily="18" charset="2"/>
              </a:rPr>
              <a:t>栈为空</a:t>
            </a:r>
            <a:r>
              <a:rPr lang="zh-CN" altLang="en-US" sz="1600" dirty="0">
                <a:solidFill>
                  <a:srgbClr val="000000"/>
                </a:solidFill>
                <a:sym typeface="Symbol" pitchFamily="18" charset="2"/>
              </a:rPr>
              <a:t>  </a:t>
            </a:r>
            <a:r>
              <a:rPr lang="zh-CN" altLang="en-US" sz="1600" dirty="0">
                <a:solidFill>
                  <a:srgbClr val="000000"/>
                </a:solidFill>
                <a:latin typeface="Times New Roman" pitchFamily="18" charset="0"/>
                <a:sym typeface="Symbol" pitchFamily="18" charset="2"/>
              </a:rPr>
              <a:t>*/ </a:t>
            </a:r>
          </a:p>
        </p:txBody>
      </p:sp>
      <p:sp>
        <p:nvSpPr>
          <p:cNvPr id="5" name="灯片编号占位符 4"/>
          <p:cNvSpPr>
            <a:spLocks noGrp="1"/>
          </p:cNvSpPr>
          <p:nvPr>
            <p:ph type="sldNum" sz="quarter" idx="12"/>
          </p:nvPr>
        </p:nvSpPr>
        <p:spPr/>
        <p:txBody>
          <a:bodyPr/>
          <a:lstStyle/>
          <a:p>
            <a:fld id="{1B43473F-AE3F-4D1C-9C4F-7AD3C17AC1AD}" type="slidenum">
              <a:rPr lang="zh-CN" altLang="en-US" smtClean="0">
                <a:solidFill>
                  <a:srgbClr val="3F3F3F"/>
                </a:solidFill>
              </a:rPr>
              <a:pPr/>
              <a:t>67</a:t>
            </a:fld>
            <a:endParaRPr lang="zh-CN" altLang="en-US">
              <a:solidFill>
                <a:srgbClr val="3F3F3F"/>
              </a:solidFill>
            </a:endParaRPr>
          </a:p>
        </p:txBody>
      </p:sp>
    </p:spTree>
    <p:extLst>
      <p:ext uri="{BB962C8B-B14F-4D97-AF65-F5344CB8AC3E}">
        <p14:creationId xmlns:p14="http://schemas.microsoft.com/office/powerpoint/2010/main" val="24658237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举例：表驱动预测分析过程</a:t>
            </a:r>
          </a:p>
          <a:p>
            <a:endParaRPr lang="zh-CN" altLang="en-US" dirty="0"/>
          </a:p>
        </p:txBody>
      </p:sp>
      <p:sp>
        <p:nvSpPr>
          <p:cNvPr id="8" name="Rectangle 16"/>
          <p:cNvSpPr>
            <a:spLocks noChangeArrowheads="1"/>
          </p:cNvSpPr>
          <p:nvPr/>
        </p:nvSpPr>
        <p:spPr bwMode="auto">
          <a:xfrm>
            <a:off x="900113" y="1773238"/>
            <a:ext cx="4751387" cy="2369880"/>
          </a:xfrm>
          <a:prstGeom prst="rect">
            <a:avLst/>
          </a:prstGeom>
          <a:noFill/>
          <a:ln w="9525">
            <a:noFill/>
            <a:miter lim="800000"/>
            <a:headEnd/>
            <a:tailEnd/>
          </a:ln>
        </p:spPr>
        <p:txBody>
          <a:bodyPr>
            <a:spAutoFit/>
          </a:bodyPr>
          <a:lstStyle/>
          <a:p>
            <a:pPr>
              <a:buClrTx/>
              <a:buFont typeface="Symbol" pitchFamily="18" charset="2"/>
              <a:buChar char="-"/>
            </a:pPr>
            <a:r>
              <a:rPr lang="en-US" altLang="zh-CN" sz="2800" b="1" dirty="0">
                <a:solidFill>
                  <a:srgbClr val="800080"/>
                </a:solidFill>
              </a:rPr>
              <a:t>  </a:t>
            </a:r>
            <a:r>
              <a:rPr lang="zh-CN" altLang="en-US" sz="2800" b="1" dirty="0">
                <a:latin typeface="楷体_GB2312" pitchFamily="49" charset="-122"/>
              </a:rPr>
              <a:t>对于下列文法</a:t>
            </a:r>
            <a:r>
              <a:rPr lang="en-US" altLang="zh-CN" sz="2800" b="1" i="1" dirty="0"/>
              <a:t>G</a:t>
            </a:r>
            <a:r>
              <a:rPr lang="en-US" altLang="zh-CN" sz="2800" dirty="0"/>
              <a:t>(</a:t>
            </a:r>
            <a:r>
              <a:rPr lang="en-US" altLang="zh-CN" sz="2800" b="1" i="1" dirty="0"/>
              <a:t>S</a:t>
            </a:r>
            <a:r>
              <a:rPr lang="en-US" altLang="zh-CN" sz="2800" dirty="0"/>
              <a:t>)</a:t>
            </a:r>
            <a:r>
              <a:rPr lang="zh-CN" altLang="en-US" sz="2800" dirty="0"/>
              <a:t>：</a:t>
            </a:r>
          </a:p>
          <a:p>
            <a:pPr>
              <a:buClrTx/>
              <a:buFont typeface="Symbol" pitchFamily="18" charset="2"/>
              <a:buNone/>
            </a:pPr>
            <a:endParaRPr lang="zh-CN" altLang="en-US" sz="1000" dirty="0"/>
          </a:p>
          <a:p>
            <a:r>
              <a:rPr lang="zh-CN" altLang="en-US" sz="2400" dirty="0"/>
              <a:t>        </a:t>
            </a:r>
            <a:r>
              <a:rPr lang="en-US" altLang="zh-CN" sz="2400" b="1" i="1" dirty="0"/>
              <a:t>S </a:t>
            </a:r>
            <a:r>
              <a:rPr lang="en-US" altLang="zh-CN" sz="2400" b="1" dirty="0">
                <a:sym typeface="Symbol" pitchFamily="18" charset="2"/>
              </a:rPr>
              <a:t></a:t>
            </a:r>
            <a:r>
              <a:rPr lang="en-US" altLang="zh-CN" sz="2400" b="1" i="1" dirty="0"/>
              <a:t> </a:t>
            </a:r>
            <a:r>
              <a:rPr lang="en-US" altLang="zh-CN" sz="2400" b="1" i="1" dirty="0" err="1"/>
              <a:t>AaS</a:t>
            </a:r>
            <a:r>
              <a:rPr lang="en-US" altLang="zh-CN" sz="2400" b="1" i="1" dirty="0"/>
              <a:t> </a:t>
            </a:r>
            <a:r>
              <a:rPr lang="en-US" altLang="zh-CN" sz="2400" b="1" dirty="0">
                <a:sym typeface="Symbol" pitchFamily="18" charset="2"/>
              </a:rPr>
              <a:t></a:t>
            </a:r>
            <a:r>
              <a:rPr lang="en-US" altLang="zh-CN" sz="2400" b="1" dirty="0"/>
              <a:t> </a:t>
            </a:r>
            <a:r>
              <a:rPr lang="en-US" altLang="zh-CN" sz="2400" b="1" i="1" dirty="0" err="1"/>
              <a:t>BbS</a:t>
            </a:r>
            <a:r>
              <a:rPr lang="en-US" altLang="zh-CN" sz="2400" b="1" dirty="0">
                <a:sym typeface="Symbol" pitchFamily="18" charset="2"/>
              </a:rPr>
              <a:t></a:t>
            </a:r>
            <a:r>
              <a:rPr lang="en-US" altLang="zh-CN" sz="2400" b="1" i="1" dirty="0"/>
              <a:t> d</a:t>
            </a:r>
          </a:p>
          <a:p>
            <a:r>
              <a:rPr lang="en-US" altLang="zh-CN" sz="2400" b="1" i="1" dirty="0"/>
              <a:t>        A </a:t>
            </a:r>
            <a:r>
              <a:rPr lang="en-US" altLang="zh-CN" sz="2400" b="1" dirty="0">
                <a:sym typeface="Symbol" pitchFamily="18" charset="2"/>
              </a:rPr>
              <a:t></a:t>
            </a:r>
            <a:r>
              <a:rPr lang="en-US" altLang="zh-CN" sz="2400" b="1" i="1" dirty="0"/>
              <a:t> a</a:t>
            </a:r>
          </a:p>
          <a:p>
            <a:r>
              <a:rPr lang="en-US" altLang="zh-CN" sz="2400" b="1" i="1" dirty="0"/>
              <a:t>        B </a:t>
            </a:r>
            <a:r>
              <a:rPr lang="en-US" altLang="zh-CN" sz="2400" b="1" dirty="0">
                <a:sym typeface="Symbol" pitchFamily="18" charset="2"/>
              </a:rPr>
              <a:t></a:t>
            </a:r>
            <a:r>
              <a:rPr lang="en-US" altLang="zh-CN" sz="2400" b="1" i="1" dirty="0"/>
              <a:t> </a:t>
            </a:r>
            <a:r>
              <a:rPr lang="en-US" altLang="zh-CN" sz="2400" b="1" i="1" dirty="0">
                <a:sym typeface="Symbol" pitchFamily="18" charset="2"/>
              </a:rPr>
              <a:t></a:t>
            </a:r>
            <a:r>
              <a:rPr lang="en-US" altLang="zh-CN" sz="2400" b="1" i="1" dirty="0"/>
              <a:t> </a:t>
            </a:r>
            <a:r>
              <a:rPr lang="en-US" altLang="zh-CN" sz="2400" b="1" dirty="0">
                <a:sym typeface="Symbol" pitchFamily="18" charset="2"/>
              </a:rPr>
              <a:t></a:t>
            </a:r>
            <a:r>
              <a:rPr lang="en-US" altLang="zh-CN" sz="2400" b="1" i="1" dirty="0"/>
              <a:t> c</a:t>
            </a:r>
          </a:p>
          <a:p>
            <a:endParaRPr lang="en-US" altLang="zh-CN" sz="1000" b="1" i="1" dirty="0"/>
          </a:p>
          <a:p>
            <a:r>
              <a:rPr lang="en-US" altLang="zh-CN" sz="2800" b="1" dirty="0">
                <a:solidFill>
                  <a:srgbClr val="FF0000"/>
                </a:solidFill>
              </a:rPr>
              <a:t>    </a:t>
            </a:r>
            <a:r>
              <a:rPr lang="zh-CN" altLang="en-US" sz="2800" b="1" dirty="0">
                <a:solidFill>
                  <a:srgbClr val="FF0000"/>
                </a:solidFill>
              </a:rPr>
              <a:t>分析输入串 </a:t>
            </a:r>
            <a:r>
              <a:rPr lang="en-US" altLang="zh-CN" sz="2400" b="1" i="1" dirty="0" err="1">
                <a:solidFill>
                  <a:srgbClr val="FF0000"/>
                </a:solidFill>
              </a:rPr>
              <a:t>aabd</a:t>
            </a:r>
            <a:r>
              <a:rPr lang="en-US" altLang="zh-CN" sz="2400" b="1" i="1" dirty="0">
                <a:solidFill>
                  <a:srgbClr val="FF0000"/>
                </a:solidFill>
              </a:rPr>
              <a:t> </a:t>
            </a:r>
            <a:r>
              <a:rPr lang="zh-CN" altLang="en-US" sz="2800" b="1" dirty="0">
                <a:solidFill>
                  <a:srgbClr val="FF0000"/>
                </a:solidFill>
              </a:rPr>
              <a:t>的过程：</a:t>
            </a:r>
          </a:p>
        </p:txBody>
      </p:sp>
      <p:grpSp>
        <p:nvGrpSpPr>
          <p:cNvPr id="9" name="Group 33"/>
          <p:cNvGrpSpPr>
            <a:grpSpLocks/>
          </p:cNvGrpSpPr>
          <p:nvPr/>
        </p:nvGrpSpPr>
        <p:grpSpPr bwMode="auto">
          <a:xfrm>
            <a:off x="7235825" y="1844675"/>
            <a:ext cx="935038" cy="2089150"/>
            <a:chOff x="4558" y="1162"/>
            <a:chExt cx="589" cy="1316"/>
          </a:xfrm>
        </p:grpSpPr>
        <p:sp>
          <p:nvSpPr>
            <p:cNvPr id="10" name="Line 27"/>
            <p:cNvSpPr>
              <a:spLocks noChangeShapeType="1"/>
            </p:cNvSpPr>
            <p:nvPr/>
          </p:nvSpPr>
          <p:spPr bwMode="auto">
            <a:xfrm>
              <a:off x="4558" y="1162"/>
              <a:ext cx="0" cy="1316"/>
            </a:xfrm>
            <a:prstGeom prst="line">
              <a:avLst/>
            </a:prstGeom>
            <a:noFill/>
            <a:ln w="9525">
              <a:solidFill>
                <a:srgbClr val="800080"/>
              </a:solidFill>
              <a:round/>
              <a:headEnd/>
              <a:tailEnd/>
            </a:ln>
          </p:spPr>
          <p:txBody>
            <a:bodyPr>
              <a:spAutoFit/>
            </a:bodyPr>
            <a:lstStyle/>
            <a:p>
              <a:endParaRPr lang="zh-CN" altLang="en-US"/>
            </a:p>
          </p:txBody>
        </p:sp>
        <p:sp>
          <p:nvSpPr>
            <p:cNvPr id="11" name="Line 28"/>
            <p:cNvSpPr>
              <a:spLocks noChangeShapeType="1"/>
            </p:cNvSpPr>
            <p:nvPr/>
          </p:nvSpPr>
          <p:spPr bwMode="auto">
            <a:xfrm>
              <a:off x="5147" y="1162"/>
              <a:ext cx="0" cy="1316"/>
            </a:xfrm>
            <a:prstGeom prst="line">
              <a:avLst/>
            </a:prstGeom>
            <a:noFill/>
            <a:ln w="9525">
              <a:solidFill>
                <a:srgbClr val="800080"/>
              </a:solidFill>
              <a:round/>
              <a:headEnd/>
              <a:tailEnd/>
            </a:ln>
          </p:spPr>
          <p:txBody>
            <a:bodyPr>
              <a:spAutoFit/>
            </a:bodyPr>
            <a:lstStyle/>
            <a:p>
              <a:endParaRPr lang="zh-CN" altLang="en-US"/>
            </a:p>
          </p:txBody>
        </p:sp>
        <p:sp>
          <p:nvSpPr>
            <p:cNvPr id="12" name="Line 29"/>
            <p:cNvSpPr>
              <a:spLocks noChangeShapeType="1"/>
            </p:cNvSpPr>
            <p:nvPr/>
          </p:nvSpPr>
          <p:spPr bwMode="auto">
            <a:xfrm>
              <a:off x="4558" y="2478"/>
              <a:ext cx="589" cy="0"/>
            </a:xfrm>
            <a:prstGeom prst="line">
              <a:avLst/>
            </a:prstGeom>
            <a:noFill/>
            <a:ln w="9525">
              <a:solidFill>
                <a:srgbClr val="800080"/>
              </a:solidFill>
              <a:round/>
              <a:headEnd/>
              <a:tailEnd/>
            </a:ln>
          </p:spPr>
          <p:txBody>
            <a:bodyPr>
              <a:spAutoFit/>
            </a:bodyPr>
            <a:lstStyle/>
            <a:p>
              <a:endParaRPr lang="zh-CN" altLang="en-US"/>
            </a:p>
          </p:txBody>
        </p:sp>
      </p:grpSp>
      <p:sp>
        <p:nvSpPr>
          <p:cNvPr id="13" name="Rectangle 30"/>
          <p:cNvSpPr>
            <a:spLocks noChangeArrowheads="1"/>
          </p:cNvSpPr>
          <p:nvPr/>
        </p:nvSpPr>
        <p:spPr bwMode="auto">
          <a:xfrm>
            <a:off x="7529513" y="3429000"/>
            <a:ext cx="354012" cy="457200"/>
          </a:xfrm>
          <a:prstGeom prst="rect">
            <a:avLst/>
          </a:prstGeom>
          <a:noFill/>
          <a:ln w="9525" algn="ctr">
            <a:noFill/>
            <a:miter lim="800000"/>
            <a:headEnd/>
            <a:tailEnd/>
          </a:ln>
        </p:spPr>
        <p:txBody>
          <a:bodyPr>
            <a:spAutoFit/>
          </a:bodyPr>
          <a:lstStyle/>
          <a:p>
            <a:r>
              <a:rPr lang="pt-BR" altLang="zh-CN" sz="2400">
                <a:solidFill>
                  <a:srgbClr val="800080"/>
                </a:solidFill>
              </a:rPr>
              <a:t>#</a:t>
            </a:r>
            <a:endParaRPr lang="en-US" altLang="zh-CN" sz="2400">
              <a:solidFill>
                <a:srgbClr val="800080"/>
              </a:solidFill>
            </a:endParaRPr>
          </a:p>
        </p:txBody>
      </p:sp>
      <p:sp>
        <p:nvSpPr>
          <p:cNvPr id="14" name="Rectangle 31"/>
          <p:cNvSpPr>
            <a:spLocks noChangeArrowheads="1"/>
          </p:cNvSpPr>
          <p:nvPr/>
        </p:nvSpPr>
        <p:spPr bwMode="auto">
          <a:xfrm>
            <a:off x="7529513" y="3116263"/>
            <a:ext cx="354012" cy="457200"/>
          </a:xfrm>
          <a:prstGeom prst="rect">
            <a:avLst/>
          </a:prstGeom>
          <a:noFill/>
          <a:ln w="9525" algn="ctr">
            <a:noFill/>
            <a:miter lim="800000"/>
            <a:headEnd/>
            <a:tailEnd/>
          </a:ln>
        </p:spPr>
        <p:txBody>
          <a:bodyPr>
            <a:spAutoFit/>
          </a:bodyPr>
          <a:lstStyle/>
          <a:p>
            <a:r>
              <a:rPr lang="en-US" altLang="zh-CN" sz="2400" b="1" i="1" dirty="0">
                <a:solidFill>
                  <a:srgbClr val="800080"/>
                </a:solidFill>
              </a:rPr>
              <a:t>S</a:t>
            </a:r>
          </a:p>
        </p:txBody>
      </p:sp>
      <p:sp>
        <p:nvSpPr>
          <p:cNvPr id="15" name="Rectangle 32"/>
          <p:cNvSpPr>
            <a:spLocks noChangeArrowheads="1"/>
          </p:cNvSpPr>
          <p:nvPr/>
        </p:nvSpPr>
        <p:spPr bwMode="auto">
          <a:xfrm>
            <a:off x="4859338" y="2349500"/>
            <a:ext cx="2022475" cy="822325"/>
          </a:xfrm>
          <a:prstGeom prst="rect">
            <a:avLst/>
          </a:prstGeom>
          <a:noFill/>
          <a:ln w="9525" algn="ctr">
            <a:noFill/>
            <a:miter lim="800000"/>
            <a:headEnd/>
            <a:tailEnd/>
          </a:ln>
        </p:spPr>
        <p:txBody>
          <a:bodyPr wrap="none">
            <a:spAutoFit/>
          </a:bodyPr>
          <a:lstStyle/>
          <a:p>
            <a:r>
              <a:rPr lang="zh-CN" altLang="en-US" sz="2400" b="1" dirty="0"/>
              <a:t>剩余的输入串</a:t>
            </a:r>
          </a:p>
          <a:p>
            <a:r>
              <a:rPr lang="zh-CN" altLang="en-US" sz="2400" b="1" i="1" dirty="0">
                <a:solidFill>
                  <a:srgbClr val="800080"/>
                </a:solidFill>
              </a:rPr>
              <a:t>      </a:t>
            </a:r>
            <a:r>
              <a:rPr lang="en-US" altLang="zh-CN" sz="2400" b="1" i="1" dirty="0" err="1">
                <a:solidFill>
                  <a:srgbClr val="800080"/>
                </a:solidFill>
              </a:rPr>
              <a:t>aabd</a:t>
            </a:r>
            <a:r>
              <a:rPr lang="en-US" altLang="zh-CN" sz="2400" b="1" i="1" dirty="0">
                <a:solidFill>
                  <a:srgbClr val="800080"/>
                </a:solidFill>
              </a:rPr>
              <a:t>#</a:t>
            </a:r>
          </a:p>
        </p:txBody>
      </p:sp>
      <p:grpSp>
        <p:nvGrpSpPr>
          <p:cNvPr id="16" name="Group 35"/>
          <p:cNvGrpSpPr>
            <a:grpSpLocks/>
          </p:cNvGrpSpPr>
          <p:nvPr/>
        </p:nvGrpSpPr>
        <p:grpSpPr bwMode="auto">
          <a:xfrm>
            <a:off x="1454150" y="4221163"/>
            <a:ext cx="6213475" cy="2457450"/>
            <a:chOff x="916" y="2659"/>
            <a:chExt cx="3914" cy="1548"/>
          </a:xfrm>
        </p:grpSpPr>
        <p:graphicFrame>
          <p:nvGraphicFramePr>
            <p:cNvPr id="17" name="Object 18"/>
            <p:cNvGraphicFramePr>
              <a:graphicFrameLocks noChangeAspect="1"/>
            </p:cNvGraphicFramePr>
            <p:nvPr/>
          </p:nvGraphicFramePr>
          <p:xfrm>
            <a:off x="916" y="2659"/>
            <a:ext cx="3914" cy="1548"/>
          </p:xfrm>
          <a:graphic>
            <a:graphicData uri="http://schemas.openxmlformats.org/presentationml/2006/ole">
              <mc:AlternateContent xmlns:mc="http://schemas.openxmlformats.org/markup-compatibility/2006">
                <mc:Choice xmlns:v="urn:schemas-microsoft-com:vml" Requires="v">
                  <p:oleObj spid="_x0000_s20566" name="Visio" r:id="rId3" imgW="4920511" imgH="1941591" progId="Visio.Drawing.11">
                    <p:embed/>
                  </p:oleObj>
                </mc:Choice>
                <mc:Fallback>
                  <p:oleObj name="Visio" r:id="rId3" imgW="4920511" imgH="194159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 y="2659"/>
                          <a:ext cx="3914"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Rectangle 19"/>
            <p:cNvSpPr>
              <a:spLocks noChangeArrowheads="1"/>
            </p:cNvSpPr>
            <p:nvPr/>
          </p:nvSpPr>
          <p:spPr bwMode="auto">
            <a:xfrm>
              <a:off x="1371"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AaS</a:t>
              </a:r>
            </a:p>
          </p:txBody>
        </p:sp>
        <p:sp>
          <p:nvSpPr>
            <p:cNvPr id="19" name="Rectangle 20"/>
            <p:cNvSpPr>
              <a:spLocks noChangeArrowheads="1"/>
            </p:cNvSpPr>
            <p:nvPr/>
          </p:nvSpPr>
          <p:spPr bwMode="auto">
            <a:xfrm>
              <a:off x="2133"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sp>
          <p:nvSpPr>
            <p:cNvPr id="20" name="Rectangle 21"/>
            <p:cNvSpPr>
              <a:spLocks noChangeArrowheads="1"/>
            </p:cNvSpPr>
            <p:nvPr/>
          </p:nvSpPr>
          <p:spPr bwMode="auto">
            <a:xfrm>
              <a:off x="3651" y="3044"/>
              <a:ext cx="470"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d</a:t>
              </a:r>
            </a:p>
          </p:txBody>
        </p:sp>
        <p:sp>
          <p:nvSpPr>
            <p:cNvPr id="21" name="Rectangle 22"/>
            <p:cNvSpPr>
              <a:spLocks noChangeArrowheads="1"/>
            </p:cNvSpPr>
            <p:nvPr/>
          </p:nvSpPr>
          <p:spPr bwMode="auto">
            <a:xfrm>
              <a:off x="1474" y="3452"/>
              <a:ext cx="470" cy="250"/>
            </a:xfrm>
            <a:prstGeom prst="rect">
              <a:avLst/>
            </a:prstGeom>
            <a:noFill/>
            <a:ln w="9525" algn="ctr">
              <a:noFill/>
              <a:miter lim="800000"/>
              <a:headEnd/>
              <a:tailEnd/>
            </a:ln>
          </p:spPr>
          <p:txBody>
            <a:bodyPr wrap="none">
              <a:spAutoFit/>
            </a:bodyPr>
            <a:lstStyle/>
            <a:p>
              <a:r>
                <a:rPr lang="en-US" altLang="zh-CN" i="1"/>
                <a:t>A</a:t>
              </a:r>
              <a:r>
                <a:rPr lang="en-US" altLang="zh-CN">
                  <a:sym typeface="Symbol" pitchFamily="18" charset="2"/>
                </a:rPr>
                <a:t></a:t>
              </a:r>
              <a:r>
                <a:rPr lang="en-US" altLang="zh-CN" i="1"/>
                <a:t>a</a:t>
              </a:r>
            </a:p>
          </p:txBody>
        </p:sp>
        <p:sp>
          <p:nvSpPr>
            <p:cNvPr id="22" name="Rectangle 23"/>
            <p:cNvSpPr>
              <a:spLocks noChangeArrowheads="1"/>
            </p:cNvSpPr>
            <p:nvPr/>
          </p:nvSpPr>
          <p:spPr bwMode="auto">
            <a:xfrm>
              <a:off x="2248" y="3860"/>
              <a:ext cx="45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a:t>
              </a:r>
            </a:p>
          </p:txBody>
        </p:sp>
        <p:sp>
          <p:nvSpPr>
            <p:cNvPr id="23" name="Rectangle 24"/>
            <p:cNvSpPr>
              <a:spLocks noChangeArrowheads="1"/>
            </p:cNvSpPr>
            <p:nvPr/>
          </p:nvSpPr>
          <p:spPr bwMode="auto">
            <a:xfrm>
              <a:off x="2971" y="3860"/>
              <a:ext cx="46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c</a:t>
              </a:r>
            </a:p>
          </p:txBody>
        </p:sp>
        <p:sp>
          <p:nvSpPr>
            <p:cNvPr id="24" name="Rectangle 34"/>
            <p:cNvSpPr>
              <a:spLocks noChangeArrowheads="1"/>
            </p:cNvSpPr>
            <p:nvPr/>
          </p:nvSpPr>
          <p:spPr bwMode="auto">
            <a:xfrm>
              <a:off x="2835"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gr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68</a:t>
            </a:fld>
            <a:endParaRPr lang="zh-CN" altLang="en-US">
              <a:solidFill>
                <a:srgbClr val="3F3F3F"/>
              </a:solidFill>
            </a:endParaRPr>
          </a:p>
        </p:txBody>
      </p:sp>
    </p:spTree>
    <p:extLst>
      <p:ext uri="{BB962C8B-B14F-4D97-AF65-F5344CB8AC3E}">
        <p14:creationId xmlns:p14="http://schemas.microsoft.com/office/powerpoint/2010/main" val="3047550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ppt_x"/>
                                          </p:val>
                                        </p:tav>
                                        <p:tav tm="100000">
                                          <p:val>
                                            <p:strVal val="#ppt_x"/>
                                          </p:val>
                                        </p:tav>
                                      </p:tavLst>
                                    </p:anim>
                                    <p:anim calcmode="lin" valueType="num">
                                      <p:cBhvr additive="base">
                                        <p:cTn id="13"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1"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ppt_x"/>
                                          </p:val>
                                        </p:tav>
                                        <p:tav tm="100000">
                                          <p:val>
                                            <p:strVal val="#ppt_x"/>
                                          </p:val>
                                        </p:tav>
                                      </p:tavLst>
                                    </p:anim>
                                    <p:anim calcmode="lin" valueType="num">
                                      <p:cBhvr additive="base">
                                        <p:cTn id="19"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dissolve">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举例：表驱动预测分析过程</a:t>
            </a:r>
          </a:p>
          <a:p>
            <a:endParaRPr lang="zh-CN" altLang="en-US" dirty="0"/>
          </a:p>
        </p:txBody>
      </p:sp>
      <p:sp>
        <p:nvSpPr>
          <p:cNvPr id="8" name="Rectangle 17"/>
          <p:cNvSpPr>
            <a:spLocks noChangeArrowheads="1"/>
          </p:cNvSpPr>
          <p:nvPr/>
        </p:nvSpPr>
        <p:spPr bwMode="auto">
          <a:xfrm>
            <a:off x="900113" y="1773238"/>
            <a:ext cx="4751387" cy="2346325"/>
          </a:xfrm>
          <a:prstGeom prst="rect">
            <a:avLst/>
          </a:prstGeom>
          <a:noFill/>
          <a:ln w="9525">
            <a:noFill/>
            <a:miter lim="800000"/>
            <a:headEnd/>
            <a:tailEnd/>
          </a:ln>
        </p:spPr>
        <p:txBody>
          <a:bodyPr>
            <a:spAutoFit/>
          </a:bodyPr>
          <a:lstStyle/>
          <a:p>
            <a:pPr>
              <a:buClrTx/>
              <a:buFont typeface="Symbol" pitchFamily="18" charset="2"/>
              <a:buChar char="-"/>
            </a:pPr>
            <a:r>
              <a:rPr lang="en-US" altLang="zh-CN" sz="2800" b="1">
                <a:solidFill>
                  <a:srgbClr val="800080"/>
                </a:solidFill>
              </a:rPr>
              <a:t>  </a:t>
            </a:r>
            <a:r>
              <a:rPr lang="zh-CN" altLang="en-US" sz="2800" b="1">
                <a:latin typeface="楷体_GB2312" pitchFamily="49" charset="-122"/>
              </a:rPr>
              <a:t>对于下列文法</a:t>
            </a:r>
            <a:r>
              <a:rPr lang="en-US" altLang="zh-CN" sz="2800" b="1" i="1"/>
              <a:t>G</a:t>
            </a:r>
            <a:r>
              <a:rPr lang="en-US" altLang="zh-CN" sz="2800"/>
              <a:t>(</a:t>
            </a:r>
            <a:r>
              <a:rPr lang="en-US" altLang="zh-CN" sz="2800" b="1" i="1"/>
              <a:t>S</a:t>
            </a:r>
            <a:r>
              <a:rPr lang="en-US" altLang="zh-CN" sz="2800"/>
              <a:t>)</a:t>
            </a:r>
            <a:r>
              <a:rPr lang="zh-CN" altLang="en-US" sz="2800"/>
              <a:t>：</a:t>
            </a:r>
          </a:p>
          <a:p>
            <a:pPr>
              <a:buClrTx/>
              <a:buFont typeface="Symbol" pitchFamily="18" charset="2"/>
              <a:buNone/>
            </a:pPr>
            <a:endParaRPr lang="zh-CN" altLang="en-US" sz="1000"/>
          </a:p>
          <a:p>
            <a:r>
              <a:rPr lang="zh-CN" altLang="en-US" sz="2400"/>
              <a:t>        </a:t>
            </a:r>
            <a:r>
              <a:rPr lang="en-US" altLang="zh-CN" sz="2400" b="1" i="1"/>
              <a:t>S </a:t>
            </a:r>
            <a:r>
              <a:rPr lang="en-US" altLang="zh-CN" sz="2400" b="1">
                <a:sym typeface="Symbol" pitchFamily="18" charset="2"/>
              </a:rPr>
              <a:t></a:t>
            </a:r>
            <a:r>
              <a:rPr lang="en-US" altLang="zh-CN" sz="2400" b="1" i="1"/>
              <a:t> AaS </a:t>
            </a:r>
            <a:r>
              <a:rPr lang="en-US" altLang="zh-CN" sz="2400" b="1">
                <a:sym typeface="Symbol" pitchFamily="18" charset="2"/>
              </a:rPr>
              <a:t></a:t>
            </a:r>
            <a:r>
              <a:rPr lang="en-US" altLang="zh-CN" sz="2400" b="1"/>
              <a:t> </a:t>
            </a:r>
            <a:r>
              <a:rPr lang="en-US" altLang="zh-CN" sz="2400" b="1" i="1"/>
              <a:t>BbS</a:t>
            </a:r>
            <a:r>
              <a:rPr lang="en-US" altLang="zh-CN" sz="2400" b="1">
                <a:sym typeface="Symbol" pitchFamily="18" charset="2"/>
              </a:rPr>
              <a:t></a:t>
            </a:r>
            <a:r>
              <a:rPr lang="en-US" altLang="zh-CN" sz="2400" b="1" i="1"/>
              <a:t> d</a:t>
            </a:r>
          </a:p>
          <a:p>
            <a:r>
              <a:rPr lang="en-US" altLang="zh-CN" sz="2400" b="1" i="1"/>
              <a:t>        A </a:t>
            </a:r>
            <a:r>
              <a:rPr lang="en-US" altLang="zh-CN" sz="2400" b="1">
                <a:sym typeface="Symbol" pitchFamily="18" charset="2"/>
              </a:rPr>
              <a:t></a:t>
            </a:r>
            <a:r>
              <a:rPr lang="en-US" altLang="zh-CN" sz="2400" b="1" i="1"/>
              <a:t> a</a:t>
            </a:r>
          </a:p>
          <a:p>
            <a:r>
              <a:rPr lang="en-US" altLang="zh-CN" sz="2400" b="1" i="1"/>
              <a:t>        B </a:t>
            </a:r>
            <a:r>
              <a:rPr lang="en-US" altLang="zh-CN" sz="2400" b="1">
                <a:sym typeface="Symbol" pitchFamily="18" charset="2"/>
              </a:rPr>
              <a:t></a:t>
            </a:r>
            <a:r>
              <a:rPr lang="en-US" altLang="zh-CN" sz="2400" b="1" i="1"/>
              <a:t> </a:t>
            </a:r>
            <a:r>
              <a:rPr lang="en-US" altLang="zh-CN" sz="2400" b="1" i="1">
                <a:sym typeface="Symbol" pitchFamily="18" charset="2"/>
              </a:rPr>
              <a:t></a:t>
            </a:r>
            <a:r>
              <a:rPr lang="en-US" altLang="zh-CN" sz="2400" b="1" i="1"/>
              <a:t> </a:t>
            </a:r>
            <a:r>
              <a:rPr lang="en-US" altLang="zh-CN" sz="2400" b="1">
                <a:sym typeface="Symbol" pitchFamily="18" charset="2"/>
              </a:rPr>
              <a:t></a:t>
            </a:r>
            <a:r>
              <a:rPr lang="en-US" altLang="zh-CN" sz="2400" b="1" i="1"/>
              <a:t> c</a:t>
            </a:r>
          </a:p>
          <a:p>
            <a:endParaRPr lang="en-US" altLang="zh-CN" sz="1000" b="1" i="1"/>
          </a:p>
          <a:p>
            <a:r>
              <a:rPr lang="en-US" altLang="zh-CN" sz="2800" b="1"/>
              <a:t>    </a:t>
            </a:r>
            <a:r>
              <a:rPr lang="zh-CN" altLang="en-US" sz="2800" b="1"/>
              <a:t>分析输入串 </a:t>
            </a:r>
            <a:r>
              <a:rPr lang="en-US" altLang="zh-CN" sz="2400" b="1" i="1">
                <a:solidFill>
                  <a:srgbClr val="800080"/>
                </a:solidFill>
              </a:rPr>
              <a:t>aabd </a:t>
            </a:r>
            <a:r>
              <a:rPr lang="zh-CN" altLang="en-US" sz="2800" b="1"/>
              <a:t>的过程：</a:t>
            </a:r>
          </a:p>
        </p:txBody>
      </p:sp>
      <p:grpSp>
        <p:nvGrpSpPr>
          <p:cNvPr id="9" name="Group 27"/>
          <p:cNvGrpSpPr>
            <a:grpSpLocks/>
          </p:cNvGrpSpPr>
          <p:nvPr/>
        </p:nvGrpSpPr>
        <p:grpSpPr bwMode="auto">
          <a:xfrm>
            <a:off x="7235825" y="1844675"/>
            <a:ext cx="935038" cy="2089150"/>
            <a:chOff x="4558" y="1162"/>
            <a:chExt cx="589" cy="1316"/>
          </a:xfrm>
        </p:grpSpPr>
        <p:sp>
          <p:nvSpPr>
            <p:cNvPr id="10" name="Line 28"/>
            <p:cNvSpPr>
              <a:spLocks noChangeShapeType="1"/>
            </p:cNvSpPr>
            <p:nvPr/>
          </p:nvSpPr>
          <p:spPr bwMode="auto">
            <a:xfrm>
              <a:off x="4558" y="1162"/>
              <a:ext cx="0" cy="1316"/>
            </a:xfrm>
            <a:prstGeom prst="line">
              <a:avLst/>
            </a:prstGeom>
            <a:noFill/>
            <a:ln w="9525">
              <a:solidFill>
                <a:srgbClr val="800080"/>
              </a:solidFill>
              <a:round/>
              <a:headEnd/>
              <a:tailEnd/>
            </a:ln>
          </p:spPr>
          <p:txBody>
            <a:bodyPr>
              <a:spAutoFit/>
            </a:bodyPr>
            <a:lstStyle/>
            <a:p>
              <a:endParaRPr lang="zh-CN" altLang="en-US"/>
            </a:p>
          </p:txBody>
        </p:sp>
        <p:sp>
          <p:nvSpPr>
            <p:cNvPr id="11" name="Line 29"/>
            <p:cNvSpPr>
              <a:spLocks noChangeShapeType="1"/>
            </p:cNvSpPr>
            <p:nvPr/>
          </p:nvSpPr>
          <p:spPr bwMode="auto">
            <a:xfrm>
              <a:off x="5147" y="1162"/>
              <a:ext cx="0" cy="1316"/>
            </a:xfrm>
            <a:prstGeom prst="line">
              <a:avLst/>
            </a:prstGeom>
            <a:noFill/>
            <a:ln w="9525">
              <a:solidFill>
                <a:srgbClr val="800080"/>
              </a:solidFill>
              <a:round/>
              <a:headEnd/>
              <a:tailEnd/>
            </a:ln>
          </p:spPr>
          <p:txBody>
            <a:bodyPr>
              <a:spAutoFit/>
            </a:bodyPr>
            <a:lstStyle/>
            <a:p>
              <a:endParaRPr lang="zh-CN" altLang="en-US"/>
            </a:p>
          </p:txBody>
        </p:sp>
        <p:sp>
          <p:nvSpPr>
            <p:cNvPr id="12" name="Line 30"/>
            <p:cNvSpPr>
              <a:spLocks noChangeShapeType="1"/>
            </p:cNvSpPr>
            <p:nvPr/>
          </p:nvSpPr>
          <p:spPr bwMode="auto">
            <a:xfrm>
              <a:off x="4558" y="2478"/>
              <a:ext cx="589" cy="0"/>
            </a:xfrm>
            <a:prstGeom prst="line">
              <a:avLst/>
            </a:prstGeom>
            <a:noFill/>
            <a:ln w="9525">
              <a:solidFill>
                <a:srgbClr val="800080"/>
              </a:solidFill>
              <a:round/>
              <a:headEnd/>
              <a:tailEnd/>
            </a:ln>
          </p:spPr>
          <p:txBody>
            <a:bodyPr>
              <a:spAutoFit/>
            </a:bodyPr>
            <a:lstStyle/>
            <a:p>
              <a:endParaRPr lang="zh-CN" altLang="en-US"/>
            </a:p>
          </p:txBody>
        </p:sp>
      </p:grpSp>
      <p:sp>
        <p:nvSpPr>
          <p:cNvPr id="13" name="Rectangle 31"/>
          <p:cNvSpPr>
            <a:spLocks noChangeArrowheads="1"/>
          </p:cNvSpPr>
          <p:nvPr/>
        </p:nvSpPr>
        <p:spPr bwMode="auto">
          <a:xfrm>
            <a:off x="7529513" y="3429000"/>
            <a:ext cx="354012" cy="457200"/>
          </a:xfrm>
          <a:prstGeom prst="rect">
            <a:avLst/>
          </a:prstGeom>
          <a:noFill/>
          <a:ln w="9525" algn="ctr">
            <a:noFill/>
            <a:miter lim="800000"/>
            <a:headEnd/>
            <a:tailEnd/>
          </a:ln>
        </p:spPr>
        <p:txBody>
          <a:bodyPr>
            <a:spAutoFit/>
          </a:bodyPr>
          <a:lstStyle/>
          <a:p>
            <a:r>
              <a:rPr lang="pt-BR" altLang="zh-CN" sz="2400">
                <a:solidFill>
                  <a:srgbClr val="800080"/>
                </a:solidFill>
              </a:rPr>
              <a:t>#</a:t>
            </a:r>
            <a:endParaRPr lang="en-US" altLang="zh-CN" sz="2400">
              <a:solidFill>
                <a:srgbClr val="800080"/>
              </a:solidFill>
            </a:endParaRPr>
          </a:p>
        </p:txBody>
      </p:sp>
      <p:sp>
        <p:nvSpPr>
          <p:cNvPr id="14" name="Rectangle 32"/>
          <p:cNvSpPr>
            <a:spLocks noChangeArrowheads="1"/>
          </p:cNvSpPr>
          <p:nvPr/>
        </p:nvSpPr>
        <p:spPr bwMode="auto">
          <a:xfrm>
            <a:off x="7529513" y="3116263"/>
            <a:ext cx="354012" cy="457200"/>
          </a:xfrm>
          <a:prstGeom prst="rect">
            <a:avLst/>
          </a:prstGeom>
          <a:noFill/>
          <a:ln w="9525" algn="ctr">
            <a:noFill/>
            <a:miter lim="800000"/>
            <a:headEnd/>
            <a:tailEnd/>
          </a:ln>
        </p:spPr>
        <p:txBody>
          <a:bodyPr>
            <a:spAutoFit/>
          </a:bodyPr>
          <a:lstStyle/>
          <a:p>
            <a:r>
              <a:rPr lang="en-US" altLang="zh-CN" sz="2400" b="1" i="1">
                <a:solidFill>
                  <a:srgbClr val="800080"/>
                </a:solidFill>
              </a:rPr>
              <a:t>S</a:t>
            </a:r>
          </a:p>
        </p:txBody>
      </p:sp>
      <p:sp>
        <p:nvSpPr>
          <p:cNvPr id="15" name="Rectangle 33"/>
          <p:cNvSpPr>
            <a:spLocks noChangeArrowheads="1"/>
          </p:cNvSpPr>
          <p:nvPr/>
        </p:nvSpPr>
        <p:spPr bwMode="auto">
          <a:xfrm>
            <a:off x="4859338" y="2349500"/>
            <a:ext cx="2022475" cy="822325"/>
          </a:xfrm>
          <a:prstGeom prst="rect">
            <a:avLst/>
          </a:prstGeom>
          <a:noFill/>
          <a:ln w="9525" algn="ctr">
            <a:noFill/>
            <a:miter lim="800000"/>
            <a:headEnd/>
            <a:tailEnd/>
          </a:ln>
        </p:spPr>
        <p:txBody>
          <a:bodyPr wrap="none">
            <a:spAutoFit/>
          </a:bodyPr>
          <a:lstStyle/>
          <a:p>
            <a:r>
              <a:rPr lang="zh-CN" altLang="en-US" sz="2400" b="1"/>
              <a:t>剩余的输入串</a:t>
            </a:r>
          </a:p>
          <a:p>
            <a:r>
              <a:rPr lang="zh-CN" altLang="en-US" sz="2400" b="1" i="1">
                <a:solidFill>
                  <a:srgbClr val="800080"/>
                </a:solidFill>
              </a:rPr>
              <a:t>      </a:t>
            </a:r>
            <a:r>
              <a:rPr lang="en-US" altLang="zh-CN" sz="2400" b="1" i="1">
                <a:solidFill>
                  <a:srgbClr val="800080"/>
                </a:solidFill>
              </a:rPr>
              <a:t>aabd#</a:t>
            </a:r>
          </a:p>
        </p:txBody>
      </p:sp>
      <p:sp>
        <p:nvSpPr>
          <p:cNvPr id="16" name="Rectangle 34"/>
          <p:cNvSpPr>
            <a:spLocks noChangeArrowheads="1"/>
          </p:cNvSpPr>
          <p:nvPr/>
        </p:nvSpPr>
        <p:spPr bwMode="auto">
          <a:xfrm>
            <a:off x="7524750" y="2781300"/>
            <a:ext cx="354013" cy="457200"/>
          </a:xfrm>
          <a:prstGeom prst="rect">
            <a:avLst/>
          </a:prstGeom>
          <a:noFill/>
          <a:ln w="9525" algn="ctr">
            <a:noFill/>
            <a:miter lim="800000"/>
            <a:headEnd/>
            <a:tailEnd/>
          </a:ln>
        </p:spPr>
        <p:txBody>
          <a:bodyPr>
            <a:spAutoFit/>
          </a:bodyPr>
          <a:lstStyle/>
          <a:p>
            <a:r>
              <a:rPr lang="en-US" altLang="zh-CN" sz="2400" b="1" i="1">
                <a:solidFill>
                  <a:srgbClr val="800080"/>
                </a:solidFill>
              </a:rPr>
              <a:t>a</a:t>
            </a:r>
          </a:p>
        </p:txBody>
      </p:sp>
      <p:sp>
        <p:nvSpPr>
          <p:cNvPr id="17" name="Rectangle 35"/>
          <p:cNvSpPr>
            <a:spLocks noChangeArrowheads="1"/>
          </p:cNvSpPr>
          <p:nvPr/>
        </p:nvSpPr>
        <p:spPr bwMode="auto">
          <a:xfrm>
            <a:off x="7524750" y="2420938"/>
            <a:ext cx="354013" cy="457200"/>
          </a:xfrm>
          <a:prstGeom prst="rect">
            <a:avLst/>
          </a:prstGeom>
          <a:noFill/>
          <a:ln w="9525" algn="ctr">
            <a:noFill/>
            <a:miter lim="800000"/>
            <a:headEnd/>
            <a:tailEnd/>
          </a:ln>
        </p:spPr>
        <p:txBody>
          <a:bodyPr>
            <a:spAutoFit/>
          </a:bodyPr>
          <a:lstStyle/>
          <a:p>
            <a:r>
              <a:rPr lang="en-US" altLang="zh-CN" sz="2400" b="1" i="1" dirty="0">
                <a:solidFill>
                  <a:srgbClr val="800080"/>
                </a:solidFill>
              </a:rPr>
              <a:t>A</a:t>
            </a:r>
          </a:p>
        </p:txBody>
      </p:sp>
      <p:grpSp>
        <p:nvGrpSpPr>
          <p:cNvPr id="18" name="Group 36"/>
          <p:cNvGrpSpPr>
            <a:grpSpLocks/>
          </p:cNvGrpSpPr>
          <p:nvPr/>
        </p:nvGrpSpPr>
        <p:grpSpPr bwMode="auto">
          <a:xfrm>
            <a:off x="1454150" y="4221163"/>
            <a:ext cx="6213475" cy="2457450"/>
            <a:chOff x="916" y="2659"/>
            <a:chExt cx="3914" cy="1548"/>
          </a:xfrm>
        </p:grpSpPr>
        <p:graphicFrame>
          <p:nvGraphicFramePr>
            <p:cNvPr id="19" name="Object 37"/>
            <p:cNvGraphicFramePr>
              <a:graphicFrameLocks noChangeAspect="1"/>
            </p:cNvGraphicFramePr>
            <p:nvPr/>
          </p:nvGraphicFramePr>
          <p:xfrm>
            <a:off x="916" y="2659"/>
            <a:ext cx="3914" cy="1548"/>
          </p:xfrm>
          <a:graphic>
            <a:graphicData uri="http://schemas.openxmlformats.org/presentationml/2006/ole">
              <mc:AlternateContent xmlns:mc="http://schemas.openxmlformats.org/markup-compatibility/2006">
                <mc:Choice xmlns:v="urn:schemas-microsoft-com:vml" Requires="v">
                  <p:oleObj spid="_x0000_s21590" name="Visio" r:id="rId3" imgW="4920511" imgH="1941591" progId="Visio.Drawing.11">
                    <p:embed/>
                  </p:oleObj>
                </mc:Choice>
                <mc:Fallback>
                  <p:oleObj name="Visio" r:id="rId3" imgW="4920511" imgH="194159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 y="2659"/>
                          <a:ext cx="3914"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Rectangle 38"/>
            <p:cNvSpPr>
              <a:spLocks noChangeArrowheads="1"/>
            </p:cNvSpPr>
            <p:nvPr/>
          </p:nvSpPr>
          <p:spPr bwMode="auto">
            <a:xfrm>
              <a:off x="1371"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AaS</a:t>
              </a:r>
            </a:p>
          </p:txBody>
        </p:sp>
        <p:sp>
          <p:nvSpPr>
            <p:cNvPr id="21" name="Rectangle 39"/>
            <p:cNvSpPr>
              <a:spLocks noChangeArrowheads="1"/>
            </p:cNvSpPr>
            <p:nvPr/>
          </p:nvSpPr>
          <p:spPr bwMode="auto">
            <a:xfrm>
              <a:off x="2133"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sp>
          <p:nvSpPr>
            <p:cNvPr id="22" name="Rectangle 40"/>
            <p:cNvSpPr>
              <a:spLocks noChangeArrowheads="1"/>
            </p:cNvSpPr>
            <p:nvPr/>
          </p:nvSpPr>
          <p:spPr bwMode="auto">
            <a:xfrm>
              <a:off x="3651" y="3044"/>
              <a:ext cx="470"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d</a:t>
              </a:r>
            </a:p>
          </p:txBody>
        </p:sp>
        <p:sp>
          <p:nvSpPr>
            <p:cNvPr id="23" name="Rectangle 41"/>
            <p:cNvSpPr>
              <a:spLocks noChangeArrowheads="1"/>
            </p:cNvSpPr>
            <p:nvPr/>
          </p:nvSpPr>
          <p:spPr bwMode="auto">
            <a:xfrm>
              <a:off x="1474" y="3452"/>
              <a:ext cx="470" cy="250"/>
            </a:xfrm>
            <a:prstGeom prst="rect">
              <a:avLst/>
            </a:prstGeom>
            <a:noFill/>
            <a:ln w="9525" algn="ctr">
              <a:noFill/>
              <a:miter lim="800000"/>
              <a:headEnd/>
              <a:tailEnd/>
            </a:ln>
          </p:spPr>
          <p:txBody>
            <a:bodyPr wrap="none">
              <a:spAutoFit/>
            </a:bodyPr>
            <a:lstStyle/>
            <a:p>
              <a:r>
                <a:rPr lang="en-US" altLang="zh-CN" i="1"/>
                <a:t>A</a:t>
              </a:r>
              <a:r>
                <a:rPr lang="en-US" altLang="zh-CN">
                  <a:sym typeface="Symbol" pitchFamily="18" charset="2"/>
                </a:rPr>
                <a:t></a:t>
              </a:r>
              <a:r>
                <a:rPr lang="en-US" altLang="zh-CN" i="1"/>
                <a:t>a</a:t>
              </a:r>
            </a:p>
          </p:txBody>
        </p:sp>
        <p:sp>
          <p:nvSpPr>
            <p:cNvPr id="24" name="Rectangle 42"/>
            <p:cNvSpPr>
              <a:spLocks noChangeArrowheads="1"/>
            </p:cNvSpPr>
            <p:nvPr/>
          </p:nvSpPr>
          <p:spPr bwMode="auto">
            <a:xfrm>
              <a:off x="2248" y="3860"/>
              <a:ext cx="45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a:t>
              </a:r>
            </a:p>
          </p:txBody>
        </p:sp>
        <p:sp>
          <p:nvSpPr>
            <p:cNvPr id="25" name="Rectangle 43"/>
            <p:cNvSpPr>
              <a:spLocks noChangeArrowheads="1"/>
            </p:cNvSpPr>
            <p:nvPr/>
          </p:nvSpPr>
          <p:spPr bwMode="auto">
            <a:xfrm>
              <a:off x="2971" y="3860"/>
              <a:ext cx="46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c</a:t>
              </a:r>
            </a:p>
          </p:txBody>
        </p:sp>
        <p:sp>
          <p:nvSpPr>
            <p:cNvPr id="26" name="Rectangle 44"/>
            <p:cNvSpPr>
              <a:spLocks noChangeArrowheads="1"/>
            </p:cNvSpPr>
            <p:nvPr/>
          </p:nvSpPr>
          <p:spPr bwMode="auto">
            <a:xfrm>
              <a:off x="2835"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gr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69</a:t>
            </a:fld>
            <a:endParaRPr lang="zh-CN" altLang="en-US">
              <a:solidFill>
                <a:srgbClr val="3F3F3F"/>
              </a:solidFill>
            </a:endParaRPr>
          </a:p>
        </p:txBody>
      </p:sp>
    </p:spTree>
    <p:extLst>
      <p:ext uri="{BB962C8B-B14F-4D97-AF65-F5344CB8AC3E}">
        <p14:creationId xmlns:p14="http://schemas.microsoft.com/office/powerpoint/2010/main" val="1248692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举例：表驱动预测分析过程</a:t>
            </a:r>
          </a:p>
          <a:p>
            <a:endParaRPr lang="zh-CN" altLang="en-US" dirty="0"/>
          </a:p>
        </p:txBody>
      </p:sp>
      <p:sp>
        <p:nvSpPr>
          <p:cNvPr id="8" name="Rectangle 17"/>
          <p:cNvSpPr>
            <a:spLocks noChangeArrowheads="1"/>
          </p:cNvSpPr>
          <p:nvPr/>
        </p:nvSpPr>
        <p:spPr bwMode="auto">
          <a:xfrm>
            <a:off x="900113" y="1773238"/>
            <a:ext cx="4751387" cy="2346325"/>
          </a:xfrm>
          <a:prstGeom prst="rect">
            <a:avLst/>
          </a:prstGeom>
          <a:noFill/>
          <a:ln w="9525">
            <a:noFill/>
            <a:miter lim="800000"/>
            <a:headEnd/>
            <a:tailEnd/>
          </a:ln>
        </p:spPr>
        <p:txBody>
          <a:bodyPr>
            <a:spAutoFit/>
          </a:bodyPr>
          <a:lstStyle/>
          <a:p>
            <a:pPr>
              <a:buClrTx/>
              <a:buFont typeface="Symbol" pitchFamily="18" charset="2"/>
              <a:buChar char="-"/>
            </a:pPr>
            <a:r>
              <a:rPr lang="en-US" altLang="zh-CN" sz="2800" b="1">
                <a:solidFill>
                  <a:srgbClr val="800080"/>
                </a:solidFill>
              </a:rPr>
              <a:t>  </a:t>
            </a:r>
            <a:r>
              <a:rPr lang="zh-CN" altLang="en-US" sz="2800" b="1">
                <a:latin typeface="楷体_GB2312" pitchFamily="49" charset="-122"/>
              </a:rPr>
              <a:t>对于下列文法</a:t>
            </a:r>
            <a:r>
              <a:rPr lang="en-US" altLang="zh-CN" sz="2800" b="1" i="1"/>
              <a:t>G</a:t>
            </a:r>
            <a:r>
              <a:rPr lang="en-US" altLang="zh-CN" sz="2800"/>
              <a:t>(</a:t>
            </a:r>
            <a:r>
              <a:rPr lang="en-US" altLang="zh-CN" sz="2800" b="1" i="1"/>
              <a:t>S</a:t>
            </a:r>
            <a:r>
              <a:rPr lang="en-US" altLang="zh-CN" sz="2800"/>
              <a:t>)</a:t>
            </a:r>
            <a:r>
              <a:rPr lang="zh-CN" altLang="en-US" sz="2800"/>
              <a:t>：</a:t>
            </a:r>
          </a:p>
          <a:p>
            <a:pPr>
              <a:buClrTx/>
              <a:buFont typeface="Symbol" pitchFamily="18" charset="2"/>
              <a:buNone/>
            </a:pPr>
            <a:endParaRPr lang="zh-CN" altLang="en-US" sz="1000"/>
          </a:p>
          <a:p>
            <a:r>
              <a:rPr lang="zh-CN" altLang="en-US" sz="2400"/>
              <a:t>        </a:t>
            </a:r>
            <a:r>
              <a:rPr lang="en-US" altLang="zh-CN" sz="2400" b="1" i="1"/>
              <a:t>S </a:t>
            </a:r>
            <a:r>
              <a:rPr lang="en-US" altLang="zh-CN" sz="2400" b="1">
                <a:sym typeface="Symbol" pitchFamily="18" charset="2"/>
              </a:rPr>
              <a:t></a:t>
            </a:r>
            <a:r>
              <a:rPr lang="en-US" altLang="zh-CN" sz="2400" b="1" i="1"/>
              <a:t> AaS </a:t>
            </a:r>
            <a:r>
              <a:rPr lang="en-US" altLang="zh-CN" sz="2400" b="1">
                <a:sym typeface="Symbol" pitchFamily="18" charset="2"/>
              </a:rPr>
              <a:t></a:t>
            </a:r>
            <a:r>
              <a:rPr lang="en-US" altLang="zh-CN" sz="2400" b="1"/>
              <a:t> </a:t>
            </a:r>
            <a:r>
              <a:rPr lang="en-US" altLang="zh-CN" sz="2400" b="1" i="1"/>
              <a:t>BbS</a:t>
            </a:r>
            <a:r>
              <a:rPr lang="en-US" altLang="zh-CN" sz="2400" b="1">
                <a:sym typeface="Symbol" pitchFamily="18" charset="2"/>
              </a:rPr>
              <a:t></a:t>
            </a:r>
            <a:r>
              <a:rPr lang="en-US" altLang="zh-CN" sz="2400" b="1" i="1"/>
              <a:t> d</a:t>
            </a:r>
          </a:p>
          <a:p>
            <a:r>
              <a:rPr lang="en-US" altLang="zh-CN" sz="2400" b="1" i="1"/>
              <a:t>        A </a:t>
            </a:r>
            <a:r>
              <a:rPr lang="en-US" altLang="zh-CN" sz="2400" b="1">
                <a:sym typeface="Symbol" pitchFamily="18" charset="2"/>
              </a:rPr>
              <a:t></a:t>
            </a:r>
            <a:r>
              <a:rPr lang="en-US" altLang="zh-CN" sz="2400" b="1" i="1"/>
              <a:t> a</a:t>
            </a:r>
          </a:p>
          <a:p>
            <a:r>
              <a:rPr lang="en-US" altLang="zh-CN" sz="2400" b="1" i="1"/>
              <a:t>        B </a:t>
            </a:r>
            <a:r>
              <a:rPr lang="en-US" altLang="zh-CN" sz="2400" b="1">
                <a:sym typeface="Symbol" pitchFamily="18" charset="2"/>
              </a:rPr>
              <a:t></a:t>
            </a:r>
            <a:r>
              <a:rPr lang="en-US" altLang="zh-CN" sz="2400" b="1" i="1"/>
              <a:t> </a:t>
            </a:r>
            <a:r>
              <a:rPr lang="en-US" altLang="zh-CN" sz="2400" b="1" i="1">
                <a:sym typeface="Symbol" pitchFamily="18" charset="2"/>
              </a:rPr>
              <a:t></a:t>
            </a:r>
            <a:r>
              <a:rPr lang="en-US" altLang="zh-CN" sz="2400" b="1" i="1"/>
              <a:t> </a:t>
            </a:r>
            <a:r>
              <a:rPr lang="en-US" altLang="zh-CN" sz="2400" b="1">
                <a:sym typeface="Symbol" pitchFamily="18" charset="2"/>
              </a:rPr>
              <a:t></a:t>
            </a:r>
            <a:r>
              <a:rPr lang="en-US" altLang="zh-CN" sz="2400" b="1" i="1"/>
              <a:t> c</a:t>
            </a:r>
          </a:p>
          <a:p>
            <a:endParaRPr lang="en-US" altLang="zh-CN" sz="1000" b="1" i="1"/>
          </a:p>
          <a:p>
            <a:r>
              <a:rPr lang="en-US" altLang="zh-CN" sz="2800" b="1"/>
              <a:t>    </a:t>
            </a:r>
            <a:r>
              <a:rPr lang="zh-CN" altLang="en-US" sz="2800" b="1"/>
              <a:t>分析输入串 </a:t>
            </a:r>
            <a:r>
              <a:rPr lang="en-US" altLang="zh-CN" sz="2400" b="1" i="1">
                <a:solidFill>
                  <a:srgbClr val="800080"/>
                </a:solidFill>
              </a:rPr>
              <a:t>aabd </a:t>
            </a:r>
            <a:r>
              <a:rPr lang="zh-CN" altLang="en-US" sz="2800" b="1"/>
              <a:t>的过程：</a:t>
            </a:r>
          </a:p>
        </p:txBody>
      </p:sp>
      <p:grpSp>
        <p:nvGrpSpPr>
          <p:cNvPr id="9" name="Group 27"/>
          <p:cNvGrpSpPr>
            <a:grpSpLocks/>
          </p:cNvGrpSpPr>
          <p:nvPr/>
        </p:nvGrpSpPr>
        <p:grpSpPr bwMode="auto">
          <a:xfrm>
            <a:off x="7235825" y="1844675"/>
            <a:ext cx="935038" cy="2089150"/>
            <a:chOff x="4558" y="1162"/>
            <a:chExt cx="589" cy="1316"/>
          </a:xfrm>
        </p:grpSpPr>
        <p:sp>
          <p:nvSpPr>
            <p:cNvPr id="10" name="Line 28"/>
            <p:cNvSpPr>
              <a:spLocks noChangeShapeType="1"/>
            </p:cNvSpPr>
            <p:nvPr/>
          </p:nvSpPr>
          <p:spPr bwMode="auto">
            <a:xfrm>
              <a:off x="4558" y="1162"/>
              <a:ext cx="0" cy="1316"/>
            </a:xfrm>
            <a:prstGeom prst="line">
              <a:avLst/>
            </a:prstGeom>
            <a:noFill/>
            <a:ln w="9525">
              <a:solidFill>
                <a:srgbClr val="800080"/>
              </a:solidFill>
              <a:round/>
              <a:headEnd/>
              <a:tailEnd/>
            </a:ln>
          </p:spPr>
          <p:txBody>
            <a:bodyPr>
              <a:spAutoFit/>
            </a:bodyPr>
            <a:lstStyle/>
            <a:p>
              <a:endParaRPr lang="zh-CN" altLang="en-US"/>
            </a:p>
          </p:txBody>
        </p:sp>
        <p:sp>
          <p:nvSpPr>
            <p:cNvPr id="11" name="Line 29"/>
            <p:cNvSpPr>
              <a:spLocks noChangeShapeType="1"/>
            </p:cNvSpPr>
            <p:nvPr/>
          </p:nvSpPr>
          <p:spPr bwMode="auto">
            <a:xfrm>
              <a:off x="5147" y="1162"/>
              <a:ext cx="0" cy="1316"/>
            </a:xfrm>
            <a:prstGeom prst="line">
              <a:avLst/>
            </a:prstGeom>
            <a:noFill/>
            <a:ln w="9525">
              <a:solidFill>
                <a:srgbClr val="800080"/>
              </a:solidFill>
              <a:round/>
              <a:headEnd/>
              <a:tailEnd/>
            </a:ln>
          </p:spPr>
          <p:txBody>
            <a:bodyPr>
              <a:spAutoFit/>
            </a:bodyPr>
            <a:lstStyle/>
            <a:p>
              <a:endParaRPr lang="zh-CN" altLang="en-US"/>
            </a:p>
          </p:txBody>
        </p:sp>
        <p:sp>
          <p:nvSpPr>
            <p:cNvPr id="12" name="Line 30"/>
            <p:cNvSpPr>
              <a:spLocks noChangeShapeType="1"/>
            </p:cNvSpPr>
            <p:nvPr/>
          </p:nvSpPr>
          <p:spPr bwMode="auto">
            <a:xfrm>
              <a:off x="4558" y="2478"/>
              <a:ext cx="589" cy="0"/>
            </a:xfrm>
            <a:prstGeom prst="line">
              <a:avLst/>
            </a:prstGeom>
            <a:noFill/>
            <a:ln w="9525">
              <a:solidFill>
                <a:srgbClr val="800080"/>
              </a:solidFill>
              <a:round/>
              <a:headEnd/>
              <a:tailEnd/>
            </a:ln>
          </p:spPr>
          <p:txBody>
            <a:bodyPr>
              <a:spAutoFit/>
            </a:bodyPr>
            <a:lstStyle/>
            <a:p>
              <a:endParaRPr lang="zh-CN" altLang="en-US"/>
            </a:p>
          </p:txBody>
        </p:sp>
      </p:grpSp>
      <p:sp>
        <p:nvSpPr>
          <p:cNvPr id="13" name="Rectangle 31"/>
          <p:cNvSpPr>
            <a:spLocks noChangeArrowheads="1"/>
          </p:cNvSpPr>
          <p:nvPr/>
        </p:nvSpPr>
        <p:spPr bwMode="auto">
          <a:xfrm>
            <a:off x="7529513" y="3429000"/>
            <a:ext cx="354012" cy="457200"/>
          </a:xfrm>
          <a:prstGeom prst="rect">
            <a:avLst/>
          </a:prstGeom>
          <a:noFill/>
          <a:ln w="9525" algn="ctr">
            <a:noFill/>
            <a:miter lim="800000"/>
            <a:headEnd/>
            <a:tailEnd/>
          </a:ln>
        </p:spPr>
        <p:txBody>
          <a:bodyPr>
            <a:spAutoFit/>
          </a:bodyPr>
          <a:lstStyle/>
          <a:p>
            <a:r>
              <a:rPr lang="pt-BR" altLang="zh-CN" sz="2400">
                <a:solidFill>
                  <a:srgbClr val="800080"/>
                </a:solidFill>
              </a:rPr>
              <a:t>#</a:t>
            </a:r>
            <a:endParaRPr lang="en-US" altLang="zh-CN" sz="2400">
              <a:solidFill>
                <a:srgbClr val="800080"/>
              </a:solidFill>
            </a:endParaRPr>
          </a:p>
        </p:txBody>
      </p:sp>
      <p:sp>
        <p:nvSpPr>
          <p:cNvPr id="14" name="Rectangle 32"/>
          <p:cNvSpPr>
            <a:spLocks noChangeArrowheads="1"/>
          </p:cNvSpPr>
          <p:nvPr/>
        </p:nvSpPr>
        <p:spPr bwMode="auto">
          <a:xfrm>
            <a:off x="7529513" y="3116263"/>
            <a:ext cx="354012" cy="457200"/>
          </a:xfrm>
          <a:prstGeom prst="rect">
            <a:avLst/>
          </a:prstGeom>
          <a:noFill/>
          <a:ln w="9525" algn="ctr">
            <a:noFill/>
            <a:miter lim="800000"/>
            <a:headEnd/>
            <a:tailEnd/>
          </a:ln>
        </p:spPr>
        <p:txBody>
          <a:bodyPr>
            <a:spAutoFit/>
          </a:bodyPr>
          <a:lstStyle/>
          <a:p>
            <a:r>
              <a:rPr lang="en-US" altLang="zh-CN" sz="2400" b="1" i="1">
                <a:solidFill>
                  <a:srgbClr val="800080"/>
                </a:solidFill>
              </a:rPr>
              <a:t>S</a:t>
            </a:r>
          </a:p>
        </p:txBody>
      </p:sp>
      <p:sp>
        <p:nvSpPr>
          <p:cNvPr id="15" name="Rectangle 33"/>
          <p:cNvSpPr>
            <a:spLocks noChangeArrowheads="1"/>
          </p:cNvSpPr>
          <p:nvPr/>
        </p:nvSpPr>
        <p:spPr bwMode="auto">
          <a:xfrm>
            <a:off x="4859338" y="2349500"/>
            <a:ext cx="2022475" cy="822325"/>
          </a:xfrm>
          <a:prstGeom prst="rect">
            <a:avLst/>
          </a:prstGeom>
          <a:noFill/>
          <a:ln w="9525" algn="ctr">
            <a:noFill/>
            <a:miter lim="800000"/>
            <a:headEnd/>
            <a:tailEnd/>
          </a:ln>
        </p:spPr>
        <p:txBody>
          <a:bodyPr wrap="none">
            <a:spAutoFit/>
          </a:bodyPr>
          <a:lstStyle/>
          <a:p>
            <a:r>
              <a:rPr lang="zh-CN" altLang="en-US" sz="2400" b="1"/>
              <a:t>剩余的输入串</a:t>
            </a:r>
          </a:p>
          <a:p>
            <a:r>
              <a:rPr lang="zh-CN" altLang="en-US" sz="2400" b="1" i="1">
                <a:solidFill>
                  <a:srgbClr val="800080"/>
                </a:solidFill>
              </a:rPr>
              <a:t>      </a:t>
            </a:r>
            <a:r>
              <a:rPr lang="en-US" altLang="zh-CN" sz="2400" b="1" i="1">
                <a:solidFill>
                  <a:srgbClr val="800080"/>
                </a:solidFill>
              </a:rPr>
              <a:t>aabd#</a:t>
            </a:r>
          </a:p>
        </p:txBody>
      </p:sp>
      <p:sp>
        <p:nvSpPr>
          <p:cNvPr id="16" name="Rectangle 34"/>
          <p:cNvSpPr>
            <a:spLocks noChangeArrowheads="1"/>
          </p:cNvSpPr>
          <p:nvPr/>
        </p:nvSpPr>
        <p:spPr bwMode="auto">
          <a:xfrm>
            <a:off x="7524750" y="2781300"/>
            <a:ext cx="354013" cy="457200"/>
          </a:xfrm>
          <a:prstGeom prst="rect">
            <a:avLst/>
          </a:prstGeom>
          <a:noFill/>
          <a:ln w="9525" algn="ctr">
            <a:noFill/>
            <a:miter lim="800000"/>
            <a:headEnd/>
            <a:tailEnd/>
          </a:ln>
        </p:spPr>
        <p:txBody>
          <a:bodyPr>
            <a:spAutoFit/>
          </a:bodyPr>
          <a:lstStyle/>
          <a:p>
            <a:r>
              <a:rPr lang="en-US" altLang="zh-CN" sz="2400" b="1" i="1">
                <a:solidFill>
                  <a:srgbClr val="800080"/>
                </a:solidFill>
              </a:rPr>
              <a:t>a</a:t>
            </a:r>
          </a:p>
        </p:txBody>
      </p:sp>
      <p:sp>
        <p:nvSpPr>
          <p:cNvPr id="17" name="Rectangle 35"/>
          <p:cNvSpPr>
            <a:spLocks noChangeArrowheads="1"/>
          </p:cNvSpPr>
          <p:nvPr/>
        </p:nvSpPr>
        <p:spPr bwMode="auto">
          <a:xfrm>
            <a:off x="7524750" y="2420938"/>
            <a:ext cx="354013" cy="457200"/>
          </a:xfrm>
          <a:prstGeom prst="rect">
            <a:avLst/>
          </a:prstGeom>
          <a:noFill/>
          <a:ln w="9525" algn="ctr">
            <a:noFill/>
            <a:miter lim="800000"/>
            <a:headEnd/>
            <a:tailEnd/>
          </a:ln>
        </p:spPr>
        <p:txBody>
          <a:bodyPr>
            <a:spAutoFit/>
          </a:bodyPr>
          <a:lstStyle/>
          <a:p>
            <a:r>
              <a:rPr lang="en-US" altLang="zh-CN" sz="2400" b="1" i="1">
                <a:solidFill>
                  <a:srgbClr val="800080"/>
                </a:solidFill>
              </a:rPr>
              <a:t>a</a:t>
            </a:r>
          </a:p>
        </p:txBody>
      </p:sp>
      <p:grpSp>
        <p:nvGrpSpPr>
          <p:cNvPr id="18" name="Group 36"/>
          <p:cNvGrpSpPr>
            <a:grpSpLocks/>
          </p:cNvGrpSpPr>
          <p:nvPr/>
        </p:nvGrpSpPr>
        <p:grpSpPr bwMode="auto">
          <a:xfrm>
            <a:off x="1454150" y="4221163"/>
            <a:ext cx="6213475" cy="2457450"/>
            <a:chOff x="916" y="2659"/>
            <a:chExt cx="3914" cy="1548"/>
          </a:xfrm>
        </p:grpSpPr>
        <p:graphicFrame>
          <p:nvGraphicFramePr>
            <p:cNvPr id="19" name="Object 37"/>
            <p:cNvGraphicFramePr>
              <a:graphicFrameLocks noChangeAspect="1"/>
            </p:cNvGraphicFramePr>
            <p:nvPr/>
          </p:nvGraphicFramePr>
          <p:xfrm>
            <a:off x="916" y="2659"/>
            <a:ext cx="3914" cy="1548"/>
          </p:xfrm>
          <a:graphic>
            <a:graphicData uri="http://schemas.openxmlformats.org/presentationml/2006/ole">
              <mc:AlternateContent xmlns:mc="http://schemas.openxmlformats.org/markup-compatibility/2006">
                <mc:Choice xmlns:v="urn:schemas-microsoft-com:vml" Requires="v">
                  <p:oleObj spid="_x0000_s22614" name="Visio" r:id="rId3" imgW="4920511" imgH="1941591" progId="Visio.Drawing.11">
                    <p:embed/>
                  </p:oleObj>
                </mc:Choice>
                <mc:Fallback>
                  <p:oleObj name="Visio" r:id="rId3" imgW="4920511" imgH="194159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 y="2659"/>
                          <a:ext cx="3914"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Rectangle 38"/>
            <p:cNvSpPr>
              <a:spLocks noChangeArrowheads="1"/>
            </p:cNvSpPr>
            <p:nvPr/>
          </p:nvSpPr>
          <p:spPr bwMode="auto">
            <a:xfrm>
              <a:off x="1371"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AaS</a:t>
              </a:r>
            </a:p>
          </p:txBody>
        </p:sp>
        <p:sp>
          <p:nvSpPr>
            <p:cNvPr id="21" name="Rectangle 39"/>
            <p:cNvSpPr>
              <a:spLocks noChangeArrowheads="1"/>
            </p:cNvSpPr>
            <p:nvPr/>
          </p:nvSpPr>
          <p:spPr bwMode="auto">
            <a:xfrm>
              <a:off x="2133"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sp>
          <p:nvSpPr>
            <p:cNvPr id="22" name="Rectangle 40"/>
            <p:cNvSpPr>
              <a:spLocks noChangeArrowheads="1"/>
            </p:cNvSpPr>
            <p:nvPr/>
          </p:nvSpPr>
          <p:spPr bwMode="auto">
            <a:xfrm>
              <a:off x="3651" y="3044"/>
              <a:ext cx="470"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d</a:t>
              </a:r>
            </a:p>
          </p:txBody>
        </p:sp>
        <p:sp>
          <p:nvSpPr>
            <p:cNvPr id="23" name="Rectangle 41"/>
            <p:cNvSpPr>
              <a:spLocks noChangeArrowheads="1"/>
            </p:cNvSpPr>
            <p:nvPr/>
          </p:nvSpPr>
          <p:spPr bwMode="auto">
            <a:xfrm>
              <a:off x="1474" y="3452"/>
              <a:ext cx="470" cy="250"/>
            </a:xfrm>
            <a:prstGeom prst="rect">
              <a:avLst/>
            </a:prstGeom>
            <a:noFill/>
            <a:ln w="9525" algn="ctr">
              <a:noFill/>
              <a:miter lim="800000"/>
              <a:headEnd/>
              <a:tailEnd/>
            </a:ln>
          </p:spPr>
          <p:txBody>
            <a:bodyPr wrap="none">
              <a:spAutoFit/>
            </a:bodyPr>
            <a:lstStyle/>
            <a:p>
              <a:r>
                <a:rPr lang="en-US" altLang="zh-CN" i="1" dirty="0" err="1"/>
                <a:t>A</a:t>
              </a:r>
              <a:r>
                <a:rPr lang="en-US" altLang="zh-CN" dirty="0" err="1">
                  <a:sym typeface="Symbol" pitchFamily="18" charset="2"/>
                </a:rPr>
                <a:t></a:t>
              </a:r>
              <a:r>
                <a:rPr lang="en-US" altLang="zh-CN" i="1" dirty="0" err="1"/>
                <a:t>a</a:t>
              </a:r>
              <a:endParaRPr lang="en-US" altLang="zh-CN" i="1" dirty="0"/>
            </a:p>
          </p:txBody>
        </p:sp>
        <p:sp>
          <p:nvSpPr>
            <p:cNvPr id="24" name="Rectangle 42"/>
            <p:cNvSpPr>
              <a:spLocks noChangeArrowheads="1"/>
            </p:cNvSpPr>
            <p:nvPr/>
          </p:nvSpPr>
          <p:spPr bwMode="auto">
            <a:xfrm>
              <a:off x="2248" y="3860"/>
              <a:ext cx="45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a:t>
              </a:r>
            </a:p>
          </p:txBody>
        </p:sp>
        <p:sp>
          <p:nvSpPr>
            <p:cNvPr id="25" name="Rectangle 43"/>
            <p:cNvSpPr>
              <a:spLocks noChangeArrowheads="1"/>
            </p:cNvSpPr>
            <p:nvPr/>
          </p:nvSpPr>
          <p:spPr bwMode="auto">
            <a:xfrm>
              <a:off x="2971" y="3860"/>
              <a:ext cx="46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c</a:t>
              </a:r>
            </a:p>
          </p:txBody>
        </p:sp>
        <p:sp>
          <p:nvSpPr>
            <p:cNvPr id="26" name="Rectangle 44"/>
            <p:cNvSpPr>
              <a:spLocks noChangeArrowheads="1"/>
            </p:cNvSpPr>
            <p:nvPr/>
          </p:nvSpPr>
          <p:spPr bwMode="auto">
            <a:xfrm>
              <a:off x="2835"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gr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70</a:t>
            </a:fld>
            <a:endParaRPr lang="zh-CN" altLang="en-US">
              <a:solidFill>
                <a:srgbClr val="3F3F3F"/>
              </a:solidFill>
            </a:endParaRPr>
          </a:p>
        </p:txBody>
      </p:sp>
    </p:spTree>
    <p:extLst>
      <p:ext uri="{BB962C8B-B14F-4D97-AF65-F5344CB8AC3E}">
        <p14:creationId xmlns:p14="http://schemas.microsoft.com/office/powerpoint/2010/main" val="245513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举例：表驱动预测分析过程</a:t>
            </a:r>
          </a:p>
          <a:p>
            <a:endParaRPr lang="zh-CN" altLang="en-US" dirty="0"/>
          </a:p>
        </p:txBody>
      </p:sp>
      <p:sp>
        <p:nvSpPr>
          <p:cNvPr id="8" name="Rectangle 9"/>
          <p:cNvSpPr>
            <a:spLocks noChangeArrowheads="1"/>
          </p:cNvSpPr>
          <p:nvPr/>
        </p:nvSpPr>
        <p:spPr bwMode="auto">
          <a:xfrm>
            <a:off x="900113" y="1773238"/>
            <a:ext cx="4751387" cy="2346325"/>
          </a:xfrm>
          <a:prstGeom prst="rect">
            <a:avLst/>
          </a:prstGeom>
          <a:noFill/>
          <a:ln w="9525">
            <a:noFill/>
            <a:miter lim="800000"/>
            <a:headEnd/>
            <a:tailEnd/>
          </a:ln>
        </p:spPr>
        <p:txBody>
          <a:bodyPr>
            <a:spAutoFit/>
          </a:bodyPr>
          <a:lstStyle/>
          <a:p>
            <a:pPr>
              <a:buClrTx/>
              <a:buFont typeface="Symbol" pitchFamily="18" charset="2"/>
              <a:buChar char="-"/>
            </a:pPr>
            <a:r>
              <a:rPr lang="en-US" altLang="zh-CN" sz="2800" b="1">
                <a:solidFill>
                  <a:srgbClr val="800080"/>
                </a:solidFill>
              </a:rPr>
              <a:t>  </a:t>
            </a:r>
            <a:r>
              <a:rPr lang="zh-CN" altLang="en-US" sz="2800" b="1">
                <a:latin typeface="楷体_GB2312" pitchFamily="49" charset="-122"/>
              </a:rPr>
              <a:t>对于下列文法</a:t>
            </a:r>
            <a:r>
              <a:rPr lang="en-US" altLang="zh-CN" sz="2800" b="1" i="1"/>
              <a:t>G</a:t>
            </a:r>
            <a:r>
              <a:rPr lang="en-US" altLang="zh-CN" sz="2800"/>
              <a:t>(</a:t>
            </a:r>
            <a:r>
              <a:rPr lang="en-US" altLang="zh-CN" sz="2800" b="1" i="1"/>
              <a:t>S</a:t>
            </a:r>
            <a:r>
              <a:rPr lang="en-US" altLang="zh-CN" sz="2800"/>
              <a:t>)</a:t>
            </a:r>
            <a:r>
              <a:rPr lang="zh-CN" altLang="en-US" sz="2800"/>
              <a:t>：</a:t>
            </a:r>
          </a:p>
          <a:p>
            <a:pPr>
              <a:buClrTx/>
              <a:buFont typeface="Symbol" pitchFamily="18" charset="2"/>
              <a:buNone/>
            </a:pPr>
            <a:endParaRPr lang="zh-CN" altLang="en-US" sz="1000"/>
          </a:p>
          <a:p>
            <a:r>
              <a:rPr lang="zh-CN" altLang="en-US" sz="2400"/>
              <a:t>        </a:t>
            </a:r>
            <a:r>
              <a:rPr lang="en-US" altLang="zh-CN" sz="2400" b="1" i="1"/>
              <a:t>S </a:t>
            </a:r>
            <a:r>
              <a:rPr lang="en-US" altLang="zh-CN" sz="2400" b="1">
                <a:sym typeface="Symbol" pitchFamily="18" charset="2"/>
              </a:rPr>
              <a:t></a:t>
            </a:r>
            <a:r>
              <a:rPr lang="en-US" altLang="zh-CN" sz="2400" b="1" i="1"/>
              <a:t> AaS </a:t>
            </a:r>
            <a:r>
              <a:rPr lang="en-US" altLang="zh-CN" sz="2400" b="1">
                <a:sym typeface="Symbol" pitchFamily="18" charset="2"/>
              </a:rPr>
              <a:t></a:t>
            </a:r>
            <a:r>
              <a:rPr lang="en-US" altLang="zh-CN" sz="2400" b="1"/>
              <a:t> </a:t>
            </a:r>
            <a:r>
              <a:rPr lang="en-US" altLang="zh-CN" sz="2400" b="1" i="1"/>
              <a:t>BbS</a:t>
            </a:r>
            <a:r>
              <a:rPr lang="en-US" altLang="zh-CN" sz="2400" b="1">
                <a:sym typeface="Symbol" pitchFamily="18" charset="2"/>
              </a:rPr>
              <a:t></a:t>
            </a:r>
            <a:r>
              <a:rPr lang="en-US" altLang="zh-CN" sz="2400" b="1" i="1"/>
              <a:t> d</a:t>
            </a:r>
          </a:p>
          <a:p>
            <a:r>
              <a:rPr lang="en-US" altLang="zh-CN" sz="2400" b="1" i="1"/>
              <a:t>        A </a:t>
            </a:r>
            <a:r>
              <a:rPr lang="en-US" altLang="zh-CN" sz="2400" b="1">
                <a:sym typeface="Symbol" pitchFamily="18" charset="2"/>
              </a:rPr>
              <a:t></a:t>
            </a:r>
            <a:r>
              <a:rPr lang="en-US" altLang="zh-CN" sz="2400" b="1" i="1"/>
              <a:t> a</a:t>
            </a:r>
          </a:p>
          <a:p>
            <a:r>
              <a:rPr lang="en-US" altLang="zh-CN" sz="2400" b="1" i="1"/>
              <a:t>        B </a:t>
            </a:r>
            <a:r>
              <a:rPr lang="en-US" altLang="zh-CN" sz="2400" b="1">
                <a:sym typeface="Symbol" pitchFamily="18" charset="2"/>
              </a:rPr>
              <a:t></a:t>
            </a:r>
            <a:r>
              <a:rPr lang="en-US" altLang="zh-CN" sz="2400" b="1" i="1"/>
              <a:t> </a:t>
            </a:r>
            <a:r>
              <a:rPr lang="en-US" altLang="zh-CN" sz="2400" b="1" i="1">
                <a:sym typeface="Symbol" pitchFamily="18" charset="2"/>
              </a:rPr>
              <a:t></a:t>
            </a:r>
            <a:r>
              <a:rPr lang="en-US" altLang="zh-CN" sz="2400" b="1" i="1"/>
              <a:t> </a:t>
            </a:r>
            <a:r>
              <a:rPr lang="en-US" altLang="zh-CN" sz="2400" b="1">
                <a:sym typeface="Symbol" pitchFamily="18" charset="2"/>
              </a:rPr>
              <a:t></a:t>
            </a:r>
            <a:r>
              <a:rPr lang="en-US" altLang="zh-CN" sz="2400" b="1" i="1"/>
              <a:t> c</a:t>
            </a:r>
          </a:p>
          <a:p>
            <a:endParaRPr lang="en-US" altLang="zh-CN" sz="1000" b="1" i="1"/>
          </a:p>
          <a:p>
            <a:r>
              <a:rPr lang="en-US" altLang="zh-CN" sz="2800" b="1"/>
              <a:t>    </a:t>
            </a:r>
            <a:r>
              <a:rPr lang="zh-CN" altLang="en-US" sz="2800" b="1"/>
              <a:t>分析输入串 </a:t>
            </a:r>
            <a:r>
              <a:rPr lang="en-US" altLang="zh-CN" sz="2400" b="1" i="1">
                <a:solidFill>
                  <a:srgbClr val="800080"/>
                </a:solidFill>
              </a:rPr>
              <a:t>aabd </a:t>
            </a:r>
            <a:r>
              <a:rPr lang="zh-CN" altLang="en-US" sz="2800" b="1"/>
              <a:t>的过程：</a:t>
            </a:r>
          </a:p>
        </p:txBody>
      </p:sp>
      <p:grpSp>
        <p:nvGrpSpPr>
          <p:cNvPr id="9" name="Group 19"/>
          <p:cNvGrpSpPr>
            <a:grpSpLocks/>
          </p:cNvGrpSpPr>
          <p:nvPr/>
        </p:nvGrpSpPr>
        <p:grpSpPr bwMode="auto">
          <a:xfrm>
            <a:off x="7235825" y="1844675"/>
            <a:ext cx="935038" cy="2089150"/>
            <a:chOff x="4558" y="1162"/>
            <a:chExt cx="589" cy="1316"/>
          </a:xfrm>
        </p:grpSpPr>
        <p:sp>
          <p:nvSpPr>
            <p:cNvPr id="10" name="Line 20"/>
            <p:cNvSpPr>
              <a:spLocks noChangeShapeType="1"/>
            </p:cNvSpPr>
            <p:nvPr/>
          </p:nvSpPr>
          <p:spPr bwMode="auto">
            <a:xfrm>
              <a:off x="4558" y="1162"/>
              <a:ext cx="0" cy="1316"/>
            </a:xfrm>
            <a:prstGeom prst="line">
              <a:avLst/>
            </a:prstGeom>
            <a:noFill/>
            <a:ln w="9525">
              <a:solidFill>
                <a:srgbClr val="800080"/>
              </a:solidFill>
              <a:round/>
              <a:headEnd/>
              <a:tailEnd/>
            </a:ln>
          </p:spPr>
          <p:txBody>
            <a:bodyPr>
              <a:spAutoFit/>
            </a:bodyPr>
            <a:lstStyle/>
            <a:p>
              <a:endParaRPr lang="zh-CN" altLang="en-US"/>
            </a:p>
          </p:txBody>
        </p:sp>
        <p:sp>
          <p:nvSpPr>
            <p:cNvPr id="11" name="Line 21"/>
            <p:cNvSpPr>
              <a:spLocks noChangeShapeType="1"/>
            </p:cNvSpPr>
            <p:nvPr/>
          </p:nvSpPr>
          <p:spPr bwMode="auto">
            <a:xfrm>
              <a:off x="5147" y="1162"/>
              <a:ext cx="0" cy="1316"/>
            </a:xfrm>
            <a:prstGeom prst="line">
              <a:avLst/>
            </a:prstGeom>
            <a:noFill/>
            <a:ln w="9525">
              <a:solidFill>
                <a:srgbClr val="800080"/>
              </a:solidFill>
              <a:round/>
              <a:headEnd/>
              <a:tailEnd/>
            </a:ln>
          </p:spPr>
          <p:txBody>
            <a:bodyPr>
              <a:spAutoFit/>
            </a:bodyPr>
            <a:lstStyle/>
            <a:p>
              <a:endParaRPr lang="zh-CN" altLang="en-US"/>
            </a:p>
          </p:txBody>
        </p:sp>
        <p:sp>
          <p:nvSpPr>
            <p:cNvPr id="12" name="Line 22"/>
            <p:cNvSpPr>
              <a:spLocks noChangeShapeType="1"/>
            </p:cNvSpPr>
            <p:nvPr/>
          </p:nvSpPr>
          <p:spPr bwMode="auto">
            <a:xfrm>
              <a:off x="4558" y="2478"/>
              <a:ext cx="589" cy="0"/>
            </a:xfrm>
            <a:prstGeom prst="line">
              <a:avLst/>
            </a:prstGeom>
            <a:noFill/>
            <a:ln w="9525">
              <a:solidFill>
                <a:srgbClr val="800080"/>
              </a:solidFill>
              <a:round/>
              <a:headEnd/>
              <a:tailEnd/>
            </a:ln>
          </p:spPr>
          <p:txBody>
            <a:bodyPr>
              <a:spAutoFit/>
            </a:bodyPr>
            <a:lstStyle/>
            <a:p>
              <a:endParaRPr lang="zh-CN" altLang="en-US"/>
            </a:p>
          </p:txBody>
        </p:sp>
      </p:grpSp>
      <p:sp>
        <p:nvSpPr>
          <p:cNvPr id="13" name="Rectangle 23"/>
          <p:cNvSpPr>
            <a:spLocks noChangeArrowheads="1"/>
          </p:cNvSpPr>
          <p:nvPr/>
        </p:nvSpPr>
        <p:spPr bwMode="auto">
          <a:xfrm>
            <a:off x="7529513" y="3429000"/>
            <a:ext cx="354012" cy="457200"/>
          </a:xfrm>
          <a:prstGeom prst="rect">
            <a:avLst/>
          </a:prstGeom>
          <a:noFill/>
          <a:ln w="9525" algn="ctr">
            <a:noFill/>
            <a:miter lim="800000"/>
            <a:headEnd/>
            <a:tailEnd/>
          </a:ln>
        </p:spPr>
        <p:txBody>
          <a:bodyPr>
            <a:spAutoFit/>
          </a:bodyPr>
          <a:lstStyle/>
          <a:p>
            <a:r>
              <a:rPr lang="pt-BR" altLang="zh-CN" sz="2400">
                <a:solidFill>
                  <a:srgbClr val="800080"/>
                </a:solidFill>
              </a:rPr>
              <a:t>#</a:t>
            </a:r>
            <a:endParaRPr lang="en-US" altLang="zh-CN" sz="2400">
              <a:solidFill>
                <a:srgbClr val="800080"/>
              </a:solidFill>
            </a:endParaRPr>
          </a:p>
        </p:txBody>
      </p:sp>
      <p:sp>
        <p:nvSpPr>
          <p:cNvPr id="14" name="Rectangle 24"/>
          <p:cNvSpPr>
            <a:spLocks noChangeArrowheads="1"/>
          </p:cNvSpPr>
          <p:nvPr/>
        </p:nvSpPr>
        <p:spPr bwMode="auto">
          <a:xfrm>
            <a:off x="7529513" y="3116263"/>
            <a:ext cx="354012" cy="457200"/>
          </a:xfrm>
          <a:prstGeom prst="rect">
            <a:avLst/>
          </a:prstGeom>
          <a:noFill/>
          <a:ln w="9525" algn="ctr">
            <a:noFill/>
            <a:miter lim="800000"/>
            <a:headEnd/>
            <a:tailEnd/>
          </a:ln>
        </p:spPr>
        <p:txBody>
          <a:bodyPr>
            <a:spAutoFit/>
          </a:bodyPr>
          <a:lstStyle/>
          <a:p>
            <a:r>
              <a:rPr lang="en-US" altLang="zh-CN" sz="2400" b="1" i="1">
                <a:solidFill>
                  <a:srgbClr val="800080"/>
                </a:solidFill>
              </a:rPr>
              <a:t>S</a:t>
            </a:r>
          </a:p>
        </p:txBody>
      </p:sp>
      <p:sp>
        <p:nvSpPr>
          <p:cNvPr id="15" name="Rectangle 25"/>
          <p:cNvSpPr>
            <a:spLocks noChangeArrowheads="1"/>
          </p:cNvSpPr>
          <p:nvPr/>
        </p:nvSpPr>
        <p:spPr bwMode="auto">
          <a:xfrm>
            <a:off x="4859338" y="2349500"/>
            <a:ext cx="2022475" cy="822325"/>
          </a:xfrm>
          <a:prstGeom prst="rect">
            <a:avLst/>
          </a:prstGeom>
          <a:noFill/>
          <a:ln w="9525" algn="ctr">
            <a:noFill/>
            <a:miter lim="800000"/>
            <a:headEnd/>
            <a:tailEnd/>
          </a:ln>
        </p:spPr>
        <p:txBody>
          <a:bodyPr wrap="none">
            <a:spAutoFit/>
          </a:bodyPr>
          <a:lstStyle/>
          <a:p>
            <a:r>
              <a:rPr lang="zh-CN" altLang="en-US" sz="2400" b="1"/>
              <a:t>剩余的输入串</a:t>
            </a:r>
          </a:p>
          <a:p>
            <a:r>
              <a:rPr lang="zh-CN" altLang="en-US" sz="2400" b="1" i="1">
                <a:solidFill>
                  <a:srgbClr val="800080"/>
                </a:solidFill>
              </a:rPr>
              <a:t>      </a:t>
            </a:r>
            <a:r>
              <a:rPr lang="en-US" altLang="zh-CN" sz="2400" b="1" i="1">
                <a:solidFill>
                  <a:srgbClr val="800080"/>
                </a:solidFill>
              </a:rPr>
              <a:t>abd#</a:t>
            </a:r>
          </a:p>
        </p:txBody>
      </p:sp>
      <p:sp>
        <p:nvSpPr>
          <p:cNvPr id="16" name="Rectangle 26"/>
          <p:cNvSpPr>
            <a:spLocks noChangeArrowheads="1"/>
          </p:cNvSpPr>
          <p:nvPr/>
        </p:nvSpPr>
        <p:spPr bwMode="auto">
          <a:xfrm>
            <a:off x="7524750" y="2781300"/>
            <a:ext cx="354013" cy="457200"/>
          </a:xfrm>
          <a:prstGeom prst="rect">
            <a:avLst/>
          </a:prstGeom>
          <a:noFill/>
          <a:ln w="9525" algn="ctr">
            <a:noFill/>
            <a:miter lim="800000"/>
            <a:headEnd/>
            <a:tailEnd/>
          </a:ln>
        </p:spPr>
        <p:txBody>
          <a:bodyPr>
            <a:spAutoFit/>
          </a:bodyPr>
          <a:lstStyle/>
          <a:p>
            <a:r>
              <a:rPr lang="en-US" altLang="zh-CN" sz="2400" b="1" i="1">
                <a:solidFill>
                  <a:srgbClr val="800080"/>
                </a:solidFill>
              </a:rPr>
              <a:t>a</a:t>
            </a:r>
          </a:p>
        </p:txBody>
      </p:sp>
      <p:grpSp>
        <p:nvGrpSpPr>
          <p:cNvPr id="17" name="Group 28"/>
          <p:cNvGrpSpPr>
            <a:grpSpLocks/>
          </p:cNvGrpSpPr>
          <p:nvPr/>
        </p:nvGrpSpPr>
        <p:grpSpPr bwMode="auto">
          <a:xfrm>
            <a:off x="1454150" y="4221163"/>
            <a:ext cx="6213475" cy="2457450"/>
            <a:chOff x="916" y="2659"/>
            <a:chExt cx="3914" cy="1548"/>
          </a:xfrm>
        </p:grpSpPr>
        <p:graphicFrame>
          <p:nvGraphicFramePr>
            <p:cNvPr id="18" name="Object 29"/>
            <p:cNvGraphicFramePr>
              <a:graphicFrameLocks noChangeAspect="1"/>
            </p:cNvGraphicFramePr>
            <p:nvPr/>
          </p:nvGraphicFramePr>
          <p:xfrm>
            <a:off x="916" y="2659"/>
            <a:ext cx="3914" cy="1548"/>
          </p:xfrm>
          <a:graphic>
            <a:graphicData uri="http://schemas.openxmlformats.org/presentationml/2006/ole">
              <mc:AlternateContent xmlns:mc="http://schemas.openxmlformats.org/markup-compatibility/2006">
                <mc:Choice xmlns:v="urn:schemas-microsoft-com:vml" Requires="v">
                  <p:oleObj spid="_x0000_s23638" name="Visio" r:id="rId3" imgW="4920511" imgH="1941591" progId="Visio.Drawing.11">
                    <p:embed/>
                  </p:oleObj>
                </mc:Choice>
                <mc:Fallback>
                  <p:oleObj name="Visio" r:id="rId3" imgW="4920511" imgH="194159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 y="2659"/>
                          <a:ext cx="3914"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Rectangle 30"/>
            <p:cNvSpPr>
              <a:spLocks noChangeArrowheads="1"/>
            </p:cNvSpPr>
            <p:nvPr/>
          </p:nvSpPr>
          <p:spPr bwMode="auto">
            <a:xfrm>
              <a:off x="1371"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AaS</a:t>
              </a:r>
            </a:p>
          </p:txBody>
        </p:sp>
        <p:sp>
          <p:nvSpPr>
            <p:cNvPr id="20" name="Rectangle 31"/>
            <p:cNvSpPr>
              <a:spLocks noChangeArrowheads="1"/>
            </p:cNvSpPr>
            <p:nvPr/>
          </p:nvSpPr>
          <p:spPr bwMode="auto">
            <a:xfrm>
              <a:off x="2133"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sp>
          <p:nvSpPr>
            <p:cNvPr id="21" name="Rectangle 32"/>
            <p:cNvSpPr>
              <a:spLocks noChangeArrowheads="1"/>
            </p:cNvSpPr>
            <p:nvPr/>
          </p:nvSpPr>
          <p:spPr bwMode="auto">
            <a:xfrm>
              <a:off x="3651" y="3044"/>
              <a:ext cx="470"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d</a:t>
              </a:r>
            </a:p>
          </p:txBody>
        </p:sp>
        <p:sp>
          <p:nvSpPr>
            <p:cNvPr id="22" name="Rectangle 33"/>
            <p:cNvSpPr>
              <a:spLocks noChangeArrowheads="1"/>
            </p:cNvSpPr>
            <p:nvPr/>
          </p:nvSpPr>
          <p:spPr bwMode="auto">
            <a:xfrm>
              <a:off x="1474" y="3452"/>
              <a:ext cx="470" cy="250"/>
            </a:xfrm>
            <a:prstGeom prst="rect">
              <a:avLst/>
            </a:prstGeom>
            <a:noFill/>
            <a:ln w="9525" algn="ctr">
              <a:noFill/>
              <a:miter lim="800000"/>
              <a:headEnd/>
              <a:tailEnd/>
            </a:ln>
          </p:spPr>
          <p:txBody>
            <a:bodyPr wrap="none">
              <a:spAutoFit/>
            </a:bodyPr>
            <a:lstStyle/>
            <a:p>
              <a:r>
                <a:rPr lang="en-US" altLang="zh-CN" i="1"/>
                <a:t>A</a:t>
              </a:r>
              <a:r>
                <a:rPr lang="en-US" altLang="zh-CN">
                  <a:sym typeface="Symbol" pitchFamily="18" charset="2"/>
                </a:rPr>
                <a:t></a:t>
              </a:r>
              <a:r>
                <a:rPr lang="en-US" altLang="zh-CN" i="1"/>
                <a:t>a</a:t>
              </a:r>
            </a:p>
          </p:txBody>
        </p:sp>
        <p:sp>
          <p:nvSpPr>
            <p:cNvPr id="23" name="Rectangle 34"/>
            <p:cNvSpPr>
              <a:spLocks noChangeArrowheads="1"/>
            </p:cNvSpPr>
            <p:nvPr/>
          </p:nvSpPr>
          <p:spPr bwMode="auto">
            <a:xfrm>
              <a:off x="2248" y="3860"/>
              <a:ext cx="45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a:t>
              </a:r>
            </a:p>
          </p:txBody>
        </p:sp>
        <p:sp>
          <p:nvSpPr>
            <p:cNvPr id="24" name="Rectangle 35"/>
            <p:cNvSpPr>
              <a:spLocks noChangeArrowheads="1"/>
            </p:cNvSpPr>
            <p:nvPr/>
          </p:nvSpPr>
          <p:spPr bwMode="auto">
            <a:xfrm>
              <a:off x="2971" y="3860"/>
              <a:ext cx="46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c</a:t>
              </a:r>
            </a:p>
          </p:txBody>
        </p:sp>
        <p:sp>
          <p:nvSpPr>
            <p:cNvPr id="25" name="Rectangle 36"/>
            <p:cNvSpPr>
              <a:spLocks noChangeArrowheads="1"/>
            </p:cNvSpPr>
            <p:nvPr/>
          </p:nvSpPr>
          <p:spPr bwMode="auto">
            <a:xfrm>
              <a:off x="2835"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gr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71</a:t>
            </a:fld>
            <a:endParaRPr lang="zh-CN" altLang="en-US">
              <a:solidFill>
                <a:srgbClr val="3F3F3F"/>
              </a:solidFill>
            </a:endParaRPr>
          </a:p>
        </p:txBody>
      </p:sp>
    </p:spTree>
    <p:extLst>
      <p:ext uri="{BB962C8B-B14F-4D97-AF65-F5344CB8AC3E}">
        <p14:creationId xmlns:p14="http://schemas.microsoft.com/office/powerpoint/2010/main" val="24551301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举例：表驱动预测分析过程</a:t>
            </a:r>
          </a:p>
          <a:p>
            <a:endParaRPr lang="zh-CN" altLang="en-US" dirty="0"/>
          </a:p>
        </p:txBody>
      </p:sp>
      <p:sp>
        <p:nvSpPr>
          <p:cNvPr id="8" name="Rectangle 9"/>
          <p:cNvSpPr>
            <a:spLocks noChangeArrowheads="1"/>
          </p:cNvSpPr>
          <p:nvPr/>
        </p:nvSpPr>
        <p:spPr bwMode="auto">
          <a:xfrm>
            <a:off x="900113" y="1773238"/>
            <a:ext cx="4751387" cy="2346325"/>
          </a:xfrm>
          <a:prstGeom prst="rect">
            <a:avLst/>
          </a:prstGeom>
          <a:noFill/>
          <a:ln w="9525">
            <a:noFill/>
            <a:miter lim="800000"/>
            <a:headEnd/>
            <a:tailEnd/>
          </a:ln>
        </p:spPr>
        <p:txBody>
          <a:bodyPr>
            <a:spAutoFit/>
          </a:bodyPr>
          <a:lstStyle/>
          <a:p>
            <a:pPr>
              <a:buClrTx/>
              <a:buFont typeface="Symbol" pitchFamily="18" charset="2"/>
              <a:buChar char="-"/>
            </a:pPr>
            <a:r>
              <a:rPr lang="en-US" altLang="zh-CN" sz="2800" b="1">
                <a:solidFill>
                  <a:srgbClr val="800080"/>
                </a:solidFill>
              </a:rPr>
              <a:t>  </a:t>
            </a:r>
            <a:r>
              <a:rPr lang="zh-CN" altLang="en-US" sz="2800" b="1">
                <a:latin typeface="楷体_GB2312" pitchFamily="49" charset="-122"/>
              </a:rPr>
              <a:t>对于下列文法</a:t>
            </a:r>
            <a:r>
              <a:rPr lang="en-US" altLang="zh-CN" sz="2800" b="1" i="1"/>
              <a:t>G</a:t>
            </a:r>
            <a:r>
              <a:rPr lang="en-US" altLang="zh-CN" sz="2800"/>
              <a:t>(</a:t>
            </a:r>
            <a:r>
              <a:rPr lang="en-US" altLang="zh-CN" sz="2800" b="1" i="1"/>
              <a:t>S</a:t>
            </a:r>
            <a:r>
              <a:rPr lang="en-US" altLang="zh-CN" sz="2800"/>
              <a:t>)</a:t>
            </a:r>
            <a:r>
              <a:rPr lang="zh-CN" altLang="en-US" sz="2800"/>
              <a:t>：</a:t>
            </a:r>
          </a:p>
          <a:p>
            <a:pPr>
              <a:buClrTx/>
              <a:buFont typeface="Symbol" pitchFamily="18" charset="2"/>
              <a:buNone/>
            </a:pPr>
            <a:endParaRPr lang="zh-CN" altLang="en-US" sz="1000"/>
          </a:p>
          <a:p>
            <a:r>
              <a:rPr lang="zh-CN" altLang="en-US" sz="2400"/>
              <a:t>        </a:t>
            </a:r>
            <a:r>
              <a:rPr lang="en-US" altLang="zh-CN" sz="2400" b="1" i="1"/>
              <a:t>S </a:t>
            </a:r>
            <a:r>
              <a:rPr lang="en-US" altLang="zh-CN" sz="2400" b="1">
                <a:sym typeface="Symbol" pitchFamily="18" charset="2"/>
              </a:rPr>
              <a:t></a:t>
            </a:r>
            <a:r>
              <a:rPr lang="en-US" altLang="zh-CN" sz="2400" b="1" i="1"/>
              <a:t> AaS </a:t>
            </a:r>
            <a:r>
              <a:rPr lang="en-US" altLang="zh-CN" sz="2400" b="1">
                <a:sym typeface="Symbol" pitchFamily="18" charset="2"/>
              </a:rPr>
              <a:t></a:t>
            </a:r>
            <a:r>
              <a:rPr lang="en-US" altLang="zh-CN" sz="2400" b="1"/>
              <a:t> </a:t>
            </a:r>
            <a:r>
              <a:rPr lang="en-US" altLang="zh-CN" sz="2400" b="1" i="1"/>
              <a:t>BbS</a:t>
            </a:r>
            <a:r>
              <a:rPr lang="en-US" altLang="zh-CN" sz="2400" b="1">
                <a:sym typeface="Symbol" pitchFamily="18" charset="2"/>
              </a:rPr>
              <a:t></a:t>
            </a:r>
            <a:r>
              <a:rPr lang="en-US" altLang="zh-CN" sz="2400" b="1" i="1"/>
              <a:t> d</a:t>
            </a:r>
          </a:p>
          <a:p>
            <a:r>
              <a:rPr lang="en-US" altLang="zh-CN" sz="2400" b="1" i="1"/>
              <a:t>        A </a:t>
            </a:r>
            <a:r>
              <a:rPr lang="en-US" altLang="zh-CN" sz="2400" b="1">
                <a:sym typeface="Symbol" pitchFamily="18" charset="2"/>
              </a:rPr>
              <a:t></a:t>
            </a:r>
            <a:r>
              <a:rPr lang="en-US" altLang="zh-CN" sz="2400" b="1" i="1"/>
              <a:t> a</a:t>
            </a:r>
          </a:p>
          <a:p>
            <a:r>
              <a:rPr lang="en-US" altLang="zh-CN" sz="2400" b="1" i="1"/>
              <a:t>        B </a:t>
            </a:r>
            <a:r>
              <a:rPr lang="en-US" altLang="zh-CN" sz="2400" b="1">
                <a:sym typeface="Symbol" pitchFamily="18" charset="2"/>
              </a:rPr>
              <a:t></a:t>
            </a:r>
            <a:r>
              <a:rPr lang="en-US" altLang="zh-CN" sz="2400" b="1" i="1"/>
              <a:t> </a:t>
            </a:r>
            <a:r>
              <a:rPr lang="en-US" altLang="zh-CN" sz="2400" b="1" i="1">
                <a:sym typeface="Symbol" pitchFamily="18" charset="2"/>
              </a:rPr>
              <a:t></a:t>
            </a:r>
            <a:r>
              <a:rPr lang="en-US" altLang="zh-CN" sz="2400" b="1" i="1"/>
              <a:t> </a:t>
            </a:r>
            <a:r>
              <a:rPr lang="en-US" altLang="zh-CN" sz="2400" b="1">
                <a:sym typeface="Symbol" pitchFamily="18" charset="2"/>
              </a:rPr>
              <a:t></a:t>
            </a:r>
            <a:r>
              <a:rPr lang="en-US" altLang="zh-CN" sz="2400" b="1" i="1"/>
              <a:t> c</a:t>
            </a:r>
          </a:p>
          <a:p>
            <a:endParaRPr lang="en-US" altLang="zh-CN" sz="1000" b="1" i="1"/>
          </a:p>
          <a:p>
            <a:r>
              <a:rPr lang="en-US" altLang="zh-CN" sz="2800" b="1"/>
              <a:t>    </a:t>
            </a:r>
            <a:r>
              <a:rPr lang="zh-CN" altLang="en-US" sz="2800" b="1"/>
              <a:t>分析输入串 </a:t>
            </a:r>
            <a:r>
              <a:rPr lang="en-US" altLang="zh-CN" sz="2400" b="1" i="1">
                <a:solidFill>
                  <a:srgbClr val="800080"/>
                </a:solidFill>
              </a:rPr>
              <a:t>aabd </a:t>
            </a:r>
            <a:r>
              <a:rPr lang="zh-CN" altLang="en-US" sz="2800" b="1"/>
              <a:t>的过程：</a:t>
            </a:r>
          </a:p>
        </p:txBody>
      </p:sp>
      <p:grpSp>
        <p:nvGrpSpPr>
          <p:cNvPr id="9" name="Group 19"/>
          <p:cNvGrpSpPr>
            <a:grpSpLocks/>
          </p:cNvGrpSpPr>
          <p:nvPr/>
        </p:nvGrpSpPr>
        <p:grpSpPr bwMode="auto">
          <a:xfrm>
            <a:off x="7235825" y="1844675"/>
            <a:ext cx="935038" cy="2089150"/>
            <a:chOff x="4558" y="1162"/>
            <a:chExt cx="589" cy="1316"/>
          </a:xfrm>
        </p:grpSpPr>
        <p:sp>
          <p:nvSpPr>
            <p:cNvPr id="10" name="Line 20"/>
            <p:cNvSpPr>
              <a:spLocks noChangeShapeType="1"/>
            </p:cNvSpPr>
            <p:nvPr/>
          </p:nvSpPr>
          <p:spPr bwMode="auto">
            <a:xfrm>
              <a:off x="4558" y="1162"/>
              <a:ext cx="0" cy="1316"/>
            </a:xfrm>
            <a:prstGeom prst="line">
              <a:avLst/>
            </a:prstGeom>
            <a:noFill/>
            <a:ln w="9525">
              <a:solidFill>
                <a:srgbClr val="800080"/>
              </a:solidFill>
              <a:round/>
              <a:headEnd/>
              <a:tailEnd/>
            </a:ln>
          </p:spPr>
          <p:txBody>
            <a:bodyPr>
              <a:spAutoFit/>
            </a:bodyPr>
            <a:lstStyle/>
            <a:p>
              <a:endParaRPr lang="zh-CN" altLang="en-US"/>
            </a:p>
          </p:txBody>
        </p:sp>
        <p:sp>
          <p:nvSpPr>
            <p:cNvPr id="11" name="Line 21"/>
            <p:cNvSpPr>
              <a:spLocks noChangeShapeType="1"/>
            </p:cNvSpPr>
            <p:nvPr/>
          </p:nvSpPr>
          <p:spPr bwMode="auto">
            <a:xfrm>
              <a:off x="5147" y="1162"/>
              <a:ext cx="0" cy="1316"/>
            </a:xfrm>
            <a:prstGeom prst="line">
              <a:avLst/>
            </a:prstGeom>
            <a:noFill/>
            <a:ln w="9525">
              <a:solidFill>
                <a:srgbClr val="800080"/>
              </a:solidFill>
              <a:round/>
              <a:headEnd/>
              <a:tailEnd/>
            </a:ln>
          </p:spPr>
          <p:txBody>
            <a:bodyPr>
              <a:spAutoFit/>
            </a:bodyPr>
            <a:lstStyle/>
            <a:p>
              <a:endParaRPr lang="zh-CN" altLang="en-US"/>
            </a:p>
          </p:txBody>
        </p:sp>
        <p:sp>
          <p:nvSpPr>
            <p:cNvPr id="12" name="Line 22"/>
            <p:cNvSpPr>
              <a:spLocks noChangeShapeType="1"/>
            </p:cNvSpPr>
            <p:nvPr/>
          </p:nvSpPr>
          <p:spPr bwMode="auto">
            <a:xfrm>
              <a:off x="4558" y="2478"/>
              <a:ext cx="589" cy="0"/>
            </a:xfrm>
            <a:prstGeom prst="line">
              <a:avLst/>
            </a:prstGeom>
            <a:noFill/>
            <a:ln w="9525">
              <a:solidFill>
                <a:srgbClr val="800080"/>
              </a:solidFill>
              <a:round/>
              <a:headEnd/>
              <a:tailEnd/>
            </a:ln>
          </p:spPr>
          <p:txBody>
            <a:bodyPr>
              <a:spAutoFit/>
            </a:bodyPr>
            <a:lstStyle/>
            <a:p>
              <a:endParaRPr lang="zh-CN" altLang="en-US"/>
            </a:p>
          </p:txBody>
        </p:sp>
      </p:grpSp>
      <p:sp>
        <p:nvSpPr>
          <p:cNvPr id="13" name="Rectangle 23"/>
          <p:cNvSpPr>
            <a:spLocks noChangeArrowheads="1"/>
          </p:cNvSpPr>
          <p:nvPr/>
        </p:nvSpPr>
        <p:spPr bwMode="auto">
          <a:xfrm>
            <a:off x="7529513" y="3429000"/>
            <a:ext cx="354012" cy="457200"/>
          </a:xfrm>
          <a:prstGeom prst="rect">
            <a:avLst/>
          </a:prstGeom>
          <a:noFill/>
          <a:ln w="9525" algn="ctr">
            <a:noFill/>
            <a:miter lim="800000"/>
            <a:headEnd/>
            <a:tailEnd/>
          </a:ln>
        </p:spPr>
        <p:txBody>
          <a:bodyPr>
            <a:spAutoFit/>
          </a:bodyPr>
          <a:lstStyle/>
          <a:p>
            <a:r>
              <a:rPr lang="pt-BR" altLang="zh-CN" sz="2400">
                <a:solidFill>
                  <a:srgbClr val="800080"/>
                </a:solidFill>
              </a:rPr>
              <a:t>#</a:t>
            </a:r>
            <a:endParaRPr lang="en-US" altLang="zh-CN" sz="2400">
              <a:solidFill>
                <a:srgbClr val="800080"/>
              </a:solidFill>
            </a:endParaRPr>
          </a:p>
        </p:txBody>
      </p:sp>
      <p:sp>
        <p:nvSpPr>
          <p:cNvPr id="14" name="Rectangle 24"/>
          <p:cNvSpPr>
            <a:spLocks noChangeArrowheads="1"/>
          </p:cNvSpPr>
          <p:nvPr/>
        </p:nvSpPr>
        <p:spPr bwMode="auto">
          <a:xfrm>
            <a:off x="7529513" y="3116263"/>
            <a:ext cx="354012" cy="457200"/>
          </a:xfrm>
          <a:prstGeom prst="rect">
            <a:avLst/>
          </a:prstGeom>
          <a:noFill/>
          <a:ln w="9525" algn="ctr">
            <a:noFill/>
            <a:miter lim="800000"/>
            <a:headEnd/>
            <a:tailEnd/>
          </a:ln>
        </p:spPr>
        <p:txBody>
          <a:bodyPr>
            <a:spAutoFit/>
          </a:bodyPr>
          <a:lstStyle/>
          <a:p>
            <a:r>
              <a:rPr lang="en-US" altLang="zh-CN" sz="2400" b="1" i="1">
                <a:solidFill>
                  <a:srgbClr val="800080"/>
                </a:solidFill>
              </a:rPr>
              <a:t>S</a:t>
            </a:r>
          </a:p>
        </p:txBody>
      </p:sp>
      <p:sp>
        <p:nvSpPr>
          <p:cNvPr id="15" name="Rectangle 25"/>
          <p:cNvSpPr>
            <a:spLocks noChangeArrowheads="1"/>
          </p:cNvSpPr>
          <p:nvPr/>
        </p:nvSpPr>
        <p:spPr bwMode="auto">
          <a:xfrm>
            <a:off x="4859338" y="2349500"/>
            <a:ext cx="2022475" cy="822325"/>
          </a:xfrm>
          <a:prstGeom prst="rect">
            <a:avLst/>
          </a:prstGeom>
          <a:noFill/>
          <a:ln w="9525" algn="ctr">
            <a:noFill/>
            <a:miter lim="800000"/>
            <a:headEnd/>
            <a:tailEnd/>
          </a:ln>
        </p:spPr>
        <p:txBody>
          <a:bodyPr wrap="none">
            <a:spAutoFit/>
          </a:bodyPr>
          <a:lstStyle/>
          <a:p>
            <a:r>
              <a:rPr lang="zh-CN" altLang="en-US" sz="2400" b="1"/>
              <a:t>剩余的输入串</a:t>
            </a:r>
          </a:p>
          <a:p>
            <a:r>
              <a:rPr lang="zh-CN" altLang="en-US" sz="2400" b="1" i="1">
                <a:solidFill>
                  <a:srgbClr val="800080"/>
                </a:solidFill>
              </a:rPr>
              <a:t>       </a:t>
            </a:r>
            <a:r>
              <a:rPr lang="en-US" altLang="zh-CN" sz="2400" b="1" i="1">
                <a:solidFill>
                  <a:srgbClr val="800080"/>
                </a:solidFill>
              </a:rPr>
              <a:t>bd#</a:t>
            </a:r>
          </a:p>
        </p:txBody>
      </p:sp>
      <p:grpSp>
        <p:nvGrpSpPr>
          <p:cNvPr id="16" name="Group 27"/>
          <p:cNvGrpSpPr>
            <a:grpSpLocks/>
          </p:cNvGrpSpPr>
          <p:nvPr/>
        </p:nvGrpSpPr>
        <p:grpSpPr bwMode="auto">
          <a:xfrm>
            <a:off x="1454150" y="4221163"/>
            <a:ext cx="6213475" cy="2457450"/>
            <a:chOff x="916" y="2659"/>
            <a:chExt cx="3914" cy="1548"/>
          </a:xfrm>
        </p:grpSpPr>
        <p:graphicFrame>
          <p:nvGraphicFramePr>
            <p:cNvPr id="17" name="Object 28"/>
            <p:cNvGraphicFramePr>
              <a:graphicFrameLocks noChangeAspect="1"/>
            </p:cNvGraphicFramePr>
            <p:nvPr/>
          </p:nvGraphicFramePr>
          <p:xfrm>
            <a:off x="916" y="2659"/>
            <a:ext cx="3914" cy="1548"/>
          </p:xfrm>
          <a:graphic>
            <a:graphicData uri="http://schemas.openxmlformats.org/presentationml/2006/ole">
              <mc:AlternateContent xmlns:mc="http://schemas.openxmlformats.org/markup-compatibility/2006">
                <mc:Choice xmlns:v="urn:schemas-microsoft-com:vml" Requires="v">
                  <p:oleObj spid="_x0000_s24662" name="Visio" r:id="rId3" imgW="4920511" imgH="1941591" progId="Visio.Drawing.11">
                    <p:embed/>
                  </p:oleObj>
                </mc:Choice>
                <mc:Fallback>
                  <p:oleObj name="Visio" r:id="rId3" imgW="4920511" imgH="194159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 y="2659"/>
                          <a:ext cx="3914"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Rectangle 29"/>
            <p:cNvSpPr>
              <a:spLocks noChangeArrowheads="1"/>
            </p:cNvSpPr>
            <p:nvPr/>
          </p:nvSpPr>
          <p:spPr bwMode="auto">
            <a:xfrm>
              <a:off x="1371"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AaS</a:t>
              </a:r>
            </a:p>
          </p:txBody>
        </p:sp>
        <p:sp>
          <p:nvSpPr>
            <p:cNvPr id="19" name="Rectangle 30"/>
            <p:cNvSpPr>
              <a:spLocks noChangeArrowheads="1"/>
            </p:cNvSpPr>
            <p:nvPr/>
          </p:nvSpPr>
          <p:spPr bwMode="auto">
            <a:xfrm>
              <a:off x="2133"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sp>
          <p:nvSpPr>
            <p:cNvPr id="20" name="Rectangle 31"/>
            <p:cNvSpPr>
              <a:spLocks noChangeArrowheads="1"/>
            </p:cNvSpPr>
            <p:nvPr/>
          </p:nvSpPr>
          <p:spPr bwMode="auto">
            <a:xfrm>
              <a:off x="3651" y="3044"/>
              <a:ext cx="470"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d</a:t>
              </a:r>
            </a:p>
          </p:txBody>
        </p:sp>
        <p:sp>
          <p:nvSpPr>
            <p:cNvPr id="21" name="Rectangle 32"/>
            <p:cNvSpPr>
              <a:spLocks noChangeArrowheads="1"/>
            </p:cNvSpPr>
            <p:nvPr/>
          </p:nvSpPr>
          <p:spPr bwMode="auto">
            <a:xfrm>
              <a:off x="1474" y="3452"/>
              <a:ext cx="470" cy="250"/>
            </a:xfrm>
            <a:prstGeom prst="rect">
              <a:avLst/>
            </a:prstGeom>
            <a:noFill/>
            <a:ln w="9525" algn="ctr">
              <a:noFill/>
              <a:miter lim="800000"/>
              <a:headEnd/>
              <a:tailEnd/>
            </a:ln>
          </p:spPr>
          <p:txBody>
            <a:bodyPr wrap="none">
              <a:spAutoFit/>
            </a:bodyPr>
            <a:lstStyle/>
            <a:p>
              <a:r>
                <a:rPr lang="en-US" altLang="zh-CN" i="1"/>
                <a:t>A</a:t>
              </a:r>
              <a:r>
                <a:rPr lang="en-US" altLang="zh-CN">
                  <a:sym typeface="Symbol" pitchFamily="18" charset="2"/>
                </a:rPr>
                <a:t></a:t>
              </a:r>
              <a:r>
                <a:rPr lang="en-US" altLang="zh-CN" i="1"/>
                <a:t>a</a:t>
              </a:r>
            </a:p>
          </p:txBody>
        </p:sp>
        <p:sp>
          <p:nvSpPr>
            <p:cNvPr id="22" name="Rectangle 33"/>
            <p:cNvSpPr>
              <a:spLocks noChangeArrowheads="1"/>
            </p:cNvSpPr>
            <p:nvPr/>
          </p:nvSpPr>
          <p:spPr bwMode="auto">
            <a:xfrm>
              <a:off x="2248" y="3860"/>
              <a:ext cx="45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a:t>
              </a:r>
            </a:p>
          </p:txBody>
        </p:sp>
        <p:sp>
          <p:nvSpPr>
            <p:cNvPr id="23" name="Rectangle 34"/>
            <p:cNvSpPr>
              <a:spLocks noChangeArrowheads="1"/>
            </p:cNvSpPr>
            <p:nvPr/>
          </p:nvSpPr>
          <p:spPr bwMode="auto">
            <a:xfrm>
              <a:off x="2971" y="3860"/>
              <a:ext cx="46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c</a:t>
              </a:r>
            </a:p>
          </p:txBody>
        </p:sp>
        <p:sp>
          <p:nvSpPr>
            <p:cNvPr id="24" name="Rectangle 35"/>
            <p:cNvSpPr>
              <a:spLocks noChangeArrowheads="1"/>
            </p:cNvSpPr>
            <p:nvPr/>
          </p:nvSpPr>
          <p:spPr bwMode="auto">
            <a:xfrm>
              <a:off x="2835"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gr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72</a:t>
            </a:fld>
            <a:endParaRPr lang="zh-CN" altLang="en-US">
              <a:solidFill>
                <a:srgbClr val="3F3F3F"/>
              </a:solidFill>
            </a:endParaRPr>
          </a:p>
        </p:txBody>
      </p:sp>
    </p:spTree>
    <p:extLst>
      <p:ext uri="{BB962C8B-B14F-4D97-AF65-F5344CB8AC3E}">
        <p14:creationId xmlns:p14="http://schemas.microsoft.com/office/powerpoint/2010/main" val="24551301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举例：表驱动预测分析过程</a:t>
            </a:r>
          </a:p>
          <a:p>
            <a:endParaRPr lang="zh-CN" altLang="en-US" dirty="0"/>
          </a:p>
        </p:txBody>
      </p:sp>
      <p:sp>
        <p:nvSpPr>
          <p:cNvPr id="8" name="Rectangle 9"/>
          <p:cNvSpPr>
            <a:spLocks noChangeArrowheads="1"/>
          </p:cNvSpPr>
          <p:nvPr/>
        </p:nvSpPr>
        <p:spPr bwMode="auto">
          <a:xfrm>
            <a:off x="900113" y="1773238"/>
            <a:ext cx="4751387" cy="2346325"/>
          </a:xfrm>
          <a:prstGeom prst="rect">
            <a:avLst/>
          </a:prstGeom>
          <a:noFill/>
          <a:ln w="9525">
            <a:noFill/>
            <a:miter lim="800000"/>
            <a:headEnd/>
            <a:tailEnd/>
          </a:ln>
        </p:spPr>
        <p:txBody>
          <a:bodyPr>
            <a:spAutoFit/>
          </a:bodyPr>
          <a:lstStyle/>
          <a:p>
            <a:pPr>
              <a:buClrTx/>
              <a:buFont typeface="Symbol" pitchFamily="18" charset="2"/>
              <a:buChar char="-"/>
            </a:pPr>
            <a:r>
              <a:rPr lang="en-US" altLang="zh-CN" sz="2800" b="1">
                <a:solidFill>
                  <a:srgbClr val="800080"/>
                </a:solidFill>
              </a:rPr>
              <a:t>  </a:t>
            </a:r>
            <a:r>
              <a:rPr lang="zh-CN" altLang="en-US" sz="2800" b="1">
                <a:latin typeface="楷体_GB2312" pitchFamily="49" charset="-122"/>
              </a:rPr>
              <a:t>对于下列文法</a:t>
            </a:r>
            <a:r>
              <a:rPr lang="en-US" altLang="zh-CN" sz="2800" b="1" i="1"/>
              <a:t>G</a:t>
            </a:r>
            <a:r>
              <a:rPr lang="en-US" altLang="zh-CN" sz="2800"/>
              <a:t>(</a:t>
            </a:r>
            <a:r>
              <a:rPr lang="en-US" altLang="zh-CN" sz="2800" b="1" i="1"/>
              <a:t>S</a:t>
            </a:r>
            <a:r>
              <a:rPr lang="en-US" altLang="zh-CN" sz="2800"/>
              <a:t>)</a:t>
            </a:r>
            <a:r>
              <a:rPr lang="zh-CN" altLang="en-US" sz="2800"/>
              <a:t>：</a:t>
            </a:r>
          </a:p>
          <a:p>
            <a:pPr>
              <a:buClrTx/>
              <a:buFont typeface="Symbol" pitchFamily="18" charset="2"/>
              <a:buNone/>
            </a:pPr>
            <a:endParaRPr lang="zh-CN" altLang="en-US" sz="1000"/>
          </a:p>
          <a:p>
            <a:r>
              <a:rPr lang="zh-CN" altLang="en-US" sz="2400"/>
              <a:t>        </a:t>
            </a:r>
            <a:r>
              <a:rPr lang="en-US" altLang="zh-CN" sz="2400" b="1" i="1"/>
              <a:t>S </a:t>
            </a:r>
            <a:r>
              <a:rPr lang="en-US" altLang="zh-CN" sz="2400" b="1">
                <a:sym typeface="Symbol" pitchFamily="18" charset="2"/>
              </a:rPr>
              <a:t></a:t>
            </a:r>
            <a:r>
              <a:rPr lang="en-US" altLang="zh-CN" sz="2400" b="1" i="1"/>
              <a:t> AaS </a:t>
            </a:r>
            <a:r>
              <a:rPr lang="en-US" altLang="zh-CN" sz="2400" b="1">
                <a:sym typeface="Symbol" pitchFamily="18" charset="2"/>
              </a:rPr>
              <a:t></a:t>
            </a:r>
            <a:r>
              <a:rPr lang="en-US" altLang="zh-CN" sz="2400" b="1"/>
              <a:t> </a:t>
            </a:r>
            <a:r>
              <a:rPr lang="en-US" altLang="zh-CN" sz="2400" b="1" i="1"/>
              <a:t>BbS</a:t>
            </a:r>
            <a:r>
              <a:rPr lang="en-US" altLang="zh-CN" sz="2400" b="1">
                <a:sym typeface="Symbol" pitchFamily="18" charset="2"/>
              </a:rPr>
              <a:t></a:t>
            </a:r>
            <a:r>
              <a:rPr lang="en-US" altLang="zh-CN" sz="2400" b="1" i="1"/>
              <a:t> d</a:t>
            </a:r>
          </a:p>
          <a:p>
            <a:r>
              <a:rPr lang="en-US" altLang="zh-CN" sz="2400" b="1" i="1"/>
              <a:t>        A </a:t>
            </a:r>
            <a:r>
              <a:rPr lang="en-US" altLang="zh-CN" sz="2400" b="1">
                <a:sym typeface="Symbol" pitchFamily="18" charset="2"/>
              </a:rPr>
              <a:t></a:t>
            </a:r>
            <a:r>
              <a:rPr lang="en-US" altLang="zh-CN" sz="2400" b="1" i="1"/>
              <a:t> a</a:t>
            </a:r>
          </a:p>
          <a:p>
            <a:r>
              <a:rPr lang="en-US" altLang="zh-CN" sz="2400" b="1" i="1"/>
              <a:t>        B </a:t>
            </a:r>
            <a:r>
              <a:rPr lang="en-US" altLang="zh-CN" sz="2400" b="1">
                <a:sym typeface="Symbol" pitchFamily="18" charset="2"/>
              </a:rPr>
              <a:t></a:t>
            </a:r>
            <a:r>
              <a:rPr lang="en-US" altLang="zh-CN" sz="2400" b="1" i="1"/>
              <a:t> </a:t>
            </a:r>
            <a:r>
              <a:rPr lang="en-US" altLang="zh-CN" sz="2400" b="1" i="1">
                <a:sym typeface="Symbol" pitchFamily="18" charset="2"/>
              </a:rPr>
              <a:t></a:t>
            </a:r>
            <a:r>
              <a:rPr lang="en-US" altLang="zh-CN" sz="2400" b="1" i="1"/>
              <a:t> </a:t>
            </a:r>
            <a:r>
              <a:rPr lang="en-US" altLang="zh-CN" sz="2400" b="1">
                <a:sym typeface="Symbol" pitchFamily="18" charset="2"/>
              </a:rPr>
              <a:t></a:t>
            </a:r>
            <a:r>
              <a:rPr lang="en-US" altLang="zh-CN" sz="2400" b="1" i="1"/>
              <a:t> c</a:t>
            </a:r>
          </a:p>
          <a:p>
            <a:endParaRPr lang="en-US" altLang="zh-CN" sz="1000" b="1" i="1"/>
          </a:p>
          <a:p>
            <a:r>
              <a:rPr lang="en-US" altLang="zh-CN" sz="2800" b="1"/>
              <a:t>    </a:t>
            </a:r>
            <a:r>
              <a:rPr lang="zh-CN" altLang="en-US" sz="2800" b="1"/>
              <a:t>分析输入串 </a:t>
            </a:r>
            <a:r>
              <a:rPr lang="en-US" altLang="zh-CN" sz="2400" b="1" i="1">
                <a:solidFill>
                  <a:srgbClr val="800080"/>
                </a:solidFill>
              </a:rPr>
              <a:t>aabd </a:t>
            </a:r>
            <a:r>
              <a:rPr lang="zh-CN" altLang="en-US" sz="2800" b="1"/>
              <a:t>的过程：</a:t>
            </a:r>
          </a:p>
        </p:txBody>
      </p:sp>
      <p:grpSp>
        <p:nvGrpSpPr>
          <p:cNvPr id="9" name="Group 19"/>
          <p:cNvGrpSpPr>
            <a:grpSpLocks/>
          </p:cNvGrpSpPr>
          <p:nvPr/>
        </p:nvGrpSpPr>
        <p:grpSpPr bwMode="auto">
          <a:xfrm>
            <a:off x="7235825" y="1844675"/>
            <a:ext cx="935038" cy="2089150"/>
            <a:chOff x="4558" y="1162"/>
            <a:chExt cx="589" cy="1316"/>
          </a:xfrm>
        </p:grpSpPr>
        <p:sp>
          <p:nvSpPr>
            <p:cNvPr id="10" name="Line 20"/>
            <p:cNvSpPr>
              <a:spLocks noChangeShapeType="1"/>
            </p:cNvSpPr>
            <p:nvPr/>
          </p:nvSpPr>
          <p:spPr bwMode="auto">
            <a:xfrm>
              <a:off x="4558" y="1162"/>
              <a:ext cx="0" cy="1316"/>
            </a:xfrm>
            <a:prstGeom prst="line">
              <a:avLst/>
            </a:prstGeom>
            <a:noFill/>
            <a:ln w="9525">
              <a:solidFill>
                <a:srgbClr val="800080"/>
              </a:solidFill>
              <a:round/>
              <a:headEnd/>
              <a:tailEnd/>
            </a:ln>
          </p:spPr>
          <p:txBody>
            <a:bodyPr>
              <a:spAutoFit/>
            </a:bodyPr>
            <a:lstStyle/>
            <a:p>
              <a:endParaRPr lang="zh-CN" altLang="en-US"/>
            </a:p>
          </p:txBody>
        </p:sp>
        <p:sp>
          <p:nvSpPr>
            <p:cNvPr id="11" name="Line 21"/>
            <p:cNvSpPr>
              <a:spLocks noChangeShapeType="1"/>
            </p:cNvSpPr>
            <p:nvPr/>
          </p:nvSpPr>
          <p:spPr bwMode="auto">
            <a:xfrm>
              <a:off x="5147" y="1162"/>
              <a:ext cx="0" cy="1316"/>
            </a:xfrm>
            <a:prstGeom prst="line">
              <a:avLst/>
            </a:prstGeom>
            <a:noFill/>
            <a:ln w="9525">
              <a:solidFill>
                <a:srgbClr val="800080"/>
              </a:solidFill>
              <a:round/>
              <a:headEnd/>
              <a:tailEnd/>
            </a:ln>
          </p:spPr>
          <p:txBody>
            <a:bodyPr>
              <a:spAutoFit/>
            </a:bodyPr>
            <a:lstStyle/>
            <a:p>
              <a:endParaRPr lang="zh-CN" altLang="en-US"/>
            </a:p>
          </p:txBody>
        </p:sp>
        <p:sp>
          <p:nvSpPr>
            <p:cNvPr id="12" name="Line 22"/>
            <p:cNvSpPr>
              <a:spLocks noChangeShapeType="1"/>
            </p:cNvSpPr>
            <p:nvPr/>
          </p:nvSpPr>
          <p:spPr bwMode="auto">
            <a:xfrm>
              <a:off x="4558" y="2478"/>
              <a:ext cx="589" cy="0"/>
            </a:xfrm>
            <a:prstGeom prst="line">
              <a:avLst/>
            </a:prstGeom>
            <a:noFill/>
            <a:ln w="9525">
              <a:solidFill>
                <a:srgbClr val="800080"/>
              </a:solidFill>
              <a:round/>
              <a:headEnd/>
              <a:tailEnd/>
            </a:ln>
          </p:spPr>
          <p:txBody>
            <a:bodyPr>
              <a:spAutoFit/>
            </a:bodyPr>
            <a:lstStyle/>
            <a:p>
              <a:endParaRPr lang="zh-CN" altLang="en-US"/>
            </a:p>
          </p:txBody>
        </p:sp>
      </p:grpSp>
      <p:sp>
        <p:nvSpPr>
          <p:cNvPr id="13" name="Rectangle 23"/>
          <p:cNvSpPr>
            <a:spLocks noChangeArrowheads="1"/>
          </p:cNvSpPr>
          <p:nvPr/>
        </p:nvSpPr>
        <p:spPr bwMode="auto">
          <a:xfrm>
            <a:off x="7529513" y="3429000"/>
            <a:ext cx="354012" cy="457200"/>
          </a:xfrm>
          <a:prstGeom prst="rect">
            <a:avLst/>
          </a:prstGeom>
          <a:noFill/>
          <a:ln w="9525" algn="ctr">
            <a:noFill/>
            <a:miter lim="800000"/>
            <a:headEnd/>
            <a:tailEnd/>
          </a:ln>
        </p:spPr>
        <p:txBody>
          <a:bodyPr>
            <a:spAutoFit/>
          </a:bodyPr>
          <a:lstStyle/>
          <a:p>
            <a:r>
              <a:rPr lang="pt-BR" altLang="zh-CN" sz="2400">
                <a:solidFill>
                  <a:srgbClr val="800080"/>
                </a:solidFill>
              </a:rPr>
              <a:t>#</a:t>
            </a:r>
            <a:endParaRPr lang="en-US" altLang="zh-CN" sz="2400">
              <a:solidFill>
                <a:srgbClr val="800080"/>
              </a:solidFill>
            </a:endParaRPr>
          </a:p>
        </p:txBody>
      </p:sp>
      <p:sp>
        <p:nvSpPr>
          <p:cNvPr id="14" name="Rectangle 25"/>
          <p:cNvSpPr>
            <a:spLocks noChangeArrowheads="1"/>
          </p:cNvSpPr>
          <p:nvPr/>
        </p:nvSpPr>
        <p:spPr bwMode="auto">
          <a:xfrm>
            <a:off x="4859338" y="2349500"/>
            <a:ext cx="2022475" cy="822325"/>
          </a:xfrm>
          <a:prstGeom prst="rect">
            <a:avLst/>
          </a:prstGeom>
          <a:noFill/>
          <a:ln w="9525" algn="ctr">
            <a:noFill/>
            <a:miter lim="800000"/>
            <a:headEnd/>
            <a:tailEnd/>
          </a:ln>
        </p:spPr>
        <p:txBody>
          <a:bodyPr wrap="none">
            <a:spAutoFit/>
          </a:bodyPr>
          <a:lstStyle/>
          <a:p>
            <a:r>
              <a:rPr lang="zh-CN" altLang="en-US" sz="2400" b="1" dirty="0"/>
              <a:t>剩余的输入串</a:t>
            </a:r>
          </a:p>
          <a:p>
            <a:r>
              <a:rPr lang="zh-CN" altLang="en-US" sz="2400" b="1" i="1" dirty="0">
                <a:solidFill>
                  <a:srgbClr val="800080"/>
                </a:solidFill>
              </a:rPr>
              <a:t>        </a:t>
            </a:r>
            <a:r>
              <a:rPr lang="en-US" altLang="zh-CN" sz="2400" b="1" i="1" dirty="0">
                <a:solidFill>
                  <a:srgbClr val="800080"/>
                </a:solidFill>
              </a:rPr>
              <a:t>bd#</a:t>
            </a:r>
          </a:p>
        </p:txBody>
      </p:sp>
      <p:sp>
        <p:nvSpPr>
          <p:cNvPr id="15" name="Rectangle 26"/>
          <p:cNvSpPr>
            <a:spLocks noChangeArrowheads="1"/>
          </p:cNvSpPr>
          <p:nvPr/>
        </p:nvSpPr>
        <p:spPr bwMode="auto">
          <a:xfrm>
            <a:off x="7529513" y="3116263"/>
            <a:ext cx="354012" cy="457200"/>
          </a:xfrm>
          <a:prstGeom prst="rect">
            <a:avLst/>
          </a:prstGeom>
          <a:noFill/>
          <a:ln w="9525" algn="ctr">
            <a:noFill/>
            <a:miter lim="800000"/>
            <a:headEnd/>
            <a:tailEnd/>
          </a:ln>
        </p:spPr>
        <p:txBody>
          <a:bodyPr>
            <a:spAutoFit/>
          </a:bodyPr>
          <a:lstStyle/>
          <a:p>
            <a:r>
              <a:rPr lang="en-US" altLang="zh-CN" sz="2400" b="1" i="1">
                <a:solidFill>
                  <a:srgbClr val="800080"/>
                </a:solidFill>
              </a:rPr>
              <a:t>S</a:t>
            </a:r>
          </a:p>
        </p:txBody>
      </p:sp>
      <p:sp>
        <p:nvSpPr>
          <p:cNvPr id="16" name="Rectangle 27"/>
          <p:cNvSpPr>
            <a:spLocks noChangeArrowheads="1"/>
          </p:cNvSpPr>
          <p:nvPr/>
        </p:nvSpPr>
        <p:spPr bwMode="auto">
          <a:xfrm>
            <a:off x="7524750" y="2781300"/>
            <a:ext cx="354013" cy="457200"/>
          </a:xfrm>
          <a:prstGeom prst="rect">
            <a:avLst/>
          </a:prstGeom>
          <a:noFill/>
          <a:ln w="9525" algn="ctr">
            <a:noFill/>
            <a:miter lim="800000"/>
            <a:headEnd/>
            <a:tailEnd/>
          </a:ln>
        </p:spPr>
        <p:txBody>
          <a:bodyPr>
            <a:spAutoFit/>
          </a:bodyPr>
          <a:lstStyle/>
          <a:p>
            <a:r>
              <a:rPr lang="en-US" altLang="zh-CN" sz="2400" b="1" i="1">
                <a:solidFill>
                  <a:srgbClr val="800080"/>
                </a:solidFill>
              </a:rPr>
              <a:t>b</a:t>
            </a:r>
          </a:p>
        </p:txBody>
      </p:sp>
      <p:sp>
        <p:nvSpPr>
          <p:cNvPr id="17" name="Rectangle 28"/>
          <p:cNvSpPr>
            <a:spLocks noChangeArrowheads="1"/>
          </p:cNvSpPr>
          <p:nvPr/>
        </p:nvSpPr>
        <p:spPr bwMode="auto">
          <a:xfrm>
            <a:off x="7524750" y="2420938"/>
            <a:ext cx="354013" cy="457200"/>
          </a:xfrm>
          <a:prstGeom prst="rect">
            <a:avLst/>
          </a:prstGeom>
          <a:noFill/>
          <a:ln w="9525" algn="ctr">
            <a:noFill/>
            <a:miter lim="800000"/>
            <a:headEnd/>
            <a:tailEnd/>
          </a:ln>
        </p:spPr>
        <p:txBody>
          <a:bodyPr>
            <a:spAutoFit/>
          </a:bodyPr>
          <a:lstStyle/>
          <a:p>
            <a:r>
              <a:rPr lang="en-US" altLang="zh-CN" sz="2400" b="1" i="1">
                <a:solidFill>
                  <a:srgbClr val="800080"/>
                </a:solidFill>
              </a:rPr>
              <a:t>B</a:t>
            </a:r>
          </a:p>
        </p:txBody>
      </p:sp>
      <p:grpSp>
        <p:nvGrpSpPr>
          <p:cNvPr id="18" name="Group 29"/>
          <p:cNvGrpSpPr>
            <a:grpSpLocks/>
          </p:cNvGrpSpPr>
          <p:nvPr/>
        </p:nvGrpSpPr>
        <p:grpSpPr bwMode="auto">
          <a:xfrm>
            <a:off x="1454150" y="4221163"/>
            <a:ext cx="6213475" cy="2457450"/>
            <a:chOff x="916" y="2659"/>
            <a:chExt cx="3914" cy="1548"/>
          </a:xfrm>
        </p:grpSpPr>
        <p:graphicFrame>
          <p:nvGraphicFramePr>
            <p:cNvPr id="19" name="Object 30"/>
            <p:cNvGraphicFramePr>
              <a:graphicFrameLocks noChangeAspect="1"/>
            </p:cNvGraphicFramePr>
            <p:nvPr/>
          </p:nvGraphicFramePr>
          <p:xfrm>
            <a:off x="916" y="2659"/>
            <a:ext cx="3914" cy="1548"/>
          </p:xfrm>
          <a:graphic>
            <a:graphicData uri="http://schemas.openxmlformats.org/presentationml/2006/ole">
              <mc:AlternateContent xmlns:mc="http://schemas.openxmlformats.org/markup-compatibility/2006">
                <mc:Choice xmlns:v="urn:schemas-microsoft-com:vml" Requires="v">
                  <p:oleObj spid="_x0000_s25685" name="Visio" r:id="rId3" imgW="4920511" imgH="1941591" progId="Visio.Drawing.11">
                    <p:embed/>
                  </p:oleObj>
                </mc:Choice>
                <mc:Fallback>
                  <p:oleObj name="Visio" r:id="rId3" imgW="4920511" imgH="194159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 y="2659"/>
                          <a:ext cx="3914"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Rectangle 31"/>
            <p:cNvSpPr>
              <a:spLocks noChangeArrowheads="1"/>
            </p:cNvSpPr>
            <p:nvPr/>
          </p:nvSpPr>
          <p:spPr bwMode="auto">
            <a:xfrm>
              <a:off x="1371"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AaS</a:t>
              </a:r>
            </a:p>
          </p:txBody>
        </p:sp>
        <p:sp>
          <p:nvSpPr>
            <p:cNvPr id="21" name="Rectangle 32"/>
            <p:cNvSpPr>
              <a:spLocks noChangeArrowheads="1"/>
            </p:cNvSpPr>
            <p:nvPr/>
          </p:nvSpPr>
          <p:spPr bwMode="auto">
            <a:xfrm>
              <a:off x="2133"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sp>
          <p:nvSpPr>
            <p:cNvPr id="22" name="Rectangle 33"/>
            <p:cNvSpPr>
              <a:spLocks noChangeArrowheads="1"/>
            </p:cNvSpPr>
            <p:nvPr/>
          </p:nvSpPr>
          <p:spPr bwMode="auto">
            <a:xfrm>
              <a:off x="3651" y="3044"/>
              <a:ext cx="470"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d</a:t>
              </a:r>
            </a:p>
          </p:txBody>
        </p:sp>
        <p:sp>
          <p:nvSpPr>
            <p:cNvPr id="23" name="Rectangle 34"/>
            <p:cNvSpPr>
              <a:spLocks noChangeArrowheads="1"/>
            </p:cNvSpPr>
            <p:nvPr/>
          </p:nvSpPr>
          <p:spPr bwMode="auto">
            <a:xfrm>
              <a:off x="1474" y="3452"/>
              <a:ext cx="470" cy="250"/>
            </a:xfrm>
            <a:prstGeom prst="rect">
              <a:avLst/>
            </a:prstGeom>
            <a:noFill/>
            <a:ln w="9525" algn="ctr">
              <a:noFill/>
              <a:miter lim="800000"/>
              <a:headEnd/>
              <a:tailEnd/>
            </a:ln>
          </p:spPr>
          <p:txBody>
            <a:bodyPr wrap="none">
              <a:spAutoFit/>
            </a:bodyPr>
            <a:lstStyle/>
            <a:p>
              <a:r>
                <a:rPr lang="en-US" altLang="zh-CN" i="1"/>
                <a:t>A</a:t>
              </a:r>
              <a:r>
                <a:rPr lang="en-US" altLang="zh-CN">
                  <a:sym typeface="Symbol" pitchFamily="18" charset="2"/>
                </a:rPr>
                <a:t></a:t>
              </a:r>
              <a:r>
                <a:rPr lang="en-US" altLang="zh-CN" i="1"/>
                <a:t>a</a:t>
              </a:r>
            </a:p>
          </p:txBody>
        </p:sp>
        <p:sp>
          <p:nvSpPr>
            <p:cNvPr id="24" name="Rectangle 35"/>
            <p:cNvSpPr>
              <a:spLocks noChangeArrowheads="1"/>
            </p:cNvSpPr>
            <p:nvPr/>
          </p:nvSpPr>
          <p:spPr bwMode="auto">
            <a:xfrm>
              <a:off x="2248" y="3860"/>
              <a:ext cx="45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a:t>
              </a:r>
            </a:p>
          </p:txBody>
        </p:sp>
        <p:sp>
          <p:nvSpPr>
            <p:cNvPr id="25" name="Rectangle 36"/>
            <p:cNvSpPr>
              <a:spLocks noChangeArrowheads="1"/>
            </p:cNvSpPr>
            <p:nvPr/>
          </p:nvSpPr>
          <p:spPr bwMode="auto">
            <a:xfrm>
              <a:off x="2971" y="3860"/>
              <a:ext cx="46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c</a:t>
              </a:r>
            </a:p>
          </p:txBody>
        </p:sp>
        <p:sp>
          <p:nvSpPr>
            <p:cNvPr id="26" name="Rectangle 37"/>
            <p:cNvSpPr>
              <a:spLocks noChangeArrowheads="1"/>
            </p:cNvSpPr>
            <p:nvPr/>
          </p:nvSpPr>
          <p:spPr bwMode="auto">
            <a:xfrm>
              <a:off x="2835"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gr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73</a:t>
            </a:fld>
            <a:endParaRPr lang="zh-CN" altLang="en-US">
              <a:solidFill>
                <a:srgbClr val="3F3F3F"/>
              </a:solidFill>
            </a:endParaRPr>
          </a:p>
        </p:txBody>
      </p:sp>
    </p:spTree>
    <p:extLst>
      <p:ext uri="{BB962C8B-B14F-4D97-AF65-F5344CB8AC3E}">
        <p14:creationId xmlns:p14="http://schemas.microsoft.com/office/powerpoint/2010/main" val="245513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举例：表驱动预测分析过程</a:t>
            </a:r>
          </a:p>
          <a:p>
            <a:endParaRPr lang="zh-CN" altLang="en-US" dirty="0"/>
          </a:p>
        </p:txBody>
      </p:sp>
      <p:sp>
        <p:nvSpPr>
          <p:cNvPr id="8" name="Rectangle 9"/>
          <p:cNvSpPr>
            <a:spLocks noChangeArrowheads="1"/>
          </p:cNvSpPr>
          <p:nvPr/>
        </p:nvSpPr>
        <p:spPr bwMode="auto">
          <a:xfrm>
            <a:off x="900113" y="1773238"/>
            <a:ext cx="4751387" cy="2346325"/>
          </a:xfrm>
          <a:prstGeom prst="rect">
            <a:avLst/>
          </a:prstGeom>
          <a:noFill/>
          <a:ln w="9525">
            <a:noFill/>
            <a:miter lim="800000"/>
            <a:headEnd/>
            <a:tailEnd/>
          </a:ln>
        </p:spPr>
        <p:txBody>
          <a:bodyPr>
            <a:spAutoFit/>
          </a:bodyPr>
          <a:lstStyle/>
          <a:p>
            <a:pPr>
              <a:buClrTx/>
              <a:buFont typeface="Symbol" pitchFamily="18" charset="2"/>
              <a:buChar char="-"/>
            </a:pPr>
            <a:r>
              <a:rPr lang="en-US" altLang="zh-CN" sz="2800" b="1">
                <a:solidFill>
                  <a:srgbClr val="800080"/>
                </a:solidFill>
              </a:rPr>
              <a:t>  </a:t>
            </a:r>
            <a:r>
              <a:rPr lang="zh-CN" altLang="en-US" sz="2800" b="1">
                <a:latin typeface="楷体_GB2312" pitchFamily="49" charset="-122"/>
              </a:rPr>
              <a:t>对于下列文法</a:t>
            </a:r>
            <a:r>
              <a:rPr lang="en-US" altLang="zh-CN" sz="2800" b="1" i="1"/>
              <a:t>G</a:t>
            </a:r>
            <a:r>
              <a:rPr lang="en-US" altLang="zh-CN" sz="2800"/>
              <a:t>(</a:t>
            </a:r>
            <a:r>
              <a:rPr lang="en-US" altLang="zh-CN" sz="2800" b="1" i="1"/>
              <a:t>S</a:t>
            </a:r>
            <a:r>
              <a:rPr lang="en-US" altLang="zh-CN" sz="2800"/>
              <a:t>)</a:t>
            </a:r>
            <a:r>
              <a:rPr lang="zh-CN" altLang="en-US" sz="2800"/>
              <a:t>：</a:t>
            </a:r>
          </a:p>
          <a:p>
            <a:pPr>
              <a:buClrTx/>
              <a:buFont typeface="Symbol" pitchFamily="18" charset="2"/>
              <a:buNone/>
            </a:pPr>
            <a:endParaRPr lang="zh-CN" altLang="en-US" sz="1000"/>
          </a:p>
          <a:p>
            <a:r>
              <a:rPr lang="zh-CN" altLang="en-US" sz="2400"/>
              <a:t>        </a:t>
            </a:r>
            <a:r>
              <a:rPr lang="en-US" altLang="zh-CN" sz="2400" b="1" i="1"/>
              <a:t>S </a:t>
            </a:r>
            <a:r>
              <a:rPr lang="en-US" altLang="zh-CN" sz="2400" b="1">
                <a:sym typeface="Symbol" pitchFamily="18" charset="2"/>
              </a:rPr>
              <a:t></a:t>
            </a:r>
            <a:r>
              <a:rPr lang="en-US" altLang="zh-CN" sz="2400" b="1" i="1"/>
              <a:t> AaS </a:t>
            </a:r>
            <a:r>
              <a:rPr lang="en-US" altLang="zh-CN" sz="2400" b="1">
                <a:sym typeface="Symbol" pitchFamily="18" charset="2"/>
              </a:rPr>
              <a:t></a:t>
            </a:r>
            <a:r>
              <a:rPr lang="en-US" altLang="zh-CN" sz="2400" b="1"/>
              <a:t> </a:t>
            </a:r>
            <a:r>
              <a:rPr lang="en-US" altLang="zh-CN" sz="2400" b="1" i="1"/>
              <a:t>BbS</a:t>
            </a:r>
            <a:r>
              <a:rPr lang="en-US" altLang="zh-CN" sz="2400" b="1">
                <a:sym typeface="Symbol" pitchFamily="18" charset="2"/>
              </a:rPr>
              <a:t></a:t>
            </a:r>
            <a:r>
              <a:rPr lang="en-US" altLang="zh-CN" sz="2400" b="1" i="1"/>
              <a:t> d</a:t>
            </a:r>
          </a:p>
          <a:p>
            <a:r>
              <a:rPr lang="en-US" altLang="zh-CN" sz="2400" b="1" i="1"/>
              <a:t>        A </a:t>
            </a:r>
            <a:r>
              <a:rPr lang="en-US" altLang="zh-CN" sz="2400" b="1">
                <a:sym typeface="Symbol" pitchFamily="18" charset="2"/>
              </a:rPr>
              <a:t></a:t>
            </a:r>
            <a:r>
              <a:rPr lang="en-US" altLang="zh-CN" sz="2400" b="1" i="1"/>
              <a:t> a</a:t>
            </a:r>
          </a:p>
          <a:p>
            <a:r>
              <a:rPr lang="en-US" altLang="zh-CN" sz="2400" b="1" i="1"/>
              <a:t>        B </a:t>
            </a:r>
            <a:r>
              <a:rPr lang="en-US" altLang="zh-CN" sz="2400" b="1">
                <a:sym typeface="Symbol" pitchFamily="18" charset="2"/>
              </a:rPr>
              <a:t></a:t>
            </a:r>
            <a:r>
              <a:rPr lang="en-US" altLang="zh-CN" sz="2400" b="1" i="1"/>
              <a:t> </a:t>
            </a:r>
            <a:r>
              <a:rPr lang="en-US" altLang="zh-CN" sz="2400" b="1" i="1">
                <a:sym typeface="Symbol" pitchFamily="18" charset="2"/>
              </a:rPr>
              <a:t></a:t>
            </a:r>
            <a:r>
              <a:rPr lang="en-US" altLang="zh-CN" sz="2400" b="1" i="1"/>
              <a:t> </a:t>
            </a:r>
            <a:r>
              <a:rPr lang="en-US" altLang="zh-CN" sz="2400" b="1">
                <a:sym typeface="Symbol" pitchFamily="18" charset="2"/>
              </a:rPr>
              <a:t></a:t>
            </a:r>
            <a:r>
              <a:rPr lang="en-US" altLang="zh-CN" sz="2400" b="1" i="1"/>
              <a:t> c</a:t>
            </a:r>
          </a:p>
          <a:p>
            <a:endParaRPr lang="en-US" altLang="zh-CN" sz="1000" b="1" i="1"/>
          </a:p>
          <a:p>
            <a:r>
              <a:rPr lang="en-US" altLang="zh-CN" sz="2800" b="1"/>
              <a:t>    </a:t>
            </a:r>
            <a:r>
              <a:rPr lang="zh-CN" altLang="en-US" sz="2800" b="1"/>
              <a:t>分析输入串 </a:t>
            </a:r>
            <a:r>
              <a:rPr lang="en-US" altLang="zh-CN" sz="2400" b="1" i="1">
                <a:solidFill>
                  <a:srgbClr val="800080"/>
                </a:solidFill>
              </a:rPr>
              <a:t>aabd </a:t>
            </a:r>
            <a:r>
              <a:rPr lang="zh-CN" altLang="en-US" sz="2800" b="1"/>
              <a:t>的过程：</a:t>
            </a:r>
          </a:p>
        </p:txBody>
      </p:sp>
      <p:grpSp>
        <p:nvGrpSpPr>
          <p:cNvPr id="9" name="Group 19"/>
          <p:cNvGrpSpPr>
            <a:grpSpLocks/>
          </p:cNvGrpSpPr>
          <p:nvPr/>
        </p:nvGrpSpPr>
        <p:grpSpPr bwMode="auto">
          <a:xfrm>
            <a:off x="7235825" y="1844675"/>
            <a:ext cx="935038" cy="2089150"/>
            <a:chOff x="4558" y="1162"/>
            <a:chExt cx="589" cy="1316"/>
          </a:xfrm>
        </p:grpSpPr>
        <p:sp>
          <p:nvSpPr>
            <p:cNvPr id="10" name="Line 20"/>
            <p:cNvSpPr>
              <a:spLocks noChangeShapeType="1"/>
            </p:cNvSpPr>
            <p:nvPr/>
          </p:nvSpPr>
          <p:spPr bwMode="auto">
            <a:xfrm>
              <a:off x="4558" y="1162"/>
              <a:ext cx="0" cy="1316"/>
            </a:xfrm>
            <a:prstGeom prst="line">
              <a:avLst/>
            </a:prstGeom>
            <a:noFill/>
            <a:ln w="9525">
              <a:solidFill>
                <a:srgbClr val="800080"/>
              </a:solidFill>
              <a:round/>
              <a:headEnd/>
              <a:tailEnd/>
            </a:ln>
          </p:spPr>
          <p:txBody>
            <a:bodyPr>
              <a:spAutoFit/>
            </a:bodyPr>
            <a:lstStyle/>
            <a:p>
              <a:endParaRPr lang="zh-CN" altLang="en-US"/>
            </a:p>
          </p:txBody>
        </p:sp>
        <p:sp>
          <p:nvSpPr>
            <p:cNvPr id="11" name="Line 21"/>
            <p:cNvSpPr>
              <a:spLocks noChangeShapeType="1"/>
            </p:cNvSpPr>
            <p:nvPr/>
          </p:nvSpPr>
          <p:spPr bwMode="auto">
            <a:xfrm>
              <a:off x="5147" y="1162"/>
              <a:ext cx="0" cy="1316"/>
            </a:xfrm>
            <a:prstGeom prst="line">
              <a:avLst/>
            </a:prstGeom>
            <a:noFill/>
            <a:ln w="9525">
              <a:solidFill>
                <a:srgbClr val="800080"/>
              </a:solidFill>
              <a:round/>
              <a:headEnd/>
              <a:tailEnd/>
            </a:ln>
          </p:spPr>
          <p:txBody>
            <a:bodyPr>
              <a:spAutoFit/>
            </a:bodyPr>
            <a:lstStyle/>
            <a:p>
              <a:endParaRPr lang="zh-CN" altLang="en-US"/>
            </a:p>
          </p:txBody>
        </p:sp>
        <p:sp>
          <p:nvSpPr>
            <p:cNvPr id="12" name="Line 22"/>
            <p:cNvSpPr>
              <a:spLocks noChangeShapeType="1"/>
            </p:cNvSpPr>
            <p:nvPr/>
          </p:nvSpPr>
          <p:spPr bwMode="auto">
            <a:xfrm>
              <a:off x="4558" y="2478"/>
              <a:ext cx="589" cy="0"/>
            </a:xfrm>
            <a:prstGeom prst="line">
              <a:avLst/>
            </a:prstGeom>
            <a:noFill/>
            <a:ln w="9525">
              <a:solidFill>
                <a:srgbClr val="800080"/>
              </a:solidFill>
              <a:round/>
              <a:headEnd/>
              <a:tailEnd/>
            </a:ln>
          </p:spPr>
          <p:txBody>
            <a:bodyPr>
              <a:spAutoFit/>
            </a:bodyPr>
            <a:lstStyle/>
            <a:p>
              <a:endParaRPr lang="zh-CN" altLang="en-US"/>
            </a:p>
          </p:txBody>
        </p:sp>
      </p:grpSp>
      <p:sp>
        <p:nvSpPr>
          <p:cNvPr id="13" name="Rectangle 23"/>
          <p:cNvSpPr>
            <a:spLocks noChangeArrowheads="1"/>
          </p:cNvSpPr>
          <p:nvPr/>
        </p:nvSpPr>
        <p:spPr bwMode="auto">
          <a:xfrm>
            <a:off x="7529513" y="3429000"/>
            <a:ext cx="354012" cy="457200"/>
          </a:xfrm>
          <a:prstGeom prst="rect">
            <a:avLst/>
          </a:prstGeom>
          <a:noFill/>
          <a:ln w="9525" algn="ctr">
            <a:noFill/>
            <a:miter lim="800000"/>
            <a:headEnd/>
            <a:tailEnd/>
          </a:ln>
        </p:spPr>
        <p:txBody>
          <a:bodyPr>
            <a:spAutoFit/>
          </a:bodyPr>
          <a:lstStyle/>
          <a:p>
            <a:r>
              <a:rPr lang="pt-BR" altLang="zh-CN" sz="2400">
                <a:solidFill>
                  <a:srgbClr val="800080"/>
                </a:solidFill>
              </a:rPr>
              <a:t>#</a:t>
            </a:r>
            <a:endParaRPr lang="en-US" altLang="zh-CN" sz="2400">
              <a:solidFill>
                <a:srgbClr val="800080"/>
              </a:solidFill>
            </a:endParaRPr>
          </a:p>
        </p:txBody>
      </p:sp>
      <p:sp>
        <p:nvSpPr>
          <p:cNvPr id="14" name="Rectangle 24"/>
          <p:cNvSpPr>
            <a:spLocks noChangeArrowheads="1"/>
          </p:cNvSpPr>
          <p:nvPr/>
        </p:nvSpPr>
        <p:spPr bwMode="auto">
          <a:xfrm>
            <a:off x="4859338" y="2349500"/>
            <a:ext cx="2022475" cy="822325"/>
          </a:xfrm>
          <a:prstGeom prst="rect">
            <a:avLst/>
          </a:prstGeom>
          <a:noFill/>
          <a:ln w="9525" algn="ctr">
            <a:noFill/>
            <a:miter lim="800000"/>
            <a:headEnd/>
            <a:tailEnd/>
          </a:ln>
        </p:spPr>
        <p:txBody>
          <a:bodyPr wrap="none">
            <a:spAutoFit/>
          </a:bodyPr>
          <a:lstStyle/>
          <a:p>
            <a:r>
              <a:rPr lang="zh-CN" altLang="en-US" sz="2400" b="1"/>
              <a:t>剩余的输入串</a:t>
            </a:r>
          </a:p>
          <a:p>
            <a:r>
              <a:rPr lang="zh-CN" altLang="en-US" sz="2400" b="1" i="1">
                <a:solidFill>
                  <a:srgbClr val="800080"/>
                </a:solidFill>
              </a:rPr>
              <a:t>        </a:t>
            </a:r>
            <a:r>
              <a:rPr lang="en-US" altLang="zh-CN" sz="2400" b="1" i="1">
                <a:solidFill>
                  <a:srgbClr val="800080"/>
                </a:solidFill>
              </a:rPr>
              <a:t>bd#</a:t>
            </a:r>
          </a:p>
        </p:txBody>
      </p:sp>
      <p:sp>
        <p:nvSpPr>
          <p:cNvPr id="15" name="Rectangle 25"/>
          <p:cNvSpPr>
            <a:spLocks noChangeArrowheads="1"/>
          </p:cNvSpPr>
          <p:nvPr/>
        </p:nvSpPr>
        <p:spPr bwMode="auto">
          <a:xfrm>
            <a:off x="7529513" y="3116263"/>
            <a:ext cx="354012" cy="457200"/>
          </a:xfrm>
          <a:prstGeom prst="rect">
            <a:avLst/>
          </a:prstGeom>
          <a:noFill/>
          <a:ln w="9525" algn="ctr">
            <a:noFill/>
            <a:miter lim="800000"/>
            <a:headEnd/>
            <a:tailEnd/>
          </a:ln>
        </p:spPr>
        <p:txBody>
          <a:bodyPr>
            <a:spAutoFit/>
          </a:bodyPr>
          <a:lstStyle/>
          <a:p>
            <a:r>
              <a:rPr lang="en-US" altLang="zh-CN" sz="2400" b="1" i="1">
                <a:solidFill>
                  <a:srgbClr val="800080"/>
                </a:solidFill>
              </a:rPr>
              <a:t>S</a:t>
            </a:r>
          </a:p>
        </p:txBody>
      </p:sp>
      <p:sp>
        <p:nvSpPr>
          <p:cNvPr id="16" name="Rectangle 26"/>
          <p:cNvSpPr>
            <a:spLocks noChangeArrowheads="1"/>
          </p:cNvSpPr>
          <p:nvPr/>
        </p:nvSpPr>
        <p:spPr bwMode="auto">
          <a:xfrm>
            <a:off x="7524750" y="2781300"/>
            <a:ext cx="354013" cy="457200"/>
          </a:xfrm>
          <a:prstGeom prst="rect">
            <a:avLst/>
          </a:prstGeom>
          <a:noFill/>
          <a:ln w="9525" algn="ctr">
            <a:noFill/>
            <a:miter lim="800000"/>
            <a:headEnd/>
            <a:tailEnd/>
          </a:ln>
        </p:spPr>
        <p:txBody>
          <a:bodyPr>
            <a:spAutoFit/>
          </a:bodyPr>
          <a:lstStyle/>
          <a:p>
            <a:r>
              <a:rPr lang="en-US" altLang="zh-CN" sz="2400" b="1" i="1">
                <a:solidFill>
                  <a:srgbClr val="800080"/>
                </a:solidFill>
              </a:rPr>
              <a:t>b</a:t>
            </a:r>
          </a:p>
        </p:txBody>
      </p:sp>
      <p:grpSp>
        <p:nvGrpSpPr>
          <p:cNvPr id="17" name="Group 28"/>
          <p:cNvGrpSpPr>
            <a:grpSpLocks/>
          </p:cNvGrpSpPr>
          <p:nvPr/>
        </p:nvGrpSpPr>
        <p:grpSpPr bwMode="auto">
          <a:xfrm>
            <a:off x="1454150" y="4221163"/>
            <a:ext cx="6213475" cy="2457450"/>
            <a:chOff x="916" y="2659"/>
            <a:chExt cx="3914" cy="1548"/>
          </a:xfrm>
        </p:grpSpPr>
        <p:graphicFrame>
          <p:nvGraphicFramePr>
            <p:cNvPr id="18" name="Object 29"/>
            <p:cNvGraphicFramePr>
              <a:graphicFrameLocks noChangeAspect="1"/>
            </p:cNvGraphicFramePr>
            <p:nvPr/>
          </p:nvGraphicFramePr>
          <p:xfrm>
            <a:off x="916" y="2659"/>
            <a:ext cx="3914" cy="1548"/>
          </p:xfrm>
          <a:graphic>
            <a:graphicData uri="http://schemas.openxmlformats.org/presentationml/2006/ole">
              <mc:AlternateContent xmlns:mc="http://schemas.openxmlformats.org/markup-compatibility/2006">
                <mc:Choice xmlns:v="urn:schemas-microsoft-com:vml" Requires="v">
                  <p:oleObj spid="_x0000_s26709" name="Visio" r:id="rId3" imgW="4920511" imgH="1941591" progId="Visio.Drawing.11">
                    <p:embed/>
                  </p:oleObj>
                </mc:Choice>
                <mc:Fallback>
                  <p:oleObj name="Visio" r:id="rId3" imgW="4920511" imgH="194159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 y="2659"/>
                          <a:ext cx="3914"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Rectangle 30"/>
            <p:cNvSpPr>
              <a:spLocks noChangeArrowheads="1"/>
            </p:cNvSpPr>
            <p:nvPr/>
          </p:nvSpPr>
          <p:spPr bwMode="auto">
            <a:xfrm>
              <a:off x="1371"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AaS</a:t>
              </a:r>
            </a:p>
          </p:txBody>
        </p:sp>
        <p:sp>
          <p:nvSpPr>
            <p:cNvPr id="20" name="Rectangle 31"/>
            <p:cNvSpPr>
              <a:spLocks noChangeArrowheads="1"/>
            </p:cNvSpPr>
            <p:nvPr/>
          </p:nvSpPr>
          <p:spPr bwMode="auto">
            <a:xfrm>
              <a:off x="2133"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sp>
          <p:nvSpPr>
            <p:cNvPr id="21" name="Rectangle 32"/>
            <p:cNvSpPr>
              <a:spLocks noChangeArrowheads="1"/>
            </p:cNvSpPr>
            <p:nvPr/>
          </p:nvSpPr>
          <p:spPr bwMode="auto">
            <a:xfrm>
              <a:off x="3651" y="3044"/>
              <a:ext cx="470"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d</a:t>
              </a:r>
            </a:p>
          </p:txBody>
        </p:sp>
        <p:sp>
          <p:nvSpPr>
            <p:cNvPr id="22" name="Rectangle 33"/>
            <p:cNvSpPr>
              <a:spLocks noChangeArrowheads="1"/>
            </p:cNvSpPr>
            <p:nvPr/>
          </p:nvSpPr>
          <p:spPr bwMode="auto">
            <a:xfrm>
              <a:off x="1474" y="3452"/>
              <a:ext cx="470" cy="250"/>
            </a:xfrm>
            <a:prstGeom prst="rect">
              <a:avLst/>
            </a:prstGeom>
            <a:noFill/>
            <a:ln w="9525" algn="ctr">
              <a:noFill/>
              <a:miter lim="800000"/>
              <a:headEnd/>
              <a:tailEnd/>
            </a:ln>
          </p:spPr>
          <p:txBody>
            <a:bodyPr wrap="none">
              <a:spAutoFit/>
            </a:bodyPr>
            <a:lstStyle/>
            <a:p>
              <a:r>
                <a:rPr lang="en-US" altLang="zh-CN" i="1"/>
                <a:t>A</a:t>
              </a:r>
              <a:r>
                <a:rPr lang="en-US" altLang="zh-CN">
                  <a:sym typeface="Symbol" pitchFamily="18" charset="2"/>
                </a:rPr>
                <a:t></a:t>
              </a:r>
              <a:r>
                <a:rPr lang="en-US" altLang="zh-CN" i="1"/>
                <a:t>a</a:t>
              </a:r>
            </a:p>
          </p:txBody>
        </p:sp>
        <p:sp>
          <p:nvSpPr>
            <p:cNvPr id="23" name="Rectangle 34"/>
            <p:cNvSpPr>
              <a:spLocks noChangeArrowheads="1"/>
            </p:cNvSpPr>
            <p:nvPr/>
          </p:nvSpPr>
          <p:spPr bwMode="auto">
            <a:xfrm>
              <a:off x="2248" y="3860"/>
              <a:ext cx="45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a:t>
              </a:r>
            </a:p>
          </p:txBody>
        </p:sp>
        <p:sp>
          <p:nvSpPr>
            <p:cNvPr id="24" name="Rectangle 35"/>
            <p:cNvSpPr>
              <a:spLocks noChangeArrowheads="1"/>
            </p:cNvSpPr>
            <p:nvPr/>
          </p:nvSpPr>
          <p:spPr bwMode="auto">
            <a:xfrm>
              <a:off x="2971" y="3860"/>
              <a:ext cx="46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c</a:t>
              </a:r>
            </a:p>
          </p:txBody>
        </p:sp>
        <p:sp>
          <p:nvSpPr>
            <p:cNvPr id="25" name="Rectangle 36"/>
            <p:cNvSpPr>
              <a:spLocks noChangeArrowheads="1"/>
            </p:cNvSpPr>
            <p:nvPr/>
          </p:nvSpPr>
          <p:spPr bwMode="auto">
            <a:xfrm>
              <a:off x="2835"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gr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74</a:t>
            </a:fld>
            <a:endParaRPr lang="zh-CN" altLang="en-US">
              <a:solidFill>
                <a:srgbClr val="3F3F3F"/>
              </a:solidFill>
            </a:endParaRPr>
          </a:p>
        </p:txBody>
      </p:sp>
    </p:spTree>
    <p:extLst>
      <p:ext uri="{BB962C8B-B14F-4D97-AF65-F5344CB8AC3E}">
        <p14:creationId xmlns:p14="http://schemas.microsoft.com/office/powerpoint/2010/main" val="35159147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举例：表驱动预测分析过程</a:t>
            </a:r>
          </a:p>
          <a:p>
            <a:endParaRPr lang="zh-CN" altLang="en-US" dirty="0"/>
          </a:p>
        </p:txBody>
      </p:sp>
      <p:sp>
        <p:nvSpPr>
          <p:cNvPr id="8" name="Rectangle 9"/>
          <p:cNvSpPr>
            <a:spLocks noChangeArrowheads="1"/>
          </p:cNvSpPr>
          <p:nvPr/>
        </p:nvSpPr>
        <p:spPr bwMode="auto">
          <a:xfrm>
            <a:off x="900113" y="1773238"/>
            <a:ext cx="4751387" cy="2346325"/>
          </a:xfrm>
          <a:prstGeom prst="rect">
            <a:avLst/>
          </a:prstGeom>
          <a:noFill/>
          <a:ln w="9525">
            <a:noFill/>
            <a:miter lim="800000"/>
            <a:headEnd/>
            <a:tailEnd/>
          </a:ln>
        </p:spPr>
        <p:txBody>
          <a:bodyPr>
            <a:spAutoFit/>
          </a:bodyPr>
          <a:lstStyle/>
          <a:p>
            <a:pPr>
              <a:buClrTx/>
              <a:buFont typeface="Symbol" pitchFamily="18" charset="2"/>
              <a:buChar char="-"/>
            </a:pPr>
            <a:r>
              <a:rPr lang="en-US" altLang="zh-CN" sz="2800" b="1">
                <a:solidFill>
                  <a:srgbClr val="800080"/>
                </a:solidFill>
              </a:rPr>
              <a:t>  </a:t>
            </a:r>
            <a:r>
              <a:rPr lang="zh-CN" altLang="en-US" sz="2800" b="1">
                <a:latin typeface="楷体_GB2312" pitchFamily="49" charset="-122"/>
              </a:rPr>
              <a:t>对于下列文法</a:t>
            </a:r>
            <a:r>
              <a:rPr lang="en-US" altLang="zh-CN" sz="2800" b="1" i="1"/>
              <a:t>G</a:t>
            </a:r>
            <a:r>
              <a:rPr lang="en-US" altLang="zh-CN" sz="2800"/>
              <a:t>(</a:t>
            </a:r>
            <a:r>
              <a:rPr lang="en-US" altLang="zh-CN" sz="2800" b="1" i="1"/>
              <a:t>S</a:t>
            </a:r>
            <a:r>
              <a:rPr lang="en-US" altLang="zh-CN" sz="2800"/>
              <a:t>)</a:t>
            </a:r>
            <a:r>
              <a:rPr lang="zh-CN" altLang="en-US" sz="2800"/>
              <a:t>：</a:t>
            </a:r>
          </a:p>
          <a:p>
            <a:pPr>
              <a:buClrTx/>
              <a:buFont typeface="Symbol" pitchFamily="18" charset="2"/>
              <a:buNone/>
            </a:pPr>
            <a:endParaRPr lang="zh-CN" altLang="en-US" sz="1000"/>
          </a:p>
          <a:p>
            <a:r>
              <a:rPr lang="zh-CN" altLang="en-US" sz="2400"/>
              <a:t>        </a:t>
            </a:r>
            <a:r>
              <a:rPr lang="en-US" altLang="zh-CN" sz="2400" b="1" i="1"/>
              <a:t>S </a:t>
            </a:r>
            <a:r>
              <a:rPr lang="en-US" altLang="zh-CN" sz="2400" b="1">
                <a:sym typeface="Symbol" pitchFamily="18" charset="2"/>
              </a:rPr>
              <a:t></a:t>
            </a:r>
            <a:r>
              <a:rPr lang="en-US" altLang="zh-CN" sz="2400" b="1" i="1"/>
              <a:t> AaS </a:t>
            </a:r>
            <a:r>
              <a:rPr lang="en-US" altLang="zh-CN" sz="2400" b="1">
                <a:sym typeface="Symbol" pitchFamily="18" charset="2"/>
              </a:rPr>
              <a:t></a:t>
            </a:r>
            <a:r>
              <a:rPr lang="en-US" altLang="zh-CN" sz="2400" b="1"/>
              <a:t> </a:t>
            </a:r>
            <a:r>
              <a:rPr lang="en-US" altLang="zh-CN" sz="2400" b="1" i="1"/>
              <a:t>BbS</a:t>
            </a:r>
            <a:r>
              <a:rPr lang="en-US" altLang="zh-CN" sz="2400" b="1">
                <a:sym typeface="Symbol" pitchFamily="18" charset="2"/>
              </a:rPr>
              <a:t></a:t>
            </a:r>
            <a:r>
              <a:rPr lang="en-US" altLang="zh-CN" sz="2400" b="1" i="1"/>
              <a:t> d</a:t>
            </a:r>
          </a:p>
          <a:p>
            <a:r>
              <a:rPr lang="en-US" altLang="zh-CN" sz="2400" b="1" i="1"/>
              <a:t>        A </a:t>
            </a:r>
            <a:r>
              <a:rPr lang="en-US" altLang="zh-CN" sz="2400" b="1">
                <a:sym typeface="Symbol" pitchFamily="18" charset="2"/>
              </a:rPr>
              <a:t></a:t>
            </a:r>
            <a:r>
              <a:rPr lang="en-US" altLang="zh-CN" sz="2400" b="1" i="1"/>
              <a:t> a</a:t>
            </a:r>
          </a:p>
          <a:p>
            <a:r>
              <a:rPr lang="en-US" altLang="zh-CN" sz="2400" b="1" i="1"/>
              <a:t>        B </a:t>
            </a:r>
            <a:r>
              <a:rPr lang="en-US" altLang="zh-CN" sz="2400" b="1">
                <a:sym typeface="Symbol" pitchFamily="18" charset="2"/>
              </a:rPr>
              <a:t></a:t>
            </a:r>
            <a:r>
              <a:rPr lang="en-US" altLang="zh-CN" sz="2400" b="1" i="1"/>
              <a:t> </a:t>
            </a:r>
            <a:r>
              <a:rPr lang="en-US" altLang="zh-CN" sz="2400" b="1" i="1">
                <a:sym typeface="Symbol" pitchFamily="18" charset="2"/>
              </a:rPr>
              <a:t></a:t>
            </a:r>
            <a:r>
              <a:rPr lang="en-US" altLang="zh-CN" sz="2400" b="1" i="1"/>
              <a:t> </a:t>
            </a:r>
            <a:r>
              <a:rPr lang="en-US" altLang="zh-CN" sz="2400" b="1">
                <a:sym typeface="Symbol" pitchFamily="18" charset="2"/>
              </a:rPr>
              <a:t></a:t>
            </a:r>
            <a:r>
              <a:rPr lang="en-US" altLang="zh-CN" sz="2400" b="1" i="1"/>
              <a:t> c</a:t>
            </a:r>
          </a:p>
          <a:p>
            <a:endParaRPr lang="en-US" altLang="zh-CN" sz="1000" b="1" i="1"/>
          </a:p>
          <a:p>
            <a:r>
              <a:rPr lang="en-US" altLang="zh-CN" sz="2800" b="1"/>
              <a:t>    </a:t>
            </a:r>
            <a:r>
              <a:rPr lang="zh-CN" altLang="en-US" sz="2800" b="1"/>
              <a:t>分析输入串 </a:t>
            </a:r>
            <a:r>
              <a:rPr lang="en-US" altLang="zh-CN" sz="2400" b="1" i="1">
                <a:solidFill>
                  <a:srgbClr val="800080"/>
                </a:solidFill>
              </a:rPr>
              <a:t>aabd </a:t>
            </a:r>
            <a:r>
              <a:rPr lang="zh-CN" altLang="en-US" sz="2800" b="1"/>
              <a:t>的过程：</a:t>
            </a:r>
          </a:p>
        </p:txBody>
      </p:sp>
      <p:grpSp>
        <p:nvGrpSpPr>
          <p:cNvPr id="9" name="Group 19"/>
          <p:cNvGrpSpPr>
            <a:grpSpLocks/>
          </p:cNvGrpSpPr>
          <p:nvPr/>
        </p:nvGrpSpPr>
        <p:grpSpPr bwMode="auto">
          <a:xfrm>
            <a:off x="7235825" y="1844675"/>
            <a:ext cx="935038" cy="2089150"/>
            <a:chOff x="4558" y="1162"/>
            <a:chExt cx="589" cy="1316"/>
          </a:xfrm>
        </p:grpSpPr>
        <p:sp>
          <p:nvSpPr>
            <p:cNvPr id="10" name="Line 20"/>
            <p:cNvSpPr>
              <a:spLocks noChangeShapeType="1"/>
            </p:cNvSpPr>
            <p:nvPr/>
          </p:nvSpPr>
          <p:spPr bwMode="auto">
            <a:xfrm>
              <a:off x="4558" y="1162"/>
              <a:ext cx="0" cy="1316"/>
            </a:xfrm>
            <a:prstGeom prst="line">
              <a:avLst/>
            </a:prstGeom>
            <a:noFill/>
            <a:ln w="9525">
              <a:solidFill>
                <a:srgbClr val="800080"/>
              </a:solidFill>
              <a:round/>
              <a:headEnd/>
              <a:tailEnd/>
            </a:ln>
          </p:spPr>
          <p:txBody>
            <a:bodyPr>
              <a:spAutoFit/>
            </a:bodyPr>
            <a:lstStyle/>
            <a:p>
              <a:endParaRPr lang="zh-CN" altLang="en-US"/>
            </a:p>
          </p:txBody>
        </p:sp>
        <p:sp>
          <p:nvSpPr>
            <p:cNvPr id="11" name="Line 21"/>
            <p:cNvSpPr>
              <a:spLocks noChangeShapeType="1"/>
            </p:cNvSpPr>
            <p:nvPr/>
          </p:nvSpPr>
          <p:spPr bwMode="auto">
            <a:xfrm>
              <a:off x="5147" y="1162"/>
              <a:ext cx="0" cy="1316"/>
            </a:xfrm>
            <a:prstGeom prst="line">
              <a:avLst/>
            </a:prstGeom>
            <a:noFill/>
            <a:ln w="9525">
              <a:solidFill>
                <a:srgbClr val="800080"/>
              </a:solidFill>
              <a:round/>
              <a:headEnd/>
              <a:tailEnd/>
            </a:ln>
          </p:spPr>
          <p:txBody>
            <a:bodyPr>
              <a:spAutoFit/>
            </a:bodyPr>
            <a:lstStyle/>
            <a:p>
              <a:endParaRPr lang="zh-CN" altLang="en-US"/>
            </a:p>
          </p:txBody>
        </p:sp>
        <p:sp>
          <p:nvSpPr>
            <p:cNvPr id="12" name="Line 22"/>
            <p:cNvSpPr>
              <a:spLocks noChangeShapeType="1"/>
            </p:cNvSpPr>
            <p:nvPr/>
          </p:nvSpPr>
          <p:spPr bwMode="auto">
            <a:xfrm>
              <a:off x="4558" y="2478"/>
              <a:ext cx="589" cy="0"/>
            </a:xfrm>
            <a:prstGeom prst="line">
              <a:avLst/>
            </a:prstGeom>
            <a:noFill/>
            <a:ln w="9525">
              <a:solidFill>
                <a:srgbClr val="800080"/>
              </a:solidFill>
              <a:round/>
              <a:headEnd/>
              <a:tailEnd/>
            </a:ln>
          </p:spPr>
          <p:txBody>
            <a:bodyPr>
              <a:spAutoFit/>
            </a:bodyPr>
            <a:lstStyle/>
            <a:p>
              <a:endParaRPr lang="zh-CN" altLang="en-US"/>
            </a:p>
          </p:txBody>
        </p:sp>
      </p:grpSp>
      <p:sp>
        <p:nvSpPr>
          <p:cNvPr id="13" name="Rectangle 23"/>
          <p:cNvSpPr>
            <a:spLocks noChangeArrowheads="1"/>
          </p:cNvSpPr>
          <p:nvPr/>
        </p:nvSpPr>
        <p:spPr bwMode="auto">
          <a:xfrm>
            <a:off x="7529513" y="3429000"/>
            <a:ext cx="354012" cy="457200"/>
          </a:xfrm>
          <a:prstGeom prst="rect">
            <a:avLst/>
          </a:prstGeom>
          <a:noFill/>
          <a:ln w="9525" algn="ctr">
            <a:noFill/>
            <a:miter lim="800000"/>
            <a:headEnd/>
            <a:tailEnd/>
          </a:ln>
        </p:spPr>
        <p:txBody>
          <a:bodyPr>
            <a:spAutoFit/>
          </a:bodyPr>
          <a:lstStyle/>
          <a:p>
            <a:r>
              <a:rPr lang="pt-BR" altLang="zh-CN" sz="2400">
                <a:solidFill>
                  <a:srgbClr val="800080"/>
                </a:solidFill>
              </a:rPr>
              <a:t>#</a:t>
            </a:r>
            <a:endParaRPr lang="en-US" altLang="zh-CN" sz="2400">
              <a:solidFill>
                <a:srgbClr val="800080"/>
              </a:solidFill>
            </a:endParaRPr>
          </a:p>
        </p:txBody>
      </p:sp>
      <p:sp>
        <p:nvSpPr>
          <p:cNvPr id="14" name="Rectangle 24"/>
          <p:cNvSpPr>
            <a:spLocks noChangeArrowheads="1"/>
          </p:cNvSpPr>
          <p:nvPr/>
        </p:nvSpPr>
        <p:spPr bwMode="auto">
          <a:xfrm>
            <a:off x="4859338" y="2349500"/>
            <a:ext cx="2022475" cy="822325"/>
          </a:xfrm>
          <a:prstGeom prst="rect">
            <a:avLst/>
          </a:prstGeom>
          <a:noFill/>
          <a:ln w="9525" algn="ctr">
            <a:noFill/>
            <a:miter lim="800000"/>
            <a:headEnd/>
            <a:tailEnd/>
          </a:ln>
        </p:spPr>
        <p:txBody>
          <a:bodyPr wrap="none">
            <a:spAutoFit/>
          </a:bodyPr>
          <a:lstStyle/>
          <a:p>
            <a:r>
              <a:rPr lang="zh-CN" altLang="en-US" sz="2400" b="1"/>
              <a:t>剩余的输入串</a:t>
            </a:r>
          </a:p>
          <a:p>
            <a:r>
              <a:rPr lang="zh-CN" altLang="en-US" sz="2400" b="1" i="1">
                <a:solidFill>
                  <a:srgbClr val="800080"/>
                </a:solidFill>
              </a:rPr>
              <a:t>        </a:t>
            </a:r>
            <a:r>
              <a:rPr lang="en-US" altLang="zh-CN" sz="2400" b="1" i="1">
                <a:solidFill>
                  <a:srgbClr val="800080"/>
                </a:solidFill>
              </a:rPr>
              <a:t>d#</a:t>
            </a:r>
          </a:p>
        </p:txBody>
      </p:sp>
      <p:sp>
        <p:nvSpPr>
          <p:cNvPr id="15" name="Rectangle 25"/>
          <p:cNvSpPr>
            <a:spLocks noChangeArrowheads="1"/>
          </p:cNvSpPr>
          <p:nvPr/>
        </p:nvSpPr>
        <p:spPr bwMode="auto">
          <a:xfrm>
            <a:off x="7529513" y="3116263"/>
            <a:ext cx="354012" cy="457200"/>
          </a:xfrm>
          <a:prstGeom prst="rect">
            <a:avLst/>
          </a:prstGeom>
          <a:noFill/>
          <a:ln w="9525" algn="ctr">
            <a:noFill/>
            <a:miter lim="800000"/>
            <a:headEnd/>
            <a:tailEnd/>
          </a:ln>
        </p:spPr>
        <p:txBody>
          <a:bodyPr>
            <a:spAutoFit/>
          </a:bodyPr>
          <a:lstStyle/>
          <a:p>
            <a:r>
              <a:rPr lang="en-US" altLang="zh-CN" sz="2400" b="1" i="1">
                <a:solidFill>
                  <a:srgbClr val="800080"/>
                </a:solidFill>
              </a:rPr>
              <a:t>S</a:t>
            </a:r>
          </a:p>
        </p:txBody>
      </p:sp>
      <p:grpSp>
        <p:nvGrpSpPr>
          <p:cNvPr id="16" name="Group 27"/>
          <p:cNvGrpSpPr>
            <a:grpSpLocks/>
          </p:cNvGrpSpPr>
          <p:nvPr/>
        </p:nvGrpSpPr>
        <p:grpSpPr bwMode="auto">
          <a:xfrm>
            <a:off x="1454150" y="4221163"/>
            <a:ext cx="6213475" cy="2457450"/>
            <a:chOff x="916" y="2659"/>
            <a:chExt cx="3914" cy="1548"/>
          </a:xfrm>
        </p:grpSpPr>
        <p:graphicFrame>
          <p:nvGraphicFramePr>
            <p:cNvPr id="17" name="Object 28"/>
            <p:cNvGraphicFramePr>
              <a:graphicFrameLocks noChangeAspect="1"/>
            </p:cNvGraphicFramePr>
            <p:nvPr/>
          </p:nvGraphicFramePr>
          <p:xfrm>
            <a:off x="916" y="2659"/>
            <a:ext cx="3914" cy="1548"/>
          </p:xfrm>
          <a:graphic>
            <a:graphicData uri="http://schemas.openxmlformats.org/presentationml/2006/ole">
              <mc:AlternateContent xmlns:mc="http://schemas.openxmlformats.org/markup-compatibility/2006">
                <mc:Choice xmlns:v="urn:schemas-microsoft-com:vml" Requires="v">
                  <p:oleObj spid="_x0000_s27733" name="Visio" r:id="rId3" imgW="4920511" imgH="1941591" progId="Visio.Drawing.11">
                    <p:embed/>
                  </p:oleObj>
                </mc:Choice>
                <mc:Fallback>
                  <p:oleObj name="Visio" r:id="rId3" imgW="4920511" imgH="194159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 y="2659"/>
                          <a:ext cx="3914"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Rectangle 29"/>
            <p:cNvSpPr>
              <a:spLocks noChangeArrowheads="1"/>
            </p:cNvSpPr>
            <p:nvPr/>
          </p:nvSpPr>
          <p:spPr bwMode="auto">
            <a:xfrm>
              <a:off x="1371"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AaS</a:t>
              </a:r>
            </a:p>
          </p:txBody>
        </p:sp>
        <p:sp>
          <p:nvSpPr>
            <p:cNvPr id="19" name="Rectangle 30"/>
            <p:cNvSpPr>
              <a:spLocks noChangeArrowheads="1"/>
            </p:cNvSpPr>
            <p:nvPr/>
          </p:nvSpPr>
          <p:spPr bwMode="auto">
            <a:xfrm>
              <a:off x="2133"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sp>
          <p:nvSpPr>
            <p:cNvPr id="20" name="Rectangle 31"/>
            <p:cNvSpPr>
              <a:spLocks noChangeArrowheads="1"/>
            </p:cNvSpPr>
            <p:nvPr/>
          </p:nvSpPr>
          <p:spPr bwMode="auto">
            <a:xfrm>
              <a:off x="3651" y="3044"/>
              <a:ext cx="470"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d</a:t>
              </a:r>
            </a:p>
          </p:txBody>
        </p:sp>
        <p:sp>
          <p:nvSpPr>
            <p:cNvPr id="21" name="Rectangle 32"/>
            <p:cNvSpPr>
              <a:spLocks noChangeArrowheads="1"/>
            </p:cNvSpPr>
            <p:nvPr/>
          </p:nvSpPr>
          <p:spPr bwMode="auto">
            <a:xfrm>
              <a:off x="1474" y="3452"/>
              <a:ext cx="470" cy="250"/>
            </a:xfrm>
            <a:prstGeom prst="rect">
              <a:avLst/>
            </a:prstGeom>
            <a:noFill/>
            <a:ln w="9525" algn="ctr">
              <a:noFill/>
              <a:miter lim="800000"/>
              <a:headEnd/>
              <a:tailEnd/>
            </a:ln>
          </p:spPr>
          <p:txBody>
            <a:bodyPr wrap="none">
              <a:spAutoFit/>
            </a:bodyPr>
            <a:lstStyle/>
            <a:p>
              <a:r>
                <a:rPr lang="en-US" altLang="zh-CN" i="1"/>
                <a:t>A</a:t>
              </a:r>
              <a:r>
                <a:rPr lang="en-US" altLang="zh-CN">
                  <a:sym typeface="Symbol" pitchFamily="18" charset="2"/>
                </a:rPr>
                <a:t></a:t>
              </a:r>
              <a:r>
                <a:rPr lang="en-US" altLang="zh-CN" i="1"/>
                <a:t>a</a:t>
              </a:r>
            </a:p>
          </p:txBody>
        </p:sp>
        <p:sp>
          <p:nvSpPr>
            <p:cNvPr id="22" name="Rectangle 33"/>
            <p:cNvSpPr>
              <a:spLocks noChangeArrowheads="1"/>
            </p:cNvSpPr>
            <p:nvPr/>
          </p:nvSpPr>
          <p:spPr bwMode="auto">
            <a:xfrm>
              <a:off x="2248" y="3860"/>
              <a:ext cx="45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a:t>
              </a:r>
            </a:p>
          </p:txBody>
        </p:sp>
        <p:sp>
          <p:nvSpPr>
            <p:cNvPr id="23" name="Rectangle 34"/>
            <p:cNvSpPr>
              <a:spLocks noChangeArrowheads="1"/>
            </p:cNvSpPr>
            <p:nvPr/>
          </p:nvSpPr>
          <p:spPr bwMode="auto">
            <a:xfrm>
              <a:off x="2971" y="3860"/>
              <a:ext cx="46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c</a:t>
              </a:r>
            </a:p>
          </p:txBody>
        </p:sp>
        <p:sp>
          <p:nvSpPr>
            <p:cNvPr id="24" name="Rectangle 35"/>
            <p:cNvSpPr>
              <a:spLocks noChangeArrowheads="1"/>
            </p:cNvSpPr>
            <p:nvPr/>
          </p:nvSpPr>
          <p:spPr bwMode="auto">
            <a:xfrm>
              <a:off x="2835"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gr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75</a:t>
            </a:fld>
            <a:endParaRPr lang="zh-CN" altLang="en-US">
              <a:solidFill>
                <a:srgbClr val="3F3F3F"/>
              </a:solidFill>
            </a:endParaRPr>
          </a:p>
        </p:txBody>
      </p:sp>
    </p:spTree>
    <p:extLst>
      <p:ext uri="{BB962C8B-B14F-4D97-AF65-F5344CB8AC3E}">
        <p14:creationId xmlns:p14="http://schemas.microsoft.com/office/powerpoint/2010/main" val="35159147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举例：表驱动预测分析过程</a:t>
            </a:r>
          </a:p>
          <a:p>
            <a:endParaRPr lang="zh-CN" altLang="en-US" dirty="0"/>
          </a:p>
        </p:txBody>
      </p:sp>
      <p:sp>
        <p:nvSpPr>
          <p:cNvPr id="8" name="Rectangle 9"/>
          <p:cNvSpPr>
            <a:spLocks noChangeArrowheads="1"/>
          </p:cNvSpPr>
          <p:nvPr/>
        </p:nvSpPr>
        <p:spPr bwMode="auto">
          <a:xfrm>
            <a:off x="900113" y="1773238"/>
            <a:ext cx="4751387" cy="2346325"/>
          </a:xfrm>
          <a:prstGeom prst="rect">
            <a:avLst/>
          </a:prstGeom>
          <a:noFill/>
          <a:ln w="9525">
            <a:noFill/>
            <a:miter lim="800000"/>
            <a:headEnd/>
            <a:tailEnd/>
          </a:ln>
        </p:spPr>
        <p:txBody>
          <a:bodyPr>
            <a:spAutoFit/>
          </a:bodyPr>
          <a:lstStyle/>
          <a:p>
            <a:pPr>
              <a:buClrTx/>
              <a:buFont typeface="Symbol" pitchFamily="18" charset="2"/>
              <a:buChar char="-"/>
            </a:pPr>
            <a:r>
              <a:rPr lang="en-US" altLang="zh-CN" sz="2800" b="1">
                <a:solidFill>
                  <a:srgbClr val="800080"/>
                </a:solidFill>
              </a:rPr>
              <a:t>  </a:t>
            </a:r>
            <a:r>
              <a:rPr lang="zh-CN" altLang="en-US" sz="2800" b="1">
                <a:latin typeface="楷体_GB2312" pitchFamily="49" charset="-122"/>
              </a:rPr>
              <a:t>对于下列文法</a:t>
            </a:r>
            <a:r>
              <a:rPr lang="en-US" altLang="zh-CN" sz="2800" b="1" i="1"/>
              <a:t>G</a:t>
            </a:r>
            <a:r>
              <a:rPr lang="en-US" altLang="zh-CN" sz="2800"/>
              <a:t>(</a:t>
            </a:r>
            <a:r>
              <a:rPr lang="en-US" altLang="zh-CN" sz="2800" b="1" i="1"/>
              <a:t>S</a:t>
            </a:r>
            <a:r>
              <a:rPr lang="en-US" altLang="zh-CN" sz="2800"/>
              <a:t>)</a:t>
            </a:r>
            <a:r>
              <a:rPr lang="zh-CN" altLang="en-US" sz="2800"/>
              <a:t>：</a:t>
            </a:r>
          </a:p>
          <a:p>
            <a:pPr>
              <a:buClrTx/>
              <a:buFont typeface="Symbol" pitchFamily="18" charset="2"/>
              <a:buNone/>
            </a:pPr>
            <a:endParaRPr lang="zh-CN" altLang="en-US" sz="1000"/>
          </a:p>
          <a:p>
            <a:r>
              <a:rPr lang="zh-CN" altLang="en-US" sz="2400"/>
              <a:t>        </a:t>
            </a:r>
            <a:r>
              <a:rPr lang="en-US" altLang="zh-CN" sz="2400" b="1" i="1"/>
              <a:t>S </a:t>
            </a:r>
            <a:r>
              <a:rPr lang="en-US" altLang="zh-CN" sz="2400" b="1">
                <a:sym typeface="Symbol" pitchFamily="18" charset="2"/>
              </a:rPr>
              <a:t></a:t>
            </a:r>
            <a:r>
              <a:rPr lang="en-US" altLang="zh-CN" sz="2400" b="1" i="1"/>
              <a:t> AaS </a:t>
            </a:r>
            <a:r>
              <a:rPr lang="en-US" altLang="zh-CN" sz="2400" b="1">
                <a:sym typeface="Symbol" pitchFamily="18" charset="2"/>
              </a:rPr>
              <a:t></a:t>
            </a:r>
            <a:r>
              <a:rPr lang="en-US" altLang="zh-CN" sz="2400" b="1"/>
              <a:t> </a:t>
            </a:r>
            <a:r>
              <a:rPr lang="en-US" altLang="zh-CN" sz="2400" b="1" i="1"/>
              <a:t>BbS</a:t>
            </a:r>
            <a:r>
              <a:rPr lang="en-US" altLang="zh-CN" sz="2400" b="1">
                <a:sym typeface="Symbol" pitchFamily="18" charset="2"/>
              </a:rPr>
              <a:t></a:t>
            </a:r>
            <a:r>
              <a:rPr lang="en-US" altLang="zh-CN" sz="2400" b="1" i="1"/>
              <a:t> d</a:t>
            </a:r>
          </a:p>
          <a:p>
            <a:r>
              <a:rPr lang="en-US" altLang="zh-CN" sz="2400" b="1" i="1"/>
              <a:t>        A </a:t>
            </a:r>
            <a:r>
              <a:rPr lang="en-US" altLang="zh-CN" sz="2400" b="1">
                <a:sym typeface="Symbol" pitchFamily="18" charset="2"/>
              </a:rPr>
              <a:t></a:t>
            </a:r>
            <a:r>
              <a:rPr lang="en-US" altLang="zh-CN" sz="2400" b="1" i="1"/>
              <a:t> a</a:t>
            </a:r>
          </a:p>
          <a:p>
            <a:r>
              <a:rPr lang="en-US" altLang="zh-CN" sz="2400" b="1" i="1"/>
              <a:t>        B </a:t>
            </a:r>
            <a:r>
              <a:rPr lang="en-US" altLang="zh-CN" sz="2400" b="1">
                <a:sym typeface="Symbol" pitchFamily="18" charset="2"/>
              </a:rPr>
              <a:t></a:t>
            </a:r>
            <a:r>
              <a:rPr lang="en-US" altLang="zh-CN" sz="2400" b="1" i="1"/>
              <a:t> </a:t>
            </a:r>
            <a:r>
              <a:rPr lang="en-US" altLang="zh-CN" sz="2400" b="1" i="1">
                <a:sym typeface="Symbol" pitchFamily="18" charset="2"/>
              </a:rPr>
              <a:t></a:t>
            </a:r>
            <a:r>
              <a:rPr lang="en-US" altLang="zh-CN" sz="2400" b="1" i="1"/>
              <a:t> </a:t>
            </a:r>
            <a:r>
              <a:rPr lang="en-US" altLang="zh-CN" sz="2400" b="1">
                <a:sym typeface="Symbol" pitchFamily="18" charset="2"/>
              </a:rPr>
              <a:t></a:t>
            </a:r>
            <a:r>
              <a:rPr lang="en-US" altLang="zh-CN" sz="2400" b="1" i="1"/>
              <a:t> c</a:t>
            </a:r>
          </a:p>
          <a:p>
            <a:endParaRPr lang="en-US" altLang="zh-CN" sz="1000" b="1" i="1"/>
          </a:p>
          <a:p>
            <a:r>
              <a:rPr lang="en-US" altLang="zh-CN" sz="2800" b="1"/>
              <a:t>    </a:t>
            </a:r>
            <a:r>
              <a:rPr lang="zh-CN" altLang="en-US" sz="2800" b="1"/>
              <a:t>分析输入串 </a:t>
            </a:r>
            <a:r>
              <a:rPr lang="en-US" altLang="zh-CN" sz="2400" b="1" i="1">
                <a:solidFill>
                  <a:srgbClr val="800080"/>
                </a:solidFill>
              </a:rPr>
              <a:t>aabd </a:t>
            </a:r>
            <a:r>
              <a:rPr lang="zh-CN" altLang="en-US" sz="2800" b="1"/>
              <a:t>的过程：</a:t>
            </a:r>
          </a:p>
        </p:txBody>
      </p:sp>
      <p:grpSp>
        <p:nvGrpSpPr>
          <p:cNvPr id="9" name="Group 19"/>
          <p:cNvGrpSpPr>
            <a:grpSpLocks/>
          </p:cNvGrpSpPr>
          <p:nvPr/>
        </p:nvGrpSpPr>
        <p:grpSpPr bwMode="auto">
          <a:xfrm>
            <a:off x="7235825" y="1844675"/>
            <a:ext cx="935038" cy="2089150"/>
            <a:chOff x="4558" y="1162"/>
            <a:chExt cx="589" cy="1316"/>
          </a:xfrm>
        </p:grpSpPr>
        <p:sp>
          <p:nvSpPr>
            <p:cNvPr id="10" name="Line 20"/>
            <p:cNvSpPr>
              <a:spLocks noChangeShapeType="1"/>
            </p:cNvSpPr>
            <p:nvPr/>
          </p:nvSpPr>
          <p:spPr bwMode="auto">
            <a:xfrm>
              <a:off x="4558" y="1162"/>
              <a:ext cx="0" cy="1316"/>
            </a:xfrm>
            <a:prstGeom prst="line">
              <a:avLst/>
            </a:prstGeom>
            <a:noFill/>
            <a:ln w="9525">
              <a:solidFill>
                <a:srgbClr val="800080"/>
              </a:solidFill>
              <a:round/>
              <a:headEnd/>
              <a:tailEnd/>
            </a:ln>
          </p:spPr>
          <p:txBody>
            <a:bodyPr>
              <a:spAutoFit/>
            </a:bodyPr>
            <a:lstStyle/>
            <a:p>
              <a:endParaRPr lang="zh-CN" altLang="en-US"/>
            </a:p>
          </p:txBody>
        </p:sp>
        <p:sp>
          <p:nvSpPr>
            <p:cNvPr id="11" name="Line 21"/>
            <p:cNvSpPr>
              <a:spLocks noChangeShapeType="1"/>
            </p:cNvSpPr>
            <p:nvPr/>
          </p:nvSpPr>
          <p:spPr bwMode="auto">
            <a:xfrm>
              <a:off x="5147" y="1162"/>
              <a:ext cx="0" cy="1316"/>
            </a:xfrm>
            <a:prstGeom prst="line">
              <a:avLst/>
            </a:prstGeom>
            <a:noFill/>
            <a:ln w="9525">
              <a:solidFill>
                <a:srgbClr val="800080"/>
              </a:solidFill>
              <a:round/>
              <a:headEnd/>
              <a:tailEnd/>
            </a:ln>
          </p:spPr>
          <p:txBody>
            <a:bodyPr>
              <a:spAutoFit/>
            </a:bodyPr>
            <a:lstStyle/>
            <a:p>
              <a:endParaRPr lang="zh-CN" altLang="en-US"/>
            </a:p>
          </p:txBody>
        </p:sp>
        <p:sp>
          <p:nvSpPr>
            <p:cNvPr id="12" name="Line 22"/>
            <p:cNvSpPr>
              <a:spLocks noChangeShapeType="1"/>
            </p:cNvSpPr>
            <p:nvPr/>
          </p:nvSpPr>
          <p:spPr bwMode="auto">
            <a:xfrm>
              <a:off x="4558" y="2478"/>
              <a:ext cx="589" cy="0"/>
            </a:xfrm>
            <a:prstGeom prst="line">
              <a:avLst/>
            </a:prstGeom>
            <a:noFill/>
            <a:ln w="9525">
              <a:solidFill>
                <a:srgbClr val="800080"/>
              </a:solidFill>
              <a:round/>
              <a:headEnd/>
              <a:tailEnd/>
            </a:ln>
          </p:spPr>
          <p:txBody>
            <a:bodyPr>
              <a:spAutoFit/>
            </a:bodyPr>
            <a:lstStyle/>
            <a:p>
              <a:endParaRPr lang="zh-CN" altLang="en-US"/>
            </a:p>
          </p:txBody>
        </p:sp>
      </p:grpSp>
      <p:sp>
        <p:nvSpPr>
          <p:cNvPr id="13" name="Rectangle 23"/>
          <p:cNvSpPr>
            <a:spLocks noChangeArrowheads="1"/>
          </p:cNvSpPr>
          <p:nvPr/>
        </p:nvSpPr>
        <p:spPr bwMode="auto">
          <a:xfrm>
            <a:off x="7529513" y="3429000"/>
            <a:ext cx="354012" cy="457200"/>
          </a:xfrm>
          <a:prstGeom prst="rect">
            <a:avLst/>
          </a:prstGeom>
          <a:noFill/>
          <a:ln w="9525" algn="ctr">
            <a:noFill/>
            <a:miter lim="800000"/>
            <a:headEnd/>
            <a:tailEnd/>
          </a:ln>
        </p:spPr>
        <p:txBody>
          <a:bodyPr>
            <a:spAutoFit/>
          </a:bodyPr>
          <a:lstStyle/>
          <a:p>
            <a:r>
              <a:rPr lang="pt-BR" altLang="zh-CN" sz="2400">
                <a:solidFill>
                  <a:srgbClr val="800080"/>
                </a:solidFill>
              </a:rPr>
              <a:t>#</a:t>
            </a:r>
            <a:endParaRPr lang="en-US" altLang="zh-CN" sz="2400">
              <a:solidFill>
                <a:srgbClr val="800080"/>
              </a:solidFill>
            </a:endParaRPr>
          </a:p>
        </p:txBody>
      </p:sp>
      <p:sp>
        <p:nvSpPr>
          <p:cNvPr id="14" name="Rectangle 24"/>
          <p:cNvSpPr>
            <a:spLocks noChangeArrowheads="1"/>
          </p:cNvSpPr>
          <p:nvPr/>
        </p:nvSpPr>
        <p:spPr bwMode="auto">
          <a:xfrm>
            <a:off x="4859338" y="2349500"/>
            <a:ext cx="2022475" cy="822325"/>
          </a:xfrm>
          <a:prstGeom prst="rect">
            <a:avLst/>
          </a:prstGeom>
          <a:noFill/>
          <a:ln w="9525" algn="ctr">
            <a:noFill/>
            <a:miter lim="800000"/>
            <a:headEnd/>
            <a:tailEnd/>
          </a:ln>
        </p:spPr>
        <p:txBody>
          <a:bodyPr wrap="none">
            <a:spAutoFit/>
          </a:bodyPr>
          <a:lstStyle/>
          <a:p>
            <a:r>
              <a:rPr lang="zh-CN" altLang="en-US" sz="2400" b="1"/>
              <a:t>剩余的输入串</a:t>
            </a:r>
          </a:p>
          <a:p>
            <a:r>
              <a:rPr lang="zh-CN" altLang="en-US" sz="2400" b="1" i="1">
                <a:solidFill>
                  <a:srgbClr val="800080"/>
                </a:solidFill>
              </a:rPr>
              <a:t>        </a:t>
            </a:r>
            <a:r>
              <a:rPr lang="en-US" altLang="zh-CN" sz="2400" b="1" i="1">
                <a:solidFill>
                  <a:srgbClr val="800080"/>
                </a:solidFill>
              </a:rPr>
              <a:t>d#</a:t>
            </a:r>
          </a:p>
        </p:txBody>
      </p:sp>
      <p:sp>
        <p:nvSpPr>
          <p:cNvPr id="15" name="Rectangle 25"/>
          <p:cNvSpPr>
            <a:spLocks noChangeArrowheads="1"/>
          </p:cNvSpPr>
          <p:nvPr/>
        </p:nvSpPr>
        <p:spPr bwMode="auto">
          <a:xfrm>
            <a:off x="7529513" y="3116263"/>
            <a:ext cx="354012" cy="457200"/>
          </a:xfrm>
          <a:prstGeom prst="rect">
            <a:avLst/>
          </a:prstGeom>
          <a:noFill/>
          <a:ln w="9525" algn="ctr">
            <a:noFill/>
            <a:miter lim="800000"/>
            <a:headEnd/>
            <a:tailEnd/>
          </a:ln>
        </p:spPr>
        <p:txBody>
          <a:bodyPr>
            <a:spAutoFit/>
          </a:bodyPr>
          <a:lstStyle/>
          <a:p>
            <a:r>
              <a:rPr lang="en-US" altLang="zh-CN" sz="2400" b="1" i="1">
                <a:solidFill>
                  <a:srgbClr val="800080"/>
                </a:solidFill>
              </a:rPr>
              <a:t>d</a:t>
            </a:r>
          </a:p>
        </p:txBody>
      </p:sp>
      <p:grpSp>
        <p:nvGrpSpPr>
          <p:cNvPr id="16" name="Group 26"/>
          <p:cNvGrpSpPr>
            <a:grpSpLocks/>
          </p:cNvGrpSpPr>
          <p:nvPr/>
        </p:nvGrpSpPr>
        <p:grpSpPr bwMode="auto">
          <a:xfrm>
            <a:off x="1454150" y="4221163"/>
            <a:ext cx="6213475" cy="2457450"/>
            <a:chOff x="916" y="2659"/>
            <a:chExt cx="3914" cy="1548"/>
          </a:xfrm>
        </p:grpSpPr>
        <p:graphicFrame>
          <p:nvGraphicFramePr>
            <p:cNvPr id="17" name="Object 27"/>
            <p:cNvGraphicFramePr>
              <a:graphicFrameLocks noChangeAspect="1"/>
            </p:cNvGraphicFramePr>
            <p:nvPr/>
          </p:nvGraphicFramePr>
          <p:xfrm>
            <a:off x="916" y="2659"/>
            <a:ext cx="3914" cy="1548"/>
          </p:xfrm>
          <a:graphic>
            <a:graphicData uri="http://schemas.openxmlformats.org/presentationml/2006/ole">
              <mc:AlternateContent xmlns:mc="http://schemas.openxmlformats.org/markup-compatibility/2006">
                <mc:Choice xmlns:v="urn:schemas-microsoft-com:vml" Requires="v">
                  <p:oleObj spid="_x0000_s28757" name="Visio" r:id="rId3" imgW="4920511" imgH="1941591" progId="Visio.Drawing.11">
                    <p:embed/>
                  </p:oleObj>
                </mc:Choice>
                <mc:Fallback>
                  <p:oleObj name="Visio" r:id="rId3" imgW="4920511" imgH="194159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 y="2659"/>
                          <a:ext cx="3914"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Rectangle 28"/>
            <p:cNvSpPr>
              <a:spLocks noChangeArrowheads="1"/>
            </p:cNvSpPr>
            <p:nvPr/>
          </p:nvSpPr>
          <p:spPr bwMode="auto">
            <a:xfrm>
              <a:off x="1371"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AaS</a:t>
              </a:r>
            </a:p>
          </p:txBody>
        </p:sp>
        <p:sp>
          <p:nvSpPr>
            <p:cNvPr id="19" name="Rectangle 29"/>
            <p:cNvSpPr>
              <a:spLocks noChangeArrowheads="1"/>
            </p:cNvSpPr>
            <p:nvPr/>
          </p:nvSpPr>
          <p:spPr bwMode="auto">
            <a:xfrm>
              <a:off x="2133"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sp>
          <p:nvSpPr>
            <p:cNvPr id="20" name="Rectangle 30"/>
            <p:cNvSpPr>
              <a:spLocks noChangeArrowheads="1"/>
            </p:cNvSpPr>
            <p:nvPr/>
          </p:nvSpPr>
          <p:spPr bwMode="auto">
            <a:xfrm>
              <a:off x="3651" y="3044"/>
              <a:ext cx="470"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d</a:t>
              </a:r>
            </a:p>
          </p:txBody>
        </p:sp>
        <p:sp>
          <p:nvSpPr>
            <p:cNvPr id="21" name="Rectangle 31"/>
            <p:cNvSpPr>
              <a:spLocks noChangeArrowheads="1"/>
            </p:cNvSpPr>
            <p:nvPr/>
          </p:nvSpPr>
          <p:spPr bwMode="auto">
            <a:xfrm>
              <a:off x="1474" y="3452"/>
              <a:ext cx="470" cy="250"/>
            </a:xfrm>
            <a:prstGeom prst="rect">
              <a:avLst/>
            </a:prstGeom>
            <a:noFill/>
            <a:ln w="9525" algn="ctr">
              <a:noFill/>
              <a:miter lim="800000"/>
              <a:headEnd/>
              <a:tailEnd/>
            </a:ln>
          </p:spPr>
          <p:txBody>
            <a:bodyPr wrap="none">
              <a:spAutoFit/>
            </a:bodyPr>
            <a:lstStyle/>
            <a:p>
              <a:r>
                <a:rPr lang="en-US" altLang="zh-CN" i="1"/>
                <a:t>A</a:t>
              </a:r>
              <a:r>
                <a:rPr lang="en-US" altLang="zh-CN">
                  <a:sym typeface="Symbol" pitchFamily="18" charset="2"/>
                </a:rPr>
                <a:t></a:t>
              </a:r>
              <a:r>
                <a:rPr lang="en-US" altLang="zh-CN" i="1"/>
                <a:t>a</a:t>
              </a:r>
            </a:p>
          </p:txBody>
        </p:sp>
        <p:sp>
          <p:nvSpPr>
            <p:cNvPr id="22" name="Rectangle 32"/>
            <p:cNvSpPr>
              <a:spLocks noChangeArrowheads="1"/>
            </p:cNvSpPr>
            <p:nvPr/>
          </p:nvSpPr>
          <p:spPr bwMode="auto">
            <a:xfrm>
              <a:off x="2248" y="3860"/>
              <a:ext cx="45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a:t>
              </a:r>
            </a:p>
          </p:txBody>
        </p:sp>
        <p:sp>
          <p:nvSpPr>
            <p:cNvPr id="23" name="Rectangle 33"/>
            <p:cNvSpPr>
              <a:spLocks noChangeArrowheads="1"/>
            </p:cNvSpPr>
            <p:nvPr/>
          </p:nvSpPr>
          <p:spPr bwMode="auto">
            <a:xfrm>
              <a:off x="2971" y="3860"/>
              <a:ext cx="46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c</a:t>
              </a:r>
            </a:p>
          </p:txBody>
        </p:sp>
        <p:sp>
          <p:nvSpPr>
            <p:cNvPr id="24" name="Rectangle 34"/>
            <p:cNvSpPr>
              <a:spLocks noChangeArrowheads="1"/>
            </p:cNvSpPr>
            <p:nvPr/>
          </p:nvSpPr>
          <p:spPr bwMode="auto">
            <a:xfrm>
              <a:off x="2835"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gr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76</a:t>
            </a:fld>
            <a:endParaRPr lang="zh-CN" altLang="en-US">
              <a:solidFill>
                <a:srgbClr val="3F3F3F"/>
              </a:solidFill>
            </a:endParaRPr>
          </a:p>
        </p:txBody>
      </p:sp>
    </p:spTree>
    <p:extLst>
      <p:ext uri="{BB962C8B-B14F-4D97-AF65-F5344CB8AC3E}">
        <p14:creationId xmlns:p14="http://schemas.microsoft.com/office/powerpoint/2010/main" val="351591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3" name="内容占位符 2"/>
          <p:cNvSpPr>
            <a:spLocks noGrp="1"/>
          </p:cNvSpPr>
          <p:nvPr>
            <p:ph idx="1"/>
          </p:nvPr>
        </p:nvSpPr>
        <p:spPr/>
        <p:txBody>
          <a:bodyPr/>
          <a:lstStyle/>
          <a:p>
            <a:r>
              <a:rPr lang="zh-CN" altLang="en-US" dirty="0"/>
              <a:t> 举例：表驱动预测分析过程</a:t>
            </a:r>
          </a:p>
          <a:p>
            <a:endParaRPr lang="zh-CN" altLang="en-US" dirty="0"/>
          </a:p>
        </p:txBody>
      </p:sp>
      <p:sp>
        <p:nvSpPr>
          <p:cNvPr id="8" name="Rectangle 9"/>
          <p:cNvSpPr>
            <a:spLocks noChangeArrowheads="1"/>
          </p:cNvSpPr>
          <p:nvPr/>
        </p:nvSpPr>
        <p:spPr bwMode="auto">
          <a:xfrm>
            <a:off x="900113" y="1773238"/>
            <a:ext cx="4751387" cy="2346325"/>
          </a:xfrm>
          <a:prstGeom prst="rect">
            <a:avLst/>
          </a:prstGeom>
          <a:noFill/>
          <a:ln w="9525">
            <a:noFill/>
            <a:miter lim="800000"/>
            <a:headEnd/>
            <a:tailEnd/>
          </a:ln>
        </p:spPr>
        <p:txBody>
          <a:bodyPr>
            <a:spAutoFit/>
          </a:bodyPr>
          <a:lstStyle/>
          <a:p>
            <a:pPr>
              <a:buClrTx/>
              <a:buFont typeface="Symbol" pitchFamily="18" charset="2"/>
              <a:buChar char="-"/>
            </a:pPr>
            <a:r>
              <a:rPr lang="en-US" altLang="zh-CN" sz="2800" b="1">
                <a:solidFill>
                  <a:srgbClr val="800080"/>
                </a:solidFill>
              </a:rPr>
              <a:t>  </a:t>
            </a:r>
            <a:r>
              <a:rPr lang="zh-CN" altLang="en-US" sz="2800" b="1">
                <a:latin typeface="楷体_GB2312" pitchFamily="49" charset="-122"/>
              </a:rPr>
              <a:t>对于下列文法</a:t>
            </a:r>
            <a:r>
              <a:rPr lang="en-US" altLang="zh-CN" sz="2800" b="1" i="1"/>
              <a:t>G</a:t>
            </a:r>
            <a:r>
              <a:rPr lang="en-US" altLang="zh-CN" sz="2800"/>
              <a:t>(</a:t>
            </a:r>
            <a:r>
              <a:rPr lang="en-US" altLang="zh-CN" sz="2800" b="1" i="1"/>
              <a:t>S</a:t>
            </a:r>
            <a:r>
              <a:rPr lang="en-US" altLang="zh-CN" sz="2800"/>
              <a:t>)</a:t>
            </a:r>
            <a:r>
              <a:rPr lang="zh-CN" altLang="en-US" sz="2800"/>
              <a:t>：</a:t>
            </a:r>
          </a:p>
          <a:p>
            <a:pPr>
              <a:buClrTx/>
              <a:buFont typeface="Symbol" pitchFamily="18" charset="2"/>
              <a:buNone/>
            </a:pPr>
            <a:endParaRPr lang="zh-CN" altLang="en-US" sz="1000"/>
          </a:p>
          <a:p>
            <a:r>
              <a:rPr lang="zh-CN" altLang="en-US" sz="2400"/>
              <a:t>        </a:t>
            </a:r>
            <a:r>
              <a:rPr lang="en-US" altLang="zh-CN" sz="2400" b="1" i="1"/>
              <a:t>S </a:t>
            </a:r>
            <a:r>
              <a:rPr lang="en-US" altLang="zh-CN" sz="2400" b="1">
                <a:sym typeface="Symbol" pitchFamily="18" charset="2"/>
              </a:rPr>
              <a:t></a:t>
            </a:r>
            <a:r>
              <a:rPr lang="en-US" altLang="zh-CN" sz="2400" b="1" i="1"/>
              <a:t> AaS </a:t>
            </a:r>
            <a:r>
              <a:rPr lang="en-US" altLang="zh-CN" sz="2400" b="1">
                <a:sym typeface="Symbol" pitchFamily="18" charset="2"/>
              </a:rPr>
              <a:t></a:t>
            </a:r>
            <a:r>
              <a:rPr lang="en-US" altLang="zh-CN" sz="2400" b="1"/>
              <a:t> </a:t>
            </a:r>
            <a:r>
              <a:rPr lang="en-US" altLang="zh-CN" sz="2400" b="1" i="1"/>
              <a:t>BbS</a:t>
            </a:r>
            <a:r>
              <a:rPr lang="en-US" altLang="zh-CN" sz="2400" b="1">
                <a:sym typeface="Symbol" pitchFamily="18" charset="2"/>
              </a:rPr>
              <a:t></a:t>
            </a:r>
            <a:r>
              <a:rPr lang="en-US" altLang="zh-CN" sz="2400" b="1" i="1"/>
              <a:t> d</a:t>
            </a:r>
          </a:p>
          <a:p>
            <a:r>
              <a:rPr lang="en-US" altLang="zh-CN" sz="2400" b="1" i="1"/>
              <a:t>        A </a:t>
            </a:r>
            <a:r>
              <a:rPr lang="en-US" altLang="zh-CN" sz="2400" b="1">
                <a:sym typeface="Symbol" pitchFamily="18" charset="2"/>
              </a:rPr>
              <a:t></a:t>
            </a:r>
            <a:r>
              <a:rPr lang="en-US" altLang="zh-CN" sz="2400" b="1" i="1"/>
              <a:t> a</a:t>
            </a:r>
          </a:p>
          <a:p>
            <a:r>
              <a:rPr lang="en-US" altLang="zh-CN" sz="2400" b="1" i="1"/>
              <a:t>        B </a:t>
            </a:r>
            <a:r>
              <a:rPr lang="en-US" altLang="zh-CN" sz="2400" b="1">
                <a:sym typeface="Symbol" pitchFamily="18" charset="2"/>
              </a:rPr>
              <a:t></a:t>
            </a:r>
            <a:r>
              <a:rPr lang="en-US" altLang="zh-CN" sz="2400" b="1" i="1"/>
              <a:t> </a:t>
            </a:r>
            <a:r>
              <a:rPr lang="en-US" altLang="zh-CN" sz="2400" b="1" i="1">
                <a:sym typeface="Symbol" pitchFamily="18" charset="2"/>
              </a:rPr>
              <a:t></a:t>
            </a:r>
            <a:r>
              <a:rPr lang="en-US" altLang="zh-CN" sz="2400" b="1" i="1"/>
              <a:t> </a:t>
            </a:r>
            <a:r>
              <a:rPr lang="en-US" altLang="zh-CN" sz="2400" b="1">
                <a:sym typeface="Symbol" pitchFamily="18" charset="2"/>
              </a:rPr>
              <a:t></a:t>
            </a:r>
            <a:r>
              <a:rPr lang="en-US" altLang="zh-CN" sz="2400" b="1" i="1"/>
              <a:t> c</a:t>
            </a:r>
          </a:p>
          <a:p>
            <a:endParaRPr lang="en-US" altLang="zh-CN" sz="1000" b="1" i="1"/>
          </a:p>
          <a:p>
            <a:r>
              <a:rPr lang="en-US" altLang="zh-CN" sz="2800" b="1"/>
              <a:t>    </a:t>
            </a:r>
            <a:r>
              <a:rPr lang="zh-CN" altLang="en-US" sz="2800" b="1"/>
              <a:t>分析输入串 </a:t>
            </a:r>
            <a:r>
              <a:rPr lang="en-US" altLang="zh-CN" sz="2400" b="1" i="1">
                <a:solidFill>
                  <a:srgbClr val="800080"/>
                </a:solidFill>
              </a:rPr>
              <a:t>aabd </a:t>
            </a:r>
            <a:r>
              <a:rPr lang="zh-CN" altLang="en-US" sz="2800" b="1"/>
              <a:t>的过程：</a:t>
            </a:r>
          </a:p>
        </p:txBody>
      </p:sp>
      <p:grpSp>
        <p:nvGrpSpPr>
          <p:cNvPr id="9" name="Group 19"/>
          <p:cNvGrpSpPr>
            <a:grpSpLocks/>
          </p:cNvGrpSpPr>
          <p:nvPr/>
        </p:nvGrpSpPr>
        <p:grpSpPr bwMode="auto">
          <a:xfrm>
            <a:off x="7235825" y="1844675"/>
            <a:ext cx="935038" cy="2089150"/>
            <a:chOff x="4558" y="1162"/>
            <a:chExt cx="589" cy="1316"/>
          </a:xfrm>
        </p:grpSpPr>
        <p:sp>
          <p:nvSpPr>
            <p:cNvPr id="10" name="Line 20"/>
            <p:cNvSpPr>
              <a:spLocks noChangeShapeType="1"/>
            </p:cNvSpPr>
            <p:nvPr/>
          </p:nvSpPr>
          <p:spPr bwMode="auto">
            <a:xfrm>
              <a:off x="4558" y="1162"/>
              <a:ext cx="0" cy="1316"/>
            </a:xfrm>
            <a:prstGeom prst="line">
              <a:avLst/>
            </a:prstGeom>
            <a:noFill/>
            <a:ln w="9525">
              <a:solidFill>
                <a:srgbClr val="800080"/>
              </a:solidFill>
              <a:round/>
              <a:headEnd/>
              <a:tailEnd/>
            </a:ln>
          </p:spPr>
          <p:txBody>
            <a:bodyPr>
              <a:spAutoFit/>
            </a:bodyPr>
            <a:lstStyle/>
            <a:p>
              <a:endParaRPr lang="zh-CN" altLang="en-US"/>
            </a:p>
          </p:txBody>
        </p:sp>
        <p:sp>
          <p:nvSpPr>
            <p:cNvPr id="11" name="Line 21"/>
            <p:cNvSpPr>
              <a:spLocks noChangeShapeType="1"/>
            </p:cNvSpPr>
            <p:nvPr/>
          </p:nvSpPr>
          <p:spPr bwMode="auto">
            <a:xfrm>
              <a:off x="5147" y="1162"/>
              <a:ext cx="0" cy="1316"/>
            </a:xfrm>
            <a:prstGeom prst="line">
              <a:avLst/>
            </a:prstGeom>
            <a:noFill/>
            <a:ln w="9525">
              <a:solidFill>
                <a:srgbClr val="800080"/>
              </a:solidFill>
              <a:round/>
              <a:headEnd/>
              <a:tailEnd/>
            </a:ln>
          </p:spPr>
          <p:txBody>
            <a:bodyPr>
              <a:spAutoFit/>
            </a:bodyPr>
            <a:lstStyle/>
            <a:p>
              <a:endParaRPr lang="zh-CN" altLang="en-US"/>
            </a:p>
          </p:txBody>
        </p:sp>
        <p:sp>
          <p:nvSpPr>
            <p:cNvPr id="12" name="Line 22"/>
            <p:cNvSpPr>
              <a:spLocks noChangeShapeType="1"/>
            </p:cNvSpPr>
            <p:nvPr/>
          </p:nvSpPr>
          <p:spPr bwMode="auto">
            <a:xfrm>
              <a:off x="4558" y="2478"/>
              <a:ext cx="589" cy="0"/>
            </a:xfrm>
            <a:prstGeom prst="line">
              <a:avLst/>
            </a:prstGeom>
            <a:noFill/>
            <a:ln w="9525">
              <a:solidFill>
                <a:srgbClr val="800080"/>
              </a:solidFill>
              <a:round/>
              <a:headEnd/>
              <a:tailEnd/>
            </a:ln>
          </p:spPr>
          <p:txBody>
            <a:bodyPr>
              <a:spAutoFit/>
            </a:bodyPr>
            <a:lstStyle/>
            <a:p>
              <a:endParaRPr lang="zh-CN" altLang="en-US"/>
            </a:p>
          </p:txBody>
        </p:sp>
      </p:grpSp>
      <p:sp>
        <p:nvSpPr>
          <p:cNvPr id="13" name="Rectangle 23"/>
          <p:cNvSpPr>
            <a:spLocks noChangeArrowheads="1"/>
          </p:cNvSpPr>
          <p:nvPr/>
        </p:nvSpPr>
        <p:spPr bwMode="auto">
          <a:xfrm>
            <a:off x="7529513" y="3429000"/>
            <a:ext cx="354012" cy="457200"/>
          </a:xfrm>
          <a:prstGeom prst="rect">
            <a:avLst/>
          </a:prstGeom>
          <a:noFill/>
          <a:ln w="9525" algn="ctr">
            <a:noFill/>
            <a:miter lim="800000"/>
            <a:headEnd/>
            <a:tailEnd/>
          </a:ln>
        </p:spPr>
        <p:txBody>
          <a:bodyPr>
            <a:spAutoFit/>
          </a:bodyPr>
          <a:lstStyle/>
          <a:p>
            <a:r>
              <a:rPr lang="pt-BR" altLang="zh-CN" sz="2400">
                <a:solidFill>
                  <a:srgbClr val="800080"/>
                </a:solidFill>
              </a:rPr>
              <a:t>#</a:t>
            </a:r>
            <a:endParaRPr lang="en-US" altLang="zh-CN" sz="2400">
              <a:solidFill>
                <a:srgbClr val="800080"/>
              </a:solidFill>
            </a:endParaRPr>
          </a:p>
        </p:txBody>
      </p:sp>
      <p:sp>
        <p:nvSpPr>
          <p:cNvPr id="14" name="Rectangle 24"/>
          <p:cNvSpPr>
            <a:spLocks noChangeArrowheads="1"/>
          </p:cNvSpPr>
          <p:nvPr/>
        </p:nvSpPr>
        <p:spPr bwMode="auto">
          <a:xfrm>
            <a:off x="4859338" y="2349500"/>
            <a:ext cx="2022475" cy="822325"/>
          </a:xfrm>
          <a:prstGeom prst="rect">
            <a:avLst/>
          </a:prstGeom>
          <a:noFill/>
          <a:ln w="9525" algn="ctr">
            <a:noFill/>
            <a:miter lim="800000"/>
            <a:headEnd/>
            <a:tailEnd/>
          </a:ln>
        </p:spPr>
        <p:txBody>
          <a:bodyPr wrap="none">
            <a:spAutoFit/>
          </a:bodyPr>
          <a:lstStyle/>
          <a:p>
            <a:r>
              <a:rPr lang="zh-CN" altLang="en-US" sz="2400" b="1"/>
              <a:t>剩余的输入串</a:t>
            </a:r>
          </a:p>
          <a:p>
            <a:r>
              <a:rPr lang="zh-CN" altLang="en-US" sz="2400" b="1" i="1">
                <a:solidFill>
                  <a:srgbClr val="800080"/>
                </a:solidFill>
              </a:rPr>
              <a:t>         </a:t>
            </a:r>
            <a:r>
              <a:rPr lang="en-US" altLang="zh-CN" sz="2400" b="1" i="1">
                <a:solidFill>
                  <a:srgbClr val="800080"/>
                </a:solidFill>
              </a:rPr>
              <a:t>#</a:t>
            </a:r>
          </a:p>
        </p:txBody>
      </p:sp>
      <p:sp>
        <p:nvSpPr>
          <p:cNvPr id="15" name="Text Box 26"/>
          <p:cNvSpPr txBox="1">
            <a:spLocks noChangeArrowheads="1"/>
          </p:cNvSpPr>
          <p:nvPr/>
        </p:nvSpPr>
        <p:spPr bwMode="auto">
          <a:xfrm>
            <a:off x="6156325" y="3284538"/>
            <a:ext cx="484188" cy="519112"/>
          </a:xfrm>
          <a:prstGeom prst="rect">
            <a:avLst/>
          </a:prstGeom>
          <a:noFill/>
          <a:ln w="9525">
            <a:noFill/>
            <a:miter lim="800000"/>
            <a:headEnd/>
            <a:tailEnd/>
          </a:ln>
        </p:spPr>
        <p:txBody>
          <a:bodyPr wrap="none">
            <a:spAutoFit/>
          </a:bodyPr>
          <a:lstStyle/>
          <a:p>
            <a:pPr>
              <a:buClrTx/>
              <a:buFontTx/>
              <a:buNone/>
            </a:pPr>
            <a:r>
              <a:rPr lang="en-US" altLang="zh-CN" sz="2800">
                <a:solidFill>
                  <a:srgbClr val="800080"/>
                </a:solidFill>
                <a:latin typeface="Times New Roman" pitchFamily="18" charset="0"/>
                <a:ea typeface="宋体" pitchFamily="2" charset="-122"/>
                <a:sym typeface="Wingdings" pitchFamily="2" charset="2"/>
              </a:rPr>
              <a:t></a:t>
            </a:r>
            <a:endParaRPr lang="en-US" altLang="zh-CN" sz="2800">
              <a:solidFill>
                <a:srgbClr val="800080"/>
              </a:solidFill>
              <a:latin typeface="Times New Roman" pitchFamily="18" charset="0"/>
              <a:ea typeface="宋体" pitchFamily="2" charset="-122"/>
            </a:endParaRPr>
          </a:p>
        </p:txBody>
      </p:sp>
      <p:grpSp>
        <p:nvGrpSpPr>
          <p:cNvPr id="16" name="Group 27"/>
          <p:cNvGrpSpPr>
            <a:grpSpLocks/>
          </p:cNvGrpSpPr>
          <p:nvPr/>
        </p:nvGrpSpPr>
        <p:grpSpPr bwMode="auto">
          <a:xfrm>
            <a:off x="1454150" y="4221163"/>
            <a:ext cx="6213475" cy="2457450"/>
            <a:chOff x="916" y="2659"/>
            <a:chExt cx="3914" cy="1548"/>
          </a:xfrm>
        </p:grpSpPr>
        <p:graphicFrame>
          <p:nvGraphicFramePr>
            <p:cNvPr id="17" name="Object 28"/>
            <p:cNvGraphicFramePr>
              <a:graphicFrameLocks noChangeAspect="1"/>
            </p:cNvGraphicFramePr>
            <p:nvPr/>
          </p:nvGraphicFramePr>
          <p:xfrm>
            <a:off x="916" y="2659"/>
            <a:ext cx="3914" cy="1548"/>
          </p:xfrm>
          <a:graphic>
            <a:graphicData uri="http://schemas.openxmlformats.org/presentationml/2006/ole">
              <mc:AlternateContent xmlns:mc="http://schemas.openxmlformats.org/markup-compatibility/2006">
                <mc:Choice xmlns:v="urn:schemas-microsoft-com:vml" Requires="v">
                  <p:oleObj spid="_x0000_s29781" name="Visio" r:id="rId3" imgW="4920511" imgH="1941591" progId="Visio.Drawing.11">
                    <p:embed/>
                  </p:oleObj>
                </mc:Choice>
                <mc:Fallback>
                  <p:oleObj name="Visio" r:id="rId3" imgW="4920511" imgH="194159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 y="2659"/>
                          <a:ext cx="3914"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Rectangle 29"/>
            <p:cNvSpPr>
              <a:spLocks noChangeArrowheads="1"/>
            </p:cNvSpPr>
            <p:nvPr/>
          </p:nvSpPr>
          <p:spPr bwMode="auto">
            <a:xfrm>
              <a:off x="1371"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AaS</a:t>
              </a:r>
            </a:p>
          </p:txBody>
        </p:sp>
        <p:sp>
          <p:nvSpPr>
            <p:cNvPr id="19" name="Rectangle 30"/>
            <p:cNvSpPr>
              <a:spLocks noChangeArrowheads="1"/>
            </p:cNvSpPr>
            <p:nvPr/>
          </p:nvSpPr>
          <p:spPr bwMode="auto">
            <a:xfrm>
              <a:off x="2133"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sp>
          <p:nvSpPr>
            <p:cNvPr id="20" name="Rectangle 31"/>
            <p:cNvSpPr>
              <a:spLocks noChangeArrowheads="1"/>
            </p:cNvSpPr>
            <p:nvPr/>
          </p:nvSpPr>
          <p:spPr bwMode="auto">
            <a:xfrm>
              <a:off x="3651" y="3044"/>
              <a:ext cx="470"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d</a:t>
              </a:r>
            </a:p>
          </p:txBody>
        </p:sp>
        <p:sp>
          <p:nvSpPr>
            <p:cNvPr id="21" name="Rectangle 32"/>
            <p:cNvSpPr>
              <a:spLocks noChangeArrowheads="1"/>
            </p:cNvSpPr>
            <p:nvPr/>
          </p:nvSpPr>
          <p:spPr bwMode="auto">
            <a:xfrm>
              <a:off x="1474" y="3452"/>
              <a:ext cx="470" cy="250"/>
            </a:xfrm>
            <a:prstGeom prst="rect">
              <a:avLst/>
            </a:prstGeom>
            <a:noFill/>
            <a:ln w="9525" algn="ctr">
              <a:noFill/>
              <a:miter lim="800000"/>
              <a:headEnd/>
              <a:tailEnd/>
            </a:ln>
          </p:spPr>
          <p:txBody>
            <a:bodyPr wrap="none">
              <a:spAutoFit/>
            </a:bodyPr>
            <a:lstStyle/>
            <a:p>
              <a:r>
                <a:rPr lang="en-US" altLang="zh-CN" i="1"/>
                <a:t>A</a:t>
              </a:r>
              <a:r>
                <a:rPr lang="en-US" altLang="zh-CN">
                  <a:sym typeface="Symbol" pitchFamily="18" charset="2"/>
                </a:rPr>
                <a:t></a:t>
              </a:r>
              <a:r>
                <a:rPr lang="en-US" altLang="zh-CN" i="1"/>
                <a:t>a</a:t>
              </a:r>
            </a:p>
          </p:txBody>
        </p:sp>
        <p:sp>
          <p:nvSpPr>
            <p:cNvPr id="22" name="Rectangle 33"/>
            <p:cNvSpPr>
              <a:spLocks noChangeArrowheads="1"/>
            </p:cNvSpPr>
            <p:nvPr/>
          </p:nvSpPr>
          <p:spPr bwMode="auto">
            <a:xfrm>
              <a:off x="2248" y="3860"/>
              <a:ext cx="45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a:t>
              </a:r>
            </a:p>
          </p:txBody>
        </p:sp>
        <p:sp>
          <p:nvSpPr>
            <p:cNvPr id="23" name="Rectangle 34"/>
            <p:cNvSpPr>
              <a:spLocks noChangeArrowheads="1"/>
            </p:cNvSpPr>
            <p:nvPr/>
          </p:nvSpPr>
          <p:spPr bwMode="auto">
            <a:xfrm>
              <a:off x="2971" y="3860"/>
              <a:ext cx="461" cy="250"/>
            </a:xfrm>
            <a:prstGeom prst="rect">
              <a:avLst/>
            </a:prstGeom>
            <a:noFill/>
            <a:ln w="9525" algn="ctr">
              <a:noFill/>
              <a:miter lim="800000"/>
              <a:headEnd/>
              <a:tailEnd/>
            </a:ln>
          </p:spPr>
          <p:txBody>
            <a:bodyPr wrap="none">
              <a:spAutoFit/>
            </a:bodyPr>
            <a:lstStyle/>
            <a:p>
              <a:r>
                <a:rPr lang="en-US" altLang="zh-CN" i="1"/>
                <a:t>B</a:t>
              </a:r>
              <a:r>
                <a:rPr lang="en-US" altLang="zh-CN">
                  <a:sym typeface="Symbol" pitchFamily="18" charset="2"/>
                </a:rPr>
                <a:t></a:t>
              </a:r>
              <a:r>
                <a:rPr lang="en-US" altLang="zh-CN" i="1">
                  <a:sym typeface="Symbol" pitchFamily="18" charset="2"/>
                </a:rPr>
                <a:t>c</a:t>
              </a:r>
            </a:p>
          </p:txBody>
        </p:sp>
        <p:sp>
          <p:nvSpPr>
            <p:cNvPr id="24" name="Rectangle 35"/>
            <p:cNvSpPr>
              <a:spLocks noChangeArrowheads="1"/>
            </p:cNvSpPr>
            <p:nvPr/>
          </p:nvSpPr>
          <p:spPr bwMode="auto">
            <a:xfrm>
              <a:off x="2835" y="3044"/>
              <a:ext cx="684" cy="250"/>
            </a:xfrm>
            <a:prstGeom prst="rect">
              <a:avLst/>
            </a:prstGeom>
            <a:noFill/>
            <a:ln w="9525" algn="ctr">
              <a:noFill/>
              <a:miter lim="800000"/>
              <a:headEnd/>
              <a:tailEnd/>
            </a:ln>
          </p:spPr>
          <p:txBody>
            <a:bodyPr wrap="none">
              <a:spAutoFit/>
            </a:bodyPr>
            <a:lstStyle/>
            <a:p>
              <a:r>
                <a:rPr lang="en-US" altLang="zh-CN" i="1"/>
                <a:t>S</a:t>
              </a:r>
              <a:r>
                <a:rPr lang="en-US" altLang="zh-CN">
                  <a:sym typeface="Symbol" pitchFamily="18" charset="2"/>
                </a:rPr>
                <a:t></a:t>
              </a:r>
              <a:r>
                <a:rPr lang="en-US" altLang="zh-CN" i="1"/>
                <a:t>BbS</a:t>
              </a:r>
            </a:p>
          </p:txBody>
        </p:sp>
      </p:gr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77</a:t>
            </a:fld>
            <a:endParaRPr lang="zh-CN" altLang="en-US">
              <a:solidFill>
                <a:srgbClr val="3F3F3F"/>
              </a:solidFill>
            </a:endParaRPr>
          </a:p>
        </p:txBody>
      </p:sp>
    </p:spTree>
    <p:extLst>
      <p:ext uri="{BB962C8B-B14F-4D97-AF65-F5344CB8AC3E}">
        <p14:creationId xmlns:p14="http://schemas.microsoft.com/office/powerpoint/2010/main" val="312811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6"/>
          <p:cNvSpPr>
            <a:spLocks noChangeArrowheads="1"/>
          </p:cNvSpPr>
          <p:nvPr/>
        </p:nvSpPr>
        <p:spPr bwMode="auto">
          <a:xfrm>
            <a:off x="755650" y="2060575"/>
            <a:ext cx="6575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724025"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r>
              <a:rPr lang="zh-CN" altLang="en-US" sz="2400" b="1">
                <a:solidFill>
                  <a:srgbClr val="000000"/>
                </a:solidFill>
                <a:latin typeface="Times New Roman" pitchFamily="18" charset="0"/>
              </a:rPr>
              <a:t>表</a:t>
            </a:r>
            <a:r>
              <a:rPr lang="zh-CN" altLang="en-US" sz="2400" b="1">
                <a:solidFill>
                  <a:srgbClr val="000000"/>
                </a:solidFill>
              </a:rPr>
              <a:t>5</a:t>
            </a:r>
            <a:r>
              <a:rPr lang="zh-CN" altLang="en-US" sz="2400" b="1">
                <a:solidFill>
                  <a:srgbClr val="000000"/>
                </a:solidFill>
                <a:latin typeface="Arial" pitchFamily="34" charset="0"/>
              </a:rPr>
              <a:t>.3  </a:t>
            </a:r>
            <a:r>
              <a:rPr lang="zh-CN" altLang="en-US" sz="2400" b="1">
                <a:solidFill>
                  <a:srgbClr val="000000"/>
                </a:solidFill>
                <a:latin typeface="Times New Roman" pitchFamily="18" charset="0"/>
              </a:rPr>
              <a:t>表达式文法的预测分析表</a:t>
            </a:r>
            <a:endParaRPr lang="zh-CN" altLang="en-US" sz="2400">
              <a:solidFill>
                <a:srgbClr val="000000"/>
              </a:solidFill>
              <a:latin typeface="Arial" pitchFamily="34" charset="0"/>
            </a:endParaRPr>
          </a:p>
        </p:txBody>
      </p:sp>
      <p:sp>
        <p:nvSpPr>
          <p:cNvPr id="51203" name="Text Box 136"/>
          <p:cNvSpPr txBox="1">
            <a:spLocks noChangeArrowheads="1"/>
          </p:cNvSpPr>
          <p:nvPr/>
        </p:nvSpPr>
        <p:spPr bwMode="auto">
          <a:xfrm>
            <a:off x="2627313" y="903287"/>
            <a:ext cx="1873250" cy="1182688"/>
          </a:xfrm>
          <a:prstGeom prst="rect">
            <a:avLst/>
          </a:prstGeom>
          <a:noFill/>
          <a:ln w="9525">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lnSpc>
                <a:spcPct val="85000"/>
              </a:lnSpc>
              <a:spcBef>
                <a:spcPct val="50000"/>
              </a:spcBef>
              <a:spcAft>
                <a:spcPct val="0"/>
              </a:spcAft>
            </a:pPr>
            <a:r>
              <a:rPr lang="en-US" altLang="zh-CN" sz="2000" b="1" dirty="0">
                <a:solidFill>
                  <a:srgbClr val="000000"/>
                </a:solidFill>
              </a:rPr>
              <a:t>E </a:t>
            </a:r>
            <a:r>
              <a:rPr lang="zh-CN" altLang="en-US" sz="2000" b="1" dirty="0">
                <a:solidFill>
                  <a:srgbClr val="000000"/>
                </a:solidFill>
              </a:rPr>
              <a:t>→</a:t>
            </a:r>
            <a:r>
              <a:rPr lang="en-US" altLang="zh-CN" sz="2000" b="1" dirty="0">
                <a:solidFill>
                  <a:srgbClr val="000000"/>
                </a:solidFill>
              </a:rPr>
              <a:t>E+T |T</a:t>
            </a:r>
          </a:p>
          <a:p>
            <a:pPr eaLnBrk="1" fontAlgn="base" hangingPunct="1">
              <a:lnSpc>
                <a:spcPct val="85000"/>
              </a:lnSpc>
              <a:spcBef>
                <a:spcPct val="50000"/>
              </a:spcBef>
              <a:spcAft>
                <a:spcPct val="0"/>
              </a:spcAft>
            </a:pPr>
            <a:r>
              <a:rPr lang="en-US" altLang="zh-CN" sz="2000" b="1" dirty="0">
                <a:solidFill>
                  <a:srgbClr val="000000"/>
                </a:solidFill>
              </a:rPr>
              <a:t>T→T*F|F </a:t>
            </a:r>
          </a:p>
          <a:p>
            <a:pPr eaLnBrk="1" fontAlgn="base" hangingPunct="1">
              <a:lnSpc>
                <a:spcPct val="85000"/>
              </a:lnSpc>
              <a:spcBef>
                <a:spcPct val="50000"/>
              </a:spcBef>
              <a:spcAft>
                <a:spcPct val="0"/>
              </a:spcAft>
            </a:pPr>
            <a:r>
              <a:rPr lang="en-US" altLang="zh-CN" sz="2000" b="1" dirty="0" err="1">
                <a:solidFill>
                  <a:srgbClr val="000000"/>
                </a:solidFill>
              </a:rPr>
              <a:t>F→i</a:t>
            </a:r>
            <a:r>
              <a:rPr lang="en-US" altLang="zh-CN" sz="2000" b="1" dirty="0">
                <a:solidFill>
                  <a:srgbClr val="000000"/>
                </a:solidFill>
              </a:rPr>
              <a:t> |(E)</a:t>
            </a:r>
          </a:p>
        </p:txBody>
      </p:sp>
      <p:sp>
        <p:nvSpPr>
          <p:cNvPr id="51204" name="Rectangle 137"/>
          <p:cNvSpPr>
            <a:spLocks noChangeArrowheads="1"/>
          </p:cNvSpPr>
          <p:nvPr/>
        </p:nvSpPr>
        <p:spPr bwMode="auto">
          <a:xfrm>
            <a:off x="463044" y="1268733"/>
            <a:ext cx="2219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r>
              <a:rPr lang="zh-CN" altLang="en-US" sz="2400" b="1" dirty="0">
                <a:solidFill>
                  <a:srgbClr val="990000"/>
                </a:solidFill>
              </a:rPr>
              <a:t>例如有文法为</a:t>
            </a:r>
            <a:r>
              <a:rPr lang="en-US" altLang="zh-CN" sz="2400" b="1" dirty="0">
                <a:solidFill>
                  <a:srgbClr val="990000"/>
                </a:solidFill>
              </a:rPr>
              <a:t>:</a:t>
            </a:r>
            <a:r>
              <a:rPr lang="zh-CN" altLang="en-US" sz="2400" dirty="0">
                <a:solidFill>
                  <a:srgbClr val="990000"/>
                </a:solidFill>
              </a:rPr>
              <a:t> </a:t>
            </a:r>
            <a:endParaRPr lang="en-US" altLang="zh-CN" sz="2400" b="1" dirty="0">
              <a:solidFill>
                <a:srgbClr val="990000"/>
              </a:solidFill>
            </a:endParaRPr>
          </a:p>
        </p:txBody>
      </p:sp>
      <p:sp>
        <p:nvSpPr>
          <p:cNvPr id="51205" name="Text Box 138"/>
          <p:cNvSpPr txBox="1">
            <a:spLocks noChangeArrowheads="1"/>
          </p:cNvSpPr>
          <p:nvPr/>
        </p:nvSpPr>
        <p:spPr bwMode="auto">
          <a:xfrm>
            <a:off x="4708526" y="1067593"/>
            <a:ext cx="33845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50000"/>
              </a:spcBef>
              <a:spcAft>
                <a:spcPct val="0"/>
              </a:spcAft>
            </a:pPr>
            <a:r>
              <a:rPr lang="en-US" altLang="zh-CN" sz="2000" b="1" dirty="0">
                <a:solidFill>
                  <a:srgbClr val="000000"/>
                </a:solidFill>
              </a:rPr>
              <a:t>1.</a:t>
            </a:r>
            <a:r>
              <a:rPr lang="zh-CN" altLang="en-US" sz="2000" b="1" dirty="0">
                <a:solidFill>
                  <a:srgbClr val="000000"/>
                </a:solidFill>
              </a:rPr>
              <a:t>判断文法是否为</a:t>
            </a:r>
            <a:r>
              <a:rPr lang="en-US" altLang="zh-CN" sz="2000" b="1" dirty="0">
                <a:solidFill>
                  <a:srgbClr val="000000"/>
                </a:solidFill>
              </a:rPr>
              <a:t>LL(1)</a:t>
            </a:r>
            <a:r>
              <a:rPr lang="zh-CN" altLang="en-US" sz="2000" b="1" dirty="0">
                <a:solidFill>
                  <a:srgbClr val="000000"/>
                </a:solidFill>
              </a:rPr>
              <a:t>的</a:t>
            </a:r>
            <a:r>
              <a:rPr lang="en-US" altLang="zh-CN" sz="2000" b="1" dirty="0">
                <a:solidFill>
                  <a:srgbClr val="000000"/>
                </a:solidFill>
              </a:rPr>
              <a:t>?</a:t>
            </a:r>
          </a:p>
          <a:p>
            <a:pPr eaLnBrk="1" fontAlgn="base" hangingPunct="1">
              <a:spcBef>
                <a:spcPct val="50000"/>
              </a:spcBef>
              <a:spcAft>
                <a:spcPct val="0"/>
              </a:spcAft>
            </a:pPr>
            <a:r>
              <a:rPr lang="en-US" altLang="zh-CN" sz="2000" b="1" dirty="0">
                <a:solidFill>
                  <a:srgbClr val="000000"/>
                </a:solidFill>
              </a:rPr>
              <a:t>2.</a:t>
            </a:r>
            <a:r>
              <a:rPr lang="zh-CN" altLang="en-US" sz="2000" b="1" dirty="0">
                <a:solidFill>
                  <a:srgbClr val="000000"/>
                </a:solidFill>
              </a:rPr>
              <a:t>构造预测分析表</a:t>
            </a:r>
          </a:p>
        </p:txBody>
      </p:sp>
      <p:grpSp>
        <p:nvGrpSpPr>
          <p:cNvPr id="51206" name="Group 143"/>
          <p:cNvGrpSpPr>
            <a:grpSpLocks/>
          </p:cNvGrpSpPr>
          <p:nvPr/>
        </p:nvGrpSpPr>
        <p:grpSpPr bwMode="auto">
          <a:xfrm>
            <a:off x="673100" y="2625725"/>
            <a:ext cx="7859713" cy="3611563"/>
            <a:chOff x="424" y="1654"/>
            <a:chExt cx="4951" cy="2275"/>
          </a:xfrm>
        </p:grpSpPr>
        <p:grpSp>
          <p:nvGrpSpPr>
            <p:cNvPr id="51207" name="Group 50"/>
            <p:cNvGrpSpPr>
              <a:grpSpLocks/>
            </p:cNvGrpSpPr>
            <p:nvPr/>
          </p:nvGrpSpPr>
          <p:grpSpPr bwMode="auto">
            <a:xfrm>
              <a:off x="428" y="1657"/>
              <a:ext cx="752" cy="431"/>
              <a:chOff x="0" y="518"/>
              <a:chExt cx="596" cy="499"/>
            </a:xfrm>
          </p:grpSpPr>
          <p:sp>
            <p:nvSpPr>
              <p:cNvPr id="51332" name="Rectangle 7"/>
              <p:cNvSpPr>
                <a:spLocks noChangeArrowheads="1"/>
              </p:cNvSpPr>
              <p:nvPr/>
            </p:nvSpPr>
            <p:spPr bwMode="auto">
              <a:xfrm>
                <a:off x="43" y="518"/>
                <a:ext cx="510"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just" fontAlgn="base">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just" fontAlgn="base">
                  <a:spcBef>
                    <a:spcPct val="0"/>
                  </a:spcBef>
                  <a:spcAft>
                    <a:spcPct val="0"/>
                  </a:spcAft>
                </a:pPr>
                <a:endParaRPr lang="zh-CN" altLang="en-US" sz="1800" b="1">
                  <a:solidFill>
                    <a:srgbClr val="000000"/>
                  </a:solidFill>
                  <a:latin typeface="Arial" pitchFamily="34" charset="0"/>
                </a:endParaRPr>
              </a:p>
            </p:txBody>
          </p:sp>
          <p:sp>
            <p:nvSpPr>
              <p:cNvPr id="51333" name="Rectangle 49"/>
              <p:cNvSpPr>
                <a:spLocks noChangeArrowheads="1"/>
              </p:cNvSpPr>
              <p:nvPr/>
            </p:nvSpPr>
            <p:spPr bwMode="auto">
              <a:xfrm>
                <a:off x="0" y="518"/>
                <a:ext cx="596" cy="49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08" name="Group 52"/>
            <p:cNvGrpSpPr>
              <a:grpSpLocks/>
            </p:cNvGrpSpPr>
            <p:nvPr/>
          </p:nvGrpSpPr>
          <p:grpSpPr bwMode="auto">
            <a:xfrm>
              <a:off x="1180" y="1657"/>
              <a:ext cx="721" cy="431"/>
              <a:chOff x="596" y="518"/>
              <a:chExt cx="572" cy="499"/>
            </a:xfrm>
          </p:grpSpPr>
          <p:sp>
            <p:nvSpPr>
              <p:cNvPr id="51330" name="Rectangle 8"/>
              <p:cNvSpPr>
                <a:spLocks noChangeArrowheads="1"/>
              </p:cNvSpPr>
              <p:nvPr/>
            </p:nvSpPr>
            <p:spPr bwMode="auto">
              <a:xfrm>
                <a:off x="639" y="518"/>
                <a:ext cx="486"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en-US" altLang="zh-CN" sz="1800" b="1">
                    <a:solidFill>
                      <a:srgbClr val="000000"/>
                    </a:solidFill>
                    <a:latin typeface="Arial" pitchFamily="34" charset="0"/>
                  </a:rPr>
                  <a:t>i</a:t>
                </a:r>
              </a:p>
              <a:p>
                <a:pPr algn="ctr" fontAlgn="base">
                  <a:spcBef>
                    <a:spcPct val="0"/>
                  </a:spcBef>
                  <a:spcAft>
                    <a:spcPct val="0"/>
                  </a:spcAft>
                </a:pPr>
                <a:endParaRPr lang="en-US" altLang="zh-CN" sz="1800" b="1">
                  <a:solidFill>
                    <a:srgbClr val="000000"/>
                  </a:solidFill>
                  <a:latin typeface="Arial" pitchFamily="34" charset="0"/>
                </a:endParaRPr>
              </a:p>
            </p:txBody>
          </p:sp>
          <p:sp>
            <p:nvSpPr>
              <p:cNvPr id="51331" name="Rectangle 51"/>
              <p:cNvSpPr>
                <a:spLocks noChangeArrowheads="1"/>
              </p:cNvSpPr>
              <p:nvPr/>
            </p:nvSpPr>
            <p:spPr bwMode="auto">
              <a:xfrm>
                <a:off x="596" y="518"/>
                <a:ext cx="572" cy="49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09" name="Group 54"/>
            <p:cNvGrpSpPr>
              <a:grpSpLocks/>
            </p:cNvGrpSpPr>
            <p:nvPr/>
          </p:nvGrpSpPr>
          <p:grpSpPr bwMode="auto">
            <a:xfrm>
              <a:off x="1901" y="1657"/>
              <a:ext cx="744" cy="431"/>
              <a:chOff x="1168" y="518"/>
              <a:chExt cx="590" cy="499"/>
            </a:xfrm>
          </p:grpSpPr>
          <p:sp>
            <p:nvSpPr>
              <p:cNvPr id="51328" name="Rectangle 9"/>
              <p:cNvSpPr>
                <a:spLocks noChangeArrowheads="1"/>
              </p:cNvSpPr>
              <p:nvPr/>
            </p:nvSpPr>
            <p:spPr bwMode="auto">
              <a:xfrm>
                <a:off x="1211" y="518"/>
                <a:ext cx="504"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p>
              <a:p>
                <a:pPr algn="ctr" fontAlgn="base">
                  <a:spcBef>
                    <a:spcPct val="0"/>
                  </a:spcBef>
                  <a:spcAft>
                    <a:spcPct val="0"/>
                  </a:spcAft>
                </a:pPr>
                <a:endParaRPr lang="zh-CN" altLang="en-US" sz="1800" b="1">
                  <a:solidFill>
                    <a:srgbClr val="000000"/>
                  </a:solidFill>
                  <a:latin typeface="Arial" pitchFamily="34" charset="0"/>
                </a:endParaRPr>
              </a:p>
            </p:txBody>
          </p:sp>
          <p:sp>
            <p:nvSpPr>
              <p:cNvPr id="51329" name="Rectangle 53"/>
              <p:cNvSpPr>
                <a:spLocks noChangeArrowheads="1"/>
              </p:cNvSpPr>
              <p:nvPr/>
            </p:nvSpPr>
            <p:spPr bwMode="auto">
              <a:xfrm>
                <a:off x="1168" y="518"/>
                <a:ext cx="590" cy="49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10" name="Group 56"/>
            <p:cNvGrpSpPr>
              <a:grpSpLocks/>
            </p:cNvGrpSpPr>
            <p:nvPr/>
          </p:nvGrpSpPr>
          <p:grpSpPr bwMode="auto">
            <a:xfrm>
              <a:off x="2645" y="1657"/>
              <a:ext cx="744" cy="431"/>
              <a:chOff x="1758" y="518"/>
              <a:chExt cx="590" cy="499"/>
            </a:xfrm>
          </p:grpSpPr>
          <p:sp>
            <p:nvSpPr>
              <p:cNvPr id="51326" name="Rectangle 10"/>
              <p:cNvSpPr>
                <a:spLocks noChangeArrowheads="1"/>
              </p:cNvSpPr>
              <p:nvPr/>
            </p:nvSpPr>
            <p:spPr bwMode="auto">
              <a:xfrm>
                <a:off x="1801" y="518"/>
                <a:ext cx="504"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2400" b="1">
                    <a:solidFill>
                      <a:srgbClr val="000000"/>
                    </a:solidFill>
                    <a:latin typeface="Arial" pitchFamily="34" charset="0"/>
                  </a:rPr>
                  <a:t>*</a:t>
                </a:r>
              </a:p>
              <a:p>
                <a:pPr algn="ctr" fontAlgn="base">
                  <a:spcBef>
                    <a:spcPct val="0"/>
                  </a:spcBef>
                  <a:spcAft>
                    <a:spcPct val="0"/>
                  </a:spcAft>
                </a:pPr>
                <a:endParaRPr lang="zh-CN" altLang="en-US" sz="2400" b="1">
                  <a:solidFill>
                    <a:srgbClr val="000000"/>
                  </a:solidFill>
                  <a:latin typeface="Arial" pitchFamily="34" charset="0"/>
                </a:endParaRPr>
              </a:p>
            </p:txBody>
          </p:sp>
          <p:sp>
            <p:nvSpPr>
              <p:cNvPr id="51327" name="Rectangle 55"/>
              <p:cNvSpPr>
                <a:spLocks noChangeArrowheads="1"/>
              </p:cNvSpPr>
              <p:nvPr/>
            </p:nvSpPr>
            <p:spPr bwMode="auto">
              <a:xfrm>
                <a:off x="1758" y="518"/>
                <a:ext cx="590" cy="49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11" name="Group 58"/>
            <p:cNvGrpSpPr>
              <a:grpSpLocks/>
            </p:cNvGrpSpPr>
            <p:nvPr/>
          </p:nvGrpSpPr>
          <p:grpSpPr bwMode="auto">
            <a:xfrm>
              <a:off x="3389" y="1657"/>
              <a:ext cx="653" cy="431"/>
              <a:chOff x="2348" y="518"/>
              <a:chExt cx="518" cy="499"/>
            </a:xfrm>
          </p:grpSpPr>
          <p:sp>
            <p:nvSpPr>
              <p:cNvPr id="51324" name="Rectangle 11"/>
              <p:cNvSpPr>
                <a:spLocks noChangeArrowheads="1"/>
              </p:cNvSpPr>
              <p:nvPr/>
            </p:nvSpPr>
            <p:spPr bwMode="auto">
              <a:xfrm>
                <a:off x="2391" y="518"/>
                <a:ext cx="432"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p>
              <a:p>
                <a:pPr algn="ctr" fontAlgn="base">
                  <a:spcBef>
                    <a:spcPct val="0"/>
                  </a:spcBef>
                  <a:spcAft>
                    <a:spcPct val="0"/>
                  </a:spcAft>
                </a:pPr>
                <a:endParaRPr lang="zh-CN" altLang="en-US" sz="1800" b="1">
                  <a:solidFill>
                    <a:srgbClr val="000000"/>
                  </a:solidFill>
                  <a:latin typeface="Arial" pitchFamily="34" charset="0"/>
                </a:endParaRPr>
              </a:p>
            </p:txBody>
          </p:sp>
          <p:sp>
            <p:nvSpPr>
              <p:cNvPr id="51325" name="Rectangle 57"/>
              <p:cNvSpPr>
                <a:spLocks noChangeArrowheads="1"/>
              </p:cNvSpPr>
              <p:nvPr/>
            </p:nvSpPr>
            <p:spPr bwMode="auto">
              <a:xfrm>
                <a:off x="2348" y="518"/>
                <a:ext cx="518" cy="49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12" name="Group 60"/>
            <p:cNvGrpSpPr>
              <a:grpSpLocks/>
            </p:cNvGrpSpPr>
            <p:nvPr/>
          </p:nvGrpSpPr>
          <p:grpSpPr bwMode="auto">
            <a:xfrm>
              <a:off x="4042" y="1657"/>
              <a:ext cx="721" cy="431"/>
              <a:chOff x="2866" y="518"/>
              <a:chExt cx="572" cy="499"/>
            </a:xfrm>
          </p:grpSpPr>
          <p:sp>
            <p:nvSpPr>
              <p:cNvPr id="51322" name="Rectangle 12"/>
              <p:cNvSpPr>
                <a:spLocks noChangeArrowheads="1"/>
              </p:cNvSpPr>
              <p:nvPr/>
            </p:nvSpPr>
            <p:spPr bwMode="auto">
              <a:xfrm>
                <a:off x="2909" y="518"/>
                <a:ext cx="486"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p>
              <a:p>
                <a:pPr algn="ctr" fontAlgn="base">
                  <a:spcBef>
                    <a:spcPct val="0"/>
                  </a:spcBef>
                  <a:spcAft>
                    <a:spcPct val="0"/>
                  </a:spcAft>
                </a:pPr>
                <a:endParaRPr lang="zh-CN" altLang="en-US" sz="1800" b="1">
                  <a:solidFill>
                    <a:srgbClr val="000000"/>
                  </a:solidFill>
                  <a:latin typeface="Arial" pitchFamily="34" charset="0"/>
                </a:endParaRPr>
              </a:p>
            </p:txBody>
          </p:sp>
          <p:sp>
            <p:nvSpPr>
              <p:cNvPr id="51323" name="Rectangle 59"/>
              <p:cNvSpPr>
                <a:spLocks noChangeArrowheads="1"/>
              </p:cNvSpPr>
              <p:nvPr/>
            </p:nvSpPr>
            <p:spPr bwMode="auto">
              <a:xfrm>
                <a:off x="2866" y="518"/>
                <a:ext cx="572" cy="49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13" name="Group 62"/>
            <p:cNvGrpSpPr>
              <a:grpSpLocks/>
            </p:cNvGrpSpPr>
            <p:nvPr/>
          </p:nvGrpSpPr>
          <p:grpSpPr bwMode="auto">
            <a:xfrm>
              <a:off x="4763" y="1657"/>
              <a:ext cx="608" cy="431"/>
              <a:chOff x="3438" y="518"/>
              <a:chExt cx="482" cy="499"/>
            </a:xfrm>
          </p:grpSpPr>
          <p:sp>
            <p:nvSpPr>
              <p:cNvPr id="51320" name="Rectangle 13"/>
              <p:cNvSpPr>
                <a:spLocks noChangeArrowheads="1"/>
              </p:cNvSpPr>
              <p:nvPr/>
            </p:nvSpPr>
            <p:spPr bwMode="auto">
              <a:xfrm>
                <a:off x="3481" y="518"/>
                <a:ext cx="396"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p>
              <a:p>
                <a:pPr algn="ctr" fontAlgn="base">
                  <a:spcBef>
                    <a:spcPct val="0"/>
                  </a:spcBef>
                  <a:spcAft>
                    <a:spcPct val="0"/>
                  </a:spcAft>
                </a:pPr>
                <a:endParaRPr lang="zh-CN" altLang="en-US" sz="1800" b="1">
                  <a:solidFill>
                    <a:srgbClr val="000000"/>
                  </a:solidFill>
                  <a:latin typeface="Arial" pitchFamily="34" charset="0"/>
                </a:endParaRPr>
              </a:p>
            </p:txBody>
          </p:sp>
          <p:sp>
            <p:nvSpPr>
              <p:cNvPr id="51321" name="Rectangle 61"/>
              <p:cNvSpPr>
                <a:spLocks noChangeArrowheads="1"/>
              </p:cNvSpPr>
              <p:nvPr/>
            </p:nvSpPr>
            <p:spPr bwMode="auto">
              <a:xfrm>
                <a:off x="3438" y="518"/>
                <a:ext cx="482" cy="49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14" name="Group 64"/>
            <p:cNvGrpSpPr>
              <a:grpSpLocks/>
            </p:cNvGrpSpPr>
            <p:nvPr/>
          </p:nvGrpSpPr>
          <p:grpSpPr bwMode="auto">
            <a:xfrm>
              <a:off x="428" y="2224"/>
              <a:ext cx="752" cy="299"/>
              <a:chOff x="0" y="1017"/>
              <a:chExt cx="596" cy="518"/>
            </a:xfrm>
          </p:grpSpPr>
          <p:sp>
            <p:nvSpPr>
              <p:cNvPr id="51318" name="Rectangle 14"/>
              <p:cNvSpPr>
                <a:spLocks noChangeArrowheads="1"/>
              </p:cNvSpPr>
              <p:nvPr/>
            </p:nvSpPr>
            <p:spPr bwMode="auto">
              <a:xfrm>
                <a:off x="43" y="1017"/>
                <a:ext cx="51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en-US" altLang="zh-CN" sz="1800" b="1">
                    <a:solidFill>
                      <a:srgbClr val="000000"/>
                    </a:solidFill>
                    <a:latin typeface="Arial" pitchFamily="34" charset="0"/>
                  </a:rPr>
                  <a:t>E</a:t>
                </a:r>
              </a:p>
            </p:txBody>
          </p:sp>
          <p:sp>
            <p:nvSpPr>
              <p:cNvPr id="51319" name="Rectangle 63"/>
              <p:cNvSpPr>
                <a:spLocks noChangeArrowheads="1"/>
              </p:cNvSpPr>
              <p:nvPr/>
            </p:nvSpPr>
            <p:spPr bwMode="auto">
              <a:xfrm>
                <a:off x="0" y="1017"/>
                <a:ext cx="59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a:tailEnd/>
                  </a14:hiddenLine>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15" name="Group 66"/>
            <p:cNvGrpSpPr>
              <a:grpSpLocks/>
            </p:cNvGrpSpPr>
            <p:nvPr/>
          </p:nvGrpSpPr>
          <p:grpSpPr bwMode="auto">
            <a:xfrm>
              <a:off x="1156" y="2212"/>
              <a:ext cx="721" cy="447"/>
              <a:chOff x="596" y="1017"/>
              <a:chExt cx="572" cy="518"/>
            </a:xfrm>
          </p:grpSpPr>
          <p:sp>
            <p:nvSpPr>
              <p:cNvPr id="51316" name="Rectangle 15"/>
              <p:cNvSpPr>
                <a:spLocks noChangeArrowheads="1"/>
              </p:cNvSpPr>
              <p:nvPr/>
            </p:nvSpPr>
            <p:spPr bwMode="auto">
              <a:xfrm>
                <a:off x="639" y="1017"/>
                <a:ext cx="48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TE′</a:t>
                </a:r>
              </a:p>
            </p:txBody>
          </p:sp>
          <p:sp>
            <p:nvSpPr>
              <p:cNvPr id="51317" name="Rectangle 65"/>
              <p:cNvSpPr>
                <a:spLocks noChangeArrowheads="1"/>
              </p:cNvSpPr>
              <p:nvPr/>
            </p:nvSpPr>
            <p:spPr bwMode="auto">
              <a:xfrm>
                <a:off x="596" y="1017"/>
                <a:ext cx="57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a:tailEnd/>
                  </a14:hiddenLine>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16" name="Group 68"/>
            <p:cNvGrpSpPr>
              <a:grpSpLocks/>
            </p:cNvGrpSpPr>
            <p:nvPr/>
          </p:nvGrpSpPr>
          <p:grpSpPr bwMode="auto">
            <a:xfrm>
              <a:off x="1901" y="2088"/>
              <a:ext cx="744" cy="447"/>
              <a:chOff x="1168" y="1017"/>
              <a:chExt cx="590" cy="518"/>
            </a:xfrm>
          </p:grpSpPr>
          <p:sp>
            <p:nvSpPr>
              <p:cNvPr id="51314" name="Rectangle 16"/>
              <p:cNvSpPr>
                <a:spLocks noChangeArrowheads="1"/>
              </p:cNvSpPr>
              <p:nvPr/>
            </p:nvSpPr>
            <p:spPr bwMode="auto">
              <a:xfrm>
                <a:off x="1211" y="1017"/>
                <a:ext cx="50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315" name="Rectangle 67"/>
              <p:cNvSpPr>
                <a:spLocks noChangeArrowheads="1"/>
              </p:cNvSpPr>
              <p:nvPr/>
            </p:nvSpPr>
            <p:spPr bwMode="auto">
              <a:xfrm>
                <a:off x="1168" y="1017"/>
                <a:ext cx="590"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17" name="Group 70"/>
            <p:cNvGrpSpPr>
              <a:grpSpLocks/>
            </p:cNvGrpSpPr>
            <p:nvPr/>
          </p:nvGrpSpPr>
          <p:grpSpPr bwMode="auto">
            <a:xfrm>
              <a:off x="2645" y="2088"/>
              <a:ext cx="744" cy="447"/>
              <a:chOff x="1758" y="1017"/>
              <a:chExt cx="590" cy="518"/>
            </a:xfrm>
          </p:grpSpPr>
          <p:sp>
            <p:nvSpPr>
              <p:cNvPr id="51312" name="Rectangle 17"/>
              <p:cNvSpPr>
                <a:spLocks noChangeArrowheads="1"/>
              </p:cNvSpPr>
              <p:nvPr/>
            </p:nvSpPr>
            <p:spPr bwMode="auto">
              <a:xfrm>
                <a:off x="1801" y="1017"/>
                <a:ext cx="50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313" name="Rectangle 69"/>
              <p:cNvSpPr>
                <a:spLocks noChangeArrowheads="1"/>
              </p:cNvSpPr>
              <p:nvPr/>
            </p:nvSpPr>
            <p:spPr bwMode="auto">
              <a:xfrm>
                <a:off x="1758" y="1017"/>
                <a:ext cx="590"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18" name="Group 72"/>
            <p:cNvGrpSpPr>
              <a:grpSpLocks/>
            </p:cNvGrpSpPr>
            <p:nvPr/>
          </p:nvGrpSpPr>
          <p:grpSpPr bwMode="auto">
            <a:xfrm>
              <a:off x="3379" y="2212"/>
              <a:ext cx="653" cy="447"/>
              <a:chOff x="2348" y="1017"/>
              <a:chExt cx="518" cy="518"/>
            </a:xfrm>
          </p:grpSpPr>
          <p:sp>
            <p:nvSpPr>
              <p:cNvPr id="51310" name="Rectangle 18"/>
              <p:cNvSpPr>
                <a:spLocks noChangeArrowheads="1"/>
              </p:cNvSpPr>
              <p:nvPr/>
            </p:nvSpPr>
            <p:spPr bwMode="auto">
              <a:xfrm>
                <a:off x="2391" y="1017"/>
                <a:ext cx="43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TE</a:t>
                </a:r>
                <a:r>
                  <a:rPr lang="en-US" altLang="zh-CN" sz="1800" b="1">
                    <a:solidFill>
                      <a:srgbClr val="000000"/>
                    </a:solidFill>
                    <a:latin typeface="Arial" pitchFamily="34" charset="0"/>
                    <a:cs typeface="Arial" pitchFamily="34" charset="0"/>
                  </a:rPr>
                  <a:t>'</a:t>
                </a:r>
              </a:p>
              <a:p>
                <a:pPr algn="ctr" fontAlgn="base">
                  <a:spcBef>
                    <a:spcPct val="0"/>
                  </a:spcBef>
                  <a:spcAft>
                    <a:spcPct val="0"/>
                  </a:spcAft>
                </a:pPr>
                <a:endParaRPr lang="en-US" altLang="zh-CN" sz="1800" b="1">
                  <a:solidFill>
                    <a:srgbClr val="000000"/>
                  </a:solidFill>
                  <a:latin typeface="Arial" pitchFamily="34" charset="0"/>
                </a:endParaRPr>
              </a:p>
            </p:txBody>
          </p:sp>
          <p:sp>
            <p:nvSpPr>
              <p:cNvPr id="51311" name="Rectangle 71"/>
              <p:cNvSpPr>
                <a:spLocks noChangeArrowheads="1"/>
              </p:cNvSpPr>
              <p:nvPr/>
            </p:nvSpPr>
            <p:spPr bwMode="auto">
              <a:xfrm>
                <a:off x="2348" y="1017"/>
                <a:ext cx="51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a:tailEnd/>
                  </a14:hiddenLine>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19" name="Group 74"/>
            <p:cNvGrpSpPr>
              <a:grpSpLocks/>
            </p:cNvGrpSpPr>
            <p:nvPr/>
          </p:nvGrpSpPr>
          <p:grpSpPr bwMode="auto">
            <a:xfrm>
              <a:off x="4042" y="2088"/>
              <a:ext cx="721" cy="447"/>
              <a:chOff x="2866" y="1017"/>
              <a:chExt cx="572" cy="518"/>
            </a:xfrm>
          </p:grpSpPr>
          <p:sp>
            <p:nvSpPr>
              <p:cNvPr id="51308" name="Rectangle 19"/>
              <p:cNvSpPr>
                <a:spLocks noChangeArrowheads="1"/>
              </p:cNvSpPr>
              <p:nvPr/>
            </p:nvSpPr>
            <p:spPr bwMode="auto">
              <a:xfrm>
                <a:off x="2909" y="1017"/>
                <a:ext cx="48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309" name="Rectangle 73"/>
              <p:cNvSpPr>
                <a:spLocks noChangeArrowheads="1"/>
              </p:cNvSpPr>
              <p:nvPr/>
            </p:nvSpPr>
            <p:spPr bwMode="auto">
              <a:xfrm>
                <a:off x="2866" y="1017"/>
                <a:ext cx="572"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20" name="Group 76"/>
            <p:cNvGrpSpPr>
              <a:grpSpLocks/>
            </p:cNvGrpSpPr>
            <p:nvPr/>
          </p:nvGrpSpPr>
          <p:grpSpPr bwMode="auto">
            <a:xfrm>
              <a:off x="4763" y="2088"/>
              <a:ext cx="608" cy="447"/>
              <a:chOff x="3438" y="1017"/>
              <a:chExt cx="482" cy="518"/>
            </a:xfrm>
          </p:grpSpPr>
          <p:sp>
            <p:nvSpPr>
              <p:cNvPr id="51306" name="Rectangle 20"/>
              <p:cNvSpPr>
                <a:spLocks noChangeArrowheads="1"/>
              </p:cNvSpPr>
              <p:nvPr/>
            </p:nvSpPr>
            <p:spPr bwMode="auto">
              <a:xfrm>
                <a:off x="3481" y="1017"/>
                <a:ext cx="39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307" name="Rectangle 75"/>
              <p:cNvSpPr>
                <a:spLocks noChangeArrowheads="1"/>
              </p:cNvSpPr>
              <p:nvPr/>
            </p:nvSpPr>
            <p:spPr bwMode="auto">
              <a:xfrm>
                <a:off x="3438" y="1017"/>
                <a:ext cx="482" cy="51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21" name="Group 78"/>
            <p:cNvGrpSpPr>
              <a:grpSpLocks/>
            </p:cNvGrpSpPr>
            <p:nvPr/>
          </p:nvGrpSpPr>
          <p:grpSpPr bwMode="auto">
            <a:xfrm>
              <a:off x="428" y="2535"/>
              <a:ext cx="752" cy="348"/>
              <a:chOff x="0" y="1535"/>
              <a:chExt cx="596" cy="403"/>
            </a:xfrm>
          </p:grpSpPr>
          <p:sp>
            <p:nvSpPr>
              <p:cNvPr id="51304" name="Rectangle 21"/>
              <p:cNvSpPr>
                <a:spLocks noChangeArrowheads="1"/>
              </p:cNvSpPr>
              <p:nvPr/>
            </p:nvSpPr>
            <p:spPr bwMode="auto">
              <a:xfrm>
                <a:off x="43" y="1535"/>
                <a:ext cx="51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en-US" altLang="zh-CN" sz="1800" b="1">
                    <a:solidFill>
                      <a:srgbClr val="000000"/>
                    </a:solidFill>
                    <a:latin typeface="Arial" pitchFamily="34" charset="0"/>
                  </a:rPr>
                  <a:t>   E′</a:t>
                </a:r>
              </a:p>
              <a:p>
                <a:pPr algn="ctr" fontAlgn="base">
                  <a:spcBef>
                    <a:spcPct val="0"/>
                  </a:spcBef>
                  <a:spcAft>
                    <a:spcPct val="0"/>
                  </a:spcAft>
                </a:pPr>
                <a:endParaRPr lang="en-US" altLang="zh-CN" sz="1800" b="1">
                  <a:solidFill>
                    <a:srgbClr val="000000"/>
                  </a:solidFill>
                  <a:latin typeface="Arial" pitchFamily="34" charset="0"/>
                </a:endParaRPr>
              </a:p>
            </p:txBody>
          </p:sp>
          <p:sp>
            <p:nvSpPr>
              <p:cNvPr id="51305" name="Rectangle 77"/>
              <p:cNvSpPr>
                <a:spLocks noChangeArrowheads="1"/>
              </p:cNvSpPr>
              <p:nvPr/>
            </p:nvSpPr>
            <p:spPr bwMode="auto">
              <a:xfrm>
                <a:off x="0" y="1535"/>
                <a:ext cx="59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22" name="Group 80"/>
            <p:cNvGrpSpPr>
              <a:grpSpLocks/>
            </p:cNvGrpSpPr>
            <p:nvPr/>
          </p:nvGrpSpPr>
          <p:grpSpPr bwMode="auto">
            <a:xfrm>
              <a:off x="1181" y="2540"/>
              <a:ext cx="721" cy="348"/>
              <a:chOff x="596" y="1535"/>
              <a:chExt cx="572" cy="403"/>
            </a:xfrm>
          </p:grpSpPr>
          <p:sp>
            <p:nvSpPr>
              <p:cNvPr id="51302" name="Rectangle 22"/>
              <p:cNvSpPr>
                <a:spLocks noChangeArrowheads="1"/>
              </p:cNvSpPr>
              <p:nvPr/>
            </p:nvSpPr>
            <p:spPr bwMode="auto">
              <a:xfrm>
                <a:off x="639" y="1535"/>
                <a:ext cx="48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303" name="Rectangle 79"/>
              <p:cNvSpPr>
                <a:spLocks noChangeArrowheads="1"/>
              </p:cNvSpPr>
              <p:nvPr/>
            </p:nvSpPr>
            <p:spPr bwMode="auto">
              <a:xfrm>
                <a:off x="596" y="1535"/>
                <a:ext cx="57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sp>
          <p:nvSpPr>
            <p:cNvPr id="51223" name="Rectangle 23"/>
            <p:cNvSpPr>
              <a:spLocks noChangeArrowheads="1"/>
            </p:cNvSpPr>
            <p:nvPr/>
          </p:nvSpPr>
          <p:spPr bwMode="auto">
            <a:xfrm>
              <a:off x="1927" y="2535"/>
              <a:ext cx="86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TE′</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24" name="Rectangle 81"/>
            <p:cNvSpPr>
              <a:spLocks noChangeArrowheads="1"/>
            </p:cNvSpPr>
            <p:nvPr/>
          </p:nvSpPr>
          <p:spPr bwMode="auto">
            <a:xfrm>
              <a:off x="1901" y="2535"/>
              <a:ext cx="744"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a:tailEnd/>
                </a14:hiddenLine>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nvGrpSpPr>
            <p:cNvPr id="51225" name="Group 84"/>
            <p:cNvGrpSpPr>
              <a:grpSpLocks/>
            </p:cNvGrpSpPr>
            <p:nvPr/>
          </p:nvGrpSpPr>
          <p:grpSpPr bwMode="auto">
            <a:xfrm>
              <a:off x="2645" y="2535"/>
              <a:ext cx="744" cy="348"/>
              <a:chOff x="1758" y="1535"/>
              <a:chExt cx="590" cy="403"/>
            </a:xfrm>
          </p:grpSpPr>
          <p:sp>
            <p:nvSpPr>
              <p:cNvPr id="51300" name="Rectangle 24"/>
              <p:cNvSpPr>
                <a:spLocks noChangeArrowheads="1"/>
              </p:cNvSpPr>
              <p:nvPr/>
            </p:nvSpPr>
            <p:spPr bwMode="auto">
              <a:xfrm>
                <a:off x="1801" y="1535"/>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301" name="Rectangle 83"/>
              <p:cNvSpPr>
                <a:spLocks noChangeArrowheads="1"/>
              </p:cNvSpPr>
              <p:nvPr/>
            </p:nvSpPr>
            <p:spPr bwMode="auto">
              <a:xfrm>
                <a:off x="1758" y="1535"/>
                <a:ext cx="5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26" name="Group 86"/>
            <p:cNvGrpSpPr>
              <a:grpSpLocks/>
            </p:cNvGrpSpPr>
            <p:nvPr/>
          </p:nvGrpSpPr>
          <p:grpSpPr bwMode="auto">
            <a:xfrm>
              <a:off x="3389" y="2535"/>
              <a:ext cx="653" cy="348"/>
              <a:chOff x="2348" y="1535"/>
              <a:chExt cx="518" cy="403"/>
            </a:xfrm>
          </p:grpSpPr>
          <p:sp>
            <p:nvSpPr>
              <p:cNvPr id="51298" name="Rectangle 25"/>
              <p:cNvSpPr>
                <a:spLocks noChangeArrowheads="1"/>
              </p:cNvSpPr>
              <p:nvPr/>
            </p:nvSpPr>
            <p:spPr bwMode="auto">
              <a:xfrm>
                <a:off x="2391" y="1535"/>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299" name="Rectangle 85"/>
              <p:cNvSpPr>
                <a:spLocks noChangeArrowheads="1"/>
              </p:cNvSpPr>
              <p:nvPr/>
            </p:nvSpPr>
            <p:spPr bwMode="auto">
              <a:xfrm>
                <a:off x="2348" y="1535"/>
                <a:ext cx="51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27" name="Group 88"/>
            <p:cNvGrpSpPr>
              <a:grpSpLocks/>
            </p:cNvGrpSpPr>
            <p:nvPr/>
          </p:nvGrpSpPr>
          <p:grpSpPr bwMode="auto">
            <a:xfrm>
              <a:off x="4042" y="2535"/>
              <a:ext cx="721" cy="348"/>
              <a:chOff x="2866" y="1535"/>
              <a:chExt cx="572" cy="403"/>
            </a:xfrm>
          </p:grpSpPr>
          <p:sp>
            <p:nvSpPr>
              <p:cNvPr id="51296" name="Rectangle 26"/>
              <p:cNvSpPr>
                <a:spLocks noChangeArrowheads="1"/>
              </p:cNvSpPr>
              <p:nvPr/>
            </p:nvSpPr>
            <p:spPr bwMode="auto">
              <a:xfrm>
                <a:off x="2909" y="1535"/>
                <a:ext cx="48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ε</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97" name="Rectangle 87"/>
              <p:cNvSpPr>
                <a:spLocks noChangeArrowheads="1"/>
              </p:cNvSpPr>
              <p:nvPr/>
            </p:nvSpPr>
            <p:spPr bwMode="auto">
              <a:xfrm>
                <a:off x="2866" y="1535"/>
                <a:ext cx="57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28" name="Group 90"/>
            <p:cNvGrpSpPr>
              <a:grpSpLocks/>
            </p:cNvGrpSpPr>
            <p:nvPr/>
          </p:nvGrpSpPr>
          <p:grpSpPr bwMode="auto">
            <a:xfrm>
              <a:off x="4763" y="2535"/>
              <a:ext cx="608" cy="348"/>
              <a:chOff x="3438" y="1535"/>
              <a:chExt cx="482" cy="403"/>
            </a:xfrm>
          </p:grpSpPr>
          <p:sp>
            <p:nvSpPr>
              <p:cNvPr id="51294" name="Rectangle 27"/>
              <p:cNvSpPr>
                <a:spLocks noChangeArrowheads="1"/>
              </p:cNvSpPr>
              <p:nvPr/>
            </p:nvSpPr>
            <p:spPr bwMode="auto">
              <a:xfrm>
                <a:off x="3481" y="1535"/>
                <a:ext cx="39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ε</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95" name="Rectangle 89"/>
              <p:cNvSpPr>
                <a:spLocks noChangeArrowheads="1"/>
              </p:cNvSpPr>
              <p:nvPr/>
            </p:nvSpPr>
            <p:spPr bwMode="auto">
              <a:xfrm>
                <a:off x="3438" y="1535"/>
                <a:ext cx="48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29" name="Group 92"/>
            <p:cNvGrpSpPr>
              <a:grpSpLocks/>
            </p:cNvGrpSpPr>
            <p:nvPr/>
          </p:nvGrpSpPr>
          <p:grpSpPr bwMode="auto">
            <a:xfrm>
              <a:off x="428" y="2883"/>
              <a:ext cx="752" cy="347"/>
              <a:chOff x="0" y="1938"/>
              <a:chExt cx="596" cy="403"/>
            </a:xfrm>
          </p:grpSpPr>
          <p:sp>
            <p:nvSpPr>
              <p:cNvPr id="51292" name="Rectangle 28"/>
              <p:cNvSpPr>
                <a:spLocks noChangeArrowheads="1"/>
              </p:cNvSpPr>
              <p:nvPr/>
            </p:nvSpPr>
            <p:spPr bwMode="auto">
              <a:xfrm>
                <a:off x="43" y="1938"/>
                <a:ext cx="51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en-US" altLang="zh-CN" sz="1800" b="1">
                    <a:solidFill>
                      <a:srgbClr val="000000"/>
                    </a:solidFill>
                    <a:latin typeface="Arial" pitchFamily="34" charset="0"/>
                  </a:rPr>
                  <a:t>T</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93" name="Rectangle 91"/>
              <p:cNvSpPr>
                <a:spLocks noChangeArrowheads="1"/>
              </p:cNvSpPr>
              <p:nvPr/>
            </p:nvSpPr>
            <p:spPr bwMode="auto">
              <a:xfrm>
                <a:off x="0" y="1938"/>
                <a:ext cx="59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30" name="Group 94"/>
            <p:cNvGrpSpPr>
              <a:grpSpLocks/>
            </p:cNvGrpSpPr>
            <p:nvPr/>
          </p:nvGrpSpPr>
          <p:grpSpPr bwMode="auto">
            <a:xfrm>
              <a:off x="1180" y="2883"/>
              <a:ext cx="721" cy="347"/>
              <a:chOff x="596" y="1938"/>
              <a:chExt cx="572" cy="403"/>
            </a:xfrm>
          </p:grpSpPr>
          <p:sp>
            <p:nvSpPr>
              <p:cNvPr id="51290" name="Rectangle 29"/>
              <p:cNvSpPr>
                <a:spLocks noChangeArrowheads="1"/>
              </p:cNvSpPr>
              <p:nvPr/>
            </p:nvSpPr>
            <p:spPr bwMode="auto">
              <a:xfrm>
                <a:off x="639" y="1938"/>
                <a:ext cx="48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FT′</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91" name="Rectangle 93"/>
              <p:cNvSpPr>
                <a:spLocks noChangeArrowheads="1"/>
              </p:cNvSpPr>
              <p:nvPr/>
            </p:nvSpPr>
            <p:spPr bwMode="auto">
              <a:xfrm>
                <a:off x="596" y="1938"/>
                <a:ext cx="57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a:tailEnd/>
                  </a14:hiddenLine>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31" name="Group 96"/>
            <p:cNvGrpSpPr>
              <a:grpSpLocks/>
            </p:cNvGrpSpPr>
            <p:nvPr/>
          </p:nvGrpSpPr>
          <p:grpSpPr bwMode="auto">
            <a:xfrm>
              <a:off x="1901" y="2883"/>
              <a:ext cx="744" cy="347"/>
              <a:chOff x="1168" y="1938"/>
              <a:chExt cx="590" cy="403"/>
            </a:xfrm>
          </p:grpSpPr>
          <p:sp>
            <p:nvSpPr>
              <p:cNvPr id="51288" name="Rectangle 30"/>
              <p:cNvSpPr>
                <a:spLocks noChangeArrowheads="1"/>
              </p:cNvSpPr>
              <p:nvPr/>
            </p:nvSpPr>
            <p:spPr bwMode="auto">
              <a:xfrm>
                <a:off x="1211" y="1938"/>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289" name="Rectangle 95"/>
              <p:cNvSpPr>
                <a:spLocks noChangeArrowheads="1"/>
              </p:cNvSpPr>
              <p:nvPr/>
            </p:nvSpPr>
            <p:spPr bwMode="auto">
              <a:xfrm>
                <a:off x="1168" y="1938"/>
                <a:ext cx="5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32" name="Group 98"/>
            <p:cNvGrpSpPr>
              <a:grpSpLocks/>
            </p:cNvGrpSpPr>
            <p:nvPr/>
          </p:nvGrpSpPr>
          <p:grpSpPr bwMode="auto">
            <a:xfrm>
              <a:off x="2645" y="2883"/>
              <a:ext cx="744" cy="347"/>
              <a:chOff x="1758" y="1938"/>
              <a:chExt cx="590" cy="403"/>
            </a:xfrm>
          </p:grpSpPr>
          <p:sp>
            <p:nvSpPr>
              <p:cNvPr id="51286" name="Rectangle 31"/>
              <p:cNvSpPr>
                <a:spLocks noChangeArrowheads="1"/>
              </p:cNvSpPr>
              <p:nvPr/>
            </p:nvSpPr>
            <p:spPr bwMode="auto">
              <a:xfrm>
                <a:off x="1801" y="1938"/>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287" name="Rectangle 97"/>
              <p:cNvSpPr>
                <a:spLocks noChangeArrowheads="1"/>
              </p:cNvSpPr>
              <p:nvPr/>
            </p:nvSpPr>
            <p:spPr bwMode="auto">
              <a:xfrm>
                <a:off x="1758" y="1938"/>
                <a:ext cx="5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33" name="Group 100"/>
            <p:cNvGrpSpPr>
              <a:grpSpLocks/>
            </p:cNvGrpSpPr>
            <p:nvPr/>
          </p:nvGrpSpPr>
          <p:grpSpPr bwMode="auto">
            <a:xfrm>
              <a:off x="3389" y="2883"/>
              <a:ext cx="653" cy="347"/>
              <a:chOff x="2348" y="1938"/>
              <a:chExt cx="518" cy="403"/>
            </a:xfrm>
          </p:grpSpPr>
          <p:sp>
            <p:nvSpPr>
              <p:cNvPr id="51284" name="Rectangle 32"/>
              <p:cNvSpPr>
                <a:spLocks noChangeArrowheads="1"/>
              </p:cNvSpPr>
              <p:nvPr/>
            </p:nvSpPr>
            <p:spPr bwMode="auto">
              <a:xfrm>
                <a:off x="2391" y="1938"/>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FT</a:t>
                </a:r>
                <a:r>
                  <a:rPr lang="en-US" altLang="zh-CN" sz="1800" b="1">
                    <a:solidFill>
                      <a:srgbClr val="000000"/>
                    </a:solidFill>
                    <a:latin typeface="Arial" pitchFamily="34" charset="0"/>
                    <a:cs typeface="Arial" pitchFamily="34" charset="0"/>
                  </a:rPr>
                  <a:t>'</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85" name="Rectangle 99"/>
              <p:cNvSpPr>
                <a:spLocks noChangeArrowheads="1"/>
              </p:cNvSpPr>
              <p:nvPr/>
            </p:nvSpPr>
            <p:spPr bwMode="auto">
              <a:xfrm>
                <a:off x="2348" y="1938"/>
                <a:ext cx="51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34" name="Group 102"/>
            <p:cNvGrpSpPr>
              <a:grpSpLocks/>
            </p:cNvGrpSpPr>
            <p:nvPr/>
          </p:nvGrpSpPr>
          <p:grpSpPr bwMode="auto">
            <a:xfrm>
              <a:off x="4042" y="2883"/>
              <a:ext cx="721" cy="347"/>
              <a:chOff x="2866" y="1938"/>
              <a:chExt cx="572" cy="403"/>
            </a:xfrm>
          </p:grpSpPr>
          <p:sp>
            <p:nvSpPr>
              <p:cNvPr id="51282" name="Rectangle 33"/>
              <p:cNvSpPr>
                <a:spLocks noChangeArrowheads="1"/>
              </p:cNvSpPr>
              <p:nvPr/>
            </p:nvSpPr>
            <p:spPr bwMode="auto">
              <a:xfrm>
                <a:off x="2909" y="1938"/>
                <a:ext cx="48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283" name="Rectangle 101"/>
              <p:cNvSpPr>
                <a:spLocks noChangeArrowheads="1"/>
              </p:cNvSpPr>
              <p:nvPr/>
            </p:nvSpPr>
            <p:spPr bwMode="auto">
              <a:xfrm>
                <a:off x="2866" y="1938"/>
                <a:ext cx="57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35" name="Group 104"/>
            <p:cNvGrpSpPr>
              <a:grpSpLocks/>
            </p:cNvGrpSpPr>
            <p:nvPr/>
          </p:nvGrpSpPr>
          <p:grpSpPr bwMode="auto">
            <a:xfrm>
              <a:off x="4763" y="2883"/>
              <a:ext cx="608" cy="347"/>
              <a:chOff x="3438" y="1938"/>
              <a:chExt cx="482" cy="403"/>
            </a:xfrm>
          </p:grpSpPr>
          <p:sp>
            <p:nvSpPr>
              <p:cNvPr id="51280" name="Rectangle 34"/>
              <p:cNvSpPr>
                <a:spLocks noChangeArrowheads="1"/>
              </p:cNvSpPr>
              <p:nvPr/>
            </p:nvSpPr>
            <p:spPr bwMode="auto">
              <a:xfrm>
                <a:off x="3481" y="1938"/>
                <a:ext cx="39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281" name="Rectangle 103"/>
              <p:cNvSpPr>
                <a:spLocks noChangeArrowheads="1"/>
              </p:cNvSpPr>
              <p:nvPr/>
            </p:nvSpPr>
            <p:spPr bwMode="auto">
              <a:xfrm>
                <a:off x="3438" y="1938"/>
                <a:ext cx="48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36" name="Group 106"/>
            <p:cNvGrpSpPr>
              <a:grpSpLocks/>
            </p:cNvGrpSpPr>
            <p:nvPr/>
          </p:nvGrpSpPr>
          <p:grpSpPr bwMode="auto">
            <a:xfrm>
              <a:off x="428" y="3230"/>
              <a:ext cx="752" cy="348"/>
              <a:chOff x="0" y="2341"/>
              <a:chExt cx="596" cy="403"/>
            </a:xfrm>
          </p:grpSpPr>
          <p:sp>
            <p:nvSpPr>
              <p:cNvPr id="51278" name="Rectangle 35"/>
              <p:cNvSpPr>
                <a:spLocks noChangeArrowheads="1"/>
              </p:cNvSpPr>
              <p:nvPr/>
            </p:nvSpPr>
            <p:spPr bwMode="auto">
              <a:xfrm>
                <a:off x="43" y="2341"/>
                <a:ext cx="51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en-US" altLang="zh-CN" sz="1800" b="1">
                    <a:solidFill>
                      <a:srgbClr val="000000"/>
                    </a:solidFill>
                    <a:latin typeface="Arial" pitchFamily="34" charset="0"/>
                  </a:rPr>
                  <a:t>   T′</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79" name="Rectangle 105"/>
              <p:cNvSpPr>
                <a:spLocks noChangeArrowheads="1"/>
              </p:cNvSpPr>
              <p:nvPr/>
            </p:nvSpPr>
            <p:spPr bwMode="auto">
              <a:xfrm>
                <a:off x="0" y="2341"/>
                <a:ext cx="59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37" name="Group 108"/>
            <p:cNvGrpSpPr>
              <a:grpSpLocks/>
            </p:cNvGrpSpPr>
            <p:nvPr/>
          </p:nvGrpSpPr>
          <p:grpSpPr bwMode="auto">
            <a:xfrm>
              <a:off x="1180" y="3230"/>
              <a:ext cx="721" cy="348"/>
              <a:chOff x="596" y="2341"/>
              <a:chExt cx="572" cy="403"/>
            </a:xfrm>
          </p:grpSpPr>
          <p:sp>
            <p:nvSpPr>
              <p:cNvPr id="51276" name="Rectangle 36"/>
              <p:cNvSpPr>
                <a:spLocks noChangeArrowheads="1"/>
              </p:cNvSpPr>
              <p:nvPr/>
            </p:nvSpPr>
            <p:spPr bwMode="auto">
              <a:xfrm>
                <a:off x="639" y="2341"/>
                <a:ext cx="48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277" name="Rectangle 107"/>
              <p:cNvSpPr>
                <a:spLocks noChangeArrowheads="1"/>
              </p:cNvSpPr>
              <p:nvPr/>
            </p:nvSpPr>
            <p:spPr bwMode="auto">
              <a:xfrm>
                <a:off x="596" y="2341"/>
                <a:ext cx="57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38" name="Group 110"/>
            <p:cNvGrpSpPr>
              <a:grpSpLocks/>
            </p:cNvGrpSpPr>
            <p:nvPr/>
          </p:nvGrpSpPr>
          <p:grpSpPr bwMode="auto">
            <a:xfrm>
              <a:off x="1901" y="3230"/>
              <a:ext cx="744" cy="348"/>
              <a:chOff x="1168" y="2341"/>
              <a:chExt cx="590" cy="403"/>
            </a:xfrm>
          </p:grpSpPr>
          <p:sp>
            <p:nvSpPr>
              <p:cNvPr id="51274" name="Rectangle 37"/>
              <p:cNvSpPr>
                <a:spLocks noChangeArrowheads="1"/>
              </p:cNvSpPr>
              <p:nvPr/>
            </p:nvSpPr>
            <p:spPr bwMode="auto">
              <a:xfrm>
                <a:off x="1211" y="2341"/>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ε</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75" name="Rectangle 109"/>
              <p:cNvSpPr>
                <a:spLocks noChangeArrowheads="1"/>
              </p:cNvSpPr>
              <p:nvPr/>
            </p:nvSpPr>
            <p:spPr bwMode="auto">
              <a:xfrm>
                <a:off x="1168" y="2341"/>
                <a:ext cx="5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39" name="Group 112"/>
            <p:cNvGrpSpPr>
              <a:grpSpLocks/>
            </p:cNvGrpSpPr>
            <p:nvPr/>
          </p:nvGrpSpPr>
          <p:grpSpPr bwMode="auto">
            <a:xfrm>
              <a:off x="2562" y="3230"/>
              <a:ext cx="908" cy="348"/>
              <a:chOff x="1758" y="2341"/>
              <a:chExt cx="590" cy="403"/>
            </a:xfrm>
          </p:grpSpPr>
          <p:sp>
            <p:nvSpPr>
              <p:cNvPr id="51272" name="Rectangle 38"/>
              <p:cNvSpPr>
                <a:spLocks noChangeArrowheads="1"/>
              </p:cNvSpPr>
              <p:nvPr/>
            </p:nvSpPr>
            <p:spPr bwMode="auto">
              <a:xfrm>
                <a:off x="1801" y="2341"/>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zh-CN" altLang="en-US" sz="1800">
                    <a:solidFill>
                      <a:srgbClr val="000000"/>
                    </a:solidFill>
                    <a:latin typeface="宋体" pitchFamily="2" charset="-122"/>
                  </a:rPr>
                  <a:t>*</a:t>
                </a:r>
                <a:r>
                  <a:rPr lang="en-US" altLang="zh-CN" sz="1800" b="1">
                    <a:solidFill>
                      <a:srgbClr val="000000"/>
                    </a:solidFill>
                    <a:latin typeface="Arial" pitchFamily="34" charset="0"/>
                  </a:rPr>
                  <a:t>FT′</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73" name="Rectangle 111"/>
              <p:cNvSpPr>
                <a:spLocks noChangeArrowheads="1"/>
              </p:cNvSpPr>
              <p:nvPr/>
            </p:nvSpPr>
            <p:spPr bwMode="auto">
              <a:xfrm>
                <a:off x="1758" y="2341"/>
                <a:ext cx="59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a:tailEnd/>
                  </a14:hiddenLine>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40" name="Group 114"/>
            <p:cNvGrpSpPr>
              <a:grpSpLocks/>
            </p:cNvGrpSpPr>
            <p:nvPr/>
          </p:nvGrpSpPr>
          <p:grpSpPr bwMode="auto">
            <a:xfrm>
              <a:off x="3389" y="3230"/>
              <a:ext cx="653" cy="348"/>
              <a:chOff x="2348" y="2341"/>
              <a:chExt cx="518" cy="403"/>
            </a:xfrm>
          </p:grpSpPr>
          <p:sp>
            <p:nvSpPr>
              <p:cNvPr id="51270" name="Rectangle 39"/>
              <p:cNvSpPr>
                <a:spLocks noChangeArrowheads="1"/>
              </p:cNvSpPr>
              <p:nvPr/>
            </p:nvSpPr>
            <p:spPr bwMode="auto">
              <a:xfrm>
                <a:off x="2391" y="2341"/>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271" name="Rectangle 113"/>
              <p:cNvSpPr>
                <a:spLocks noChangeArrowheads="1"/>
              </p:cNvSpPr>
              <p:nvPr/>
            </p:nvSpPr>
            <p:spPr bwMode="auto">
              <a:xfrm>
                <a:off x="2348" y="2341"/>
                <a:ext cx="51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41" name="Group 116"/>
            <p:cNvGrpSpPr>
              <a:grpSpLocks/>
            </p:cNvGrpSpPr>
            <p:nvPr/>
          </p:nvGrpSpPr>
          <p:grpSpPr bwMode="auto">
            <a:xfrm>
              <a:off x="4042" y="3230"/>
              <a:ext cx="721" cy="348"/>
              <a:chOff x="2866" y="2341"/>
              <a:chExt cx="572" cy="403"/>
            </a:xfrm>
          </p:grpSpPr>
          <p:sp>
            <p:nvSpPr>
              <p:cNvPr id="51268" name="Rectangle 40"/>
              <p:cNvSpPr>
                <a:spLocks noChangeArrowheads="1"/>
              </p:cNvSpPr>
              <p:nvPr/>
            </p:nvSpPr>
            <p:spPr bwMode="auto">
              <a:xfrm>
                <a:off x="2909" y="2341"/>
                <a:ext cx="48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ε</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69" name="Rectangle 115"/>
              <p:cNvSpPr>
                <a:spLocks noChangeArrowheads="1"/>
              </p:cNvSpPr>
              <p:nvPr/>
            </p:nvSpPr>
            <p:spPr bwMode="auto">
              <a:xfrm>
                <a:off x="2866" y="2341"/>
                <a:ext cx="57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42" name="Group 118"/>
            <p:cNvGrpSpPr>
              <a:grpSpLocks/>
            </p:cNvGrpSpPr>
            <p:nvPr/>
          </p:nvGrpSpPr>
          <p:grpSpPr bwMode="auto">
            <a:xfrm>
              <a:off x="4763" y="3230"/>
              <a:ext cx="608" cy="348"/>
              <a:chOff x="3438" y="2341"/>
              <a:chExt cx="482" cy="403"/>
            </a:xfrm>
          </p:grpSpPr>
          <p:sp>
            <p:nvSpPr>
              <p:cNvPr id="51266" name="Rectangle 41"/>
              <p:cNvSpPr>
                <a:spLocks noChangeArrowheads="1"/>
              </p:cNvSpPr>
              <p:nvPr/>
            </p:nvSpPr>
            <p:spPr bwMode="auto">
              <a:xfrm>
                <a:off x="3481" y="2341"/>
                <a:ext cx="39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ε</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67" name="Rectangle 117"/>
              <p:cNvSpPr>
                <a:spLocks noChangeArrowheads="1"/>
              </p:cNvSpPr>
              <p:nvPr/>
            </p:nvSpPr>
            <p:spPr bwMode="auto">
              <a:xfrm>
                <a:off x="3438" y="2341"/>
                <a:ext cx="48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43" name="Group 120"/>
            <p:cNvGrpSpPr>
              <a:grpSpLocks/>
            </p:cNvGrpSpPr>
            <p:nvPr/>
          </p:nvGrpSpPr>
          <p:grpSpPr bwMode="auto">
            <a:xfrm>
              <a:off x="428" y="3578"/>
              <a:ext cx="752" cy="348"/>
              <a:chOff x="0" y="2744"/>
              <a:chExt cx="596" cy="403"/>
            </a:xfrm>
          </p:grpSpPr>
          <p:sp>
            <p:nvSpPr>
              <p:cNvPr id="51264" name="Rectangle 42"/>
              <p:cNvSpPr>
                <a:spLocks noChangeArrowheads="1"/>
              </p:cNvSpPr>
              <p:nvPr/>
            </p:nvSpPr>
            <p:spPr bwMode="auto">
              <a:xfrm>
                <a:off x="43" y="2744"/>
                <a:ext cx="51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en-US" altLang="zh-CN" sz="1800" b="1">
                    <a:solidFill>
                      <a:srgbClr val="000000"/>
                    </a:solidFill>
                    <a:latin typeface="Arial" pitchFamily="34" charset="0"/>
                  </a:rPr>
                  <a:t>F</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65" name="Rectangle 119"/>
              <p:cNvSpPr>
                <a:spLocks noChangeArrowheads="1"/>
              </p:cNvSpPr>
              <p:nvPr/>
            </p:nvSpPr>
            <p:spPr bwMode="auto">
              <a:xfrm>
                <a:off x="0" y="2744"/>
                <a:ext cx="59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44" name="Group 122"/>
            <p:cNvGrpSpPr>
              <a:grpSpLocks/>
            </p:cNvGrpSpPr>
            <p:nvPr/>
          </p:nvGrpSpPr>
          <p:grpSpPr bwMode="auto">
            <a:xfrm>
              <a:off x="1070" y="3578"/>
              <a:ext cx="721" cy="348"/>
              <a:chOff x="596" y="2744"/>
              <a:chExt cx="572" cy="403"/>
            </a:xfrm>
          </p:grpSpPr>
          <p:sp>
            <p:nvSpPr>
              <p:cNvPr id="51262" name="Rectangle 43"/>
              <p:cNvSpPr>
                <a:spLocks noChangeArrowheads="1"/>
              </p:cNvSpPr>
              <p:nvPr/>
            </p:nvSpPr>
            <p:spPr bwMode="auto">
              <a:xfrm>
                <a:off x="639" y="2744"/>
                <a:ext cx="48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i</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63" name="Rectangle 121"/>
              <p:cNvSpPr>
                <a:spLocks noChangeArrowheads="1"/>
              </p:cNvSpPr>
              <p:nvPr/>
            </p:nvSpPr>
            <p:spPr bwMode="auto">
              <a:xfrm>
                <a:off x="596" y="2744"/>
                <a:ext cx="57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
                    <a:solidFill>
                      <a:srgbClr val="000000"/>
                    </a:solidFill>
                    <a:miter lim="800000"/>
                    <a:headEnd/>
                    <a:tailEnd/>
                  </a14:hiddenLine>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45" name="Group 124"/>
            <p:cNvGrpSpPr>
              <a:grpSpLocks/>
            </p:cNvGrpSpPr>
            <p:nvPr/>
          </p:nvGrpSpPr>
          <p:grpSpPr bwMode="auto">
            <a:xfrm>
              <a:off x="1901" y="3578"/>
              <a:ext cx="744" cy="348"/>
              <a:chOff x="1168" y="2744"/>
              <a:chExt cx="590" cy="403"/>
            </a:xfrm>
          </p:grpSpPr>
          <p:sp>
            <p:nvSpPr>
              <p:cNvPr id="51260" name="Rectangle 44"/>
              <p:cNvSpPr>
                <a:spLocks noChangeArrowheads="1"/>
              </p:cNvSpPr>
              <p:nvPr/>
            </p:nvSpPr>
            <p:spPr bwMode="auto">
              <a:xfrm>
                <a:off x="1211" y="2744"/>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261" name="Rectangle 123"/>
              <p:cNvSpPr>
                <a:spLocks noChangeArrowheads="1"/>
              </p:cNvSpPr>
              <p:nvPr/>
            </p:nvSpPr>
            <p:spPr bwMode="auto">
              <a:xfrm>
                <a:off x="1168" y="2744"/>
                <a:ext cx="5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46" name="Group 126"/>
            <p:cNvGrpSpPr>
              <a:grpSpLocks/>
            </p:cNvGrpSpPr>
            <p:nvPr/>
          </p:nvGrpSpPr>
          <p:grpSpPr bwMode="auto">
            <a:xfrm>
              <a:off x="2645" y="3578"/>
              <a:ext cx="744" cy="348"/>
              <a:chOff x="1758" y="2744"/>
              <a:chExt cx="590" cy="403"/>
            </a:xfrm>
          </p:grpSpPr>
          <p:sp>
            <p:nvSpPr>
              <p:cNvPr id="51258" name="Rectangle 45"/>
              <p:cNvSpPr>
                <a:spLocks noChangeArrowheads="1"/>
              </p:cNvSpPr>
              <p:nvPr/>
            </p:nvSpPr>
            <p:spPr bwMode="auto">
              <a:xfrm>
                <a:off x="1801" y="2744"/>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259" name="Rectangle 125"/>
              <p:cNvSpPr>
                <a:spLocks noChangeArrowheads="1"/>
              </p:cNvSpPr>
              <p:nvPr/>
            </p:nvSpPr>
            <p:spPr bwMode="auto">
              <a:xfrm>
                <a:off x="1758" y="2744"/>
                <a:ext cx="59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47" name="Group 128"/>
            <p:cNvGrpSpPr>
              <a:grpSpLocks/>
            </p:cNvGrpSpPr>
            <p:nvPr/>
          </p:nvGrpSpPr>
          <p:grpSpPr bwMode="auto">
            <a:xfrm>
              <a:off x="3389" y="3578"/>
              <a:ext cx="653" cy="348"/>
              <a:chOff x="2348" y="2744"/>
              <a:chExt cx="518" cy="403"/>
            </a:xfrm>
          </p:grpSpPr>
          <p:sp>
            <p:nvSpPr>
              <p:cNvPr id="51256" name="Rectangle 46"/>
              <p:cNvSpPr>
                <a:spLocks noChangeArrowheads="1"/>
              </p:cNvSpPr>
              <p:nvPr/>
            </p:nvSpPr>
            <p:spPr bwMode="auto">
              <a:xfrm>
                <a:off x="2391" y="2744"/>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Arial" pitchFamily="34" charset="0"/>
                  </a:rPr>
                  <a:t>→(</a:t>
                </a:r>
                <a:r>
                  <a:rPr lang="en-US" altLang="zh-CN" sz="1800" b="1">
                    <a:solidFill>
                      <a:srgbClr val="000000"/>
                    </a:solidFill>
                    <a:latin typeface="Arial" pitchFamily="34" charset="0"/>
                  </a:rPr>
                  <a:t>E)</a:t>
                </a:r>
              </a:p>
              <a:p>
                <a:pPr algn="ctr" fontAlgn="base">
                  <a:spcBef>
                    <a:spcPct val="0"/>
                  </a:spcBef>
                  <a:spcAft>
                    <a:spcPct val="0"/>
                  </a:spcAft>
                </a:pPr>
                <a:endParaRPr lang="en-US" altLang="zh-CN" sz="1800" b="1">
                  <a:solidFill>
                    <a:srgbClr val="000000"/>
                  </a:solidFill>
                  <a:latin typeface="Arial" pitchFamily="34" charset="0"/>
                </a:endParaRPr>
              </a:p>
            </p:txBody>
          </p:sp>
          <p:sp>
            <p:nvSpPr>
              <p:cNvPr id="51257" name="Rectangle 127"/>
              <p:cNvSpPr>
                <a:spLocks noChangeArrowheads="1"/>
              </p:cNvSpPr>
              <p:nvPr/>
            </p:nvSpPr>
            <p:spPr bwMode="auto">
              <a:xfrm>
                <a:off x="2348" y="2744"/>
                <a:ext cx="518"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48" name="Group 130"/>
            <p:cNvGrpSpPr>
              <a:grpSpLocks/>
            </p:cNvGrpSpPr>
            <p:nvPr/>
          </p:nvGrpSpPr>
          <p:grpSpPr bwMode="auto">
            <a:xfrm>
              <a:off x="4042" y="3578"/>
              <a:ext cx="721" cy="348"/>
              <a:chOff x="2866" y="2744"/>
              <a:chExt cx="572" cy="403"/>
            </a:xfrm>
          </p:grpSpPr>
          <p:sp>
            <p:nvSpPr>
              <p:cNvPr id="51254" name="Rectangle 47"/>
              <p:cNvSpPr>
                <a:spLocks noChangeArrowheads="1"/>
              </p:cNvSpPr>
              <p:nvPr/>
            </p:nvSpPr>
            <p:spPr bwMode="auto">
              <a:xfrm>
                <a:off x="2909" y="2744"/>
                <a:ext cx="48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255" name="Rectangle 129"/>
              <p:cNvSpPr>
                <a:spLocks noChangeArrowheads="1"/>
              </p:cNvSpPr>
              <p:nvPr/>
            </p:nvSpPr>
            <p:spPr bwMode="auto">
              <a:xfrm>
                <a:off x="2866" y="2744"/>
                <a:ext cx="57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1249" name="Group 132"/>
            <p:cNvGrpSpPr>
              <a:grpSpLocks/>
            </p:cNvGrpSpPr>
            <p:nvPr/>
          </p:nvGrpSpPr>
          <p:grpSpPr bwMode="auto">
            <a:xfrm>
              <a:off x="4763" y="3578"/>
              <a:ext cx="608" cy="348"/>
              <a:chOff x="3438" y="2744"/>
              <a:chExt cx="482" cy="403"/>
            </a:xfrm>
          </p:grpSpPr>
          <p:sp>
            <p:nvSpPr>
              <p:cNvPr id="51252" name="Rectangle 48"/>
              <p:cNvSpPr>
                <a:spLocks noChangeArrowheads="1"/>
              </p:cNvSpPr>
              <p:nvPr/>
            </p:nvSpPr>
            <p:spPr bwMode="auto">
              <a:xfrm>
                <a:off x="3481" y="2744"/>
                <a:ext cx="39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spcBef>
                    <a:spcPct val="0"/>
                  </a:spcBef>
                  <a:spcAft>
                    <a:spcPct val="0"/>
                  </a:spcAft>
                </a:pPr>
                <a:r>
                  <a:rPr lang="zh-CN" altLang="en-US" sz="1800" b="1">
                    <a:solidFill>
                      <a:srgbClr val="000000"/>
                    </a:solidFill>
                    <a:latin typeface="Times New Roman" pitchFamily="18" charset="0"/>
                  </a:rPr>
                  <a:t> </a:t>
                </a:r>
                <a:endParaRPr lang="zh-CN" altLang="en-US" sz="1800" b="1">
                  <a:solidFill>
                    <a:srgbClr val="000000"/>
                  </a:solidFill>
                  <a:latin typeface="Arial" pitchFamily="34" charset="0"/>
                </a:endParaRPr>
              </a:p>
              <a:p>
                <a:pPr algn="ctr" fontAlgn="base">
                  <a:spcBef>
                    <a:spcPct val="0"/>
                  </a:spcBef>
                  <a:spcAft>
                    <a:spcPct val="0"/>
                  </a:spcAft>
                </a:pPr>
                <a:endParaRPr lang="zh-CN" altLang="en-US" sz="1800" b="1">
                  <a:solidFill>
                    <a:srgbClr val="000000"/>
                  </a:solidFill>
                  <a:latin typeface="Arial" pitchFamily="34" charset="0"/>
                </a:endParaRPr>
              </a:p>
            </p:txBody>
          </p:sp>
          <p:sp>
            <p:nvSpPr>
              <p:cNvPr id="51253" name="Rectangle 131"/>
              <p:cNvSpPr>
                <a:spLocks noChangeArrowheads="1"/>
              </p:cNvSpPr>
              <p:nvPr/>
            </p:nvSpPr>
            <p:spPr bwMode="auto">
              <a:xfrm>
                <a:off x="3438" y="2744"/>
                <a:ext cx="482"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sp>
          <p:nvSpPr>
            <p:cNvPr id="51250" name="Rectangle 134"/>
            <p:cNvSpPr>
              <a:spLocks noChangeArrowheads="1"/>
            </p:cNvSpPr>
            <p:nvPr/>
          </p:nvSpPr>
          <p:spPr bwMode="auto">
            <a:xfrm>
              <a:off x="424" y="1654"/>
              <a:ext cx="4951" cy="2275"/>
            </a:xfrm>
            <a:prstGeom prst="rect">
              <a:avLst/>
            </a:prstGeom>
            <a:noFill/>
            <a:ln w="11176">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51251" name="Line 142"/>
            <p:cNvSpPr>
              <a:spLocks noChangeShapeType="1"/>
            </p:cNvSpPr>
            <p:nvPr/>
          </p:nvSpPr>
          <p:spPr bwMode="auto">
            <a:xfrm>
              <a:off x="1186" y="2090"/>
              <a:ext cx="0" cy="453"/>
            </a:xfrm>
            <a:prstGeom prst="line">
              <a:avLst/>
            </a:prstGeom>
            <a:noFill/>
            <a:ln w="9525">
              <a:solidFill>
                <a:srgbClr val="969696"/>
              </a:solidFill>
              <a:miter lim="800000"/>
              <a:headEnd/>
              <a:tailEn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kumimoji="1" lang="zh-CN" altLang="en-US" sz="3600">
                <a:solidFill>
                  <a:srgbClr val="000000"/>
                </a:solidFill>
              </a:endParaRPr>
            </a:p>
          </p:txBody>
        </p:sp>
      </p:grpSp>
      <p:sp>
        <p:nvSpPr>
          <p:cNvPr id="134" name="标题 1"/>
          <p:cNvSpPr>
            <a:spLocks noGrp="1"/>
          </p:cNvSpPr>
          <p:nvPr>
            <p:ph type="title"/>
          </p:nvPr>
        </p:nvSpPr>
        <p:spPr>
          <a:xfrm>
            <a:off x="468315" y="107950"/>
            <a:ext cx="8218486" cy="711200"/>
          </a:xfrm>
        </p:spPr>
        <p:txBody>
          <a:bodyPr/>
          <a:lstStyle/>
          <a:p>
            <a:r>
              <a:rPr lang="en-US" altLang="zh-CN" dirty="0"/>
              <a:t>5-2</a:t>
            </a:r>
            <a:r>
              <a:rPr lang="zh-CN" altLang="en-US" dirty="0"/>
              <a:t>表驱动</a:t>
            </a:r>
            <a:r>
              <a:rPr lang="en-US" altLang="zh-CN" dirty="0"/>
              <a:t>LL</a:t>
            </a:r>
            <a:r>
              <a:rPr lang="zh-CN" altLang="en-US" dirty="0"/>
              <a:t>（</a:t>
            </a:r>
            <a:r>
              <a:rPr lang="en-US" altLang="zh-CN" dirty="0"/>
              <a:t>1</a:t>
            </a:r>
            <a:r>
              <a:rPr lang="zh-CN" altLang="en-US" dirty="0"/>
              <a:t>）分析程序</a:t>
            </a:r>
          </a:p>
        </p:txBody>
      </p:sp>
      <p:sp>
        <p:nvSpPr>
          <p:cNvPr id="2" name="灯片编号占位符 1"/>
          <p:cNvSpPr>
            <a:spLocks noGrp="1"/>
          </p:cNvSpPr>
          <p:nvPr>
            <p:ph type="sldNum" sz="quarter" idx="12"/>
          </p:nvPr>
        </p:nvSpPr>
        <p:spPr/>
        <p:txBody>
          <a:bodyPr/>
          <a:lstStyle/>
          <a:p>
            <a:fld id="{1B43473F-AE3F-4D1C-9C4F-7AD3C17AC1AD}" type="slidenum">
              <a:rPr lang="zh-CN" altLang="en-US" smtClean="0">
                <a:solidFill>
                  <a:srgbClr val="3F3F3F"/>
                </a:solidFill>
              </a:rPr>
              <a:pPr/>
              <a:t>78</a:t>
            </a:fld>
            <a:endParaRPr lang="zh-CN" altLang="en-US">
              <a:solidFill>
                <a:srgbClr val="3F3F3F"/>
              </a:solidFill>
            </a:endParaRPr>
          </a:p>
        </p:txBody>
      </p:sp>
    </p:spTree>
    <p:extLst>
      <p:ext uri="{BB962C8B-B14F-4D97-AF65-F5344CB8AC3E}">
        <p14:creationId xmlns:p14="http://schemas.microsoft.com/office/powerpoint/2010/main" val="30337788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1331913" y="388938"/>
            <a:ext cx="685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eaLnBrk="1" fontAlgn="base" hangingPunct="1">
              <a:spcBef>
                <a:spcPct val="0"/>
              </a:spcBef>
              <a:spcAft>
                <a:spcPct val="0"/>
              </a:spcAft>
            </a:pPr>
            <a:r>
              <a:rPr lang="zh-CN" altLang="en-US" sz="2800" b="1">
                <a:solidFill>
                  <a:srgbClr val="990000"/>
                </a:solidFill>
                <a:latin typeface="Arial" pitchFamily="34" charset="0"/>
              </a:rPr>
              <a:t>  表5.4  表达式文法的预测分析表</a:t>
            </a:r>
            <a:endParaRPr lang="zh-CN" altLang="en-US" sz="2800">
              <a:solidFill>
                <a:srgbClr val="990000"/>
              </a:solidFill>
              <a:latin typeface="Arial" pitchFamily="34" charset="0"/>
            </a:endParaRPr>
          </a:p>
        </p:txBody>
      </p:sp>
      <p:grpSp>
        <p:nvGrpSpPr>
          <p:cNvPr id="52227" name="Group 27"/>
          <p:cNvGrpSpPr>
            <a:grpSpLocks/>
          </p:cNvGrpSpPr>
          <p:nvPr/>
        </p:nvGrpSpPr>
        <p:grpSpPr bwMode="auto">
          <a:xfrm>
            <a:off x="768350" y="1000125"/>
            <a:ext cx="7607300" cy="5622925"/>
            <a:chOff x="0" y="403"/>
            <a:chExt cx="3650" cy="2646"/>
          </a:xfrm>
        </p:grpSpPr>
        <p:grpSp>
          <p:nvGrpSpPr>
            <p:cNvPr id="52228" name="Group 12"/>
            <p:cNvGrpSpPr>
              <a:grpSpLocks/>
            </p:cNvGrpSpPr>
            <p:nvPr/>
          </p:nvGrpSpPr>
          <p:grpSpPr bwMode="auto">
            <a:xfrm>
              <a:off x="0" y="403"/>
              <a:ext cx="740" cy="403"/>
              <a:chOff x="0" y="403"/>
              <a:chExt cx="740" cy="403"/>
            </a:xfrm>
          </p:grpSpPr>
          <p:sp>
            <p:nvSpPr>
              <p:cNvPr id="52250" name="Rectangle 3"/>
              <p:cNvSpPr>
                <a:spLocks noChangeArrowheads="1"/>
              </p:cNvSpPr>
              <p:nvPr/>
            </p:nvSpPr>
            <p:spPr bwMode="auto">
              <a:xfrm>
                <a:off x="43" y="506"/>
                <a:ext cx="65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lnSpc>
                    <a:spcPct val="130000"/>
                  </a:lnSpc>
                  <a:spcBef>
                    <a:spcPct val="0"/>
                  </a:spcBef>
                  <a:spcAft>
                    <a:spcPct val="0"/>
                  </a:spcAft>
                </a:pPr>
                <a:r>
                  <a:rPr lang="zh-CN" altLang="en-US" sz="1800" b="1">
                    <a:solidFill>
                      <a:srgbClr val="000000"/>
                    </a:solidFill>
                    <a:latin typeface="Times New Roman" pitchFamily="18" charset="0"/>
                  </a:rPr>
                  <a:t>步骤</a:t>
                </a:r>
                <a:endParaRPr lang="zh-CN" altLang="en-US" sz="1800">
                  <a:solidFill>
                    <a:srgbClr val="000000"/>
                  </a:solidFill>
                  <a:latin typeface="Arial" pitchFamily="34" charset="0"/>
                </a:endParaRPr>
              </a:p>
            </p:txBody>
          </p:sp>
          <p:sp>
            <p:nvSpPr>
              <p:cNvPr id="52251" name="Rectangle 11"/>
              <p:cNvSpPr>
                <a:spLocks noChangeArrowheads="1"/>
              </p:cNvSpPr>
              <p:nvPr/>
            </p:nvSpPr>
            <p:spPr bwMode="auto">
              <a:xfrm>
                <a:off x="0" y="403"/>
                <a:ext cx="74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2229" name="Group 14"/>
            <p:cNvGrpSpPr>
              <a:grpSpLocks/>
            </p:cNvGrpSpPr>
            <p:nvPr/>
          </p:nvGrpSpPr>
          <p:grpSpPr bwMode="auto">
            <a:xfrm>
              <a:off x="740" y="403"/>
              <a:ext cx="950" cy="403"/>
              <a:chOff x="740" y="403"/>
              <a:chExt cx="950" cy="403"/>
            </a:xfrm>
          </p:grpSpPr>
          <p:sp>
            <p:nvSpPr>
              <p:cNvPr id="52248" name="Rectangle 4"/>
              <p:cNvSpPr>
                <a:spLocks noChangeArrowheads="1"/>
              </p:cNvSpPr>
              <p:nvPr/>
            </p:nvSpPr>
            <p:spPr bwMode="auto">
              <a:xfrm>
                <a:off x="783" y="506"/>
                <a:ext cx="86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lnSpc>
                    <a:spcPct val="130000"/>
                  </a:lnSpc>
                  <a:spcBef>
                    <a:spcPct val="0"/>
                  </a:spcBef>
                  <a:spcAft>
                    <a:spcPct val="0"/>
                  </a:spcAft>
                </a:pPr>
                <a:r>
                  <a:rPr lang="zh-CN" altLang="en-US" sz="1800" b="1">
                    <a:solidFill>
                      <a:srgbClr val="000000"/>
                    </a:solidFill>
                    <a:latin typeface="Times New Roman" pitchFamily="18" charset="0"/>
                  </a:rPr>
                  <a:t>分析栈</a:t>
                </a:r>
                <a:endParaRPr lang="zh-CN" altLang="en-US" sz="1800">
                  <a:solidFill>
                    <a:srgbClr val="000000"/>
                  </a:solidFill>
                  <a:latin typeface="Arial" pitchFamily="34" charset="0"/>
                </a:endParaRPr>
              </a:p>
            </p:txBody>
          </p:sp>
          <p:sp>
            <p:nvSpPr>
              <p:cNvPr id="52249" name="Rectangle 13"/>
              <p:cNvSpPr>
                <a:spLocks noChangeArrowheads="1"/>
              </p:cNvSpPr>
              <p:nvPr/>
            </p:nvSpPr>
            <p:spPr bwMode="auto">
              <a:xfrm>
                <a:off x="740" y="403"/>
                <a:ext cx="95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2230" name="Group 16"/>
            <p:cNvGrpSpPr>
              <a:grpSpLocks/>
            </p:cNvGrpSpPr>
            <p:nvPr/>
          </p:nvGrpSpPr>
          <p:grpSpPr bwMode="auto">
            <a:xfrm>
              <a:off x="1690" y="403"/>
              <a:ext cx="980" cy="403"/>
              <a:chOff x="1690" y="403"/>
              <a:chExt cx="980" cy="403"/>
            </a:xfrm>
          </p:grpSpPr>
          <p:sp>
            <p:nvSpPr>
              <p:cNvPr id="52246" name="Rectangle 5"/>
              <p:cNvSpPr>
                <a:spLocks noChangeArrowheads="1"/>
              </p:cNvSpPr>
              <p:nvPr/>
            </p:nvSpPr>
            <p:spPr bwMode="auto">
              <a:xfrm>
                <a:off x="1733" y="506"/>
                <a:ext cx="89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lnSpc>
                    <a:spcPct val="130000"/>
                  </a:lnSpc>
                  <a:spcBef>
                    <a:spcPct val="0"/>
                  </a:spcBef>
                  <a:spcAft>
                    <a:spcPct val="0"/>
                  </a:spcAft>
                </a:pPr>
                <a:r>
                  <a:rPr lang="zh-CN" altLang="en-US" sz="1800" b="1">
                    <a:solidFill>
                      <a:srgbClr val="000000"/>
                    </a:solidFill>
                    <a:latin typeface="Times New Roman" pitchFamily="18" charset="0"/>
                  </a:rPr>
                  <a:t>剩余输入串</a:t>
                </a:r>
                <a:endParaRPr lang="zh-CN" altLang="en-US" sz="1800">
                  <a:solidFill>
                    <a:srgbClr val="000000"/>
                  </a:solidFill>
                  <a:latin typeface="Arial" pitchFamily="34" charset="0"/>
                </a:endParaRPr>
              </a:p>
            </p:txBody>
          </p:sp>
          <p:sp>
            <p:nvSpPr>
              <p:cNvPr id="52247" name="Rectangle 15"/>
              <p:cNvSpPr>
                <a:spLocks noChangeArrowheads="1"/>
              </p:cNvSpPr>
              <p:nvPr/>
            </p:nvSpPr>
            <p:spPr bwMode="auto">
              <a:xfrm>
                <a:off x="1690" y="403"/>
                <a:ext cx="98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2231" name="Group 18"/>
            <p:cNvGrpSpPr>
              <a:grpSpLocks/>
            </p:cNvGrpSpPr>
            <p:nvPr/>
          </p:nvGrpSpPr>
          <p:grpSpPr bwMode="auto">
            <a:xfrm>
              <a:off x="2670" y="403"/>
              <a:ext cx="980" cy="403"/>
              <a:chOff x="2670" y="403"/>
              <a:chExt cx="980" cy="403"/>
            </a:xfrm>
          </p:grpSpPr>
          <p:sp>
            <p:nvSpPr>
              <p:cNvPr id="52244" name="Rectangle 6"/>
              <p:cNvSpPr>
                <a:spLocks noChangeArrowheads="1"/>
              </p:cNvSpPr>
              <p:nvPr/>
            </p:nvSpPr>
            <p:spPr bwMode="auto">
              <a:xfrm>
                <a:off x="2713" y="506"/>
                <a:ext cx="89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ctr" eaLnBrk="1" fontAlgn="base" hangingPunct="1">
                  <a:lnSpc>
                    <a:spcPct val="130000"/>
                  </a:lnSpc>
                  <a:spcBef>
                    <a:spcPct val="0"/>
                  </a:spcBef>
                  <a:spcAft>
                    <a:spcPct val="0"/>
                  </a:spcAft>
                </a:pPr>
                <a:r>
                  <a:rPr lang="zh-CN" altLang="en-US" sz="1800" b="1">
                    <a:solidFill>
                      <a:srgbClr val="000000"/>
                    </a:solidFill>
                    <a:latin typeface="Times New Roman" pitchFamily="18" charset="0"/>
                  </a:rPr>
                  <a:t>所用产生式</a:t>
                </a:r>
                <a:endParaRPr lang="zh-CN" altLang="en-US" sz="1800">
                  <a:solidFill>
                    <a:srgbClr val="000000"/>
                  </a:solidFill>
                  <a:latin typeface="Arial" pitchFamily="34" charset="0"/>
                </a:endParaRPr>
              </a:p>
            </p:txBody>
          </p:sp>
          <p:sp>
            <p:nvSpPr>
              <p:cNvPr id="52245" name="Rectangle 17"/>
              <p:cNvSpPr>
                <a:spLocks noChangeArrowheads="1"/>
              </p:cNvSpPr>
              <p:nvPr/>
            </p:nvSpPr>
            <p:spPr bwMode="auto">
              <a:xfrm>
                <a:off x="2670" y="403"/>
                <a:ext cx="980"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2232" name="Group 20"/>
            <p:cNvGrpSpPr>
              <a:grpSpLocks/>
            </p:cNvGrpSpPr>
            <p:nvPr/>
          </p:nvGrpSpPr>
          <p:grpSpPr bwMode="auto">
            <a:xfrm>
              <a:off x="0" y="806"/>
              <a:ext cx="740" cy="2243"/>
              <a:chOff x="0" y="806"/>
              <a:chExt cx="740" cy="2243"/>
            </a:xfrm>
          </p:grpSpPr>
          <p:sp>
            <p:nvSpPr>
              <p:cNvPr id="52242" name="Rectangle 7"/>
              <p:cNvSpPr>
                <a:spLocks noChangeArrowheads="1"/>
              </p:cNvSpPr>
              <p:nvPr/>
            </p:nvSpPr>
            <p:spPr bwMode="auto">
              <a:xfrm>
                <a:off x="43" y="806"/>
                <a:ext cx="654" cy="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eaLnBrk="1" fontAlgn="base" hangingPunct="1">
                  <a:lnSpc>
                    <a:spcPct val="130000"/>
                  </a:lnSpc>
                  <a:spcBef>
                    <a:spcPct val="0"/>
                  </a:spcBef>
                  <a:spcAft>
                    <a:spcPct val="0"/>
                  </a:spcAft>
                </a:pPr>
                <a:r>
                  <a:rPr lang="zh-CN" altLang="en-US" sz="1400" b="1">
                    <a:solidFill>
                      <a:srgbClr val="000000"/>
                    </a:solidFill>
                    <a:latin typeface="Arial" pitchFamily="34" charset="0"/>
                  </a:rPr>
                  <a:t>1</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2</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3</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4</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5</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6</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7</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8</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9</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10</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11</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12</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13</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14</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15</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16</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Arial" pitchFamily="34" charset="0"/>
                  </a:rPr>
                  <a:t>17</a:t>
                </a:r>
                <a:endParaRPr lang="zh-CN" altLang="en-US" sz="1400">
                  <a:solidFill>
                    <a:srgbClr val="000000"/>
                  </a:solidFill>
                  <a:latin typeface="Arial" pitchFamily="34" charset="0"/>
                </a:endParaRPr>
              </a:p>
              <a:p>
                <a:pPr algn="just" fontAlgn="base">
                  <a:lnSpc>
                    <a:spcPct val="130000"/>
                  </a:lnSpc>
                  <a:spcBef>
                    <a:spcPct val="0"/>
                  </a:spcBef>
                  <a:spcAft>
                    <a:spcPct val="0"/>
                  </a:spcAft>
                </a:pPr>
                <a:endParaRPr lang="zh-CN" altLang="en-US" sz="1400">
                  <a:solidFill>
                    <a:srgbClr val="000000"/>
                  </a:solidFill>
                  <a:latin typeface="Arial" pitchFamily="34" charset="0"/>
                </a:endParaRPr>
              </a:p>
            </p:txBody>
          </p:sp>
          <p:sp>
            <p:nvSpPr>
              <p:cNvPr id="52243" name="Rectangle 19"/>
              <p:cNvSpPr>
                <a:spLocks noChangeArrowheads="1"/>
              </p:cNvSpPr>
              <p:nvPr/>
            </p:nvSpPr>
            <p:spPr bwMode="auto">
              <a:xfrm>
                <a:off x="0" y="806"/>
                <a:ext cx="740" cy="224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sz="4800">
                  <a:solidFill>
                    <a:srgbClr val="000000"/>
                  </a:solidFill>
                </a:endParaRPr>
              </a:p>
            </p:txBody>
          </p:sp>
        </p:grpSp>
        <p:grpSp>
          <p:nvGrpSpPr>
            <p:cNvPr id="52233" name="Group 22"/>
            <p:cNvGrpSpPr>
              <a:grpSpLocks/>
            </p:cNvGrpSpPr>
            <p:nvPr/>
          </p:nvGrpSpPr>
          <p:grpSpPr bwMode="auto">
            <a:xfrm>
              <a:off x="740" y="806"/>
              <a:ext cx="950" cy="2243"/>
              <a:chOff x="740" y="806"/>
              <a:chExt cx="950" cy="2243"/>
            </a:xfrm>
          </p:grpSpPr>
          <p:sp>
            <p:nvSpPr>
              <p:cNvPr id="52240" name="Rectangle 8"/>
              <p:cNvSpPr>
                <a:spLocks noChangeArrowheads="1"/>
              </p:cNvSpPr>
              <p:nvPr/>
            </p:nvSpPr>
            <p:spPr bwMode="auto">
              <a:xfrm>
                <a:off x="783" y="806"/>
                <a:ext cx="864" cy="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eaLnBrk="1" fontAlgn="base" hangingPunct="1">
                  <a:lnSpc>
                    <a:spcPct val="130000"/>
                  </a:lnSpc>
                  <a:spcBef>
                    <a:spcPct val="0"/>
                  </a:spcBef>
                  <a:spcAft>
                    <a:spcPct val="0"/>
                  </a:spcAft>
                </a:pPr>
                <a:r>
                  <a:rPr lang="zh-CN" altLang="en-US" sz="1400" b="1" dirty="0">
                    <a:solidFill>
                      <a:srgbClr val="000000"/>
                    </a:solidFill>
                    <a:latin typeface="Arial" pitchFamily="34" charset="0"/>
                  </a:rPr>
                  <a:t># </a:t>
                </a:r>
                <a:r>
                  <a:rPr lang="en-US" altLang="zh-CN" sz="1400" b="1" dirty="0">
                    <a:solidFill>
                      <a:srgbClr val="000000"/>
                    </a:solidFill>
                    <a:latin typeface="Arial" pitchFamily="34" charset="0"/>
                  </a:rPr>
                  <a:t>E</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E′T</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E′T′F</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a:t>
                </a:r>
                <a:r>
                  <a:rPr lang="en-US" altLang="zh-CN" sz="1400" b="1" dirty="0" err="1">
                    <a:solidFill>
                      <a:srgbClr val="000000"/>
                    </a:solidFill>
                    <a:latin typeface="Arial" pitchFamily="34" charset="0"/>
                  </a:rPr>
                  <a:t>E′T′i</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E′T′</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E′T+</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E′T</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E′T′F</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a:t>
                </a:r>
                <a:r>
                  <a:rPr lang="en-US" altLang="zh-CN" sz="1400" b="1" dirty="0" err="1">
                    <a:solidFill>
                      <a:srgbClr val="000000"/>
                    </a:solidFill>
                    <a:latin typeface="Arial" pitchFamily="34" charset="0"/>
                  </a:rPr>
                  <a:t>E′T′i</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E′T′</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E′T′F </a:t>
                </a:r>
                <a:r>
                  <a:rPr lang="zh-CN" altLang="en-US" sz="1400" b="1" dirty="0">
                    <a:solidFill>
                      <a:srgbClr val="000000"/>
                    </a:solidFill>
                  </a:rPr>
                  <a:t>＊</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E′T′F</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a:t>
                </a:r>
                <a:r>
                  <a:rPr lang="en-US" altLang="zh-CN" sz="1400" b="1" dirty="0" err="1">
                    <a:solidFill>
                      <a:srgbClr val="000000"/>
                    </a:solidFill>
                    <a:latin typeface="Arial" pitchFamily="34" charset="0"/>
                  </a:rPr>
                  <a:t>E′T′i</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 T′</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 E′</a:t>
                </a:r>
                <a:endParaRPr lang="en-US" altLang="zh-CN" sz="1400" dirty="0">
                  <a:solidFill>
                    <a:srgbClr val="000000"/>
                  </a:solidFill>
                  <a:latin typeface="Arial" pitchFamily="34" charset="0"/>
                </a:endParaRPr>
              </a:p>
              <a:p>
                <a:pPr algn="just" fontAlgn="base">
                  <a:lnSpc>
                    <a:spcPct val="130000"/>
                  </a:lnSpc>
                  <a:spcBef>
                    <a:spcPct val="0"/>
                  </a:spcBef>
                  <a:spcAft>
                    <a:spcPct val="0"/>
                  </a:spcAft>
                </a:pPr>
                <a:r>
                  <a:rPr lang="en-US" altLang="zh-CN" sz="1400" b="1" dirty="0">
                    <a:solidFill>
                      <a:srgbClr val="000000"/>
                    </a:solidFill>
                    <a:latin typeface="Arial" pitchFamily="34" charset="0"/>
                  </a:rPr>
                  <a:t>#</a:t>
                </a:r>
                <a:endParaRPr lang="en-US" altLang="zh-CN" sz="1400" dirty="0">
                  <a:solidFill>
                    <a:srgbClr val="000000"/>
                  </a:solidFill>
                  <a:latin typeface="Arial" pitchFamily="34" charset="0"/>
                </a:endParaRPr>
              </a:p>
              <a:p>
                <a:pPr algn="just" fontAlgn="base">
                  <a:lnSpc>
                    <a:spcPct val="130000"/>
                  </a:lnSpc>
                  <a:spcBef>
                    <a:spcPct val="0"/>
                  </a:spcBef>
                  <a:spcAft>
                    <a:spcPct val="0"/>
                  </a:spcAft>
                </a:pPr>
                <a:endParaRPr lang="en-US" altLang="zh-CN" sz="1400" dirty="0">
                  <a:solidFill>
                    <a:srgbClr val="000000"/>
                  </a:solidFill>
                  <a:latin typeface="Arial" pitchFamily="34" charset="0"/>
                </a:endParaRPr>
              </a:p>
            </p:txBody>
          </p:sp>
          <p:sp>
            <p:nvSpPr>
              <p:cNvPr id="52241" name="Rectangle 21"/>
              <p:cNvSpPr>
                <a:spLocks noChangeArrowheads="1"/>
              </p:cNvSpPr>
              <p:nvPr/>
            </p:nvSpPr>
            <p:spPr bwMode="auto">
              <a:xfrm>
                <a:off x="740" y="806"/>
                <a:ext cx="950" cy="224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2234" name="Group 24"/>
            <p:cNvGrpSpPr>
              <a:grpSpLocks/>
            </p:cNvGrpSpPr>
            <p:nvPr/>
          </p:nvGrpSpPr>
          <p:grpSpPr bwMode="auto">
            <a:xfrm>
              <a:off x="1690" y="806"/>
              <a:ext cx="980" cy="2243"/>
              <a:chOff x="1690" y="806"/>
              <a:chExt cx="980" cy="2243"/>
            </a:xfrm>
          </p:grpSpPr>
          <p:sp>
            <p:nvSpPr>
              <p:cNvPr id="52238" name="Rectangle 9"/>
              <p:cNvSpPr>
                <a:spLocks noChangeArrowheads="1"/>
              </p:cNvSpPr>
              <p:nvPr/>
            </p:nvSpPr>
            <p:spPr bwMode="auto">
              <a:xfrm>
                <a:off x="1733" y="806"/>
                <a:ext cx="894" cy="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eaLnBrk="1" fontAlgn="base" hangingPunct="1">
                  <a:lnSpc>
                    <a:spcPct val="130000"/>
                  </a:lnSpc>
                  <a:spcBef>
                    <a:spcPct val="0"/>
                  </a:spcBef>
                  <a:spcAft>
                    <a:spcPct val="0"/>
                  </a:spcAft>
                </a:pPr>
                <a:r>
                  <a:rPr lang="en-US" altLang="zh-CN" sz="1400" b="1">
                    <a:solidFill>
                      <a:srgbClr val="000000"/>
                    </a:solidFill>
                    <a:latin typeface="Arial" pitchFamily="34" charset="0"/>
                  </a:rPr>
                  <a:t>i + i * i#</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i + i * i#</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i + i * i #</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i + i * i#</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 i  * i #</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 i * i #</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 i * i #</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i * i # </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i * i #</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i * i  #</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 i #</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 i #</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i #</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i #</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a:t>
                </a:r>
                <a:endParaRPr lang="en-US" altLang="zh-CN" sz="1400">
                  <a:solidFill>
                    <a:srgbClr val="000000"/>
                  </a:solidFill>
                  <a:latin typeface="Arial" pitchFamily="34" charset="0"/>
                </a:endParaRPr>
              </a:p>
              <a:p>
                <a:pPr algn="just" fontAlgn="base">
                  <a:lnSpc>
                    <a:spcPct val="130000"/>
                  </a:lnSpc>
                  <a:spcBef>
                    <a:spcPct val="0"/>
                  </a:spcBef>
                  <a:spcAft>
                    <a:spcPct val="0"/>
                  </a:spcAft>
                </a:pPr>
                <a:endParaRPr lang="en-US" altLang="zh-CN" sz="1400">
                  <a:solidFill>
                    <a:srgbClr val="000000"/>
                  </a:solidFill>
                  <a:latin typeface="Arial" pitchFamily="34" charset="0"/>
                </a:endParaRPr>
              </a:p>
            </p:txBody>
          </p:sp>
          <p:sp>
            <p:nvSpPr>
              <p:cNvPr id="52239" name="Rectangle 23"/>
              <p:cNvSpPr>
                <a:spLocks noChangeArrowheads="1"/>
              </p:cNvSpPr>
              <p:nvPr/>
            </p:nvSpPr>
            <p:spPr bwMode="auto">
              <a:xfrm>
                <a:off x="1690" y="806"/>
                <a:ext cx="980" cy="224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nvGrpSpPr>
            <p:cNvPr id="52235" name="Group 26"/>
            <p:cNvGrpSpPr>
              <a:grpSpLocks/>
            </p:cNvGrpSpPr>
            <p:nvPr/>
          </p:nvGrpSpPr>
          <p:grpSpPr bwMode="auto">
            <a:xfrm>
              <a:off x="2670" y="806"/>
              <a:ext cx="980" cy="2243"/>
              <a:chOff x="2670" y="806"/>
              <a:chExt cx="980" cy="2243"/>
            </a:xfrm>
          </p:grpSpPr>
          <p:sp>
            <p:nvSpPr>
              <p:cNvPr id="52236" name="Rectangle 10"/>
              <p:cNvSpPr>
                <a:spLocks noChangeArrowheads="1"/>
              </p:cNvSpPr>
              <p:nvPr/>
            </p:nvSpPr>
            <p:spPr bwMode="auto">
              <a:xfrm>
                <a:off x="2713" y="806"/>
                <a:ext cx="894" cy="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algn="just" eaLnBrk="1" fontAlgn="base" hangingPunct="1">
                  <a:lnSpc>
                    <a:spcPct val="130000"/>
                  </a:lnSpc>
                  <a:spcBef>
                    <a:spcPct val="0"/>
                  </a:spcBef>
                  <a:spcAft>
                    <a:spcPct val="0"/>
                  </a:spcAft>
                </a:pPr>
                <a:r>
                  <a:rPr lang="en-US" altLang="zh-CN" sz="1400" b="1">
                    <a:solidFill>
                      <a:srgbClr val="000000"/>
                    </a:solidFill>
                    <a:latin typeface="Arial" pitchFamily="34" charset="0"/>
                  </a:rPr>
                  <a:t>E→TE′</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T→FT′</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F→i</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i </a:t>
                </a:r>
                <a:r>
                  <a:rPr lang="zh-CN" altLang="en-US" sz="1400" b="1">
                    <a:solidFill>
                      <a:srgbClr val="000000"/>
                    </a:solidFill>
                    <a:latin typeface="Arial" pitchFamily="34" charset="0"/>
                  </a:rPr>
                  <a:t>匹配</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T′→ε</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E′→+TE′</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a:t>
                </a:r>
                <a:r>
                  <a:rPr lang="zh-CN" altLang="en-US" sz="1400" b="1">
                    <a:solidFill>
                      <a:srgbClr val="000000"/>
                    </a:solidFill>
                    <a:latin typeface="Arial" pitchFamily="34" charset="0"/>
                  </a:rPr>
                  <a:t>匹配</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T→FT</a:t>
                </a:r>
                <a:r>
                  <a:rPr lang="en-US" altLang="zh-CN" sz="1400" b="1">
                    <a:solidFill>
                      <a:srgbClr val="000000"/>
                    </a:solidFill>
                    <a:latin typeface="Times New Roman" pitchFamily="18" charset="0"/>
                  </a:rPr>
                  <a:t>’</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F→i</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i </a:t>
                </a:r>
                <a:r>
                  <a:rPr lang="zh-CN" altLang="en-US" sz="1400" b="1">
                    <a:solidFill>
                      <a:srgbClr val="000000"/>
                    </a:solidFill>
                    <a:latin typeface="Arial" pitchFamily="34" charset="0"/>
                  </a:rPr>
                  <a:t>匹配</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T′→</a:t>
                </a:r>
                <a:r>
                  <a:rPr lang="zh-CN" altLang="en-US" sz="1400" b="1">
                    <a:solidFill>
                      <a:srgbClr val="000000"/>
                    </a:solidFill>
                  </a:rPr>
                  <a:t>＊</a:t>
                </a:r>
                <a:r>
                  <a:rPr lang="en-US" altLang="zh-CN" sz="1400" b="1">
                    <a:solidFill>
                      <a:srgbClr val="000000"/>
                    </a:solidFill>
                    <a:latin typeface="Arial" pitchFamily="34" charset="0"/>
                  </a:rPr>
                  <a:t>F T′</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en-US" sz="1400" b="1">
                    <a:solidFill>
                      <a:srgbClr val="000000"/>
                    </a:solidFill>
                  </a:rPr>
                  <a:t>＊</a:t>
                </a:r>
                <a:r>
                  <a:rPr lang="zh-CN" altLang="en-US" sz="1400" b="1">
                    <a:solidFill>
                      <a:srgbClr val="000000"/>
                    </a:solidFill>
                    <a:latin typeface="Arial" pitchFamily="34" charset="0"/>
                  </a:rPr>
                  <a:t>匹配</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F→i</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i </a:t>
                </a:r>
                <a:r>
                  <a:rPr lang="zh-CN" altLang="en-US" sz="1400" b="1">
                    <a:solidFill>
                      <a:srgbClr val="000000"/>
                    </a:solidFill>
                    <a:latin typeface="Arial" pitchFamily="34" charset="0"/>
                  </a:rPr>
                  <a:t>匹配</a:t>
                </a:r>
                <a:endParaRPr lang="zh-CN" altLang="en-US"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T′→ε</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en-US" altLang="zh-CN" sz="1400" b="1">
                    <a:solidFill>
                      <a:srgbClr val="000000"/>
                    </a:solidFill>
                    <a:latin typeface="Arial" pitchFamily="34" charset="0"/>
                  </a:rPr>
                  <a:t>E′→ε</a:t>
                </a:r>
                <a:endParaRPr lang="en-US" altLang="zh-CN" sz="1400">
                  <a:solidFill>
                    <a:srgbClr val="000000"/>
                  </a:solidFill>
                  <a:latin typeface="Arial" pitchFamily="34" charset="0"/>
                </a:endParaRPr>
              </a:p>
              <a:p>
                <a:pPr algn="just" fontAlgn="base">
                  <a:lnSpc>
                    <a:spcPct val="130000"/>
                  </a:lnSpc>
                  <a:spcBef>
                    <a:spcPct val="0"/>
                  </a:spcBef>
                  <a:spcAft>
                    <a:spcPct val="0"/>
                  </a:spcAft>
                </a:pPr>
                <a:r>
                  <a:rPr lang="zh-CN" altLang="en-US" sz="1400" b="1">
                    <a:solidFill>
                      <a:srgbClr val="000000"/>
                    </a:solidFill>
                    <a:latin typeface="Times New Roman" pitchFamily="18" charset="0"/>
                  </a:rPr>
                  <a:t>接受</a:t>
                </a:r>
                <a:endParaRPr lang="zh-CN" altLang="en-US" sz="1400">
                  <a:solidFill>
                    <a:srgbClr val="000000"/>
                  </a:solidFill>
                </a:endParaRPr>
              </a:p>
              <a:p>
                <a:pPr algn="just" fontAlgn="base">
                  <a:lnSpc>
                    <a:spcPct val="130000"/>
                  </a:lnSpc>
                  <a:spcBef>
                    <a:spcPct val="0"/>
                  </a:spcBef>
                  <a:spcAft>
                    <a:spcPct val="0"/>
                  </a:spcAft>
                </a:pPr>
                <a:endParaRPr lang="zh-CN" altLang="en-US" sz="1400">
                  <a:solidFill>
                    <a:srgbClr val="000000"/>
                  </a:solidFill>
                  <a:latin typeface="Arial" pitchFamily="34" charset="0"/>
                </a:endParaRPr>
              </a:p>
            </p:txBody>
          </p:sp>
          <p:sp>
            <p:nvSpPr>
              <p:cNvPr id="52237" name="Rectangle 25"/>
              <p:cNvSpPr>
                <a:spLocks noChangeArrowheads="1"/>
              </p:cNvSpPr>
              <p:nvPr/>
            </p:nvSpPr>
            <p:spPr bwMode="auto">
              <a:xfrm>
                <a:off x="2670" y="806"/>
                <a:ext cx="980" cy="224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3600">
                    <a:solidFill>
                      <a:schemeClr val="tx1"/>
                    </a:solidFill>
                    <a:latin typeface="Tahoma" pitchFamily="34" charset="0"/>
                    <a:ea typeface="宋体" pitchFamily="2" charset="-122"/>
                  </a:defRPr>
                </a:lvl1pPr>
                <a:lvl2pPr marL="742950" indent="-285750" eaLnBrk="0" hangingPunct="0">
                  <a:defRPr kumimoji="1" sz="3600">
                    <a:solidFill>
                      <a:schemeClr val="tx1"/>
                    </a:solidFill>
                    <a:latin typeface="Tahoma" pitchFamily="34" charset="0"/>
                    <a:ea typeface="宋体" pitchFamily="2" charset="-122"/>
                  </a:defRPr>
                </a:lvl2pPr>
                <a:lvl3pPr marL="1143000" indent="-228600" eaLnBrk="0" hangingPunct="0">
                  <a:defRPr kumimoji="1" sz="3600">
                    <a:solidFill>
                      <a:schemeClr val="tx1"/>
                    </a:solidFill>
                    <a:latin typeface="Tahoma" pitchFamily="34" charset="0"/>
                    <a:ea typeface="宋体" pitchFamily="2" charset="-122"/>
                  </a:defRPr>
                </a:lvl3pPr>
                <a:lvl4pPr marL="1600200" indent="-228600" eaLnBrk="0" hangingPunct="0">
                  <a:defRPr kumimoji="1" sz="3600">
                    <a:solidFill>
                      <a:schemeClr val="tx1"/>
                    </a:solidFill>
                    <a:latin typeface="Tahoma" pitchFamily="34" charset="0"/>
                    <a:ea typeface="宋体" pitchFamily="2" charset="-122"/>
                  </a:defRPr>
                </a:lvl4pPr>
                <a:lvl5pPr marL="2057400" indent="-228600" eaLnBrk="0" hangingPunct="0">
                  <a:defRPr kumimoji="1" sz="36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36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36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36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3600">
                    <a:solidFill>
                      <a:schemeClr val="tx1"/>
                    </a:solidFill>
                    <a:latin typeface="Tahoma" pitchFamily="34"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grpSp>
      <p:sp>
        <p:nvSpPr>
          <p:cNvPr id="2" name="灯片编号占位符 1"/>
          <p:cNvSpPr>
            <a:spLocks noGrp="1"/>
          </p:cNvSpPr>
          <p:nvPr>
            <p:ph type="sldNum" sz="quarter" idx="12"/>
          </p:nvPr>
        </p:nvSpPr>
        <p:spPr/>
        <p:txBody>
          <a:bodyPr/>
          <a:lstStyle/>
          <a:p>
            <a:fld id="{1B43473F-AE3F-4D1C-9C4F-7AD3C17AC1AD}" type="slidenum">
              <a:rPr lang="zh-CN" altLang="en-US" smtClean="0">
                <a:solidFill>
                  <a:srgbClr val="3F3F3F"/>
                </a:solidFill>
              </a:rPr>
              <a:pPr/>
              <a:t>79</a:t>
            </a:fld>
            <a:endParaRPr lang="zh-CN" altLang="en-US">
              <a:solidFill>
                <a:srgbClr val="3F3F3F"/>
              </a:solidFill>
            </a:endParaRPr>
          </a:p>
        </p:txBody>
      </p:sp>
    </p:spTree>
    <p:extLst>
      <p:ext uri="{BB962C8B-B14F-4D97-AF65-F5344CB8AC3E}">
        <p14:creationId xmlns:p14="http://schemas.microsoft.com/office/powerpoint/2010/main" val="159429802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第四章 自顶向下语法分析方法</a:t>
            </a:r>
          </a:p>
        </p:txBody>
      </p:sp>
      <p:sp>
        <p:nvSpPr>
          <p:cNvPr id="4" name="Freeform 6"/>
          <p:cNvSpPr>
            <a:spLocks/>
          </p:cNvSpPr>
          <p:nvPr/>
        </p:nvSpPr>
        <p:spPr bwMode="auto">
          <a:xfrm>
            <a:off x="975061" y="1155144"/>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01</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5" name="Freeform 7"/>
          <p:cNvSpPr>
            <a:spLocks/>
          </p:cNvSpPr>
          <p:nvPr/>
        </p:nvSpPr>
        <p:spPr bwMode="auto">
          <a:xfrm>
            <a:off x="2314041" y="115514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rPr>
              <a:t>确定的自顶向下分析思想</a:t>
            </a:r>
          </a:p>
        </p:txBody>
      </p:sp>
      <p:sp>
        <p:nvSpPr>
          <p:cNvPr id="6" name="Freeform 6"/>
          <p:cNvSpPr>
            <a:spLocks/>
          </p:cNvSpPr>
          <p:nvPr/>
        </p:nvSpPr>
        <p:spPr bwMode="auto">
          <a:xfrm>
            <a:off x="975061" y="2019240"/>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02</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8" name="Freeform 6"/>
          <p:cNvSpPr>
            <a:spLocks/>
          </p:cNvSpPr>
          <p:nvPr/>
        </p:nvSpPr>
        <p:spPr bwMode="auto">
          <a:xfrm>
            <a:off x="975061" y="2883336"/>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03</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9" name="Freeform 7"/>
          <p:cNvSpPr>
            <a:spLocks/>
          </p:cNvSpPr>
          <p:nvPr/>
        </p:nvSpPr>
        <p:spPr bwMode="auto">
          <a:xfrm>
            <a:off x="2314041" y="2019239"/>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）分析</a:t>
            </a:r>
          </a:p>
        </p:txBody>
      </p:sp>
      <p:sp>
        <p:nvSpPr>
          <p:cNvPr id="10" name="Freeform 6"/>
          <p:cNvSpPr>
            <a:spLocks/>
          </p:cNvSpPr>
          <p:nvPr/>
        </p:nvSpPr>
        <p:spPr bwMode="auto">
          <a:xfrm>
            <a:off x="975061" y="3747432"/>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04</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11" name="Freeform 7"/>
          <p:cNvSpPr>
            <a:spLocks/>
          </p:cNvSpPr>
          <p:nvPr/>
        </p:nvSpPr>
        <p:spPr bwMode="auto">
          <a:xfrm>
            <a:off x="2314041" y="2883335"/>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rPr>
              <a:t>非</a:t>
            </a: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）和</a:t>
            </a:r>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）等价变换</a:t>
            </a:r>
          </a:p>
        </p:txBody>
      </p:sp>
      <p:sp>
        <p:nvSpPr>
          <p:cNvPr id="12" name="Freeform 6"/>
          <p:cNvSpPr>
            <a:spLocks/>
          </p:cNvSpPr>
          <p:nvPr/>
        </p:nvSpPr>
        <p:spPr bwMode="auto">
          <a:xfrm>
            <a:off x="971555" y="4611528"/>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80B3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05</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13" name="Freeform 7"/>
          <p:cNvSpPr>
            <a:spLocks/>
          </p:cNvSpPr>
          <p:nvPr/>
        </p:nvSpPr>
        <p:spPr bwMode="auto">
          <a:xfrm>
            <a:off x="2314041" y="3747431"/>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zh-CN" altLang="en-US" sz="2800" b="1" kern="0" dirty="0">
                <a:solidFill>
                  <a:srgbClr val="FFFFFF"/>
                </a:solidFill>
                <a:latin typeface="+mj-ea"/>
              </a:rPr>
              <a:t>不确定的自顶向下分析思想</a:t>
            </a:r>
          </a:p>
        </p:txBody>
      </p:sp>
      <p:sp>
        <p:nvSpPr>
          <p:cNvPr id="14" name="Freeform 6"/>
          <p:cNvSpPr>
            <a:spLocks/>
          </p:cNvSpPr>
          <p:nvPr/>
        </p:nvSpPr>
        <p:spPr bwMode="auto">
          <a:xfrm>
            <a:off x="975061" y="5478051"/>
            <a:ext cx="1073042" cy="714123"/>
          </a:xfrm>
          <a:custGeom>
            <a:avLst/>
            <a:gdLst/>
            <a:ahLst/>
            <a:cxnLst>
              <a:cxn ang="0">
                <a:pos x="211" y="73"/>
              </a:cxn>
              <a:cxn ang="0">
                <a:pos x="192" y="80"/>
              </a:cxn>
              <a:cxn ang="0">
                <a:pos x="189" y="82"/>
              </a:cxn>
              <a:cxn ang="0">
                <a:pos x="180" y="86"/>
              </a:cxn>
              <a:cxn ang="0">
                <a:pos x="172" y="85"/>
              </a:cxn>
              <a:cxn ang="0">
                <a:pos x="172" y="0"/>
              </a:cxn>
              <a:cxn ang="0">
                <a:pos x="0" y="0"/>
              </a:cxn>
              <a:cxn ang="0">
                <a:pos x="0" y="190"/>
              </a:cxn>
              <a:cxn ang="0">
                <a:pos x="172" y="190"/>
              </a:cxn>
              <a:cxn ang="0">
                <a:pos x="172" y="117"/>
              </a:cxn>
              <a:cxn ang="0">
                <a:pos x="179" y="116"/>
              </a:cxn>
              <a:cxn ang="0">
                <a:pos x="190" y="120"/>
              </a:cxn>
              <a:cxn ang="0">
                <a:pos x="211" y="128"/>
              </a:cxn>
              <a:cxn ang="0">
                <a:pos x="241" y="101"/>
              </a:cxn>
              <a:cxn ang="0">
                <a:pos x="211" y="73"/>
              </a:cxn>
            </a:cxnLst>
            <a:rect l="0" t="0" r="r" b="b"/>
            <a:pathLst>
              <a:path w="241" h="190">
                <a:moveTo>
                  <a:pt x="211" y="73"/>
                </a:moveTo>
                <a:cubicBezTo>
                  <a:pt x="204" y="73"/>
                  <a:pt x="197" y="76"/>
                  <a:pt x="192" y="80"/>
                </a:cubicBezTo>
                <a:cubicBezTo>
                  <a:pt x="191" y="81"/>
                  <a:pt x="190" y="82"/>
                  <a:pt x="189" y="82"/>
                </a:cubicBezTo>
                <a:cubicBezTo>
                  <a:pt x="187" y="84"/>
                  <a:pt x="183" y="86"/>
                  <a:pt x="180" y="86"/>
                </a:cubicBezTo>
                <a:cubicBezTo>
                  <a:pt x="176" y="86"/>
                  <a:pt x="174" y="86"/>
                  <a:pt x="172" y="85"/>
                </a:cubicBezTo>
                <a:cubicBezTo>
                  <a:pt x="172" y="0"/>
                  <a:pt x="172" y="0"/>
                  <a:pt x="172" y="0"/>
                </a:cubicBezTo>
                <a:cubicBezTo>
                  <a:pt x="0" y="0"/>
                  <a:pt x="0" y="0"/>
                  <a:pt x="0" y="0"/>
                </a:cubicBezTo>
                <a:cubicBezTo>
                  <a:pt x="0" y="190"/>
                  <a:pt x="0" y="190"/>
                  <a:pt x="0" y="190"/>
                </a:cubicBezTo>
                <a:cubicBezTo>
                  <a:pt x="172" y="190"/>
                  <a:pt x="172" y="190"/>
                  <a:pt x="172" y="190"/>
                </a:cubicBezTo>
                <a:cubicBezTo>
                  <a:pt x="172" y="117"/>
                  <a:pt x="172" y="117"/>
                  <a:pt x="172" y="117"/>
                </a:cubicBezTo>
                <a:cubicBezTo>
                  <a:pt x="175" y="116"/>
                  <a:pt x="176" y="116"/>
                  <a:pt x="179" y="116"/>
                </a:cubicBezTo>
                <a:cubicBezTo>
                  <a:pt x="183" y="116"/>
                  <a:pt x="188" y="118"/>
                  <a:pt x="190" y="120"/>
                </a:cubicBezTo>
                <a:cubicBezTo>
                  <a:pt x="192" y="122"/>
                  <a:pt x="202" y="128"/>
                  <a:pt x="211" y="128"/>
                </a:cubicBezTo>
                <a:cubicBezTo>
                  <a:pt x="228" y="128"/>
                  <a:pt x="241" y="116"/>
                  <a:pt x="241" y="101"/>
                </a:cubicBezTo>
                <a:cubicBezTo>
                  <a:pt x="241" y="86"/>
                  <a:pt x="228" y="73"/>
                  <a:pt x="211" y="73"/>
                </a:cubicBezTo>
                <a:close/>
              </a:path>
            </a:pathLst>
          </a:custGeom>
          <a:solidFill>
            <a:srgbClr val="0066FF"/>
          </a:solidFill>
          <a:ln w="9525">
            <a:noFill/>
            <a:round/>
            <a:headEnd/>
            <a:tailEnd/>
          </a:ln>
          <a:effectLst>
            <a:reflection blurRad="6350" stA="19000" endPos="53000" dir="5400000" sy="-100000" algn="bl" rotWithShape="0"/>
          </a:effectLst>
        </p:spPr>
        <p:txBody>
          <a:bodyPr vert="horz" wrap="square" lIns="0" tIns="45720" rIns="288000" bIns="45720" numCol="1" anchor="ctr" anchorCtr="1" compatLnSpc="1">
            <a:prstTxWarp prst="textNoShape">
              <a:avLst/>
            </a:prstTxWarp>
          </a:bodyPr>
          <a:lstStyle/>
          <a:p>
            <a:r>
              <a:rPr lang="en-US" sz="3200" b="1" kern="0" dirty="0">
                <a:solidFill>
                  <a:srgbClr val="FFFFFF"/>
                </a:solidFill>
                <a:latin typeface="微软雅黑" panose="020B0503020204020204" pitchFamily="34" charset="-122"/>
                <a:ea typeface="微软雅黑" panose="020B0503020204020204" pitchFamily="34" charset="-122"/>
              </a:rPr>
              <a:t>06</a:t>
            </a:r>
            <a:endParaRPr lang="ru-RU" sz="3200" b="1" kern="0" dirty="0">
              <a:solidFill>
                <a:srgbClr val="FFFFFF"/>
              </a:solidFill>
              <a:latin typeface="微软雅黑" panose="020B0503020204020204" pitchFamily="34" charset="-122"/>
              <a:ea typeface="微软雅黑" panose="020B0503020204020204" pitchFamily="34" charset="-122"/>
            </a:endParaRPr>
          </a:p>
        </p:txBody>
      </p:sp>
      <p:sp>
        <p:nvSpPr>
          <p:cNvPr id="15" name="Freeform 7"/>
          <p:cNvSpPr>
            <a:spLocks/>
          </p:cNvSpPr>
          <p:nvPr/>
        </p:nvSpPr>
        <p:spPr bwMode="auto">
          <a:xfrm>
            <a:off x="2314041" y="4613954"/>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80B3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en-US" altLang="zh-CN" sz="2800" b="1" kern="0" dirty="0">
                <a:solidFill>
                  <a:srgbClr val="FFFFFF"/>
                </a:solidFill>
                <a:latin typeface="+mj-ea"/>
              </a:rPr>
              <a:t>LL</a:t>
            </a:r>
            <a:r>
              <a:rPr lang="zh-CN" altLang="en-US" sz="2800" b="1" kern="0" dirty="0">
                <a:solidFill>
                  <a:srgbClr val="FFFFFF"/>
                </a:solidFill>
                <a:latin typeface="+mj-ea"/>
              </a:rPr>
              <a:t>（</a:t>
            </a:r>
            <a:r>
              <a:rPr lang="en-US" altLang="zh-CN" sz="2800" b="1" kern="0" dirty="0">
                <a:solidFill>
                  <a:srgbClr val="FFFFFF"/>
                </a:solidFill>
                <a:latin typeface="+mj-ea"/>
              </a:rPr>
              <a:t>1</a:t>
            </a:r>
            <a:r>
              <a:rPr lang="zh-CN" altLang="en-US" sz="2800" b="1" kern="0" dirty="0">
                <a:solidFill>
                  <a:srgbClr val="FFFFFF"/>
                </a:solidFill>
                <a:latin typeface="+mj-ea"/>
              </a:rPr>
              <a:t>）分析的实现</a:t>
            </a:r>
          </a:p>
        </p:txBody>
      </p:sp>
      <p:sp>
        <p:nvSpPr>
          <p:cNvPr id="17" name="Freeform 7"/>
          <p:cNvSpPr>
            <a:spLocks/>
          </p:cNvSpPr>
          <p:nvPr/>
        </p:nvSpPr>
        <p:spPr bwMode="auto">
          <a:xfrm>
            <a:off x="2314041" y="5490631"/>
            <a:ext cx="5498327" cy="714123"/>
          </a:xfrm>
          <a:custGeom>
            <a:avLst/>
            <a:gdLst/>
            <a:ahLst/>
            <a:cxnLst>
              <a:cxn ang="0">
                <a:pos x="803" y="0"/>
              </a:cxn>
              <a:cxn ang="0">
                <a:pos x="792" y="0"/>
              </a:cxn>
              <a:cxn ang="0">
                <a:pos x="644" y="0"/>
              </a:cxn>
              <a:cxn ang="0">
                <a:pos x="634" y="0"/>
              </a:cxn>
              <a:cxn ang="0">
                <a:pos x="494" y="0"/>
              </a:cxn>
              <a:cxn ang="0">
                <a:pos x="476" y="0"/>
              </a:cxn>
              <a:cxn ang="0">
                <a:pos x="331" y="0"/>
              </a:cxn>
              <a:cxn ang="0">
                <a:pos x="325" y="0"/>
              </a:cxn>
              <a:cxn ang="0">
                <a:pos x="169" y="0"/>
              </a:cxn>
              <a:cxn ang="0">
                <a:pos x="163" y="0"/>
              </a:cxn>
              <a:cxn ang="0">
                <a:pos x="0" y="0"/>
              </a:cxn>
              <a:cxn ang="0">
                <a:pos x="0" y="82"/>
              </a:cxn>
              <a:cxn ang="0">
                <a:pos x="6" y="79"/>
              </a:cxn>
              <a:cxn ang="0">
                <a:pos x="9" y="77"/>
              </a:cxn>
              <a:cxn ang="0">
                <a:pos x="31" y="69"/>
              </a:cxn>
              <a:cxn ang="0">
                <a:pos x="65" y="101"/>
              </a:cxn>
              <a:cxn ang="0">
                <a:pos x="31" y="133"/>
              </a:cxn>
              <a:cxn ang="0">
                <a:pos x="7" y="123"/>
              </a:cxn>
              <a:cxn ang="0">
                <a:pos x="0" y="120"/>
              </a:cxn>
              <a:cxn ang="0">
                <a:pos x="0" y="190"/>
              </a:cxn>
              <a:cxn ang="0">
                <a:pos x="163" y="190"/>
              </a:cxn>
              <a:cxn ang="0">
                <a:pos x="169" y="190"/>
              </a:cxn>
              <a:cxn ang="0">
                <a:pos x="325" y="190"/>
              </a:cxn>
              <a:cxn ang="0">
                <a:pos x="331" y="190"/>
              </a:cxn>
              <a:cxn ang="0">
                <a:pos x="476" y="190"/>
              </a:cxn>
              <a:cxn ang="0">
                <a:pos x="494" y="190"/>
              </a:cxn>
              <a:cxn ang="0">
                <a:pos x="634" y="190"/>
              </a:cxn>
              <a:cxn ang="0">
                <a:pos x="644" y="190"/>
              </a:cxn>
              <a:cxn ang="0">
                <a:pos x="792" y="190"/>
              </a:cxn>
              <a:cxn ang="0">
                <a:pos x="803" y="190"/>
              </a:cxn>
              <a:cxn ang="0">
                <a:pos x="965" y="190"/>
              </a:cxn>
              <a:cxn ang="0">
                <a:pos x="965" y="0"/>
              </a:cxn>
              <a:cxn ang="0">
                <a:pos x="803" y="0"/>
              </a:cxn>
            </a:cxnLst>
            <a:rect l="0" t="0" r="r" b="b"/>
            <a:pathLst>
              <a:path w="965" h="190">
                <a:moveTo>
                  <a:pt x="803" y="0"/>
                </a:moveTo>
                <a:cubicBezTo>
                  <a:pt x="792" y="0"/>
                  <a:pt x="792" y="0"/>
                  <a:pt x="792" y="0"/>
                </a:cubicBezTo>
                <a:cubicBezTo>
                  <a:pt x="644" y="0"/>
                  <a:pt x="644" y="0"/>
                  <a:pt x="644" y="0"/>
                </a:cubicBezTo>
                <a:cubicBezTo>
                  <a:pt x="634" y="0"/>
                  <a:pt x="634" y="0"/>
                  <a:pt x="634" y="0"/>
                </a:cubicBezTo>
                <a:cubicBezTo>
                  <a:pt x="494" y="0"/>
                  <a:pt x="494" y="0"/>
                  <a:pt x="494" y="0"/>
                </a:cubicBezTo>
                <a:cubicBezTo>
                  <a:pt x="476" y="0"/>
                  <a:pt x="476" y="0"/>
                  <a:pt x="476" y="0"/>
                </a:cubicBezTo>
                <a:cubicBezTo>
                  <a:pt x="331" y="0"/>
                  <a:pt x="331" y="0"/>
                  <a:pt x="331" y="0"/>
                </a:cubicBezTo>
                <a:cubicBezTo>
                  <a:pt x="325" y="0"/>
                  <a:pt x="325" y="0"/>
                  <a:pt x="325" y="0"/>
                </a:cubicBezTo>
                <a:cubicBezTo>
                  <a:pt x="169" y="0"/>
                  <a:pt x="169" y="0"/>
                  <a:pt x="169" y="0"/>
                </a:cubicBezTo>
                <a:cubicBezTo>
                  <a:pt x="163" y="0"/>
                  <a:pt x="163" y="0"/>
                  <a:pt x="163" y="0"/>
                </a:cubicBezTo>
                <a:cubicBezTo>
                  <a:pt x="0" y="0"/>
                  <a:pt x="0" y="0"/>
                  <a:pt x="0" y="0"/>
                </a:cubicBezTo>
                <a:cubicBezTo>
                  <a:pt x="0" y="82"/>
                  <a:pt x="0" y="82"/>
                  <a:pt x="0" y="82"/>
                </a:cubicBezTo>
                <a:cubicBezTo>
                  <a:pt x="2" y="81"/>
                  <a:pt x="4" y="81"/>
                  <a:pt x="6" y="79"/>
                </a:cubicBezTo>
                <a:cubicBezTo>
                  <a:pt x="7" y="78"/>
                  <a:pt x="8" y="78"/>
                  <a:pt x="9" y="77"/>
                </a:cubicBezTo>
                <a:cubicBezTo>
                  <a:pt x="15" y="72"/>
                  <a:pt x="22" y="69"/>
                  <a:pt x="31" y="69"/>
                </a:cubicBezTo>
                <a:cubicBezTo>
                  <a:pt x="50" y="69"/>
                  <a:pt x="65" y="83"/>
                  <a:pt x="65" y="101"/>
                </a:cubicBezTo>
                <a:cubicBezTo>
                  <a:pt x="65" y="118"/>
                  <a:pt x="50" y="133"/>
                  <a:pt x="31" y="133"/>
                </a:cubicBezTo>
                <a:cubicBezTo>
                  <a:pt x="21" y="133"/>
                  <a:pt x="9" y="125"/>
                  <a:pt x="7" y="123"/>
                </a:cubicBezTo>
                <a:cubicBezTo>
                  <a:pt x="5" y="122"/>
                  <a:pt x="3" y="121"/>
                  <a:pt x="0" y="120"/>
                </a:cubicBezTo>
                <a:cubicBezTo>
                  <a:pt x="0" y="190"/>
                  <a:pt x="0" y="190"/>
                  <a:pt x="0" y="190"/>
                </a:cubicBezTo>
                <a:cubicBezTo>
                  <a:pt x="163" y="190"/>
                  <a:pt x="163" y="190"/>
                  <a:pt x="163" y="190"/>
                </a:cubicBezTo>
                <a:cubicBezTo>
                  <a:pt x="169" y="190"/>
                  <a:pt x="169" y="190"/>
                  <a:pt x="169" y="190"/>
                </a:cubicBezTo>
                <a:cubicBezTo>
                  <a:pt x="325" y="190"/>
                  <a:pt x="325" y="190"/>
                  <a:pt x="325" y="190"/>
                </a:cubicBezTo>
                <a:cubicBezTo>
                  <a:pt x="331" y="190"/>
                  <a:pt x="331" y="190"/>
                  <a:pt x="331" y="190"/>
                </a:cubicBezTo>
                <a:cubicBezTo>
                  <a:pt x="476" y="190"/>
                  <a:pt x="476" y="190"/>
                  <a:pt x="476" y="190"/>
                </a:cubicBezTo>
                <a:cubicBezTo>
                  <a:pt x="494" y="190"/>
                  <a:pt x="494" y="190"/>
                  <a:pt x="494" y="190"/>
                </a:cubicBezTo>
                <a:cubicBezTo>
                  <a:pt x="634" y="190"/>
                  <a:pt x="634" y="190"/>
                  <a:pt x="634" y="190"/>
                </a:cubicBezTo>
                <a:cubicBezTo>
                  <a:pt x="644" y="190"/>
                  <a:pt x="644" y="190"/>
                  <a:pt x="644" y="190"/>
                </a:cubicBezTo>
                <a:cubicBezTo>
                  <a:pt x="792" y="190"/>
                  <a:pt x="792" y="190"/>
                  <a:pt x="792" y="190"/>
                </a:cubicBezTo>
                <a:cubicBezTo>
                  <a:pt x="803" y="190"/>
                  <a:pt x="803" y="190"/>
                  <a:pt x="803" y="190"/>
                </a:cubicBezTo>
                <a:cubicBezTo>
                  <a:pt x="965" y="190"/>
                  <a:pt x="965" y="190"/>
                  <a:pt x="965" y="190"/>
                </a:cubicBezTo>
                <a:cubicBezTo>
                  <a:pt x="965" y="0"/>
                  <a:pt x="965" y="0"/>
                  <a:pt x="965" y="0"/>
                </a:cubicBezTo>
                <a:lnTo>
                  <a:pt x="803" y="0"/>
                </a:lnTo>
                <a:close/>
              </a:path>
            </a:pathLst>
          </a:custGeom>
          <a:solidFill>
            <a:srgbClr val="0066FF"/>
          </a:solidFill>
          <a:ln w="9525">
            <a:noFill/>
            <a:round/>
            <a:headEnd/>
            <a:tailEnd/>
          </a:ln>
          <a:effectLst>
            <a:reflection blurRad="6350" stA="19000" endPos="53000" dir="5400000" sy="-100000" algn="bl" rotWithShape="0"/>
          </a:effectLst>
        </p:spPr>
        <p:txBody>
          <a:bodyPr vert="horz" wrap="square" lIns="91440" tIns="45720" rIns="91440" bIns="45720" numCol="1" anchor="ctr" anchorCtr="1" compatLnSpc="1">
            <a:prstTxWarp prst="textNoShape">
              <a:avLst/>
            </a:prstTxWarp>
          </a:bodyPr>
          <a:lstStyle/>
          <a:p>
            <a:r>
              <a:rPr lang="en-US" altLang="zh-CN" sz="2800" b="1" kern="0" dirty="0">
                <a:solidFill>
                  <a:srgbClr val="FFFFFF"/>
                </a:solidFill>
                <a:latin typeface="+mj-ea"/>
                <a:ea typeface="+mj-ea"/>
              </a:rPr>
              <a:t>LL</a:t>
            </a:r>
            <a:r>
              <a:rPr lang="zh-CN" altLang="en-US" sz="2800" b="1" kern="0" dirty="0">
                <a:solidFill>
                  <a:srgbClr val="FFFFFF"/>
                </a:solidFill>
                <a:latin typeface="+mj-ea"/>
                <a:ea typeface="+mj-ea"/>
              </a:rPr>
              <a:t>（</a:t>
            </a:r>
            <a:r>
              <a:rPr lang="en-US" altLang="zh-CN" sz="2800" b="1" kern="0" dirty="0">
                <a:solidFill>
                  <a:srgbClr val="FFFFFF"/>
                </a:solidFill>
                <a:latin typeface="+mj-ea"/>
                <a:ea typeface="+mj-ea"/>
              </a:rPr>
              <a:t>1</a:t>
            </a:r>
            <a:r>
              <a:rPr lang="zh-CN" altLang="en-US" sz="2800" b="1" kern="0" dirty="0">
                <a:solidFill>
                  <a:srgbClr val="FFFFFF"/>
                </a:solidFill>
                <a:latin typeface="+mj-ea"/>
                <a:ea typeface="+mj-ea"/>
              </a:rPr>
              <a:t>）分析中的出错处理</a:t>
            </a:r>
          </a:p>
        </p:txBody>
      </p:sp>
      <p:sp>
        <p:nvSpPr>
          <p:cNvPr id="3" name="灯片编号占位符 2"/>
          <p:cNvSpPr>
            <a:spLocks noGrp="1"/>
          </p:cNvSpPr>
          <p:nvPr>
            <p:ph type="sldNum" sz="quarter" idx="12"/>
          </p:nvPr>
        </p:nvSpPr>
        <p:spPr/>
        <p:txBody>
          <a:bodyPr/>
          <a:lstStyle/>
          <a:p>
            <a:fld id="{1B43473F-AE3F-4D1C-9C4F-7AD3C17AC1AD}" type="slidenum">
              <a:rPr lang="zh-CN" altLang="en-US" smtClean="0">
                <a:solidFill>
                  <a:srgbClr val="3F3F3F"/>
                </a:solidFill>
              </a:rPr>
              <a:pPr/>
              <a:t>80</a:t>
            </a:fld>
            <a:endParaRPr lang="zh-CN" altLang="en-US">
              <a:solidFill>
                <a:srgbClr val="3F3F3F"/>
              </a:solidFill>
            </a:endParaRPr>
          </a:p>
        </p:txBody>
      </p:sp>
    </p:spTree>
    <p:extLst>
      <p:ext uri="{BB962C8B-B14F-4D97-AF65-F5344CB8AC3E}">
        <p14:creationId xmlns:p14="http://schemas.microsoft.com/office/powerpoint/2010/main" val="28310145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六、</a:t>
            </a:r>
            <a:r>
              <a:rPr lang="en-US" altLang="zh-CN" b="1" kern="0" dirty="0">
                <a:solidFill>
                  <a:srgbClr val="FFFFFF"/>
                </a:solidFill>
                <a:latin typeface="+mj-ea"/>
              </a:rPr>
              <a:t>LL</a:t>
            </a:r>
            <a:r>
              <a:rPr lang="zh-CN" altLang="en-US" b="1" kern="0" dirty="0">
                <a:solidFill>
                  <a:srgbClr val="FFFFFF"/>
                </a:solidFill>
                <a:latin typeface="+mj-ea"/>
              </a:rPr>
              <a:t>（</a:t>
            </a:r>
            <a:r>
              <a:rPr lang="en-US" altLang="zh-CN" b="1" kern="0" dirty="0">
                <a:solidFill>
                  <a:srgbClr val="FFFFFF"/>
                </a:solidFill>
                <a:latin typeface="+mj-ea"/>
              </a:rPr>
              <a:t>1</a:t>
            </a:r>
            <a:r>
              <a:rPr lang="zh-CN" altLang="en-US" b="1" kern="0" dirty="0">
                <a:solidFill>
                  <a:srgbClr val="FFFFFF"/>
                </a:solidFill>
                <a:latin typeface="+mj-ea"/>
              </a:rPr>
              <a:t>）分析中的出错处理</a:t>
            </a:r>
            <a:r>
              <a:rPr lang="en-US" altLang="zh-CN" b="1" kern="0" dirty="0">
                <a:solidFill>
                  <a:srgbClr val="FFFFFF"/>
                </a:solidFill>
                <a:latin typeface="+mj-ea"/>
              </a:rPr>
              <a:t>(</a:t>
            </a:r>
            <a:r>
              <a:rPr lang="zh-CN" altLang="en-US" b="1" kern="0" dirty="0">
                <a:solidFill>
                  <a:srgbClr val="FFFFFF"/>
                </a:solidFill>
                <a:latin typeface="+mj-ea"/>
              </a:rPr>
              <a:t>报名讲解</a:t>
            </a:r>
            <a:r>
              <a:rPr lang="en-US" altLang="zh-CN" b="1" kern="0" dirty="0">
                <a:solidFill>
                  <a:srgbClr val="FFFFFF"/>
                </a:solidFill>
                <a:latin typeface="+mj-ea"/>
              </a:rPr>
              <a:t>)</a:t>
            </a:r>
            <a:endParaRPr lang="zh-CN" altLang="en-US" dirty="0"/>
          </a:p>
        </p:txBody>
      </p:sp>
      <p:sp>
        <p:nvSpPr>
          <p:cNvPr id="3" name="内容占位符 2"/>
          <p:cNvSpPr>
            <a:spLocks noGrp="1"/>
          </p:cNvSpPr>
          <p:nvPr>
            <p:ph idx="1"/>
          </p:nvPr>
        </p:nvSpPr>
        <p:spPr/>
        <p:txBody>
          <a:bodyPr/>
          <a:lstStyle/>
          <a:p>
            <a:r>
              <a:rPr lang="zh-CN" altLang="en-US" dirty="0"/>
              <a:t> 错误处理的原则</a:t>
            </a:r>
          </a:p>
          <a:p>
            <a:pPr lvl="1"/>
            <a:r>
              <a:rPr lang="zh-CN" altLang="en-US" dirty="0"/>
              <a:t>  报错：尽可能准确指出错误位置和错误属性</a:t>
            </a:r>
          </a:p>
          <a:p>
            <a:pPr lvl="1"/>
            <a:r>
              <a:rPr lang="zh-CN" altLang="en-US" dirty="0"/>
              <a:t>  错误恢复：尽可能进行校正</a:t>
            </a:r>
          </a:p>
          <a:p>
            <a:r>
              <a:rPr lang="zh-CN" altLang="en-US" dirty="0"/>
              <a:t>递归下降</a:t>
            </a:r>
            <a:r>
              <a:rPr lang="en-US" altLang="zh-CN" dirty="0"/>
              <a:t>LL(1)</a:t>
            </a:r>
            <a:r>
              <a:rPr lang="zh-CN" altLang="en-US" dirty="0"/>
              <a:t>分析中的出错处理</a:t>
            </a:r>
          </a:p>
          <a:p>
            <a:pPr lvl="1"/>
            <a:r>
              <a:rPr lang="zh-CN" altLang="en-US" dirty="0"/>
              <a:t>介绍一种短语层错误恢复技术</a:t>
            </a:r>
          </a:p>
          <a:p>
            <a:r>
              <a:rPr lang="zh-CN" altLang="en-US" dirty="0"/>
              <a:t>表驱动</a:t>
            </a:r>
            <a:r>
              <a:rPr lang="en-US" altLang="zh-CN" dirty="0"/>
              <a:t>LL(1)</a:t>
            </a:r>
            <a:r>
              <a:rPr lang="zh-CN" altLang="en-US" dirty="0"/>
              <a:t>分析中的出错处理</a:t>
            </a:r>
          </a:p>
          <a:p>
            <a:pPr lvl="1"/>
            <a:r>
              <a:rPr lang="zh-CN" altLang="en-US" dirty="0"/>
              <a:t>介绍一种简单的应急错误恢复技术</a:t>
            </a:r>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81</a:t>
            </a:fld>
            <a:endParaRPr lang="zh-CN" altLang="en-US">
              <a:solidFill>
                <a:srgbClr val="3F3F3F"/>
              </a:solidFill>
            </a:endParaRPr>
          </a:p>
        </p:txBody>
      </p:sp>
    </p:spTree>
    <p:extLst>
      <p:ext uri="{BB962C8B-B14F-4D97-AF65-F5344CB8AC3E}">
        <p14:creationId xmlns:p14="http://schemas.microsoft.com/office/powerpoint/2010/main" val="312811235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六、</a:t>
            </a:r>
            <a:r>
              <a:rPr lang="en-US" altLang="zh-CN" b="1" kern="0" dirty="0">
                <a:solidFill>
                  <a:srgbClr val="FFFFFF"/>
                </a:solidFill>
                <a:latin typeface="+mj-ea"/>
              </a:rPr>
              <a:t>LL</a:t>
            </a:r>
            <a:r>
              <a:rPr lang="zh-CN" altLang="en-US" b="1" kern="0" dirty="0">
                <a:solidFill>
                  <a:srgbClr val="FFFFFF"/>
                </a:solidFill>
                <a:latin typeface="+mj-ea"/>
              </a:rPr>
              <a:t>（</a:t>
            </a:r>
            <a:r>
              <a:rPr lang="en-US" altLang="zh-CN" b="1" kern="0" dirty="0">
                <a:solidFill>
                  <a:srgbClr val="FFFFFF"/>
                </a:solidFill>
                <a:latin typeface="+mj-ea"/>
              </a:rPr>
              <a:t>1</a:t>
            </a:r>
            <a:r>
              <a:rPr lang="zh-CN" altLang="en-US" b="1" kern="0" dirty="0">
                <a:solidFill>
                  <a:srgbClr val="FFFFFF"/>
                </a:solidFill>
                <a:latin typeface="+mj-ea"/>
              </a:rPr>
              <a:t>）分析中的出错处理</a:t>
            </a:r>
            <a:endParaRPr lang="zh-CN" altLang="en-US" dirty="0"/>
          </a:p>
        </p:txBody>
      </p:sp>
      <p:sp>
        <p:nvSpPr>
          <p:cNvPr id="3" name="内容占位符 2"/>
          <p:cNvSpPr>
            <a:spLocks noGrp="1"/>
          </p:cNvSpPr>
          <p:nvPr>
            <p:ph idx="1"/>
          </p:nvPr>
        </p:nvSpPr>
        <p:spPr/>
        <p:txBody>
          <a:bodyPr/>
          <a:lstStyle/>
          <a:p>
            <a:r>
              <a:rPr lang="zh-CN" altLang="en-US" dirty="0"/>
              <a:t> 表驱动</a:t>
            </a:r>
            <a:r>
              <a:rPr lang="en-US" altLang="zh-CN" dirty="0"/>
              <a:t>LL(1)</a:t>
            </a:r>
            <a:r>
              <a:rPr lang="zh-CN" altLang="en-US" dirty="0"/>
              <a:t>分析中的错误处理</a:t>
            </a:r>
          </a:p>
          <a:p>
            <a:pPr lvl="1"/>
            <a:r>
              <a:rPr lang="zh-CN" altLang="en-US" dirty="0"/>
              <a:t>出错报告（</a:t>
            </a:r>
            <a:r>
              <a:rPr lang="en-US" altLang="zh-CN" dirty="0"/>
              <a:t>error reporting</a:t>
            </a:r>
            <a:r>
              <a:rPr lang="zh-CN" altLang="en-US" dirty="0"/>
              <a:t>）</a:t>
            </a:r>
          </a:p>
          <a:p>
            <a:pPr lvl="1"/>
            <a:r>
              <a:rPr lang="zh-CN" altLang="en-US" dirty="0"/>
              <a:t> 栈顶的终结符与当前输入符不匹配</a:t>
            </a:r>
          </a:p>
          <a:p>
            <a:pPr lvl="1"/>
            <a:r>
              <a:rPr lang="zh-CN" altLang="en-US" dirty="0"/>
              <a:t> 非终结符</a:t>
            </a:r>
            <a:r>
              <a:rPr lang="en-US" altLang="zh-CN" dirty="0"/>
              <a:t>A</a:t>
            </a:r>
            <a:r>
              <a:rPr lang="zh-CN" altLang="en-US" dirty="0"/>
              <a:t>于栈顶，面临的输入符为</a:t>
            </a:r>
            <a:r>
              <a:rPr lang="en-US" altLang="zh-CN" dirty="0"/>
              <a:t>a</a:t>
            </a:r>
            <a:r>
              <a:rPr lang="zh-CN" altLang="en-US" dirty="0"/>
              <a:t>，但分析表</a:t>
            </a:r>
            <a:r>
              <a:rPr lang="en-US" altLang="zh-CN" dirty="0"/>
              <a:t>M</a:t>
            </a:r>
            <a:r>
              <a:rPr lang="zh-CN" altLang="en-US" dirty="0"/>
              <a:t>的</a:t>
            </a:r>
            <a:r>
              <a:rPr lang="en-US" altLang="zh-CN" dirty="0"/>
              <a:t>M[</a:t>
            </a:r>
            <a:r>
              <a:rPr lang="en-US" altLang="zh-CN" dirty="0" err="1"/>
              <a:t>A,a</a:t>
            </a:r>
            <a:r>
              <a:rPr lang="en-US" altLang="zh-CN" dirty="0"/>
              <a:t>]</a:t>
            </a:r>
            <a:r>
              <a:rPr lang="zh-CN" altLang="en-US" dirty="0"/>
              <a:t>为空</a:t>
            </a:r>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82</a:t>
            </a:fld>
            <a:endParaRPr lang="zh-CN" altLang="en-US">
              <a:solidFill>
                <a:srgbClr val="3F3F3F"/>
              </a:solidFill>
            </a:endParaRPr>
          </a:p>
        </p:txBody>
      </p:sp>
    </p:spTree>
    <p:extLst>
      <p:ext uri="{BB962C8B-B14F-4D97-AF65-F5344CB8AC3E}">
        <p14:creationId xmlns:p14="http://schemas.microsoft.com/office/powerpoint/2010/main" val="31281123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六、</a:t>
            </a:r>
            <a:r>
              <a:rPr lang="en-US" altLang="zh-CN" b="1" kern="0" dirty="0">
                <a:solidFill>
                  <a:srgbClr val="FFFFFF"/>
                </a:solidFill>
                <a:latin typeface="+mj-ea"/>
              </a:rPr>
              <a:t>LL</a:t>
            </a:r>
            <a:r>
              <a:rPr lang="zh-CN" altLang="en-US" b="1" kern="0" dirty="0">
                <a:solidFill>
                  <a:srgbClr val="FFFFFF"/>
                </a:solidFill>
                <a:latin typeface="+mj-ea"/>
              </a:rPr>
              <a:t>（</a:t>
            </a:r>
            <a:r>
              <a:rPr lang="en-US" altLang="zh-CN" b="1" kern="0" dirty="0">
                <a:solidFill>
                  <a:srgbClr val="FFFFFF"/>
                </a:solidFill>
                <a:latin typeface="+mj-ea"/>
              </a:rPr>
              <a:t>1</a:t>
            </a:r>
            <a:r>
              <a:rPr lang="zh-CN" altLang="en-US" b="1" kern="0" dirty="0">
                <a:solidFill>
                  <a:srgbClr val="FFFFFF"/>
                </a:solidFill>
                <a:latin typeface="+mj-ea"/>
              </a:rPr>
              <a:t>）分析中的出错处理</a:t>
            </a:r>
            <a:endParaRPr lang="zh-CN" altLang="en-US" dirty="0"/>
          </a:p>
        </p:txBody>
      </p:sp>
      <p:sp>
        <p:nvSpPr>
          <p:cNvPr id="3" name="内容占位符 2"/>
          <p:cNvSpPr>
            <a:spLocks noGrp="1"/>
          </p:cNvSpPr>
          <p:nvPr>
            <p:ph idx="1"/>
          </p:nvPr>
        </p:nvSpPr>
        <p:spPr/>
        <p:txBody>
          <a:bodyPr/>
          <a:lstStyle/>
          <a:p>
            <a:r>
              <a:rPr lang="zh-CN" altLang="en-US" dirty="0"/>
              <a:t>简单的应急恢复（</a:t>
            </a:r>
            <a:r>
              <a:rPr lang="en-US" altLang="zh-CN" dirty="0"/>
              <a:t>panic-mode error recovery</a:t>
            </a:r>
            <a:r>
              <a:rPr lang="zh-CN" altLang="en-US" dirty="0"/>
              <a:t>）</a:t>
            </a:r>
          </a:p>
          <a:p>
            <a:pPr marL="85725" indent="0">
              <a:buNone/>
            </a:pPr>
            <a:r>
              <a:rPr lang="zh-CN" altLang="en-US" dirty="0"/>
              <a:t>跳过输入串中的一些符号直至遇到同步符号</a:t>
            </a:r>
            <a:r>
              <a:rPr lang="en-US" altLang="zh-CN" dirty="0"/>
              <a:t>synchronizing token</a:t>
            </a:r>
            <a:r>
              <a:rPr lang="zh-CN" altLang="en-US" dirty="0"/>
              <a:t>）为止</a:t>
            </a:r>
          </a:p>
          <a:p>
            <a:pPr lvl="1"/>
            <a:r>
              <a:rPr lang="zh-CN" altLang="en-US" dirty="0"/>
              <a:t>同步符号的选择：</a:t>
            </a:r>
          </a:p>
          <a:p>
            <a:pPr lvl="1"/>
            <a:r>
              <a:rPr lang="zh-CN" altLang="en-US" dirty="0"/>
              <a:t> 把 </a:t>
            </a:r>
            <a:r>
              <a:rPr lang="en-US" altLang="zh-CN" dirty="0"/>
              <a:t>Follow(A) </a:t>
            </a:r>
            <a:r>
              <a:rPr lang="zh-CN" altLang="en-US" dirty="0"/>
              <a:t>中的所有符号作为</a:t>
            </a:r>
            <a:r>
              <a:rPr lang="en-US" altLang="zh-CN" dirty="0"/>
              <a:t>A</a:t>
            </a:r>
            <a:r>
              <a:rPr lang="zh-CN" altLang="en-US" dirty="0"/>
              <a:t>的同步符号</a:t>
            </a:r>
            <a:r>
              <a:rPr lang="en-US" altLang="zh-CN" dirty="0"/>
              <a:t>, </a:t>
            </a:r>
            <a:r>
              <a:rPr lang="zh-CN" altLang="en-US" dirty="0"/>
              <a:t>跳过  输入串中的一些符号直至遇到这些“同步符号”，  把</a:t>
            </a:r>
            <a:r>
              <a:rPr lang="en-US" altLang="zh-CN" dirty="0"/>
              <a:t>A</a:t>
            </a:r>
            <a:r>
              <a:rPr lang="zh-CN" altLang="en-US" dirty="0"/>
              <a:t>从栈中弹出，可使分析继续</a:t>
            </a:r>
          </a:p>
          <a:p>
            <a:pPr lvl="1"/>
            <a:r>
              <a:rPr lang="zh-CN" altLang="en-US" dirty="0"/>
              <a:t> 把</a:t>
            </a:r>
            <a:r>
              <a:rPr lang="en-US" altLang="zh-CN" dirty="0"/>
              <a:t>First(A)</a:t>
            </a:r>
            <a:r>
              <a:rPr lang="zh-CN" altLang="en-US" dirty="0"/>
              <a:t>中的符号加到</a:t>
            </a:r>
            <a:r>
              <a:rPr lang="en-US" altLang="zh-CN" dirty="0"/>
              <a:t>A</a:t>
            </a:r>
            <a:r>
              <a:rPr lang="zh-CN" altLang="en-US" dirty="0"/>
              <a:t>的同步符号集，当</a:t>
            </a:r>
            <a:r>
              <a:rPr lang="en-US" altLang="zh-CN" dirty="0"/>
              <a:t>First(A)  </a:t>
            </a:r>
            <a:r>
              <a:rPr lang="zh-CN" altLang="en-US" dirty="0"/>
              <a:t>中的符号在输入中出现时，可根据</a:t>
            </a:r>
            <a:r>
              <a:rPr lang="en-US" altLang="zh-CN" dirty="0"/>
              <a:t>A</a:t>
            </a:r>
            <a:r>
              <a:rPr lang="zh-CN" altLang="en-US" dirty="0"/>
              <a:t>恢复分析</a:t>
            </a:r>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83</a:t>
            </a:fld>
            <a:endParaRPr lang="zh-CN" altLang="en-US">
              <a:solidFill>
                <a:srgbClr val="3F3F3F"/>
              </a:solidFill>
            </a:endParaRPr>
          </a:p>
        </p:txBody>
      </p:sp>
    </p:spTree>
    <p:extLst>
      <p:ext uri="{BB962C8B-B14F-4D97-AF65-F5344CB8AC3E}">
        <p14:creationId xmlns:p14="http://schemas.microsoft.com/office/powerpoint/2010/main" val="31281123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六、</a:t>
            </a:r>
            <a:r>
              <a:rPr lang="en-US" altLang="zh-CN" b="1" kern="0" dirty="0">
                <a:solidFill>
                  <a:srgbClr val="FFFFFF"/>
                </a:solidFill>
                <a:latin typeface="+mj-ea"/>
              </a:rPr>
              <a:t>LL</a:t>
            </a:r>
            <a:r>
              <a:rPr lang="zh-CN" altLang="en-US" b="1" kern="0" dirty="0">
                <a:solidFill>
                  <a:srgbClr val="FFFFFF"/>
                </a:solidFill>
                <a:latin typeface="+mj-ea"/>
              </a:rPr>
              <a:t>（</a:t>
            </a:r>
            <a:r>
              <a:rPr lang="en-US" altLang="zh-CN" b="1" kern="0" dirty="0">
                <a:solidFill>
                  <a:srgbClr val="FFFFFF"/>
                </a:solidFill>
                <a:latin typeface="+mj-ea"/>
              </a:rPr>
              <a:t>1</a:t>
            </a:r>
            <a:r>
              <a:rPr lang="zh-CN" altLang="en-US" b="1" kern="0" dirty="0">
                <a:solidFill>
                  <a:srgbClr val="FFFFFF"/>
                </a:solidFill>
                <a:latin typeface="+mj-ea"/>
              </a:rPr>
              <a:t>）分析中的出错处理</a:t>
            </a:r>
            <a:endParaRPr lang="zh-CN" altLang="en-US" dirty="0"/>
          </a:p>
        </p:txBody>
      </p:sp>
      <p:sp>
        <p:nvSpPr>
          <p:cNvPr id="3" name="内容占位符 2"/>
          <p:cNvSpPr>
            <a:spLocks noGrp="1"/>
          </p:cNvSpPr>
          <p:nvPr>
            <p:ph idx="1"/>
          </p:nvPr>
        </p:nvSpPr>
        <p:spPr/>
        <p:txBody>
          <a:bodyPr/>
          <a:lstStyle/>
          <a:p>
            <a:r>
              <a:rPr lang="zh-CN" altLang="en-US" dirty="0"/>
              <a:t>递归下降分析程序的错误处理</a:t>
            </a:r>
          </a:p>
          <a:p>
            <a:pPr lvl="1"/>
            <a:r>
              <a:rPr lang="zh-CN" altLang="en-US" dirty="0"/>
              <a:t> 短语层恢复可采取的流程</a:t>
            </a:r>
          </a:p>
          <a:p>
            <a:endParaRPr lang="zh-CN" altLang="en-US" dirty="0"/>
          </a:p>
        </p:txBody>
      </p:sp>
      <p:sp>
        <p:nvSpPr>
          <p:cNvPr id="4" name="Text Box 7"/>
          <p:cNvSpPr txBox="1">
            <a:spLocks noChangeArrowheads="1"/>
          </p:cNvSpPr>
          <p:nvPr/>
        </p:nvSpPr>
        <p:spPr bwMode="auto">
          <a:xfrm>
            <a:off x="358775" y="2349049"/>
            <a:ext cx="8137525" cy="2587625"/>
          </a:xfrm>
          <a:prstGeom prst="rect">
            <a:avLst/>
          </a:prstGeom>
          <a:noFill/>
          <a:ln w="9525">
            <a:noFill/>
            <a:miter lim="800000"/>
            <a:headEnd/>
            <a:tailEnd/>
          </a:ln>
        </p:spPr>
        <p:txBody>
          <a:bodyPr>
            <a:spAutoFit/>
          </a:bodyPr>
          <a:lstStyle/>
          <a:p>
            <a:endParaRPr lang="en-US" altLang="zh-CN" sz="1000" b="1" dirty="0">
              <a:latin typeface="楷体_GB2312" pitchFamily="49" charset="-122"/>
            </a:endParaRPr>
          </a:p>
          <a:p>
            <a:pPr lvl="1">
              <a:buFont typeface="Symbol" pitchFamily="18" charset="2"/>
              <a:buNone/>
            </a:pPr>
            <a:r>
              <a:rPr lang="en-US" altLang="zh-CN" sz="2400" b="1" dirty="0"/>
              <a:t>    </a:t>
            </a:r>
            <a:r>
              <a:rPr lang="zh-CN" altLang="en-US" sz="2400" b="1" dirty="0"/>
              <a:t>在进入某个</a:t>
            </a:r>
            <a:r>
              <a:rPr lang="zh-CN" altLang="en-US" sz="2400" b="1" dirty="0">
                <a:solidFill>
                  <a:srgbClr val="800080"/>
                </a:solidFill>
              </a:rPr>
              <a:t>语法单位</a:t>
            </a:r>
            <a:r>
              <a:rPr lang="zh-CN" altLang="en-US" sz="2400" b="1" dirty="0"/>
              <a:t>时，</a:t>
            </a:r>
            <a:r>
              <a:rPr lang="zh-CN" altLang="zh-CN" sz="2400" b="1" dirty="0"/>
              <a:t>检查当前符号是否属于进</a:t>
            </a:r>
            <a:endParaRPr lang="zh-CN" altLang="en-US" sz="2400" b="1" dirty="0"/>
          </a:p>
          <a:p>
            <a:pPr lvl="1">
              <a:buFont typeface="Symbol" pitchFamily="18" charset="2"/>
              <a:buNone/>
            </a:pPr>
            <a:r>
              <a:rPr lang="zh-CN" altLang="en-US" sz="2400" b="1" dirty="0"/>
              <a:t>    </a:t>
            </a:r>
            <a:r>
              <a:rPr lang="zh-CN" altLang="zh-CN" sz="2400" b="1" dirty="0"/>
              <a:t>入该语法单位需要的符号集合</a:t>
            </a:r>
            <a:r>
              <a:rPr lang="zh-CN" altLang="en-US" sz="2400" b="1" dirty="0">
                <a:solidFill>
                  <a:srgbClr val="800080"/>
                </a:solidFill>
              </a:rPr>
              <a:t> </a:t>
            </a:r>
            <a:r>
              <a:rPr lang="en-US" altLang="zh-CN" sz="2400" dirty="0" err="1">
                <a:solidFill>
                  <a:srgbClr val="800080"/>
                </a:solidFill>
              </a:rPr>
              <a:t>BeginSym</a:t>
            </a:r>
            <a:r>
              <a:rPr lang="en-US" altLang="zh-CN" sz="2400" b="1" dirty="0"/>
              <a:t>.  </a:t>
            </a:r>
            <a:r>
              <a:rPr lang="zh-CN" altLang="zh-CN" sz="2400" b="1" dirty="0"/>
              <a:t>若不属</a:t>
            </a:r>
            <a:endParaRPr lang="zh-CN" altLang="en-US" sz="2400" b="1" dirty="0"/>
          </a:p>
          <a:p>
            <a:pPr lvl="1">
              <a:buFont typeface="Symbol" pitchFamily="18" charset="2"/>
              <a:buNone/>
            </a:pPr>
            <a:r>
              <a:rPr lang="zh-CN" altLang="en-US" sz="2400" b="1" dirty="0"/>
              <a:t>    </a:t>
            </a:r>
            <a:r>
              <a:rPr lang="zh-CN" altLang="zh-CN" sz="2400" b="1" dirty="0"/>
              <a:t>于，则报错，并</a:t>
            </a:r>
            <a:r>
              <a:rPr lang="zh-CN" altLang="en-US" sz="2400" b="1" dirty="0"/>
              <a:t>滤去</a:t>
            </a:r>
            <a:r>
              <a:rPr lang="zh-CN" altLang="zh-CN" sz="2400" b="1" dirty="0"/>
              <a:t>补救的符号集合</a:t>
            </a:r>
            <a:r>
              <a:rPr lang="zh-CN" altLang="en-US" sz="2400" b="1" dirty="0">
                <a:solidFill>
                  <a:srgbClr val="800080"/>
                </a:solidFill>
              </a:rPr>
              <a:t> </a:t>
            </a:r>
            <a:r>
              <a:rPr lang="en-US" altLang="zh-CN" sz="2400" dirty="0">
                <a:solidFill>
                  <a:srgbClr val="800080"/>
                </a:solidFill>
              </a:rPr>
              <a:t>S</a:t>
            </a:r>
            <a:r>
              <a:rPr lang="en-US" altLang="zh-CN" sz="2400" b="1" dirty="0">
                <a:solidFill>
                  <a:srgbClr val="800080"/>
                </a:solidFill>
              </a:rPr>
              <a:t> </a:t>
            </a:r>
            <a:r>
              <a:rPr lang="zh-CN" altLang="en-US" sz="2400" b="1" dirty="0"/>
              <a:t>外的所有符号</a:t>
            </a:r>
            <a:endParaRPr lang="zh-CN" altLang="en-US" sz="2400" dirty="0"/>
          </a:p>
          <a:p>
            <a:pPr lvl="1">
              <a:buFont typeface="Symbol" pitchFamily="18" charset="2"/>
              <a:buNone/>
            </a:pPr>
            <a:endParaRPr lang="zh-CN" altLang="en-US" sz="1000" dirty="0"/>
          </a:p>
          <a:p>
            <a:pPr lvl="1">
              <a:buFont typeface="Symbol" pitchFamily="18" charset="2"/>
              <a:buNone/>
            </a:pPr>
            <a:r>
              <a:rPr lang="zh-CN" altLang="en-US" sz="2400" b="1" dirty="0"/>
              <a:t>    在语法单位分析结束时，检查当前符号是否属于离开</a:t>
            </a:r>
          </a:p>
          <a:p>
            <a:pPr lvl="1">
              <a:buFont typeface="Symbol" pitchFamily="18" charset="2"/>
              <a:buNone/>
            </a:pPr>
            <a:r>
              <a:rPr lang="zh-CN" altLang="en-US" sz="2400" b="1" dirty="0"/>
              <a:t>    该语法单位时</a:t>
            </a:r>
            <a:r>
              <a:rPr lang="zh-CN" altLang="zh-CN" sz="2400" b="1" dirty="0"/>
              <a:t>需要的符号集合</a:t>
            </a:r>
            <a:r>
              <a:rPr lang="zh-CN" altLang="zh-CN" sz="2400" dirty="0">
                <a:solidFill>
                  <a:srgbClr val="800080"/>
                </a:solidFill>
              </a:rPr>
              <a:t>End</a:t>
            </a:r>
            <a:r>
              <a:rPr lang="en-US" altLang="zh-CN" sz="2400" dirty="0">
                <a:solidFill>
                  <a:srgbClr val="800080"/>
                </a:solidFill>
              </a:rPr>
              <a:t>Sym</a:t>
            </a:r>
            <a:r>
              <a:rPr lang="en-US" altLang="zh-CN" sz="2400" b="1" dirty="0"/>
              <a:t>.  </a:t>
            </a:r>
            <a:r>
              <a:rPr lang="zh-CN" altLang="en-US" sz="2400" b="1" dirty="0"/>
              <a:t>若不属于，</a:t>
            </a:r>
          </a:p>
          <a:p>
            <a:pPr lvl="1">
              <a:buFont typeface="Symbol" pitchFamily="18" charset="2"/>
              <a:buNone/>
            </a:pPr>
            <a:r>
              <a:rPr lang="zh-CN" altLang="en-US" sz="2400" b="1" dirty="0"/>
              <a:t>    则报错，并滤去</a:t>
            </a:r>
            <a:r>
              <a:rPr lang="zh-CN" altLang="zh-CN" sz="2400" b="1" dirty="0"/>
              <a:t>补救的符号集合</a:t>
            </a:r>
            <a:r>
              <a:rPr lang="zh-CN" altLang="en-US" sz="2400" b="1" dirty="0"/>
              <a:t> </a:t>
            </a:r>
            <a:r>
              <a:rPr lang="en-US" altLang="zh-CN" sz="2400" dirty="0">
                <a:solidFill>
                  <a:srgbClr val="800080"/>
                </a:solidFill>
              </a:rPr>
              <a:t>S </a:t>
            </a:r>
            <a:r>
              <a:rPr lang="zh-CN" altLang="en-US" sz="2400" b="1" dirty="0"/>
              <a:t>外的所有符号</a:t>
            </a:r>
          </a:p>
        </p:txBody>
      </p:sp>
      <p:sp>
        <p:nvSpPr>
          <p:cNvPr id="5" name="Text Box 9"/>
          <p:cNvSpPr txBox="1">
            <a:spLocks noChangeArrowheads="1"/>
          </p:cNvSpPr>
          <p:nvPr/>
        </p:nvSpPr>
        <p:spPr bwMode="auto">
          <a:xfrm>
            <a:off x="1366837" y="5157337"/>
            <a:ext cx="5329238" cy="396875"/>
          </a:xfrm>
          <a:prstGeom prst="rect">
            <a:avLst/>
          </a:prstGeom>
          <a:noFill/>
          <a:ln w="12700">
            <a:noFill/>
            <a:miter lim="800000"/>
            <a:headEnd/>
            <a:tailEnd/>
          </a:ln>
        </p:spPr>
        <p:txBody>
          <a:bodyPr>
            <a:spAutoFit/>
          </a:bodyPr>
          <a:lstStyle/>
          <a:p>
            <a:pPr algn="ctr" eaLnBrk="0" hangingPunct="0">
              <a:buClrTx/>
              <a:buFontTx/>
              <a:buNone/>
            </a:pPr>
            <a:r>
              <a:rPr lang="en-US" altLang="zh-CN" b="1">
                <a:solidFill>
                  <a:srgbClr val="800080"/>
                </a:solidFill>
                <a:latin typeface="宋体" pitchFamily="2" charset="-122"/>
                <a:ea typeface="宋体" pitchFamily="2" charset="-122"/>
              </a:rPr>
              <a:t>╳╳╳╳╳╳╳╳╳╳╳╳╳╳╳╳╳╳╳</a:t>
            </a:r>
            <a:endParaRPr lang="en-US" altLang="zh-CN" b="1">
              <a:solidFill>
                <a:srgbClr val="800080"/>
              </a:solidFill>
              <a:latin typeface="Times New Roman" pitchFamily="18" charset="0"/>
              <a:ea typeface="宋体" pitchFamily="2" charset="-122"/>
            </a:endParaRPr>
          </a:p>
        </p:txBody>
      </p:sp>
      <p:sp>
        <p:nvSpPr>
          <p:cNvPr id="6" name="Rectangle 10"/>
          <p:cNvSpPr>
            <a:spLocks noChangeArrowheads="1"/>
          </p:cNvSpPr>
          <p:nvPr/>
        </p:nvSpPr>
        <p:spPr bwMode="auto">
          <a:xfrm>
            <a:off x="1871662" y="6139999"/>
            <a:ext cx="2087563" cy="457200"/>
          </a:xfrm>
          <a:prstGeom prst="rect">
            <a:avLst/>
          </a:prstGeom>
          <a:noFill/>
          <a:ln w="9525" algn="ctr">
            <a:noFill/>
            <a:miter lim="800000"/>
            <a:headEnd/>
            <a:tailEnd/>
          </a:ln>
        </p:spPr>
        <p:txBody>
          <a:bodyPr>
            <a:spAutoFit/>
          </a:bodyPr>
          <a:lstStyle/>
          <a:p>
            <a:r>
              <a:rPr lang="zh-CN" altLang="en-US" sz="2400" b="1">
                <a:solidFill>
                  <a:srgbClr val="800080"/>
                </a:solidFill>
              </a:rPr>
              <a:t>进入时的检查</a:t>
            </a:r>
          </a:p>
        </p:txBody>
      </p:sp>
      <p:sp>
        <p:nvSpPr>
          <p:cNvPr id="7" name="Rectangle 11"/>
          <p:cNvSpPr>
            <a:spLocks noChangeArrowheads="1"/>
          </p:cNvSpPr>
          <p:nvPr/>
        </p:nvSpPr>
        <p:spPr bwMode="auto">
          <a:xfrm>
            <a:off x="4248150" y="6119362"/>
            <a:ext cx="2022475" cy="457200"/>
          </a:xfrm>
          <a:prstGeom prst="rect">
            <a:avLst/>
          </a:prstGeom>
          <a:noFill/>
          <a:ln w="9525" algn="ctr">
            <a:noFill/>
            <a:miter lim="800000"/>
            <a:headEnd/>
            <a:tailEnd/>
          </a:ln>
        </p:spPr>
        <p:txBody>
          <a:bodyPr wrap="none">
            <a:spAutoFit/>
          </a:bodyPr>
          <a:lstStyle/>
          <a:p>
            <a:r>
              <a:rPr lang="zh-CN" altLang="en-US" sz="2400" b="1">
                <a:solidFill>
                  <a:srgbClr val="800080"/>
                </a:solidFill>
              </a:rPr>
              <a:t>离开时的检查</a:t>
            </a:r>
          </a:p>
        </p:txBody>
      </p:sp>
      <p:sp>
        <p:nvSpPr>
          <p:cNvPr id="8" name="Line 12"/>
          <p:cNvSpPr>
            <a:spLocks noChangeShapeType="1"/>
          </p:cNvSpPr>
          <p:nvPr/>
        </p:nvSpPr>
        <p:spPr bwMode="auto">
          <a:xfrm flipV="1">
            <a:off x="2808287" y="5589137"/>
            <a:ext cx="0" cy="576262"/>
          </a:xfrm>
          <a:prstGeom prst="line">
            <a:avLst/>
          </a:prstGeom>
          <a:noFill/>
          <a:ln w="9525">
            <a:solidFill>
              <a:srgbClr val="800080"/>
            </a:solidFill>
            <a:round/>
            <a:headEnd/>
            <a:tailEnd type="triangle" w="med" len="med"/>
          </a:ln>
        </p:spPr>
        <p:txBody>
          <a:bodyPr>
            <a:spAutoFit/>
          </a:bodyPr>
          <a:lstStyle/>
          <a:p>
            <a:endParaRPr lang="zh-CN" altLang="en-US"/>
          </a:p>
        </p:txBody>
      </p:sp>
      <p:sp>
        <p:nvSpPr>
          <p:cNvPr id="9" name="Line 13"/>
          <p:cNvSpPr>
            <a:spLocks noChangeShapeType="1"/>
          </p:cNvSpPr>
          <p:nvPr/>
        </p:nvSpPr>
        <p:spPr bwMode="auto">
          <a:xfrm flipV="1">
            <a:off x="5256212" y="5589137"/>
            <a:ext cx="0" cy="576262"/>
          </a:xfrm>
          <a:prstGeom prst="line">
            <a:avLst/>
          </a:prstGeom>
          <a:noFill/>
          <a:ln w="9525">
            <a:solidFill>
              <a:srgbClr val="800080"/>
            </a:solidFill>
            <a:round/>
            <a:headEnd/>
            <a:tailEnd type="triangle" w="med" len="med"/>
          </a:ln>
        </p:spPr>
        <p:txBody>
          <a:bodyPr>
            <a:spAutoFit/>
          </a:bodyPr>
          <a:lstStyle/>
          <a:p>
            <a:endParaRPr lang="zh-CN" altLang="en-US"/>
          </a:p>
        </p:txBody>
      </p:sp>
      <p:sp>
        <p:nvSpPr>
          <p:cNvPr id="10" name="灯片编号占位符 9"/>
          <p:cNvSpPr>
            <a:spLocks noGrp="1"/>
          </p:cNvSpPr>
          <p:nvPr>
            <p:ph type="sldNum" sz="quarter" idx="12"/>
          </p:nvPr>
        </p:nvSpPr>
        <p:spPr/>
        <p:txBody>
          <a:bodyPr/>
          <a:lstStyle/>
          <a:p>
            <a:fld id="{1B43473F-AE3F-4D1C-9C4F-7AD3C17AC1AD}" type="slidenum">
              <a:rPr lang="zh-CN" altLang="en-US" smtClean="0">
                <a:solidFill>
                  <a:srgbClr val="3F3F3F"/>
                </a:solidFill>
              </a:rPr>
              <a:pPr/>
              <a:t>84</a:t>
            </a:fld>
            <a:endParaRPr lang="zh-CN" altLang="en-US">
              <a:solidFill>
                <a:srgbClr val="3F3F3F"/>
              </a:solidFill>
            </a:endParaRPr>
          </a:p>
        </p:txBody>
      </p:sp>
    </p:spTree>
    <p:extLst>
      <p:ext uri="{BB962C8B-B14F-4D97-AF65-F5344CB8AC3E}">
        <p14:creationId xmlns:p14="http://schemas.microsoft.com/office/powerpoint/2010/main" val="312811235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递归下降分析程序的错误处理</a:t>
            </a:r>
          </a:p>
          <a:p>
            <a:pPr lvl="1"/>
            <a:r>
              <a:rPr lang="zh-CN" altLang="en-US" dirty="0"/>
              <a:t>短语层恢复可采取的流程</a:t>
            </a:r>
          </a:p>
          <a:p>
            <a:endParaRPr lang="zh-CN" altLang="en-US" dirty="0"/>
          </a:p>
        </p:txBody>
      </p:sp>
      <p:sp>
        <p:nvSpPr>
          <p:cNvPr id="40" name="Text Box 97"/>
          <p:cNvSpPr txBox="1">
            <a:spLocks noChangeArrowheads="1"/>
          </p:cNvSpPr>
          <p:nvPr/>
        </p:nvSpPr>
        <p:spPr bwMode="auto">
          <a:xfrm>
            <a:off x="5818103" y="1196975"/>
            <a:ext cx="3168650" cy="1006475"/>
          </a:xfrm>
          <a:prstGeom prst="rect">
            <a:avLst/>
          </a:prstGeom>
          <a:noFill/>
          <a:ln w="9525" algn="ctr">
            <a:noFill/>
            <a:prstDash val="dash"/>
            <a:miter lim="800000"/>
            <a:headEnd/>
            <a:tailEnd/>
          </a:ln>
        </p:spPr>
        <p:txBody>
          <a:bodyPr>
            <a:spAutoFit/>
          </a:bodyPr>
          <a:lstStyle/>
          <a:p>
            <a:r>
              <a:rPr lang="en-US" altLang="zh-CN" dirty="0">
                <a:solidFill>
                  <a:srgbClr val="800080"/>
                </a:solidFill>
              </a:rPr>
              <a:t>         </a:t>
            </a:r>
            <a:r>
              <a:rPr lang="en-US" altLang="zh-CN" dirty="0" err="1">
                <a:solidFill>
                  <a:srgbClr val="800080"/>
                </a:solidFill>
              </a:rPr>
              <a:t>Sym</a:t>
            </a:r>
            <a:r>
              <a:rPr lang="zh-CN" altLang="en-US" b="1" dirty="0"/>
              <a:t>为正扫描的符号</a:t>
            </a:r>
          </a:p>
          <a:p>
            <a:r>
              <a:rPr lang="zh-CN" altLang="en-US" dirty="0">
                <a:solidFill>
                  <a:srgbClr val="800080"/>
                </a:solidFill>
              </a:rPr>
              <a:t>         </a:t>
            </a:r>
            <a:r>
              <a:rPr lang="en-US" altLang="zh-CN" dirty="0">
                <a:solidFill>
                  <a:srgbClr val="800080"/>
                </a:solidFill>
              </a:rPr>
              <a:t>S</a:t>
            </a:r>
            <a:r>
              <a:rPr lang="zh-CN" altLang="en-US" b="1" dirty="0"/>
              <a:t>为补救的符号集合</a:t>
            </a:r>
            <a:endParaRPr lang="zh-CN" altLang="en-US" dirty="0">
              <a:solidFill>
                <a:srgbClr val="800080"/>
              </a:solidFill>
            </a:endParaRPr>
          </a:p>
          <a:p>
            <a:r>
              <a:rPr lang="en-US" altLang="zh-CN" dirty="0">
                <a:solidFill>
                  <a:srgbClr val="800080"/>
                </a:solidFill>
              </a:rPr>
              <a:t>S = </a:t>
            </a:r>
            <a:r>
              <a:rPr lang="en-US" altLang="zh-CN" dirty="0" err="1">
                <a:solidFill>
                  <a:srgbClr val="800080"/>
                </a:solidFill>
              </a:rPr>
              <a:t>BeginSym</a:t>
            </a:r>
            <a:r>
              <a:rPr lang="en-US" altLang="zh-CN" dirty="0">
                <a:solidFill>
                  <a:srgbClr val="800080"/>
                </a:solidFill>
              </a:rPr>
              <a:t> </a:t>
            </a:r>
            <a:r>
              <a:rPr lang="en-US" altLang="zh-CN" b="1" dirty="0">
                <a:solidFill>
                  <a:srgbClr val="800080"/>
                </a:solidFill>
                <a:latin typeface="仿宋_GB2312" pitchFamily="49" charset="-122"/>
                <a:ea typeface="仿宋_GB2312" pitchFamily="49" charset="-122"/>
              </a:rPr>
              <a:t>∪</a:t>
            </a:r>
            <a:r>
              <a:rPr lang="en-US" altLang="zh-CN" dirty="0">
                <a:solidFill>
                  <a:srgbClr val="800080"/>
                </a:solidFill>
              </a:rPr>
              <a:t> </a:t>
            </a:r>
            <a:r>
              <a:rPr lang="en-US" altLang="zh-CN" dirty="0" err="1">
                <a:solidFill>
                  <a:srgbClr val="800080"/>
                </a:solidFill>
              </a:rPr>
              <a:t>EndSym</a:t>
            </a:r>
            <a:endParaRPr lang="en-US" altLang="zh-CN" dirty="0">
              <a:solidFill>
                <a:srgbClr val="800080"/>
              </a:solidFill>
            </a:endParaRPr>
          </a:p>
        </p:txBody>
      </p:sp>
      <p:sp>
        <p:nvSpPr>
          <p:cNvPr id="41" name="AutoShape 4">
            <a:hlinkClick r:id="" action="ppaction://hlinkshowjump?jump=nextslide" highlightClick="1"/>
          </p:cNvPr>
          <p:cNvSpPr>
            <a:spLocks noChangeArrowheads="1"/>
          </p:cNvSpPr>
          <p:nvPr/>
        </p:nvSpPr>
        <p:spPr bwMode="auto">
          <a:xfrm>
            <a:off x="7948612" y="6504222"/>
            <a:ext cx="179388" cy="107950"/>
          </a:xfrm>
          <a:prstGeom prst="actionButtonForwardNext">
            <a:avLst/>
          </a:prstGeom>
          <a:solidFill>
            <a:schemeClr val="accent1"/>
          </a:solidFill>
          <a:ln w="12700">
            <a:solidFill>
              <a:schemeClr val="tx1"/>
            </a:solidFill>
            <a:miter lim="800000"/>
            <a:headEnd type="none" w="sm" len="sm"/>
            <a:tailEnd type="none" w="sm" len="sm"/>
          </a:ln>
        </p:spPr>
        <p:txBody>
          <a:bodyPr wrap="none" anchor="ctr"/>
          <a:lstStyle/>
          <a:p>
            <a:endParaRPr lang="zh-CN" altLang="en-US"/>
          </a:p>
        </p:txBody>
      </p:sp>
      <p:sp>
        <p:nvSpPr>
          <p:cNvPr id="42" name="AutoShape 5">
            <a:hlinkClick r:id="" action="ppaction://hlinkshowjump?jump=previousslide" highlightClick="1"/>
          </p:cNvPr>
          <p:cNvSpPr>
            <a:spLocks noChangeArrowheads="1"/>
          </p:cNvSpPr>
          <p:nvPr/>
        </p:nvSpPr>
        <p:spPr bwMode="auto">
          <a:xfrm>
            <a:off x="7643812" y="6504222"/>
            <a:ext cx="179388" cy="107950"/>
          </a:xfrm>
          <a:prstGeom prst="actionButtonBackPrevious">
            <a:avLst/>
          </a:prstGeom>
          <a:solidFill>
            <a:schemeClr val="accent1"/>
          </a:solidFill>
          <a:ln w="12700">
            <a:solidFill>
              <a:schemeClr val="tx1"/>
            </a:solidFill>
            <a:miter lim="800000"/>
            <a:headEnd type="none" w="sm" len="sm"/>
            <a:tailEnd type="none" w="sm" len="sm"/>
          </a:ln>
        </p:spPr>
        <p:txBody>
          <a:bodyPr wrap="none" anchor="ctr"/>
          <a:lstStyle/>
          <a:p>
            <a:endParaRPr lang="zh-CN" altLang="en-US"/>
          </a:p>
        </p:txBody>
      </p:sp>
      <p:sp>
        <p:nvSpPr>
          <p:cNvPr id="43" name="AutoShape 6">
            <a:hlinkClick r:id="" action="ppaction://hlinkshowjump?jump=firstslide" highlightClick="1"/>
          </p:cNvPr>
          <p:cNvSpPr>
            <a:spLocks noChangeArrowheads="1"/>
          </p:cNvSpPr>
          <p:nvPr/>
        </p:nvSpPr>
        <p:spPr bwMode="auto">
          <a:xfrm>
            <a:off x="7339012" y="6504222"/>
            <a:ext cx="179388" cy="107950"/>
          </a:xfrm>
          <a:prstGeom prst="actionButtonBeginning">
            <a:avLst/>
          </a:prstGeom>
          <a:solidFill>
            <a:schemeClr val="accent1"/>
          </a:solidFill>
          <a:ln w="12700">
            <a:solidFill>
              <a:schemeClr val="tx1"/>
            </a:solidFill>
            <a:miter lim="800000"/>
            <a:headEnd type="none" w="sm" len="sm"/>
            <a:tailEnd type="none" w="sm" len="sm"/>
          </a:ln>
        </p:spPr>
        <p:txBody>
          <a:bodyPr wrap="none" anchor="ctr"/>
          <a:lstStyle/>
          <a:p>
            <a:endParaRPr lang="zh-CN" altLang="en-US"/>
          </a:p>
        </p:txBody>
      </p:sp>
      <p:sp>
        <p:nvSpPr>
          <p:cNvPr id="44" name="AutoShape 56"/>
          <p:cNvSpPr>
            <a:spLocks noChangeArrowheads="1"/>
          </p:cNvSpPr>
          <p:nvPr/>
        </p:nvSpPr>
        <p:spPr bwMode="auto">
          <a:xfrm>
            <a:off x="1127125" y="2805347"/>
            <a:ext cx="1728787" cy="711200"/>
          </a:xfrm>
          <a:prstGeom prst="flowChartDecision">
            <a:avLst/>
          </a:prstGeom>
          <a:noFill/>
          <a:ln w="9525" algn="ctr">
            <a:solidFill>
              <a:srgbClr val="800080"/>
            </a:solidFill>
            <a:miter lim="800000"/>
            <a:headEnd/>
            <a:tailEnd/>
          </a:ln>
        </p:spPr>
        <p:txBody>
          <a:bodyPr anchor="ctr">
            <a:spAutoFit/>
          </a:bodyPr>
          <a:lstStyle/>
          <a:p>
            <a:pPr algn="ctr"/>
            <a:r>
              <a:rPr lang="en-US" altLang="zh-CN" b="1">
                <a:latin typeface="Comic Sans MS" pitchFamily="66" charset="0"/>
              </a:rPr>
              <a:t>Sym</a:t>
            </a:r>
            <a:r>
              <a:rPr lang="en-US" altLang="zh-CN" b="1">
                <a:latin typeface="Comic Sans MS" pitchFamily="66" charset="0"/>
                <a:sym typeface="Symbol" pitchFamily="18" charset="2"/>
              </a:rPr>
              <a:t>?</a:t>
            </a:r>
          </a:p>
        </p:txBody>
      </p:sp>
      <p:sp>
        <p:nvSpPr>
          <p:cNvPr id="45" name="Line 57"/>
          <p:cNvSpPr>
            <a:spLocks noChangeShapeType="1"/>
          </p:cNvSpPr>
          <p:nvPr/>
        </p:nvSpPr>
        <p:spPr bwMode="auto">
          <a:xfrm flipV="1">
            <a:off x="1990725" y="2156060"/>
            <a:ext cx="0" cy="649287"/>
          </a:xfrm>
          <a:prstGeom prst="line">
            <a:avLst/>
          </a:prstGeom>
          <a:noFill/>
          <a:ln w="9525">
            <a:solidFill>
              <a:srgbClr val="800080"/>
            </a:solidFill>
            <a:round/>
            <a:headEnd type="arrow" w="lg" len="med"/>
            <a:tailEnd/>
          </a:ln>
        </p:spPr>
        <p:txBody>
          <a:bodyPr>
            <a:spAutoFit/>
          </a:bodyPr>
          <a:lstStyle/>
          <a:p>
            <a:endParaRPr lang="zh-CN" altLang="en-US"/>
          </a:p>
        </p:txBody>
      </p:sp>
      <p:sp>
        <p:nvSpPr>
          <p:cNvPr id="46" name="Line 58"/>
          <p:cNvSpPr>
            <a:spLocks noChangeShapeType="1"/>
          </p:cNvSpPr>
          <p:nvPr/>
        </p:nvSpPr>
        <p:spPr bwMode="auto">
          <a:xfrm>
            <a:off x="2855912" y="3164122"/>
            <a:ext cx="863600" cy="0"/>
          </a:xfrm>
          <a:prstGeom prst="line">
            <a:avLst/>
          </a:prstGeom>
          <a:noFill/>
          <a:ln w="9525">
            <a:solidFill>
              <a:srgbClr val="800080"/>
            </a:solidFill>
            <a:round/>
            <a:headEnd type="none" w="lg" len="med"/>
            <a:tailEnd type="arrow" w="lg" len="med"/>
          </a:ln>
        </p:spPr>
        <p:txBody>
          <a:bodyPr>
            <a:spAutoFit/>
          </a:bodyPr>
          <a:lstStyle/>
          <a:p>
            <a:endParaRPr lang="zh-CN" altLang="en-US"/>
          </a:p>
        </p:txBody>
      </p:sp>
      <p:sp>
        <p:nvSpPr>
          <p:cNvPr id="47" name="Rectangle 59"/>
          <p:cNvSpPr>
            <a:spLocks noChangeArrowheads="1"/>
          </p:cNvSpPr>
          <p:nvPr/>
        </p:nvSpPr>
        <p:spPr bwMode="auto">
          <a:xfrm>
            <a:off x="3719512" y="2805347"/>
            <a:ext cx="2879725" cy="711200"/>
          </a:xfrm>
          <a:prstGeom prst="rect">
            <a:avLst/>
          </a:prstGeom>
          <a:noFill/>
          <a:ln w="9525" algn="ctr">
            <a:solidFill>
              <a:srgbClr val="990099"/>
            </a:solidFill>
            <a:miter lim="800000"/>
            <a:headEnd/>
            <a:tailEnd/>
          </a:ln>
        </p:spPr>
        <p:txBody>
          <a:bodyPr anchor="ctr">
            <a:spAutoFit/>
          </a:bodyPr>
          <a:lstStyle/>
          <a:p>
            <a:pPr marL="457200" indent="-457200">
              <a:buFont typeface="Wingdings" pitchFamily="2" charset="2"/>
              <a:buAutoNum type="arabicParenBoth"/>
            </a:pPr>
            <a:r>
              <a:rPr lang="zh-CN" altLang="en-US" b="1">
                <a:latin typeface="Comic Sans MS" pitchFamily="66" charset="0"/>
              </a:rPr>
              <a:t>报错</a:t>
            </a:r>
            <a:r>
              <a:rPr lang="en-US" altLang="zh-CN" b="1">
                <a:latin typeface="Comic Sans MS" pitchFamily="66" charset="0"/>
              </a:rPr>
              <a:t>; </a:t>
            </a:r>
          </a:p>
          <a:p>
            <a:pPr marL="457200" indent="-457200">
              <a:buFont typeface="Wingdings" pitchFamily="2" charset="2"/>
              <a:buAutoNum type="arabicParenBoth"/>
            </a:pPr>
            <a:r>
              <a:rPr lang="zh-CN" altLang="en-US" b="1">
                <a:latin typeface="Comic Sans MS" pitchFamily="66" charset="0"/>
              </a:rPr>
              <a:t>跳过 </a:t>
            </a:r>
            <a:r>
              <a:rPr lang="en-US" altLang="zh-CN">
                <a:solidFill>
                  <a:srgbClr val="800080"/>
                </a:solidFill>
              </a:rPr>
              <a:t>S </a:t>
            </a:r>
            <a:r>
              <a:rPr lang="zh-CN" altLang="en-US" b="1">
                <a:latin typeface="Comic Sans MS" pitchFamily="66" charset="0"/>
              </a:rPr>
              <a:t>之外的单词</a:t>
            </a:r>
          </a:p>
        </p:txBody>
      </p:sp>
      <p:sp>
        <p:nvSpPr>
          <p:cNvPr id="48" name="Text Box 60"/>
          <p:cNvSpPr txBox="1">
            <a:spLocks noChangeArrowheads="1"/>
          </p:cNvSpPr>
          <p:nvPr/>
        </p:nvSpPr>
        <p:spPr bwMode="auto">
          <a:xfrm>
            <a:off x="2266950" y="3235560"/>
            <a:ext cx="1524000" cy="396875"/>
          </a:xfrm>
          <a:prstGeom prst="rect">
            <a:avLst/>
          </a:prstGeom>
          <a:noFill/>
          <a:ln w="9525" algn="ctr">
            <a:noFill/>
            <a:miter lim="800000"/>
            <a:headEnd/>
            <a:tailEnd/>
          </a:ln>
        </p:spPr>
        <p:txBody>
          <a:bodyPr wrap="none">
            <a:spAutoFit/>
          </a:bodyPr>
          <a:lstStyle/>
          <a:p>
            <a:r>
              <a:rPr lang="en-US" altLang="zh-CN">
                <a:solidFill>
                  <a:srgbClr val="800080"/>
                </a:solidFill>
                <a:sym typeface="Symbol" pitchFamily="18" charset="2"/>
              </a:rPr>
              <a:t>BeginSym</a:t>
            </a:r>
          </a:p>
        </p:txBody>
      </p:sp>
      <p:sp>
        <p:nvSpPr>
          <p:cNvPr id="49" name="Text Box 61"/>
          <p:cNvSpPr txBox="1">
            <a:spLocks noChangeArrowheads="1"/>
          </p:cNvSpPr>
          <p:nvPr/>
        </p:nvSpPr>
        <p:spPr bwMode="auto">
          <a:xfrm>
            <a:off x="466725" y="3414947"/>
            <a:ext cx="1524000" cy="396875"/>
          </a:xfrm>
          <a:prstGeom prst="rect">
            <a:avLst/>
          </a:prstGeom>
          <a:noFill/>
          <a:ln w="9525" algn="ctr">
            <a:noFill/>
            <a:miter lim="800000"/>
            <a:headEnd/>
            <a:tailEnd/>
          </a:ln>
        </p:spPr>
        <p:txBody>
          <a:bodyPr wrap="none">
            <a:spAutoFit/>
          </a:bodyPr>
          <a:lstStyle/>
          <a:p>
            <a:r>
              <a:rPr lang="en-US" altLang="zh-CN">
                <a:solidFill>
                  <a:srgbClr val="800080"/>
                </a:solidFill>
                <a:sym typeface="Symbol" pitchFamily="18" charset="2"/>
              </a:rPr>
              <a:t>BeginSym</a:t>
            </a:r>
          </a:p>
        </p:txBody>
      </p:sp>
      <p:sp>
        <p:nvSpPr>
          <p:cNvPr id="50" name="Line 62"/>
          <p:cNvSpPr>
            <a:spLocks noChangeShapeType="1"/>
          </p:cNvSpPr>
          <p:nvPr/>
        </p:nvSpPr>
        <p:spPr bwMode="auto">
          <a:xfrm flipV="1">
            <a:off x="1990725" y="3522897"/>
            <a:ext cx="0" cy="433388"/>
          </a:xfrm>
          <a:prstGeom prst="line">
            <a:avLst/>
          </a:prstGeom>
          <a:noFill/>
          <a:ln w="9525">
            <a:solidFill>
              <a:srgbClr val="800080"/>
            </a:solidFill>
            <a:round/>
            <a:headEnd type="arrow" w="lg" len="med"/>
            <a:tailEnd/>
          </a:ln>
        </p:spPr>
        <p:txBody>
          <a:bodyPr>
            <a:spAutoFit/>
          </a:bodyPr>
          <a:lstStyle/>
          <a:p>
            <a:endParaRPr lang="zh-CN" altLang="en-US"/>
          </a:p>
        </p:txBody>
      </p:sp>
      <p:sp>
        <p:nvSpPr>
          <p:cNvPr id="51" name="Text Box 63"/>
          <p:cNvSpPr txBox="1">
            <a:spLocks noChangeArrowheads="1"/>
          </p:cNvSpPr>
          <p:nvPr/>
        </p:nvSpPr>
        <p:spPr bwMode="auto">
          <a:xfrm>
            <a:off x="479425" y="3956285"/>
            <a:ext cx="3011487" cy="406400"/>
          </a:xfrm>
          <a:prstGeom prst="rect">
            <a:avLst/>
          </a:prstGeom>
          <a:noFill/>
          <a:ln w="9525" algn="ctr">
            <a:solidFill>
              <a:srgbClr val="800080"/>
            </a:solidFill>
            <a:prstDash val="dash"/>
            <a:miter lim="800000"/>
            <a:headEnd/>
            <a:tailEnd/>
          </a:ln>
        </p:spPr>
        <p:txBody>
          <a:bodyPr>
            <a:spAutoFit/>
          </a:bodyPr>
          <a:lstStyle/>
          <a:p>
            <a:pPr algn="ctr"/>
            <a:r>
              <a:rPr lang="zh-CN" altLang="en-US" b="1">
                <a:latin typeface="Comic Sans MS" pitchFamily="66" charset="0"/>
              </a:rPr>
              <a:t>当前语法单位的分析过程</a:t>
            </a:r>
          </a:p>
        </p:txBody>
      </p:sp>
      <p:sp>
        <p:nvSpPr>
          <p:cNvPr id="52" name="AutoShape 64"/>
          <p:cNvSpPr>
            <a:spLocks noChangeArrowheads="1"/>
          </p:cNvSpPr>
          <p:nvPr/>
        </p:nvSpPr>
        <p:spPr bwMode="auto">
          <a:xfrm>
            <a:off x="4222750" y="3748322"/>
            <a:ext cx="1728787" cy="711200"/>
          </a:xfrm>
          <a:prstGeom prst="flowChartDecision">
            <a:avLst/>
          </a:prstGeom>
          <a:noFill/>
          <a:ln w="9525" algn="ctr">
            <a:solidFill>
              <a:srgbClr val="800080"/>
            </a:solidFill>
            <a:miter lim="800000"/>
            <a:headEnd/>
            <a:tailEnd/>
          </a:ln>
        </p:spPr>
        <p:txBody>
          <a:bodyPr anchor="ctr">
            <a:spAutoFit/>
          </a:bodyPr>
          <a:lstStyle/>
          <a:p>
            <a:pPr algn="ctr"/>
            <a:r>
              <a:rPr lang="en-US" altLang="zh-CN" b="1">
                <a:latin typeface="Comic Sans MS" pitchFamily="66" charset="0"/>
              </a:rPr>
              <a:t>Sym</a:t>
            </a:r>
            <a:r>
              <a:rPr lang="en-US" altLang="zh-CN" b="1">
                <a:latin typeface="Comic Sans MS" pitchFamily="66" charset="0"/>
                <a:sym typeface="Symbol" pitchFamily="18" charset="2"/>
              </a:rPr>
              <a:t>?</a:t>
            </a:r>
          </a:p>
        </p:txBody>
      </p:sp>
      <p:sp>
        <p:nvSpPr>
          <p:cNvPr id="53" name="Line 65"/>
          <p:cNvSpPr>
            <a:spLocks noChangeShapeType="1"/>
          </p:cNvSpPr>
          <p:nvPr/>
        </p:nvSpPr>
        <p:spPr bwMode="auto">
          <a:xfrm flipV="1">
            <a:off x="5087937" y="3524485"/>
            <a:ext cx="0" cy="214312"/>
          </a:xfrm>
          <a:prstGeom prst="line">
            <a:avLst/>
          </a:prstGeom>
          <a:noFill/>
          <a:ln w="9525">
            <a:solidFill>
              <a:srgbClr val="800080"/>
            </a:solidFill>
            <a:round/>
            <a:headEnd type="arrow" w="lg" len="med"/>
            <a:tailEnd/>
          </a:ln>
        </p:spPr>
        <p:txBody>
          <a:bodyPr>
            <a:spAutoFit/>
          </a:bodyPr>
          <a:lstStyle/>
          <a:p>
            <a:endParaRPr lang="zh-CN" altLang="en-US"/>
          </a:p>
        </p:txBody>
      </p:sp>
      <p:sp>
        <p:nvSpPr>
          <p:cNvPr id="54" name="Line 67"/>
          <p:cNvSpPr>
            <a:spLocks noChangeShapeType="1"/>
          </p:cNvSpPr>
          <p:nvPr/>
        </p:nvSpPr>
        <p:spPr bwMode="auto">
          <a:xfrm>
            <a:off x="5951537" y="4107097"/>
            <a:ext cx="1079500" cy="0"/>
          </a:xfrm>
          <a:prstGeom prst="line">
            <a:avLst/>
          </a:prstGeom>
          <a:noFill/>
          <a:ln w="9525">
            <a:solidFill>
              <a:srgbClr val="800080"/>
            </a:solidFill>
            <a:round/>
            <a:headEnd/>
            <a:tailEnd/>
          </a:ln>
        </p:spPr>
        <p:txBody>
          <a:bodyPr>
            <a:spAutoFit/>
          </a:bodyPr>
          <a:lstStyle/>
          <a:p>
            <a:endParaRPr lang="zh-CN" altLang="en-US"/>
          </a:p>
        </p:txBody>
      </p:sp>
      <p:sp>
        <p:nvSpPr>
          <p:cNvPr id="55" name="Line 68"/>
          <p:cNvSpPr>
            <a:spLocks noChangeShapeType="1"/>
          </p:cNvSpPr>
          <p:nvPr/>
        </p:nvSpPr>
        <p:spPr bwMode="auto">
          <a:xfrm flipV="1">
            <a:off x="7031037" y="2587860"/>
            <a:ext cx="0" cy="1512887"/>
          </a:xfrm>
          <a:prstGeom prst="line">
            <a:avLst/>
          </a:prstGeom>
          <a:noFill/>
          <a:ln w="9525">
            <a:solidFill>
              <a:srgbClr val="800080"/>
            </a:solidFill>
            <a:round/>
            <a:headEnd/>
            <a:tailEnd/>
          </a:ln>
        </p:spPr>
        <p:txBody>
          <a:bodyPr>
            <a:spAutoFit/>
          </a:bodyPr>
          <a:lstStyle/>
          <a:p>
            <a:endParaRPr lang="zh-CN" altLang="en-US"/>
          </a:p>
        </p:txBody>
      </p:sp>
      <p:sp>
        <p:nvSpPr>
          <p:cNvPr id="56" name="Line 69"/>
          <p:cNvSpPr>
            <a:spLocks noChangeShapeType="1"/>
          </p:cNvSpPr>
          <p:nvPr/>
        </p:nvSpPr>
        <p:spPr bwMode="auto">
          <a:xfrm flipV="1">
            <a:off x="1990725" y="2587860"/>
            <a:ext cx="5040312" cy="0"/>
          </a:xfrm>
          <a:prstGeom prst="line">
            <a:avLst/>
          </a:prstGeom>
          <a:noFill/>
          <a:ln w="9525">
            <a:solidFill>
              <a:srgbClr val="800080"/>
            </a:solidFill>
            <a:round/>
            <a:headEnd type="arrow" w="lg" len="med"/>
            <a:tailEnd/>
          </a:ln>
        </p:spPr>
        <p:txBody>
          <a:bodyPr>
            <a:spAutoFit/>
          </a:bodyPr>
          <a:lstStyle/>
          <a:p>
            <a:endParaRPr lang="zh-CN" altLang="en-US"/>
          </a:p>
        </p:txBody>
      </p:sp>
      <p:sp>
        <p:nvSpPr>
          <p:cNvPr id="57" name="Line 70"/>
          <p:cNvSpPr>
            <a:spLocks noChangeShapeType="1"/>
          </p:cNvSpPr>
          <p:nvPr/>
        </p:nvSpPr>
        <p:spPr bwMode="auto">
          <a:xfrm flipV="1">
            <a:off x="1990725" y="4388085"/>
            <a:ext cx="0" cy="360362"/>
          </a:xfrm>
          <a:prstGeom prst="line">
            <a:avLst/>
          </a:prstGeom>
          <a:noFill/>
          <a:ln w="9525">
            <a:solidFill>
              <a:srgbClr val="800080"/>
            </a:solidFill>
            <a:round/>
            <a:headEnd type="arrow" w="lg" len="med"/>
            <a:tailEnd/>
          </a:ln>
        </p:spPr>
        <p:txBody>
          <a:bodyPr>
            <a:spAutoFit/>
          </a:bodyPr>
          <a:lstStyle/>
          <a:p>
            <a:endParaRPr lang="zh-CN" altLang="en-US"/>
          </a:p>
        </p:txBody>
      </p:sp>
      <p:sp>
        <p:nvSpPr>
          <p:cNvPr id="58" name="AutoShape 71"/>
          <p:cNvSpPr>
            <a:spLocks noChangeArrowheads="1"/>
          </p:cNvSpPr>
          <p:nvPr/>
        </p:nvSpPr>
        <p:spPr bwMode="auto">
          <a:xfrm>
            <a:off x="1127125" y="4765910"/>
            <a:ext cx="1728787" cy="711200"/>
          </a:xfrm>
          <a:prstGeom prst="flowChartDecision">
            <a:avLst/>
          </a:prstGeom>
          <a:noFill/>
          <a:ln w="9525" algn="ctr">
            <a:solidFill>
              <a:srgbClr val="800080"/>
            </a:solidFill>
            <a:miter lim="800000"/>
            <a:headEnd/>
            <a:tailEnd/>
          </a:ln>
        </p:spPr>
        <p:txBody>
          <a:bodyPr anchor="ctr">
            <a:spAutoFit/>
          </a:bodyPr>
          <a:lstStyle/>
          <a:p>
            <a:pPr algn="ctr"/>
            <a:r>
              <a:rPr lang="en-US" altLang="zh-CN" b="1">
                <a:latin typeface="Comic Sans MS" pitchFamily="66" charset="0"/>
              </a:rPr>
              <a:t>Sym</a:t>
            </a:r>
            <a:r>
              <a:rPr lang="en-US" altLang="zh-CN" b="1">
                <a:latin typeface="Comic Sans MS" pitchFamily="66" charset="0"/>
                <a:sym typeface="Symbol" pitchFamily="18" charset="2"/>
              </a:rPr>
              <a:t>?</a:t>
            </a:r>
          </a:p>
        </p:txBody>
      </p:sp>
      <p:sp>
        <p:nvSpPr>
          <p:cNvPr id="59" name="Line 72"/>
          <p:cNvSpPr>
            <a:spLocks noChangeShapeType="1"/>
          </p:cNvSpPr>
          <p:nvPr/>
        </p:nvSpPr>
        <p:spPr bwMode="auto">
          <a:xfrm>
            <a:off x="2855912" y="5116747"/>
            <a:ext cx="863600" cy="0"/>
          </a:xfrm>
          <a:prstGeom prst="line">
            <a:avLst/>
          </a:prstGeom>
          <a:noFill/>
          <a:ln w="9525">
            <a:solidFill>
              <a:srgbClr val="800080"/>
            </a:solidFill>
            <a:round/>
            <a:headEnd type="none" w="lg" len="med"/>
            <a:tailEnd type="arrow" w="lg" len="med"/>
          </a:ln>
        </p:spPr>
        <p:txBody>
          <a:bodyPr>
            <a:spAutoFit/>
          </a:bodyPr>
          <a:lstStyle/>
          <a:p>
            <a:endParaRPr lang="zh-CN" altLang="en-US"/>
          </a:p>
        </p:txBody>
      </p:sp>
      <p:sp>
        <p:nvSpPr>
          <p:cNvPr id="60" name="Text Box 73"/>
          <p:cNvSpPr txBox="1">
            <a:spLocks noChangeArrowheads="1"/>
          </p:cNvSpPr>
          <p:nvPr/>
        </p:nvSpPr>
        <p:spPr bwMode="auto">
          <a:xfrm>
            <a:off x="2465387" y="4675422"/>
            <a:ext cx="1325563" cy="396875"/>
          </a:xfrm>
          <a:prstGeom prst="rect">
            <a:avLst/>
          </a:prstGeom>
          <a:noFill/>
          <a:ln w="9525" algn="ctr">
            <a:noFill/>
            <a:miter lim="800000"/>
            <a:headEnd/>
            <a:tailEnd/>
          </a:ln>
        </p:spPr>
        <p:txBody>
          <a:bodyPr wrap="none">
            <a:spAutoFit/>
          </a:bodyPr>
          <a:lstStyle/>
          <a:p>
            <a:r>
              <a:rPr lang="en-US" altLang="zh-CN">
                <a:solidFill>
                  <a:srgbClr val="800080"/>
                </a:solidFill>
                <a:sym typeface="Symbol" pitchFamily="18" charset="2"/>
              </a:rPr>
              <a:t>EndSym</a:t>
            </a:r>
          </a:p>
        </p:txBody>
      </p:sp>
      <p:sp>
        <p:nvSpPr>
          <p:cNvPr id="61" name="Rectangle 74"/>
          <p:cNvSpPr>
            <a:spLocks noChangeArrowheads="1"/>
          </p:cNvSpPr>
          <p:nvPr/>
        </p:nvSpPr>
        <p:spPr bwMode="auto">
          <a:xfrm>
            <a:off x="3719512" y="4765910"/>
            <a:ext cx="2879725" cy="711200"/>
          </a:xfrm>
          <a:prstGeom prst="rect">
            <a:avLst/>
          </a:prstGeom>
          <a:noFill/>
          <a:ln w="9525" algn="ctr">
            <a:solidFill>
              <a:srgbClr val="990099"/>
            </a:solidFill>
            <a:miter lim="800000"/>
            <a:headEnd/>
            <a:tailEnd/>
          </a:ln>
        </p:spPr>
        <p:txBody>
          <a:bodyPr anchor="ctr">
            <a:spAutoFit/>
          </a:bodyPr>
          <a:lstStyle/>
          <a:p>
            <a:pPr marL="457200" indent="-457200">
              <a:buFont typeface="Wingdings" pitchFamily="2" charset="2"/>
              <a:buAutoNum type="arabicParenBoth"/>
            </a:pPr>
            <a:r>
              <a:rPr lang="zh-CN" altLang="en-US" b="1">
                <a:latin typeface="Comic Sans MS" pitchFamily="66" charset="0"/>
              </a:rPr>
              <a:t>报错</a:t>
            </a:r>
            <a:r>
              <a:rPr lang="en-US" altLang="zh-CN" b="1">
                <a:latin typeface="Comic Sans MS" pitchFamily="66" charset="0"/>
              </a:rPr>
              <a:t>; </a:t>
            </a:r>
          </a:p>
          <a:p>
            <a:pPr marL="457200" indent="-457200">
              <a:buFont typeface="Wingdings" pitchFamily="2" charset="2"/>
              <a:buAutoNum type="arabicParenBoth"/>
            </a:pPr>
            <a:r>
              <a:rPr lang="zh-CN" altLang="en-US" b="1">
                <a:latin typeface="Comic Sans MS" pitchFamily="66" charset="0"/>
              </a:rPr>
              <a:t>跳过 </a:t>
            </a:r>
            <a:r>
              <a:rPr lang="en-US" altLang="zh-CN">
                <a:solidFill>
                  <a:srgbClr val="800080"/>
                </a:solidFill>
              </a:rPr>
              <a:t>S </a:t>
            </a:r>
            <a:r>
              <a:rPr lang="zh-CN" altLang="en-US" b="1">
                <a:latin typeface="Comic Sans MS" pitchFamily="66" charset="0"/>
              </a:rPr>
              <a:t>之外的单词</a:t>
            </a:r>
          </a:p>
        </p:txBody>
      </p:sp>
      <p:sp>
        <p:nvSpPr>
          <p:cNvPr id="62" name="AutoShape 75"/>
          <p:cNvSpPr>
            <a:spLocks noChangeArrowheads="1"/>
          </p:cNvSpPr>
          <p:nvPr/>
        </p:nvSpPr>
        <p:spPr bwMode="auto">
          <a:xfrm>
            <a:off x="4156075" y="5693010"/>
            <a:ext cx="1728787" cy="711200"/>
          </a:xfrm>
          <a:prstGeom prst="flowChartDecision">
            <a:avLst/>
          </a:prstGeom>
          <a:noFill/>
          <a:ln w="9525" algn="ctr">
            <a:solidFill>
              <a:srgbClr val="800080"/>
            </a:solidFill>
            <a:miter lim="800000"/>
            <a:headEnd/>
            <a:tailEnd/>
          </a:ln>
        </p:spPr>
        <p:txBody>
          <a:bodyPr anchor="ctr">
            <a:spAutoFit/>
          </a:bodyPr>
          <a:lstStyle/>
          <a:p>
            <a:pPr algn="ctr"/>
            <a:r>
              <a:rPr lang="en-US" altLang="zh-CN" b="1">
                <a:latin typeface="Comic Sans MS" pitchFamily="66" charset="0"/>
              </a:rPr>
              <a:t>Sym</a:t>
            </a:r>
            <a:r>
              <a:rPr lang="en-US" altLang="zh-CN" b="1">
                <a:latin typeface="Comic Sans MS" pitchFamily="66" charset="0"/>
                <a:sym typeface="Symbol" pitchFamily="18" charset="2"/>
              </a:rPr>
              <a:t>?</a:t>
            </a:r>
          </a:p>
        </p:txBody>
      </p:sp>
      <p:sp>
        <p:nvSpPr>
          <p:cNvPr id="63" name="Line 76"/>
          <p:cNvSpPr>
            <a:spLocks noChangeShapeType="1"/>
          </p:cNvSpPr>
          <p:nvPr/>
        </p:nvSpPr>
        <p:spPr bwMode="auto">
          <a:xfrm flipV="1">
            <a:off x="5021262" y="5477110"/>
            <a:ext cx="0" cy="207962"/>
          </a:xfrm>
          <a:prstGeom prst="line">
            <a:avLst/>
          </a:prstGeom>
          <a:noFill/>
          <a:ln w="9525">
            <a:solidFill>
              <a:srgbClr val="800080"/>
            </a:solidFill>
            <a:round/>
            <a:headEnd type="arrow" w="lg" len="med"/>
            <a:tailEnd/>
          </a:ln>
        </p:spPr>
        <p:txBody>
          <a:bodyPr>
            <a:spAutoFit/>
          </a:bodyPr>
          <a:lstStyle/>
          <a:p>
            <a:endParaRPr lang="zh-CN" altLang="en-US"/>
          </a:p>
        </p:txBody>
      </p:sp>
      <p:sp>
        <p:nvSpPr>
          <p:cNvPr id="64" name="Line 78"/>
          <p:cNvSpPr>
            <a:spLocks noChangeShapeType="1"/>
          </p:cNvSpPr>
          <p:nvPr/>
        </p:nvSpPr>
        <p:spPr bwMode="auto">
          <a:xfrm>
            <a:off x="5880100" y="6043847"/>
            <a:ext cx="1584325" cy="0"/>
          </a:xfrm>
          <a:prstGeom prst="line">
            <a:avLst/>
          </a:prstGeom>
          <a:noFill/>
          <a:ln w="9525">
            <a:solidFill>
              <a:srgbClr val="800080"/>
            </a:solidFill>
            <a:round/>
            <a:headEnd/>
            <a:tailEnd/>
          </a:ln>
        </p:spPr>
        <p:txBody>
          <a:bodyPr>
            <a:spAutoFit/>
          </a:bodyPr>
          <a:lstStyle/>
          <a:p>
            <a:endParaRPr lang="zh-CN" altLang="en-US"/>
          </a:p>
        </p:txBody>
      </p:sp>
      <p:sp>
        <p:nvSpPr>
          <p:cNvPr id="65" name="Line 79"/>
          <p:cNvSpPr>
            <a:spLocks noChangeShapeType="1"/>
          </p:cNvSpPr>
          <p:nvPr/>
        </p:nvSpPr>
        <p:spPr bwMode="auto">
          <a:xfrm flipV="1">
            <a:off x="7464425" y="2371960"/>
            <a:ext cx="0" cy="3671887"/>
          </a:xfrm>
          <a:prstGeom prst="line">
            <a:avLst/>
          </a:prstGeom>
          <a:noFill/>
          <a:ln w="9525">
            <a:solidFill>
              <a:srgbClr val="800080"/>
            </a:solidFill>
            <a:round/>
            <a:headEnd/>
            <a:tailEnd/>
          </a:ln>
        </p:spPr>
        <p:txBody>
          <a:bodyPr>
            <a:spAutoFit/>
          </a:bodyPr>
          <a:lstStyle/>
          <a:p>
            <a:endParaRPr lang="zh-CN" altLang="en-US"/>
          </a:p>
        </p:txBody>
      </p:sp>
      <p:sp>
        <p:nvSpPr>
          <p:cNvPr id="66" name="Line 80"/>
          <p:cNvSpPr>
            <a:spLocks noChangeShapeType="1"/>
          </p:cNvSpPr>
          <p:nvPr/>
        </p:nvSpPr>
        <p:spPr bwMode="auto">
          <a:xfrm flipV="1">
            <a:off x="1990725" y="2371960"/>
            <a:ext cx="5473700" cy="0"/>
          </a:xfrm>
          <a:prstGeom prst="line">
            <a:avLst/>
          </a:prstGeom>
          <a:noFill/>
          <a:ln w="9525">
            <a:solidFill>
              <a:srgbClr val="800080"/>
            </a:solidFill>
            <a:round/>
            <a:headEnd type="arrow" w="lg" len="med"/>
            <a:tailEnd/>
          </a:ln>
        </p:spPr>
        <p:txBody>
          <a:bodyPr>
            <a:spAutoFit/>
          </a:bodyPr>
          <a:lstStyle/>
          <a:p>
            <a:endParaRPr lang="zh-CN" altLang="en-US"/>
          </a:p>
        </p:txBody>
      </p:sp>
      <p:sp>
        <p:nvSpPr>
          <p:cNvPr id="67" name="Line 82"/>
          <p:cNvSpPr>
            <a:spLocks noChangeShapeType="1"/>
          </p:cNvSpPr>
          <p:nvPr/>
        </p:nvSpPr>
        <p:spPr bwMode="auto">
          <a:xfrm flipV="1">
            <a:off x="1990725" y="6043847"/>
            <a:ext cx="2160587" cy="0"/>
          </a:xfrm>
          <a:prstGeom prst="line">
            <a:avLst/>
          </a:prstGeom>
          <a:noFill/>
          <a:ln w="9525">
            <a:solidFill>
              <a:srgbClr val="800080"/>
            </a:solidFill>
            <a:round/>
            <a:headEnd type="arrow" w="lg" len="med"/>
            <a:tailEnd/>
          </a:ln>
        </p:spPr>
        <p:txBody>
          <a:bodyPr>
            <a:spAutoFit/>
          </a:bodyPr>
          <a:lstStyle/>
          <a:p>
            <a:endParaRPr lang="zh-CN" altLang="en-US"/>
          </a:p>
        </p:txBody>
      </p:sp>
      <p:sp>
        <p:nvSpPr>
          <p:cNvPr id="68" name="Line 84"/>
          <p:cNvSpPr>
            <a:spLocks noChangeShapeType="1"/>
          </p:cNvSpPr>
          <p:nvPr/>
        </p:nvSpPr>
        <p:spPr bwMode="auto">
          <a:xfrm flipV="1">
            <a:off x="5087937" y="4459522"/>
            <a:ext cx="0" cy="144463"/>
          </a:xfrm>
          <a:prstGeom prst="line">
            <a:avLst/>
          </a:prstGeom>
          <a:noFill/>
          <a:ln w="9525">
            <a:solidFill>
              <a:srgbClr val="800080"/>
            </a:solidFill>
            <a:round/>
            <a:headEnd/>
            <a:tailEnd/>
          </a:ln>
        </p:spPr>
        <p:txBody>
          <a:bodyPr>
            <a:spAutoFit/>
          </a:bodyPr>
          <a:lstStyle/>
          <a:p>
            <a:endParaRPr lang="zh-CN" altLang="en-US"/>
          </a:p>
        </p:txBody>
      </p:sp>
      <p:sp>
        <p:nvSpPr>
          <p:cNvPr id="69" name="Line 85"/>
          <p:cNvSpPr>
            <a:spLocks noChangeShapeType="1"/>
          </p:cNvSpPr>
          <p:nvPr/>
        </p:nvSpPr>
        <p:spPr bwMode="auto">
          <a:xfrm flipH="1">
            <a:off x="5086350" y="4603985"/>
            <a:ext cx="1944687" cy="0"/>
          </a:xfrm>
          <a:prstGeom prst="line">
            <a:avLst/>
          </a:prstGeom>
          <a:noFill/>
          <a:ln w="9525">
            <a:solidFill>
              <a:srgbClr val="800080"/>
            </a:solidFill>
            <a:round/>
            <a:headEnd/>
            <a:tailEnd/>
          </a:ln>
        </p:spPr>
        <p:txBody>
          <a:bodyPr>
            <a:spAutoFit/>
          </a:bodyPr>
          <a:lstStyle/>
          <a:p>
            <a:endParaRPr lang="zh-CN" altLang="en-US"/>
          </a:p>
        </p:txBody>
      </p:sp>
      <p:sp>
        <p:nvSpPr>
          <p:cNvPr id="70" name="Line 86"/>
          <p:cNvSpPr>
            <a:spLocks noChangeShapeType="1"/>
          </p:cNvSpPr>
          <p:nvPr/>
        </p:nvSpPr>
        <p:spPr bwMode="auto">
          <a:xfrm flipV="1">
            <a:off x="7031037" y="4603985"/>
            <a:ext cx="0" cy="1871662"/>
          </a:xfrm>
          <a:prstGeom prst="line">
            <a:avLst/>
          </a:prstGeom>
          <a:noFill/>
          <a:ln w="9525">
            <a:solidFill>
              <a:srgbClr val="800080"/>
            </a:solidFill>
            <a:round/>
            <a:headEnd/>
            <a:tailEnd/>
          </a:ln>
        </p:spPr>
        <p:txBody>
          <a:bodyPr>
            <a:spAutoFit/>
          </a:bodyPr>
          <a:lstStyle/>
          <a:p>
            <a:endParaRPr lang="zh-CN" altLang="en-US"/>
          </a:p>
        </p:txBody>
      </p:sp>
      <p:sp>
        <p:nvSpPr>
          <p:cNvPr id="71" name="Line 87"/>
          <p:cNvSpPr>
            <a:spLocks noChangeShapeType="1"/>
          </p:cNvSpPr>
          <p:nvPr/>
        </p:nvSpPr>
        <p:spPr bwMode="auto">
          <a:xfrm flipV="1">
            <a:off x="1990725" y="6475647"/>
            <a:ext cx="5040312" cy="0"/>
          </a:xfrm>
          <a:prstGeom prst="line">
            <a:avLst/>
          </a:prstGeom>
          <a:noFill/>
          <a:ln w="9525">
            <a:solidFill>
              <a:srgbClr val="800080"/>
            </a:solidFill>
            <a:round/>
            <a:headEnd type="arrow" w="lg" len="med"/>
            <a:tailEnd/>
          </a:ln>
        </p:spPr>
        <p:txBody>
          <a:bodyPr>
            <a:spAutoFit/>
          </a:bodyPr>
          <a:lstStyle/>
          <a:p>
            <a:endParaRPr lang="zh-CN" altLang="en-US"/>
          </a:p>
        </p:txBody>
      </p:sp>
      <p:sp>
        <p:nvSpPr>
          <p:cNvPr id="72" name="Line 89"/>
          <p:cNvSpPr>
            <a:spLocks noChangeShapeType="1"/>
          </p:cNvSpPr>
          <p:nvPr/>
        </p:nvSpPr>
        <p:spPr bwMode="auto">
          <a:xfrm flipV="1">
            <a:off x="1990725" y="5467585"/>
            <a:ext cx="0" cy="1225550"/>
          </a:xfrm>
          <a:prstGeom prst="line">
            <a:avLst/>
          </a:prstGeom>
          <a:noFill/>
          <a:ln w="9525">
            <a:solidFill>
              <a:srgbClr val="800080"/>
            </a:solidFill>
            <a:round/>
            <a:headEnd type="arrow" w="lg" len="med"/>
            <a:tailEnd/>
          </a:ln>
        </p:spPr>
        <p:txBody>
          <a:bodyPr>
            <a:spAutoFit/>
          </a:bodyPr>
          <a:lstStyle/>
          <a:p>
            <a:endParaRPr lang="zh-CN" altLang="en-US"/>
          </a:p>
        </p:txBody>
      </p:sp>
      <p:sp>
        <p:nvSpPr>
          <p:cNvPr id="73" name="Text Box 92"/>
          <p:cNvSpPr txBox="1">
            <a:spLocks noChangeArrowheads="1"/>
          </p:cNvSpPr>
          <p:nvPr/>
        </p:nvSpPr>
        <p:spPr bwMode="auto">
          <a:xfrm>
            <a:off x="5580062" y="3667360"/>
            <a:ext cx="1524000" cy="396875"/>
          </a:xfrm>
          <a:prstGeom prst="rect">
            <a:avLst/>
          </a:prstGeom>
          <a:noFill/>
          <a:ln w="9525" algn="ctr">
            <a:noFill/>
            <a:miter lim="800000"/>
            <a:headEnd/>
            <a:tailEnd/>
          </a:ln>
        </p:spPr>
        <p:txBody>
          <a:bodyPr wrap="none">
            <a:spAutoFit/>
          </a:bodyPr>
          <a:lstStyle/>
          <a:p>
            <a:r>
              <a:rPr lang="en-US" altLang="zh-CN">
                <a:solidFill>
                  <a:srgbClr val="800080"/>
                </a:solidFill>
                <a:sym typeface="Symbol" pitchFamily="18" charset="2"/>
              </a:rPr>
              <a:t>BeginSym</a:t>
            </a:r>
          </a:p>
        </p:txBody>
      </p:sp>
      <p:sp>
        <p:nvSpPr>
          <p:cNvPr id="74" name="Text Box 93"/>
          <p:cNvSpPr txBox="1">
            <a:spLocks noChangeArrowheads="1"/>
          </p:cNvSpPr>
          <p:nvPr/>
        </p:nvSpPr>
        <p:spPr bwMode="auto">
          <a:xfrm>
            <a:off x="665162" y="5431072"/>
            <a:ext cx="1325563" cy="396875"/>
          </a:xfrm>
          <a:prstGeom prst="rect">
            <a:avLst/>
          </a:prstGeom>
          <a:noFill/>
          <a:ln w="9525" algn="ctr">
            <a:noFill/>
            <a:miter lim="800000"/>
            <a:headEnd/>
            <a:tailEnd/>
          </a:ln>
        </p:spPr>
        <p:txBody>
          <a:bodyPr wrap="none">
            <a:spAutoFit/>
          </a:bodyPr>
          <a:lstStyle/>
          <a:p>
            <a:r>
              <a:rPr lang="en-US" altLang="zh-CN">
                <a:solidFill>
                  <a:srgbClr val="800080"/>
                </a:solidFill>
                <a:sym typeface="Symbol" pitchFamily="18" charset="2"/>
              </a:rPr>
              <a:t>EndSym</a:t>
            </a:r>
          </a:p>
        </p:txBody>
      </p:sp>
      <p:sp>
        <p:nvSpPr>
          <p:cNvPr id="75" name="Text Box 94"/>
          <p:cNvSpPr txBox="1">
            <a:spLocks noChangeArrowheads="1"/>
          </p:cNvSpPr>
          <p:nvPr/>
        </p:nvSpPr>
        <p:spPr bwMode="auto">
          <a:xfrm>
            <a:off x="2970212" y="5646972"/>
            <a:ext cx="1325563" cy="396875"/>
          </a:xfrm>
          <a:prstGeom prst="rect">
            <a:avLst/>
          </a:prstGeom>
          <a:noFill/>
          <a:ln w="9525" algn="ctr">
            <a:noFill/>
            <a:miter lim="800000"/>
            <a:headEnd/>
            <a:tailEnd/>
          </a:ln>
        </p:spPr>
        <p:txBody>
          <a:bodyPr wrap="none">
            <a:spAutoFit/>
          </a:bodyPr>
          <a:lstStyle/>
          <a:p>
            <a:r>
              <a:rPr lang="en-US" altLang="zh-CN">
                <a:solidFill>
                  <a:srgbClr val="800080"/>
                </a:solidFill>
                <a:sym typeface="Symbol" pitchFamily="18" charset="2"/>
              </a:rPr>
              <a:t>EndSym</a:t>
            </a:r>
          </a:p>
        </p:txBody>
      </p:sp>
      <p:sp>
        <p:nvSpPr>
          <p:cNvPr id="76" name="Text Box 95"/>
          <p:cNvSpPr txBox="1">
            <a:spLocks noChangeArrowheads="1"/>
          </p:cNvSpPr>
          <p:nvPr/>
        </p:nvSpPr>
        <p:spPr bwMode="auto">
          <a:xfrm>
            <a:off x="5346700" y="4243622"/>
            <a:ext cx="1325562" cy="396875"/>
          </a:xfrm>
          <a:prstGeom prst="rect">
            <a:avLst/>
          </a:prstGeom>
          <a:noFill/>
          <a:ln w="9525" algn="ctr">
            <a:noFill/>
            <a:miter lim="800000"/>
            <a:headEnd/>
            <a:tailEnd/>
          </a:ln>
        </p:spPr>
        <p:txBody>
          <a:bodyPr wrap="none">
            <a:spAutoFit/>
          </a:bodyPr>
          <a:lstStyle/>
          <a:p>
            <a:r>
              <a:rPr lang="en-US" altLang="zh-CN">
                <a:solidFill>
                  <a:srgbClr val="800080"/>
                </a:solidFill>
                <a:sym typeface="Symbol" pitchFamily="18" charset="2"/>
              </a:rPr>
              <a:t>EndSym</a:t>
            </a:r>
          </a:p>
        </p:txBody>
      </p:sp>
      <p:sp>
        <p:nvSpPr>
          <p:cNvPr id="77" name="Text Box 96"/>
          <p:cNvSpPr txBox="1">
            <a:spLocks noChangeArrowheads="1"/>
          </p:cNvSpPr>
          <p:nvPr/>
        </p:nvSpPr>
        <p:spPr bwMode="auto">
          <a:xfrm>
            <a:off x="5580062" y="5646972"/>
            <a:ext cx="1524000" cy="396875"/>
          </a:xfrm>
          <a:prstGeom prst="rect">
            <a:avLst/>
          </a:prstGeom>
          <a:noFill/>
          <a:ln w="9525" algn="ctr">
            <a:noFill/>
            <a:miter lim="800000"/>
            <a:headEnd/>
            <a:tailEnd/>
          </a:ln>
        </p:spPr>
        <p:txBody>
          <a:bodyPr wrap="none">
            <a:spAutoFit/>
          </a:bodyPr>
          <a:lstStyle/>
          <a:p>
            <a:r>
              <a:rPr lang="en-US" altLang="zh-CN">
                <a:solidFill>
                  <a:srgbClr val="800080"/>
                </a:solidFill>
                <a:sym typeface="Symbol" pitchFamily="18" charset="2"/>
              </a:rPr>
              <a:t>BeginSym</a:t>
            </a:r>
          </a:p>
        </p:txBody>
      </p:sp>
      <p:sp>
        <p:nvSpPr>
          <p:cNvPr id="4" name="灯片编号占位符 3"/>
          <p:cNvSpPr>
            <a:spLocks noGrp="1"/>
          </p:cNvSpPr>
          <p:nvPr>
            <p:ph type="sldNum" sz="quarter" idx="12"/>
          </p:nvPr>
        </p:nvSpPr>
        <p:spPr/>
        <p:txBody>
          <a:bodyPr/>
          <a:lstStyle/>
          <a:p>
            <a:fld id="{1B43473F-AE3F-4D1C-9C4F-7AD3C17AC1AD}" type="slidenum">
              <a:rPr lang="zh-CN" altLang="en-US" smtClean="0">
                <a:solidFill>
                  <a:srgbClr val="3F3F3F"/>
                </a:solidFill>
              </a:rPr>
              <a:pPr/>
              <a:t>85</a:t>
            </a:fld>
            <a:endParaRPr lang="zh-CN" altLang="en-US">
              <a:solidFill>
                <a:srgbClr val="3F3F3F"/>
              </a:solidFill>
            </a:endParaRPr>
          </a:p>
        </p:txBody>
      </p:sp>
    </p:spTree>
    <p:extLst>
      <p:ext uri="{BB962C8B-B14F-4D97-AF65-F5344CB8AC3E}">
        <p14:creationId xmlns:p14="http://schemas.microsoft.com/office/powerpoint/2010/main" val="2536696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slide(fromTop)">
                                      <p:cBhvr>
                                        <p:cTn id="7" dur="500"/>
                                        <p:tgtEl>
                                          <p:spTgt spid="45"/>
                                        </p:tgtEl>
                                      </p:cBhvr>
                                    </p:animEffect>
                                  </p:childTnLst>
                                </p:cTn>
                              </p:par>
                              <p:par>
                                <p:cTn id="8" presetID="12" presetClass="entr" presetSubtype="1"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slide(fromTop)">
                                      <p:cBhvr>
                                        <p:cTn id="10" dur="500"/>
                                        <p:tgtEl>
                                          <p:spTgt spid="44"/>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1"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slide(fromTop)">
                                      <p:cBhvr>
                                        <p:cTn id="15" dur="500"/>
                                        <p:tgtEl>
                                          <p:spTgt spid="50"/>
                                        </p:tgtEl>
                                      </p:cBhvr>
                                    </p:animEffect>
                                  </p:childTnLst>
                                </p:cTn>
                              </p:par>
                              <p:par>
                                <p:cTn id="16" presetID="12" presetClass="entr" presetSubtype="1" fill="hold" grpId="0" nodeType="with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slide(fromTop)">
                                      <p:cBhvr>
                                        <p:cTn id="18" dur="500"/>
                                        <p:tgtEl>
                                          <p:spTgt spid="49"/>
                                        </p:tgtEl>
                                      </p:cBhvr>
                                    </p:animEffect>
                                  </p:childTnLst>
                                </p:cTn>
                              </p:par>
                              <p:par>
                                <p:cTn id="19" presetID="12" presetClass="entr" presetSubtype="1"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slide(fromTop)">
                                      <p:cBhvr>
                                        <p:cTn id="21" dur="500"/>
                                        <p:tgtEl>
                                          <p:spTgt spid="51"/>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slide(fromTop)">
                                      <p:cBhvr>
                                        <p:cTn id="26" dur="500"/>
                                        <p:tgtEl>
                                          <p:spTgt spid="57"/>
                                        </p:tgtEl>
                                      </p:cBhvr>
                                    </p:animEffect>
                                  </p:childTnLst>
                                </p:cTn>
                              </p:par>
                              <p:par>
                                <p:cTn id="27" presetID="12" presetClass="entr" presetSubtype="1"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animEffect transition="in" filter="slide(fromTop)">
                                      <p:cBhvr>
                                        <p:cTn id="29" dur="500"/>
                                        <p:tgtEl>
                                          <p:spTgt spid="58"/>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8" fill="hold" grpId="0" nodeType="click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slide(fromLeft)">
                                      <p:cBhvr>
                                        <p:cTn id="34" dur="500"/>
                                        <p:tgtEl>
                                          <p:spTgt spid="46"/>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slide(fromLeft)">
                                      <p:cBhvr>
                                        <p:cTn id="37" dur="500"/>
                                        <p:tgtEl>
                                          <p:spTgt spid="47"/>
                                        </p:tgtEl>
                                      </p:cBhvr>
                                    </p:animEffect>
                                  </p:childTnLst>
                                </p:cTn>
                              </p:par>
                              <p:par>
                                <p:cTn id="38" presetID="12" presetClass="entr" presetSubtype="8"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slide(fromLeft)">
                                      <p:cBhvr>
                                        <p:cTn id="40" dur="500"/>
                                        <p:tgtEl>
                                          <p:spTgt spid="48"/>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1" fill="hold" grpId="0" nodeType="clickEffect">
                                  <p:stCondLst>
                                    <p:cond delay="0"/>
                                  </p:stCondLst>
                                  <p:childTnLst>
                                    <p:set>
                                      <p:cBhvr>
                                        <p:cTn id="44" dur="1" fill="hold">
                                          <p:stCondLst>
                                            <p:cond delay="0"/>
                                          </p:stCondLst>
                                        </p:cTn>
                                        <p:tgtEl>
                                          <p:spTgt spid="53"/>
                                        </p:tgtEl>
                                        <p:attrNameLst>
                                          <p:attrName>style.visibility</p:attrName>
                                        </p:attrNameLst>
                                      </p:cBhvr>
                                      <p:to>
                                        <p:strVal val="visible"/>
                                      </p:to>
                                    </p:set>
                                    <p:animEffect transition="in" filter="slide(fromTop)">
                                      <p:cBhvr>
                                        <p:cTn id="45" dur="500"/>
                                        <p:tgtEl>
                                          <p:spTgt spid="53"/>
                                        </p:tgtEl>
                                      </p:cBhvr>
                                    </p:animEffect>
                                  </p:childTnLst>
                                </p:cTn>
                              </p:par>
                              <p:par>
                                <p:cTn id="46" presetID="12" presetClass="entr" presetSubtype="1" fill="hold" grpId="0" nodeType="with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slide(fromTop)">
                                      <p:cBhvr>
                                        <p:cTn id="48" dur="500"/>
                                        <p:tgtEl>
                                          <p:spTgt spid="52"/>
                                        </p:tgtEl>
                                      </p:cBhvr>
                                    </p:animEffect>
                                  </p:childTnLst>
                                </p:cTn>
                              </p:par>
                              <p:par>
                                <p:cTn id="49" presetID="12" presetClass="entr" presetSubtype="1" fill="hold" nodeType="withEffect">
                                  <p:stCondLst>
                                    <p:cond delay="0"/>
                                  </p:stCondLst>
                                  <p:childTnLst>
                                    <p:set>
                                      <p:cBhvr>
                                        <p:cTn id="50" dur="1" fill="hold">
                                          <p:stCondLst>
                                            <p:cond delay="0"/>
                                          </p:stCondLst>
                                        </p:cTn>
                                        <p:tgtEl>
                                          <p:spTgt spid="73"/>
                                        </p:tgtEl>
                                        <p:attrNameLst>
                                          <p:attrName>style.visibility</p:attrName>
                                        </p:attrNameLst>
                                      </p:cBhvr>
                                      <p:to>
                                        <p:strVal val="visible"/>
                                      </p:to>
                                    </p:set>
                                    <p:animEffect transition="in" filter="slide(fromTop)">
                                      <p:cBhvr>
                                        <p:cTn id="51" dur="500"/>
                                        <p:tgtEl>
                                          <p:spTgt spid="73"/>
                                        </p:tgtEl>
                                      </p:cBhvr>
                                    </p:animEffect>
                                  </p:childTnLst>
                                </p:cTn>
                              </p:par>
                              <p:par>
                                <p:cTn id="52" presetID="12" presetClass="entr" presetSubtype="8" fill="hold" grpId="0" nodeType="with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slide(fromLeft)">
                                      <p:cBhvr>
                                        <p:cTn id="54" dur="500"/>
                                        <p:tgtEl>
                                          <p:spTgt spid="54"/>
                                        </p:tgtEl>
                                      </p:cBhvr>
                                    </p:animEffect>
                                  </p:childTnLst>
                                </p:cTn>
                              </p:par>
                            </p:childTnLst>
                          </p:cTn>
                        </p:par>
                        <p:par>
                          <p:cTn id="55" fill="hold">
                            <p:stCondLst>
                              <p:cond delay="500"/>
                            </p:stCondLst>
                            <p:childTnLst>
                              <p:par>
                                <p:cTn id="56" presetID="12" presetClass="entr" presetSubtype="4" fill="hold" grpId="0" nodeType="afterEffect">
                                  <p:stCondLst>
                                    <p:cond delay="0"/>
                                  </p:stCondLst>
                                  <p:childTnLst>
                                    <p:set>
                                      <p:cBhvr>
                                        <p:cTn id="57" dur="1" fill="hold">
                                          <p:stCondLst>
                                            <p:cond delay="0"/>
                                          </p:stCondLst>
                                        </p:cTn>
                                        <p:tgtEl>
                                          <p:spTgt spid="55"/>
                                        </p:tgtEl>
                                        <p:attrNameLst>
                                          <p:attrName>style.visibility</p:attrName>
                                        </p:attrNameLst>
                                      </p:cBhvr>
                                      <p:to>
                                        <p:strVal val="visible"/>
                                      </p:to>
                                    </p:set>
                                    <p:animEffect transition="in" filter="slide(fromBottom)">
                                      <p:cBhvr>
                                        <p:cTn id="58" dur="500"/>
                                        <p:tgtEl>
                                          <p:spTgt spid="55"/>
                                        </p:tgtEl>
                                      </p:cBhvr>
                                    </p:animEffect>
                                  </p:childTnLst>
                                </p:cTn>
                              </p:par>
                            </p:childTnLst>
                          </p:cTn>
                        </p:par>
                        <p:par>
                          <p:cTn id="59" fill="hold">
                            <p:stCondLst>
                              <p:cond delay="1000"/>
                            </p:stCondLst>
                            <p:childTnLst>
                              <p:par>
                                <p:cTn id="60" presetID="12" presetClass="entr" presetSubtype="2" fill="hold" grpId="0" nodeType="afterEffect">
                                  <p:stCondLst>
                                    <p:cond delay="0"/>
                                  </p:stCondLst>
                                  <p:childTnLst>
                                    <p:set>
                                      <p:cBhvr>
                                        <p:cTn id="61" dur="1" fill="hold">
                                          <p:stCondLst>
                                            <p:cond delay="0"/>
                                          </p:stCondLst>
                                        </p:cTn>
                                        <p:tgtEl>
                                          <p:spTgt spid="56"/>
                                        </p:tgtEl>
                                        <p:attrNameLst>
                                          <p:attrName>style.visibility</p:attrName>
                                        </p:attrNameLst>
                                      </p:cBhvr>
                                      <p:to>
                                        <p:strVal val="visible"/>
                                      </p:to>
                                    </p:set>
                                    <p:animEffect transition="in" filter="slide(fromRight)">
                                      <p:cBhvr>
                                        <p:cTn id="62" dur="500"/>
                                        <p:tgtEl>
                                          <p:spTgt spid="56"/>
                                        </p:tgtEl>
                                      </p:cBhvr>
                                    </p:animEffect>
                                  </p:childTnLst>
                                </p:cTn>
                              </p:par>
                            </p:childTnLst>
                          </p:cTn>
                        </p:par>
                        <p:par>
                          <p:cTn id="63" fill="hold">
                            <p:stCondLst>
                              <p:cond delay="1500"/>
                            </p:stCondLst>
                            <p:childTnLst>
                              <p:par>
                                <p:cTn id="64" presetID="12" presetClass="entr" presetSubtype="1" fill="hold" grpId="0" nodeType="afterEffect">
                                  <p:stCondLst>
                                    <p:cond delay="0"/>
                                  </p:stCondLst>
                                  <p:childTnLst>
                                    <p:set>
                                      <p:cBhvr>
                                        <p:cTn id="65" dur="1" fill="hold">
                                          <p:stCondLst>
                                            <p:cond delay="0"/>
                                          </p:stCondLst>
                                        </p:cTn>
                                        <p:tgtEl>
                                          <p:spTgt spid="68"/>
                                        </p:tgtEl>
                                        <p:attrNameLst>
                                          <p:attrName>style.visibility</p:attrName>
                                        </p:attrNameLst>
                                      </p:cBhvr>
                                      <p:to>
                                        <p:strVal val="visible"/>
                                      </p:to>
                                    </p:set>
                                    <p:animEffect transition="in" filter="slide(fromTop)">
                                      <p:cBhvr>
                                        <p:cTn id="66" dur="500"/>
                                        <p:tgtEl>
                                          <p:spTgt spid="68"/>
                                        </p:tgtEl>
                                      </p:cBhvr>
                                    </p:animEffect>
                                  </p:childTnLst>
                                </p:cTn>
                              </p:par>
                            </p:childTnLst>
                          </p:cTn>
                        </p:par>
                        <p:par>
                          <p:cTn id="67" fill="hold">
                            <p:stCondLst>
                              <p:cond delay="2000"/>
                            </p:stCondLst>
                            <p:childTnLst>
                              <p:par>
                                <p:cTn id="68" presetID="12" presetClass="entr" presetSubtype="8" fill="hold" grpId="0" nodeType="afterEffect">
                                  <p:stCondLst>
                                    <p:cond delay="0"/>
                                  </p:stCondLst>
                                  <p:childTnLst>
                                    <p:set>
                                      <p:cBhvr>
                                        <p:cTn id="69" dur="1" fill="hold">
                                          <p:stCondLst>
                                            <p:cond delay="0"/>
                                          </p:stCondLst>
                                        </p:cTn>
                                        <p:tgtEl>
                                          <p:spTgt spid="76"/>
                                        </p:tgtEl>
                                        <p:attrNameLst>
                                          <p:attrName>style.visibility</p:attrName>
                                        </p:attrNameLst>
                                      </p:cBhvr>
                                      <p:to>
                                        <p:strVal val="visible"/>
                                      </p:to>
                                    </p:set>
                                    <p:animEffect transition="in" filter="slide(fromLeft)">
                                      <p:cBhvr>
                                        <p:cTn id="70" dur="500"/>
                                        <p:tgtEl>
                                          <p:spTgt spid="76"/>
                                        </p:tgtEl>
                                      </p:cBhvr>
                                    </p:animEffect>
                                  </p:childTnLst>
                                </p:cTn>
                              </p:par>
                            </p:childTnLst>
                          </p:cTn>
                        </p:par>
                        <p:par>
                          <p:cTn id="71" fill="hold">
                            <p:stCondLst>
                              <p:cond delay="2500"/>
                            </p:stCondLst>
                            <p:childTnLst>
                              <p:par>
                                <p:cTn id="72" presetID="12" presetClass="entr" presetSubtype="8" fill="hold" grpId="0" nodeType="afterEffect">
                                  <p:stCondLst>
                                    <p:cond delay="0"/>
                                  </p:stCondLst>
                                  <p:childTnLst>
                                    <p:set>
                                      <p:cBhvr>
                                        <p:cTn id="73" dur="1" fill="hold">
                                          <p:stCondLst>
                                            <p:cond delay="0"/>
                                          </p:stCondLst>
                                        </p:cTn>
                                        <p:tgtEl>
                                          <p:spTgt spid="69"/>
                                        </p:tgtEl>
                                        <p:attrNameLst>
                                          <p:attrName>style.visibility</p:attrName>
                                        </p:attrNameLst>
                                      </p:cBhvr>
                                      <p:to>
                                        <p:strVal val="visible"/>
                                      </p:to>
                                    </p:set>
                                    <p:animEffect transition="in" filter="slide(fromLeft)">
                                      <p:cBhvr>
                                        <p:cTn id="74" dur="500"/>
                                        <p:tgtEl>
                                          <p:spTgt spid="69"/>
                                        </p:tgtEl>
                                      </p:cBhvr>
                                    </p:animEffect>
                                  </p:childTnLst>
                                </p:cTn>
                              </p:par>
                            </p:childTnLst>
                          </p:cTn>
                        </p:par>
                        <p:par>
                          <p:cTn id="75" fill="hold">
                            <p:stCondLst>
                              <p:cond delay="3000"/>
                            </p:stCondLst>
                            <p:childTnLst>
                              <p:par>
                                <p:cTn id="76" presetID="12" presetClass="entr" presetSubtype="1" fill="hold" grpId="0" nodeType="afterEffect">
                                  <p:stCondLst>
                                    <p:cond delay="0"/>
                                  </p:stCondLst>
                                  <p:childTnLst>
                                    <p:set>
                                      <p:cBhvr>
                                        <p:cTn id="77" dur="1" fill="hold">
                                          <p:stCondLst>
                                            <p:cond delay="0"/>
                                          </p:stCondLst>
                                        </p:cTn>
                                        <p:tgtEl>
                                          <p:spTgt spid="70"/>
                                        </p:tgtEl>
                                        <p:attrNameLst>
                                          <p:attrName>style.visibility</p:attrName>
                                        </p:attrNameLst>
                                      </p:cBhvr>
                                      <p:to>
                                        <p:strVal val="visible"/>
                                      </p:to>
                                    </p:set>
                                    <p:animEffect transition="in" filter="slide(fromTop)">
                                      <p:cBhvr>
                                        <p:cTn id="78" dur="500"/>
                                        <p:tgtEl>
                                          <p:spTgt spid="70"/>
                                        </p:tgtEl>
                                      </p:cBhvr>
                                    </p:animEffect>
                                  </p:childTnLst>
                                </p:cTn>
                              </p:par>
                            </p:childTnLst>
                          </p:cTn>
                        </p:par>
                        <p:par>
                          <p:cTn id="79" fill="hold">
                            <p:stCondLst>
                              <p:cond delay="3500"/>
                            </p:stCondLst>
                            <p:childTnLst>
                              <p:par>
                                <p:cTn id="80" presetID="12" presetClass="entr" presetSubtype="2" fill="hold" grpId="0" nodeType="afterEffect">
                                  <p:stCondLst>
                                    <p:cond delay="0"/>
                                  </p:stCondLst>
                                  <p:childTnLst>
                                    <p:set>
                                      <p:cBhvr>
                                        <p:cTn id="81" dur="1" fill="hold">
                                          <p:stCondLst>
                                            <p:cond delay="0"/>
                                          </p:stCondLst>
                                        </p:cTn>
                                        <p:tgtEl>
                                          <p:spTgt spid="71"/>
                                        </p:tgtEl>
                                        <p:attrNameLst>
                                          <p:attrName>style.visibility</p:attrName>
                                        </p:attrNameLst>
                                      </p:cBhvr>
                                      <p:to>
                                        <p:strVal val="visible"/>
                                      </p:to>
                                    </p:set>
                                    <p:animEffect transition="in" filter="slide(fromRight)">
                                      <p:cBhvr>
                                        <p:cTn id="82" dur="500"/>
                                        <p:tgtEl>
                                          <p:spTgt spid="71"/>
                                        </p:tgtEl>
                                      </p:cBhvr>
                                    </p:animEffect>
                                  </p:childTnLst>
                                </p:cTn>
                              </p:par>
                            </p:childTnLst>
                          </p:cTn>
                        </p:par>
                      </p:childTnLst>
                    </p:cTn>
                  </p:par>
                  <p:par>
                    <p:cTn id="83" fill="hold">
                      <p:stCondLst>
                        <p:cond delay="indefinite"/>
                      </p:stCondLst>
                      <p:childTnLst>
                        <p:par>
                          <p:cTn id="84" fill="hold">
                            <p:stCondLst>
                              <p:cond delay="0"/>
                            </p:stCondLst>
                            <p:childTnLst>
                              <p:par>
                                <p:cTn id="85" presetID="12" presetClass="entr" presetSubtype="1" fill="hold" grpId="0" nodeType="clickEffect">
                                  <p:stCondLst>
                                    <p:cond delay="0"/>
                                  </p:stCondLst>
                                  <p:childTnLst>
                                    <p:set>
                                      <p:cBhvr>
                                        <p:cTn id="86" dur="1" fill="hold">
                                          <p:stCondLst>
                                            <p:cond delay="0"/>
                                          </p:stCondLst>
                                        </p:cTn>
                                        <p:tgtEl>
                                          <p:spTgt spid="74"/>
                                        </p:tgtEl>
                                        <p:attrNameLst>
                                          <p:attrName>style.visibility</p:attrName>
                                        </p:attrNameLst>
                                      </p:cBhvr>
                                      <p:to>
                                        <p:strVal val="visible"/>
                                      </p:to>
                                    </p:set>
                                    <p:animEffect transition="in" filter="slide(fromTop)">
                                      <p:cBhvr>
                                        <p:cTn id="87" dur="500"/>
                                        <p:tgtEl>
                                          <p:spTgt spid="74"/>
                                        </p:tgtEl>
                                      </p:cBhvr>
                                    </p:animEffect>
                                  </p:childTnLst>
                                </p:cTn>
                              </p:par>
                            </p:childTnLst>
                          </p:cTn>
                        </p:par>
                        <p:par>
                          <p:cTn id="88" fill="hold">
                            <p:stCondLst>
                              <p:cond delay="500"/>
                            </p:stCondLst>
                            <p:childTnLst>
                              <p:par>
                                <p:cTn id="89" presetID="12" presetClass="entr" presetSubtype="1" fill="hold" grpId="0" nodeType="afterEffect">
                                  <p:stCondLst>
                                    <p:cond delay="0"/>
                                  </p:stCondLst>
                                  <p:childTnLst>
                                    <p:set>
                                      <p:cBhvr>
                                        <p:cTn id="90" dur="1" fill="hold">
                                          <p:stCondLst>
                                            <p:cond delay="0"/>
                                          </p:stCondLst>
                                        </p:cTn>
                                        <p:tgtEl>
                                          <p:spTgt spid="72"/>
                                        </p:tgtEl>
                                        <p:attrNameLst>
                                          <p:attrName>style.visibility</p:attrName>
                                        </p:attrNameLst>
                                      </p:cBhvr>
                                      <p:to>
                                        <p:strVal val="visible"/>
                                      </p:to>
                                    </p:set>
                                    <p:animEffect transition="in" filter="slide(fromTop)">
                                      <p:cBhvr>
                                        <p:cTn id="91" dur="500"/>
                                        <p:tgtEl>
                                          <p:spTgt spid="72"/>
                                        </p:tgtEl>
                                      </p:cBhvr>
                                    </p:animEffect>
                                  </p:childTnLst>
                                </p:cTn>
                              </p:par>
                            </p:childTnLst>
                          </p:cTn>
                        </p:par>
                      </p:childTnLst>
                    </p:cTn>
                  </p:par>
                  <p:par>
                    <p:cTn id="92" fill="hold">
                      <p:stCondLst>
                        <p:cond delay="indefinite"/>
                      </p:stCondLst>
                      <p:childTnLst>
                        <p:par>
                          <p:cTn id="93" fill="hold">
                            <p:stCondLst>
                              <p:cond delay="0"/>
                            </p:stCondLst>
                            <p:childTnLst>
                              <p:par>
                                <p:cTn id="94" presetID="12" presetClass="entr" presetSubtype="8" fill="hold" grpId="0" nodeType="clickEffect">
                                  <p:stCondLst>
                                    <p:cond delay="0"/>
                                  </p:stCondLst>
                                  <p:childTnLst>
                                    <p:set>
                                      <p:cBhvr>
                                        <p:cTn id="95" dur="1" fill="hold">
                                          <p:stCondLst>
                                            <p:cond delay="0"/>
                                          </p:stCondLst>
                                        </p:cTn>
                                        <p:tgtEl>
                                          <p:spTgt spid="59"/>
                                        </p:tgtEl>
                                        <p:attrNameLst>
                                          <p:attrName>style.visibility</p:attrName>
                                        </p:attrNameLst>
                                      </p:cBhvr>
                                      <p:to>
                                        <p:strVal val="visible"/>
                                      </p:to>
                                    </p:set>
                                    <p:animEffect transition="in" filter="slide(fromLeft)">
                                      <p:cBhvr>
                                        <p:cTn id="96" dur="500"/>
                                        <p:tgtEl>
                                          <p:spTgt spid="59"/>
                                        </p:tgtEl>
                                      </p:cBhvr>
                                    </p:animEffect>
                                  </p:childTnLst>
                                </p:cTn>
                              </p:par>
                              <p:par>
                                <p:cTn id="97" presetID="12" presetClass="entr" presetSubtype="8" fill="hold" nodeType="withEffect">
                                  <p:stCondLst>
                                    <p:cond delay="0"/>
                                  </p:stCondLst>
                                  <p:childTnLst>
                                    <p:set>
                                      <p:cBhvr>
                                        <p:cTn id="98" dur="1" fill="hold">
                                          <p:stCondLst>
                                            <p:cond delay="0"/>
                                          </p:stCondLst>
                                        </p:cTn>
                                        <p:tgtEl>
                                          <p:spTgt spid="60"/>
                                        </p:tgtEl>
                                        <p:attrNameLst>
                                          <p:attrName>style.visibility</p:attrName>
                                        </p:attrNameLst>
                                      </p:cBhvr>
                                      <p:to>
                                        <p:strVal val="visible"/>
                                      </p:to>
                                    </p:set>
                                    <p:animEffect transition="in" filter="slide(fromLeft)">
                                      <p:cBhvr>
                                        <p:cTn id="99" dur="500"/>
                                        <p:tgtEl>
                                          <p:spTgt spid="60"/>
                                        </p:tgtEl>
                                      </p:cBhvr>
                                    </p:animEffect>
                                  </p:childTnLst>
                                </p:cTn>
                              </p:par>
                              <p:par>
                                <p:cTn id="100" presetID="12" presetClass="entr" presetSubtype="8" fill="hold" nodeType="withEffect">
                                  <p:stCondLst>
                                    <p:cond delay="0"/>
                                  </p:stCondLst>
                                  <p:childTnLst>
                                    <p:set>
                                      <p:cBhvr>
                                        <p:cTn id="101" dur="1" fill="hold">
                                          <p:stCondLst>
                                            <p:cond delay="0"/>
                                          </p:stCondLst>
                                        </p:cTn>
                                        <p:tgtEl>
                                          <p:spTgt spid="61"/>
                                        </p:tgtEl>
                                        <p:attrNameLst>
                                          <p:attrName>style.visibility</p:attrName>
                                        </p:attrNameLst>
                                      </p:cBhvr>
                                      <p:to>
                                        <p:strVal val="visible"/>
                                      </p:to>
                                    </p:set>
                                    <p:animEffect transition="in" filter="slide(fromLeft)">
                                      <p:cBhvr>
                                        <p:cTn id="102" dur="500"/>
                                        <p:tgtEl>
                                          <p:spTgt spid="61"/>
                                        </p:tgtEl>
                                      </p:cBhvr>
                                    </p:animEffect>
                                  </p:childTnLst>
                                </p:cTn>
                              </p:par>
                            </p:childTnLst>
                          </p:cTn>
                        </p:par>
                      </p:childTnLst>
                    </p:cTn>
                  </p:par>
                  <p:par>
                    <p:cTn id="103" fill="hold">
                      <p:stCondLst>
                        <p:cond delay="indefinite"/>
                      </p:stCondLst>
                      <p:childTnLst>
                        <p:par>
                          <p:cTn id="104" fill="hold">
                            <p:stCondLst>
                              <p:cond delay="0"/>
                            </p:stCondLst>
                            <p:childTnLst>
                              <p:par>
                                <p:cTn id="105" presetID="12" presetClass="entr" presetSubtype="1" fill="hold" grpId="0" nodeType="clickEffect">
                                  <p:stCondLst>
                                    <p:cond delay="0"/>
                                  </p:stCondLst>
                                  <p:childTnLst>
                                    <p:set>
                                      <p:cBhvr>
                                        <p:cTn id="106" dur="1" fill="hold">
                                          <p:stCondLst>
                                            <p:cond delay="0"/>
                                          </p:stCondLst>
                                        </p:cTn>
                                        <p:tgtEl>
                                          <p:spTgt spid="63"/>
                                        </p:tgtEl>
                                        <p:attrNameLst>
                                          <p:attrName>style.visibility</p:attrName>
                                        </p:attrNameLst>
                                      </p:cBhvr>
                                      <p:to>
                                        <p:strVal val="visible"/>
                                      </p:to>
                                    </p:set>
                                    <p:animEffect transition="in" filter="slide(fromTop)">
                                      <p:cBhvr>
                                        <p:cTn id="107" dur="500"/>
                                        <p:tgtEl>
                                          <p:spTgt spid="63"/>
                                        </p:tgtEl>
                                      </p:cBhvr>
                                    </p:animEffect>
                                  </p:childTnLst>
                                </p:cTn>
                              </p:par>
                              <p:par>
                                <p:cTn id="108" presetID="12" presetClass="entr" presetSubtype="1" fill="hold" nodeType="withEffect">
                                  <p:stCondLst>
                                    <p:cond delay="0"/>
                                  </p:stCondLst>
                                  <p:childTnLst>
                                    <p:set>
                                      <p:cBhvr>
                                        <p:cTn id="109" dur="1" fill="hold">
                                          <p:stCondLst>
                                            <p:cond delay="0"/>
                                          </p:stCondLst>
                                        </p:cTn>
                                        <p:tgtEl>
                                          <p:spTgt spid="62"/>
                                        </p:tgtEl>
                                        <p:attrNameLst>
                                          <p:attrName>style.visibility</p:attrName>
                                        </p:attrNameLst>
                                      </p:cBhvr>
                                      <p:to>
                                        <p:strVal val="visible"/>
                                      </p:to>
                                    </p:set>
                                    <p:animEffect transition="in" filter="slide(fromTop)">
                                      <p:cBhvr>
                                        <p:cTn id="110" dur="500"/>
                                        <p:tgtEl>
                                          <p:spTgt spid="62"/>
                                        </p:tgtEl>
                                      </p:cBhvr>
                                    </p:animEffect>
                                  </p:childTnLst>
                                </p:cTn>
                              </p:par>
                            </p:childTnLst>
                          </p:cTn>
                        </p:par>
                        <p:par>
                          <p:cTn id="111" fill="hold">
                            <p:stCondLst>
                              <p:cond delay="500"/>
                            </p:stCondLst>
                            <p:childTnLst>
                              <p:par>
                                <p:cTn id="112" presetID="12" presetClass="entr" presetSubtype="8" fill="hold" grpId="0" nodeType="afterEffect">
                                  <p:stCondLst>
                                    <p:cond delay="0"/>
                                  </p:stCondLst>
                                  <p:childTnLst>
                                    <p:set>
                                      <p:cBhvr>
                                        <p:cTn id="113" dur="1" fill="hold">
                                          <p:stCondLst>
                                            <p:cond delay="0"/>
                                          </p:stCondLst>
                                        </p:cTn>
                                        <p:tgtEl>
                                          <p:spTgt spid="77"/>
                                        </p:tgtEl>
                                        <p:attrNameLst>
                                          <p:attrName>style.visibility</p:attrName>
                                        </p:attrNameLst>
                                      </p:cBhvr>
                                      <p:to>
                                        <p:strVal val="visible"/>
                                      </p:to>
                                    </p:set>
                                    <p:animEffect transition="in" filter="slide(fromLeft)">
                                      <p:cBhvr>
                                        <p:cTn id="114" dur="500"/>
                                        <p:tgtEl>
                                          <p:spTgt spid="77"/>
                                        </p:tgtEl>
                                      </p:cBhvr>
                                    </p:animEffect>
                                  </p:childTnLst>
                                </p:cTn>
                              </p:par>
                            </p:childTnLst>
                          </p:cTn>
                        </p:par>
                        <p:par>
                          <p:cTn id="115" fill="hold">
                            <p:stCondLst>
                              <p:cond delay="1000"/>
                            </p:stCondLst>
                            <p:childTnLst>
                              <p:par>
                                <p:cTn id="116" presetID="12" presetClass="entr" presetSubtype="8" fill="hold" grpId="0" nodeType="afterEffect">
                                  <p:stCondLst>
                                    <p:cond delay="0"/>
                                  </p:stCondLst>
                                  <p:childTnLst>
                                    <p:set>
                                      <p:cBhvr>
                                        <p:cTn id="117" dur="1" fill="hold">
                                          <p:stCondLst>
                                            <p:cond delay="0"/>
                                          </p:stCondLst>
                                        </p:cTn>
                                        <p:tgtEl>
                                          <p:spTgt spid="64"/>
                                        </p:tgtEl>
                                        <p:attrNameLst>
                                          <p:attrName>style.visibility</p:attrName>
                                        </p:attrNameLst>
                                      </p:cBhvr>
                                      <p:to>
                                        <p:strVal val="visible"/>
                                      </p:to>
                                    </p:set>
                                    <p:animEffect transition="in" filter="slide(fromLeft)">
                                      <p:cBhvr>
                                        <p:cTn id="118" dur="500"/>
                                        <p:tgtEl>
                                          <p:spTgt spid="64"/>
                                        </p:tgtEl>
                                      </p:cBhvr>
                                    </p:animEffect>
                                  </p:childTnLst>
                                </p:cTn>
                              </p:par>
                            </p:childTnLst>
                          </p:cTn>
                        </p:par>
                        <p:par>
                          <p:cTn id="119" fill="hold">
                            <p:stCondLst>
                              <p:cond delay="1500"/>
                            </p:stCondLst>
                            <p:childTnLst>
                              <p:par>
                                <p:cTn id="120" presetID="12" presetClass="entr" presetSubtype="4" fill="hold" grpId="0" nodeType="afterEffect">
                                  <p:stCondLst>
                                    <p:cond delay="0"/>
                                  </p:stCondLst>
                                  <p:childTnLst>
                                    <p:set>
                                      <p:cBhvr>
                                        <p:cTn id="121" dur="1" fill="hold">
                                          <p:stCondLst>
                                            <p:cond delay="0"/>
                                          </p:stCondLst>
                                        </p:cTn>
                                        <p:tgtEl>
                                          <p:spTgt spid="65"/>
                                        </p:tgtEl>
                                        <p:attrNameLst>
                                          <p:attrName>style.visibility</p:attrName>
                                        </p:attrNameLst>
                                      </p:cBhvr>
                                      <p:to>
                                        <p:strVal val="visible"/>
                                      </p:to>
                                    </p:set>
                                    <p:animEffect transition="in" filter="slide(fromBottom)">
                                      <p:cBhvr>
                                        <p:cTn id="122" dur="500"/>
                                        <p:tgtEl>
                                          <p:spTgt spid="65"/>
                                        </p:tgtEl>
                                      </p:cBhvr>
                                    </p:animEffect>
                                  </p:childTnLst>
                                </p:cTn>
                              </p:par>
                            </p:childTnLst>
                          </p:cTn>
                        </p:par>
                        <p:par>
                          <p:cTn id="123" fill="hold">
                            <p:stCondLst>
                              <p:cond delay="2000"/>
                            </p:stCondLst>
                            <p:childTnLst>
                              <p:par>
                                <p:cTn id="124" presetID="12" presetClass="entr" presetSubtype="2" fill="hold" grpId="0" nodeType="afterEffect">
                                  <p:stCondLst>
                                    <p:cond delay="0"/>
                                  </p:stCondLst>
                                  <p:childTnLst>
                                    <p:set>
                                      <p:cBhvr>
                                        <p:cTn id="125" dur="1" fill="hold">
                                          <p:stCondLst>
                                            <p:cond delay="0"/>
                                          </p:stCondLst>
                                        </p:cTn>
                                        <p:tgtEl>
                                          <p:spTgt spid="66"/>
                                        </p:tgtEl>
                                        <p:attrNameLst>
                                          <p:attrName>style.visibility</p:attrName>
                                        </p:attrNameLst>
                                      </p:cBhvr>
                                      <p:to>
                                        <p:strVal val="visible"/>
                                      </p:to>
                                    </p:set>
                                    <p:animEffect transition="in" filter="slide(fromRight)">
                                      <p:cBhvr>
                                        <p:cTn id="126" dur="500"/>
                                        <p:tgtEl>
                                          <p:spTgt spid="66"/>
                                        </p:tgtEl>
                                      </p:cBhvr>
                                    </p:animEffect>
                                  </p:childTnLst>
                                </p:cTn>
                              </p:par>
                            </p:childTnLst>
                          </p:cTn>
                        </p:par>
                        <p:par>
                          <p:cTn id="127" fill="hold">
                            <p:stCondLst>
                              <p:cond delay="2500"/>
                            </p:stCondLst>
                            <p:childTnLst>
                              <p:par>
                                <p:cTn id="128" presetID="12" presetClass="entr" presetSubtype="2" fill="hold" grpId="0" nodeType="afterEffect">
                                  <p:stCondLst>
                                    <p:cond delay="0"/>
                                  </p:stCondLst>
                                  <p:childTnLst>
                                    <p:set>
                                      <p:cBhvr>
                                        <p:cTn id="129" dur="1" fill="hold">
                                          <p:stCondLst>
                                            <p:cond delay="0"/>
                                          </p:stCondLst>
                                        </p:cTn>
                                        <p:tgtEl>
                                          <p:spTgt spid="75"/>
                                        </p:tgtEl>
                                        <p:attrNameLst>
                                          <p:attrName>style.visibility</p:attrName>
                                        </p:attrNameLst>
                                      </p:cBhvr>
                                      <p:to>
                                        <p:strVal val="visible"/>
                                      </p:to>
                                    </p:set>
                                    <p:animEffect transition="in" filter="slide(fromRight)">
                                      <p:cBhvr>
                                        <p:cTn id="130" dur="500"/>
                                        <p:tgtEl>
                                          <p:spTgt spid="75"/>
                                        </p:tgtEl>
                                      </p:cBhvr>
                                    </p:animEffect>
                                  </p:childTnLst>
                                </p:cTn>
                              </p:par>
                              <p:par>
                                <p:cTn id="131" presetID="12" presetClass="entr" presetSubtype="2" fill="hold" grpId="0" nodeType="withEffect">
                                  <p:stCondLst>
                                    <p:cond delay="0"/>
                                  </p:stCondLst>
                                  <p:childTnLst>
                                    <p:set>
                                      <p:cBhvr>
                                        <p:cTn id="132" dur="1" fill="hold">
                                          <p:stCondLst>
                                            <p:cond delay="0"/>
                                          </p:stCondLst>
                                        </p:cTn>
                                        <p:tgtEl>
                                          <p:spTgt spid="67"/>
                                        </p:tgtEl>
                                        <p:attrNameLst>
                                          <p:attrName>style.visibility</p:attrName>
                                        </p:attrNameLst>
                                      </p:cBhvr>
                                      <p:to>
                                        <p:strVal val="visible"/>
                                      </p:to>
                                    </p:set>
                                    <p:animEffect transition="in" filter="slide(fromRight)">
                                      <p:cBhvr>
                                        <p:cTn id="133"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48" grpId="0"/>
      <p:bldP spid="49" grpId="0"/>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4" grpId="0"/>
      <p:bldP spid="75" grpId="0"/>
      <p:bldP spid="76" grpId="0"/>
      <p:bldP spid="7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 递归下降分析程序的错误处理</a:t>
            </a:r>
          </a:p>
          <a:p>
            <a:pPr lvl="1"/>
            <a:r>
              <a:rPr lang="zh-CN" altLang="en-US" dirty="0"/>
              <a:t> 短语层恢复举例</a:t>
            </a:r>
          </a:p>
          <a:p>
            <a:endParaRPr lang="zh-CN" altLang="en-US" dirty="0"/>
          </a:p>
        </p:txBody>
      </p:sp>
      <p:sp>
        <p:nvSpPr>
          <p:cNvPr id="4" name="Rectangle 8"/>
          <p:cNvSpPr>
            <a:spLocks noChangeArrowheads="1"/>
          </p:cNvSpPr>
          <p:nvPr/>
        </p:nvSpPr>
        <p:spPr bwMode="auto">
          <a:xfrm>
            <a:off x="827088" y="2276872"/>
            <a:ext cx="8243887" cy="4585871"/>
          </a:xfrm>
          <a:prstGeom prst="rect">
            <a:avLst/>
          </a:prstGeom>
          <a:noFill/>
          <a:ln w="9525" algn="ctr">
            <a:noFill/>
            <a:miter lim="800000"/>
            <a:headEnd/>
            <a:tailEnd/>
          </a:ln>
        </p:spPr>
        <p:txBody>
          <a:bodyPr anchor="ctr">
            <a:spAutoFit/>
          </a:bodyPr>
          <a:lstStyle/>
          <a:p>
            <a:pPr indent="266700"/>
            <a:r>
              <a:rPr lang="en-US" altLang="zh-CN" dirty="0"/>
              <a:t>procedure </a:t>
            </a:r>
            <a:r>
              <a:rPr lang="en-US" altLang="zh-CN" dirty="0" err="1"/>
              <a:t>ParseB</a:t>
            </a:r>
            <a:r>
              <a:rPr lang="en-US" altLang="zh-CN" dirty="0"/>
              <a:t> ( </a:t>
            </a:r>
            <a:r>
              <a:rPr lang="en-US" altLang="zh-CN" dirty="0" err="1"/>
              <a:t>EndSym</a:t>
            </a:r>
            <a:r>
              <a:rPr lang="en-US" altLang="zh-CN" dirty="0"/>
              <a:t> )</a:t>
            </a:r>
          </a:p>
          <a:p>
            <a:pPr indent="266700"/>
            <a:r>
              <a:rPr lang="en-US" altLang="zh-CN" dirty="0"/>
              <a:t>{  </a:t>
            </a:r>
          </a:p>
          <a:p>
            <a:pPr indent="266700"/>
            <a:r>
              <a:rPr lang="en-US" altLang="zh-CN" dirty="0"/>
              <a:t>   if ( </a:t>
            </a:r>
            <a:r>
              <a:rPr lang="en-US" altLang="zh-CN" dirty="0" err="1"/>
              <a:t>lookahead</a:t>
            </a:r>
            <a:r>
              <a:rPr lang="en-US" altLang="zh-CN" dirty="0"/>
              <a:t> </a:t>
            </a:r>
            <a:r>
              <a:rPr lang="en-US" altLang="zh-CN" dirty="0">
                <a:sym typeface="Symbol" pitchFamily="18" charset="2"/>
              </a:rPr>
              <a:t> </a:t>
            </a:r>
            <a:r>
              <a:rPr lang="en-US" altLang="zh-CN" dirty="0"/>
              <a:t>{ ‘[’, ‘(’ } )</a:t>
            </a:r>
            <a:r>
              <a:rPr lang="en-US" altLang="zh-CN" sz="2400" dirty="0"/>
              <a:t>  </a:t>
            </a:r>
            <a:r>
              <a:rPr lang="en-US" altLang="zh-CN" dirty="0"/>
              <a:t>{     </a:t>
            </a:r>
          </a:p>
          <a:p>
            <a:pPr indent="266700"/>
            <a:r>
              <a:rPr lang="en-US" altLang="zh-CN" dirty="0"/>
              <a:t>            </a:t>
            </a:r>
            <a:r>
              <a:rPr lang="zh-CN" altLang="en-US" b="1" dirty="0"/>
              <a:t>报错</a:t>
            </a:r>
            <a:r>
              <a:rPr lang="en-US" altLang="zh-CN" b="1" dirty="0"/>
              <a:t>;</a:t>
            </a:r>
            <a:r>
              <a:rPr lang="en-US" altLang="zh-CN" dirty="0"/>
              <a:t>  </a:t>
            </a:r>
            <a:r>
              <a:rPr lang="zh-CN" altLang="en-US" b="1" dirty="0"/>
              <a:t>跳过 </a:t>
            </a:r>
            <a:r>
              <a:rPr lang="en-US" altLang="zh-CN" dirty="0"/>
              <a:t>S</a:t>
            </a:r>
            <a:r>
              <a:rPr lang="en-US" altLang="zh-CN" dirty="0">
                <a:solidFill>
                  <a:srgbClr val="800080"/>
                </a:solidFill>
              </a:rPr>
              <a:t> </a:t>
            </a:r>
            <a:r>
              <a:rPr lang="zh-CN" altLang="en-US" b="1" dirty="0"/>
              <a:t>之外的单词</a:t>
            </a:r>
            <a:r>
              <a:rPr lang="en-US" altLang="zh-CN" dirty="0"/>
              <a:t>;     /* S = { ‘[’, ‘(’ } ∪</a:t>
            </a:r>
            <a:r>
              <a:rPr lang="en-US" altLang="zh-CN" dirty="0" err="1"/>
              <a:t>EndSym</a:t>
            </a:r>
            <a:r>
              <a:rPr lang="en-US" altLang="zh-CN" dirty="0"/>
              <a:t> */</a:t>
            </a:r>
          </a:p>
          <a:p>
            <a:pPr indent="266700"/>
            <a:r>
              <a:rPr lang="en-US" altLang="zh-CN" dirty="0"/>
              <a:t>   }</a:t>
            </a:r>
          </a:p>
          <a:p>
            <a:pPr indent="266700"/>
            <a:r>
              <a:rPr lang="en-US" altLang="zh-CN" dirty="0"/>
              <a:t>  while ( </a:t>
            </a:r>
            <a:r>
              <a:rPr lang="en-US" altLang="zh-CN" dirty="0" err="1"/>
              <a:t>lookahead</a:t>
            </a:r>
            <a:r>
              <a:rPr lang="en-US" altLang="zh-CN" dirty="0"/>
              <a:t> </a:t>
            </a:r>
            <a:r>
              <a:rPr lang="en-US" altLang="zh-CN" dirty="0">
                <a:sym typeface="Symbol" pitchFamily="18" charset="2"/>
              </a:rPr>
              <a:t> </a:t>
            </a:r>
            <a:r>
              <a:rPr lang="en-US" altLang="zh-CN" dirty="0"/>
              <a:t>{ ‘[’, ‘(’ }  ) {</a:t>
            </a:r>
          </a:p>
          <a:p>
            <a:pPr indent="266700"/>
            <a:r>
              <a:rPr lang="en-US" altLang="zh-CN" dirty="0"/>
              <a:t>     if (</a:t>
            </a:r>
            <a:r>
              <a:rPr lang="en-US" altLang="zh-CN" dirty="0" err="1"/>
              <a:t>lookahead</a:t>
            </a:r>
            <a:r>
              <a:rPr lang="en-US" altLang="zh-CN" dirty="0"/>
              <a:t> == ‘[’) </a:t>
            </a:r>
          </a:p>
          <a:p>
            <a:pPr indent="266700"/>
            <a:r>
              <a:rPr lang="en-US" altLang="zh-CN" dirty="0"/>
              <a:t>         { </a:t>
            </a:r>
            <a:r>
              <a:rPr lang="en-US" altLang="zh-CN" dirty="0" err="1"/>
              <a:t>MatchToken</a:t>
            </a:r>
            <a:r>
              <a:rPr lang="en-US" altLang="zh-CN" dirty="0"/>
              <a:t>(‘[’); </a:t>
            </a:r>
            <a:r>
              <a:rPr lang="en-US" altLang="zh-CN" dirty="0" err="1"/>
              <a:t>ParseA</a:t>
            </a:r>
            <a:r>
              <a:rPr lang="en-US" altLang="zh-CN" dirty="0"/>
              <a:t> ( </a:t>
            </a:r>
            <a:r>
              <a:rPr lang="en-US" altLang="zh-CN" dirty="0" err="1"/>
              <a:t>EndSym</a:t>
            </a:r>
            <a:r>
              <a:rPr lang="en-US" altLang="zh-CN" dirty="0"/>
              <a:t>∪{‘]’} ); </a:t>
            </a:r>
            <a:r>
              <a:rPr lang="en-US" altLang="zh-CN" dirty="0" err="1"/>
              <a:t>MatchToken</a:t>
            </a:r>
            <a:r>
              <a:rPr lang="en-US" altLang="zh-CN" dirty="0"/>
              <a:t>(‘]’; }</a:t>
            </a:r>
            <a:r>
              <a:rPr lang="en-US" altLang="zh-CN" sz="2400" dirty="0"/>
              <a:t> </a:t>
            </a:r>
          </a:p>
          <a:p>
            <a:pPr indent="266700"/>
            <a:r>
              <a:rPr lang="en-US" altLang="zh-CN" sz="2400" dirty="0"/>
              <a:t>    </a:t>
            </a:r>
            <a:r>
              <a:rPr lang="en-US" altLang="zh-CN" dirty="0"/>
              <a:t>else { </a:t>
            </a:r>
            <a:r>
              <a:rPr lang="en-US" altLang="zh-CN" dirty="0" err="1"/>
              <a:t>MatchToken</a:t>
            </a:r>
            <a:r>
              <a:rPr lang="en-US" altLang="zh-CN" dirty="0"/>
              <a:t>(‘(‘); </a:t>
            </a:r>
            <a:r>
              <a:rPr lang="en-US" altLang="zh-CN" dirty="0" err="1"/>
              <a:t>ParseA</a:t>
            </a:r>
            <a:r>
              <a:rPr lang="en-US" altLang="zh-CN" dirty="0"/>
              <a:t> ( </a:t>
            </a:r>
            <a:r>
              <a:rPr lang="en-US" altLang="zh-CN" dirty="0" err="1"/>
              <a:t>EndSym</a:t>
            </a:r>
            <a:r>
              <a:rPr lang="en-US" altLang="zh-CN" dirty="0"/>
              <a:t>∪{‘)’} ); </a:t>
            </a:r>
            <a:r>
              <a:rPr lang="en-US" altLang="zh-CN" dirty="0" err="1"/>
              <a:t>MatchToken</a:t>
            </a:r>
            <a:r>
              <a:rPr lang="en-US" altLang="zh-CN" dirty="0"/>
              <a:t>(‘)’); }</a:t>
            </a:r>
          </a:p>
          <a:p>
            <a:pPr indent="266700"/>
            <a:r>
              <a:rPr lang="en-US" altLang="zh-CN" dirty="0"/>
              <a:t>     if ( </a:t>
            </a:r>
            <a:r>
              <a:rPr lang="en-US" altLang="zh-CN" dirty="0" err="1"/>
              <a:t>lookahead</a:t>
            </a:r>
            <a:r>
              <a:rPr lang="en-US" altLang="zh-CN" dirty="0"/>
              <a:t> </a:t>
            </a:r>
            <a:r>
              <a:rPr lang="en-US" altLang="zh-CN" dirty="0">
                <a:sym typeface="Symbol" pitchFamily="18" charset="2"/>
              </a:rPr>
              <a:t> </a:t>
            </a:r>
            <a:r>
              <a:rPr lang="en-US" altLang="zh-CN" dirty="0" err="1"/>
              <a:t>EndSym</a:t>
            </a:r>
            <a:r>
              <a:rPr lang="en-US" altLang="zh-CN" dirty="0"/>
              <a:t> )  {</a:t>
            </a:r>
          </a:p>
          <a:p>
            <a:pPr indent="266700"/>
            <a:r>
              <a:rPr lang="en-US" altLang="zh-CN" dirty="0"/>
              <a:t>                </a:t>
            </a:r>
            <a:r>
              <a:rPr lang="zh-CN" altLang="en-US" b="1" dirty="0"/>
              <a:t>报错</a:t>
            </a:r>
            <a:r>
              <a:rPr lang="en-US" altLang="zh-CN" b="1" dirty="0"/>
              <a:t>;</a:t>
            </a:r>
            <a:r>
              <a:rPr lang="en-US" altLang="zh-CN" dirty="0"/>
              <a:t>  </a:t>
            </a:r>
            <a:r>
              <a:rPr lang="zh-CN" altLang="en-US" b="1" dirty="0"/>
              <a:t>跳过 </a:t>
            </a:r>
            <a:r>
              <a:rPr lang="en-US" altLang="zh-CN" dirty="0"/>
              <a:t>S</a:t>
            </a:r>
            <a:r>
              <a:rPr lang="en-US" altLang="zh-CN" dirty="0">
                <a:solidFill>
                  <a:srgbClr val="800080"/>
                </a:solidFill>
              </a:rPr>
              <a:t> </a:t>
            </a:r>
            <a:r>
              <a:rPr lang="zh-CN" altLang="en-US" b="1" dirty="0"/>
              <a:t>之外的单词</a:t>
            </a:r>
            <a:r>
              <a:rPr lang="en-US" altLang="zh-CN" dirty="0"/>
              <a:t>;     /* S = { ‘[’, ‘(’ } ∪</a:t>
            </a:r>
            <a:r>
              <a:rPr lang="en-US" altLang="zh-CN" dirty="0" err="1"/>
              <a:t>EndSym</a:t>
            </a:r>
            <a:r>
              <a:rPr lang="en-US" altLang="zh-CN" dirty="0"/>
              <a:t> */ </a:t>
            </a:r>
          </a:p>
          <a:p>
            <a:pPr indent="266700"/>
            <a:r>
              <a:rPr lang="en-US" altLang="zh-CN" dirty="0"/>
              <a:t>         }</a:t>
            </a:r>
          </a:p>
          <a:p>
            <a:pPr indent="266700"/>
            <a:r>
              <a:rPr lang="en-US" altLang="zh-CN" dirty="0"/>
              <a:t>  }</a:t>
            </a:r>
          </a:p>
          <a:p>
            <a:pPr indent="266700"/>
            <a:r>
              <a:rPr lang="en-US" altLang="zh-CN" dirty="0"/>
              <a:t>}</a:t>
            </a:r>
          </a:p>
        </p:txBody>
      </p:sp>
      <p:sp>
        <p:nvSpPr>
          <p:cNvPr id="5" name="Rectangle 9"/>
          <p:cNvSpPr>
            <a:spLocks noChangeArrowheads="1"/>
          </p:cNvSpPr>
          <p:nvPr/>
        </p:nvSpPr>
        <p:spPr bwMode="auto">
          <a:xfrm>
            <a:off x="6516688" y="1781696"/>
            <a:ext cx="2232025" cy="711200"/>
          </a:xfrm>
          <a:prstGeom prst="rect">
            <a:avLst/>
          </a:prstGeom>
          <a:noFill/>
          <a:ln w="9525">
            <a:solidFill>
              <a:srgbClr val="333399"/>
            </a:solidFill>
            <a:prstDash val="dash"/>
            <a:miter lim="800000"/>
            <a:headEnd/>
            <a:tailEnd/>
          </a:ln>
        </p:spPr>
        <p:txBody>
          <a:bodyPr>
            <a:spAutoFit/>
          </a:bodyPr>
          <a:lstStyle/>
          <a:p>
            <a:pPr>
              <a:buClrTx/>
              <a:buFont typeface="Symbol" pitchFamily="18" charset="2"/>
              <a:buNone/>
            </a:pPr>
            <a:r>
              <a:rPr lang="en-US" altLang="zh-CN" i="1" dirty="0"/>
              <a:t>B </a:t>
            </a:r>
            <a:r>
              <a:rPr lang="en-US" altLang="zh-CN" dirty="0">
                <a:sym typeface="Symbol" pitchFamily="18" charset="2"/>
              </a:rPr>
              <a:t></a:t>
            </a:r>
            <a:r>
              <a:rPr lang="en-US" altLang="zh-CN" i="1" dirty="0"/>
              <a:t> </a:t>
            </a:r>
            <a:r>
              <a:rPr lang="en-US" altLang="zh-CN" dirty="0"/>
              <a:t>[</a:t>
            </a:r>
            <a:r>
              <a:rPr lang="en-US" altLang="zh-CN" i="1" dirty="0"/>
              <a:t> A </a:t>
            </a:r>
            <a:r>
              <a:rPr lang="en-US" altLang="zh-CN" dirty="0"/>
              <a:t>]</a:t>
            </a:r>
            <a:r>
              <a:rPr lang="en-US" altLang="zh-CN" i="1" dirty="0"/>
              <a:t> </a:t>
            </a:r>
            <a:r>
              <a:rPr lang="en-US" altLang="zh-CN" dirty="0">
                <a:sym typeface="Symbol" pitchFamily="18" charset="2"/>
              </a:rPr>
              <a:t> </a:t>
            </a:r>
            <a:r>
              <a:rPr lang="en-US" altLang="zh-CN" dirty="0"/>
              <a:t>(</a:t>
            </a:r>
            <a:r>
              <a:rPr lang="en-US" altLang="zh-CN" i="1" dirty="0"/>
              <a:t> A </a:t>
            </a:r>
            <a:r>
              <a:rPr lang="en-US" altLang="zh-CN" dirty="0"/>
              <a:t>) </a:t>
            </a:r>
            <a:endParaRPr lang="en-US" altLang="zh-CN" i="1" dirty="0"/>
          </a:p>
          <a:p>
            <a:pPr>
              <a:buClrTx/>
              <a:buFont typeface="Symbol" pitchFamily="18" charset="2"/>
              <a:buNone/>
            </a:pPr>
            <a:r>
              <a:rPr lang="en-US" altLang="zh-CN" i="1" dirty="0"/>
              <a:t>A </a:t>
            </a:r>
            <a:r>
              <a:rPr lang="en-US" altLang="zh-CN" dirty="0">
                <a:sym typeface="Symbol" pitchFamily="18" charset="2"/>
              </a:rPr>
              <a:t></a:t>
            </a:r>
            <a:r>
              <a:rPr lang="en-US" altLang="zh-CN" i="1" dirty="0"/>
              <a:t> a</a:t>
            </a:r>
          </a:p>
        </p:txBody>
      </p:sp>
      <p:sp>
        <p:nvSpPr>
          <p:cNvPr id="6" name="灯片编号占位符 5"/>
          <p:cNvSpPr>
            <a:spLocks noGrp="1"/>
          </p:cNvSpPr>
          <p:nvPr>
            <p:ph type="sldNum" sz="quarter" idx="12"/>
          </p:nvPr>
        </p:nvSpPr>
        <p:spPr/>
        <p:txBody>
          <a:bodyPr/>
          <a:lstStyle/>
          <a:p>
            <a:fld id="{1B43473F-AE3F-4D1C-9C4F-7AD3C17AC1AD}" type="slidenum">
              <a:rPr lang="zh-CN" altLang="en-US" smtClean="0">
                <a:solidFill>
                  <a:srgbClr val="3F3F3F"/>
                </a:solidFill>
              </a:rPr>
              <a:pPr/>
              <a:t>86</a:t>
            </a:fld>
            <a:endParaRPr lang="zh-CN" altLang="en-US">
              <a:solidFill>
                <a:srgbClr val="3F3F3F"/>
              </a:solidFill>
            </a:endParaRPr>
          </a:p>
        </p:txBody>
      </p:sp>
    </p:spTree>
    <p:extLst>
      <p:ext uri="{BB962C8B-B14F-4D97-AF65-F5344CB8AC3E}">
        <p14:creationId xmlns:p14="http://schemas.microsoft.com/office/powerpoint/2010/main" val="2135730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p:cNvSpPr>
            <a:spLocks noGrp="1"/>
          </p:cNvSpPr>
          <p:nvPr>
            <p:ph idx="1"/>
          </p:nvPr>
        </p:nvSpPr>
        <p:spPr/>
        <p:txBody>
          <a:bodyPr/>
          <a:lstStyle/>
          <a:p>
            <a:r>
              <a:rPr lang="zh-CN" altLang="en-US" dirty="0"/>
              <a:t>练习：</a:t>
            </a:r>
            <a:r>
              <a:rPr lang="en-US" altLang="zh-CN" dirty="0"/>
              <a:t>P99-P102</a:t>
            </a:r>
          </a:p>
          <a:p>
            <a:r>
              <a:rPr lang="en-US" altLang="zh-CN" dirty="0"/>
              <a:t>1-8</a:t>
            </a:r>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t>87</a:t>
            </a:fld>
            <a:endParaRPr lang="zh-CN" altLang="en-US"/>
          </a:p>
        </p:txBody>
      </p:sp>
    </p:spTree>
    <p:extLst>
      <p:ext uri="{BB962C8B-B14F-4D97-AF65-F5344CB8AC3E}">
        <p14:creationId xmlns:p14="http://schemas.microsoft.com/office/powerpoint/2010/main" val="299086850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本章小结</a:t>
            </a:r>
          </a:p>
        </p:txBody>
      </p:sp>
      <p:sp>
        <p:nvSpPr>
          <p:cNvPr id="3" name="内容占位符 2"/>
          <p:cNvSpPr>
            <a:spLocks noGrp="1"/>
          </p:cNvSpPr>
          <p:nvPr>
            <p:ph idx="1"/>
          </p:nvPr>
        </p:nvSpPr>
        <p:spPr/>
        <p:txBody>
          <a:bodyPr/>
          <a:lstStyle/>
          <a:p>
            <a:pPr>
              <a:lnSpc>
                <a:spcPct val="90000"/>
              </a:lnSpc>
            </a:pPr>
            <a:r>
              <a:rPr lang="zh-CN" altLang="en-US" dirty="0">
                <a:latin typeface="宋体" pitchFamily="2" charset="-122"/>
              </a:rPr>
              <a:t>本章内容</a:t>
            </a:r>
            <a:endParaRPr lang="en-US" altLang="zh-CN" dirty="0">
              <a:latin typeface="宋体" pitchFamily="2" charset="-122"/>
            </a:endParaRPr>
          </a:p>
          <a:p>
            <a:pPr lvl="1">
              <a:lnSpc>
                <a:spcPct val="90000"/>
              </a:lnSpc>
            </a:pPr>
            <a:r>
              <a:rPr lang="zh-CN" altLang="en-US" dirty="0">
                <a:latin typeface="宋体" pitchFamily="2" charset="-122"/>
              </a:rPr>
              <a:t>从识别符号出发，不断建立直接推导，试图构造一个推导序列，最终由它推导出与输入符号串相同的符号串。从语法树的角度看，自顶向下分析过程是</a:t>
            </a:r>
            <a:r>
              <a:rPr lang="zh-CN" altLang="en-US" dirty="0">
                <a:solidFill>
                  <a:srgbClr val="FF0000"/>
                </a:solidFill>
                <a:latin typeface="宋体" pitchFamily="2" charset="-122"/>
              </a:rPr>
              <a:t>以识别符号为根结点</a:t>
            </a:r>
            <a:r>
              <a:rPr lang="zh-CN" altLang="en-US" dirty="0">
                <a:latin typeface="宋体" pitchFamily="2" charset="-122"/>
              </a:rPr>
              <a:t>，试图</a:t>
            </a:r>
            <a:r>
              <a:rPr lang="zh-CN" altLang="en-US" dirty="0">
                <a:solidFill>
                  <a:srgbClr val="FF0000"/>
                </a:solidFill>
                <a:latin typeface="宋体" pitchFamily="2" charset="-122"/>
              </a:rPr>
              <a:t>向下构造一棵语法树</a:t>
            </a:r>
            <a:r>
              <a:rPr lang="zh-CN" altLang="en-US" dirty="0">
                <a:latin typeface="宋体" pitchFamily="2" charset="-122"/>
              </a:rPr>
              <a:t>，使其</a:t>
            </a:r>
            <a:r>
              <a:rPr lang="zh-CN" altLang="en-US" dirty="0">
                <a:solidFill>
                  <a:srgbClr val="FF0000"/>
                </a:solidFill>
                <a:latin typeface="宋体" pitchFamily="2" charset="-122"/>
              </a:rPr>
              <a:t>末端结点符号串正好与输入符号串</a:t>
            </a:r>
            <a:r>
              <a:rPr lang="zh-CN" altLang="en-US" dirty="0">
                <a:latin typeface="宋体" pitchFamily="2" charset="-122"/>
              </a:rPr>
              <a:t>相同。</a:t>
            </a:r>
          </a:p>
          <a:p>
            <a:pPr>
              <a:lnSpc>
                <a:spcPct val="90000"/>
              </a:lnSpc>
            </a:pPr>
            <a:r>
              <a:rPr lang="zh-CN" altLang="en-US" dirty="0">
                <a:latin typeface="宋体" pitchFamily="2" charset="-122"/>
              </a:rPr>
              <a:t>基本知识点</a:t>
            </a:r>
            <a:endParaRPr lang="en-US" altLang="zh-CN" dirty="0">
              <a:latin typeface="宋体" pitchFamily="2" charset="-122"/>
            </a:endParaRPr>
          </a:p>
          <a:p>
            <a:pPr lvl="1">
              <a:lnSpc>
                <a:spcPct val="90000"/>
              </a:lnSpc>
            </a:pPr>
            <a:r>
              <a:rPr lang="zh-CN" altLang="en-US" dirty="0">
                <a:latin typeface="宋体" pitchFamily="2" charset="-122"/>
              </a:rPr>
              <a:t>自上而下语法分析的基本思想和面临的问题，消除左递归的方法，避免回溯对文法的要求，递归子程序法，</a:t>
            </a:r>
            <a:r>
              <a:rPr lang="en-US" altLang="zh-CN" dirty="0">
                <a:latin typeface="宋体" pitchFamily="2" charset="-122"/>
              </a:rPr>
              <a:t>LL(1)</a:t>
            </a:r>
            <a:r>
              <a:rPr lang="zh-CN" altLang="en-US" dirty="0">
                <a:latin typeface="宋体" pitchFamily="2" charset="-122"/>
              </a:rPr>
              <a:t>分析法。</a:t>
            </a:r>
          </a:p>
          <a:p>
            <a:pPr>
              <a:lnSpc>
                <a:spcPct val="90000"/>
              </a:lnSpc>
            </a:pPr>
            <a:r>
              <a:rPr lang="zh-CN" altLang="en-US" dirty="0">
                <a:latin typeface="宋体" pitchFamily="2" charset="-122"/>
              </a:rPr>
              <a:t>重点：消除左递归的方法，递归子程序的构造方法，</a:t>
            </a:r>
            <a:r>
              <a:rPr lang="en-US" altLang="zh-CN" dirty="0">
                <a:latin typeface="宋体" pitchFamily="2" charset="-122"/>
              </a:rPr>
              <a:t>LL(1)</a:t>
            </a:r>
            <a:r>
              <a:rPr lang="zh-CN" altLang="en-US" dirty="0">
                <a:latin typeface="宋体" pitchFamily="2" charset="-122"/>
              </a:rPr>
              <a:t>文法，</a:t>
            </a:r>
            <a:r>
              <a:rPr lang="en-US" altLang="zh-CN" dirty="0">
                <a:latin typeface="宋体" pitchFamily="2" charset="-122"/>
              </a:rPr>
              <a:t>LL(1)</a:t>
            </a:r>
            <a:r>
              <a:rPr lang="zh-CN" altLang="en-US" dirty="0">
                <a:latin typeface="宋体" pitchFamily="2" charset="-122"/>
              </a:rPr>
              <a:t>分析表的构造方法。</a:t>
            </a:r>
          </a:p>
          <a:p>
            <a:pPr>
              <a:lnSpc>
                <a:spcPct val="90000"/>
              </a:lnSpc>
            </a:pPr>
            <a:r>
              <a:rPr lang="zh-CN" altLang="en-US" dirty="0">
                <a:latin typeface="宋体" pitchFamily="2" charset="-122"/>
              </a:rPr>
              <a:t>难点：符号串的</a:t>
            </a:r>
            <a:r>
              <a:rPr lang="en-US" altLang="zh-CN" dirty="0">
                <a:latin typeface="宋体" pitchFamily="2" charset="-122"/>
              </a:rPr>
              <a:t>FIRST</a:t>
            </a:r>
            <a:r>
              <a:rPr lang="zh-CN" altLang="en-US" dirty="0">
                <a:latin typeface="宋体" pitchFamily="2" charset="-122"/>
              </a:rPr>
              <a:t>集合的求法，文法非终结符号</a:t>
            </a:r>
            <a:r>
              <a:rPr lang="en-US" altLang="zh-CN" dirty="0">
                <a:latin typeface="宋体" pitchFamily="2" charset="-122"/>
              </a:rPr>
              <a:t>FOLLOW</a:t>
            </a:r>
            <a:r>
              <a:rPr lang="zh-CN" altLang="en-US" dirty="0">
                <a:latin typeface="宋体" pitchFamily="2" charset="-122"/>
              </a:rPr>
              <a:t>集合的求法以及</a:t>
            </a:r>
            <a:r>
              <a:rPr lang="en-US" altLang="zh-CN" dirty="0">
                <a:latin typeface="宋体" pitchFamily="2" charset="-122"/>
              </a:rPr>
              <a:t>LL(1)</a:t>
            </a:r>
            <a:r>
              <a:rPr lang="zh-CN" altLang="en-US" dirty="0">
                <a:latin typeface="宋体" pitchFamily="2" charset="-122"/>
              </a:rPr>
              <a:t>分析</a:t>
            </a:r>
            <a:r>
              <a:rPr lang="en-US" altLang="zh-CN" dirty="0">
                <a:latin typeface="宋体" pitchFamily="2" charset="-122"/>
              </a:rPr>
              <a:t>,</a:t>
            </a:r>
            <a:r>
              <a:rPr lang="zh-CN" altLang="en-US" dirty="0">
                <a:latin typeface="宋体" pitchFamily="2" charset="-122"/>
              </a:rPr>
              <a:t>表的构造。</a:t>
            </a:r>
          </a:p>
          <a:p>
            <a:endParaRPr lang="zh-CN" altLang="en-US" dirty="0"/>
          </a:p>
        </p:txBody>
      </p:sp>
      <p:sp>
        <p:nvSpPr>
          <p:cNvPr id="4" name="灯片编号占位符 3"/>
          <p:cNvSpPr>
            <a:spLocks noGrp="1"/>
          </p:cNvSpPr>
          <p:nvPr>
            <p:ph type="sldNum" sz="quarter" idx="12"/>
          </p:nvPr>
        </p:nvSpPr>
        <p:spPr/>
        <p:txBody>
          <a:bodyPr/>
          <a:lstStyle/>
          <a:p>
            <a:fld id="{1B43473F-AE3F-4D1C-9C4F-7AD3C17AC1AD}" type="slidenum">
              <a:rPr lang="zh-CN" altLang="en-US" smtClean="0"/>
              <a:t>88</a:t>
            </a:fld>
            <a:endParaRPr lang="zh-CN" altLang="en-US"/>
          </a:p>
        </p:txBody>
      </p:sp>
    </p:spTree>
    <p:extLst>
      <p:ext uri="{BB962C8B-B14F-4D97-AF65-F5344CB8AC3E}">
        <p14:creationId xmlns:p14="http://schemas.microsoft.com/office/powerpoint/2010/main" val="17635587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420888"/>
            <a:ext cx="9144000" cy="1200329"/>
          </a:xfrm>
          <a:prstGeom prst="rect">
            <a:avLst/>
          </a:prstGeom>
          <a:noFill/>
        </p:spPr>
        <p:txBody>
          <a:bodyPr wrap="square" rtlCol="0">
            <a:spAutoFit/>
          </a:bodyPr>
          <a:lstStyle/>
          <a:p>
            <a:pPr algn="ctr"/>
            <a:r>
              <a:rPr lang="zh-CN" altLang="en-US" sz="7200" dirty="0">
                <a:solidFill>
                  <a:srgbClr val="0066FF"/>
                </a:solidFill>
                <a:latin typeface="华文中宋" panose="02010600040101010101" pitchFamily="2" charset="-122"/>
                <a:ea typeface="华文中宋" panose="02010600040101010101" pitchFamily="2" charset="-122"/>
              </a:rPr>
              <a:t>谢谢听讲！</a:t>
            </a:r>
            <a:endParaRPr lang="en-US" altLang="zh-CN" sz="7200" dirty="0">
              <a:solidFill>
                <a:srgbClr val="0066FF"/>
              </a:solidFill>
              <a:latin typeface="华文中宋" panose="02010600040101010101" pitchFamily="2" charset="-122"/>
              <a:ea typeface="华文中宋" panose="02010600040101010101" pitchFamily="2" charset="-122"/>
            </a:endParaRPr>
          </a:p>
        </p:txBody>
      </p:sp>
      <p:sp>
        <p:nvSpPr>
          <p:cNvPr id="2" name="灯片编号占位符 1"/>
          <p:cNvSpPr>
            <a:spLocks noGrp="1"/>
          </p:cNvSpPr>
          <p:nvPr>
            <p:ph type="sldNum" sz="quarter" idx="12"/>
          </p:nvPr>
        </p:nvSpPr>
        <p:spPr/>
        <p:txBody>
          <a:bodyPr/>
          <a:lstStyle/>
          <a:p>
            <a:fld id="{1B43473F-AE3F-4D1C-9C4F-7AD3C17AC1AD}" type="slidenum">
              <a:rPr lang="zh-CN" altLang="en-US" smtClean="0"/>
              <a:t>89</a:t>
            </a:fld>
            <a:endParaRPr lang="zh-CN" altLang="en-US"/>
          </a:p>
        </p:txBody>
      </p:sp>
    </p:spTree>
    <p:extLst>
      <p:ext uri="{BB962C8B-B14F-4D97-AF65-F5344CB8AC3E}">
        <p14:creationId xmlns:p14="http://schemas.microsoft.com/office/powerpoint/2010/main" val="1081150330"/>
      </p:ext>
    </p:extLst>
  </p:cSld>
  <p:clrMapOvr>
    <a:masterClrMapping/>
  </p:clrMapOvr>
</p:sld>
</file>

<file path=ppt/theme/theme1.xml><?xml version="1.0" encoding="utf-8"?>
<a:theme xmlns:a="http://schemas.openxmlformats.org/drawingml/2006/main" name="A000120141114A01PWBG">
  <a:themeElements>
    <a:clrScheme name="自定义 1">
      <a:dk1>
        <a:srgbClr val="3F3F3F"/>
      </a:dk1>
      <a:lt1>
        <a:sysClr val="window" lastClr="FFFFFF"/>
      </a:lt1>
      <a:dk2>
        <a:srgbClr val="3F3F3F"/>
      </a:dk2>
      <a:lt2>
        <a:srgbClr val="FFFFFF"/>
      </a:lt2>
      <a:accent1>
        <a:srgbClr val="E64823"/>
      </a:accent1>
      <a:accent2>
        <a:srgbClr val="F8931D"/>
      </a:accent2>
      <a:accent3>
        <a:srgbClr val="CE8D3E"/>
      </a:accent3>
      <a:accent4>
        <a:srgbClr val="EC7016"/>
      </a:accent4>
      <a:accent5>
        <a:srgbClr val="FFCA08"/>
      </a:accent5>
      <a:accent6>
        <a:srgbClr val="9C6A6A"/>
      </a:accent6>
      <a:hlink>
        <a:srgbClr val="2998E3"/>
      </a:hlink>
      <a:folHlink>
        <a:srgbClr val="7F723D"/>
      </a:folHlink>
    </a:clrScheme>
    <a:fontScheme name="微软雅黑">
      <a:majorFont>
        <a:latin typeface="Arial"/>
        <a:ea typeface="微软雅黑"/>
        <a:cs typeface=""/>
      </a:majorFont>
      <a:minorFont>
        <a:latin typeface="Arial"/>
        <a:ea typeface="幼圆"/>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36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36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A000120141114A01PWBG">
  <a:themeElements>
    <a:clrScheme name="自定义 1">
      <a:dk1>
        <a:srgbClr val="3F3F3F"/>
      </a:dk1>
      <a:lt1>
        <a:sysClr val="window" lastClr="FFFFFF"/>
      </a:lt1>
      <a:dk2>
        <a:srgbClr val="3F3F3F"/>
      </a:dk2>
      <a:lt2>
        <a:srgbClr val="FFFFFF"/>
      </a:lt2>
      <a:accent1>
        <a:srgbClr val="E64823"/>
      </a:accent1>
      <a:accent2>
        <a:srgbClr val="F8931D"/>
      </a:accent2>
      <a:accent3>
        <a:srgbClr val="CE8D3E"/>
      </a:accent3>
      <a:accent4>
        <a:srgbClr val="EC7016"/>
      </a:accent4>
      <a:accent5>
        <a:srgbClr val="FFCA08"/>
      </a:accent5>
      <a:accent6>
        <a:srgbClr val="9C6A6A"/>
      </a:accent6>
      <a:hlink>
        <a:srgbClr val="2998E3"/>
      </a:hlink>
      <a:folHlink>
        <a:srgbClr val="7F723D"/>
      </a:folHlink>
    </a:clrScheme>
    <a:fontScheme name="微软雅黑">
      <a:majorFont>
        <a:latin typeface="Arial"/>
        <a:ea typeface="微软雅黑"/>
        <a:cs typeface=""/>
      </a:majorFont>
      <a:minorFont>
        <a:latin typeface="Arial"/>
        <a:ea typeface="幼圆"/>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A000120151104A05PPBG</Template>
  <TotalTime>6174</TotalTime>
  <Words>8708</Words>
  <Application>Microsoft Office PowerPoint</Application>
  <PresentationFormat>全屏显示(4:3)</PresentationFormat>
  <Paragraphs>1217</Paragraphs>
  <Slides>89</Slides>
  <Notes>5</Notes>
  <HiddenSlides>0</HiddenSlides>
  <MMClips>0</MMClips>
  <ScaleCrop>false</ScaleCrop>
  <HeadingPairs>
    <vt:vector size="8" baseType="variant">
      <vt:variant>
        <vt:lpstr>已用的字体</vt:lpstr>
      </vt:variant>
      <vt:variant>
        <vt:i4>19</vt:i4>
      </vt:variant>
      <vt:variant>
        <vt:lpstr>主题</vt:lpstr>
      </vt:variant>
      <vt:variant>
        <vt:i4>3</vt:i4>
      </vt:variant>
      <vt:variant>
        <vt:lpstr>嵌入 OLE 服务器</vt:lpstr>
      </vt:variant>
      <vt:variant>
        <vt:i4>3</vt:i4>
      </vt:variant>
      <vt:variant>
        <vt:lpstr>幻灯片标题</vt:lpstr>
      </vt:variant>
      <vt:variant>
        <vt:i4>89</vt:i4>
      </vt:variant>
    </vt:vector>
  </HeadingPairs>
  <TitlesOfParts>
    <vt:vector size="114" baseType="lpstr">
      <vt:lpstr>仿宋_GB2312</vt:lpstr>
      <vt:lpstr>黑体</vt:lpstr>
      <vt:lpstr>华文楷体</vt:lpstr>
      <vt:lpstr>华文细黑</vt:lpstr>
      <vt:lpstr>华文行楷</vt:lpstr>
      <vt:lpstr>华文中宋</vt:lpstr>
      <vt:lpstr>楷体_GB2312</vt:lpstr>
      <vt:lpstr>宋体</vt:lpstr>
      <vt:lpstr>微软雅黑</vt:lpstr>
      <vt:lpstr>幼圆</vt:lpstr>
      <vt:lpstr>Arial</vt:lpstr>
      <vt:lpstr>Calibri</vt:lpstr>
      <vt:lpstr>Cambria Math</vt:lpstr>
      <vt:lpstr>Comic Sans MS</vt:lpstr>
      <vt:lpstr>Symbol</vt:lpstr>
      <vt:lpstr>Tahoma</vt:lpstr>
      <vt:lpstr>Times New Roman</vt:lpstr>
      <vt:lpstr>Wingdings</vt:lpstr>
      <vt:lpstr>Wingdings 2</vt:lpstr>
      <vt:lpstr>A000120141114A01PWBG</vt:lpstr>
      <vt:lpstr>Blends</vt:lpstr>
      <vt:lpstr>1_A000120141114A01PWBG</vt:lpstr>
      <vt:lpstr>BMP 图象</vt:lpstr>
      <vt:lpstr>BMP 图像</vt:lpstr>
      <vt:lpstr>Visio</vt:lpstr>
      <vt:lpstr>PowerPoint 演示文稿</vt:lpstr>
      <vt:lpstr>PowerPoint 演示文稿</vt:lpstr>
      <vt:lpstr>PowerPoint 演示文稿</vt:lpstr>
      <vt:lpstr>讲授主题：语法分析</vt:lpstr>
      <vt:lpstr>讲授主题：语法分析</vt:lpstr>
      <vt:lpstr>讲授主题：语法分析</vt:lpstr>
      <vt:lpstr>主讲内容</vt:lpstr>
      <vt:lpstr>第四章 自顶向下语法分析方法</vt:lpstr>
      <vt:lpstr>一、确定的自顶向下分析思想</vt:lpstr>
      <vt:lpstr>一、确定的自顶向下分析思想</vt:lpstr>
      <vt:lpstr>一、确定的自顶向下分析思想</vt:lpstr>
      <vt:lpstr>PowerPoint 演示文稿</vt:lpstr>
      <vt:lpstr>PowerPoint 演示文稿</vt:lpstr>
      <vt:lpstr>PowerPoint 演示文稿</vt:lpstr>
      <vt:lpstr>一、确定的自顶向下分析思想</vt:lpstr>
      <vt:lpstr>一、确定的自顶向下分析思想</vt:lpstr>
      <vt:lpstr>定义：首符号集FIRST</vt:lpstr>
      <vt:lpstr>定义：首符号集FIRST</vt:lpstr>
      <vt:lpstr>定义:后跟符号集FOLLOW</vt:lpstr>
      <vt:lpstr>定义:后跟符号集FOLLOW</vt:lpstr>
      <vt:lpstr>定义:后跟符号集FOLLOW</vt:lpstr>
      <vt:lpstr>回顾：回溯</vt:lpstr>
      <vt:lpstr>回顾：回溯</vt:lpstr>
      <vt:lpstr>第四章 自顶向下语法分析方法</vt:lpstr>
      <vt:lpstr>二、LL（1）分析</vt:lpstr>
      <vt:lpstr>二、LL（1）分析</vt:lpstr>
      <vt:lpstr>二、LL（1）分析</vt:lpstr>
      <vt:lpstr>二、LL（1）分析</vt:lpstr>
      <vt:lpstr>二、LL（1）分析</vt:lpstr>
      <vt:lpstr>二、LL（1）分析</vt:lpstr>
      <vt:lpstr>二、LL（1）分析</vt:lpstr>
      <vt:lpstr>二、LL（1）分析</vt:lpstr>
      <vt:lpstr>二、LL（1）分析</vt:lpstr>
      <vt:lpstr>二、LL（1）分析</vt:lpstr>
      <vt:lpstr>第四章 自顶向下语法分析方法</vt:lpstr>
      <vt:lpstr>三、非LL（1）和LL（1）等价变换</vt:lpstr>
      <vt:lpstr>三、非LL（1）和LL（1）等价变换</vt:lpstr>
      <vt:lpstr>三、非LL（1）和LL（1）等价变换</vt:lpstr>
      <vt:lpstr>PowerPoint 演示文稿</vt:lpstr>
      <vt:lpstr>三、非LL（1）和LL（1）等价变换</vt:lpstr>
      <vt:lpstr>三、非LL（1）和LL（1）等价变换</vt:lpstr>
      <vt:lpstr>三、非LL（1）和LL（1）等价变换</vt:lpstr>
      <vt:lpstr>三、非LL（1）和LL（1）等价变换</vt:lpstr>
      <vt:lpstr>第四章 自顶向下语法分析方法</vt:lpstr>
      <vt:lpstr>四、不确定的自顶向下分析思想</vt:lpstr>
      <vt:lpstr>四、不确定的自顶向下分析思想</vt:lpstr>
      <vt:lpstr>第四章 自顶向下语法分析方法</vt:lpstr>
      <vt:lpstr>五、LL（1）分析实现</vt:lpstr>
      <vt:lpstr>5-1递归下降分析法LL(1)实现</vt:lpstr>
      <vt:lpstr>5-1递归下降分析法</vt:lpstr>
      <vt:lpstr>PowerPoint 演示文稿</vt:lpstr>
      <vt:lpstr>5-1递归下降分析法</vt:lpstr>
      <vt:lpstr>5-1递归下降分析法</vt:lpstr>
      <vt:lpstr>5-1递归下降分析法</vt:lpstr>
      <vt:lpstr>5-1递归下降分析法</vt:lpstr>
      <vt:lpstr>5-1递归下降分析法</vt:lpstr>
      <vt:lpstr>5-1递归下降分析法</vt:lpstr>
      <vt:lpstr>5-1递归下降分析法</vt:lpstr>
      <vt:lpstr>5-1递归下降分析法</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5-2表驱动LL（1）分析程序</vt:lpstr>
      <vt:lpstr>PowerPoint 演示文稿</vt:lpstr>
      <vt:lpstr>第四章 自顶向下语法分析方法</vt:lpstr>
      <vt:lpstr>六、LL（1）分析中的出错处理(报名讲解)</vt:lpstr>
      <vt:lpstr>六、LL（1）分析中的出错处理</vt:lpstr>
      <vt:lpstr>六、LL（1）分析中的出错处理</vt:lpstr>
      <vt:lpstr>六、LL（1）分析中的出错处理</vt:lpstr>
      <vt:lpstr>PowerPoint 演示文稿</vt:lpstr>
      <vt:lpstr>PowerPoint 演示文稿</vt:lpstr>
      <vt:lpstr>练习：</vt:lpstr>
      <vt:lpstr>本章小结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nd4</dc:creator>
  <cp:lastModifiedBy>minicat</cp:lastModifiedBy>
  <cp:revision>556</cp:revision>
  <cp:lastPrinted>2024-02-20T11:56:23Z</cp:lastPrinted>
  <dcterms:created xsi:type="dcterms:W3CDTF">2015-01-15T01:53:08Z</dcterms:created>
  <dcterms:modified xsi:type="dcterms:W3CDTF">2024-12-29T14:23:18Z</dcterms:modified>
</cp:coreProperties>
</file>