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703" r:id="rId2"/>
    <p:sldMasterId id="2147483725" r:id="rId3"/>
    <p:sldMasterId id="2147483747" r:id="rId4"/>
  </p:sldMasterIdLst>
  <p:notesMasterIdLst>
    <p:notesMasterId r:id="rId15"/>
  </p:notesMasterIdLst>
  <p:handoutMasterIdLst>
    <p:handoutMasterId r:id="rId16"/>
  </p:handoutMasterIdLst>
  <p:sldIdLst>
    <p:sldId id="256" r:id="rId5"/>
    <p:sldId id="340" r:id="rId6"/>
    <p:sldId id="265" r:id="rId7"/>
    <p:sldId id="330" r:id="rId8"/>
    <p:sldId id="290" r:id="rId9"/>
    <p:sldId id="379" r:id="rId10"/>
    <p:sldId id="381" r:id="rId11"/>
    <p:sldId id="382" r:id="rId12"/>
    <p:sldId id="335" r:id="rId13"/>
    <p:sldId id="631" r:id="rId1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3500" b="1" kern="1200">
        <a:solidFill>
          <a:schemeClr val="bg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500" b="1" kern="1200">
        <a:solidFill>
          <a:schemeClr val="bg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500" b="1" kern="1200">
        <a:solidFill>
          <a:schemeClr val="bg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500" b="1" kern="1200">
        <a:solidFill>
          <a:schemeClr val="bg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500" b="1" kern="1200">
        <a:solidFill>
          <a:schemeClr val="bg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3500" b="1" kern="1200">
        <a:solidFill>
          <a:schemeClr val="bg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sz="3500" b="1" kern="1200">
        <a:solidFill>
          <a:schemeClr val="bg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sz="3500" b="1" kern="1200">
        <a:solidFill>
          <a:schemeClr val="bg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sz="3500" b="1" kern="1200">
        <a:solidFill>
          <a:schemeClr val="bg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58"/>
    <a:srgbClr val="CC3300"/>
    <a:srgbClr val="3333CC"/>
    <a:srgbClr val="6600FF"/>
    <a:srgbClr val="066A06"/>
    <a:srgbClr val="EAEAEA"/>
    <a:srgbClr val="DDDDDD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4772" autoAdjust="0"/>
  </p:normalViewPr>
  <p:slideViewPr>
    <p:cSldViewPr>
      <p:cViewPr varScale="1">
        <p:scale>
          <a:sx n="71" d="100"/>
          <a:sy n="71" d="100"/>
        </p:scale>
        <p:origin x="1120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-2862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华文中宋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华文中宋" pitchFamily="2" charset="-122"/>
              </a:defRPr>
            </a:lvl1pPr>
          </a:lstStyle>
          <a:p>
            <a:pPr>
              <a:defRPr/>
            </a:pPr>
            <a:fld id="{8AC8BBFF-6F28-4234-9958-EF93CEE82283}" type="datetimeFigureOut">
              <a:rPr lang="zh-CN" altLang="en-US"/>
              <a:pPr>
                <a:defRPr/>
              </a:pPr>
              <a:t>2025/2/26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华文中宋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华文中宋" pitchFamily="2" charset="-122"/>
              </a:defRPr>
            </a:lvl1pPr>
          </a:lstStyle>
          <a:p>
            <a:pPr>
              <a:defRPr/>
            </a:pPr>
            <a:fld id="{B475E0E0-F38A-487B-B3A9-F2ACFDAD214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8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华文中宋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华文中宋" pitchFamily="2" charset="-122"/>
              </a:defRPr>
            </a:lvl1pPr>
          </a:lstStyle>
          <a:p>
            <a:pPr>
              <a:defRPr/>
            </a:pPr>
            <a:fld id="{68711D7B-18D3-478E-AF04-6E8BC09FB12B}" type="datetimeFigureOut">
              <a:rPr lang="zh-CN" altLang="en-US"/>
              <a:pPr>
                <a:defRPr/>
              </a:pPr>
              <a:t>2025/2/26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华文中宋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华文中宋" pitchFamily="2" charset="-122"/>
              </a:defRPr>
            </a:lvl1pPr>
          </a:lstStyle>
          <a:p>
            <a:pPr>
              <a:defRPr/>
            </a:pPr>
            <a:fld id="{3F5ABDF3-6F0E-4FBD-AAC3-3FDA1554B37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4069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96564EC5-5693-44A6-AF47-58824C058F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B7017FD1-59FA-4AA2-B350-7FF33D5CBB3A}" type="slidenum">
              <a:rPr lang="en-US" altLang="zh-CN" sz="1200" smtClean="0">
                <a:ea typeface="仿宋_GB2312" pitchFamily="49" charset="-122"/>
              </a:rPr>
              <a:pPr/>
              <a:t>1</a:t>
            </a:fld>
            <a:endParaRPr lang="en-US" altLang="zh-CN" sz="1200">
              <a:ea typeface="仿宋_GB2312" pitchFamily="49" charset="-122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661ECCE8-84A8-4888-9ACC-0C224FC54D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80F1490-BED5-467A-BBBA-73DC34A3B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E158F375-35B3-4BCB-AF69-5A37AB61B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D1D8FFFE-8F86-4236-B487-644915506019}" type="slidenum">
              <a:rPr lang="en-US" altLang="zh-CN" sz="1200" smtClean="0">
                <a:ea typeface="仿宋_GB2312" pitchFamily="49" charset="-122"/>
              </a:rPr>
              <a:pPr/>
              <a:t>3</a:t>
            </a:fld>
            <a:endParaRPr lang="en-US" altLang="zh-CN" sz="1200">
              <a:ea typeface="仿宋_GB2312" pitchFamily="49" charset="-122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E232D9A-F0EE-45EA-9BBD-FB0B87F5CA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8DC596F-5EDF-4D04-9975-C3D26ABC42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E08BF13A-1088-4F37-A600-16E7B80708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F16227D3-CF39-42E7-986F-0EB4465D060B}" type="slidenum">
              <a:rPr lang="en-US" altLang="zh-CN" sz="1200" smtClean="0">
                <a:ea typeface="仿宋_GB2312" pitchFamily="49" charset="-122"/>
              </a:rPr>
              <a:pPr/>
              <a:t>5</a:t>
            </a:fld>
            <a:endParaRPr lang="en-US" altLang="zh-CN" sz="1200">
              <a:ea typeface="仿宋_GB2312" pitchFamily="49" charset="-122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F5C7135B-14E7-4980-91F4-6986BE5AF0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2C10DD91-F441-4387-820C-9A6881C39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jpe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jpe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28662" y="2214554"/>
            <a:ext cx="7772400" cy="1470025"/>
          </a:xfrm>
        </p:spPr>
        <p:txBody>
          <a:bodyPr/>
          <a:lstStyle>
            <a:lvl1pPr>
              <a:defRPr sz="4800">
                <a:solidFill>
                  <a:srgbClr val="00006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28662" y="4643446"/>
            <a:ext cx="5072098" cy="665162"/>
          </a:xfrm>
        </p:spPr>
        <p:txBody>
          <a:bodyPr/>
          <a:lstStyle>
            <a:lvl1pPr marL="0" indent="0" algn="ctr">
              <a:buFontTx/>
              <a:buNone/>
              <a:defRPr sz="2800" b="1"/>
            </a:lvl1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107504" y="6245225"/>
            <a:ext cx="2483296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3096E-B8CD-4FE5-96C7-2FD0BC5C24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10" y="285728"/>
            <a:ext cx="6786610" cy="7191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4560" y="1177943"/>
            <a:ext cx="7927968" cy="5180015"/>
          </a:xfrm>
        </p:spPr>
        <p:txBody>
          <a:bodyPr/>
          <a:lstStyle>
            <a:lvl1pPr marL="177800" indent="-177800">
              <a:buFont typeface="Arial" pitchFamily="34" charset="0"/>
              <a:buChar char="•"/>
              <a:tabLst>
                <a:tab pos="177800" algn="l"/>
              </a:tabLst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6AC6D-3C55-4344-844C-647263F2CE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7C9F2-721C-4F9F-AC32-CEF660867B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1773238"/>
            <a:ext cx="4316412" cy="4751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73238"/>
            <a:ext cx="4316413" cy="4751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43494-0452-42ED-B85A-152D483544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F8932-E958-40D1-B1B6-EEAE2657E4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6FE75-6E63-430D-BC10-E6D560F682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CA8F2-0099-444C-B529-EB9B435666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668E47-7F4D-4EEF-9724-0D2F5BF48B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FCB8C1-E1A7-4D93-8219-F0D1F3F964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B78B1A-3ACA-4A09-BFD8-8FD14FC830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0050" y="981075"/>
            <a:ext cx="2214563" cy="55435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363" y="981075"/>
            <a:ext cx="6491287" cy="55435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5BDB6-7F05-4FC1-811E-B498349CF8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C41E7-7546-4928-A779-460DE6BB4A2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119CB-1D1C-4C4C-A296-5130B7C445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014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4A1D2-29FA-489B-924A-C0BDA8414B0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AA66F-C711-4A5F-8A0E-2F9108BDD8A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028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0131A-E4AA-4E54-B7A3-A0177F8D9EA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F3483-6CFD-4E80-8839-6676CB450C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116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E5BCD-F4F2-4D9A-B204-89BDB853A099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5A832-0DD3-40D4-8FF8-FB6B5FE66D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661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9462EA-70D8-49EF-85C1-3B56A7543D5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C24B8-7291-4CD4-BD66-6E8B934FFB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620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70E39F-1FA9-41FE-80E6-7CCCDB2FFA8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8B86C-32B3-47FA-A878-F297CE7789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60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FC06E4-C5D2-4D81-A3AE-E64A97B3A7AD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3AD50-8315-43C1-89A1-62B858AD3B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8523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E288D-3C8E-4B84-BDF5-CF014E0CEB77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87EA8-7D46-4BB4-AF9C-570C4AD5E3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314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F1EF4-32FB-40F4-9D1C-750C2631646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BC49D-1EA3-40DC-B6D6-4B1701C664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7936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68AE5-7119-46F2-87FE-BE9AAD970BE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8ECAE-6066-44D6-A8C0-1B1DE77BC2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6309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A2FDC-5443-4B7C-AA11-FF63829EF502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1AD3C3-022A-4BEA-98DC-60049A1B9C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153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786188" y="6357938"/>
            <a:ext cx="5357812" cy="500062"/>
            <a:chOff x="0" y="3838"/>
            <a:chExt cx="5375" cy="317"/>
          </a:xfrm>
        </p:grpSpPr>
        <p:sp>
          <p:nvSpPr>
            <p:cNvPr id="3" name="WordArt 17"/>
            <p:cNvSpPr>
              <a:spLocks noChangeArrowheads="1" noChangeShapeType="1" noTextEdit="1"/>
            </p:cNvSpPr>
            <p:nvPr userDrawn="1"/>
          </p:nvSpPr>
          <p:spPr bwMode="auto">
            <a:xfrm>
              <a:off x="3833" y="3838"/>
              <a:ext cx="1519" cy="2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0" hangingPunct="0"/>
              <a:r>
                <a:rPr lang="zh-CN" altLang="en-US" sz="3600" i="1" kern="10">
                  <a:ln w="9525">
                    <a:solidFill>
                      <a:srgbClr val="003366"/>
                    </a:solidFill>
                    <a:round/>
                    <a:headEnd/>
                    <a:tailEnd/>
                  </a:ln>
                  <a:solidFill>
                    <a:srgbClr val="0033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创造机遇，成就潜能</a:t>
              </a:r>
            </a:p>
          </p:txBody>
        </p:sp>
        <p:sp>
          <p:nvSpPr>
            <p:cNvPr id="4" name="Rectangle 18"/>
            <p:cNvSpPr>
              <a:spLocks noChangeArrowheads="1"/>
            </p:cNvSpPr>
            <p:nvPr userDrawn="1"/>
          </p:nvSpPr>
          <p:spPr bwMode="auto">
            <a:xfrm>
              <a:off x="0" y="4110"/>
              <a:ext cx="5375" cy="45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336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0">
                <a:solidFill>
                  <a:prstClr val="black"/>
                </a:solidFill>
              </a:endParaRPr>
            </a:p>
          </p:txBody>
        </p:sp>
        <p:sp>
          <p:nvSpPr>
            <p:cNvPr id="5" name="Rectangle 19"/>
            <p:cNvSpPr>
              <a:spLocks noChangeArrowheads="1"/>
            </p:cNvSpPr>
            <p:nvPr userDrawn="1"/>
          </p:nvSpPr>
          <p:spPr bwMode="auto">
            <a:xfrm>
              <a:off x="0" y="4065"/>
              <a:ext cx="5375" cy="3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66669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0">
                <a:solidFill>
                  <a:prstClr val="black"/>
                </a:solidFill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3714750" y="6215063"/>
            <a:ext cx="5429250" cy="642937"/>
          </a:xfrm>
          <a:prstGeom prst="rect">
            <a:avLst/>
          </a:prstGeom>
          <a:solidFill>
            <a:schemeClr val="lt1">
              <a:alpha val="4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 b="0">
              <a:solidFill>
                <a:prstClr val="black"/>
              </a:solidFill>
            </a:endParaRPr>
          </a:p>
        </p:txBody>
      </p:sp>
      <p:pic>
        <p:nvPicPr>
          <p:cNvPr id="7" name="图片 18" descr="页眉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2" descr="美国硅谷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-6350"/>
            <a:ext cx="15001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13" descr="PPT背景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9144000" cy="6877050"/>
          </a:xfrm>
          <a:prstGeom prst="rect">
            <a:avLst/>
          </a:prstGeom>
          <a:noFill/>
          <a:ln>
            <a:noFill/>
          </a:ln>
          <a:effectLst>
            <a:outerShdw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6432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DFFC85-F6AE-4732-9EB6-7BB083A3DE1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92390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58CE1C-CF63-468E-BC7F-D751B2F100F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51256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C1E72FB-1F2D-4EF2-8218-B4718F00160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7636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65D1ED8-360A-4FB2-A7A1-E964905BC14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82483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01D7599-3695-476C-85AA-A5CE68F5BDB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90131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B99EA07-21D4-41A3-80B7-ACC6D41BD4F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38912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03CE93-DC3E-418E-B2D2-6C1579BFE2E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869214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9DAC6F-AD7C-452A-90FB-33DE7CFCF4D3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F3EE3-0DF8-401A-94FB-288DF1ADD85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17448861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C41E7-7546-4928-A779-460DE6BB4A2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119CB-1D1C-4C4C-A296-5130B7C445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683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4A1D2-29FA-489B-924A-C0BDA8414B0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AA66F-C711-4A5F-8A0E-2F9108BDD8A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225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0131A-E4AA-4E54-B7A3-A0177F8D9EA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F3483-6CFD-4E80-8839-6676CB450C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5236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E5BCD-F4F2-4D9A-B204-89BDB853A099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5A832-0DD3-40D4-8FF8-FB6B5FE66D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7274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9462EA-70D8-49EF-85C1-3B56A7543D5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C24B8-7291-4CD4-BD66-6E8B934FFB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452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70E39F-1FA9-41FE-80E6-7CCCDB2FFA8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8B86C-32B3-47FA-A878-F297CE7789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5731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FC06E4-C5D2-4D81-A3AE-E64A97B3A7AD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3AD50-8315-43C1-89A1-62B858AD3B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1623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E288D-3C8E-4B84-BDF5-CF014E0CEB77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87EA8-7D46-4BB4-AF9C-570C4AD5E3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4538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F1EF4-32FB-40F4-9D1C-750C2631646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BC49D-1EA3-40DC-B6D6-4B1701C664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7103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68AE5-7119-46F2-87FE-BE9AAD970BE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8ECAE-6066-44D6-A8C0-1B1DE77BC2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9177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A2FDC-5443-4B7C-AA11-FF63829EF502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1AD3C3-022A-4BEA-98DC-60049A1B9C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5658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786188" y="6357938"/>
            <a:ext cx="5357812" cy="500062"/>
            <a:chOff x="0" y="3838"/>
            <a:chExt cx="5375" cy="317"/>
          </a:xfrm>
        </p:grpSpPr>
        <p:sp>
          <p:nvSpPr>
            <p:cNvPr id="3" name="WordArt 17"/>
            <p:cNvSpPr>
              <a:spLocks noChangeArrowheads="1" noChangeShapeType="1" noTextEdit="1"/>
            </p:cNvSpPr>
            <p:nvPr userDrawn="1"/>
          </p:nvSpPr>
          <p:spPr bwMode="auto">
            <a:xfrm>
              <a:off x="3833" y="3838"/>
              <a:ext cx="1519" cy="2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0" hangingPunct="0"/>
              <a:r>
                <a:rPr lang="zh-CN" altLang="en-US" sz="3600" i="1" kern="10">
                  <a:ln w="9525">
                    <a:solidFill>
                      <a:srgbClr val="003366"/>
                    </a:solidFill>
                    <a:round/>
                    <a:headEnd/>
                    <a:tailEnd/>
                  </a:ln>
                  <a:solidFill>
                    <a:srgbClr val="0033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创造机遇，成就潜能</a:t>
              </a:r>
            </a:p>
          </p:txBody>
        </p:sp>
        <p:sp>
          <p:nvSpPr>
            <p:cNvPr id="4" name="Rectangle 18"/>
            <p:cNvSpPr>
              <a:spLocks noChangeArrowheads="1"/>
            </p:cNvSpPr>
            <p:nvPr userDrawn="1"/>
          </p:nvSpPr>
          <p:spPr bwMode="auto">
            <a:xfrm>
              <a:off x="0" y="4110"/>
              <a:ext cx="5375" cy="45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336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0">
                <a:solidFill>
                  <a:prstClr val="black"/>
                </a:solidFill>
              </a:endParaRPr>
            </a:p>
          </p:txBody>
        </p:sp>
        <p:sp>
          <p:nvSpPr>
            <p:cNvPr id="5" name="Rectangle 19"/>
            <p:cNvSpPr>
              <a:spLocks noChangeArrowheads="1"/>
            </p:cNvSpPr>
            <p:nvPr userDrawn="1"/>
          </p:nvSpPr>
          <p:spPr bwMode="auto">
            <a:xfrm>
              <a:off x="0" y="4065"/>
              <a:ext cx="5375" cy="3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66669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0">
                <a:solidFill>
                  <a:prstClr val="black"/>
                </a:solidFill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3714750" y="6215063"/>
            <a:ext cx="5429250" cy="642937"/>
          </a:xfrm>
          <a:prstGeom prst="rect">
            <a:avLst/>
          </a:prstGeom>
          <a:solidFill>
            <a:schemeClr val="lt1">
              <a:alpha val="4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 b="0">
              <a:solidFill>
                <a:prstClr val="black"/>
              </a:solidFill>
            </a:endParaRPr>
          </a:p>
        </p:txBody>
      </p:sp>
      <p:pic>
        <p:nvPicPr>
          <p:cNvPr id="7" name="图片 18" descr="页眉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2" descr="美国硅谷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-6350"/>
            <a:ext cx="15001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13" descr="PPT背景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9144000" cy="6877050"/>
          </a:xfrm>
          <a:prstGeom prst="rect">
            <a:avLst/>
          </a:prstGeom>
          <a:noFill/>
          <a:ln>
            <a:noFill/>
          </a:ln>
          <a:effectLst>
            <a:outerShdw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03078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DFFC85-F6AE-4732-9EB6-7BB083A3DE1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2458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58CE1C-CF63-468E-BC7F-D751B2F100F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578218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C1E72FB-1F2D-4EF2-8218-B4718F00160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87472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65D1ED8-360A-4FB2-A7A1-E964905BC14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35069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01D7599-3695-476C-85AA-A5CE68F5BDB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427719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B99EA07-21D4-41A3-80B7-ACC6D41BD4F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70967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03CE93-DC3E-418E-B2D2-6C1579BFE2E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290226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9DB41-B248-44ED-975D-6B5D10A131D3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4DFAB-B259-4C0C-A672-6FA44CA3E12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13160348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9DAC6F-AD7C-452A-90FB-33DE7CFCF4D3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F3EE3-0DF8-401A-94FB-288DF1ADD85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5662912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C41E7-7546-4928-A779-460DE6BB4A2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119CB-1D1C-4C4C-A296-5130B7C445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8277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4A1D2-29FA-489B-924A-C0BDA8414B0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AA66F-C711-4A5F-8A0E-2F9108BDD8A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912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0131A-E4AA-4E54-B7A3-A0177F8D9EA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F3483-6CFD-4E80-8839-6676CB450C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40333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E5BCD-F4F2-4D9A-B204-89BDB853A099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5A832-0DD3-40D4-8FF8-FB6B5FE66D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7567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9462EA-70D8-49EF-85C1-3B56A7543D5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C24B8-7291-4CD4-BD66-6E8B934FFB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0591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70E39F-1FA9-41FE-80E6-7CCCDB2FFA8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8B86C-32B3-47FA-A878-F297CE7789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8149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FC06E4-C5D2-4D81-A3AE-E64A97B3A7AD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3AD50-8315-43C1-89A1-62B858AD3B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4874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E288D-3C8E-4B84-BDF5-CF014E0CEB77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87EA8-7D46-4BB4-AF9C-570C4AD5E3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49081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F1EF4-32FB-40F4-9D1C-750C2631646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BC49D-1EA3-40DC-B6D6-4B1701C664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89785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68AE5-7119-46F2-87FE-BE9AAD970BE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8ECAE-6066-44D6-A8C0-1B1DE77BC2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9777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A2FDC-5443-4B7C-AA11-FF63829EF502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1AD3C3-022A-4BEA-98DC-60049A1B9C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6593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786188" y="6357938"/>
            <a:ext cx="5357812" cy="500062"/>
            <a:chOff x="0" y="3838"/>
            <a:chExt cx="5375" cy="317"/>
          </a:xfrm>
        </p:grpSpPr>
        <p:sp>
          <p:nvSpPr>
            <p:cNvPr id="3" name="WordArt 17"/>
            <p:cNvSpPr>
              <a:spLocks noChangeArrowheads="1" noChangeShapeType="1" noTextEdit="1"/>
            </p:cNvSpPr>
            <p:nvPr userDrawn="1"/>
          </p:nvSpPr>
          <p:spPr bwMode="auto">
            <a:xfrm>
              <a:off x="3833" y="3838"/>
              <a:ext cx="1519" cy="2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0" hangingPunct="0"/>
              <a:r>
                <a:rPr lang="zh-CN" altLang="en-US" sz="3600" i="1" kern="10">
                  <a:ln w="9525">
                    <a:solidFill>
                      <a:srgbClr val="003366"/>
                    </a:solidFill>
                    <a:round/>
                    <a:headEnd/>
                    <a:tailEnd/>
                  </a:ln>
                  <a:solidFill>
                    <a:srgbClr val="0033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创造机遇，成就潜能</a:t>
              </a:r>
            </a:p>
          </p:txBody>
        </p:sp>
        <p:sp>
          <p:nvSpPr>
            <p:cNvPr id="4" name="Rectangle 18"/>
            <p:cNvSpPr>
              <a:spLocks noChangeArrowheads="1"/>
            </p:cNvSpPr>
            <p:nvPr userDrawn="1"/>
          </p:nvSpPr>
          <p:spPr bwMode="auto">
            <a:xfrm>
              <a:off x="0" y="4110"/>
              <a:ext cx="5375" cy="45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336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0">
                <a:solidFill>
                  <a:prstClr val="black"/>
                </a:solidFill>
              </a:endParaRPr>
            </a:p>
          </p:txBody>
        </p:sp>
        <p:sp>
          <p:nvSpPr>
            <p:cNvPr id="5" name="Rectangle 19"/>
            <p:cNvSpPr>
              <a:spLocks noChangeArrowheads="1"/>
            </p:cNvSpPr>
            <p:nvPr userDrawn="1"/>
          </p:nvSpPr>
          <p:spPr bwMode="auto">
            <a:xfrm>
              <a:off x="0" y="4065"/>
              <a:ext cx="5375" cy="3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66669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0">
                <a:solidFill>
                  <a:prstClr val="black"/>
                </a:solidFill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3714750" y="6215063"/>
            <a:ext cx="5429250" cy="642937"/>
          </a:xfrm>
          <a:prstGeom prst="rect">
            <a:avLst/>
          </a:prstGeom>
          <a:solidFill>
            <a:schemeClr val="lt1">
              <a:alpha val="4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 b="0">
              <a:solidFill>
                <a:prstClr val="black"/>
              </a:solidFill>
            </a:endParaRPr>
          </a:p>
        </p:txBody>
      </p:sp>
      <p:pic>
        <p:nvPicPr>
          <p:cNvPr id="7" name="图片 18" descr="页眉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2" descr="美国硅谷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-6350"/>
            <a:ext cx="15001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13" descr="PPT背景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9144000" cy="6877050"/>
          </a:xfrm>
          <a:prstGeom prst="rect">
            <a:avLst/>
          </a:prstGeom>
          <a:noFill/>
          <a:ln>
            <a:noFill/>
          </a:ln>
          <a:effectLst>
            <a:outerShdw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52993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DFFC85-F6AE-4732-9EB6-7BB083A3DE1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0094056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58CE1C-CF63-468E-BC7F-D751B2F100F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54069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C1E72FB-1F2D-4EF2-8218-B4718F00160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574082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65D1ED8-360A-4FB2-A7A1-E964905BC14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839546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01D7599-3695-476C-85AA-A5CE68F5BDB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35175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B99EA07-21D4-41A3-80B7-ACC6D41BD4F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61872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429264"/>
            <a:ext cx="9144000" cy="642942"/>
          </a:xfrm>
          <a:solidFill>
            <a:schemeClr val="bg1">
              <a:alpha val="40000"/>
            </a:schemeClr>
          </a:solidFill>
        </p:spPr>
        <p:txBody>
          <a:bodyPr/>
          <a:lstStyle>
            <a:lvl1pPr marL="360000" algn="l">
              <a:defRPr sz="28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03CE93-DC3E-418E-B2D2-6C1579BFE2E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234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4" rIns="91408" bIns="45704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493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4" rIns="91408" bIns="45704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493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4" rIns="91408" bIns="45704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BCDA0588-FED2-45DE-B25E-203591A1D6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214313"/>
            <a:ext cx="6786562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4" rIns="91408" bIns="457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5900" y="1106488"/>
            <a:ext cx="8785225" cy="518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4" rIns="91408" bIns="457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rgbClr val="000058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000058"/>
          </a:solidFill>
          <a:latin typeface="Arial" charset="0"/>
          <a:ea typeface="黑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000058"/>
          </a:solidFill>
          <a:latin typeface="Arial" charset="0"/>
          <a:ea typeface="黑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000058"/>
          </a:solidFill>
          <a:latin typeface="Arial" charset="0"/>
          <a:ea typeface="黑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000058"/>
          </a:solidFill>
          <a:latin typeface="Arial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000058"/>
          </a:solidFill>
          <a:latin typeface="Arial" charset="0"/>
          <a:ea typeface="黑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000058"/>
          </a:solidFill>
          <a:latin typeface="Arial" charset="0"/>
          <a:ea typeface="黑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000058"/>
          </a:solidFill>
          <a:latin typeface="Arial" charset="0"/>
          <a:ea typeface="黑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000058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50000"/>
        </a:spcBef>
        <a:spcAft>
          <a:spcPct val="0"/>
        </a:spcAft>
        <a:buClr>
          <a:srgbClr val="066506"/>
        </a:buClr>
        <a:buFont typeface="Wingdings" pitchFamily="2" charset="2"/>
        <a:buChar char="l"/>
        <a:defRPr sz="2500" b="1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66506"/>
        </a:buClr>
        <a:buFont typeface="Wingdings" pitchFamily="2" charset="2"/>
        <a:buChar char="Ø"/>
        <a:defRPr sz="2200" b="1">
          <a:solidFill>
            <a:srgbClr val="000066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066506"/>
        </a:buClr>
        <a:buFont typeface="Arial" charset="0"/>
        <a:buChar char="-"/>
        <a:defRPr sz="2000">
          <a:solidFill>
            <a:srgbClr val="000066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066506"/>
        </a:buClr>
        <a:buFont typeface="Arial" charset="0"/>
        <a:buChar char="-"/>
        <a:defRPr sz="2000">
          <a:solidFill>
            <a:srgbClr val="000066"/>
          </a:solidFill>
          <a:latin typeface="+mn-lt"/>
          <a:ea typeface="+mn-ea"/>
        </a:defRPr>
      </a:lvl4pPr>
      <a:lvl5pPr marL="2055813" indent="-227013" algn="l" rtl="0" fontAlgn="base">
        <a:spcBef>
          <a:spcPct val="20000"/>
        </a:spcBef>
        <a:spcAft>
          <a:spcPct val="0"/>
        </a:spcAft>
        <a:buClr>
          <a:srgbClr val="066506"/>
        </a:buClr>
        <a:buFont typeface="Arial" charset="0"/>
        <a:buChar char="-"/>
        <a:defRPr sz="2000">
          <a:solidFill>
            <a:srgbClr val="000066"/>
          </a:solidFill>
          <a:latin typeface="+mn-lt"/>
          <a:ea typeface="+mn-ea"/>
        </a:defRPr>
      </a:lvl5pPr>
      <a:lvl6pPr marL="2513013" indent="-227013" algn="l" rtl="0" eaLnBrk="1" fontAlgn="base" hangingPunct="1">
        <a:spcBef>
          <a:spcPct val="20000"/>
        </a:spcBef>
        <a:spcAft>
          <a:spcPct val="0"/>
        </a:spcAft>
        <a:buClr>
          <a:srgbClr val="066506"/>
        </a:buClr>
        <a:buFont typeface="Arial" charset="0"/>
        <a:buChar char="-"/>
        <a:defRPr sz="2000">
          <a:solidFill>
            <a:srgbClr val="000066"/>
          </a:solidFill>
          <a:latin typeface="+mn-lt"/>
          <a:ea typeface="+mn-ea"/>
        </a:defRPr>
      </a:lvl6pPr>
      <a:lvl7pPr marL="2970213" indent="-227013" algn="l" rtl="0" eaLnBrk="1" fontAlgn="base" hangingPunct="1">
        <a:spcBef>
          <a:spcPct val="20000"/>
        </a:spcBef>
        <a:spcAft>
          <a:spcPct val="0"/>
        </a:spcAft>
        <a:buClr>
          <a:srgbClr val="066506"/>
        </a:buClr>
        <a:buFont typeface="Arial" charset="0"/>
        <a:buChar char="-"/>
        <a:defRPr sz="2000">
          <a:solidFill>
            <a:srgbClr val="000066"/>
          </a:solidFill>
          <a:latin typeface="+mn-lt"/>
          <a:ea typeface="+mn-ea"/>
        </a:defRPr>
      </a:lvl7pPr>
      <a:lvl8pPr marL="3427413" indent="-227013" algn="l" rtl="0" eaLnBrk="1" fontAlgn="base" hangingPunct="1">
        <a:spcBef>
          <a:spcPct val="20000"/>
        </a:spcBef>
        <a:spcAft>
          <a:spcPct val="0"/>
        </a:spcAft>
        <a:buClr>
          <a:srgbClr val="066506"/>
        </a:buClr>
        <a:buFont typeface="Arial" charset="0"/>
        <a:buChar char="-"/>
        <a:defRPr sz="2000">
          <a:solidFill>
            <a:srgbClr val="000066"/>
          </a:solidFill>
          <a:latin typeface="+mn-lt"/>
          <a:ea typeface="+mn-ea"/>
        </a:defRPr>
      </a:lvl8pPr>
      <a:lvl9pPr marL="3884613" indent="-227013" algn="l" rtl="0" eaLnBrk="1" fontAlgn="base" hangingPunct="1">
        <a:spcBef>
          <a:spcPct val="20000"/>
        </a:spcBef>
        <a:spcAft>
          <a:spcPct val="0"/>
        </a:spcAft>
        <a:buClr>
          <a:srgbClr val="066506"/>
        </a:buClr>
        <a:buFont typeface="Arial" charset="0"/>
        <a:buChar char="-"/>
        <a:defRPr sz="2000">
          <a:solidFill>
            <a:srgbClr val="00006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865A29-A10E-4DD5-841D-B486757B4AC9}" type="datetimeFigureOut">
              <a:rPr lang="zh-CN" altLang="en-US">
                <a:solidFill>
                  <a:prstClr val="black">
                    <a:tint val="75000"/>
                  </a:prstClr>
                </a:solidFill>
                <a:ea typeface="宋体" panose="02010600030101010101" pitchFamily="2" charset="-122"/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938DFB0-CE14-4744-89C8-7E0EAC6A5740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‹#›</a:t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04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4" r:id="rId2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865A29-A10E-4DD5-841D-B486757B4AC9}" type="datetimeFigureOut">
              <a:rPr lang="zh-CN" altLang="en-US">
                <a:solidFill>
                  <a:prstClr val="black">
                    <a:tint val="75000"/>
                  </a:prstClr>
                </a:solidFill>
                <a:ea typeface="宋体" panose="02010600030101010101" pitchFamily="2" charset="-122"/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938DFB0-CE14-4744-89C8-7E0EAC6A5740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‹#›</a:t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3722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865A29-A10E-4DD5-841D-B486757B4AC9}" type="datetimeFigureOut">
              <a:rPr lang="zh-CN" altLang="en-US">
                <a:solidFill>
                  <a:prstClr val="black">
                    <a:tint val="75000"/>
                  </a:prstClr>
                </a:solidFill>
                <a:ea typeface="宋体" panose="02010600030101010101" pitchFamily="2" charset="-122"/>
              </a:rPr>
              <a:pPr>
                <a:defRPr/>
              </a:pPr>
              <a:t>2025/2/26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938DFB0-CE14-4744-89C8-7E0EAC6A5740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‹#›</a:t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13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unpan.bjfu.edu.cn/link/E58D2003FF77A41D8772B95A5E5D715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929D110-6A29-4F43-8769-2DF211202A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                  </a:t>
            </a:r>
            <a:fld id="{6254B400-E64F-486E-90EB-82E590F1945E}" type="datetime2">
              <a:rPr lang="zh-CN" altLang="en-US" smtClean="0"/>
              <a:pPr>
                <a:defRPr/>
              </a:pPr>
              <a:t>2025年2月26日</a:t>
            </a:fld>
            <a:r>
              <a:rPr lang="en-US" altLang="zh-CN" dirty="0"/>
              <a:t>        </a:t>
            </a:r>
          </a:p>
        </p:txBody>
      </p:sp>
      <p:sp>
        <p:nvSpPr>
          <p:cNvPr id="4099" name="页脚占位符 4">
            <a:extLst>
              <a:ext uri="{FF2B5EF4-FFF2-40B4-BE49-F238E27FC236}">
                <a16:creationId xmlns:a16="http://schemas.microsoft.com/office/drawing/2014/main" id="{D160B048-50AE-4291-BC33-8A2BC3BF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pitchFamily="49" charset="-122"/>
              </a:rPr>
              <a:t>北京林业大学信息学院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18BDD5F4-DD64-4A41-99DB-A42BBF8D254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79575" y="827088"/>
            <a:ext cx="5611813" cy="1695450"/>
          </a:xfrm>
        </p:spPr>
        <p:txBody>
          <a:bodyPr/>
          <a:lstStyle/>
          <a:p>
            <a:pPr>
              <a:defRPr/>
            </a:pPr>
            <a:r>
              <a:rPr lang="zh-CN" altLang="en-US" sz="8800" i="1" dirty="0">
                <a:solidFill>
                  <a:schemeClr val="accent2"/>
                </a:solidFill>
                <a:ea typeface="楷体_GB2312" pitchFamily="49" charset="-122"/>
              </a:rPr>
              <a:t>编译原理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FABA6413-949A-46F8-B93A-5DC1D8C00A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24525" y="5300663"/>
            <a:ext cx="3990975" cy="811212"/>
          </a:xfrm>
        </p:spPr>
        <p:txBody>
          <a:bodyPr/>
          <a:lstStyle/>
          <a:p>
            <a:r>
              <a:rPr lang="zh-CN" altLang="en-US" sz="4000" b="1">
                <a:solidFill>
                  <a:schemeClr val="accent1"/>
                </a:solidFill>
                <a:ea typeface="隶书" panose="02010509060101010101" pitchFamily="49" charset="-122"/>
              </a:rPr>
              <a:t>于辉辉 </a:t>
            </a:r>
          </a:p>
          <a:p>
            <a:endParaRPr lang="zh-CN" altLang="en-US" b="1">
              <a:solidFill>
                <a:schemeClr val="accent2"/>
              </a:solidFill>
            </a:endParaRPr>
          </a:p>
          <a:p>
            <a:endParaRPr lang="en-US" altLang="zh-CN" b="1">
              <a:solidFill>
                <a:schemeClr val="accent2"/>
              </a:solidFill>
            </a:endParaRPr>
          </a:p>
        </p:txBody>
      </p:sp>
      <p:sp>
        <p:nvSpPr>
          <p:cNvPr id="6159" name="Text Box 15">
            <a:extLst>
              <a:ext uri="{FF2B5EF4-FFF2-40B4-BE49-F238E27FC236}">
                <a16:creationId xmlns:a16="http://schemas.microsoft.com/office/drawing/2014/main" id="{1FD7C24C-A7C0-4303-B054-C0E21D74B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856038"/>
            <a:ext cx="8244408" cy="1643527"/>
          </a:xfrm>
          <a:prstGeom prst="rect">
            <a:avLst/>
          </a:prstGeom>
          <a:noFill/>
          <a:ln w="38100" cmpd="dbl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Clr>
                <a:srgbClr val="FF3399"/>
              </a:buClr>
            </a:pPr>
            <a:r>
              <a:rPr lang="en-US" altLang="zh-CN" sz="2800" b="1" dirty="0"/>
              <a:t>Office: </a:t>
            </a:r>
            <a:r>
              <a:rPr lang="zh-CN" altLang="en-US" sz="2800" b="1" dirty="0">
                <a:solidFill>
                  <a:srgbClr val="FF3300"/>
                </a:solidFill>
              </a:rPr>
              <a:t>西配</a:t>
            </a:r>
            <a:r>
              <a:rPr lang="en-US" altLang="zh-CN" sz="2800" dirty="0">
                <a:solidFill>
                  <a:srgbClr val="FF3300"/>
                </a:solidFill>
              </a:rPr>
              <a:t>303</a:t>
            </a:r>
            <a:endParaRPr lang="en-US" altLang="zh-CN" sz="2800" b="1" dirty="0">
              <a:solidFill>
                <a:srgbClr val="FF3300"/>
              </a:solidFill>
            </a:endParaRPr>
          </a:p>
          <a:p>
            <a:pPr>
              <a:spcBef>
                <a:spcPct val="50000"/>
              </a:spcBef>
              <a:buClr>
                <a:srgbClr val="FF3399"/>
              </a:buClr>
            </a:pPr>
            <a:r>
              <a:rPr lang="en-US" altLang="zh-CN" sz="2800" b="1" dirty="0"/>
              <a:t>E_mail:</a:t>
            </a:r>
            <a:r>
              <a:rPr lang="en-US" altLang="zh-CN" sz="2800" b="1" dirty="0">
                <a:solidFill>
                  <a:srgbClr val="FF3300"/>
                </a:solidFill>
              </a:rPr>
              <a:t>yuhh1990@126.com</a:t>
            </a:r>
          </a:p>
          <a:p>
            <a:pPr>
              <a:lnSpc>
                <a:spcPct val="90000"/>
              </a:lnSpc>
              <a:buClr>
                <a:srgbClr val="FF3399"/>
              </a:buClr>
            </a:pPr>
            <a:r>
              <a:rPr lang="zh-CN" altLang="en-US" sz="2800" b="1" dirty="0">
                <a:solidFill>
                  <a:srgbClr val="FF0000"/>
                </a:solidFill>
              </a:rPr>
              <a:t>课件资料下载和实验上传网址见最后一页</a:t>
            </a:r>
            <a:r>
              <a:rPr lang="en-US" altLang="zh-CN" sz="2800" b="1" dirty="0">
                <a:solidFill>
                  <a:srgbClr val="FF0000"/>
                </a:solidFill>
              </a:rPr>
              <a:t>ppt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9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3">
            <a:extLst>
              <a:ext uri="{FF2B5EF4-FFF2-40B4-BE49-F238E27FC236}">
                <a16:creationId xmlns:a16="http://schemas.microsoft.com/office/drawing/2014/main" id="{C20829E5-32A6-4601-8F01-DE7A9B27566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-180528" y="6245225"/>
            <a:ext cx="2771328" cy="47625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                    </a:t>
            </a:r>
            <a:fld id="{AA0C08A7-4C2B-4153-9D87-370D98B5D36C}" type="datetime2">
              <a:rPr lang="zh-CN" altLang="en-US" smtClean="0"/>
              <a:pPr>
                <a:defRPr/>
              </a:pPr>
              <a:t>2025年2月26日</a:t>
            </a:fld>
            <a:r>
              <a:rPr lang="en-US" altLang="zh-CN" dirty="0"/>
              <a:t>        </a:t>
            </a:r>
          </a:p>
        </p:txBody>
      </p:sp>
      <p:sp>
        <p:nvSpPr>
          <p:cNvPr id="6147" name="页脚占位符 4">
            <a:extLst>
              <a:ext uri="{FF2B5EF4-FFF2-40B4-BE49-F238E27FC236}">
                <a16:creationId xmlns:a16="http://schemas.microsoft.com/office/drawing/2014/main" id="{35202697-F693-441A-BF67-67E7572D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pitchFamily="49" charset="-122"/>
              </a:rPr>
              <a:t>北京林业大学信息学院</a:t>
            </a:r>
          </a:p>
        </p:txBody>
      </p:sp>
      <p:sp>
        <p:nvSpPr>
          <p:cNvPr id="6148" name="Rectangle 5170">
            <a:extLst>
              <a:ext uri="{FF2B5EF4-FFF2-40B4-BE49-F238E27FC236}">
                <a16:creationId xmlns:a16="http://schemas.microsoft.com/office/drawing/2014/main" id="{0E9A899B-DA85-41DD-8511-895FFAE7D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488" y="4117975"/>
            <a:ext cx="1495425" cy="1431925"/>
          </a:xfrm>
          <a:prstGeom prst="rect">
            <a:avLst/>
          </a:prstGeom>
          <a:solidFill>
            <a:srgbClr val="EAEAEA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buFontTx/>
              <a:buNone/>
            </a:pPr>
            <a:endParaRPr lang="zh-CN" altLang="en-US" sz="2800">
              <a:ea typeface="楷体_GB2312" pitchFamily="49" charset="-122"/>
            </a:endParaRPr>
          </a:p>
        </p:txBody>
      </p:sp>
      <p:sp>
        <p:nvSpPr>
          <p:cNvPr id="6149" name="Rectangle 5171">
            <a:extLst>
              <a:ext uri="{FF2B5EF4-FFF2-40B4-BE49-F238E27FC236}">
                <a16:creationId xmlns:a16="http://schemas.microsoft.com/office/drawing/2014/main" id="{9CC0800E-164B-4E45-B481-6E9FC81DE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4105275"/>
            <a:ext cx="1482725" cy="1406525"/>
          </a:xfrm>
          <a:prstGeom prst="rect">
            <a:avLst/>
          </a:prstGeom>
          <a:solidFill>
            <a:srgbClr val="EAEAEA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buFontTx/>
              <a:buNone/>
            </a:pPr>
            <a:endParaRPr lang="zh-CN" altLang="en-US" sz="2800">
              <a:ea typeface="楷体_GB2312" pitchFamily="49" charset="-122"/>
            </a:endParaRPr>
          </a:p>
        </p:txBody>
      </p:sp>
      <p:grpSp>
        <p:nvGrpSpPr>
          <p:cNvPr id="6150" name="Group 5172">
            <a:extLst>
              <a:ext uri="{FF2B5EF4-FFF2-40B4-BE49-F238E27FC236}">
                <a16:creationId xmlns:a16="http://schemas.microsoft.com/office/drawing/2014/main" id="{A46C7398-38FB-43B2-9EA2-FF9DD0858988}"/>
              </a:ext>
            </a:extLst>
          </p:cNvPr>
          <p:cNvGrpSpPr>
            <a:grpSpLocks/>
          </p:cNvGrpSpPr>
          <p:nvPr/>
        </p:nvGrpSpPr>
        <p:grpSpPr bwMode="auto">
          <a:xfrm>
            <a:off x="1890713" y="4764088"/>
            <a:ext cx="754062" cy="742950"/>
            <a:chOff x="3879" y="1555"/>
            <a:chExt cx="221" cy="172"/>
          </a:xfrm>
        </p:grpSpPr>
        <p:sp>
          <p:nvSpPr>
            <p:cNvPr id="6190" name="Rectangle 5173">
              <a:extLst>
                <a:ext uri="{FF2B5EF4-FFF2-40B4-BE49-F238E27FC236}">
                  <a16:creationId xmlns:a16="http://schemas.microsoft.com/office/drawing/2014/main" id="{216DC162-444C-4BEC-BDDC-1CAEF193E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8" y="1555"/>
              <a:ext cx="172" cy="131"/>
            </a:xfrm>
            <a:prstGeom prst="rect">
              <a:avLst/>
            </a:prstGeom>
            <a:solidFill>
              <a:srgbClr val="00CC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>
                <a:buFontTx/>
                <a:buNone/>
              </a:pPr>
              <a:endParaRPr lang="zh-CN" altLang="en-US" sz="2800">
                <a:ea typeface="楷体_GB2312" pitchFamily="49" charset="-122"/>
              </a:endParaRPr>
            </a:p>
          </p:txBody>
        </p:sp>
        <p:sp>
          <p:nvSpPr>
            <p:cNvPr id="6191" name="Rectangle 5174">
              <a:extLst>
                <a:ext uri="{FF2B5EF4-FFF2-40B4-BE49-F238E27FC236}">
                  <a16:creationId xmlns:a16="http://schemas.microsoft.com/office/drawing/2014/main" id="{C7804331-2CF5-402C-9A9D-44E5ED179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3" y="1577"/>
              <a:ext cx="172" cy="130"/>
            </a:xfrm>
            <a:prstGeom prst="rect">
              <a:avLst/>
            </a:prstGeom>
            <a:solidFill>
              <a:srgbClr val="00CC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>
                <a:buFontTx/>
                <a:buNone/>
              </a:pPr>
              <a:endParaRPr lang="zh-CN" altLang="en-US" sz="2800">
                <a:ea typeface="楷体_GB2312" pitchFamily="49" charset="-122"/>
              </a:endParaRPr>
            </a:p>
          </p:txBody>
        </p:sp>
        <p:sp>
          <p:nvSpPr>
            <p:cNvPr id="6192" name="Rectangle 5175">
              <a:extLst>
                <a:ext uri="{FF2B5EF4-FFF2-40B4-BE49-F238E27FC236}">
                  <a16:creationId xmlns:a16="http://schemas.microsoft.com/office/drawing/2014/main" id="{AE9B33FA-3F75-42DD-8521-6D6E7C4A6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1596"/>
              <a:ext cx="172" cy="131"/>
            </a:xfrm>
            <a:prstGeom prst="rect">
              <a:avLst/>
            </a:prstGeom>
            <a:solidFill>
              <a:srgbClr val="00CC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>
                <a:buFontTx/>
                <a:buNone/>
              </a:pPr>
              <a:endParaRPr lang="zh-CN" altLang="en-US" sz="2800">
                <a:ea typeface="楷体_GB2312" pitchFamily="49" charset="-122"/>
              </a:endParaRPr>
            </a:p>
          </p:txBody>
        </p:sp>
      </p:grpSp>
      <p:grpSp>
        <p:nvGrpSpPr>
          <p:cNvPr id="6151" name="Group 5176">
            <a:extLst>
              <a:ext uri="{FF2B5EF4-FFF2-40B4-BE49-F238E27FC236}">
                <a16:creationId xmlns:a16="http://schemas.microsoft.com/office/drawing/2014/main" id="{38EE6938-64D7-4F07-9E2C-B6049BFECF4F}"/>
              </a:ext>
            </a:extLst>
          </p:cNvPr>
          <p:cNvGrpSpPr>
            <a:grpSpLocks/>
          </p:cNvGrpSpPr>
          <p:nvPr/>
        </p:nvGrpSpPr>
        <p:grpSpPr bwMode="auto">
          <a:xfrm>
            <a:off x="6696075" y="4732338"/>
            <a:ext cx="727075" cy="742950"/>
            <a:chOff x="5131" y="3316"/>
            <a:chExt cx="192" cy="148"/>
          </a:xfrm>
        </p:grpSpPr>
        <p:grpSp>
          <p:nvGrpSpPr>
            <p:cNvPr id="6180" name="Group 5177">
              <a:extLst>
                <a:ext uri="{FF2B5EF4-FFF2-40B4-BE49-F238E27FC236}">
                  <a16:creationId xmlns:a16="http://schemas.microsoft.com/office/drawing/2014/main" id="{CB6459B3-E496-4DB2-B449-4BA782C66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1" y="3316"/>
              <a:ext cx="117" cy="147"/>
              <a:chOff x="5131" y="3316"/>
              <a:chExt cx="117" cy="147"/>
            </a:xfrm>
          </p:grpSpPr>
          <p:sp>
            <p:nvSpPr>
              <p:cNvPr id="6186" name="Freeform 5178">
                <a:extLst>
                  <a:ext uri="{FF2B5EF4-FFF2-40B4-BE49-F238E27FC236}">
                    <a16:creationId xmlns:a16="http://schemas.microsoft.com/office/drawing/2014/main" id="{4C7F97E6-A0A2-4A54-8F24-050CDB0F1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1" y="3316"/>
                <a:ext cx="117" cy="147"/>
              </a:xfrm>
              <a:custGeom>
                <a:avLst/>
                <a:gdLst>
                  <a:gd name="T0" fmla="*/ 0 w 117"/>
                  <a:gd name="T1" fmla="*/ 122 h 147"/>
                  <a:gd name="T2" fmla="*/ 1 w 117"/>
                  <a:gd name="T3" fmla="*/ 126 h 147"/>
                  <a:gd name="T4" fmla="*/ 3 w 117"/>
                  <a:gd name="T5" fmla="*/ 130 h 147"/>
                  <a:gd name="T6" fmla="*/ 8 w 117"/>
                  <a:gd name="T7" fmla="*/ 134 h 147"/>
                  <a:gd name="T8" fmla="*/ 14 w 117"/>
                  <a:gd name="T9" fmla="*/ 138 h 147"/>
                  <a:gd name="T10" fmla="*/ 21 w 117"/>
                  <a:gd name="T11" fmla="*/ 140 h 147"/>
                  <a:gd name="T12" fmla="*/ 30 w 117"/>
                  <a:gd name="T13" fmla="*/ 143 h 147"/>
                  <a:gd name="T14" fmla="*/ 40 w 117"/>
                  <a:gd name="T15" fmla="*/ 144 h 147"/>
                  <a:gd name="T16" fmla="*/ 49 w 117"/>
                  <a:gd name="T17" fmla="*/ 145 h 147"/>
                  <a:gd name="T18" fmla="*/ 60 w 117"/>
                  <a:gd name="T19" fmla="*/ 146 h 147"/>
                  <a:gd name="T20" fmla="*/ 70 w 117"/>
                  <a:gd name="T21" fmla="*/ 145 h 147"/>
                  <a:gd name="T22" fmla="*/ 80 w 117"/>
                  <a:gd name="T23" fmla="*/ 144 h 147"/>
                  <a:gd name="T24" fmla="*/ 90 w 117"/>
                  <a:gd name="T25" fmla="*/ 142 h 147"/>
                  <a:gd name="T26" fmla="*/ 98 w 117"/>
                  <a:gd name="T27" fmla="*/ 139 h 147"/>
                  <a:gd name="T28" fmla="*/ 104 w 117"/>
                  <a:gd name="T29" fmla="*/ 136 h 147"/>
                  <a:gd name="T30" fmla="*/ 109 w 117"/>
                  <a:gd name="T31" fmla="*/ 132 h 147"/>
                  <a:gd name="T32" fmla="*/ 113 w 117"/>
                  <a:gd name="T33" fmla="*/ 128 h 147"/>
                  <a:gd name="T34" fmla="*/ 115 w 117"/>
                  <a:gd name="T35" fmla="*/ 124 h 147"/>
                  <a:gd name="T36" fmla="*/ 116 w 117"/>
                  <a:gd name="T37" fmla="*/ 23 h 147"/>
                  <a:gd name="T38" fmla="*/ 114 w 117"/>
                  <a:gd name="T39" fmla="*/ 19 h 147"/>
                  <a:gd name="T40" fmla="*/ 112 w 117"/>
                  <a:gd name="T41" fmla="*/ 15 h 147"/>
                  <a:gd name="T42" fmla="*/ 107 w 117"/>
                  <a:gd name="T43" fmla="*/ 11 h 147"/>
                  <a:gd name="T44" fmla="*/ 101 w 117"/>
                  <a:gd name="T45" fmla="*/ 8 h 147"/>
                  <a:gd name="T46" fmla="*/ 93 w 117"/>
                  <a:gd name="T47" fmla="*/ 5 h 147"/>
                  <a:gd name="T48" fmla="*/ 85 w 117"/>
                  <a:gd name="T49" fmla="*/ 3 h 147"/>
                  <a:gd name="T50" fmla="*/ 75 w 117"/>
                  <a:gd name="T51" fmla="*/ 1 h 147"/>
                  <a:gd name="T52" fmla="*/ 66 w 117"/>
                  <a:gd name="T53" fmla="*/ 0 h 147"/>
                  <a:gd name="T54" fmla="*/ 55 w 117"/>
                  <a:gd name="T55" fmla="*/ 0 h 147"/>
                  <a:gd name="T56" fmla="*/ 45 w 117"/>
                  <a:gd name="T57" fmla="*/ 0 h 147"/>
                  <a:gd name="T58" fmla="*/ 35 w 117"/>
                  <a:gd name="T59" fmla="*/ 1 h 147"/>
                  <a:gd name="T60" fmla="*/ 25 w 117"/>
                  <a:gd name="T61" fmla="*/ 3 h 147"/>
                  <a:gd name="T62" fmla="*/ 17 w 117"/>
                  <a:gd name="T63" fmla="*/ 6 h 147"/>
                  <a:gd name="T64" fmla="*/ 11 w 117"/>
                  <a:gd name="T65" fmla="*/ 9 h 147"/>
                  <a:gd name="T66" fmla="*/ 5 w 117"/>
                  <a:gd name="T67" fmla="*/ 13 h 147"/>
                  <a:gd name="T68" fmla="*/ 1 w 117"/>
                  <a:gd name="T69" fmla="*/ 17 h 147"/>
                  <a:gd name="T70" fmla="*/ 0 w 117"/>
                  <a:gd name="T71" fmla="*/ 21 h 14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7"/>
                  <a:gd name="T109" fmla="*/ 0 h 147"/>
                  <a:gd name="T110" fmla="*/ 117 w 117"/>
                  <a:gd name="T111" fmla="*/ 147 h 147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7" h="147">
                    <a:moveTo>
                      <a:pt x="0" y="23"/>
                    </a:moveTo>
                    <a:lnTo>
                      <a:pt x="0" y="122"/>
                    </a:lnTo>
                    <a:lnTo>
                      <a:pt x="0" y="124"/>
                    </a:lnTo>
                    <a:lnTo>
                      <a:pt x="1" y="126"/>
                    </a:lnTo>
                    <a:lnTo>
                      <a:pt x="1" y="128"/>
                    </a:lnTo>
                    <a:lnTo>
                      <a:pt x="3" y="130"/>
                    </a:lnTo>
                    <a:lnTo>
                      <a:pt x="5" y="132"/>
                    </a:lnTo>
                    <a:lnTo>
                      <a:pt x="8" y="134"/>
                    </a:lnTo>
                    <a:lnTo>
                      <a:pt x="11" y="136"/>
                    </a:lnTo>
                    <a:lnTo>
                      <a:pt x="14" y="138"/>
                    </a:lnTo>
                    <a:lnTo>
                      <a:pt x="17" y="139"/>
                    </a:lnTo>
                    <a:lnTo>
                      <a:pt x="21" y="140"/>
                    </a:lnTo>
                    <a:lnTo>
                      <a:pt x="25" y="142"/>
                    </a:lnTo>
                    <a:lnTo>
                      <a:pt x="30" y="143"/>
                    </a:lnTo>
                    <a:lnTo>
                      <a:pt x="35" y="144"/>
                    </a:lnTo>
                    <a:lnTo>
                      <a:pt x="40" y="144"/>
                    </a:lnTo>
                    <a:lnTo>
                      <a:pt x="45" y="145"/>
                    </a:lnTo>
                    <a:lnTo>
                      <a:pt x="49" y="145"/>
                    </a:lnTo>
                    <a:lnTo>
                      <a:pt x="55" y="146"/>
                    </a:lnTo>
                    <a:lnTo>
                      <a:pt x="60" y="146"/>
                    </a:lnTo>
                    <a:lnTo>
                      <a:pt x="66" y="145"/>
                    </a:lnTo>
                    <a:lnTo>
                      <a:pt x="70" y="145"/>
                    </a:lnTo>
                    <a:lnTo>
                      <a:pt x="75" y="144"/>
                    </a:lnTo>
                    <a:lnTo>
                      <a:pt x="80" y="144"/>
                    </a:lnTo>
                    <a:lnTo>
                      <a:pt x="85" y="143"/>
                    </a:lnTo>
                    <a:lnTo>
                      <a:pt x="90" y="142"/>
                    </a:lnTo>
                    <a:lnTo>
                      <a:pt x="93" y="140"/>
                    </a:lnTo>
                    <a:lnTo>
                      <a:pt x="98" y="139"/>
                    </a:lnTo>
                    <a:lnTo>
                      <a:pt x="101" y="138"/>
                    </a:lnTo>
                    <a:lnTo>
                      <a:pt x="104" y="136"/>
                    </a:lnTo>
                    <a:lnTo>
                      <a:pt x="107" y="134"/>
                    </a:lnTo>
                    <a:lnTo>
                      <a:pt x="109" y="132"/>
                    </a:lnTo>
                    <a:lnTo>
                      <a:pt x="112" y="130"/>
                    </a:lnTo>
                    <a:lnTo>
                      <a:pt x="113" y="128"/>
                    </a:lnTo>
                    <a:lnTo>
                      <a:pt x="114" y="126"/>
                    </a:lnTo>
                    <a:lnTo>
                      <a:pt x="115" y="124"/>
                    </a:lnTo>
                    <a:lnTo>
                      <a:pt x="116" y="122"/>
                    </a:lnTo>
                    <a:lnTo>
                      <a:pt x="116" y="23"/>
                    </a:lnTo>
                    <a:lnTo>
                      <a:pt x="115" y="21"/>
                    </a:lnTo>
                    <a:lnTo>
                      <a:pt x="114" y="19"/>
                    </a:lnTo>
                    <a:lnTo>
                      <a:pt x="113" y="17"/>
                    </a:lnTo>
                    <a:lnTo>
                      <a:pt x="112" y="15"/>
                    </a:lnTo>
                    <a:lnTo>
                      <a:pt x="109" y="13"/>
                    </a:lnTo>
                    <a:lnTo>
                      <a:pt x="107" y="11"/>
                    </a:lnTo>
                    <a:lnTo>
                      <a:pt x="104" y="9"/>
                    </a:lnTo>
                    <a:lnTo>
                      <a:pt x="101" y="8"/>
                    </a:lnTo>
                    <a:lnTo>
                      <a:pt x="98" y="6"/>
                    </a:lnTo>
                    <a:lnTo>
                      <a:pt x="93" y="5"/>
                    </a:lnTo>
                    <a:lnTo>
                      <a:pt x="90" y="3"/>
                    </a:lnTo>
                    <a:lnTo>
                      <a:pt x="85" y="3"/>
                    </a:lnTo>
                    <a:lnTo>
                      <a:pt x="80" y="1"/>
                    </a:lnTo>
                    <a:lnTo>
                      <a:pt x="75" y="1"/>
                    </a:lnTo>
                    <a:lnTo>
                      <a:pt x="70" y="0"/>
                    </a:lnTo>
                    <a:lnTo>
                      <a:pt x="66" y="0"/>
                    </a:lnTo>
                    <a:lnTo>
                      <a:pt x="60" y="0"/>
                    </a:lnTo>
                    <a:lnTo>
                      <a:pt x="55" y="0"/>
                    </a:lnTo>
                    <a:lnTo>
                      <a:pt x="49" y="0"/>
                    </a:lnTo>
                    <a:lnTo>
                      <a:pt x="45" y="0"/>
                    </a:lnTo>
                    <a:lnTo>
                      <a:pt x="40" y="1"/>
                    </a:lnTo>
                    <a:lnTo>
                      <a:pt x="35" y="1"/>
                    </a:lnTo>
                    <a:lnTo>
                      <a:pt x="30" y="3"/>
                    </a:lnTo>
                    <a:lnTo>
                      <a:pt x="25" y="3"/>
                    </a:lnTo>
                    <a:lnTo>
                      <a:pt x="21" y="5"/>
                    </a:lnTo>
                    <a:lnTo>
                      <a:pt x="17" y="6"/>
                    </a:lnTo>
                    <a:lnTo>
                      <a:pt x="14" y="8"/>
                    </a:lnTo>
                    <a:lnTo>
                      <a:pt x="11" y="9"/>
                    </a:lnTo>
                    <a:lnTo>
                      <a:pt x="8" y="11"/>
                    </a:lnTo>
                    <a:lnTo>
                      <a:pt x="5" y="13"/>
                    </a:lnTo>
                    <a:lnTo>
                      <a:pt x="3" y="15"/>
                    </a:lnTo>
                    <a:lnTo>
                      <a:pt x="1" y="17"/>
                    </a:lnTo>
                    <a:lnTo>
                      <a:pt x="1" y="19"/>
                    </a:lnTo>
                    <a:lnTo>
                      <a:pt x="0" y="21"/>
                    </a:lnTo>
                    <a:lnTo>
                      <a:pt x="0" y="23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7" name="Freeform 5179">
                <a:extLst>
                  <a:ext uri="{FF2B5EF4-FFF2-40B4-BE49-F238E27FC236}">
                    <a16:creationId xmlns:a16="http://schemas.microsoft.com/office/drawing/2014/main" id="{D6DDAD6D-C55B-45CD-A185-3045498DF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1" y="3340"/>
                <a:ext cx="117" cy="24"/>
              </a:xfrm>
              <a:custGeom>
                <a:avLst/>
                <a:gdLst>
                  <a:gd name="T0" fmla="*/ 0 w 117"/>
                  <a:gd name="T1" fmla="*/ 0 h 24"/>
                  <a:gd name="T2" fmla="*/ 0 w 117"/>
                  <a:gd name="T3" fmla="*/ 1 h 24"/>
                  <a:gd name="T4" fmla="*/ 1 w 117"/>
                  <a:gd name="T5" fmla="*/ 3 h 24"/>
                  <a:gd name="T6" fmla="*/ 1 w 117"/>
                  <a:gd name="T7" fmla="*/ 5 h 24"/>
                  <a:gd name="T8" fmla="*/ 3 w 117"/>
                  <a:gd name="T9" fmla="*/ 7 h 24"/>
                  <a:gd name="T10" fmla="*/ 5 w 117"/>
                  <a:gd name="T11" fmla="*/ 9 h 24"/>
                  <a:gd name="T12" fmla="*/ 8 w 117"/>
                  <a:gd name="T13" fmla="*/ 11 h 24"/>
                  <a:gd name="T14" fmla="*/ 11 w 117"/>
                  <a:gd name="T15" fmla="*/ 13 h 24"/>
                  <a:gd name="T16" fmla="*/ 14 w 117"/>
                  <a:gd name="T17" fmla="*/ 15 h 24"/>
                  <a:gd name="T18" fmla="*/ 17 w 117"/>
                  <a:gd name="T19" fmla="*/ 16 h 24"/>
                  <a:gd name="T20" fmla="*/ 21 w 117"/>
                  <a:gd name="T21" fmla="*/ 17 h 24"/>
                  <a:gd name="T22" fmla="*/ 25 w 117"/>
                  <a:gd name="T23" fmla="*/ 19 h 24"/>
                  <a:gd name="T24" fmla="*/ 30 w 117"/>
                  <a:gd name="T25" fmla="*/ 20 h 24"/>
                  <a:gd name="T26" fmla="*/ 35 w 117"/>
                  <a:gd name="T27" fmla="*/ 21 h 24"/>
                  <a:gd name="T28" fmla="*/ 40 w 117"/>
                  <a:gd name="T29" fmla="*/ 21 h 24"/>
                  <a:gd name="T30" fmla="*/ 45 w 117"/>
                  <a:gd name="T31" fmla="*/ 22 h 24"/>
                  <a:gd name="T32" fmla="*/ 49 w 117"/>
                  <a:gd name="T33" fmla="*/ 22 h 24"/>
                  <a:gd name="T34" fmla="*/ 55 w 117"/>
                  <a:gd name="T35" fmla="*/ 23 h 24"/>
                  <a:gd name="T36" fmla="*/ 60 w 117"/>
                  <a:gd name="T37" fmla="*/ 23 h 24"/>
                  <a:gd name="T38" fmla="*/ 66 w 117"/>
                  <a:gd name="T39" fmla="*/ 22 h 24"/>
                  <a:gd name="T40" fmla="*/ 70 w 117"/>
                  <a:gd name="T41" fmla="*/ 22 h 24"/>
                  <a:gd name="T42" fmla="*/ 75 w 117"/>
                  <a:gd name="T43" fmla="*/ 21 h 24"/>
                  <a:gd name="T44" fmla="*/ 80 w 117"/>
                  <a:gd name="T45" fmla="*/ 21 h 24"/>
                  <a:gd name="T46" fmla="*/ 85 w 117"/>
                  <a:gd name="T47" fmla="*/ 20 h 24"/>
                  <a:gd name="T48" fmla="*/ 90 w 117"/>
                  <a:gd name="T49" fmla="*/ 19 h 24"/>
                  <a:gd name="T50" fmla="*/ 93 w 117"/>
                  <a:gd name="T51" fmla="*/ 17 h 24"/>
                  <a:gd name="T52" fmla="*/ 98 w 117"/>
                  <a:gd name="T53" fmla="*/ 16 h 24"/>
                  <a:gd name="T54" fmla="*/ 101 w 117"/>
                  <a:gd name="T55" fmla="*/ 15 h 24"/>
                  <a:gd name="T56" fmla="*/ 104 w 117"/>
                  <a:gd name="T57" fmla="*/ 13 h 24"/>
                  <a:gd name="T58" fmla="*/ 107 w 117"/>
                  <a:gd name="T59" fmla="*/ 11 h 24"/>
                  <a:gd name="T60" fmla="*/ 109 w 117"/>
                  <a:gd name="T61" fmla="*/ 9 h 24"/>
                  <a:gd name="T62" fmla="*/ 112 w 117"/>
                  <a:gd name="T63" fmla="*/ 7 h 24"/>
                  <a:gd name="T64" fmla="*/ 113 w 117"/>
                  <a:gd name="T65" fmla="*/ 5 h 24"/>
                  <a:gd name="T66" fmla="*/ 114 w 117"/>
                  <a:gd name="T67" fmla="*/ 3 h 24"/>
                  <a:gd name="T68" fmla="*/ 115 w 117"/>
                  <a:gd name="T69" fmla="*/ 1 h 24"/>
                  <a:gd name="T70" fmla="*/ 116 w 117"/>
                  <a:gd name="T71" fmla="*/ 0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7"/>
                  <a:gd name="T109" fmla="*/ 0 h 24"/>
                  <a:gd name="T110" fmla="*/ 117 w 117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7" h="24">
                    <a:moveTo>
                      <a:pt x="0" y="0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3" y="7"/>
                    </a:lnTo>
                    <a:lnTo>
                      <a:pt x="5" y="9"/>
                    </a:lnTo>
                    <a:lnTo>
                      <a:pt x="8" y="11"/>
                    </a:lnTo>
                    <a:lnTo>
                      <a:pt x="11" y="13"/>
                    </a:lnTo>
                    <a:lnTo>
                      <a:pt x="14" y="15"/>
                    </a:lnTo>
                    <a:lnTo>
                      <a:pt x="17" y="16"/>
                    </a:lnTo>
                    <a:lnTo>
                      <a:pt x="21" y="17"/>
                    </a:lnTo>
                    <a:lnTo>
                      <a:pt x="25" y="19"/>
                    </a:lnTo>
                    <a:lnTo>
                      <a:pt x="30" y="20"/>
                    </a:lnTo>
                    <a:lnTo>
                      <a:pt x="35" y="21"/>
                    </a:lnTo>
                    <a:lnTo>
                      <a:pt x="40" y="21"/>
                    </a:lnTo>
                    <a:lnTo>
                      <a:pt x="45" y="22"/>
                    </a:lnTo>
                    <a:lnTo>
                      <a:pt x="49" y="22"/>
                    </a:lnTo>
                    <a:lnTo>
                      <a:pt x="55" y="23"/>
                    </a:lnTo>
                    <a:lnTo>
                      <a:pt x="60" y="23"/>
                    </a:lnTo>
                    <a:lnTo>
                      <a:pt x="66" y="22"/>
                    </a:lnTo>
                    <a:lnTo>
                      <a:pt x="70" y="22"/>
                    </a:lnTo>
                    <a:lnTo>
                      <a:pt x="75" y="21"/>
                    </a:lnTo>
                    <a:lnTo>
                      <a:pt x="80" y="21"/>
                    </a:lnTo>
                    <a:lnTo>
                      <a:pt x="85" y="20"/>
                    </a:lnTo>
                    <a:lnTo>
                      <a:pt x="90" y="19"/>
                    </a:lnTo>
                    <a:lnTo>
                      <a:pt x="93" y="17"/>
                    </a:lnTo>
                    <a:lnTo>
                      <a:pt x="98" y="16"/>
                    </a:lnTo>
                    <a:lnTo>
                      <a:pt x="101" y="15"/>
                    </a:lnTo>
                    <a:lnTo>
                      <a:pt x="104" y="13"/>
                    </a:lnTo>
                    <a:lnTo>
                      <a:pt x="107" y="11"/>
                    </a:lnTo>
                    <a:lnTo>
                      <a:pt x="109" y="9"/>
                    </a:lnTo>
                    <a:lnTo>
                      <a:pt x="112" y="7"/>
                    </a:lnTo>
                    <a:lnTo>
                      <a:pt x="113" y="5"/>
                    </a:lnTo>
                    <a:lnTo>
                      <a:pt x="114" y="3"/>
                    </a:lnTo>
                    <a:lnTo>
                      <a:pt x="115" y="1"/>
                    </a:lnTo>
                    <a:lnTo>
                      <a:pt x="116" y="0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8" name="Freeform 5180">
                <a:extLst>
                  <a:ext uri="{FF2B5EF4-FFF2-40B4-BE49-F238E27FC236}">
                    <a16:creationId xmlns:a16="http://schemas.microsoft.com/office/drawing/2014/main" id="{4DE25F20-A9AD-40CC-8062-3280232046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1" y="3351"/>
                <a:ext cx="117" cy="25"/>
              </a:xfrm>
              <a:custGeom>
                <a:avLst/>
                <a:gdLst>
                  <a:gd name="T0" fmla="*/ 0 w 117"/>
                  <a:gd name="T1" fmla="*/ 0 h 25"/>
                  <a:gd name="T2" fmla="*/ 0 w 117"/>
                  <a:gd name="T3" fmla="*/ 2 h 25"/>
                  <a:gd name="T4" fmla="*/ 1 w 117"/>
                  <a:gd name="T5" fmla="*/ 4 h 25"/>
                  <a:gd name="T6" fmla="*/ 1 w 117"/>
                  <a:gd name="T7" fmla="*/ 6 h 25"/>
                  <a:gd name="T8" fmla="*/ 3 w 117"/>
                  <a:gd name="T9" fmla="*/ 8 h 25"/>
                  <a:gd name="T10" fmla="*/ 5 w 117"/>
                  <a:gd name="T11" fmla="*/ 10 h 25"/>
                  <a:gd name="T12" fmla="*/ 8 w 117"/>
                  <a:gd name="T13" fmla="*/ 12 h 25"/>
                  <a:gd name="T14" fmla="*/ 11 w 117"/>
                  <a:gd name="T15" fmla="*/ 14 h 25"/>
                  <a:gd name="T16" fmla="*/ 14 w 117"/>
                  <a:gd name="T17" fmla="*/ 15 h 25"/>
                  <a:gd name="T18" fmla="*/ 17 w 117"/>
                  <a:gd name="T19" fmla="*/ 17 h 25"/>
                  <a:gd name="T20" fmla="*/ 21 w 117"/>
                  <a:gd name="T21" fmla="*/ 18 h 25"/>
                  <a:gd name="T22" fmla="*/ 25 w 117"/>
                  <a:gd name="T23" fmla="*/ 20 h 25"/>
                  <a:gd name="T24" fmla="*/ 30 w 117"/>
                  <a:gd name="T25" fmla="*/ 20 h 25"/>
                  <a:gd name="T26" fmla="*/ 35 w 117"/>
                  <a:gd name="T27" fmla="*/ 22 h 25"/>
                  <a:gd name="T28" fmla="*/ 40 w 117"/>
                  <a:gd name="T29" fmla="*/ 22 h 25"/>
                  <a:gd name="T30" fmla="*/ 45 w 117"/>
                  <a:gd name="T31" fmla="*/ 23 h 25"/>
                  <a:gd name="T32" fmla="*/ 49 w 117"/>
                  <a:gd name="T33" fmla="*/ 23 h 25"/>
                  <a:gd name="T34" fmla="*/ 55 w 117"/>
                  <a:gd name="T35" fmla="*/ 24 h 25"/>
                  <a:gd name="T36" fmla="*/ 60 w 117"/>
                  <a:gd name="T37" fmla="*/ 24 h 25"/>
                  <a:gd name="T38" fmla="*/ 66 w 117"/>
                  <a:gd name="T39" fmla="*/ 23 h 25"/>
                  <a:gd name="T40" fmla="*/ 70 w 117"/>
                  <a:gd name="T41" fmla="*/ 23 h 25"/>
                  <a:gd name="T42" fmla="*/ 75 w 117"/>
                  <a:gd name="T43" fmla="*/ 22 h 25"/>
                  <a:gd name="T44" fmla="*/ 80 w 117"/>
                  <a:gd name="T45" fmla="*/ 22 h 25"/>
                  <a:gd name="T46" fmla="*/ 85 w 117"/>
                  <a:gd name="T47" fmla="*/ 20 h 25"/>
                  <a:gd name="T48" fmla="*/ 90 w 117"/>
                  <a:gd name="T49" fmla="*/ 20 h 25"/>
                  <a:gd name="T50" fmla="*/ 93 w 117"/>
                  <a:gd name="T51" fmla="*/ 18 h 25"/>
                  <a:gd name="T52" fmla="*/ 98 w 117"/>
                  <a:gd name="T53" fmla="*/ 17 h 25"/>
                  <a:gd name="T54" fmla="*/ 101 w 117"/>
                  <a:gd name="T55" fmla="*/ 15 h 25"/>
                  <a:gd name="T56" fmla="*/ 104 w 117"/>
                  <a:gd name="T57" fmla="*/ 14 h 25"/>
                  <a:gd name="T58" fmla="*/ 107 w 117"/>
                  <a:gd name="T59" fmla="*/ 12 h 25"/>
                  <a:gd name="T60" fmla="*/ 109 w 117"/>
                  <a:gd name="T61" fmla="*/ 10 h 25"/>
                  <a:gd name="T62" fmla="*/ 112 w 117"/>
                  <a:gd name="T63" fmla="*/ 8 h 25"/>
                  <a:gd name="T64" fmla="*/ 113 w 117"/>
                  <a:gd name="T65" fmla="*/ 6 h 25"/>
                  <a:gd name="T66" fmla="*/ 114 w 117"/>
                  <a:gd name="T67" fmla="*/ 4 h 25"/>
                  <a:gd name="T68" fmla="*/ 115 w 117"/>
                  <a:gd name="T69" fmla="*/ 2 h 25"/>
                  <a:gd name="T70" fmla="*/ 116 w 117"/>
                  <a:gd name="T71" fmla="*/ 0 h 2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7"/>
                  <a:gd name="T109" fmla="*/ 0 h 25"/>
                  <a:gd name="T110" fmla="*/ 117 w 117"/>
                  <a:gd name="T111" fmla="*/ 25 h 2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7" h="25">
                    <a:moveTo>
                      <a:pt x="0" y="0"/>
                    </a:moveTo>
                    <a:lnTo>
                      <a:pt x="0" y="2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5" y="10"/>
                    </a:lnTo>
                    <a:lnTo>
                      <a:pt x="8" y="12"/>
                    </a:lnTo>
                    <a:lnTo>
                      <a:pt x="11" y="14"/>
                    </a:lnTo>
                    <a:lnTo>
                      <a:pt x="14" y="15"/>
                    </a:lnTo>
                    <a:lnTo>
                      <a:pt x="17" y="17"/>
                    </a:lnTo>
                    <a:lnTo>
                      <a:pt x="21" y="18"/>
                    </a:lnTo>
                    <a:lnTo>
                      <a:pt x="25" y="20"/>
                    </a:lnTo>
                    <a:lnTo>
                      <a:pt x="30" y="20"/>
                    </a:lnTo>
                    <a:lnTo>
                      <a:pt x="35" y="22"/>
                    </a:lnTo>
                    <a:lnTo>
                      <a:pt x="40" y="22"/>
                    </a:lnTo>
                    <a:lnTo>
                      <a:pt x="45" y="23"/>
                    </a:lnTo>
                    <a:lnTo>
                      <a:pt x="49" y="23"/>
                    </a:lnTo>
                    <a:lnTo>
                      <a:pt x="55" y="24"/>
                    </a:lnTo>
                    <a:lnTo>
                      <a:pt x="60" y="24"/>
                    </a:lnTo>
                    <a:lnTo>
                      <a:pt x="66" y="23"/>
                    </a:lnTo>
                    <a:lnTo>
                      <a:pt x="70" y="23"/>
                    </a:lnTo>
                    <a:lnTo>
                      <a:pt x="75" y="22"/>
                    </a:lnTo>
                    <a:lnTo>
                      <a:pt x="80" y="22"/>
                    </a:lnTo>
                    <a:lnTo>
                      <a:pt x="85" y="20"/>
                    </a:lnTo>
                    <a:lnTo>
                      <a:pt x="90" y="20"/>
                    </a:lnTo>
                    <a:lnTo>
                      <a:pt x="93" y="18"/>
                    </a:lnTo>
                    <a:lnTo>
                      <a:pt x="98" y="17"/>
                    </a:lnTo>
                    <a:lnTo>
                      <a:pt x="101" y="15"/>
                    </a:lnTo>
                    <a:lnTo>
                      <a:pt x="104" y="14"/>
                    </a:lnTo>
                    <a:lnTo>
                      <a:pt x="107" y="12"/>
                    </a:lnTo>
                    <a:lnTo>
                      <a:pt x="109" y="10"/>
                    </a:lnTo>
                    <a:lnTo>
                      <a:pt x="112" y="8"/>
                    </a:lnTo>
                    <a:lnTo>
                      <a:pt x="113" y="6"/>
                    </a:lnTo>
                    <a:lnTo>
                      <a:pt x="114" y="4"/>
                    </a:lnTo>
                    <a:lnTo>
                      <a:pt x="115" y="2"/>
                    </a:lnTo>
                    <a:lnTo>
                      <a:pt x="116" y="0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9" name="Freeform 5181">
                <a:extLst>
                  <a:ext uri="{FF2B5EF4-FFF2-40B4-BE49-F238E27FC236}">
                    <a16:creationId xmlns:a16="http://schemas.microsoft.com/office/drawing/2014/main" id="{AB05AAB7-76C7-454B-9ED2-32F7BBF634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1" y="3363"/>
                <a:ext cx="117" cy="24"/>
              </a:xfrm>
              <a:custGeom>
                <a:avLst/>
                <a:gdLst>
                  <a:gd name="T0" fmla="*/ 0 w 117"/>
                  <a:gd name="T1" fmla="*/ 0 h 24"/>
                  <a:gd name="T2" fmla="*/ 0 w 117"/>
                  <a:gd name="T3" fmla="*/ 1 h 24"/>
                  <a:gd name="T4" fmla="*/ 1 w 117"/>
                  <a:gd name="T5" fmla="*/ 3 h 24"/>
                  <a:gd name="T6" fmla="*/ 1 w 117"/>
                  <a:gd name="T7" fmla="*/ 5 h 24"/>
                  <a:gd name="T8" fmla="*/ 3 w 117"/>
                  <a:gd name="T9" fmla="*/ 7 h 24"/>
                  <a:gd name="T10" fmla="*/ 5 w 117"/>
                  <a:gd name="T11" fmla="*/ 9 h 24"/>
                  <a:gd name="T12" fmla="*/ 8 w 117"/>
                  <a:gd name="T13" fmla="*/ 11 h 24"/>
                  <a:gd name="T14" fmla="*/ 11 w 117"/>
                  <a:gd name="T15" fmla="*/ 13 h 24"/>
                  <a:gd name="T16" fmla="*/ 14 w 117"/>
                  <a:gd name="T17" fmla="*/ 15 h 24"/>
                  <a:gd name="T18" fmla="*/ 17 w 117"/>
                  <a:gd name="T19" fmla="*/ 16 h 24"/>
                  <a:gd name="T20" fmla="*/ 21 w 117"/>
                  <a:gd name="T21" fmla="*/ 17 h 24"/>
                  <a:gd name="T22" fmla="*/ 25 w 117"/>
                  <a:gd name="T23" fmla="*/ 19 h 24"/>
                  <a:gd name="T24" fmla="*/ 30 w 117"/>
                  <a:gd name="T25" fmla="*/ 20 h 24"/>
                  <a:gd name="T26" fmla="*/ 35 w 117"/>
                  <a:gd name="T27" fmla="*/ 21 h 24"/>
                  <a:gd name="T28" fmla="*/ 40 w 117"/>
                  <a:gd name="T29" fmla="*/ 21 h 24"/>
                  <a:gd name="T30" fmla="*/ 45 w 117"/>
                  <a:gd name="T31" fmla="*/ 22 h 24"/>
                  <a:gd name="T32" fmla="*/ 49 w 117"/>
                  <a:gd name="T33" fmla="*/ 23 h 24"/>
                  <a:gd name="T34" fmla="*/ 55 w 117"/>
                  <a:gd name="T35" fmla="*/ 23 h 24"/>
                  <a:gd name="T36" fmla="*/ 60 w 117"/>
                  <a:gd name="T37" fmla="*/ 23 h 24"/>
                  <a:gd name="T38" fmla="*/ 66 w 117"/>
                  <a:gd name="T39" fmla="*/ 23 h 24"/>
                  <a:gd name="T40" fmla="*/ 70 w 117"/>
                  <a:gd name="T41" fmla="*/ 22 h 24"/>
                  <a:gd name="T42" fmla="*/ 75 w 117"/>
                  <a:gd name="T43" fmla="*/ 21 h 24"/>
                  <a:gd name="T44" fmla="*/ 80 w 117"/>
                  <a:gd name="T45" fmla="*/ 21 h 24"/>
                  <a:gd name="T46" fmla="*/ 85 w 117"/>
                  <a:gd name="T47" fmla="*/ 20 h 24"/>
                  <a:gd name="T48" fmla="*/ 90 w 117"/>
                  <a:gd name="T49" fmla="*/ 19 h 24"/>
                  <a:gd name="T50" fmla="*/ 93 w 117"/>
                  <a:gd name="T51" fmla="*/ 17 h 24"/>
                  <a:gd name="T52" fmla="*/ 98 w 117"/>
                  <a:gd name="T53" fmla="*/ 16 h 24"/>
                  <a:gd name="T54" fmla="*/ 101 w 117"/>
                  <a:gd name="T55" fmla="*/ 15 h 24"/>
                  <a:gd name="T56" fmla="*/ 104 w 117"/>
                  <a:gd name="T57" fmla="*/ 13 h 24"/>
                  <a:gd name="T58" fmla="*/ 107 w 117"/>
                  <a:gd name="T59" fmla="*/ 11 h 24"/>
                  <a:gd name="T60" fmla="*/ 109 w 117"/>
                  <a:gd name="T61" fmla="*/ 9 h 24"/>
                  <a:gd name="T62" fmla="*/ 112 w 117"/>
                  <a:gd name="T63" fmla="*/ 7 h 24"/>
                  <a:gd name="T64" fmla="*/ 113 w 117"/>
                  <a:gd name="T65" fmla="*/ 5 h 24"/>
                  <a:gd name="T66" fmla="*/ 114 w 117"/>
                  <a:gd name="T67" fmla="*/ 3 h 24"/>
                  <a:gd name="T68" fmla="*/ 115 w 117"/>
                  <a:gd name="T69" fmla="*/ 1 h 24"/>
                  <a:gd name="T70" fmla="*/ 116 w 117"/>
                  <a:gd name="T71" fmla="*/ 0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7"/>
                  <a:gd name="T109" fmla="*/ 0 h 24"/>
                  <a:gd name="T110" fmla="*/ 117 w 117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7" h="24">
                    <a:moveTo>
                      <a:pt x="0" y="0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3" y="7"/>
                    </a:lnTo>
                    <a:lnTo>
                      <a:pt x="5" y="9"/>
                    </a:lnTo>
                    <a:lnTo>
                      <a:pt x="8" y="11"/>
                    </a:lnTo>
                    <a:lnTo>
                      <a:pt x="11" y="13"/>
                    </a:lnTo>
                    <a:lnTo>
                      <a:pt x="14" y="15"/>
                    </a:lnTo>
                    <a:lnTo>
                      <a:pt x="17" y="16"/>
                    </a:lnTo>
                    <a:lnTo>
                      <a:pt x="21" y="17"/>
                    </a:lnTo>
                    <a:lnTo>
                      <a:pt x="25" y="19"/>
                    </a:lnTo>
                    <a:lnTo>
                      <a:pt x="30" y="20"/>
                    </a:lnTo>
                    <a:lnTo>
                      <a:pt x="35" y="21"/>
                    </a:lnTo>
                    <a:lnTo>
                      <a:pt x="40" y="21"/>
                    </a:lnTo>
                    <a:lnTo>
                      <a:pt x="45" y="22"/>
                    </a:lnTo>
                    <a:lnTo>
                      <a:pt x="49" y="23"/>
                    </a:lnTo>
                    <a:lnTo>
                      <a:pt x="55" y="23"/>
                    </a:lnTo>
                    <a:lnTo>
                      <a:pt x="60" y="23"/>
                    </a:lnTo>
                    <a:lnTo>
                      <a:pt x="66" y="23"/>
                    </a:lnTo>
                    <a:lnTo>
                      <a:pt x="70" y="22"/>
                    </a:lnTo>
                    <a:lnTo>
                      <a:pt x="75" y="21"/>
                    </a:lnTo>
                    <a:lnTo>
                      <a:pt x="80" y="21"/>
                    </a:lnTo>
                    <a:lnTo>
                      <a:pt x="85" y="20"/>
                    </a:lnTo>
                    <a:lnTo>
                      <a:pt x="90" y="19"/>
                    </a:lnTo>
                    <a:lnTo>
                      <a:pt x="93" y="17"/>
                    </a:lnTo>
                    <a:lnTo>
                      <a:pt x="98" y="16"/>
                    </a:lnTo>
                    <a:lnTo>
                      <a:pt x="101" y="15"/>
                    </a:lnTo>
                    <a:lnTo>
                      <a:pt x="104" y="13"/>
                    </a:lnTo>
                    <a:lnTo>
                      <a:pt x="107" y="11"/>
                    </a:lnTo>
                    <a:lnTo>
                      <a:pt x="109" y="9"/>
                    </a:lnTo>
                    <a:lnTo>
                      <a:pt x="112" y="7"/>
                    </a:lnTo>
                    <a:lnTo>
                      <a:pt x="113" y="5"/>
                    </a:lnTo>
                    <a:lnTo>
                      <a:pt x="114" y="3"/>
                    </a:lnTo>
                    <a:lnTo>
                      <a:pt x="115" y="1"/>
                    </a:lnTo>
                    <a:lnTo>
                      <a:pt x="116" y="0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181" name="Group 5182">
              <a:extLst>
                <a:ext uri="{FF2B5EF4-FFF2-40B4-BE49-F238E27FC236}">
                  <a16:creationId xmlns:a16="http://schemas.microsoft.com/office/drawing/2014/main" id="{446DA1B4-47A6-4600-A436-7F423096EC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5" y="3317"/>
              <a:ext cx="118" cy="147"/>
              <a:chOff x="5205" y="3317"/>
              <a:chExt cx="118" cy="147"/>
            </a:xfrm>
          </p:grpSpPr>
          <p:sp>
            <p:nvSpPr>
              <p:cNvPr id="6182" name="Freeform 5183">
                <a:extLst>
                  <a:ext uri="{FF2B5EF4-FFF2-40B4-BE49-F238E27FC236}">
                    <a16:creationId xmlns:a16="http://schemas.microsoft.com/office/drawing/2014/main" id="{6A3D7CD2-CF46-4C39-815F-96F6F1765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5" y="3317"/>
                <a:ext cx="118" cy="147"/>
              </a:xfrm>
              <a:custGeom>
                <a:avLst/>
                <a:gdLst>
                  <a:gd name="T0" fmla="*/ 0 w 118"/>
                  <a:gd name="T1" fmla="*/ 122 h 147"/>
                  <a:gd name="T2" fmla="*/ 1 w 118"/>
                  <a:gd name="T3" fmla="*/ 126 h 147"/>
                  <a:gd name="T4" fmla="*/ 3 w 118"/>
                  <a:gd name="T5" fmla="*/ 130 h 147"/>
                  <a:gd name="T6" fmla="*/ 8 w 118"/>
                  <a:gd name="T7" fmla="*/ 134 h 147"/>
                  <a:gd name="T8" fmla="*/ 14 w 118"/>
                  <a:gd name="T9" fmla="*/ 138 h 147"/>
                  <a:gd name="T10" fmla="*/ 21 w 118"/>
                  <a:gd name="T11" fmla="*/ 140 h 147"/>
                  <a:gd name="T12" fmla="*/ 30 w 118"/>
                  <a:gd name="T13" fmla="*/ 143 h 147"/>
                  <a:gd name="T14" fmla="*/ 40 w 118"/>
                  <a:gd name="T15" fmla="*/ 144 h 147"/>
                  <a:gd name="T16" fmla="*/ 50 w 118"/>
                  <a:gd name="T17" fmla="*/ 145 h 147"/>
                  <a:gd name="T18" fmla="*/ 61 w 118"/>
                  <a:gd name="T19" fmla="*/ 146 h 147"/>
                  <a:gd name="T20" fmla="*/ 71 w 118"/>
                  <a:gd name="T21" fmla="*/ 145 h 147"/>
                  <a:gd name="T22" fmla="*/ 81 w 118"/>
                  <a:gd name="T23" fmla="*/ 144 h 147"/>
                  <a:gd name="T24" fmla="*/ 90 w 118"/>
                  <a:gd name="T25" fmla="*/ 142 h 147"/>
                  <a:gd name="T26" fmla="*/ 98 w 118"/>
                  <a:gd name="T27" fmla="*/ 139 h 147"/>
                  <a:gd name="T28" fmla="*/ 105 w 118"/>
                  <a:gd name="T29" fmla="*/ 136 h 147"/>
                  <a:gd name="T30" fmla="*/ 110 w 118"/>
                  <a:gd name="T31" fmla="*/ 132 h 147"/>
                  <a:gd name="T32" fmla="*/ 114 w 118"/>
                  <a:gd name="T33" fmla="*/ 128 h 147"/>
                  <a:gd name="T34" fmla="*/ 116 w 118"/>
                  <a:gd name="T35" fmla="*/ 124 h 147"/>
                  <a:gd name="T36" fmla="*/ 117 w 118"/>
                  <a:gd name="T37" fmla="*/ 23 h 147"/>
                  <a:gd name="T38" fmla="*/ 115 w 118"/>
                  <a:gd name="T39" fmla="*/ 19 h 147"/>
                  <a:gd name="T40" fmla="*/ 113 w 118"/>
                  <a:gd name="T41" fmla="*/ 15 h 147"/>
                  <a:gd name="T42" fmla="*/ 108 w 118"/>
                  <a:gd name="T43" fmla="*/ 11 h 147"/>
                  <a:gd name="T44" fmla="*/ 102 w 118"/>
                  <a:gd name="T45" fmla="*/ 7 h 147"/>
                  <a:gd name="T46" fmla="*/ 94 w 118"/>
                  <a:gd name="T47" fmla="*/ 4 h 147"/>
                  <a:gd name="T48" fmla="*/ 86 w 118"/>
                  <a:gd name="T49" fmla="*/ 2 h 147"/>
                  <a:gd name="T50" fmla="*/ 76 w 118"/>
                  <a:gd name="T51" fmla="*/ 0 h 147"/>
                  <a:gd name="T52" fmla="*/ 66 w 118"/>
                  <a:gd name="T53" fmla="*/ 0 h 147"/>
                  <a:gd name="T54" fmla="*/ 55 w 118"/>
                  <a:gd name="T55" fmla="*/ 0 h 147"/>
                  <a:gd name="T56" fmla="*/ 45 w 118"/>
                  <a:gd name="T57" fmla="*/ 0 h 147"/>
                  <a:gd name="T58" fmla="*/ 35 w 118"/>
                  <a:gd name="T59" fmla="*/ 1 h 147"/>
                  <a:gd name="T60" fmla="*/ 26 w 118"/>
                  <a:gd name="T61" fmla="*/ 3 h 147"/>
                  <a:gd name="T62" fmla="*/ 17 w 118"/>
                  <a:gd name="T63" fmla="*/ 6 h 147"/>
                  <a:gd name="T64" fmla="*/ 11 w 118"/>
                  <a:gd name="T65" fmla="*/ 9 h 147"/>
                  <a:gd name="T66" fmla="*/ 5 w 118"/>
                  <a:gd name="T67" fmla="*/ 13 h 147"/>
                  <a:gd name="T68" fmla="*/ 1 w 118"/>
                  <a:gd name="T69" fmla="*/ 17 h 147"/>
                  <a:gd name="T70" fmla="*/ 0 w 118"/>
                  <a:gd name="T71" fmla="*/ 21 h 14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8"/>
                  <a:gd name="T109" fmla="*/ 0 h 147"/>
                  <a:gd name="T110" fmla="*/ 118 w 118"/>
                  <a:gd name="T111" fmla="*/ 147 h 147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8" h="147">
                    <a:moveTo>
                      <a:pt x="0" y="23"/>
                    </a:moveTo>
                    <a:lnTo>
                      <a:pt x="0" y="122"/>
                    </a:lnTo>
                    <a:lnTo>
                      <a:pt x="0" y="124"/>
                    </a:lnTo>
                    <a:lnTo>
                      <a:pt x="1" y="126"/>
                    </a:lnTo>
                    <a:lnTo>
                      <a:pt x="1" y="128"/>
                    </a:lnTo>
                    <a:lnTo>
                      <a:pt x="3" y="130"/>
                    </a:lnTo>
                    <a:lnTo>
                      <a:pt x="5" y="132"/>
                    </a:lnTo>
                    <a:lnTo>
                      <a:pt x="8" y="134"/>
                    </a:lnTo>
                    <a:lnTo>
                      <a:pt x="11" y="136"/>
                    </a:lnTo>
                    <a:lnTo>
                      <a:pt x="14" y="138"/>
                    </a:lnTo>
                    <a:lnTo>
                      <a:pt x="17" y="139"/>
                    </a:lnTo>
                    <a:lnTo>
                      <a:pt x="21" y="140"/>
                    </a:lnTo>
                    <a:lnTo>
                      <a:pt x="26" y="142"/>
                    </a:lnTo>
                    <a:lnTo>
                      <a:pt x="30" y="143"/>
                    </a:lnTo>
                    <a:lnTo>
                      <a:pt x="35" y="144"/>
                    </a:lnTo>
                    <a:lnTo>
                      <a:pt x="40" y="144"/>
                    </a:lnTo>
                    <a:lnTo>
                      <a:pt x="45" y="145"/>
                    </a:lnTo>
                    <a:lnTo>
                      <a:pt x="50" y="145"/>
                    </a:lnTo>
                    <a:lnTo>
                      <a:pt x="55" y="146"/>
                    </a:lnTo>
                    <a:lnTo>
                      <a:pt x="61" y="146"/>
                    </a:lnTo>
                    <a:lnTo>
                      <a:pt x="66" y="145"/>
                    </a:lnTo>
                    <a:lnTo>
                      <a:pt x="71" y="145"/>
                    </a:lnTo>
                    <a:lnTo>
                      <a:pt x="76" y="144"/>
                    </a:lnTo>
                    <a:lnTo>
                      <a:pt x="81" y="144"/>
                    </a:lnTo>
                    <a:lnTo>
                      <a:pt x="86" y="143"/>
                    </a:lnTo>
                    <a:lnTo>
                      <a:pt x="90" y="142"/>
                    </a:lnTo>
                    <a:lnTo>
                      <a:pt x="94" y="140"/>
                    </a:lnTo>
                    <a:lnTo>
                      <a:pt x="98" y="139"/>
                    </a:lnTo>
                    <a:lnTo>
                      <a:pt x="102" y="138"/>
                    </a:lnTo>
                    <a:lnTo>
                      <a:pt x="105" y="136"/>
                    </a:lnTo>
                    <a:lnTo>
                      <a:pt x="108" y="134"/>
                    </a:lnTo>
                    <a:lnTo>
                      <a:pt x="110" y="132"/>
                    </a:lnTo>
                    <a:lnTo>
                      <a:pt x="113" y="130"/>
                    </a:lnTo>
                    <a:lnTo>
                      <a:pt x="114" y="128"/>
                    </a:lnTo>
                    <a:lnTo>
                      <a:pt x="115" y="126"/>
                    </a:lnTo>
                    <a:lnTo>
                      <a:pt x="116" y="124"/>
                    </a:lnTo>
                    <a:lnTo>
                      <a:pt x="117" y="122"/>
                    </a:lnTo>
                    <a:lnTo>
                      <a:pt x="117" y="23"/>
                    </a:lnTo>
                    <a:lnTo>
                      <a:pt x="116" y="21"/>
                    </a:lnTo>
                    <a:lnTo>
                      <a:pt x="115" y="19"/>
                    </a:lnTo>
                    <a:lnTo>
                      <a:pt x="114" y="17"/>
                    </a:lnTo>
                    <a:lnTo>
                      <a:pt x="113" y="15"/>
                    </a:lnTo>
                    <a:lnTo>
                      <a:pt x="110" y="13"/>
                    </a:lnTo>
                    <a:lnTo>
                      <a:pt x="108" y="11"/>
                    </a:lnTo>
                    <a:lnTo>
                      <a:pt x="105" y="9"/>
                    </a:lnTo>
                    <a:lnTo>
                      <a:pt x="102" y="7"/>
                    </a:lnTo>
                    <a:lnTo>
                      <a:pt x="98" y="6"/>
                    </a:lnTo>
                    <a:lnTo>
                      <a:pt x="94" y="4"/>
                    </a:lnTo>
                    <a:lnTo>
                      <a:pt x="90" y="3"/>
                    </a:lnTo>
                    <a:lnTo>
                      <a:pt x="86" y="2"/>
                    </a:lnTo>
                    <a:lnTo>
                      <a:pt x="81" y="1"/>
                    </a:lnTo>
                    <a:lnTo>
                      <a:pt x="76" y="0"/>
                    </a:lnTo>
                    <a:lnTo>
                      <a:pt x="71" y="0"/>
                    </a:lnTo>
                    <a:lnTo>
                      <a:pt x="66" y="0"/>
                    </a:lnTo>
                    <a:lnTo>
                      <a:pt x="61" y="0"/>
                    </a:lnTo>
                    <a:lnTo>
                      <a:pt x="55" y="0"/>
                    </a:lnTo>
                    <a:lnTo>
                      <a:pt x="50" y="0"/>
                    </a:lnTo>
                    <a:lnTo>
                      <a:pt x="45" y="0"/>
                    </a:lnTo>
                    <a:lnTo>
                      <a:pt x="40" y="0"/>
                    </a:lnTo>
                    <a:lnTo>
                      <a:pt x="35" y="1"/>
                    </a:lnTo>
                    <a:lnTo>
                      <a:pt x="30" y="2"/>
                    </a:lnTo>
                    <a:lnTo>
                      <a:pt x="26" y="3"/>
                    </a:lnTo>
                    <a:lnTo>
                      <a:pt x="21" y="4"/>
                    </a:lnTo>
                    <a:lnTo>
                      <a:pt x="17" y="6"/>
                    </a:lnTo>
                    <a:lnTo>
                      <a:pt x="14" y="7"/>
                    </a:lnTo>
                    <a:lnTo>
                      <a:pt x="11" y="9"/>
                    </a:lnTo>
                    <a:lnTo>
                      <a:pt x="8" y="11"/>
                    </a:lnTo>
                    <a:lnTo>
                      <a:pt x="5" y="13"/>
                    </a:lnTo>
                    <a:lnTo>
                      <a:pt x="3" y="15"/>
                    </a:lnTo>
                    <a:lnTo>
                      <a:pt x="1" y="17"/>
                    </a:lnTo>
                    <a:lnTo>
                      <a:pt x="1" y="19"/>
                    </a:lnTo>
                    <a:lnTo>
                      <a:pt x="0" y="21"/>
                    </a:lnTo>
                    <a:lnTo>
                      <a:pt x="0" y="23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3" name="Freeform 5184">
                <a:extLst>
                  <a:ext uri="{FF2B5EF4-FFF2-40B4-BE49-F238E27FC236}">
                    <a16:creationId xmlns:a16="http://schemas.microsoft.com/office/drawing/2014/main" id="{E6DFF626-385A-4AD3-8173-9331B65C5F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5" y="3340"/>
                <a:ext cx="118" cy="24"/>
              </a:xfrm>
              <a:custGeom>
                <a:avLst/>
                <a:gdLst>
                  <a:gd name="T0" fmla="*/ 0 w 118"/>
                  <a:gd name="T1" fmla="*/ 0 h 24"/>
                  <a:gd name="T2" fmla="*/ 0 w 118"/>
                  <a:gd name="T3" fmla="*/ 1 h 24"/>
                  <a:gd name="T4" fmla="*/ 1 w 118"/>
                  <a:gd name="T5" fmla="*/ 4 h 24"/>
                  <a:gd name="T6" fmla="*/ 1 w 118"/>
                  <a:gd name="T7" fmla="*/ 6 h 24"/>
                  <a:gd name="T8" fmla="*/ 3 w 118"/>
                  <a:gd name="T9" fmla="*/ 8 h 24"/>
                  <a:gd name="T10" fmla="*/ 5 w 118"/>
                  <a:gd name="T11" fmla="*/ 10 h 24"/>
                  <a:gd name="T12" fmla="*/ 8 w 118"/>
                  <a:gd name="T13" fmla="*/ 11 h 24"/>
                  <a:gd name="T14" fmla="*/ 11 w 118"/>
                  <a:gd name="T15" fmla="*/ 13 h 24"/>
                  <a:gd name="T16" fmla="*/ 14 w 118"/>
                  <a:gd name="T17" fmla="*/ 15 h 24"/>
                  <a:gd name="T18" fmla="*/ 17 w 118"/>
                  <a:gd name="T19" fmla="*/ 16 h 24"/>
                  <a:gd name="T20" fmla="*/ 21 w 118"/>
                  <a:gd name="T21" fmla="*/ 17 h 24"/>
                  <a:gd name="T22" fmla="*/ 26 w 118"/>
                  <a:gd name="T23" fmla="*/ 19 h 24"/>
                  <a:gd name="T24" fmla="*/ 30 w 118"/>
                  <a:gd name="T25" fmla="*/ 20 h 24"/>
                  <a:gd name="T26" fmla="*/ 35 w 118"/>
                  <a:gd name="T27" fmla="*/ 21 h 24"/>
                  <a:gd name="T28" fmla="*/ 40 w 118"/>
                  <a:gd name="T29" fmla="*/ 21 h 24"/>
                  <a:gd name="T30" fmla="*/ 45 w 118"/>
                  <a:gd name="T31" fmla="*/ 22 h 24"/>
                  <a:gd name="T32" fmla="*/ 50 w 118"/>
                  <a:gd name="T33" fmla="*/ 22 h 24"/>
                  <a:gd name="T34" fmla="*/ 55 w 118"/>
                  <a:gd name="T35" fmla="*/ 23 h 24"/>
                  <a:gd name="T36" fmla="*/ 61 w 118"/>
                  <a:gd name="T37" fmla="*/ 23 h 24"/>
                  <a:gd name="T38" fmla="*/ 66 w 118"/>
                  <a:gd name="T39" fmla="*/ 22 h 24"/>
                  <a:gd name="T40" fmla="*/ 71 w 118"/>
                  <a:gd name="T41" fmla="*/ 22 h 24"/>
                  <a:gd name="T42" fmla="*/ 76 w 118"/>
                  <a:gd name="T43" fmla="*/ 21 h 24"/>
                  <a:gd name="T44" fmla="*/ 81 w 118"/>
                  <a:gd name="T45" fmla="*/ 21 h 24"/>
                  <a:gd name="T46" fmla="*/ 86 w 118"/>
                  <a:gd name="T47" fmla="*/ 20 h 24"/>
                  <a:gd name="T48" fmla="*/ 90 w 118"/>
                  <a:gd name="T49" fmla="*/ 19 h 24"/>
                  <a:gd name="T50" fmla="*/ 94 w 118"/>
                  <a:gd name="T51" fmla="*/ 17 h 24"/>
                  <a:gd name="T52" fmla="*/ 98 w 118"/>
                  <a:gd name="T53" fmla="*/ 16 h 24"/>
                  <a:gd name="T54" fmla="*/ 102 w 118"/>
                  <a:gd name="T55" fmla="*/ 15 h 24"/>
                  <a:gd name="T56" fmla="*/ 105 w 118"/>
                  <a:gd name="T57" fmla="*/ 13 h 24"/>
                  <a:gd name="T58" fmla="*/ 108 w 118"/>
                  <a:gd name="T59" fmla="*/ 11 h 24"/>
                  <a:gd name="T60" fmla="*/ 110 w 118"/>
                  <a:gd name="T61" fmla="*/ 10 h 24"/>
                  <a:gd name="T62" fmla="*/ 113 w 118"/>
                  <a:gd name="T63" fmla="*/ 8 h 24"/>
                  <a:gd name="T64" fmla="*/ 114 w 118"/>
                  <a:gd name="T65" fmla="*/ 6 h 24"/>
                  <a:gd name="T66" fmla="*/ 115 w 118"/>
                  <a:gd name="T67" fmla="*/ 4 h 24"/>
                  <a:gd name="T68" fmla="*/ 116 w 118"/>
                  <a:gd name="T69" fmla="*/ 1 h 24"/>
                  <a:gd name="T70" fmla="*/ 117 w 118"/>
                  <a:gd name="T71" fmla="*/ 0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8"/>
                  <a:gd name="T109" fmla="*/ 0 h 24"/>
                  <a:gd name="T110" fmla="*/ 118 w 118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8" h="24">
                    <a:moveTo>
                      <a:pt x="0" y="0"/>
                    </a:moveTo>
                    <a:lnTo>
                      <a:pt x="0" y="1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5" y="10"/>
                    </a:lnTo>
                    <a:lnTo>
                      <a:pt x="8" y="11"/>
                    </a:lnTo>
                    <a:lnTo>
                      <a:pt x="11" y="13"/>
                    </a:lnTo>
                    <a:lnTo>
                      <a:pt x="14" y="15"/>
                    </a:lnTo>
                    <a:lnTo>
                      <a:pt x="17" y="16"/>
                    </a:lnTo>
                    <a:lnTo>
                      <a:pt x="21" y="17"/>
                    </a:lnTo>
                    <a:lnTo>
                      <a:pt x="26" y="19"/>
                    </a:lnTo>
                    <a:lnTo>
                      <a:pt x="30" y="20"/>
                    </a:lnTo>
                    <a:lnTo>
                      <a:pt x="35" y="21"/>
                    </a:lnTo>
                    <a:lnTo>
                      <a:pt x="40" y="21"/>
                    </a:lnTo>
                    <a:lnTo>
                      <a:pt x="45" y="22"/>
                    </a:lnTo>
                    <a:lnTo>
                      <a:pt x="50" y="22"/>
                    </a:lnTo>
                    <a:lnTo>
                      <a:pt x="55" y="23"/>
                    </a:lnTo>
                    <a:lnTo>
                      <a:pt x="61" y="23"/>
                    </a:lnTo>
                    <a:lnTo>
                      <a:pt x="66" y="22"/>
                    </a:lnTo>
                    <a:lnTo>
                      <a:pt x="71" y="22"/>
                    </a:lnTo>
                    <a:lnTo>
                      <a:pt x="76" y="21"/>
                    </a:lnTo>
                    <a:lnTo>
                      <a:pt x="81" y="21"/>
                    </a:lnTo>
                    <a:lnTo>
                      <a:pt x="86" y="20"/>
                    </a:lnTo>
                    <a:lnTo>
                      <a:pt x="90" y="19"/>
                    </a:lnTo>
                    <a:lnTo>
                      <a:pt x="94" y="17"/>
                    </a:lnTo>
                    <a:lnTo>
                      <a:pt x="98" y="16"/>
                    </a:lnTo>
                    <a:lnTo>
                      <a:pt x="102" y="15"/>
                    </a:lnTo>
                    <a:lnTo>
                      <a:pt x="105" y="13"/>
                    </a:lnTo>
                    <a:lnTo>
                      <a:pt x="108" y="11"/>
                    </a:lnTo>
                    <a:lnTo>
                      <a:pt x="110" y="10"/>
                    </a:lnTo>
                    <a:lnTo>
                      <a:pt x="113" y="8"/>
                    </a:lnTo>
                    <a:lnTo>
                      <a:pt x="114" y="6"/>
                    </a:lnTo>
                    <a:lnTo>
                      <a:pt x="115" y="4"/>
                    </a:lnTo>
                    <a:lnTo>
                      <a:pt x="116" y="1"/>
                    </a:lnTo>
                    <a:lnTo>
                      <a:pt x="117" y="0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4" name="Freeform 5185">
                <a:extLst>
                  <a:ext uri="{FF2B5EF4-FFF2-40B4-BE49-F238E27FC236}">
                    <a16:creationId xmlns:a16="http://schemas.microsoft.com/office/drawing/2014/main" id="{D4732A33-5347-4470-A8F0-58406BB4A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5" y="3352"/>
                <a:ext cx="118" cy="24"/>
              </a:xfrm>
              <a:custGeom>
                <a:avLst/>
                <a:gdLst>
                  <a:gd name="T0" fmla="*/ 0 w 118"/>
                  <a:gd name="T1" fmla="*/ 0 h 24"/>
                  <a:gd name="T2" fmla="*/ 0 w 118"/>
                  <a:gd name="T3" fmla="*/ 1 h 24"/>
                  <a:gd name="T4" fmla="*/ 1 w 118"/>
                  <a:gd name="T5" fmla="*/ 3 h 24"/>
                  <a:gd name="T6" fmla="*/ 1 w 118"/>
                  <a:gd name="T7" fmla="*/ 5 h 24"/>
                  <a:gd name="T8" fmla="*/ 3 w 118"/>
                  <a:gd name="T9" fmla="*/ 7 h 24"/>
                  <a:gd name="T10" fmla="*/ 5 w 118"/>
                  <a:gd name="T11" fmla="*/ 9 h 24"/>
                  <a:gd name="T12" fmla="*/ 8 w 118"/>
                  <a:gd name="T13" fmla="*/ 11 h 24"/>
                  <a:gd name="T14" fmla="*/ 11 w 118"/>
                  <a:gd name="T15" fmla="*/ 13 h 24"/>
                  <a:gd name="T16" fmla="*/ 14 w 118"/>
                  <a:gd name="T17" fmla="*/ 14 h 24"/>
                  <a:gd name="T18" fmla="*/ 17 w 118"/>
                  <a:gd name="T19" fmla="*/ 16 h 24"/>
                  <a:gd name="T20" fmla="*/ 21 w 118"/>
                  <a:gd name="T21" fmla="*/ 17 h 24"/>
                  <a:gd name="T22" fmla="*/ 26 w 118"/>
                  <a:gd name="T23" fmla="*/ 19 h 24"/>
                  <a:gd name="T24" fmla="*/ 30 w 118"/>
                  <a:gd name="T25" fmla="*/ 19 h 24"/>
                  <a:gd name="T26" fmla="*/ 35 w 118"/>
                  <a:gd name="T27" fmla="*/ 21 h 24"/>
                  <a:gd name="T28" fmla="*/ 40 w 118"/>
                  <a:gd name="T29" fmla="*/ 21 h 24"/>
                  <a:gd name="T30" fmla="*/ 45 w 118"/>
                  <a:gd name="T31" fmla="*/ 22 h 24"/>
                  <a:gd name="T32" fmla="*/ 50 w 118"/>
                  <a:gd name="T33" fmla="*/ 22 h 24"/>
                  <a:gd name="T34" fmla="*/ 55 w 118"/>
                  <a:gd name="T35" fmla="*/ 23 h 24"/>
                  <a:gd name="T36" fmla="*/ 61 w 118"/>
                  <a:gd name="T37" fmla="*/ 23 h 24"/>
                  <a:gd name="T38" fmla="*/ 66 w 118"/>
                  <a:gd name="T39" fmla="*/ 22 h 24"/>
                  <a:gd name="T40" fmla="*/ 71 w 118"/>
                  <a:gd name="T41" fmla="*/ 22 h 24"/>
                  <a:gd name="T42" fmla="*/ 76 w 118"/>
                  <a:gd name="T43" fmla="*/ 21 h 24"/>
                  <a:gd name="T44" fmla="*/ 81 w 118"/>
                  <a:gd name="T45" fmla="*/ 21 h 24"/>
                  <a:gd name="T46" fmla="*/ 86 w 118"/>
                  <a:gd name="T47" fmla="*/ 19 h 24"/>
                  <a:gd name="T48" fmla="*/ 90 w 118"/>
                  <a:gd name="T49" fmla="*/ 19 h 24"/>
                  <a:gd name="T50" fmla="*/ 94 w 118"/>
                  <a:gd name="T51" fmla="*/ 17 h 24"/>
                  <a:gd name="T52" fmla="*/ 98 w 118"/>
                  <a:gd name="T53" fmla="*/ 16 h 24"/>
                  <a:gd name="T54" fmla="*/ 102 w 118"/>
                  <a:gd name="T55" fmla="*/ 14 h 24"/>
                  <a:gd name="T56" fmla="*/ 105 w 118"/>
                  <a:gd name="T57" fmla="*/ 13 h 24"/>
                  <a:gd name="T58" fmla="*/ 108 w 118"/>
                  <a:gd name="T59" fmla="*/ 11 h 24"/>
                  <a:gd name="T60" fmla="*/ 110 w 118"/>
                  <a:gd name="T61" fmla="*/ 9 h 24"/>
                  <a:gd name="T62" fmla="*/ 113 w 118"/>
                  <a:gd name="T63" fmla="*/ 7 h 24"/>
                  <a:gd name="T64" fmla="*/ 114 w 118"/>
                  <a:gd name="T65" fmla="*/ 5 h 24"/>
                  <a:gd name="T66" fmla="*/ 115 w 118"/>
                  <a:gd name="T67" fmla="*/ 3 h 24"/>
                  <a:gd name="T68" fmla="*/ 116 w 118"/>
                  <a:gd name="T69" fmla="*/ 1 h 24"/>
                  <a:gd name="T70" fmla="*/ 117 w 118"/>
                  <a:gd name="T71" fmla="*/ 0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8"/>
                  <a:gd name="T109" fmla="*/ 0 h 24"/>
                  <a:gd name="T110" fmla="*/ 118 w 118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8" h="24">
                    <a:moveTo>
                      <a:pt x="0" y="0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3" y="7"/>
                    </a:lnTo>
                    <a:lnTo>
                      <a:pt x="5" y="9"/>
                    </a:lnTo>
                    <a:lnTo>
                      <a:pt x="8" y="11"/>
                    </a:lnTo>
                    <a:lnTo>
                      <a:pt x="11" y="13"/>
                    </a:lnTo>
                    <a:lnTo>
                      <a:pt x="14" y="14"/>
                    </a:lnTo>
                    <a:lnTo>
                      <a:pt x="17" y="16"/>
                    </a:lnTo>
                    <a:lnTo>
                      <a:pt x="21" y="17"/>
                    </a:lnTo>
                    <a:lnTo>
                      <a:pt x="26" y="19"/>
                    </a:lnTo>
                    <a:lnTo>
                      <a:pt x="30" y="19"/>
                    </a:lnTo>
                    <a:lnTo>
                      <a:pt x="35" y="21"/>
                    </a:lnTo>
                    <a:lnTo>
                      <a:pt x="40" y="21"/>
                    </a:lnTo>
                    <a:lnTo>
                      <a:pt x="45" y="22"/>
                    </a:lnTo>
                    <a:lnTo>
                      <a:pt x="50" y="22"/>
                    </a:lnTo>
                    <a:lnTo>
                      <a:pt x="55" y="23"/>
                    </a:lnTo>
                    <a:lnTo>
                      <a:pt x="61" y="23"/>
                    </a:lnTo>
                    <a:lnTo>
                      <a:pt x="66" y="22"/>
                    </a:lnTo>
                    <a:lnTo>
                      <a:pt x="71" y="22"/>
                    </a:lnTo>
                    <a:lnTo>
                      <a:pt x="76" y="21"/>
                    </a:lnTo>
                    <a:lnTo>
                      <a:pt x="81" y="21"/>
                    </a:lnTo>
                    <a:lnTo>
                      <a:pt x="86" y="19"/>
                    </a:lnTo>
                    <a:lnTo>
                      <a:pt x="90" y="19"/>
                    </a:lnTo>
                    <a:lnTo>
                      <a:pt x="94" y="17"/>
                    </a:lnTo>
                    <a:lnTo>
                      <a:pt x="98" y="16"/>
                    </a:lnTo>
                    <a:lnTo>
                      <a:pt x="102" y="14"/>
                    </a:lnTo>
                    <a:lnTo>
                      <a:pt x="105" y="13"/>
                    </a:lnTo>
                    <a:lnTo>
                      <a:pt x="108" y="11"/>
                    </a:lnTo>
                    <a:lnTo>
                      <a:pt x="110" y="9"/>
                    </a:lnTo>
                    <a:lnTo>
                      <a:pt x="113" y="7"/>
                    </a:lnTo>
                    <a:lnTo>
                      <a:pt x="114" y="5"/>
                    </a:lnTo>
                    <a:lnTo>
                      <a:pt x="115" y="3"/>
                    </a:lnTo>
                    <a:lnTo>
                      <a:pt x="116" y="1"/>
                    </a:lnTo>
                    <a:lnTo>
                      <a:pt x="117" y="0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5" name="Freeform 5186">
                <a:extLst>
                  <a:ext uri="{FF2B5EF4-FFF2-40B4-BE49-F238E27FC236}">
                    <a16:creationId xmlns:a16="http://schemas.microsoft.com/office/drawing/2014/main" id="{C910D0A0-7B22-482D-9349-0A5E3342F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5" y="3363"/>
                <a:ext cx="118" cy="24"/>
              </a:xfrm>
              <a:custGeom>
                <a:avLst/>
                <a:gdLst>
                  <a:gd name="T0" fmla="*/ 0 w 118"/>
                  <a:gd name="T1" fmla="*/ 0 h 24"/>
                  <a:gd name="T2" fmla="*/ 0 w 118"/>
                  <a:gd name="T3" fmla="*/ 1 h 24"/>
                  <a:gd name="T4" fmla="*/ 1 w 118"/>
                  <a:gd name="T5" fmla="*/ 3 h 24"/>
                  <a:gd name="T6" fmla="*/ 1 w 118"/>
                  <a:gd name="T7" fmla="*/ 5 h 24"/>
                  <a:gd name="T8" fmla="*/ 3 w 118"/>
                  <a:gd name="T9" fmla="*/ 7 h 24"/>
                  <a:gd name="T10" fmla="*/ 5 w 118"/>
                  <a:gd name="T11" fmla="*/ 9 h 24"/>
                  <a:gd name="T12" fmla="*/ 8 w 118"/>
                  <a:gd name="T13" fmla="*/ 11 h 24"/>
                  <a:gd name="T14" fmla="*/ 11 w 118"/>
                  <a:gd name="T15" fmla="*/ 13 h 24"/>
                  <a:gd name="T16" fmla="*/ 14 w 118"/>
                  <a:gd name="T17" fmla="*/ 15 h 24"/>
                  <a:gd name="T18" fmla="*/ 17 w 118"/>
                  <a:gd name="T19" fmla="*/ 17 h 24"/>
                  <a:gd name="T20" fmla="*/ 21 w 118"/>
                  <a:gd name="T21" fmla="*/ 17 h 24"/>
                  <a:gd name="T22" fmla="*/ 26 w 118"/>
                  <a:gd name="T23" fmla="*/ 19 h 24"/>
                  <a:gd name="T24" fmla="*/ 30 w 118"/>
                  <a:gd name="T25" fmla="*/ 20 h 24"/>
                  <a:gd name="T26" fmla="*/ 35 w 118"/>
                  <a:gd name="T27" fmla="*/ 21 h 24"/>
                  <a:gd name="T28" fmla="*/ 40 w 118"/>
                  <a:gd name="T29" fmla="*/ 21 h 24"/>
                  <a:gd name="T30" fmla="*/ 45 w 118"/>
                  <a:gd name="T31" fmla="*/ 22 h 24"/>
                  <a:gd name="T32" fmla="*/ 50 w 118"/>
                  <a:gd name="T33" fmla="*/ 23 h 24"/>
                  <a:gd name="T34" fmla="*/ 55 w 118"/>
                  <a:gd name="T35" fmla="*/ 23 h 24"/>
                  <a:gd name="T36" fmla="*/ 61 w 118"/>
                  <a:gd name="T37" fmla="*/ 23 h 24"/>
                  <a:gd name="T38" fmla="*/ 66 w 118"/>
                  <a:gd name="T39" fmla="*/ 23 h 24"/>
                  <a:gd name="T40" fmla="*/ 71 w 118"/>
                  <a:gd name="T41" fmla="*/ 22 h 24"/>
                  <a:gd name="T42" fmla="*/ 76 w 118"/>
                  <a:gd name="T43" fmla="*/ 21 h 24"/>
                  <a:gd name="T44" fmla="*/ 81 w 118"/>
                  <a:gd name="T45" fmla="*/ 21 h 24"/>
                  <a:gd name="T46" fmla="*/ 86 w 118"/>
                  <a:gd name="T47" fmla="*/ 20 h 24"/>
                  <a:gd name="T48" fmla="*/ 90 w 118"/>
                  <a:gd name="T49" fmla="*/ 19 h 24"/>
                  <a:gd name="T50" fmla="*/ 94 w 118"/>
                  <a:gd name="T51" fmla="*/ 17 h 24"/>
                  <a:gd name="T52" fmla="*/ 98 w 118"/>
                  <a:gd name="T53" fmla="*/ 17 h 24"/>
                  <a:gd name="T54" fmla="*/ 102 w 118"/>
                  <a:gd name="T55" fmla="*/ 15 h 24"/>
                  <a:gd name="T56" fmla="*/ 105 w 118"/>
                  <a:gd name="T57" fmla="*/ 13 h 24"/>
                  <a:gd name="T58" fmla="*/ 108 w 118"/>
                  <a:gd name="T59" fmla="*/ 11 h 24"/>
                  <a:gd name="T60" fmla="*/ 110 w 118"/>
                  <a:gd name="T61" fmla="*/ 9 h 24"/>
                  <a:gd name="T62" fmla="*/ 113 w 118"/>
                  <a:gd name="T63" fmla="*/ 7 h 24"/>
                  <a:gd name="T64" fmla="*/ 114 w 118"/>
                  <a:gd name="T65" fmla="*/ 5 h 24"/>
                  <a:gd name="T66" fmla="*/ 115 w 118"/>
                  <a:gd name="T67" fmla="*/ 3 h 24"/>
                  <a:gd name="T68" fmla="*/ 116 w 118"/>
                  <a:gd name="T69" fmla="*/ 1 h 24"/>
                  <a:gd name="T70" fmla="*/ 117 w 118"/>
                  <a:gd name="T71" fmla="*/ 0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8"/>
                  <a:gd name="T109" fmla="*/ 0 h 24"/>
                  <a:gd name="T110" fmla="*/ 118 w 118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8" h="24">
                    <a:moveTo>
                      <a:pt x="0" y="0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3" y="7"/>
                    </a:lnTo>
                    <a:lnTo>
                      <a:pt x="5" y="9"/>
                    </a:lnTo>
                    <a:lnTo>
                      <a:pt x="8" y="11"/>
                    </a:lnTo>
                    <a:lnTo>
                      <a:pt x="11" y="13"/>
                    </a:lnTo>
                    <a:lnTo>
                      <a:pt x="14" y="15"/>
                    </a:lnTo>
                    <a:lnTo>
                      <a:pt x="17" y="17"/>
                    </a:lnTo>
                    <a:lnTo>
                      <a:pt x="21" y="17"/>
                    </a:lnTo>
                    <a:lnTo>
                      <a:pt x="26" y="19"/>
                    </a:lnTo>
                    <a:lnTo>
                      <a:pt x="30" y="20"/>
                    </a:lnTo>
                    <a:lnTo>
                      <a:pt x="35" y="21"/>
                    </a:lnTo>
                    <a:lnTo>
                      <a:pt x="40" y="21"/>
                    </a:lnTo>
                    <a:lnTo>
                      <a:pt x="45" y="22"/>
                    </a:lnTo>
                    <a:lnTo>
                      <a:pt x="50" y="23"/>
                    </a:lnTo>
                    <a:lnTo>
                      <a:pt x="55" y="23"/>
                    </a:lnTo>
                    <a:lnTo>
                      <a:pt x="61" y="23"/>
                    </a:lnTo>
                    <a:lnTo>
                      <a:pt x="66" y="23"/>
                    </a:lnTo>
                    <a:lnTo>
                      <a:pt x="71" y="22"/>
                    </a:lnTo>
                    <a:lnTo>
                      <a:pt x="76" y="21"/>
                    </a:lnTo>
                    <a:lnTo>
                      <a:pt x="81" y="21"/>
                    </a:lnTo>
                    <a:lnTo>
                      <a:pt x="86" y="20"/>
                    </a:lnTo>
                    <a:lnTo>
                      <a:pt x="90" y="19"/>
                    </a:lnTo>
                    <a:lnTo>
                      <a:pt x="94" y="17"/>
                    </a:lnTo>
                    <a:lnTo>
                      <a:pt x="98" y="17"/>
                    </a:lnTo>
                    <a:lnTo>
                      <a:pt x="102" y="15"/>
                    </a:lnTo>
                    <a:lnTo>
                      <a:pt x="105" y="13"/>
                    </a:lnTo>
                    <a:lnTo>
                      <a:pt x="108" y="11"/>
                    </a:lnTo>
                    <a:lnTo>
                      <a:pt x="110" y="9"/>
                    </a:lnTo>
                    <a:lnTo>
                      <a:pt x="113" y="7"/>
                    </a:lnTo>
                    <a:lnTo>
                      <a:pt x="114" y="5"/>
                    </a:lnTo>
                    <a:lnTo>
                      <a:pt x="115" y="3"/>
                    </a:lnTo>
                    <a:lnTo>
                      <a:pt x="116" y="1"/>
                    </a:lnTo>
                    <a:lnTo>
                      <a:pt x="117" y="0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152" name="Text Box 5187">
            <a:extLst>
              <a:ext uri="{FF2B5EF4-FFF2-40B4-BE49-F238E27FC236}">
                <a16:creationId xmlns:a16="http://schemas.microsoft.com/office/drawing/2014/main" id="{6D748518-4EE3-4DF0-8210-74F7A3817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125" y="3567113"/>
            <a:ext cx="163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高级语言</a:t>
            </a:r>
          </a:p>
        </p:txBody>
      </p:sp>
      <p:sp>
        <p:nvSpPr>
          <p:cNvPr id="6153" name="Text Box 5188">
            <a:extLst>
              <a:ext uri="{FF2B5EF4-FFF2-40B4-BE49-F238E27FC236}">
                <a16:creationId xmlns:a16="http://schemas.microsoft.com/office/drawing/2014/main" id="{9FAF4402-A60F-4EF1-BC89-D8E1CA1B3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850" y="3549650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汇编语言</a:t>
            </a:r>
          </a:p>
        </p:txBody>
      </p:sp>
      <p:sp>
        <p:nvSpPr>
          <p:cNvPr id="6154" name="Text Box 5189">
            <a:extLst>
              <a:ext uri="{FF2B5EF4-FFF2-40B4-BE49-F238E27FC236}">
                <a16:creationId xmlns:a16="http://schemas.microsoft.com/office/drawing/2014/main" id="{2CD7EA01-6034-43D6-B711-8A7F190C0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4113213"/>
            <a:ext cx="1358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800"/>
              <a:t>SOURCE PROGRAM</a:t>
            </a:r>
          </a:p>
        </p:txBody>
      </p:sp>
      <p:sp>
        <p:nvSpPr>
          <p:cNvPr id="6155" name="Text Box 5190">
            <a:extLst>
              <a:ext uri="{FF2B5EF4-FFF2-40B4-BE49-F238E27FC236}">
                <a16:creationId xmlns:a16="http://schemas.microsoft.com/office/drawing/2014/main" id="{E2298DF8-50FC-4FAB-9CC1-4AFDB6EE4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4725" y="4075113"/>
            <a:ext cx="149860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ea typeface="楷体_GB2312" pitchFamily="49" charset="-122"/>
              </a:rPr>
              <a:t>Assemble</a:t>
            </a:r>
            <a:r>
              <a:rPr lang="en-US" altLang="zh-CN" sz="1800"/>
              <a:t> PROGRAM</a:t>
            </a:r>
          </a:p>
        </p:txBody>
      </p:sp>
      <p:grpSp>
        <p:nvGrpSpPr>
          <p:cNvPr id="6" name="Group 5217">
            <a:extLst>
              <a:ext uri="{FF2B5EF4-FFF2-40B4-BE49-F238E27FC236}">
                <a16:creationId xmlns:a16="http://schemas.microsoft.com/office/drawing/2014/main" id="{D479C984-727D-44F6-A6CD-8C47F16EEA19}"/>
              </a:ext>
            </a:extLst>
          </p:cNvPr>
          <p:cNvGrpSpPr>
            <a:grpSpLocks/>
          </p:cNvGrpSpPr>
          <p:nvPr/>
        </p:nvGrpSpPr>
        <p:grpSpPr bwMode="auto">
          <a:xfrm>
            <a:off x="2778125" y="3617913"/>
            <a:ext cx="3340100" cy="1944687"/>
            <a:chOff x="1750" y="2279"/>
            <a:chExt cx="2104" cy="1225"/>
          </a:xfrm>
        </p:grpSpPr>
        <p:sp>
          <p:nvSpPr>
            <p:cNvPr id="6159" name="Text Box 5208">
              <a:extLst>
                <a:ext uri="{FF2B5EF4-FFF2-40B4-BE49-F238E27FC236}">
                  <a16:creationId xmlns:a16="http://schemas.microsoft.com/office/drawing/2014/main" id="{47494261-1407-4D58-A123-2BB4FAFF4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9" y="2279"/>
              <a:ext cx="14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solidFill>
                    <a:srgbClr val="FF3300"/>
                  </a:solidFill>
                </a:rPr>
                <a:t>？翻译程序？</a:t>
              </a:r>
            </a:p>
          </p:txBody>
        </p:sp>
        <p:grpSp>
          <p:nvGrpSpPr>
            <p:cNvPr id="6160" name="Group 5216">
              <a:extLst>
                <a:ext uri="{FF2B5EF4-FFF2-40B4-BE49-F238E27FC236}">
                  <a16:creationId xmlns:a16="http://schemas.microsoft.com/office/drawing/2014/main" id="{A05784F3-2945-448A-9365-23C8FC3A2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0" y="2602"/>
              <a:ext cx="2104" cy="902"/>
              <a:chOff x="1750" y="2602"/>
              <a:chExt cx="2104" cy="902"/>
            </a:xfrm>
          </p:grpSpPr>
          <p:sp>
            <p:nvSpPr>
              <p:cNvPr id="6161" name="Rectangle 5192">
                <a:extLst>
                  <a:ext uri="{FF2B5EF4-FFF2-40B4-BE49-F238E27FC236}">
                    <a16:creationId xmlns:a16="http://schemas.microsoft.com/office/drawing/2014/main" id="{F220C4CD-F8C7-429D-8D87-B3AE2E153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5" y="2602"/>
                <a:ext cx="942" cy="902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800">
                  <a:ea typeface="楷体_GB2312" pitchFamily="49" charset="-122"/>
                </a:endParaRPr>
              </a:p>
            </p:txBody>
          </p:sp>
          <p:grpSp>
            <p:nvGrpSpPr>
              <p:cNvPr id="6162" name="Group 5193">
                <a:extLst>
                  <a:ext uri="{FF2B5EF4-FFF2-40B4-BE49-F238E27FC236}">
                    <a16:creationId xmlns:a16="http://schemas.microsoft.com/office/drawing/2014/main" id="{A37ABBD5-CDBB-4BB9-A1D2-CB31C29CB1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70" y="3035"/>
                <a:ext cx="663" cy="459"/>
                <a:chOff x="1811" y="933"/>
                <a:chExt cx="493" cy="203"/>
              </a:xfrm>
            </p:grpSpPr>
            <p:grpSp>
              <p:nvGrpSpPr>
                <p:cNvPr id="6166" name="Group 5194">
                  <a:extLst>
                    <a:ext uri="{FF2B5EF4-FFF2-40B4-BE49-F238E27FC236}">
                      <a16:creationId xmlns:a16="http://schemas.microsoft.com/office/drawing/2014/main" id="{D3149792-9EE7-4C47-BE85-3B946CBBC5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10" y="935"/>
                  <a:ext cx="194" cy="201"/>
                  <a:chOff x="2110" y="935"/>
                  <a:chExt cx="194" cy="201"/>
                </a:xfrm>
              </p:grpSpPr>
              <p:grpSp>
                <p:nvGrpSpPr>
                  <p:cNvPr id="6174" name="Group 5195">
                    <a:extLst>
                      <a:ext uri="{FF2B5EF4-FFF2-40B4-BE49-F238E27FC236}">
                        <a16:creationId xmlns:a16="http://schemas.microsoft.com/office/drawing/2014/main" id="{A7297529-28E3-4D41-8D25-549BFE4B7C8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10" y="935"/>
                    <a:ext cx="164" cy="119"/>
                    <a:chOff x="2110" y="935"/>
                    <a:chExt cx="164" cy="119"/>
                  </a:xfrm>
                </p:grpSpPr>
                <p:sp>
                  <p:nvSpPr>
                    <p:cNvPr id="6176" name="Freeform 5196">
                      <a:extLst>
                        <a:ext uri="{FF2B5EF4-FFF2-40B4-BE49-F238E27FC236}">
                          <a16:creationId xmlns:a16="http://schemas.microsoft.com/office/drawing/2014/main" id="{EDC1C5E2-0125-4D9D-B97D-F957927135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10" y="935"/>
                      <a:ext cx="164" cy="119"/>
                    </a:xfrm>
                    <a:custGeom>
                      <a:avLst/>
                      <a:gdLst>
                        <a:gd name="T0" fmla="*/ 0 w 164"/>
                        <a:gd name="T1" fmla="*/ 98 h 119"/>
                        <a:gd name="T2" fmla="*/ 1 w 164"/>
                        <a:gd name="T3" fmla="*/ 102 h 119"/>
                        <a:gd name="T4" fmla="*/ 5 w 164"/>
                        <a:gd name="T5" fmla="*/ 105 h 119"/>
                        <a:gd name="T6" fmla="*/ 11 w 164"/>
                        <a:gd name="T7" fmla="*/ 109 h 119"/>
                        <a:gd name="T8" fmla="*/ 20 w 164"/>
                        <a:gd name="T9" fmla="*/ 111 h 119"/>
                        <a:gd name="T10" fmla="*/ 30 w 164"/>
                        <a:gd name="T11" fmla="*/ 113 h 119"/>
                        <a:gd name="T12" fmla="*/ 42 w 164"/>
                        <a:gd name="T13" fmla="*/ 115 h 119"/>
                        <a:gd name="T14" fmla="*/ 55 w 164"/>
                        <a:gd name="T15" fmla="*/ 116 h 119"/>
                        <a:gd name="T16" fmla="*/ 70 w 164"/>
                        <a:gd name="T17" fmla="*/ 118 h 119"/>
                        <a:gd name="T18" fmla="*/ 84 w 164"/>
                        <a:gd name="T19" fmla="*/ 118 h 119"/>
                        <a:gd name="T20" fmla="*/ 99 w 164"/>
                        <a:gd name="T21" fmla="*/ 116 h 119"/>
                        <a:gd name="T22" fmla="*/ 113 w 164"/>
                        <a:gd name="T23" fmla="*/ 115 h 119"/>
                        <a:gd name="T24" fmla="*/ 126 w 164"/>
                        <a:gd name="T25" fmla="*/ 114 h 119"/>
                        <a:gd name="T26" fmla="*/ 137 w 164"/>
                        <a:gd name="T27" fmla="*/ 112 h 119"/>
                        <a:gd name="T28" fmla="*/ 147 w 164"/>
                        <a:gd name="T29" fmla="*/ 110 h 119"/>
                        <a:gd name="T30" fmla="*/ 155 w 164"/>
                        <a:gd name="T31" fmla="*/ 106 h 119"/>
                        <a:gd name="T32" fmla="*/ 159 w 164"/>
                        <a:gd name="T33" fmla="*/ 104 h 119"/>
                        <a:gd name="T34" fmla="*/ 163 w 164"/>
                        <a:gd name="T35" fmla="*/ 101 h 119"/>
                        <a:gd name="T36" fmla="*/ 163 w 164"/>
                        <a:gd name="T37" fmla="*/ 19 h 119"/>
                        <a:gd name="T38" fmla="*/ 161 w 164"/>
                        <a:gd name="T39" fmla="*/ 15 h 119"/>
                        <a:gd name="T40" fmla="*/ 157 w 164"/>
                        <a:gd name="T41" fmla="*/ 12 h 119"/>
                        <a:gd name="T42" fmla="*/ 151 w 164"/>
                        <a:gd name="T43" fmla="*/ 8 h 119"/>
                        <a:gd name="T44" fmla="*/ 142 w 164"/>
                        <a:gd name="T45" fmla="*/ 6 h 119"/>
                        <a:gd name="T46" fmla="*/ 131 w 164"/>
                        <a:gd name="T47" fmla="*/ 4 h 119"/>
                        <a:gd name="T48" fmla="*/ 120 w 164"/>
                        <a:gd name="T49" fmla="*/ 2 h 119"/>
                        <a:gd name="T50" fmla="*/ 107 w 164"/>
                        <a:gd name="T51" fmla="*/ 1 h 119"/>
                        <a:gd name="T52" fmla="*/ 92 w 164"/>
                        <a:gd name="T53" fmla="*/ 1 h 119"/>
                        <a:gd name="T54" fmla="*/ 78 w 164"/>
                        <a:gd name="T55" fmla="*/ 0 h 119"/>
                        <a:gd name="T56" fmla="*/ 63 w 164"/>
                        <a:gd name="T57" fmla="*/ 1 h 119"/>
                        <a:gd name="T58" fmla="*/ 49 w 164"/>
                        <a:gd name="T59" fmla="*/ 2 h 119"/>
                        <a:gd name="T60" fmla="*/ 36 w 164"/>
                        <a:gd name="T61" fmla="*/ 3 h 119"/>
                        <a:gd name="T62" fmla="*/ 25 w 164"/>
                        <a:gd name="T63" fmla="*/ 5 h 119"/>
                        <a:gd name="T64" fmla="*/ 15 w 164"/>
                        <a:gd name="T65" fmla="*/ 7 h 119"/>
                        <a:gd name="T66" fmla="*/ 7 w 164"/>
                        <a:gd name="T67" fmla="*/ 11 h 119"/>
                        <a:gd name="T68" fmla="*/ 3 w 164"/>
                        <a:gd name="T69" fmla="*/ 14 h 119"/>
                        <a:gd name="T70" fmla="*/ 0 w 164"/>
                        <a:gd name="T71" fmla="*/ 17 h 119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w 164"/>
                        <a:gd name="T109" fmla="*/ 0 h 119"/>
                        <a:gd name="T110" fmla="*/ 164 w 164"/>
                        <a:gd name="T111" fmla="*/ 119 h 119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T108" t="T109" r="T110" b="T111"/>
                      <a:pathLst>
                        <a:path w="164" h="119">
                          <a:moveTo>
                            <a:pt x="0" y="19"/>
                          </a:moveTo>
                          <a:lnTo>
                            <a:pt x="0" y="98"/>
                          </a:lnTo>
                          <a:lnTo>
                            <a:pt x="0" y="101"/>
                          </a:lnTo>
                          <a:lnTo>
                            <a:pt x="1" y="102"/>
                          </a:lnTo>
                          <a:lnTo>
                            <a:pt x="3" y="104"/>
                          </a:lnTo>
                          <a:lnTo>
                            <a:pt x="5" y="105"/>
                          </a:lnTo>
                          <a:lnTo>
                            <a:pt x="7" y="106"/>
                          </a:lnTo>
                          <a:lnTo>
                            <a:pt x="11" y="109"/>
                          </a:lnTo>
                          <a:lnTo>
                            <a:pt x="15" y="110"/>
                          </a:lnTo>
                          <a:lnTo>
                            <a:pt x="20" y="111"/>
                          </a:lnTo>
                          <a:lnTo>
                            <a:pt x="25" y="112"/>
                          </a:lnTo>
                          <a:lnTo>
                            <a:pt x="30" y="113"/>
                          </a:lnTo>
                          <a:lnTo>
                            <a:pt x="36" y="114"/>
                          </a:lnTo>
                          <a:lnTo>
                            <a:pt x="42" y="115"/>
                          </a:lnTo>
                          <a:lnTo>
                            <a:pt x="49" y="115"/>
                          </a:lnTo>
                          <a:lnTo>
                            <a:pt x="55" y="116"/>
                          </a:lnTo>
                          <a:lnTo>
                            <a:pt x="63" y="116"/>
                          </a:lnTo>
                          <a:lnTo>
                            <a:pt x="70" y="118"/>
                          </a:lnTo>
                          <a:lnTo>
                            <a:pt x="78" y="118"/>
                          </a:lnTo>
                          <a:lnTo>
                            <a:pt x="84" y="118"/>
                          </a:lnTo>
                          <a:lnTo>
                            <a:pt x="92" y="118"/>
                          </a:lnTo>
                          <a:lnTo>
                            <a:pt x="99" y="116"/>
                          </a:lnTo>
                          <a:lnTo>
                            <a:pt x="107" y="116"/>
                          </a:lnTo>
                          <a:lnTo>
                            <a:pt x="113" y="115"/>
                          </a:lnTo>
                          <a:lnTo>
                            <a:pt x="120" y="115"/>
                          </a:lnTo>
                          <a:lnTo>
                            <a:pt x="126" y="114"/>
                          </a:lnTo>
                          <a:lnTo>
                            <a:pt x="131" y="113"/>
                          </a:lnTo>
                          <a:lnTo>
                            <a:pt x="137" y="112"/>
                          </a:lnTo>
                          <a:lnTo>
                            <a:pt x="142" y="111"/>
                          </a:lnTo>
                          <a:lnTo>
                            <a:pt x="147" y="110"/>
                          </a:lnTo>
                          <a:lnTo>
                            <a:pt x="151" y="109"/>
                          </a:lnTo>
                          <a:lnTo>
                            <a:pt x="155" y="106"/>
                          </a:lnTo>
                          <a:lnTo>
                            <a:pt x="157" y="105"/>
                          </a:lnTo>
                          <a:lnTo>
                            <a:pt x="159" y="104"/>
                          </a:lnTo>
                          <a:lnTo>
                            <a:pt x="161" y="102"/>
                          </a:lnTo>
                          <a:lnTo>
                            <a:pt x="163" y="101"/>
                          </a:lnTo>
                          <a:lnTo>
                            <a:pt x="163" y="98"/>
                          </a:lnTo>
                          <a:lnTo>
                            <a:pt x="163" y="19"/>
                          </a:lnTo>
                          <a:lnTo>
                            <a:pt x="163" y="17"/>
                          </a:lnTo>
                          <a:lnTo>
                            <a:pt x="161" y="15"/>
                          </a:lnTo>
                          <a:lnTo>
                            <a:pt x="159" y="14"/>
                          </a:lnTo>
                          <a:lnTo>
                            <a:pt x="157" y="12"/>
                          </a:lnTo>
                          <a:lnTo>
                            <a:pt x="155" y="11"/>
                          </a:lnTo>
                          <a:lnTo>
                            <a:pt x="151" y="8"/>
                          </a:lnTo>
                          <a:lnTo>
                            <a:pt x="147" y="7"/>
                          </a:lnTo>
                          <a:lnTo>
                            <a:pt x="142" y="6"/>
                          </a:lnTo>
                          <a:lnTo>
                            <a:pt x="137" y="5"/>
                          </a:lnTo>
                          <a:lnTo>
                            <a:pt x="131" y="4"/>
                          </a:lnTo>
                          <a:lnTo>
                            <a:pt x="126" y="3"/>
                          </a:lnTo>
                          <a:lnTo>
                            <a:pt x="120" y="2"/>
                          </a:lnTo>
                          <a:lnTo>
                            <a:pt x="113" y="2"/>
                          </a:lnTo>
                          <a:lnTo>
                            <a:pt x="107" y="1"/>
                          </a:lnTo>
                          <a:lnTo>
                            <a:pt x="99" y="1"/>
                          </a:lnTo>
                          <a:lnTo>
                            <a:pt x="92" y="1"/>
                          </a:lnTo>
                          <a:lnTo>
                            <a:pt x="84" y="0"/>
                          </a:lnTo>
                          <a:lnTo>
                            <a:pt x="78" y="0"/>
                          </a:lnTo>
                          <a:lnTo>
                            <a:pt x="70" y="1"/>
                          </a:lnTo>
                          <a:lnTo>
                            <a:pt x="63" y="1"/>
                          </a:lnTo>
                          <a:lnTo>
                            <a:pt x="55" y="1"/>
                          </a:lnTo>
                          <a:lnTo>
                            <a:pt x="49" y="2"/>
                          </a:lnTo>
                          <a:lnTo>
                            <a:pt x="42" y="2"/>
                          </a:lnTo>
                          <a:lnTo>
                            <a:pt x="36" y="3"/>
                          </a:lnTo>
                          <a:lnTo>
                            <a:pt x="30" y="4"/>
                          </a:lnTo>
                          <a:lnTo>
                            <a:pt x="25" y="5"/>
                          </a:lnTo>
                          <a:lnTo>
                            <a:pt x="20" y="6"/>
                          </a:lnTo>
                          <a:lnTo>
                            <a:pt x="15" y="7"/>
                          </a:lnTo>
                          <a:lnTo>
                            <a:pt x="11" y="8"/>
                          </a:lnTo>
                          <a:lnTo>
                            <a:pt x="7" y="11"/>
                          </a:lnTo>
                          <a:lnTo>
                            <a:pt x="5" y="12"/>
                          </a:lnTo>
                          <a:lnTo>
                            <a:pt x="3" y="14"/>
                          </a:lnTo>
                          <a:lnTo>
                            <a:pt x="1" y="15"/>
                          </a:lnTo>
                          <a:lnTo>
                            <a:pt x="0" y="17"/>
                          </a:lnTo>
                          <a:lnTo>
                            <a:pt x="0" y="19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12700" cap="rnd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177" name="Freeform 5197">
                      <a:extLst>
                        <a:ext uri="{FF2B5EF4-FFF2-40B4-BE49-F238E27FC236}">
                          <a16:creationId xmlns:a16="http://schemas.microsoft.com/office/drawing/2014/main" id="{108F7ED7-8CB6-4730-9D46-592F679BF4B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10" y="955"/>
                      <a:ext cx="164" cy="19"/>
                    </a:xfrm>
                    <a:custGeom>
                      <a:avLst/>
                      <a:gdLst>
                        <a:gd name="T0" fmla="*/ 0 w 164"/>
                        <a:gd name="T1" fmla="*/ 0 h 19"/>
                        <a:gd name="T2" fmla="*/ 0 w 164"/>
                        <a:gd name="T3" fmla="*/ 2 h 19"/>
                        <a:gd name="T4" fmla="*/ 1 w 164"/>
                        <a:gd name="T5" fmla="*/ 3 h 19"/>
                        <a:gd name="T6" fmla="*/ 3 w 164"/>
                        <a:gd name="T7" fmla="*/ 5 h 19"/>
                        <a:gd name="T8" fmla="*/ 5 w 164"/>
                        <a:gd name="T9" fmla="*/ 6 h 19"/>
                        <a:gd name="T10" fmla="*/ 7 w 164"/>
                        <a:gd name="T11" fmla="*/ 7 h 19"/>
                        <a:gd name="T12" fmla="*/ 11 w 164"/>
                        <a:gd name="T13" fmla="*/ 9 h 19"/>
                        <a:gd name="T14" fmla="*/ 15 w 164"/>
                        <a:gd name="T15" fmla="*/ 10 h 19"/>
                        <a:gd name="T16" fmla="*/ 20 w 164"/>
                        <a:gd name="T17" fmla="*/ 11 h 19"/>
                        <a:gd name="T18" fmla="*/ 25 w 164"/>
                        <a:gd name="T19" fmla="*/ 12 h 19"/>
                        <a:gd name="T20" fmla="*/ 30 w 164"/>
                        <a:gd name="T21" fmla="*/ 13 h 19"/>
                        <a:gd name="T22" fmla="*/ 36 w 164"/>
                        <a:gd name="T23" fmla="*/ 14 h 19"/>
                        <a:gd name="T24" fmla="*/ 42 w 164"/>
                        <a:gd name="T25" fmla="*/ 15 h 19"/>
                        <a:gd name="T26" fmla="*/ 49 w 164"/>
                        <a:gd name="T27" fmla="*/ 16 h 19"/>
                        <a:gd name="T28" fmla="*/ 55 w 164"/>
                        <a:gd name="T29" fmla="*/ 16 h 19"/>
                        <a:gd name="T30" fmla="*/ 63 w 164"/>
                        <a:gd name="T31" fmla="*/ 16 h 19"/>
                        <a:gd name="T32" fmla="*/ 70 w 164"/>
                        <a:gd name="T33" fmla="*/ 18 h 19"/>
                        <a:gd name="T34" fmla="*/ 78 w 164"/>
                        <a:gd name="T35" fmla="*/ 18 h 19"/>
                        <a:gd name="T36" fmla="*/ 84 w 164"/>
                        <a:gd name="T37" fmla="*/ 18 h 19"/>
                        <a:gd name="T38" fmla="*/ 92 w 164"/>
                        <a:gd name="T39" fmla="*/ 18 h 19"/>
                        <a:gd name="T40" fmla="*/ 99 w 164"/>
                        <a:gd name="T41" fmla="*/ 16 h 19"/>
                        <a:gd name="T42" fmla="*/ 107 w 164"/>
                        <a:gd name="T43" fmla="*/ 16 h 19"/>
                        <a:gd name="T44" fmla="*/ 113 w 164"/>
                        <a:gd name="T45" fmla="*/ 16 h 19"/>
                        <a:gd name="T46" fmla="*/ 120 w 164"/>
                        <a:gd name="T47" fmla="*/ 15 h 19"/>
                        <a:gd name="T48" fmla="*/ 126 w 164"/>
                        <a:gd name="T49" fmla="*/ 14 h 19"/>
                        <a:gd name="T50" fmla="*/ 131 w 164"/>
                        <a:gd name="T51" fmla="*/ 13 h 19"/>
                        <a:gd name="T52" fmla="*/ 137 w 164"/>
                        <a:gd name="T53" fmla="*/ 12 h 19"/>
                        <a:gd name="T54" fmla="*/ 142 w 164"/>
                        <a:gd name="T55" fmla="*/ 11 h 19"/>
                        <a:gd name="T56" fmla="*/ 147 w 164"/>
                        <a:gd name="T57" fmla="*/ 10 h 19"/>
                        <a:gd name="T58" fmla="*/ 151 w 164"/>
                        <a:gd name="T59" fmla="*/ 9 h 19"/>
                        <a:gd name="T60" fmla="*/ 155 w 164"/>
                        <a:gd name="T61" fmla="*/ 7 h 19"/>
                        <a:gd name="T62" fmla="*/ 157 w 164"/>
                        <a:gd name="T63" fmla="*/ 6 h 19"/>
                        <a:gd name="T64" fmla="*/ 159 w 164"/>
                        <a:gd name="T65" fmla="*/ 5 h 19"/>
                        <a:gd name="T66" fmla="*/ 161 w 164"/>
                        <a:gd name="T67" fmla="*/ 3 h 19"/>
                        <a:gd name="T68" fmla="*/ 163 w 164"/>
                        <a:gd name="T69" fmla="*/ 2 h 19"/>
                        <a:gd name="T70" fmla="*/ 163 w 164"/>
                        <a:gd name="T71" fmla="*/ 0 h 19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w 164"/>
                        <a:gd name="T109" fmla="*/ 0 h 19"/>
                        <a:gd name="T110" fmla="*/ 164 w 164"/>
                        <a:gd name="T111" fmla="*/ 19 h 19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T108" t="T109" r="T110" b="T111"/>
                      <a:pathLst>
                        <a:path w="164" h="19">
                          <a:moveTo>
                            <a:pt x="0" y="0"/>
                          </a:moveTo>
                          <a:lnTo>
                            <a:pt x="0" y="2"/>
                          </a:lnTo>
                          <a:lnTo>
                            <a:pt x="1" y="3"/>
                          </a:lnTo>
                          <a:lnTo>
                            <a:pt x="3" y="5"/>
                          </a:lnTo>
                          <a:lnTo>
                            <a:pt x="5" y="6"/>
                          </a:lnTo>
                          <a:lnTo>
                            <a:pt x="7" y="7"/>
                          </a:lnTo>
                          <a:lnTo>
                            <a:pt x="11" y="9"/>
                          </a:lnTo>
                          <a:lnTo>
                            <a:pt x="15" y="10"/>
                          </a:lnTo>
                          <a:lnTo>
                            <a:pt x="20" y="11"/>
                          </a:lnTo>
                          <a:lnTo>
                            <a:pt x="25" y="12"/>
                          </a:lnTo>
                          <a:lnTo>
                            <a:pt x="30" y="13"/>
                          </a:lnTo>
                          <a:lnTo>
                            <a:pt x="36" y="14"/>
                          </a:lnTo>
                          <a:lnTo>
                            <a:pt x="42" y="15"/>
                          </a:lnTo>
                          <a:lnTo>
                            <a:pt x="49" y="16"/>
                          </a:lnTo>
                          <a:lnTo>
                            <a:pt x="55" y="16"/>
                          </a:lnTo>
                          <a:lnTo>
                            <a:pt x="63" y="16"/>
                          </a:lnTo>
                          <a:lnTo>
                            <a:pt x="70" y="18"/>
                          </a:lnTo>
                          <a:lnTo>
                            <a:pt x="78" y="18"/>
                          </a:lnTo>
                          <a:lnTo>
                            <a:pt x="84" y="18"/>
                          </a:lnTo>
                          <a:lnTo>
                            <a:pt x="92" y="18"/>
                          </a:lnTo>
                          <a:lnTo>
                            <a:pt x="99" y="16"/>
                          </a:lnTo>
                          <a:lnTo>
                            <a:pt x="107" y="16"/>
                          </a:lnTo>
                          <a:lnTo>
                            <a:pt x="113" y="16"/>
                          </a:lnTo>
                          <a:lnTo>
                            <a:pt x="120" y="15"/>
                          </a:lnTo>
                          <a:lnTo>
                            <a:pt x="126" y="14"/>
                          </a:lnTo>
                          <a:lnTo>
                            <a:pt x="131" y="13"/>
                          </a:lnTo>
                          <a:lnTo>
                            <a:pt x="137" y="12"/>
                          </a:lnTo>
                          <a:lnTo>
                            <a:pt x="142" y="11"/>
                          </a:lnTo>
                          <a:lnTo>
                            <a:pt x="147" y="10"/>
                          </a:lnTo>
                          <a:lnTo>
                            <a:pt x="151" y="9"/>
                          </a:lnTo>
                          <a:lnTo>
                            <a:pt x="155" y="7"/>
                          </a:lnTo>
                          <a:lnTo>
                            <a:pt x="157" y="6"/>
                          </a:lnTo>
                          <a:lnTo>
                            <a:pt x="159" y="5"/>
                          </a:lnTo>
                          <a:lnTo>
                            <a:pt x="161" y="3"/>
                          </a:lnTo>
                          <a:lnTo>
                            <a:pt x="163" y="2"/>
                          </a:lnTo>
                          <a:lnTo>
                            <a:pt x="163" y="0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178" name="Freeform 5198">
                      <a:extLst>
                        <a:ext uri="{FF2B5EF4-FFF2-40B4-BE49-F238E27FC236}">
                          <a16:creationId xmlns:a16="http://schemas.microsoft.com/office/drawing/2014/main" id="{7BBF6586-CCFC-4E6B-B86C-E7285B07DA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10" y="963"/>
                      <a:ext cx="164" cy="20"/>
                    </a:xfrm>
                    <a:custGeom>
                      <a:avLst/>
                      <a:gdLst>
                        <a:gd name="T0" fmla="*/ 0 w 164"/>
                        <a:gd name="T1" fmla="*/ 0 h 20"/>
                        <a:gd name="T2" fmla="*/ 0 w 164"/>
                        <a:gd name="T3" fmla="*/ 2 h 20"/>
                        <a:gd name="T4" fmla="*/ 1 w 164"/>
                        <a:gd name="T5" fmla="*/ 3 h 20"/>
                        <a:gd name="T6" fmla="*/ 3 w 164"/>
                        <a:gd name="T7" fmla="*/ 5 h 20"/>
                        <a:gd name="T8" fmla="*/ 5 w 164"/>
                        <a:gd name="T9" fmla="*/ 6 h 20"/>
                        <a:gd name="T10" fmla="*/ 7 w 164"/>
                        <a:gd name="T11" fmla="*/ 8 h 20"/>
                        <a:gd name="T12" fmla="*/ 11 w 164"/>
                        <a:gd name="T13" fmla="*/ 10 h 20"/>
                        <a:gd name="T14" fmla="*/ 15 w 164"/>
                        <a:gd name="T15" fmla="*/ 11 h 20"/>
                        <a:gd name="T16" fmla="*/ 20 w 164"/>
                        <a:gd name="T17" fmla="*/ 12 h 20"/>
                        <a:gd name="T18" fmla="*/ 25 w 164"/>
                        <a:gd name="T19" fmla="*/ 13 h 20"/>
                        <a:gd name="T20" fmla="*/ 30 w 164"/>
                        <a:gd name="T21" fmla="*/ 15 h 20"/>
                        <a:gd name="T22" fmla="*/ 36 w 164"/>
                        <a:gd name="T23" fmla="*/ 15 h 20"/>
                        <a:gd name="T24" fmla="*/ 42 w 164"/>
                        <a:gd name="T25" fmla="*/ 16 h 20"/>
                        <a:gd name="T26" fmla="*/ 49 w 164"/>
                        <a:gd name="T27" fmla="*/ 17 h 20"/>
                        <a:gd name="T28" fmla="*/ 55 w 164"/>
                        <a:gd name="T29" fmla="*/ 17 h 20"/>
                        <a:gd name="T30" fmla="*/ 63 w 164"/>
                        <a:gd name="T31" fmla="*/ 19 h 20"/>
                        <a:gd name="T32" fmla="*/ 70 w 164"/>
                        <a:gd name="T33" fmla="*/ 19 h 20"/>
                        <a:gd name="T34" fmla="*/ 78 w 164"/>
                        <a:gd name="T35" fmla="*/ 19 h 20"/>
                        <a:gd name="T36" fmla="*/ 84 w 164"/>
                        <a:gd name="T37" fmla="*/ 19 h 20"/>
                        <a:gd name="T38" fmla="*/ 92 w 164"/>
                        <a:gd name="T39" fmla="*/ 19 h 20"/>
                        <a:gd name="T40" fmla="*/ 99 w 164"/>
                        <a:gd name="T41" fmla="*/ 19 h 20"/>
                        <a:gd name="T42" fmla="*/ 107 w 164"/>
                        <a:gd name="T43" fmla="*/ 17 h 20"/>
                        <a:gd name="T44" fmla="*/ 113 w 164"/>
                        <a:gd name="T45" fmla="*/ 17 h 20"/>
                        <a:gd name="T46" fmla="*/ 120 w 164"/>
                        <a:gd name="T47" fmla="*/ 16 h 20"/>
                        <a:gd name="T48" fmla="*/ 126 w 164"/>
                        <a:gd name="T49" fmla="*/ 15 h 20"/>
                        <a:gd name="T50" fmla="*/ 131 w 164"/>
                        <a:gd name="T51" fmla="*/ 15 h 20"/>
                        <a:gd name="T52" fmla="*/ 137 w 164"/>
                        <a:gd name="T53" fmla="*/ 13 h 20"/>
                        <a:gd name="T54" fmla="*/ 142 w 164"/>
                        <a:gd name="T55" fmla="*/ 12 h 20"/>
                        <a:gd name="T56" fmla="*/ 147 w 164"/>
                        <a:gd name="T57" fmla="*/ 11 h 20"/>
                        <a:gd name="T58" fmla="*/ 151 w 164"/>
                        <a:gd name="T59" fmla="*/ 10 h 20"/>
                        <a:gd name="T60" fmla="*/ 155 w 164"/>
                        <a:gd name="T61" fmla="*/ 8 h 20"/>
                        <a:gd name="T62" fmla="*/ 157 w 164"/>
                        <a:gd name="T63" fmla="*/ 6 h 20"/>
                        <a:gd name="T64" fmla="*/ 159 w 164"/>
                        <a:gd name="T65" fmla="*/ 5 h 20"/>
                        <a:gd name="T66" fmla="*/ 161 w 164"/>
                        <a:gd name="T67" fmla="*/ 3 h 20"/>
                        <a:gd name="T68" fmla="*/ 163 w 164"/>
                        <a:gd name="T69" fmla="*/ 2 h 20"/>
                        <a:gd name="T70" fmla="*/ 163 w 164"/>
                        <a:gd name="T71" fmla="*/ 0 h 20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w 164"/>
                        <a:gd name="T109" fmla="*/ 0 h 20"/>
                        <a:gd name="T110" fmla="*/ 164 w 164"/>
                        <a:gd name="T111" fmla="*/ 20 h 20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T108" t="T109" r="T110" b="T111"/>
                      <a:pathLst>
                        <a:path w="164" h="20">
                          <a:moveTo>
                            <a:pt x="0" y="0"/>
                          </a:moveTo>
                          <a:lnTo>
                            <a:pt x="0" y="2"/>
                          </a:lnTo>
                          <a:lnTo>
                            <a:pt x="1" y="3"/>
                          </a:lnTo>
                          <a:lnTo>
                            <a:pt x="3" y="5"/>
                          </a:lnTo>
                          <a:lnTo>
                            <a:pt x="5" y="6"/>
                          </a:lnTo>
                          <a:lnTo>
                            <a:pt x="7" y="8"/>
                          </a:lnTo>
                          <a:lnTo>
                            <a:pt x="11" y="10"/>
                          </a:lnTo>
                          <a:lnTo>
                            <a:pt x="15" y="11"/>
                          </a:lnTo>
                          <a:lnTo>
                            <a:pt x="20" y="12"/>
                          </a:lnTo>
                          <a:lnTo>
                            <a:pt x="25" y="13"/>
                          </a:lnTo>
                          <a:lnTo>
                            <a:pt x="30" y="15"/>
                          </a:lnTo>
                          <a:lnTo>
                            <a:pt x="36" y="15"/>
                          </a:lnTo>
                          <a:lnTo>
                            <a:pt x="42" y="16"/>
                          </a:lnTo>
                          <a:lnTo>
                            <a:pt x="49" y="17"/>
                          </a:lnTo>
                          <a:lnTo>
                            <a:pt x="55" y="17"/>
                          </a:lnTo>
                          <a:lnTo>
                            <a:pt x="63" y="19"/>
                          </a:lnTo>
                          <a:lnTo>
                            <a:pt x="70" y="19"/>
                          </a:lnTo>
                          <a:lnTo>
                            <a:pt x="78" y="19"/>
                          </a:lnTo>
                          <a:lnTo>
                            <a:pt x="84" y="19"/>
                          </a:lnTo>
                          <a:lnTo>
                            <a:pt x="92" y="19"/>
                          </a:lnTo>
                          <a:lnTo>
                            <a:pt x="99" y="19"/>
                          </a:lnTo>
                          <a:lnTo>
                            <a:pt x="107" y="17"/>
                          </a:lnTo>
                          <a:lnTo>
                            <a:pt x="113" y="17"/>
                          </a:lnTo>
                          <a:lnTo>
                            <a:pt x="120" y="16"/>
                          </a:lnTo>
                          <a:lnTo>
                            <a:pt x="126" y="15"/>
                          </a:lnTo>
                          <a:lnTo>
                            <a:pt x="131" y="15"/>
                          </a:lnTo>
                          <a:lnTo>
                            <a:pt x="137" y="13"/>
                          </a:lnTo>
                          <a:lnTo>
                            <a:pt x="142" y="12"/>
                          </a:lnTo>
                          <a:lnTo>
                            <a:pt x="147" y="11"/>
                          </a:lnTo>
                          <a:lnTo>
                            <a:pt x="151" y="10"/>
                          </a:lnTo>
                          <a:lnTo>
                            <a:pt x="155" y="8"/>
                          </a:lnTo>
                          <a:lnTo>
                            <a:pt x="157" y="6"/>
                          </a:lnTo>
                          <a:lnTo>
                            <a:pt x="159" y="5"/>
                          </a:lnTo>
                          <a:lnTo>
                            <a:pt x="161" y="3"/>
                          </a:lnTo>
                          <a:lnTo>
                            <a:pt x="163" y="2"/>
                          </a:lnTo>
                          <a:lnTo>
                            <a:pt x="163" y="0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179" name="Freeform 5199">
                      <a:extLst>
                        <a:ext uri="{FF2B5EF4-FFF2-40B4-BE49-F238E27FC236}">
                          <a16:creationId xmlns:a16="http://schemas.microsoft.com/office/drawing/2014/main" id="{7F907A8A-C457-4467-9BF5-2A75C0AA7F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10" y="973"/>
                      <a:ext cx="164" cy="20"/>
                    </a:xfrm>
                    <a:custGeom>
                      <a:avLst/>
                      <a:gdLst>
                        <a:gd name="T0" fmla="*/ 0 w 164"/>
                        <a:gd name="T1" fmla="*/ 0 h 20"/>
                        <a:gd name="T2" fmla="*/ 0 w 164"/>
                        <a:gd name="T3" fmla="*/ 1 h 20"/>
                        <a:gd name="T4" fmla="*/ 1 w 164"/>
                        <a:gd name="T5" fmla="*/ 3 h 20"/>
                        <a:gd name="T6" fmla="*/ 3 w 164"/>
                        <a:gd name="T7" fmla="*/ 4 h 20"/>
                        <a:gd name="T8" fmla="*/ 5 w 164"/>
                        <a:gd name="T9" fmla="*/ 6 h 20"/>
                        <a:gd name="T10" fmla="*/ 7 w 164"/>
                        <a:gd name="T11" fmla="*/ 7 h 20"/>
                        <a:gd name="T12" fmla="*/ 11 w 164"/>
                        <a:gd name="T13" fmla="*/ 8 h 20"/>
                        <a:gd name="T14" fmla="*/ 15 w 164"/>
                        <a:gd name="T15" fmla="*/ 11 h 20"/>
                        <a:gd name="T16" fmla="*/ 20 w 164"/>
                        <a:gd name="T17" fmla="*/ 12 h 20"/>
                        <a:gd name="T18" fmla="*/ 25 w 164"/>
                        <a:gd name="T19" fmla="*/ 13 h 20"/>
                        <a:gd name="T20" fmla="*/ 30 w 164"/>
                        <a:gd name="T21" fmla="*/ 14 h 20"/>
                        <a:gd name="T22" fmla="*/ 36 w 164"/>
                        <a:gd name="T23" fmla="*/ 15 h 20"/>
                        <a:gd name="T24" fmla="*/ 42 w 164"/>
                        <a:gd name="T25" fmla="*/ 16 h 20"/>
                        <a:gd name="T26" fmla="*/ 49 w 164"/>
                        <a:gd name="T27" fmla="*/ 16 h 20"/>
                        <a:gd name="T28" fmla="*/ 55 w 164"/>
                        <a:gd name="T29" fmla="*/ 17 h 20"/>
                        <a:gd name="T30" fmla="*/ 63 w 164"/>
                        <a:gd name="T31" fmla="*/ 17 h 20"/>
                        <a:gd name="T32" fmla="*/ 70 w 164"/>
                        <a:gd name="T33" fmla="*/ 17 h 20"/>
                        <a:gd name="T34" fmla="*/ 78 w 164"/>
                        <a:gd name="T35" fmla="*/ 19 h 20"/>
                        <a:gd name="T36" fmla="*/ 84 w 164"/>
                        <a:gd name="T37" fmla="*/ 19 h 20"/>
                        <a:gd name="T38" fmla="*/ 92 w 164"/>
                        <a:gd name="T39" fmla="*/ 17 h 20"/>
                        <a:gd name="T40" fmla="*/ 99 w 164"/>
                        <a:gd name="T41" fmla="*/ 17 h 20"/>
                        <a:gd name="T42" fmla="*/ 107 w 164"/>
                        <a:gd name="T43" fmla="*/ 17 h 20"/>
                        <a:gd name="T44" fmla="*/ 113 w 164"/>
                        <a:gd name="T45" fmla="*/ 16 h 20"/>
                        <a:gd name="T46" fmla="*/ 120 w 164"/>
                        <a:gd name="T47" fmla="*/ 16 h 20"/>
                        <a:gd name="T48" fmla="*/ 126 w 164"/>
                        <a:gd name="T49" fmla="*/ 15 h 20"/>
                        <a:gd name="T50" fmla="*/ 131 w 164"/>
                        <a:gd name="T51" fmla="*/ 14 h 20"/>
                        <a:gd name="T52" fmla="*/ 137 w 164"/>
                        <a:gd name="T53" fmla="*/ 13 h 20"/>
                        <a:gd name="T54" fmla="*/ 142 w 164"/>
                        <a:gd name="T55" fmla="*/ 12 h 20"/>
                        <a:gd name="T56" fmla="*/ 147 w 164"/>
                        <a:gd name="T57" fmla="*/ 11 h 20"/>
                        <a:gd name="T58" fmla="*/ 151 w 164"/>
                        <a:gd name="T59" fmla="*/ 8 h 20"/>
                        <a:gd name="T60" fmla="*/ 155 w 164"/>
                        <a:gd name="T61" fmla="*/ 7 h 20"/>
                        <a:gd name="T62" fmla="*/ 157 w 164"/>
                        <a:gd name="T63" fmla="*/ 6 h 20"/>
                        <a:gd name="T64" fmla="*/ 159 w 164"/>
                        <a:gd name="T65" fmla="*/ 4 h 20"/>
                        <a:gd name="T66" fmla="*/ 161 w 164"/>
                        <a:gd name="T67" fmla="*/ 3 h 20"/>
                        <a:gd name="T68" fmla="*/ 163 w 164"/>
                        <a:gd name="T69" fmla="*/ 1 h 20"/>
                        <a:gd name="T70" fmla="*/ 163 w 164"/>
                        <a:gd name="T71" fmla="*/ 0 h 20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w 164"/>
                        <a:gd name="T109" fmla="*/ 0 h 20"/>
                        <a:gd name="T110" fmla="*/ 164 w 164"/>
                        <a:gd name="T111" fmla="*/ 20 h 20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T108" t="T109" r="T110" b="T111"/>
                      <a:pathLst>
                        <a:path w="164" h="20">
                          <a:moveTo>
                            <a:pt x="0" y="0"/>
                          </a:moveTo>
                          <a:lnTo>
                            <a:pt x="0" y="1"/>
                          </a:lnTo>
                          <a:lnTo>
                            <a:pt x="1" y="3"/>
                          </a:lnTo>
                          <a:lnTo>
                            <a:pt x="3" y="4"/>
                          </a:lnTo>
                          <a:lnTo>
                            <a:pt x="5" y="6"/>
                          </a:lnTo>
                          <a:lnTo>
                            <a:pt x="7" y="7"/>
                          </a:lnTo>
                          <a:lnTo>
                            <a:pt x="11" y="8"/>
                          </a:lnTo>
                          <a:lnTo>
                            <a:pt x="15" y="11"/>
                          </a:lnTo>
                          <a:lnTo>
                            <a:pt x="20" y="12"/>
                          </a:lnTo>
                          <a:lnTo>
                            <a:pt x="25" y="13"/>
                          </a:lnTo>
                          <a:lnTo>
                            <a:pt x="30" y="14"/>
                          </a:lnTo>
                          <a:lnTo>
                            <a:pt x="36" y="15"/>
                          </a:lnTo>
                          <a:lnTo>
                            <a:pt x="42" y="16"/>
                          </a:lnTo>
                          <a:lnTo>
                            <a:pt x="49" y="16"/>
                          </a:lnTo>
                          <a:lnTo>
                            <a:pt x="55" y="17"/>
                          </a:lnTo>
                          <a:lnTo>
                            <a:pt x="63" y="17"/>
                          </a:lnTo>
                          <a:lnTo>
                            <a:pt x="70" y="17"/>
                          </a:lnTo>
                          <a:lnTo>
                            <a:pt x="78" y="19"/>
                          </a:lnTo>
                          <a:lnTo>
                            <a:pt x="84" y="19"/>
                          </a:lnTo>
                          <a:lnTo>
                            <a:pt x="92" y="17"/>
                          </a:lnTo>
                          <a:lnTo>
                            <a:pt x="99" y="17"/>
                          </a:lnTo>
                          <a:lnTo>
                            <a:pt x="107" y="17"/>
                          </a:lnTo>
                          <a:lnTo>
                            <a:pt x="113" y="16"/>
                          </a:lnTo>
                          <a:lnTo>
                            <a:pt x="120" y="16"/>
                          </a:lnTo>
                          <a:lnTo>
                            <a:pt x="126" y="15"/>
                          </a:lnTo>
                          <a:lnTo>
                            <a:pt x="131" y="14"/>
                          </a:lnTo>
                          <a:lnTo>
                            <a:pt x="137" y="13"/>
                          </a:lnTo>
                          <a:lnTo>
                            <a:pt x="142" y="12"/>
                          </a:lnTo>
                          <a:lnTo>
                            <a:pt x="147" y="11"/>
                          </a:lnTo>
                          <a:lnTo>
                            <a:pt x="151" y="8"/>
                          </a:lnTo>
                          <a:lnTo>
                            <a:pt x="155" y="7"/>
                          </a:lnTo>
                          <a:lnTo>
                            <a:pt x="157" y="6"/>
                          </a:lnTo>
                          <a:lnTo>
                            <a:pt x="159" y="4"/>
                          </a:lnTo>
                          <a:lnTo>
                            <a:pt x="161" y="3"/>
                          </a:lnTo>
                          <a:lnTo>
                            <a:pt x="163" y="1"/>
                          </a:lnTo>
                          <a:lnTo>
                            <a:pt x="163" y="0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6175" name="Freeform 5200">
                    <a:extLst>
                      <a:ext uri="{FF2B5EF4-FFF2-40B4-BE49-F238E27FC236}">
                        <a16:creationId xmlns:a16="http://schemas.microsoft.com/office/drawing/2014/main" id="{59563E87-0405-47D2-8888-2B8D90F164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8" y="1038"/>
                    <a:ext cx="126" cy="98"/>
                  </a:xfrm>
                  <a:custGeom>
                    <a:avLst/>
                    <a:gdLst>
                      <a:gd name="T0" fmla="*/ 0 w 126"/>
                      <a:gd name="T1" fmla="*/ 84 h 98"/>
                      <a:gd name="T2" fmla="*/ 0 w 126"/>
                      <a:gd name="T3" fmla="*/ 0 h 98"/>
                      <a:gd name="T4" fmla="*/ 125 w 126"/>
                      <a:gd name="T5" fmla="*/ 0 h 98"/>
                      <a:gd name="T6" fmla="*/ 125 w 126"/>
                      <a:gd name="T7" fmla="*/ 84 h 98"/>
                      <a:gd name="T8" fmla="*/ 120 w 126"/>
                      <a:gd name="T9" fmla="*/ 81 h 98"/>
                      <a:gd name="T10" fmla="*/ 115 w 126"/>
                      <a:gd name="T11" fmla="*/ 79 h 98"/>
                      <a:gd name="T12" fmla="*/ 111 w 126"/>
                      <a:gd name="T13" fmla="*/ 76 h 98"/>
                      <a:gd name="T14" fmla="*/ 105 w 126"/>
                      <a:gd name="T15" fmla="*/ 74 h 98"/>
                      <a:gd name="T16" fmla="*/ 101 w 126"/>
                      <a:gd name="T17" fmla="*/ 73 h 98"/>
                      <a:gd name="T18" fmla="*/ 96 w 126"/>
                      <a:gd name="T19" fmla="*/ 72 h 98"/>
                      <a:gd name="T20" fmla="*/ 90 w 126"/>
                      <a:gd name="T21" fmla="*/ 72 h 98"/>
                      <a:gd name="T22" fmla="*/ 86 w 126"/>
                      <a:gd name="T23" fmla="*/ 73 h 98"/>
                      <a:gd name="T24" fmla="*/ 80 w 126"/>
                      <a:gd name="T25" fmla="*/ 74 h 98"/>
                      <a:gd name="T26" fmla="*/ 76 w 126"/>
                      <a:gd name="T27" fmla="*/ 76 h 98"/>
                      <a:gd name="T28" fmla="*/ 71 w 126"/>
                      <a:gd name="T29" fmla="*/ 79 h 98"/>
                      <a:gd name="T30" fmla="*/ 67 w 126"/>
                      <a:gd name="T31" fmla="*/ 81 h 98"/>
                      <a:gd name="T32" fmla="*/ 62 w 126"/>
                      <a:gd name="T33" fmla="*/ 84 h 98"/>
                      <a:gd name="T34" fmla="*/ 57 w 126"/>
                      <a:gd name="T35" fmla="*/ 88 h 98"/>
                      <a:gd name="T36" fmla="*/ 53 w 126"/>
                      <a:gd name="T37" fmla="*/ 91 h 98"/>
                      <a:gd name="T38" fmla="*/ 48 w 126"/>
                      <a:gd name="T39" fmla="*/ 93 h 98"/>
                      <a:gd name="T40" fmla="*/ 44 w 126"/>
                      <a:gd name="T41" fmla="*/ 94 h 98"/>
                      <a:gd name="T42" fmla="*/ 38 w 126"/>
                      <a:gd name="T43" fmla="*/ 97 h 98"/>
                      <a:gd name="T44" fmla="*/ 34 w 126"/>
                      <a:gd name="T45" fmla="*/ 97 h 98"/>
                      <a:gd name="T46" fmla="*/ 28 w 126"/>
                      <a:gd name="T47" fmla="*/ 97 h 98"/>
                      <a:gd name="T48" fmla="*/ 23 w 126"/>
                      <a:gd name="T49" fmla="*/ 97 h 98"/>
                      <a:gd name="T50" fmla="*/ 18 w 126"/>
                      <a:gd name="T51" fmla="*/ 94 h 98"/>
                      <a:gd name="T52" fmla="*/ 13 w 126"/>
                      <a:gd name="T53" fmla="*/ 93 h 98"/>
                      <a:gd name="T54" fmla="*/ 9 w 126"/>
                      <a:gd name="T55" fmla="*/ 91 h 98"/>
                      <a:gd name="T56" fmla="*/ 4 w 126"/>
                      <a:gd name="T57" fmla="*/ 88 h 98"/>
                      <a:gd name="T58" fmla="*/ 0 w 126"/>
                      <a:gd name="T59" fmla="*/ 84 h 98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126"/>
                      <a:gd name="T91" fmla="*/ 0 h 98"/>
                      <a:gd name="T92" fmla="*/ 126 w 126"/>
                      <a:gd name="T93" fmla="*/ 98 h 98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126" h="98">
                        <a:moveTo>
                          <a:pt x="0" y="84"/>
                        </a:moveTo>
                        <a:lnTo>
                          <a:pt x="0" y="0"/>
                        </a:lnTo>
                        <a:lnTo>
                          <a:pt x="125" y="0"/>
                        </a:lnTo>
                        <a:lnTo>
                          <a:pt x="125" y="84"/>
                        </a:lnTo>
                        <a:lnTo>
                          <a:pt x="120" y="81"/>
                        </a:lnTo>
                        <a:lnTo>
                          <a:pt x="115" y="79"/>
                        </a:lnTo>
                        <a:lnTo>
                          <a:pt x="111" y="76"/>
                        </a:lnTo>
                        <a:lnTo>
                          <a:pt x="105" y="74"/>
                        </a:lnTo>
                        <a:lnTo>
                          <a:pt x="101" y="73"/>
                        </a:lnTo>
                        <a:lnTo>
                          <a:pt x="96" y="72"/>
                        </a:lnTo>
                        <a:lnTo>
                          <a:pt x="90" y="72"/>
                        </a:lnTo>
                        <a:lnTo>
                          <a:pt x="86" y="73"/>
                        </a:lnTo>
                        <a:lnTo>
                          <a:pt x="80" y="74"/>
                        </a:lnTo>
                        <a:lnTo>
                          <a:pt x="76" y="76"/>
                        </a:lnTo>
                        <a:lnTo>
                          <a:pt x="71" y="79"/>
                        </a:lnTo>
                        <a:lnTo>
                          <a:pt x="67" y="81"/>
                        </a:lnTo>
                        <a:lnTo>
                          <a:pt x="62" y="84"/>
                        </a:lnTo>
                        <a:lnTo>
                          <a:pt x="57" y="88"/>
                        </a:lnTo>
                        <a:lnTo>
                          <a:pt x="53" y="91"/>
                        </a:lnTo>
                        <a:lnTo>
                          <a:pt x="48" y="93"/>
                        </a:lnTo>
                        <a:lnTo>
                          <a:pt x="44" y="94"/>
                        </a:lnTo>
                        <a:lnTo>
                          <a:pt x="38" y="97"/>
                        </a:lnTo>
                        <a:lnTo>
                          <a:pt x="34" y="97"/>
                        </a:lnTo>
                        <a:lnTo>
                          <a:pt x="28" y="97"/>
                        </a:lnTo>
                        <a:lnTo>
                          <a:pt x="23" y="97"/>
                        </a:lnTo>
                        <a:lnTo>
                          <a:pt x="18" y="94"/>
                        </a:lnTo>
                        <a:lnTo>
                          <a:pt x="13" y="93"/>
                        </a:lnTo>
                        <a:lnTo>
                          <a:pt x="9" y="91"/>
                        </a:lnTo>
                        <a:lnTo>
                          <a:pt x="4" y="88"/>
                        </a:lnTo>
                        <a:lnTo>
                          <a:pt x="0" y="84"/>
                        </a:lnTo>
                      </a:path>
                    </a:pathLst>
                  </a:custGeom>
                  <a:solidFill>
                    <a:srgbClr val="FFFFFF"/>
                  </a:solidFill>
                  <a:ln w="12700" cap="rnd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167" name="Group 5201">
                  <a:extLst>
                    <a:ext uri="{FF2B5EF4-FFF2-40B4-BE49-F238E27FC236}">
                      <a16:creationId xmlns:a16="http://schemas.microsoft.com/office/drawing/2014/main" id="{DAEEE38C-79AF-423A-96BC-48D838C4F2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11" y="933"/>
                  <a:ext cx="192" cy="164"/>
                  <a:chOff x="1811" y="933"/>
                  <a:chExt cx="192" cy="164"/>
                </a:xfrm>
              </p:grpSpPr>
              <p:sp>
                <p:nvSpPr>
                  <p:cNvPr id="6171" name="Rectangle 5202">
                    <a:extLst>
                      <a:ext uri="{FF2B5EF4-FFF2-40B4-BE49-F238E27FC236}">
                        <a16:creationId xmlns:a16="http://schemas.microsoft.com/office/drawing/2014/main" id="{1C5472CC-9B8E-472E-8169-9FB647F672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53" y="933"/>
                    <a:ext cx="150" cy="125"/>
                  </a:xfrm>
                  <a:prstGeom prst="rect">
                    <a:avLst/>
                  </a:prstGeom>
                  <a:solidFill>
                    <a:srgbClr val="00CC99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9pPr>
                  </a:lstStyle>
                  <a:p>
                    <a:pPr>
                      <a:buFontTx/>
                      <a:buNone/>
                    </a:pPr>
                    <a:endParaRPr lang="zh-CN" altLang="en-US" sz="28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6172" name="Rectangle 5203">
                    <a:extLst>
                      <a:ext uri="{FF2B5EF4-FFF2-40B4-BE49-F238E27FC236}">
                        <a16:creationId xmlns:a16="http://schemas.microsoft.com/office/drawing/2014/main" id="{A8D2E0A7-448C-4A32-88B1-FE213AD844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33" y="953"/>
                    <a:ext cx="148" cy="125"/>
                  </a:xfrm>
                  <a:prstGeom prst="rect">
                    <a:avLst/>
                  </a:prstGeom>
                  <a:solidFill>
                    <a:srgbClr val="00CC99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9pPr>
                  </a:lstStyle>
                  <a:p>
                    <a:pPr>
                      <a:buFontTx/>
                      <a:buNone/>
                    </a:pPr>
                    <a:endParaRPr lang="zh-CN" altLang="en-US" sz="2800">
                      <a:ea typeface="楷体_GB2312" pitchFamily="49" charset="-122"/>
                    </a:endParaRPr>
                  </a:p>
                </p:txBody>
              </p:sp>
              <p:sp>
                <p:nvSpPr>
                  <p:cNvPr id="6173" name="Rectangle 5204">
                    <a:extLst>
                      <a:ext uri="{FF2B5EF4-FFF2-40B4-BE49-F238E27FC236}">
                        <a16:creationId xmlns:a16="http://schemas.microsoft.com/office/drawing/2014/main" id="{CF17E482-44A2-4D1F-9FC3-52A749E599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11" y="971"/>
                    <a:ext cx="150" cy="126"/>
                  </a:xfrm>
                  <a:prstGeom prst="rect">
                    <a:avLst/>
                  </a:prstGeom>
                  <a:solidFill>
                    <a:srgbClr val="00CC99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仿宋_GB2312" pitchFamily="49" charset="-122"/>
                      </a:defRPr>
                    </a:lvl9pPr>
                  </a:lstStyle>
                  <a:p>
                    <a:pPr>
                      <a:buFontTx/>
                      <a:buNone/>
                    </a:pPr>
                    <a:endParaRPr lang="zh-CN" altLang="en-US" sz="2800"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6168" name="Group 5205">
                  <a:extLst>
                    <a:ext uri="{FF2B5EF4-FFF2-40B4-BE49-F238E27FC236}">
                      <a16:creationId xmlns:a16="http://schemas.microsoft.com/office/drawing/2014/main" id="{3B000986-2D74-47D2-BD1F-794B78F803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17" y="979"/>
                  <a:ext cx="100" cy="58"/>
                  <a:chOff x="2017" y="979"/>
                  <a:chExt cx="100" cy="58"/>
                </a:xfrm>
              </p:grpSpPr>
              <p:sp>
                <p:nvSpPr>
                  <p:cNvPr id="6169" name="Line 5206">
                    <a:extLst>
                      <a:ext uri="{FF2B5EF4-FFF2-40B4-BE49-F238E27FC236}">
                        <a16:creationId xmlns:a16="http://schemas.microsoft.com/office/drawing/2014/main" id="{D58E6E55-F31A-4450-8DF1-8A3D5B5E49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17" y="1007"/>
                    <a:ext cx="5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70" name="Freeform 5207">
                    <a:extLst>
                      <a:ext uri="{FF2B5EF4-FFF2-40B4-BE49-F238E27FC236}">
                        <a16:creationId xmlns:a16="http://schemas.microsoft.com/office/drawing/2014/main" id="{158D3E89-907F-4890-87B0-983A20CC45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56" y="979"/>
                    <a:ext cx="61" cy="58"/>
                  </a:xfrm>
                  <a:custGeom>
                    <a:avLst/>
                    <a:gdLst>
                      <a:gd name="T0" fmla="*/ 0 w 61"/>
                      <a:gd name="T1" fmla="*/ 57 h 58"/>
                      <a:gd name="T2" fmla="*/ 60 w 61"/>
                      <a:gd name="T3" fmla="*/ 28 h 58"/>
                      <a:gd name="T4" fmla="*/ 0 w 61"/>
                      <a:gd name="T5" fmla="*/ 0 h 58"/>
                      <a:gd name="T6" fmla="*/ 19 w 61"/>
                      <a:gd name="T7" fmla="*/ 28 h 58"/>
                      <a:gd name="T8" fmla="*/ 0 w 61"/>
                      <a:gd name="T9" fmla="*/ 57 h 5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1"/>
                      <a:gd name="T16" fmla="*/ 0 h 58"/>
                      <a:gd name="T17" fmla="*/ 61 w 61"/>
                      <a:gd name="T18" fmla="*/ 58 h 5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1" h="58">
                        <a:moveTo>
                          <a:pt x="0" y="57"/>
                        </a:moveTo>
                        <a:lnTo>
                          <a:pt x="60" y="28"/>
                        </a:lnTo>
                        <a:lnTo>
                          <a:pt x="0" y="0"/>
                        </a:lnTo>
                        <a:lnTo>
                          <a:pt x="19" y="28"/>
                        </a:lnTo>
                        <a:lnTo>
                          <a:pt x="0" y="57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6163" name="Text Box 5209">
                <a:extLst>
                  <a:ext uri="{FF2B5EF4-FFF2-40B4-BE49-F238E27FC236}">
                    <a16:creationId xmlns:a16="http://schemas.microsoft.com/office/drawing/2014/main" id="{DCCCCC4A-9B02-4849-A924-6EC71CE3E1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6" y="2631"/>
                <a:ext cx="107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800"/>
                  <a:t>TRANSLATER </a:t>
                </a:r>
              </a:p>
            </p:txBody>
          </p:sp>
          <p:sp>
            <p:nvSpPr>
              <p:cNvPr id="6164" name="AutoShape 5210">
                <a:extLst>
                  <a:ext uri="{FF2B5EF4-FFF2-40B4-BE49-F238E27FC236}">
                    <a16:creationId xmlns:a16="http://schemas.microsoft.com/office/drawing/2014/main" id="{001FFB50-9666-45D3-BEC1-2976D5B81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2927"/>
                <a:ext cx="560" cy="376"/>
              </a:xfrm>
              <a:prstGeom prst="rightArrow">
                <a:avLst>
                  <a:gd name="adj1" fmla="val 50000"/>
                  <a:gd name="adj2" fmla="val 37234"/>
                </a:avLst>
              </a:prstGeom>
              <a:solidFill>
                <a:srgbClr val="CC99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/>
              </a:p>
            </p:txBody>
          </p:sp>
          <p:sp>
            <p:nvSpPr>
              <p:cNvPr id="6165" name="AutoShape 5211">
                <a:extLst>
                  <a:ext uri="{FF2B5EF4-FFF2-40B4-BE49-F238E27FC236}">
                    <a16:creationId xmlns:a16="http://schemas.microsoft.com/office/drawing/2014/main" id="{00FB8FF3-45DA-4648-B0F2-623F3A67C9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4" y="2903"/>
                <a:ext cx="560" cy="376"/>
              </a:xfrm>
              <a:prstGeom prst="rightArrow">
                <a:avLst>
                  <a:gd name="adj1" fmla="val 50000"/>
                  <a:gd name="adj2" fmla="val 37234"/>
                </a:avLst>
              </a:prstGeom>
              <a:solidFill>
                <a:srgbClr val="CC99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/>
              </a:p>
            </p:txBody>
          </p:sp>
        </p:grpSp>
      </p:grpSp>
      <p:sp>
        <p:nvSpPr>
          <p:cNvPr id="161886" name="Rectangle 5214">
            <a:extLst>
              <a:ext uri="{FF2B5EF4-FFF2-40B4-BE49-F238E27FC236}">
                <a16:creationId xmlns:a16="http://schemas.microsoft.com/office/drawing/2014/main" id="{50A9EB30-B5CC-4F1A-95CD-F2BD7D5BB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600">
                <a:ea typeface="楷体_GB2312" pitchFamily="49" charset="-122"/>
              </a:rPr>
              <a:t>为什么要学习编译原理</a:t>
            </a:r>
          </a:p>
        </p:txBody>
      </p:sp>
      <p:sp>
        <p:nvSpPr>
          <p:cNvPr id="6158" name="Rectangle 5215">
            <a:extLst>
              <a:ext uri="{FF2B5EF4-FFF2-40B4-BE49-F238E27FC236}">
                <a16:creationId xmlns:a16="http://schemas.microsoft.com/office/drawing/2014/main" id="{BEF60D98-21EE-4E98-889A-53E6857710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0248" y="1256047"/>
            <a:ext cx="8602662" cy="1817687"/>
          </a:xfrm>
          <a:noFill/>
        </p:spPr>
        <p:txBody>
          <a:bodyPr/>
          <a:lstStyle/>
          <a:p>
            <a:r>
              <a:rPr lang="zh-CN" altLang="en-US" sz="2800" b="1" dirty="0">
                <a:ea typeface="楷体_GB2312" pitchFamily="49" charset="-122"/>
              </a:rPr>
              <a:t>计算机软件专业的重要核心</a:t>
            </a:r>
            <a:r>
              <a:rPr lang="zh-CN" altLang="en-US" sz="2800" dirty="0">
                <a:ea typeface="楷体_GB2312" pitchFamily="49" charset="-122"/>
              </a:rPr>
              <a:t>，</a:t>
            </a:r>
            <a:r>
              <a:rPr lang="zh-CN" altLang="en-US" sz="2800" b="1" dirty="0">
                <a:ea typeface="楷体_GB2312" pitchFamily="49" charset="-122"/>
              </a:rPr>
              <a:t>理解程序如何被机器识别和执行</a:t>
            </a:r>
          </a:p>
          <a:p>
            <a:r>
              <a:rPr lang="zh-CN" altLang="en-US" sz="2800" b="1" dirty="0">
                <a:ea typeface="楷体_GB2312" pitchFamily="49" charset="-122"/>
              </a:rPr>
              <a:t>学习编程的历程：</a:t>
            </a:r>
          </a:p>
          <a:p>
            <a:pPr lvl="1"/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语言－－汇编语言－－数据结构等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9539E-C9BE-42C1-86BB-5C86055CDE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-304800" y="6245225"/>
            <a:ext cx="2895600" cy="47625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                    </a:t>
            </a:r>
            <a:fld id="{68B63C30-AD3A-4E55-AC66-866A1262751C}" type="datetime2">
              <a:rPr lang="zh-CN" altLang="en-US" smtClean="0"/>
              <a:pPr>
                <a:defRPr/>
              </a:pPr>
              <a:t>2025年2月26日</a:t>
            </a:fld>
            <a:r>
              <a:rPr lang="en-US" altLang="zh-CN" dirty="0"/>
              <a:t>        </a:t>
            </a:r>
          </a:p>
        </p:txBody>
      </p:sp>
      <p:sp>
        <p:nvSpPr>
          <p:cNvPr id="7171" name="页脚占位符 4">
            <a:extLst>
              <a:ext uri="{FF2B5EF4-FFF2-40B4-BE49-F238E27FC236}">
                <a16:creationId xmlns:a16="http://schemas.microsoft.com/office/drawing/2014/main" id="{FBF18E62-21DA-4439-BF5D-BF9F4386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pitchFamily="49" charset="-122"/>
              </a:rPr>
              <a:t>北京林业大学信息学院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416ADCAF-EEE4-4DAB-BFFA-8A87CDF33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2368" y="531813"/>
            <a:ext cx="7656388" cy="685800"/>
          </a:xfrm>
        </p:spPr>
        <p:txBody>
          <a:bodyPr/>
          <a:lstStyle/>
          <a:p>
            <a:pPr>
              <a:defRPr/>
            </a:pPr>
            <a:r>
              <a:rPr lang="zh-CN" altLang="en-US" sz="3600" dirty="0">
                <a:ea typeface="楷体_GB2312" pitchFamily="49" charset="-122"/>
              </a:rPr>
              <a:t>既然这么难，为什么要学</a:t>
            </a:r>
            <a:r>
              <a:rPr lang="zh-CN" altLang="en-US" dirty="0">
                <a:ea typeface="楷体_GB2312" pitchFamily="49" charset="-122"/>
              </a:rPr>
              <a:t>，</a:t>
            </a:r>
            <a:r>
              <a:rPr lang="zh-CN" altLang="en-US" sz="3600" dirty="0">
                <a:ea typeface="楷体_GB2312" pitchFamily="49" charset="-122"/>
              </a:rPr>
              <a:t>学习什么？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506D658-EC6D-4B8E-924A-3FAD2CA7C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12875"/>
            <a:ext cx="8785225" cy="44418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必修主干课程</a:t>
            </a: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操作系统和编译系统构成程序设计者与计算机之间的基本界面。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掌握编译的基本过程</a:t>
            </a: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掌握编译的基本理论、常用的编译技术，了解编译过程及编译系统结构和机理。能运用所学技术解决实际问题，能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独立编写一个小型编译系统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。（课设内容）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学习高级语言的内部编译机制：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通过学习编译原理可以更好地理解程序语言的内部机制</a:t>
            </a: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从而更好地理解和运用程序设计语言。能运用编译程序构造的原理和技术完成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相关软件工具的设计和开发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工作</a:t>
            </a: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>
            <a:extLst>
              <a:ext uri="{FF2B5EF4-FFF2-40B4-BE49-F238E27FC236}">
                <a16:creationId xmlns:a16="http://schemas.microsoft.com/office/drawing/2014/main" id="{3EF8E255-815F-4C7C-9D9F-5DB0D92147F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-21958" y="6369050"/>
            <a:ext cx="44196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                    </a:t>
            </a:r>
            <a:fld id="{0E8D8386-B27C-43E9-871F-9E1ADED57517}" type="datetime2">
              <a:rPr lang="zh-CN" altLang="en-US" smtClean="0"/>
              <a:pPr>
                <a:defRPr/>
              </a:pPr>
              <a:t>2025年2月26日</a:t>
            </a:fld>
            <a:r>
              <a:rPr lang="en-US" altLang="zh-CN" dirty="0"/>
              <a:t>        </a:t>
            </a:r>
          </a:p>
        </p:txBody>
      </p:sp>
      <p:sp>
        <p:nvSpPr>
          <p:cNvPr id="9219" name="页脚占位符 2">
            <a:extLst>
              <a:ext uri="{FF2B5EF4-FFF2-40B4-BE49-F238E27FC236}">
                <a16:creationId xmlns:a16="http://schemas.microsoft.com/office/drawing/2014/main" id="{BA5A4B8E-2A5C-4B46-A346-C3AD0583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pitchFamily="49" charset="-122"/>
              </a:rPr>
              <a:t>北京林业大学信息学院</a:t>
            </a:r>
          </a:p>
        </p:txBody>
      </p:sp>
      <p:sp>
        <p:nvSpPr>
          <p:cNvPr id="148491" name="Rectangle 11">
            <a:extLst>
              <a:ext uri="{FF2B5EF4-FFF2-40B4-BE49-F238E27FC236}">
                <a16:creationId xmlns:a16="http://schemas.microsoft.com/office/drawing/2014/main" id="{221876BA-5C7F-4038-8382-95DCB196213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17588" y="260350"/>
            <a:ext cx="6400800" cy="685800"/>
          </a:xfrm>
        </p:spPr>
        <p:txBody>
          <a:bodyPr/>
          <a:lstStyle/>
          <a:p>
            <a:pPr>
              <a:defRPr/>
            </a:pPr>
            <a:r>
              <a:rPr lang="zh-CN" altLang="en-US">
                <a:ea typeface="楷体_GB2312" pitchFamily="49" charset="-122"/>
              </a:rPr>
              <a:t>先修课程</a:t>
            </a:r>
          </a:p>
        </p:txBody>
      </p:sp>
      <p:sp>
        <p:nvSpPr>
          <p:cNvPr id="148492" name="Rectangle 12">
            <a:extLst>
              <a:ext uri="{FF2B5EF4-FFF2-40B4-BE49-F238E27FC236}">
                <a16:creationId xmlns:a16="http://schemas.microsoft.com/office/drawing/2014/main" id="{8305FB00-C1FE-427C-8702-6C96064165F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5438" y="1058863"/>
            <a:ext cx="8493125" cy="47259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6600"/>
                </a:solidFill>
                <a:ea typeface="楷体_GB2312" pitchFamily="49" charset="-122"/>
              </a:rPr>
              <a:t>要求先学习以下课程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1.</a:t>
            </a:r>
            <a:r>
              <a:rPr lang="zh-CN" altLang="en-US" sz="2400" b="1" dirty="0">
                <a:solidFill>
                  <a:srgbClr val="CC33CC"/>
                </a:solidFill>
                <a:ea typeface="楷体_GB2312" pitchFamily="49" charset="-122"/>
              </a:rPr>
              <a:t>程序设计语言  </a:t>
            </a:r>
            <a:r>
              <a:rPr lang="en-US" altLang="zh-CN" sz="2400" b="1" dirty="0">
                <a:solidFill>
                  <a:srgbClr val="CC33CC"/>
                </a:solidFill>
                <a:ea typeface="楷体_GB2312" pitchFamily="49" charset="-122"/>
              </a:rPr>
              <a:t>C JAVA Python</a:t>
            </a:r>
            <a:r>
              <a:rPr lang="zh-CN" altLang="en-US" sz="2400" b="1" dirty="0">
                <a:solidFill>
                  <a:srgbClr val="CC33CC"/>
                </a:solidFill>
                <a:ea typeface="楷体_GB2312" pitchFamily="49" charset="-122"/>
              </a:rPr>
              <a:t>等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2.</a:t>
            </a:r>
            <a:r>
              <a:rPr lang="zh-CN" altLang="en-US" sz="2400" b="1" dirty="0">
                <a:solidFill>
                  <a:srgbClr val="CC33CC"/>
                </a:solidFill>
                <a:ea typeface="楷体_GB2312" pitchFamily="49" charset="-122"/>
              </a:rPr>
              <a:t>算法与数据结构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：栈分配、堆分配、静态分配等各种存储分配方式。线性表、二叉查找树、哈希表等多种数据结构。</a:t>
            </a:r>
            <a:r>
              <a:rPr lang="zh-CN" altLang="en-US" sz="2400" b="1" dirty="0">
                <a:ea typeface="宋体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3.</a:t>
            </a:r>
            <a:r>
              <a:rPr lang="zh-CN" altLang="en-US" sz="2400" b="1" dirty="0">
                <a:solidFill>
                  <a:srgbClr val="CC33CC"/>
                </a:solidFill>
                <a:ea typeface="楷体_GB2312" pitchFamily="49" charset="-122"/>
              </a:rPr>
              <a:t>离散数学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：集合论与数理逻辑是进一步学习形式语言与自动机理论的数学基础。</a:t>
            </a:r>
            <a:r>
              <a:rPr lang="zh-CN" altLang="en-US" sz="2400" b="1" dirty="0"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6600"/>
                </a:solidFill>
                <a:ea typeface="楷体_GB2312" pitchFamily="49" charset="-122"/>
              </a:rPr>
              <a:t>最好学习过或同时学习以下课程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1.</a:t>
            </a:r>
            <a:r>
              <a:rPr lang="zh-CN" altLang="en-US" sz="2400" b="1" dirty="0">
                <a:solidFill>
                  <a:srgbClr val="CC33CC"/>
                </a:solidFill>
                <a:ea typeface="楷体_GB2312" pitchFamily="49" charset="-122"/>
              </a:rPr>
              <a:t>软件工程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：掌握大型程序设计以及工程化的软件生产方法。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2.</a:t>
            </a:r>
            <a:r>
              <a:rPr lang="zh-CN" altLang="en-US" sz="2400" b="1" dirty="0">
                <a:solidFill>
                  <a:srgbClr val="CC33CC"/>
                </a:solidFill>
                <a:ea typeface="楷体_GB2312" pitchFamily="49" charset="-122"/>
              </a:rPr>
              <a:t>形式语言与自动机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：相当于本课程中词法分析与语法分析的理论基础。</a:t>
            </a:r>
            <a:r>
              <a:rPr lang="zh-CN" altLang="en-US" sz="2400" b="1" dirty="0"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（可以自主网上学习）</a:t>
            </a:r>
          </a:p>
          <a:p>
            <a:pPr>
              <a:lnSpc>
                <a:spcPct val="90000"/>
              </a:lnSpc>
            </a:pPr>
            <a:endParaRPr lang="en-US" altLang="zh-CN" sz="28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8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8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8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8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8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8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8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92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6A08549-D79A-47D5-B1F6-9F7A7D956D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-180528" y="6245225"/>
            <a:ext cx="2771328" cy="47625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                    </a:t>
            </a:r>
            <a:fld id="{AA006B86-66DF-4EB5-87A3-B401F9F6A0B0}" type="datetime2">
              <a:rPr lang="zh-CN" altLang="en-US" smtClean="0"/>
              <a:pPr>
                <a:defRPr/>
              </a:pPr>
              <a:t>2025年2月26日</a:t>
            </a:fld>
            <a:r>
              <a:rPr lang="en-US" altLang="zh-CN" dirty="0"/>
              <a:t>        </a:t>
            </a:r>
          </a:p>
        </p:txBody>
      </p:sp>
      <p:sp>
        <p:nvSpPr>
          <p:cNvPr id="10243" name="页脚占位符 4">
            <a:extLst>
              <a:ext uri="{FF2B5EF4-FFF2-40B4-BE49-F238E27FC236}">
                <a16:creationId xmlns:a16="http://schemas.microsoft.com/office/drawing/2014/main" id="{2611DE94-55F1-461B-83FE-172FE4C4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pitchFamily="49" charset="-122"/>
              </a:rPr>
              <a:t>北京林业大学信息学院</a:t>
            </a:r>
          </a:p>
        </p:txBody>
      </p:sp>
      <p:sp>
        <p:nvSpPr>
          <p:cNvPr id="10244" name="Rectangle 1027">
            <a:extLst>
              <a:ext uri="{FF2B5EF4-FFF2-40B4-BE49-F238E27FC236}">
                <a16:creationId xmlns:a16="http://schemas.microsoft.com/office/drawing/2014/main" id="{73AB3240-D62D-4F77-B0FD-805FCA0AD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2913" y="1317625"/>
            <a:ext cx="8399462" cy="849313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张素琴，吕映芝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, 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蒋维杜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, 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戴桂兰，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《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编译原理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》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（第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版）或第三版，清华大学出版社</a:t>
            </a:r>
          </a:p>
          <a:p>
            <a:pPr>
              <a:lnSpc>
                <a:spcPct val="80000"/>
              </a:lnSpc>
            </a:pPr>
            <a:endParaRPr lang="en-US" altLang="zh-CN" sz="24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0245" name="Rectangle 1028">
            <a:extLst>
              <a:ext uri="{FF2B5EF4-FFF2-40B4-BE49-F238E27FC236}">
                <a16:creationId xmlns:a16="http://schemas.microsoft.com/office/drawing/2014/main" id="{2367FDED-10A9-4554-A242-8A8DF2A93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600"/>
            <a:ext cx="163353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400" b="1">
                <a:solidFill>
                  <a:srgbClr val="009999"/>
                </a:solidFill>
                <a:ea typeface="楷体_GB2312" pitchFamily="49" charset="-122"/>
              </a:rPr>
              <a:t>教材</a:t>
            </a:r>
          </a:p>
        </p:txBody>
      </p:sp>
      <p:pic>
        <p:nvPicPr>
          <p:cNvPr id="10246" name="Picture 3160" descr="清华大学计算机系列教材•普通高等教育十一五国家级规划教材:编译原理(第2版)">
            <a:extLst>
              <a:ext uri="{FF2B5EF4-FFF2-40B4-BE49-F238E27FC236}">
                <a16:creationId xmlns:a16="http://schemas.microsoft.com/office/drawing/2014/main" id="{49ABEC55-C836-428E-B07B-76BB3110A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420888"/>
            <a:ext cx="3781425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>
            <a:extLst>
              <a:ext uri="{FF2B5EF4-FFF2-40B4-BE49-F238E27FC236}">
                <a16:creationId xmlns:a16="http://schemas.microsoft.com/office/drawing/2014/main" id="{58172F50-7A06-427A-B2D6-0783294F31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                    </a:t>
            </a:r>
            <a:fld id="{4895D7C9-C61D-416A-B469-1BC097FABFE1}" type="datetime2">
              <a:rPr lang="zh-CN" altLang="en-US" smtClean="0"/>
              <a:pPr>
                <a:defRPr/>
              </a:pPr>
              <a:t>2025年2月26日</a:t>
            </a:fld>
            <a:r>
              <a:rPr lang="en-US" altLang="zh-CN"/>
              <a:t>        </a:t>
            </a:r>
          </a:p>
        </p:txBody>
      </p:sp>
      <p:sp>
        <p:nvSpPr>
          <p:cNvPr id="12291" name="页脚占位符 2">
            <a:extLst>
              <a:ext uri="{FF2B5EF4-FFF2-40B4-BE49-F238E27FC236}">
                <a16:creationId xmlns:a16="http://schemas.microsoft.com/office/drawing/2014/main" id="{B4B9A32A-2D3D-4D61-B206-C1774333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pitchFamily="49" charset="-122"/>
              </a:rPr>
              <a:t>北京林业大学信息学院</a:t>
            </a:r>
          </a:p>
        </p:txBody>
      </p:sp>
      <p:pic>
        <p:nvPicPr>
          <p:cNvPr id="12292" name="Picture 5" descr="cover">
            <a:extLst>
              <a:ext uri="{FF2B5EF4-FFF2-40B4-BE49-F238E27FC236}">
                <a16:creationId xmlns:a16="http://schemas.microsoft.com/office/drawing/2014/main" id="{25812AEE-9AF5-43A0-8448-BBCA56E0C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0" y="-1333500"/>
            <a:ext cx="9525000" cy="952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7" descr="cover">
            <a:extLst>
              <a:ext uri="{FF2B5EF4-FFF2-40B4-BE49-F238E27FC236}">
                <a16:creationId xmlns:a16="http://schemas.microsoft.com/office/drawing/2014/main" id="{BDBE3D2C-A232-48FB-A2AB-A47D522D5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0" y="-1333500"/>
            <a:ext cx="9525000" cy="952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13" descr="编译原理（第2版）——计算机科学丛书">
            <a:extLst>
              <a:ext uri="{FF2B5EF4-FFF2-40B4-BE49-F238E27FC236}">
                <a16:creationId xmlns:a16="http://schemas.microsoft.com/office/drawing/2014/main" id="{4DCF0872-BD9E-4FCA-9DA7-11F1597D2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150" y="2349500"/>
            <a:ext cx="2557463" cy="380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Rectangle 17">
            <a:extLst>
              <a:ext uri="{FF2B5EF4-FFF2-40B4-BE49-F238E27FC236}">
                <a16:creationId xmlns:a16="http://schemas.microsoft.com/office/drawing/2014/main" id="{B694F8FD-52A0-425E-8213-E0B31F6D4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266541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400" b="1">
                <a:solidFill>
                  <a:srgbClr val="009999"/>
                </a:solidFill>
                <a:ea typeface="楷体_GB2312" pitchFamily="49" charset="-122"/>
              </a:rPr>
              <a:t>参考书</a:t>
            </a:r>
          </a:p>
        </p:txBody>
      </p:sp>
      <p:sp>
        <p:nvSpPr>
          <p:cNvPr id="12296" name="Rectangle 18">
            <a:extLst>
              <a:ext uri="{FF2B5EF4-FFF2-40B4-BE49-F238E27FC236}">
                <a16:creationId xmlns:a16="http://schemas.microsoft.com/office/drawing/2014/main" id="{4431D152-90C4-498D-92B6-73CCA7721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8" y="1235075"/>
            <a:ext cx="87550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李冬梅，施海虎，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《</a:t>
            </a: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编译原理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》</a:t>
            </a: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，人民邮电出版社</a:t>
            </a:r>
          </a:p>
          <a:p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李建中译，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《</a:t>
            </a: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编译原理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》</a:t>
            </a: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（龙书），机械工业出版社</a:t>
            </a:r>
          </a:p>
        </p:txBody>
      </p:sp>
      <p:pic>
        <p:nvPicPr>
          <p:cNvPr id="12297" name="Picture 20" descr="编译原理">
            <a:extLst>
              <a:ext uri="{FF2B5EF4-FFF2-40B4-BE49-F238E27FC236}">
                <a16:creationId xmlns:a16="http://schemas.microsoft.com/office/drawing/2014/main" id="{24EF2372-E2E0-44D3-9534-37D544B52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349500"/>
            <a:ext cx="2557462" cy="360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DCD2D9-8B8B-4278-9804-4B3FBE4DC1F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937125" y="5240338"/>
            <a:ext cx="4419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          </a:t>
            </a:r>
            <a:r>
              <a:rPr lang="zh-CN" altLang="en-US"/>
              <a:t>          </a:t>
            </a:r>
            <a:fld id="{9AEB2059-E3BE-4ACA-96AB-A234E30E90B3}" type="datetime2">
              <a:rPr lang="zh-CN" altLang="en-US" smtClean="0"/>
              <a:pPr>
                <a:defRPr/>
              </a:pPr>
              <a:t>2025年2月26日</a:t>
            </a:fld>
            <a:r>
              <a:rPr lang="en-US" altLang="zh-CN"/>
              <a:t>        </a:t>
            </a:r>
          </a:p>
        </p:txBody>
      </p:sp>
      <p:sp>
        <p:nvSpPr>
          <p:cNvPr id="13315" name="页脚占位符 2">
            <a:extLst>
              <a:ext uri="{FF2B5EF4-FFF2-40B4-BE49-F238E27FC236}">
                <a16:creationId xmlns:a16="http://schemas.microsoft.com/office/drawing/2014/main" id="{6F05BD2A-50E8-4B66-A82F-C183D9CEC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488" y="5240338"/>
            <a:ext cx="37814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pitchFamily="49" charset="-122"/>
              </a:rPr>
              <a:t>北京林业大学信息学院</a:t>
            </a:r>
          </a:p>
        </p:txBody>
      </p:sp>
      <p:sp>
        <p:nvSpPr>
          <p:cNvPr id="13316" name="Rectangle 18">
            <a:extLst>
              <a:ext uri="{FF2B5EF4-FFF2-40B4-BE49-F238E27FC236}">
                <a16:creationId xmlns:a16="http://schemas.microsoft.com/office/drawing/2014/main" id="{29F0E9AA-17FD-4EAD-8DEC-8BD9EB619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755063" cy="5000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编译原理三大经典书籍（龙书 、虎书、 鲸书） </a:t>
            </a:r>
          </a:p>
        </p:txBody>
      </p:sp>
      <p:pic>
        <p:nvPicPr>
          <p:cNvPr id="13317" name="Picture 1" descr="C:\Users\Administrator\AppData\Roaming\Tencent\Users\597999009\QQ\WinTemp\RichOle\T0MYG}(X03Q{1`S84%M$L15.jpg">
            <a:extLst>
              <a:ext uri="{FF2B5EF4-FFF2-40B4-BE49-F238E27FC236}">
                <a16:creationId xmlns:a16="http://schemas.microsoft.com/office/drawing/2014/main" id="{923634BD-6319-4013-B128-512DA01E4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913" y="1357313"/>
            <a:ext cx="2909887" cy="435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3" descr="C:\Users\Administrator\AppData\Roaming\Tencent\Users\597999009\QQ\WinTemp\RichOle\}UL4(39W$IGG)BMU[SS)UAR.jpg">
            <a:extLst>
              <a:ext uri="{FF2B5EF4-FFF2-40B4-BE49-F238E27FC236}">
                <a16:creationId xmlns:a16="http://schemas.microsoft.com/office/drawing/2014/main" id="{049EF15A-6B80-4115-B195-454DBF084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438" y="1357313"/>
            <a:ext cx="3017838" cy="435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2" descr="C:\Users\Administrator\AppData\Roaming\Tencent\Users\597999009\QQ\WinTemp\RichOle\(`CVCA9$1IQB3M55VU}F3FR.jpg">
            <a:extLst>
              <a:ext uri="{FF2B5EF4-FFF2-40B4-BE49-F238E27FC236}">
                <a16:creationId xmlns:a16="http://schemas.microsoft.com/office/drawing/2014/main" id="{0E7AC028-490D-4036-A619-6A4ED760F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613" y="1357313"/>
            <a:ext cx="3227387" cy="435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0A682C3-E4D8-47E7-A03D-5930A4501B4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                    </a:t>
            </a:r>
            <a:fld id="{D320E95C-A907-4C7E-B06F-DE8C689DEF10}" type="datetime2">
              <a:rPr lang="zh-CN" altLang="en-US" smtClean="0"/>
              <a:pPr>
                <a:defRPr/>
              </a:pPr>
              <a:t>2025年2月26日</a:t>
            </a:fld>
            <a:r>
              <a:rPr lang="en-US" altLang="zh-CN"/>
              <a:t>        </a:t>
            </a:r>
          </a:p>
        </p:txBody>
      </p:sp>
      <p:sp>
        <p:nvSpPr>
          <p:cNvPr id="14339" name="页脚占位符 2">
            <a:extLst>
              <a:ext uri="{FF2B5EF4-FFF2-40B4-BE49-F238E27FC236}">
                <a16:creationId xmlns:a16="http://schemas.microsoft.com/office/drawing/2014/main" id="{9BF59CE3-4D9D-461E-94C0-8B5AA122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pitchFamily="49" charset="-122"/>
              </a:rPr>
              <a:t>北京林业大学信息学院</a:t>
            </a:r>
          </a:p>
        </p:txBody>
      </p:sp>
      <p:sp>
        <p:nvSpPr>
          <p:cNvPr id="4" name="日期占位符 1">
            <a:extLst>
              <a:ext uri="{FF2B5EF4-FFF2-40B4-BE49-F238E27FC236}">
                <a16:creationId xmlns:a16="http://schemas.microsoft.com/office/drawing/2014/main" id="{531110B3-4768-4275-8DDA-244532142A65}"/>
              </a:ext>
            </a:extLst>
          </p:cNvPr>
          <p:cNvSpPr txBox="1">
            <a:spLocks/>
          </p:cNvSpPr>
          <p:nvPr/>
        </p:nvSpPr>
        <p:spPr bwMode="auto">
          <a:xfrm>
            <a:off x="4937125" y="6240463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n-US" altLang="zh-CN" sz="1400">
                <a:ea typeface="+mn-ea"/>
              </a:rPr>
              <a:t>                    </a:t>
            </a:r>
            <a:fld id="{068724B1-9692-4CAE-BD9B-DAA6947342B7}" type="datetime2">
              <a:rPr lang="zh-CN" altLang="en-US" sz="1400">
                <a:ea typeface="+mn-ea"/>
              </a:rPr>
              <a:pPr>
                <a:spcBef>
                  <a:spcPct val="50000"/>
                </a:spcBef>
                <a:defRPr/>
              </a:pPr>
              <a:t>2025年2月26日</a:t>
            </a:fld>
            <a:r>
              <a:rPr lang="en-US" altLang="zh-CN" sz="1400">
                <a:ea typeface="+mn-ea"/>
              </a:rPr>
              <a:t>        </a:t>
            </a:r>
          </a:p>
        </p:txBody>
      </p:sp>
      <p:sp>
        <p:nvSpPr>
          <p:cNvPr id="14341" name="页脚占位符 2">
            <a:extLst>
              <a:ext uri="{FF2B5EF4-FFF2-40B4-BE49-F238E27FC236}">
                <a16:creationId xmlns:a16="http://schemas.microsoft.com/office/drawing/2014/main" id="{D97DBA96-18A6-4DEB-8AA1-A38B59B33ABC}"/>
              </a:ext>
            </a:extLst>
          </p:cNvPr>
          <p:cNvSpPr txBox="1">
            <a:spLocks/>
          </p:cNvSpPr>
          <p:nvPr/>
        </p:nvSpPr>
        <p:spPr bwMode="auto">
          <a:xfrm>
            <a:off x="471488" y="6240463"/>
            <a:ext cx="3781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b="1">
                <a:ea typeface="楷体_GB2312" pitchFamily="49" charset="-122"/>
              </a:rPr>
              <a:t>北京林业大学信息学院</a:t>
            </a:r>
          </a:p>
        </p:txBody>
      </p:sp>
      <p:sp>
        <p:nvSpPr>
          <p:cNvPr id="14342" name="Rectangle 18">
            <a:extLst>
              <a:ext uri="{FF2B5EF4-FFF2-40B4-BE49-F238E27FC236}">
                <a16:creationId xmlns:a16="http://schemas.microsoft.com/office/drawing/2014/main" id="{1409B9A0-418D-4019-9B9C-2FB55E48F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0"/>
            <a:ext cx="8755063" cy="5000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编译原理三大经典书籍（龙书 、虎书、 鲸书） </a:t>
            </a:r>
          </a:p>
        </p:txBody>
      </p:sp>
      <p:sp>
        <p:nvSpPr>
          <p:cNvPr id="14343" name="矩形 6">
            <a:extLst>
              <a:ext uri="{FF2B5EF4-FFF2-40B4-BE49-F238E27FC236}">
                <a16:creationId xmlns:a16="http://schemas.microsoft.com/office/drawing/2014/main" id="{60236682-EDA4-4960-B887-25EABC9AF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644525"/>
            <a:ext cx="8029575" cy="1570038"/>
          </a:xfrm>
          <a:prstGeom prst="rect">
            <a:avLst/>
          </a:prstGeom>
          <a:noFill/>
          <a:ln w="5715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ea typeface="楷体_GB2312" pitchFamily="49" charset="-122"/>
              </a:rPr>
              <a:t>、龙书（</a:t>
            </a:r>
            <a:r>
              <a:rPr lang="en-US" altLang="zh-CN" sz="2400">
                <a:solidFill>
                  <a:srgbClr val="FF0000"/>
                </a:solidFill>
                <a:ea typeface="楷体_GB2312" pitchFamily="49" charset="-122"/>
              </a:rPr>
              <a:t>Dragon book） </a:t>
            </a:r>
            <a:br>
              <a:rPr lang="en-US" altLang="zh-CN" sz="2400">
                <a:ea typeface="楷体_GB2312" pitchFamily="49" charset="-122"/>
              </a:rPr>
            </a:br>
            <a:r>
              <a:rPr lang="zh-CN" altLang="en-US" sz="2400">
                <a:ea typeface="楷体_GB2312" pitchFamily="49" charset="-122"/>
              </a:rPr>
              <a:t>英文名：</a:t>
            </a:r>
            <a:r>
              <a:rPr lang="en-US" altLang="zh-CN" sz="2400">
                <a:ea typeface="楷体_GB2312" pitchFamily="49" charset="-122"/>
              </a:rPr>
              <a:t>Compilers: Principles,Techniques,and Tools </a:t>
            </a:r>
            <a:br>
              <a:rPr lang="en-US" altLang="zh-CN" sz="2400">
                <a:ea typeface="楷体_GB2312" pitchFamily="49" charset="-122"/>
              </a:rPr>
            </a:br>
            <a:r>
              <a:rPr lang="zh-CN" altLang="en-US" sz="2400">
                <a:ea typeface="楷体_GB2312" pitchFamily="49" charset="-122"/>
              </a:rPr>
              <a:t>作者：</a:t>
            </a:r>
            <a:r>
              <a:rPr lang="en-US" altLang="zh-CN" sz="2400">
                <a:ea typeface="楷体_GB2312" pitchFamily="49" charset="-122"/>
              </a:rPr>
              <a:t>Alfred V.Aho,Ravi Sethi,Jeffrey D.Ullman </a:t>
            </a:r>
            <a:br>
              <a:rPr lang="en-US" altLang="zh-CN" sz="2400">
                <a:ea typeface="楷体_GB2312" pitchFamily="49" charset="-122"/>
              </a:rPr>
            </a:br>
            <a:r>
              <a:rPr lang="zh-CN" altLang="en-US" sz="2400">
                <a:ea typeface="楷体_GB2312" pitchFamily="49" charset="-122"/>
              </a:rPr>
              <a:t>中文名：编译原理技术和工具 </a:t>
            </a:r>
          </a:p>
        </p:txBody>
      </p:sp>
      <p:sp>
        <p:nvSpPr>
          <p:cNvPr id="14344" name="矩形 7">
            <a:extLst>
              <a:ext uri="{FF2B5EF4-FFF2-40B4-BE49-F238E27FC236}">
                <a16:creationId xmlns:a16="http://schemas.microsoft.com/office/drawing/2014/main" id="{3684FD5B-55CE-4ED9-9FC0-E3DD81944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2357438"/>
            <a:ext cx="8029575" cy="1643062"/>
          </a:xfrm>
          <a:prstGeom prst="rect">
            <a:avLst/>
          </a:prstGeom>
          <a:noFill/>
          <a:ln w="5715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zh-CN" altLang="en-US" sz="2400">
                <a:solidFill>
                  <a:srgbClr val="FF0000"/>
                </a:solidFill>
                <a:ea typeface="楷体_GB2312" pitchFamily="49" charset="-122"/>
              </a:rPr>
              <a:t>、虎书（</a:t>
            </a:r>
            <a:r>
              <a:rPr lang="en-US" altLang="zh-CN" sz="2400">
                <a:solidFill>
                  <a:srgbClr val="FF0000"/>
                </a:solidFill>
                <a:ea typeface="楷体_GB2312" pitchFamily="49" charset="-122"/>
              </a:rPr>
              <a:t>Tiger book） </a:t>
            </a:r>
          </a:p>
          <a:p>
            <a:pPr>
              <a:buFontTx/>
              <a:buNone/>
            </a:pPr>
            <a:r>
              <a:rPr lang="zh-CN" altLang="en-US" sz="2400">
                <a:ea typeface="楷体_GB2312" pitchFamily="49" charset="-122"/>
              </a:rPr>
              <a:t>英文名：</a:t>
            </a:r>
            <a:r>
              <a:rPr lang="en-US" altLang="zh-CN" sz="2400">
                <a:ea typeface="楷体_GB2312" pitchFamily="49" charset="-122"/>
              </a:rPr>
              <a:t>Modern Compiler Implementation in C </a:t>
            </a:r>
            <a:br>
              <a:rPr lang="en-US" altLang="zh-CN" sz="2400">
                <a:ea typeface="楷体_GB2312" pitchFamily="49" charset="-122"/>
              </a:rPr>
            </a:br>
            <a:r>
              <a:rPr lang="zh-CN" altLang="en-US" sz="2400">
                <a:ea typeface="楷体_GB2312" pitchFamily="49" charset="-122"/>
              </a:rPr>
              <a:t>作者：</a:t>
            </a:r>
            <a:r>
              <a:rPr lang="en-US" altLang="zh-CN" sz="2400">
                <a:ea typeface="楷体_GB2312" pitchFamily="49" charset="-122"/>
              </a:rPr>
              <a:t>Andrew W.Appel,with Jens Palsberg </a:t>
            </a:r>
            <a:br>
              <a:rPr lang="en-US" altLang="zh-CN" sz="2400">
                <a:ea typeface="楷体_GB2312" pitchFamily="49" charset="-122"/>
              </a:rPr>
            </a:br>
            <a:r>
              <a:rPr lang="zh-CN" altLang="en-US" sz="2400">
                <a:ea typeface="楷体_GB2312" pitchFamily="49" charset="-122"/>
              </a:rPr>
              <a:t>中文名：现代编译原理</a:t>
            </a:r>
            <a:r>
              <a:rPr lang="en-US" altLang="zh-CN" sz="2400">
                <a:ea typeface="楷体_GB2312" pitchFamily="49" charset="-122"/>
              </a:rPr>
              <a:t>-C</a:t>
            </a:r>
            <a:r>
              <a:rPr lang="zh-CN" altLang="en-US" sz="2400">
                <a:ea typeface="楷体_GB2312" pitchFamily="49" charset="-122"/>
              </a:rPr>
              <a:t>语言描述 </a:t>
            </a:r>
          </a:p>
        </p:txBody>
      </p:sp>
      <p:sp>
        <p:nvSpPr>
          <p:cNvPr id="14345" name="矩形 8">
            <a:extLst>
              <a:ext uri="{FF2B5EF4-FFF2-40B4-BE49-F238E27FC236}">
                <a16:creationId xmlns:a16="http://schemas.microsoft.com/office/drawing/2014/main" id="{C1E0521B-0A7F-42C5-BBE6-1FDD5D931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4130675"/>
            <a:ext cx="8029575" cy="2012950"/>
          </a:xfrm>
          <a:prstGeom prst="rect">
            <a:avLst/>
          </a:prstGeom>
          <a:noFill/>
          <a:ln w="5715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ea typeface="楷体_GB2312" pitchFamily="49" charset="-122"/>
              </a:rPr>
              <a:t>3</a:t>
            </a:r>
            <a:r>
              <a:rPr lang="zh-CN" altLang="en-US" sz="2400">
                <a:solidFill>
                  <a:srgbClr val="FF0000"/>
                </a:solidFill>
                <a:ea typeface="楷体_GB2312" pitchFamily="49" charset="-122"/>
              </a:rPr>
              <a:t>、鲸书（</a:t>
            </a:r>
            <a:r>
              <a:rPr lang="en-US" altLang="zh-CN" sz="2400">
                <a:solidFill>
                  <a:srgbClr val="FF0000"/>
                </a:solidFill>
                <a:ea typeface="楷体_GB2312" pitchFamily="49" charset="-122"/>
              </a:rPr>
              <a:t>Whale book） </a:t>
            </a:r>
          </a:p>
          <a:p>
            <a:pPr>
              <a:buFontTx/>
              <a:buNone/>
            </a:pPr>
            <a:r>
              <a:rPr lang="zh-CN" altLang="en-US" sz="2400">
                <a:ea typeface="楷体_GB2312" pitchFamily="49" charset="-122"/>
              </a:rPr>
              <a:t>英文名：</a:t>
            </a:r>
            <a:r>
              <a:rPr lang="en-US" altLang="zh-CN" sz="2400">
                <a:ea typeface="楷体_GB2312" pitchFamily="49" charset="-122"/>
              </a:rPr>
              <a:t>Advanced Compiler Design and Implementation </a:t>
            </a:r>
            <a:br>
              <a:rPr lang="en-US" altLang="zh-CN" sz="2400">
                <a:ea typeface="楷体_GB2312" pitchFamily="49" charset="-122"/>
              </a:rPr>
            </a:br>
            <a:r>
              <a:rPr lang="zh-CN" altLang="en-US" sz="2400">
                <a:ea typeface="楷体_GB2312" pitchFamily="49" charset="-122"/>
              </a:rPr>
              <a:t>作者：</a:t>
            </a:r>
            <a:r>
              <a:rPr lang="en-US" altLang="zh-CN" sz="2400">
                <a:ea typeface="楷体_GB2312" pitchFamily="49" charset="-122"/>
              </a:rPr>
              <a:t>Steven S.Muchnick </a:t>
            </a:r>
            <a:br>
              <a:rPr lang="en-US" altLang="zh-CN" sz="2400">
                <a:ea typeface="楷体_GB2312" pitchFamily="49" charset="-122"/>
              </a:rPr>
            </a:br>
            <a:r>
              <a:rPr lang="zh-CN" altLang="en-US" sz="2400">
                <a:ea typeface="楷体_GB2312" pitchFamily="49" charset="-122"/>
              </a:rPr>
              <a:t>中文名：高级编译器设计与实现 </a:t>
            </a:r>
            <a:br>
              <a:rPr lang="zh-CN" altLang="en-US" sz="2400">
                <a:ea typeface="楷体_GB2312" pitchFamily="49" charset="-122"/>
              </a:rPr>
            </a:br>
            <a:endParaRPr lang="zh-CN" altLang="en-US" sz="240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62739F9D-269D-4D21-9B83-7EE0C6E5D27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0" y="6381328"/>
            <a:ext cx="2590800" cy="47625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                    </a:t>
            </a:r>
            <a:fld id="{6979A0CD-9B0A-4846-8ACC-F13D1BD10A61}" type="datetime2">
              <a:rPr lang="zh-CN" altLang="en-US" smtClean="0"/>
              <a:pPr>
                <a:defRPr/>
              </a:pPr>
              <a:t>2025年2月26日</a:t>
            </a:fld>
            <a:r>
              <a:rPr lang="en-US" altLang="zh-CN" dirty="0"/>
              <a:t>        </a:t>
            </a:r>
          </a:p>
        </p:txBody>
      </p:sp>
      <p:sp>
        <p:nvSpPr>
          <p:cNvPr id="15363" name="页脚占位符 2">
            <a:extLst>
              <a:ext uri="{FF2B5EF4-FFF2-40B4-BE49-F238E27FC236}">
                <a16:creationId xmlns:a16="http://schemas.microsoft.com/office/drawing/2014/main" id="{DCD33636-F4CD-4542-9B46-2F5BC3914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pitchFamily="49" charset="-122"/>
              </a:rPr>
              <a:t>北京林业大学信息学院</a:t>
            </a:r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232A5FC4-702B-40C8-A7FF-D2780C927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609600"/>
            <a:ext cx="6400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4400" b="1">
                <a:solidFill>
                  <a:srgbClr val="0099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要求及学习方法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2E8B8D8F-B8C8-4C89-BD02-E05C008ED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985963"/>
            <a:ext cx="7902575" cy="3086100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平时（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40%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lvl="1">
              <a:buFontTx/>
              <a:buChar char="•"/>
            </a:pP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无故旷课</a:t>
            </a:r>
            <a:endParaRPr lang="zh-CN" altLang="en-US" b="1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>
              <a:buFontTx/>
              <a:buChar char="•"/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认真听课</a:t>
            </a: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：以讲义为主，板书为辅</a:t>
            </a:r>
            <a:r>
              <a:rPr lang="en-US" altLang="zh-CN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---</a:t>
            </a:r>
          </a:p>
          <a:p>
            <a:pPr lvl="1">
              <a:buFontTx/>
              <a:buChar char="•"/>
            </a:pP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认真完成课堂和课后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作业</a:t>
            </a:r>
            <a:endParaRPr lang="en-US" altLang="zh-CN" b="1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>
              <a:buFontTx/>
              <a:buChar char="•"/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期中考试和课堂测验</a:t>
            </a:r>
          </a:p>
          <a:p>
            <a:pPr lvl="1">
              <a:buFontTx/>
              <a:buChar char="•"/>
            </a:pP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完成要求的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内容</a:t>
            </a:r>
          </a:p>
          <a:p>
            <a:pPr lvl="1"/>
            <a:endParaRPr lang="zh-CN" altLang="en-US" b="1">
              <a:solidFill>
                <a:srgbClr val="0000FF"/>
              </a:solidFill>
            </a:endParaRPr>
          </a:p>
          <a:p>
            <a:pPr>
              <a:buClr>
                <a:srgbClr val="FF3300"/>
              </a:buClr>
              <a:buFont typeface="MS Outlook" panose="05010100010000000000" pitchFamily="2" charset="2"/>
              <a:buChar char="B"/>
            </a:pPr>
            <a:endParaRPr lang="en-US" altLang="zh-CN" sz="2800" b="1">
              <a:solidFill>
                <a:srgbClr val="6666FF"/>
              </a:solidFill>
            </a:endParaRPr>
          </a:p>
        </p:txBody>
      </p:sp>
      <p:sp>
        <p:nvSpPr>
          <p:cNvPr id="156676" name="Rectangle 4">
            <a:extLst>
              <a:ext uri="{FF2B5EF4-FFF2-40B4-BE49-F238E27FC236}">
                <a16:creationId xmlns:a16="http://schemas.microsoft.com/office/drawing/2014/main" id="{AFE532AA-3F1A-42CE-B305-40ECFA090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5241925"/>
            <a:ext cx="7659688" cy="588963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期末（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60%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闭卷笔试</a:t>
            </a:r>
          </a:p>
        </p:txBody>
      </p:sp>
      <p:sp>
        <p:nvSpPr>
          <p:cNvPr id="15367" name="Text Box 5">
            <a:extLst>
              <a:ext uri="{FF2B5EF4-FFF2-40B4-BE49-F238E27FC236}">
                <a16:creationId xmlns:a16="http://schemas.microsoft.com/office/drawing/2014/main" id="{D82B2916-A613-4F5C-AC5B-3A56AA930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1336675"/>
            <a:ext cx="6076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课程特点：理论性强，算法复杂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 bldLvl="2" animBg="1" autoUpdateAnimBg="0"/>
      <p:bldP spid="156676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BD1669-7A0E-4C73-A45C-E55F05589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课程资料下载及作业上传云盘地址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12D433-008F-40FF-95CD-A4BAD2808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532" y="1259632"/>
            <a:ext cx="9160532" cy="5598368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课件实验下载地址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https://yunpan.bjfu.edu.cn:443/link/6C228DA32E37B51C90C9CA960BBF76FB</a:t>
            </a:r>
            <a:br>
              <a:rPr lang="en-US" altLang="zh-CN" dirty="0"/>
            </a:br>
            <a:r>
              <a:rPr lang="zh-CN" altLang="en-US" sz="2000" b="1" dirty="0">
                <a:solidFill>
                  <a:srgbClr val="C00000"/>
                </a:solidFill>
              </a:rPr>
              <a:t>实验一上传地址：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https://yunpan.bjfu.edu.cn:443/link/DF48C535972CEDBE89E9A37AA6FADEDF</a:t>
            </a:r>
          </a:p>
          <a:p>
            <a:r>
              <a:rPr lang="zh-CN" altLang="en-US" sz="2000" b="1" dirty="0">
                <a:solidFill>
                  <a:srgbClr val="C00000"/>
                </a:solidFill>
              </a:rPr>
              <a:t>实验二上传地址：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https://yunpan.bjfu.edu.cn:443/link/3C583845CBCAEB945C12F9B67074001C</a:t>
            </a:r>
          </a:p>
          <a:p>
            <a:r>
              <a:rPr lang="zh-CN" altLang="en-US" sz="2100" dirty="0">
                <a:solidFill>
                  <a:srgbClr val="C00000"/>
                </a:solidFill>
              </a:rPr>
              <a:t>   作业一上传网址：</a:t>
            </a:r>
            <a:endParaRPr lang="en-US" altLang="zh-CN" sz="21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https://yunpan.bjfu.edu.cn:443/link/90E21565CA90E761B630C4DCABE378DA</a:t>
            </a:r>
          </a:p>
          <a:p>
            <a:pPr marL="0" indent="0">
              <a:buNone/>
            </a:pPr>
            <a:r>
              <a:rPr lang="zh-CN" altLang="en-US" sz="2100" dirty="0">
                <a:solidFill>
                  <a:srgbClr val="C00000"/>
                </a:solidFill>
              </a:rPr>
              <a:t>   作业二上传网址：</a:t>
            </a:r>
            <a:endParaRPr lang="en-US" altLang="zh-CN" sz="21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https://yunpan.bjfu.edu.cn:443/link/E58D2003FF77A41D8772B95A5E5D715B</a:t>
            </a: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100" dirty="0">
                <a:solidFill>
                  <a:srgbClr val="C00000"/>
                </a:solidFill>
              </a:rPr>
              <a:t>期中考试：</a:t>
            </a:r>
            <a:endParaRPr lang="en-US" altLang="zh-CN" sz="21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https://yunpan.bjfu.edu.cn:443/link/9A1C990904DBC9482768F2EB2BECAE3D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C00000"/>
                </a:solidFill>
              </a:rPr>
              <a:t>课程设计上传地址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https://yunpan.bjfu.edu.cn:443/link/E90F15F9F0F2E6ACEABED961AC135D05</a:t>
            </a:r>
          </a:p>
          <a:p>
            <a:r>
              <a:rPr lang="zh-CN" altLang="en-US" sz="21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所有文件命名格式：专业班级</a:t>
            </a:r>
            <a:r>
              <a:rPr lang="en-US" altLang="zh-CN" sz="21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1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学号</a:t>
            </a:r>
            <a:r>
              <a:rPr lang="en-US" altLang="zh-CN" sz="21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1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姓名</a:t>
            </a:r>
            <a:endParaRPr lang="en-US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720762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学校形象识别系统VI讲义模板（生命绿）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6650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35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华文中宋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6650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5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华文中宋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学校形象识别系统VI讲义模板（生命绿）</Template>
  <TotalTime>2384</TotalTime>
  <Words>759</Words>
  <Application>Microsoft Office PowerPoint</Application>
  <PresentationFormat>全屏显示(4:3)</PresentationFormat>
  <Paragraphs>85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仿宋_GB2312</vt:lpstr>
      <vt:lpstr>黑体</vt:lpstr>
      <vt:lpstr>华文中宋</vt:lpstr>
      <vt:lpstr>楷体_GB2312</vt:lpstr>
      <vt:lpstr>隶书</vt:lpstr>
      <vt:lpstr>宋体</vt:lpstr>
      <vt:lpstr>微软雅黑</vt:lpstr>
      <vt:lpstr>Arial</vt:lpstr>
      <vt:lpstr>Calibri</vt:lpstr>
      <vt:lpstr>MS Outlook</vt:lpstr>
      <vt:lpstr>Times New Roman</vt:lpstr>
      <vt:lpstr>Wingdings</vt:lpstr>
      <vt:lpstr>学校形象识别系统VI讲义模板（生命绿）</vt:lpstr>
      <vt:lpstr>自定义设计方案</vt:lpstr>
      <vt:lpstr>1_自定义设计方案</vt:lpstr>
      <vt:lpstr>2_自定义设计方案</vt:lpstr>
      <vt:lpstr>编译原理</vt:lpstr>
      <vt:lpstr>为什么要学习编译原理</vt:lpstr>
      <vt:lpstr>既然这么难，为什么要学，学习什么？</vt:lpstr>
      <vt:lpstr>先修课程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课程资料下载及作业上传云盘地址</vt:lpstr>
    </vt:vector>
  </TitlesOfParts>
  <Company>CAU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minicat</cp:lastModifiedBy>
  <cp:revision>398</cp:revision>
  <dcterms:created xsi:type="dcterms:W3CDTF">2012-02-17T09:47:43Z</dcterms:created>
  <dcterms:modified xsi:type="dcterms:W3CDTF">2025-02-26T03:05:36Z</dcterms:modified>
</cp:coreProperties>
</file>